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2" r:id="rId2"/>
    <p:sldMasterId id="2147483684" r:id="rId3"/>
  </p:sldMasterIdLst>
  <p:notesMasterIdLst>
    <p:notesMasterId r:id="rId47"/>
  </p:notesMasterIdLst>
  <p:handoutMasterIdLst>
    <p:handoutMasterId r:id="rId48"/>
  </p:handoutMasterIdLst>
  <p:sldIdLst>
    <p:sldId id="289" r:id="rId4"/>
    <p:sldId id="378" r:id="rId5"/>
    <p:sldId id="354" r:id="rId6"/>
    <p:sldId id="355" r:id="rId7"/>
    <p:sldId id="356" r:id="rId8"/>
    <p:sldId id="357" r:id="rId9"/>
    <p:sldId id="358" r:id="rId10"/>
    <p:sldId id="359" r:id="rId11"/>
    <p:sldId id="360" r:id="rId12"/>
    <p:sldId id="361" r:id="rId13"/>
    <p:sldId id="362" r:id="rId14"/>
    <p:sldId id="363" r:id="rId15"/>
    <p:sldId id="365" r:id="rId16"/>
    <p:sldId id="367" r:id="rId17"/>
    <p:sldId id="377" r:id="rId18"/>
    <p:sldId id="397" r:id="rId19"/>
    <p:sldId id="398" r:id="rId20"/>
    <p:sldId id="399" r:id="rId21"/>
    <p:sldId id="400" r:id="rId22"/>
    <p:sldId id="401" r:id="rId23"/>
    <p:sldId id="402" r:id="rId24"/>
    <p:sldId id="403" r:id="rId25"/>
    <p:sldId id="404" r:id="rId26"/>
    <p:sldId id="405" r:id="rId27"/>
    <p:sldId id="406" r:id="rId28"/>
    <p:sldId id="407" r:id="rId29"/>
    <p:sldId id="408" r:id="rId30"/>
    <p:sldId id="409" r:id="rId31"/>
    <p:sldId id="410" r:id="rId32"/>
    <p:sldId id="411" r:id="rId33"/>
    <p:sldId id="412" r:id="rId34"/>
    <p:sldId id="413" r:id="rId35"/>
    <p:sldId id="414" r:id="rId36"/>
    <p:sldId id="415" r:id="rId37"/>
    <p:sldId id="416" r:id="rId38"/>
    <p:sldId id="417" r:id="rId39"/>
    <p:sldId id="418" r:id="rId40"/>
    <p:sldId id="419" r:id="rId41"/>
    <p:sldId id="420" r:id="rId42"/>
    <p:sldId id="421" r:id="rId43"/>
    <p:sldId id="422" r:id="rId44"/>
    <p:sldId id="424" r:id="rId45"/>
    <p:sldId id="290" r:id="rId4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A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7794" autoAdjust="0"/>
    <p:restoredTop sz="94660"/>
  </p:normalViewPr>
  <p:slideViewPr>
    <p:cSldViewPr snapToGrid="0">
      <p:cViewPr varScale="1">
        <p:scale>
          <a:sx n="74" d="100"/>
          <a:sy n="74" d="100"/>
        </p:scale>
        <p:origin x="54" y="54"/>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67" d="100"/>
          <a:sy n="67" d="100"/>
        </p:scale>
        <p:origin x="-3360"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handoutMaster" Target="handoutMasters/handoutMaster1.xml"/><Relationship Id="rId8" Type="http://schemas.openxmlformats.org/officeDocument/2006/relationships/slide" Target="slides/slide5.xml"/><Relationship Id="rId51"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9CCB84B-6A00-4441-A8E6-9FCA71C6ADFF}" type="datetimeFigureOut">
              <a:rPr lang="zh-CN" altLang="en-US" smtClean="0"/>
              <a:pPr/>
              <a:t>2023-10-16</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D428514-98A0-40EF-8E2B-A346CE837D6C}" type="slidenum">
              <a:rPr lang="zh-CN" altLang="en-US" smtClean="0"/>
              <a:pPr/>
              <a:t>‹#›</a:t>
            </a:fld>
            <a:endParaRPr lang="zh-CN" altLang="en-US"/>
          </a:p>
        </p:txBody>
      </p:sp>
    </p:spTree>
    <p:extLst>
      <p:ext uri="{BB962C8B-B14F-4D97-AF65-F5344CB8AC3E}">
        <p14:creationId xmlns:p14="http://schemas.microsoft.com/office/powerpoint/2010/main" val="4876775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B093AD-7C06-486F-9754-D5B73F7C37DE}" type="datetimeFigureOut">
              <a:rPr lang="zh-CN" altLang="en-US" smtClean="0"/>
              <a:pPr/>
              <a:t>2023-10-12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3EDE87-FC43-4F0C-9C51-E666AB0AC5F3}" type="slidenum">
              <a:rPr lang="zh-CN" altLang="en-US" smtClean="0"/>
              <a:pPr/>
              <a:t>‹#›</a:t>
            </a:fld>
            <a:endParaRPr lang="zh-CN" altLang="en-US"/>
          </a:p>
        </p:txBody>
      </p:sp>
    </p:spTree>
    <p:extLst>
      <p:ext uri="{BB962C8B-B14F-4D97-AF65-F5344CB8AC3E}">
        <p14:creationId xmlns:p14="http://schemas.microsoft.com/office/powerpoint/2010/main" val="16404409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r" eaLnBrk="1" hangingPunct="1"/>
            <a:fld id="{EC06EF6D-C62B-4825-A7D6-94838559AEFE}" type="slidenum">
              <a:rPr lang="en-US" altLang="zh-CN" sz="1200" b="0"/>
              <a:pPr algn="r" eaLnBrk="1" hangingPunct="1"/>
              <a:t>13</a:t>
            </a:fld>
            <a:endParaRPr lang="en-US" altLang="zh-CN" sz="1200" b="0"/>
          </a:p>
        </p:txBody>
      </p:sp>
      <p:sp>
        <p:nvSpPr>
          <p:cNvPr id="247811" name="Rectangle 2"/>
          <p:cNvSpPr>
            <a:spLocks noGrp="1" noRot="1" noChangeAspect="1" noChangeArrowheads="1" noTextEdit="1"/>
          </p:cNvSpPr>
          <p:nvPr>
            <p:ph type="sldImg"/>
          </p:nvPr>
        </p:nvSpPr>
        <p:spPr>
          <a:ln/>
        </p:spPr>
      </p:sp>
      <p:sp>
        <p:nvSpPr>
          <p:cNvPr id="247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fld id="{7C0BBCDF-3A01-426A-AF41-0981CDC471EC}" type="slidenum">
              <a:rPr lang="en-US" altLang="zh-CN" sz="1200" b="0" smtClean="0"/>
              <a:pPr eaLnBrk="1" hangingPunct="1"/>
              <a:t>14</a:t>
            </a:fld>
            <a:endParaRPr lang="en-US" altLang="zh-CN" sz="1200" b="0"/>
          </a:p>
        </p:txBody>
      </p:sp>
      <p:sp>
        <p:nvSpPr>
          <p:cNvPr id="249859" name="Rectangle 2"/>
          <p:cNvSpPr>
            <a:spLocks noGrp="1" noRot="1" noChangeAspect="1" noChangeArrowheads="1" noTextEdit="1"/>
          </p:cNvSpPr>
          <p:nvPr>
            <p:ph type="sldImg"/>
          </p:nvPr>
        </p:nvSpPr>
        <p:spPr>
          <a:ln/>
        </p:spPr>
      </p:sp>
      <p:sp>
        <p:nvSpPr>
          <p:cNvPr id="2498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fld id="{7C0BBCDF-3A01-426A-AF41-0981CDC471EC}" type="slidenum">
              <a:rPr lang="en-US" altLang="zh-CN" sz="1200" b="0" smtClean="0"/>
              <a:pPr eaLnBrk="1" hangingPunct="1"/>
              <a:t>15</a:t>
            </a:fld>
            <a:endParaRPr lang="en-US" altLang="zh-CN" sz="1200" b="0"/>
          </a:p>
        </p:txBody>
      </p:sp>
      <p:sp>
        <p:nvSpPr>
          <p:cNvPr id="249859" name="Rectangle 2"/>
          <p:cNvSpPr>
            <a:spLocks noGrp="1" noRot="1" noChangeAspect="1" noChangeArrowheads="1" noTextEdit="1"/>
          </p:cNvSpPr>
          <p:nvPr>
            <p:ph type="sldImg"/>
          </p:nvPr>
        </p:nvSpPr>
        <p:spPr>
          <a:ln/>
        </p:spPr>
      </p:sp>
      <p:sp>
        <p:nvSpPr>
          <p:cNvPr id="2498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a:t>模板来自于 </a:t>
            </a:r>
            <a:r>
              <a:rPr lang="en-US" altLang="zh-CN"/>
              <a:t>http://www.ypppt.com</a:t>
            </a:r>
            <a:endParaRPr lang="zh-CN" altLang="en-US" dirty="0"/>
          </a:p>
        </p:txBody>
      </p:sp>
      <p:sp>
        <p:nvSpPr>
          <p:cNvPr id="614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fontAlgn="base">
              <a:spcBef>
                <a:spcPct val="0"/>
              </a:spcBef>
              <a:spcAft>
                <a:spcPct val="0"/>
              </a:spcAft>
            </a:pPr>
            <a:fld id="{E5ED1824-6DB2-4029-B0DF-1D3CDCF11CDA}" type="slidenum">
              <a:rPr lang="zh-CN" altLang="en-US" smtClean="0">
                <a:solidFill>
                  <a:prstClr val="black"/>
                </a:solidFill>
                <a:latin typeface="Calibri" panose="020F0502020204030204" pitchFamily="34" charset="0"/>
                <a:ea typeface="宋体" panose="02010600030101010101" pitchFamily="2" charset="-122"/>
              </a:rPr>
              <a:pPr fontAlgn="base">
                <a:spcBef>
                  <a:spcPct val="0"/>
                </a:spcBef>
                <a:spcAft>
                  <a:spcPct val="0"/>
                </a:spcAft>
              </a:pPr>
              <a:t>43</a:t>
            </a:fld>
            <a:endParaRPr lang="zh-CN" altLang="en-US">
              <a:solidFill>
                <a:prstClr val="black"/>
              </a:solidFill>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563724785"/>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ackgroundRemoval t="10000" b="90000" l="10000" r="90000">
                        <a14:foregroundMark x1="41938" y1="46310" x2="41938" y2="46310"/>
                        <a14:foregroundMark x1="26672" y1="41021" x2="26672" y2="41021"/>
                        <a14:foregroundMark x1="31389" y1="39422" x2="31389" y2="39422"/>
                        <a14:backgroundMark x1="70755" y1="56581" x2="70755" y2="56581"/>
                        <a14:backgroundMark x1="68696" y1="52583" x2="65266" y2="51415"/>
                        <a14:backgroundMark x1="49914" y1="48032" x2="49314" y2="47909"/>
                        <a14:backgroundMark x1="49314" y1="54674" x2="48714" y2="54674"/>
                        <a14:backgroundMark x1="47513" y1="54490" x2="50772" y2="56827"/>
                        <a14:backgroundMark x1="67067" y1="62116" x2="67667" y2="61501"/>
                        <a14:backgroundMark x1="68525" y1="56396" x2="68525" y2="55351"/>
                        <a14:backgroundMark x1="70154" y1="50861" x2="70154" y2="50861"/>
                        <a14:backgroundMark x1="71184" y1="50431" x2="71184" y2="50431"/>
                        <a14:backgroundMark x1="38508" y1="41451" x2="38508" y2="41451"/>
                        <a14:backgroundMark x1="44254" y1="36470" x2="44254" y2="36470"/>
                        <a14:backgroundMark x1="42796" y1="43235" x2="42796" y2="43235"/>
                        <a14:backgroundMark x1="67067" y1="42927" x2="67067" y2="42927"/>
                        <a14:backgroundMark x1="58062" y1="45449" x2="57461" y2="45572"/>
                        <a14:backgroundMark x1="59091" y1="52768" x2="59520" y2="53321"/>
                        <a14:backgroundMark x1="59520" y1="54182" x2="59777" y2="55843"/>
                        <a14:backgroundMark x1="59777" y1="59164" x2="59777" y2="59164"/>
                        <a14:backgroundMark x1="78902" y1="35609" x2="78902" y2="35609"/>
                        <a14:backgroundMark x1="26415" y1="39729" x2="26415" y2="39729"/>
                        <a14:backgroundMark x1="25472" y1="42189" x2="25472" y2="42189"/>
                        <a14:backgroundMark x1="25214" y1="41636" x2="25214" y2="41636"/>
                        <a14:backgroundMark x1="46055" y1="56704" x2="46055" y2="56704"/>
                        <a14:backgroundMark x1="56690" y1="49508" x2="56690" y2="49508"/>
                        <a14:backgroundMark x1="56861" y1="49262" x2="60720" y2="48770"/>
                        <a14:backgroundMark x1="66295" y1="47601" x2="66895" y2="47601"/>
                        <a14:backgroundMark x1="71184" y1="46617" x2="76672" y2="45449"/>
                        <a14:backgroundMark x1="81389" y1="43973" x2="81389" y2="43973"/>
                      </a14:backgroundRemoval>
                    </a14:imgEffect>
                  </a14:imgLayer>
                </a14:imgProps>
              </a:ext>
            </a:extLst>
          </a:blip>
          <a:srcRect l="17878" t="35012" b="43146"/>
          <a:stretch/>
        </p:blipFill>
        <p:spPr>
          <a:xfrm>
            <a:off x="-1" y="0"/>
            <a:ext cx="5837731" cy="2166151"/>
          </a:xfrm>
          <a:prstGeom prst="rect">
            <a:avLst/>
          </a:prstGeom>
        </p:spPr>
      </p:pic>
    </p:spTree>
    <p:extLst>
      <p:ext uri="{BB962C8B-B14F-4D97-AF65-F5344CB8AC3E}">
        <p14:creationId xmlns:p14="http://schemas.microsoft.com/office/powerpoint/2010/main" val="1336232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pic>
        <p:nvPicPr>
          <p:cNvPr id="7" name="图片 6"/>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ackgroundRemoval t="10000" b="90000" l="10000" r="90000">
                        <a14:foregroundMark x1="41938" y1="46310" x2="41938" y2="46310"/>
                        <a14:foregroundMark x1="26672" y1="41021" x2="26672" y2="41021"/>
                        <a14:foregroundMark x1="31389" y1="39422" x2="31389" y2="39422"/>
                        <a14:backgroundMark x1="70755" y1="56581" x2="70755" y2="56581"/>
                        <a14:backgroundMark x1="68696" y1="52583" x2="65266" y2="51415"/>
                        <a14:backgroundMark x1="49914" y1="48032" x2="49314" y2="47909"/>
                        <a14:backgroundMark x1="49314" y1="54674" x2="48714" y2="54674"/>
                        <a14:backgroundMark x1="47513" y1="54490" x2="50772" y2="56827"/>
                        <a14:backgroundMark x1="67067" y1="62116" x2="67667" y2="61501"/>
                        <a14:backgroundMark x1="68525" y1="56396" x2="68525" y2="55351"/>
                        <a14:backgroundMark x1="70154" y1="50861" x2="70154" y2="50861"/>
                        <a14:backgroundMark x1="71184" y1="50431" x2="71184" y2="50431"/>
                        <a14:backgroundMark x1="38508" y1="41451" x2="38508" y2="41451"/>
                        <a14:backgroundMark x1="44254" y1="36470" x2="44254" y2="36470"/>
                        <a14:backgroundMark x1="42796" y1="43235" x2="42796" y2="43235"/>
                        <a14:backgroundMark x1="67067" y1="42927" x2="67067" y2="42927"/>
                        <a14:backgroundMark x1="58062" y1="45449" x2="57461" y2="45572"/>
                        <a14:backgroundMark x1="59091" y1="52768" x2="59520" y2="53321"/>
                        <a14:backgroundMark x1="59520" y1="54182" x2="59777" y2="55843"/>
                        <a14:backgroundMark x1="59777" y1="59164" x2="59777" y2="59164"/>
                        <a14:backgroundMark x1="78902" y1="35609" x2="78902" y2="35609"/>
                        <a14:backgroundMark x1="26415" y1="39729" x2="26415" y2="39729"/>
                        <a14:backgroundMark x1="25472" y1="42189" x2="25472" y2="42189"/>
                        <a14:backgroundMark x1="25214" y1="41636" x2="25214" y2="41636"/>
                        <a14:backgroundMark x1="46055" y1="56704" x2="46055" y2="56704"/>
                        <a14:backgroundMark x1="56690" y1="49508" x2="56690" y2="49508"/>
                        <a14:backgroundMark x1="56861" y1="49262" x2="60720" y2="48770"/>
                        <a14:backgroundMark x1="66295" y1="47601" x2="66895" y2="47601"/>
                        <a14:backgroundMark x1="71184" y1="46617" x2="76672" y2="45449"/>
                        <a14:backgroundMark x1="81389" y1="43973" x2="81389" y2="43973"/>
                      </a14:backgroundRemoval>
                    </a14:imgEffect>
                  </a14:imgLayer>
                </a14:imgProps>
              </a:ext>
            </a:extLst>
          </a:blip>
          <a:srcRect l="17878" t="35012" b="43146"/>
          <a:stretch/>
        </p:blipFill>
        <p:spPr>
          <a:xfrm>
            <a:off x="-1" y="0"/>
            <a:ext cx="5837731" cy="2166151"/>
          </a:xfrm>
          <a:prstGeom prst="rect">
            <a:avLst/>
          </a:prstGeom>
        </p:spPr>
      </p:pic>
      <p:pic>
        <p:nvPicPr>
          <p:cNvPr id="8" name="图片 7"/>
          <p:cNvPicPr>
            <a:picLocks noChangeAspect="1"/>
          </p:cNvPicPr>
          <p:nvPr userDrawn="1"/>
        </p:nvPicPr>
        <p:blipFill rotWithShape="1">
          <a:blip r:embed="rId4" cstate="print"/>
          <a:srcRect r="42146" b="48018"/>
          <a:stretch/>
        </p:blipFill>
        <p:spPr>
          <a:xfrm>
            <a:off x="7346062" y="2511276"/>
            <a:ext cx="4845938" cy="4346724"/>
          </a:xfrm>
          <a:prstGeom prst="rect">
            <a:avLst/>
          </a:prstGeom>
        </p:spPr>
      </p:pic>
    </p:spTree>
    <p:extLst>
      <p:ext uri="{BB962C8B-B14F-4D97-AF65-F5344CB8AC3E}">
        <p14:creationId xmlns:p14="http://schemas.microsoft.com/office/powerpoint/2010/main" val="1336232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147481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4000202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2023-10-12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14311437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C400E00-5D83-46E2-B18B-6027595511CC}" type="datetimeFigureOut">
              <a:rPr lang="zh-CN" altLang="en-US" smtClean="0"/>
              <a:pPr/>
              <a:t>2023-10-12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8862035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C400E00-5D83-46E2-B18B-6027595511CC}" type="datetimeFigureOut">
              <a:rPr lang="zh-CN" altLang="en-US" smtClean="0"/>
              <a:pPr/>
              <a:t>2023-10-12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683971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C400E00-5D83-46E2-B18B-6027595511CC}" type="datetimeFigureOut">
              <a:rPr lang="zh-CN" altLang="en-US" smtClean="0"/>
              <a:pPr/>
              <a:t>2023-10-12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602064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2023-10-12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093247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2023-10-12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25305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42013502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0953898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5" name="标题 1"/>
          <p:cNvSpPr>
            <a:spLocks noGrp="1"/>
          </p:cNvSpPr>
          <p:nvPr>
            <p:ph type="title"/>
          </p:nvPr>
        </p:nvSpPr>
        <p:spPr>
          <a:xfrm>
            <a:off x="848833" y="202028"/>
            <a:ext cx="3967716" cy="457196"/>
          </a:xfrm>
        </p:spPr>
        <p:txBody>
          <a:bodyPr/>
          <a:lstStyle/>
          <a:p>
            <a:r>
              <a:rPr lang="zh-CN" altLang="en-US"/>
              <a:t>单击此处编辑母版标题样式</a:t>
            </a:r>
          </a:p>
        </p:txBody>
      </p:sp>
    </p:spTree>
    <p:extLst>
      <p:ext uri="{BB962C8B-B14F-4D97-AF65-F5344CB8AC3E}">
        <p14:creationId xmlns:p14="http://schemas.microsoft.com/office/powerpoint/2010/main" val="14795873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1474813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
        <p:nvSpPr>
          <p:cNvPr id="7" name="标题 1"/>
          <p:cNvSpPr txBox="1">
            <a:spLocks/>
          </p:cNvSpPr>
          <p:nvPr userDrawn="1"/>
        </p:nvSpPr>
        <p:spPr>
          <a:xfrm>
            <a:off x="848833" y="202028"/>
            <a:ext cx="3967716" cy="457196"/>
          </a:xfrm>
          <a:prstGeom prst="rect">
            <a:avLst/>
          </a:prstGeom>
        </p:spPr>
        <p:txBody>
          <a:bodyPr vert="horz" lIns="91440" tIns="45720" rIns="91440" bIns="45720" rtlCol="0"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3D7351"/>
                </a:solidFill>
                <a:effectLst/>
                <a:uLnTx/>
                <a:uFillTx/>
                <a:latin typeface="微软雅黑" panose="020B0503020204020204" pitchFamily="34" charset="-122"/>
                <a:ea typeface="微软雅黑" panose="020B0503020204020204" pitchFamily="34" charset="-122"/>
                <a:cs typeface="+mn-cs"/>
              </a:rPr>
              <a:t>单击此处编辑母版标题样式</a:t>
            </a:r>
          </a:p>
        </p:txBody>
      </p:sp>
    </p:spTree>
    <p:extLst>
      <p:ext uri="{BB962C8B-B14F-4D97-AF65-F5344CB8AC3E}">
        <p14:creationId xmlns:p14="http://schemas.microsoft.com/office/powerpoint/2010/main" val="40002027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2023-10-12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14311437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839788" y="1085715"/>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1909627"/>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085715"/>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1909627"/>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C400E00-5D83-46E2-B18B-6027595511CC}" type="datetimeFigureOut">
              <a:rPr lang="zh-CN" altLang="en-US" smtClean="0"/>
              <a:pPr/>
              <a:t>2023-10-12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70288FD-FF8E-4205-8603-C8BB8BCBCB26}" type="slidenum">
              <a:rPr lang="zh-CN" altLang="en-US" smtClean="0"/>
              <a:pPr/>
              <a:t>‹#›</a:t>
            </a:fld>
            <a:endParaRPr lang="zh-CN" altLang="en-US"/>
          </a:p>
        </p:txBody>
      </p:sp>
      <p:sp>
        <p:nvSpPr>
          <p:cNvPr id="10" name="标题 1"/>
          <p:cNvSpPr>
            <a:spLocks noGrp="1"/>
          </p:cNvSpPr>
          <p:nvPr>
            <p:ph type="title"/>
          </p:nvPr>
        </p:nvSpPr>
        <p:spPr>
          <a:xfrm>
            <a:off x="848833" y="202028"/>
            <a:ext cx="3967716" cy="457196"/>
          </a:xfrm>
        </p:spPr>
        <p:txBody>
          <a:bodyPr/>
          <a:lstStyle/>
          <a:p>
            <a:r>
              <a:rPr lang="zh-CN" altLang="en-US"/>
              <a:t>单击此处编辑母版标题样式</a:t>
            </a:r>
          </a:p>
        </p:txBody>
      </p:sp>
    </p:spTree>
    <p:extLst>
      <p:ext uri="{BB962C8B-B14F-4D97-AF65-F5344CB8AC3E}">
        <p14:creationId xmlns:p14="http://schemas.microsoft.com/office/powerpoint/2010/main" val="288620354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C400E00-5D83-46E2-B18B-6027595511CC}" type="datetimeFigureOut">
              <a:rPr lang="zh-CN" altLang="en-US" smtClean="0"/>
              <a:pPr/>
              <a:t>2023-10-12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6839715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5" name="标题 1"/>
          <p:cNvSpPr>
            <a:spLocks noGrp="1"/>
          </p:cNvSpPr>
          <p:nvPr>
            <p:ph type="title"/>
          </p:nvPr>
        </p:nvSpPr>
        <p:spPr>
          <a:xfrm>
            <a:off x="848833" y="202028"/>
            <a:ext cx="3967716" cy="457196"/>
          </a:xfrm>
        </p:spPr>
        <p:txBody>
          <a:bodyPr/>
          <a:lstStyle/>
          <a:p>
            <a:r>
              <a:rPr lang="zh-CN" altLang="en-US"/>
              <a:t>单击此处编辑母版标题样式</a:t>
            </a:r>
          </a:p>
        </p:txBody>
      </p:sp>
    </p:spTree>
    <p:extLst>
      <p:ext uri="{BB962C8B-B14F-4D97-AF65-F5344CB8AC3E}">
        <p14:creationId xmlns:p14="http://schemas.microsoft.com/office/powerpoint/2010/main" val="26020646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2023-10-12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
        <p:nvSpPr>
          <p:cNvPr id="8" name="标题 1"/>
          <p:cNvSpPr>
            <a:spLocks noGrp="1"/>
          </p:cNvSpPr>
          <p:nvPr>
            <p:ph type="title"/>
          </p:nvPr>
        </p:nvSpPr>
        <p:spPr>
          <a:xfrm>
            <a:off x="848833" y="202028"/>
            <a:ext cx="3967716" cy="457196"/>
          </a:xfrm>
        </p:spPr>
        <p:txBody>
          <a:bodyPr/>
          <a:lstStyle/>
          <a:p>
            <a:r>
              <a:rPr lang="zh-CN" altLang="en-US"/>
              <a:t>单击此处编辑母版标题样式</a:t>
            </a:r>
          </a:p>
        </p:txBody>
      </p:sp>
    </p:spTree>
    <p:extLst>
      <p:ext uri="{BB962C8B-B14F-4D97-AF65-F5344CB8AC3E}">
        <p14:creationId xmlns:p14="http://schemas.microsoft.com/office/powerpoint/2010/main" val="30932479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9C400E00-5D83-46E2-B18B-6027595511CC}" type="datetimeFigureOut">
              <a:rPr lang="zh-CN" altLang="en-US" smtClean="0"/>
              <a:pPr/>
              <a:t>2023-10-12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70288FD-FF8E-4205-8603-C8BB8BCBCB26}" type="slidenum">
              <a:rPr lang="zh-CN" altLang="en-US" smtClean="0"/>
              <a:pPr/>
              <a:t>‹#›</a:t>
            </a:fld>
            <a:endParaRPr lang="zh-CN" altLang="en-US"/>
          </a:p>
        </p:txBody>
      </p:sp>
      <p:sp>
        <p:nvSpPr>
          <p:cNvPr id="8" name="标题 1"/>
          <p:cNvSpPr>
            <a:spLocks noGrp="1"/>
          </p:cNvSpPr>
          <p:nvPr>
            <p:ph type="title"/>
          </p:nvPr>
        </p:nvSpPr>
        <p:spPr>
          <a:xfrm>
            <a:off x="848833" y="202028"/>
            <a:ext cx="3967716" cy="457196"/>
          </a:xfrm>
        </p:spPr>
        <p:txBody>
          <a:bodyPr/>
          <a:lstStyle/>
          <a:p>
            <a:r>
              <a:rPr lang="zh-CN" altLang="en-US"/>
              <a:t>单击此处编辑母版标题样式</a:t>
            </a:r>
          </a:p>
        </p:txBody>
      </p:sp>
    </p:spTree>
    <p:extLst>
      <p:ext uri="{BB962C8B-B14F-4D97-AF65-F5344CB8AC3E}">
        <p14:creationId xmlns:p14="http://schemas.microsoft.com/office/powerpoint/2010/main" val="3253051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42013502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竖排标题与文本">
    <p:spTree>
      <p:nvGrpSpPr>
        <p:cNvPr id="1" name=""/>
        <p:cNvGrpSpPr/>
        <p:nvPr/>
      </p:nvGrpSpPr>
      <p:grpSpPr>
        <a:xfrm>
          <a:off x="0" y="0"/>
          <a:ext cx="0" cy="0"/>
          <a:chOff x="0" y="0"/>
          <a:chExt cx="0" cy="0"/>
        </a:xfrm>
      </p:grpSpPr>
      <p:sp>
        <p:nvSpPr>
          <p:cNvPr id="3" name="竖排文字占位符 2"/>
          <p:cNvSpPr>
            <a:spLocks noGrp="1"/>
          </p:cNvSpPr>
          <p:nvPr>
            <p:ph type="body" orient="vert" idx="1"/>
          </p:nvPr>
        </p:nvSpPr>
        <p:spPr>
          <a:xfrm>
            <a:off x="3315586" y="545879"/>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400E00-5D83-46E2-B18B-6027595511CC}" type="datetimeFigureOut">
              <a:rPr lang="zh-CN" altLang="en-US" smtClean="0"/>
              <a:pPr/>
              <a:t>2023-10-12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70288FD-FF8E-4205-8603-C8BB8BCBCB26}" type="slidenum">
              <a:rPr lang="zh-CN" altLang="en-US" smtClean="0"/>
              <a:pPr/>
              <a:t>‹#›</a:t>
            </a:fld>
            <a:endParaRPr lang="zh-CN" altLang="en-US"/>
          </a:p>
        </p:txBody>
      </p:sp>
      <p:sp>
        <p:nvSpPr>
          <p:cNvPr id="7" name="标题 1"/>
          <p:cNvSpPr>
            <a:spLocks noGrp="1"/>
          </p:cNvSpPr>
          <p:nvPr>
            <p:ph type="title"/>
          </p:nvPr>
        </p:nvSpPr>
        <p:spPr>
          <a:xfrm>
            <a:off x="848833" y="202028"/>
            <a:ext cx="3967716" cy="457196"/>
          </a:xfrm>
        </p:spPr>
        <p:txBody>
          <a:bodyPr/>
          <a:lstStyle/>
          <a:p>
            <a:r>
              <a:rPr lang="zh-CN" altLang="en-US"/>
              <a:t>单击此处编辑母版标题样式</a:t>
            </a:r>
          </a:p>
        </p:txBody>
      </p:sp>
    </p:spTree>
    <p:extLst>
      <p:ext uri="{BB962C8B-B14F-4D97-AF65-F5344CB8AC3E}">
        <p14:creationId xmlns:p14="http://schemas.microsoft.com/office/powerpoint/2010/main" val="20953898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ackgroundRemoval t="10000" b="90000" l="10000" r="90000">
                        <a14:foregroundMark x1="41938" y1="46310" x2="41938" y2="46310"/>
                        <a14:foregroundMark x1="26672" y1="41021" x2="26672" y2="41021"/>
                        <a14:foregroundMark x1="31389" y1="39422" x2="31389" y2="39422"/>
                        <a14:backgroundMark x1="70755" y1="56581" x2="70755" y2="56581"/>
                        <a14:backgroundMark x1="68696" y1="52583" x2="65266" y2="51415"/>
                        <a14:backgroundMark x1="49914" y1="48032" x2="49314" y2="47909"/>
                        <a14:backgroundMark x1="49314" y1="54674" x2="48714" y2="54674"/>
                        <a14:backgroundMark x1="47513" y1="54490" x2="50772" y2="56827"/>
                        <a14:backgroundMark x1="67067" y1="62116" x2="67667" y2="61501"/>
                        <a14:backgroundMark x1="68525" y1="56396" x2="68525" y2="55351"/>
                        <a14:backgroundMark x1="70154" y1="50861" x2="70154" y2="50861"/>
                        <a14:backgroundMark x1="71184" y1="50431" x2="71184" y2="50431"/>
                        <a14:backgroundMark x1="38508" y1="41451" x2="38508" y2="41451"/>
                        <a14:backgroundMark x1="44254" y1="36470" x2="44254" y2="36470"/>
                        <a14:backgroundMark x1="42796" y1="43235" x2="42796" y2="43235"/>
                        <a14:backgroundMark x1="67067" y1="42927" x2="67067" y2="42927"/>
                        <a14:backgroundMark x1="58062" y1="45449" x2="57461" y2="45572"/>
                        <a14:backgroundMark x1="59091" y1="52768" x2="59520" y2="53321"/>
                        <a14:backgroundMark x1="59520" y1="54182" x2="59777" y2="55843"/>
                        <a14:backgroundMark x1="59777" y1="59164" x2="59777" y2="59164"/>
                        <a14:backgroundMark x1="78902" y1="35609" x2="78902" y2="35609"/>
                        <a14:backgroundMark x1="26415" y1="39729" x2="26415" y2="39729"/>
                        <a14:backgroundMark x1="25472" y1="42189" x2="25472" y2="42189"/>
                        <a14:backgroundMark x1="25214" y1="41636" x2="25214" y2="41636"/>
                        <a14:backgroundMark x1="46055" y1="56704" x2="46055" y2="56704"/>
                        <a14:backgroundMark x1="56690" y1="49508" x2="56690" y2="49508"/>
                        <a14:backgroundMark x1="56861" y1="49262" x2="60720" y2="48770"/>
                        <a14:backgroundMark x1="66295" y1="47601" x2="66895" y2="47601"/>
                        <a14:backgroundMark x1="71184" y1="46617" x2="76672" y2="45449"/>
                        <a14:backgroundMark x1="81389" y1="43973" x2="81389" y2="43973"/>
                      </a14:backgroundRemoval>
                    </a14:imgEffect>
                  </a14:imgLayer>
                </a14:imgProps>
              </a:ext>
            </a:extLst>
          </a:blip>
          <a:srcRect l="17878" t="35012" b="43146"/>
          <a:stretch/>
        </p:blipFill>
        <p:spPr>
          <a:xfrm>
            <a:off x="-1" y="0"/>
            <a:ext cx="5837731" cy="2166151"/>
          </a:xfrm>
          <a:prstGeom prst="rect">
            <a:avLst/>
          </a:prstGeom>
        </p:spPr>
      </p:pic>
    </p:spTree>
    <p:extLst>
      <p:ext uri="{BB962C8B-B14F-4D97-AF65-F5344CB8AC3E}">
        <p14:creationId xmlns:p14="http://schemas.microsoft.com/office/powerpoint/2010/main" val="23246790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29A3D613-23CA-4459-AE38-4771E87A22F3}" type="slidenum">
              <a:rPr lang="en-US" altLang="zh-CN"/>
              <a:pPr>
                <a:defRPr/>
              </a:pPr>
              <a:t>‹#›</a:t>
            </a:fld>
            <a:endParaRPr lang="en-US" altLang="zh-CN"/>
          </a:p>
        </p:txBody>
      </p:sp>
    </p:spTree>
    <p:extLst>
      <p:ext uri="{BB962C8B-B14F-4D97-AF65-F5344CB8AC3E}">
        <p14:creationId xmlns:p14="http://schemas.microsoft.com/office/powerpoint/2010/main" val="2843757360"/>
      </p:ext>
    </p:extLst>
  </p:cSld>
  <p:clrMapOvr>
    <a:masterClrMapping/>
  </p:clrMapOvr>
  <p:transition advClick="0"/>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2023-10-12</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133623280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2023-10-12</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14748137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2023-10-12</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400020278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2023-10-12</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143114372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a:prstGeom prst="rect">
            <a:avLst/>
          </a:prstGeo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2023-10-12</a:t>
            </a:fld>
            <a:endParaRPr lang="zh-CN" altLang="en-US"/>
          </a:p>
        </p:txBody>
      </p:sp>
      <p:sp>
        <p:nvSpPr>
          <p:cNvPr id="8" name="页脚占位符 7"/>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8862035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2023-10-12</a:t>
            </a:fld>
            <a:endParaRPr lang="zh-CN" altLang="en-US"/>
          </a:p>
        </p:txBody>
      </p:sp>
      <p:sp>
        <p:nvSpPr>
          <p:cNvPr id="4" name="页脚占位符 3"/>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68397155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2023-10-12</a:t>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60206463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2023-10-12</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09324793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2023-10-12</a:t>
            </a:fld>
            <a:endParaRPr lang="zh-CN" altLang="en-US"/>
          </a:p>
        </p:txBody>
      </p:sp>
      <p:sp>
        <p:nvSpPr>
          <p:cNvPr id="6" name="页脚占位符 5"/>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32530512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838200" y="1825625"/>
            <a:ext cx="10515600" cy="43513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2023-10-12</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420135026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a:prstGeom prst="rect">
            <a:avLst/>
          </a:prstGeo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9C400E00-5D83-46E2-B18B-6027595511CC}" type="datetimeFigureOut">
              <a:rPr lang="zh-CN" altLang="en-US" smtClean="0"/>
              <a:pPr/>
              <a:t>2023-10-12</a:t>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470288FD-FF8E-4205-8603-C8BB8BCBCB26}" type="slidenum">
              <a:rPr lang="zh-CN" altLang="en-US" smtClean="0"/>
              <a:pPr/>
              <a:t>‹#›</a:t>
            </a:fld>
            <a:endParaRPr lang="zh-CN" altLang="en-US"/>
          </a:p>
        </p:txBody>
      </p:sp>
    </p:spTree>
    <p:extLst>
      <p:ext uri="{BB962C8B-B14F-4D97-AF65-F5344CB8AC3E}">
        <p14:creationId xmlns:p14="http://schemas.microsoft.com/office/powerpoint/2010/main" val="20953898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image" Target="../media/image3.gi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3.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AEA"/>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400E00-5D83-46E2-B18B-6027595511CC}" type="datetimeFigureOut">
              <a:rPr lang="zh-CN" altLang="en-US" smtClean="0"/>
              <a:pPr/>
              <a:t>2023-10-12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0288FD-FF8E-4205-8603-C8BB8BCBCB26}" type="slidenum">
              <a:rPr lang="zh-CN" altLang="en-US" smtClean="0"/>
              <a:pPr/>
              <a:t>‹#›</a:t>
            </a:fld>
            <a:endParaRPr lang="zh-CN" altLang="en-US"/>
          </a:p>
        </p:txBody>
      </p:sp>
      <p:pic>
        <p:nvPicPr>
          <p:cNvPr id="7" name="图片 6"/>
          <p:cNvPicPr>
            <a:picLocks noChangeAspect="1"/>
          </p:cNvPicPr>
          <p:nvPr userDrawn="1"/>
        </p:nvPicPr>
        <p:blipFill rotWithShape="1">
          <a:blip r:embed="rId15" cstate="print"/>
          <a:srcRect r="42146" b="48018"/>
          <a:stretch/>
        </p:blipFill>
        <p:spPr>
          <a:xfrm>
            <a:off x="7346062" y="2511276"/>
            <a:ext cx="4845938" cy="4346724"/>
          </a:xfrm>
          <a:prstGeom prst="rect">
            <a:avLst/>
          </a:prstGeom>
        </p:spPr>
      </p:pic>
      <p:pic>
        <p:nvPicPr>
          <p:cNvPr id="8" name="图片 7"/>
          <p:cNvPicPr>
            <a:picLocks noChangeAspect="1"/>
          </p:cNvPicPr>
          <p:nvPr userDrawn="1"/>
        </p:nvPicPr>
        <p:blipFill rotWithShape="1">
          <a:blip r:embed="rId16" cstate="print">
            <a:extLst>
              <a:ext uri="{BEBA8EAE-BF5A-486C-A8C5-ECC9F3942E4B}">
                <a14:imgProps xmlns:a14="http://schemas.microsoft.com/office/drawing/2010/main">
                  <a14:imgLayer r:embed="rId17">
                    <a14:imgEffect>
                      <a14:backgroundRemoval t="10000" b="90000" l="10000" r="90000">
                        <a14:foregroundMark x1="41938" y1="46310" x2="41938" y2="46310"/>
                        <a14:foregroundMark x1="26672" y1="41021" x2="26672" y2="41021"/>
                        <a14:foregroundMark x1="31389" y1="39422" x2="31389" y2="39422"/>
                        <a14:backgroundMark x1="70755" y1="56581" x2="70755" y2="56581"/>
                        <a14:backgroundMark x1="68696" y1="52583" x2="65266" y2="51415"/>
                        <a14:backgroundMark x1="49914" y1="48032" x2="49314" y2="47909"/>
                        <a14:backgroundMark x1="49314" y1="54674" x2="48714" y2="54674"/>
                        <a14:backgroundMark x1="47513" y1="54490" x2="50772" y2="56827"/>
                        <a14:backgroundMark x1="67067" y1="62116" x2="67667" y2="61501"/>
                        <a14:backgroundMark x1="68525" y1="56396" x2="68525" y2="55351"/>
                        <a14:backgroundMark x1="70154" y1="50861" x2="70154" y2="50861"/>
                        <a14:backgroundMark x1="71184" y1="50431" x2="71184" y2="50431"/>
                        <a14:backgroundMark x1="38508" y1="41451" x2="38508" y2="41451"/>
                        <a14:backgroundMark x1="44254" y1="36470" x2="44254" y2="36470"/>
                        <a14:backgroundMark x1="42796" y1="43235" x2="42796" y2="43235"/>
                        <a14:backgroundMark x1="67067" y1="42927" x2="67067" y2="42927"/>
                        <a14:backgroundMark x1="58062" y1="45449" x2="57461" y2="45572"/>
                        <a14:backgroundMark x1="59091" y1="52768" x2="59520" y2="53321"/>
                        <a14:backgroundMark x1="59520" y1="54182" x2="59777" y2="55843"/>
                        <a14:backgroundMark x1="59777" y1="59164" x2="59777" y2="59164"/>
                        <a14:backgroundMark x1="78902" y1="35609" x2="78902" y2="35609"/>
                        <a14:backgroundMark x1="26415" y1="39729" x2="26415" y2="39729"/>
                        <a14:backgroundMark x1="25472" y1="42189" x2="25472" y2="42189"/>
                        <a14:backgroundMark x1="25214" y1="41636" x2="25214" y2="41636"/>
                        <a14:backgroundMark x1="46055" y1="56704" x2="46055" y2="56704"/>
                        <a14:backgroundMark x1="56690" y1="49508" x2="56690" y2="49508"/>
                        <a14:backgroundMark x1="56861" y1="49262" x2="60720" y2="48770"/>
                        <a14:backgroundMark x1="66295" y1="47601" x2="66895" y2="47601"/>
                        <a14:backgroundMark x1="71184" y1="46617" x2="76672" y2="45449"/>
                        <a14:backgroundMark x1="81389" y1="43973" x2="81389" y2="43973"/>
                      </a14:backgroundRemoval>
                    </a14:imgEffect>
                  </a14:imgLayer>
                </a14:imgProps>
              </a:ext>
            </a:extLst>
          </a:blip>
          <a:srcRect l="17878" t="35012" b="43146"/>
          <a:stretch/>
        </p:blipFill>
        <p:spPr>
          <a:xfrm>
            <a:off x="-1" y="0"/>
            <a:ext cx="5837731" cy="2166151"/>
          </a:xfrm>
          <a:prstGeom prst="rect">
            <a:avLst/>
          </a:prstGeom>
        </p:spPr>
      </p:pic>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879543787"/>
      </p:ext>
    </p:extLst>
  </p:cSld>
  <p:clrMap bg1="lt1" tx1="dk1" bg2="lt2" tx2="dk2" accent1="accent1" accent2="accent2" accent3="accent3" accent4="accent4" accent5="accent5" accent6="accent6" hlink="hlink" folHlink="folHlink"/>
  <p:sldLayoutIdLst>
    <p:sldLayoutId id="2147483649" r:id="rId1"/>
    <p:sldLayoutId id="2147483696"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98"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AEA"/>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400E00-5D83-46E2-B18B-6027595511CC}" type="datetimeFigureOut">
              <a:rPr lang="zh-CN" altLang="en-US" smtClean="0"/>
              <a:pPr/>
              <a:t>2023-10-12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0288FD-FF8E-4205-8603-C8BB8BCBCB26}" type="slidenum">
              <a:rPr lang="zh-CN" altLang="en-US" smtClean="0"/>
              <a:pPr/>
              <a:t>‹#›</a:t>
            </a:fld>
            <a:endParaRPr lang="zh-CN" altLang="en-US"/>
          </a:p>
        </p:txBody>
      </p:sp>
      <p:sp>
        <p:nvSpPr>
          <p:cNvPr id="2" name="标题占位符 1"/>
          <p:cNvSpPr>
            <a:spLocks noGrp="1"/>
          </p:cNvSpPr>
          <p:nvPr>
            <p:ph type="title"/>
          </p:nvPr>
        </p:nvSpPr>
        <p:spPr>
          <a:xfrm>
            <a:off x="848833" y="202028"/>
            <a:ext cx="3967716" cy="457196"/>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988828"/>
            <a:ext cx="10515600" cy="5188135"/>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矩形 8"/>
          <p:cNvSpPr/>
          <p:nvPr userDrawn="1"/>
        </p:nvSpPr>
        <p:spPr>
          <a:xfrm>
            <a:off x="0" y="212725"/>
            <a:ext cx="152400" cy="565150"/>
          </a:xfrm>
          <a:prstGeom prst="rect">
            <a:avLst/>
          </a:prstGeom>
          <a:solidFill>
            <a:srgbClr val="3D7351"/>
          </a:solid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grpSp>
        <p:nvGrpSpPr>
          <p:cNvPr id="10" name="组合 9"/>
          <p:cNvGrpSpPr/>
          <p:nvPr userDrawn="1"/>
        </p:nvGrpSpPr>
        <p:grpSpPr>
          <a:xfrm>
            <a:off x="245745" y="213360"/>
            <a:ext cx="563880" cy="563880"/>
            <a:chOff x="276225" y="213360"/>
            <a:chExt cx="563880" cy="563880"/>
          </a:xfrm>
          <a:solidFill>
            <a:srgbClr val="3D7351"/>
          </a:solidFill>
        </p:grpSpPr>
        <p:sp>
          <p:nvSpPr>
            <p:cNvPr id="11" name="矩形 10"/>
            <p:cNvSpPr/>
            <p:nvPr/>
          </p:nvSpPr>
          <p:spPr>
            <a:xfrm>
              <a:off x="276225" y="213360"/>
              <a:ext cx="250031" cy="563880"/>
            </a:xfrm>
            <a:prstGeom prst="rect">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chemeClr val="bg1"/>
                </a:solidFill>
              </a:endParaRPr>
            </a:p>
          </p:txBody>
        </p:sp>
        <p:sp>
          <p:nvSpPr>
            <p:cNvPr id="12" name="椭圆 11"/>
            <p:cNvSpPr/>
            <p:nvPr/>
          </p:nvSpPr>
          <p:spPr>
            <a:xfrm>
              <a:off x="276225" y="213360"/>
              <a:ext cx="563880" cy="563880"/>
            </a:xfrm>
            <a:prstGeom prst="ellipse">
              <a:avLst/>
            </a:prstGeom>
            <a:grpFill/>
            <a:ln>
              <a:solidFill>
                <a:srgbClr val="3D73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grpSp>
      <p:sp>
        <p:nvSpPr>
          <p:cNvPr id="14" name="文本框 31"/>
          <p:cNvSpPr txBox="1"/>
          <p:nvPr userDrawn="1"/>
        </p:nvSpPr>
        <p:spPr>
          <a:xfrm>
            <a:off x="902970" y="579858"/>
            <a:ext cx="1343638" cy="246221"/>
          </a:xfrm>
          <a:prstGeom prst="rect">
            <a:avLst/>
          </a:prstGeom>
          <a:noFill/>
        </p:spPr>
        <p:txBody>
          <a:bodyPr wrap="none">
            <a:spAutoFit/>
          </a:bodyPr>
          <a:lstStyle/>
          <a:p>
            <a:pPr eaLnBrk="1" fontAlgn="auto" hangingPunct="1">
              <a:spcBef>
                <a:spcPts val="0"/>
              </a:spcBef>
              <a:spcAft>
                <a:spcPts val="0"/>
              </a:spcAft>
              <a:defRPr/>
            </a:pPr>
            <a:r>
              <a:rPr lang="en-US" altLang="zh-CN" sz="1000" b="1" dirty="0">
                <a:solidFill>
                  <a:srgbClr val="3D7351"/>
                </a:solidFill>
                <a:latin typeface="微软雅黑" panose="020B0503020204020204" pitchFamily="34" charset="-122"/>
                <a:ea typeface="微软雅黑" panose="020B0503020204020204" pitchFamily="34" charset="-122"/>
              </a:rPr>
              <a:t>Operating System</a:t>
            </a:r>
            <a:endParaRPr lang="zh-CN" altLang="en-US" sz="1000" b="1" dirty="0">
              <a:solidFill>
                <a:srgbClr val="3D735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79543787"/>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97" r:id="rId11"/>
    <p:sldLayoutId id="2147483699" r:id="rId12"/>
  </p:sldLayoutIdLst>
  <p:txStyles>
    <p:titleStyle>
      <a:lvl1pPr algn="l" defTabSz="914400" rtl="0" eaLnBrk="1" latinLnBrk="0" hangingPunct="1">
        <a:lnSpc>
          <a:spcPct val="90000"/>
        </a:lnSpc>
        <a:spcBef>
          <a:spcPct val="0"/>
        </a:spcBef>
        <a:buNone/>
        <a:defRPr lang="zh-CN" altLang="en-US" sz="2400" b="1" kern="1200" dirty="0">
          <a:solidFill>
            <a:srgbClr val="3D7351"/>
          </a:solidFill>
          <a:latin typeface="微软雅黑" panose="020B0503020204020204" pitchFamily="34" charset="-122"/>
          <a:ea typeface="微软雅黑" panose="020B0503020204020204" pitchFamily="34" charset="-122"/>
          <a:cs typeface="+mn-cs"/>
        </a:defRPr>
      </a:lvl1pPr>
    </p:titleStyle>
    <p:bodyStyle>
      <a:lvl1pPr marL="228600" indent="-228600" algn="l" defTabSz="914400" rtl="0" eaLnBrk="1" latinLnBrk="0" hangingPunct="1">
        <a:lnSpc>
          <a:spcPct val="90000"/>
        </a:lnSpc>
        <a:spcBef>
          <a:spcPts val="1000"/>
        </a:spcBef>
        <a:buFontTx/>
        <a:buBlip>
          <a:blip r:embed="rId14"/>
        </a:buBlip>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AEA"/>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954378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gif"/><Relationship Id="rId1" Type="http://schemas.openxmlformats.org/officeDocument/2006/relationships/slideLayout" Target="../slideLayouts/slideLayout18.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gif"/><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imgsrc.baidu.com/baike/pic/item/72ccb7779413f508b051b932.jpg" TargetMode="External"/><Relationship Id="rId1" Type="http://schemas.openxmlformats.org/officeDocument/2006/relationships/slideLayout" Target="../slideLayouts/slideLayout18.xml"/><Relationship Id="rId4" Type="http://schemas.openxmlformats.org/officeDocument/2006/relationships/image" Target="../media/image3.gif"/></Relationships>
</file>

<file path=ppt/slides/_rels/slide18.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8.xml"/></Relationships>
</file>

<file path=ppt/slides/_rels/slide3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8.xml"/></Relationships>
</file>

<file path=ppt/slides/_rels/slide37.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1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5"/>
          <p:cNvSpPr>
            <a:spLocks noChangeArrowheads="1"/>
          </p:cNvSpPr>
          <p:nvPr/>
        </p:nvSpPr>
        <p:spPr bwMode="auto">
          <a:xfrm>
            <a:off x="2472862" y="2048669"/>
            <a:ext cx="7246275" cy="2760663"/>
          </a:xfrm>
          <a:prstGeom prst="rect">
            <a:avLst/>
          </a:prstGeom>
          <a:noFill/>
          <a:ln w="38100" cap="flat">
            <a:solidFill>
              <a:srgbClr val="3D735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文本框 5"/>
          <p:cNvSpPr txBox="1"/>
          <p:nvPr/>
        </p:nvSpPr>
        <p:spPr>
          <a:xfrm>
            <a:off x="4595747" y="2251341"/>
            <a:ext cx="3109978" cy="938719"/>
          </a:xfrm>
          <a:prstGeom prst="rect">
            <a:avLst/>
          </a:prstGeom>
          <a:noFill/>
        </p:spPr>
        <p:txBody>
          <a:bodyPr wrap="square" rtlCol="0">
            <a:spAutoFit/>
          </a:bodyPr>
          <a:lstStyle/>
          <a:p>
            <a:r>
              <a:rPr lang="zh-CN" altLang="en-US" sz="5500" dirty="0">
                <a:solidFill>
                  <a:srgbClr val="3D7351"/>
                </a:solidFill>
                <a:latin typeface="方正清刻本悦宋简体" panose="02000000000000000000" pitchFamily="2" charset="-122"/>
                <a:ea typeface="方正清刻本悦宋简体" panose="02000000000000000000" pitchFamily="2" charset="-122"/>
              </a:rPr>
              <a:t>操作系统</a:t>
            </a:r>
          </a:p>
        </p:txBody>
      </p:sp>
      <p:sp>
        <p:nvSpPr>
          <p:cNvPr id="8" name="文本框 7"/>
          <p:cNvSpPr txBox="1"/>
          <p:nvPr/>
        </p:nvSpPr>
        <p:spPr>
          <a:xfrm>
            <a:off x="3939822" y="3912068"/>
            <a:ext cx="4417602" cy="276999"/>
          </a:xfrm>
          <a:prstGeom prst="rect">
            <a:avLst/>
          </a:prstGeom>
          <a:noFill/>
        </p:spPr>
        <p:txBody>
          <a:bodyPr wrap="square" rtlCol="0">
            <a:spAutoFit/>
          </a:bodyPr>
          <a:lstStyle/>
          <a:p>
            <a:pPr algn="dist"/>
            <a:r>
              <a:rPr lang="en-US" altLang="zh-CN" sz="1200" dirty="0">
                <a:solidFill>
                  <a:srgbClr val="3D7351"/>
                </a:solidFill>
                <a:latin typeface="微软雅黑" panose="020B0503020204020204" pitchFamily="34" charset="-122"/>
                <a:ea typeface="微软雅黑" panose="020B0503020204020204" pitchFamily="34" charset="-122"/>
              </a:rPr>
              <a:t>OPERATING SYSTEM</a:t>
            </a:r>
            <a:endParaRPr lang="zh-CN" altLang="en-US" sz="1200" dirty="0">
              <a:solidFill>
                <a:srgbClr val="3D7351"/>
              </a:solidFill>
              <a:latin typeface="微软雅黑" panose="020B0503020204020204" pitchFamily="34" charset="-122"/>
              <a:ea typeface="微软雅黑" panose="020B0503020204020204" pitchFamily="34" charset="-122"/>
            </a:endParaRPr>
          </a:p>
        </p:txBody>
      </p:sp>
      <p:sp>
        <p:nvSpPr>
          <p:cNvPr id="9" name="文本框 32"/>
          <p:cNvSpPr txBox="1">
            <a:spLocks noChangeArrowheads="1"/>
          </p:cNvSpPr>
          <p:nvPr/>
        </p:nvSpPr>
        <p:spPr bwMode="auto">
          <a:xfrm>
            <a:off x="5512250" y="4270955"/>
            <a:ext cx="13838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1200" dirty="0">
                <a:solidFill>
                  <a:srgbClr val="3D7351"/>
                </a:solidFill>
                <a:latin typeface="微软雅黑" panose="020B0503020204020204" pitchFamily="34" charset="-122"/>
                <a:ea typeface="微软雅黑" panose="020B0503020204020204" pitchFamily="34" charset="-122"/>
                <a:cs typeface="Times New Roman" panose="02020603050405020304" pitchFamily="18" charset="0"/>
                <a:sym typeface="Arial" panose="020B0604020202020204" pitchFamily="34" charset="0"/>
              </a:rPr>
              <a:t>主讲人：房斐斐</a:t>
            </a:r>
          </a:p>
        </p:txBody>
      </p:sp>
      <p:cxnSp>
        <p:nvCxnSpPr>
          <p:cNvPr id="11" name="直接连接符 10"/>
          <p:cNvCxnSpPr/>
          <p:nvPr/>
        </p:nvCxnSpPr>
        <p:spPr>
          <a:xfrm>
            <a:off x="4143375" y="4409454"/>
            <a:ext cx="1299913" cy="0"/>
          </a:xfrm>
          <a:prstGeom prst="line">
            <a:avLst/>
          </a:prstGeom>
          <a:ln>
            <a:solidFill>
              <a:srgbClr val="3D735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6896100" y="4409454"/>
            <a:ext cx="1299913" cy="0"/>
          </a:xfrm>
          <a:prstGeom prst="line">
            <a:avLst/>
          </a:prstGeom>
          <a:ln>
            <a:solidFill>
              <a:srgbClr val="3D7351"/>
            </a:solidFill>
          </a:ln>
        </p:spPr>
        <p:style>
          <a:lnRef idx="1">
            <a:schemeClr val="accent1"/>
          </a:lnRef>
          <a:fillRef idx="0">
            <a:schemeClr val="accent1"/>
          </a:fillRef>
          <a:effectRef idx="0">
            <a:schemeClr val="accent1"/>
          </a:effectRef>
          <a:fontRef idx="minor">
            <a:schemeClr val="tx1"/>
          </a:fontRef>
        </p:style>
      </p:cxnSp>
      <p:sp>
        <p:nvSpPr>
          <p:cNvPr id="14" name="文本框 6"/>
          <p:cNvSpPr txBox="1"/>
          <p:nvPr/>
        </p:nvSpPr>
        <p:spPr>
          <a:xfrm>
            <a:off x="4524875" y="3187225"/>
            <a:ext cx="3195469" cy="584775"/>
          </a:xfrm>
          <a:prstGeom prst="rect">
            <a:avLst/>
          </a:prstGeom>
          <a:noFill/>
        </p:spPr>
        <p:txBody>
          <a:bodyPr wrap="square" rtlCol="0">
            <a:spAutoFit/>
          </a:bodyPr>
          <a:lstStyle/>
          <a:p>
            <a:r>
              <a:rPr lang="zh-CN" altLang="en-US" sz="3200" dirty="0">
                <a:solidFill>
                  <a:srgbClr val="3D7351"/>
                </a:solidFill>
                <a:latin typeface="方正清刻本悦宋简体" panose="02000000000000000000" pitchFamily="2" charset="-122"/>
                <a:ea typeface="方正清刻本悦宋简体" panose="02000000000000000000" pitchFamily="2" charset="-122"/>
              </a:rPr>
              <a:t>第三章 进程管理</a:t>
            </a:r>
          </a:p>
        </p:txBody>
      </p:sp>
    </p:spTree>
    <p:extLst>
      <p:ext uri="{BB962C8B-B14F-4D97-AF65-F5344CB8AC3E}">
        <p14:creationId xmlns:p14="http://schemas.microsoft.com/office/powerpoint/2010/main" val="2646257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5"/>
          <p:cNvSpPr>
            <a:spLocks noChangeArrowheads="1"/>
          </p:cNvSpPr>
          <p:nvPr/>
        </p:nvSpPr>
        <p:spPr bwMode="auto">
          <a:xfrm>
            <a:off x="2472862" y="1930331"/>
            <a:ext cx="7246275" cy="3663642"/>
          </a:xfrm>
          <a:prstGeom prst="rect">
            <a:avLst/>
          </a:prstGeom>
          <a:noFill/>
          <a:ln w="38100" cap="flat">
            <a:solidFill>
              <a:srgbClr val="3D735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14" name="组合 13"/>
          <p:cNvGrpSpPr/>
          <p:nvPr/>
        </p:nvGrpSpPr>
        <p:grpSpPr>
          <a:xfrm>
            <a:off x="3152633" y="2191302"/>
            <a:ext cx="5887815" cy="2109625"/>
            <a:chOff x="4806642" y="2317346"/>
            <a:chExt cx="5065904" cy="2109625"/>
          </a:xfrm>
        </p:grpSpPr>
        <p:sp>
          <p:nvSpPr>
            <p:cNvPr id="15" name="文本框 13"/>
            <p:cNvSpPr txBox="1">
              <a:spLocks noChangeArrowheads="1"/>
            </p:cNvSpPr>
            <p:nvPr/>
          </p:nvSpPr>
          <p:spPr bwMode="auto">
            <a:xfrm>
              <a:off x="7948242" y="2340801"/>
              <a:ext cx="192430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hangingPunct="1">
                <a:lnSpc>
                  <a:spcPct val="100000"/>
                </a:lnSpc>
                <a:spcBef>
                  <a:spcPct val="0"/>
                </a:spcBef>
                <a:buFontTx/>
                <a:buNone/>
              </a:pPr>
              <a:r>
                <a:rPr lang="zh-CN" altLang="en-US" sz="2000" dirty="0">
                  <a:solidFill>
                    <a:srgbClr val="595959"/>
                  </a:solidFill>
                  <a:latin typeface="微软雅黑" panose="020B0503020204020204" pitchFamily="34" charset="-122"/>
                  <a:ea typeface="微软雅黑" panose="020B0503020204020204" pitchFamily="34" charset="-122"/>
                </a:rPr>
                <a:t>前驱图和程序执行</a:t>
              </a:r>
            </a:p>
          </p:txBody>
        </p:sp>
        <p:sp>
          <p:nvSpPr>
            <p:cNvPr id="16" name="文本框 14"/>
            <p:cNvSpPr txBox="1">
              <a:spLocks noChangeArrowheads="1"/>
            </p:cNvSpPr>
            <p:nvPr/>
          </p:nvSpPr>
          <p:spPr bwMode="auto">
            <a:xfrm>
              <a:off x="7948242" y="2890121"/>
              <a:ext cx="126227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pPr>
              <a:r>
                <a:rPr lang="zh-CN" altLang="en-US" sz="2000" dirty="0">
                  <a:solidFill>
                    <a:srgbClr val="595959"/>
                  </a:solidFill>
                  <a:latin typeface="微软雅黑" panose="020B0503020204020204" pitchFamily="34" charset="-122"/>
                  <a:ea typeface="微软雅黑" panose="020B0503020204020204" pitchFamily="34" charset="-122"/>
                </a:rPr>
                <a:t>进程的描述</a:t>
              </a:r>
            </a:p>
          </p:txBody>
        </p:sp>
        <p:sp>
          <p:nvSpPr>
            <p:cNvPr id="18" name="文本框 15"/>
            <p:cNvSpPr txBox="1">
              <a:spLocks noChangeArrowheads="1"/>
            </p:cNvSpPr>
            <p:nvPr/>
          </p:nvSpPr>
          <p:spPr bwMode="auto">
            <a:xfrm>
              <a:off x="7948242" y="3439441"/>
              <a:ext cx="104159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pPr>
              <a:r>
                <a:rPr lang="zh-CN" altLang="en-US" sz="2000" dirty="0">
                  <a:solidFill>
                    <a:srgbClr val="595959"/>
                  </a:solidFill>
                  <a:latin typeface="微软雅黑" panose="020B0503020204020204" pitchFamily="34" charset="-122"/>
                  <a:ea typeface="微软雅黑" panose="020B0503020204020204" pitchFamily="34" charset="-122"/>
                </a:rPr>
                <a:t>进程控制</a:t>
              </a:r>
            </a:p>
          </p:txBody>
        </p:sp>
        <p:sp>
          <p:nvSpPr>
            <p:cNvPr id="19" name="文本框 16"/>
            <p:cNvSpPr txBox="1">
              <a:spLocks noChangeArrowheads="1"/>
            </p:cNvSpPr>
            <p:nvPr/>
          </p:nvSpPr>
          <p:spPr bwMode="auto">
            <a:xfrm>
              <a:off x="7948241" y="3988761"/>
              <a:ext cx="104159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pPr>
              <a:r>
                <a:rPr lang="zh-CN" altLang="en-US" sz="2000" dirty="0">
                  <a:solidFill>
                    <a:srgbClr val="595959"/>
                  </a:solidFill>
                  <a:latin typeface="微软雅黑" panose="020B0503020204020204" pitchFamily="34" charset="-122"/>
                  <a:ea typeface="微软雅黑" panose="020B0503020204020204" pitchFamily="34" charset="-122"/>
                </a:rPr>
                <a:t>进程同步</a:t>
              </a:r>
            </a:p>
          </p:txBody>
        </p:sp>
        <p:sp>
          <p:nvSpPr>
            <p:cNvPr id="20" name="文本框 19"/>
            <p:cNvSpPr txBox="1"/>
            <p:nvPr/>
          </p:nvSpPr>
          <p:spPr>
            <a:xfrm>
              <a:off x="7496132" y="2317346"/>
              <a:ext cx="606287" cy="461665"/>
            </a:xfrm>
            <a:prstGeom prst="rect">
              <a:avLst/>
            </a:prstGeom>
            <a:noFill/>
          </p:spPr>
          <p:txBody>
            <a:bodyPr wrap="square" rtlCol="0">
              <a:spAutoFit/>
            </a:bodyPr>
            <a:lstStyle/>
            <a:p>
              <a:r>
                <a:rPr lang="en-US" altLang="zh-CN" sz="2400" dirty="0">
                  <a:solidFill>
                    <a:srgbClr val="708265"/>
                  </a:solidFill>
                  <a:latin typeface="微软雅黑 Light" panose="020B0502040204020203" pitchFamily="34" charset="-122"/>
                  <a:ea typeface="微软雅黑 Light" panose="020B0502040204020203" pitchFamily="34" charset="-122"/>
                </a:rPr>
                <a:t>1</a:t>
              </a:r>
              <a:endParaRPr lang="zh-CN" altLang="en-US" sz="2400" dirty="0">
                <a:solidFill>
                  <a:srgbClr val="708265"/>
                </a:solidFill>
                <a:latin typeface="微软雅黑 Light" panose="020B0502040204020203" pitchFamily="34" charset="-122"/>
                <a:ea typeface="微软雅黑 Light" panose="020B0502040204020203" pitchFamily="34" charset="-122"/>
              </a:endParaRPr>
            </a:p>
          </p:txBody>
        </p:sp>
        <p:sp>
          <p:nvSpPr>
            <p:cNvPr id="21" name="文本框 20"/>
            <p:cNvSpPr txBox="1"/>
            <p:nvPr/>
          </p:nvSpPr>
          <p:spPr>
            <a:xfrm>
              <a:off x="7496133" y="2866666"/>
              <a:ext cx="646430" cy="461665"/>
            </a:xfrm>
            <a:prstGeom prst="rect">
              <a:avLst/>
            </a:prstGeom>
            <a:noFill/>
          </p:spPr>
          <p:txBody>
            <a:bodyPr wrap="square" rtlCol="0">
              <a:spAutoFit/>
            </a:bodyPr>
            <a:lstStyle/>
            <a:p>
              <a:r>
                <a:rPr lang="en-US" altLang="zh-CN" sz="2400" dirty="0">
                  <a:solidFill>
                    <a:srgbClr val="708265"/>
                  </a:solidFill>
                  <a:latin typeface="微软雅黑 Light" panose="020B0502040204020203" pitchFamily="34" charset="-122"/>
                  <a:ea typeface="微软雅黑 Light" panose="020B0502040204020203" pitchFamily="34" charset="-122"/>
                </a:rPr>
                <a:t>2</a:t>
              </a:r>
              <a:endParaRPr lang="zh-CN" altLang="en-US" sz="2400" dirty="0">
                <a:solidFill>
                  <a:srgbClr val="708265"/>
                </a:solidFill>
                <a:latin typeface="微软雅黑 Light" panose="020B0502040204020203" pitchFamily="34" charset="-122"/>
                <a:ea typeface="微软雅黑 Light" panose="020B0502040204020203" pitchFamily="34" charset="-122"/>
              </a:endParaRPr>
            </a:p>
          </p:txBody>
        </p:sp>
        <p:sp>
          <p:nvSpPr>
            <p:cNvPr id="22" name="文本框 21"/>
            <p:cNvSpPr txBox="1"/>
            <p:nvPr/>
          </p:nvSpPr>
          <p:spPr>
            <a:xfrm>
              <a:off x="7496132" y="3415986"/>
              <a:ext cx="646429" cy="461665"/>
            </a:xfrm>
            <a:prstGeom prst="rect">
              <a:avLst/>
            </a:prstGeom>
            <a:noFill/>
          </p:spPr>
          <p:txBody>
            <a:bodyPr wrap="square" rtlCol="0">
              <a:spAutoFit/>
            </a:bodyPr>
            <a:lstStyle/>
            <a:p>
              <a:r>
                <a:rPr lang="en-US" altLang="zh-CN" sz="2400" dirty="0">
                  <a:solidFill>
                    <a:srgbClr val="708265"/>
                  </a:solidFill>
                  <a:latin typeface="微软雅黑 Light" panose="020B0502040204020203" pitchFamily="34" charset="-122"/>
                  <a:ea typeface="微软雅黑 Light" panose="020B0502040204020203" pitchFamily="34" charset="-122"/>
                </a:rPr>
                <a:t>3</a:t>
              </a:r>
              <a:endParaRPr lang="zh-CN" altLang="en-US" sz="2400" dirty="0">
                <a:solidFill>
                  <a:srgbClr val="708265"/>
                </a:solidFill>
                <a:latin typeface="微软雅黑 Light" panose="020B0502040204020203" pitchFamily="34" charset="-122"/>
                <a:ea typeface="微软雅黑 Light" panose="020B0502040204020203" pitchFamily="34" charset="-122"/>
              </a:endParaRPr>
            </a:p>
          </p:txBody>
        </p:sp>
        <p:sp>
          <p:nvSpPr>
            <p:cNvPr id="23" name="文本框 22"/>
            <p:cNvSpPr txBox="1"/>
            <p:nvPr/>
          </p:nvSpPr>
          <p:spPr>
            <a:xfrm>
              <a:off x="7496132" y="3965306"/>
              <a:ext cx="646429" cy="461665"/>
            </a:xfrm>
            <a:prstGeom prst="rect">
              <a:avLst/>
            </a:prstGeom>
            <a:noFill/>
          </p:spPr>
          <p:txBody>
            <a:bodyPr wrap="square" rtlCol="0">
              <a:spAutoFit/>
            </a:bodyPr>
            <a:lstStyle/>
            <a:p>
              <a:r>
                <a:rPr lang="en-US" altLang="zh-CN" sz="2400" dirty="0">
                  <a:solidFill>
                    <a:srgbClr val="708265"/>
                  </a:solidFill>
                  <a:latin typeface="微软雅黑 Light" panose="020B0502040204020203" pitchFamily="34" charset="-122"/>
                  <a:ea typeface="微软雅黑 Light" panose="020B0502040204020203" pitchFamily="34" charset="-122"/>
                </a:rPr>
                <a:t>4</a:t>
              </a:r>
              <a:endParaRPr lang="zh-CN" altLang="en-US" sz="2400" dirty="0">
                <a:solidFill>
                  <a:srgbClr val="708265"/>
                </a:solidFill>
                <a:latin typeface="微软雅黑 Light" panose="020B0502040204020203" pitchFamily="34" charset="-122"/>
                <a:ea typeface="微软雅黑 Light" panose="020B0502040204020203" pitchFamily="34" charset="-122"/>
              </a:endParaRPr>
            </a:p>
          </p:txBody>
        </p:sp>
        <p:grpSp>
          <p:nvGrpSpPr>
            <p:cNvPr id="24" name="组合 23"/>
            <p:cNvGrpSpPr/>
            <p:nvPr/>
          </p:nvGrpSpPr>
          <p:grpSpPr>
            <a:xfrm>
              <a:off x="4806642" y="2938055"/>
              <a:ext cx="2088107" cy="992892"/>
              <a:chOff x="2995095" y="2938055"/>
              <a:chExt cx="2088107" cy="992892"/>
            </a:xfrm>
          </p:grpSpPr>
          <p:grpSp>
            <p:nvGrpSpPr>
              <p:cNvPr id="25" name="组合 24"/>
              <p:cNvGrpSpPr/>
              <p:nvPr/>
            </p:nvGrpSpPr>
            <p:grpSpPr>
              <a:xfrm>
                <a:off x="2995095" y="2938055"/>
                <a:ext cx="2088107" cy="992892"/>
                <a:chOff x="3053227" y="2938055"/>
                <a:chExt cx="2088107" cy="992892"/>
              </a:xfrm>
            </p:grpSpPr>
            <p:sp>
              <p:nvSpPr>
                <p:cNvPr id="28" name="文本框 27"/>
                <p:cNvSpPr txBox="1"/>
                <p:nvPr/>
              </p:nvSpPr>
              <p:spPr>
                <a:xfrm>
                  <a:off x="3630124" y="3469282"/>
                  <a:ext cx="1274156" cy="461665"/>
                </a:xfrm>
                <a:prstGeom prst="rect">
                  <a:avLst/>
                </a:prstGeom>
                <a:noFill/>
              </p:spPr>
              <p:txBody>
                <a:bodyPr wrap="square" rtlCol="0">
                  <a:spAutoFit/>
                </a:bodyPr>
                <a:lstStyle/>
                <a:p>
                  <a:r>
                    <a:rPr lang="en-US" altLang="zh-CN" sz="2400" dirty="0">
                      <a:solidFill>
                        <a:srgbClr val="708265"/>
                      </a:solidFill>
                      <a:latin typeface="Impact" panose="020B0806030902050204" pitchFamily="34" charset="0"/>
                      <a:ea typeface="微软雅黑 Light" panose="020B0502040204020203" pitchFamily="34" charset="-122"/>
                    </a:rPr>
                    <a:t>CHAPTER</a:t>
                  </a:r>
                  <a:endParaRPr lang="zh-CN" altLang="en-US" sz="2400" dirty="0">
                    <a:solidFill>
                      <a:srgbClr val="708265"/>
                    </a:solidFill>
                    <a:latin typeface="Impact" panose="020B0806030902050204" pitchFamily="34" charset="0"/>
                    <a:ea typeface="微软雅黑 Light" panose="020B0502040204020203" pitchFamily="34" charset="-122"/>
                  </a:endParaRPr>
                </a:p>
              </p:txBody>
            </p:sp>
            <p:sp>
              <p:nvSpPr>
                <p:cNvPr id="29" name="文本框 28"/>
                <p:cNvSpPr txBox="1"/>
                <p:nvPr/>
              </p:nvSpPr>
              <p:spPr>
                <a:xfrm>
                  <a:off x="3053227" y="2938055"/>
                  <a:ext cx="2088107" cy="646331"/>
                </a:xfrm>
                <a:prstGeom prst="rect">
                  <a:avLst/>
                </a:prstGeom>
                <a:noFill/>
              </p:spPr>
              <p:txBody>
                <a:bodyPr wrap="square" rtlCol="0">
                  <a:spAutoFit/>
                </a:bodyPr>
                <a:lstStyle/>
                <a:p>
                  <a:r>
                    <a:rPr lang="zh-CN" altLang="en-US" sz="3600" dirty="0">
                      <a:solidFill>
                        <a:srgbClr val="708265"/>
                      </a:solidFill>
                      <a:latin typeface="方正清刻本悦宋简体" panose="02000000000000000000" pitchFamily="2" charset="-122"/>
                      <a:ea typeface="方正清刻本悦宋简体" panose="02000000000000000000" pitchFamily="2" charset="-122"/>
                    </a:rPr>
                    <a:t>第三章</a:t>
                  </a:r>
                </a:p>
              </p:txBody>
            </p:sp>
          </p:grpSp>
          <p:sp>
            <p:nvSpPr>
              <p:cNvPr id="26" name="L 形 25"/>
              <p:cNvSpPr/>
              <p:nvPr/>
            </p:nvSpPr>
            <p:spPr>
              <a:xfrm rot="2493705" flipH="1" flipV="1">
                <a:off x="4575036" y="3364836"/>
                <a:ext cx="54243" cy="54244"/>
              </a:xfrm>
              <a:prstGeom prst="corner">
                <a:avLst>
                  <a:gd name="adj1" fmla="val 15149"/>
                  <a:gd name="adj2" fmla="val 17140"/>
                </a:avLst>
              </a:prstGeom>
              <a:solidFill>
                <a:srgbClr val="708265"/>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L 形 26"/>
              <p:cNvSpPr/>
              <p:nvPr/>
            </p:nvSpPr>
            <p:spPr>
              <a:xfrm rot="2493705" flipH="1" flipV="1">
                <a:off x="4649233" y="3364836"/>
                <a:ext cx="54243" cy="54244"/>
              </a:xfrm>
              <a:prstGeom prst="corner">
                <a:avLst>
                  <a:gd name="adj1" fmla="val 15149"/>
                  <a:gd name="adj2" fmla="val 17140"/>
                </a:avLst>
              </a:prstGeom>
              <a:solidFill>
                <a:srgbClr val="708265"/>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30" name="文本框 16"/>
          <p:cNvSpPr txBox="1">
            <a:spLocks noChangeArrowheads="1"/>
          </p:cNvSpPr>
          <p:nvPr/>
        </p:nvSpPr>
        <p:spPr bwMode="auto">
          <a:xfrm>
            <a:off x="6799945" y="4327099"/>
            <a:ext cx="249299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pPr>
            <a:r>
              <a:rPr lang="zh-CN" altLang="en-US" sz="2000" dirty="0">
                <a:solidFill>
                  <a:srgbClr val="595959"/>
                </a:solidFill>
                <a:latin typeface="微软雅黑" panose="020B0503020204020204" pitchFamily="34" charset="-122"/>
                <a:ea typeface="微软雅黑" panose="020B0503020204020204" pitchFamily="34" charset="-122"/>
              </a:rPr>
              <a:t>经典进程的同步问题</a:t>
            </a:r>
          </a:p>
        </p:txBody>
      </p:sp>
      <p:sp>
        <p:nvSpPr>
          <p:cNvPr id="31" name="文本框 22"/>
          <p:cNvSpPr txBox="1"/>
          <p:nvPr/>
        </p:nvSpPr>
        <p:spPr>
          <a:xfrm>
            <a:off x="6274484" y="4303644"/>
            <a:ext cx="751308" cy="461665"/>
          </a:xfrm>
          <a:prstGeom prst="rect">
            <a:avLst/>
          </a:prstGeom>
          <a:noFill/>
        </p:spPr>
        <p:txBody>
          <a:bodyPr wrap="square" rtlCol="0">
            <a:spAutoFit/>
          </a:bodyPr>
          <a:lstStyle/>
          <a:p>
            <a:r>
              <a:rPr lang="en-US" altLang="zh-CN" sz="2400" dirty="0">
                <a:solidFill>
                  <a:srgbClr val="708265"/>
                </a:solidFill>
                <a:latin typeface="微软雅黑 Light" panose="020B0502040204020203" pitchFamily="34" charset="-122"/>
                <a:ea typeface="微软雅黑 Light" panose="020B0502040204020203" pitchFamily="34" charset="-122"/>
              </a:rPr>
              <a:t>5</a:t>
            </a:r>
            <a:endParaRPr lang="zh-CN" altLang="en-US" sz="2400" dirty="0">
              <a:solidFill>
                <a:srgbClr val="708265"/>
              </a:solidFill>
              <a:latin typeface="微软雅黑 Light" panose="020B0502040204020203" pitchFamily="34" charset="-122"/>
              <a:ea typeface="微软雅黑 Light" panose="020B0502040204020203" pitchFamily="34" charset="-122"/>
            </a:endParaRPr>
          </a:p>
        </p:txBody>
      </p:sp>
      <p:sp>
        <p:nvSpPr>
          <p:cNvPr id="32" name="文本框 16"/>
          <p:cNvSpPr txBox="1">
            <a:spLocks noChangeArrowheads="1"/>
          </p:cNvSpPr>
          <p:nvPr/>
        </p:nvSpPr>
        <p:spPr bwMode="auto">
          <a:xfrm>
            <a:off x="6789187" y="4800451"/>
            <a:ext cx="1210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pPr>
            <a:r>
              <a:rPr lang="zh-CN" altLang="en-US" sz="2000" dirty="0">
                <a:solidFill>
                  <a:srgbClr val="595959"/>
                </a:solidFill>
                <a:latin typeface="微软雅黑" panose="020B0503020204020204" pitchFamily="34" charset="-122"/>
                <a:ea typeface="微软雅黑" panose="020B0503020204020204" pitchFamily="34" charset="-122"/>
              </a:rPr>
              <a:t>进程通信</a:t>
            </a:r>
          </a:p>
        </p:txBody>
      </p:sp>
      <p:sp>
        <p:nvSpPr>
          <p:cNvPr id="33" name="文本框 22"/>
          <p:cNvSpPr txBox="1"/>
          <p:nvPr/>
        </p:nvSpPr>
        <p:spPr>
          <a:xfrm>
            <a:off x="6263726" y="4776996"/>
            <a:ext cx="751308" cy="461665"/>
          </a:xfrm>
          <a:prstGeom prst="rect">
            <a:avLst/>
          </a:prstGeom>
          <a:noFill/>
        </p:spPr>
        <p:txBody>
          <a:bodyPr wrap="square" rtlCol="0">
            <a:spAutoFit/>
          </a:bodyPr>
          <a:lstStyle/>
          <a:p>
            <a:r>
              <a:rPr lang="en-US" altLang="zh-CN" sz="2400" dirty="0">
                <a:solidFill>
                  <a:srgbClr val="708265"/>
                </a:solidFill>
                <a:latin typeface="微软雅黑 Light" panose="020B0502040204020203" pitchFamily="34" charset="-122"/>
                <a:ea typeface="微软雅黑 Light" panose="020B0502040204020203" pitchFamily="34" charset="-122"/>
              </a:rPr>
              <a:t>6</a:t>
            </a:r>
            <a:endParaRPr lang="zh-CN" altLang="en-US" sz="2400" dirty="0">
              <a:solidFill>
                <a:srgbClr val="708265"/>
              </a:solidFill>
              <a:latin typeface="微软雅黑 Light" panose="020B0502040204020203" pitchFamily="34" charset="-122"/>
              <a:ea typeface="微软雅黑 Light" panose="020B0502040204020203" pitchFamily="34" charset="-122"/>
            </a:endParaRPr>
          </a:p>
        </p:txBody>
      </p:sp>
    </p:spTree>
    <p:extLst>
      <p:ext uri="{BB962C8B-B14F-4D97-AF65-F5344CB8AC3E}">
        <p14:creationId xmlns:p14="http://schemas.microsoft.com/office/powerpoint/2010/main" val="429807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5"/>
          <p:cNvSpPr>
            <a:spLocks noChangeArrowheads="1"/>
          </p:cNvSpPr>
          <p:nvPr/>
        </p:nvSpPr>
        <p:spPr bwMode="auto">
          <a:xfrm>
            <a:off x="2439936" y="1137130"/>
            <a:ext cx="7246275" cy="1733178"/>
          </a:xfrm>
          <a:prstGeom prst="rect">
            <a:avLst/>
          </a:prstGeom>
          <a:noFill/>
          <a:ln w="38100" cap="flat">
            <a:solidFill>
              <a:srgbClr val="3D735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grpSp>
        <p:nvGrpSpPr>
          <p:cNvPr id="30" name="组合 29"/>
          <p:cNvGrpSpPr/>
          <p:nvPr/>
        </p:nvGrpSpPr>
        <p:grpSpPr>
          <a:xfrm>
            <a:off x="2729551" y="1483991"/>
            <a:ext cx="6989586" cy="1104503"/>
            <a:chOff x="3621789" y="2876749"/>
            <a:chExt cx="5471412" cy="1104503"/>
          </a:xfrm>
        </p:grpSpPr>
        <p:sp>
          <p:nvSpPr>
            <p:cNvPr id="31" name="矩形 30"/>
            <p:cNvSpPr/>
            <p:nvPr/>
          </p:nvSpPr>
          <p:spPr bwMode="auto">
            <a:xfrm>
              <a:off x="4971853" y="3707291"/>
              <a:ext cx="123825" cy="123825"/>
            </a:xfrm>
            <a:prstGeom prst="rect">
              <a:avLst/>
            </a:prstGeom>
            <a:solidFill>
              <a:srgbClr val="708265"/>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rgbClr val="595959"/>
                </a:solidFill>
              </a:endParaRPr>
            </a:p>
          </p:txBody>
        </p:sp>
        <p:sp>
          <p:nvSpPr>
            <p:cNvPr id="32" name="文本框 13"/>
            <p:cNvSpPr txBox="1">
              <a:spLocks noChangeArrowheads="1"/>
            </p:cNvSpPr>
            <p:nvPr/>
          </p:nvSpPr>
          <p:spPr bwMode="auto">
            <a:xfrm>
              <a:off x="5095677" y="3596166"/>
              <a:ext cx="137784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600" b="1" dirty="0">
                <a:solidFill>
                  <a:srgbClr val="595959"/>
                </a:solidFill>
                <a:latin typeface="微软雅黑" panose="020B0503020204020204" pitchFamily="34" charset="-122"/>
                <a:ea typeface="微软雅黑" panose="020B0503020204020204" pitchFamily="34" charset="-122"/>
              </a:endParaRPr>
            </a:p>
          </p:txBody>
        </p:sp>
        <p:sp>
          <p:nvSpPr>
            <p:cNvPr id="33" name="矩形 32"/>
            <p:cNvSpPr/>
            <p:nvPr/>
          </p:nvSpPr>
          <p:spPr bwMode="auto">
            <a:xfrm>
              <a:off x="7136457" y="3705704"/>
              <a:ext cx="123825" cy="125413"/>
            </a:xfrm>
            <a:prstGeom prst="rect">
              <a:avLst/>
            </a:prstGeom>
            <a:solidFill>
              <a:srgbClr val="708265"/>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rgbClr val="595959"/>
                </a:solidFill>
              </a:endParaRPr>
            </a:p>
          </p:txBody>
        </p:sp>
        <p:sp>
          <p:nvSpPr>
            <p:cNvPr id="34" name="文本框 13"/>
            <p:cNvSpPr txBox="1">
              <a:spLocks noChangeArrowheads="1"/>
            </p:cNvSpPr>
            <p:nvPr/>
          </p:nvSpPr>
          <p:spPr bwMode="auto">
            <a:xfrm>
              <a:off x="7260281" y="3596167"/>
              <a:ext cx="129951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eaLnBrk="1" fontAlgn="auto" hangingPunct="1">
                <a:lnSpc>
                  <a:spcPct val="100000"/>
                </a:lnSpc>
                <a:spcBef>
                  <a:spcPct val="0"/>
                </a:spcBef>
                <a:spcAft>
                  <a:spcPts val="0"/>
                </a:spcAft>
                <a:buFont typeface="Arial" panose="020B0604020202020204" pitchFamily="34" charset="0"/>
                <a:buNone/>
                <a:defRPr/>
              </a:pPr>
              <a:endParaRPr lang="zh-CN" altLang="en-US" sz="1600" b="1" dirty="0">
                <a:solidFill>
                  <a:srgbClr val="595959"/>
                </a:solidFill>
                <a:latin typeface="微软雅黑" panose="020B0503020204020204" pitchFamily="34" charset="-122"/>
                <a:ea typeface="微软雅黑" panose="020B0503020204020204" pitchFamily="34" charset="-122"/>
              </a:endParaRPr>
            </a:p>
          </p:txBody>
        </p:sp>
        <p:sp>
          <p:nvSpPr>
            <p:cNvPr id="35" name="文本框 13"/>
            <p:cNvSpPr txBox="1">
              <a:spLocks noChangeArrowheads="1"/>
            </p:cNvSpPr>
            <p:nvPr/>
          </p:nvSpPr>
          <p:spPr bwMode="auto">
            <a:xfrm>
              <a:off x="4813114" y="2890068"/>
              <a:ext cx="4280087"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a:lnSpc>
                  <a:spcPct val="100000"/>
                </a:lnSpc>
                <a:spcBef>
                  <a:spcPct val="0"/>
                </a:spcBef>
                <a:buNone/>
              </a:pPr>
              <a:r>
                <a:rPr lang="zh-CN" altLang="en-US" sz="4000" b="1" dirty="0">
                  <a:solidFill>
                    <a:srgbClr val="595959"/>
                  </a:solidFill>
                  <a:latin typeface="微软雅黑" panose="020B0503020204020204" pitchFamily="34" charset="-122"/>
                  <a:ea typeface="微软雅黑" panose="020B0503020204020204" pitchFamily="34" charset="-122"/>
                </a:rPr>
                <a:t>进程同步</a:t>
              </a:r>
            </a:p>
          </p:txBody>
        </p:sp>
        <p:sp>
          <p:nvSpPr>
            <p:cNvPr id="36" name="文本框 35"/>
            <p:cNvSpPr txBox="1"/>
            <p:nvPr/>
          </p:nvSpPr>
          <p:spPr>
            <a:xfrm>
              <a:off x="3655926" y="3396477"/>
              <a:ext cx="1274156" cy="584775"/>
            </a:xfrm>
            <a:prstGeom prst="rect">
              <a:avLst/>
            </a:prstGeom>
            <a:noFill/>
          </p:spPr>
          <p:txBody>
            <a:bodyPr wrap="square" rtlCol="0">
              <a:spAutoFit/>
            </a:bodyPr>
            <a:lstStyle/>
            <a:p>
              <a:r>
                <a:rPr lang="en-US" altLang="zh-CN" sz="3200" dirty="0">
                  <a:solidFill>
                    <a:srgbClr val="708265"/>
                  </a:solidFill>
                  <a:latin typeface="Impact" panose="020B0806030902050204" pitchFamily="34" charset="0"/>
                  <a:ea typeface="微软雅黑 Light" panose="020B0502040204020203" pitchFamily="34" charset="-122"/>
                </a:rPr>
                <a:t>PART</a:t>
              </a:r>
              <a:endParaRPr lang="zh-CN" altLang="en-US" sz="3200" dirty="0">
                <a:solidFill>
                  <a:srgbClr val="708265"/>
                </a:solidFill>
                <a:latin typeface="Impact" panose="020B0806030902050204" pitchFamily="34" charset="0"/>
                <a:ea typeface="微软雅黑 Light" panose="020B0502040204020203" pitchFamily="34" charset="-122"/>
              </a:endParaRPr>
            </a:p>
          </p:txBody>
        </p:sp>
        <p:sp>
          <p:nvSpPr>
            <p:cNvPr id="37" name="文本框 36"/>
            <p:cNvSpPr txBox="1"/>
            <p:nvPr/>
          </p:nvSpPr>
          <p:spPr>
            <a:xfrm>
              <a:off x="3621789" y="2876749"/>
              <a:ext cx="1342430" cy="707886"/>
            </a:xfrm>
            <a:prstGeom prst="rect">
              <a:avLst/>
            </a:prstGeom>
            <a:noFill/>
          </p:spPr>
          <p:txBody>
            <a:bodyPr wrap="square" rtlCol="0">
              <a:spAutoFit/>
            </a:bodyPr>
            <a:lstStyle/>
            <a:p>
              <a:r>
                <a:rPr lang="en-US" altLang="zh-CN" sz="4000" dirty="0">
                  <a:solidFill>
                    <a:srgbClr val="708265"/>
                  </a:solidFill>
                  <a:latin typeface="微软雅黑" panose="020B0503020204020204" pitchFamily="34" charset="-122"/>
                  <a:ea typeface="微软雅黑" panose="020B0503020204020204" pitchFamily="34" charset="-122"/>
                </a:rPr>
                <a:t>3.4</a:t>
              </a:r>
              <a:endParaRPr lang="zh-CN" altLang="en-US" sz="4000" dirty="0">
                <a:solidFill>
                  <a:srgbClr val="708265"/>
                </a:solidFill>
                <a:latin typeface="微软雅黑" panose="020B0503020204020204" pitchFamily="34" charset="-122"/>
                <a:ea typeface="微软雅黑" panose="020B0503020204020204" pitchFamily="34" charset="-122"/>
              </a:endParaRPr>
            </a:p>
          </p:txBody>
        </p:sp>
        <p:grpSp>
          <p:nvGrpSpPr>
            <p:cNvPr id="38" name="组合 37"/>
            <p:cNvGrpSpPr/>
            <p:nvPr/>
          </p:nvGrpSpPr>
          <p:grpSpPr>
            <a:xfrm>
              <a:off x="4293004" y="3250218"/>
              <a:ext cx="207440" cy="104457"/>
              <a:chOff x="4093098" y="3134123"/>
              <a:chExt cx="107723" cy="54244"/>
            </a:xfrm>
          </p:grpSpPr>
          <p:sp>
            <p:nvSpPr>
              <p:cNvPr id="39" name="L 形 38"/>
              <p:cNvSpPr/>
              <p:nvPr/>
            </p:nvSpPr>
            <p:spPr>
              <a:xfrm rot="2493705" flipH="1" flipV="1">
                <a:off x="4093098" y="3134123"/>
                <a:ext cx="54243" cy="54244"/>
              </a:xfrm>
              <a:prstGeom prst="corner">
                <a:avLst>
                  <a:gd name="adj1" fmla="val 15149"/>
                  <a:gd name="adj2" fmla="val 17140"/>
                </a:avLst>
              </a:prstGeom>
              <a:solidFill>
                <a:srgbClr val="6F8163"/>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708265"/>
                  </a:solidFill>
                </a:endParaRPr>
              </a:p>
            </p:txBody>
          </p:sp>
          <p:sp>
            <p:nvSpPr>
              <p:cNvPr id="40" name="L 形 39"/>
              <p:cNvSpPr/>
              <p:nvPr/>
            </p:nvSpPr>
            <p:spPr>
              <a:xfrm rot="2493705" flipH="1" flipV="1">
                <a:off x="4146578" y="3134123"/>
                <a:ext cx="54243" cy="54244"/>
              </a:xfrm>
              <a:prstGeom prst="corner">
                <a:avLst>
                  <a:gd name="adj1" fmla="val 15149"/>
                  <a:gd name="adj2" fmla="val 17140"/>
                </a:avLst>
              </a:prstGeom>
              <a:solidFill>
                <a:srgbClr val="6F8163"/>
              </a:solidFill>
              <a:ln>
                <a:solidFill>
                  <a:srgbClr val="70826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solidFill>
                    <a:srgbClr val="708265"/>
                  </a:solidFill>
                </a:endParaRPr>
              </a:p>
            </p:txBody>
          </p:sp>
        </p:grpSp>
      </p:grpSp>
      <p:sp>
        <p:nvSpPr>
          <p:cNvPr id="17" name="文本框 21"/>
          <p:cNvSpPr txBox="1">
            <a:spLocks noChangeArrowheads="1"/>
          </p:cNvSpPr>
          <p:nvPr/>
        </p:nvSpPr>
        <p:spPr bwMode="auto">
          <a:xfrm>
            <a:off x="2439935" y="3258781"/>
            <a:ext cx="7279201"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400" b="1" dirty="0">
                <a:solidFill>
                  <a:srgbClr val="505050"/>
                </a:solidFill>
                <a:latin typeface="微软雅黑" panose="020B0503020204020204" pitchFamily="34" charset="-122"/>
                <a:ea typeface="微软雅黑" panose="020B0503020204020204" pitchFamily="34" charset="-122"/>
              </a:rPr>
              <a:t>问题提出</a:t>
            </a:r>
            <a:r>
              <a:rPr lang="zh-CN" altLang="en-US" sz="2400" dirty="0"/>
              <a:t>：</a:t>
            </a:r>
            <a:endParaRPr lang="en-US" altLang="zh-CN" sz="2400" dirty="0"/>
          </a:p>
          <a:p>
            <a:pPr marL="342900" indent="-342900">
              <a:buBlip>
                <a:blip r:embed="rId2"/>
              </a:buBlip>
            </a:pPr>
            <a:r>
              <a:rPr lang="zh-CN" altLang="en-US" sz="2000" kern="0" dirty="0"/>
              <a:t>进程异步推进可能造成混乱</a:t>
            </a:r>
            <a:endParaRPr lang="en-US" altLang="zh-CN" sz="2000" kern="0" dirty="0"/>
          </a:p>
          <a:p>
            <a:pPr marL="342900" indent="-342900">
              <a:buBlip>
                <a:blip r:embed="rId2"/>
              </a:buBlip>
            </a:pPr>
            <a:r>
              <a:rPr lang="zh-CN" altLang="en-US" sz="2000" kern="0" dirty="0"/>
              <a:t>混乱可能导致不可再现</a:t>
            </a:r>
          </a:p>
        </p:txBody>
      </p:sp>
      <p:sp>
        <p:nvSpPr>
          <p:cNvPr id="18" name="文本框 21"/>
          <p:cNvSpPr txBox="1">
            <a:spLocks noChangeArrowheads="1"/>
          </p:cNvSpPr>
          <p:nvPr/>
        </p:nvSpPr>
        <p:spPr bwMode="auto">
          <a:xfrm>
            <a:off x="2439936" y="4475701"/>
            <a:ext cx="7279201" cy="16927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400" b="1" dirty="0">
                <a:solidFill>
                  <a:srgbClr val="505050"/>
                </a:solidFill>
                <a:latin typeface="微软雅黑" panose="020B0503020204020204" pitchFamily="34" charset="-122"/>
                <a:ea typeface="微软雅黑" panose="020B0503020204020204" pitchFamily="34" charset="-122"/>
              </a:rPr>
              <a:t>主要任务</a:t>
            </a:r>
            <a:r>
              <a:rPr lang="zh-CN" altLang="en-US" sz="2400" dirty="0"/>
              <a:t>：</a:t>
            </a:r>
            <a:endParaRPr lang="en-US" altLang="zh-CN" sz="2400" dirty="0"/>
          </a:p>
          <a:p>
            <a:pPr marL="342900" indent="-342900">
              <a:buBlip>
                <a:blip r:embed="rId2"/>
              </a:buBlip>
            </a:pPr>
            <a:r>
              <a:rPr lang="zh-CN" altLang="en-US" sz="2000" dirty="0">
                <a:latin typeface="楷体_GB2312" pitchFamily="49" charset="-122"/>
                <a:ea typeface="楷体_GB2312" pitchFamily="49" charset="-122"/>
              </a:rPr>
              <a:t>是对多个相关进程在执行次序上进行协调，使并发执行的进程之间能按一定的规则（或时序）有效地共享资源，并能很好地相互合作，从而使程序的执行具有可再现性。  </a:t>
            </a:r>
          </a:p>
          <a:p>
            <a:pPr marL="342900" indent="-342900">
              <a:buBlip>
                <a:blip r:embed="rId2"/>
              </a:buBlip>
            </a:pPr>
            <a:endParaRPr lang="zh-CN" altLang="en-US" sz="2000" kern="0" dirty="0"/>
          </a:p>
        </p:txBody>
      </p:sp>
    </p:spTree>
    <p:extLst>
      <p:ext uri="{BB962C8B-B14F-4D97-AF65-F5344CB8AC3E}">
        <p14:creationId xmlns:p14="http://schemas.microsoft.com/office/powerpoint/2010/main" val="4178055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wipe(down)">
                                      <p:cBhvr>
                                        <p:cTn id="14"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a:t>
            </a:r>
            <a:r>
              <a:rPr lang="zh-CN" altLang="en-US" dirty="0"/>
              <a:t>进程同步的概念</a:t>
            </a:r>
          </a:p>
        </p:txBody>
      </p:sp>
      <p:sp>
        <p:nvSpPr>
          <p:cNvPr id="3" name="矩形 2"/>
          <p:cNvSpPr/>
          <p:nvPr/>
        </p:nvSpPr>
        <p:spPr>
          <a:xfrm>
            <a:off x="1150228" y="1656846"/>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 name="矩形 3"/>
          <p:cNvSpPr/>
          <p:nvPr/>
        </p:nvSpPr>
        <p:spPr>
          <a:xfrm>
            <a:off x="2058278" y="1656846"/>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7" name="文本框 51"/>
          <p:cNvSpPr txBox="1">
            <a:spLocks noChangeArrowheads="1"/>
          </p:cNvSpPr>
          <p:nvPr/>
        </p:nvSpPr>
        <p:spPr bwMode="auto">
          <a:xfrm>
            <a:off x="1068339" y="2507150"/>
            <a:ext cx="43427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1" indent="0"/>
            <a:r>
              <a:rPr lang="zh-CN" altLang="en-US" sz="2400" dirty="0"/>
              <a:t>这种制约源于</a:t>
            </a:r>
            <a:r>
              <a:rPr lang="zh-CN" altLang="en-US" sz="2400" b="1" dirty="0"/>
              <a:t>进程间合作</a:t>
            </a:r>
            <a:endParaRPr lang="zh-CN" altLang="zh-CN" sz="2400" b="1" dirty="0"/>
          </a:p>
        </p:txBody>
      </p:sp>
      <p:sp>
        <p:nvSpPr>
          <p:cNvPr id="8" name="文本框 55"/>
          <p:cNvSpPr txBox="1">
            <a:spLocks noChangeArrowheads="1"/>
          </p:cNvSpPr>
          <p:nvPr/>
        </p:nvSpPr>
        <p:spPr bwMode="auto">
          <a:xfrm>
            <a:off x="1004178" y="1123446"/>
            <a:ext cx="29400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）两种制约关系</a:t>
            </a:r>
          </a:p>
        </p:txBody>
      </p:sp>
      <p:graphicFrame>
        <p:nvGraphicFramePr>
          <p:cNvPr id="11" name="Group 29"/>
          <p:cNvGraphicFramePr>
            <a:graphicFrameLocks noGrp="1"/>
          </p:cNvGraphicFramePr>
          <p:nvPr>
            <p:extLst>
              <p:ext uri="{D42A27DB-BD31-4B8C-83A1-F6EECF244321}">
                <p14:modId xmlns:p14="http://schemas.microsoft.com/office/powerpoint/2010/main" val="3177177436"/>
              </p:ext>
            </p:extLst>
          </p:nvPr>
        </p:nvGraphicFramePr>
        <p:xfrm>
          <a:off x="5539098" y="1656846"/>
          <a:ext cx="6339643" cy="4612193"/>
        </p:xfrm>
        <a:graphic>
          <a:graphicData uri="http://schemas.openxmlformats.org/drawingml/2006/table">
            <a:tbl>
              <a:tblPr/>
              <a:tblGrid>
                <a:gridCol w="3182643">
                  <a:extLst>
                    <a:ext uri="{9D8B030D-6E8A-4147-A177-3AD203B41FA5}">
                      <a16:colId xmlns:a16="http://schemas.microsoft.com/office/drawing/2014/main" val="20000"/>
                    </a:ext>
                  </a:extLst>
                </a:gridCol>
                <a:gridCol w="3157000">
                  <a:extLst>
                    <a:ext uri="{9D8B030D-6E8A-4147-A177-3AD203B41FA5}">
                      <a16:colId xmlns:a16="http://schemas.microsoft.com/office/drawing/2014/main" val="20001"/>
                    </a:ext>
                  </a:extLst>
                </a:gridCol>
              </a:tblGrid>
              <a:tr h="46843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dirty="0">
                          <a:ln>
                            <a:noFill/>
                          </a:ln>
                          <a:solidFill>
                            <a:schemeClr val="folHlink"/>
                          </a:solidFill>
                          <a:effectLst/>
                          <a:latin typeface="幼圆" pitchFamily="49" charset="-122"/>
                          <a:ea typeface="幼圆" pitchFamily="49" charset="-122"/>
                        </a:rPr>
                        <a:t>同  步</a:t>
                      </a:r>
                    </a:p>
                  </a:txBody>
                  <a:tcPr marT="45728" marB="45728"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2000" b="1" i="0" u="none" strike="noStrike" cap="none" normalizeH="0" baseline="0" dirty="0">
                          <a:ln>
                            <a:noFill/>
                          </a:ln>
                          <a:solidFill>
                            <a:schemeClr val="folHlink"/>
                          </a:solidFill>
                          <a:effectLst/>
                          <a:latin typeface="幼圆" pitchFamily="49" charset="-122"/>
                          <a:ea typeface="幼圆" pitchFamily="49" charset="-122"/>
                        </a:rPr>
                        <a:t>互   斥</a:t>
                      </a:r>
                    </a:p>
                  </a:txBody>
                  <a:tcPr marT="45728" marB="45728"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6843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000" b="0" i="0" u="none" strike="noStrike" cap="none" normalizeH="0" baseline="0">
                          <a:ln>
                            <a:noFill/>
                          </a:ln>
                          <a:solidFill>
                            <a:schemeClr val="tx1"/>
                          </a:solidFill>
                          <a:effectLst/>
                          <a:latin typeface="Times New Roman" pitchFamily="18" charset="0"/>
                          <a:ea typeface="宋体" pitchFamily="2" charset="-122"/>
                        </a:rPr>
                        <a:t>进程</a:t>
                      </a:r>
                      <a:r>
                        <a:rPr kumimoji="1" lang="en-US" altLang="zh-CN" sz="2000" b="0" i="0" u="none" strike="noStrike" cap="none" normalizeH="0" baseline="0">
                          <a:ln>
                            <a:noFill/>
                          </a:ln>
                          <a:solidFill>
                            <a:schemeClr val="tx1"/>
                          </a:solidFill>
                          <a:effectLst/>
                          <a:latin typeface="Times New Roman" pitchFamily="18" charset="0"/>
                          <a:ea typeface="宋体" pitchFamily="2" charset="-122"/>
                        </a:rPr>
                        <a:t>-</a:t>
                      </a:r>
                      <a:r>
                        <a:rPr kumimoji="1" lang="zh-CN" altLang="en-US" sz="2000" b="0" i="0" u="none" strike="noStrike" cap="none" normalizeH="0" baseline="0">
                          <a:ln>
                            <a:noFill/>
                          </a:ln>
                          <a:solidFill>
                            <a:schemeClr val="tx1"/>
                          </a:solidFill>
                          <a:effectLst/>
                          <a:latin typeface="Times New Roman" pitchFamily="18" charset="0"/>
                          <a:ea typeface="宋体" pitchFamily="2" charset="-122"/>
                        </a:rPr>
                        <a:t>进程</a:t>
                      </a:r>
                    </a:p>
                  </a:txBody>
                  <a:tcPr marT="45728" marB="45728"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000" b="0" i="0" u="none" strike="noStrike" cap="none" normalizeH="0" baseline="0">
                          <a:ln>
                            <a:noFill/>
                          </a:ln>
                          <a:solidFill>
                            <a:schemeClr val="tx1"/>
                          </a:solidFill>
                          <a:effectLst/>
                          <a:latin typeface="Times New Roman" pitchFamily="18" charset="0"/>
                          <a:ea typeface="宋体" pitchFamily="2" charset="-122"/>
                        </a:rPr>
                        <a:t>进程</a:t>
                      </a:r>
                      <a:r>
                        <a:rPr kumimoji="1" lang="en-US" altLang="zh-CN" sz="2000" b="0" i="0" u="none" strike="noStrike" cap="none" normalizeH="0" baseline="0">
                          <a:ln>
                            <a:noFill/>
                          </a:ln>
                          <a:solidFill>
                            <a:schemeClr val="tx1"/>
                          </a:solidFill>
                          <a:effectLst/>
                          <a:latin typeface="Times New Roman" pitchFamily="18" charset="0"/>
                          <a:ea typeface="宋体" pitchFamily="2" charset="-122"/>
                        </a:rPr>
                        <a:t>-</a:t>
                      </a:r>
                      <a:r>
                        <a:rPr kumimoji="1" lang="zh-CN" altLang="en-US" sz="2000" b="0" i="0" u="none" strike="noStrike" cap="none" normalizeH="0" baseline="0">
                          <a:ln>
                            <a:noFill/>
                          </a:ln>
                          <a:solidFill>
                            <a:schemeClr val="tx1"/>
                          </a:solidFill>
                          <a:effectLst/>
                          <a:latin typeface="Times New Roman" pitchFamily="18" charset="0"/>
                          <a:ea typeface="宋体" pitchFamily="2" charset="-122"/>
                        </a:rPr>
                        <a:t>资源</a:t>
                      </a:r>
                      <a:r>
                        <a:rPr kumimoji="1" lang="en-US" altLang="zh-CN" sz="2000" b="0" i="0" u="none" strike="noStrike" cap="none" normalizeH="0" baseline="0">
                          <a:ln>
                            <a:noFill/>
                          </a:ln>
                          <a:solidFill>
                            <a:schemeClr val="tx1"/>
                          </a:solidFill>
                          <a:effectLst/>
                          <a:latin typeface="Times New Roman" pitchFamily="18" charset="0"/>
                          <a:ea typeface="宋体" pitchFamily="2" charset="-122"/>
                        </a:rPr>
                        <a:t>-</a:t>
                      </a:r>
                      <a:r>
                        <a:rPr kumimoji="1" lang="zh-CN" altLang="en-US" sz="2000" b="0" i="0" u="none" strike="noStrike" cap="none" normalizeH="0" baseline="0">
                          <a:ln>
                            <a:noFill/>
                          </a:ln>
                          <a:solidFill>
                            <a:schemeClr val="tx1"/>
                          </a:solidFill>
                          <a:effectLst/>
                          <a:latin typeface="Times New Roman" pitchFamily="18" charset="0"/>
                          <a:ea typeface="宋体" pitchFamily="2" charset="-122"/>
                        </a:rPr>
                        <a:t>进程</a:t>
                      </a:r>
                    </a:p>
                  </a:txBody>
                  <a:tcPr marT="45728" marB="45728"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28649">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000" b="0" i="0" u="none" strike="noStrike" cap="none" normalizeH="0" baseline="0" dirty="0">
                          <a:ln>
                            <a:noFill/>
                          </a:ln>
                          <a:solidFill>
                            <a:schemeClr val="tx1"/>
                          </a:solidFill>
                          <a:effectLst/>
                          <a:latin typeface="Times New Roman" pitchFamily="18" charset="0"/>
                          <a:ea typeface="宋体" pitchFamily="2" charset="-122"/>
                        </a:rPr>
                        <a:t>时间次序上受到某种限制</a:t>
                      </a:r>
                    </a:p>
                  </a:txBody>
                  <a:tcPr marT="45728" marB="45728"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000" b="0" i="0" u="none" strike="noStrike" cap="none" normalizeH="0" baseline="0">
                          <a:ln>
                            <a:noFill/>
                          </a:ln>
                          <a:solidFill>
                            <a:schemeClr val="tx1"/>
                          </a:solidFill>
                          <a:effectLst/>
                          <a:latin typeface="Times New Roman" pitchFamily="18" charset="0"/>
                          <a:ea typeface="宋体" pitchFamily="2" charset="-122"/>
                        </a:rPr>
                        <a:t>未竞争到物理资源的进程处于阻塞状态</a:t>
                      </a:r>
                    </a:p>
                  </a:txBody>
                  <a:tcPr marT="45728" marB="45728"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2877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000" b="0" i="0" u="none" strike="noStrike" cap="none" normalizeH="0" baseline="0">
                          <a:ln>
                            <a:noFill/>
                          </a:ln>
                          <a:solidFill>
                            <a:schemeClr val="tx1"/>
                          </a:solidFill>
                          <a:effectLst/>
                          <a:latin typeface="Times New Roman" pitchFamily="18" charset="0"/>
                          <a:ea typeface="宋体" pitchFamily="2" charset="-122"/>
                        </a:rPr>
                        <a:t>相互清楚对方的存在及作用，交换信息</a:t>
                      </a:r>
                    </a:p>
                  </a:txBody>
                  <a:tcPr marT="45728" marB="45728"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000" b="0" i="0" u="none" strike="noStrike" cap="none" normalizeH="0" baseline="0">
                          <a:ln>
                            <a:noFill/>
                          </a:ln>
                          <a:solidFill>
                            <a:schemeClr val="tx1"/>
                          </a:solidFill>
                          <a:effectLst/>
                          <a:latin typeface="Times New Roman" pitchFamily="18" charset="0"/>
                          <a:ea typeface="宋体" pitchFamily="2" charset="-122"/>
                        </a:rPr>
                        <a:t>不一定清楚其他进程情况</a:t>
                      </a:r>
                    </a:p>
                  </a:txBody>
                  <a:tcPr marT="45728" marB="45728"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28776">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000" b="0" i="0" u="none" strike="noStrike" cap="none" normalizeH="0" baseline="0" dirty="0">
                          <a:ln>
                            <a:noFill/>
                          </a:ln>
                          <a:solidFill>
                            <a:schemeClr val="tx1"/>
                          </a:solidFill>
                          <a:effectLst/>
                          <a:latin typeface="Times New Roman" pitchFamily="18" charset="0"/>
                          <a:ea typeface="宋体" pitchFamily="2" charset="-122"/>
                        </a:rPr>
                        <a:t>往往指有几个进程共同完成一个任务</a:t>
                      </a:r>
                    </a:p>
                  </a:txBody>
                  <a:tcPr marT="45728" marB="45728"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000" b="0" i="0" u="none" strike="noStrike" cap="none" normalizeH="0" baseline="0">
                          <a:ln>
                            <a:noFill/>
                          </a:ln>
                          <a:solidFill>
                            <a:schemeClr val="tx1"/>
                          </a:solidFill>
                          <a:effectLst/>
                          <a:latin typeface="Times New Roman" pitchFamily="18" charset="0"/>
                          <a:ea typeface="宋体" pitchFamily="2" charset="-122"/>
                        </a:rPr>
                        <a:t>往往指多个任务多个进程间通讯制约</a:t>
                      </a:r>
                    </a:p>
                  </a:txBody>
                  <a:tcPr marT="45728" marB="45728"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189114">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000" b="0" i="0" u="none" strike="noStrike" cap="none" normalizeH="0" baseline="0" dirty="0">
                          <a:ln>
                            <a:noFill/>
                          </a:ln>
                          <a:solidFill>
                            <a:schemeClr val="tx1"/>
                          </a:solidFill>
                          <a:effectLst/>
                          <a:latin typeface="Times New Roman" pitchFamily="18" charset="0"/>
                          <a:ea typeface="宋体" pitchFamily="2" charset="-122"/>
                        </a:rPr>
                        <a:t>例：生产与消费之间，发送与接受之间，作者与读者之间，供者与用者之间</a:t>
                      </a:r>
                    </a:p>
                  </a:txBody>
                  <a:tcPr marT="45728" marB="45728"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000" b="0" i="0" u="none" strike="noStrike" cap="none" normalizeH="0" baseline="0" dirty="0">
                          <a:ln>
                            <a:noFill/>
                          </a:ln>
                          <a:solidFill>
                            <a:schemeClr val="tx1"/>
                          </a:solidFill>
                          <a:effectLst/>
                          <a:latin typeface="Times New Roman" pitchFamily="18" charset="0"/>
                          <a:ea typeface="宋体" pitchFamily="2" charset="-122"/>
                        </a:rPr>
                        <a:t>例：交通十字路口，单轨火车的拨道岔口</a:t>
                      </a:r>
                    </a:p>
                  </a:txBody>
                  <a:tcPr marT="45728" marB="45728"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2" name="文本框 54"/>
          <p:cNvSpPr txBox="1">
            <a:spLocks noChangeArrowheads="1"/>
          </p:cNvSpPr>
          <p:nvPr/>
        </p:nvSpPr>
        <p:spPr bwMode="auto">
          <a:xfrm>
            <a:off x="1150228" y="1982718"/>
            <a:ext cx="1920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05050"/>
                </a:solidFill>
                <a:latin typeface="微软雅黑" panose="020B0503020204020204" pitchFamily="34" charset="-122"/>
                <a:ea typeface="微软雅黑" panose="020B0503020204020204" pitchFamily="34" charset="-122"/>
              </a:rPr>
              <a:t>进程同步</a:t>
            </a:r>
          </a:p>
        </p:txBody>
      </p:sp>
      <p:sp>
        <p:nvSpPr>
          <p:cNvPr id="13" name="文本框 54"/>
          <p:cNvSpPr txBox="1">
            <a:spLocks noChangeArrowheads="1"/>
          </p:cNvSpPr>
          <p:nvPr/>
        </p:nvSpPr>
        <p:spPr bwMode="auto">
          <a:xfrm>
            <a:off x="1150228" y="3049514"/>
            <a:ext cx="1920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05050"/>
                </a:solidFill>
                <a:latin typeface="微软雅黑" panose="020B0503020204020204" pitchFamily="34" charset="-122"/>
                <a:ea typeface="微软雅黑" panose="020B0503020204020204" pitchFamily="34" charset="-122"/>
              </a:rPr>
              <a:t>进程互斥</a:t>
            </a:r>
          </a:p>
        </p:txBody>
      </p:sp>
      <p:sp>
        <p:nvSpPr>
          <p:cNvPr id="14" name="文本框 51"/>
          <p:cNvSpPr txBox="1">
            <a:spLocks noChangeArrowheads="1"/>
          </p:cNvSpPr>
          <p:nvPr/>
        </p:nvSpPr>
        <p:spPr bwMode="auto">
          <a:xfrm>
            <a:off x="1141766" y="3479590"/>
            <a:ext cx="43427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1" indent="0"/>
            <a:r>
              <a:rPr lang="zh-CN" altLang="en-US" sz="2400" dirty="0"/>
              <a:t>这种制约源于</a:t>
            </a:r>
            <a:r>
              <a:rPr lang="zh-CN" altLang="en-US" sz="2400" b="1" dirty="0"/>
              <a:t>资源共享</a:t>
            </a:r>
            <a:endParaRPr lang="zh-CN" altLang="zh-CN" sz="2400" b="1" dirty="0"/>
          </a:p>
        </p:txBody>
      </p:sp>
    </p:spTree>
    <p:extLst>
      <p:ext uri="{BB962C8B-B14F-4D97-AF65-F5344CB8AC3E}">
        <p14:creationId xmlns:p14="http://schemas.microsoft.com/office/powerpoint/2010/main" val="1867417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barn(inVertical)">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a:t>
            </a:r>
            <a:r>
              <a:rPr lang="zh-CN" altLang="en-US" dirty="0"/>
              <a:t>进程同步的概念</a:t>
            </a:r>
          </a:p>
        </p:txBody>
      </p:sp>
      <p:sp>
        <p:nvSpPr>
          <p:cNvPr id="3" name="矩形 2"/>
          <p:cNvSpPr/>
          <p:nvPr/>
        </p:nvSpPr>
        <p:spPr>
          <a:xfrm>
            <a:off x="1150228" y="1656846"/>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 name="矩形 3"/>
          <p:cNvSpPr/>
          <p:nvPr/>
        </p:nvSpPr>
        <p:spPr>
          <a:xfrm>
            <a:off x="2058278" y="1656846"/>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8" name="文本框 55"/>
          <p:cNvSpPr txBox="1">
            <a:spLocks noChangeArrowheads="1"/>
          </p:cNvSpPr>
          <p:nvPr/>
        </p:nvSpPr>
        <p:spPr bwMode="auto">
          <a:xfrm>
            <a:off x="1004178" y="1123446"/>
            <a:ext cx="29400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）临界资源</a:t>
            </a:r>
          </a:p>
        </p:txBody>
      </p:sp>
      <p:sp>
        <p:nvSpPr>
          <p:cNvPr id="15" name="文本框 19"/>
          <p:cNvSpPr txBox="1">
            <a:spLocks noChangeArrowheads="1"/>
          </p:cNvSpPr>
          <p:nvPr/>
        </p:nvSpPr>
        <p:spPr bwMode="auto">
          <a:xfrm>
            <a:off x="1150228" y="1885665"/>
            <a:ext cx="8253079"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en-US" sz="2400" dirty="0"/>
              <a:t>在一段时间内只允许一个进程访问的资源。</a:t>
            </a:r>
            <a:endParaRPr lang="en-US" altLang="zh-CN" sz="2400" dirty="0"/>
          </a:p>
          <a:p>
            <a:pPr marL="800100" lvl="1" indent="-342900">
              <a:spcBef>
                <a:spcPct val="50000"/>
              </a:spcBef>
              <a:buFont typeface="Wingdings" panose="05000000000000000000" pitchFamily="2" charset="2"/>
              <a:buChar char="Ø"/>
            </a:pPr>
            <a:r>
              <a:rPr lang="zh-CN" altLang="en-US" sz="2400" dirty="0">
                <a:ea typeface="华文楷体" pitchFamily="2" charset="-122"/>
              </a:rPr>
              <a:t>物理设备，如输入机、打印机、磁带机</a:t>
            </a:r>
            <a:endParaRPr lang="en-US" altLang="zh-CN" sz="2400" dirty="0">
              <a:ea typeface="华文楷体" pitchFamily="2" charset="-122"/>
            </a:endParaRPr>
          </a:p>
          <a:p>
            <a:pPr marL="800100" lvl="1" indent="-342900">
              <a:spcBef>
                <a:spcPct val="50000"/>
              </a:spcBef>
              <a:buFont typeface="Wingdings" panose="05000000000000000000" pitchFamily="2" charset="2"/>
              <a:buChar char="Ø"/>
            </a:pPr>
            <a:r>
              <a:rPr lang="zh-CN" altLang="en-US" sz="2400" dirty="0">
                <a:ea typeface="华文楷体" pitchFamily="2" charset="-122"/>
              </a:rPr>
              <a:t>软件资源，如公用变量、数据、表格、队列等</a:t>
            </a:r>
            <a:endParaRPr lang="en-US" altLang="zh-CN" sz="2400" dirty="0"/>
          </a:p>
          <a:p>
            <a:pPr marL="800100" lvl="1" indent="-342900">
              <a:spcBef>
                <a:spcPct val="50000"/>
              </a:spcBef>
              <a:buFont typeface="Wingdings" panose="05000000000000000000" pitchFamily="2" charset="2"/>
              <a:buChar char="Ø"/>
            </a:pPr>
            <a:endParaRPr lang="en-US" altLang="zh-CN" sz="2400" dirty="0"/>
          </a:p>
          <a:p>
            <a:pPr marL="0" lvl="2" indent="0">
              <a:buBlip>
                <a:blip r:embed="rId2"/>
              </a:buBlip>
            </a:pPr>
            <a:r>
              <a:rPr lang="zh-CN" altLang="en-US" sz="2400" dirty="0"/>
              <a:t>为了使多个进程有效地共享临界资源，并使程序的执行具有可再现性，系统必须保证它们</a:t>
            </a:r>
            <a:r>
              <a:rPr lang="zh-CN" altLang="en-US" sz="2400" b="1" dirty="0">
                <a:solidFill>
                  <a:srgbClr val="C00000"/>
                </a:solidFill>
              </a:rPr>
              <a:t>互斥地使用临界资源</a:t>
            </a:r>
            <a:r>
              <a:rPr lang="zh-CN" altLang="en-US" sz="2400" dirty="0"/>
              <a:t>。</a:t>
            </a:r>
          </a:p>
        </p:txBody>
      </p:sp>
      <p:sp>
        <p:nvSpPr>
          <p:cNvPr id="7" name="矩形 6"/>
          <p:cNvSpPr/>
          <p:nvPr/>
        </p:nvSpPr>
        <p:spPr>
          <a:xfrm>
            <a:off x="1193444" y="5385022"/>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9" name="矩形 8"/>
          <p:cNvSpPr/>
          <p:nvPr/>
        </p:nvSpPr>
        <p:spPr>
          <a:xfrm>
            <a:off x="2101494" y="5385022"/>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 name="文本框 55"/>
          <p:cNvSpPr txBox="1">
            <a:spLocks noChangeArrowheads="1"/>
          </p:cNvSpPr>
          <p:nvPr/>
        </p:nvSpPr>
        <p:spPr bwMode="auto">
          <a:xfrm>
            <a:off x="1047394" y="4851622"/>
            <a:ext cx="29400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进程互斥</a:t>
            </a:r>
          </a:p>
        </p:txBody>
      </p:sp>
      <p:sp>
        <p:nvSpPr>
          <p:cNvPr id="11" name="Text Box 9"/>
          <p:cNvSpPr txBox="1">
            <a:spLocks noChangeArrowheads="1"/>
          </p:cNvSpPr>
          <p:nvPr/>
        </p:nvSpPr>
        <p:spPr bwMode="auto">
          <a:xfrm>
            <a:off x="1150228" y="5627162"/>
            <a:ext cx="7735154" cy="703912"/>
          </a:xfrm>
          <a:prstGeom prst="rect">
            <a:avLst/>
          </a:prstGeom>
          <a:solidFill>
            <a:srgbClr val="FFFFCC"/>
          </a:solidFill>
          <a:ln w="317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54000" tIns="46800" rIns="54000" bIns="46800">
            <a:spAutoFit/>
          </a:bodyPr>
          <a:lstStyle/>
          <a:p>
            <a:pPr>
              <a:spcBef>
                <a:spcPct val="20000"/>
              </a:spcBef>
            </a:pPr>
            <a:r>
              <a:rPr kumimoji="1" lang="zh-CN" altLang="en-US" dirty="0">
                <a:solidFill>
                  <a:srgbClr val="0000FF"/>
                </a:solidFill>
                <a:latin typeface="Tahoma" pitchFamily="34" charset="0"/>
                <a:ea typeface="黑体" pitchFamily="49" charset="-122"/>
              </a:rPr>
              <a:t>进程互斥</a:t>
            </a:r>
            <a:r>
              <a:rPr kumimoji="1" lang="en-US" altLang="zh-CN" dirty="0">
                <a:latin typeface="Times New Roman"/>
                <a:ea typeface="宋体" pitchFamily="2" charset="-122"/>
              </a:rPr>
              <a:t>——</a:t>
            </a:r>
            <a:r>
              <a:rPr kumimoji="1" lang="zh-CN" altLang="en-US" dirty="0">
                <a:latin typeface="Tahoma" pitchFamily="34" charset="0"/>
                <a:ea typeface="宋体" pitchFamily="2" charset="-122"/>
              </a:rPr>
              <a:t>不允许两个或两个以上进程同时访问同一个临界资源。</a:t>
            </a:r>
          </a:p>
          <a:p>
            <a:pPr>
              <a:spcBef>
                <a:spcPct val="20000"/>
              </a:spcBef>
            </a:pPr>
            <a:r>
              <a:rPr kumimoji="1" lang="zh-CN" altLang="en-US" dirty="0">
                <a:solidFill>
                  <a:srgbClr val="0000FF"/>
                </a:solidFill>
                <a:latin typeface="Tahoma" pitchFamily="34" charset="0"/>
                <a:ea typeface="黑体" pitchFamily="49" charset="-122"/>
              </a:rPr>
              <a:t>进程互斥</a:t>
            </a:r>
            <a:r>
              <a:rPr kumimoji="1" lang="en-US" altLang="zh-CN" dirty="0">
                <a:latin typeface="Times New Roman"/>
                <a:ea typeface="宋体" pitchFamily="2" charset="-122"/>
              </a:rPr>
              <a:t>——</a:t>
            </a:r>
            <a:r>
              <a:rPr kumimoji="1" lang="zh-CN" altLang="en-US" dirty="0">
                <a:latin typeface="Tahoma" pitchFamily="34" charset="0"/>
                <a:ea typeface="宋体" pitchFamily="2" charset="-122"/>
              </a:rPr>
              <a:t>不允许两个或两个以上进程同时进入</a:t>
            </a:r>
            <a:r>
              <a:rPr kumimoji="1" lang="zh-CN" altLang="en-US" dirty="0">
                <a:solidFill>
                  <a:srgbClr val="000066"/>
                </a:solidFill>
                <a:latin typeface="Tahoma" pitchFamily="34" charset="0"/>
              </a:rPr>
              <a:t>相关临界区</a:t>
            </a:r>
            <a:r>
              <a:rPr kumimoji="1" lang="zh-CN" altLang="en-US" dirty="0">
                <a:latin typeface="Tahoma" pitchFamily="34" charset="0"/>
                <a:ea typeface="宋体" pitchFamily="2" charset="-122"/>
              </a:rPr>
              <a:t>。</a:t>
            </a:r>
          </a:p>
        </p:txBody>
      </p:sp>
    </p:spTree>
    <p:extLst>
      <p:ext uri="{BB962C8B-B14F-4D97-AF65-F5344CB8AC3E}">
        <p14:creationId xmlns:p14="http://schemas.microsoft.com/office/powerpoint/2010/main" val="2788082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strips(downLeft)">
                                      <p:cBhvr>
                                        <p:cTn id="7" dur="500"/>
                                        <p:tgtEl>
                                          <p:spTgt spid="15"/>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up)">
                                      <p:cBhvr>
                                        <p:cTn id="1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例：生产者</a:t>
            </a:r>
            <a:r>
              <a:rPr lang="en-US" altLang="zh-CN" dirty="0"/>
              <a:t>-</a:t>
            </a:r>
            <a:r>
              <a:rPr lang="zh-CN" altLang="en-US" dirty="0"/>
              <a:t>消费者问题</a:t>
            </a:r>
          </a:p>
        </p:txBody>
      </p:sp>
      <p:sp>
        <p:nvSpPr>
          <p:cNvPr id="3" name="Line 2"/>
          <p:cNvSpPr>
            <a:spLocks noChangeShapeType="1"/>
          </p:cNvSpPr>
          <p:nvPr/>
        </p:nvSpPr>
        <p:spPr bwMode="auto">
          <a:xfrm>
            <a:off x="2813051" y="1793089"/>
            <a:ext cx="1223963" cy="10795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4" name="Rectangle 3"/>
          <p:cNvSpPr>
            <a:spLocks noChangeArrowheads="1"/>
          </p:cNvSpPr>
          <p:nvPr/>
        </p:nvSpPr>
        <p:spPr bwMode="auto">
          <a:xfrm>
            <a:off x="4037014" y="2656689"/>
            <a:ext cx="433387" cy="865187"/>
          </a:xfrm>
          <a:prstGeom prst="rect">
            <a:avLst/>
          </a:prstGeom>
          <a:solidFill>
            <a:srgbClr val="FFFF0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FFFF00"/>
            </a:extrusionClr>
          </a:sp3d>
        </p:spPr>
        <p:txBody>
          <a:bodyPr wrap="none" anchor="ctr">
            <a:flatTx/>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a:p>
        </p:txBody>
      </p:sp>
      <p:sp>
        <p:nvSpPr>
          <p:cNvPr id="5" name="Rectangle 4"/>
          <p:cNvSpPr>
            <a:spLocks noChangeArrowheads="1"/>
          </p:cNvSpPr>
          <p:nvPr/>
        </p:nvSpPr>
        <p:spPr bwMode="auto">
          <a:xfrm>
            <a:off x="4470401" y="2656689"/>
            <a:ext cx="433388" cy="865187"/>
          </a:xfrm>
          <a:prstGeom prst="rect">
            <a:avLst/>
          </a:prstGeom>
          <a:solidFill>
            <a:srgbClr val="FFFF0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FFFF00"/>
            </a:extrusionClr>
          </a:sp3d>
        </p:spPr>
        <p:txBody>
          <a:bodyPr wrap="none" anchor="ctr">
            <a:flatTx/>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a:p>
        </p:txBody>
      </p:sp>
      <p:sp>
        <p:nvSpPr>
          <p:cNvPr id="6" name="Rectangle 5"/>
          <p:cNvSpPr>
            <a:spLocks noChangeArrowheads="1"/>
          </p:cNvSpPr>
          <p:nvPr/>
        </p:nvSpPr>
        <p:spPr bwMode="auto">
          <a:xfrm>
            <a:off x="4902201" y="2656689"/>
            <a:ext cx="433388" cy="865187"/>
          </a:xfrm>
          <a:prstGeom prst="rect">
            <a:avLst/>
          </a:prstGeom>
          <a:solidFill>
            <a:srgbClr val="FFFF0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FFFF00"/>
            </a:extrusionClr>
          </a:sp3d>
        </p:spPr>
        <p:txBody>
          <a:bodyPr wrap="none" anchor="ctr">
            <a:flatTx/>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a:p>
        </p:txBody>
      </p:sp>
      <p:sp>
        <p:nvSpPr>
          <p:cNvPr id="7" name="Rectangle 6"/>
          <p:cNvSpPr>
            <a:spLocks noChangeArrowheads="1"/>
          </p:cNvSpPr>
          <p:nvPr/>
        </p:nvSpPr>
        <p:spPr bwMode="auto">
          <a:xfrm>
            <a:off x="5334001" y="2656689"/>
            <a:ext cx="433388" cy="865187"/>
          </a:xfrm>
          <a:prstGeom prst="rect">
            <a:avLst/>
          </a:prstGeom>
          <a:solidFill>
            <a:srgbClr val="FFFF0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FFFF00"/>
            </a:extrusionClr>
          </a:sp3d>
        </p:spPr>
        <p:txBody>
          <a:bodyPr wrap="none" anchor="ctr">
            <a:flatTx/>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a:p>
        </p:txBody>
      </p:sp>
      <p:sp>
        <p:nvSpPr>
          <p:cNvPr id="8" name="Rectangle 7"/>
          <p:cNvSpPr>
            <a:spLocks noChangeArrowheads="1"/>
          </p:cNvSpPr>
          <p:nvPr/>
        </p:nvSpPr>
        <p:spPr bwMode="auto">
          <a:xfrm>
            <a:off x="5765801" y="2656689"/>
            <a:ext cx="433388" cy="865187"/>
          </a:xfrm>
          <a:prstGeom prst="rect">
            <a:avLst/>
          </a:prstGeom>
          <a:solidFill>
            <a:srgbClr val="FFFF0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FFFF00"/>
            </a:extrusionClr>
          </a:sp3d>
        </p:spPr>
        <p:txBody>
          <a:bodyPr wrap="none" anchor="ctr">
            <a:flatTx/>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a:p>
        </p:txBody>
      </p:sp>
      <p:sp>
        <p:nvSpPr>
          <p:cNvPr id="9" name="Rectangle 8"/>
          <p:cNvSpPr>
            <a:spLocks noChangeArrowheads="1"/>
          </p:cNvSpPr>
          <p:nvPr/>
        </p:nvSpPr>
        <p:spPr bwMode="auto">
          <a:xfrm>
            <a:off x="6197601" y="2656689"/>
            <a:ext cx="433388" cy="865187"/>
          </a:xfrm>
          <a:prstGeom prst="rect">
            <a:avLst/>
          </a:prstGeom>
          <a:solidFill>
            <a:srgbClr val="FFFF0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FFFF00"/>
            </a:extrusionClr>
          </a:sp3d>
        </p:spPr>
        <p:txBody>
          <a:bodyPr wrap="none" anchor="ctr">
            <a:flatTx/>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ctr" eaLnBrk="1" hangingPunct="1"/>
            <a:r>
              <a:rPr lang="en-US" altLang="zh-CN" sz="3600"/>
              <a:t>…</a:t>
            </a:r>
          </a:p>
        </p:txBody>
      </p:sp>
      <p:sp>
        <p:nvSpPr>
          <p:cNvPr id="10" name="Line 9"/>
          <p:cNvSpPr>
            <a:spLocks noChangeShapeType="1"/>
          </p:cNvSpPr>
          <p:nvPr/>
        </p:nvSpPr>
        <p:spPr bwMode="auto">
          <a:xfrm flipV="1">
            <a:off x="7134226" y="1935964"/>
            <a:ext cx="1081088" cy="108108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 name="Rectangle 10"/>
          <p:cNvSpPr>
            <a:spLocks noChangeArrowheads="1"/>
          </p:cNvSpPr>
          <p:nvPr/>
        </p:nvSpPr>
        <p:spPr bwMode="auto">
          <a:xfrm>
            <a:off x="6629401" y="2656689"/>
            <a:ext cx="433388" cy="865187"/>
          </a:xfrm>
          <a:prstGeom prst="rect">
            <a:avLst/>
          </a:prstGeom>
          <a:solidFill>
            <a:srgbClr val="FFFF0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FFFF00"/>
            </a:extrusionClr>
          </a:sp3d>
        </p:spPr>
        <p:txBody>
          <a:bodyPr wrap="none" anchor="ctr">
            <a:flatTx/>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a:p>
        </p:txBody>
      </p:sp>
      <p:sp>
        <p:nvSpPr>
          <p:cNvPr id="12" name="Text Box 11"/>
          <p:cNvSpPr txBox="1">
            <a:spLocks noChangeArrowheads="1"/>
          </p:cNvSpPr>
          <p:nvPr/>
        </p:nvSpPr>
        <p:spPr bwMode="auto">
          <a:xfrm rot="2445713">
            <a:off x="2741614" y="2272514"/>
            <a:ext cx="1152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50000"/>
              </a:spcBef>
            </a:pPr>
            <a:r>
              <a:rPr lang="zh-CN" altLang="en-US"/>
              <a:t>放产品</a:t>
            </a:r>
          </a:p>
        </p:txBody>
      </p:sp>
      <p:sp>
        <p:nvSpPr>
          <p:cNvPr id="13" name="Text Box 12"/>
          <p:cNvSpPr txBox="1">
            <a:spLocks noChangeArrowheads="1"/>
          </p:cNvSpPr>
          <p:nvPr/>
        </p:nvSpPr>
        <p:spPr bwMode="auto">
          <a:xfrm rot="18866298">
            <a:off x="7362826" y="2283627"/>
            <a:ext cx="11525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50000"/>
              </a:spcBef>
            </a:pPr>
            <a:r>
              <a:rPr lang="zh-CN" altLang="en-US"/>
              <a:t>取产品</a:t>
            </a:r>
          </a:p>
        </p:txBody>
      </p:sp>
      <p:sp>
        <p:nvSpPr>
          <p:cNvPr id="14" name="Rectangle 14"/>
          <p:cNvSpPr>
            <a:spLocks noChangeArrowheads="1"/>
          </p:cNvSpPr>
          <p:nvPr/>
        </p:nvSpPr>
        <p:spPr bwMode="auto">
          <a:xfrm>
            <a:off x="4110039" y="3017051"/>
            <a:ext cx="287337" cy="215900"/>
          </a:xfrm>
          <a:prstGeom prst="rect">
            <a:avLst/>
          </a:prstGeom>
          <a:solidFill>
            <a:srgbClr val="00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a:p>
        </p:txBody>
      </p:sp>
      <p:sp>
        <p:nvSpPr>
          <p:cNvPr id="15" name="Rectangle 15"/>
          <p:cNvSpPr>
            <a:spLocks noChangeArrowheads="1"/>
          </p:cNvSpPr>
          <p:nvPr/>
        </p:nvSpPr>
        <p:spPr bwMode="auto">
          <a:xfrm>
            <a:off x="4541839" y="3017051"/>
            <a:ext cx="287337" cy="215900"/>
          </a:xfrm>
          <a:prstGeom prst="rect">
            <a:avLst/>
          </a:prstGeom>
          <a:solidFill>
            <a:srgbClr val="00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a:p>
        </p:txBody>
      </p:sp>
      <p:sp>
        <p:nvSpPr>
          <p:cNvPr id="16" name="Rectangle 16"/>
          <p:cNvSpPr>
            <a:spLocks noChangeArrowheads="1"/>
          </p:cNvSpPr>
          <p:nvPr/>
        </p:nvSpPr>
        <p:spPr bwMode="auto">
          <a:xfrm>
            <a:off x="4973639" y="3017051"/>
            <a:ext cx="287337" cy="215900"/>
          </a:xfrm>
          <a:prstGeom prst="rect">
            <a:avLst/>
          </a:prstGeom>
          <a:solidFill>
            <a:srgbClr val="00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a:p>
        </p:txBody>
      </p:sp>
      <p:sp>
        <p:nvSpPr>
          <p:cNvPr id="17" name="Rectangle 17"/>
          <p:cNvSpPr>
            <a:spLocks noChangeArrowheads="1"/>
          </p:cNvSpPr>
          <p:nvPr/>
        </p:nvSpPr>
        <p:spPr bwMode="auto">
          <a:xfrm>
            <a:off x="5405439" y="3017051"/>
            <a:ext cx="287337" cy="215900"/>
          </a:xfrm>
          <a:prstGeom prst="rect">
            <a:avLst/>
          </a:prstGeom>
          <a:solidFill>
            <a:srgbClr val="00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a:p>
        </p:txBody>
      </p:sp>
      <p:sp>
        <p:nvSpPr>
          <p:cNvPr id="18" name="Rectangle 18"/>
          <p:cNvSpPr>
            <a:spLocks noChangeArrowheads="1"/>
          </p:cNvSpPr>
          <p:nvPr/>
        </p:nvSpPr>
        <p:spPr bwMode="auto">
          <a:xfrm>
            <a:off x="5837239" y="3017051"/>
            <a:ext cx="287337" cy="215900"/>
          </a:xfrm>
          <a:prstGeom prst="rect">
            <a:avLst/>
          </a:prstGeom>
          <a:solidFill>
            <a:srgbClr val="00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a:p>
        </p:txBody>
      </p:sp>
      <p:sp>
        <p:nvSpPr>
          <p:cNvPr id="19" name="Rectangle 19"/>
          <p:cNvSpPr>
            <a:spLocks noChangeArrowheads="1"/>
          </p:cNvSpPr>
          <p:nvPr/>
        </p:nvSpPr>
        <p:spPr bwMode="auto">
          <a:xfrm>
            <a:off x="6702426" y="3017051"/>
            <a:ext cx="287338" cy="215900"/>
          </a:xfrm>
          <a:prstGeom prst="rect">
            <a:avLst/>
          </a:prstGeom>
          <a:solidFill>
            <a:srgbClr val="0099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a:p>
        </p:txBody>
      </p:sp>
      <p:sp>
        <p:nvSpPr>
          <p:cNvPr id="20" name="矩形 21"/>
          <p:cNvSpPr>
            <a:spLocks noChangeArrowheads="1"/>
          </p:cNvSpPr>
          <p:nvPr/>
        </p:nvSpPr>
        <p:spPr bwMode="auto">
          <a:xfrm>
            <a:off x="995364" y="1585126"/>
            <a:ext cx="1724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zh-CN" altLang="en-US">
                <a:solidFill>
                  <a:srgbClr val="800000"/>
                </a:solidFill>
              </a:rPr>
              <a:t>生产者进程</a:t>
            </a:r>
          </a:p>
        </p:txBody>
      </p:sp>
      <p:sp>
        <p:nvSpPr>
          <p:cNvPr id="21" name="矩形 22"/>
          <p:cNvSpPr>
            <a:spLocks noChangeArrowheads="1"/>
          </p:cNvSpPr>
          <p:nvPr/>
        </p:nvSpPr>
        <p:spPr bwMode="auto">
          <a:xfrm>
            <a:off x="8281989" y="1694664"/>
            <a:ext cx="17240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zh-CN" altLang="en-US">
                <a:solidFill>
                  <a:srgbClr val="800000"/>
                </a:solidFill>
              </a:rPr>
              <a:t>消费者进程</a:t>
            </a:r>
          </a:p>
        </p:txBody>
      </p:sp>
      <p:sp>
        <p:nvSpPr>
          <p:cNvPr id="22" name="爆炸形 2 23"/>
          <p:cNvSpPr>
            <a:spLocks noChangeArrowheads="1"/>
          </p:cNvSpPr>
          <p:nvPr/>
        </p:nvSpPr>
        <p:spPr bwMode="auto">
          <a:xfrm>
            <a:off x="4505326" y="1137451"/>
            <a:ext cx="2286000" cy="1214438"/>
          </a:xfrm>
          <a:prstGeom prst="irregularSeal2">
            <a:avLst/>
          </a:prstGeom>
          <a:solidFill>
            <a:srgbClr val="FF0000"/>
          </a:solidFill>
          <a:ln w="9525" algn="ctr">
            <a:solidFill>
              <a:schemeClr val="tx1"/>
            </a:solidFill>
            <a:round/>
            <a:headEnd/>
            <a:tailEnd/>
          </a:ln>
        </p:spPr>
        <p:txBody>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ctr" eaLnBrk="1" hangingPunct="1"/>
            <a:r>
              <a:rPr lang="zh-CN" altLang="en-US">
                <a:solidFill>
                  <a:schemeClr val="bg1"/>
                </a:solidFill>
              </a:rPr>
              <a:t>并发</a:t>
            </a:r>
          </a:p>
        </p:txBody>
      </p:sp>
      <p:sp>
        <p:nvSpPr>
          <p:cNvPr id="23" name="文本框 19"/>
          <p:cNvSpPr txBox="1">
            <a:spLocks noChangeArrowheads="1"/>
          </p:cNvSpPr>
          <p:nvPr/>
        </p:nvSpPr>
        <p:spPr bwMode="auto">
          <a:xfrm>
            <a:off x="1206664" y="4269320"/>
            <a:ext cx="6527473"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en-US" sz="2400" dirty="0"/>
              <a:t>一次只能放一个产品；</a:t>
            </a:r>
            <a:endParaRPr lang="en-US" altLang="zh-CN" sz="2400" dirty="0"/>
          </a:p>
          <a:p>
            <a:pPr marL="0" lvl="2" indent="0">
              <a:buBlip>
                <a:blip r:embed="rId2"/>
              </a:buBlip>
            </a:pPr>
            <a:r>
              <a:rPr lang="zh-CN" altLang="en-US" sz="2400" dirty="0"/>
              <a:t>一次只能取走一个产品；</a:t>
            </a:r>
            <a:endParaRPr lang="en-US" altLang="zh-CN" sz="2400" dirty="0"/>
          </a:p>
          <a:p>
            <a:pPr marL="0" lvl="2" indent="0">
              <a:buBlip>
                <a:blip r:embed="rId2"/>
              </a:buBlip>
            </a:pPr>
            <a:r>
              <a:rPr lang="zh-CN" altLang="en-US" sz="2400" dirty="0"/>
              <a:t>缓冲区满则生产者不能放产品；</a:t>
            </a:r>
            <a:endParaRPr lang="en-US" altLang="zh-CN" sz="2400" dirty="0"/>
          </a:p>
          <a:p>
            <a:pPr marL="0" lvl="2" indent="0">
              <a:buBlip>
                <a:blip r:embed="rId2"/>
              </a:buBlip>
            </a:pPr>
            <a:r>
              <a:rPr lang="zh-CN" altLang="en-US" sz="2400" dirty="0"/>
              <a:t>缓冲区空则消费者不能取产品；</a:t>
            </a:r>
            <a:endParaRPr lang="en-US" altLang="zh-CN" sz="2400" dirty="0"/>
          </a:p>
        </p:txBody>
      </p:sp>
      <p:sp>
        <p:nvSpPr>
          <p:cNvPr id="24" name="文本框 54"/>
          <p:cNvSpPr txBox="1">
            <a:spLocks noChangeArrowheads="1"/>
          </p:cNvSpPr>
          <p:nvPr/>
        </p:nvSpPr>
        <p:spPr bwMode="auto">
          <a:xfrm>
            <a:off x="1206664" y="3715982"/>
            <a:ext cx="1920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05050"/>
                </a:solidFill>
                <a:latin typeface="微软雅黑" panose="020B0503020204020204" pitchFamily="34" charset="-122"/>
                <a:ea typeface="微软雅黑" panose="020B0503020204020204" pitchFamily="34" charset="-122"/>
              </a:rPr>
              <a:t>要求：</a:t>
            </a:r>
          </a:p>
        </p:txBody>
      </p:sp>
    </p:spTree>
    <p:extLst>
      <p:ext uri="{BB962C8B-B14F-4D97-AF65-F5344CB8AC3E}">
        <p14:creationId xmlns:p14="http://schemas.microsoft.com/office/powerpoint/2010/main" val="1163002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trips(downLeft)">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例：生产者</a:t>
            </a:r>
            <a:r>
              <a:rPr lang="en-US" altLang="zh-CN" dirty="0"/>
              <a:t>-</a:t>
            </a:r>
            <a:r>
              <a:rPr lang="zh-CN" altLang="en-US" dirty="0"/>
              <a:t>消费者问题</a:t>
            </a:r>
          </a:p>
        </p:txBody>
      </p:sp>
      <p:graphicFrame>
        <p:nvGraphicFramePr>
          <p:cNvPr id="24" name="Group 4"/>
          <p:cNvGraphicFramePr>
            <a:graphicFrameLocks noGrp="1"/>
          </p:cNvGraphicFramePr>
          <p:nvPr>
            <p:extLst>
              <p:ext uri="{D42A27DB-BD31-4B8C-83A1-F6EECF244321}">
                <p14:modId xmlns:p14="http://schemas.microsoft.com/office/powerpoint/2010/main" val="1786612788"/>
              </p:ext>
            </p:extLst>
          </p:nvPr>
        </p:nvGraphicFramePr>
        <p:xfrm>
          <a:off x="2897602" y="1489474"/>
          <a:ext cx="4724400" cy="518160"/>
        </p:xfrm>
        <a:graphic>
          <a:graphicData uri="http://schemas.openxmlformats.org/drawingml/2006/table">
            <a:tbl>
              <a:tblPr/>
              <a:tblGrid>
                <a:gridCol w="579438">
                  <a:extLst>
                    <a:ext uri="{9D8B030D-6E8A-4147-A177-3AD203B41FA5}">
                      <a16:colId xmlns:a16="http://schemas.microsoft.com/office/drawing/2014/main" val="20000"/>
                    </a:ext>
                  </a:extLst>
                </a:gridCol>
                <a:gridCol w="576262">
                  <a:extLst>
                    <a:ext uri="{9D8B030D-6E8A-4147-A177-3AD203B41FA5}">
                      <a16:colId xmlns:a16="http://schemas.microsoft.com/office/drawing/2014/main" val="20001"/>
                    </a:ext>
                  </a:extLst>
                </a:gridCol>
                <a:gridCol w="579438">
                  <a:extLst>
                    <a:ext uri="{9D8B030D-6E8A-4147-A177-3AD203B41FA5}">
                      <a16:colId xmlns:a16="http://schemas.microsoft.com/office/drawing/2014/main" val="20002"/>
                    </a:ext>
                  </a:extLst>
                </a:gridCol>
                <a:gridCol w="579437">
                  <a:extLst>
                    <a:ext uri="{9D8B030D-6E8A-4147-A177-3AD203B41FA5}">
                      <a16:colId xmlns:a16="http://schemas.microsoft.com/office/drawing/2014/main" val="20003"/>
                    </a:ext>
                  </a:extLst>
                </a:gridCol>
                <a:gridCol w="576263">
                  <a:extLst>
                    <a:ext uri="{9D8B030D-6E8A-4147-A177-3AD203B41FA5}">
                      <a16:colId xmlns:a16="http://schemas.microsoft.com/office/drawing/2014/main" val="20004"/>
                    </a:ext>
                  </a:extLst>
                </a:gridCol>
                <a:gridCol w="579437">
                  <a:extLst>
                    <a:ext uri="{9D8B030D-6E8A-4147-A177-3AD203B41FA5}">
                      <a16:colId xmlns:a16="http://schemas.microsoft.com/office/drawing/2014/main" val="20005"/>
                    </a:ext>
                  </a:extLst>
                </a:gridCol>
                <a:gridCol w="577850">
                  <a:extLst>
                    <a:ext uri="{9D8B030D-6E8A-4147-A177-3AD203B41FA5}">
                      <a16:colId xmlns:a16="http://schemas.microsoft.com/office/drawing/2014/main" val="20006"/>
                    </a:ext>
                  </a:extLst>
                </a:gridCol>
                <a:gridCol w="676275">
                  <a:extLst>
                    <a:ext uri="{9D8B030D-6E8A-4147-A177-3AD203B41FA5}">
                      <a16:colId xmlns:a16="http://schemas.microsoft.com/office/drawing/2014/main" val="20007"/>
                    </a:ext>
                  </a:extLst>
                </a:gridCol>
              </a:tblGrid>
              <a:tr h="487363">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itchFamily="18" charset="0"/>
                          <a:ea typeface="宋体" pitchFamily="2" charset="-122"/>
                        </a:rPr>
                        <a:t>0</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itchFamily="18" charset="0"/>
                          <a:ea typeface="宋体" pitchFamily="2" charset="-122"/>
                        </a:rPr>
                        <a:t>2</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itchFamily="18" charset="0"/>
                          <a:ea typeface="宋体" pitchFamily="2" charset="-122"/>
                        </a:rPr>
                        <a:t>3</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itchFamily="18" charset="0"/>
                          <a:ea typeface="宋体" pitchFamily="2" charset="-122"/>
                        </a:rPr>
                        <a:t>4</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itchFamily="18" charset="0"/>
                          <a:ea typeface="宋体" pitchFamily="2" charset="-122"/>
                        </a:rPr>
                        <a:t>5</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itchFamily="18" charset="0"/>
                          <a:ea typeface="宋体" pitchFamily="2" charset="-122"/>
                        </a:rPr>
                        <a:t>…</a:t>
                      </a:r>
                    </a:p>
                  </a:txBody>
                  <a:tcPr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eaLnBrk="0" hangingPunct="0">
                        <a:spcBef>
                          <a:spcPct val="20000"/>
                        </a:spcBef>
                        <a:defRPr kumimoji="1" sz="2800">
                          <a:solidFill>
                            <a:schemeClr val="tx1"/>
                          </a:solidFill>
                          <a:latin typeface="Times New Roman" pitchFamily="18" charset="0"/>
                          <a:ea typeface="宋体" pitchFamily="2" charset="-122"/>
                        </a:defRPr>
                      </a:lvl1pPr>
                      <a:lvl2pPr marL="742950" indent="-285750" eaLnBrk="0" hangingPunct="0">
                        <a:spcBef>
                          <a:spcPct val="20000"/>
                        </a:spcBef>
                        <a:defRPr kumimoji="1" sz="2400">
                          <a:solidFill>
                            <a:schemeClr val="tx1"/>
                          </a:solidFill>
                          <a:latin typeface="Times New Roman" pitchFamily="18" charset="0"/>
                          <a:ea typeface="宋体" pitchFamily="2" charset="-122"/>
                        </a:defRPr>
                      </a:lvl2pPr>
                      <a:lvl3pPr marL="1143000" indent="-228600" eaLnBrk="0" hangingPunct="0">
                        <a:spcBef>
                          <a:spcPct val="20000"/>
                        </a:spcBef>
                        <a:defRPr kumimoji="1" sz="2000">
                          <a:solidFill>
                            <a:schemeClr val="tx1"/>
                          </a:solidFill>
                          <a:latin typeface="Times New Roman" pitchFamily="18" charset="0"/>
                          <a:ea typeface="宋体" pitchFamily="2" charset="-122"/>
                        </a:defRPr>
                      </a:lvl3pPr>
                      <a:lvl4pPr marL="1600200" indent="-228600" eaLnBrk="0" hangingPunct="0">
                        <a:spcBef>
                          <a:spcPct val="20000"/>
                        </a:spcBef>
                        <a:defRPr kumimoji="1">
                          <a:solidFill>
                            <a:schemeClr val="tx1"/>
                          </a:solidFill>
                          <a:latin typeface="Times New Roman" pitchFamily="18" charset="0"/>
                          <a:ea typeface="宋体" pitchFamily="2" charset="-122"/>
                        </a:defRPr>
                      </a:lvl4pPr>
                      <a:lvl5pPr marL="2057400" indent="-228600" eaLnBrk="0" hangingPunct="0">
                        <a:spcBef>
                          <a:spcPct val="20000"/>
                        </a:spcBef>
                        <a:defRPr kumimoji="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defRPr kumimoji="1">
                          <a:solidFill>
                            <a:schemeClr val="tx1"/>
                          </a:solidFill>
                          <a:latin typeface="Times New Roman" pitchFamily="18" charset="0"/>
                          <a:ea typeface="宋体"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pitchFamily="18" charset="0"/>
                          <a:ea typeface="宋体" pitchFamily="2" charset="-122"/>
                        </a:rPr>
                        <a:t>n-1</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5" name="Line 24"/>
          <p:cNvSpPr>
            <a:spLocks noChangeShapeType="1"/>
          </p:cNvSpPr>
          <p:nvPr/>
        </p:nvSpPr>
        <p:spPr bwMode="auto">
          <a:xfrm>
            <a:off x="2211802" y="1718074"/>
            <a:ext cx="5334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6" name="Line 25"/>
          <p:cNvSpPr>
            <a:spLocks noChangeShapeType="1"/>
          </p:cNvSpPr>
          <p:nvPr/>
        </p:nvSpPr>
        <p:spPr bwMode="auto">
          <a:xfrm>
            <a:off x="7698202" y="1718074"/>
            <a:ext cx="762000" cy="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27" name="Group 26"/>
          <p:cNvGraphicFramePr>
            <a:graphicFrameLocks noGrp="1"/>
          </p:cNvGraphicFramePr>
          <p:nvPr>
            <p:extLst>
              <p:ext uri="{D42A27DB-BD31-4B8C-83A1-F6EECF244321}">
                <p14:modId xmlns:p14="http://schemas.microsoft.com/office/powerpoint/2010/main" val="1979031340"/>
              </p:ext>
            </p:extLst>
          </p:nvPr>
        </p:nvGraphicFramePr>
        <p:xfrm>
          <a:off x="992602" y="1489474"/>
          <a:ext cx="1143000" cy="457200"/>
        </p:xfrm>
        <a:graphic>
          <a:graphicData uri="http://schemas.openxmlformats.org/drawingml/2006/table">
            <a:tbl>
              <a:tblPr/>
              <a:tblGrid>
                <a:gridCol w="1143000">
                  <a:extLst>
                    <a:ext uri="{9D8B030D-6E8A-4147-A177-3AD203B41FA5}">
                      <a16:colId xmlns:a16="http://schemas.microsoft.com/office/drawing/2014/main" val="20000"/>
                    </a:ext>
                  </a:extLst>
                </a:gridCol>
              </a:tblGrid>
              <a:tr h="457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0" i="0" u="none" strike="noStrike" cap="none" normalizeH="0" baseline="0">
                          <a:ln>
                            <a:noFill/>
                          </a:ln>
                          <a:solidFill>
                            <a:schemeClr val="tx1"/>
                          </a:solidFill>
                          <a:effectLst/>
                          <a:latin typeface="Times New Roman" pitchFamily="18" charset="0"/>
                          <a:ea typeface="宋体" pitchFamily="2" charset="-122"/>
                        </a:rPr>
                        <a:t>生产者</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28" name="Group 32"/>
          <p:cNvGraphicFramePr>
            <a:graphicFrameLocks noGrp="1"/>
          </p:cNvGraphicFramePr>
          <p:nvPr>
            <p:extLst>
              <p:ext uri="{D42A27DB-BD31-4B8C-83A1-F6EECF244321}">
                <p14:modId xmlns:p14="http://schemas.microsoft.com/office/powerpoint/2010/main" val="3278851941"/>
              </p:ext>
            </p:extLst>
          </p:nvPr>
        </p:nvGraphicFramePr>
        <p:xfrm>
          <a:off x="8536402" y="1489474"/>
          <a:ext cx="1143000" cy="457200"/>
        </p:xfrm>
        <a:graphic>
          <a:graphicData uri="http://schemas.openxmlformats.org/drawingml/2006/table">
            <a:tbl>
              <a:tblPr/>
              <a:tblGrid>
                <a:gridCol w="1143000">
                  <a:extLst>
                    <a:ext uri="{9D8B030D-6E8A-4147-A177-3AD203B41FA5}">
                      <a16:colId xmlns:a16="http://schemas.microsoft.com/office/drawing/2014/main" val="20000"/>
                    </a:ext>
                  </a:extLst>
                </a:gridCol>
              </a:tblGrid>
              <a:tr h="45720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zh-CN" altLang="en-US" sz="2400" b="0" i="0" u="none" strike="noStrike" cap="none" normalizeH="0" baseline="0">
                          <a:ln>
                            <a:noFill/>
                          </a:ln>
                          <a:solidFill>
                            <a:schemeClr val="tx1"/>
                          </a:solidFill>
                          <a:effectLst/>
                          <a:latin typeface="Times New Roman" pitchFamily="18" charset="0"/>
                          <a:ea typeface="宋体" pitchFamily="2" charset="-122"/>
                        </a:rPr>
                        <a:t>消费者</a:t>
                      </a:r>
                    </a:p>
                  </a:txBody>
                  <a:tcPr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9" name="Text Box 38"/>
          <p:cNvSpPr txBox="1">
            <a:spLocks noChangeArrowheads="1"/>
          </p:cNvSpPr>
          <p:nvPr/>
        </p:nvSpPr>
        <p:spPr bwMode="auto">
          <a:xfrm>
            <a:off x="4421602" y="1040211"/>
            <a:ext cx="114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spcBef>
                <a:spcPct val="50000"/>
              </a:spcBef>
            </a:pPr>
            <a:r>
              <a:rPr lang="zh-CN" altLang="en-US" b="0"/>
              <a:t>缓冲池</a:t>
            </a:r>
          </a:p>
        </p:txBody>
      </p:sp>
      <p:sp>
        <p:nvSpPr>
          <p:cNvPr id="30" name="Line 39"/>
          <p:cNvSpPr>
            <a:spLocks noChangeShapeType="1"/>
          </p:cNvSpPr>
          <p:nvPr/>
        </p:nvSpPr>
        <p:spPr bwMode="auto">
          <a:xfrm>
            <a:off x="2592802" y="2256236"/>
            <a:ext cx="3810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1" name="Line 40"/>
          <p:cNvSpPr>
            <a:spLocks noChangeShapeType="1"/>
          </p:cNvSpPr>
          <p:nvPr/>
        </p:nvSpPr>
        <p:spPr bwMode="auto">
          <a:xfrm flipV="1">
            <a:off x="2973802" y="2027636"/>
            <a:ext cx="0" cy="2286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2" name="Text Box 41"/>
          <p:cNvSpPr txBox="1">
            <a:spLocks noChangeArrowheads="1"/>
          </p:cNvSpPr>
          <p:nvPr/>
        </p:nvSpPr>
        <p:spPr bwMode="auto">
          <a:xfrm>
            <a:off x="2135602" y="1951436"/>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spcBef>
                <a:spcPct val="50000"/>
              </a:spcBef>
            </a:pPr>
            <a:r>
              <a:rPr lang="en-US" altLang="zh-CN" b="0"/>
              <a:t>in</a:t>
            </a:r>
          </a:p>
        </p:txBody>
      </p:sp>
      <p:sp>
        <p:nvSpPr>
          <p:cNvPr id="33" name="Line 42"/>
          <p:cNvSpPr>
            <a:spLocks noChangeShapeType="1"/>
          </p:cNvSpPr>
          <p:nvPr/>
        </p:nvSpPr>
        <p:spPr bwMode="auto">
          <a:xfrm flipV="1">
            <a:off x="3278602" y="2022874"/>
            <a:ext cx="0" cy="228600"/>
          </a:xfrm>
          <a:prstGeom prst="line">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34" name="Line 43"/>
          <p:cNvSpPr>
            <a:spLocks noChangeShapeType="1"/>
          </p:cNvSpPr>
          <p:nvPr/>
        </p:nvSpPr>
        <p:spPr bwMode="auto">
          <a:xfrm>
            <a:off x="3278602" y="2251474"/>
            <a:ext cx="4648200" cy="0"/>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35" name="Text Box 44"/>
          <p:cNvSpPr txBox="1">
            <a:spLocks noChangeArrowheads="1"/>
          </p:cNvSpPr>
          <p:nvPr/>
        </p:nvSpPr>
        <p:spPr bwMode="auto">
          <a:xfrm>
            <a:off x="7926802" y="1946674"/>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spcBef>
                <a:spcPct val="50000"/>
              </a:spcBef>
            </a:pPr>
            <a:r>
              <a:rPr lang="en-US" altLang="zh-CN" b="0"/>
              <a:t>out</a:t>
            </a:r>
          </a:p>
        </p:txBody>
      </p:sp>
      <p:sp>
        <p:nvSpPr>
          <p:cNvPr id="36" name="Text Box 45"/>
          <p:cNvSpPr txBox="1">
            <a:spLocks noChangeArrowheads="1"/>
          </p:cNvSpPr>
          <p:nvPr/>
        </p:nvSpPr>
        <p:spPr bwMode="auto">
          <a:xfrm>
            <a:off x="5717002" y="1040211"/>
            <a:ext cx="114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spcBef>
                <a:spcPct val="50000"/>
              </a:spcBef>
            </a:pPr>
            <a:r>
              <a:rPr lang="en-US" altLang="zh-CN" b="0"/>
              <a:t>counter</a:t>
            </a:r>
          </a:p>
        </p:txBody>
      </p:sp>
      <p:sp>
        <p:nvSpPr>
          <p:cNvPr id="37" name="Text Box 46"/>
          <p:cNvSpPr txBox="1">
            <a:spLocks noChangeArrowheads="1"/>
          </p:cNvSpPr>
          <p:nvPr/>
        </p:nvSpPr>
        <p:spPr bwMode="auto">
          <a:xfrm>
            <a:off x="1097377" y="2884796"/>
            <a:ext cx="8305800" cy="208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spcBef>
                <a:spcPct val="10000"/>
              </a:spcBef>
            </a:pPr>
            <a:r>
              <a:rPr lang="zh-CN" altLang="en-US" sz="2000" dirty="0">
                <a:solidFill>
                  <a:srgbClr val="505050"/>
                </a:solidFill>
                <a:latin typeface="微软雅黑" panose="020B0503020204020204" pitchFamily="34" charset="-122"/>
                <a:ea typeface="微软雅黑" panose="020B0503020204020204" pitchFamily="34" charset="-122"/>
              </a:rPr>
              <a:t>数据结构：   </a:t>
            </a:r>
            <a:r>
              <a:rPr lang="en-US" altLang="zh-CN" b="0" dirty="0" err="1"/>
              <a:t>var</a:t>
            </a:r>
            <a:r>
              <a:rPr lang="en-US" altLang="zh-CN" b="0" dirty="0"/>
              <a:t> n:integer;                /*</a:t>
            </a:r>
            <a:r>
              <a:rPr lang="zh-CN" altLang="en-US" b="0" dirty="0"/>
              <a:t>具有</a:t>
            </a:r>
            <a:r>
              <a:rPr lang="en-US" altLang="zh-CN" b="0" dirty="0"/>
              <a:t>n</a:t>
            </a:r>
            <a:r>
              <a:rPr lang="zh-CN" altLang="en-US" b="0" dirty="0"/>
              <a:t>个缓冲区的缓冲池*</a:t>
            </a:r>
            <a:r>
              <a:rPr lang="en-US" altLang="zh-CN" b="0" dirty="0"/>
              <a:t>/</a:t>
            </a:r>
          </a:p>
          <a:p>
            <a:pPr>
              <a:spcBef>
                <a:spcPct val="10000"/>
              </a:spcBef>
            </a:pPr>
            <a:r>
              <a:rPr lang="en-US" altLang="zh-CN" b="0" dirty="0"/>
              <a:t>                    type item=…;   </a:t>
            </a:r>
          </a:p>
          <a:p>
            <a:pPr>
              <a:spcBef>
                <a:spcPct val="10000"/>
              </a:spcBef>
            </a:pPr>
            <a:r>
              <a:rPr lang="en-US" altLang="zh-CN" b="0" dirty="0"/>
              <a:t>                    </a:t>
            </a:r>
            <a:r>
              <a:rPr lang="en-US" altLang="zh-CN" b="0" dirty="0" err="1"/>
              <a:t>var</a:t>
            </a:r>
            <a:r>
              <a:rPr lang="en-US" altLang="zh-CN" b="0" dirty="0"/>
              <a:t> </a:t>
            </a:r>
            <a:r>
              <a:rPr lang="en-US" altLang="zh-CN" b="0" dirty="0" err="1"/>
              <a:t>buffer:array</a:t>
            </a:r>
            <a:r>
              <a:rPr lang="en-US" altLang="zh-CN" b="0" dirty="0"/>
              <a:t>[0,1,…,n-1] of item;</a:t>
            </a:r>
          </a:p>
          <a:p>
            <a:pPr>
              <a:spcBef>
                <a:spcPct val="10000"/>
              </a:spcBef>
            </a:pPr>
            <a:r>
              <a:rPr lang="en-US" altLang="zh-CN" b="0" dirty="0"/>
              <a:t>                    in,out:0,1,…,n-1;         /*</a:t>
            </a:r>
            <a:r>
              <a:rPr lang="zh-CN" altLang="en-US" b="0" dirty="0"/>
              <a:t>指向缓冲区的指针*</a:t>
            </a:r>
            <a:r>
              <a:rPr lang="en-US" altLang="zh-CN" b="0" dirty="0"/>
              <a:t>/</a:t>
            </a:r>
          </a:p>
          <a:p>
            <a:pPr>
              <a:spcBef>
                <a:spcPct val="10000"/>
              </a:spcBef>
            </a:pPr>
            <a:r>
              <a:rPr lang="en-US" altLang="zh-CN" b="0" dirty="0"/>
              <a:t>                    counter:0,1,…,n;          /*</a:t>
            </a:r>
            <a:r>
              <a:rPr lang="zh-CN" altLang="en-US" b="0" dirty="0"/>
              <a:t>缓冲区中的消息数*</a:t>
            </a:r>
            <a:r>
              <a:rPr lang="en-US" altLang="zh-CN" b="0" dirty="0"/>
              <a:t>/</a:t>
            </a:r>
          </a:p>
        </p:txBody>
      </p:sp>
    </p:spTree>
    <p:extLst>
      <p:ext uri="{BB962C8B-B14F-4D97-AF65-F5344CB8AC3E}">
        <p14:creationId xmlns:p14="http://schemas.microsoft.com/office/powerpoint/2010/main" val="2731721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例：生产者</a:t>
            </a:r>
            <a:r>
              <a:rPr lang="en-US" altLang="zh-CN" dirty="0"/>
              <a:t>-</a:t>
            </a:r>
            <a:r>
              <a:rPr lang="zh-CN" altLang="en-US" dirty="0"/>
              <a:t>消费者问题</a:t>
            </a:r>
          </a:p>
        </p:txBody>
      </p:sp>
      <p:sp>
        <p:nvSpPr>
          <p:cNvPr id="17" name="Rectangle 6"/>
          <p:cNvSpPr>
            <a:spLocks noChangeArrowheads="1"/>
          </p:cNvSpPr>
          <p:nvPr/>
        </p:nvSpPr>
        <p:spPr bwMode="auto">
          <a:xfrm>
            <a:off x="900752" y="1147218"/>
            <a:ext cx="4518025" cy="3692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spcBef>
                <a:spcPct val="50000"/>
              </a:spcBef>
              <a:buSzPct val="140000"/>
            </a:pPr>
            <a:r>
              <a:rPr kumimoji="0" lang="en-US" altLang="zh-CN" sz="1800" dirty="0">
                <a:latin typeface="Helvetica"/>
              </a:rPr>
              <a:t>producer:  repeat</a:t>
            </a:r>
          </a:p>
          <a:p>
            <a:pPr>
              <a:spcBef>
                <a:spcPct val="50000"/>
              </a:spcBef>
              <a:buSzPct val="140000"/>
            </a:pPr>
            <a:endParaRPr kumimoji="0" lang="en-US" altLang="zh-CN" sz="1800" dirty="0">
              <a:latin typeface="Helvetica"/>
              <a:sym typeface="Wingdings 3" pitchFamily="18" charset="2"/>
            </a:endParaRPr>
          </a:p>
          <a:p>
            <a:pPr>
              <a:spcBef>
                <a:spcPct val="50000"/>
              </a:spcBef>
              <a:buSzPct val="140000"/>
            </a:pPr>
            <a:r>
              <a:rPr kumimoji="0" lang="en-US" altLang="zh-CN" sz="1800" dirty="0">
                <a:latin typeface="Helvetica"/>
                <a:sym typeface="Wingdings 3" pitchFamily="18" charset="2"/>
              </a:rPr>
              <a:t>           producer an item in </a:t>
            </a:r>
            <a:r>
              <a:rPr kumimoji="0" lang="en-US" altLang="zh-CN" sz="1800" dirty="0" err="1">
                <a:latin typeface="Helvetica"/>
                <a:sym typeface="Wingdings 3" pitchFamily="18" charset="2"/>
              </a:rPr>
              <a:t>nextp</a:t>
            </a:r>
            <a:endParaRPr kumimoji="0" lang="en-US" altLang="zh-CN" sz="1800" dirty="0">
              <a:latin typeface="Helvetica"/>
              <a:sym typeface="Wingdings 3" pitchFamily="18" charset="2"/>
            </a:endParaRPr>
          </a:p>
          <a:p>
            <a:pPr>
              <a:spcBef>
                <a:spcPct val="50000"/>
              </a:spcBef>
              <a:buSzPct val="140000"/>
            </a:pPr>
            <a:endParaRPr kumimoji="0" lang="en-US" altLang="zh-CN" sz="1800" dirty="0">
              <a:latin typeface="Helvetica"/>
              <a:sym typeface="Wingdings 3" pitchFamily="18" charset="2"/>
            </a:endParaRPr>
          </a:p>
          <a:p>
            <a:pPr>
              <a:spcBef>
                <a:spcPct val="50000"/>
              </a:spcBef>
              <a:buSzPct val="140000"/>
            </a:pPr>
            <a:r>
              <a:rPr kumimoji="0" lang="en-US" altLang="zh-CN" sz="1800" dirty="0">
                <a:latin typeface="Helvetica"/>
                <a:sym typeface="Wingdings 3" pitchFamily="18" charset="2"/>
              </a:rPr>
              <a:t>           while counter=n do no-op;</a:t>
            </a:r>
          </a:p>
          <a:p>
            <a:pPr>
              <a:spcBef>
                <a:spcPct val="50000"/>
              </a:spcBef>
              <a:buSzPct val="140000"/>
            </a:pPr>
            <a:r>
              <a:rPr kumimoji="0" lang="en-US" altLang="zh-CN" sz="1800" dirty="0">
                <a:latin typeface="Helvetica"/>
                <a:sym typeface="Wingdings 3" pitchFamily="18" charset="2"/>
              </a:rPr>
              <a:t>           buffer[in]=</a:t>
            </a:r>
            <a:r>
              <a:rPr kumimoji="0" lang="en-US" altLang="zh-CN" sz="1800" dirty="0" err="1">
                <a:latin typeface="Helvetica"/>
                <a:sym typeface="Wingdings 3" pitchFamily="18" charset="2"/>
              </a:rPr>
              <a:t>nextp</a:t>
            </a:r>
            <a:r>
              <a:rPr kumimoji="0" lang="en-US" altLang="zh-CN" sz="1800" dirty="0">
                <a:latin typeface="Helvetica"/>
                <a:sym typeface="Wingdings 3" pitchFamily="18" charset="2"/>
              </a:rPr>
              <a:t>;</a:t>
            </a:r>
          </a:p>
          <a:p>
            <a:pPr>
              <a:spcBef>
                <a:spcPct val="50000"/>
              </a:spcBef>
              <a:buSzPct val="140000"/>
            </a:pPr>
            <a:r>
              <a:rPr kumimoji="0" lang="en-US" altLang="zh-CN" sz="1800" dirty="0">
                <a:latin typeface="Helvetica"/>
                <a:sym typeface="Wingdings 3" pitchFamily="18" charset="2"/>
              </a:rPr>
              <a:t>           in=(in+1)mod n  </a:t>
            </a:r>
          </a:p>
          <a:p>
            <a:pPr>
              <a:spcBef>
                <a:spcPct val="50000"/>
              </a:spcBef>
              <a:buSzPct val="140000"/>
            </a:pPr>
            <a:r>
              <a:rPr kumimoji="0" lang="en-US" altLang="zh-CN" sz="1800" dirty="0">
                <a:latin typeface="Helvetica"/>
                <a:sym typeface="Wingdings 3" pitchFamily="18" charset="2"/>
              </a:rPr>
              <a:t>           counter=counter+1;</a:t>
            </a:r>
          </a:p>
          <a:p>
            <a:pPr>
              <a:spcBef>
                <a:spcPct val="50000"/>
              </a:spcBef>
              <a:buSzPct val="140000"/>
            </a:pPr>
            <a:r>
              <a:rPr kumimoji="0" lang="en-US" altLang="zh-CN" sz="1800" dirty="0">
                <a:latin typeface="Helvetica"/>
                <a:sym typeface="Wingdings 3" pitchFamily="18" charset="2"/>
              </a:rPr>
              <a:t>         until false;</a:t>
            </a:r>
          </a:p>
        </p:txBody>
      </p:sp>
      <p:sp>
        <p:nvSpPr>
          <p:cNvPr id="18" name="AutoShape 11"/>
          <p:cNvSpPr>
            <a:spLocks noChangeArrowheads="1"/>
          </p:cNvSpPr>
          <p:nvPr/>
        </p:nvSpPr>
        <p:spPr bwMode="auto">
          <a:xfrm>
            <a:off x="4206921" y="4383349"/>
            <a:ext cx="3162870" cy="990600"/>
          </a:xfrm>
          <a:prstGeom prst="wedgeRectCallout">
            <a:avLst>
              <a:gd name="adj1" fmla="val -98903"/>
              <a:gd name="adj2" fmla="val -53287"/>
            </a:avLst>
          </a:prstGeom>
          <a:solidFill>
            <a:schemeClr val="accent2">
              <a:lumMod val="20000"/>
              <a:lumOff val="80000"/>
            </a:schemeClr>
          </a:solidFill>
          <a:ln w="9525">
            <a:solidFill>
              <a:schemeClr val="tx1"/>
            </a:solidFill>
            <a:miter lim="800000"/>
            <a:headEnd/>
            <a:tailEnd/>
          </a:ln>
        </p:spPr>
        <p:txBody>
          <a:bodyPr/>
          <a:lstStyle/>
          <a:p>
            <a:pPr eaLnBrk="0" fontAlgn="t" hangingPunct="0">
              <a:defRPr/>
            </a:pPr>
            <a:r>
              <a:rPr lang="en-US" altLang="zh-CN" sz="2000" b="0" dirty="0"/>
              <a:t>register1=counter;</a:t>
            </a:r>
          </a:p>
          <a:p>
            <a:pPr eaLnBrk="0" hangingPunct="0">
              <a:defRPr/>
            </a:pPr>
            <a:r>
              <a:rPr lang="en-US" altLang="zh-CN" sz="2000" b="0" dirty="0"/>
              <a:t>register1=register1+1;</a:t>
            </a:r>
          </a:p>
          <a:p>
            <a:pPr eaLnBrk="0" hangingPunct="0">
              <a:defRPr/>
            </a:pPr>
            <a:r>
              <a:rPr lang="en-US" altLang="zh-CN" sz="2000" b="0" dirty="0"/>
              <a:t>counter= register1;</a:t>
            </a:r>
          </a:p>
        </p:txBody>
      </p:sp>
      <p:sp>
        <p:nvSpPr>
          <p:cNvPr id="19" name="Rectangle 9"/>
          <p:cNvSpPr>
            <a:spLocks noChangeArrowheads="1"/>
          </p:cNvSpPr>
          <p:nvPr/>
        </p:nvSpPr>
        <p:spPr bwMode="auto">
          <a:xfrm>
            <a:off x="6094152" y="1142999"/>
            <a:ext cx="4530725" cy="28622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spcBef>
                <a:spcPct val="50000"/>
              </a:spcBef>
              <a:buSzPct val="140000"/>
            </a:pPr>
            <a:r>
              <a:rPr kumimoji="0" lang="en-US" altLang="zh-CN" sz="1800" dirty="0">
                <a:latin typeface="Helvetica"/>
              </a:rPr>
              <a:t>consumer:  repeat</a:t>
            </a:r>
          </a:p>
          <a:p>
            <a:pPr>
              <a:spcBef>
                <a:spcPct val="50000"/>
              </a:spcBef>
              <a:buSzPct val="140000"/>
            </a:pPr>
            <a:r>
              <a:rPr kumimoji="0" lang="en-US" altLang="zh-CN" sz="1800" dirty="0">
                <a:latin typeface="Helvetica"/>
                <a:sym typeface="Wingdings 3" pitchFamily="18" charset="2"/>
              </a:rPr>
              <a:t>           while counter=0 do no-op;</a:t>
            </a:r>
          </a:p>
          <a:p>
            <a:pPr>
              <a:spcBef>
                <a:spcPct val="50000"/>
              </a:spcBef>
              <a:buSzPct val="140000"/>
            </a:pPr>
            <a:r>
              <a:rPr kumimoji="0" lang="en-US" altLang="zh-CN" sz="1800" dirty="0">
                <a:latin typeface="Helvetica"/>
                <a:sym typeface="Wingdings 3" pitchFamily="18" charset="2"/>
              </a:rPr>
              <a:t>           </a:t>
            </a:r>
            <a:r>
              <a:rPr kumimoji="0" lang="en-US" altLang="zh-CN" sz="1800" dirty="0" err="1">
                <a:latin typeface="Helvetica"/>
                <a:sym typeface="Wingdings 3" pitchFamily="18" charset="2"/>
              </a:rPr>
              <a:t>nextc</a:t>
            </a:r>
            <a:r>
              <a:rPr kumimoji="0" lang="en-US" altLang="zh-CN" sz="1800" dirty="0">
                <a:latin typeface="Helvetica"/>
                <a:sym typeface="Wingdings 3" pitchFamily="18" charset="2"/>
              </a:rPr>
              <a:t>=buffer[out];</a:t>
            </a:r>
          </a:p>
          <a:p>
            <a:pPr>
              <a:spcBef>
                <a:spcPct val="50000"/>
              </a:spcBef>
              <a:buSzPct val="140000"/>
            </a:pPr>
            <a:r>
              <a:rPr kumimoji="0" lang="en-US" altLang="zh-CN" sz="1800" dirty="0">
                <a:latin typeface="Helvetica"/>
                <a:sym typeface="Wingdings 3" pitchFamily="18" charset="2"/>
              </a:rPr>
              <a:t>           out=(out+1)mod n  </a:t>
            </a:r>
          </a:p>
          <a:p>
            <a:pPr>
              <a:spcBef>
                <a:spcPct val="50000"/>
              </a:spcBef>
              <a:buSzPct val="140000"/>
            </a:pPr>
            <a:r>
              <a:rPr kumimoji="0" lang="en-US" altLang="zh-CN" sz="1800" dirty="0">
                <a:latin typeface="Helvetica"/>
                <a:sym typeface="Wingdings 3" pitchFamily="18" charset="2"/>
              </a:rPr>
              <a:t>           counter=counter-1;</a:t>
            </a:r>
          </a:p>
          <a:p>
            <a:pPr>
              <a:spcBef>
                <a:spcPct val="50000"/>
              </a:spcBef>
              <a:buSzPct val="140000"/>
            </a:pPr>
            <a:r>
              <a:rPr kumimoji="0" lang="en-US" altLang="zh-CN" sz="1800" dirty="0">
                <a:latin typeface="Helvetica"/>
                <a:sym typeface="Wingdings 3" pitchFamily="18" charset="2"/>
              </a:rPr>
              <a:t>           consume the item in </a:t>
            </a:r>
            <a:r>
              <a:rPr kumimoji="0" lang="en-US" altLang="zh-CN" sz="1800" dirty="0" err="1">
                <a:latin typeface="Helvetica"/>
                <a:sym typeface="Wingdings 3" pitchFamily="18" charset="2"/>
              </a:rPr>
              <a:t>nextc</a:t>
            </a:r>
            <a:r>
              <a:rPr kumimoji="0" lang="en-US" altLang="zh-CN" sz="1800" dirty="0">
                <a:latin typeface="Helvetica"/>
                <a:sym typeface="Wingdings 3" pitchFamily="18" charset="2"/>
              </a:rPr>
              <a:t>;</a:t>
            </a:r>
          </a:p>
          <a:p>
            <a:pPr>
              <a:spcBef>
                <a:spcPct val="50000"/>
              </a:spcBef>
              <a:buSzPct val="140000"/>
            </a:pPr>
            <a:r>
              <a:rPr kumimoji="0" lang="en-US" altLang="zh-CN" sz="1800" dirty="0">
                <a:latin typeface="Helvetica"/>
                <a:sym typeface="Wingdings 3" pitchFamily="18" charset="2"/>
              </a:rPr>
              <a:t>         until false;</a:t>
            </a:r>
          </a:p>
        </p:txBody>
      </p:sp>
      <p:sp>
        <p:nvSpPr>
          <p:cNvPr id="20" name="AutoShape 4"/>
          <p:cNvSpPr>
            <a:spLocks noChangeArrowheads="1"/>
          </p:cNvSpPr>
          <p:nvPr/>
        </p:nvSpPr>
        <p:spPr bwMode="auto">
          <a:xfrm>
            <a:off x="8005265" y="3888049"/>
            <a:ext cx="3417911" cy="990600"/>
          </a:xfrm>
          <a:prstGeom prst="wedgeRectCallout">
            <a:avLst>
              <a:gd name="adj1" fmla="val -46301"/>
              <a:gd name="adj2" fmla="val -128287"/>
            </a:avLst>
          </a:prstGeom>
          <a:solidFill>
            <a:schemeClr val="accent2">
              <a:lumMod val="20000"/>
              <a:lumOff val="80000"/>
            </a:schemeClr>
          </a:solidFill>
          <a:ln w="9525">
            <a:solidFill>
              <a:schemeClr val="tx1"/>
            </a:solidFill>
            <a:miter lim="800000"/>
            <a:headEnd/>
            <a:tailEnd/>
          </a:ln>
        </p:spPr>
        <p:txBody>
          <a:bodyPr/>
          <a:lstStyle/>
          <a:p>
            <a:pPr eaLnBrk="0" hangingPunct="0">
              <a:defRPr/>
            </a:pPr>
            <a:r>
              <a:rPr lang="en-US" altLang="zh-CN" sz="2000" b="0" dirty="0"/>
              <a:t>register2=counter;</a:t>
            </a:r>
          </a:p>
          <a:p>
            <a:pPr eaLnBrk="0" hangingPunct="0">
              <a:defRPr/>
            </a:pPr>
            <a:r>
              <a:rPr lang="en-US" altLang="zh-CN" sz="2000" b="0" dirty="0"/>
              <a:t>register2=register2-1;</a:t>
            </a:r>
          </a:p>
          <a:p>
            <a:pPr eaLnBrk="0" hangingPunct="0">
              <a:defRPr/>
            </a:pPr>
            <a:r>
              <a:rPr lang="en-US" altLang="zh-CN" sz="2000" b="0" dirty="0"/>
              <a:t>counter= register2;</a:t>
            </a:r>
          </a:p>
        </p:txBody>
      </p:sp>
      <p:grpSp>
        <p:nvGrpSpPr>
          <p:cNvPr id="21" name="Group 3"/>
          <p:cNvGrpSpPr>
            <a:grpSpLocks/>
          </p:cNvGrpSpPr>
          <p:nvPr/>
        </p:nvGrpSpPr>
        <p:grpSpPr bwMode="auto">
          <a:xfrm>
            <a:off x="10244991" y="299599"/>
            <a:ext cx="1785937" cy="1593850"/>
            <a:chOff x="1355" y="71"/>
            <a:chExt cx="3031" cy="2524"/>
          </a:xfrm>
        </p:grpSpPr>
        <p:sp>
          <p:nvSpPr>
            <p:cNvPr id="22" name="Oval 4"/>
            <p:cNvSpPr>
              <a:spLocks noChangeArrowheads="1"/>
            </p:cNvSpPr>
            <p:nvPr/>
          </p:nvSpPr>
          <p:spPr bwMode="auto">
            <a:xfrm>
              <a:off x="2209" y="554"/>
              <a:ext cx="2177" cy="2041"/>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a:p>
          </p:txBody>
        </p:sp>
        <p:sp>
          <p:nvSpPr>
            <p:cNvPr id="23" name="Oval 5"/>
            <p:cNvSpPr>
              <a:spLocks noChangeArrowheads="1"/>
            </p:cNvSpPr>
            <p:nvPr/>
          </p:nvSpPr>
          <p:spPr bwMode="auto">
            <a:xfrm>
              <a:off x="2835" y="1253"/>
              <a:ext cx="725" cy="680"/>
            </a:xfrm>
            <a:prstGeom prst="ellipse">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a:p>
          </p:txBody>
        </p:sp>
        <p:cxnSp>
          <p:nvCxnSpPr>
            <p:cNvPr id="38" name="AutoShape 6"/>
            <p:cNvCxnSpPr>
              <a:cxnSpLocks noChangeShapeType="1"/>
            </p:cNvCxnSpPr>
            <p:nvPr/>
          </p:nvCxnSpPr>
          <p:spPr bwMode="auto">
            <a:xfrm flipV="1">
              <a:off x="3197" y="573"/>
              <a:ext cx="0" cy="680"/>
            </a:xfrm>
            <a:prstGeom prst="straightConnector1">
              <a:avLst/>
            </a:prstGeom>
            <a:ln>
              <a:headEnd/>
              <a:tailEnd/>
            </a:ln>
          </p:spPr>
          <p:style>
            <a:lnRef idx="1">
              <a:schemeClr val="accent6"/>
            </a:lnRef>
            <a:fillRef idx="2">
              <a:schemeClr val="accent6"/>
            </a:fillRef>
            <a:effectRef idx="1">
              <a:schemeClr val="accent6"/>
            </a:effectRef>
            <a:fontRef idx="minor">
              <a:schemeClr val="dk1"/>
            </a:fontRef>
          </p:style>
        </p:cxnSp>
        <p:cxnSp>
          <p:nvCxnSpPr>
            <p:cNvPr id="39" name="AutoShape 7"/>
            <p:cNvCxnSpPr>
              <a:cxnSpLocks noChangeShapeType="1"/>
              <a:stCxn id="23" idx="7"/>
              <a:endCxn id="22" idx="7"/>
            </p:cNvCxnSpPr>
            <p:nvPr/>
          </p:nvCxnSpPr>
          <p:spPr bwMode="auto">
            <a:xfrm rot="5400000" flipH="1" flipV="1">
              <a:off x="3511" y="796"/>
              <a:ext cx="500" cy="613"/>
            </a:xfrm>
            <a:prstGeom prst="straightConnector1">
              <a:avLst/>
            </a:prstGeom>
            <a:ln>
              <a:headEnd/>
              <a:tailEnd/>
            </a:ln>
          </p:spPr>
          <p:style>
            <a:lnRef idx="1">
              <a:schemeClr val="accent6"/>
            </a:lnRef>
            <a:fillRef idx="2">
              <a:schemeClr val="accent6"/>
            </a:fillRef>
            <a:effectRef idx="1">
              <a:schemeClr val="accent6"/>
            </a:effectRef>
            <a:fontRef idx="minor">
              <a:schemeClr val="dk1"/>
            </a:fontRef>
          </p:style>
        </p:cxnSp>
        <p:cxnSp>
          <p:nvCxnSpPr>
            <p:cNvPr id="40" name="AutoShape 8"/>
            <p:cNvCxnSpPr>
              <a:cxnSpLocks noChangeShapeType="1"/>
              <a:stCxn id="23" idx="1"/>
              <a:endCxn id="22" idx="1"/>
            </p:cNvCxnSpPr>
            <p:nvPr/>
          </p:nvCxnSpPr>
          <p:spPr bwMode="auto">
            <a:xfrm rot="16200000" flipV="1">
              <a:off x="2485" y="896"/>
              <a:ext cx="500" cy="413"/>
            </a:xfrm>
            <a:prstGeom prst="straightConnector1">
              <a:avLst/>
            </a:prstGeom>
            <a:ln>
              <a:headEnd/>
              <a:tailEnd/>
            </a:ln>
          </p:spPr>
          <p:style>
            <a:lnRef idx="1">
              <a:schemeClr val="accent6"/>
            </a:lnRef>
            <a:fillRef idx="2">
              <a:schemeClr val="accent6"/>
            </a:fillRef>
            <a:effectRef idx="1">
              <a:schemeClr val="accent6"/>
            </a:effectRef>
            <a:fontRef idx="minor">
              <a:schemeClr val="dk1"/>
            </a:fontRef>
          </p:style>
        </p:cxnSp>
        <p:cxnSp>
          <p:nvCxnSpPr>
            <p:cNvPr id="41" name="AutoShape 9"/>
            <p:cNvCxnSpPr>
              <a:cxnSpLocks noChangeShapeType="1"/>
              <a:stCxn id="23" idx="2"/>
              <a:endCxn id="22" idx="2"/>
            </p:cNvCxnSpPr>
            <p:nvPr/>
          </p:nvCxnSpPr>
          <p:spPr bwMode="auto">
            <a:xfrm rot="10800000">
              <a:off x="2209" y="1574"/>
              <a:ext cx="626" cy="19"/>
            </a:xfrm>
            <a:prstGeom prst="straightConnector1">
              <a:avLst/>
            </a:prstGeom>
            <a:ln>
              <a:headEnd/>
              <a:tailEnd/>
            </a:ln>
          </p:spPr>
          <p:style>
            <a:lnRef idx="1">
              <a:schemeClr val="accent6"/>
            </a:lnRef>
            <a:fillRef idx="2">
              <a:schemeClr val="accent6"/>
            </a:fillRef>
            <a:effectRef idx="1">
              <a:schemeClr val="accent6"/>
            </a:effectRef>
            <a:fontRef idx="minor">
              <a:schemeClr val="dk1"/>
            </a:fontRef>
          </p:style>
        </p:cxnSp>
        <p:cxnSp>
          <p:nvCxnSpPr>
            <p:cNvPr id="42" name="AutoShape 10"/>
            <p:cNvCxnSpPr>
              <a:cxnSpLocks noChangeShapeType="1"/>
              <a:stCxn id="23" idx="3"/>
              <a:endCxn id="22" idx="3"/>
            </p:cNvCxnSpPr>
            <p:nvPr/>
          </p:nvCxnSpPr>
          <p:spPr bwMode="auto">
            <a:xfrm rot="5400000">
              <a:off x="2503" y="1858"/>
              <a:ext cx="463" cy="413"/>
            </a:xfrm>
            <a:prstGeom prst="straightConnector1">
              <a:avLst/>
            </a:prstGeom>
            <a:ln>
              <a:headEnd/>
              <a:tailEnd/>
            </a:ln>
          </p:spPr>
          <p:style>
            <a:lnRef idx="1">
              <a:schemeClr val="accent6"/>
            </a:lnRef>
            <a:fillRef idx="2">
              <a:schemeClr val="accent6"/>
            </a:fillRef>
            <a:effectRef idx="1">
              <a:schemeClr val="accent6"/>
            </a:effectRef>
            <a:fontRef idx="minor">
              <a:schemeClr val="dk1"/>
            </a:fontRef>
          </p:style>
        </p:cxnSp>
        <p:cxnSp>
          <p:nvCxnSpPr>
            <p:cNvPr id="43" name="AutoShape 11"/>
            <p:cNvCxnSpPr>
              <a:cxnSpLocks noChangeShapeType="1"/>
              <a:stCxn id="23" idx="4"/>
              <a:endCxn id="22" idx="4"/>
            </p:cNvCxnSpPr>
            <p:nvPr/>
          </p:nvCxnSpPr>
          <p:spPr bwMode="auto">
            <a:xfrm rot="16200000" flipH="1">
              <a:off x="2917" y="2214"/>
              <a:ext cx="662" cy="100"/>
            </a:xfrm>
            <a:prstGeom prst="straightConnector1">
              <a:avLst/>
            </a:prstGeom>
            <a:ln>
              <a:headEnd/>
              <a:tailEnd/>
            </a:ln>
          </p:spPr>
          <p:style>
            <a:lnRef idx="1">
              <a:schemeClr val="accent6"/>
            </a:lnRef>
            <a:fillRef idx="2">
              <a:schemeClr val="accent6"/>
            </a:fillRef>
            <a:effectRef idx="1">
              <a:schemeClr val="accent6"/>
            </a:effectRef>
            <a:fontRef idx="minor">
              <a:schemeClr val="dk1"/>
            </a:fontRef>
          </p:style>
        </p:cxnSp>
        <p:cxnSp>
          <p:nvCxnSpPr>
            <p:cNvPr id="44" name="AutoShape 12"/>
            <p:cNvCxnSpPr>
              <a:cxnSpLocks noChangeShapeType="1"/>
              <a:stCxn id="22" idx="5"/>
              <a:endCxn id="23" idx="5"/>
            </p:cNvCxnSpPr>
            <p:nvPr/>
          </p:nvCxnSpPr>
          <p:spPr bwMode="auto">
            <a:xfrm rot="5400000" flipH="1">
              <a:off x="3529" y="1758"/>
              <a:ext cx="463" cy="613"/>
            </a:xfrm>
            <a:prstGeom prst="straightConnector1">
              <a:avLst/>
            </a:prstGeom>
            <a:ln>
              <a:headEnd/>
              <a:tailEnd/>
            </a:ln>
          </p:spPr>
          <p:style>
            <a:lnRef idx="1">
              <a:schemeClr val="accent6"/>
            </a:lnRef>
            <a:fillRef idx="2">
              <a:schemeClr val="accent6"/>
            </a:fillRef>
            <a:effectRef idx="1">
              <a:schemeClr val="accent6"/>
            </a:effectRef>
            <a:fontRef idx="minor">
              <a:schemeClr val="dk1"/>
            </a:fontRef>
          </p:style>
        </p:cxnSp>
        <p:cxnSp>
          <p:nvCxnSpPr>
            <p:cNvPr id="45" name="AutoShape 13"/>
            <p:cNvCxnSpPr>
              <a:cxnSpLocks noChangeShapeType="1"/>
              <a:stCxn id="22" idx="6"/>
              <a:endCxn id="23" idx="6"/>
            </p:cNvCxnSpPr>
            <p:nvPr/>
          </p:nvCxnSpPr>
          <p:spPr bwMode="auto">
            <a:xfrm flipH="1">
              <a:off x="3560" y="1574"/>
              <a:ext cx="826" cy="19"/>
            </a:xfrm>
            <a:prstGeom prst="straightConnector1">
              <a:avLst/>
            </a:prstGeom>
            <a:ln>
              <a:headEnd/>
              <a:tailEnd/>
            </a:ln>
          </p:spPr>
          <p:style>
            <a:lnRef idx="1">
              <a:schemeClr val="accent6"/>
            </a:lnRef>
            <a:fillRef idx="2">
              <a:schemeClr val="accent6"/>
            </a:fillRef>
            <a:effectRef idx="1">
              <a:schemeClr val="accent6"/>
            </a:effectRef>
            <a:fontRef idx="minor">
              <a:schemeClr val="dk1"/>
            </a:fontRef>
          </p:style>
        </p:cxnSp>
        <p:sp>
          <p:nvSpPr>
            <p:cNvPr id="46" name="Line 14"/>
            <p:cNvSpPr>
              <a:spLocks noChangeShapeType="1"/>
            </p:cNvSpPr>
            <p:nvPr/>
          </p:nvSpPr>
          <p:spPr bwMode="auto">
            <a:xfrm flipV="1">
              <a:off x="2109" y="709"/>
              <a:ext cx="544" cy="862"/>
            </a:xfrm>
            <a:prstGeom prst="line">
              <a:avLst/>
            </a:prstGeom>
            <a:ln>
              <a:headEnd/>
              <a:tailEnd/>
            </a:ln>
          </p:spPr>
          <p:style>
            <a:lnRef idx="1">
              <a:schemeClr val="accent6"/>
            </a:lnRef>
            <a:fillRef idx="2">
              <a:schemeClr val="accent6"/>
            </a:fillRef>
            <a:effectRef idx="1">
              <a:schemeClr val="accent6"/>
            </a:effectRef>
            <a:fontRef idx="minor">
              <a:schemeClr val="dk1"/>
            </a:fontRef>
          </p:style>
          <p:txBody>
            <a:bodyPr wrap="none"/>
            <a:lstStyle/>
            <a:p>
              <a:endParaRPr lang="zh-CN" altLang="en-US"/>
            </a:p>
          </p:txBody>
        </p:sp>
        <p:sp>
          <p:nvSpPr>
            <p:cNvPr id="47" name="Line 15"/>
            <p:cNvSpPr>
              <a:spLocks noChangeShapeType="1"/>
            </p:cNvSpPr>
            <p:nvPr/>
          </p:nvSpPr>
          <p:spPr bwMode="auto">
            <a:xfrm flipV="1">
              <a:off x="2172" y="663"/>
              <a:ext cx="617" cy="927"/>
            </a:xfrm>
            <a:prstGeom prst="line">
              <a:avLst/>
            </a:prstGeom>
            <a:ln>
              <a:headEnd/>
              <a:tailEnd/>
            </a:ln>
          </p:spPr>
          <p:style>
            <a:lnRef idx="1">
              <a:schemeClr val="accent6"/>
            </a:lnRef>
            <a:fillRef idx="2">
              <a:schemeClr val="accent6"/>
            </a:fillRef>
            <a:effectRef idx="1">
              <a:schemeClr val="accent6"/>
            </a:effectRef>
            <a:fontRef idx="minor">
              <a:schemeClr val="dk1"/>
            </a:fontRef>
          </p:style>
          <p:txBody>
            <a:bodyPr wrap="none"/>
            <a:lstStyle/>
            <a:p>
              <a:endParaRPr lang="zh-CN" altLang="en-US"/>
            </a:p>
          </p:txBody>
        </p:sp>
        <p:sp>
          <p:nvSpPr>
            <p:cNvPr id="48" name="Line 16"/>
            <p:cNvSpPr>
              <a:spLocks noChangeShapeType="1"/>
            </p:cNvSpPr>
            <p:nvPr/>
          </p:nvSpPr>
          <p:spPr bwMode="auto">
            <a:xfrm flipV="1">
              <a:off x="2245" y="618"/>
              <a:ext cx="635" cy="972"/>
            </a:xfrm>
            <a:prstGeom prst="line">
              <a:avLst/>
            </a:prstGeom>
            <a:ln>
              <a:headEnd/>
              <a:tailEnd/>
            </a:ln>
          </p:spPr>
          <p:style>
            <a:lnRef idx="1">
              <a:schemeClr val="accent6"/>
            </a:lnRef>
            <a:fillRef idx="2">
              <a:schemeClr val="accent6"/>
            </a:fillRef>
            <a:effectRef idx="1">
              <a:schemeClr val="accent6"/>
            </a:effectRef>
            <a:fontRef idx="minor">
              <a:schemeClr val="dk1"/>
            </a:fontRef>
          </p:style>
          <p:txBody>
            <a:bodyPr wrap="none"/>
            <a:lstStyle/>
            <a:p>
              <a:endParaRPr lang="zh-CN" altLang="en-US"/>
            </a:p>
          </p:txBody>
        </p:sp>
        <p:sp>
          <p:nvSpPr>
            <p:cNvPr id="49" name="Line 17"/>
            <p:cNvSpPr>
              <a:spLocks noChangeShapeType="1"/>
            </p:cNvSpPr>
            <p:nvPr/>
          </p:nvSpPr>
          <p:spPr bwMode="auto">
            <a:xfrm flipV="1">
              <a:off x="2317" y="589"/>
              <a:ext cx="680" cy="998"/>
            </a:xfrm>
            <a:prstGeom prst="line">
              <a:avLst/>
            </a:prstGeom>
            <a:ln>
              <a:headEnd/>
              <a:tailEnd/>
            </a:ln>
          </p:spPr>
          <p:style>
            <a:lnRef idx="1">
              <a:schemeClr val="accent6"/>
            </a:lnRef>
            <a:fillRef idx="2">
              <a:schemeClr val="accent6"/>
            </a:fillRef>
            <a:effectRef idx="1">
              <a:schemeClr val="accent6"/>
            </a:effectRef>
            <a:fontRef idx="minor">
              <a:schemeClr val="dk1"/>
            </a:fontRef>
          </p:style>
          <p:txBody>
            <a:bodyPr wrap="none"/>
            <a:lstStyle/>
            <a:p>
              <a:endParaRPr lang="zh-CN" altLang="en-US"/>
            </a:p>
          </p:txBody>
        </p:sp>
        <p:sp>
          <p:nvSpPr>
            <p:cNvPr id="50" name="Line 18"/>
            <p:cNvSpPr>
              <a:spLocks noChangeShapeType="1"/>
            </p:cNvSpPr>
            <p:nvPr/>
          </p:nvSpPr>
          <p:spPr bwMode="auto">
            <a:xfrm flipV="1">
              <a:off x="2420" y="573"/>
              <a:ext cx="687" cy="1014"/>
            </a:xfrm>
            <a:prstGeom prst="line">
              <a:avLst/>
            </a:prstGeom>
            <a:ln>
              <a:headEnd/>
              <a:tailEnd/>
            </a:ln>
          </p:spPr>
          <p:style>
            <a:lnRef idx="1">
              <a:schemeClr val="accent6"/>
            </a:lnRef>
            <a:fillRef idx="2">
              <a:schemeClr val="accent6"/>
            </a:fillRef>
            <a:effectRef idx="1">
              <a:schemeClr val="accent6"/>
            </a:effectRef>
            <a:fontRef idx="minor">
              <a:schemeClr val="dk1"/>
            </a:fontRef>
          </p:style>
          <p:txBody>
            <a:bodyPr wrap="none"/>
            <a:lstStyle/>
            <a:p>
              <a:endParaRPr lang="zh-CN" altLang="en-US"/>
            </a:p>
          </p:txBody>
        </p:sp>
        <p:sp>
          <p:nvSpPr>
            <p:cNvPr id="51" name="Line 19"/>
            <p:cNvSpPr>
              <a:spLocks noChangeShapeType="1"/>
            </p:cNvSpPr>
            <p:nvPr/>
          </p:nvSpPr>
          <p:spPr bwMode="auto">
            <a:xfrm flipV="1">
              <a:off x="2505" y="618"/>
              <a:ext cx="692" cy="969"/>
            </a:xfrm>
            <a:prstGeom prst="line">
              <a:avLst/>
            </a:prstGeom>
            <a:ln>
              <a:headEnd/>
              <a:tailEnd/>
            </a:ln>
          </p:spPr>
          <p:style>
            <a:lnRef idx="1">
              <a:schemeClr val="accent6"/>
            </a:lnRef>
            <a:fillRef idx="2">
              <a:schemeClr val="accent6"/>
            </a:fillRef>
            <a:effectRef idx="1">
              <a:schemeClr val="accent6"/>
            </a:effectRef>
            <a:fontRef idx="minor">
              <a:schemeClr val="dk1"/>
            </a:fontRef>
          </p:style>
          <p:txBody>
            <a:bodyPr wrap="none"/>
            <a:lstStyle/>
            <a:p>
              <a:endParaRPr lang="zh-CN" altLang="en-US"/>
            </a:p>
          </p:txBody>
        </p:sp>
        <p:sp>
          <p:nvSpPr>
            <p:cNvPr id="52" name="Line 20"/>
            <p:cNvSpPr>
              <a:spLocks noChangeShapeType="1"/>
            </p:cNvSpPr>
            <p:nvPr/>
          </p:nvSpPr>
          <p:spPr bwMode="auto">
            <a:xfrm flipV="1">
              <a:off x="2608" y="709"/>
              <a:ext cx="589" cy="881"/>
            </a:xfrm>
            <a:prstGeom prst="line">
              <a:avLst/>
            </a:prstGeom>
            <a:ln>
              <a:headEnd/>
              <a:tailEnd/>
            </a:ln>
          </p:spPr>
          <p:style>
            <a:lnRef idx="1">
              <a:schemeClr val="accent6"/>
            </a:lnRef>
            <a:fillRef idx="2">
              <a:schemeClr val="accent6"/>
            </a:fillRef>
            <a:effectRef idx="1">
              <a:schemeClr val="accent6"/>
            </a:effectRef>
            <a:fontRef idx="minor">
              <a:schemeClr val="dk1"/>
            </a:fontRef>
          </p:style>
          <p:txBody>
            <a:bodyPr wrap="none"/>
            <a:lstStyle/>
            <a:p>
              <a:endParaRPr lang="zh-CN" altLang="en-US"/>
            </a:p>
          </p:txBody>
        </p:sp>
        <p:sp>
          <p:nvSpPr>
            <p:cNvPr id="53" name="Line 21"/>
            <p:cNvSpPr>
              <a:spLocks noChangeShapeType="1"/>
            </p:cNvSpPr>
            <p:nvPr/>
          </p:nvSpPr>
          <p:spPr bwMode="auto">
            <a:xfrm flipV="1">
              <a:off x="2694" y="845"/>
              <a:ext cx="503" cy="742"/>
            </a:xfrm>
            <a:prstGeom prst="line">
              <a:avLst/>
            </a:prstGeom>
            <a:ln>
              <a:headEnd/>
              <a:tailEnd/>
            </a:ln>
          </p:spPr>
          <p:style>
            <a:lnRef idx="1">
              <a:schemeClr val="accent6"/>
            </a:lnRef>
            <a:fillRef idx="2">
              <a:schemeClr val="accent6"/>
            </a:fillRef>
            <a:effectRef idx="1">
              <a:schemeClr val="accent6"/>
            </a:effectRef>
            <a:fontRef idx="minor">
              <a:schemeClr val="dk1"/>
            </a:fontRef>
          </p:style>
          <p:txBody>
            <a:bodyPr wrap="none"/>
            <a:lstStyle/>
            <a:p>
              <a:endParaRPr lang="zh-CN" altLang="en-US"/>
            </a:p>
          </p:txBody>
        </p:sp>
        <p:sp>
          <p:nvSpPr>
            <p:cNvPr id="54" name="Line 22"/>
            <p:cNvSpPr>
              <a:spLocks noChangeShapeType="1"/>
            </p:cNvSpPr>
            <p:nvPr/>
          </p:nvSpPr>
          <p:spPr bwMode="auto">
            <a:xfrm>
              <a:off x="1564" y="1389"/>
              <a:ext cx="499" cy="0"/>
            </a:xfrm>
            <a:prstGeom prst="line">
              <a:avLst/>
            </a:prstGeom>
            <a:ln>
              <a:headEnd/>
              <a:tailEnd type="triangle" w="med" len="med"/>
            </a:ln>
          </p:spPr>
          <p:style>
            <a:lnRef idx="1">
              <a:schemeClr val="accent6"/>
            </a:lnRef>
            <a:fillRef idx="2">
              <a:schemeClr val="accent6"/>
            </a:fillRef>
            <a:effectRef idx="1">
              <a:schemeClr val="accent6"/>
            </a:effectRef>
            <a:fontRef idx="minor">
              <a:schemeClr val="dk1"/>
            </a:fontRef>
          </p:style>
          <p:txBody>
            <a:bodyPr wrap="none"/>
            <a:lstStyle/>
            <a:p>
              <a:endParaRPr lang="zh-CN" altLang="en-US"/>
            </a:p>
          </p:txBody>
        </p:sp>
        <p:sp>
          <p:nvSpPr>
            <p:cNvPr id="55" name="Line 23"/>
            <p:cNvSpPr>
              <a:spLocks noChangeShapeType="1"/>
            </p:cNvSpPr>
            <p:nvPr/>
          </p:nvSpPr>
          <p:spPr bwMode="auto">
            <a:xfrm flipV="1">
              <a:off x="1791" y="754"/>
              <a:ext cx="318" cy="499"/>
            </a:xfrm>
            <a:prstGeom prst="line">
              <a:avLst/>
            </a:prstGeom>
            <a:ln>
              <a:headEnd/>
              <a:tailEnd type="triangle" w="med" len="med"/>
            </a:ln>
          </p:spPr>
          <p:style>
            <a:lnRef idx="1">
              <a:schemeClr val="accent6"/>
            </a:lnRef>
            <a:fillRef idx="2">
              <a:schemeClr val="accent6"/>
            </a:fillRef>
            <a:effectRef idx="1">
              <a:schemeClr val="accent6"/>
            </a:effectRef>
            <a:fontRef idx="minor">
              <a:schemeClr val="dk1"/>
            </a:fontRef>
          </p:style>
          <p:txBody>
            <a:bodyPr wrap="none"/>
            <a:lstStyle/>
            <a:p>
              <a:endParaRPr lang="zh-CN" altLang="en-US"/>
            </a:p>
          </p:txBody>
        </p:sp>
        <p:sp>
          <p:nvSpPr>
            <p:cNvPr id="56" name="Line 24"/>
            <p:cNvSpPr>
              <a:spLocks noChangeShapeType="1"/>
            </p:cNvSpPr>
            <p:nvPr/>
          </p:nvSpPr>
          <p:spPr bwMode="auto">
            <a:xfrm flipH="1">
              <a:off x="3651" y="346"/>
              <a:ext cx="227" cy="272"/>
            </a:xfrm>
            <a:prstGeom prst="line">
              <a:avLst/>
            </a:prstGeom>
            <a:ln>
              <a:headEnd/>
              <a:tailEnd type="triangle" w="med" len="med"/>
            </a:ln>
          </p:spPr>
          <p:style>
            <a:lnRef idx="1">
              <a:schemeClr val="accent6"/>
            </a:lnRef>
            <a:fillRef idx="2">
              <a:schemeClr val="accent6"/>
            </a:fillRef>
            <a:effectRef idx="1">
              <a:schemeClr val="accent6"/>
            </a:effectRef>
            <a:fontRef idx="minor">
              <a:schemeClr val="dk1"/>
            </a:fontRef>
          </p:style>
          <p:txBody>
            <a:bodyPr wrap="none"/>
            <a:lstStyle/>
            <a:p>
              <a:endParaRPr lang="zh-CN" altLang="en-US"/>
            </a:p>
          </p:txBody>
        </p:sp>
        <p:sp>
          <p:nvSpPr>
            <p:cNvPr id="57" name="Line 25"/>
            <p:cNvSpPr>
              <a:spLocks noChangeShapeType="1"/>
            </p:cNvSpPr>
            <p:nvPr/>
          </p:nvSpPr>
          <p:spPr bwMode="auto">
            <a:xfrm>
              <a:off x="3878" y="482"/>
              <a:ext cx="317" cy="317"/>
            </a:xfrm>
            <a:prstGeom prst="line">
              <a:avLst/>
            </a:prstGeom>
            <a:ln>
              <a:headEnd/>
              <a:tailEnd type="triangle" w="med" len="med"/>
            </a:ln>
          </p:spPr>
          <p:style>
            <a:lnRef idx="1">
              <a:schemeClr val="accent6"/>
            </a:lnRef>
            <a:fillRef idx="2">
              <a:schemeClr val="accent6"/>
            </a:fillRef>
            <a:effectRef idx="1">
              <a:schemeClr val="accent6"/>
            </a:effectRef>
            <a:fontRef idx="minor">
              <a:schemeClr val="dk1"/>
            </a:fontRef>
          </p:style>
          <p:txBody>
            <a:bodyPr wrap="none"/>
            <a:lstStyle/>
            <a:p>
              <a:endParaRPr lang="zh-CN" altLang="en-US"/>
            </a:p>
          </p:txBody>
        </p:sp>
        <p:sp>
          <p:nvSpPr>
            <p:cNvPr id="58" name="Text Box 26"/>
            <p:cNvSpPr txBox="1">
              <a:spLocks noChangeArrowheads="1"/>
            </p:cNvSpPr>
            <p:nvPr/>
          </p:nvSpPr>
          <p:spPr bwMode="auto">
            <a:xfrm>
              <a:off x="3166" y="71"/>
              <a:ext cx="977" cy="487"/>
            </a:xfrm>
            <a:prstGeom prst="rect">
              <a:avLst/>
            </a:prstGeom>
            <a:noFill/>
            <a:ln>
              <a:noFill/>
            </a:ln>
          </p:spPr>
          <p:style>
            <a:lnRef idx="1">
              <a:schemeClr val="accent6"/>
            </a:lnRef>
            <a:fillRef idx="2">
              <a:schemeClr val="accent6"/>
            </a:fillRef>
            <a:effectRef idx="1">
              <a:schemeClr val="accent6"/>
            </a:effectRef>
            <a:fontRef idx="minor">
              <a:schemeClr val="dk1"/>
            </a:fontRef>
          </p:style>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50000"/>
                </a:spcBef>
              </a:pPr>
              <a:r>
                <a:rPr lang="en-US" altLang="zh-CN" sz="1400"/>
                <a:t>in</a:t>
              </a:r>
            </a:p>
          </p:txBody>
        </p:sp>
        <p:sp>
          <p:nvSpPr>
            <p:cNvPr id="59" name="Text Box 27"/>
            <p:cNvSpPr txBox="1">
              <a:spLocks noChangeArrowheads="1"/>
            </p:cNvSpPr>
            <p:nvPr/>
          </p:nvSpPr>
          <p:spPr bwMode="auto">
            <a:xfrm>
              <a:off x="1355" y="1354"/>
              <a:ext cx="867" cy="446"/>
            </a:xfrm>
            <a:prstGeom prst="rect">
              <a:avLst/>
            </a:prstGeom>
            <a:noFill/>
            <a:ln>
              <a:noFill/>
            </a:ln>
          </p:spPr>
          <p:style>
            <a:lnRef idx="2">
              <a:schemeClr val="dk1"/>
            </a:lnRef>
            <a:fillRef idx="1">
              <a:schemeClr val="lt1"/>
            </a:fillRef>
            <a:effectRef idx="0">
              <a:schemeClr val="dk1"/>
            </a:effectRef>
            <a:fontRef idx="minor">
              <a:schemeClr val="dk1"/>
            </a:fontRef>
          </p:style>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50000"/>
                </a:spcBef>
              </a:pPr>
              <a:r>
                <a:rPr lang="en-US" altLang="zh-CN" sz="1400"/>
                <a:t>out</a:t>
              </a:r>
            </a:p>
          </p:txBody>
        </p:sp>
        <p:sp>
          <p:nvSpPr>
            <p:cNvPr id="60" name="Text Box 28"/>
            <p:cNvSpPr txBox="1">
              <a:spLocks noChangeArrowheads="1"/>
            </p:cNvSpPr>
            <p:nvPr/>
          </p:nvSpPr>
          <p:spPr bwMode="auto">
            <a:xfrm>
              <a:off x="3288" y="1026"/>
              <a:ext cx="227" cy="194"/>
            </a:xfrm>
            <a:prstGeom prst="rect">
              <a:avLst/>
            </a:prstGeom>
            <a:ln/>
          </p:spPr>
          <p:style>
            <a:lnRef idx="1">
              <a:schemeClr val="accent6"/>
            </a:lnRef>
            <a:fillRef idx="2">
              <a:schemeClr val="accent6"/>
            </a:fillRef>
            <a:effectRef idx="1">
              <a:schemeClr val="accent6"/>
            </a:effectRef>
            <a:fontRef idx="minor">
              <a:schemeClr val="dk1"/>
            </a:fontRef>
          </p:style>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50000"/>
                </a:spcBef>
              </a:pPr>
              <a:r>
                <a:rPr lang="en-US" altLang="zh-CN" sz="1400"/>
                <a:t>0</a:t>
              </a:r>
            </a:p>
          </p:txBody>
        </p:sp>
        <p:sp>
          <p:nvSpPr>
            <p:cNvPr id="61" name="Text Box 29"/>
            <p:cNvSpPr txBox="1">
              <a:spLocks noChangeArrowheads="1"/>
            </p:cNvSpPr>
            <p:nvPr/>
          </p:nvSpPr>
          <p:spPr bwMode="auto">
            <a:xfrm>
              <a:off x="3651" y="1253"/>
              <a:ext cx="227" cy="194"/>
            </a:xfrm>
            <a:prstGeom prst="rect">
              <a:avLst/>
            </a:prstGeom>
            <a:ln/>
          </p:spPr>
          <p:style>
            <a:lnRef idx="1">
              <a:schemeClr val="accent6"/>
            </a:lnRef>
            <a:fillRef idx="2">
              <a:schemeClr val="accent6"/>
            </a:fillRef>
            <a:effectRef idx="1">
              <a:schemeClr val="accent6"/>
            </a:effectRef>
            <a:fontRef idx="minor">
              <a:schemeClr val="dk1"/>
            </a:fontRef>
          </p:style>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50000"/>
                </a:spcBef>
              </a:pPr>
              <a:r>
                <a:rPr lang="en-US" altLang="zh-CN" sz="1400"/>
                <a:t>1</a:t>
              </a:r>
            </a:p>
          </p:txBody>
        </p:sp>
        <p:sp>
          <p:nvSpPr>
            <p:cNvPr id="62" name="Text Box 30"/>
            <p:cNvSpPr txBox="1">
              <a:spLocks noChangeArrowheads="1"/>
            </p:cNvSpPr>
            <p:nvPr/>
          </p:nvSpPr>
          <p:spPr bwMode="auto">
            <a:xfrm>
              <a:off x="3651" y="1661"/>
              <a:ext cx="227" cy="194"/>
            </a:xfrm>
            <a:prstGeom prst="rect">
              <a:avLst/>
            </a:prstGeom>
            <a:ln/>
          </p:spPr>
          <p:style>
            <a:lnRef idx="1">
              <a:schemeClr val="accent6"/>
            </a:lnRef>
            <a:fillRef idx="2">
              <a:schemeClr val="accent6"/>
            </a:fillRef>
            <a:effectRef idx="1">
              <a:schemeClr val="accent6"/>
            </a:effectRef>
            <a:fontRef idx="minor">
              <a:schemeClr val="dk1"/>
            </a:fontRef>
          </p:style>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50000"/>
                </a:spcBef>
              </a:pPr>
              <a:r>
                <a:rPr lang="en-US" altLang="zh-CN" sz="1400"/>
                <a:t>2</a:t>
              </a:r>
            </a:p>
          </p:txBody>
        </p:sp>
        <p:sp>
          <p:nvSpPr>
            <p:cNvPr id="63" name="Text Box 31"/>
            <p:cNvSpPr txBox="1">
              <a:spLocks noChangeArrowheads="1"/>
            </p:cNvSpPr>
            <p:nvPr/>
          </p:nvSpPr>
          <p:spPr bwMode="auto">
            <a:xfrm>
              <a:off x="3334" y="1979"/>
              <a:ext cx="227" cy="194"/>
            </a:xfrm>
            <a:prstGeom prst="rect">
              <a:avLst/>
            </a:prstGeom>
            <a:ln/>
          </p:spPr>
          <p:style>
            <a:lnRef idx="1">
              <a:schemeClr val="accent6"/>
            </a:lnRef>
            <a:fillRef idx="2">
              <a:schemeClr val="accent6"/>
            </a:fillRef>
            <a:effectRef idx="1">
              <a:schemeClr val="accent6"/>
            </a:effectRef>
            <a:fontRef idx="minor">
              <a:schemeClr val="dk1"/>
            </a:fontRef>
          </p:style>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50000"/>
                </a:spcBef>
              </a:pPr>
              <a:r>
                <a:rPr lang="en-US" altLang="zh-CN" sz="1400"/>
                <a:t>3</a:t>
              </a:r>
            </a:p>
          </p:txBody>
        </p:sp>
        <p:sp>
          <p:nvSpPr>
            <p:cNvPr id="64" name="Text Box 32"/>
            <p:cNvSpPr txBox="1">
              <a:spLocks noChangeArrowheads="1"/>
            </p:cNvSpPr>
            <p:nvPr/>
          </p:nvSpPr>
          <p:spPr bwMode="auto">
            <a:xfrm>
              <a:off x="2880" y="1979"/>
              <a:ext cx="227" cy="194"/>
            </a:xfrm>
            <a:prstGeom prst="rect">
              <a:avLst/>
            </a:prstGeom>
            <a:ln/>
          </p:spPr>
          <p:style>
            <a:lnRef idx="1">
              <a:schemeClr val="accent6"/>
            </a:lnRef>
            <a:fillRef idx="2">
              <a:schemeClr val="accent6"/>
            </a:fillRef>
            <a:effectRef idx="1">
              <a:schemeClr val="accent6"/>
            </a:effectRef>
            <a:fontRef idx="minor">
              <a:schemeClr val="dk1"/>
            </a:fontRef>
          </p:style>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50000"/>
                </a:spcBef>
              </a:pPr>
              <a:r>
                <a:rPr lang="en-US" altLang="zh-CN" sz="1400"/>
                <a:t>4</a:t>
              </a:r>
            </a:p>
          </p:txBody>
        </p:sp>
        <p:sp>
          <p:nvSpPr>
            <p:cNvPr id="65" name="Text Box 33"/>
            <p:cNvSpPr txBox="1">
              <a:spLocks noChangeArrowheads="1"/>
            </p:cNvSpPr>
            <p:nvPr/>
          </p:nvSpPr>
          <p:spPr bwMode="auto">
            <a:xfrm>
              <a:off x="2517" y="1661"/>
              <a:ext cx="227" cy="194"/>
            </a:xfrm>
            <a:prstGeom prst="rect">
              <a:avLst/>
            </a:prstGeom>
            <a:ln/>
          </p:spPr>
          <p:style>
            <a:lnRef idx="1">
              <a:schemeClr val="accent6"/>
            </a:lnRef>
            <a:fillRef idx="2">
              <a:schemeClr val="accent6"/>
            </a:fillRef>
            <a:effectRef idx="1">
              <a:schemeClr val="accent6"/>
            </a:effectRef>
            <a:fontRef idx="minor">
              <a:schemeClr val="dk1"/>
            </a:fontRef>
          </p:style>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50000"/>
                </a:spcBef>
              </a:pPr>
              <a:r>
                <a:rPr lang="en-US" altLang="zh-CN" sz="1400"/>
                <a:t>5</a:t>
              </a:r>
            </a:p>
          </p:txBody>
        </p:sp>
        <p:sp>
          <p:nvSpPr>
            <p:cNvPr id="66" name="Text Box 34"/>
            <p:cNvSpPr txBox="1">
              <a:spLocks noChangeArrowheads="1"/>
            </p:cNvSpPr>
            <p:nvPr/>
          </p:nvSpPr>
          <p:spPr bwMode="auto">
            <a:xfrm>
              <a:off x="2517" y="1207"/>
              <a:ext cx="227" cy="194"/>
            </a:xfrm>
            <a:prstGeom prst="rect">
              <a:avLst/>
            </a:prstGeom>
            <a:ln/>
          </p:spPr>
          <p:style>
            <a:lnRef idx="1">
              <a:schemeClr val="accent6"/>
            </a:lnRef>
            <a:fillRef idx="2">
              <a:schemeClr val="accent6"/>
            </a:fillRef>
            <a:effectRef idx="1">
              <a:schemeClr val="accent6"/>
            </a:effectRef>
            <a:fontRef idx="minor">
              <a:schemeClr val="dk1"/>
            </a:fontRef>
          </p:style>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50000"/>
                </a:spcBef>
              </a:pPr>
              <a:r>
                <a:rPr lang="en-US" altLang="zh-CN" sz="1400"/>
                <a:t>6</a:t>
              </a:r>
            </a:p>
          </p:txBody>
        </p:sp>
        <p:sp>
          <p:nvSpPr>
            <p:cNvPr id="67" name="Text Box 35"/>
            <p:cNvSpPr txBox="1">
              <a:spLocks noChangeArrowheads="1"/>
            </p:cNvSpPr>
            <p:nvPr/>
          </p:nvSpPr>
          <p:spPr bwMode="auto">
            <a:xfrm>
              <a:off x="2880" y="935"/>
              <a:ext cx="227" cy="194"/>
            </a:xfrm>
            <a:prstGeom prst="rect">
              <a:avLst/>
            </a:prstGeom>
            <a:ln/>
          </p:spPr>
          <p:style>
            <a:lnRef idx="1">
              <a:schemeClr val="accent6"/>
            </a:lnRef>
            <a:fillRef idx="2">
              <a:schemeClr val="accent6"/>
            </a:fillRef>
            <a:effectRef idx="1">
              <a:schemeClr val="accent6"/>
            </a:effectRef>
            <a:fontRef idx="minor">
              <a:schemeClr val="dk1"/>
            </a:fontRef>
          </p:style>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50000"/>
                </a:spcBef>
              </a:pPr>
              <a:r>
                <a:rPr lang="en-US" altLang="zh-CN" sz="1400"/>
                <a:t>7</a:t>
              </a:r>
            </a:p>
          </p:txBody>
        </p:sp>
      </p:grpSp>
      <p:sp>
        <p:nvSpPr>
          <p:cNvPr id="68" name="Text Box 10"/>
          <p:cNvSpPr txBox="1">
            <a:spLocks noChangeArrowheads="1"/>
          </p:cNvSpPr>
          <p:nvPr/>
        </p:nvSpPr>
        <p:spPr bwMode="auto">
          <a:xfrm>
            <a:off x="873765" y="5557770"/>
            <a:ext cx="80772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spcBef>
                <a:spcPct val="50000"/>
              </a:spcBef>
            </a:pPr>
            <a:r>
              <a:rPr lang="zh-CN" altLang="en-US" sz="2000" dirty="0">
                <a:solidFill>
                  <a:srgbClr val="505050"/>
                </a:solidFill>
                <a:latin typeface="微软雅黑" panose="020B0503020204020204" pitchFamily="34" charset="-122"/>
                <a:ea typeface="微软雅黑" panose="020B0503020204020204" pitchFamily="34" charset="-122"/>
              </a:rPr>
              <a:t>说明：</a:t>
            </a:r>
            <a:r>
              <a:rPr lang="en-US" altLang="zh-CN" b="0" dirty="0" err="1"/>
              <a:t>nextp</a:t>
            </a:r>
            <a:r>
              <a:rPr lang="en-US" altLang="zh-CN" b="0" dirty="0"/>
              <a:t>:</a:t>
            </a:r>
            <a:r>
              <a:rPr lang="zh-CN" altLang="en-US" b="0" dirty="0"/>
              <a:t>局部变量，用于暂时存放每次生产出的消息。</a:t>
            </a:r>
          </a:p>
          <a:p>
            <a:pPr>
              <a:spcBef>
                <a:spcPct val="50000"/>
              </a:spcBef>
            </a:pPr>
            <a:r>
              <a:rPr lang="zh-CN" altLang="en-US" b="0" dirty="0"/>
              <a:t>          </a:t>
            </a:r>
            <a:r>
              <a:rPr lang="en-US" altLang="zh-CN" b="0" dirty="0" err="1"/>
              <a:t>nextc</a:t>
            </a:r>
            <a:r>
              <a:rPr lang="en-US" altLang="zh-CN" b="0" dirty="0"/>
              <a:t>:</a:t>
            </a:r>
            <a:r>
              <a:rPr lang="zh-CN" altLang="en-US" b="0" dirty="0"/>
              <a:t>局部变量，用于存放每次要消费的消息。</a:t>
            </a:r>
          </a:p>
        </p:txBody>
      </p:sp>
    </p:spTree>
    <p:extLst>
      <p:ext uri="{BB962C8B-B14F-4D97-AF65-F5344CB8AC3E}">
        <p14:creationId xmlns:p14="http://schemas.microsoft.com/office/powerpoint/2010/main" val="364498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0-#ppt_w/2"/>
                                          </p:val>
                                        </p:tav>
                                        <p:tav tm="100000">
                                          <p:val>
                                            <p:strVal val="#ppt_x"/>
                                          </p:val>
                                        </p:tav>
                                      </p:tavLst>
                                    </p:anim>
                                    <p:anim calcmode="lin" valueType="num">
                                      <p:cBhvr additive="base">
                                        <p:cTn id="8" dur="500" fill="hold"/>
                                        <p:tgtEl>
                                          <p:spTgt spid="1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barn(inVertical)">
                                      <p:cBhvr>
                                        <p:cTn id="13" dur="500"/>
                                        <p:tgtEl>
                                          <p:spTgt spid="21"/>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1000"/>
                                        <p:tgtEl>
                                          <p:spTgt spid="19"/>
                                        </p:tgtEl>
                                      </p:cBhvr>
                                    </p:animEffect>
                                    <p:anim calcmode="lin" valueType="num">
                                      <p:cBhvr>
                                        <p:cTn id="19" dur="1000" fill="hold"/>
                                        <p:tgtEl>
                                          <p:spTgt spid="19"/>
                                        </p:tgtEl>
                                        <p:attrNameLst>
                                          <p:attrName>ppt_x</p:attrName>
                                        </p:attrNameLst>
                                      </p:cBhvr>
                                      <p:tavLst>
                                        <p:tav tm="0">
                                          <p:val>
                                            <p:strVal val="#ppt_x"/>
                                          </p:val>
                                        </p:tav>
                                        <p:tav tm="100000">
                                          <p:val>
                                            <p:strVal val="#ppt_x"/>
                                          </p:val>
                                        </p:tav>
                                      </p:tavLst>
                                    </p:anim>
                                    <p:anim calcmode="lin" valueType="num">
                                      <p:cBhvr>
                                        <p:cTn id="20"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grpId="0" nodeType="clickEffect">
                                  <p:stCondLst>
                                    <p:cond delay="0"/>
                                  </p:stCondLst>
                                  <p:childTnLst>
                                    <p:set>
                                      <p:cBhvr>
                                        <p:cTn id="24" dur="1" fill="hold">
                                          <p:stCondLst>
                                            <p:cond delay="0"/>
                                          </p:stCondLst>
                                        </p:cTn>
                                        <p:tgtEl>
                                          <p:spTgt spid="68"/>
                                        </p:tgtEl>
                                        <p:attrNameLst>
                                          <p:attrName>style.visibility</p:attrName>
                                        </p:attrNameLst>
                                      </p:cBhvr>
                                      <p:to>
                                        <p:strVal val="visible"/>
                                      </p:to>
                                    </p:set>
                                    <p:animEffect transition="in" filter="barn(inVertical)">
                                      <p:cBhvr>
                                        <p:cTn id="25" dur="500"/>
                                        <p:tgtEl>
                                          <p:spTgt spid="68"/>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8" fill="hold" grpId="0" nodeType="clickEffect">
                                  <p:stCondLst>
                                    <p:cond delay="0"/>
                                  </p:stCondLst>
                                  <p:childTnLst>
                                    <p:set>
                                      <p:cBhvr>
                                        <p:cTn id="29" dur="1" fill="hold">
                                          <p:stCondLst>
                                            <p:cond delay="0"/>
                                          </p:stCondLst>
                                        </p:cTn>
                                        <p:tgtEl>
                                          <p:spTgt spid="18"/>
                                        </p:tgtEl>
                                        <p:attrNameLst>
                                          <p:attrName>style.visibility</p:attrName>
                                        </p:attrNameLst>
                                      </p:cBhvr>
                                      <p:to>
                                        <p:strVal val="visible"/>
                                      </p:to>
                                    </p:set>
                                    <p:anim calcmode="lin" valueType="num">
                                      <p:cBhvr additive="base">
                                        <p:cTn id="30" dur="500" fill="hold"/>
                                        <p:tgtEl>
                                          <p:spTgt spid="18"/>
                                        </p:tgtEl>
                                        <p:attrNameLst>
                                          <p:attrName>ppt_x</p:attrName>
                                        </p:attrNameLst>
                                      </p:cBhvr>
                                      <p:tavLst>
                                        <p:tav tm="0">
                                          <p:val>
                                            <p:strVal val="0-#ppt_w/2"/>
                                          </p:val>
                                        </p:tav>
                                        <p:tav tm="100000">
                                          <p:val>
                                            <p:strVal val="#ppt_x"/>
                                          </p:val>
                                        </p:tav>
                                      </p:tavLst>
                                    </p:anim>
                                    <p:anim calcmode="lin" valueType="num">
                                      <p:cBhvr additive="base">
                                        <p:cTn id="31"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20"/>
                                        </p:tgtEl>
                                        <p:attrNameLst>
                                          <p:attrName>style.visibility</p:attrName>
                                        </p:attrNameLst>
                                      </p:cBhvr>
                                      <p:to>
                                        <p:strVal val="visible"/>
                                      </p:to>
                                    </p:set>
                                    <p:anim calcmode="lin" valueType="num">
                                      <p:cBhvr additive="base">
                                        <p:cTn id="36" dur="500" fill="hold"/>
                                        <p:tgtEl>
                                          <p:spTgt spid="20"/>
                                        </p:tgtEl>
                                        <p:attrNameLst>
                                          <p:attrName>ppt_x</p:attrName>
                                        </p:attrNameLst>
                                      </p:cBhvr>
                                      <p:tavLst>
                                        <p:tav tm="0">
                                          <p:val>
                                            <p:strVal val="0-#ppt_w/2"/>
                                          </p:val>
                                        </p:tav>
                                        <p:tav tm="100000">
                                          <p:val>
                                            <p:strVal val="#ppt_x"/>
                                          </p:val>
                                        </p:tav>
                                      </p:tavLst>
                                    </p:anim>
                                    <p:anim calcmode="lin" valueType="num">
                                      <p:cBhvr additive="base">
                                        <p:cTn id="37" dur="5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autoUpdateAnimBg="0"/>
      <p:bldP spid="18" grpId="0" animBg="1" autoUpdateAnimBg="0"/>
      <p:bldP spid="19" grpId="0" animBg="1"/>
      <p:bldP spid="20" grpId="0" animBg="1" autoUpdateAnimBg="0"/>
      <p:bldP spid="6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例：生产者</a:t>
            </a:r>
            <a:r>
              <a:rPr lang="en-US" altLang="zh-CN" dirty="0"/>
              <a:t>-</a:t>
            </a:r>
            <a:r>
              <a:rPr lang="zh-CN" altLang="en-US" dirty="0"/>
              <a:t>消费者问题</a:t>
            </a:r>
          </a:p>
        </p:txBody>
      </p:sp>
      <p:sp>
        <p:nvSpPr>
          <p:cNvPr id="18" name="Rectangle 5"/>
          <p:cNvSpPr>
            <a:spLocks noChangeArrowheads="1"/>
          </p:cNvSpPr>
          <p:nvPr/>
        </p:nvSpPr>
        <p:spPr bwMode="auto">
          <a:xfrm>
            <a:off x="890915" y="2049480"/>
            <a:ext cx="3304701" cy="15001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nSpc>
                <a:spcPct val="110000"/>
              </a:lnSpc>
              <a:spcBef>
                <a:spcPct val="20000"/>
              </a:spcBef>
            </a:pPr>
            <a:r>
              <a:rPr lang="en-US" altLang="zh-CN" b="0" dirty="0"/>
              <a:t>register 1=counter; </a:t>
            </a:r>
          </a:p>
          <a:p>
            <a:pPr>
              <a:lnSpc>
                <a:spcPct val="110000"/>
              </a:lnSpc>
              <a:spcBef>
                <a:spcPct val="20000"/>
              </a:spcBef>
            </a:pPr>
            <a:r>
              <a:rPr lang="en-US" altLang="zh-CN" b="0" dirty="0"/>
              <a:t>register 1=register+1; </a:t>
            </a:r>
          </a:p>
          <a:p>
            <a:pPr>
              <a:lnSpc>
                <a:spcPct val="110000"/>
              </a:lnSpc>
              <a:spcBef>
                <a:spcPct val="20000"/>
              </a:spcBef>
            </a:pPr>
            <a:r>
              <a:rPr lang="en-US" altLang="zh-CN" b="0" dirty="0"/>
              <a:t>counter=register 1; </a:t>
            </a:r>
          </a:p>
        </p:txBody>
      </p:sp>
      <p:sp>
        <p:nvSpPr>
          <p:cNvPr id="19" name="Rectangle 5"/>
          <p:cNvSpPr>
            <a:spLocks noChangeArrowheads="1"/>
          </p:cNvSpPr>
          <p:nvPr/>
        </p:nvSpPr>
        <p:spPr bwMode="auto">
          <a:xfrm>
            <a:off x="890916" y="3925905"/>
            <a:ext cx="3304701" cy="15001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nSpc>
                <a:spcPct val="110000"/>
              </a:lnSpc>
              <a:spcBef>
                <a:spcPct val="20000"/>
              </a:spcBef>
            </a:pPr>
            <a:r>
              <a:rPr lang="en-US" altLang="zh-CN" b="0" dirty="0"/>
              <a:t>register 2=counter</a:t>
            </a:r>
            <a:r>
              <a:rPr lang="zh-CN" altLang="en-US" b="0" dirty="0"/>
              <a:t>；</a:t>
            </a:r>
          </a:p>
          <a:p>
            <a:pPr>
              <a:lnSpc>
                <a:spcPct val="110000"/>
              </a:lnSpc>
              <a:spcBef>
                <a:spcPct val="20000"/>
              </a:spcBef>
            </a:pPr>
            <a:r>
              <a:rPr lang="en-US" altLang="zh-CN" b="0" dirty="0"/>
              <a:t>register 2 =register 2 -1;</a:t>
            </a:r>
          </a:p>
          <a:p>
            <a:pPr>
              <a:lnSpc>
                <a:spcPct val="110000"/>
              </a:lnSpc>
              <a:spcBef>
                <a:spcPct val="20000"/>
              </a:spcBef>
            </a:pPr>
            <a:r>
              <a:rPr lang="en-US" altLang="zh-CN" b="0" dirty="0"/>
              <a:t>counter = register 2 </a:t>
            </a:r>
          </a:p>
        </p:txBody>
      </p:sp>
      <p:sp>
        <p:nvSpPr>
          <p:cNvPr id="21" name="Text Box 4"/>
          <p:cNvSpPr txBox="1">
            <a:spLocks noChangeArrowheads="1"/>
          </p:cNvSpPr>
          <p:nvPr/>
        </p:nvSpPr>
        <p:spPr bwMode="auto">
          <a:xfrm>
            <a:off x="5437892" y="1819334"/>
            <a:ext cx="3429000" cy="269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ts val="600"/>
              </a:spcBef>
            </a:pPr>
            <a:r>
              <a:rPr lang="en-US" altLang="zh-CN" dirty="0"/>
              <a:t>register 1=counter;</a:t>
            </a:r>
          </a:p>
          <a:p>
            <a:pPr eaLnBrk="1" hangingPunct="1">
              <a:spcBef>
                <a:spcPts val="600"/>
              </a:spcBef>
            </a:pPr>
            <a:r>
              <a:rPr lang="en-US" altLang="zh-CN" dirty="0"/>
              <a:t>register 1=register 1+1;</a:t>
            </a:r>
          </a:p>
          <a:p>
            <a:pPr eaLnBrk="1" hangingPunct="1">
              <a:spcBef>
                <a:spcPts val="600"/>
              </a:spcBef>
            </a:pPr>
            <a:r>
              <a:rPr lang="en-US" altLang="zh-CN" dirty="0"/>
              <a:t>register 2=counter;</a:t>
            </a:r>
          </a:p>
          <a:p>
            <a:pPr eaLnBrk="1" hangingPunct="1">
              <a:spcBef>
                <a:spcPts val="600"/>
              </a:spcBef>
            </a:pPr>
            <a:r>
              <a:rPr lang="en-US" altLang="zh-CN" dirty="0"/>
              <a:t>register 2=register 2-1;</a:t>
            </a:r>
          </a:p>
          <a:p>
            <a:pPr eaLnBrk="1" hangingPunct="1">
              <a:spcBef>
                <a:spcPts val="600"/>
              </a:spcBef>
            </a:pPr>
            <a:r>
              <a:rPr lang="en-US" altLang="zh-CN" dirty="0">
                <a:solidFill>
                  <a:srgbClr val="FF0000"/>
                </a:solidFill>
              </a:rPr>
              <a:t>counter=register 2;</a:t>
            </a:r>
          </a:p>
          <a:p>
            <a:pPr eaLnBrk="1" hangingPunct="1">
              <a:spcBef>
                <a:spcPts val="600"/>
              </a:spcBef>
            </a:pPr>
            <a:r>
              <a:rPr lang="en-US" altLang="zh-CN" dirty="0">
                <a:solidFill>
                  <a:srgbClr val="FF0000"/>
                </a:solidFill>
              </a:rPr>
              <a:t>counter=register 1;</a:t>
            </a:r>
          </a:p>
        </p:txBody>
      </p:sp>
      <p:sp>
        <p:nvSpPr>
          <p:cNvPr id="22" name="Text Box 6"/>
          <p:cNvSpPr txBox="1">
            <a:spLocks noChangeArrowheads="1"/>
          </p:cNvSpPr>
          <p:nvPr/>
        </p:nvSpPr>
        <p:spPr bwMode="auto">
          <a:xfrm>
            <a:off x="9072759" y="1744680"/>
            <a:ext cx="34559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50000"/>
              </a:spcBef>
            </a:pPr>
            <a:r>
              <a:rPr lang="en-US" altLang="zh-CN"/>
              <a:t>register 1=5</a:t>
            </a:r>
          </a:p>
        </p:txBody>
      </p:sp>
      <p:sp>
        <p:nvSpPr>
          <p:cNvPr id="23" name="Text Box 7"/>
          <p:cNvSpPr txBox="1">
            <a:spLocks noChangeArrowheads="1"/>
          </p:cNvSpPr>
          <p:nvPr/>
        </p:nvSpPr>
        <p:spPr bwMode="auto">
          <a:xfrm>
            <a:off x="9072759" y="2166955"/>
            <a:ext cx="34559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50000"/>
              </a:spcBef>
            </a:pPr>
            <a:r>
              <a:rPr lang="en-US" altLang="zh-CN" dirty="0"/>
              <a:t>register 1=6</a:t>
            </a:r>
          </a:p>
        </p:txBody>
      </p:sp>
      <p:sp>
        <p:nvSpPr>
          <p:cNvPr id="38" name="Text Box 8"/>
          <p:cNvSpPr txBox="1">
            <a:spLocks noChangeArrowheads="1"/>
          </p:cNvSpPr>
          <p:nvPr/>
        </p:nvSpPr>
        <p:spPr bwMode="auto">
          <a:xfrm>
            <a:off x="9072759" y="2568593"/>
            <a:ext cx="34559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50000"/>
              </a:spcBef>
            </a:pPr>
            <a:r>
              <a:rPr lang="en-US" altLang="zh-CN" dirty="0"/>
              <a:t>register 2=5</a:t>
            </a:r>
          </a:p>
        </p:txBody>
      </p:sp>
      <p:sp>
        <p:nvSpPr>
          <p:cNvPr id="39" name="Text Box 9"/>
          <p:cNvSpPr txBox="1">
            <a:spLocks noChangeArrowheads="1"/>
          </p:cNvSpPr>
          <p:nvPr/>
        </p:nvSpPr>
        <p:spPr bwMode="auto">
          <a:xfrm>
            <a:off x="9072759" y="3024205"/>
            <a:ext cx="34559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50000"/>
              </a:spcBef>
            </a:pPr>
            <a:r>
              <a:rPr lang="en-US" altLang="zh-CN" dirty="0"/>
              <a:t>register 2=4</a:t>
            </a:r>
          </a:p>
        </p:txBody>
      </p:sp>
      <p:sp>
        <p:nvSpPr>
          <p:cNvPr id="40" name="Text Box 10"/>
          <p:cNvSpPr txBox="1">
            <a:spLocks noChangeArrowheads="1"/>
          </p:cNvSpPr>
          <p:nvPr/>
        </p:nvSpPr>
        <p:spPr bwMode="auto">
          <a:xfrm>
            <a:off x="9072759" y="3482993"/>
            <a:ext cx="34559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50000"/>
              </a:spcBef>
            </a:pPr>
            <a:r>
              <a:rPr lang="en-US" altLang="zh-CN"/>
              <a:t>counter=4</a:t>
            </a:r>
          </a:p>
        </p:txBody>
      </p:sp>
      <p:sp>
        <p:nvSpPr>
          <p:cNvPr id="41" name="Text Box 11"/>
          <p:cNvSpPr txBox="1">
            <a:spLocks noChangeArrowheads="1"/>
          </p:cNvSpPr>
          <p:nvPr/>
        </p:nvSpPr>
        <p:spPr bwMode="auto">
          <a:xfrm>
            <a:off x="9072759" y="3925905"/>
            <a:ext cx="345598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50000"/>
              </a:spcBef>
            </a:pPr>
            <a:r>
              <a:rPr lang="en-US" altLang="zh-CN"/>
              <a:t>counter=6</a:t>
            </a:r>
          </a:p>
        </p:txBody>
      </p:sp>
      <p:sp>
        <p:nvSpPr>
          <p:cNvPr id="44" name="矩形 43"/>
          <p:cNvSpPr/>
          <p:nvPr/>
        </p:nvSpPr>
        <p:spPr>
          <a:xfrm>
            <a:off x="890916" y="1493070"/>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5" name="矩形 44"/>
          <p:cNvSpPr/>
          <p:nvPr/>
        </p:nvSpPr>
        <p:spPr>
          <a:xfrm>
            <a:off x="1798966" y="1493070"/>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6" name="文本框 55"/>
          <p:cNvSpPr txBox="1">
            <a:spLocks noChangeArrowheads="1"/>
          </p:cNvSpPr>
          <p:nvPr/>
        </p:nvSpPr>
        <p:spPr bwMode="auto">
          <a:xfrm>
            <a:off x="799458" y="959670"/>
            <a:ext cx="416832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400" b="1" dirty="0">
                <a:solidFill>
                  <a:srgbClr val="4C7E51"/>
                </a:solidFill>
                <a:latin typeface="微软雅黑" panose="020B0503020204020204" pitchFamily="34" charset="-122"/>
                <a:ea typeface="微软雅黑" panose="020B0503020204020204" pitchFamily="34" charset="-122"/>
              </a:rPr>
              <a:t>假设</a:t>
            </a:r>
            <a:r>
              <a:rPr lang="en-US" altLang="zh-CN" sz="2400" b="1" dirty="0">
                <a:solidFill>
                  <a:srgbClr val="4C7E51"/>
                </a:solidFill>
                <a:latin typeface="微软雅黑" panose="020B0503020204020204" pitchFamily="34" charset="-122"/>
                <a:ea typeface="微软雅黑" panose="020B0503020204020204" pitchFamily="34" charset="-122"/>
              </a:rPr>
              <a:t>counter</a:t>
            </a:r>
            <a:r>
              <a:rPr lang="zh-CN" altLang="en-US" sz="2400" b="1" dirty="0">
                <a:solidFill>
                  <a:srgbClr val="4C7E51"/>
                </a:solidFill>
                <a:latin typeface="微软雅黑" panose="020B0503020204020204" pitchFamily="34" charset="-122"/>
                <a:ea typeface="微软雅黑" panose="020B0503020204020204" pitchFamily="34" charset="-122"/>
              </a:rPr>
              <a:t>的当前值为</a:t>
            </a:r>
            <a:r>
              <a:rPr lang="en-US" altLang="zh-CN" sz="2400" b="1" dirty="0">
                <a:solidFill>
                  <a:srgbClr val="4C7E51"/>
                </a:solidFill>
                <a:latin typeface="微软雅黑" panose="020B0503020204020204" pitchFamily="34" charset="-122"/>
                <a:ea typeface="微软雅黑" panose="020B0503020204020204" pitchFamily="34" charset="-122"/>
              </a:rPr>
              <a:t>5</a:t>
            </a:r>
            <a:endParaRPr lang="zh-CN" altLang="en-US" sz="2400" b="1" dirty="0">
              <a:solidFill>
                <a:srgbClr val="4C7E51"/>
              </a:solidFill>
              <a:latin typeface="微软雅黑" panose="020B0503020204020204" pitchFamily="34" charset="-122"/>
              <a:ea typeface="微软雅黑" panose="020B0503020204020204" pitchFamily="34" charset="-122"/>
            </a:endParaRPr>
          </a:p>
        </p:txBody>
      </p:sp>
      <p:sp>
        <p:nvSpPr>
          <p:cNvPr id="47" name="矩形 46"/>
          <p:cNvSpPr/>
          <p:nvPr/>
        </p:nvSpPr>
        <p:spPr>
          <a:xfrm>
            <a:off x="5437892" y="1502050"/>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8" name="矩形 47"/>
          <p:cNvSpPr/>
          <p:nvPr/>
        </p:nvSpPr>
        <p:spPr>
          <a:xfrm>
            <a:off x="6345942" y="1502050"/>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9" name="文本框 55"/>
          <p:cNvSpPr txBox="1">
            <a:spLocks noChangeArrowheads="1"/>
          </p:cNvSpPr>
          <p:nvPr/>
        </p:nvSpPr>
        <p:spPr bwMode="auto">
          <a:xfrm>
            <a:off x="5346433" y="968650"/>
            <a:ext cx="523058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400" b="1" dirty="0">
                <a:solidFill>
                  <a:srgbClr val="4C7E51"/>
                </a:solidFill>
                <a:latin typeface="微软雅黑" panose="020B0503020204020204" pitchFamily="34" charset="-122"/>
                <a:ea typeface="微软雅黑" panose="020B0503020204020204" pitchFamily="34" charset="-122"/>
              </a:rPr>
              <a:t>按什么顺序执行时，</a:t>
            </a:r>
            <a:r>
              <a:rPr lang="en-US" altLang="zh-CN" sz="2400" b="1" dirty="0">
                <a:solidFill>
                  <a:srgbClr val="4C7E51"/>
                </a:solidFill>
                <a:latin typeface="微软雅黑" panose="020B0503020204020204" pitchFamily="34" charset="-122"/>
                <a:ea typeface="微软雅黑" panose="020B0503020204020204" pitchFamily="34" charset="-122"/>
              </a:rPr>
              <a:t>counter</a:t>
            </a:r>
            <a:r>
              <a:rPr lang="zh-CN" altLang="en-US" sz="2400" b="1" dirty="0">
                <a:solidFill>
                  <a:srgbClr val="4C7E51"/>
                </a:solidFill>
                <a:latin typeface="微软雅黑" panose="020B0503020204020204" pitchFamily="34" charset="-122"/>
                <a:ea typeface="微软雅黑" panose="020B0503020204020204" pitchFamily="34" charset="-122"/>
              </a:rPr>
              <a:t>的值是</a:t>
            </a:r>
            <a:r>
              <a:rPr lang="en-US" altLang="zh-CN" sz="2400" b="1" dirty="0">
                <a:solidFill>
                  <a:srgbClr val="4C7E51"/>
                </a:solidFill>
                <a:latin typeface="微软雅黑" panose="020B0503020204020204" pitchFamily="34" charset="-122"/>
                <a:ea typeface="微软雅黑" panose="020B0503020204020204" pitchFamily="34" charset="-122"/>
              </a:rPr>
              <a:t>6</a:t>
            </a:r>
            <a:r>
              <a:rPr lang="zh-CN" altLang="en-US" sz="2400" b="1" dirty="0">
                <a:solidFill>
                  <a:srgbClr val="4C7E51"/>
                </a:solidFill>
                <a:latin typeface="微软雅黑" panose="020B0503020204020204" pitchFamily="34" charset="-122"/>
                <a:ea typeface="微软雅黑" panose="020B0503020204020204" pitchFamily="34" charset="-122"/>
              </a:rPr>
              <a:t>？</a:t>
            </a:r>
          </a:p>
        </p:txBody>
      </p:sp>
      <p:pic>
        <p:nvPicPr>
          <p:cNvPr id="50" name="Picture 3" descr="E:\仝德志文件\03-参考资料\！仝个人\！PPT图片及版面资源\06-PPT精选插图\04-图标\B74562C27852F06F2A430A94546B4851.png"/>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902278" y="4511734"/>
            <a:ext cx="2879725" cy="2160240"/>
          </a:xfrm>
          <a:prstGeom prst="rect">
            <a:avLst/>
          </a:prstGeom>
          <a:noFill/>
          <a:extLst>
            <a:ext uri="{909E8E84-426E-40DD-AFC4-6F175D3DCCD1}">
              <a14:hiddenFill xmlns:a14="http://schemas.microsoft.com/office/drawing/2010/main">
                <a:solidFill>
                  <a:srgbClr val="FFFFFF"/>
                </a:solidFill>
              </a14:hiddenFill>
            </a:ext>
          </a:extLst>
        </p:spPr>
      </p:pic>
      <p:grpSp>
        <p:nvGrpSpPr>
          <p:cNvPr id="3" name="组合 2"/>
          <p:cNvGrpSpPr/>
          <p:nvPr/>
        </p:nvGrpSpPr>
        <p:grpSpPr>
          <a:xfrm>
            <a:off x="5402505" y="5026042"/>
            <a:ext cx="3499773" cy="861715"/>
            <a:chOff x="5402505" y="5026042"/>
            <a:chExt cx="3499773" cy="861715"/>
          </a:xfrm>
        </p:grpSpPr>
        <p:sp>
          <p:nvSpPr>
            <p:cNvPr id="43" name="Text Box 13"/>
            <p:cNvSpPr txBox="1">
              <a:spLocks noChangeArrowheads="1"/>
            </p:cNvSpPr>
            <p:nvPr/>
          </p:nvSpPr>
          <p:spPr bwMode="auto">
            <a:xfrm>
              <a:off x="5402505" y="5426092"/>
              <a:ext cx="349977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50000"/>
                </a:spcBef>
              </a:pPr>
              <a:r>
                <a:rPr lang="zh-CN" altLang="en-US" b="0" dirty="0"/>
                <a:t>将</a:t>
              </a:r>
              <a:r>
                <a:rPr lang="en-US" altLang="zh-CN" b="0" dirty="0"/>
                <a:t>counter</a:t>
              </a:r>
              <a:r>
                <a:rPr lang="zh-CN" altLang="en-US" b="0" dirty="0"/>
                <a:t>作为</a:t>
              </a:r>
              <a:r>
                <a:rPr lang="zh-CN" altLang="en-US" dirty="0">
                  <a:solidFill>
                    <a:srgbClr val="4C7E51"/>
                  </a:solidFill>
                  <a:latin typeface="微软雅黑" panose="020B0503020204020204" pitchFamily="34" charset="-122"/>
                  <a:ea typeface="微软雅黑" panose="020B0503020204020204" pitchFamily="34" charset="-122"/>
                </a:rPr>
                <a:t>临界资源</a:t>
              </a:r>
            </a:p>
          </p:txBody>
        </p:sp>
        <p:sp>
          <p:nvSpPr>
            <p:cNvPr id="51" name="文本框 54"/>
            <p:cNvSpPr txBox="1">
              <a:spLocks noChangeArrowheads="1"/>
            </p:cNvSpPr>
            <p:nvPr/>
          </p:nvSpPr>
          <p:spPr bwMode="auto">
            <a:xfrm>
              <a:off x="5437892" y="5026042"/>
              <a:ext cx="1920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05050"/>
                  </a:solidFill>
                  <a:latin typeface="微软雅黑" panose="020B0503020204020204" pitchFamily="34" charset="-122"/>
                  <a:ea typeface="微软雅黑" panose="020B0503020204020204" pitchFamily="34" charset="-122"/>
                </a:rPr>
                <a:t>解决办法</a:t>
              </a:r>
            </a:p>
          </p:txBody>
        </p:sp>
      </p:grpSp>
    </p:spTree>
    <p:extLst>
      <p:ext uri="{BB962C8B-B14F-4D97-AF65-F5344CB8AC3E}">
        <p14:creationId xmlns:p14="http://schemas.microsoft.com/office/powerpoint/2010/main" val="3648112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
                                            <p:txEl>
                                              <p:pRg st="0" end="0"/>
                                            </p:txEl>
                                          </p:spTgt>
                                        </p:tgtEl>
                                        <p:attrNameLst>
                                          <p:attrName>style.visibility</p:attrName>
                                        </p:attrNameLst>
                                      </p:cBhvr>
                                      <p:to>
                                        <p:strVal val="visible"/>
                                      </p:to>
                                    </p:set>
                                    <p:anim calcmode="lin" valueType="num">
                                      <p:cBhvr additive="base">
                                        <p:cTn id="7" dur="500" fill="hold"/>
                                        <p:tgtEl>
                                          <p:spTgt spid="2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6" fill="hold" grpId="0" nodeType="click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barn(inHorizontal)">
                                      <p:cBhvr>
                                        <p:cTn id="13" dur="500"/>
                                        <p:tgtEl>
                                          <p:spTgt spid="22"/>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21">
                                            <p:txEl>
                                              <p:pRg st="1" end="1"/>
                                            </p:txEl>
                                          </p:spTgt>
                                        </p:tgtEl>
                                        <p:attrNameLst>
                                          <p:attrName>style.visibility</p:attrName>
                                        </p:attrNameLst>
                                      </p:cBhvr>
                                      <p:to>
                                        <p:strVal val="visible"/>
                                      </p:to>
                                    </p:set>
                                    <p:anim calcmode="lin" valueType="num">
                                      <p:cBhvr additive="base">
                                        <p:cTn id="18" dur="500" fill="hold"/>
                                        <p:tgtEl>
                                          <p:spTgt spid="21">
                                            <p:txEl>
                                              <p:pRg st="1" end="1"/>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2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6" fill="hold" grpId="0"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barn(inHorizontal)">
                                      <p:cBhvr>
                                        <p:cTn id="24" dur="500"/>
                                        <p:tgtEl>
                                          <p:spTgt spid="23"/>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21">
                                            <p:txEl>
                                              <p:pRg st="2" end="2"/>
                                            </p:txEl>
                                          </p:spTgt>
                                        </p:tgtEl>
                                        <p:attrNameLst>
                                          <p:attrName>style.visibility</p:attrName>
                                        </p:attrNameLst>
                                      </p:cBhvr>
                                      <p:to>
                                        <p:strVal val="visible"/>
                                      </p:to>
                                    </p:set>
                                    <p:anim calcmode="lin" valueType="num">
                                      <p:cBhvr additive="base">
                                        <p:cTn id="29" dur="500" fill="hold"/>
                                        <p:tgtEl>
                                          <p:spTgt spid="21">
                                            <p:txEl>
                                              <p:pRg st="2" end="2"/>
                                            </p:txEl>
                                          </p:spTgt>
                                        </p:tgtEl>
                                        <p:attrNameLst>
                                          <p:attrName>ppt_x</p:attrName>
                                        </p:attrNameLst>
                                      </p:cBhvr>
                                      <p:tavLst>
                                        <p:tav tm="0">
                                          <p:val>
                                            <p:strVal val="0-#ppt_w/2"/>
                                          </p:val>
                                        </p:tav>
                                        <p:tav tm="100000">
                                          <p:val>
                                            <p:strVal val="#ppt_x"/>
                                          </p:val>
                                        </p:tav>
                                      </p:tavLst>
                                    </p:anim>
                                    <p:anim calcmode="lin" valueType="num">
                                      <p:cBhvr additive="base">
                                        <p:cTn id="30" dur="500" fill="hold"/>
                                        <p:tgtEl>
                                          <p:spTgt spid="21">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6" presetClass="entr" presetSubtype="26" fill="hold" grpId="0" nodeType="clickEffect">
                                  <p:stCondLst>
                                    <p:cond delay="0"/>
                                  </p:stCondLst>
                                  <p:childTnLst>
                                    <p:set>
                                      <p:cBhvr>
                                        <p:cTn id="34" dur="1" fill="hold">
                                          <p:stCondLst>
                                            <p:cond delay="0"/>
                                          </p:stCondLst>
                                        </p:cTn>
                                        <p:tgtEl>
                                          <p:spTgt spid="38"/>
                                        </p:tgtEl>
                                        <p:attrNameLst>
                                          <p:attrName>style.visibility</p:attrName>
                                        </p:attrNameLst>
                                      </p:cBhvr>
                                      <p:to>
                                        <p:strVal val="visible"/>
                                      </p:to>
                                    </p:set>
                                    <p:animEffect transition="in" filter="barn(inHorizontal)">
                                      <p:cBhvr>
                                        <p:cTn id="35" dur="500"/>
                                        <p:tgtEl>
                                          <p:spTgt spid="38"/>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8" fill="hold" nodeType="clickEffect">
                                  <p:stCondLst>
                                    <p:cond delay="0"/>
                                  </p:stCondLst>
                                  <p:childTnLst>
                                    <p:set>
                                      <p:cBhvr>
                                        <p:cTn id="39" dur="1" fill="hold">
                                          <p:stCondLst>
                                            <p:cond delay="0"/>
                                          </p:stCondLst>
                                        </p:cTn>
                                        <p:tgtEl>
                                          <p:spTgt spid="21">
                                            <p:txEl>
                                              <p:pRg st="3" end="3"/>
                                            </p:txEl>
                                          </p:spTgt>
                                        </p:tgtEl>
                                        <p:attrNameLst>
                                          <p:attrName>style.visibility</p:attrName>
                                        </p:attrNameLst>
                                      </p:cBhvr>
                                      <p:to>
                                        <p:strVal val="visible"/>
                                      </p:to>
                                    </p:set>
                                    <p:anim calcmode="lin" valueType="num">
                                      <p:cBhvr additive="base">
                                        <p:cTn id="40" dur="500" fill="hold"/>
                                        <p:tgtEl>
                                          <p:spTgt spid="21">
                                            <p:txEl>
                                              <p:pRg st="3" end="3"/>
                                            </p:txEl>
                                          </p:spTgt>
                                        </p:tgtEl>
                                        <p:attrNameLst>
                                          <p:attrName>ppt_x</p:attrName>
                                        </p:attrNameLst>
                                      </p:cBhvr>
                                      <p:tavLst>
                                        <p:tav tm="0">
                                          <p:val>
                                            <p:strVal val="0-#ppt_w/2"/>
                                          </p:val>
                                        </p:tav>
                                        <p:tav tm="100000">
                                          <p:val>
                                            <p:strVal val="#ppt_x"/>
                                          </p:val>
                                        </p:tav>
                                      </p:tavLst>
                                    </p:anim>
                                    <p:anim calcmode="lin" valueType="num">
                                      <p:cBhvr additive="base">
                                        <p:cTn id="41" dur="500" fill="hold"/>
                                        <p:tgtEl>
                                          <p:spTgt spid="2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16" presetClass="entr" presetSubtype="26" fill="hold" grpId="0" nodeType="clickEffect">
                                  <p:stCondLst>
                                    <p:cond delay="0"/>
                                  </p:stCondLst>
                                  <p:childTnLst>
                                    <p:set>
                                      <p:cBhvr>
                                        <p:cTn id="45" dur="1" fill="hold">
                                          <p:stCondLst>
                                            <p:cond delay="0"/>
                                          </p:stCondLst>
                                        </p:cTn>
                                        <p:tgtEl>
                                          <p:spTgt spid="39"/>
                                        </p:tgtEl>
                                        <p:attrNameLst>
                                          <p:attrName>style.visibility</p:attrName>
                                        </p:attrNameLst>
                                      </p:cBhvr>
                                      <p:to>
                                        <p:strVal val="visible"/>
                                      </p:to>
                                    </p:set>
                                    <p:animEffect transition="in" filter="barn(inHorizontal)">
                                      <p:cBhvr>
                                        <p:cTn id="46" dur="500"/>
                                        <p:tgtEl>
                                          <p:spTgt spid="39"/>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8" fill="hold" nodeType="clickEffect">
                                  <p:stCondLst>
                                    <p:cond delay="0"/>
                                  </p:stCondLst>
                                  <p:childTnLst>
                                    <p:set>
                                      <p:cBhvr>
                                        <p:cTn id="50" dur="1" fill="hold">
                                          <p:stCondLst>
                                            <p:cond delay="0"/>
                                          </p:stCondLst>
                                        </p:cTn>
                                        <p:tgtEl>
                                          <p:spTgt spid="21">
                                            <p:txEl>
                                              <p:pRg st="4" end="4"/>
                                            </p:txEl>
                                          </p:spTgt>
                                        </p:tgtEl>
                                        <p:attrNameLst>
                                          <p:attrName>style.visibility</p:attrName>
                                        </p:attrNameLst>
                                      </p:cBhvr>
                                      <p:to>
                                        <p:strVal val="visible"/>
                                      </p:to>
                                    </p:set>
                                    <p:anim calcmode="lin" valueType="num">
                                      <p:cBhvr additive="base">
                                        <p:cTn id="51" dur="500" fill="hold"/>
                                        <p:tgtEl>
                                          <p:spTgt spid="21">
                                            <p:txEl>
                                              <p:pRg st="4" end="4"/>
                                            </p:txEl>
                                          </p:spTgt>
                                        </p:tgtEl>
                                        <p:attrNameLst>
                                          <p:attrName>ppt_x</p:attrName>
                                        </p:attrNameLst>
                                      </p:cBhvr>
                                      <p:tavLst>
                                        <p:tav tm="0">
                                          <p:val>
                                            <p:strVal val="0-#ppt_w/2"/>
                                          </p:val>
                                        </p:tav>
                                        <p:tav tm="100000">
                                          <p:val>
                                            <p:strVal val="#ppt_x"/>
                                          </p:val>
                                        </p:tav>
                                      </p:tavLst>
                                    </p:anim>
                                    <p:anim calcmode="lin" valueType="num">
                                      <p:cBhvr additive="base">
                                        <p:cTn id="52" dur="500" fill="hold"/>
                                        <p:tgtEl>
                                          <p:spTgt spid="21">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16" presetClass="entr" presetSubtype="26" fill="hold" grpId="0" nodeType="click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barn(inHorizontal)">
                                      <p:cBhvr>
                                        <p:cTn id="57" dur="500"/>
                                        <p:tgtEl>
                                          <p:spTgt spid="40"/>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8" fill="hold" nodeType="clickEffect">
                                  <p:stCondLst>
                                    <p:cond delay="0"/>
                                  </p:stCondLst>
                                  <p:childTnLst>
                                    <p:set>
                                      <p:cBhvr>
                                        <p:cTn id="61" dur="1" fill="hold">
                                          <p:stCondLst>
                                            <p:cond delay="0"/>
                                          </p:stCondLst>
                                        </p:cTn>
                                        <p:tgtEl>
                                          <p:spTgt spid="21">
                                            <p:txEl>
                                              <p:pRg st="5" end="5"/>
                                            </p:txEl>
                                          </p:spTgt>
                                        </p:tgtEl>
                                        <p:attrNameLst>
                                          <p:attrName>style.visibility</p:attrName>
                                        </p:attrNameLst>
                                      </p:cBhvr>
                                      <p:to>
                                        <p:strVal val="visible"/>
                                      </p:to>
                                    </p:set>
                                    <p:anim calcmode="lin" valueType="num">
                                      <p:cBhvr additive="base">
                                        <p:cTn id="62" dur="500" fill="hold"/>
                                        <p:tgtEl>
                                          <p:spTgt spid="21">
                                            <p:txEl>
                                              <p:pRg st="5" end="5"/>
                                            </p:txEl>
                                          </p:spTgt>
                                        </p:tgtEl>
                                        <p:attrNameLst>
                                          <p:attrName>ppt_x</p:attrName>
                                        </p:attrNameLst>
                                      </p:cBhvr>
                                      <p:tavLst>
                                        <p:tav tm="0">
                                          <p:val>
                                            <p:strVal val="0-#ppt_w/2"/>
                                          </p:val>
                                        </p:tav>
                                        <p:tav tm="100000">
                                          <p:val>
                                            <p:strVal val="#ppt_x"/>
                                          </p:val>
                                        </p:tav>
                                      </p:tavLst>
                                    </p:anim>
                                    <p:anim calcmode="lin" valueType="num">
                                      <p:cBhvr additive="base">
                                        <p:cTn id="63" dur="500" fill="hold"/>
                                        <p:tgtEl>
                                          <p:spTgt spid="21">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16" presetClass="entr" presetSubtype="26" fill="hold" grpId="0" nodeType="clickEffect">
                                  <p:stCondLst>
                                    <p:cond delay="0"/>
                                  </p:stCondLst>
                                  <p:childTnLst>
                                    <p:set>
                                      <p:cBhvr>
                                        <p:cTn id="67" dur="1" fill="hold">
                                          <p:stCondLst>
                                            <p:cond delay="0"/>
                                          </p:stCondLst>
                                        </p:cTn>
                                        <p:tgtEl>
                                          <p:spTgt spid="41"/>
                                        </p:tgtEl>
                                        <p:attrNameLst>
                                          <p:attrName>style.visibility</p:attrName>
                                        </p:attrNameLst>
                                      </p:cBhvr>
                                      <p:to>
                                        <p:strVal val="visible"/>
                                      </p:to>
                                    </p:set>
                                    <p:animEffect transition="in" filter="barn(inHorizontal)">
                                      <p:cBhvr>
                                        <p:cTn id="68" dur="500"/>
                                        <p:tgtEl>
                                          <p:spTgt spid="41"/>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3"/>
                                        </p:tgtEl>
                                        <p:attrNameLst>
                                          <p:attrName>style.visibility</p:attrName>
                                        </p:attrNameLst>
                                      </p:cBhvr>
                                      <p:to>
                                        <p:strVal val="visible"/>
                                      </p:to>
                                    </p:set>
                                    <p:animEffect transition="in" filter="fade">
                                      <p:cBhvr>
                                        <p:cTn id="7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38" grpId="0"/>
      <p:bldP spid="39" grpId="0"/>
      <p:bldP spid="40" grpId="0"/>
      <p:bldP spid="4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a:t>
            </a:r>
            <a:r>
              <a:rPr lang="zh-CN" altLang="en-US" dirty="0"/>
              <a:t>进程同步的概念</a:t>
            </a:r>
          </a:p>
        </p:txBody>
      </p:sp>
      <p:sp>
        <p:nvSpPr>
          <p:cNvPr id="3" name="矩形 2"/>
          <p:cNvSpPr/>
          <p:nvPr/>
        </p:nvSpPr>
        <p:spPr>
          <a:xfrm>
            <a:off x="1150228" y="1656846"/>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 name="矩形 3"/>
          <p:cNvSpPr/>
          <p:nvPr/>
        </p:nvSpPr>
        <p:spPr>
          <a:xfrm>
            <a:off x="2058278" y="1656846"/>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8" name="文本框 55"/>
          <p:cNvSpPr txBox="1">
            <a:spLocks noChangeArrowheads="1"/>
          </p:cNvSpPr>
          <p:nvPr/>
        </p:nvSpPr>
        <p:spPr bwMode="auto">
          <a:xfrm>
            <a:off x="1004178" y="1123446"/>
            <a:ext cx="41790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en-US" altLang="zh-CN" sz="2400" b="1" dirty="0">
                <a:solidFill>
                  <a:srgbClr val="4C7E51"/>
                </a:solidFill>
                <a:latin typeface="微软雅黑" panose="020B0503020204020204" pitchFamily="34" charset="-122"/>
                <a:ea typeface="微软雅黑" panose="020B0503020204020204" pitchFamily="34" charset="-122"/>
              </a:rPr>
              <a:t>3</a:t>
            </a:r>
            <a:r>
              <a:rPr lang="zh-CN" altLang="en-US" sz="2400" b="1" dirty="0">
                <a:solidFill>
                  <a:srgbClr val="4C7E51"/>
                </a:solidFill>
                <a:latin typeface="微软雅黑" panose="020B0503020204020204" pitchFamily="34" charset="-122"/>
                <a:ea typeface="微软雅黑" panose="020B0503020204020204" pitchFamily="34" charset="-122"/>
              </a:rPr>
              <a:t>）临界区</a:t>
            </a:r>
            <a:r>
              <a:rPr lang="en-US" altLang="zh-CN" sz="2400" b="1" dirty="0">
                <a:solidFill>
                  <a:srgbClr val="4C7E51"/>
                </a:solidFill>
                <a:latin typeface="微软雅黑" panose="020B0503020204020204" pitchFamily="34" charset="-122"/>
                <a:ea typeface="微软雅黑" panose="020B0503020204020204" pitchFamily="34" charset="-122"/>
              </a:rPr>
              <a:t>(critical section) </a:t>
            </a:r>
            <a:endParaRPr lang="zh-CN" altLang="en-US" sz="2400" b="1" dirty="0">
              <a:solidFill>
                <a:srgbClr val="4C7E51"/>
              </a:solidFill>
              <a:latin typeface="微软雅黑" panose="020B0503020204020204" pitchFamily="34" charset="-122"/>
              <a:ea typeface="微软雅黑" panose="020B0503020204020204" pitchFamily="34" charset="-122"/>
            </a:endParaRPr>
          </a:p>
        </p:txBody>
      </p:sp>
      <p:sp>
        <p:nvSpPr>
          <p:cNvPr id="15" name="文本框 19"/>
          <p:cNvSpPr txBox="1">
            <a:spLocks noChangeArrowheads="1"/>
          </p:cNvSpPr>
          <p:nvPr/>
        </p:nvSpPr>
        <p:spPr bwMode="auto">
          <a:xfrm>
            <a:off x="1150228" y="1885665"/>
            <a:ext cx="761163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en-US" sz="2400" dirty="0"/>
              <a:t>进程中访问临界资源的那段代码。</a:t>
            </a:r>
            <a:endParaRPr lang="en-US" altLang="zh-CN" sz="2400" dirty="0"/>
          </a:p>
        </p:txBody>
      </p:sp>
      <p:sp>
        <p:nvSpPr>
          <p:cNvPr id="7" name="Rectangle 4"/>
          <p:cNvSpPr>
            <a:spLocks noChangeArrowheads="1"/>
          </p:cNvSpPr>
          <p:nvPr/>
        </p:nvSpPr>
        <p:spPr bwMode="auto">
          <a:xfrm>
            <a:off x="1077958" y="2866234"/>
            <a:ext cx="6842125" cy="3630099"/>
          </a:xfrm>
          <a:prstGeom prst="rect">
            <a:avLst/>
          </a:prstGeom>
          <a:gradFill rotWithShape="1">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a:p>
        </p:txBody>
      </p:sp>
      <p:sp>
        <p:nvSpPr>
          <p:cNvPr id="9" name="Rectangle 5"/>
          <p:cNvSpPr>
            <a:spLocks noChangeArrowheads="1"/>
          </p:cNvSpPr>
          <p:nvPr/>
        </p:nvSpPr>
        <p:spPr bwMode="auto">
          <a:xfrm>
            <a:off x="1763758" y="3155160"/>
            <a:ext cx="720725" cy="431800"/>
          </a:xfrm>
          <a:prstGeom prst="rect">
            <a:avLst/>
          </a:prstGeom>
          <a:solidFill>
            <a:srgbClr val="00990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009900"/>
            </a:extrusionClr>
          </a:sp3d>
        </p:spPr>
        <p:txBody>
          <a:bodyPr wrap="none" anchor="ctr">
            <a:flatTx/>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ctr" eaLnBrk="1" hangingPunct="1"/>
            <a:r>
              <a:rPr lang="en-US" altLang="zh-CN"/>
              <a:t>P1</a:t>
            </a:r>
          </a:p>
        </p:txBody>
      </p:sp>
      <p:sp>
        <p:nvSpPr>
          <p:cNvPr id="10" name="Rectangle 6"/>
          <p:cNvSpPr>
            <a:spLocks noChangeArrowheads="1"/>
          </p:cNvSpPr>
          <p:nvPr/>
        </p:nvSpPr>
        <p:spPr bwMode="auto">
          <a:xfrm>
            <a:off x="3994195" y="3155160"/>
            <a:ext cx="720725" cy="431800"/>
          </a:xfrm>
          <a:prstGeom prst="rect">
            <a:avLst/>
          </a:prstGeom>
          <a:solidFill>
            <a:srgbClr val="00990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009900"/>
            </a:extrusionClr>
          </a:sp3d>
        </p:spPr>
        <p:txBody>
          <a:bodyPr wrap="none" anchor="ctr">
            <a:flatTx/>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ctr" eaLnBrk="1" hangingPunct="1"/>
            <a:r>
              <a:rPr lang="en-US" altLang="zh-CN"/>
              <a:t>P2</a:t>
            </a:r>
          </a:p>
        </p:txBody>
      </p:sp>
      <p:sp>
        <p:nvSpPr>
          <p:cNvPr id="11" name="Rectangle 7"/>
          <p:cNvSpPr>
            <a:spLocks noChangeArrowheads="1"/>
          </p:cNvSpPr>
          <p:nvPr/>
        </p:nvSpPr>
        <p:spPr bwMode="auto">
          <a:xfrm>
            <a:off x="6153195" y="3155160"/>
            <a:ext cx="720725" cy="431800"/>
          </a:xfrm>
          <a:prstGeom prst="rect">
            <a:avLst/>
          </a:prstGeom>
          <a:solidFill>
            <a:srgbClr val="009900"/>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009900"/>
            </a:extrusionClr>
          </a:sp3d>
        </p:spPr>
        <p:txBody>
          <a:bodyPr wrap="none" anchor="ctr">
            <a:flatTx/>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ctr" eaLnBrk="1" hangingPunct="1"/>
            <a:r>
              <a:rPr lang="en-US" altLang="zh-CN"/>
              <a:t>P3</a:t>
            </a:r>
          </a:p>
        </p:txBody>
      </p:sp>
      <p:sp>
        <p:nvSpPr>
          <p:cNvPr id="13" name="Rectangle 9"/>
          <p:cNvSpPr>
            <a:spLocks noChangeArrowheads="1"/>
          </p:cNvSpPr>
          <p:nvPr/>
        </p:nvSpPr>
        <p:spPr bwMode="auto">
          <a:xfrm>
            <a:off x="3527470" y="4162493"/>
            <a:ext cx="1655763" cy="2087562"/>
          </a:xfrm>
          <a:prstGeom prst="rect">
            <a:avLst/>
          </a:prstGeom>
          <a:solidFill>
            <a:srgbClr val="CCFF33"/>
          </a:solidFill>
          <a:ln w="9525">
            <a:miter lim="800000"/>
            <a:headEnd/>
            <a:tailEnd/>
          </a:ln>
          <a:scene3d>
            <a:camera prst="legacyObliqueTopRight"/>
            <a:lightRig rig="legacyFlat3" dir="b"/>
          </a:scene3d>
          <a:sp3d extrusionH="430200" prstMaterial="legacyMatte">
            <a:bevelT w="13500" h="13500" prst="angle"/>
            <a:bevelB w="13500" h="13500" prst="angle"/>
            <a:extrusionClr>
              <a:srgbClr val="CCFF33"/>
            </a:extrusionClr>
          </a:sp3d>
        </p:spPr>
        <p:txBody>
          <a:bodyPr wrap="none" anchor="ctr">
            <a:flatTx/>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a:p>
        </p:txBody>
      </p:sp>
      <p:sp>
        <p:nvSpPr>
          <p:cNvPr id="18" name="Rectangle 13"/>
          <p:cNvSpPr>
            <a:spLocks noChangeArrowheads="1"/>
          </p:cNvSpPr>
          <p:nvPr/>
        </p:nvSpPr>
        <p:spPr bwMode="auto">
          <a:xfrm>
            <a:off x="3814808" y="4953068"/>
            <a:ext cx="1008062" cy="433387"/>
          </a:xfrm>
          <a:prstGeom prst="rect">
            <a:avLst/>
          </a:prstGeom>
          <a:solidFill>
            <a:srgbClr val="96969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ctr" eaLnBrk="1" hangingPunct="1"/>
            <a:r>
              <a:rPr lang="zh-CN" altLang="en-US" dirty="0"/>
              <a:t>临界区</a:t>
            </a:r>
          </a:p>
        </p:txBody>
      </p:sp>
      <p:pic>
        <p:nvPicPr>
          <p:cNvPr id="20" name="Picture 15" descr="MCj0441318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03733" y="4376805"/>
            <a:ext cx="5048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18" descr="MCj0432568000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103733" y="5529330"/>
            <a:ext cx="576262"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直接箭头连接符 5"/>
          <p:cNvCxnSpPr>
            <a:endCxn id="13" idx="0"/>
          </p:cNvCxnSpPr>
          <p:nvPr/>
        </p:nvCxnSpPr>
        <p:spPr>
          <a:xfrm>
            <a:off x="2124120" y="3586960"/>
            <a:ext cx="2231232" cy="575533"/>
          </a:xfrm>
          <a:prstGeom prst="straightConnector1">
            <a:avLst/>
          </a:prstGeom>
          <a:ln w="38100">
            <a:solidFill>
              <a:srgbClr val="002060"/>
            </a:solidFill>
            <a:tailEnd type="arrow"/>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stCxn id="10" idx="2"/>
            <a:endCxn id="13" idx="0"/>
          </p:cNvCxnSpPr>
          <p:nvPr/>
        </p:nvCxnSpPr>
        <p:spPr>
          <a:xfrm>
            <a:off x="4354558" y="3586960"/>
            <a:ext cx="794" cy="575533"/>
          </a:xfrm>
          <a:prstGeom prst="straightConnector1">
            <a:avLst/>
          </a:prstGeom>
          <a:ln w="38100">
            <a:solidFill>
              <a:srgbClr val="002060"/>
            </a:solidFill>
            <a:tailEnd type="arrow"/>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a:stCxn id="11" idx="2"/>
            <a:endCxn id="13" idx="0"/>
          </p:cNvCxnSpPr>
          <p:nvPr/>
        </p:nvCxnSpPr>
        <p:spPr>
          <a:xfrm flipH="1">
            <a:off x="4355352" y="3586960"/>
            <a:ext cx="2158206" cy="575533"/>
          </a:xfrm>
          <a:prstGeom prst="straightConnector1">
            <a:avLst/>
          </a:prstGeom>
          <a:ln w="38100">
            <a:solidFill>
              <a:srgbClr val="00206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9884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strips(downLeft)">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20"/>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23"/>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wipe(up)">
                                      <p:cBhvr>
                                        <p:cTn id="30" dur="500"/>
                                        <p:tgtEl>
                                          <p:spTgt spid="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wipe(up)">
                                      <p:cBhvr>
                                        <p:cTn id="35" dur="5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nodeType="click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wipe(up)">
                                      <p:cBhvr>
                                        <p:cTn id="40"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7" grpId="0" animBg="1"/>
      <p:bldP spid="9" grpId="0" animBg="1"/>
      <p:bldP spid="10" grpId="0" animBg="1"/>
      <p:bldP spid="11" grpId="0" animBg="1"/>
      <p:bldP spid="13" grpId="0" animBg="1"/>
      <p:bldP spid="1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a:t>
            </a:r>
            <a:r>
              <a:rPr lang="zh-CN" altLang="en-US" dirty="0"/>
              <a:t>进程同步的概念</a:t>
            </a:r>
          </a:p>
        </p:txBody>
      </p:sp>
      <p:sp>
        <p:nvSpPr>
          <p:cNvPr id="3" name="矩形 2"/>
          <p:cNvSpPr/>
          <p:nvPr/>
        </p:nvSpPr>
        <p:spPr>
          <a:xfrm>
            <a:off x="1150228" y="1656846"/>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 name="矩形 3"/>
          <p:cNvSpPr/>
          <p:nvPr/>
        </p:nvSpPr>
        <p:spPr>
          <a:xfrm>
            <a:off x="2058278" y="1656846"/>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8" name="文本框 55"/>
          <p:cNvSpPr txBox="1">
            <a:spLocks noChangeArrowheads="1"/>
          </p:cNvSpPr>
          <p:nvPr/>
        </p:nvSpPr>
        <p:spPr bwMode="auto">
          <a:xfrm>
            <a:off x="1004178" y="1123446"/>
            <a:ext cx="29400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3</a:t>
            </a:r>
            <a:r>
              <a:rPr lang="zh-CN" altLang="en-US" sz="2400" b="1" dirty="0">
                <a:solidFill>
                  <a:srgbClr val="4C7E51"/>
                </a:solidFill>
                <a:latin typeface="微软雅黑" panose="020B0503020204020204" pitchFamily="34" charset="-122"/>
                <a:ea typeface="微软雅黑" panose="020B0503020204020204" pitchFamily="34" charset="-122"/>
              </a:rPr>
              <a:t>）临界区</a:t>
            </a:r>
          </a:p>
        </p:txBody>
      </p:sp>
      <p:sp>
        <p:nvSpPr>
          <p:cNvPr id="25" name="Text Box 4"/>
          <p:cNvSpPr txBox="1">
            <a:spLocks noChangeArrowheads="1"/>
          </p:cNvSpPr>
          <p:nvPr/>
        </p:nvSpPr>
        <p:spPr bwMode="auto">
          <a:xfrm>
            <a:off x="1285875" y="2078189"/>
            <a:ext cx="21605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50000"/>
              </a:spcBef>
            </a:pPr>
            <a:r>
              <a:rPr lang="en-US" altLang="zh-CN" sz="2800"/>
              <a:t>repeat</a:t>
            </a:r>
          </a:p>
        </p:txBody>
      </p:sp>
      <p:sp>
        <p:nvSpPr>
          <p:cNvPr id="26" name="Rectangle 5"/>
          <p:cNvSpPr>
            <a:spLocks noChangeArrowheads="1"/>
          </p:cNvSpPr>
          <p:nvPr/>
        </p:nvSpPr>
        <p:spPr bwMode="auto">
          <a:xfrm>
            <a:off x="2005013" y="2798914"/>
            <a:ext cx="3097212" cy="52863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ctr" eaLnBrk="1" hangingPunct="1">
              <a:spcBef>
                <a:spcPct val="50000"/>
              </a:spcBef>
            </a:pPr>
            <a:r>
              <a:rPr lang="en-US" altLang="zh-CN" sz="2800"/>
              <a:t>entry section</a:t>
            </a:r>
          </a:p>
        </p:txBody>
      </p:sp>
      <p:sp>
        <p:nvSpPr>
          <p:cNvPr id="27" name="Rectangle 6"/>
          <p:cNvSpPr>
            <a:spLocks noChangeArrowheads="1"/>
          </p:cNvSpPr>
          <p:nvPr/>
        </p:nvSpPr>
        <p:spPr bwMode="auto">
          <a:xfrm>
            <a:off x="2078038" y="4095901"/>
            <a:ext cx="2863850" cy="52863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ctr" eaLnBrk="1" hangingPunct="1"/>
            <a:r>
              <a:rPr lang="en-US" altLang="zh-CN" sz="2800"/>
              <a:t>exit section</a:t>
            </a:r>
          </a:p>
        </p:txBody>
      </p:sp>
      <p:sp>
        <p:nvSpPr>
          <p:cNvPr id="28" name="Rectangle 7"/>
          <p:cNvSpPr>
            <a:spLocks noChangeArrowheads="1"/>
          </p:cNvSpPr>
          <p:nvPr/>
        </p:nvSpPr>
        <p:spPr bwMode="auto">
          <a:xfrm>
            <a:off x="2005013" y="3468839"/>
            <a:ext cx="23828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50000"/>
              </a:spcBef>
            </a:pPr>
            <a:r>
              <a:rPr lang="en-US" altLang="zh-CN" sz="2800"/>
              <a:t>critical section</a:t>
            </a:r>
          </a:p>
        </p:txBody>
      </p:sp>
      <p:sp>
        <p:nvSpPr>
          <p:cNvPr id="29" name="Rectangle 8"/>
          <p:cNvSpPr>
            <a:spLocks noChangeArrowheads="1"/>
          </p:cNvSpPr>
          <p:nvPr/>
        </p:nvSpPr>
        <p:spPr bwMode="auto">
          <a:xfrm>
            <a:off x="2078038" y="4692801"/>
            <a:ext cx="30368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sz="2800"/>
              <a:t>remainder section;</a:t>
            </a:r>
          </a:p>
        </p:txBody>
      </p:sp>
      <p:sp>
        <p:nvSpPr>
          <p:cNvPr id="30" name="Rectangle 9"/>
          <p:cNvSpPr>
            <a:spLocks noChangeArrowheads="1"/>
          </p:cNvSpPr>
          <p:nvPr/>
        </p:nvSpPr>
        <p:spPr bwMode="auto">
          <a:xfrm>
            <a:off x="1357313" y="5269064"/>
            <a:ext cx="17954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50000"/>
              </a:spcBef>
            </a:pPr>
            <a:r>
              <a:rPr lang="en-US" altLang="zh-CN" sz="2800"/>
              <a:t>until false;</a:t>
            </a:r>
          </a:p>
        </p:txBody>
      </p:sp>
      <p:sp>
        <p:nvSpPr>
          <p:cNvPr id="31" name="AutoShape 10"/>
          <p:cNvSpPr>
            <a:spLocks noChangeArrowheads="1"/>
          </p:cNvSpPr>
          <p:nvPr/>
        </p:nvSpPr>
        <p:spPr bwMode="auto">
          <a:xfrm>
            <a:off x="5102225" y="1862289"/>
            <a:ext cx="3744913" cy="1081087"/>
          </a:xfrm>
          <a:prstGeom prst="wedgeEllipseCallout">
            <a:avLst>
              <a:gd name="adj1" fmla="val -49236"/>
              <a:gd name="adj2" fmla="val 41481"/>
            </a:avLst>
          </a:prstGeom>
          <a:ln>
            <a:headEnd/>
            <a:tailEnd/>
          </a:ln>
        </p:spPr>
        <p:style>
          <a:lnRef idx="1">
            <a:schemeClr val="accent6"/>
          </a:lnRef>
          <a:fillRef idx="2">
            <a:schemeClr val="accent6"/>
          </a:fillRef>
          <a:effectRef idx="1">
            <a:schemeClr val="accent6"/>
          </a:effectRef>
          <a:fontRef idx="minor">
            <a:schemeClr val="dk1"/>
          </a:fontRef>
        </p:style>
        <p:txBody>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ctr" eaLnBrk="1" hangingPunct="1"/>
            <a:r>
              <a:rPr lang="zh-CN" altLang="en-US"/>
              <a:t>用于对临界资源进行检查</a:t>
            </a:r>
          </a:p>
        </p:txBody>
      </p:sp>
      <p:sp>
        <p:nvSpPr>
          <p:cNvPr id="32" name="AutoShape 11"/>
          <p:cNvSpPr>
            <a:spLocks noChangeArrowheads="1"/>
          </p:cNvSpPr>
          <p:nvPr/>
        </p:nvSpPr>
        <p:spPr bwMode="auto">
          <a:xfrm>
            <a:off x="5246688" y="4238776"/>
            <a:ext cx="3455987" cy="1584325"/>
          </a:xfrm>
          <a:prstGeom prst="wedgeEllipseCallout">
            <a:avLst>
              <a:gd name="adj1" fmla="val -59324"/>
              <a:gd name="adj2" fmla="val -52403"/>
            </a:avLst>
          </a:prstGeom>
          <a:ln>
            <a:headEnd/>
            <a:tailEnd/>
          </a:ln>
        </p:spPr>
        <p:style>
          <a:lnRef idx="1">
            <a:schemeClr val="accent6"/>
          </a:lnRef>
          <a:fillRef idx="2">
            <a:schemeClr val="accent6"/>
          </a:fillRef>
          <a:effectRef idx="1">
            <a:schemeClr val="accent6"/>
          </a:effectRef>
          <a:fontRef idx="minor">
            <a:schemeClr val="dk1"/>
          </a:fontRef>
        </p:style>
        <p:txBody>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ctr" eaLnBrk="1" hangingPunct="1"/>
            <a:r>
              <a:rPr lang="zh-CN" altLang="en-US"/>
              <a:t>将临界区正被访问的标志恢复为未被访问的标志</a:t>
            </a:r>
          </a:p>
        </p:txBody>
      </p:sp>
    </p:spTree>
    <p:extLst>
      <p:ext uri="{BB962C8B-B14F-4D97-AF65-F5344CB8AC3E}">
        <p14:creationId xmlns:p14="http://schemas.microsoft.com/office/powerpoint/2010/main" val="4177038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wipe(left)">
                                      <p:cBhvr>
                                        <p:cTn id="15" dur="500"/>
                                        <p:tgtEl>
                                          <p:spTgt spid="31"/>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2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2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wipe(up)">
                                      <p:cBhvr>
                                        <p:cTn id="28" dur="500"/>
                                        <p:tgtEl>
                                          <p:spTgt spid="32"/>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animBg="1"/>
      <p:bldP spid="27" grpId="0" animBg="1"/>
      <p:bldP spid="28" grpId="0"/>
      <p:bldP spid="29" grpId="0"/>
      <p:bldP spid="30" grpId="0"/>
      <p:bldP spid="31" grpId="0" animBg="1"/>
      <p:bldP spid="3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a:t>
            </a:r>
            <a:r>
              <a:rPr lang="zh-CN" altLang="en-US" dirty="0"/>
              <a:t>进程同步的概念</a:t>
            </a:r>
          </a:p>
        </p:txBody>
      </p:sp>
      <p:sp>
        <p:nvSpPr>
          <p:cNvPr id="3" name="矩形 2"/>
          <p:cNvSpPr/>
          <p:nvPr/>
        </p:nvSpPr>
        <p:spPr>
          <a:xfrm>
            <a:off x="1150228" y="1656846"/>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 name="矩形 3"/>
          <p:cNvSpPr/>
          <p:nvPr/>
        </p:nvSpPr>
        <p:spPr>
          <a:xfrm>
            <a:off x="2058278" y="1656846"/>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8" name="文本框 55"/>
          <p:cNvSpPr txBox="1">
            <a:spLocks noChangeArrowheads="1"/>
          </p:cNvSpPr>
          <p:nvPr/>
        </p:nvSpPr>
        <p:spPr bwMode="auto">
          <a:xfrm>
            <a:off x="1004178" y="1123446"/>
            <a:ext cx="44069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4</a:t>
            </a:r>
            <a:r>
              <a:rPr lang="zh-CN" altLang="en-US" sz="2400" b="1" dirty="0">
                <a:solidFill>
                  <a:srgbClr val="4C7E51"/>
                </a:solidFill>
                <a:latin typeface="微软雅黑" panose="020B0503020204020204" pitchFamily="34" charset="-122"/>
                <a:ea typeface="微软雅黑" panose="020B0503020204020204" pitchFamily="34" charset="-122"/>
              </a:rPr>
              <a:t>）同步机制应遵循的规则</a:t>
            </a:r>
          </a:p>
        </p:txBody>
      </p:sp>
      <p:sp>
        <p:nvSpPr>
          <p:cNvPr id="14" name="圆角矩形 13"/>
          <p:cNvSpPr/>
          <p:nvPr/>
        </p:nvSpPr>
        <p:spPr>
          <a:xfrm>
            <a:off x="1137084" y="2184220"/>
            <a:ext cx="882372" cy="781051"/>
          </a:xfrm>
          <a:prstGeom prst="round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15" name="矩形 14"/>
          <p:cNvSpPr/>
          <p:nvPr/>
        </p:nvSpPr>
        <p:spPr>
          <a:xfrm>
            <a:off x="1844970" y="2184219"/>
            <a:ext cx="892232" cy="781051"/>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16" name="等腰三角形 15"/>
          <p:cNvSpPr/>
          <p:nvPr/>
        </p:nvSpPr>
        <p:spPr>
          <a:xfrm rot="5400000">
            <a:off x="2486676" y="2451414"/>
            <a:ext cx="769145" cy="258567"/>
          </a:xfrm>
          <a:prstGeom prst="triangle">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17" name="圆角矩形 16"/>
          <p:cNvSpPr/>
          <p:nvPr/>
        </p:nvSpPr>
        <p:spPr>
          <a:xfrm>
            <a:off x="1137084" y="3055145"/>
            <a:ext cx="882372" cy="781051"/>
          </a:xfrm>
          <a:prstGeom prst="round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18" name="矩形 17"/>
          <p:cNvSpPr/>
          <p:nvPr/>
        </p:nvSpPr>
        <p:spPr>
          <a:xfrm>
            <a:off x="1844970" y="3055144"/>
            <a:ext cx="892232" cy="781051"/>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19" name="等腰三角形 18"/>
          <p:cNvSpPr/>
          <p:nvPr/>
        </p:nvSpPr>
        <p:spPr>
          <a:xfrm rot="5400000">
            <a:off x="2486676" y="3322339"/>
            <a:ext cx="769145" cy="258567"/>
          </a:xfrm>
          <a:prstGeom prst="triangle">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20" name="圆角矩形 19"/>
          <p:cNvSpPr/>
          <p:nvPr/>
        </p:nvSpPr>
        <p:spPr>
          <a:xfrm>
            <a:off x="1137084" y="3924328"/>
            <a:ext cx="882372" cy="781051"/>
          </a:xfrm>
          <a:prstGeom prst="round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21" name="矩形 20"/>
          <p:cNvSpPr/>
          <p:nvPr/>
        </p:nvSpPr>
        <p:spPr>
          <a:xfrm>
            <a:off x="1844970" y="3924327"/>
            <a:ext cx="892232" cy="781051"/>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22" name="等腰三角形 21"/>
          <p:cNvSpPr/>
          <p:nvPr/>
        </p:nvSpPr>
        <p:spPr>
          <a:xfrm rot="5400000">
            <a:off x="2486676" y="4191522"/>
            <a:ext cx="769145" cy="258567"/>
          </a:xfrm>
          <a:prstGeom prst="triangle">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23" name="圆角矩形 22"/>
          <p:cNvSpPr/>
          <p:nvPr/>
        </p:nvSpPr>
        <p:spPr>
          <a:xfrm>
            <a:off x="1137084" y="4808901"/>
            <a:ext cx="882372" cy="781051"/>
          </a:xfrm>
          <a:prstGeom prst="round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24" name="矩形 23"/>
          <p:cNvSpPr/>
          <p:nvPr/>
        </p:nvSpPr>
        <p:spPr>
          <a:xfrm>
            <a:off x="1844970" y="4808900"/>
            <a:ext cx="892232" cy="781051"/>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33" name="等腰三角形 32"/>
          <p:cNvSpPr/>
          <p:nvPr/>
        </p:nvSpPr>
        <p:spPr>
          <a:xfrm rot="5400000">
            <a:off x="2486676" y="5076095"/>
            <a:ext cx="769145" cy="258567"/>
          </a:xfrm>
          <a:prstGeom prst="triangle">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1AAA55"/>
              </a:solidFill>
            </a:endParaRPr>
          </a:p>
        </p:txBody>
      </p:sp>
      <p:sp>
        <p:nvSpPr>
          <p:cNvPr id="34" name="文本框 5"/>
          <p:cNvSpPr txBox="1">
            <a:spLocks noChangeArrowheads="1"/>
          </p:cNvSpPr>
          <p:nvPr/>
        </p:nvSpPr>
        <p:spPr bwMode="auto">
          <a:xfrm>
            <a:off x="1194687" y="2282645"/>
            <a:ext cx="5921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dirty="0">
                <a:solidFill>
                  <a:schemeClr val="bg1"/>
                </a:solidFill>
                <a:latin typeface="Impact" panose="020B0806030902050204" pitchFamily="34" charset="0"/>
              </a:rPr>
              <a:t>01</a:t>
            </a:r>
            <a:endParaRPr lang="zh-CN" altLang="en-US" sz="3200" dirty="0">
              <a:solidFill>
                <a:schemeClr val="bg1"/>
              </a:solidFill>
              <a:latin typeface="Impact" panose="020B0806030902050204" pitchFamily="34" charset="0"/>
            </a:endParaRPr>
          </a:p>
        </p:txBody>
      </p:sp>
      <p:sp>
        <p:nvSpPr>
          <p:cNvPr id="35" name="文本框 71"/>
          <p:cNvSpPr txBox="1">
            <a:spLocks noChangeArrowheads="1"/>
          </p:cNvSpPr>
          <p:nvPr/>
        </p:nvSpPr>
        <p:spPr bwMode="auto">
          <a:xfrm>
            <a:off x="1194687" y="3153633"/>
            <a:ext cx="646113" cy="584200"/>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a:solidFill>
                  <a:schemeClr val="bg1"/>
                </a:solidFill>
                <a:latin typeface="Impact" panose="020B0806030902050204" pitchFamily="34" charset="0"/>
              </a:rPr>
              <a:t>02</a:t>
            </a:r>
            <a:endParaRPr lang="zh-CN" altLang="en-US" sz="3200">
              <a:solidFill>
                <a:schemeClr val="bg1"/>
              </a:solidFill>
              <a:latin typeface="Impact" panose="020B0806030902050204" pitchFamily="34" charset="0"/>
            </a:endParaRPr>
          </a:p>
        </p:txBody>
      </p:sp>
      <p:sp>
        <p:nvSpPr>
          <p:cNvPr id="36" name="文本框 87"/>
          <p:cNvSpPr txBox="1">
            <a:spLocks noChangeArrowheads="1"/>
          </p:cNvSpPr>
          <p:nvPr/>
        </p:nvSpPr>
        <p:spPr bwMode="auto">
          <a:xfrm>
            <a:off x="1194687" y="4022086"/>
            <a:ext cx="646113"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dirty="0">
                <a:solidFill>
                  <a:schemeClr val="bg1"/>
                </a:solidFill>
                <a:latin typeface="Impact" panose="020B0806030902050204" pitchFamily="34" charset="0"/>
              </a:rPr>
              <a:t>03</a:t>
            </a:r>
            <a:endParaRPr lang="zh-CN" altLang="en-US" sz="3200" dirty="0">
              <a:solidFill>
                <a:schemeClr val="bg1"/>
              </a:solidFill>
              <a:latin typeface="Impact" panose="020B0806030902050204" pitchFamily="34" charset="0"/>
            </a:endParaRPr>
          </a:p>
        </p:txBody>
      </p:sp>
      <p:sp>
        <p:nvSpPr>
          <p:cNvPr id="37" name="文本框 88"/>
          <p:cNvSpPr txBox="1">
            <a:spLocks noChangeArrowheads="1"/>
          </p:cNvSpPr>
          <p:nvPr/>
        </p:nvSpPr>
        <p:spPr bwMode="auto">
          <a:xfrm>
            <a:off x="1194687" y="4906722"/>
            <a:ext cx="646113"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3200">
                <a:solidFill>
                  <a:schemeClr val="bg1"/>
                </a:solidFill>
                <a:latin typeface="Impact" panose="020B0806030902050204" pitchFamily="34" charset="0"/>
              </a:rPr>
              <a:t>04</a:t>
            </a:r>
            <a:endParaRPr lang="zh-CN" altLang="en-US" sz="3200">
              <a:solidFill>
                <a:schemeClr val="bg1"/>
              </a:solidFill>
              <a:latin typeface="Impact" panose="020B0806030902050204" pitchFamily="34" charset="0"/>
            </a:endParaRPr>
          </a:p>
        </p:txBody>
      </p:sp>
      <p:sp>
        <p:nvSpPr>
          <p:cNvPr id="38" name="AutoShape 115"/>
          <p:cNvSpPr>
            <a:spLocks/>
          </p:cNvSpPr>
          <p:nvPr/>
        </p:nvSpPr>
        <p:spPr bwMode="auto">
          <a:xfrm>
            <a:off x="2093212" y="2354083"/>
            <a:ext cx="401638" cy="4413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1357" y="18801"/>
                </a:moveTo>
                <a:cubicBezTo>
                  <a:pt x="21518" y="18965"/>
                  <a:pt x="21599" y="19177"/>
                  <a:pt x="21599" y="19436"/>
                </a:cubicBezTo>
                <a:cubicBezTo>
                  <a:pt x="21599" y="19580"/>
                  <a:pt x="21518" y="19775"/>
                  <a:pt x="21357" y="20018"/>
                </a:cubicBezTo>
                <a:cubicBezTo>
                  <a:pt x="21193" y="20261"/>
                  <a:pt x="20989" y="20504"/>
                  <a:pt x="20746" y="20741"/>
                </a:cubicBezTo>
                <a:cubicBezTo>
                  <a:pt x="20503" y="20978"/>
                  <a:pt x="20260" y="21184"/>
                  <a:pt x="20023" y="21348"/>
                </a:cubicBezTo>
                <a:cubicBezTo>
                  <a:pt x="19783" y="21518"/>
                  <a:pt x="19593" y="21599"/>
                  <a:pt x="19447" y="21599"/>
                </a:cubicBezTo>
                <a:cubicBezTo>
                  <a:pt x="19189" y="21599"/>
                  <a:pt x="18975" y="21515"/>
                  <a:pt x="18811" y="21343"/>
                </a:cubicBezTo>
                <a:lnTo>
                  <a:pt x="13957" y="16502"/>
                </a:lnTo>
                <a:cubicBezTo>
                  <a:pt x="13217" y="16980"/>
                  <a:pt x="12428" y="17350"/>
                  <a:pt x="11589" y="17604"/>
                </a:cubicBezTo>
                <a:cubicBezTo>
                  <a:pt x="10750" y="17864"/>
                  <a:pt x="9891" y="17991"/>
                  <a:pt x="9007" y="17991"/>
                </a:cubicBezTo>
                <a:cubicBezTo>
                  <a:pt x="7769" y="17991"/>
                  <a:pt x="6608" y="17759"/>
                  <a:pt x="5517" y="17290"/>
                </a:cubicBezTo>
                <a:cubicBezTo>
                  <a:pt x="4427" y="16822"/>
                  <a:pt x="3469" y="16175"/>
                  <a:pt x="2644" y="15353"/>
                </a:cubicBezTo>
                <a:cubicBezTo>
                  <a:pt x="1816" y="14534"/>
                  <a:pt x="1172" y="13580"/>
                  <a:pt x="700" y="12487"/>
                </a:cubicBezTo>
                <a:cubicBezTo>
                  <a:pt x="231" y="11400"/>
                  <a:pt x="0" y="10236"/>
                  <a:pt x="0" y="8999"/>
                </a:cubicBezTo>
                <a:cubicBezTo>
                  <a:pt x="0" y="7768"/>
                  <a:pt x="231" y="6602"/>
                  <a:pt x="700" y="5515"/>
                </a:cubicBezTo>
                <a:cubicBezTo>
                  <a:pt x="1169" y="4422"/>
                  <a:pt x="1816" y="3467"/>
                  <a:pt x="2644" y="2645"/>
                </a:cubicBezTo>
                <a:cubicBezTo>
                  <a:pt x="3469" y="1827"/>
                  <a:pt x="4424" y="1180"/>
                  <a:pt x="5512" y="708"/>
                </a:cubicBezTo>
                <a:cubicBezTo>
                  <a:pt x="6600" y="237"/>
                  <a:pt x="7764" y="0"/>
                  <a:pt x="9007" y="0"/>
                </a:cubicBezTo>
                <a:cubicBezTo>
                  <a:pt x="10244" y="0"/>
                  <a:pt x="11403" y="237"/>
                  <a:pt x="12488" y="708"/>
                </a:cubicBezTo>
                <a:cubicBezTo>
                  <a:pt x="13573" y="1180"/>
                  <a:pt x="14530" y="1827"/>
                  <a:pt x="15358" y="2645"/>
                </a:cubicBezTo>
                <a:cubicBezTo>
                  <a:pt x="16183" y="3467"/>
                  <a:pt x="16830" y="4422"/>
                  <a:pt x="17299" y="5515"/>
                </a:cubicBezTo>
                <a:cubicBezTo>
                  <a:pt x="17768" y="6602"/>
                  <a:pt x="18003" y="7768"/>
                  <a:pt x="18003" y="8999"/>
                </a:cubicBezTo>
                <a:cubicBezTo>
                  <a:pt x="18003" y="9886"/>
                  <a:pt x="17873" y="10747"/>
                  <a:pt x="17616" y="11589"/>
                </a:cubicBezTo>
                <a:cubicBezTo>
                  <a:pt x="17359" y="12433"/>
                  <a:pt x="16991" y="13218"/>
                  <a:pt x="16514" y="13947"/>
                </a:cubicBezTo>
                <a:lnTo>
                  <a:pt x="21357" y="18801"/>
                </a:lnTo>
                <a:close/>
                <a:moveTo>
                  <a:pt x="3596" y="8999"/>
                </a:moveTo>
                <a:cubicBezTo>
                  <a:pt x="3596" y="9759"/>
                  <a:pt x="3740" y="10465"/>
                  <a:pt x="4028" y="11117"/>
                </a:cubicBezTo>
                <a:cubicBezTo>
                  <a:pt x="4317" y="11770"/>
                  <a:pt x="4707" y="12337"/>
                  <a:pt x="5193" y="12820"/>
                </a:cubicBezTo>
                <a:cubicBezTo>
                  <a:pt x="5679" y="13300"/>
                  <a:pt x="6252" y="13684"/>
                  <a:pt x="6908" y="13969"/>
                </a:cubicBezTo>
                <a:cubicBezTo>
                  <a:pt x="7566" y="14252"/>
                  <a:pt x="8264" y="14393"/>
                  <a:pt x="9004" y="14393"/>
                </a:cubicBezTo>
                <a:cubicBezTo>
                  <a:pt x="9744" y="14393"/>
                  <a:pt x="10439" y="14252"/>
                  <a:pt x="11092" y="13969"/>
                </a:cubicBezTo>
                <a:cubicBezTo>
                  <a:pt x="11745" y="13684"/>
                  <a:pt x="12318" y="13300"/>
                  <a:pt x="12801" y="12820"/>
                </a:cubicBezTo>
                <a:cubicBezTo>
                  <a:pt x="13290" y="12337"/>
                  <a:pt x="13677" y="11770"/>
                  <a:pt x="13965" y="11117"/>
                </a:cubicBezTo>
                <a:cubicBezTo>
                  <a:pt x="14254" y="10465"/>
                  <a:pt x="14398" y="9759"/>
                  <a:pt x="14398" y="8999"/>
                </a:cubicBezTo>
                <a:cubicBezTo>
                  <a:pt x="14398" y="8259"/>
                  <a:pt x="14254" y="7565"/>
                  <a:pt x="13965" y="6912"/>
                </a:cubicBezTo>
                <a:cubicBezTo>
                  <a:pt x="13674" y="6257"/>
                  <a:pt x="13290" y="5684"/>
                  <a:pt x="12801" y="5192"/>
                </a:cubicBezTo>
                <a:cubicBezTo>
                  <a:pt x="12315" y="4704"/>
                  <a:pt x="11745" y="4317"/>
                  <a:pt x="11092" y="4032"/>
                </a:cubicBezTo>
                <a:cubicBezTo>
                  <a:pt x="10439" y="3749"/>
                  <a:pt x="9741" y="3605"/>
                  <a:pt x="9004" y="3605"/>
                </a:cubicBezTo>
                <a:cubicBezTo>
                  <a:pt x="8267" y="3605"/>
                  <a:pt x="7566" y="3749"/>
                  <a:pt x="6908" y="4032"/>
                </a:cubicBezTo>
                <a:cubicBezTo>
                  <a:pt x="6252" y="4317"/>
                  <a:pt x="5676" y="4704"/>
                  <a:pt x="5193" y="5192"/>
                </a:cubicBezTo>
                <a:cubicBezTo>
                  <a:pt x="4707" y="5684"/>
                  <a:pt x="4317" y="6257"/>
                  <a:pt x="4028" y="6912"/>
                </a:cubicBezTo>
                <a:cubicBezTo>
                  <a:pt x="3740" y="7565"/>
                  <a:pt x="3596" y="8256"/>
                  <a:pt x="3596" y="8999"/>
                </a:cubicBezTo>
                <a:moveTo>
                  <a:pt x="9007" y="5591"/>
                </a:moveTo>
                <a:cubicBezTo>
                  <a:pt x="9185" y="5591"/>
                  <a:pt x="9343" y="5656"/>
                  <a:pt x="9473" y="5785"/>
                </a:cubicBezTo>
                <a:cubicBezTo>
                  <a:pt x="9603" y="5918"/>
                  <a:pt x="9668" y="6082"/>
                  <a:pt x="9668" y="6279"/>
                </a:cubicBezTo>
                <a:cubicBezTo>
                  <a:pt x="9668" y="6460"/>
                  <a:pt x="9603" y="6616"/>
                  <a:pt x="9473" y="6745"/>
                </a:cubicBezTo>
                <a:cubicBezTo>
                  <a:pt x="9343" y="6878"/>
                  <a:pt x="9185" y="6943"/>
                  <a:pt x="9007" y="6943"/>
                </a:cubicBezTo>
                <a:cubicBezTo>
                  <a:pt x="8439" y="6943"/>
                  <a:pt x="7953" y="7144"/>
                  <a:pt x="7552" y="7536"/>
                </a:cubicBezTo>
                <a:cubicBezTo>
                  <a:pt x="7151" y="7934"/>
                  <a:pt x="6950" y="8423"/>
                  <a:pt x="6950" y="8996"/>
                </a:cubicBezTo>
                <a:cubicBezTo>
                  <a:pt x="6950" y="9180"/>
                  <a:pt x="6885" y="9332"/>
                  <a:pt x="6755" y="9465"/>
                </a:cubicBezTo>
                <a:cubicBezTo>
                  <a:pt x="6622" y="9595"/>
                  <a:pt x="6467" y="9657"/>
                  <a:pt x="6289" y="9657"/>
                </a:cubicBezTo>
                <a:cubicBezTo>
                  <a:pt x="6080" y="9657"/>
                  <a:pt x="5913" y="9595"/>
                  <a:pt x="5786" y="9465"/>
                </a:cubicBezTo>
                <a:cubicBezTo>
                  <a:pt x="5659" y="9332"/>
                  <a:pt x="5599" y="9180"/>
                  <a:pt x="5599" y="8996"/>
                </a:cubicBezTo>
                <a:cubicBezTo>
                  <a:pt x="5599" y="8539"/>
                  <a:pt x="5684" y="8104"/>
                  <a:pt x="5862" y="7686"/>
                </a:cubicBezTo>
                <a:cubicBezTo>
                  <a:pt x="6037" y="7271"/>
                  <a:pt x="6280" y="6907"/>
                  <a:pt x="6597" y="6590"/>
                </a:cubicBezTo>
                <a:cubicBezTo>
                  <a:pt x="6905" y="6277"/>
                  <a:pt x="7264" y="6028"/>
                  <a:pt x="7676" y="5856"/>
                </a:cubicBezTo>
                <a:cubicBezTo>
                  <a:pt x="8086" y="5681"/>
                  <a:pt x="8529" y="5591"/>
                  <a:pt x="9007" y="5591"/>
                </a:cubicBezTo>
              </a:path>
            </a:pathLst>
          </a:custGeom>
          <a:solidFill>
            <a:schemeClr val="bg1"/>
          </a:solidFill>
          <a:ln>
            <a:noFill/>
          </a:ln>
          <a:effectLst/>
        </p:spPr>
        <p:txBody>
          <a:bodyPr lIns="101578" tIns="101578" rIns="101578" bIns="101578" anchor="ctr"/>
          <a:lstStyle/>
          <a:p>
            <a:pPr defTabSz="914195" eaLnBrk="1" fontAlgn="auto" hangingPunct="1">
              <a:spcBef>
                <a:spcPts val="0"/>
              </a:spcBef>
              <a:spcAft>
                <a:spcPts val="0"/>
              </a:spcAft>
              <a:defRPr/>
            </a:pPr>
            <a:endParaRPr lang="es-ES" sz="5800" dirty="0">
              <a:solidFill>
                <a:srgbClr val="44CEB9"/>
              </a:solidFill>
              <a:effectLst>
                <a:outerShdw blurRad="38100" dist="38100" dir="2700000" algn="tl">
                  <a:srgbClr val="000000"/>
                </a:outerShdw>
              </a:effectLst>
              <a:latin typeface="Gill Sans" charset="0"/>
              <a:ea typeface="+mn-ea"/>
              <a:cs typeface="Gill Sans" charset="0"/>
              <a:sym typeface="Gill Sans" charset="0"/>
            </a:endParaRPr>
          </a:p>
        </p:txBody>
      </p:sp>
      <p:sp>
        <p:nvSpPr>
          <p:cNvPr id="39" name="AutoShape 29"/>
          <p:cNvSpPr>
            <a:spLocks/>
          </p:cNvSpPr>
          <p:nvPr/>
        </p:nvSpPr>
        <p:spPr bwMode="auto">
          <a:xfrm>
            <a:off x="2093212" y="3229833"/>
            <a:ext cx="430213" cy="43180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3598" y="2167"/>
                </a:moveTo>
                <a:cubicBezTo>
                  <a:pt x="3598" y="2549"/>
                  <a:pt x="3517" y="2902"/>
                  <a:pt x="3358" y="3213"/>
                </a:cubicBezTo>
                <a:cubicBezTo>
                  <a:pt x="3197" y="3525"/>
                  <a:pt x="2981" y="3792"/>
                  <a:pt x="2707" y="4006"/>
                </a:cubicBezTo>
                <a:lnTo>
                  <a:pt x="2707" y="21050"/>
                </a:lnTo>
                <a:cubicBezTo>
                  <a:pt x="2707" y="21203"/>
                  <a:pt x="2663" y="21329"/>
                  <a:pt x="2580" y="21438"/>
                </a:cubicBezTo>
                <a:cubicBezTo>
                  <a:pt x="2492" y="21547"/>
                  <a:pt x="2386" y="21599"/>
                  <a:pt x="2262" y="21599"/>
                </a:cubicBezTo>
                <a:lnTo>
                  <a:pt x="1348" y="21599"/>
                </a:lnTo>
                <a:cubicBezTo>
                  <a:pt x="1221" y="21599"/>
                  <a:pt x="1118" y="21544"/>
                  <a:pt x="1038" y="21438"/>
                </a:cubicBezTo>
                <a:cubicBezTo>
                  <a:pt x="954" y="21329"/>
                  <a:pt x="913" y="21203"/>
                  <a:pt x="913" y="21050"/>
                </a:cubicBezTo>
                <a:lnTo>
                  <a:pt x="913" y="4006"/>
                </a:lnTo>
                <a:cubicBezTo>
                  <a:pt x="641" y="3792"/>
                  <a:pt x="421" y="3525"/>
                  <a:pt x="252" y="3213"/>
                </a:cubicBezTo>
                <a:cubicBezTo>
                  <a:pt x="83" y="2902"/>
                  <a:pt x="0" y="2549"/>
                  <a:pt x="0" y="2167"/>
                </a:cubicBezTo>
                <a:cubicBezTo>
                  <a:pt x="0" y="1574"/>
                  <a:pt x="176" y="1069"/>
                  <a:pt x="528" y="640"/>
                </a:cubicBezTo>
                <a:cubicBezTo>
                  <a:pt x="878" y="211"/>
                  <a:pt x="1304" y="0"/>
                  <a:pt x="1804" y="0"/>
                </a:cubicBezTo>
                <a:cubicBezTo>
                  <a:pt x="2296" y="0"/>
                  <a:pt x="2719" y="211"/>
                  <a:pt x="3069" y="640"/>
                </a:cubicBezTo>
                <a:cubicBezTo>
                  <a:pt x="3422" y="1069"/>
                  <a:pt x="3598" y="1571"/>
                  <a:pt x="3598" y="2167"/>
                </a:cubicBezTo>
                <a:moveTo>
                  <a:pt x="20838" y="2476"/>
                </a:moveTo>
                <a:cubicBezTo>
                  <a:pt x="21063" y="2323"/>
                  <a:pt x="21247" y="2297"/>
                  <a:pt x="21389" y="2391"/>
                </a:cubicBezTo>
                <a:cubicBezTo>
                  <a:pt x="21529" y="2485"/>
                  <a:pt x="21599" y="2684"/>
                  <a:pt x="21599" y="2996"/>
                </a:cubicBezTo>
                <a:lnTo>
                  <a:pt x="21599" y="13515"/>
                </a:lnTo>
                <a:cubicBezTo>
                  <a:pt x="21599" y="13803"/>
                  <a:pt x="21526" y="14106"/>
                  <a:pt x="21382" y="14420"/>
                </a:cubicBezTo>
                <a:cubicBezTo>
                  <a:pt x="21237" y="14737"/>
                  <a:pt x="21056" y="14966"/>
                  <a:pt x="20838" y="15119"/>
                </a:cubicBezTo>
                <a:cubicBezTo>
                  <a:pt x="19954" y="15757"/>
                  <a:pt x="19146" y="16165"/>
                  <a:pt x="18412" y="16350"/>
                </a:cubicBezTo>
                <a:cubicBezTo>
                  <a:pt x="17678" y="16529"/>
                  <a:pt x="17036" y="16606"/>
                  <a:pt x="16490" y="16567"/>
                </a:cubicBezTo>
                <a:cubicBezTo>
                  <a:pt x="15849" y="16526"/>
                  <a:pt x="15281" y="16371"/>
                  <a:pt x="14791" y="16103"/>
                </a:cubicBezTo>
                <a:cubicBezTo>
                  <a:pt x="14392" y="15851"/>
                  <a:pt x="14003" y="15607"/>
                  <a:pt x="13623" y="15378"/>
                </a:cubicBezTo>
                <a:cubicBezTo>
                  <a:pt x="13244" y="15146"/>
                  <a:pt x="12857" y="14946"/>
                  <a:pt x="12458" y="14773"/>
                </a:cubicBezTo>
                <a:cubicBezTo>
                  <a:pt x="12059" y="14599"/>
                  <a:pt x="11640" y="14461"/>
                  <a:pt x="11197" y="14358"/>
                </a:cubicBezTo>
                <a:cubicBezTo>
                  <a:pt x="10757" y="14256"/>
                  <a:pt x="10269" y="14203"/>
                  <a:pt x="9738" y="14203"/>
                </a:cubicBezTo>
                <a:cubicBezTo>
                  <a:pt x="9310" y="14220"/>
                  <a:pt x="8825" y="14306"/>
                  <a:pt x="8286" y="14455"/>
                </a:cubicBezTo>
                <a:cubicBezTo>
                  <a:pt x="7824" y="14588"/>
                  <a:pt x="7266" y="14799"/>
                  <a:pt x="6605" y="15090"/>
                </a:cubicBezTo>
                <a:cubicBezTo>
                  <a:pt x="5944" y="15381"/>
                  <a:pt x="5207" y="15792"/>
                  <a:pt x="4394" y="16327"/>
                </a:cubicBezTo>
                <a:cubicBezTo>
                  <a:pt x="4169" y="16476"/>
                  <a:pt x="3978" y="16494"/>
                  <a:pt x="3826" y="16382"/>
                </a:cubicBezTo>
                <a:cubicBezTo>
                  <a:pt x="3674" y="16268"/>
                  <a:pt x="3598" y="16059"/>
                  <a:pt x="3598" y="15751"/>
                </a:cubicBezTo>
                <a:lnTo>
                  <a:pt x="3598" y="5273"/>
                </a:lnTo>
                <a:cubicBezTo>
                  <a:pt x="3598" y="4964"/>
                  <a:pt x="3674" y="4653"/>
                  <a:pt x="3826" y="4347"/>
                </a:cubicBezTo>
                <a:cubicBezTo>
                  <a:pt x="3978" y="4036"/>
                  <a:pt x="4169" y="3807"/>
                  <a:pt x="4394" y="3654"/>
                </a:cubicBezTo>
                <a:cubicBezTo>
                  <a:pt x="5207" y="3143"/>
                  <a:pt x="5941" y="2737"/>
                  <a:pt x="6597" y="2447"/>
                </a:cubicBezTo>
                <a:cubicBezTo>
                  <a:pt x="7253" y="2156"/>
                  <a:pt x="7816" y="1944"/>
                  <a:pt x="8286" y="1812"/>
                </a:cubicBezTo>
                <a:cubicBezTo>
                  <a:pt x="8832" y="1665"/>
                  <a:pt x="9317" y="1580"/>
                  <a:pt x="9738" y="1559"/>
                </a:cubicBezTo>
                <a:cubicBezTo>
                  <a:pt x="10269" y="1559"/>
                  <a:pt x="10757" y="1612"/>
                  <a:pt x="11197" y="1715"/>
                </a:cubicBezTo>
                <a:cubicBezTo>
                  <a:pt x="11640" y="1818"/>
                  <a:pt x="12059" y="1956"/>
                  <a:pt x="12458" y="2135"/>
                </a:cubicBezTo>
                <a:cubicBezTo>
                  <a:pt x="12857" y="2306"/>
                  <a:pt x="13242" y="2508"/>
                  <a:pt x="13619" y="2737"/>
                </a:cubicBezTo>
                <a:cubicBezTo>
                  <a:pt x="13993" y="2967"/>
                  <a:pt x="14385" y="3207"/>
                  <a:pt x="14791" y="3463"/>
                </a:cubicBezTo>
                <a:cubicBezTo>
                  <a:pt x="15281" y="3736"/>
                  <a:pt x="15849" y="3889"/>
                  <a:pt x="16490" y="3924"/>
                </a:cubicBezTo>
                <a:cubicBezTo>
                  <a:pt x="17036" y="3965"/>
                  <a:pt x="17678" y="3889"/>
                  <a:pt x="18412" y="3707"/>
                </a:cubicBezTo>
                <a:cubicBezTo>
                  <a:pt x="19146" y="3522"/>
                  <a:pt x="19957" y="3113"/>
                  <a:pt x="20838" y="2476"/>
                </a:cubicBezTo>
              </a:path>
            </a:pathLst>
          </a:custGeom>
          <a:solidFill>
            <a:schemeClr val="bg1"/>
          </a:solidFill>
          <a:ln>
            <a:noFill/>
          </a:ln>
          <a:effectLst/>
        </p:spPr>
        <p:txBody>
          <a:bodyPr lIns="101578" tIns="101578" rIns="101578" bIns="101578" anchor="ctr"/>
          <a:lstStyle/>
          <a:p>
            <a:pPr defTabSz="914195" eaLnBrk="1" fontAlgn="auto" hangingPunct="1">
              <a:spcBef>
                <a:spcPts val="0"/>
              </a:spcBef>
              <a:spcAft>
                <a:spcPts val="0"/>
              </a:spcAft>
              <a:defRPr/>
            </a:pPr>
            <a:endParaRPr lang="es-ES" sz="5800" dirty="0">
              <a:solidFill>
                <a:srgbClr val="44CEB9"/>
              </a:solidFill>
              <a:effectLst>
                <a:outerShdw blurRad="38100" dist="38100" dir="2700000" algn="tl">
                  <a:srgbClr val="000000"/>
                </a:outerShdw>
              </a:effectLst>
              <a:latin typeface="Gill Sans" charset="0"/>
              <a:ea typeface="+mn-ea"/>
              <a:cs typeface="Gill Sans" charset="0"/>
              <a:sym typeface="Gill Sans" charset="0"/>
            </a:endParaRPr>
          </a:p>
        </p:txBody>
      </p:sp>
      <p:grpSp>
        <p:nvGrpSpPr>
          <p:cNvPr id="40" name="Group 2"/>
          <p:cNvGrpSpPr>
            <a:grpSpLocks/>
          </p:cNvGrpSpPr>
          <p:nvPr/>
        </p:nvGrpSpPr>
        <p:grpSpPr bwMode="auto">
          <a:xfrm>
            <a:off x="2092808" y="4097975"/>
            <a:ext cx="413920" cy="409944"/>
            <a:chOff x="1569458" y="688424"/>
            <a:chExt cx="334962" cy="331788"/>
          </a:xfrm>
          <a:solidFill>
            <a:srgbClr val="FFFFFF"/>
          </a:solidFill>
        </p:grpSpPr>
        <p:sp>
          <p:nvSpPr>
            <p:cNvPr id="41" name="Freeform 11"/>
            <p:cNvSpPr>
              <a:spLocks noChangeArrowheads="1"/>
            </p:cNvSpPr>
            <p:nvPr/>
          </p:nvSpPr>
          <p:spPr bwMode="auto">
            <a:xfrm>
              <a:off x="1587500" y="901699"/>
              <a:ext cx="42863" cy="77788"/>
            </a:xfrm>
            <a:custGeom>
              <a:avLst/>
              <a:gdLst>
                <a:gd name="T0" fmla="*/ 0 w 118"/>
                <a:gd name="T1" fmla="*/ 183 h 218"/>
                <a:gd name="T2" fmla="*/ 25 w 118"/>
                <a:gd name="T3" fmla="*/ 217 h 218"/>
                <a:gd name="T4" fmla="*/ 84 w 118"/>
                <a:gd name="T5" fmla="*/ 217 h 218"/>
                <a:gd name="T6" fmla="*/ 117 w 118"/>
                <a:gd name="T7" fmla="*/ 183 h 218"/>
                <a:gd name="T8" fmla="*/ 117 w 118"/>
                <a:gd name="T9" fmla="*/ 0 h 218"/>
                <a:gd name="T10" fmla="*/ 17 w 118"/>
                <a:gd name="T11" fmla="*/ 91 h 218"/>
                <a:gd name="T12" fmla="*/ 0 w 118"/>
                <a:gd name="T13" fmla="*/ 75 h 218"/>
                <a:gd name="T14" fmla="*/ 0 w 118"/>
                <a:gd name="T15" fmla="*/ 183 h 218"/>
                <a:gd name="T16" fmla="*/ 0 w 118"/>
                <a:gd name="T17" fmla="*/ 183 h 218"/>
                <a:gd name="T18" fmla="*/ 0 w 118"/>
                <a:gd name="T19" fmla="*/ 183 h 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8" h="218">
                  <a:moveTo>
                    <a:pt x="0" y="183"/>
                  </a:moveTo>
                  <a:cubicBezTo>
                    <a:pt x="0" y="200"/>
                    <a:pt x="8" y="217"/>
                    <a:pt x="25" y="217"/>
                  </a:cubicBezTo>
                  <a:cubicBezTo>
                    <a:pt x="84" y="217"/>
                    <a:pt x="84" y="217"/>
                    <a:pt x="84" y="217"/>
                  </a:cubicBezTo>
                  <a:cubicBezTo>
                    <a:pt x="100" y="217"/>
                    <a:pt x="117" y="200"/>
                    <a:pt x="117" y="183"/>
                  </a:cubicBezTo>
                  <a:cubicBezTo>
                    <a:pt x="117" y="0"/>
                    <a:pt x="117" y="0"/>
                    <a:pt x="117" y="0"/>
                  </a:cubicBezTo>
                  <a:cubicBezTo>
                    <a:pt x="17" y="91"/>
                    <a:pt x="17" y="91"/>
                    <a:pt x="17" y="91"/>
                  </a:cubicBezTo>
                  <a:cubicBezTo>
                    <a:pt x="0" y="75"/>
                    <a:pt x="0" y="75"/>
                    <a:pt x="0" y="75"/>
                  </a:cubicBezTo>
                  <a:lnTo>
                    <a:pt x="0" y="183"/>
                  </a:lnTo>
                  <a:close/>
                  <a:moveTo>
                    <a:pt x="0" y="183"/>
                  </a:moveTo>
                  <a:lnTo>
                    <a:pt x="0" y="183"/>
                  </a:lnTo>
                  <a:close/>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42" name="Freeform 12"/>
            <p:cNvSpPr>
              <a:spLocks noChangeArrowheads="1"/>
            </p:cNvSpPr>
            <p:nvPr/>
          </p:nvSpPr>
          <p:spPr bwMode="auto">
            <a:xfrm>
              <a:off x="1657350" y="858837"/>
              <a:ext cx="42863" cy="120650"/>
            </a:xfrm>
            <a:custGeom>
              <a:avLst/>
              <a:gdLst>
                <a:gd name="T0" fmla="*/ 0 w 118"/>
                <a:gd name="T1" fmla="*/ 301 h 336"/>
                <a:gd name="T2" fmla="*/ 34 w 118"/>
                <a:gd name="T3" fmla="*/ 335 h 336"/>
                <a:gd name="T4" fmla="*/ 84 w 118"/>
                <a:gd name="T5" fmla="*/ 335 h 336"/>
                <a:gd name="T6" fmla="*/ 117 w 118"/>
                <a:gd name="T7" fmla="*/ 301 h 336"/>
                <a:gd name="T8" fmla="*/ 117 w 118"/>
                <a:gd name="T9" fmla="*/ 76 h 336"/>
                <a:gd name="T10" fmla="*/ 42 w 118"/>
                <a:gd name="T11" fmla="*/ 0 h 336"/>
                <a:gd name="T12" fmla="*/ 0 w 118"/>
                <a:gd name="T13" fmla="*/ 42 h 336"/>
                <a:gd name="T14" fmla="*/ 0 w 118"/>
                <a:gd name="T15" fmla="*/ 301 h 336"/>
                <a:gd name="T16" fmla="*/ 0 w 118"/>
                <a:gd name="T17" fmla="*/ 301 h 336"/>
                <a:gd name="T18" fmla="*/ 0 w 118"/>
                <a:gd name="T19" fmla="*/ 301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8" h="336">
                  <a:moveTo>
                    <a:pt x="0" y="301"/>
                  </a:moveTo>
                  <a:cubicBezTo>
                    <a:pt x="0" y="318"/>
                    <a:pt x="17" y="335"/>
                    <a:pt x="34" y="335"/>
                  </a:cubicBezTo>
                  <a:cubicBezTo>
                    <a:pt x="84" y="335"/>
                    <a:pt x="84" y="335"/>
                    <a:pt x="84" y="335"/>
                  </a:cubicBezTo>
                  <a:cubicBezTo>
                    <a:pt x="101" y="335"/>
                    <a:pt x="117" y="318"/>
                    <a:pt x="117" y="301"/>
                  </a:cubicBezTo>
                  <a:cubicBezTo>
                    <a:pt x="117" y="76"/>
                    <a:pt x="117" y="76"/>
                    <a:pt x="117" y="76"/>
                  </a:cubicBezTo>
                  <a:cubicBezTo>
                    <a:pt x="42" y="0"/>
                    <a:pt x="42" y="0"/>
                    <a:pt x="42" y="0"/>
                  </a:cubicBezTo>
                  <a:cubicBezTo>
                    <a:pt x="0" y="42"/>
                    <a:pt x="0" y="42"/>
                    <a:pt x="0" y="42"/>
                  </a:cubicBezTo>
                  <a:lnTo>
                    <a:pt x="0" y="301"/>
                  </a:lnTo>
                  <a:close/>
                  <a:moveTo>
                    <a:pt x="0" y="301"/>
                  </a:moveTo>
                  <a:lnTo>
                    <a:pt x="0" y="301"/>
                  </a:lnTo>
                  <a:close/>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43" name="Freeform 13"/>
            <p:cNvSpPr>
              <a:spLocks noChangeArrowheads="1"/>
            </p:cNvSpPr>
            <p:nvPr/>
          </p:nvSpPr>
          <p:spPr bwMode="auto">
            <a:xfrm>
              <a:off x="1727200" y="858837"/>
              <a:ext cx="42863" cy="120650"/>
            </a:xfrm>
            <a:custGeom>
              <a:avLst/>
              <a:gdLst>
                <a:gd name="T0" fmla="*/ 92 w 118"/>
                <a:gd name="T1" fmla="*/ 335 h 336"/>
                <a:gd name="T2" fmla="*/ 117 w 118"/>
                <a:gd name="T3" fmla="*/ 301 h 336"/>
                <a:gd name="T4" fmla="*/ 117 w 118"/>
                <a:gd name="T5" fmla="*/ 0 h 336"/>
                <a:gd name="T6" fmla="*/ 0 w 118"/>
                <a:gd name="T7" fmla="*/ 118 h 336"/>
                <a:gd name="T8" fmla="*/ 0 w 118"/>
                <a:gd name="T9" fmla="*/ 301 h 336"/>
                <a:gd name="T10" fmla="*/ 33 w 118"/>
                <a:gd name="T11" fmla="*/ 335 h 336"/>
                <a:gd name="T12" fmla="*/ 92 w 118"/>
                <a:gd name="T13" fmla="*/ 335 h 336"/>
                <a:gd name="T14" fmla="*/ 92 w 118"/>
                <a:gd name="T15" fmla="*/ 335 h 336"/>
                <a:gd name="T16" fmla="*/ 92 w 118"/>
                <a:gd name="T17" fmla="*/ 335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8" h="336">
                  <a:moveTo>
                    <a:pt x="92" y="335"/>
                  </a:moveTo>
                  <a:cubicBezTo>
                    <a:pt x="108" y="335"/>
                    <a:pt x="117" y="318"/>
                    <a:pt x="117" y="301"/>
                  </a:cubicBezTo>
                  <a:cubicBezTo>
                    <a:pt x="117" y="0"/>
                    <a:pt x="117" y="0"/>
                    <a:pt x="117" y="0"/>
                  </a:cubicBezTo>
                  <a:cubicBezTo>
                    <a:pt x="0" y="118"/>
                    <a:pt x="0" y="118"/>
                    <a:pt x="0" y="118"/>
                  </a:cubicBezTo>
                  <a:cubicBezTo>
                    <a:pt x="0" y="301"/>
                    <a:pt x="0" y="301"/>
                    <a:pt x="0" y="301"/>
                  </a:cubicBezTo>
                  <a:cubicBezTo>
                    <a:pt x="0" y="318"/>
                    <a:pt x="16" y="335"/>
                    <a:pt x="33" y="335"/>
                  </a:cubicBezTo>
                  <a:lnTo>
                    <a:pt x="92" y="335"/>
                  </a:lnTo>
                  <a:close/>
                  <a:moveTo>
                    <a:pt x="92" y="335"/>
                  </a:moveTo>
                  <a:lnTo>
                    <a:pt x="92" y="335"/>
                  </a:lnTo>
                  <a:close/>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44" name="Freeform 14"/>
            <p:cNvSpPr>
              <a:spLocks noChangeArrowheads="1"/>
            </p:cNvSpPr>
            <p:nvPr/>
          </p:nvSpPr>
          <p:spPr bwMode="auto">
            <a:xfrm>
              <a:off x="1795463" y="817562"/>
              <a:ext cx="46037" cy="163512"/>
            </a:xfrm>
            <a:custGeom>
              <a:avLst/>
              <a:gdLst>
                <a:gd name="T0" fmla="*/ 0 w 126"/>
                <a:gd name="T1" fmla="*/ 41 h 452"/>
                <a:gd name="T2" fmla="*/ 0 w 126"/>
                <a:gd name="T3" fmla="*/ 417 h 452"/>
                <a:gd name="T4" fmla="*/ 33 w 126"/>
                <a:gd name="T5" fmla="*/ 451 h 452"/>
                <a:gd name="T6" fmla="*/ 92 w 126"/>
                <a:gd name="T7" fmla="*/ 451 h 452"/>
                <a:gd name="T8" fmla="*/ 125 w 126"/>
                <a:gd name="T9" fmla="*/ 417 h 452"/>
                <a:gd name="T10" fmla="*/ 125 w 126"/>
                <a:gd name="T11" fmla="*/ 66 h 452"/>
                <a:gd name="T12" fmla="*/ 50 w 126"/>
                <a:gd name="T13" fmla="*/ 0 h 452"/>
                <a:gd name="T14" fmla="*/ 0 w 126"/>
                <a:gd name="T15" fmla="*/ 41 h 452"/>
                <a:gd name="T16" fmla="*/ 0 w 126"/>
                <a:gd name="T17" fmla="*/ 41 h 452"/>
                <a:gd name="T18" fmla="*/ 0 w 126"/>
                <a:gd name="T19" fmla="*/ 41 h 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6" h="452">
                  <a:moveTo>
                    <a:pt x="0" y="41"/>
                  </a:moveTo>
                  <a:cubicBezTo>
                    <a:pt x="0" y="417"/>
                    <a:pt x="0" y="417"/>
                    <a:pt x="0" y="417"/>
                  </a:cubicBezTo>
                  <a:cubicBezTo>
                    <a:pt x="0" y="434"/>
                    <a:pt x="17" y="451"/>
                    <a:pt x="33" y="451"/>
                  </a:cubicBezTo>
                  <a:cubicBezTo>
                    <a:pt x="92" y="451"/>
                    <a:pt x="92" y="451"/>
                    <a:pt x="92" y="451"/>
                  </a:cubicBezTo>
                  <a:cubicBezTo>
                    <a:pt x="109" y="451"/>
                    <a:pt x="125" y="434"/>
                    <a:pt x="125" y="417"/>
                  </a:cubicBezTo>
                  <a:cubicBezTo>
                    <a:pt x="125" y="66"/>
                    <a:pt x="125" y="66"/>
                    <a:pt x="125" y="66"/>
                  </a:cubicBezTo>
                  <a:cubicBezTo>
                    <a:pt x="50" y="0"/>
                    <a:pt x="50" y="0"/>
                    <a:pt x="50" y="0"/>
                  </a:cubicBezTo>
                  <a:lnTo>
                    <a:pt x="0" y="41"/>
                  </a:lnTo>
                  <a:close/>
                  <a:moveTo>
                    <a:pt x="0" y="41"/>
                  </a:moveTo>
                  <a:lnTo>
                    <a:pt x="0" y="41"/>
                  </a:lnTo>
                  <a:close/>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45" name="Freeform 15"/>
            <p:cNvSpPr>
              <a:spLocks noChangeArrowheads="1"/>
            </p:cNvSpPr>
            <p:nvPr/>
          </p:nvSpPr>
          <p:spPr bwMode="auto">
            <a:xfrm>
              <a:off x="1576388" y="744537"/>
              <a:ext cx="261937" cy="163512"/>
            </a:xfrm>
            <a:custGeom>
              <a:avLst/>
              <a:gdLst>
                <a:gd name="T0" fmla="*/ 234 w 728"/>
                <a:gd name="T1" fmla="*/ 284 h 452"/>
                <a:gd name="T2" fmla="*/ 292 w 728"/>
                <a:gd name="T3" fmla="*/ 284 h 452"/>
                <a:gd name="T4" fmla="*/ 359 w 728"/>
                <a:gd name="T5" fmla="*/ 351 h 452"/>
                <a:gd name="T6" fmla="*/ 401 w 728"/>
                <a:gd name="T7" fmla="*/ 368 h 452"/>
                <a:gd name="T8" fmla="*/ 434 w 728"/>
                <a:gd name="T9" fmla="*/ 351 h 452"/>
                <a:gd name="T10" fmla="*/ 660 w 728"/>
                <a:gd name="T11" fmla="*/ 134 h 452"/>
                <a:gd name="T12" fmla="*/ 694 w 728"/>
                <a:gd name="T13" fmla="*/ 167 h 452"/>
                <a:gd name="T14" fmla="*/ 710 w 728"/>
                <a:gd name="T15" fmla="*/ 175 h 452"/>
                <a:gd name="T16" fmla="*/ 727 w 728"/>
                <a:gd name="T17" fmla="*/ 159 h 452"/>
                <a:gd name="T18" fmla="*/ 727 w 728"/>
                <a:gd name="T19" fmla="*/ 33 h 452"/>
                <a:gd name="T20" fmla="*/ 719 w 728"/>
                <a:gd name="T21" fmla="*/ 8 h 452"/>
                <a:gd name="T22" fmla="*/ 694 w 728"/>
                <a:gd name="T23" fmla="*/ 0 h 452"/>
                <a:gd name="T24" fmla="*/ 568 w 728"/>
                <a:gd name="T25" fmla="*/ 0 h 452"/>
                <a:gd name="T26" fmla="*/ 551 w 728"/>
                <a:gd name="T27" fmla="*/ 8 h 452"/>
                <a:gd name="T28" fmla="*/ 551 w 728"/>
                <a:gd name="T29" fmla="*/ 33 h 452"/>
                <a:gd name="T30" fmla="*/ 585 w 728"/>
                <a:gd name="T31" fmla="*/ 58 h 452"/>
                <a:gd name="T32" fmla="*/ 426 w 728"/>
                <a:gd name="T33" fmla="*/ 217 h 452"/>
                <a:gd name="T34" fmla="*/ 401 w 728"/>
                <a:gd name="T35" fmla="*/ 225 h 452"/>
                <a:gd name="T36" fmla="*/ 368 w 728"/>
                <a:gd name="T37" fmla="*/ 217 h 452"/>
                <a:gd name="T38" fmla="*/ 292 w 728"/>
                <a:gd name="T39" fmla="*/ 142 h 452"/>
                <a:gd name="T40" fmla="*/ 234 w 728"/>
                <a:gd name="T41" fmla="*/ 142 h 452"/>
                <a:gd name="T42" fmla="*/ 8 w 728"/>
                <a:gd name="T43" fmla="*/ 359 h 452"/>
                <a:gd name="T44" fmla="*/ 0 w 728"/>
                <a:gd name="T45" fmla="*/ 393 h 452"/>
                <a:gd name="T46" fmla="*/ 8 w 728"/>
                <a:gd name="T47" fmla="*/ 426 h 452"/>
                <a:gd name="T48" fmla="*/ 25 w 728"/>
                <a:gd name="T49" fmla="*/ 435 h 452"/>
                <a:gd name="T50" fmla="*/ 83 w 728"/>
                <a:gd name="T51" fmla="*/ 435 h 452"/>
                <a:gd name="T52" fmla="*/ 234 w 728"/>
                <a:gd name="T53" fmla="*/ 284 h 452"/>
                <a:gd name="T54" fmla="*/ 234 w 728"/>
                <a:gd name="T55" fmla="*/ 284 h 452"/>
                <a:gd name="T56" fmla="*/ 234 w 728"/>
                <a:gd name="T57" fmla="*/ 284 h 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728" h="452">
                  <a:moveTo>
                    <a:pt x="234" y="284"/>
                  </a:moveTo>
                  <a:cubicBezTo>
                    <a:pt x="250" y="267"/>
                    <a:pt x="276" y="267"/>
                    <a:pt x="292" y="284"/>
                  </a:cubicBezTo>
                  <a:cubicBezTo>
                    <a:pt x="359" y="351"/>
                    <a:pt x="359" y="351"/>
                    <a:pt x="359" y="351"/>
                  </a:cubicBezTo>
                  <a:cubicBezTo>
                    <a:pt x="376" y="368"/>
                    <a:pt x="384" y="368"/>
                    <a:pt x="401" y="368"/>
                  </a:cubicBezTo>
                  <a:cubicBezTo>
                    <a:pt x="418" y="368"/>
                    <a:pt x="426" y="368"/>
                    <a:pt x="434" y="351"/>
                  </a:cubicBezTo>
                  <a:cubicBezTo>
                    <a:pt x="660" y="134"/>
                    <a:pt x="660" y="134"/>
                    <a:pt x="660" y="134"/>
                  </a:cubicBezTo>
                  <a:cubicBezTo>
                    <a:pt x="694" y="167"/>
                    <a:pt x="694" y="167"/>
                    <a:pt x="694" y="167"/>
                  </a:cubicBezTo>
                  <a:cubicBezTo>
                    <a:pt x="702" y="175"/>
                    <a:pt x="710" y="175"/>
                    <a:pt x="710" y="175"/>
                  </a:cubicBezTo>
                  <a:cubicBezTo>
                    <a:pt x="719" y="175"/>
                    <a:pt x="727" y="167"/>
                    <a:pt x="727" y="159"/>
                  </a:cubicBezTo>
                  <a:cubicBezTo>
                    <a:pt x="727" y="33"/>
                    <a:pt x="727" y="33"/>
                    <a:pt x="727" y="33"/>
                  </a:cubicBezTo>
                  <a:cubicBezTo>
                    <a:pt x="727" y="25"/>
                    <a:pt x="727" y="16"/>
                    <a:pt x="719" y="8"/>
                  </a:cubicBezTo>
                  <a:cubicBezTo>
                    <a:pt x="710" y="0"/>
                    <a:pt x="702" y="0"/>
                    <a:pt x="694" y="0"/>
                  </a:cubicBezTo>
                  <a:cubicBezTo>
                    <a:pt x="568" y="0"/>
                    <a:pt x="568" y="0"/>
                    <a:pt x="568" y="0"/>
                  </a:cubicBezTo>
                  <a:cubicBezTo>
                    <a:pt x="560" y="0"/>
                    <a:pt x="551" y="0"/>
                    <a:pt x="551" y="8"/>
                  </a:cubicBezTo>
                  <a:cubicBezTo>
                    <a:pt x="543" y="16"/>
                    <a:pt x="551" y="25"/>
                    <a:pt x="551" y="33"/>
                  </a:cubicBezTo>
                  <a:cubicBezTo>
                    <a:pt x="585" y="58"/>
                    <a:pt x="585" y="58"/>
                    <a:pt x="585" y="58"/>
                  </a:cubicBezTo>
                  <a:cubicBezTo>
                    <a:pt x="426" y="217"/>
                    <a:pt x="426" y="217"/>
                    <a:pt x="426" y="217"/>
                  </a:cubicBezTo>
                  <a:cubicBezTo>
                    <a:pt x="426" y="225"/>
                    <a:pt x="409" y="225"/>
                    <a:pt x="401" y="225"/>
                  </a:cubicBezTo>
                  <a:cubicBezTo>
                    <a:pt x="393" y="225"/>
                    <a:pt x="376" y="225"/>
                    <a:pt x="368" y="217"/>
                  </a:cubicBezTo>
                  <a:cubicBezTo>
                    <a:pt x="292" y="142"/>
                    <a:pt x="292" y="142"/>
                    <a:pt x="292" y="142"/>
                  </a:cubicBezTo>
                  <a:cubicBezTo>
                    <a:pt x="276" y="125"/>
                    <a:pt x="250" y="125"/>
                    <a:pt x="234" y="142"/>
                  </a:cubicBezTo>
                  <a:cubicBezTo>
                    <a:pt x="8" y="359"/>
                    <a:pt x="8" y="359"/>
                    <a:pt x="8" y="359"/>
                  </a:cubicBezTo>
                  <a:cubicBezTo>
                    <a:pt x="0" y="368"/>
                    <a:pt x="0" y="384"/>
                    <a:pt x="0" y="393"/>
                  </a:cubicBezTo>
                  <a:cubicBezTo>
                    <a:pt x="0" y="410"/>
                    <a:pt x="0" y="418"/>
                    <a:pt x="8" y="426"/>
                  </a:cubicBezTo>
                  <a:cubicBezTo>
                    <a:pt x="25" y="435"/>
                    <a:pt x="25" y="435"/>
                    <a:pt x="25" y="435"/>
                  </a:cubicBezTo>
                  <a:cubicBezTo>
                    <a:pt x="41" y="451"/>
                    <a:pt x="67" y="451"/>
                    <a:pt x="83" y="435"/>
                  </a:cubicBezTo>
                  <a:lnTo>
                    <a:pt x="234" y="284"/>
                  </a:lnTo>
                  <a:close/>
                  <a:moveTo>
                    <a:pt x="234" y="284"/>
                  </a:moveTo>
                  <a:lnTo>
                    <a:pt x="234" y="284"/>
                  </a:lnTo>
                  <a:close/>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46" name="Freeform 16"/>
            <p:cNvSpPr>
              <a:spLocks noChangeArrowheads="1"/>
            </p:cNvSpPr>
            <p:nvPr/>
          </p:nvSpPr>
          <p:spPr bwMode="auto">
            <a:xfrm>
              <a:off x="1569458" y="688424"/>
              <a:ext cx="334962" cy="331788"/>
            </a:xfrm>
            <a:custGeom>
              <a:avLst/>
              <a:gdLst>
                <a:gd name="T0" fmla="*/ 887 w 929"/>
                <a:gd name="T1" fmla="*/ 0 h 921"/>
                <a:gd name="T2" fmla="*/ 836 w 929"/>
                <a:gd name="T3" fmla="*/ 50 h 921"/>
                <a:gd name="T4" fmla="*/ 836 w 929"/>
                <a:gd name="T5" fmla="*/ 837 h 921"/>
                <a:gd name="T6" fmla="*/ 51 w 929"/>
                <a:gd name="T7" fmla="*/ 837 h 921"/>
                <a:gd name="T8" fmla="*/ 0 w 929"/>
                <a:gd name="T9" fmla="*/ 878 h 921"/>
                <a:gd name="T10" fmla="*/ 51 w 929"/>
                <a:gd name="T11" fmla="*/ 920 h 921"/>
                <a:gd name="T12" fmla="*/ 887 w 929"/>
                <a:gd name="T13" fmla="*/ 920 h 921"/>
                <a:gd name="T14" fmla="*/ 928 w 929"/>
                <a:gd name="T15" fmla="*/ 878 h 921"/>
                <a:gd name="T16" fmla="*/ 928 w 929"/>
                <a:gd name="T17" fmla="*/ 50 h 921"/>
                <a:gd name="T18" fmla="*/ 887 w 929"/>
                <a:gd name="T19" fmla="*/ 0 h 921"/>
                <a:gd name="T20" fmla="*/ 887 w 929"/>
                <a:gd name="T21" fmla="*/ 0 h 921"/>
                <a:gd name="T22" fmla="*/ 887 w 929"/>
                <a:gd name="T23" fmla="*/ 0 h 9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29" h="921">
                  <a:moveTo>
                    <a:pt x="887" y="0"/>
                  </a:moveTo>
                  <a:cubicBezTo>
                    <a:pt x="862" y="0"/>
                    <a:pt x="836" y="26"/>
                    <a:pt x="836" y="50"/>
                  </a:cubicBezTo>
                  <a:cubicBezTo>
                    <a:pt x="836" y="837"/>
                    <a:pt x="836" y="837"/>
                    <a:pt x="836" y="837"/>
                  </a:cubicBezTo>
                  <a:cubicBezTo>
                    <a:pt x="51" y="837"/>
                    <a:pt x="51" y="837"/>
                    <a:pt x="51" y="837"/>
                  </a:cubicBezTo>
                  <a:cubicBezTo>
                    <a:pt x="26" y="837"/>
                    <a:pt x="0" y="853"/>
                    <a:pt x="0" y="878"/>
                  </a:cubicBezTo>
                  <a:cubicBezTo>
                    <a:pt x="0" y="903"/>
                    <a:pt x="26" y="920"/>
                    <a:pt x="51" y="920"/>
                  </a:cubicBezTo>
                  <a:cubicBezTo>
                    <a:pt x="887" y="920"/>
                    <a:pt x="887" y="920"/>
                    <a:pt x="887" y="920"/>
                  </a:cubicBezTo>
                  <a:cubicBezTo>
                    <a:pt x="912" y="920"/>
                    <a:pt x="928" y="903"/>
                    <a:pt x="928" y="878"/>
                  </a:cubicBezTo>
                  <a:cubicBezTo>
                    <a:pt x="928" y="50"/>
                    <a:pt x="928" y="50"/>
                    <a:pt x="928" y="50"/>
                  </a:cubicBezTo>
                  <a:cubicBezTo>
                    <a:pt x="928" y="26"/>
                    <a:pt x="903" y="0"/>
                    <a:pt x="887" y="0"/>
                  </a:cubicBezTo>
                  <a:close/>
                  <a:moveTo>
                    <a:pt x="887" y="0"/>
                  </a:moveTo>
                  <a:lnTo>
                    <a:pt x="887" y="0"/>
                  </a:lnTo>
                  <a:close/>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grpSp>
      <p:grpSp>
        <p:nvGrpSpPr>
          <p:cNvPr id="47" name="Group 587"/>
          <p:cNvGrpSpPr>
            <a:grpSpLocks/>
          </p:cNvGrpSpPr>
          <p:nvPr/>
        </p:nvGrpSpPr>
        <p:grpSpPr bwMode="auto">
          <a:xfrm>
            <a:off x="2083257" y="5029949"/>
            <a:ext cx="522416" cy="461865"/>
            <a:chOff x="1530350" y="5719762"/>
            <a:chExt cx="452438" cy="400050"/>
          </a:xfrm>
          <a:solidFill>
            <a:srgbClr val="FFFFFF"/>
          </a:solidFill>
        </p:grpSpPr>
        <p:sp>
          <p:nvSpPr>
            <p:cNvPr id="48" name="Freeform 533"/>
            <p:cNvSpPr>
              <a:spLocks noChangeArrowheads="1"/>
            </p:cNvSpPr>
            <p:nvPr/>
          </p:nvSpPr>
          <p:spPr bwMode="auto">
            <a:xfrm>
              <a:off x="1593850" y="5921374"/>
              <a:ext cx="42863" cy="39688"/>
            </a:xfrm>
            <a:custGeom>
              <a:avLst/>
              <a:gdLst>
                <a:gd name="T0" fmla="*/ 0 w 118"/>
                <a:gd name="T1" fmla="*/ 0 h 110"/>
                <a:gd name="T2" fmla="*/ 117 w 118"/>
                <a:gd name="T3" fmla="*/ 0 h 110"/>
                <a:gd name="T4" fmla="*/ 117 w 118"/>
                <a:gd name="T5" fmla="*/ 109 h 110"/>
                <a:gd name="T6" fmla="*/ 0 w 118"/>
                <a:gd name="T7" fmla="*/ 109 h 110"/>
                <a:gd name="T8" fmla="*/ 0 w 118"/>
                <a:gd name="T9" fmla="*/ 0 h 110"/>
              </a:gdLst>
              <a:ahLst/>
              <a:cxnLst>
                <a:cxn ang="0">
                  <a:pos x="T0" y="T1"/>
                </a:cxn>
                <a:cxn ang="0">
                  <a:pos x="T2" y="T3"/>
                </a:cxn>
                <a:cxn ang="0">
                  <a:pos x="T4" y="T5"/>
                </a:cxn>
                <a:cxn ang="0">
                  <a:pos x="T6" y="T7"/>
                </a:cxn>
                <a:cxn ang="0">
                  <a:pos x="T8" y="T9"/>
                </a:cxn>
              </a:cxnLst>
              <a:rect l="0" t="0" r="r" b="b"/>
              <a:pathLst>
                <a:path w="118" h="110">
                  <a:moveTo>
                    <a:pt x="0" y="0"/>
                  </a:moveTo>
                  <a:lnTo>
                    <a:pt x="117" y="0"/>
                  </a:lnTo>
                  <a:lnTo>
                    <a:pt x="117" y="109"/>
                  </a:lnTo>
                  <a:lnTo>
                    <a:pt x="0" y="109"/>
                  </a:lnTo>
                  <a:lnTo>
                    <a:pt x="0" y="0"/>
                  </a:lnTo>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49" name="Freeform 534"/>
            <p:cNvSpPr>
              <a:spLocks noChangeArrowheads="1"/>
            </p:cNvSpPr>
            <p:nvPr/>
          </p:nvSpPr>
          <p:spPr bwMode="auto">
            <a:xfrm>
              <a:off x="1593850" y="5984874"/>
              <a:ext cx="42863" cy="39688"/>
            </a:xfrm>
            <a:custGeom>
              <a:avLst/>
              <a:gdLst>
                <a:gd name="T0" fmla="*/ 0 w 118"/>
                <a:gd name="T1" fmla="*/ 0 h 110"/>
                <a:gd name="T2" fmla="*/ 117 w 118"/>
                <a:gd name="T3" fmla="*/ 0 h 110"/>
                <a:gd name="T4" fmla="*/ 117 w 118"/>
                <a:gd name="T5" fmla="*/ 109 h 110"/>
                <a:gd name="T6" fmla="*/ 0 w 118"/>
                <a:gd name="T7" fmla="*/ 109 h 110"/>
                <a:gd name="T8" fmla="*/ 0 w 118"/>
                <a:gd name="T9" fmla="*/ 0 h 110"/>
              </a:gdLst>
              <a:ahLst/>
              <a:cxnLst>
                <a:cxn ang="0">
                  <a:pos x="T0" y="T1"/>
                </a:cxn>
                <a:cxn ang="0">
                  <a:pos x="T2" y="T3"/>
                </a:cxn>
                <a:cxn ang="0">
                  <a:pos x="T4" y="T5"/>
                </a:cxn>
                <a:cxn ang="0">
                  <a:pos x="T6" y="T7"/>
                </a:cxn>
                <a:cxn ang="0">
                  <a:pos x="T8" y="T9"/>
                </a:cxn>
              </a:cxnLst>
              <a:rect l="0" t="0" r="r" b="b"/>
              <a:pathLst>
                <a:path w="118" h="110">
                  <a:moveTo>
                    <a:pt x="0" y="0"/>
                  </a:moveTo>
                  <a:lnTo>
                    <a:pt x="117" y="0"/>
                  </a:lnTo>
                  <a:lnTo>
                    <a:pt x="117" y="109"/>
                  </a:lnTo>
                  <a:lnTo>
                    <a:pt x="0" y="109"/>
                  </a:lnTo>
                  <a:lnTo>
                    <a:pt x="0" y="0"/>
                  </a:lnTo>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50" name="Freeform 535"/>
            <p:cNvSpPr>
              <a:spLocks noChangeArrowheads="1"/>
            </p:cNvSpPr>
            <p:nvPr/>
          </p:nvSpPr>
          <p:spPr bwMode="auto">
            <a:xfrm>
              <a:off x="1663700" y="5857874"/>
              <a:ext cx="39688" cy="39688"/>
            </a:xfrm>
            <a:custGeom>
              <a:avLst/>
              <a:gdLst>
                <a:gd name="T0" fmla="*/ 0 w 110"/>
                <a:gd name="T1" fmla="*/ 0 h 110"/>
                <a:gd name="T2" fmla="*/ 109 w 110"/>
                <a:gd name="T3" fmla="*/ 0 h 110"/>
                <a:gd name="T4" fmla="*/ 109 w 110"/>
                <a:gd name="T5" fmla="*/ 109 h 110"/>
                <a:gd name="T6" fmla="*/ 0 w 110"/>
                <a:gd name="T7" fmla="*/ 109 h 110"/>
                <a:gd name="T8" fmla="*/ 0 w 110"/>
                <a:gd name="T9" fmla="*/ 0 h 110"/>
              </a:gdLst>
              <a:ahLst/>
              <a:cxnLst>
                <a:cxn ang="0">
                  <a:pos x="T0" y="T1"/>
                </a:cxn>
                <a:cxn ang="0">
                  <a:pos x="T2" y="T3"/>
                </a:cxn>
                <a:cxn ang="0">
                  <a:pos x="T4" y="T5"/>
                </a:cxn>
                <a:cxn ang="0">
                  <a:pos x="T6" y="T7"/>
                </a:cxn>
                <a:cxn ang="0">
                  <a:pos x="T8" y="T9"/>
                </a:cxn>
              </a:cxnLst>
              <a:rect l="0" t="0" r="r" b="b"/>
              <a:pathLst>
                <a:path w="110" h="110">
                  <a:moveTo>
                    <a:pt x="0" y="0"/>
                  </a:moveTo>
                  <a:lnTo>
                    <a:pt x="109" y="0"/>
                  </a:lnTo>
                  <a:lnTo>
                    <a:pt x="109" y="109"/>
                  </a:lnTo>
                  <a:lnTo>
                    <a:pt x="0" y="109"/>
                  </a:lnTo>
                  <a:lnTo>
                    <a:pt x="0" y="0"/>
                  </a:lnTo>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51" name="Freeform 536"/>
            <p:cNvSpPr>
              <a:spLocks noChangeArrowheads="1"/>
            </p:cNvSpPr>
            <p:nvPr/>
          </p:nvSpPr>
          <p:spPr bwMode="auto">
            <a:xfrm>
              <a:off x="1663700" y="5921374"/>
              <a:ext cx="39688" cy="39688"/>
            </a:xfrm>
            <a:custGeom>
              <a:avLst/>
              <a:gdLst>
                <a:gd name="T0" fmla="*/ 0 w 110"/>
                <a:gd name="T1" fmla="*/ 0 h 110"/>
                <a:gd name="T2" fmla="*/ 109 w 110"/>
                <a:gd name="T3" fmla="*/ 0 h 110"/>
                <a:gd name="T4" fmla="*/ 109 w 110"/>
                <a:gd name="T5" fmla="*/ 109 h 110"/>
                <a:gd name="T6" fmla="*/ 0 w 110"/>
                <a:gd name="T7" fmla="*/ 109 h 110"/>
                <a:gd name="T8" fmla="*/ 0 w 110"/>
                <a:gd name="T9" fmla="*/ 0 h 110"/>
              </a:gdLst>
              <a:ahLst/>
              <a:cxnLst>
                <a:cxn ang="0">
                  <a:pos x="T0" y="T1"/>
                </a:cxn>
                <a:cxn ang="0">
                  <a:pos x="T2" y="T3"/>
                </a:cxn>
                <a:cxn ang="0">
                  <a:pos x="T4" y="T5"/>
                </a:cxn>
                <a:cxn ang="0">
                  <a:pos x="T6" y="T7"/>
                </a:cxn>
                <a:cxn ang="0">
                  <a:pos x="T8" y="T9"/>
                </a:cxn>
              </a:cxnLst>
              <a:rect l="0" t="0" r="r" b="b"/>
              <a:pathLst>
                <a:path w="110" h="110">
                  <a:moveTo>
                    <a:pt x="0" y="0"/>
                  </a:moveTo>
                  <a:lnTo>
                    <a:pt x="109" y="0"/>
                  </a:lnTo>
                  <a:lnTo>
                    <a:pt x="109" y="109"/>
                  </a:lnTo>
                  <a:lnTo>
                    <a:pt x="0" y="109"/>
                  </a:lnTo>
                  <a:lnTo>
                    <a:pt x="0" y="0"/>
                  </a:lnTo>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52" name="Freeform 537"/>
            <p:cNvSpPr>
              <a:spLocks noChangeArrowheads="1"/>
            </p:cNvSpPr>
            <p:nvPr/>
          </p:nvSpPr>
          <p:spPr bwMode="auto">
            <a:xfrm>
              <a:off x="1663700" y="5984874"/>
              <a:ext cx="39688" cy="39688"/>
            </a:xfrm>
            <a:custGeom>
              <a:avLst/>
              <a:gdLst>
                <a:gd name="T0" fmla="*/ 0 w 110"/>
                <a:gd name="T1" fmla="*/ 0 h 110"/>
                <a:gd name="T2" fmla="*/ 109 w 110"/>
                <a:gd name="T3" fmla="*/ 0 h 110"/>
                <a:gd name="T4" fmla="*/ 109 w 110"/>
                <a:gd name="T5" fmla="*/ 109 h 110"/>
                <a:gd name="T6" fmla="*/ 0 w 110"/>
                <a:gd name="T7" fmla="*/ 109 h 110"/>
                <a:gd name="T8" fmla="*/ 0 w 110"/>
                <a:gd name="T9" fmla="*/ 0 h 110"/>
              </a:gdLst>
              <a:ahLst/>
              <a:cxnLst>
                <a:cxn ang="0">
                  <a:pos x="T0" y="T1"/>
                </a:cxn>
                <a:cxn ang="0">
                  <a:pos x="T2" y="T3"/>
                </a:cxn>
                <a:cxn ang="0">
                  <a:pos x="T4" y="T5"/>
                </a:cxn>
                <a:cxn ang="0">
                  <a:pos x="T6" y="T7"/>
                </a:cxn>
                <a:cxn ang="0">
                  <a:pos x="T8" y="T9"/>
                </a:cxn>
              </a:cxnLst>
              <a:rect l="0" t="0" r="r" b="b"/>
              <a:pathLst>
                <a:path w="110" h="110">
                  <a:moveTo>
                    <a:pt x="0" y="0"/>
                  </a:moveTo>
                  <a:lnTo>
                    <a:pt x="109" y="0"/>
                  </a:lnTo>
                  <a:lnTo>
                    <a:pt x="109" y="109"/>
                  </a:lnTo>
                  <a:lnTo>
                    <a:pt x="0" y="109"/>
                  </a:lnTo>
                  <a:lnTo>
                    <a:pt x="0" y="0"/>
                  </a:lnTo>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sp>
          <p:nvSpPr>
            <p:cNvPr id="53" name="Freeform 538"/>
            <p:cNvSpPr>
              <a:spLocks noChangeArrowheads="1"/>
            </p:cNvSpPr>
            <p:nvPr/>
          </p:nvSpPr>
          <p:spPr bwMode="auto">
            <a:xfrm>
              <a:off x="1530350" y="5719762"/>
              <a:ext cx="452438" cy="400050"/>
            </a:xfrm>
            <a:custGeom>
              <a:avLst/>
              <a:gdLst>
                <a:gd name="T0" fmla="*/ 1029 w 1255"/>
                <a:gd name="T1" fmla="*/ 75 h 1113"/>
                <a:gd name="T2" fmla="*/ 75 w 1255"/>
                <a:gd name="T3" fmla="*/ 0 h 1113"/>
                <a:gd name="T4" fmla="*/ 0 w 1255"/>
                <a:gd name="T5" fmla="*/ 953 h 1113"/>
                <a:gd name="T6" fmla="*/ 644 w 1255"/>
                <a:gd name="T7" fmla="*/ 1029 h 1113"/>
                <a:gd name="T8" fmla="*/ 1254 w 1255"/>
                <a:gd name="T9" fmla="*/ 736 h 1113"/>
                <a:gd name="T10" fmla="*/ 335 w 1255"/>
                <a:gd name="T11" fmla="*/ 75 h 1113"/>
                <a:gd name="T12" fmla="*/ 694 w 1255"/>
                <a:gd name="T13" fmla="*/ 167 h 1113"/>
                <a:gd name="T14" fmla="*/ 335 w 1255"/>
                <a:gd name="T15" fmla="*/ 75 h 1113"/>
                <a:gd name="T16" fmla="*/ 937 w 1255"/>
                <a:gd name="T17" fmla="*/ 251 h 1113"/>
                <a:gd name="T18" fmla="*/ 878 w 1255"/>
                <a:gd name="T19" fmla="*/ 368 h 1113"/>
                <a:gd name="T20" fmla="*/ 661 w 1255"/>
                <a:gd name="T21" fmla="*/ 385 h 1113"/>
                <a:gd name="T22" fmla="*/ 552 w 1255"/>
                <a:gd name="T23" fmla="*/ 494 h 1113"/>
                <a:gd name="T24" fmla="*/ 510 w 1255"/>
                <a:gd name="T25" fmla="*/ 736 h 1113"/>
                <a:gd name="T26" fmla="*/ 92 w 1255"/>
                <a:gd name="T27" fmla="*/ 920 h 1113"/>
                <a:gd name="T28" fmla="*/ 845 w 1255"/>
                <a:gd name="T29" fmla="*/ 435 h 1113"/>
                <a:gd name="T30" fmla="*/ 911 w 1255"/>
                <a:gd name="T31" fmla="*/ 435 h 1113"/>
                <a:gd name="T32" fmla="*/ 845 w 1255"/>
                <a:gd name="T33" fmla="*/ 435 h 1113"/>
                <a:gd name="T34" fmla="*/ 577 w 1255"/>
                <a:gd name="T35" fmla="*/ 769 h 1113"/>
                <a:gd name="T36" fmla="*/ 577 w 1255"/>
                <a:gd name="T37" fmla="*/ 703 h 1113"/>
                <a:gd name="T38" fmla="*/ 878 w 1255"/>
                <a:gd name="T39" fmla="*/ 1079 h 1113"/>
                <a:gd name="T40" fmla="*/ 878 w 1255"/>
                <a:gd name="T41" fmla="*/ 1004 h 1113"/>
                <a:gd name="T42" fmla="*/ 878 w 1255"/>
                <a:gd name="T43" fmla="*/ 1079 h 1113"/>
                <a:gd name="T44" fmla="*/ 945 w 1255"/>
                <a:gd name="T45" fmla="*/ 728 h 1113"/>
                <a:gd name="T46" fmla="*/ 878 w 1255"/>
                <a:gd name="T47" fmla="*/ 803 h 1113"/>
                <a:gd name="T48" fmla="*/ 661 w 1255"/>
                <a:gd name="T49" fmla="*/ 627 h 1113"/>
                <a:gd name="T50" fmla="*/ 694 w 1255"/>
                <a:gd name="T51" fmla="*/ 585 h 1113"/>
                <a:gd name="T52" fmla="*/ 878 w 1255"/>
                <a:gd name="T53" fmla="*/ 669 h 1113"/>
                <a:gd name="T54" fmla="*/ 1045 w 1255"/>
                <a:gd name="T55" fmla="*/ 544 h 1113"/>
                <a:gd name="T56" fmla="*/ 1087 w 1255"/>
                <a:gd name="T57" fmla="*/ 585 h 1113"/>
                <a:gd name="T58" fmla="*/ 1146 w 1255"/>
                <a:gd name="T59" fmla="*/ 736 h 1113"/>
                <a:gd name="T60" fmla="*/ 1221 w 1255"/>
                <a:gd name="T61" fmla="*/ 736 h 1113"/>
                <a:gd name="T62" fmla="*/ 1179 w 1255"/>
                <a:gd name="T63" fmla="*/ 769 h 1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55" h="1113">
                  <a:moveTo>
                    <a:pt x="1029" y="402"/>
                  </a:moveTo>
                  <a:cubicBezTo>
                    <a:pt x="1029" y="75"/>
                    <a:pt x="1029" y="75"/>
                    <a:pt x="1029" y="75"/>
                  </a:cubicBezTo>
                  <a:cubicBezTo>
                    <a:pt x="1029" y="34"/>
                    <a:pt x="995" y="0"/>
                    <a:pt x="953" y="0"/>
                  </a:cubicBezTo>
                  <a:cubicBezTo>
                    <a:pt x="75" y="0"/>
                    <a:pt x="75" y="0"/>
                    <a:pt x="75" y="0"/>
                  </a:cubicBezTo>
                  <a:cubicBezTo>
                    <a:pt x="34" y="0"/>
                    <a:pt x="0" y="34"/>
                    <a:pt x="0" y="75"/>
                  </a:cubicBezTo>
                  <a:cubicBezTo>
                    <a:pt x="0" y="953"/>
                    <a:pt x="0" y="953"/>
                    <a:pt x="0" y="953"/>
                  </a:cubicBezTo>
                  <a:cubicBezTo>
                    <a:pt x="0" y="995"/>
                    <a:pt x="34" y="1029"/>
                    <a:pt x="75" y="1029"/>
                  </a:cubicBezTo>
                  <a:cubicBezTo>
                    <a:pt x="644" y="1029"/>
                    <a:pt x="644" y="1029"/>
                    <a:pt x="644" y="1029"/>
                  </a:cubicBezTo>
                  <a:cubicBezTo>
                    <a:pt x="711" y="1079"/>
                    <a:pt x="795" y="1112"/>
                    <a:pt x="878" y="1112"/>
                  </a:cubicBezTo>
                  <a:cubicBezTo>
                    <a:pt x="1087" y="1112"/>
                    <a:pt x="1254" y="945"/>
                    <a:pt x="1254" y="736"/>
                  </a:cubicBezTo>
                  <a:cubicBezTo>
                    <a:pt x="1254" y="585"/>
                    <a:pt x="1162" y="460"/>
                    <a:pt x="1029" y="402"/>
                  </a:cubicBezTo>
                  <a:close/>
                  <a:moveTo>
                    <a:pt x="335" y="75"/>
                  </a:moveTo>
                  <a:cubicBezTo>
                    <a:pt x="694" y="75"/>
                    <a:pt x="694" y="75"/>
                    <a:pt x="694" y="75"/>
                  </a:cubicBezTo>
                  <a:cubicBezTo>
                    <a:pt x="694" y="167"/>
                    <a:pt x="694" y="167"/>
                    <a:pt x="694" y="167"/>
                  </a:cubicBezTo>
                  <a:cubicBezTo>
                    <a:pt x="335" y="167"/>
                    <a:pt x="335" y="167"/>
                    <a:pt x="335" y="167"/>
                  </a:cubicBezTo>
                  <a:lnTo>
                    <a:pt x="335" y="75"/>
                  </a:lnTo>
                  <a:close/>
                  <a:moveTo>
                    <a:pt x="92" y="251"/>
                  </a:moveTo>
                  <a:cubicBezTo>
                    <a:pt x="937" y="251"/>
                    <a:pt x="937" y="251"/>
                    <a:pt x="937" y="251"/>
                  </a:cubicBezTo>
                  <a:cubicBezTo>
                    <a:pt x="937" y="368"/>
                    <a:pt x="937" y="368"/>
                    <a:pt x="937" y="368"/>
                  </a:cubicBezTo>
                  <a:cubicBezTo>
                    <a:pt x="920" y="368"/>
                    <a:pt x="895" y="368"/>
                    <a:pt x="878" y="368"/>
                  </a:cubicBezTo>
                  <a:cubicBezTo>
                    <a:pt x="795" y="368"/>
                    <a:pt x="719" y="393"/>
                    <a:pt x="661" y="435"/>
                  </a:cubicBezTo>
                  <a:cubicBezTo>
                    <a:pt x="661" y="385"/>
                    <a:pt x="661" y="385"/>
                    <a:pt x="661" y="385"/>
                  </a:cubicBezTo>
                  <a:cubicBezTo>
                    <a:pt x="552" y="385"/>
                    <a:pt x="552" y="385"/>
                    <a:pt x="552" y="385"/>
                  </a:cubicBezTo>
                  <a:cubicBezTo>
                    <a:pt x="552" y="494"/>
                    <a:pt x="552" y="494"/>
                    <a:pt x="552" y="494"/>
                  </a:cubicBezTo>
                  <a:cubicBezTo>
                    <a:pt x="602" y="494"/>
                    <a:pt x="602" y="494"/>
                    <a:pt x="602" y="494"/>
                  </a:cubicBezTo>
                  <a:cubicBezTo>
                    <a:pt x="544" y="560"/>
                    <a:pt x="510" y="644"/>
                    <a:pt x="510" y="736"/>
                  </a:cubicBezTo>
                  <a:cubicBezTo>
                    <a:pt x="510" y="803"/>
                    <a:pt x="527" y="870"/>
                    <a:pt x="560" y="920"/>
                  </a:cubicBezTo>
                  <a:cubicBezTo>
                    <a:pt x="92" y="920"/>
                    <a:pt x="92" y="920"/>
                    <a:pt x="92" y="920"/>
                  </a:cubicBezTo>
                  <a:lnTo>
                    <a:pt x="92" y="251"/>
                  </a:lnTo>
                  <a:close/>
                  <a:moveTo>
                    <a:pt x="845" y="435"/>
                  </a:moveTo>
                  <a:cubicBezTo>
                    <a:pt x="845" y="418"/>
                    <a:pt x="861" y="402"/>
                    <a:pt x="878" y="402"/>
                  </a:cubicBezTo>
                  <a:cubicBezTo>
                    <a:pt x="895" y="402"/>
                    <a:pt x="911" y="418"/>
                    <a:pt x="911" y="435"/>
                  </a:cubicBezTo>
                  <a:cubicBezTo>
                    <a:pt x="911" y="452"/>
                    <a:pt x="895" y="468"/>
                    <a:pt x="878" y="468"/>
                  </a:cubicBezTo>
                  <a:cubicBezTo>
                    <a:pt x="861" y="468"/>
                    <a:pt x="845" y="452"/>
                    <a:pt x="845" y="435"/>
                  </a:cubicBezTo>
                  <a:close/>
                  <a:moveTo>
                    <a:pt x="610" y="736"/>
                  </a:moveTo>
                  <a:cubicBezTo>
                    <a:pt x="610" y="761"/>
                    <a:pt x="594" y="769"/>
                    <a:pt x="577" y="769"/>
                  </a:cubicBezTo>
                  <a:cubicBezTo>
                    <a:pt x="560" y="769"/>
                    <a:pt x="544" y="761"/>
                    <a:pt x="544" y="736"/>
                  </a:cubicBezTo>
                  <a:cubicBezTo>
                    <a:pt x="544" y="719"/>
                    <a:pt x="560" y="703"/>
                    <a:pt x="577" y="703"/>
                  </a:cubicBezTo>
                  <a:cubicBezTo>
                    <a:pt x="594" y="703"/>
                    <a:pt x="610" y="719"/>
                    <a:pt x="610" y="736"/>
                  </a:cubicBezTo>
                  <a:close/>
                  <a:moveTo>
                    <a:pt x="878" y="1079"/>
                  </a:moveTo>
                  <a:cubicBezTo>
                    <a:pt x="861" y="1079"/>
                    <a:pt x="845" y="1062"/>
                    <a:pt x="845" y="1045"/>
                  </a:cubicBezTo>
                  <a:cubicBezTo>
                    <a:pt x="845" y="1020"/>
                    <a:pt x="861" y="1004"/>
                    <a:pt x="878" y="1004"/>
                  </a:cubicBezTo>
                  <a:cubicBezTo>
                    <a:pt x="895" y="1004"/>
                    <a:pt x="911" y="1020"/>
                    <a:pt x="911" y="1045"/>
                  </a:cubicBezTo>
                  <a:cubicBezTo>
                    <a:pt x="911" y="1062"/>
                    <a:pt x="895" y="1079"/>
                    <a:pt x="878" y="1079"/>
                  </a:cubicBezTo>
                  <a:close/>
                  <a:moveTo>
                    <a:pt x="1087" y="585"/>
                  </a:moveTo>
                  <a:cubicBezTo>
                    <a:pt x="945" y="728"/>
                    <a:pt x="945" y="728"/>
                    <a:pt x="945" y="728"/>
                  </a:cubicBezTo>
                  <a:lnTo>
                    <a:pt x="945" y="736"/>
                  </a:lnTo>
                  <a:cubicBezTo>
                    <a:pt x="945" y="778"/>
                    <a:pt x="920" y="803"/>
                    <a:pt x="878" y="803"/>
                  </a:cubicBezTo>
                  <a:cubicBezTo>
                    <a:pt x="845" y="803"/>
                    <a:pt x="811" y="778"/>
                    <a:pt x="811" y="744"/>
                  </a:cubicBezTo>
                  <a:cubicBezTo>
                    <a:pt x="661" y="627"/>
                    <a:pt x="661" y="627"/>
                    <a:pt x="661" y="627"/>
                  </a:cubicBezTo>
                  <a:cubicBezTo>
                    <a:pt x="652" y="619"/>
                    <a:pt x="644" y="594"/>
                    <a:pt x="652" y="585"/>
                  </a:cubicBezTo>
                  <a:cubicBezTo>
                    <a:pt x="661" y="577"/>
                    <a:pt x="686" y="569"/>
                    <a:pt x="694" y="585"/>
                  </a:cubicBezTo>
                  <a:cubicBezTo>
                    <a:pt x="836" y="686"/>
                    <a:pt x="836" y="686"/>
                    <a:pt x="836" y="686"/>
                  </a:cubicBezTo>
                  <a:cubicBezTo>
                    <a:pt x="845" y="677"/>
                    <a:pt x="861" y="669"/>
                    <a:pt x="878" y="669"/>
                  </a:cubicBezTo>
                  <a:cubicBezTo>
                    <a:pt x="895" y="669"/>
                    <a:pt x="903" y="677"/>
                    <a:pt x="911" y="677"/>
                  </a:cubicBezTo>
                  <a:cubicBezTo>
                    <a:pt x="1045" y="544"/>
                    <a:pt x="1045" y="544"/>
                    <a:pt x="1045" y="544"/>
                  </a:cubicBezTo>
                  <a:cubicBezTo>
                    <a:pt x="1062" y="535"/>
                    <a:pt x="1079" y="535"/>
                    <a:pt x="1087" y="544"/>
                  </a:cubicBezTo>
                  <a:cubicBezTo>
                    <a:pt x="1104" y="552"/>
                    <a:pt x="1096" y="569"/>
                    <a:pt x="1087" y="585"/>
                  </a:cubicBezTo>
                  <a:close/>
                  <a:moveTo>
                    <a:pt x="1179" y="769"/>
                  </a:moveTo>
                  <a:cubicBezTo>
                    <a:pt x="1162" y="769"/>
                    <a:pt x="1146" y="761"/>
                    <a:pt x="1146" y="736"/>
                  </a:cubicBezTo>
                  <a:cubicBezTo>
                    <a:pt x="1146" y="719"/>
                    <a:pt x="1162" y="703"/>
                    <a:pt x="1179" y="703"/>
                  </a:cubicBezTo>
                  <a:cubicBezTo>
                    <a:pt x="1204" y="703"/>
                    <a:pt x="1221" y="719"/>
                    <a:pt x="1221" y="736"/>
                  </a:cubicBezTo>
                  <a:cubicBezTo>
                    <a:pt x="1221" y="761"/>
                    <a:pt x="1204" y="769"/>
                    <a:pt x="1179" y="769"/>
                  </a:cubicBezTo>
                  <a:close/>
                  <a:moveTo>
                    <a:pt x="1179" y="769"/>
                  </a:moveTo>
                  <a:lnTo>
                    <a:pt x="1179" y="769"/>
                  </a:lnTo>
                  <a:close/>
                </a:path>
              </a:pathLst>
            </a:custGeom>
            <a:grpFill/>
            <a:ln>
              <a:noFill/>
            </a:ln>
            <a:effectLst/>
          </p:spPr>
          <p:txBody>
            <a:bodyPr wrap="none" anchor="ctr"/>
            <a:lstStyle/>
            <a:p>
              <a:pPr eaLnBrk="1" fontAlgn="auto" hangingPunct="1">
                <a:spcBef>
                  <a:spcPts val="0"/>
                </a:spcBef>
                <a:spcAft>
                  <a:spcPts val="0"/>
                </a:spcAft>
                <a:defRPr/>
              </a:pPr>
              <a:endParaRPr lang="en-US">
                <a:latin typeface="Open Sans Light"/>
                <a:ea typeface="+mn-ea"/>
                <a:cs typeface="Open Sans Light"/>
              </a:endParaRPr>
            </a:p>
          </p:txBody>
        </p:sp>
      </p:grpSp>
      <p:cxnSp>
        <p:nvCxnSpPr>
          <p:cNvPr id="54" name="直接连接符 53"/>
          <p:cNvCxnSpPr>
            <a:stCxn id="16" idx="0"/>
          </p:cNvCxnSpPr>
          <p:nvPr/>
        </p:nvCxnSpPr>
        <p:spPr>
          <a:xfrm flipV="1">
            <a:off x="3001262" y="2574745"/>
            <a:ext cx="908050" cy="6350"/>
          </a:xfrm>
          <a:prstGeom prst="line">
            <a:avLst/>
          </a:prstGeom>
          <a:ln>
            <a:solidFill>
              <a:schemeClr val="tx1">
                <a:lumMod val="75000"/>
                <a:lumOff val="2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V="1">
            <a:off x="3001262" y="3442558"/>
            <a:ext cx="908050" cy="6350"/>
          </a:xfrm>
          <a:prstGeom prst="line">
            <a:avLst/>
          </a:prstGeom>
          <a:ln>
            <a:solidFill>
              <a:schemeClr val="tx1">
                <a:lumMod val="75000"/>
                <a:lumOff val="2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V="1">
            <a:off x="3001262" y="4303073"/>
            <a:ext cx="908050" cy="4763"/>
          </a:xfrm>
          <a:prstGeom prst="line">
            <a:avLst/>
          </a:prstGeom>
          <a:ln>
            <a:solidFill>
              <a:schemeClr val="tx1">
                <a:lumMod val="75000"/>
                <a:lumOff val="25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V="1">
            <a:off x="3001262" y="5184534"/>
            <a:ext cx="908050" cy="6350"/>
          </a:xfrm>
          <a:prstGeom prst="line">
            <a:avLst/>
          </a:prstGeom>
          <a:ln>
            <a:solidFill>
              <a:schemeClr val="tx1">
                <a:lumMod val="75000"/>
                <a:lumOff val="25000"/>
              </a:schemeClr>
            </a:solidFill>
            <a:prstDash val="lgDash"/>
          </a:ln>
        </p:spPr>
        <p:style>
          <a:lnRef idx="1">
            <a:schemeClr val="accent1"/>
          </a:lnRef>
          <a:fillRef idx="0">
            <a:schemeClr val="accent1"/>
          </a:fillRef>
          <a:effectRef idx="0">
            <a:schemeClr val="accent1"/>
          </a:effectRef>
          <a:fontRef idx="minor">
            <a:schemeClr val="tx1"/>
          </a:fontRef>
        </p:style>
      </p:cxnSp>
      <p:sp>
        <p:nvSpPr>
          <p:cNvPr id="58" name="椭圆 57"/>
          <p:cNvSpPr/>
          <p:nvPr/>
        </p:nvSpPr>
        <p:spPr>
          <a:xfrm>
            <a:off x="3806125" y="2522358"/>
            <a:ext cx="106362" cy="104775"/>
          </a:xfrm>
          <a:prstGeom prst="ellipse">
            <a:avLst/>
          </a:prstGeom>
          <a:solidFill>
            <a:srgbClr val="FFFFFF"/>
          </a:solidFill>
          <a:ln w="28575">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595959"/>
              </a:solidFill>
            </a:endParaRPr>
          </a:p>
        </p:txBody>
      </p:sp>
      <p:sp>
        <p:nvSpPr>
          <p:cNvPr id="59" name="椭圆 58"/>
          <p:cNvSpPr/>
          <p:nvPr/>
        </p:nvSpPr>
        <p:spPr>
          <a:xfrm>
            <a:off x="3806125" y="3377471"/>
            <a:ext cx="106362" cy="106362"/>
          </a:xfrm>
          <a:prstGeom prst="ellipse">
            <a:avLst/>
          </a:prstGeom>
          <a:solidFill>
            <a:srgbClr val="FFFFFF"/>
          </a:solidFill>
          <a:ln w="28575">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595959"/>
              </a:solidFill>
            </a:endParaRPr>
          </a:p>
        </p:txBody>
      </p:sp>
      <p:sp>
        <p:nvSpPr>
          <p:cNvPr id="60" name="椭圆 59"/>
          <p:cNvSpPr/>
          <p:nvPr/>
        </p:nvSpPr>
        <p:spPr>
          <a:xfrm>
            <a:off x="3806125" y="4249098"/>
            <a:ext cx="106362" cy="106363"/>
          </a:xfrm>
          <a:prstGeom prst="ellipse">
            <a:avLst/>
          </a:prstGeom>
          <a:solidFill>
            <a:srgbClr val="FFFFFF"/>
          </a:solidFill>
          <a:ln w="28575">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595959"/>
              </a:solidFill>
            </a:endParaRPr>
          </a:p>
        </p:txBody>
      </p:sp>
      <p:sp>
        <p:nvSpPr>
          <p:cNvPr id="61" name="椭圆 60"/>
          <p:cNvSpPr/>
          <p:nvPr/>
        </p:nvSpPr>
        <p:spPr>
          <a:xfrm>
            <a:off x="3806125" y="5119447"/>
            <a:ext cx="106362" cy="106362"/>
          </a:xfrm>
          <a:prstGeom prst="ellipse">
            <a:avLst/>
          </a:prstGeom>
          <a:solidFill>
            <a:srgbClr val="FFFFFF"/>
          </a:solidFill>
          <a:ln w="28575">
            <a:solidFill>
              <a:srgbClr val="595959"/>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595959"/>
              </a:solidFill>
            </a:endParaRPr>
          </a:p>
        </p:txBody>
      </p:sp>
      <p:sp>
        <p:nvSpPr>
          <p:cNvPr id="62" name="文本框 52"/>
          <p:cNvSpPr txBox="1">
            <a:spLocks noChangeArrowheads="1"/>
          </p:cNvSpPr>
          <p:nvPr/>
        </p:nvSpPr>
        <p:spPr bwMode="auto">
          <a:xfrm>
            <a:off x="4141246" y="2347094"/>
            <a:ext cx="1210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空闲让进</a:t>
            </a:r>
          </a:p>
        </p:txBody>
      </p:sp>
      <p:sp>
        <p:nvSpPr>
          <p:cNvPr id="63" name="文本框 54"/>
          <p:cNvSpPr txBox="1">
            <a:spLocks noChangeArrowheads="1"/>
          </p:cNvSpPr>
          <p:nvPr/>
        </p:nvSpPr>
        <p:spPr bwMode="auto">
          <a:xfrm>
            <a:off x="4162830" y="3143115"/>
            <a:ext cx="1210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000" b="1" dirty="0">
                <a:solidFill>
                  <a:srgbClr val="595959"/>
                </a:solidFill>
                <a:latin typeface="微软雅黑" panose="020B0503020204020204" pitchFamily="34" charset="-122"/>
                <a:ea typeface="微软雅黑" panose="020B0503020204020204" pitchFamily="34" charset="-122"/>
              </a:rPr>
              <a:t>忙则等待</a:t>
            </a:r>
          </a:p>
        </p:txBody>
      </p:sp>
      <p:sp>
        <p:nvSpPr>
          <p:cNvPr id="64" name="文本框 56"/>
          <p:cNvSpPr txBox="1">
            <a:spLocks noChangeArrowheads="1"/>
          </p:cNvSpPr>
          <p:nvPr/>
        </p:nvSpPr>
        <p:spPr bwMode="auto">
          <a:xfrm>
            <a:off x="4149182" y="4047727"/>
            <a:ext cx="1210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有限等待</a:t>
            </a:r>
          </a:p>
        </p:txBody>
      </p:sp>
      <p:sp>
        <p:nvSpPr>
          <p:cNvPr id="65" name="文本框 58"/>
          <p:cNvSpPr txBox="1">
            <a:spLocks noChangeArrowheads="1"/>
          </p:cNvSpPr>
          <p:nvPr/>
        </p:nvSpPr>
        <p:spPr bwMode="auto">
          <a:xfrm>
            <a:off x="4176478" y="4965061"/>
            <a:ext cx="12105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让权等待</a:t>
            </a:r>
          </a:p>
        </p:txBody>
      </p:sp>
      <p:sp>
        <p:nvSpPr>
          <p:cNvPr id="5" name="文本框 4">
            <a:extLst>
              <a:ext uri="{FF2B5EF4-FFF2-40B4-BE49-F238E27FC236}">
                <a16:creationId xmlns:a16="http://schemas.microsoft.com/office/drawing/2014/main" id="{95945B78-0033-DA79-7D17-CD2176E718F5}"/>
              </a:ext>
            </a:extLst>
          </p:cNvPr>
          <p:cNvSpPr txBox="1"/>
          <p:nvPr/>
        </p:nvSpPr>
        <p:spPr>
          <a:xfrm>
            <a:off x="5387066" y="2342917"/>
            <a:ext cx="6338066" cy="400110"/>
          </a:xfrm>
          <a:prstGeom prst="rect">
            <a:avLst/>
          </a:prstGeom>
          <a:noFill/>
        </p:spPr>
        <p:txBody>
          <a:bodyPr wrap="square">
            <a:spAutoFit/>
          </a:bodyPr>
          <a:lstStyle/>
          <a:p>
            <a:r>
              <a:rPr kumimoji="1" lang="zh-CN" altLang="en-US" sz="2000" dirty="0">
                <a:latin typeface="宋体" pitchFamily="2" charset="-122"/>
                <a:ea typeface="宋体" pitchFamily="2" charset="-122"/>
              </a:rPr>
              <a:t>不在临界区的进程不阻止其他进程进入</a:t>
            </a:r>
            <a:r>
              <a:rPr kumimoji="1" lang="zh-CN" altLang="en-US" sz="2000" dirty="0">
                <a:latin typeface="Tahoma" pitchFamily="34" charset="0"/>
                <a:ea typeface="宋体" pitchFamily="2" charset="-122"/>
              </a:rPr>
              <a:t> </a:t>
            </a:r>
          </a:p>
        </p:txBody>
      </p:sp>
      <p:sp>
        <p:nvSpPr>
          <p:cNvPr id="6" name="文本框 5">
            <a:extLst>
              <a:ext uri="{FF2B5EF4-FFF2-40B4-BE49-F238E27FC236}">
                <a16:creationId xmlns:a16="http://schemas.microsoft.com/office/drawing/2014/main" id="{39341189-B808-8E8A-3B14-A6F355982E5C}"/>
              </a:ext>
            </a:extLst>
          </p:cNvPr>
          <p:cNvSpPr txBox="1"/>
          <p:nvPr/>
        </p:nvSpPr>
        <p:spPr>
          <a:xfrm>
            <a:off x="5398199" y="3151641"/>
            <a:ext cx="5977457" cy="400110"/>
          </a:xfrm>
          <a:prstGeom prst="rect">
            <a:avLst/>
          </a:prstGeom>
          <a:noFill/>
        </p:spPr>
        <p:txBody>
          <a:bodyPr wrap="square">
            <a:spAutoFit/>
          </a:bodyPr>
          <a:lstStyle/>
          <a:p>
            <a:r>
              <a:rPr kumimoji="1" lang="zh-CN" altLang="en-US" sz="2000" dirty="0">
                <a:latin typeface="宋体" pitchFamily="2" charset="-122"/>
                <a:ea typeface="宋体" pitchFamily="2" charset="-122"/>
              </a:rPr>
              <a:t>只允许一个进程进入临界区</a:t>
            </a:r>
            <a:r>
              <a:rPr kumimoji="1" lang="zh-CN" altLang="en-US" sz="2000" dirty="0">
                <a:latin typeface="Tahoma" pitchFamily="34" charset="0"/>
                <a:ea typeface="宋体" pitchFamily="2" charset="-122"/>
              </a:rPr>
              <a:t> </a:t>
            </a:r>
          </a:p>
        </p:txBody>
      </p:sp>
      <p:sp>
        <p:nvSpPr>
          <p:cNvPr id="7" name="文本框 6">
            <a:extLst>
              <a:ext uri="{FF2B5EF4-FFF2-40B4-BE49-F238E27FC236}">
                <a16:creationId xmlns:a16="http://schemas.microsoft.com/office/drawing/2014/main" id="{8CC27C9F-AEE0-8A4D-00F8-658D4CC85574}"/>
              </a:ext>
            </a:extLst>
          </p:cNvPr>
          <p:cNvSpPr txBox="1"/>
          <p:nvPr/>
        </p:nvSpPr>
        <p:spPr>
          <a:xfrm>
            <a:off x="5404788" y="4002104"/>
            <a:ext cx="6472212" cy="400110"/>
          </a:xfrm>
          <a:prstGeom prst="rect">
            <a:avLst/>
          </a:prstGeom>
          <a:noFill/>
        </p:spPr>
        <p:txBody>
          <a:bodyPr wrap="square">
            <a:spAutoFit/>
          </a:bodyPr>
          <a:lstStyle/>
          <a:p>
            <a:r>
              <a:rPr kumimoji="1" lang="zh-CN" altLang="en-US" sz="2000" dirty="0">
                <a:latin typeface="Tahoma" pitchFamily="34" charset="0"/>
                <a:ea typeface="宋体" pitchFamily="2" charset="-122"/>
              </a:rPr>
              <a:t>从申请进入临界区时开始，在有限时间内进入临界区</a:t>
            </a:r>
          </a:p>
        </p:txBody>
      </p:sp>
      <p:sp>
        <p:nvSpPr>
          <p:cNvPr id="9" name="文本框 8">
            <a:extLst>
              <a:ext uri="{FF2B5EF4-FFF2-40B4-BE49-F238E27FC236}">
                <a16:creationId xmlns:a16="http://schemas.microsoft.com/office/drawing/2014/main" id="{781B58BD-0B12-BCE3-3917-7C6263849EFB}"/>
              </a:ext>
            </a:extLst>
          </p:cNvPr>
          <p:cNvSpPr txBox="1"/>
          <p:nvPr/>
        </p:nvSpPr>
        <p:spPr>
          <a:xfrm>
            <a:off x="5409631" y="4963803"/>
            <a:ext cx="5977457" cy="400110"/>
          </a:xfrm>
          <a:prstGeom prst="rect">
            <a:avLst/>
          </a:prstGeom>
          <a:noFill/>
        </p:spPr>
        <p:txBody>
          <a:bodyPr wrap="square">
            <a:spAutoFit/>
          </a:bodyPr>
          <a:lstStyle/>
          <a:p>
            <a:r>
              <a:rPr kumimoji="1" lang="zh-CN" altLang="en-US" sz="2000" dirty="0">
                <a:latin typeface="宋体" pitchFamily="2" charset="-122"/>
                <a:ea typeface="宋体" pitchFamily="2" charset="-122"/>
              </a:rPr>
              <a:t>进程不能进入临界区，应立即释放处理机</a:t>
            </a:r>
            <a:endParaRPr kumimoji="1" lang="zh-CN" altLang="en-US" sz="2000" dirty="0">
              <a:latin typeface="Tahoma" pitchFamily="34" charset="0"/>
              <a:ea typeface="宋体" pitchFamily="2" charset="-122"/>
            </a:endParaRPr>
          </a:p>
        </p:txBody>
      </p:sp>
    </p:spTree>
    <p:extLst>
      <p:ext uri="{BB962C8B-B14F-4D97-AF65-F5344CB8AC3E}">
        <p14:creationId xmlns:p14="http://schemas.microsoft.com/office/powerpoint/2010/main" val="2120001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grpId="0" nodeType="clickEffect">
                                  <p:stCondLst>
                                    <p:cond delay="0"/>
                                  </p:stCondLst>
                                  <p:iterate type="lt">
                                    <p:tmPct val="5000"/>
                                  </p:iterate>
                                  <p:childTnLst>
                                    <p:set>
                                      <p:cBhvr>
                                        <p:cTn id="6" dur="1" fill="hold">
                                          <p:stCondLst>
                                            <p:cond delay="0"/>
                                          </p:stCondLst>
                                        </p:cTn>
                                        <p:tgtEl>
                                          <p:spTgt spid="62"/>
                                        </p:tgtEl>
                                        <p:attrNameLst>
                                          <p:attrName>style.visibility</p:attrName>
                                        </p:attrNameLst>
                                      </p:cBhvr>
                                      <p:to>
                                        <p:strVal val="visible"/>
                                      </p:to>
                                    </p:set>
                                    <p:anim calcmode="lin" valueType="num">
                                      <p:cBhvr>
                                        <p:cTn id="7" dur="500" fill="hold"/>
                                        <p:tgtEl>
                                          <p:spTgt spid="62"/>
                                        </p:tgtEl>
                                        <p:attrNameLst>
                                          <p:attrName>ppt_w</p:attrName>
                                        </p:attrNameLst>
                                      </p:cBhvr>
                                      <p:tavLst>
                                        <p:tav tm="0">
                                          <p:val>
                                            <p:strVal val="#ppt_w+.3"/>
                                          </p:val>
                                        </p:tav>
                                        <p:tav tm="100000">
                                          <p:val>
                                            <p:strVal val="#ppt_w"/>
                                          </p:val>
                                        </p:tav>
                                      </p:tavLst>
                                    </p:anim>
                                    <p:anim calcmode="lin" valueType="num">
                                      <p:cBhvr>
                                        <p:cTn id="8" dur="500" fill="hold"/>
                                        <p:tgtEl>
                                          <p:spTgt spid="62"/>
                                        </p:tgtEl>
                                        <p:attrNameLst>
                                          <p:attrName>ppt_h</p:attrName>
                                        </p:attrNameLst>
                                      </p:cBhvr>
                                      <p:tavLst>
                                        <p:tav tm="0">
                                          <p:val>
                                            <p:strVal val="#ppt_h"/>
                                          </p:val>
                                        </p:tav>
                                        <p:tav tm="100000">
                                          <p:val>
                                            <p:strVal val="#ppt_h"/>
                                          </p:val>
                                        </p:tav>
                                      </p:tavLst>
                                    </p:anim>
                                    <p:animEffect transition="in" filter="fade">
                                      <p:cBhvr>
                                        <p:cTn id="9" dur="500"/>
                                        <p:tgtEl>
                                          <p:spTgt spid="62"/>
                                        </p:tgtEl>
                                      </p:cBhvr>
                                    </p:animEffect>
                                  </p:childTnLst>
                                </p:cTn>
                              </p:par>
                            </p:childTnLst>
                          </p:cTn>
                        </p:par>
                      </p:childTnLst>
                    </p:cTn>
                  </p:par>
                  <p:par>
                    <p:cTn id="10" fill="hold">
                      <p:stCondLst>
                        <p:cond delay="indefinite"/>
                      </p:stCondLst>
                      <p:childTnLst>
                        <p:par>
                          <p:cTn id="11" fill="hold">
                            <p:stCondLst>
                              <p:cond delay="0"/>
                            </p:stCondLst>
                            <p:childTnLst>
                              <p:par>
                                <p:cTn id="12" presetID="50" presetClass="entr" presetSubtype="0" decel="100000" fill="hold" grpId="0" nodeType="clickEffect">
                                  <p:stCondLst>
                                    <p:cond delay="0"/>
                                  </p:stCondLst>
                                  <p:iterate type="lt">
                                    <p:tmPct val="5000"/>
                                  </p:iterate>
                                  <p:childTnLst>
                                    <p:set>
                                      <p:cBhvr>
                                        <p:cTn id="13" dur="1" fill="hold">
                                          <p:stCondLst>
                                            <p:cond delay="0"/>
                                          </p:stCondLst>
                                        </p:cTn>
                                        <p:tgtEl>
                                          <p:spTgt spid="63"/>
                                        </p:tgtEl>
                                        <p:attrNameLst>
                                          <p:attrName>style.visibility</p:attrName>
                                        </p:attrNameLst>
                                      </p:cBhvr>
                                      <p:to>
                                        <p:strVal val="visible"/>
                                      </p:to>
                                    </p:set>
                                    <p:anim calcmode="lin" valueType="num">
                                      <p:cBhvr>
                                        <p:cTn id="14" dur="500" fill="hold"/>
                                        <p:tgtEl>
                                          <p:spTgt spid="63"/>
                                        </p:tgtEl>
                                        <p:attrNameLst>
                                          <p:attrName>ppt_w</p:attrName>
                                        </p:attrNameLst>
                                      </p:cBhvr>
                                      <p:tavLst>
                                        <p:tav tm="0">
                                          <p:val>
                                            <p:strVal val="#ppt_w+.3"/>
                                          </p:val>
                                        </p:tav>
                                        <p:tav tm="100000">
                                          <p:val>
                                            <p:strVal val="#ppt_w"/>
                                          </p:val>
                                        </p:tav>
                                      </p:tavLst>
                                    </p:anim>
                                    <p:anim calcmode="lin" valueType="num">
                                      <p:cBhvr>
                                        <p:cTn id="15" dur="500" fill="hold"/>
                                        <p:tgtEl>
                                          <p:spTgt spid="63"/>
                                        </p:tgtEl>
                                        <p:attrNameLst>
                                          <p:attrName>ppt_h</p:attrName>
                                        </p:attrNameLst>
                                      </p:cBhvr>
                                      <p:tavLst>
                                        <p:tav tm="0">
                                          <p:val>
                                            <p:strVal val="#ppt_h"/>
                                          </p:val>
                                        </p:tav>
                                        <p:tav tm="100000">
                                          <p:val>
                                            <p:strVal val="#ppt_h"/>
                                          </p:val>
                                        </p:tav>
                                      </p:tavLst>
                                    </p:anim>
                                    <p:animEffect transition="in" filter="fade">
                                      <p:cBhvr>
                                        <p:cTn id="16" dur="500"/>
                                        <p:tgtEl>
                                          <p:spTgt spid="63"/>
                                        </p:tgtEl>
                                      </p:cBhvr>
                                    </p:animEffect>
                                  </p:childTnLst>
                                </p:cTn>
                              </p:par>
                            </p:childTnLst>
                          </p:cTn>
                        </p:par>
                      </p:childTnLst>
                    </p:cTn>
                  </p:par>
                  <p:par>
                    <p:cTn id="17" fill="hold">
                      <p:stCondLst>
                        <p:cond delay="indefinite"/>
                      </p:stCondLst>
                      <p:childTnLst>
                        <p:par>
                          <p:cTn id="18" fill="hold">
                            <p:stCondLst>
                              <p:cond delay="0"/>
                            </p:stCondLst>
                            <p:childTnLst>
                              <p:par>
                                <p:cTn id="19" presetID="50" presetClass="entr" presetSubtype="0" decel="100000" fill="hold" grpId="0" nodeType="clickEffect">
                                  <p:stCondLst>
                                    <p:cond delay="0"/>
                                  </p:stCondLst>
                                  <p:iterate type="lt">
                                    <p:tmPct val="5000"/>
                                  </p:iterate>
                                  <p:childTnLst>
                                    <p:set>
                                      <p:cBhvr>
                                        <p:cTn id="20" dur="1" fill="hold">
                                          <p:stCondLst>
                                            <p:cond delay="0"/>
                                          </p:stCondLst>
                                        </p:cTn>
                                        <p:tgtEl>
                                          <p:spTgt spid="64"/>
                                        </p:tgtEl>
                                        <p:attrNameLst>
                                          <p:attrName>style.visibility</p:attrName>
                                        </p:attrNameLst>
                                      </p:cBhvr>
                                      <p:to>
                                        <p:strVal val="visible"/>
                                      </p:to>
                                    </p:set>
                                    <p:anim calcmode="lin" valueType="num">
                                      <p:cBhvr>
                                        <p:cTn id="21" dur="500" fill="hold"/>
                                        <p:tgtEl>
                                          <p:spTgt spid="64"/>
                                        </p:tgtEl>
                                        <p:attrNameLst>
                                          <p:attrName>ppt_w</p:attrName>
                                        </p:attrNameLst>
                                      </p:cBhvr>
                                      <p:tavLst>
                                        <p:tav tm="0">
                                          <p:val>
                                            <p:strVal val="#ppt_w+.3"/>
                                          </p:val>
                                        </p:tav>
                                        <p:tav tm="100000">
                                          <p:val>
                                            <p:strVal val="#ppt_w"/>
                                          </p:val>
                                        </p:tav>
                                      </p:tavLst>
                                    </p:anim>
                                    <p:anim calcmode="lin" valueType="num">
                                      <p:cBhvr>
                                        <p:cTn id="22" dur="500" fill="hold"/>
                                        <p:tgtEl>
                                          <p:spTgt spid="64"/>
                                        </p:tgtEl>
                                        <p:attrNameLst>
                                          <p:attrName>ppt_h</p:attrName>
                                        </p:attrNameLst>
                                      </p:cBhvr>
                                      <p:tavLst>
                                        <p:tav tm="0">
                                          <p:val>
                                            <p:strVal val="#ppt_h"/>
                                          </p:val>
                                        </p:tav>
                                        <p:tav tm="100000">
                                          <p:val>
                                            <p:strVal val="#ppt_h"/>
                                          </p:val>
                                        </p:tav>
                                      </p:tavLst>
                                    </p:anim>
                                    <p:animEffect transition="in" filter="fade">
                                      <p:cBhvr>
                                        <p:cTn id="23" dur="500"/>
                                        <p:tgtEl>
                                          <p:spTgt spid="64"/>
                                        </p:tgtEl>
                                      </p:cBhvr>
                                    </p:animEffect>
                                  </p:childTnLst>
                                </p:cTn>
                              </p:par>
                            </p:childTnLst>
                          </p:cTn>
                        </p:par>
                      </p:childTnLst>
                    </p:cTn>
                  </p:par>
                  <p:par>
                    <p:cTn id="24" fill="hold">
                      <p:stCondLst>
                        <p:cond delay="indefinite"/>
                      </p:stCondLst>
                      <p:childTnLst>
                        <p:par>
                          <p:cTn id="25" fill="hold">
                            <p:stCondLst>
                              <p:cond delay="0"/>
                            </p:stCondLst>
                            <p:childTnLst>
                              <p:par>
                                <p:cTn id="26" presetID="50" presetClass="entr" presetSubtype="0" decel="100000" fill="hold" grpId="0" nodeType="clickEffect">
                                  <p:stCondLst>
                                    <p:cond delay="0"/>
                                  </p:stCondLst>
                                  <p:iterate type="lt">
                                    <p:tmPct val="5000"/>
                                  </p:iterate>
                                  <p:childTnLst>
                                    <p:set>
                                      <p:cBhvr>
                                        <p:cTn id="27" dur="1" fill="hold">
                                          <p:stCondLst>
                                            <p:cond delay="0"/>
                                          </p:stCondLst>
                                        </p:cTn>
                                        <p:tgtEl>
                                          <p:spTgt spid="65"/>
                                        </p:tgtEl>
                                        <p:attrNameLst>
                                          <p:attrName>style.visibility</p:attrName>
                                        </p:attrNameLst>
                                      </p:cBhvr>
                                      <p:to>
                                        <p:strVal val="visible"/>
                                      </p:to>
                                    </p:set>
                                    <p:anim calcmode="lin" valueType="num">
                                      <p:cBhvr>
                                        <p:cTn id="28" dur="500" fill="hold"/>
                                        <p:tgtEl>
                                          <p:spTgt spid="65"/>
                                        </p:tgtEl>
                                        <p:attrNameLst>
                                          <p:attrName>ppt_w</p:attrName>
                                        </p:attrNameLst>
                                      </p:cBhvr>
                                      <p:tavLst>
                                        <p:tav tm="0">
                                          <p:val>
                                            <p:strVal val="#ppt_w+.3"/>
                                          </p:val>
                                        </p:tav>
                                        <p:tav tm="100000">
                                          <p:val>
                                            <p:strVal val="#ppt_w"/>
                                          </p:val>
                                        </p:tav>
                                      </p:tavLst>
                                    </p:anim>
                                    <p:anim calcmode="lin" valueType="num">
                                      <p:cBhvr>
                                        <p:cTn id="29" dur="500" fill="hold"/>
                                        <p:tgtEl>
                                          <p:spTgt spid="65"/>
                                        </p:tgtEl>
                                        <p:attrNameLst>
                                          <p:attrName>ppt_h</p:attrName>
                                        </p:attrNameLst>
                                      </p:cBhvr>
                                      <p:tavLst>
                                        <p:tav tm="0">
                                          <p:val>
                                            <p:strVal val="#ppt_h"/>
                                          </p:val>
                                        </p:tav>
                                        <p:tav tm="100000">
                                          <p:val>
                                            <p:strVal val="#ppt_h"/>
                                          </p:val>
                                        </p:tav>
                                      </p:tavLst>
                                    </p:anim>
                                    <p:animEffect transition="in" filter="fade">
                                      <p:cBhvr>
                                        <p:cTn id="30" dur="500"/>
                                        <p:tgtEl>
                                          <p:spTgt spid="65"/>
                                        </p:tgtEl>
                                      </p:cBhvr>
                                    </p:animEffect>
                                  </p:childTnLst>
                                </p:cTn>
                              </p:par>
                              <p:par>
                                <p:cTn id="31" presetID="42" presetClass="entr" presetSubtype="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1000"/>
                                        <p:tgtEl>
                                          <p:spTgt spid="5"/>
                                        </p:tgtEl>
                                      </p:cBhvr>
                                    </p:animEffect>
                                    <p:anim calcmode="lin" valueType="num">
                                      <p:cBhvr>
                                        <p:cTn id="34" dur="1000" fill="hold"/>
                                        <p:tgtEl>
                                          <p:spTgt spid="5"/>
                                        </p:tgtEl>
                                        <p:attrNameLst>
                                          <p:attrName>ppt_x</p:attrName>
                                        </p:attrNameLst>
                                      </p:cBhvr>
                                      <p:tavLst>
                                        <p:tav tm="0">
                                          <p:val>
                                            <p:strVal val="#ppt_x"/>
                                          </p:val>
                                        </p:tav>
                                        <p:tav tm="100000">
                                          <p:val>
                                            <p:strVal val="#ppt_x"/>
                                          </p:val>
                                        </p:tav>
                                      </p:tavLst>
                                    </p:anim>
                                    <p:anim calcmode="lin" valueType="num">
                                      <p:cBhvr>
                                        <p:cTn id="35" dur="1000" fill="hold"/>
                                        <p:tgtEl>
                                          <p:spTgt spid="5"/>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fade">
                                      <p:cBhvr>
                                        <p:cTn id="38" dur="1000"/>
                                        <p:tgtEl>
                                          <p:spTgt spid="6"/>
                                        </p:tgtEl>
                                      </p:cBhvr>
                                    </p:animEffect>
                                    <p:anim calcmode="lin" valueType="num">
                                      <p:cBhvr>
                                        <p:cTn id="39" dur="1000" fill="hold"/>
                                        <p:tgtEl>
                                          <p:spTgt spid="6"/>
                                        </p:tgtEl>
                                        <p:attrNameLst>
                                          <p:attrName>ppt_x</p:attrName>
                                        </p:attrNameLst>
                                      </p:cBhvr>
                                      <p:tavLst>
                                        <p:tav tm="0">
                                          <p:val>
                                            <p:strVal val="#ppt_x"/>
                                          </p:val>
                                        </p:tav>
                                        <p:tav tm="100000">
                                          <p:val>
                                            <p:strVal val="#ppt_x"/>
                                          </p:val>
                                        </p:tav>
                                      </p:tavLst>
                                    </p:anim>
                                    <p:anim calcmode="lin" valueType="num">
                                      <p:cBhvr>
                                        <p:cTn id="40" dur="1000" fill="hold"/>
                                        <p:tgtEl>
                                          <p:spTgt spid="6"/>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fade">
                                      <p:cBhvr>
                                        <p:cTn id="43" dur="1000"/>
                                        <p:tgtEl>
                                          <p:spTgt spid="7"/>
                                        </p:tgtEl>
                                      </p:cBhvr>
                                    </p:animEffect>
                                    <p:anim calcmode="lin" valueType="num">
                                      <p:cBhvr>
                                        <p:cTn id="44" dur="1000" fill="hold"/>
                                        <p:tgtEl>
                                          <p:spTgt spid="7"/>
                                        </p:tgtEl>
                                        <p:attrNameLst>
                                          <p:attrName>ppt_x</p:attrName>
                                        </p:attrNameLst>
                                      </p:cBhvr>
                                      <p:tavLst>
                                        <p:tav tm="0">
                                          <p:val>
                                            <p:strVal val="#ppt_x"/>
                                          </p:val>
                                        </p:tav>
                                        <p:tav tm="100000">
                                          <p:val>
                                            <p:strVal val="#ppt_x"/>
                                          </p:val>
                                        </p:tav>
                                      </p:tavLst>
                                    </p:anim>
                                    <p:anim calcmode="lin" valueType="num">
                                      <p:cBhvr>
                                        <p:cTn id="45" dur="1000" fill="hold"/>
                                        <p:tgtEl>
                                          <p:spTgt spid="7"/>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1000"/>
                                        <p:tgtEl>
                                          <p:spTgt spid="9"/>
                                        </p:tgtEl>
                                      </p:cBhvr>
                                    </p:animEffect>
                                    <p:anim calcmode="lin" valueType="num">
                                      <p:cBhvr>
                                        <p:cTn id="49" dur="1000" fill="hold"/>
                                        <p:tgtEl>
                                          <p:spTgt spid="9"/>
                                        </p:tgtEl>
                                        <p:attrNameLst>
                                          <p:attrName>ppt_x</p:attrName>
                                        </p:attrNameLst>
                                      </p:cBhvr>
                                      <p:tavLst>
                                        <p:tav tm="0">
                                          <p:val>
                                            <p:strVal val="#ppt_x"/>
                                          </p:val>
                                        </p:tav>
                                        <p:tav tm="100000">
                                          <p:val>
                                            <p:strVal val="#ppt_x"/>
                                          </p:val>
                                        </p:tav>
                                      </p:tavLst>
                                    </p:anim>
                                    <p:anim calcmode="lin" valueType="num">
                                      <p:cBhvr>
                                        <p:cTn id="5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63" grpId="0"/>
      <p:bldP spid="64" grpId="0"/>
      <p:bldP spid="65" grpId="0"/>
      <p:bldP spid="5" grpId="0"/>
      <p:bldP spid="6" grpId="0"/>
      <p:bldP spid="7" grpId="0"/>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p:cNvSpPr txBox="1">
            <a:spLocks/>
          </p:cNvSpPr>
          <p:nvPr/>
        </p:nvSpPr>
        <p:spPr>
          <a:xfrm>
            <a:off x="848832" y="202028"/>
            <a:ext cx="8991203" cy="457196"/>
          </a:xfrm>
          <a:prstGeom prst="rect">
            <a:avLst/>
          </a:prstGeom>
        </p:spPr>
        <p:txBody>
          <a:bodyPr/>
          <a:lstStyle>
            <a:lvl1pPr algn="l" defTabSz="914400" rtl="0" eaLnBrk="1" latinLnBrk="0" hangingPunct="1">
              <a:lnSpc>
                <a:spcPct val="90000"/>
              </a:lnSpc>
              <a:spcBef>
                <a:spcPct val="0"/>
              </a:spcBef>
              <a:buNone/>
              <a:defRPr lang="zh-CN" altLang="en-US" sz="2400" b="1" kern="1200" dirty="0">
                <a:solidFill>
                  <a:srgbClr val="3D7351"/>
                </a:solidFill>
                <a:latin typeface="微软雅黑" panose="020B0503020204020204" pitchFamily="34" charset="-122"/>
                <a:ea typeface="微软雅黑" panose="020B0503020204020204" pitchFamily="34" charset="-122"/>
                <a:cs typeface="+mn-cs"/>
              </a:defRPr>
            </a:lvl1pPr>
          </a:lstStyle>
          <a:p>
            <a:r>
              <a:rPr lang="en-US" altLang="zh-CN" dirty="0"/>
              <a:t>2.</a:t>
            </a:r>
            <a:r>
              <a:rPr lang="zh-CN" altLang="en-US" dirty="0"/>
              <a:t>硬件同步机制</a:t>
            </a:r>
            <a:r>
              <a:rPr lang="en-US" altLang="zh-CN" dirty="0"/>
              <a:t>—</a:t>
            </a:r>
            <a:r>
              <a:rPr lang="zh-CN" altLang="en-US" dirty="0"/>
              <a:t>利用特殊的硬件指令解决临界区问题</a:t>
            </a:r>
          </a:p>
        </p:txBody>
      </p:sp>
      <p:sp>
        <p:nvSpPr>
          <p:cNvPr id="9" name="矩形 8"/>
          <p:cNvSpPr/>
          <p:nvPr/>
        </p:nvSpPr>
        <p:spPr>
          <a:xfrm>
            <a:off x="1150228" y="1561310"/>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 name="矩形 9"/>
          <p:cNvSpPr/>
          <p:nvPr/>
        </p:nvSpPr>
        <p:spPr>
          <a:xfrm>
            <a:off x="2058278" y="1561310"/>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1" name="文本框 55"/>
          <p:cNvSpPr txBox="1">
            <a:spLocks noChangeArrowheads="1"/>
          </p:cNvSpPr>
          <p:nvPr/>
        </p:nvSpPr>
        <p:spPr bwMode="auto">
          <a:xfrm>
            <a:off x="1004178" y="1027910"/>
            <a:ext cx="44069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）关中断</a:t>
            </a:r>
          </a:p>
        </p:txBody>
      </p:sp>
      <p:sp>
        <p:nvSpPr>
          <p:cNvPr id="12" name="文本框 19"/>
          <p:cNvSpPr txBox="1">
            <a:spLocks noChangeArrowheads="1"/>
          </p:cNvSpPr>
          <p:nvPr/>
        </p:nvSpPr>
        <p:spPr bwMode="auto">
          <a:xfrm>
            <a:off x="1150228" y="1790129"/>
            <a:ext cx="979527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进程中访问临界资源的那段代码。在进入锁测试之前关闭中断，直到完成锁测试并上锁之后才能打开中断。</a:t>
            </a:r>
            <a:endParaRPr lang="en-US" altLang="zh-CN" sz="2400" dirty="0"/>
          </a:p>
          <a:p>
            <a:pPr marL="0" lvl="2" indent="0">
              <a:buBlip>
                <a:blip r:embed="rId3"/>
              </a:buBlip>
            </a:pPr>
            <a:r>
              <a:rPr lang="zh-CN" altLang="en-US" sz="2400" dirty="0"/>
              <a:t>互斥的保证：通过对锁测试和关锁操作连续性和完整性的保证。</a:t>
            </a:r>
          </a:p>
        </p:txBody>
      </p:sp>
      <p:grpSp>
        <p:nvGrpSpPr>
          <p:cNvPr id="3" name="组合 2"/>
          <p:cNvGrpSpPr/>
          <p:nvPr/>
        </p:nvGrpSpPr>
        <p:grpSpPr>
          <a:xfrm>
            <a:off x="1178165" y="3164641"/>
            <a:ext cx="2719010" cy="1590871"/>
            <a:chOff x="1178165" y="3164641"/>
            <a:chExt cx="2719010" cy="1590871"/>
          </a:xfrm>
        </p:grpSpPr>
        <p:sp>
          <p:nvSpPr>
            <p:cNvPr id="25" name="文本1"/>
            <p:cNvSpPr>
              <a:spLocks noChangeArrowheads="1"/>
            </p:cNvSpPr>
            <p:nvPr/>
          </p:nvSpPr>
          <p:spPr bwMode="auto">
            <a:xfrm>
              <a:off x="1178165" y="3164641"/>
              <a:ext cx="2719010" cy="1590871"/>
            </a:xfrm>
            <a:prstGeom prst="rect">
              <a:avLst/>
            </a:prstGeom>
            <a:gradFill>
              <a:gsLst>
                <a:gs pos="33000">
                  <a:srgbClr val="F9F9F9"/>
                </a:gs>
                <a:gs pos="100000">
                  <a:srgbClr val="D7D7D7"/>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anchor="ctr"/>
            <a:lstStyle/>
            <a:p>
              <a:pPr lvl="0">
                <a:lnSpc>
                  <a:spcPct val="150000"/>
                </a:lnSpc>
                <a:defRPr/>
              </a:pPr>
              <a:endParaRPr lang="en-US" altLang="zh-CN" sz="1600" kern="0" dirty="0">
                <a:solidFill>
                  <a:srgbClr val="4D4D4D"/>
                </a:solidFill>
                <a:latin typeface="微软雅黑" pitchFamily="34" charset="-122"/>
                <a:ea typeface="微软雅黑" pitchFamily="34" charset="-122"/>
              </a:endParaRPr>
            </a:p>
          </p:txBody>
        </p:sp>
        <p:sp>
          <p:nvSpPr>
            <p:cNvPr id="31" name="TextBox 1"/>
            <p:cNvSpPr txBox="1"/>
            <p:nvPr/>
          </p:nvSpPr>
          <p:spPr>
            <a:xfrm>
              <a:off x="1369232" y="3355713"/>
              <a:ext cx="2388097" cy="523220"/>
            </a:xfrm>
            <a:prstGeom prst="rect">
              <a:avLst/>
            </a:prstGeom>
            <a:noFill/>
          </p:spPr>
          <p:txBody>
            <a:bodyPr wrap="square" rtlCol="0">
              <a:spAutoFit/>
            </a:bodyPr>
            <a:lstStyle/>
            <a:p>
              <a:pPr>
                <a:lnSpc>
                  <a:spcPct val="140000"/>
                </a:lnSpc>
              </a:pPr>
              <a:r>
                <a:rPr lang="zh-CN" altLang="en-US" sz="2000" dirty="0">
                  <a:solidFill>
                    <a:schemeClr val="tx1">
                      <a:lumMod val="65000"/>
                      <a:lumOff val="35000"/>
                    </a:schemeClr>
                  </a:solidFill>
                  <a:latin typeface="微软雅黑" pitchFamily="34" charset="-122"/>
                  <a:ea typeface="微软雅黑" pitchFamily="34" charset="-122"/>
                </a:rPr>
                <a:t>简单高效</a:t>
              </a:r>
              <a:endParaRPr lang="zh-CN" altLang="en-US" sz="2000" b="1" dirty="0">
                <a:solidFill>
                  <a:schemeClr val="tx1">
                    <a:lumMod val="65000"/>
                    <a:lumOff val="35000"/>
                  </a:schemeClr>
                </a:solidFill>
                <a:latin typeface="微软雅黑" pitchFamily="34" charset="-122"/>
                <a:ea typeface="微软雅黑" pitchFamily="34" charset="-122"/>
              </a:endParaRPr>
            </a:p>
          </p:txBody>
        </p:sp>
      </p:grpSp>
      <p:grpSp>
        <p:nvGrpSpPr>
          <p:cNvPr id="4" name="组合 3"/>
          <p:cNvGrpSpPr/>
          <p:nvPr/>
        </p:nvGrpSpPr>
        <p:grpSpPr>
          <a:xfrm>
            <a:off x="4141393" y="3164640"/>
            <a:ext cx="2719010" cy="1590871"/>
            <a:chOff x="4141393" y="3164640"/>
            <a:chExt cx="2719010" cy="1590871"/>
          </a:xfrm>
        </p:grpSpPr>
        <p:sp>
          <p:nvSpPr>
            <p:cNvPr id="35" name="文本1"/>
            <p:cNvSpPr>
              <a:spLocks noChangeArrowheads="1"/>
            </p:cNvSpPr>
            <p:nvPr/>
          </p:nvSpPr>
          <p:spPr bwMode="auto">
            <a:xfrm>
              <a:off x="4141393" y="3164640"/>
              <a:ext cx="2719010" cy="1590871"/>
            </a:xfrm>
            <a:prstGeom prst="rect">
              <a:avLst/>
            </a:prstGeom>
            <a:gradFill>
              <a:gsLst>
                <a:gs pos="33000">
                  <a:srgbClr val="F9F9F9"/>
                </a:gs>
                <a:gs pos="100000">
                  <a:srgbClr val="D7D7D7"/>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anchor="ctr"/>
            <a:lstStyle/>
            <a:p>
              <a:pPr lvl="0">
                <a:lnSpc>
                  <a:spcPct val="150000"/>
                </a:lnSpc>
                <a:defRPr/>
              </a:pPr>
              <a:endParaRPr lang="en-US" altLang="zh-CN" sz="1600" kern="0" dirty="0">
                <a:solidFill>
                  <a:srgbClr val="4D4D4D"/>
                </a:solidFill>
                <a:latin typeface="微软雅黑" pitchFamily="34" charset="-122"/>
                <a:ea typeface="微软雅黑" pitchFamily="34" charset="-122"/>
              </a:endParaRPr>
            </a:p>
          </p:txBody>
        </p:sp>
        <p:sp>
          <p:nvSpPr>
            <p:cNvPr id="32" name="TextBox 1"/>
            <p:cNvSpPr txBox="1"/>
            <p:nvPr/>
          </p:nvSpPr>
          <p:spPr>
            <a:xfrm>
              <a:off x="4264223" y="3279107"/>
              <a:ext cx="2596180" cy="907428"/>
            </a:xfrm>
            <a:prstGeom prst="rect">
              <a:avLst/>
            </a:prstGeom>
            <a:noFill/>
          </p:spPr>
          <p:txBody>
            <a:bodyPr wrap="square" rtlCol="0">
              <a:spAutoFit/>
            </a:bodyPr>
            <a:lstStyle/>
            <a:p>
              <a:pPr marL="0" lvl="1">
                <a:lnSpc>
                  <a:spcPct val="140000"/>
                </a:lnSpc>
              </a:pPr>
              <a:r>
                <a:rPr lang="zh-CN" altLang="en-US" sz="2000" dirty="0">
                  <a:solidFill>
                    <a:schemeClr val="tx1">
                      <a:lumMod val="65000"/>
                      <a:lumOff val="35000"/>
                    </a:schemeClr>
                  </a:solidFill>
                  <a:latin typeface="微软雅黑" pitchFamily="34" charset="-122"/>
                  <a:ea typeface="微软雅黑" pitchFamily="34" charset="-122"/>
                </a:rPr>
                <a:t>滥用关中断权力可能导致严重后果</a:t>
              </a:r>
            </a:p>
          </p:txBody>
        </p:sp>
      </p:grpSp>
      <p:grpSp>
        <p:nvGrpSpPr>
          <p:cNvPr id="5" name="组合 4"/>
          <p:cNvGrpSpPr/>
          <p:nvPr/>
        </p:nvGrpSpPr>
        <p:grpSpPr>
          <a:xfrm>
            <a:off x="1203775" y="5045756"/>
            <a:ext cx="2719010" cy="1590871"/>
            <a:chOff x="1203775" y="5045756"/>
            <a:chExt cx="2719010" cy="1590871"/>
          </a:xfrm>
        </p:grpSpPr>
        <p:sp>
          <p:nvSpPr>
            <p:cNvPr id="36" name="文本1"/>
            <p:cNvSpPr>
              <a:spLocks noChangeArrowheads="1"/>
            </p:cNvSpPr>
            <p:nvPr/>
          </p:nvSpPr>
          <p:spPr bwMode="auto">
            <a:xfrm>
              <a:off x="1203775" y="5045756"/>
              <a:ext cx="2719010" cy="1590871"/>
            </a:xfrm>
            <a:prstGeom prst="rect">
              <a:avLst/>
            </a:prstGeom>
            <a:gradFill>
              <a:gsLst>
                <a:gs pos="33000">
                  <a:srgbClr val="F9F9F9"/>
                </a:gs>
                <a:gs pos="100000">
                  <a:srgbClr val="D7D7D7"/>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anchor="ctr"/>
            <a:lstStyle/>
            <a:p>
              <a:pPr lvl="0">
                <a:lnSpc>
                  <a:spcPct val="150000"/>
                </a:lnSpc>
                <a:defRPr/>
              </a:pPr>
              <a:endParaRPr lang="en-US" altLang="zh-CN" sz="1600" kern="0" dirty="0">
                <a:solidFill>
                  <a:srgbClr val="4D4D4D"/>
                </a:solidFill>
                <a:latin typeface="微软雅黑" pitchFamily="34" charset="-122"/>
                <a:ea typeface="微软雅黑" pitchFamily="34" charset="-122"/>
              </a:endParaRPr>
            </a:p>
          </p:txBody>
        </p:sp>
        <p:sp>
          <p:nvSpPr>
            <p:cNvPr id="33" name="TextBox 1"/>
            <p:cNvSpPr txBox="1"/>
            <p:nvPr/>
          </p:nvSpPr>
          <p:spPr>
            <a:xfrm>
              <a:off x="1341936" y="5182424"/>
              <a:ext cx="2365446" cy="1384995"/>
            </a:xfrm>
            <a:prstGeom prst="rect">
              <a:avLst/>
            </a:prstGeom>
            <a:noFill/>
          </p:spPr>
          <p:txBody>
            <a:bodyPr wrap="square" rtlCol="0">
              <a:spAutoFit/>
            </a:bodyPr>
            <a:lstStyle/>
            <a:p>
              <a:pPr marL="0" lvl="1">
                <a:lnSpc>
                  <a:spcPct val="140000"/>
                </a:lnSpc>
              </a:pPr>
              <a:r>
                <a:rPr lang="zh-CN" altLang="en-US" sz="2000" dirty="0">
                  <a:solidFill>
                    <a:schemeClr val="tx1">
                      <a:lumMod val="65000"/>
                      <a:lumOff val="35000"/>
                    </a:schemeClr>
                  </a:solidFill>
                  <a:latin typeface="微软雅黑" pitchFamily="34" charset="-122"/>
                  <a:ea typeface="微软雅黑" pitchFamily="34" charset="-122"/>
                </a:rPr>
                <a:t>关中断时间过长，会影响系统效率，限制</a:t>
              </a:r>
              <a:r>
                <a:rPr lang="en-US" altLang="zh-CN" sz="2000" dirty="0">
                  <a:solidFill>
                    <a:schemeClr val="tx1">
                      <a:lumMod val="65000"/>
                      <a:lumOff val="35000"/>
                    </a:schemeClr>
                  </a:solidFill>
                  <a:latin typeface="微软雅黑" pitchFamily="34" charset="-122"/>
                  <a:ea typeface="微软雅黑" pitchFamily="34" charset="-122"/>
                </a:rPr>
                <a:t>CPU</a:t>
              </a:r>
              <a:r>
                <a:rPr lang="zh-CN" altLang="en-US" sz="2000" dirty="0">
                  <a:solidFill>
                    <a:schemeClr val="tx1">
                      <a:lumMod val="65000"/>
                      <a:lumOff val="35000"/>
                    </a:schemeClr>
                  </a:solidFill>
                  <a:latin typeface="微软雅黑" pitchFamily="34" charset="-122"/>
                  <a:ea typeface="微软雅黑" pitchFamily="34" charset="-122"/>
                </a:rPr>
                <a:t>并发能力</a:t>
              </a:r>
            </a:p>
          </p:txBody>
        </p:sp>
      </p:grpSp>
      <p:grpSp>
        <p:nvGrpSpPr>
          <p:cNvPr id="7" name="组合 6"/>
          <p:cNvGrpSpPr/>
          <p:nvPr/>
        </p:nvGrpSpPr>
        <p:grpSpPr>
          <a:xfrm>
            <a:off x="4167358" y="5045756"/>
            <a:ext cx="2719010" cy="1590871"/>
            <a:chOff x="4167358" y="5045756"/>
            <a:chExt cx="2719010" cy="1590871"/>
          </a:xfrm>
        </p:grpSpPr>
        <p:sp>
          <p:nvSpPr>
            <p:cNvPr id="37" name="文本1"/>
            <p:cNvSpPr>
              <a:spLocks noChangeArrowheads="1"/>
            </p:cNvSpPr>
            <p:nvPr/>
          </p:nvSpPr>
          <p:spPr bwMode="auto">
            <a:xfrm>
              <a:off x="4167358" y="5045756"/>
              <a:ext cx="2719010" cy="1590871"/>
            </a:xfrm>
            <a:prstGeom prst="rect">
              <a:avLst/>
            </a:prstGeom>
            <a:gradFill>
              <a:gsLst>
                <a:gs pos="33000">
                  <a:srgbClr val="F9F9F9"/>
                </a:gs>
                <a:gs pos="100000">
                  <a:srgbClr val="D7D7D7"/>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anchor="ctr"/>
            <a:lstStyle/>
            <a:p>
              <a:pPr lvl="0">
                <a:lnSpc>
                  <a:spcPct val="150000"/>
                </a:lnSpc>
                <a:defRPr/>
              </a:pPr>
              <a:endParaRPr lang="en-US" altLang="zh-CN" sz="1600" kern="0" dirty="0">
                <a:solidFill>
                  <a:srgbClr val="4D4D4D"/>
                </a:solidFill>
                <a:latin typeface="微软雅黑" pitchFamily="34" charset="-122"/>
                <a:ea typeface="微软雅黑" pitchFamily="34" charset="-122"/>
              </a:endParaRPr>
            </a:p>
          </p:txBody>
        </p:sp>
        <p:sp>
          <p:nvSpPr>
            <p:cNvPr id="34" name="TextBox 1"/>
            <p:cNvSpPr txBox="1"/>
            <p:nvPr/>
          </p:nvSpPr>
          <p:spPr>
            <a:xfrm>
              <a:off x="4513002" y="5196823"/>
              <a:ext cx="2342633" cy="907428"/>
            </a:xfrm>
            <a:prstGeom prst="rect">
              <a:avLst/>
            </a:prstGeom>
            <a:noFill/>
          </p:spPr>
          <p:txBody>
            <a:bodyPr wrap="square" rtlCol="0">
              <a:spAutoFit/>
            </a:bodyPr>
            <a:lstStyle/>
            <a:p>
              <a:pPr marL="0" lvl="1">
                <a:lnSpc>
                  <a:spcPct val="140000"/>
                </a:lnSpc>
              </a:pPr>
              <a:r>
                <a:rPr lang="zh-CN" altLang="en-US" sz="2000" dirty="0">
                  <a:solidFill>
                    <a:schemeClr val="tx1">
                      <a:lumMod val="65000"/>
                      <a:lumOff val="35000"/>
                    </a:schemeClr>
                  </a:solidFill>
                  <a:latin typeface="微软雅黑" pitchFamily="34" charset="-122"/>
                  <a:ea typeface="微软雅黑" pitchFamily="34" charset="-122"/>
                </a:rPr>
                <a:t>关中断方法不适用于多</a:t>
              </a:r>
              <a:r>
                <a:rPr lang="en-US" altLang="zh-CN" sz="2000" dirty="0">
                  <a:solidFill>
                    <a:schemeClr val="tx1">
                      <a:lumMod val="65000"/>
                      <a:lumOff val="35000"/>
                    </a:schemeClr>
                  </a:solidFill>
                  <a:latin typeface="微软雅黑" pitchFamily="34" charset="-122"/>
                  <a:ea typeface="微软雅黑" pitchFamily="34" charset="-122"/>
                </a:rPr>
                <a:t>CPU</a:t>
              </a:r>
              <a:r>
                <a:rPr lang="zh-CN" altLang="en-US" sz="2000" dirty="0">
                  <a:solidFill>
                    <a:schemeClr val="tx1">
                      <a:lumMod val="65000"/>
                      <a:lumOff val="35000"/>
                    </a:schemeClr>
                  </a:solidFill>
                  <a:latin typeface="微软雅黑" pitchFamily="34" charset="-122"/>
                  <a:ea typeface="微软雅黑" pitchFamily="34" charset="-122"/>
                </a:rPr>
                <a:t>系统</a:t>
              </a:r>
            </a:p>
          </p:txBody>
        </p:sp>
      </p:grpSp>
      <p:grpSp>
        <p:nvGrpSpPr>
          <p:cNvPr id="2" name="组合 1"/>
          <p:cNvGrpSpPr/>
          <p:nvPr/>
        </p:nvGrpSpPr>
        <p:grpSpPr>
          <a:xfrm>
            <a:off x="3249584" y="4244017"/>
            <a:ext cx="1440000" cy="1440000"/>
            <a:chOff x="3249584" y="4244017"/>
            <a:chExt cx="1440000" cy="1440000"/>
          </a:xfrm>
        </p:grpSpPr>
        <p:sp>
          <p:nvSpPr>
            <p:cNvPr id="29" name="灰色"/>
            <p:cNvSpPr/>
            <p:nvPr/>
          </p:nvSpPr>
          <p:spPr>
            <a:xfrm>
              <a:off x="3249584" y="4244017"/>
              <a:ext cx="1440000" cy="1440000"/>
            </a:xfrm>
            <a:prstGeom prst="ellipse">
              <a:avLst/>
            </a:prstGeom>
            <a:gradFill>
              <a:gsLst>
                <a:gs pos="33000">
                  <a:srgbClr val="6DAA2D">
                    <a:lumMod val="60000"/>
                    <a:lumOff val="40000"/>
                  </a:srgbClr>
                </a:gs>
                <a:gs pos="100000">
                  <a:srgbClr val="6DAA2D"/>
                </a:gs>
              </a:gsLst>
              <a:lin ang="5400000" scaled="0"/>
            </a:gradFill>
            <a:ln w="3175" cap="flat" cmpd="sng" algn="ctr">
              <a:solidFill>
                <a:srgbClr val="D7D7D7"/>
              </a:solidFill>
              <a:prstDash val="solid"/>
            </a:ln>
            <a:effectLst>
              <a:outerShdw blurRad="50800" dist="38100" dir="2700000" algn="tl" rotWithShape="0">
                <a:prstClr val="black">
                  <a:alpha val="40000"/>
                </a:prstClr>
              </a:outerShdw>
            </a:effectLst>
          </p:spPr>
          <p:txBody>
            <a:bodyPr anchor="ctr"/>
            <a:lstStyle/>
            <a:p>
              <a:pPr>
                <a:lnSpc>
                  <a:spcPct val="120000"/>
                </a:lnSpc>
              </a:pPr>
              <a:endParaRPr lang="zh-CN" altLang="en-US" sz="1200" kern="0" dirty="0">
                <a:solidFill>
                  <a:srgbClr val="F9F9F9"/>
                </a:solidFill>
                <a:latin typeface="微软雅黑" pitchFamily="34" charset="-122"/>
                <a:ea typeface="微软雅黑" pitchFamily="34" charset="-122"/>
              </a:endParaRPr>
            </a:p>
          </p:txBody>
        </p:sp>
        <p:sp>
          <p:nvSpPr>
            <p:cNvPr id="30" name="TextBox 11"/>
            <p:cNvSpPr txBox="1">
              <a:spLocks noChangeArrowheads="1"/>
            </p:cNvSpPr>
            <p:nvPr/>
          </p:nvSpPr>
          <p:spPr bwMode="auto">
            <a:xfrm>
              <a:off x="3256641" y="4666640"/>
              <a:ext cx="143294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dirty="0">
                  <a:solidFill>
                    <a:schemeClr val="bg1"/>
                  </a:solidFill>
                  <a:latin typeface="微软雅黑" panose="020B0503020204020204" pitchFamily="34" charset="-122"/>
                  <a:ea typeface="微软雅黑" panose="020B0503020204020204" pitchFamily="34" charset="-122"/>
                </a:rPr>
                <a:t>特点</a:t>
              </a:r>
            </a:p>
          </p:txBody>
        </p:sp>
      </p:grpSp>
    </p:spTree>
    <p:extLst>
      <p:ext uri="{BB962C8B-B14F-4D97-AF65-F5344CB8AC3E}">
        <p14:creationId xmlns:p14="http://schemas.microsoft.com/office/powerpoint/2010/main" val="3750429986"/>
      </p:ext>
    </p:ext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circle(in)">
                                      <p:cBhvr>
                                        <p:cTn id="18" dur="20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circle(in)">
                                      <p:cBhvr>
                                        <p:cTn id="23" dur="20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circle(in)">
                                      <p:cBhvr>
                                        <p:cTn id="28" dur="20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circle(in)">
                                      <p:cBhvr>
                                        <p:cTn id="33"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a:spLocks noChangeArrowheads="1"/>
          </p:cNvSpPr>
          <p:nvPr/>
        </p:nvSpPr>
        <p:spPr bwMode="auto">
          <a:xfrm>
            <a:off x="1004178" y="3444283"/>
            <a:ext cx="5137315" cy="289877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10000"/>
              </a:spcBef>
            </a:pPr>
            <a:r>
              <a:rPr lang="en-US" altLang="zh-CN" dirty="0">
                <a:solidFill>
                  <a:srgbClr val="00B050"/>
                </a:solidFill>
              </a:rPr>
              <a:t>/* TS</a:t>
            </a:r>
            <a:r>
              <a:rPr lang="zh-CN" altLang="en-US" dirty="0">
                <a:solidFill>
                  <a:srgbClr val="00B050"/>
                </a:solidFill>
              </a:rPr>
              <a:t>指令的一般性描述 </a:t>
            </a:r>
            <a:r>
              <a:rPr lang="en-US" altLang="zh-CN" dirty="0">
                <a:solidFill>
                  <a:srgbClr val="00B050"/>
                </a:solidFill>
              </a:rPr>
              <a:t>*/</a:t>
            </a:r>
          </a:p>
          <a:p>
            <a:pPr eaLnBrk="1" hangingPunct="1">
              <a:spcBef>
                <a:spcPct val="10000"/>
              </a:spcBef>
            </a:pPr>
            <a:r>
              <a:rPr lang="en-US" altLang="zh-CN" dirty="0" err="1"/>
              <a:t>boolean</a:t>
            </a:r>
            <a:r>
              <a:rPr lang="en-US" altLang="zh-CN" dirty="0"/>
              <a:t> TS(</a:t>
            </a:r>
            <a:r>
              <a:rPr lang="en-US" altLang="zh-CN" dirty="0" err="1"/>
              <a:t>boolean</a:t>
            </a:r>
            <a:r>
              <a:rPr lang="en-US" altLang="zh-CN" dirty="0"/>
              <a:t> *lock) {</a:t>
            </a:r>
          </a:p>
          <a:p>
            <a:pPr eaLnBrk="1" hangingPunct="1">
              <a:spcBef>
                <a:spcPct val="10000"/>
              </a:spcBef>
            </a:pPr>
            <a:r>
              <a:rPr lang="en-US" altLang="zh-CN" dirty="0"/>
              <a:t>    </a:t>
            </a:r>
            <a:r>
              <a:rPr lang="en-US" altLang="zh-CN" dirty="0" err="1"/>
              <a:t>boolean</a:t>
            </a:r>
            <a:r>
              <a:rPr lang="en-US" altLang="zh-CN" dirty="0"/>
              <a:t> old;</a:t>
            </a:r>
          </a:p>
          <a:p>
            <a:pPr eaLnBrk="1" hangingPunct="1">
              <a:spcBef>
                <a:spcPct val="10000"/>
              </a:spcBef>
            </a:pPr>
            <a:r>
              <a:rPr lang="en-US" altLang="zh-CN" dirty="0"/>
              <a:t>    old = *lock;</a:t>
            </a:r>
          </a:p>
          <a:p>
            <a:pPr eaLnBrk="1" hangingPunct="1">
              <a:spcBef>
                <a:spcPct val="10000"/>
              </a:spcBef>
            </a:pPr>
            <a:r>
              <a:rPr lang="en-US" altLang="zh-CN" dirty="0"/>
              <a:t>    *lock = TRUE;</a:t>
            </a:r>
          </a:p>
          <a:p>
            <a:pPr eaLnBrk="1" hangingPunct="1">
              <a:spcBef>
                <a:spcPct val="10000"/>
              </a:spcBef>
            </a:pPr>
            <a:r>
              <a:rPr lang="en-US" altLang="zh-CN" dirty="0"/>
              <a:t>    return old;</a:t>
            </a:r>
          </a:p>
          <a:p>
            <a:pPr eaLnBrk="1" hangingPunct="1">
              <a:spcBef>
                <a:spcPct val="10000"/>
              </a:spcBef>
            </a:pPr>
            <a:r>
              <a:rPr lang="en-US" altLang="zh-CN" dirty="0"/>
              <a:t>}</a:t>
            </a:r>
          </a:p>
        </p:txBody>
      </p:sp>
      <p:sp>
        <p:nvSpPr>
          <p:cNvPr id="6" name="Text Box 4"/>
          <p:cNvSpPr txBox="1">
            <a:spLocks noChangeArrowheads="1"/>
          </p:cNvSpPr>
          <p:nvPr/>
        </p:nvSpPr>
        <p:spPr bwMode="auto">
          <a:xfrm>
            <a:off x="6447602" y="3444282"/>
            <a:ext cx="4907335" cy="330517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10000"/>
              </a:spcBef>
            </a:pPr>
            <a:r>
              <a:rPr lang="en-US" altLang="zh-CN" dirty="0">
                <a:solidFill>
                  <a:srgbClr val="00B050"/>
                </a:solidFill>
              </a:rPr>
              <a:t>/* </a:t>
            </a:r>
            <a:r>
              <a:rPr lang="zh-CN" altLang="en-US" dirty="0">
                <a:solidFill>
                  <a:srgbClr val="00B050"/>
                </a:solidFill>
              </a:rPr>
              <a:t>利用</a:t>
            </a:r>
            <a:r>
              <a:rPr lang="en-US" altLang="zh-CN" dirty="0">
                <a:solidFill>
                  <a:srgbClr val="00B050"/>
                </a:solidFill>
              </a:rPr>
              <a:t>TS</a:t>
            </a:r>
            <a:r>
              <a:rPr lang="zh-CN" altLang="en-US" dirty="0">
                <a:solidFill>
                  <a:srgbClr val="00B050"/>
                </a:solidFill>
              </a:rPr>
              <a:t>指令实现互斥 </a:t>
            </a:r>
            <a:r>
              <a:rPr lang="en-US" altLang="zh-CN" dirty="0">
                <a:solidFill>
                  <a:srgbClr val="00B050"/>
                </a:solidFill>
              </a:rPr>
              <a:t>*/</a:t>
            </a:r>
          </a:p>
          <a:p>
            <a:pPr eaLnBrk="1" hangingPunct="1">
              <a:spcBef>
                <a:spcPct val="10000"/>
              </a:spcBef>
            </a:pPr>
            <a:r>
              <a:rPr lang="en-US" altLang="zh-CN" dirty="0"/>
              <a:t>do{</a:t>
            </a:r>
          </a:p>
          <a:p>
            <a:pPr eaLnBrk="1" hangingPunct="1">
              <a:spcBef>
                <a:spcPct val="10000"/>
              </a:spcBef>
            </a:pPr>
            <a:r>
              <a:rPr lang="en-US" altLang="zh-CN" dirty="0"/>
              <a:t>    …    </a:t>
            </a:r>
          </a:p>
          <a:p>
            <a:pPr eaLnBrk="1" hangingPunct="1">
              <a:spcBef>
                <a:spcPct val="10000"/>
              </a:spcBef>
            </a:pPr>
            <a:r>
              <a:rPr lang="en-US" altLang="zh-CN" dirty="0"/>
              <a:t>    while TS(&amp;lock);   </a:t>
            </a:r>
            <a:r>
              <a:rPr lang="en-US" altLang="zh-CN" dirty="0">
                <a:solidFill>
                  <a:srgbClr val="00B050"/>
                </a:solidFill>
              </a:rPr>
              <a:t>/*do skip*/</a:t>
            </a:r>
          </a:p>
          <a:p>
            <a:pPr eaLnBrk="1" hangingPunct="1">
              <a:spcBef>
                <a:spcPct val="10000"/>
              </a:spcBef>
            </a:pPr>
            <a:r>
              <a:rPr lang="en-US" altLang="zh-CN" dirty="0"/>
              <a:t>    critical section;</a:t>
            </a:r>
          </a:p>
          <a:p>
            <a:pPr eaLnBrk="1" hangingPunct="1">
              <a:spcBef>
                <a:spcPct val="10000"/>
              </a:spcBef>
            </a:pPr>
            <a:r>
              <a:rPr lang="en-US" altLang="zh-CN" dirty="0"/>
              <a:t>    lock = FALSE;</a:t>
            </a:r>
          </a:p>
          <a:p>
            <a:pPr eaLnBrk="1" hangingPunct="1">
              <a:spcBef>
                <a:spcPct val="10000"/>
              </a:spcBef>
            </a:pPr>
            <a:r>
              <a:rPr lang="en-US" altLang="zh-CN" dirty="0"/>
              <a:t>    remainder section;</a:t>
            </a:r>
          </a:p>
          <a:p>
            <a:pPr eaLnBrk="1" hangingPunct="1">
              <a:spcBef>
                <a:spcPct val="10000"/>
              </a:spcBef>
            </a:pPr>
            <a:r>
              <a:rPr lang="en-US" altLang="zh-CN" dirty="0"/>
              <a:t>} while(TRUE)</a:t>
            </a:r>
          </a:p>
        </p:txBody>
      </p:sp>
      <p:sp>
        <p:nvSpPr>
          <p:cNvPr id="8" name="标题 1"/>
          <p:cNvSpPr txBox="1">
            <a:spLocks/>
          </p:cNvSpPr>
          <p:nvPr/>
        </p:nvSpPr>
        <p:spPr>
          <a:xfrm>
            <a:off x="848832" y="202028"/>
            <a:ext cx="8991203" cy="457196"/>
          </a:xfrm>
          <a:prstGeom prst="rect">
            <a:avLst/>
          </a:prstGeom>
        </p:spPr>
        <p:txBody>
          <a:bodyPr/>
          <a:lstStyle>
            <a:lvl1pPr algn="l" defTabSz="914400" rtl="0" eaLnBrk="1" latinLnBrk="0" hangingPunct="1">
              <a:lnSpc>
                <a:spcPct val="90000"/>
              </a:lnSpc>
              <a:spcBef>
                <a:spcPct val="0"/>
              </a:spcBef>
              <a:buNone/>
              <a:defRPr lang="zh-CN" altLang="en-US" sz="2400" b="1" kern="1200" dirty="0">
                <a:solidFill>
                  <a:srgbClr val="3D7351"/>
                </a:solidFill>
                <a:latin typeface="微软雅黑" panose="020B0503020204020204" pitchFamily="34" charset="-122"/>
                <a:ea typeface="微软雅黑" panose="020B0503020204020204" pitchFamily="34" charset="-122"/>
                <a:cs typeface="+mn-cs"/>
              </a:defRPr>
            </a:lvl1pPr>
          </a:lstStyle>
          <a:p>
            <a:r>
              <a:rPr lang="en-US" altLang="zh-CN" dirty="0"/>
              <a:t>2.</a:t>
            </a:r>
            <a:r>
              <a:rPr lang="zh-CN" altLang="en-US" dirty="0"/>
              <a:t>硬件同步机制</a:t>
            </a:r>
            <a:r>
              <a:rPr lang="en-US" altLang="zh-CN" dirty="0"/>
              <a:t>—</a:t>
            </a:r>
            <a:r>
              <a:rPr lang="zh-CN" altLang="en-US" dirty="0"/>
              <a:t>利用特殊的硬件指令解决临界区问题</a:t>
            </a:r>
          </a:p>
        </p:txBody>
      </p:sp>
      <p:grpSp>
        <p:nvGrpSpPr>
          <p:cNvPr id="2" name="组合 1"/>
          <p:cNvGrpSpPr/>
          <p:nvPr/>
        </p:nvGrpSpPr>
        <p:grpSpPr>
          <a:xfrm>
            <a:off x="1004177" y="1027910"/>
            <a:ext cx="5665564" cy="665162"/>
            <a:chOff x="1004177" y="1027910"/>
            <a:chExt cx="5665564" cy="665162"/>
          </a:xfrm>
        </p:grpSpPr>
        <p:sp>
          <p:nvSpPr>
            <p:cNvPr id="9" name="矩形 8"/>
            <p:cNvSpPr/>
            <p:nvPr/>
          </p:nvSpPr>
          <p:spPr>
            <a:xfrm>
              <a:off x="1150228" y="1561310"/>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 name="矩形 9"/>
            <p:cNvSpPr/>
            <p:nvPr/>
          </p:nvSpPr>
          <p:spPr>
            <a:xfrm>
              <a:off x="2058278" y="1561310"/>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1" name="文本框 55"/>
            <p:cNvSpPr txBox="1">
              <a:spLocks noChangeArrowheads="1"/>
            </p:cNvSpPr>
            <p:nvPr/>
          </p:nvSpPr>
          <p:spPr bwMode="auto">
            <a:xfrm>
              <a:off x="1004177" y="1027910"/>
              <a:ext cx="56655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）利用</a:t>
              </a:r>
              <a:r>
                <a:rPr lang="en-US" altLang="zh-CN" sz="2400" b="1" dirty="0">
                  <a:solidFill>
                    <a:srgbClr val="4C7E51"/>
                  </a:solidFill>
                  <a:latin typeface="微软雅黑" panose="020B0503020204020204" pitchFamily="34" charset="-122"/>
                  <a:ea typeface="微软雅黑" panose="020B0503020204020204" pitchFamily="34" charset="-122"/>
                </a:rPr>
                <a:t>Test-and-Set</a:t>
              </a:r>
              <a:r>
                <a:rPr lang="zh-CN" altLang="en-US" sz="2400" b="1" dirty="0">
                  <a:solidFill>
                    <a:srgbClr val="4C7E51"/>
                  </a:solidFill>
                  <a:latin typeface="微软雅黑" panose="020B0503020204020204" pitchFamily="34" charset="-122"/>
                  <a:ea typeface="微软雅黑" panose="020B0503020204020204" pitchFamily="34" charset="-122"/>
                </a:rPr>
                <a:t>指令实现进程互斥</a:t>
              </a:r>
            </a:p>
          </p:txBody>
        </p:sp>
      </p:grpSp>
      <p:sp>
        <p:nvSpPr>
          <p:cNvPr id="12" name="文本框 19"/>
          <p:cNvSpPr txBox="1">
            <a:spLocks noChangeArrowheads="1"/>
          </p:cNvSpPr>
          <p:nvPr/>
        </p:nvSpPr>
        <p:spPr bwMode="auto">
          <a:xfrm>
            <a:off x="1150228" y="1885665"/>
            <a:ext cx="761163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测试并设置（</a:t>
            </a:r>
            <a:r>
              <a:rPr lang="en-US" altLang="zh-CN" sz="2400" dirty="0"/>
              <a:t>TS</a:t>
            </a:r>
            <a:r>
              <a:rPr lang="zh-CN" altLang="en-US" sz="2400" dirty="0"/>
              <a:t>）指令是一条原语</a:t>
            </a:r>
            <a:endParaRPr lang="en-US" altLang="zh-CN" sz="2400" dirty="0"/>
          </a:p>
          <a:p>
            <a:pPr marL="0" lvl="2" indent="0">
              <a:buBlip>
                <a:blip r:embed="rId3"/>
              </a:buBlip>
            </a:pPr>
            <a:r>
              <a:rPr lang="en-US" altLang="zh-CN" sz="2400" dirty="0"/>
              <a:t>lock=FALSE</a:t>
            </a:r>
            <a:r>
              <a:rPr lang="zh-CN" altLang="en-US" sz="2400" dirty="0"/>
              <a:t>时表示该资源空闲</a:t>
            </a:r>
            <a:endParaRPr lang="en-US" altLang="zh-CN" sz="2400" dirty="0"/>
          </a:p>
          <a:p>
            <a:pPr marL="0" lvl="2" indent="0">
              <a:buBlip>
                <a:blip r:embed="rId3"/>
              </a:buBlip>
            </a:pPr>
            <a:r>
              <a:rPr lang="en-US" altLang="zh-CN" sz="2400" dirty="0"/>
              <a:t>lock=TRUE</a:t>
            </a:r>
            <a:r>
              <a:rPr lang="zh-CN" altLang="en-US" sz="2400" dirty="0"/>
              <a:t>时表示该资源正在被使用</a:t>
            </a:r>
            <a:endParaRPr lang="en-US" altLang="zh-CN" sz="2400" dirty="0"/>
          </a:p>
        </p:txBody>
      </p:sp>
    </p:spTree>
    <p:extLst>
      <p:ext uri="{BB962C8B-B14F-4D97-AF65-F5344CB8AC3E}">
        <p14:creationId xmlns:p14="http://schemas.microsoft.com/office/powerpoint/2010/main" val="358361902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strips(downLeft)">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a:spLocks/>
          </p:cNvSpPr>
          <p:nvPr/>
        </p:nvSpPr>
        <p:spPr>
          <a:xfrm>
            <a:off x="848832" y="202028"/>
            <a:ext cx="8991203" cy="457196"/>
          </a:xfrm>
          <a:prstGeom prst="rect">
            <a:avLst/>
          </a:prstGeom>
        </p:spPr>
        <p:txBody>
          <a:bodyPr/>
          <a:lstStyle>
            <a:lvl1pPr algn="l" defTabSz="914400" rtl="0" eaLnBrk="1" latinLnBrk="0" hangingPunct="1">
              <a:lnSpc>
                <a:spcPct val="90000"/>
              </a:lnSpc>
              <a:spcBef>
                <a:spcPct val="0"/>
              </a:spcBef>
              <a:buNone/>
              <a:defRPr lang="zh-CN" altLang="en-US" sz="2400" b="1" kern="1200" dirty="0">
                <a:solidFill>
                  <a:srgbClr val="3D7351"/>
                </a:solidFill>
                <a:latin typeface="微软雅黑" panose="020B0503020204020204" pitchFamily="34" charset="-122"/>
                <a:ea typeface="微软雅黑" panose="020B0503020204020204" pitchFamily="34" charset="-122"/>
                <a:cs typeface="+mn-cs"/>
              </a:defRPr>
            </a:lvl1pPr>
          </a:lstStyle>
          <a:p>
            <a:r>
              <a:rPr lang="en-US" altLang="zh-CN" dirty="0"/>
              <a:t>2.</a:t>
            </a:r>
            <a:r>
              <a:rPr lang="zh-CN" altLang="en-US" dirty="0"/>
              <a:t>硬件同步机制</a:t>
            </a:r>
            <a:r>
              <a:rPr lang="en-US" altLang="zh-CN" dirty="0"/>
              <a:t>—</a:t>
            </a:r>
            <a:r>
              <a:rPr lang="zh-CN" altLang="en-US" dirty="0"/>
              <a:t>利用特殊的硬件指令解决临界区问题</a:t>
            </a:r>
          </a:p>
        </p:txBody>
      </p:sp>
      <p:grpSp>
        <p:nvGrpSpPr>
          <p:cNvPr id="2" name="组合 1"/>
          <p:cNvGrpSpPr/>
          <p:nvPr/>
        </p:nvGrpSpPr>
        <p:grpSpPr>
          <a:xfrm>
            <a:off x="1004177" y="1027910"/>
            <a:ext cx="5314736" cy="665162"/>
            <a:chOff x="1004177" y="1027910"/>
            <a:chExt cx="5314736" cy="665162"/>
          </a:xfrm>
        </p:grpSpPr>
        <p:sp>
          <p:nvSpPr>
            <p:cNvPr id="9" name="矩形 8"/>
            <p:cNvSpPr/>
            <p:nvPr/>
          </p:nvSpPr>
          <p:spPr>
            <a:xfrm>
              <a:off x="1150228" y="1561310"/>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 name="矩形 9"/>
            <p:cNvSpPr/>
            <p:nvPr/>
          </p:nvSpPr>
          <p:spPr>
            <a:xfrm>
              <a:off x="2058278" y="1561310"/>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1" name="文本框 55"/>
            <p:cNvSpPr txBox="1">
              <a:spLocks noChangeArrowheads="1"/>
            </p:cNvSpPr>
            <p:nvPr/>
          </p:nvSpPr>
          <p:spPr bwMode="auto">
            <a:xfrm>
              <a:off x="1004177" y="1027910"/>
              <a:ext cx="53147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3</a:t>
              </a:r>
              <a:r>
                <a:rPr lang="zh-CN" altLang="en-US" sz="2400" b="1" dirty="0">
                  <a:solidFill>
                    <a:srgbClr val="4C7E51"/>
                  </a:solidFill>
                  <a:latin typeface="微软雅黑" panose="020B0503020204020204" pitchFamily="34" charset="-122"/>
                  <a:ea typeface="微软雅黑" panose="020B0503020204020204" pitchFamily="34" charset="-122"/>
                </a:rPr>
                <a:t>）利用</a:t>
              </a:r>
              <a:r>
                <a:rPr lang="en-US" altLang="zh-CN" sz="2400" b="1" dirty="0">
                  <a:solidFill>
                    <a:srgbClr val="4C7E51"/>
                  </a:solidFill>
                  <a:latin typeface="微软雅黑" panose="020B0503020204020204" pitchFamily="34" charset="-122"/>
                  <a:ea typeface="微软雅黑" panose="020B0503020204020204" pitchFamily="34" charset="-122"/>
                </a:rPr>
                <a:t>Swap</a:t>
              </a:r>
              <a:r>
                <a:rPr lang="zh-CN" altLang="en-US" sz="2400" b="1" dirty="0">
                  <a:solidFill>
                    <a:srgbClr val="4C7E51"/>
                  </a:solidFill>
                  <a:latin typeface="微软雅黑" panose="020B0503020204020204" pitchFamily="34" charset="-122"/>
                  <a:ea typeface="微软雅黑" panose="020B0503020204020204" pitchFamily="34" charset="-122"/>
                </a:rPr>
                <a:t>指令实现进程互斥</a:t>
              </a:r>
            </a:p>
          </p:txBody>
        </p:sp>
      </p:grpSp>
      <p:sp>
        <p:nvSpPr>
          <p:cNvPr id="12" name="文本框 19"/>
          <p:cNvSpPr txBox="1">
            <a:spLocks noChangeArrowheads="1"/>
          </p:cNvSpPr>
          <p:nvPr/>
        </p:nvSpPr>
        <p:spPr bwMode="auto">
          <a:xfrm>
            <a:off x="988882" y="5603881"/>
            <a:ext cx="761163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3"/>
              </a:buBlip>
            </a:pPr>
            <a:r>
              <a:rPr lang="zh-CN" altLang="en-US" sz="2400" dirty="0"/>
              <a:t>存在忙等问题</a:t>
            </a:r>
            <a:endParaRPr lang="en-US" altLang="zh-CN" sz="2400" dirty="0"/>
          </a:p>
          <a:p>
            <a:pPr marL="0" lvl="2" indent="0">
              <a:buBlip>
                <a:blip r:embed="rId3"/>
              </a:buBlip>
            </a:pPr>
            <a:r>
              <a:rPr lang="zh-CN" altLang="en-US" sz="2400" dirty="0"/>
              <a:t>难于应用于复杂的进程同步问题</a:t>
            </a:r>
            <a:endParaRPr lang="en-US" altLang="zh-CN" sz="2400" dirty="0"/>
          </a:p>
        </p:txBody>
      </p:sp>
      <p:sp>
        <p:nvSpPr>
          <p:cNvPr id="13" name="Text Box 4"/>
          <p:cNvSpPr txBox="1">
            <a:spLocks noChangeArrowheads="1"/>
          </p:cNvSpPr>
          <p:nvPr/>
        </p:nvSpPr>
        <p:spPr bwMode="auto">
          <a:xfrm>
            <a:off x="875458" y="1797256"/>
            <a:ext cx="5256405" cy="3036887"/>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10000"/>
              </a:spcBef>
            </a:pPr>
            <a:r>
              <a:rPr lang="en-US" altLang="zh-CN" sz="2200" dirty="0">
                <a:solidFill>
                  <a:srgbClr val="00B050"/>
                </a:solidFill>
              </a:rPr>
              <a:t>/* swap</a:t>
            </a:r>
            <a:r>
              <a:rPr lang="zh-CN" altLang="en-US" sz="2200" dirty="0">
                <a:solidFill>
                  <a:srgbClr val="00B050"/>
                </a:solidFill>
              </a:rPr>
              <a:t>指令的一般性描述 </a:t>
            </a:r>
            <a:r>
              <a:rPr lang="en-US" altLang="zh-CN" sz="2200" dirty="0">
                <a:solidFill>
                  <a:srgbClr val="00B050"/>
                </a:solidFill>
              </a:rPr>
              <a:t>*/</a:t>
            </a:r>
          </a:p>
          <a:p>
            <a:pPr eaLnBrk="1" hangingPunct="1">
              <a:spcBef>
                <a:spcPct val="10000"/>
              </a:spcBef>
            </a:pPr>
            <a:r>
              <a:rPr lang="en-US" altLang="zh-CN" sz="2200" dirty="0"/>
              <a:t>void swap(</a:t>
            </a:r>
            <a:r>
              <a:rPr lang="en-US" altLang="zh-CN" sz="2200" dirty="0" err="1"/>
              <a:t>boolean</a:t>
            </a:r>
            <a:r>
              <a:rPr lang="en-US" altLang="zh-CN" sz="2200" dirty="0"/>
              <a:t> *a, </a:t>
            </a:r>
            <a:r>
              <a:rPr lang="en-US" altLang="zh-CN" sz="2200" dirty="0" err="1"/>
              <a:t>boolean</a:t>
            </a:r>
            <a:r>
              <a:rPr lang="en-US" altLang="zh-CN" sz="2200" dirty="0"/>
              <a:t> *b) </a:t>
            </a:r>
          </a:p>
          <a:p>
            <a:pPr eaLnBrk="1" hangingPunct="1">
              <a:spcBef>
                <a:spcPct val="10000"/>
              </a:spcBef>
            </a:pPr>
            <a:r>
              <a:rPr lang="en-US" altLang="zh-CN" sz="2200" dirty="0"/>
              <a:t>{</a:t>
            </a:r>
          </a:p>
          <a:p>
            <a:pPr eaLnBrk="1" hangingPunct="1">
              <a:spcBef>
                <a:spcPct val="10000"/>
              </a:spcBef>
            </a:pPr>
            <a:r>
              <a:rPr lang="en-US" altLang="zh-CN" sz="2200" dirty="0"/>
              <a:t>    </a:t>
            </a:r>
            <a:r>
              <a:rPr lang="en-US" altLang="zh-CN" sz="2200" dirty="0" err="1"/>
              <a:t>boolean</a:t>
            </a:r>
            <a:r>
              <a:rPr lang="en-US" altLang="zh-CN" sz="2200" dirty="0"/>
              <a:t> temp;</a:t>
            </a:r>
          </a:p>
          <a:p>
            <a:pPr eaLnBrk="1" hangingPunct="1">
              <a:spcBef>
                <a:spcPct val="10000"/>
              </a:spcBef>
            </a:pPr>
            <a:r>
              <a:rPr lang="en-US" altLang="zh-CN" sz="2200" dirty="0"/>
              <a:t>    temp = *a;</a:t>
            </a:r>
          </a:p>
          <a:p>
            <a:pPr eaLnBrk="1" hangingPunct="1">
              <a:spcBef>
                <a:spcPct val="10000"/>
              </a:spcBef>
            </a:pPr>
            <a:r>
              <a:rPr lang="en-US" altLang="zh-CN" sz="2200" dirty="0"/>
              <a:t>    *a = *b;</a:t>
            </a:r>
          </a:p>
          <a:p>
            <a:pPr eaLnBrk="1" hangingPunct="1">
              <a:spcBef>
                <a:spcPct val="10000"/>
              </a:spcBef>
            </a:pPr>
            <a:r>
              <a:rPr lang="en-US" altLang="zh-CN" sz="2200" dirty="0"/>
              <a:t>    *b = temp;</a:t>
            </a:r>
          </a:p>
          <a:p>
            <a:pPr eaLnBrk="1" hangingPunct="1">
              <a:spcBef>
                <a:spcPct val="10000"/>
              </a:spcBef>
            </a:pPr>
            <a:r>
              <a:rPr lang="en-US" altLang="zh-CN" sz="2200" dirty="0"/>
              <a:t>}</a:t>
            </a:r>
          </a:p>
        </p:txBody>
      </p:sp>
      <p:sp>
        <p:nvSpPr>
          <p:cNvPr id="14" name="Text Box 4"/>
          <p:cNvSpPr txBox="1">
            <a:spLocks noChangeArrowheads="1"/>
          </p:cNvSpPr>
          <p:nvPr/>
        </p:nvSpPr>
        <p:spPr bwMode="auto">
          <a:xfrm>
            <a:off x="6341864" y="1786068"/>
            <a:ext cx="5405493" cy="37830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10000"/>
              </a:spcBef>
            </a:pPr>
            <a:r>
              <a:rPr lang="en-US" altLang="zh-CN" sz="2200" dirty="0">
                <a:solidFill>
                  <a:srgbClr val="00B050"/>
                </a:solidFill>
              </a:rPr>
              <a:t>/* </a:t>
            </a:r>
            <a:r>
              <a:rPr lang="zh-CN" altLang="en-US" sz="2200" dirty="0">
                <a:solidFill>
                  <a:srgbClr val="00B050"/>
                </a:solidFill>
              </a:rPr>
              <a:t>利用</a:t>
            </a:r>
            <a:r>
              <a:rPr lang="en-US" altLang="zh-CN" sz="2200" dirty="0">
                <a:solidFill>
                  <a:srgbClr val="00B050"/>
                </a:solidFill>
              </a:rPr>
              <a:t>swap</a:t>
            </a:r>
            <a:r>
              <a:rPr lang="zh-CN" altLang="en-US" sz="2200" dirty="0">
                <a:solidFill>
                  <a:srgbClr val="00B050"/>
                </a:solidFill>
              </a:rPr>
              <a:t>指令实现互斥 </a:t>
            </a:r>
            <a:r>
              <a:rPr lang="en-US" altLang="zh-CN" sz="2200" dirty="0">
                <a:solidFill>
                  <a:srgbClr val="00B050"/>
                </a:solidFill>
              </a:rPr>
              <a:t>*/</a:t>
            </a:r>
          </a:p>
          <a:p>
            <a:pPr eaLnBrk="1" hangingPunct="1">
              <a:spcBef>
                <a:spcPct val="10000"/>
              </a:spcBef>
            </a:pPr>
            <a:r>
              <a:rPr lang="en-US" altLang="zh-CN" sz="2200" dirty="0"/>
              <a:t>Do {</a:t>
            </a:r>
          </a:p>
          <a:p>
            <a:pPr eaLnBrk="1" hangingPunct="1">
              <a:spcBef>
                <a:spcPct val="10000"/>
              </a:spcBef>
            </a:pPr>
            <a:r>
              <a:rPr lang="en-US" altLang="zh-CN" sz="2200" dirty="0"/>
              <a:t>    key = TRUE</a:t>
            </a:r>
          </a:p>
          <a:p>
            <a:pPr eaLnBrk="1" hangingPunct="1">
              <a:spcBef>
                <a:spcPct val="10000"/>
              </a:spcBef>
            </a:pPr>
            <a:r>
              <a:rPr lang="en-US" altLang="zh-CN" sz="2200" dirty="0"/>
              <a:t>    do { </a:t>
            </a:r>
          </a:p>
          <a:p>
            <a:pPr eaLnBrk="1" hangingPunct="1">
              <a:spcBef>
                <a:spcPct val="10000"/>
              </a:spcBef>
            </a:pPr>
            <a:r>
              <a:rPr lang="en-US" altLang="zh-CN" sz="2200" dirty="0"/>
              <a:t>        swap(&amp;lock, &amp;key);</a:t>
            </a:r>
          </a:p>
          <a:p>
            <a:pPr eaLnBrk="1" hangingPunct="1">
              <a:spcBef>
                <a:spcPct val="10000"/>
              </a:spcBef>
            </a:pPr>
            <a:r>
              <a:rPr lang="en-US" altLang="zh-CN" sz="2200" dirty="0"/>
              <a:t>    } while (key != FALSE);</a:t>
            </a:r>
          </a:p>
          <a:p>
            <a:pPr eaLnBrk="1" hangingPunct="1">
              <a:spcBef>
                <a:spcPct val="10000"/>
              </a:spcBef>
            </a:pPr>
            <a:r>
              <a:rPr lang="en-US" altLang="zh-CN" sz="2200" dirty="0"/>
              <a:t>    critical section;</a:t>
            </a:r>
          </a:p>
          <a:p>
            <a:pPr eaLnBrk="1" hangingPunct="1">
              <a:spcBef>
                <a:spcPct val="10000"/>
              </a:spcBef>
            </a:pPr>
            <a:r>
              <a:rPr lang="en-US" altLang="zh-CN" sz="2200" dirty="0"/>
              <a:t>    lock = FALSE;</a:t>
            </a:r>
          </a:p>
          <a:p>
            <a:pPr eaLnBrk="1" hangingPunct="1">
              <a:spcBef>
                <a:spcPct val="10000"/>
              </a:spcBef>
            </a:pPr>
            <a:r>
              <a:rPr lang="en-US" altLang="zh-CN" sz="2200" dirty="0"/>
              <a:t>    remainder section;</a:t>
            </a:r>
          </a:p>
          <a:p>
            <a:pPr eaLnBrk="1" hangingPunct="1">
              <a:spcBef>
                <a:spcPct val="10000"/>
              </a:spcBef>
            </a:pPr>
            <a:r>
              <a:rPr lang="en-US" altLang="zh-CN" sz="2200" dirty="0"/>
              <a:t>} while(TRUE)</a:t>
            </a:r>
          </a:p>
        </p:txBody>
      </p:sp>
      <p:grpSp>
        <p:nvGrpSpPr>
          <p:cNvPr id="15" name="组合 14"/>
          <p:cNvGrpSpPr/>
          <p:nvPr/>
        </p:nvGrpSpPr>
        <p:grpSpPr>
          <a:xfrm>
            <a:off x="930670" y="4870183"/>
            <a:ext cx="5314736" cy="665162"/>
            <a:chOff x="1004177" y="1027910"/>
            <a:chExt cx="5314736" cy="665162"/>
          </a:xfrm>
        </p:grpSpPr>
        <p:sp>
          <p:nvSpPr>
            <p:cNvPr id="16" name="矩形 15"/>
            <p:cNvSpPr/>
            <p:nvPr/>
          </p:nvSpPr>
          <p:spPr>
            <a:xfrm>
              <a:off x="1150228" y="1561310"/>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7" name="矩形 16"/>
            <p:cNvSpPr/>
            <p:nvPr/>
          </p:nvSpPr>
          <p:spPr>
            <a:xfrm>
              <a:off x="2058278" y="1561310"/>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8" name="文本框 55"/>
            <p:cNvSpPr txBox="1">
              <a:spLocks noChangeArrowheads="1"/>
            </p:cNvSpPr>
            <p:nvPr/>
          </p:nvSpPr>
          <p:spPr bwMode="auto">
            <a:xfrm>
              <a:off x="1004177" y="1027910"/>
              <a:ext cx="53147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利用硬件指令实现进程互斥的缺点</a:t>
              </a:r>
            </a:p>
          </p:txBody>
        </p:sp>
      </p:grpSp>
    </p:spTree>
    <p:extLst>
      <p:ext uri="{BB962C8B-B14F-4D97-AF65-F5344CB8AC3E}">
        <p14:creationId xmlns:p14="http://schemas.microsoft.com/office/powerpoint/2010/main" val="3583619021"/>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8" presetClass="entr" presetSubtype="12"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strips(downLeft)">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animBg="1"/>
      <p:bldP spid="1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a:spLocks/>
          </p:cNvSpPr>
          <p:nvPr/>
        </p:nvSpPr>
        <p:spPr>
          <a:xfrm>
            <a:off x="848832" y="202028"/>
            <a:ext cx="8991203" cy="457196"/>
          </a:xfrm>
          <a:prstGeom prst="rect">
            <a:avLst/>
          </a:prstGeom>
        </p:spPr>
        <p:txBody>
          <a:bodyPr/>
          <a:lstStyle>
            <a:lvl1pPr algn="l" defTabSz="914400" rtl="0" eaLnBrk="1" latinLnBrk="0" hangingPunct="1">
              <a:lnSpc>
                <a:spcPct val="90000"/>
              </a:lnSpc>
              <a:spcBef>
                <a:spcPct val="0"/>
              </a:spcBef>
              <a:buNone/>
              <a:defRPr lang="zh-CN" altLang="en-US" sz="2400" b="1" kern="1200" dirty="0">
                <a:solidFill>
                  <a:srgbClr val="3D7351"/>
                </a:solidFill>
                <a:latin typeface="微软雅黑" panose="020B0503020204020204" pitchFamily="34" charset="-122"/>
                <a:ea typeface="微软雅黑" panose="020B0503020204020204" pitchFamily="34" charset="-122"/>
                <a:cs typeface="+mn-cs"/>
              </a:defRPr>
            </a:lvl1pPr>
          </a:lstStyle>
          <a:p>
            <a:r>
              <a:rPr lang="en-US" altLang="zh-CN" dirty="0"/>
              <a:t>3.</a:t>
            </a:r>
            <a:r>
              <a:rPr lang="zh-CN" altLang="en-US" dirty="0"/>
              <a:t>信号量机制</a:t>
            </a:r>
          </a:p>
        </p:txBody>
      </p:sp>
      <p:grpSp>
        <p:nvGrpSpPr>
          <p:cNvPr id="3" name="组合 2"/>
          <p:cNvGrpSpPr/>
          <p:nvPr/>
        </p:nvGrpSpPr>
        <p:grpSpPr>
          <a:xfrm>
            <a:off x="1004177" y="1027910"/>
            <a:ext cx="5314736" cy="665162"/>
            <a:chOff x="1004177" y="1027910"/>
            <a:chExt cx="5314736" cy="665162"/>
          </a:xfrm>
        </p:grpSpPr>
        <p:sp>
          <p:nvSpPr>
            <p:cNvPr id="4" name="矩形 3"/>
            <p:cNvSpPr/>
            <p:nvPr/>
          </p:nvSpPr>
          <p:spPr>
            <a:xfrm>
              <a:off x="1150228" y="1561310"/>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 name="矩形 4"/>
            <p:cNvSpPr/>
            <p:nvPr/>
          </p:nvSpPr>
          <p:spPr>
            <a:xfrm>
              <a:off x="2058278" y="1561310"/>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5"/>
            <p:cNvSpPr txBox="1">
              <a:spLocks noChangeArrowheads="1"/>
            </p:cNvSpPr>
            <p:nvPr/>
          </p:nvSpPr>
          <p:spPr bwMode="auto">
            <a:xfrm>
              <a:off x="1004177" y="1027910"/>
              <a:ext cx="53147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400" b="1" dirty="0">
                  <a:solidFill>
                    <a:srgbClr val="4C7E51"/>
                  </a:solidFill>
                  <a:latin typeface="微软雅黑" panose="020B0503020204020204" pitchFamily="34" charset="-122"/>
                  <a:ea typeface="微软雅黑" panose="020B0503020204020204" pitchFamily="34" charset="-122"/>
                </a:rPr>
                <a:t>信号量</a:t>
              </a:r>
              <a:r>
                <a:rPr lang="en-US" altLang="zh-CN" sz="2400" b="1" dirty="0">
                  <a:solidFill>
                    <a:srgbClr val="4C7E51"/>
                  </a:solidFill>
                  <a:latin typeface="微软雅黑" panose="020B0503020204020204" pitchFamily="34" charset="-122"/>
                  <a:ea typeface="微软雅黑" panose="020B0503020204020204" pitchFamily="34" charset="-122"/>
                </a:rPr>
                <a:t>(Semaphores)</a:t>
              </a:r>
              <a:endParaRPr lang="zh-CN" altLang="en-US" sz="2400" b="1" dirty="0">
                <a:solidFill>
                  <a:srgbClr val="4C7E51"/>
                </a:solidFill>
                <a:latin typeface="微软雅黑" panose="020B0503020204020204" pitchFamily="34" charset="-122"/>
                <a:ea typeface="微软雅黑" panose="020B0503020204020204" pitchFamily="34" charset="-122"/>
              </a:endParaRPr>
            </a:p>
          </p:txBody>
        </p:sp>
      </p:grpSp>
      <p:sp>
        <p:nvSpPr>
          <p:cNvPr id="7" name="文本框 19"/>
          <p:cNvSpPr txBox="1">
            <a:spLocks noChangeArrowheads="1"/>
          </p:cNvSpPr>
          <p:nvPr/>
        </p:nvSpPr>
        <p:spPr bwMode="auto">
          <a:xfrm>
            <a:off x="1150228" y="1790129"/>
            <a:ext cx="979527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en-US" sz="2400" dirty="0"/>
              <a:t>信号量机制是一种卓有成效的进程同步工具。信号量机制已被广泛应用于单处理机和多处理机系统以及计算机网络中。</a:t>
            </a:r>
            <a:endParaRPr lang="en-US" altLang="zh-CN" sz="2400" dirty="0"/>
          </a:p>
          <a:p>
            <a:pPr marL="0" lvl="2" indent="0">
              <a:buBlip>
                <a:blip r:embed="rId2"/>
              </a:buBlip>
            </a:pPr>
            <a:r>
              <a:rPr lang="zh-CN" altLang="en-US" sz="2400" dirty="0"/>
              <a:t>信号量是对具体物理资源的抽象。  </a:t>
            </a:r>
          </a:p>
        </p:txBody>
      </p:sp>
      <p:grpSp>
        <p:nvGrpSpPr>
          <p:cNvPr id="8" name="组合 7"/>
          <p:cNvGrpSpPr/>
          <p:nvPr/>
        </p:nvGrpSpPr>
        <p:grpSpPr>
          <a:xfrm>
            <a:off x="995212" y="3009116"/>
            <a:ext cx="5314736" cy="665162"/>
            <a:chOff x="1004177" y="1027910"/>
            <a:chExt cx="5314736" cy="665162"/>
          </a:xfrm>
        </p:grpSpPr>
        <p:sp>
          <p:nvSpPr>
            <p:cNvPr id="9" name="矩形 8"/>
            <p:cNvSpPr/>
            <p:nvPr/>
          </p:nvSpPr>
          <p:spPr>
            <a:xfrm>
              <a:off x="1150228" y="1561310"/>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 name="矩形 9"/>
            <p:cNvSpPr/>
            <p:nvPr/>
          </p:nvSpPr>
          <p:spPr>
            <a:xfrm>
              <a:off x="2058278" y="1561310"/>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1" name="文本框 55"/>
            <p:cNvSpPr txBox="1">
              <a:spLocks noChangeArrowheads="1"/>
            </p:cNvSpPr>
            <p:nvPr/>
          </p:nvSpPr>
          <p:spPr bwMode="auto">
            <a:xfrm>
              <a:off x="1004177" y="1027910"/>
              <a:ext cx="53147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信号量机制的发展</a:t>
              </a:r>
            </a:p>
          </p:txBody>
        </p:sp>
      </p:grpSp>
      <p:sp>
        <p:nvSpPr>
          <p:cNvPr id="12" name="文本框 19"/>
          <p:cNvSpPr txBox="1">
            <a:spLocks noChangeArrowheads="1"/>
          </p:cNvSpPr>
          <p:nvPr/>
        </p:nvSpPr>
        <p:spPr bwMode="auto">
          <a:xfrm>
            <a:off x="1141263" y="3803603"/>
            <a:ext cx="9795276"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en-US" sz="2400" dirty="0"/>
              <a:t>整型信号量</a:t>
            </a:r>
            <a:endParaRPr lang="en-US" altLang="zh-CN" sz="2400" dirty="0"/>
          </a:p>
          <a:p>
            <a:pPr marL="0" lvl="2" indent="0">
              <a:buBlip>
                <a:blip r:embed="rId2"/>
              </a:buBlip>
            </a:pPr>
            <a:r>
              <a:rPr lang="zh-CN" altLang="en-US" sz="2400" dirty="0"/>
              <a:t>记录型信号量</a:t>
            </a:r>
            <a:endParaRPr lang="en-US" altLang="zh-CN" sz="2400" dirty="0"/>
          </a:p>
          <a:p>
            <a:pPr marL="0" lvl="2" indent="0">
              <a:buBlip>
                <a:blip r:embed="rId2"/>
              </a:buBlip>
            </a:pPr>
            <a:r>
              <a:rPr lang="en-US" altLang="zh-CN" sz="2400" dirty="0"/>
              <a:t>AND</a:t>
            </a:r>
            <a:r>
              <a:rPr lang="zh-CN" altLang="en-US" sz="2400" dirty="0"/>
              <a:t>型信号量</a:t>
            </a:r>
            <a:endParaRPr lang="en-US" altLang="zh-CN" sz="2400" dirty="0"/>
          </a:p>
          <a:p>
            <a:pPr marL="0" lvl="2" indent="0">
              <a:buBlip>
                <a:blip r:embed="rId2"/>
              </a:buBlip>
            </a:pPr>
            <a:r>
              <a:rPr lang="zh-CN" altLang="en-US" sz="2400" dirty="0"/>
              <a:t>信号量集 </a:t>
            </a:r>
          </a:p>
        </p:txBody>
      </p:sp>
      <p:pic>
        <p:nvPicPr>
          <p:cNvPr id="13" name="Picture 5"/>
          <p:cNvPicPr>
            <a:picLocks noChangeAspect="1" noChangeArrowheads="1"/>
          </p:cNvPicPr>
          <p:nvPr/>
        </p:nvPicPr>
        <p:blipFill>
          <a:blip r:embed="rId3" cstate="print"/>
          <a:srcRect/>
          <a:stretch>
            <a:fillRect/>
          </a:stretch>
        </p:blipFill>
        <p:spPr bwMode="auto">
          <a:xfrm>
            <a:off x="10344486" y="730680"/>
            <a:ext cx="407988" cy="860425"/>
          </a:xfrm>
          <a:prstGeom prst="rect">
            <a:avLst/>
          </a:prstGeom>
          <a:noFill/>
          <a:ln w="9525">
            <a:noFill/>
            <a:miter lim="800000"/>
            <a:headEnd/>
            <a:tailEnd/>
          </a:ln>
        </p:spPr>
      </p:pic>
    </p:spTree>
    <p:extLst>
      <p:ext uri="{BB962C8B-B14F-4D97-AF65-F5344CB8AC3E}">
        <p14:creationId xmlns:p14="http://schemas.microsoft.com/office/powerpoint/2010/main" val="1162286065"/>
      </p:ext>
    </p:extLst>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strips(down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strips(downLeft)">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a:t>
            </a:r>
            <a:r>
              <a:rPr lang="zh-CN" altLang="en-US" dirty="0"/>
              <a:t>信号量机制</a:t>
            </a:r>
          </a:p>
        </p:txBody>
      </p:sp>
      <p:grpSp>
        <p:nvGrpSpPr>
          <p:cNvPr id="3" name="组合 2"/>
          <p:cNvGrpSpPr/>
          <p:nvPr/>
        </p:nvGrpSpPr>
        <p:grpSpPr>
          <a:xfrm>
            <a:off x="1004177" y="1027910"/>
            <a:ext cx="5314736" cy="665162"/>
            <a:chOff x="1004177" y="1027910"/>
            <a:chExt cx="5314736" cy="665162"/>
          </a:xfrm>
        </p:grpSpPr>
        <p:sp>
          <p:nvSpPr>
            <p:cNvPr id="4" name="矩形 3"/>
            <p:cNvSpPr/>
            <p:nvPr/>
          </p:nvSpPr>
          <p:spPr>
            <a:xfrm>
              <a:off x="1150228" y="1561310"/>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 name="矩形 4"/>
            <p:cNvSpPr/>
            <p:nvPr/>
          </p:nvSpPr>
          <p:spPr>
            <a:xfrm>
              <a:off x="2058278" y="1561310"/>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5"/>
            <p:cNvSpPr txBox="1">
              <a:spLocks noChangeArrowheads="1"/>
            </p:cNvSpPr>
            <p:nvPr/>
          </p:nvSpPr>
          <p:spPr bwMode="auto">
            <a:xfrm>
              <a:off x="1004177" y="1027910"/>
              <a:ext cx="53147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）整型信号量</a:t>
              </a:r>
            </a:p>
          </p:txBody>
        </p:sp>
      </p:grpSp>
      <p:pic>
        <p:nvPicPr>
          <p:cNvPr id="7" name="Picture 4" descr="72ccb7779413f508b051b932">
            <a:hlinkClick r:id="rId2"/>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44075" y="418012"/>
            <a:ext cx="2024063"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19"/>
          <p:cNvSpPr txBox="1">
            <a:spLocks noChangeArrowheads="1"/>
          </p:cNvSpPr>
          <p:nvPr/>
        </p:nvSpPr>
        <p:spPr bwMode="auto">
          <a:xfrm>
            <a:off x="1150228" y="1885665"/>
            <a:ext cx="761163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4"/>
              </a:buBlip>
            </a:pPr>
            <a:r>
              <a:rPr lang="en-US" altLang="zh-CN" sz="2400" dirty="0"/>
              <a:t>Dijkstra</a:t>
            </a:r>
            <a:r>
              <a:rPr lang="zh-CN" altLang="en-US" sz="2400" dirty="0"/>
              <a:t>把整型信号量定义为一个整型量</a:t>
            </a:r>
            <a:r>
              <a:rPr lang="en-US" altLang="zh-CN" sz="2400" dirty="0"/>
              <a:t>S</a:t>
            </a:r>
            <a:r>
              <a:rPr lang="zh-CN" altLang="en-US" sz="2400" dirty="0"/>
              <a:t>。</a:t>
            </a:r>
            <a:endParaRPr lang="en-US" altLang="zh-CN" sz="2400" dirty="0"/>
          </a:p>
          <a:p>
            <a:pPr marL="0" lvl="2" indent="0">
              <a:buBlip>
                <a:blip r:embed="rId4"/>
              </a:buBlip>
            </a:pPr>
            <a:r>
              <a:rPr lang="zh-CN" altLang="en-US" sz="2400" dirty="0"/>
              <a:t>除初始化外，仅能通过两个标准的原子操作</a:t>
            </a:r>
            <a:r>
              <a:rPr lang="en-US" altLang="zh-CN" sz="2400" dirty="0"/>
              <a:t>wait(s)</a:t>
            </a:r>
            <a:r>
              <a:rPr lang="zh-CN" altLang="en-US" sz="2400" dirty="0"/>
              <a:t>（</a:t>
            </a:r>
            <a:r>
              <a:rPr lang="en-US" altLang="zh-CN" sz="2400" dirty="0"/>
              <a:t>P</a:t>
            </a:r>
            <a:r>
              <a:rPr lang="zh-CN" altLang="en-US" sz="2400" dirty="0"/>
              <a:t>操作）和</a:t>
            </a:r>
            <a:r>
              <a:rPr lang="en-US" altLang="zh-CN" sz="2400" dirty="0"/>
              <a:t>signal(s)</a:t>
            </a:r>
            <a:r>
              <a:rPr lang="zh-CN" altLang="en-US" sz="2400" dirty="0"/>
              <a:t>（</a:t>
            </a:r>
            <a:r>
              <a:rPr lang="en-US" altLang="zh-CN" sz="2400" dirty="0"/>
              <a:t>V</a:t>
            </a:r>
            <a:r>
              <a:rPr lang="zh-CN" altLang="en-US" sz="2400" dirty="0"/>
              <a:t>操作）来访问。</a:t>
            </a:r>
            <a:endParaRPr lang="en-US" altLang="zh-CN" sz="2400" dirty="0"/>
          </a:p>
        </p:txBody>
      </p:sp>
      <p:sp>
        <p:nvSpPr>
          <p:cNvPr id="9" name="Text Box 4"/>
          <p:cNvSpPr txBox="1">
            <a:spLocks noChangeArrowheads="1"/>
          </p:cNvSpPr>
          <p:nvPr/>
        </p:nvSpPr>
        <p:spPr bwMode="auto">
          <a:xfrm>
            <a:off x="1004178" y="3348747"/>
            <a:ext cx="5137315" cy="168046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10000"/>
              </a:spcBef>
            </a:pPr>
            <a:r>
              <a:rPr lang="en-US" altLang="zh-CN" dirty="0">
                <a:solidFill>
                  <a:srgbClr val="00B050"/>
                </a:solidFill>
              </a:rPr>
              <a:t>/*wait(s)</a:t>
            </a:r>
            <a:r>
              <a:rPr lang="zh-CN" altLang="en-US" dirty="0">
                <a:solidFill>
                  <a:srgbClr val="00B050"/>
                </a:solidFill>
              </a:rPr>
              <a:t>操作</a:t>
            </a:r>
            <a:r>
              <a:rPr lang="en-US" altLang="zh-CN" dirty="0">
                <a:solidFill>
                  <a:srgbClr val="00B050"/>
                </a:solidFill>
              </a:rPr>
              <a:t>*/</a:t>
            </a:r>
          </a:p>
          <a:p>
            <a:pPr algn="just" eaLnBrk="1" hangingPunct="1">
              <a:lnSpc>
                <a:spcPct val="115000"/>
              </a:lnSpc>
              <a:spcBef>
                <a:spcPct val="50000"/>
              </a:spcBef>
            </a:pPr>
            <a:r>
              <a:rPr lang="en-US" altLang="zh-CN" dirty="0"/>
              <a:t>wait(S): while </a:t>
            </a:r>
            <a:r>
              <a:rPr lang="zh-CN" altLang="en-US" dirty="0"/>
              <a:t>（</a:t>
            </a:r>
            <a:r>
              <a:rPr lang="en-US" altLang="zh-CN" dirty="0"/>
              <a:t>S≤0</a:t>
            </a:r>
            <a:r>
              <a:rPr lang="zh-CN" altLang="en-US" dirty="0"/>
              <a:t>）</a:t>
            </a:r>
            <a:r>
              <a:rPr lang="en-US" altLang="zh-CN" dirty="0"/>
              <a:t>;   /*do no-op*/ </a:t>
            </a:r>
            <a:endParaRPr lang="zh-CN" altLang="en-US" dirty="0"/>
          </a:p>
          <a:p>
            <a:pPr algn="just" eaLnBrk="1" hangingPunct="1">
              <a:lnSpc>
                <a:spcPct val="115000"/>
              </a:lnSpc>
              <a:spcBef>
                <a:spcPct val="50000"/>
              </a:spcBef>
            </a:pPr>
            <a:r>
              <a:rPr lang="en-US" altLang="zh-CN" dirty="0"/>
              <a:t>                S∶= S – 1</a:t>
            </a:r>
            <a:r>
              <a:rPr lang="zh-CN" altLang="en-US" dirty="0"/>
              <a:t>；</a:t>
            </a:r>
          </a:p>
        </p:txBody>
      </p:sp>
      <p:sp>
        <p:nvSpPr>
          <p:cNvPr id="10" name="Text Box 4"/>
          <p:cNvSpPr txBox="1">
            <a:spLocks noChangeArrowheads="1"/>
          </p:cNvSpPr>
          <p:nvPr/>
        </p:nvSpPr>
        <p:spPr bwMode="auto">
          <a:xfrm>
            <a:off x="6492853" y="3348746"/>
            <a:ext cx="5137315" cy="156966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10000"/>
              </a:spcBef>
            </a:pPr>
            <a:r>
              <a:rPr lang="en-US" altLang="zh-CN" dirty="0">
                <a:solidFill>
                  <a:srgbClr val="00B050"/>
                </a:solidFill>
              </a:rPr>
              <a:t>/* signal(s)</a:t>
            </a:r>
            <a:r>
              <a:rPr lang="zh-CN" altLang="en-US" dirty="0">
                <a:solidFill>
                  <a:srgbClr val="00B050"/>
                </a:solidFill>
              </a:rPr>
              <a:t>操作</a:t>
            </a:r>
            <a:r>
              <a:rPr lang="en-US" altLang="zh-CN" dirty="0">
                <a:solidFill>
                  <a:srgbClr val="00B050"/>
                </a:solidFill>
              </a:rPr>
              <a:t>*/</a:t>
            </a:r>
          </a:p>
          <a:p>
            <a:pPr>
              <a:spcBef>
                <a:spcPts val="0"/>
              </a:spcBef>
              <a:defRPr/>
            </a:pPr>
            <a:r>
              <a:rPr lang="en-US" altLang="zh-CN" dirty="0"/>
              <a:t> signal(S){</a:t>
            </a:r>
          </a:p>
          <a:p>
            <a:pPr>
              <a:spcBef>
                <a:spcPts val="0"/>
              </a:spcBef>
              <a:defRPr/>
            </a:pPr>
            <a:r>
              <a:rPr lang="en-US" altLang="zh-CN" dirty="0"/>
              <a:t>            S++;</a:t>
            </a:r>
          </a:p>
          <a:p>
            <a:pPr>
              <a:spcBef>
                <a:spcPts val="0"/>
              </a:spcBef>
              <a:defRPr/>
            </a:pPr>
            <a:r>
              <a:rPr lang="en-US" altLang="zh-CN" dirty="0"/>
              <a:t>        }</a:t>
            </a:r>
          </a:p>
        </p:txBody>
      </p:sp>
      <p:grpSp>
        <p:nvGrpSpPr>
          <p:cNvPr id="11" name="组合 10"/>
          <p:cNvGrpSpPr/>
          <p:nvPr/>
        </p:nvGrpSpPr>
        <p:grpSpPr>
          <a:xfrm>
            <a:off x="826757" y="5138157"/>
            <a:ext cx="5314736" cy="665162"/>
            <a:chOff x="1004177" y="1027910"/>
            <a:chExt cx="5314736" cy="665162"/>
          </a:xfrm>
        </p:grpSpPr>
        <p:sp>
          <p:nvSpPr>
            <p:cNvPr id="12" name="矩形 11"/>
            <p:cNvSpPr/>
            <p:nvPr/>
          </p:nvSpPr>
          <p:spPr>
            <a:xfrm>
              <a:off x="1150228" y="1561310"/>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3" name="矩形 12"/>
            <p:cNvSpPr/>
            <p:nvPr/>
          </p:nvSpPr>
          <p:spPr>
            <a:xfrm>
              <a:off x="2058278" y="1561310"/>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4" name="文本框 55"/>
            <p:cNvSpPr txBox="1">
              <a:spLocks noChangeArrowheads="1"/>
            </p:cNvSpPr>
            <p:nvPr/>
          </p:nvSpPr>
          <p:spPr bwMode="auto">
            <a:xfrm>
              <a:off x="1004177" y="1027910"/>
              <a:ext cx="53147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存在问题</a:t>
              </a:r>
            </a:p>
          </p:txBody>
        </p:sp>
      </p:grpSp>
      <p:sp>
        <p:nvSpPr>
          <p:cNvPr id="15" name="文本框 19"/>
          <p:cNvSpPr txBox="1">
            <a:spLocks noChangeArrowheads="1"/>
          </p:cNvSpPr>
          <p:nvPr/>
        </p:nvSpPr>
        <p:spPr bwMode="auto">
          <a:xfrm>
            <a:off x="990530" y="5916377"/>
            <a:ext cx="97655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4"/>
              </a:buBlip>
            </a:pPr>
            <a:r>
              <a:rPr lang="zh-CN" altLang="en-US" sz="2400" dirty="0"/>
              <a:t>只要</a:t>
            </a:r>
            <a:r>
              <a:rPr lang="en-US" altLang="zh-CN" sz="2400" dirty="0"/>
              <a:t>S&lt;=0</a:t>
            </a:r>
            <a:r>
              <a:rPr lang="zh-CN" altLang="en-US" sz="2400" dirty="0"/>
              <a:t>，</a:t>
            </a:r>
            <a:r>
              <a:rPr lang="en-US" altLang="zh-CN" sz="2400" dirty="0"/>
              <a:t>wait</a:t>
            </a:r>
            <a:r>
              <a:rPr lang="zh-CN" altLang="en-US" sz="2400" dirty="0"/>
              <a:t>操作就会不断地测试，没能做到“</a:t>
            </a:r>
            <a:r>
              <a:rPr lang="zh-CN" altLang="en-US" sz="2400" b="1" dirty="0"/>
              <a:t>让权等待</a:t>
            </a:r>
            <a:r>
              <a:rPr lang="zh-CN" altLang="en-US" sz="2400" dirty="0"/>
              <a:t>” 。</a:t>
            </a:r>
            <a:endParaRPr lang="en-US" altLang="zh-CN" sz="2400" dirty="0"/>
          </a:p>
        </p:txBody>
      </p:sp>
    </p:spTree>
    <p:extLst>
      <p:ext uri="{BB962C8B-B14F-4D97-AF65-F5344CB8AC3E}">
        <p14:creationId xmlns:p14="http://schemas.microsoft.com/office/powerpoint/2010/main" val="3387978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trips(down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18" presetClass="entr" presetSubtype="12" fill="hold" grpId="0" nodeType="click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strips(downLeft)">
                                      <p:cBhvr>
                                        <p:cTn id="30"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0" grpId="0" animBg="1"/>
      <p:bldP spid="1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a:t>
            </a:r>
            <a:r>
              <a:rPr lang="zh-CN" altLang="en-US" dirty="0"/>
              <a:t>信号量机制</a:t>
            </a:r>
          </a:p>
        </p:txBody>
      </p:sp>
      <p:grpSp>
        <p:nvGrpSpPr>
          <p:cNvPr id="3" name="组合 2"/>
          <p:cNvGrpSpPr/>
          <p:nvPr/>
        </p:nvGrpSpPr>
        <p:grpSpPr>
          <a:xfrm>
            <a:off x="1004177" y="1027910"/>
            <a:ext cx="5314736" cy="665162"/>
            <a:chOff x="1004177" y="1027910"/>
            <a:chExt cx="5314736" cy="665162"/>
          </a:xfrm>
        </p:grpSpPr>
        <p:sp>
          <p:nvSpPr>
            <p:cNvPr id="4" name="矩形 3"/>
            <p:cNvSpPr/>
            <p:nvPr/>
          </p:nvSpPr>
          <p:spPr>
            <a:xfrm>
              <a:off x="1150228" y="1561310"/>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 name="矩形 4"/>
            <p:cNvSpPr/>
            <p:nvPr/>
          </p:nvSpPr>
          <p:spPr>
            <a:xfrm>
              <a:off x="2058278" y="1561310"/>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5"/>
            <p:cNvSpPr txBox="1">
              <a:spLocks noChangeArrowheads="1"/>
            </p:cNvSpPr>
            <p:nvPr/>
          </p:nvSpPr>
          <p:spPr bwMode="auto">
            <a:xfrm>
              <a:off x="1004177" y="1027910"/>
              <a:ext cx="53147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）记录型信号量</a:t>
              </a:r>
            </a:p>
          </p:txBody>
        </p:sp>
      </p:grpSp>
      <p:sp>
        <p:nvSpPr>
          <p:cNvPr id="8" name="文本框 19"/>
          <p:cNvSpPr txBox="1">
            <a:spLocks noChangeArrowheads="1"/>
          </p:cNvSpPr>
          <p:nvPr/>
        </p:nvSpPr>
        <p:spPr bwMode="auto">
          <a:xfrm>
            <a:off x="1150228" y="1885665"/>
            <a:ext cx="761163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en-US" sz="2400" dirty="0"/>
              <a:t>引入进程阻塞机制，解决“忙等”问题。</a:t>
            </a:r>
            <a:endParaRPr lang="en-US" altLang="zh-CN" sz="2400" dirty="0"/>
          </a:p>
          <a:p>
            <a:pPr marL="0" lvl="2" indent="0">
              <a:buBlip>
                <a:blip r:embed="rId2"/>
              </a:buBlip>
            </a:pPr>
            <a:r>
              <a:rPr lang="zh-CN" altLang="en-US" sz="2400" dirty="0"/>
              <a:t>在信号量里增加对阻塞进程的记录。</a:t>
            </a:r>
          </a:p>
        </p:txBody>
      </p:sp>
      <p:sp>
        <p:nvSpPr>
          <p:cNvPr id="16" name="Text Box 4"/>
          <p:cNvSpPr txBox="1">
            <a:spLocks noChangeArrowheads="1"/>
          </p:cNvSpPr>
          <p:nvPr/>
        </p:nvSpPr>
        <p:spPr bwMode="auto">
          <a:xfrm>
            <a:off x="1150228" y="2985005"/>
            <a:ext cx="9509276" cy="229806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10000"/>
              </a:spcBef>
            </a:pPr>
            <a:r>
              <a:rPr lang="en-US" altLang="zh-CN" dirty="0">
                <a:solidFill>
                  <a:srgbClr val="00B050"/>
                </a:solidFill>
              </a:rPr>
              <a:t>/* </a:t>
            </a:r>
            <a:r>
              <a:rPr lang="zh-CN" altLang="en-US" dirty="0">
                <a:solidFill>
                  <a:srgbClr val="00B050"/>
                </a:solidFill>
              </a:rPr>
              <a:t>记录型的数据结构</a:t>
            </a:r>
            <a:r>
              <a:rPr lang="en-US" altLang="zh-CN" dirty="0">
                <a:solidFill>
                  <a:srgbClr val="00B050"/>
                </a:solidFill>
              </a:rPr>
              <a:t>*/</a:t>
            </a:r>
          </a:p>
          <a:p>
            <a:pPr eaLnBrk="1" hangingPunct="1">
              <a:spcBef>
                <a:spcPts val="675"/>
              </a:spcBef>
            </a:pPr>
            <a:r>
              <a:rPr lang="en-US" altLang="zh-CN" dirty="0"/>
              <a:t>  </a:t>
            </a:r>
            <a:r>
              <a:rPr lang="en-US" altLang="zh-CN" dirty="0" err="1"/>
              <a:t>typedef</a:t>
            </a:r>
            <a:r>
              <a:rPr lang="en-US" altLang="zh-CN" dirty="0"/>
              <a:t> </a:t>
            </a:r>
            <a:r>
              <a:rPr lang="en-US" altLang="zh-CN" dirty="0" err="1"/>
              <a:t>struct</a:t>
            </a:r>
            <a:r>
              <a:rPr lang="en-US" altLang="zh-CN" dirty="0"/>
              <a:t> {</a:t>
            </a:r>
          </a:p>
          <a:p>
            <a:pPr eaLnBrk="1" hangingPunct="1">
              <a:spcBef>
                <a:spcPts val="675"/>
              </a:spcBef>
            </a:pPr>
            <a:r>
              <a:rPr lang="en-US" altLang="zh-CN" dirty="0"/>
              <a:t>                 </a:t>
            </a:r>
            <a:r>
              <a:rPr lang="en-US" altLang="zh-CN" dirty="0" err="1"/>
              <a:t>int</a:t>
            </a:r>
            <a:r>
              <a:rPr lang="en-US" altLang="zh-CN" dirty="0"/>
              <a:t> value;</a:t>
            </a:r>
            <a:r>
              <a:rPr lang="en-US" altLang="zh-CN" b="0" dirty="0">
                <a:solidFill>
                  <a:srgbClr val="00B050"/>
                </a:solidFill>
              </a:rPr>
              <a:t>     </a:t>
            </a:r>
            <a:r>
              <a:rPr kumimoji="0" lang="en-US" altLang="zh-CN" b="0" dirty="0">
                <a:solidFill>
                  <a:srgbClr val="00B050"/>
                </a:solidFill>
              </a:rPr>
              <a:t>/*</a:t>
            </a:r>
            <a:r>
              <a:rPr kumimoji="0" lang="zh-CN" altLang="en-US" b="0" dirty="0">
                <a:solidFill>
                  <a:srgbClr val="00B050"/>
                </a:solidFill>
              </a:rPr>
              <a:t>代表资源数目*</a:t>
            </a:r>
            <a:r>
              <a:rPr kumimoji="0" lang="en-US" altLang="zh-CN" b="0" dirty="0">
                <a:solidFill>
                  <a:srgbClr val="00B050"/>
                </a:solidFill>
              </a:rPr>
              <a:t>/</a:t>
            </a:r>
            <a:endParaRPr lang="en-US" altLang="zh-CN" b="0" dirty="0">
              <a:solidFill>
                <a:srgbClr val="00B050"/>
              </a:solidFill>
            </a:endParaRPr>
          </a:p>
          <a:p>
            <a:pPr eaLnBrk="1" hangingPunct="1">
              <a:spcBef>
                <a:spcPts val="675"/>
              </a:spcBef>
            </a:pPr>
            <a:r>
              <a:rPr lang="en-US" altLang="zh-CN" dirty="0"/>
              <a:t>                 </a:t>
            </a:r>
            <a:r>
              <a:rPr lang="en-US" altLang="zh-CN" dirty="0" err="1"/>
              <a:t>struct</a:t>
            </a:r>
            <a:r>
              <a:rPr lang="en-US" altLang="zh-CN" dirty="0"/>
              <a:t> </a:t>
            </a:r>
            <a:r>
              <a:rPr lang="en-US" altLang="zh-CN" dirty="0" err="1"/>
              <a:t>process_control_block</a:t>
            </a:r>
            <a:r>
              <a:rPr lang="en-US" altLang="zh-CN" dirty="0"/>
              <a:t> *list;</a:t>
            </a:r>
            <a:r>
              <a:rPr lang="en-US" altLang="zh-CN" b="0" dirty="0"/>
              <a:t></a:t>
            </a:r>
            <a:r>
              <a:rPr kumimoji="0" lang="en-US" altLang="zh-CN" b="0" dirty="0">
                <a:solidFill>
                  <a:srgbClr val="00B050"/>
                </a:solidFill>
              </a:rPr>
              <a:t>/*</a:t>
            </a:r>
            <a:r>
              <a:rPr kumimoji="0" lang="zh-CN" altLang="en-US" b="0" dirty="0">
                <a:solidFill>
                  <a:srgbClr val="00B050"/>
                </a:solidFill>
              </a:rPr>
              <a:t>等待进程链表*</a:t>
            </a:r>
            <a:r>
              <a:rPr kumimoji="0" lang="en-US" altLang="zh-CN" b="0" dirty="0">
                <a:solidFill>
                  <a:srgbClr val="00B050"/>
                </a:solidFill>
              </a:rPr>
              <a:t>/</a:t>
            </a:r>
            <a:endParaRPr lang="en-US" altLang="zh-CN" b="0" dirty="0">
              <a:solidFill>
                <a:srgbClr val="00B050"/>
              </a:solidFill>
            </a:endParaRPr>
          </a:p>
          <a:p>
            <a:pPr eaLnBrk="1" hangingPunct="1">
              <a:spcBef>
                <a:spcPts val="675"/>
              </a:spcBef>
            </a:pPr>
            <a:r>
              <a:rPr lang="en-US" altLang="zh-CN" dirty="0"/>
              <a:t>         } semaphore;</a:t>
            </a:r>
          </a:p>
        </p:txBody>
      </p:sp>
      <p:sp>
        <p:nvSpPr>
          <p:cNvPr id="9" name="Text Box 4"/>
          <p:cNvSpPr txBox="1">
            <a:spLocks noChangeArrowheads="1"/>
          </p:cNvSpPr>
          <p:nvPr/>
        </p:nvSpPr>
        <p:spPr bwMode="auto">
          <a:xfrm>
            <a:off x="1204820" y="3077312"/>
            <a:ext cx="4936673" cy="213443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10000"/>
              </a:spcBef>
            </a:pPr>
            <a:r>
              <a:rPr lang="en-US" altLang="zh-CN" dirty="0">
                <a:solidFill>
                  <a:srgbClr val="00B050"/>
                </a:solidFill>
              </a:rPr>
              <a:t>/*wait(s)</a:t>
            </a:r>
            <a:r>
              <a:rPr lang="zh-CN" altLang="en-US" dirty="0">
                <a:solidFill>
                  <a:srgbClr val="00B050"/>
                </a:solidFill>
              </a:rPr>
              <a:t>操作</a:t>
            </a:r>
            <a:r>
              <a:rPr lang="en-US" altLang="zh-CN" dirty="0">
                <a:solidFill>
                  <a:srgbClr val="00B050"/>
                </a:solidFill>
              </a:rPr>
              <a:t>*/</a:t>
            </a:r>
          </a:p>
          <a:p>
            <a:pPr eaLnBrk="1" hangingPunct="1">
              <a:spcBef>
                <a:spcPct val="10000"/>
              </a:spcBef>
            </a:pPr>
            <a:r>
              <a:rPr lang="en-US" altLang="zh-CN" dirty="0"/>
              <a:t>wait(semaphore *S) {</a:t>
            </a:r>
          </a:p>
          <a:p>
            <a:pPr lvl="1" eaLnBrk="1" hangingPunct="1">
              <a:lnSpc>
                <a:spcPct val="90000"/>
              </a:lnSpc>
              <a:spcBef>
                <a:spcPts val="675"/>
              </a:spcBef>
            </a:pPr>
            <a:r>
              <a:rPr lang="en-US" altLang="zh-CN" dirty="0"/>
              <a:t>  S-&gt;value--;</a:t>
            </a:r>
          </a:p>
          <a:p>
            <a:pPr lvl="1" eaLnBrk="1" hangingPunct="1">
              <a:lnSpc>
                <a:spcPct val="90000"/>
              </a:lnSpc>
              <a:spcBef>
                <a:spcPts val="675"/>
              </a:spcBef>
            </a:pPr>
            <a:r>
              <a:rPr lang="en-US" altLang="zh-CN" dirty="0"/>
              <a:t>  if (S-&gt;value &lt; 0) block(S-&gt;list);</a:t>
            </a:r>
          </a:p>
          <a:p>
            <a:pPr lvl="1" eaLnBrk="1" hangingPunct="1">
              <a:lnSpc>
                <a:spcPct val="90000"/>
              </a:lnSpc>
              <a:spcBef>
                <a:spcPts val="675"/>
              </a:spcBef>
            </a:pPr>
            <a:r>
              <a:rPr lang="en-US" altLang="zh-CN" dirty="0"/>
              <a:t>}</a:t>
            </a:r>
          </a:p>
        </p:txBody>
      </p:sp>
      <p:sp>
        <p:nvSpPr>
          <p:cNvPr id="10" name="Text Box 4"/>
          <p:cNvSpPr txBox="1">
            <a:spLocks noChangeArrowheads="1"/>
          </p:cNvSpPr>
          <p:nvPr/>
        </p:nvSpPr>
        <p:spPr bwMode="auto">
          <a:xfrm>
            <a:off x="6346209" y="3053245"/>
            <a:ext cx="5263143" cy="213443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10000"/>
              </a:spcBef>
            </a:pPr>
            <a:r>
              <a:rPr lang="en-US" altLang="zh-CN" dirty="0">
                <a:solidFill>
                  <a:srgbClr val="00B050"/>
                </a:solidFill>
              </a:rPr>
              <a:t>/* signal(s)</a:t>
            </a:r>
            <a:r>
              <a:rPr lang="zh-CN" altLang="en-US" dirty="0">
                <a:solidFill>
                  <a:srgbClr val="00B050"/>
                </a:solidFill>
              </a:rPr>
              <a:t>操作</a:t>
            </a:r>
            <a:r>
              <a:rPr lang="en-US" altLang="zh-CN" dirty="0">
                <a:solidFill>
                  <a:srgbClr val="00B050"/>
                </a:solidFill>
              </a:rPr>
              <a:t>*/</a:t>
            </a:r>
          </a:p>
          <a:p>
            <a:pPr eaLnBrk="1" hangingPunct="1">
              <a:spcBef>
                <a:spcPct val="10000"/>
              </a:spcBef>
            </a:pPr>
            <a:r>
              <a:rPr lang="en-US" altLang="zh-CN" dirty="0"/>
              <a:t>signal(semaphore *S)  {</a:t>
            </a:r>
          </a:p>
          <a:p>
            <a:pPr lvl="1" eaLnBrk="1" hangingPunct="1">
              <a:lnSpc>
                <a:spcPct val="90000"/>
              </a:lnSpc>
              <a:spcBef>
                <a:spcPts val="675"/>
              </a:spcBef>
            </a:pPr>
            <a:r>
              <a:rPr lang="en-US" altLang="zh-CN" dirty="0"/>
              <a:t> S-&gt;value++;</a:t>
            </a:r>
          </a:p>
          <a:p>
            <a:pPr lvl="1" eaLnBrk="1" hangingPunct="1">
              <a:lnSpc>
                <a:spcPct val="90000"/>
              </a:lnSpc>
              <a:spcBef>
                <a:spcPts val="675"/>
              </a:spcBef>
            </a:pPr>
            <a:r>
              <a:rPr lang="en-US" altLang="zh-CN" dirty="0"/>
              <a:t> if (S-&gt;value &lt;= 0) wakeup(S-&gt;list);</a:t>
            </a:r>
          </a:p>
          <a:p>
            <a:pPr lvl="1" eaLnBrk="1" hangingPunct="1">
              <a:lnSpc>
                <a:spcPct val="90000"/>
              </a:lnSpc>
              <a:spcBef>
                <a:spcPts val="675"/>
              </a:spcBef>
            </a:pPr>
            <a:r>
              <a:rPr lang="en-US" altLang="zh-CN" dirty="0"/>
              <a:t>    }</a:t>
            </a:r>
          </a:p>
        </p:txBody>
      </p:sp>
    </p:spTree>
    <p:extLst>
      <p:ext uri="{BB962C8B-B14F-4D97-AF65-F5344CB8AC3E}">
        <p14:creationId xmlns:p14="http://schemas.microsoft.com/office/powerpoint/2010/main" val="127097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trips(down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6" grpId="0" animBg="1"/>
      <p:bldP spid="9" grpId="0" animBg="1"/>
      <p:bldP spid="1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0117" y="196495"/>
            <a:ext cx="3967716" cy="457196"/>
          </a:xfrm>
        </p:spPr>
        <p:txBody>
          <a:bodyPr/>
          <a:lstStyle/>
          <a:p>
            <a:r>
              <a:rPr lang="en-US" altLang="zh-CN" dirty="0"/>
              <a:t>3.</a:t>
            </a:r>
            <a:r>
              <a:rPr lang="zh-CN" altLang="en-US" dirty="0"/>
              <a:t>信号量机制</a:t>
            </a:r>
          </a:p>
        </p:txBody>
      </p:sp>
      <p:sp>
        <p:nvSpPr>
          <p:cNvPr id="4" name="Text Box 6"/>
          <p:cNvSpPr txBox="1">
            <a:spLocks noChangeArrowheads="1"/>
          </p:cNvSpPr>
          <p:nvPr/>
        </p:nvSpPr>
        <p:spPr bwMode="auto">
          <a:xfrm>
            <a:off x="2937258" y="824857"/>
            <a:ext cx="4253087" cy="461665"/>
          </a:xfrm>
          <a:prstGeom prst="rect">
            <a:avLst/>
          </a:prstGeom>
          <a:noFill/>
          <a:ln w="9525">
            <a:noFill/>
            <a:miter lim="800000"/>
            <a:headEnd/>
            <a:tailEnd/>
          </a:ln>
          <a:effectLst/>
        </p:spPr>
        <p:txBody>
          <a:bodyPr wrap="none">
            <a:spAutoFit/>
          </a:bodyPr>
          <a:lstStyle/>
          <a:p>
            <a:pPr>
              <a:defRPr/>
            </a:pPr>
            <a:r>
              <a:rPr lang="en-US" altLang="zh-CN" sz="2400" dirty="0">
                <a:solidFill>
                  <a:srgbClr val="7030A0"/>
                </a:solidFill>
                <a:effectLst>
                  <a:outerShdw blurRad="38100" dist="38100" dir="2700000" algn="tl">
                    <a:srgbClr val="C0C0C0"/>
                  </a:outerShdw>
                </a:effectLst>
                <a:latin typeface="Arial" pitchFamily="34" charset="0"/>
                <a:ea typeface="楷体_GB2312" pitchFamily="49" charset="-122"/>
              </a:rPr>
              <a:t>wait( S ): </a:t>
            </a:r>
            <a:r>
              <a:rPr lang="en-US" altLang="zh-CN" sz="2400" dirty="0" err="1">
                <a:solidFill>
                  <a:srgbClr val="7030A0"/>
                </a:solidFill>
                <a:effectLst>
                  <a:outerShdw blurRad="38100" dist="38100" dir="2700000" algn="tl">
                    <a:srgbClr val="C0C0C0"/>
                  </a:outerShdw>
                </a:effectLst>
                <a:latin typeface="Arial" pitchFamily="34" charset="0"/>
                <a:ea typeface="楷体_GB2312" pitchFamily="49" charset="-122"/>
              </a:rPr>
              <a:t>申请一个单位的资源</a:t>
            </a:r>
            <a:endParaRPr lang="en-US" altLang="zh-CN" sz="2400" dirty="0">
              <a:solidFill>
                <a:srgbClr val="7030A0"/>
              </a:solidFill>
              <a:effectLst>
                <a:outerShdw blurRad="38100" dist="38100" dir="2700000" algn="tl">
                  <a:srgbClr val="C0C0C0"/>
                </a:outerShdw>
              </a:effectLst>
              <a:latin typeface="Arial" pitchFamily="34" charset="0"/>
              <a:ea typeface="楷体_GB2312" pitchFamily="49" charset="-122"/>
            </a:endParaRPr>
          </a:p>
        </p:txBody>
      </p:sp>
      <p:grpSp>
        <p:nvGrpSpPr>
          <p:cNvPr id="5" name="组合 35"/>
          <p:cNvGrpSpPr>
            <a:grpSpLocks/>
          </p:cNvGrpSpPr>
          <p:nvPr/>
        </p:nvGrpSpPr>
        <p:grpSpPr bwMode="auto">
          <a:xfrm>
            <a:off x="2978931" y="2294265"/>
            <a:ext cx="2411413" cy="1196403"/>
            <a:chOff x="1603684" y="2478442"/>
            <a:chExt cx="2411413" cy="1196403"/>
          </a:xfrm>
        </p:grpSpPr>
        <p:sp>
          <p:nvSpPr>
            <p:cNvPr id="6" name="AutoShape 8"/>
            <p:cNvSpPr>
              <a:spLocks noChangeArrowheads="1"/>
            </p:cNvSpPr>
            <p:nvPr/>
          </p:nvSpPr>
          <p:spPr bwMode="auto">
            <a:xfrm>
              <a:off x="1603684" y="2896970"/>
              <a:ext cx="2411413" cy="777875"/>
            </a:xfrm>
            <a:prstGeom prst="flowChartDecision">
              <a:avLst/>
            </a:prstGeom>
            <a:solidFill>
              <a:srgbClr val="99CCFF"/>
            </a:solidFill>
            <a:ln w="9525">
              <a:solidFill>
                <a:schemeClr val="tx1"/>
              </a:solidFill>
              <a:miter lim="800000"/>
              <a:headEnd/>
              <a:tailEnd/>
            </a:ln>
            <a:effectLst/>
          </p:spPr>
          <p:txBody>
            <a:bodyPr wrap="none" anchor="ctr"/>
            <a:lstStyle/>
            <a:p>
              <a:pPr algn="ctr">
                <a:defRPr/>
              </a:pPr>
              <a:r>
                <a:rPr lang="en-US" altLang="zh-CN" dirty="0">
                  <a:effectLst>
                    <a:outerShdw blurRad="38100" dist="38100" dir="2700000" algn="tl">
                      <a:srgbClr val="FFFFFF"/>
                    </a:outerShdw>
                  </a:effectLst>
                  <a:latin typeface="Arial" pitchFamily="34" charset="0"/>
                  <a:ea typeface="楷体_GB2312" pitchFamily="49" charset="-122"/>
                </a:rPr>
                <a:t>S -&gt;value&lt; 0 ?</a:t>
              </a:r>
            </a:p>
          </p:txBody>
        </p:sp>
        <p:sp>
          <p:nvSpPr>
            <p:cNvPr id="7" name="Line 12"/>
            <p:cNvSpPr>
              <a:spLocks noChangeShapeType="1"/>
            </p:cNvSpPr>
            <p:nvPr/>
          </p:nvSpPr>
          <p:spPr bwMode="auto">
            <a:xfrm>
              <a:off x="2803503" y="2478442"/>
              <a:ext cx="0" cy="42227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8" name="组合 38"/>
          <p:cNvGrpSpPr>
            <a:grpSpLocks/>
          </p:cNvGrpSpPr>
          <p:nvPr/>
        </p:nvGrpSpPr>
        <p:grpSpPr bwMode="auto">
          <a:xfrm>
            <a:off x="2831271" y="5084609"/>
            <a:ext cx="2794000" cy="935266"/>
            <a:chOff x="1456024" y="5459858"/>
            <a:chExt cx="2794000" cy="935266"/>
          </a:xfrm>
        </p:grpSpPr>
        <p:sp>
          <p:nvSpPr>
            <p:cNvPr id="9" name="Rectangle 10"/>
            <p:cNvSpPr>
              <a:spLocks noChangeArrowheads="1"/>
            </p:cNvSpPr>
            <p:nvPr/>
          </p:nvSpPr>
          <p:spPr bwMode="auto">
            <a:xfrm>
              <a:off x="1456024" y="5937924"/>
              <a:ext cx="2794000" cy="457200"/>
            </a:xfrm>
            <a:prstGeom prst="rect">
              <a:avLst/>
            </a:prstGeom>
            <a:solidFill>
              <a:schemeClr val="bg2"/>
            </a:solidFill>
            <a:ln w="9525">
              <a:solidFill>
                <a:schemeClr val="tx1"/>
              </a:solidFill>
              <a:prstDash val="sysDot"/>
              <a:miter lim="800000"/>
              <a:headEnd/>
              <a:tailEnd/>
            </a:ln>
            <a:effectLst/>
          </p:spPr>
          <p:txBody>
            <a:bodyPr wrap="none" anchor="ctr"/>
            <a:lstStyle/>
            <a:p>
              <a:pPr algn="ctr">
                <a:defRPr/>
              </a:pPr>
              <a:r>
                <a:rPr lang="zh-CN" altLang="en-US" sz="2400" dirty="0">
                  <a:effectLst>
                    <a:outerShdw blurRad="38100" dist="38100" dir="2700000" algn="tl">
                      <a:srgbClr val="FFFFFF"/>
                    </a:outerShdw>
                  </a:effectLst>
                  <a:latin typeface="Arial" pitchFamily="34" charset="0"/>
                  <a:ea typeface="楷体_GB2312" pitchFamily="49" charset="-122"/>
                </a:rPr>
                <a:t>临界区</a:t>
              </a:r>
              <a:r>
                <a:rPr lang="en-US" altLang="zh-CN" sz="2400" dirty="0">
                  <a:effectLst>
                    <a:outerShdw blurRad="38100" dist="38100" dir="2700000" algn="tl">
                      <a:srgbClr val="FFFFFF"/>
                    </a:outerShdw>
                  </a:effectLst>
                  <a:latin typeface="Arial" pitchFamily="34" charset="0"/>
                  <a:ea typeface="楷体_GB2312" pitchFamily="49" charset="-122"/>
                </a:rPr>
                <a:t>/</a:t>
              </a:r>
              <a:r>
                <a:rPr lang="zh-CN" altLang="en-US" sz="2400" dirty="0">
                  <a:effectLst>
                    <a:outerShdw blurRad="38100" dist="38100" dir="2700000" algn="tl">
                      <a:srgbClr val="FFFFFF"/>
                    </a:outerShdw>
                  </a:effectLst>
                  <a:latin typeface="Arial" pitchFamily="34" charset="0"/>
                  <a:ea typeface="楷体_GB2312" pitchFamily="49" charset="-122"/>
                </a:rPr>
                <a:t>资源访问区</a:t>
              </a:r>
            </a:p>
          </p:txBody>
        </p:sp>
        <p:sp>
          <p:nvSpPr>
            <p:cNvPr id="10" name="Line 14"/>
            <p:cNvSpPr>
              <a:spLocks noChangeShapeType="1"/>
            </p:cNvSpPr>
            <p:nvPr/>
          </p:nvSpPr>
          <p:spPr bwMode="auto">
            <a:xfrm flipH="1">
              <a:off x="2841035" y="5459858"/>
              <a:ext cx="5946" cy="475829"/>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1" name="组合 37"/>
          <p:cNvGrpSpPr>
            <a:grpSpLocks/>
          </p:cNvGrpSpPr>
          <p:nvPr/>
        </p:nvGrpSpPr>
        <p:grpSpPr bwMode="auto">
          <a:xfrm>
            <a:off x="3372596" y="3490675"/>
            <a:ext cx="1678674" cy="1584881"/>
            <a:chOff x="1952274" y="3684895"/>
            <a:chExt cx="1679012" cy="1585182"/>
          </a:xfrm>
        </p:grpSpPr>
        <p:sp>
          <p:nvSpPr>
            <p:cNvPr id="12" name="Rectangle 9"/>
            <p:cNvSpPr>
              <a:spLocks noChangeArrowheads="1"/>
            </p:cNvSpPr>
            <p:nvPr/>
          </p:nvSpPr>
          <p:spPr bwMode="auto">
            <a:xfrm>
              <a:off x="1952274" y="4233057"/>
              <a:ext cx="1679012" cy="1037020"/>
            </a:xfrm>
            <a:prstGeom prst="rect">
              <a:avLst/>
            </a:prstGeom>
            <a:solidFill>
              <a:srgbClr val="000099">
                <a:alpha val="53999"/>
              </a:srgbClr>
            </a:solidFill>
            <a:ln w="9525">
              <a:solidFill>
                <a:schemeClr val="tx1"/>
              </a:solidFill>
              <a:prstDash val="dash"/>
              <a:miter lim="800000"/>
              <a:headEnd/>
              <a:tailEnd/>
            </a:ln>
            <a:effectLst/>
          </p:spPr>
          <p:txBody>
            <a:bodyPr wrap="none" anchor="ctr"/>
            <a:lstStyle/>
            <a:p>
              <a:pPr algn="ctr">
                <a:defRPr/>
              </a:pPr>
              <a:r>
                <a:rPr lang="zh-CN" altLang="en-US" sz="2000" b="1" dirty="0">
                  <a:latin typeface="Arial" pitchFamily="34" charset="0"/>
                  <a:ea typeface="楷体_GB2312" pitchFamily="49" charset="-122"/>
                </a:rPr>
                <a:t>本进程获得</a:t>
              </a:r>
            </a:p>
            <a:p>
              <a:pPr algn="ctr">
                <a:defRPr/>
              </a:pPr>
              <a:r>
                <a:rPr lang="zh-CN" altLang="en-US" sz="2000" b="1" dirty="0">
                  <a:latin typeface="Arial" pitchFamily="34" charset="0"/>
                  <a:ea typeface="楷体_GB2312" pitchFamily="49" charset="-122"/>
                </a:rPr>
                <a:t>一个资源</a:t>
              </a:r>
            </a:p>
          </p:txBody>
        </p:sp>
        <p:sp>
          <p:nvSpPr>
            <p:cNvPr id="13" name="Line 13"/>
            <p:cNvSpPr>
              <a:spLocks noChangeShapeType="1"/>
            </p:cNvSpPr>
            <p:nvPr/>
          </p:nvSpPr>
          <p:spPr bwMode="auto">
            <a:xfrm>
              <a:off x="2775108" y="3684895"/>
              <a:ext cx="14744" cy="507429"/>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 name="Text Box 18"/>
            <p:cNvSpPr txBox="1">
              <a:spLocks noChangeArrowheads="1"/>
            </p:cNvSpPr>
            <p:nvPr/>
          </p:nvSpPr>
          <p:spPr bwMode="auto">
            <a:xfrm>
              <a:off x="2260643" y="3694002"/>
              <a:ext cx="407566" cy="461753"/>
            </a:xfrm>
            <a:prstGeom prst="rect">
              <a:avLst/>
            </a:prstGeom>
            <a:noFill/>
            <a:ln w="9525">
              <a:noFill/>
              <a:miter lim="800000"/>
              <a:headEnd/>
              <a:tailEnd/>
            </a:ln>
            <a:effectLst/>
          </p:spPr>
          <p:txBody>
            <a:bodyPr wrap="non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a:effectLst>
                    <a:outerShdw blurRad="38100" dist="38100" dir="2700000" algn="tl">
                      <a:srgbClr val="C0C0C0"/>
                    </a:outerShdw>
                  </a:effectLst>
                  <a:latin typeface="Arial" pitchFamily="34" charset="0"/>
                  <a:ea typeface="楷体_GB2312" pitchFamily="1" charset="-122"/>
                </a:rPr>
                <a:t>N</a:t>
              </a:r>
            </a:p>
          </p:txBody>
        </p:sp>
      </p:grpSp>
      <p:grpSp>
        <p:nvGrpSpPr>
          <p:cNvPr id="15" name="组合 36"/>
          <p:cNvGrpSpPr>
            <a:grpSpLocks/>
          </p:cNvGrpSpPr>
          <p:nvPr/>
        </p:nvGrpSpPr>
        <p:grpSpPr bwMode="auto">
          <a:xfrm>
            <a:off x="5376696" y="2642462"/>
            <a:ext cx="2170870" cy="2176462"/>
            <a:chOff x="3946503" y="3052762"/>
            <a:chExt cx="2170810" cy="2176456"/>
          </a:xfrm>
        </p:grpSpPr>
        <p:sp>
          <p:nvSpPr>
            <p:cNvPr id="16" name="Rectangle 15"/>
            <p:cNvSpPr>
              <a:spLocks noChangeArrowheads="1"/>
            </p:cNvSpPr>
            <p:nvPr/>
          </p:nvSpPr>
          <p:spPr bwMode="auto">
            <a:xfrm>
              <a:off x="4358603" y="4000496"/>
              <a:ext cx="1758710" cy="1228722"/>
            </a:xfrm>
            <a:prstGeom prst="rect">
              <a:avLst/>
            </a:prstGeom>
            <a:solidFill>
              <a:schemeClr val="bg1"/>
            </a:solidFill>
            <a:ln w="9525">
              <a:solidFill>
                <a:schemeClr val="tx1"/>
              </a:solidFill>
              <a:miter lim="800000"/>
              <a:headEnd/>
              <a:tailEnd/>
            </a:ln>
            <a:effectLst/>
          </p:spPr>
          <p:txBody>
            <a:bodyPr wrap="none" anchor="ctr"/>
            <a:lstStyle/>
            <a:p>
              <a:pPr>
                <a:defRPr/>
              </a:pPr>
              <a:r>
                <a:rPr lang="zh-CN" altLang="en-US" sz="2000" dirty="0">
                  <a:effectLst>
                    <a:outerShdw blurRad="38100" dist="38100" dir="2700000" algn="tl">
                      <a:srgbClr val="C0C0C0"/>
                    </a:outerShdw>
                  </a:effectLst>
                  <a:latin typeface="Arial" pitchFamily="34" charset="0"/>
                  <a:ea typeface="楷体_GB2312" pitchFamily="49" charset="-122"/>
                </a:rPr>
                <a:t>本进程进入</a:t>
              </a:r>
              <a:endParaRPr lang="en-US" altLang="zh-CN" sz="2000" dirty="0">
                <a:effectLst>
                  <a:outerShdw blurRad="38100" dist="38100" dir="2700000" algn="tl">
                    <a:srgbClr val="C0C0C0"/>
                  </a:outerShdw>
                </a:effectLst>
                <a:latin typeface="Arial" pitchFamily="34" charset="0"/>
                <a:ea typeface="楷体_GB2312" pitchFamily="49" charset="-122"/>
              </a:endParaRPr>
            </a:p>
            <a:p>
              <a:pPr>
                <a:defRPr/>
              </a:pPr>
              <a:r>
                <a:rPr lang="en-US" altLang="zh-CN" sz="2000" dirty="0">
                  <a:effectLst>
                    <a:outerShdw blurRad="38100" dist="38100" dir="2700000" algn="tl">
                      <a:srgbClr val="C0C0C0"/>
                    </a:outerShdw>
                  </a:effectLst>
                  <a:latin typeface="Arial" pitchFamily="34" charset="0"/>
                  <a:ea typeface="楷体_GB2312" pitchFamily="49" charset="-122"/>
                </a:rPr>
                <a:t>S-&gt;list</a:t>
              </a:r>
              <a:r>
                <a:rPr lang="zh-CN" altLang="en-US" sz="2000" dirty="0">
                  <a:effectLst>
                    <a:outerShdw blurRad="38100" dist="38100" dir="2700000" algn="tl">
                      <a:srgbClr val="C0C0C0"/>
                    </a:outerShdw>
                  </a:effectLst>
                  <a:latin typeface="Arial" pitchFamily="34" charset="0"/>
                  <a:ea typeface="楷体_GB2312" pitchFamily="49" charset="-122"/>
                </a:rPr>
                <a:t>队列，</a:t>
              </a:r>
              <a:endParaRPr lang="en-US" altLang="zh-CN" sz="2000" dirty="0">
                <a:effectLst>
                  <a:outerShdw blurRad="38100" dist="38100" dir="2700000" algn="tl">
                    <a:srgbClr val="C0C0C0"/>
                  </a:outerShdw>
                </a:effectLst>
                <a:latin typeface="Arial" pitchFamily="34" charset="0"/>
                <a:ea typeface="楷体_GB2312" pitchFamily="49" charset="-122"/>
              </a:endParaRPr>
            </a:p>
            <a:p>
              <a:pPr>
                <a:defRPr/>
              </a:pPr>
              <a:r>
                <a:rPr lang="zh-CN" altLang="en-US" sz="2000" dirty="0">
                  <a:effectLst>
                    <a:outerShdw blurRad="38100" dist="38100" dir="2700000" algn="tl">
                      <a:srgbClr val="C0C0C0"/>
                    </a:outerShdw>
                  </a:effectLst>
                  <a:latin typeface="Arial" pitchFamily="34" charset="0"/>
                  <a:ea typeface="楷体_GB2312" pitchFamily="49" charset="-122"/>
                </a:rPr>
                <a:t>进入阻塞状态</a:t>
              </a:r>
            </a:p>
          </p:txBody>
        </p:sp>
        <p:sp>
          <p:nvSpPr>
            <p:cNvPr id="17" name="Line 16"/>
            <p:cNvSpPr>
              <a:spLocks noChangeShapeType="1"/>
            </p:cNvSpPr>
            <p:nvPr/>
          </p:nvSpPr>
          <p:spPr bwMode="auto">
            <a:xfrm>
              <a:off x="3946503" y="3509985"/>
              <a:ext cx="12954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Line 17"/>
            <p:cNvSpPr>
              <a:spLocks noChangeShapeType="1"/>
            </p:cNvSpPr>
            <p:nvPr/>
          </p:nvSpPr>
          <p:spPr bwMode="auto">
            <a:xfrm>
              <a:off x="5241903" y="3509985"/>
              <a:ext cx="0" cy="495088"/>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 name="Text Box 19"/>
            <p:cNvSpPr txBox="1">
              <a:spLocks noChangeArrowheads="1"/>
            </p:cNvSpPr>
            <p:nvPr/>
          </p:nvSpPr>
          <p:spPr bwMode="auto">
            <a:xfrm>
              <a:off x="4222720" y="3052762"/>
              <a:ext cx="389839" cy="461664"/>
            </a:xfrm>
            <a:prstGeom prst="rect">
              <a:avLst/>
            </a:prstGeom>
            <a:noFill/>
            <a:ln w="9525">
              <a:noFill/>
              <a:miter lim="800000"/>
              <a:headEnd/>
              <a:tailEnd/>
            </a:ln>
            <a:effectLst/>
          </p:spPr>
          <p:txBody>
            <a:bodyPr wrap="non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a:effectLst>
                    <a:outerShdw blurRad="38100" dist="38100" dir="2700000" algn="tl">
                      <a:srgbClr val="C0C0C0"/>
                    </a:outerShdw>
                  </a:effectLst>
                  <a:latin typeface="Arial" pitchFamily="34" charset="0"/>
                  <a:ea typeface="楷体_GB2312" pitchFamily="1" charset="-122"/>
                </a:rPr>
                <a:t>Y</a:t>
              </a:r>
            </a:p>
          </p:txBody>
        </p:sp>
      </p:grpSp>
      <p:grpSp>
        <p:nvGrpSpPr>
          <p:cNvPr id="20" name="组合 34"/>
          <p:cNvGrpSpPr>
            <a:grpSpLocks/>
          </p:cNvGrpSpPr>
          <p:nvPr/>
        </p:nvGrpSpPr>
        <p:grpSpPr bwMode="auto">
          <a:xfrm>
            <a:off x="2803975" y="1344609"/>
            <a:ext cx="5291138" cy="4052053"/>
            <a:chOff x="1428728" y="1528786"/>
            <a:chExt cx="5291138" cy="4581525"/>
          </a:xfrm>
        </p:grpSpPr>
        <p:sp>
          <p:nvSpPr>
            <p:cNvPr id="21" name="Rectangle 7"/>
            <p:cNvSpPr>
              <a:spLocks noChangeArrowheads="1"/>
            </p:cNvSpPr>
            <p:nvPr/>
          </p:nvSpPr>
          <p:spPr bwMode="auto">
            <a:xfrm>
              <a:off x="1880196" y="1985987"/>
              <a:ext cx="1864068" cy="552450"/>
            </a:xfrm>
            <a:prstGeom prst="rect">
              <a:avLst/>
            </a:prstGeom>
            <a:solidFill>
              <a:schemeClr val="bg1"/>
            </a:solidFill>
            <a:ln w="9525">
              <a:solidFill>
                <a:schemeClr val="tx1"/>
              </a:solidFill>
              <a:miter lim="800000"/>
              <a:headEnd/>
              <a:tailEnd/>
            </a:ln>
            <a:effectLst/>
          </p:spPr>
          <p:txBody>
            <a:bodyPr wrap="none" anchor="ctr"/>
            <a:lstStyle/>
            <a:p>
              <a:pPr algn="ctr">
                <a:defRPr/>
              </a:pPr>
              <a:r>
                <a:rPr lang="en-US" altLang="zh-CN" sz="2400" dirty="0">
                  <a:effectLst>
                    <a:outerShdw blurRad="38100" dist="38100" dir="2700000" algn="tl">
                      <a:srgbClr val="C0C0C0"/>
                    </a:outerShdw>
                  </a:effectLst>
                  <a:latin typeface="Arial" pitchFamily="34" charset="0"/>
                  <a:ea typeface="楷体_GB2312" pitchFamily="49" charset="-122"/>
                </a:rPr>
                <a:t>S-&gt;value-- </a:t>
              </a:r>
            </a:p>
          </p:txBody>
        </p:sp>
        <p:sp>
          <p:nvSpPr>
            <p:cNvPr id="22" name="Line 11"/>
            <p:cNvSpPr>
              <a:spLocks noChangeShapeType="1"/>
            </p:cNvSpPr>
            <p:nvPr/>
          </p:nvSpPr>
          <p:spPr bwMode="auto">
            <a:xfrm>
              <a:off x="2803503" y="1528786"/>
              <a:ext cx="0" cy="4572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Rectangle 31"/>
            <p:cNvSpPr>
              <a:spLocks noChangeArrowheads="1"/>
            </p:cNvSpPr>
            <p:nvPr/>
          </p:nvSpPr>
          <p:spPr bwMode="auto">
            <a:xfrm>
              <a:off x="1428728" y="1646261"/>
              <a:ext cx="5291138" cy="4464050"/>
            </a:xfrm>
            <a:prstGeom prst="rect">
              <a:avLst/>
            </a:prstGeom>
            <a:noFill/>
            <a:ln w="38100">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b="0"/>
            </a:p>
          </p:txBody>
        </p:sp>
      </p:grpSp>
      <p:sp>
        <p:nvSpPr>
          <p:cNvPr id="24" name="Text Box 20"/>
          <p:cNvSpPr txBox="1">
            <a:spLocks noChangeArrowheads="1"/>
          </p:cNvSpPr>
          <p:nvPr/>
        </p:nvSpPr>
        <p:spPr bwMode="auto">
          <a:xfrm>
            <a:off x="8233225" y="479685"/>
            <a:ext cx="3429000" cy="830997"/>
          </a:xfrm>
          <a:prstGeom prst="rect">
            <a:avLst/>
          </a:prstGeom>
          <a:noFill/>
          <a:ln w="9525">
            <a:noFill/>
            <a:miter lim="800000"/>
            <a:headEnd/>
            <a:tailEnd/>
          </a:ln>
          <a:effectLst/>
        </p:spPr>
        <p:txBody>
          <a:bodyPr>
            <a:spAutoFit/>
          </a:bodyPr>
          <a:lstStyle/>
          <a:p>
            <a:pPr>
              <a:defRPr/>
            </a:pPr>
            <a:r>
              <a:rPr lang="en-US" altLang="zh-CN" sz="2400" dirty="0">
                <a:solidFill>
                  <a:srgbClr val="7030A0"/>
                </a:solidFill>
                <a:effectLst>
                  <a:outerShdw blurRad="38100" dist="38100" dir="2700000" algn="tl">
                    <a:srgbClr val="C0C0C0"/>
                  </a:outerShdw>
                </a:effectLst>
                <a:latin typeface="Arial" pitchFamily="34" charset="0"/>
                <a:ea typeface="楷体_GB2312" pitchFamily="49" charset="-122"/>
              </a:rPr>
              <a:t>signal( S ) ：</a:t>
            </a:r>
            <a:r>
              <a:rPr lang="en-US" altLang="zh-CN" sz="2400" dirty="0" err="1">
                <a:solidFill>
                  <a:srgbClr val="7030A0"/>
                </a:solidFill>
                <a:effectLst>
                  <a:outerShdw blurRad="38100" dist="38100" dir="2700000" algn="tl">
                    <a:srgbClr val="C0C0C0"/>
                  </a:outerShdw>
                </a:effectLst>
                <a:latin typeface="Arial" pitchFamily="34" charset="0"/>
                <a:ea typeface="楷体_GB2312" pitchFamily="49" charset="-122"/>
              </a:rPr>
              <a:t>归还一个单位的资源</a:t>
            </a:r>
            <a:endParaRPr lang="en-US" altLang="zh-CN" sz="2400" dirty="0">
              <a:solidFill>
                <a:srgbClr val="7030A0"/>
              </a:solidFill>
              <a:effectLst>
                <a:outerShdw blurRad="38100" dist="38100" dir="2700000" algn="tl">
                  <a:srgbClr val="C0C0C0"/>
                </a:outerShdw>
              </a:effectLst>
              <a:latin typeface="Arial" pitchFamily="34" charset="0"/>
              <a:ea typeface="楷体_GB2312" pitchFamily="49" charset="-122"/>
            </a:endParaRPr>
          </a:p>
        </p:txBody>
      </p:sp>
      <p:grpSp>
        <p:nvGrpSpPr>
          <p:cNvPr id="25" name="组合 53"/>
          <p:cNvGrpSpPr>
            <a:grpSpLocks/>
          </p:cNvGrpSpPr>
          <p:nvPr/>
        </p:nvGrpSpPr>
        <p:grpSpPr bwMode="auto">
          <a:xfrm>
            <a:off x="8439600" y="2102840"/>
            <a:ext cx="2501900" cy="1369019"/>
            <a:chOff x="5778532" y="2286718"/>
            <a:chExt cx="2501900" cy="1369019"/>
          </a:xfrm>
        </p:grpSpPr>
        <p:sp>
          <p:nvSpPr>
            <p:cNvPr id="26" name="AutoShape 22"/>
            <p:cNvSpPr>
              <a:spLocks noChangeArrowheads="1"/>
            </p:cNvSpPr>
            <p:nvPr/>
          </p:nvSpPr>
          <p:spPr bwMode="auto">
            <a:xfrm>
              <a:off x="5778532" y="2941362"/>
              <a:ext cx="2501900" cy="714375"/>
            </a:xfrm>
            <a:prstGeom prst="flowChartDecision">
              <a:avLst/>
            </a:prstGeom>
            <a:solidFill>
              <a:srgbClr val="00CCFF"/>
            </a:solidFill>
            <a:ln w="9525">
              <a:solidFill>
                <a:schemeClr val="tx1"/>
              </a:solidFill>
              <a:miter lim="800000"/>
              <a:headEnd/>
              <a:tailEnd/>
            </a:ln>
            <a:effectLst/>
          </p:spPr>
          <p:txBody>
            <a:bodyPr wrap="none" anchor="ctr"/>
            <a:lstStyle/>
            <a:p>
              <a:pPr algn="ctr">
                <a:defRPr/>
              </a:pPr>
              <a:r>
                <a:rPr lang="en-US" altLang="zh-CN" dirty="0">
                  <a:effectLst>
                    <a:outerShdw blurRad="38100" dist="38100" dir="2700000" algn="tl">
                      <a:srgbClr val="FFFFFF"/>
                    </a:outerShdw>
                  </a:effectLst>
                  <a:latin typeface="Arial" pitchFamily="34" charset="0"/>
                  <a:ea typeface="楷体_GB2312" pitchFamily="49" charset="-122"/>
                </a:rPr>
                <a:t>S -&gt;value&lt;= 0 ?</a:t>
              </a:r>
            </a:p>
          </p:txBody>
        </p:sp>
        <p:sp>
          <p:nvSpPr>
            <p:cNvPr id="27" name="Line 25"/>
            <p:cNvSpPr>
              <a:spLocks noChangeShapeType="1"/>
            </p:cNvSpPr>
            <p:nvPr/>
          </p:nvSpPr>
          <p:spPr bwMode="auto">
            <a:xfrm>
              <a:off x="7046944" y="2286718"/>
              <a:ext cx="0" cy="65464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28" name="组合 55"/>
          <p:cNvGrpSpPr>
            <a:grpSpLocks/>
          </p:cNvGrpSpPr>
          <p:nvPr/>
        </p:nvGrpSpPr>
        <p:grpSpPr bwMode="auto">
          <a:xfrm>
            <a:off x="9227000" y="3433759"/>
            <a:ext cx="454025" cy="2631929"/>
            <a:chOff x="6565932" y="3617637"/>
            <a:chExt cx="454371" cy="3709809"/>
          </a:xfrm>
        </p:grpSpPr>
        <p:sp>
          <p:nvSpPr>
            <p:cNvPr id="29" name="Line 26"/>
            <p:cNvSpPr>
              <a:spLocks noChangeShapeType="1"/>
            </p:cNvSpPr>
            <p:nvPr/>
          </p:nvSpPr>
          <p:spPr bwMode="auto">
            <a:xfrm flipH="1">
              <a:off x="7020303" y="3643313"/>
              <a:ext cx="0" cy="3684133"/>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 name="Text Box 29"/>
            <p:cNvSpPr txBox="1">
              <a:spLocks noChangeArrowheads="1"/>
            </p:cNvSpPr>
            <p:nvPr/>
          </p:nvSpPr>
          <p:spPr bwMode="auto">
            <a:xfrm>
              <a:off x="6565932" y="3617637"/>
              <a:ext cx="407795" cy="528594"/>
            </a:xfrm>
            <a:prstGeom prst="rect">
              <a:avLst/>
            </a:prstGeom>
            <a:noFill/>
            <a:ln w="9525">
              <a:noFill/>
              <a:miter lim="800000"/>
              <a:headEnd/>
              <a:tailEnd/>
            </a:ln>
            <a:effectLst/>
          </p:spPr>
          <p:txBody>
            <a:bodyPr wrap="non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a:effectLst>
                    <a:outerShdw blurRad="38100" dist="38100" dir="2700000" algn="tl">
                      <a:srgbClr val="C0C0C0"/>
                    </a:outerShdw>
                  </a:effectLst>
                  <a:latin typeface="Arial" pitchFamily="34" charset="0"/>
                  <a:ea typeface="楷体_GB2312" pitchFamily="1" charset="-122"/>
                </a:rPr>
                <a:t>N</a:t>
              </a:r>
            </a:p>
          </p:txBody>
        </p:sp>
      </p:grpSp>
      <p:grpSp>
        <p:nvGrpSpPr>
          <p:cNvPr id="31" name="组合 54"/>
          <p:cNvGrpSpPr>
            <a:grpSpLocks/>
          </p:cNvGrpSpPr>
          <p:nvPr/>
        </p:nvGrpSpPr>
        <p:grpSpPr bwMode="auto">
          <a:xfrm>
            <a:off x="9861999" y="2582859"/>
            <a:ext cx="1751013" cy="2236066"/>
            <a:chOff x="7200931" y="2767011"/>
            <a:chExt cx="1751012" cy="2235876"/>
          </a:xfrm>
        </p:grpSpPr>
        <p:sp>
          <p:nvSpPr>
            <p:cNvPr id="32" name="Rectangle 23"/>
            <p:cNvSpPr>
              <a:spLocks noChangeArrowheads="1"/>
            </p:cNvSpPr>
            <p:nvPr/>
          </p:nvSpPr>
          <p:spPr bwMode="auto">
            <a:xfrm>
              <a:off x="7200931" y="3870459"/>
              <a:ext cx="1751012" cy="1132428"/>
            </a:xfrm>
            <a:prstGeom prst="rect">
              <a:avLst/>
            </a:prstGeom>
            <a:solidFill>
              <a:schemeClr val="bg1"/>
            </a:solidFill>
            <a:ln w="9525">
              <a:solidFill>
                <a:schemeClr val="tx1"/>
              </a:solidFill>
              <a:miter lim="800000"/>
              <a:headEnd/>
              <a:tailEnd/>
            </a:ln>
            <a:effectLst/>
          </p:spPr>
          <p:txBody>
            <a:bodyPr wrap="none" anchor="ctr"/>
            <a:lstStyle/>
            <a:p>
              <a:pPr algn="ctr">
                <a:defRPr/>
              </a:pPr>
              <a:r>
                <a:rPr lang="zh-CN" altLang="en-US" sz="2000" dirty="0">
                  <a:effectLst>
                    <a:outerShdw blurRad="38100" dist="38100" dir="2700000" algn="tl">
                      <a:srgbClr val="C0C0C0"/>
                    </a:outerShdw>
                  </a:effectLst>
                  <a:latin typeface="Arial" pitchFamily="34" charset="0"/>
                  <a:ea typeface="楷体_GB2312" pitchFamily="49" charset="-122"/>
                </a:rPr>
                <a:t>将</a:t>
              </a:r>
              <a:r>
                <a:rPr lang="en-US" altLang="zh-CN" sz="2000" dirty="0">
                  <a:effectLst>
                    <a:outerShdw blurRad="38100" dist="38100" dir="2700000" algn="tl">
                      <a:srgbClr val="C0C0C0"/>
                    </a:outerShdw>
                  </a:effectLst>
                  <a:latin typeface="Arial" pitchFamily="34" charset="0"/>
                  <a:ea typeface="楷体_GB2312" pitchFamily="49" charset="-122"/>
                </a:rPr>
                <a:t>S-&gt;list</a:t>
              </a:r>
              <a:r>
                <a:rPr lang="zh-CN" altLang="en-US" sz="2000" dirty="0">
                  <a:effectLst>
                    <a:outerShdw blurRad="38100" dist="38100" dir="2700000" algn="tl">
                      <a:srgbClr val="C0C0C0"/>
                    </a:outerShdw>
                  </a:effectLst>
                  <a:latin typeface="Arial" pitchFamily="34" charset="0"/>
                  <a:ea typeface="楷体_GB2312" pitchFamily="49" charset="-122"/>
                </a:rPr>
                <a:t>中</a:t>
              </a:r>
            </a:p>
            <a:p>
              <a:pPr algn="ctr">
                <a:defRPr/>
              </a:pPr>
              <a:r>
                <a:rPr lang="zh-CN" altLang="en-US" sz="2000" dirty="0">
                  <a:effectLst>
                    <a:outerShdw blurRad="38100" dist="38100" dir="2700000" algn="tl">
                      <a:srgbClr val="C0C0C0"/>
                    </a:outerShdw>
                  </a:effectLst>
                  <a:latin typeface="Arial" pitchFamily="34" charset="0"/>
                  <a:ea typeface="楷体_GB2312" pitchFamily="49" charset="-122"/>
                </a:rPr>
                <a:t>第一个进程</a:t>
              </a:r>
            </a:p>
            <a:p>
              <a:pPr algn="ctr">
                <a:defRPr/>
              </a:pPr>
              <a:r>
                <a:rPr lang="zh-CN" altLang="en-US" sz="2000" dirty="0">
                  <a:effectLst>
                    <a:outerShdw blurRad="38100" dist="38100" dir="2700000" algn="tl">
                      <a:srgbClr val="C0C0C0"/>
                    </a:outerShdw>
                  </a:effectLst>
                  <a:latin typeface="Arial" pitchFamily="34" charset="0"/>
                  <a:ea typeface="楷体_GB2312" pitchFamily="49" charset="-122"/>
                </a:rPr>
                <a:t>唤醒，</a:t>
              </a:r>
            </a:p>
          </p:txBody>
        </p:sp>
        <p:sp>
          <p:nvSpPr>
            <p:cNvPr id="33" name="Line 27"/>
            <p:cNvSpPr>
              <a:spLocks noChangeShapeType="1"/>
            </p:cNvSpPr>
            <p:nvPr/>
          </p:nvSpPr>
          <p:spPr bwMode="auto">
            <a:xfrm>
              <a:off x="8262966" y="3322362"/>
              <a:ext cx="3810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Line 28"/>
            <p:cNvSpPr>
              <a:spLocks noChangeShapeType="1"/>
            </p:cNvSpPr>
            <p:nvPr/>
          </p:nvSpPr>
          <p:spPr bwMode="auto">
            <a:xfrm>
              <a:off x="8643966" y="3322362"/>
              <a:ext cx="0" cy="5334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 name="Text Box 30"/>
            <p:cNvSpPr txBox="1">
              <a:spLocks noChangeArrowheads="1"/>
            </p:cNvSpPr>
            <p:nvPr/>
          </p:nvSpPr>
          <p:spPr bwMode="auto">
            <a:xfrm>
              <a:off x="8223281" y="2767011"/>
              <a:ext cx="389850" cy="461626"/>
            </a:xfrm>
            <a:prstGeom prst="rect">
              <a:avLst/>
            </a:prstGeom>
            <a:noFill/>
            <a:ln w="9525">
              <a:noFill/>
              <a:miter lim="800000"/>
              <a:headEnd/>
              <a:tailEnd/>
            </a:ln>
            <a:effectLst/>
          </p:spPr>
          <p:txBody>
            <a:bodyPr wrap="non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dirty="0">
                  <a:effectLst>
                    <a:outerShdw blurRad="38100" dist="38100" dir="2700000" algn="tl">
                      <a:srgbClr val="C0C0C0"/>
                    </a:outerShdw>
                  </a:effectLst>
                  <a:latin typeface="Arial" pitchFamily="34" charset="0"/>
                  <a:ea typeface="楷体_GB2312" pitchFamily="1" charset="-122"/>
                </a:rPr>
                <a:t>Y</a:t>
              </a:r>
            </a:p>
          </p:txBody>
        </p:sp>
      </p:grpSp>
      <p:grpSp>
        <p:nvGrpSpPr>
          <p:cNvPr id="36" name="组合 52"/>
          <p:cNvGrpSpPr>
            <a:grpSpLocks/>
          </p:cNvGrpSpPr>
          <p:nvPr/>
        </p:nvGrpSpPr>
        <p:grpSpPr bwMode="auto">
          <a:xfrm>
            <a:off x="8277675" y="1208084"/>
            <a:ext cx="3455988" cy="4188578"/>
            <a:chOff x="5616607" y="1391962"/>
            <a:chExt cx="3455987" cy="4756150"/>
          </a:xfrm>
        </p:grpSpPr>
        <p:sp>
          <p:nvSpPr>
            <p:cNvPr id="37" name="Rectangle 21"/>
            <p:cNvSpPr>
              <a:spLocks noChangeArrowheads="1"/>
            </p:cNvSpPr>
            <p:nvPr/>
          </p:nvSpPr>
          <p:spPr bwMode="auto">
            <a:xfrm>
              <a:off x="6079978" y="1874562"/>
              <a:ext cx="1952980" cy="533400"/>
            </a:xfrm>
            <a:prstGeom prst="rect">
              <a:avLst/>
            </a:prstGeom>
            <a:solidFill>
              <a:schemeClr val="bg1"/>
            </a:solidFill>
            <a:ln w="9525">
              <a:solidFill>
                <a:schemeClr val="tx1"/>
              </a:solidFill>
              <a:miter lim="800000"/>
              <a:headEnd/>
              <a:tailEnd/>
            </a:ln>
            <a:effectLst/>
          </p:spPr>
          <p:txBody>
            <a:bodyPr wrap="none" anchor="ctr"/>
            <a:lstStyle/>
            <a:p>
              <a:pPr algn="ctr">
                <a:defRPr/>
              </a:pPr>
              <a:r>
                <a:rPr lang="en-US" altLang="zh-CN" sz="2400" dirty="0">
                  <a:effectLst>
                    <a:outerShdw blurRad="38100" dist="38100" dir="2700000" algn="tl">
                      <a:srgbClr val="C0C0C0"/>
                    </a:outerShdw>
                  </a:effectLst>
                  <a:latin typeface="Arial" pitchFamily="34" charset="0"/>
                  <a:ea typeface="楷体_GB2312" pitchFamily="49" charset="-122"/>
                </a:rPr>
                <a:t>S-&gt;value++</a:t>
              </a:r>
            </a:p>
          </p:txBody>
        </p:sp>
        <p:sp>
          <p:nvSpPr>
            <p:cNvPr id="38" name="Line 24"/>
            <p:cNvSpPr>
              <a:spLocks noChangeShapeType="1"/>
            </p:cNvSpPr>
            <p:nvPr/>
          </p:nvSpPr>
          <p:spPr bwMode="auto">
            <a:xfrm flipH="1">
              <a:off x="7046944" y="1391962"/>
              <a:ext cx="9525" cy="4826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9" name="Rectangle 32"/>
            <p:cNvSpPr>
              <a:spLocks noChangeArrowheads="1"/>
            </p:cNvSpPr>
            <p:nvPr/>
          </p:nvSpPr>
          <p:spPr bwMode="auto">
            <a:xfrm>
              <a:off x="5616607" y="1612625"/>
              <a:ext cx="3455987" cy="4535487"/>
            </a:xfrm>
            <a:prstGeom prst="rect">
              <a:avLst/>
            </a:prstGeom>
            <a:noFill/>
            <a:ln w="38100">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b="0"/>
            </a:p>
          </p:txBody>
        </p:sp>
      </p:grpSp>
      <p:cxnSp>
        <p:nvCxnSpPr>
          <p:cNvPr id="45" name="直接箭头连接符 57"/>
          <p:cNvCxnSpPr>
            <a:cxnSpLocks noChangeShapeType="1"/>
            <a:stCxn id="32" idx="2"/>
            <a:endCxn id="16" idx="3"/>
          </p:cNvCxnSpPr>
          <p:nvPr/>
        </p:nvCxnSpPr>
        <p:spPr bwMode="auto">
          <a:xfrm flipH="1" flipV="1">
            <a:off x="7547566" y="4204561"/>
            <a:ext cx="3189940" cy="614363"/>
          </a:xfrm>
          <a:prstGeom prst="straightConnector1">
            <a:avLst/>
          </a:prstGeom>
          <a:noFill/>
          <a:ln w="3810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6" name="AutoShape 36"/>
          <p:cNvSpPr>
            <a:spLocks noChangeArrowheads="1"/>
          </p:cNvSpPr>
          <p:nvPr/>
        </p:nvSpPr>
        <p:spPr bwMode="auto">
          <a:xfrm>
            <a:off x="6024413" y="5084611"/>
            <a:ext cx="2070699" cy="981076"/>
          </a:xfrm>
          <a:prstGeom prst="wedgeRectCallout">
            <a:avLst>
              <a:gd name="adj1" fmla="val -78094"/>
              <a:gd name="adj2" fmla="val -60334"/>
            </a:avLst>
          </a:prstGeom>
          <a:solidFill>
            <a:srgbClr val="0099CC">
              <a:alpha val="60001"/>
            </a:srgbClr>
          </a:solidFill>
          <a:ln w="9525">
            <a:solidFill>
              <a:schemeClr val="tx1"/>
            </a:solidFill>
            <a:miter lim="800000"/>
            <a:headEnd/>
            <a:tailEnd/>
          </a:ln>
          <a:effectLst/>
        </p:spPr>
        <p:txBody>
          <a:bodyPr/>
          <a:lstStyle/>
          <a:p>
            <a:pPr algn="ctr">
              <a:defRPr/>
            </a:pPr>
            <a:r>
              <a:rPr kumimoji="0" lang="zh-CN" altLang="en-US" sz="2400" dirty="0">
                <a:effectLst>
                  <a:outerShdw blurRad="38100" dist="38100" dir="2700000" algn="tl">
                    <a:srgbClr val="FFFFFF"/>
                  </a:outerShdw>
                </a:effectLst>
                <a:latin typeface="Arial" pitchFamily="34" charset="0"/>
                <a:ea typeface="楷体_GB2312" pitchFamily="49" charset="-122"/>
              </a:rPr>
              <a:t>唤醒后的进程从这里开始</a:t>
            </a:r>
          </a:p>
        </p:txBody>
      </p:sp>
      <p:cxnSp>
        <p:nvCxnSpPr>
          <p:cNvPr id="42" name="直接连接符 47"/>
          <p:cNvCxnSpPr>
            <a:cxnSpLocks noChangeShapeType="1"/>
            <a:stCxn id="16" idx="2"/>
            <a:endCxn id="46" idx="0"/>
          </p:cNvCxnSpPr>
          <p:nvPr/>
        </p:nvCxnSpPr>
        <p:spPr bwMode="auto">
          <a:xfrm>
            <a:off x="6668187" y="4818924"/>
            <a:ext cx="391576" cy="265688"/>
          </a:xfrm>
          <a:prstGeom prst="line">
            <a:avLst/>
          </a:prstGeom>
          <a:noFill/>
          <a:ln w="38100" algn="ctr">
            <a:solidFill>
              <a:srgbClr val="00B0F0"/>
            </a:solidFill>
            <a:round/>
            <a:headEnd/>
            <a:tailEnd type="arrow" w="med" len="med"/>
          </a:ln>
          <a:extLst>
            <a:ext uri="{909E8E84-426E-40DD-AFC4-6F175D3DCCD1}">
              <a14:hiddenFill xmlns:a14="http://schemas.microsoft.com/office/drawing/2010/main">
                <a:noFill/>
              </a14:hiddenFill>
            </a:ext>
          </a:extLst>
        </p:spPr>
      </p:cxnSp>
      <p:grpSp>
        <p:nvGrpSpPr>
          <p:cNvPr id="3" name="组合 2"/>
          <p:cNvGrpSpPr/>
          <p:nvPr/>
        </p:nvGrpSpPr>
        <p:grpSpPr>
          <a:xfrm>
            <a:off x="4225581" y="3682163"/>
            <a:ext cx="1208054" cy="1296108"/>
            <a:chOff x="4225581" y="3682163"/>
            <a:chExt cx="1208054" cy="1296108"/>
          </a:xfrm>
        </p:grpSpPr>
        <p:cxnSp>
          <p:nvCxnSpPr>
            <p:cNvPr id="43" name="直接连接符 53"/>
            <p:cNvCxnSpPr>
              <a:cxnSpLocks noChangeShapeType="1"/>
            </p:cNvCxnSpPr>
            <p:nvPr/>
          </p:nvCxnSpPr>
          <p:spPr bwMode="auto">
            <a:xfrm>
              <a:off x="5433634" y="3682163"/>
              <a:ext cx="0" cy="1296108"/>
            </a:xfrm>
            <a:prstGeom prst="line">
              <a:avLst/>
            </a:prstGeom>
            <a:noFill/>
            <a:ln w="38100" algn="ctr">
              <a:solidFill>
                <a:srgbClr val="00B0F0"/>
              </a:solidFill>
              <a:round/>
              <a:headEnd/>
              <a:tailEnd/>
            </a:ln>
            <a:extLst>
              <a:ext uri="{909E8E84-426E-40DD-AFC4-6F175D3DCCD1}">
                <a14:hiddenFill xmlns:a14="http://schemas.microsoft.com/office/drawing/2010/main">
                  <a:noFill/>
                </a14:hiddenFill>
              </a:ext>
            </a:extLst>
          </p:spPr>
        </p:cxnSp>
        <p:cxnSp>
          <p:nvCxnSpPr>
            <p:cNvPr id="44" name="直接箭头连接符 56"/>
            <p:cNvCxnSpPr>
              <a:cxnSpLocks noChangeShapeType="1"/>
            </p:cNvCxnSpPr>
            <p:nvPr/>
          </p:nvCxnSpPr>
          <p:spPr bwMode="auto">
            <a:xfrm flipH="1">
              <a:off x="4225581" y="3682163"/>
              <a:ext cx="1208054" cy="0"/>
            </a:xfrm>
            <a:prstGeom prst="straightConnector1">
              <a:avLst/>
            </a:prstGeom>
            <a:noFill/>
            <a:ln w="38100" algn="ctr">
              <a:solidFill>
                <a:srgbClr val="00B0F0"/>
              </a:solidFill>
              <a:round/>
              <a:headEnd/>
              <a:tailEnd type="arrow" w="med" len="med"/>
            </a:ln>
            <a:extLst>
              <a:ext uri="{909E8E84-426E-40DD-AFC4-6F175D3DCCD1}">
                <a14:hiddenFill xmlns:a14="http://schemas.microsoft.com/office/drawing/2010/main">
                  <a:noFill/>
                </a14:hiddenFill>
              </a:ext>
            </a:extLst>
          </p:spPr>
        </p:cxnSp>
      </p:grpSp>
      <p:sp>
        <p:nvSpPr>
          <p:cNvPr id="65" name="文本框 55"/>
          <p:cNvSpPr txBox="1">
            <a:spLocks noChangeArrowheads="1"/>
          </p:cNvSpPr>
          <p:nvPr/>
        </p:nvSpPr>
        <p:spPr bwMode="auto">
          <a:xfrm>
            <a:off x="840405" y="1449063"/>
            <a:ext cx="179979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记录型信号量</a:t>
            </a:r>
            <a:r>
              <a:rPr lang="en-US" altLang="zh-CN" sz="2400" b="1" dirty="0">
                <a:solidFill>
                  <a:srgbClr val="4C7E51"/>
                </a:solidFill>
                <a:latin typeface="微软雅黑" panose="020B0503020204020204" pitchFamily="34" charset="-122"/>
                <a:ea typeface="微软雅黑" panose="020B0503020204020204" pitchFamily="34" charset="-122"/>
              </a:rPr>
              <a:t>P</a:t>
            </a:r>
            <a:r>
              <a:rPr lang="zh-CN" altLang="en-US" sz="2400" b="1" dirty="0">
                <a:solidFill>
                  <a:srgbClr val="4C7E51"/>
                </a:solidFill>
                <a:latin typeface="微软雅黑" panose="020B0503020204020204" pitchFamily="34" charset="-122"/>
                <a:ea typeface="微软雅黑" panose="020B0503020204020204" pitchFamily="34" charset="-122"/>
              </a:rPr>
              <a:t>、</a:t>
            </a:r>
            <a:r>
              <a:rPr lang="en-US" altLang="zh-CN" sz="2400" b="1" dirty="0">
                <a:solidFill>
                  <a:srgbClr val="4C7E51"/>
                </a:solidFill>
                <a:latin typeface="微软雅黑" panose="020B0503020204020204" pitchFamily="34" charset="-122"/>
                <a:ea typeface="微软雅黑" panose="020B0503020204020204" pitchFamily="34" charset="-122"/>
              </a:rPr>
              <a:t>V</a:t>
            </a:r>
            <a:r>
              <a:rPr lang="zh-CN" altLang="en-US" sz="2400" b="1" dirty="0">
                <a:solidFill>
                  <a:srgbClr val="4C7E51"/>
                </a:solidFill>
                <a:latin typeface="微软雅黑" panose="020B0503020204020204" pitchFamily="34" charset="-122"/>
                <a:ea typeface="微软雅黑" panose="020B0503020204020204" pitchFamily="34" charset="-122"/>
              </a:rPr>
              <a:t>操作流程</a:t>
            </a:r>
          </a:p>
        </p:txBody>
      </p:sp>
    </p:spTree>
    <p:extLst>
      <p:ext uri="{BB962C8B-B14F-4D97-AF65-F5344CB8AC3E}">
        <p14:creationId xmlns:p14="http://schemas.microsoft.com/office/powerpoint/2010/main" val="3329647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dissolve">
                                      <p:cBhvr>
                                        <p:cTn id="13" dur="500"/>
                                        <p:tgtEl>
                                          <p:spTgt spid="20"/>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1"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ppt_x"/>
                                          </p:val>
                                        </p:tav>
                                        <p:tav tm="100000">
                                          <p:val>
                                            <p:strVal val="#ppt_x"/>
                                          </p:val>
                                        </p:tav>
                                      </p:tavLst>
                                    </p:anim>
                                    <p:anim calcmode="lin" valueType="num">
                                      <p:cBhvr additive="base">
                                        <p:cTn id="19" dur="500" fill="hold"/>
                                        <p:tgtEl>
                                          <p:spTgt spid="5"/>
                                        </p:tgtEl>
                                        <p:attrNameLst>
                                          <p:attrName>ppt_y</p:attrName>
                                        </p:attrNameLst>
                                      </p:cBhvr>
                                      <p:tavLst>
                                        <p:tav tm="0">
                                          <p:val>
                                            <p:strVal val="0-#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2" fill="hold" nodeType="clickEffect">
                                  <p:stCondLst>
                                    <p:cond delay="0"/>
                                  </p:stCondLst>
                                  <p:childTnLst>
                                    <p:set>
                                      <p:cBhvr>
                                        <p:cTn id="23" dur="1" fill="hold">
                                          <p:stCondLst>
                                            <p:cond delay="0"/>
                                          </p:stCondLst>
                                        </p:cTn>
                                        <p:tgtEl>
                                          <p:spTgt spid="15"/>
                                        </p:tgtEl>
                                        <p:attrNameLst>
                                          <p:attrName>style.visibility</p:attrName>
                                        </p:attrNameLst>
                                      </p:cBhvr>
                                      <p:to>
                                        <p:strVal val="visible"/>
                                      </p:to>
                                    </p:set>
                                    <p:anim calcmode="lin" valueType="num">
                                      <p:cBhvr additive="base">
                                        <p:cTn id="24" dur="500" fill="hold"/>
                                        <p:tgtEl>
                                          <p:spTgt spid="15"/>
                                        </p:tgtEl>
                                        <p:attrNameLst>
                                          <p:attrName>ppt_x</p:attrName>
                                        </p:attrNameLst>
                                      </p:cBhvr>
                                      <p:tavLst>
                                        <p:tav tm="0">
                                          <p:val>
                                            <p:strVal val="1+#ppt_w/2"/>
                                          </p:val>
                                        </p:tav>
                                        <p:tav tm="100000">
                                          <p:val>
                                            <p:strVal val="#ppt_x"/>
                                          </p:val>
                                        </p:tav>
                                      </p:tavLst>
                                    </p:anim>
                                    <p:anim calcmode="lin" valueType="num">
                                      <p:cBhvr additive="base">
                                        <p:cTn id="25"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1"/>
                                        </p:tgtEl>
                                        <p:attrNameLst>
                                          <p:attrName>style.visibility</p:attrName>
                                        </p:attrNameLst>
                                      </p:cBhvr>
                                      <p:to>
                                        <p:strVal val="visible"/>
                                      </p:to>
                                    </p:set>
                                    <p:anim calcmode="lin" valueType="num">
                                      <p:cBhvr additive="base">
                                        <p:cTn id="30" dur="500" fill="hold"/>
                                        <p:tgtEl>
                                          <p:spTgt spid="11"/>
                                        </p:tgtEl>
                                        <p:attrNameLst>
                                          <p:attrName>ppt_x</p:attrName>
                                        </p:attrNameLst>
                                      </p:cBhvr>
                                      <p:tavLst>
                                        <p:tav tm="0">
                                          <p:val>
                                            <p:strVal val="#ppt_x"/>
                                          </p:val>
                                        </p:tav>
                                        <p:tav tm="100000">
                                          <p:val>
                                            <p:strVal val="#ppt_x"/>
                                          </p:val>
                                        </p:tav>
                                      </p:tavLst>
                                    </p:anim>
                                    <p:anim calcmode="lin" valueType="num">
                                      <p:cBhvr additive="base">
                                        <p:cTn id="31"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1" fill="hold" grpId="0" nodeType="clickEffect">
                                  <p:stCondLst>
                                    <p:cond delay="0"/>
                                  </p:stCondLst>
                                  <p:childTnLst>
                                    <p:set>
                                      <p:cBhvr>
                                        <p:cTn id="41" dur="1" fill="hold">
                                          <p:stCondLst>
                                            <p:cond delay="0"/>
                                          </p:stCondLst>
                                        </p:cTn>
                                        <p:tgtEl>
                                          <p:spTgt spid="24"/>
                                        </p:tgtEl>
                                        <p:attrNameLst>
                                          <p:attrName>style.visibility</p:attrName>
                                        </p:attrNameLst>
                                      </p:cBhvr>
                                      <p:to>
                                        <p:strVal val="visible"/>
                                      </p:to>
                                    </p:set>
                                    <p:anim calcmode="lin" valueType="num">
                                      <p:cBhvr additive="base">
                                        <p:cTn id="42" dur="500" fill="hold"/>
                                        <p:tgtEl>
                                          <p:spTgt spid="24"/>
                                        </p:tgtEl>
                                        <p:attrNameLst>
                                          <p:attrName>ppt_x</p:attrName>
                                        </p:attrNameLst>
                                      </p:cBhvr>
                                      <p:tavLst>
                                        <p:tav tm="0">
                                          <p:val>
                                            <p:strVal val="#ppt_x"/>
                                          </p:val>
                                        </p:tav>
                                        <p:tav tm="100000">
                                          <p:val>
                                            <p:strVal val="#ppt_x"/>
                                          </p:val>
                                        </p:tav>
                                      </p:tavLst>
                                    </p:anim>
                                    <p:anim calcmode="lin" valueType="num">
                                      <p:cBhvr additive="base">
                                        <p:cTn id="43" dur="500" fill="hold"/>
                                        <p:tgtEl>
                                          <p:spTgt spid="24"/>
                                        </p:tgtEl>
                                        <p:attrNameLst>
                                          <p:attrName>ppt_y</p:attrName>
                                        </p:attrNameLst>
                                      </p:cBhvr>
                                      <p:tavLst>
                                        <p:tav tm="0">
                                          <p:val>
                                            <p:strVal val="0-#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36"/>
                                        </p:tgtEl>
                                        <p:attrNameLst>
                                          <p:attrName>style.visibility</p:attrName>
                                        </p:attrNameLst>
                                      </p:cBhvr>
                                      <p:to>
                                        <p:strVal val="visible"/>
                                      </p:to>
                                    </p:set>
                                    <p:anim calcmode="lin" valueType="num">
                                      <p:cBhvr additive="base">
                                        <p:cTn id="48" dur="500" fill="hold"/>
                                        <p:tgtEl>
                                          <p:spTgt spid="36"/>
                                        </p:tgtEl>
                                        <p:attrNameLst>
                                          <p:attrName>ppt_x</p:attrName>
                                        </p:attrNameLst>
                                      </p:cBhvr>
                                      <p:tavLst>
                                        <p:tav tm="0">
                                          <p:val>
                                            <p:strVal val="#ppt_x"/>
                                          </p:val>
                                        </p:tav>
                                        <p:tav tm="100000">
                                          <p:val>
                                            <p:strVal val="#ppt_x"/>
                                          </p:val>
                                        </p:tav>
                                      </p:tavLst>
                                    </p:anim>
                                    <p:anim calcmode="lin" valueType="num">
                                      <p:cBhvr additive="base">
                                        <p:cTn id="49"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25"/>
                                        </p:tgtEl>
                                        <p:attrNameLst>
                                          <p:attrName>style.visibility</p:attrName>
                                        </p:attrNameLst>
                                      </p:cBhvr>
                                      <p:to>
                                        <p:strVal val="visible"/>
                                      </p:to>
                                    </p:set>
                                    <p:anim calcmode="lin" valueType="num">
                                      <p:cBhvr additive="base">
                                        <p:cTn id="54" dur="500" fill="hold"/>
                                        <p:tgtEl>
                                          <p:spTgt spid="25"/>
                                        </p:tgtEl>
                                        <p:attrNameLst>
                                          <p:attrName>ppt_x</p:attrName>
                                        </p:attrNameLst>
                                      </p:cBhvr>
                                      <p:tavLst>
                                        <p:tav tm="0">
                                          <p:val>
                                            <p:strVal val="#ppt_x"/>
                                          </p:val>
                                        </p:tav>
                                        <p:tav tm="100000">
                                          <p:val>
                                            <p:strVal val="#ppt_x"/>
                                          </p:val>
                                        </p:tav>
                                      </p:tavLst>
                                    </p:anim>
                                    <p:anim calcmode="lin" valueType="num">
                                      <p:cBhvr additive="base">
                                        <p:cTn id="55"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nodeType="clickEffect">
                                  <p:stCondLst>
                                    <p:cond delay="0"/>
                                  </p:stCondLst>
                                  <p:childTnLst>
                                    <p:set>
                                      <p:cBhvr>
                                        <p:cTn id="59" dur="1" fill="hold">
                                          <p:stCondLst>
                                            <p:cond delay="0"/>
                                          </p:stCondLst>
                                        </p:cTn>
                                        <p:tgtEl>
                                          <p:spTgt spid="28"/>
                                        </p:tgtEl>
                                        <p:attrNameLst>
                                          <p:attrName>style.visibility</p:attrName>
                                        </p:attrNameLst>
                                      </p:cBhvr>
                                      <p:to>
                                        <p:strVal val="visible"/>
                                      </p:to>
                                    </p:set>
                                    <p:anim calcmode="lin" valueType="num">
                                      <p:cBhvr additive="base">
                                        <p:cTn id="60" dur="500" fill="hold"/>
                                        <p:tgtEl>
                                          <p:spTgt spid="28"/>
                                        </p:tgtEl>
                                        <p:attrNameLst>
                                          <p:attrName>ppt_x</p:attrName>
                                        </p:attrNameLst>
                                      </p:cBhvr>
                                      <p:tavLst>
                                        <p:tav tm="0">
                                          <p:val>
                                            <p:strVal val="#ppt_x"/>
                                          </p:val>
                                        </p:tav>
                                        <p:tav tm="100000">
                                          <p:val>
                                            <p:strVal val="#ppt_x"/>
                                          </p:val>
                                        </p:tav>
                                      </p:tavLst>
                                    </p:anim>
                                    <p:anim calcmode="lin" valueType="num">
                                      <p:cBhvr additive="base">
                                        <p:cTn id="61"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2" fill="hold" nodeType="clickEffect">
                                  <p:stCondLst>
                                    <p:cond delay="0"/>
                                  </p:stCondLst>
                                  <p:childTnLst>
                                    <p:set>
                                      <p:cBhvr>
                                        <p:cTn id="65" dur="1" fill="hold">
                                          <p:stCondLst>
                                            <p:cond delay="0"/>
                                          </p:stCondLst>
                                        </p:cTn>
                                        <p:tgtEl>
                                          <p:spTgt spid="31"/>
                                        </p:tgtEl>
                                        <p:attrNameLst>
                                          <p:attrName>style.visibility</p:attrName>
                                        </p:attrNameLst>
                                      </p:cBhvr>
                                      <p:to>
                                        <p:strVal val="visible"/>
                                      </p:to>
                                    </p:set>
                                    <p:anim calcmode="lin" valueType="num">
                                      <p:cBhvr additive="base">
                                        <p:cTn id="66" dur="500" fill="hold"/>
                                        <p:tgtEl>
                                          <p:spTgt spid="31"/>
                                        </p:tgtEl>
                                        <p:attrNameLst>
                                          <p:attrName>ppt_x</p:attrName>
                                        </p:attrNameLst>
                                      </p:cBhvr>
                                      <p:tavLst>
                                        <p:tav tm="0">
                                          <p:val>
                                            <p:strVal val="1+#ppt_w/2"/>
                                          </p:val>
                                        </p:tav>
                                        <p:tav tm="100000">
                                          <p:val>
                                            <p:strVal val="#ppt_x"/>
                                          </p:val>
                                        </p:tav>
                                      </p:tavLst>
                                    </p:anim>
                                    <p:anim calcmode="lin" valueType="num">
                                      <p:cBhvr additive="base">
                                        <p:cTn id="67"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nodeType="clickEffect">
                                  <p:stCondLst>
                                    <p:cond delay="0"/>
                                  </p:stCondLst>
                                  <p:childTnLst>
                                    <p:set>
                                      <p:cBhvr>
                                        <p:cTn id="71" dur="1" fill="hold">
                                          <p:stCondLst>
                                            <p:cond delay="0"/>
                                          </p:stCondLst>
                                        </p:cTn>
                                        <p:tgtEl>
                                          <p:spTgt spid="45"/>
                                        </p:tgtEl>
                                        <p:attrNameLst>
                                          <p:attrName>style.visibility</p:attrName>
                                        </p:attrNameLst>
                                      </p:cBhvr>
                                      <p:to>
                                        <p:strVal val="visible"/>
                                      </p:to>
                                    </p:set>
                                    <p:animEffect transition="in" filter="wipe(down)">
                                      <p:cBhvr>
                                        <p:cTn id="72" dur="500"/>
                                        <p:tgtEl>
                                          <p:spTgt spid="45"/>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nodeType="clickEffect">
                                  <p:stCondLst>
                                    <p:cond delay="0"/>
                                  </p:stCondLst>
                                  <p:childTnLst>
                                    <p:set>
                                      <p:cBhvr>
                                        <p:cTn id="76" dur="1" fill="hold">
                                          <p:stCondLst>
                                            <p:cond delay="0"/>
                                          </p:stCondLst>
                                        </p:cTn>
                                        <p:tgtEl>
                                          <p:spTgt spid="42"/>
                                        </p:tgtEl>
                                        <p:attrNameLst>
                                          <p:attrName>style.visibility</p:attrName>
                                        </p:attrNameLst>
                                      </p:cBhvr>
                                      <p:to>
                                        <p:strVal val="visible"/>
                                      </p:to>
                                    </p:set>
                                    <p:animEffect transition="in" filter="wipe(up)">
                                      <p:cBhvr>
                                        <p:cTn id="77" dur="500"/>
                                        <p:tgtEl>
                                          <p:spTgt spid="42"/>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1" fill="hold" grpId="0" nodeType="clickEffect">
                                  <p:stCondLst>
                                    <p:cond delay="0"/>
                                  </p:stCondLst>
                                  <p:childTnLst>
                                    <p:set>
                                      <p:cBhvr>
                                        <p:cTn id="81" dur="1" fill="hold">
                                          <p:stCondLst>
                                            <p:cond delay="0"/>
                                          </p:stCondLst>
                                        </p:cTn>
                                        <p:tgtEl>
                                          <p:spTgt spid="46"/>
                                        </p:tgtEl>
                                        <p:attrNameLst>
                                          <p:attrName>style.visibility</p:attrName>
                                        </p:attrNameLst>
                                      </p:cBhvr>
                                      <p:to>
                                        <p:strVal val="visible"/>
                                      </p:to>
                                    </p:set>
                                    <p:animEffect transition="in" filter="wipe(up)">
                                      <p:cBhvr>
                                        <p:cTn id="82" dur="500"/>
                                        <p:tgtEl>
                                          <p:spTgt spid="46"/>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nodeType="clickEffect">
                                  <p:stCondLst>
                                    <p:cond delay="0"/>
                                  </p:stCondLst>
                                  <p:childTnLst>
                                    <p:set>
                                      <p:cBhvr>
                                        <p:cTn id="86" dur="1" fill="hold">
                                          <p:stCondLst>
                                            <p:cond delay="0"/>
                                          </p:stCondLst>
                                        </p:cTn>
                                        <p:tgtEl>
                                          <p:spTgt spid="3"/>
                                        </p:tgtEl>
                                        <p:attrNameLst>
                                          <p:attrName>style.visibility</p:attrName>
                                        </p:attrNameLst>
                                      </p:cBhvr>
                                      <p:to>
                                        <p:strVal val="visible"/>
                                      </p:to>
                                    </p:set>
                                    <p:animEffect transition="in" filter="wipe(down)">
                                      <p:cBhvr>
                                        <p:cTn id="8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4" grpId="0"/>
      <p:bldP spid="4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820117" y="196495"/>
            <a:ext cx="3967716" cy="457196"/>
          </a:xfrm>
        </p:spPr>
        <p:txBody>
          <a:bodyPr/>
          <a:lstStyle/>
          <a:p>
            <a:r>
              <a:rPr lang="en-US" altLang="zh-CN" dirty="0"/>
              <a:t>3.</a:t>
            </a:r>
            <a:r>
              <a:rPr lang="zh-CN" altLang="en-US" dirty="0"/>
              <a:t>信号量机制</a:t>
            </a:r>
          </a:p>
        </p:txBody>
      </p:sp>
      <p:sp>
        <p:nvSpPr>
          <p:cNvPr id="4" name="文本框 55"/>
          <p:cNvSpPr txBox="1">
            <a:spLocks noChangeArrowheads="1"/>
          </p:cNvSpPr>
          <p:nvPr/>
        </p:nvSpPr>
        <p:spPr bwMode="auto">
          <a:xfrm>
            <a:off x="840405" y="925938"/>
            <a:ext cx="27626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记录型信号量举例</a:t>
            </a:r>
          </a:p>
        </p:txBody>
      </p:sp>
      <p:sp>
        <p:nvSpPr>
          <p:cNvPr id="5" name="Rectangle 3"/>
          <p:cNvSpPr txBox="1">
            <a:spLocks noChangeArrowheads="1"/>
          </p:cNvSpPr>
          <p:nvPr/>
        </p:nvSpPr>
        <p:spPr>
          <a:xfrm>
            <a:off x="929508" y="1396029"/>
            <a:ext cx="5737225" cy="5113953"/>
          </a:xfrm>
          <a:prstGeom prst="rect">
            <a:avLst/>
          </a:prstGeom>
        </p:spPr>
        <p:txBody>
          <a:bodyPr/>
          <a:lstStyle/>
          <a:p>
            <a:pPr eaLnBrk="0" hangingPunct="0">
              <a:lnSpc>
                <a:spcPct val="110000"/>
              </a:lnSpc>
              <a:spcBef>
                <a:spcPct val="20000"/>
              </a:spcBef>
              <a:defRPr/>
            </a:pPr>
            <a:r>
              <a:rPr kumimoji="1" lang="en-US" altLang="zh-CN" sz="2800" kern="0" dirty="0">
                <a:latin typeface="Times New Roman" pitchFamily="18" charset="0"/>
              </a:rPr>
              <a:t>semaphore </a:t>
            </a:r>
            <a:r>
              <a:rPr kumimoji="1" lang="en-US" altLang="zh-CN" sz="2800" kern="0" dirty="0" err="1">
                <a:latin typeface="Times New Roman" pitchFamily="18" charset="0"/>
              </a:rPr>
              <a:t>mutex</a:t>
            </a:r>
            <a:r>
              <a:rPr kumimoji="1" lang="en-US" altLang="zh-CN" sz="2800" kern="0" dirty="0">
                <a:latin typeface="Times New Roman" pitchFamily="18" charset="0"/>
              </a:rPr>
              <a:t>;</a:t>
            </a:r>
          </a:p>
          <a:p>
            <a:pPr eaLnBrk="0" hangingPunct="0">
              <a:lnSpc>
                <a:spcPct val="110000"/>
              </a:lnSpc>
              <a:spcBef>
                <a:spcPct val="20000"/>
              </a:spcBef>
              <a:defRPr/>
            </a:pPr>
            <a:r>
              <a:rPr kumimoji="1" lang="en-US" altLang="zh-CN" sz="2800" kern="0" dirty="0" err="1">
                <a:latin typeface="Times New Roman" pitchFamily="18" charset="0"/>
              </a:rPr>
              <a:t>mutex.value</a:t>
            </a:r>
            <a:r>
              <a:rPr kumimoji="1" lang="en-US" altLang="zh-CN" sz="2800" kern="0" dirty="0">
                <a:latin typeface="Times New Roman" pitchFamily="18" charset="0"/>
              </a:rPr>
              <a:t>=3;</a:t>
            </a:r>
          </a:p>
          <a:p>
            <a:pPr eaLnBrk="0" hangingPunct="0">
              <a:lnSpc>
                <a:spcPct val="110000"/>
              </a:lnSpc>
              <a:spcBef>
                <a:spcPct val="20000"/>
              </a:spcBef>
              <a:defRPr/>
            </a:pPr>
            <a:r>
              <a:rPr kumimoji="1" lang="en-US" altLang="zh-CN" sz="2800" kern="0" dirty="0">
                <a:latin typeface="Times New Roman" pitchFamily="18" charset="0"/>
              </a:rPr>
              <a:t>Printer(){</a:t>
            </a:r>
          </a:p>
          <a:p>
            <a:pPr eaLnBrk="0" hangingPunct="0">
              <a:lnSpc>
                <a:spcPct val="110000"/>
              </a:lnSpc>
              <a:spcBef>
                <a:spcPct val="20000"/>
              </a:spcBef>
              <a:defRPr/>
            </a:pPr>
            <a:r>
              <a:rPr kumimoji="1" lang="en-US" altLang="zh-CN" sz="2800" kern="0" dirty="0">
                <a:latin typeface="Times New Roman" pitchFamily="18" charset="0"/>
              </a:rPr>
              <a:t>    while (TRUE) {</a:t>
            </a:r>
          </a:p>
          <a:p>
            <a:pPr eaLnBrk="0" hangingPunct="0">
              <a:lnSpc>
                <a:spcPct val="110000"/>
              </a:lnSpc>
              <a:spcBef>
                <a:spcPct val="20000"/>
              </a:spcBef>
              <a:defRPr/>
            </a:pPr>
            <a:r>
              <a:rPr kumimoji="1" lang="en-US" altLang="zh-CN" sz="2800" kern="0" dirty="0">
                <a:latin typeface="Times New Roman" pitchFamily="18" charset="0"/>
              </a:rPr>
              <a:t>        wait(</a:t>
            </a:r>
            <a:r>
              <a:rPr kumimoji="1" lang="en-US" altLang="zh-CN" sz="2800" kern="0" dirty="0" err="1">
                <a:latin typeface="Times New Roman" pitchFamily="18" charset="0"/>
              </a:rPr>
              <a:t>mutex</a:t>
            </a:r>
            <a:r>
              <a:rPr kumimoji="1" lang="en-US" altLang="zh-CN" sz="2800" kern="0" dirty="0">
                <a:latin typeface="Times New Roman" pitchFamily="18" charset="0"/>
              </a:rPr>
              <a:t>);</a:t>
            </a:r>
          </a:p>
          <a:p>
            <a:pPr eaLnBrk="0" hangingPunct="0">
              <a:lnSpc>
                <a:spcPct val="110000"/>
              </a:lnSpc>
              <a:spcBef>
                <a:spcPct val="20000"/>
              </a:spcBef>
              <a:defRPr/>
            </a:pPr>
            <a:r>
              <a:rPr kumimoji="1" lang="en-US" altLang="zh-CN" sz="2800" kern="0" dirty="0">
                <a:latin typeface="Times New Roman" pitchFamily="18" charset="0"/>
              </a:rPr>
              <a:t>         print the document on the paper;</a:t>
            </a:r>
          </a:p>
          <a:p>
            <a:pPr eaLnBrk="0" hangingPunct="0">
              <a:lnSpc>
                <a:spcPct val="110000"/>
              </a:lnSpc>
              <a:spcBef>
                <a:spcPct val="20000"/>
              </a:spcBef>
              <a:defRPr/>
            </a:pPr>
            <a:r>
              <a:rPr kumimoji="1" lang="en-US" altLang="zh-CN" sz="2800" kern="0" dirty="0">
                <a:latin typeface="Times New Roman" pitchFamily="18" charset="0"/>
              </a:rPr>
              <a:t>         signal(</a:t>
            </a:r>
            <a:r>
              <a:rPr kumimoji="1" lang="en-US" altLang="zh-CN" sz="2800" kern="0" dirty="0" err="1">
                <a:latin typeface="Times New Roman" pitchFamily="18" charset="0"/>
              </a:rPr>
              <a:t>mutex</a:t>
            </a:r>
            <a:r>
              <a:rPr kumimoji="1" lang="en-US" altLang="zh-CN" sz="2800" kern="0" dirty="0">
                <a:latin typeface="Times New Roman" pitchFamily="18" charset="0"/>
              </a:rPr>
              <a:t>);</a:t>
            </a:r>
          </a:p>
          <a:p>
            <a:pPr eaLnBrk="0" hangingPunct="0">
              <a:lnSpc>
                <a:spcPct val="110000"/>
              </a:lnSpc>
              <a:spcBef>
                <a:spcPct val="20000"/>
              </a:spcBef>
              <a:defRPr/>
            </a:pPr>
            <a:r>
              <a:rPr kumimoji="1" lang="en-US" altLang="zh-CN" sz="2800" kern="0" dirty="0">
                <a:latin typeface="Times New Roman" pitchFamily="18" charset="0"/>
              </a:rPr>
              <a:t>    }</a:t>
            </a:r>
          </a:p>
          <a:p>
            <a:pPr eaLnBrk="0" hangingPunct="0">
              <a:lnSpc>
                <a:spcPct val="110000"/>
              </a:lnSpc>
              <a:spcBef>
                <a:spcPct val="20000"/>
              </a:spcBef>
              <a:defRPr/>
            </a:pPr>
            <a:r>
              <a:rPr kumimoji="1" lang="en-US" altLang="zh-CN" sz="2800" kern="0" dirty="0">
                <a:latin typeface="Times New Roman" pitchFamily="18" charset="0"/>
              </a:rPr>
              <a:t>}</a:t>
            </a:r>
          </a:p>
        </p:txBody>
      </p:sp>
      <p:sp>
        <p:nvSpPr>
          <p:cNvPr id="6" name="Rectangle 4"/>
          <p:cNvSpPr>
            <a:spLocks noChangeArrowheads="1"/>
          </p:cNvSpPr>
          <p:nvPr/>
        </p:nvSpPr>
        <p:spPr bwMode="auto">
          <a:xfrm>
            <a:off x="4829165" y="2046520"/>
            <a:ext cx="431800" cy="576263"/>
          </a:xfrm>
          <a:prstGeom prst="rect">
            <a:avLst/>
          </a:prstGeom>
          <a:solidFill>
            <a:srgbClr val="008000"/>
          </a:solidFill>
          <a:ln w="9525">
            <a:solidFill>
              <a:schemeClr val="tx1"/>
            </a:solidFill>
            <a:miter lim="800000"/>
            <a:headEnd/>
            <a:tailEnd/>
          </a:ln>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ctr" eaLnBrk="1" hangingPunct="1"/>
            <a:r>
              <a:rPr kumimoji="0" lang="en-US" altLang="zh-CN" sz="1800">
                <a:latin typeface="Arial" pitchFamily="34" charset="0"/>
              </a:rPr>
              <a:t>P</a:t>
            </a:r>
            <a:r>
              <a:rPr kumimoji="0" lang="en-US" altLang="zh-CN" sz="1800" baseline="-25000">
                <a:latin typeface="Arial" pitchFamily="34" charset="0"/>
              </a:rPr>
              <a:t>1</a:t>
            </a:r>
          </a:p>
        </p:txBody>
      </p:sp>
      <p:sp>
        <p:nvSpPr>
          <p:cNvPr id="7" name="Rectangle 5"/>
          <p:cNvSpPr>
            <a:spLocks noChangeArrowheads="1"/>
          </p:cNvSpPr>
          <p:nvPr/>
        </p:nvSpPr>
        <p:spPr bwMode="auto">
          <a:xfrm>
            <a:off x="5692765" y="2046520"/>
            <a:ext cx="431800" cy="576263"/>
          </a:xfrm>
          <a:prstGeom prst="rect">
            <a:avLst/>
          </a:prstGeom>
          <a:solidFill>
            <a:srgbClr val="008000"/>
          </a:solidFill>
          <a:ln w="9525">
            <a:solidFill>
              <a:schemeClr val="tx1"/>
            </a:solidFill>
            <a:miter lim="800000"/>
            <a:headEnd/>
            <a:tailEnd/>
          </a:ln>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ctr" eaLnBrk="1" hangingPunct="1"/>
            <a:r>
              <a:rPr kumimoji="0" lang="en-US" altLang="zh-CN" sz="1800">
                <a:latin typeface="Arial" pitchFamily="34" charset="0"/>
              </a:rPr>
              <a:t>P</a:t>
            </a:r>
            <a:r>
              <a:rPr kumimoji="0" lang="en-US" altLang="zh-CN" sz="1800" baseline="-25000">
                <a:latin typeface="Arial" pitchFamily="34" charset="0"/>
              </a:rPr>
              <a:t>2</a:t>
            </a:r>
            <a:endParaRPr kumimoji="0" lang="en-US" altLang="zh-CN" sz="1800">
              <a:latin typeface="Arial" pitchFamily="34" charset="0"/>
            </a:endParaRPr>
          </a:p>
        </p:txBody>
      </p:sp>
      <p:sp>
        <p:nvSpPr>
          <p:cNvPr id="8" name="Rectangle 6"/>
          <p:cNvSpPr>
            <a:spLocks noChangeArrowheads="1"/>
          </p:cNvSpPr>
          <p:nvPr/>
        </p:nvSpPr>
        <p:spPr bwMode="auto">
          <a:xfrm>
            <a:off x="6557953" y="2046520"/>
            <a:ext cx="431800" cy="576263"/>
          </a:xfrm>
          <a:prstGeom prst="rect">
            <a:avLst/>
          </a:prstGeom>
          <a:solidFill>
            <a:srgbClr val="008000"/>
          </a:solidFill>
          <a:ln w="9525">
            <a:solidFill>
              <a:schemeClr val="tx1"/>
            </a:solidFill>
            <a:miter lim="800000"/>
            <a:headEnd/>
            <a:tailEnd/>
          </a:ln>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ctr" eaLnBrk="1" hangingPunct="1"/>
            <a:r>
              <a:rPr kumimoji="0" lang="en-US" altLang="zh-CN" sz="1800">
                <a:latin typeface="Arial" pitchFamily="34" charset="0"/>
              </a:rPr>
              <a:t>P</a:t>
            </a:r>
            <a:r>
              <a:rPr kumimoji="0" lang="en-US" altLang="zh-CN" sz="1800" baseline="-25000">
                <a:latin typeface="Arial" pitchFamily="34" charset="0"/>
              </a:rPr>
              <a:t>3</a:t>
            </a:r>
            <a:endParaRPr kumimoji="0" lang="en-US" altLang="zh-CN" sz="1800">
              <a:latin typeface="Arial" pitchFamily="34" charset="0"/>
            </a:endParaRPr>
          </a:p>
        </p:txBody>
      </p:sp>
      <p:sp>
        <p:nvSpPr>
          <p:cNvPr id="9" name="Rectangle 7"/>
          <p:cNvSpPr>
            <a:spLocks noChangeArrowheads="1"/>
          </p:cNvSpPr>
          <p:nvPr/>
        </p:nvSpPr>
        <p:spPr bwMode="auto">
          <a:xfrm>
            <a:off x="7637453" y="3486383"/>
            <a:ext cx="431800" cy="576262"/>
          </a:xfrm>
          <a:prstGeom prst="rect">
            <a:avLst/>
          </a:prstGeom>
          <a:solidFill>
            <a:srgbClr val="008000"/>
          </a:solidFill>
          <a:ln w="9525">
            <a:solidFill>
              <a:schemeClr val="tx1"/>
            </a:solidFill>
            <a:miter lim="800000"/>
            <a:headEnd/>
            <a:tailEnd/>
          </a:ln>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ctr" eaLnBrk="1" hangingPunct="1"/>
            <a:r>
              <a:rPr kumimoji="0" lang="en-US" altLang="zh-CN" sz="1800">
                <a:latin typeface="Arial" pitchFamily="34" charset="0"/>
              </a:rPr>
              <a:t>P</a:t>
            </a:r>
            <a:r>
              <a:rPr kumimoji="0" lang="en-US" altLang="zh-CN" sz="1800" baseline="-25000">
                <a:latin typeface="Arial" pitchFamily="34" charset="0"/>
              </a:rPr>
              <a:t>4</a:t>
            </a:r>
            <a:endParaRPr kumimoji="0" lang="en-US" altLang="zh-CN" sz="1800">
              <a:latin typeface="Arial" pitchFamily="34" charset="0"/>
            </a:endParaRPr>
          </a:p>
        </p:txBody>
      </p:sp>
      <p:sp>
        <p:nvSpPr>
          <p:cNvPr id="10" name="Text Box 8"/>
          <p:cNvSpPr txBox="1">
            <a:spLocks noChangeArrowheads="1"/>
          </p:cNvSpPr>
          <p:nvPr/>
        </p:nvSpPr>
        <p:spPr bwMode="auto">
          <a:xfrm>
            <a:off x="8285153" y="3630845"/>
            <a:ext cx="7921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50000"/>
              </a:spcBef>
            </a:pPr>
            <a:r>
              <a:rPr kumimoji="0" lang="zh-CN" altLang="en-US" sz="1800">
                <a:latin typeface="Arial" pitchFamily="34" charset="0"/>
              </a:rPr>
              <a:t>阻塞</a:t>
            </a:r>
          </a:p>
        </p:txBody>
      </p:sp>
      <p:sp>
        <p:nvSpPr>
          <p:cNvPr id="11" name="Rectangle 9"/>
          <p:cNvSpPr>
            <a:spLocks noChangeArrowheads="1"/>
          </p:cNvSpPr>
          <p:nvPr/>
        </p:nvSpPr>
        <p:spPr bwMode="auto">
          <a:xfrm>
            <a:off x="7278678" y="2190983"/>
            <a:ext cx="431800" cy="576262"/>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ctr" eaLnBrk="1" hangingPunct="1"/>
            <a:r>
              <a:rPr kumimoji="0" lang="en-US" altLang="zh-CN" sz="1800">
                <a:solidFill>
                  <a:schemeClr val="bg1"/>
                </a:solidFill>
                <a:latin typeface="Arial" pitchFamily="34" charset="0"/>
              </a:rPr>
              <a:t>2</a:t>
            </a:r>
            <a:endParaRPr kumimoji="0" lang="en-US" altLang="zh-CN" sz="1800" baseline="-25000">
              <a:solidFill>
                <a:schemeClr val="bg1"/>
              </a:solidFill>
              <a:latin typeface="Arial" pitchFamily="34" charset="0"/>
            </a:endParaRPr>
          </a:p>
        </p:txBody>
      </p:sp>
      <p:sp>
        <p:nvSpPr>
          <p:cNvPr id="12" name="Rectangle 10"/>
          <p:cNvSpPr>
            <a:spLocks noChangeArrowheads="1"/>
          </p:cNvSpPr>
          <p:nvPr/>
        </p:nvSpPr>
        <p:spPr bwMode="auto">
          <a:xfrm>
            <a:off x="7710478" y="2190983"/>
            <a:ext cx="431800" cy="576262"/>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ctr" eaLnBrk="1" hangingPunct="1"/>
            <a:r>
              <a:rPr kumimoji="0" lang="en-US" altLang="zh-CN" sz="1800">
                <a:solidFill>
                  <a:schemeClr val="bg1"/>
                </a:solidFill>
                <a:latin typeface="Arial" pitchFamily="34" charset="0"/>
              </a:rPr>
              <a:t>1</a:t>
            </a:r>
          </a:p>
        </p:txBody>
      </p:sp>
      <p:sp>
        <p:nvSpPr>
          <p:cNvPr id="13" name="Rectangle 11"/>
          <p:cNvSpPr>
            <a:spLocks noChangeArrowheads="1"/>
          </p:cNvSpPr>
          <p:nvPr/>
        </p:nvSpPr>
        <p:spPr bwMode="auto">
          <a:xfrm>
            <a:off x="8142278" y="2190983"/>
            <a:ext cx="431800" cy="576262"/>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ctr" eaLnBrk="1" hangingPunct="1"/>
            <a:r>
              <a:rPr kumimoji="0" lang="en-US" altLang="zh-CN" sz="1800">
                <a:solidFill>
                  <a:schemeClr val="bg1"/>
                </a:solidFill>
                <a:latin typeface="Arial" pitchFamily="34" charset="0"/>
              </a:rPr>
              <a:t>0</a:t>
            </a:r>
          </a:p>
        </p:txBody>
      </p:sp>
      <p:sp>
        <p:nvSpPr>
          <p:cNvPr id="14" name="Text Box 12"/>
          <p:cNvSpPr txBox="1">
            <a:spLocks noChangeArrowheads="1"/>
          </p:cNvSpPr>
          <p:nvPr/>
        </p:nvSpPr>
        <p:spPr bwMode="auto">
          <a:xfrm>
            <a:off x="7566015" y="2903770"/>
            <a:ext cx="86518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50000"/>
              </a:spcBef>
            </a:pPr>
            <a:r>
              <a:rPr kumimoji="0" lang="en-US" altLang="zh-CN" sz="1800">
                <a:latin typeface="Arial" pitchFamily="34" charset="0"/>
              </a:rPr>
              <a:t>mutex</a:t>
            </a:r>
          </a:p>
        </p:txBody>
      </p:sp>
      <p:sp>
        <p:nvSpPr>
          <p:cNvPr id="15" name="Line 13"/>
          <p:cNvSpPr>
            <a:spLocks noChangeShapeType="1"/>
          </p:cNvSpPr>
          <p:nvPr/>
        </p:nvSpPr>
        <p:spPr bwMode="auto">
          <a:xfrm>
            <a:off x="5045065" y="2694220"/>
            <a:ext cx="0" cy="72072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Line 14"/>
          <p:cNvSpPr>
            <a:spLocks noChangeShapeType="1"/>
          </p:cNvSpPr>
          <p:nvPr/>
        </p:nvSpPr>
        <p:spPr bwMode="auto">
          <a:xfrm>
            <a:off x="5908665" y="2694220"/>
            <a:ext cx="0" cy="72072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7" name="Line 15"/>
          <p:cNvSpPr>
            <a:spLocks noChangeShapeType="1"/>
          </p:cNvSpPr>
          <p:nvPr/>
        </p:nvSpPr>
        <p:spPr bwMode="auto">
          <a:xfrm>
            <a:off x="6773853" y="2694220"/>
            <a:ext cx="0" cy="72072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 name="Rectangle 16"/>
          <p:cNvSpPr>
            <a:spLocks noChangeArrowheads="1"/>
          </p:cNvSpPr>
          <p:nvPr/>
        </p:nvSpPr>
        <p:spPr bwMode="auto">
          <a:xfrm>
            <a:off x="8574078" y="2190983"/>
            <a:ext cx="431800" cy="576262"/>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ctr" eaLnBrk="1" hangingPunct="1"/>
            <a:r>
              <a:rPr kumimoji="0" lang="en-US" altLang="zh-CN" sz="1800">
                <a:solidFill>
                  <a:schemeClr val="bg1"/>
                </a:solidFill>
                <a:latin typeface="Arial" pitchFamily="34" charset="0"/>
              </a:rPr>
              <a:t>-1</a:t>
            </a:r>
          </a:p>
        </p:txBody>
      </p:sp>
      <p:sp>
        <p:nvSpPr>
          <p:cNvPr id="19" name="Rectangle 17"/>
          <p:cNvSpPr>
            <a:spLocks noChangeArrowheads="1"/>
          </p:cNvSpPr>
          <p:nvPr/>
        </p:nvSpPr>
        <p:spPr bwMode="auto">
          <a:xfrm>
            <a:off x="4902341" y="4854808"/>
            <a:ext cx="431800" cy="576262"/>
          </a:xfrm>
          <a:prstGeom prst="rect">
            <a:avLst/>
          </a:prstGeom>
          <a:solidFill>
            <a:srgbClr val="008000"/>
          </a:solidFill>
          <a:ln w="9525">
            <a:solidFill>
              <a:schemeClr val="tx1"/>
            </a:solidFill>
            <a:miter lim="800000"/>
            <a:headEnd/>
            <a:tailEnd/>
          </a:ln>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ctr" eaLnBrk="1" hangingPunct="1"/>
            <a:r>
              <a:rPr kumimoji="0" lang="en-US" altLang="zh-CN" sz="1800">
                <a:latin typeface="Arial" pitchFamily="34" charset="0"/>
              </a:rPr>
              <a:t>P</a:t>
            </a:r>
            <a:r>
              <a:rPr kumimoji="0" lang="en-US" altLang="zh-CN" sz="1800" baseline="-25000">
                <a:latin typeface="Arial" pitchFamily="34" charset="0"/>
              </a:rPr>
              <a:t>1</a:t>
            </a:r>
          </a:p>
        </p:txBody>
      </p:sp>
      <p:sp>
        <p:nvSpPr>
          <p:cNvPr id="20" name="Rectangle 18"/>
          <p:cNvSpPr>
            <a:spLocks noChangeArrowheads="1"/>
          </p:cNvSpPr>
          <p:nvPr/>
        </p:nvSpPr>
        <p:spPr bwMode="auto">
          <a:xfrm>
            <a:off x="8969365" y="2190983"/>
            <a:ext cx="431800" cy="576262"/>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ctr" eaLnBrk="1" hangingPunct="1"/>
            <a:r>
              <a:rPr kumimoji="0" lang="en-US" altLang="zh-CN" sz="1800">
                <a:solidFill>
                  <a:schemeClr val="bg1"/>
                </a:solidFill>
                <a:latin typeface="Arial" pitchFamily="34" charset="0"/>
              </a:rPr>
              <a:t>0</a:t>
            </a:r>
          </a:p>
        </p:txBody>
      </p:sp>
      <p:sp>
        <p:nvSpPr>
          <p:cNvPr id="21" name="AutoShape 19"/>
          <p:cNvSpPr>
            <a:spLocks noChangeArrowheads="1"/>
          </p:cNvSpPr>
          <p:nvPr/>
        </p:nvSpPr>
        <p:spPr bwMode="auto">
          <a:xfrm>
            <a:off x="4038741" y="4926245"/>
            <a:ext cx="647700" cy="215900"/>
          </a:xfrm>
          <a:custGeom>
            <a:avLst/>
            <a:gdLst>
              <a:gd name="T0" fmla="*/ 2147483647 w 21600"/>
              <a:gd name="T1" fmla="*/ 0 h 21600"/>
              <a:gd name="T2" fmla="*/ 0 w 21600"/>
              <a:gd name="T3" fmla="*/ 2147483647 h 21600"/>
              <a:gd name="T4" fmla="*/ 2147483647 w 21600"/>
              <a:gd name="T5" fmla="*/ 2147483647 h 21600"/>
              <a:gd name="T6" fmla="*/ 2147483647 w 21600"/>
              <a:gd name="T7" fmla="*/ 2147483647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folHlink"/>
          </a:solidFill>
          <a:ln w="9525">
            <a:solidFill>
              <a:schemeClr val="tx1"/>
            </a:solidFill>
            <a:miter lim="800000"/>
            <a:headEnd/>
            <a:tailEnd/>
          </a:ln>
        </p:spPr>
        <p:txBody>
          <a:bodyPr wrap="none" anchor="ctr"/>
          <a:lstStyle/>
          <a:p>
            <a:endParaRPr lang="zh-CN" altLang="en-US"/>
          </a:p>
        </p:txBody>
      </p:sp>
      <p:sp>
        <p:nvSpPr>
          <p:cNvPr id="22" name="Line 20"/>
          <p:cNvSpPr>
            <a:spLocks noChangeShapeType="1"/>
          </p:cNvSpPr>
          <p:nvPr/>
        </p:nvSpPr>
        <p:spPr bwMode="auto">
          <a:xfrm flipH="1">
            <a:off x="7853353" y="4062645"/>
            <a:ext cx="0" cy="67312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Text Box 8"/>
          <p:cNvSpPr txBox="1">
            <a:spLocks noChangeArrowheads="1"/>
          </p:cNvSpPr>
          <p:nvPr/>
        </p:nvSpPr>
        <p:spPr bwMode="auto">
          <a:xfrm>
            <a:off x="8301028" y="3624495"/>
            <a:ext cx="79216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50000"/>
              </a:spcBef>
            </a:pPr>
            <a:r>
              <a:rPr kumimoji="0" lang="zh-CN" altLang="en-US" sz="1800">
                <a:latin typeface="Arial" pitchFamily="34" charset="0"/>
              </a:rPr>
              <a:t>唤醒</a:t>
            </a:r>
          </a:p>
        </p:txBody>
      </p:sp>
    </p:spTree>
    <p:extLst>
      <p:ext uri="{BB962C8B-B14F-4D97-AF65-F5344CB8AC3E}">
        <p14:creationId xmlns:p14="http://schemas.microsoft.com/office/powerpoint/2010/main" val="3612764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wipe(up)">
                                      <p:cBhvr>
                                        <p:cTn id="19" dur="500"/>
                                        <p:tgtEl>
                                          <p:spTgt spid="15"/>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wipe(up)">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up)">
                                      <p:cBhvr>
                                        <p:cTn id="45" dur="5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9"/>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8"/>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mph" presetSubtype="2" fill="hold" nodeType="clickEffect">
                                  <p:stCondLst>
                                    <p:cond delay="0"/>
                                  </p:stCondLst>
                                  <p:childTnLst>
                                    <p:animClr clrSpc="rgb" dir="cw">
                                      <p:cBhvr>
                                        <p:cTn id="57" dur="2000" fill="hold"/>
                                        <p:tgtEl>
                                          <p:spTgt spid="9"/>
                                        </p:tgtEl>
                                        <p:attrNameLst>
                                          <p:attrName>fillcolor</p:attrName>
                                        </p:attrNameLst>
                                      </p:cBhvr>
                                      <p:to>
                                        <a:srgbClr val="FF0000"/>
                                      </p:to>
                                    </p:animClr>
                                    <p:set>
                                      <p:cBhvr>
                                        <p:cTn id="58" dur="2000" fill="hold"/>
                                        <p:tgtEl>
                                          <p:spTgt spid="9"/>
                                        </p:tgtEl>
                                        <p:attrNameLst>
                                          <p:attrName>fill.type</p:attrName>
                                        </p:attrNameLst>
                                      </p:cBhvr>
                                      <p:to>
                                        <p:strVal val="solid"/>
                                      </p:to>
                                    </p:set>
                                    <p:set>
                                      <p:cBhvr>
                                        <p:cTn id="59" dur="2000" fill="hold"/>
                                        <p:tgtEl>
                                          <p:spTgt spid="9"/>
                                        </p:tgtEl>
                                        <p:attrNameLst>
                                          <p:attrName>fill.on</p:attrName>
                                        </p:attrNameLst>
                                      </p:cBhvr>
                                      <p:to>
                                        <p:strVal val="tru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10"/>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wipe(left)">
                                      <p:cBhvr>
                                        <p:cTn id="68" dur="500"/>
                                        <p:tgtEl>
                                          <p:spTgt spid="21"/>
                                        </p:tgtEl>
                                      </p:cBhvr>
                                    </p:animEffec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9"/>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20"/>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mph" presetSubtype="2" fill="hold" nodeType="clickEffect">
                                  <p:stCondLst>
                                    <p:cond delay="0"/>
                                  </p:stCondLst>
                                  <p:childTnLst>
                                    <p:animClr clrSpc="rgb" dir="cw">
                                      <p:cBhvr>
                                        <p:cTn id="80" dur="2000" fill="hold"/>
                                        <p:tgtEl>
                                          <p:spTgt spid="9"/>
                                        </p:tgtEl>
                                        <p:attrNameLst>
                                          <p:attrName>fillcolor</p:attrName>
                                        </p:attrNameLst>
                                      </p:cBhvr>
                                      <p:to>
                                        <a:schemeClr val="accent2"/>
                                      </p:to>
                                    </p:animClr>
                                    <p:set>
                                      <p:cBhvr>
                                        <p:cTn id="81" dur="2000" fill="hold"/>
                                        <p:tgtEl>
                                          <p:spTgt spid="9"/>
                                        </p:tgtEl>
                                        <p:attrNameLst>
                                          <p:attrName>fill.type</p:attrName>
                                        </p:attrNameLst>
                                      </p:cBhvr>
                                      <p:to>
                                        <p:strVal val="solid"/>
                                      </p:to>
                                    </p:set>
                                    <p:set>
                                      <p:cBhvr>
                                        <p:cTn id="82" dur="2000" fill="hold"/>
                                        <p:tgtEl>
                                          <p:spTgt spid="9"/>
                                        </p:tgtEl>
                                        <p:attrNameLst>
                                          <p:attrName>fill.on</p:attrName>
                                        </p:attrNameLst>
                                      </p:cBhvr>
                                      <p:to>
                                        <p:strVal val="true"/>
                                      </p:to>
                                    </p:set>
                                  </p:childTnLst>
                                </p:cTn>
                              </p:par>
                            </p:childTnLst>
                          </p:cTn>
                        </p:par>
                      </p:childTnLst>
                    </p:cTn>
                  </p:par>
                  <p:par>
                    <p:cTn id="83" fill="hold">
                      <p:stCondLst>
                        <p:cond delay="indefinite"/>
                      </p:stCondLst>
                      <p:childTnLst>
                        <p:par>
                          <p:cTn id="84" fill="hold">
                            <p:stCondLst>
                              <p:cond delay="0"/>
                            </p:stCondLst>
                            <p:childTnLst>
                              <p:par>
                                <p:cTn id="85" presetID="1" presetClass="exit" presetSubtype="0" fill="hold" grpId="1" nodeType="clickEffect">
                                  <p:stCondLst>
                                    <p:cond delay="0"/>
                                  </p:stCondLst>
                                  <p:childTnLst>
                                    <p:set>
                                      <p:cBhvr>
                                        <p:cTn id="86" dur="1" fill="hold">
                                          <p:stCondLst>
                                            <p:cond delay="0"/>
                                          </p:stCondLst>
                                        </p:cTn>
                                        <p:tgtEl>
                                          <p:spTgt spid="10"/>
                                        </p:tgtEl>
                                        <p:attrNameLst>
                                          <p:attrName>style.visibility</p:attrName>
                                        </p:attrNameLst>
                                      </p:cBhvr>
                                      <p:to>
                                        <p:strVal val="hidden"/>
                                      </p:to>
                                    </p:set>
                                  </p:childTnLst>
                                </p:cTn>
                              </p:par>
                            </p:childTnLst>
                          </p:cTn>
                        </p:par>
                      </p:childTnLst>
                    </p:cTn>
                  </p:par>
                  <p:par>
                    <p:cTn id="87" fill="hold">
                      <p:stCondLst>
                        <p:cond delay="indefinite"/>
                      </p:stCondLst>
                      <p:childTnLst>
                        <p:par>
                          <p:cTn id="88" fill="hold">
                            <p:stCondLst>
                              <p:cond delay="0"/>
                            </p:stCondLst>
                            <p:childTnLst>
                              <p:par>
                                <p:cTn id="89" presetID="38" presetClass="entr" presetSubtype="0" accel="50000" fill="hold" grpId="0" nodeType="clickEffect">
                                  <p:stCondLst>
                                    <p:cond delay="0"/>
                                  </p:stCondLst>
                                  <p:iterate type="lt">
                                    <p:tmPct val="50000"/>
                                  </p:iterate>
                                  <p:childTnLst>
                                    <p:set>
                                      <p:cBhvr>
                                        <p:cTn id="90" dur="1" fill="hold">
                                          <p:stCondLst>
                                            <p:cond delay="0"/>
                                          </p:stCondLst>
                                        </p:cTn>
                                        <p:tgtEl>
                                          <p:spTgt spid="23"/>
                                        </p:tgtEl>
                                        <p:attrNameLst>
                                          <p:attrName>style.visibility</p:attrName>
                                        </p:attrNameLst>
                                      </p:cBhvr>
                                      <p:to>
                                        <p:strVal val="visible"/>
                                      </p:to>
                                    </p:set>
                                    <p:set>
                                      <p:cBhvr>
                                        <p:cTn id="91" dur="455" fill="hold">
                                          <p:stCondLst>
                                            <p:cond delay="0"/>
                                          </p:stCondLst>
                                        </p:cTn>
                                        <p:tgtEl>
                                          <p:spTgt spid="23"/>
                                        </p:tgtEl>
                                        <p:attrNameLst>
                                          <p:attrName>style.rotation</p:attrName>
                                        </p:attrNameLst>
                                      </p:cBhvr>
                                      <p:to>
                                        <p:strVal val="-45.0"/>
                                      </p:to>
                                    </p:set>
                                    <p:anim calcmode="lin" valueType="num">
                                      <p:cBhvr>
                                        <p:cTn id="92" dur="455" fill="hold">
                                          <p:stCondLst>
                                            <p:cond delay="455"/>
                                          </p:stCondLst>
                                        </p:cTn>
                                        <p:tgtEl>
                                          <p:spTgt spid="23"/>
                                        </p:tgtEl>
                                        <p:attrNameLst>
                                          <p:attrName>style.rotation</p:attrName>
                                        </p:attrNameLst>
                                      </p:cBhvr>
                                      <p:tavLst>
                                        <p:tav tm="0">
                                          <p:val>
                                            <p:fltVal val="-45"/>
                                          </p:val>
                                        </p:tav>
                                        <p:tav tm="69900">
                                          <p:val>
                                            <p:fltVal val="45"/>
                                          </p:val>
                                        </p:tav>
                                        <p:tav tm="100000">
                                          <p:val>
                                            <p:fltVal val="0"/>
                                          </p:val>
                                        </p:tav>
                                      </p:tavLst>
                                    </p:anim>
                                    <p:anim calcmode="lin" valueType="num">
                                      <p:cBhvr>
                                        <p:cTn id="93" dur="455" fill="hold">
                                          <p:stCondLst>
                                            <p:cond delay="0"/>
                                          </p:stCondLst>
                                        </p:cTn>
                                        <p:tgtEl>
                                          <p:spTgt spid="23"/>
                                        </p:tgtEl>
                                        <p:attrNameLst>
                                          <p:attrName>ppt_y</p:attrName>
                                        </p:attrNameLst>
                                      </p:cBhvr>
                                      <p:tavLst>
                                        <p:tav tm="0">
                                          <p:val>
                                            <p:strVal val="#ppt_y-1"/>
                                          </p:val>
                                        </p:tav>
                                        <p:tav tm="100000">
                                          <p:val>
                                            <p:strVal val="#ppt_y-(0.354*#ppt_w-0.172*#ppt_h)"/>
                                          </p:val>
                                        </p:tav>
                                      </p:tavLst>
                                    </p:anim>
                                    <p:anim calcmode="lin" valueType="num">
                                      <p:cBhvr>
                                        <p:cTn id="94" dur="156" decel="50000" autoRev="1" fill="hold">
                                          <p:stCondLst>
                                            <p:cond delay="455"/>
                                          </p:stCondLst>
                                        </p:cTn>
                                        <p:tgtEl>
                                          <p:spTgt spid="23"/>
                                        </p:tgtEl>
                                        <p:attrNameLst>
                                          <p:attrName>ppt_y</p:attrName>
                                        </p:attrNameLst>
                                      </p:cBhvr>
                                      <p:tavLst>
                                        <p:tav tm="0">
                                          <p:val>
                                            <p:strVal val="#ppt_y-(0.354*#ppt_w-0.172*#ppt_h)"/>
                                          </p:val>
                                        </p:tav>
                                        <p:tav tm="100000">
                                          <p:val>
                                            <p:strVal val="#ppt_y-(0.354*#ppt_w-0.172*#ppt_h)-#ppt_h/2"/>
                                          </p:val>
                                        </p:tav>
                                      </p:tavLst>
                                    </p:anim>
                                    <p:anim calcmode="lin" valueType="num">
                                      <p:cBhvr>
                                        <p:cTn id="95" dur="136" fill="hold">
                                          <p:stCondLst>
                                            <p:cond delay="864"/>
                                          </p:stCondLst>
                                        </p:cTn>
                                        <p:tgtEl>
                                          <p:spTgt spid="23"/>
                                        </p:tgtEl>
                                        <p:attrNameLst>
                                          <p:attrName>ppt_y</p:attrName>
                                        </p:attrNameLst>
                                      </p:cBhvr>
                                      <p:tavLst>
                                        <p:tav tm="0">
                                          <p:val>
                                            <p:strVal val="#ppt_y-(0.354*#ppt_w-0.172*#ppt_h)"/>
                                          </p:val>
                                        </p:tav>
                                        <p:tav tm="100000">
                                          <p:val>
                                            <p:strVal val="#ppt_y"/>
                                          </p:val>
                                        </p:tav>
                                      </p:tavLst>
                                    </p:anim>
                                  </p:childTnLst>
                                </p:cTn>
                              </p:par>
                            </p:childTnLst>
                          </p:cTn>
                        </p:par>
                      </p:childTnLst>
                    </p:cTn>
                  </p:par>
                  <p:par>
                    <p:cTn id="96" fill="hold">
                      <p:stCondLst>
                        <p:cond delay="indefinite"/>
                      </p:stCondLst>
                      <p:childTnLst>
                        <p:par>
                          <p:cTn id="97" fill="hold">
                            <p:stCondLst>
                              <p:cond delay="0"/>
                            </p:stCondLst>
                            <p:childTnLst>
                              <p:par>
                                <p:cTn id="98" presetID="22" presetClass="entr" presetSubtype="2" fill="hold" grpId="0" nodeType="clickEffect">
                                  <p:stCondLst>
                                    <p:cond delay="0"/>
                                  </p:stCondLst>
                                  <p:childTnLst>
                                    <p:set>
                                      <p:cBhvr>
                                        <p:cTn id="99" dur="1" fill="hold">
                                          <p:stCondLst>
                                            <p:cond delay="0"/>
                                          </p:stCondLst>
                                        </p:cTn>
                                        <p:tgtEl>
                                          <p:spTgt spid="22"/>
                                        </p:tgtEl>
                                        <p:attrNameLst>
                                          <p:attrName>style.visibility</p:attrName>
                                        </p:attrNameLst>
                                      </p:cBhvr>
                                      <p:to>
                                        <p:strVal val="visible"/>
                                      </p:to>
                                    </p:set>
                                    <p:animEffect transition="in" filter="wipe(right)">
                                      <p:cBhvr>
                                        <p:cTn id="10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p:bldP spid="10" grpId="1"/>
      <p:bldP spid="11" grpId="0" animBg="1"/>
      <p:bldP spid="12" grpId="0" animBg="1"/>
      <p:bldP spid="13" grpId="0" animBg="1"/>
      <p:bldP spid="14" grpId="0"/>
      <p:bldP spid="15" grpId="0" animBg="1"/>
      <p:bldP spid="16" grpId="0" animBg="1"/>
      <p:bldP spid="17" grpId="0" animBg="1"/>
      <p:bldP spid="18" grpId="0" animBg="1"/>
      <p:bldP spid="19" grpId="0" animBg="1"/>
      <p:bldP spid="20" grpId="0" animBg="1"/>
      <p:bldP spid="21" grpId="0" animBg="1"/>
      <p:bldP spid="22" grpId="0" animBg="1"/>
      <p:bldP spid="2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a:t>
            </a:r>
            <a:r>
              <a:rPr lang="zh-CN" altLang="en-US" dirty="0"/>
              <a:t>信号量机制</a:t>
            </a:r>
          </a:p>
        </p:txBody>
      </p:sp>
      <p:grpSp>
        <p:nvGrpSpPr>
          <p:cNvPr id="3" name="组合 2"/>
          <p:cNvGrpSpPr/>
          <p:nvPr/>
        </p:nvGrpSpPr>
        <p:grpSpPr>
          <a:xfrm>
            <a:off x="1004177" y="1027910"/>
            <a:ext cx="5314736" cy="665162"/>
            <a:chOff x="1004177" y="1027910"/>
            <a:chExt cx="5314736" cy="665162"/>
          </a:xfrm>
        </p:grpSpPr>
        <p:sp>
          <p:nvSpPr>
            <p:cNvPr id="4" name="矩形 3"/>
            <p:cNvSpPr/>
            <p:nvPr/>
          </p:nvSpPr>
          <p:spPr>
            <a:xfrm>
              <a:off x="1150228" y="1561310"/>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 name="矩形 4"/>
            <p:cNvSpPr/>
            <p:nvPr/>
          </p:nvSpPr>
          <p:spPr>
            <a:xfrm>
              <a:off x="2058278" y="1561310"/>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5"/>
            <p:cNvSpPr txBox="1">
              <a:spLocks noChangeArrowheads="1"/>
            </p:cNvSpPr>
            <p:nvPr/>
          </p:nvSpPr>
          <p:spPr bwMode="auto">
            <a:xfrm>
              <a:off x="1004177" y="1027910"/>
              <a:ext cx="53147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记录型信号量特点</a:t>
              </a:r>
            </a:p>
          </p:txBody>
        </p:sp>
      </p:grpSp>
      <p:sp>
        <p:nvSpPr>
          <p:cNvPr id="8" name="文本框 19"/>
          <p:cNvSpPr txBox="1">
            <a:spLocks noChangeArrowheads="1"/>
          </p:cNvSpPr>
          <p:nvPr/>
        </p:nvSpPr>
        <p:spPr bwMode="auto">
          <a:xfrm>
            <a:off x="1122932" y="2281457"/>
            <a:ext cx="7611635"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en-US" sz="2400" dirty="0"/>
              <a:t>大于</a:t>
            </a:r>
            <a:r>
              <a:rPr lang="en-US" altLang="zh-CN" sz="2400" dirty="0"/>
              <a:t>0</a:t>
            </a:r>
          </a:p>
          <a:p>
            <a:pPr marL="0" lvl="2" indent="0">
              <a:buBlip>
                <a:blip r:embed="rId2"/>
              </a:buBlip>
            </a:pPr>
            <a:r>
              <a:rPr lang="zh-CN" altLang="en-US" sz="2400" dirty="0"/>
              <a:t>等于</a:t>
            </a:r>
            <a:r>
              <a:rPr lang="en-US" altLang="zh-CN" sz="2400" dirty="0"/>
              <a:t>0</a:t>
            </a:r>
          </a:p>
          <a:p>
            <a:pPr marL="0" lvl="2" indent="0">
              <a:buBlip>
                <a:blip r:embed="rId2"/>
              </a:buBlip>
            </a:pPr>
            <a:r>
              <a:rPr lang="zh-CN" altLang="en-US" sz="2400" dirty="0"/>
              <a:t>小于</a:t>
            </a:r>
            <a:r>
              <a:rPr lang="en-US" altLang="zh-CN" sz="2400" dirty="0"/>
              <a:t>0</a:t>
            </a:r>
          </a:p>
        </p:txBody>
      </p:sp>
      <p:sp>
        <p:nvSpPr>
          <p:cNvPr id="16" name="文本框 54"/>
          <p:cNvSpPr txBox="1">
            <a:spLocks noChangeArrowheads="1"/>
          </p:cNvSpPr>
          <p:nvPr/>
        </p:nvSpPr>
        <p:spPr bwMode="auto">
          <a:xfrm>
            <a:off x="1150228" y="1832593"/>
            <a:ext cx="25844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1" indent="0"/>
            <a:r>
              <a:rPr lang="en-US" altLang="zh-CN" sz="2000" b="1" dirty="0">
                <a:solidFill>
                  <a:srgbClr val="505050"/>
                </a:solidFill>
                <a:latin typeface="微软雅黑" panose="020B0503020204020204" pitchFamily="34" charset="-122"/>
                <a:ea typeface="微软雅黑" panose="020B0503020204020204" pitchFamily="34" charset="-122"/>
              </a:rPr>
              <a:t>1</a:t>
            </a:r>
            <a:r>
              <a:rPr lang="zh-CN" altLang="en-US" sz="2000" b="1" dirty="0">
                <a:solidFill>
                  <a:srgbClr val="505050"/>
                </a:solidFill>
                <a:latin typeface="微软雅黑" panose="020B0503020204020204" pitchFamily="34" charset="-122"/>
                <a:ea typeface="微软雅黑" panose="020B0503020204020204" pitchFamily="34" charset="-122"/>
              </a:rPr>
              <a:t>）</a:t>
            </a:r>
            <a:r>
              <a:rPr lang="en-US" altLang="zh-CN" sz="2000" b="1" dirty="0" err="1">
                <a:solidFill>
                  <a:srgbClr val="505050"/>
                </a:solidFill>
                <a:latin typeface="微软雅黑" panose="020B0503020204020204" pitchFamily="34" charset="-122"/>
                <a:ea typeface="微软雅黑" panose="020B0503020204020204" pitchFamily="34" charset="-122"/>
              </a:rPr>
              <a:t>S.value</a:t>
            </a:r>
            <a:r>
              <a:rPr lang="zh-CN" altLang="en-US" sz="2000" b="1" dirty="0">
                <a:solidFill>
                  <a:srgbClr val="505050"/>
                </a:solidFill>
                <a:latin typeface="微软雅黑" panose="020B0503020204020204" pitchFamily="34" charset="-122"/>
                <a:ea typeface="微软雅黑" panose="020B0503020204020204" pitchFamily="34" charset="-122"/>
              </a:rPr>
              <a:t>的含义</a:t>
            </a:r>
          </a:p>
        </p:txBody>
      </p:sp>
      <p:sp>
        <p:nvSpPr>
          <p:cNvPr id="17" name="文本框 19"/>
          <p:cNvSpPr txBox="1">
            <a:spLocks noChangeArrowheads="1"/>
          </p:cNvSpPr>
          <p:nvPr/>
        </p:nvSpPr>
        <p:spPr bwMode="auto">
          <a:xfrm>
            <a:off x="1150228" y="3917139"/>
            <a:ext cx="761163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en-US" sz="2400" dirty="0"/>
              <a:t>采用阻塞队列，阻塞机制</a:t>
            </a:r>
            <a:endParaRPr lang="en-US" altLang="zh-CN" sz="2400" dirty="0"/>
          </a:p>
          <a:p>
            <a:pPr marL="0" lvl="2" indent="0">
              <a:buBlip>
                <a:blip r:embed="rId2"/>
              </a:buBlip>
            </a:pPr>
            <a:r>
              <a:rPr lang="zh-CN" altLang="en-US" sz="2400" dirty="0"/>
              <a:t>主动阻塞与被动唤醒</a:t>
            </a:r>
            <a:endParaRPr lang="en-US" altLang="zh-CN" sz="2400" dirty="0"/>
          </a:p>
        </p:txBody>
      </p:sp>
      <p:sp>
        <p:nvSpPr>
          <p:cNvPr id="18" name="文本框 54"/>
          <p:cNvSpPr txBox="1">
            <a:spLocks noChangeArrowheads="1"/>
          </p:cNvSpPr>
          <p:nvPr/>
        </p:nvSpPr>
        <p:spPr bwMode="auto">
          <a:xfrm>
            <a:off x="1177523" y="3468275"/>
            <a:ext cx="293045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1" indent="0"/>
            <a:r>
              <a:rPr lang="en-US" altLang="zh-CN" sz="2000" b="1" dirty="0">
                <a:solidFill>
                  <a:srgbClr val="505050"/>
                </a:solidFill>
                <a:latin typeface="微软雅黑" panose="020B0503020204020204" pitchFamily="34" charset="-122"/>
                <a:ea typeface="微软雅黑" panose="020B0503020204020204" pitchFamily="34" charset="-122"/>
              </a:rPr>
              <a:t>2</a:t>
            </a:r>
            <a:r>
              <a:rPr lang="zh-CN" altLang="en-US" sz="2000" b="1" dirty="0">
                <a:solidFill>
                  <a:srgbClr val="505050"/>
                </a:solidFill>
                <a:latin typeface="微软雅黑" panose="020B0503020204020204" pitchFamily="34" charset="-122"/>
                <a:ea typeface="微软雅黑" panose="020B0503020204020204" pitchFamily="34" charset="-122"/>
              </a:rPr>
              <a:t>）遵循让权等待</a:t>
            </a:r>
          </a:p>
        </p:txBody>
      </p:sp>
      <p:sp>
        <p:nvSpPr>
          <p:cNvPr id="20" name="文本框 54"/>
          <p:cNvSpPr txBox="1">
            <a:spLocks noChangeArrowheads="1"/>
          </p:cNvSpPr>
          <p:nvPr/>
        </p:nvSpPr>
        <p:spPr bwMode="auto">
          <a:xfrm>
            <a:off x="1122932" y="4806609"/>
            <a:ext cx="353621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1" indent="0"/>
            <a:r>
              <a:rPr lang="en-US" altLang="zh-CN" sz="2000" b="1" dirty="0">
                <a:solidFill>
                  <a:srgbClr val="505050"/>
                </a:solidFill>
                <a:latin typeface="微软雅黑" panose="020B0503020204020204" pitchFamily="34" charset="-122"/>
                <a:ea typeface="微软雅黑" panose="020B0503020204020204" pitchFamily="34" charset="-122"/>
              </a:rPr>
              <a:t>3</a:t>
            </a:r>
            <a:r>
              <a:rPr lang="zh-CN" altLang="en-US" sz="2000" b="1" dirty="0">
                <a:solidFill>
                  <a:srgbClr val="505050"/>
                </a:solidFill>
                <a:latin typeface="微软雅黑" panose="020B0503020204020204" pitchFamily="34" charset="-122"/>
                <a:ea typeface="微软雅黑" panose="020B0503020204020204" pitchFamily="34" charset="-122"/>
              </a:rPr>
              <a:t>）对资源访问的过程</a:t>
            </a:r>
          </a:p>
        </p:txBody>
      </p:sp>
      <p:grpSp>
        <p:nvGrpSpPr>
          <p:cNvPr id="7" name="组合 6"/>
          <p:cNvGrpSpPr/>
          <p:nvPr/>
        </p:nvGrpSpPr>
        <p:grpSpPr>
          <a:xfrm>
            <a:off x="4659148" y="4702177"/>
            <a:ext cx="7141969" cy="461963"/>
            <a:chOff x="4659148" y="4702177"/>
            <a:chExt cx="7141969" cy="461963"/>
          </a:xfrm>
        </p:grpSpPr>
        <p:sp>
          <p:nvSpPr>
            <p:cNvPr id="22" name="Text Box 9"/>
            <p:cNvSpPr txBox="1">
              <a:spLocks noChangeArrowheads="1"/>
            </p:cNvSpPr>
            <p:nvPr/>
          </p:nvSpPr>
          <p:spPr bwMode="auto">
            <a:xfrm>
              <a:off x="4659148" y="4702177"/>
              <a:ext cx="1873250" cy="461963"/>
            </a:xfrm>
            <a:prstGeom prst="rect">
              <a:avLst/>
            </a:prstGeom>
            <a:noFill/>
            <a:ln w="9525">
              <a:noFill/>
              <a:miter lim="800000"/>
              <a:headEnd/>
              <a:tailEnd/>
            </a:ln>
            <a:effectLst/>
          </p:spPr>
          <p:txBody>
            <a:bodyPr wrap="none">
              <a:spAutoFit/>
            </a:bodyPr>
            <a:lstStyle/>
            <a:p>
              <a:pPr>
                <a:defRPr/>
              </a:pPr>
              <a:r>
                <a:rPr lang="en-US" altLang="zh-CN" sz="2400" dirty="0">
                  <a:effectLst>
                    <a:outerShdw blurRad="38100" dist="38100" dir="2700000" algn="tl">
                      <a:srgbClr val="C0C0C0"/>
                    </a:outerShdw>
                  </a:effectLst>
                  <a:latin typeface="Arial" pitchFamily="34" charset="0"/>
                  <a:ea typeface="楷体_GB2312" pitchFamily="49" charset="-122"/>
                </a:rPr>
                <a:t>......wait( S )</a:t>
              </a:r>
            </a:p>
          </p:txBody>
        </p:sp>
        <p:sp>
          <p:nvSpPr>
            <p:cNvPr id="23" name="Text Box 10"/>
            <p:cNvSpPr txBox="1">
              <a:spLocks noChangeArrowheads="1"/>
            </p:cNvSpPr>
            <p:nvPr/>
          </p:nvSpPr>
          <p:spPr bwMode="auto">
            <a:xfrm>
              <a:off x="7129298" y="4702177"/>
              <a:ext cx="1723549" cy="461665"/>
            </a:xfrm>
            <a:prstGeom prst="rect">
              <a:avLst/>
            </a:prstGeom>
            <a:noFill/>
            <a:ln w="9525">
              <a:noFill/>
              <a:miter lim="800000"/>
              <a:headEnd/>
              <a:tailEnd/>
            </a:ln>
            <a:effectLst/>
          </p:spPr>
          <p:txBody>
            <a:bodyPr wrap="none">
              <a:spAutoFit/>
            </a:bodyPr>
            <a:lstStyle/>
            <a:p>
              <a:pPr>
                <a:defRPr/>
              </a:pPr>
              <a:r>
                <a:rPr lang="zh-CN" altLang="en-US" sz="2400" dirty="0">
                  <a:effectLst>
                    <a:outerShdw blurRad="38100" dist="38100" dir="2700000" algn="tl">
                      <a:srgbClr val="C0C0C0"/>
                    </a:outerShdw>
                  </a:effectLst>
                  <a:latin typeface="Arial" pitchFamily="34" charset="0"/>
                  <a:ea typeface="楷体_GB2312" pitchFamily="49" charset="-122"/>
                </a:rPr>
                <a:t>进入临界区</a:t>
              </a:r>
            </a:p>
          </p:txBody>
        </p:sp>
        <p:sp>
          <p:nvSpPr>
            <p:cNvPr id="24" name="Text Box 11"/>
            <p:cNvSpPr txBox="1">
              <a:spLocks noChangeArrowheads="1"/>
            </p:cNvSpPr>
            <p:nvPr/>
          </p:nvSpPr>
          <p:spPr bwMode="auto">
            <a:xfrm>
              <a:off x="9720098" y="4702177"/>
              <a:ext cx="2081019" cy="461665"/>
            </a:xfrm>
            <a:prstGeom prst="rect">
              <a:avLst/>
            </a:prstGeom>
            <a:noFill/>
            <a:ln w="9525">
              <a:noFill/>
              <a:miter lim="800000"/>
              <a:headEnd/>
              <a:tailEnd/>
            </a:ln>
            <a:effectLst/>
          </p:spPr>
          <p:txBody>
            <a:bodyPr wrap="none">
              <a:spAutoFit/>
            </a:bodyPr>
            <a:lstStyle/>
            <a:p>
              <a:pPr>
                <a:defRPr/>
              </a:pPr>
              <a:r>
                <a:rPr lang="en-US" altLang="zh-CN" sz="2400" dirty="0">
                  <a:effectLst>
                    <a:outerShdw blurRad="38100" dist="38100" dir="2700000" algn="tl">
                      <a:srgbClr val="C0C0C0"/>
                    </a:outerShdw>
                  </a:effectLst>
                  <a:latin typeface="Arial" pitchFamily="34" charset="0"/>
                  <a:ea typeface="楷体_GB2312" pitchFamily="49" charset="-122"/>
                </a:rPr>
                <a:t>signal( S )......</a:t>
              </a:r>
            </a:p>
          </p:txBody>
        </p:sp>
        <p:sp>
          <p:nvSpPr>
            <p:cNvPr id="25" name="Line 12"/>
            <p:cNvSpPr>
              <a:spLocks noChangeShapeType="1"/>
            </p:cNvSpPr>
            <p:nvPr/>
          </p:nvSpPr>
          <p:spPr bwMode="auto">
            <a:xfrm>
              <a:off x="6438588" y="4986342"/>
              <a:ext cx="631773" cy="158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6" name="Line 13"/>
            <p:cNvSpPr>
              <a:spLocks noChangeShapeType="1"/>
            </p:cNvSpPr>
            <p:nvPr/>
          </p:nvSpPr>
          <p:spPr bwMode="auto">
            <a:xfrm>
              <a:off x="9030762" y="4986342"/>
              <a:ext cx="631773" cy="158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27" name="AutoShape 14"/>
          <p:cNvSpPr>
            <a:spLocks noChangeArrowheads="1"/>
          </p:cNvSpPr>
          <p:nvPr/>
        </p:nvSpPr>
        <p:spPr bwMode="auto">
          <a:xfrm>
            <a:off x="6495885" y="5286377"/>
            <a:ext cx="1928813" cy="649288"/>
          </a:xfrm>
          <a:prstGeom prst="wedgeRectCallout">
            <a:avLst>
              <a:gd name="adj1" fmla="val -58501"/>
              <a:gd name="adj2" fmla="val -86589"/>
            </a:avLst>
          </a:prstGeom>
          <a:ln>
            <a:headEnd/>
            <a:tailEnd/>
          </a:ln>
        </p:spPr>
        <p:style>
          <a:lnRef idx="3">
            <a:schemeClr val="lt1"/>
          </a:lnRef>
          <a:fillRef idx="1">
            <a:schemeClr val="accent6"/>
          </a:fillRef>
          <a:effectRef idx="1">
            <a:schemeClr val="accent6"/>
          </a:effectRef>
          <a:fontRef idx="minor">
            <a:schemeClr val="lt1"/>
          </a:fontRef>
        </p:style>
        <p:txBody>
          <a:bodyPr/>
          <a:lstStyle/>
          <a:p>
            <a:pPr algn="ctr">
              <a:defRPr/>
            </a:pPr>
            <a:r>
              <a:rPr kumimoji="0" lang="en-US" altLang="zh-CN" sz="2000" dirty="0">
                <a:latin typeface="Arial" pitchFamily="34" charset="0"/>
                <a:ea typeface="楷体_GB2312" pitchFamily="49" charset="-122"/>
              </a:rPr>
              <a:t>S&lt;0</a:t>
            </a:r>
            <a:r>
              <a:rPr kumimoji="0" lang="zh-CN" altLang="en-US" sz="2000" dirty="0">
                <a:latin typeface="Arial" pitchFamily="34" charset="0"/>
                <a:ea typeface="楷体_GB2312" pitchFamily="49" charset="-122"/>
              </a:rPr>
              <a:t>时进程会进入阻塞状态</a:t>
            </a:r>
          </a:p>
        </p:txBody>
      </p:sp>
      <p:sp>
        <p:nvSpPr>
          <p:cNvPr id="28" name="文本框 54"/>
          <p:cNvSpPr txBox="1">
            <a:spLocks noChangeArrowheads="1"/>
          </p:cNvSpPr>
          <p:nvPr/>
        </p:nvSpPr>
        <p:spPr bwMode="auto">
          <a:xfrm>
            <a:off x="1122931" y="5248710"/>
            <a:ext cx="298504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1" indent="0"/>
            <a:r>
              <a:rPr lang="zh-CN" altLang="en-US" sz="2000" b="1" dirty="0">
                <a:solidFill>
                  <a:srgbClr val="505050"/>
                </a:solidFill>
                <a:latin typeface="微软雅黑" panose="020B0503020204020204" pitchFamily="34" charset="-122"/>
                <a:ea typeface="微软雅黑" panose="020B0503020204020204" pitchFamily="34" charset="-122"/>
              </a:rPr>
              <a:t>原语保证</a:t>
            </a:r>
          </a:p>
        </p:txBody>
      </p:sp>
      <p:sp>
        <p:nvSpPr>
          <p:cNvPr id="29" name="文本框 19"/>
          <p:cNvSpPr txBox="1">
            <a:spLocks noChangeArrowheads="1"/>
          </p:cNvSpPr>
          <p:nvPr/>
        </p:nvSpPr>
        <p:spPr bwMode="auto">
          <a:xfrm>
            <a:off x="1150228" y="5703649"/>
            <a:ext cx="548258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en-US" altLang="zh-CN" sz="2400" dirty="0"/>
              <a:t>wait</a:t>
            </a:r>
            <a:r>
              <a:rPr lang="zh-CN" altLang="en-US" sz="2400" dirty="0"/>
              <a:t>（</a:t>
            </a:r>
            <a:r>
              <a:rPr lang="en-US" altLang="zh-CN" sz="2400" dirty="0"/>
              <a:t>S</a:t>
            </a:r>
            <a:r>
              <a:rPr lang="zh-CN" altLang="en-US" sz="2400" dirty="0"/>
              <a:t>），</a:t>
            </a:r>
            <a:r>
              <a:rPr lang="en-US" altLang="zh-CN" sz="2400" dirty="0"/>
              <a:t>signal</a:t>
            </a:r>
            <a:r>
              <a:rPr lang="zh-CN" altLang="en-US" sz="2400" dirty="0"/>
              <a:t>（</a:t>
            </a:r>
            <a:r>
              <a:rPr lang="en-US" altLang="zh-CN" sz="2400" dirty="0"/>
              <a:t>S</a:t>
            </a:r>
            <a:r>
              <a:rPr lang="zh-CN" altLang="en-US" sz="2400" dirty="0"/>
              <a:t>）操作都是原语</a:t>
            </a:r>
            <a:endParaRPr lang="en-US" altLang="zh-CN" sz="2400" dirty="0"/>
          </a:p>
          <a:p>
            <a:pPr marL="0" lvl="2" indent="0">
              <a:buBlip>
                <a:blip r:embed="rId2"/>
              </a:buBlip>
            </a:pPr>
            <a:r>
              <a:rPr lang="zh-CN" altLang="en-US" sz="2400" dirty="0"/>
              <a:t>保证不出现“锁不住”资源的现象</a:t>
            </a:r>
          </a:p>
        </p:txBody>
      </p:sp>
      <p:sp>
        <p:nvSpPr>
          <p:cNvPr id="30" name="矩形 29"/>
          <p:cNvSpPr>
            <a:spLocks noChangeArrowheads="1"/>
          </p:cNvSpPr>
          <p:nvPr/>
        </p:nvSpPr>
        <p:spPr bwMode="auto">
          <a:xfrm rot="20658397">
            <a:off x="3690938" y="1606550"/>
            <a:ext cx="5078412"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lang="en-US" altLang="zh-CN" sz="2800" dirty="0" err="1">
                <a:solidFill>
                  <a:srgbClr val="FF0000"/>
                </a:solidFill>
              </a:rPr>
              <a:t>S.value</a:t>
            </a:r>
            <a:r>
              <a:rPr lang="zh-CN" altLang="en-US" sz="2800" dirty="0">
                <a:solidFill>
                  <a:srgbClr val="FF0000"/>
                </a:solidFill>
              </a:rPr>
              <a:t>的初值为</a:t>
            </a:r>
            <a:r>
              <a:rPr lang="en-US" altLang="zh-CN" sz="2800" dirty="0">
                <a:solidFill>
                  <a:srgbClr val="FF0000"/>
                </a:solidFill>
              </a:rPr>
              <a:t>1</a:t>
            </a:r>
            <a:r>
              <a:rPr lang="zh-CN" altLang="en-US" sz="2800" dirty="0">
                <a:solidFill>
                  <a:srgbClr val="FF0000"/>
                </a:solidFill>
              </a:rPr>
              <a:t>表示什么呢？</a:t>
            </a:r>
          </a:p>
        </p:txBody>
      </p:sp>
    </p:spTree>
    <p:extLst>
      <p:ext uri="{BB962C8B-B14F-4D97-AF65-F5344CB8AC3E}">
        <p14:creationId xmlns:p14="http://schemas.microsoft.com/office/powerpoint/2010/main" val="3421216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arn(inVertical)">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strips(down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54" presetClass="entr" presetSubtype="0" accel="100000"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anim calcmode="lin" valueType="num">
                                      <p:cBhvr>
                                        <p:cTn id="17" dur="500" fill="hold"/>
                                        <p:tgtEl>
                                          <p:spTgt spid="30"/>
                                        </p:tgtEl>
                                        <p:attrNameLst>
                                          <p:attrName>ppt_w</p:attrName>
                                        </p:attrNameLst>
                                      </p:cBhvr>
                                      <p:tavLst>
                                        <p:tav tm="0">
                                          <p:val>
                                            <p:strVal val="#ppt_w*0.05"/>
                                          </p:val>
                                        </p:tav>
                                        <p:tav tm="100000">
                                          <p:val>
                                            <p:strVal val="#ppt_w"/>
                                          </p:val>
                                        </p:tav>
                                      </p:tavLst>
                                    </p:anim>
                                    <p:anim calcmode="lin" valueType="num">
                                      <p:cBhvr>
                                        <p:cTn id="18" dur="500" fill="hold"/>
                                        <p:tgtEl>
                                          <p:spTgt spid="30"/>
                                        </p:tgtEl>
                                        <p:attrNameLst>
                                          <p:attrName>ppt_h</p:attrName>
                                        </p:attrNameLst>
                                      </p:cBhvr>
                                      <p:tavLst>
                                        <p:tav tm="0">
                                          <p:val>
                                            <p:strVal val="#ppt_h"/>
                                          </p:val>
                                        </p:tav>
                                        <p:tav tm="100000">
                                          <p:val>
                                            <p:strVal val="#ppt_h"/>
                                          </p:val>
                                        </p:tav>
                                      </p:tavLst>
                                    </p:anim>
                                    <p:anim calcmode="lin" valueType="num">
                                      <p:cBhvr>
                                        <p:cTn id="19" dur="500" fill="hold"/>
                                        <p:tgtEl>
                                          <p:spTgt spid="30"/>
                                        </p:tgtEl>
                                        <p:attrNameLst>
                                          <p:attrName>ppt_x</p:attrName>
                                        </p:attrNameLst>
                                      </p:cBhvr>
                                      <p:tavLst>
                                        <p:tav tm="0">
                                          <p:val>
                                            <p:strVal val="#ppt_x-.2"/>
                                          </p:val>
                                        </p:tav>
                                        <p:tav tm="100000">
                                          <p:val>
                                            <p:strVal val="#ppt_x"/>
                                          </p:val>
                                        </p:tav>
                                      </p:tavLst>
                                    </p:anim>
                                    <p:anim calcmode="lin" valueType="num">
                                      <p:cBhvr>
                                        <p:cTn id="20" dur="500" fill="hold"/>
                                        <p:tgtEl>
                                          <p:spTgt spid="30"/>
                                        </p:tgtEl>
                                        <p:attrNameLst>
                                          <p:attrName>ppt_y</p:attrName>
                                        </p:attrNameLst>
                                      </p:cBhvr>
                                      <p:tavLst>
                                        <p:tav tm="0">
                                          <p:val>
                                            <p:strVal val="#ppt_y"/>
                                          </p:val>
                                        </p:tav>
                                        <p:tav tm="100000">
                                          <p:val>
                                            <p:strVal val="#ppt_y"/>
                                          </p:val>
                                        </p:tav>
                                      </p:tavLst>
                                    </p:anim>
                                    <p:animEffect transition="in" filter="fade">
                                      <p:cBhvr>
                                        <p:cTn id="21" dur="500"/>
                                        <p:tgtEl>
                                          <p:spTgt spid="30"/>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barn(inVertical)">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18" presetClass="entr" presetSubtype="12"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strips(downLeft)">
                                      <p:cBhvr>
                                        <p:cTn id="31" dur="500"/>
                                        <p:tgtEl>
                                          <p:spTgt spid="1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wipe(down)">
                                      <p:cBhvr>
                                        <p:cTn id="36" dur="500"/>
                                        <p:tgtEl>
                                          <p:spTgt spid="2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wipe(left)">
                                      <p:cBhvr>
                                        <p:cTn id="41" dur="500"/>
                                        <p:tgtEl>
                                          <p:spTgt spid="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wipe(down)">
                                      <p:cBhvr>
                                        <p:cTn id="46" dur="500"/>
                                        <p:tgtEl>
                                          <p:spTgt spid="27"/>
                                        </p:tgtEl>
                                      </p:cBhvr>
                                    </p:animEffect>
                                  </p:childTnLst>
                                </p:cTn>
                              </p:par>
                            </p:childTnLst>
                          </p:cTn>
                        </p:par>
                      </p:childTnLst>
                    </p:cTn>
                  </p:par>
                  <p:par>
                    <p:cTn id="47" fill="hold">
                      <p:stCondLst>
                        <p:cond delay="indefinite"/>
                      </p:stCondLst>
                      <p:childTnLst>
                        <p:par>
                          <p:cTn id="48" fill="hold">
                            <p:stCondLst>
                              <p:cond delay="0"/>
                            </p:stCondLst>
                            <p:childTnLst>
                              <p:par>
                                <p:cTn id="49" presetID="16" presetClass="entr" presetSubtype="21" fill="hold" grpId="0" nodeType="click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barn(inVertical)">
                                      <p:cBhvr>
                                        <p:cTn id="51" dur="500"/>
                                        <p:tgtEl>
                                          <p:spTgt spid="28"/>
                                        </p:tgtEl>
                                      </p:cBhvr>
                                    </p:animEffect>
                                  </p:childTnLst>
                                </p:cTn>
                              </p:par>
                            </p:childTnLst>
                          </p:cTn>
                        </p:par>
                      </p:childTnLst>
                    </p:cTn>
                  </p:par>
                  <p:par>
                    <p:cTn id="52" fill="hold">
                      <p:stCondLst>
                        <p:cond delay="indefinite"/>
                      </p:stCondLst>
                      <p:childTnLst>
                        <p:par>
                          <p:cTn id="53" fill="hold">
                            <p:stCondLst>
                              <p:cond delay="0"/>
                            </p:stCondLst>
                            <p:childTnLst>
                              <p:par>
                                <p:cTn id="54" presetID="18" presetClass="entr" presetSubtype="12" fill="hold" grpId="0" nodeType="clickEffect">
                                  <p:stCondLst>
                                    <p:cond delay="0"/>
                                  </p:stCondLst>
                                  <p:childTnLst>
                                    <p:set>
                                      <p:cBhvr>
                                        <p:cTn id="55" dur="1" fill="hold">
                                          <p:stCondLst>
                                            <p:cond delay="0"/>
                                          </p:stCondLst>
                                        </p:cTn>
                                        <p:tgtEl>
                                          <p:spTgt spid="29"/>
                                        </p:tgtEl>
                                        <p:attrNameLst>
                                          <p:attrName>style.visibility</p:attrName>
                                        </p:attrNameLst>
                                      </p:cBhvr>
                                      <p:to>
                                        <p:strVal val="visible"/>
                                      </p:to>
                                    </p:set>
                                    <p:animEffect transition="in" filter="strips(downLeft)">
                                      <p:cBhvr>
                                        <p:cTn id="56"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6" grpId="0"/>
      <p:bldP spid="17" grpId="0"/>
      <p:bldP spid="18" grpId="0"/>
      <p:bldP spid="20" grpId="0"/>
      <p:bldP spid="27" grpId="0" animBg="1"/>
      <p:bldP spid="28" grpId="0"/>
      <p:bldP spid="29" grpId="0"/>
      <p:bldP spid="3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3.</a:t>
            </a:r>
            <a:r>
              <a:rPr lang="zh-CN" altLang="en-US" dirty="0"/>
              <a:t>信号量机制</a:t>
            </a:r>
          </a:p>
        </p:txBody>
      </p:sp>
      <p:grpSp>
        <p:nvGrpSpPr>
          <p:cNvPr id="3" name="组合 2"/>
          <p:cNvGrpSpPr/>
          <p:nvPr/>
        </p:nvGrpSpPr>
        <p:grpSpPr>
          <a:xfrm>
            <a:off x="1004177" y="1027910"/>
            <a:ext cx="5314736" cy="665162"/>
            <a:chOff x="1004177" y="1027910"/>
            <a:chExt cx="5314736" cy="665162"/>
          </a:xfrm>
        </p:grpSpPr>
        <p:sp>
          <p:nvSpPr>
            <p:cNvPr id="4" name="矩形 3"/>
            <p:cNvSpPr/>
            <p:nvPr/>
          </p:nvSpPr>
          <p:spPr>
            <a:xfrm>
              <a:off x="1150228" y="1561310"/>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 name="矩形 4"/>
            <p:cNvSpPr/>
            <p:nvPr/>
          </p:nvSpPr>
          <p:spPr>
            <a:xfrm>
              <a:off x="2058278" y="1561310"/>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5"/>
            <p:cNvSpPr txBox="1">
              <a:spLocks noChangeArrowheads="1"/>
            </p:cNvSpPr>
            <p:nvPr/>
          </p:nvSpPr>
          <p:spPr bwMode="auto">
            <a:xfrm>
              <a:off x="1004177" y="1027910"/>
              <a:ext cx="53147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3</a:t>
              </a:r>
              <a:r>
                <a:rPr lang="zh-CN" altLang="en-US" sz="2400" b="1" dirty="0">
                  <a:solidFill>
                    <a:srgbClr val="4C7E51"/>
                  </a:solidFill>
                  <a:latin typeface="微软雅黑" panose="020B0503020204020204" pitchFamily="34" charset="-122"/>
                  <a:ea typeface="微软雅黑" panose="020B0503020204020204" pitchFamily="34" charset="-122"/>
                </a:rPr>
                <a:t>）</a:t>
              </a:r>
              <a:r>
                <a:rPr lang="en-US" altLang="zh-CN" sz="2400" b="1" dirty="0">
                  <a:solidFill>
                    <a:srgbClr val="4C7E51"/>
                  </a:solidFill>
                  <a:latin typeface="微软雅黑" panose="020B0503020204020204" pitchFamily="34" charset="-122"/>
                  <a:ea typeface="微软雅黑" panose="020B0503020204020204" pitchFamily="34" charset="-122"/>
                </a:rPr>
                <a:t>AND</a:t>
              </a:r>
              <a:r>
                <a:rPr lang="zh-CN" altLang="en-US" sz="2400" b="1" dirty="0">
                  <a:solidFill>
                    <a:srgbClr val="4C7E51"/>
                  </a:solidFill>
                  <a:latin typeface="微软雅黑" panose="020B0503020204020204" pitchFamily="34" charset="-122"/>
                  <a:ea typeface="微软雅黑" panose="020B0503020204020204" pitchFamily="34" charset="-122"/>
                </a:rPr>
                <a:t>型信号量</a:t>
              </a:r>
            </a:p>
          </p:txBody>
        </p:sp>
      </p:grpSp>
      <p:sp>
        <p:nvSpPr>
          <p:cNvPr id="7" name="Rectangle 5"/>
          <p:cNvSpPr>
            <a:spLocks noChangeArrowheads="1"/>
          </p:cNvSpPr>
          <p:nvPr/>
        </p:nvSpPr>
        <p:spPr bwMode="auto">
          <a:xfrm>
            <a:off x="9108441" y="2110210"/>
            <a:ext cx="2233612" cy="2447925"/>
          </a:xfrm>
          <a:prstGeom prst="rect">
            <a:avLst/>
          </a:prstGeom>
          <a:solidFill>
            <a:schemeClr val="accent1">
              <a:lumMod val="20000"/>
              <a:lumOff val="80000"/>
            </a:schemeClr>
          </a:solidFill>
          <a:ln w="9525">
            <a:solidFill>
              <a:schemeClr val="tx1"/>
            </a:solidFill>
            <a:miter lim="800000"/>
            <a:headEnd/>
            <a:tailEnd/>
          </a:ln>
        </p:spPr>
        <p:txBody>
          <a:bodyPr wrap="none" anchor="ctr"/>
          <a:lstStyle/>
          <a:p>
            <a:pPr>
              <a:defRPr/>
            </a:pPr>
            <a:endParaRPr lang="zh-CN" altLang="en-US" b="0"/>
          </a:p>
        </p:txBody>
      </p:sp>
      <p:sp>
        <p:nvSpPr>
          <p:cNvPr id="8" name="Rectangle 6"/>
          <p:cNvSpPr>
            <a:spLocks noChangeArrowheads="1"/>
          </p:cNvSpPr>
          <p:nvPr/>
        </p:nvSpPr>
        <p:spPr bwMode="auto">
          <a:xfrm>
            <a:off x="5147628" y="1154535"/>
            <a:ext cx="2305050" cy="2827337"/>
          </a:xfrm>
          <a:prstGeom prst="rect">
            <a:avLst/>
          </a:prstGeom>
          <a:solidFill>
            <a:schemeClr val="accent1">
              <a:lumMod val="20000"/>
              <a:lumOff val="80000"/>
            </a:schemeClr>
          </a:solidFill>
          <a:ln w="9525">
            <a:solidFill>
              <a:schemeClr val="tx1"/>
            </a:solidFill>
            <a:miter lim="800000"/>
            <a:headEnd/>
            <a:tailEnd/>
          </a:ln>
        </p:spPr>
        <p:txBody>
          <a:bodyPr wrap="none" anchor="ctr"/>
          <a:lstStyle/>
          <a:p>
            <a:pPr>
              <a:defRPr/>
            </a:pPr>
            <a:endParaRPr lang="zh-CN" altLang="en-US" b="0"/>
          </a:p>
        </p:txBody>
      </p:sp>
      <p:sp>
        <p:nvSpPr>
          <p:cNvPr id="9" name="Text Box 7"/>
          <p:cNvSpPr txBox="1">
            <a:spLocks noChangeArrowheads="1"/>
          </p:cNvSpPr>
          <p:nvPr/>
        </p:nvSpPr>
        <p:spPr bwMode="auto">
          <a:xfrm>
            <a:off x="5220653" y="1389485"/>
            <a:ext cx="2520950" cy="519112"/>
          </a:xfrm>
          <a:prstGeom prst="rect">
            <a:avLst/>
          </a:prstGeom>
          <a:noFill/>
          <a:ln w="9525">
            <a:noFill/>
            <a:miter lim="800000"/>
            <a:headEnd/>
            <a:tailEnd/>
          </a:ln>
          <a:effectLst/>
        </p:spPr>
        <p:txBody>
          <a:bodyPr>
            <a:spAutoFit/>
          </a:bodyPr>
          <a:lstStyle/>
          <a:p>
            <a:pPr>
              <a:defRPr/>
            </a:pPr>
            <a:r>
              <a:rPr kumimoji="0" lang="en-US" altLang="zh-CN" sz="2800" dirty="0">
                <a:effectLst>
                  <a:outerShdw blurRad="38100" dist="38100" dir="2700000" algn="tl">
                    <a:srgbClr val="C0C0C0"/>
                  </a:outerShdw>
                </a:effectLst>
                <a:latin typeface="Arial" pitchFamily="34" charset="0"/>
                <a:ea typeface="楷体_GB2312" pitchFamily="49" charset="-122"/>
              </a:rPr>
              <a:t>wait</a:t>
            </a:r>
            <a:r>
              <a:rPr kumimoji="0" lang="en-US" altLang="zh-CN" sz="2800" baseline="-25000" dirty="0">
                <a:effectLst>
                  <a:outerShdw blurRad="38100" dist="38100" dir="2700000" algn="tl">
                    <a:srgbClr val="C0C0C0"/>
                  </a:outerShdw>
                </a:effectLst>
                <a:latin typeface="Arial" pitchFamily="34" charset="0"/>
                <a:ea typeface="楷体_GB2312" pitchFamily="49" charset="-122"/>
              </a:rPr>
              <a:t>1</a:t>
            </a:r>
            <a:r>
              <a:rPr kumimoji="0" lang="zh-CN" altLang="en-US" sz="2800" dirty="0">
                <a:effectLst>
                  <a:outerShdw blurRad="38100" dist="38100" dir="2700000" algn="tl">
                    <a:srgbClr val="C0C0C0"/>
                  </a:outerShdw>
                </a:effectLst>
                <a:latin typeface="Arial" pitchFamily="34" charset="0"/>
                <a:ea typeface="楷体_GB2312" pitchFamily="49" charset="-122"/>
              </a:rPr>
              <a:t>（</a:t>
            </a:r>
            <a:r>
              <a:rPr kumimoji="0" lang="en-US" altLang="zh-CN" sz="2800" dirty="0">
                <a:effectLst>
                  <a:outerShdw blurRad="38100" dist="38100" dir="2700000" algn="tl">
                    <a:srgbClr val="C0C0C0"/>
                  </a:outerShdw>
                </a:effectLst>
                <a:latin typeface="Arial" pitchFamily="34" charset="0"/>
                <a:ea typeface="楷体_GB2312" pitchFamily="49" charset="-122"/>
              </a:rPr>
              <a:t>S1</a:t>
            </a:r>
            <a:r>
              <a:rPr kumimoji="0" lang="zh-CN" altLang="en-US" sz="2800" dirty="0">
                <a:effectLst>
                  <a:outerShdw blurRad="38100" dist="38100" dir="2700000" algn="tl">
                    <a:srgbClr val="C0C0C0"/>
                  </a:outerShdw>
                </a:effectLst>
                <a:latin typeface="Arial" pitchFamily="34" charset="0"/>
                <a:ea typeface="楷体_GB2312" pitchFamily="49" charset="-122"/>
              </a:rPr>
              <a:t>）；</a:t>
            </a:r>
          </a:p>
        </p:txBody>
      </p:sp>
      <p:sp>
        <p:nvSpPr>
          <p:cNvPr id="10" name="Text Box 8"/>
          <p:cNvSpPr txBox="1">
            <a:spLocks noChangeArrowheads="1"/>
          </p:cNvSpPr>
          <p:nvPr/>
        </p:nvSpPr>
        <p:spPr bwMode="auto">
          <a:xfrm>
            <a:off x="5220653" y="2084810"/>
            <a:ext cx="2520950" cy="519112"/>
          </a:xfrm>
          <a:prstGeom prst="rect">
            <a:avLst/>
          </a:prstGeom>
          <a:noFill/>
          <a:ln w="9525">
            <a:noFill/>
            <a:miter lim="800000"/>
            <a:headEnd/>
            <a:tailEnd/>
          </a:ln>
          <a:effectLst/>
        </p:spPr>
        <p:txBody>
          <a:bodyPr>
            <a:spAutoFit/>
          </a:bodyPr>
          <a:lstStyle/>
          <a:p>
            <a:pPr>
              <a:defRPr/>
            </a:pPr>
            <a:r>
              <a:rPr kumimoji="0" lang="en-US" altLang="zh-CN" sz="2800" dirty="0">
                <a:effectLst>
                  <a:outerShdw blurRad="38100" dist="38100" dir="2700000" algn="tl">
                    <a:srgbClr val="C0C0C0"/>
                  </a:outerShdw>
                </a:effectLst>
                <a:latin typeface="Arial" pitchFamily="34" charset="0"/>
                <a:ea typeface="楷体_GB2312" pitchFamily="49" charset="-122"/>
              </a:rPr>
              <a:t>wait</a:t>
            </a:r>
            <a:r>
              <a:rPr kumimoji="0" lang="en-US" altLang="zh-CN" sz="2800" baseline="-25000" dirty="0">
                <a:effectLst>
                  <a:outerShdw blurRad="38100" dist="38100" dir="2700000" algn="tl">
                    <a:srgbClr val="C0C0C0"/>
                  </a:outerShdw>
                </a:effectLst>
                <a:latin typeface="Arial" pitchFamily="34" charset="0"/>
                <a:ea typeface="楷体_GB2312" pitchFamily="49" charset="-122"/>
              </a:rPr>
              <a:t>1</a:t>
            </a:r>
            <a:r>
              <a:rPr kumimoji="0" lang="zh-CN" altLang="en-US" sz="2800" dirty="0">
                <a:effectLst>
                  <a:outerShdw blurRad="38100" dist="38100" dir="2700000" algn="tl">
                    <a:srgbClr val="C0C0C0"/>
                  </a:outerShdw>
                </a:effectLst>
                <a:latin typeface="Arial" pitchFamily="34" charset="0"/>
                <a:ea typeface="楷体_GB2312" pitchFamily="49" charset="-122"/>
              </a:rPr>
              <a:t>（</a:t>
            </a:r>
            <a:r>
              <a:rPr kumimoji="0" lang="en-US" altLang="zh-CN" sz="2800" dirty="0">
                <a:effectLst>
                  <a:outerShdw blurRad="38100" dist="38100" dir="2700000" algn="tl">
                    <a:srgbClr val="C0C0C0"/>
                  </a:outerShdw>
                </a:effectLst>
                <a:latin typeface="Arial" pitchFamily="34" charset="0"/>
                <a:ea typeface="楷体_GB2312" pitchFamily="49" charset="-122"/>
              </a:rPr>
              <a:t>S2</a:t>
            </a:r>
            <a:r>
              <a:rPr kumimoji="0" lang="zh-CN" altLang="en-US" sz="2800" dirty="0">
                <a:effectLst>
                  <a:outerShdw blurRad="38100" dist="38100" dir="2700000" algn="tl">
                    <a:srgbClr val="C0C0C0"/>
                  </a:outerShdw>
                </a:effectLst>
                <a:latin typeface="Arial" pitchFamily="34" charset="0"/>
                <a:ea typeface="楷体_GB2312" pitchFamily="49" charset="-122"/>
              </a:rPr>
              <a:t>）；</a:t>
            </a:r>
          </a:p>
        </p:txBody>
      </p:sp>
      <p:sp>
        <p:nvSpPr>
          <p:cNvPr id="11" name="Text Box 9"/>
          <p:cNvSpPr txBox="1">
            <a:spLocks noChangeArrowheads="1"/>
          </p:cNvSpPr>
          <p:nvPr/>
        </p:nvSpPr>
        <p:spPr bwMode="auto">
          <a:xfrm>
            <a:off x="9037003" y="2300710"/>
            <a:ext cx="2593975" cy="519112"/>
          </a:xfrm>
          <a:prstGeom prst="rect">
            <a:avLst/>
          </a:prstGeom>
          <a:noFill/>
          <a:ln w="9525">
            <a:noFill/>
            <a:miter lim="800000"/>
            <a:headEnd/>
            <a:tailEnd/>
          </a:ln>
          <a:effectLst/>
        </p:spPr>
        <p:txBody>
          <a:bodyPr>
            <a:spAutoFit/>
          </a:bodyPr>
          <a:lstStyle/>
          <a:p>
            <a:pPr>
              <a:defRPr/>
            </a:pPr>
            <a:r>
              <a:rPr kumimoji="0" lang="en-US" altLang="zh-CN" sz="2800">
                <a:effectLst>
                  <a:outerShdw blurRad="38100" dist="38100" dir="2700000" algn="tl">
                    <a:srgbClr val="C0C0C0"/>
                  </a:outerShdw>
                </a:effectLst>
                <a:latin typeface="Arial" pitchFamily="34" charset="0"/>
                <a:ea typeface="楷体_GB2312" pitchFamily="49" charset="-122"/>
              </a:rPr>
              <a:t>wait</a:t>
            </a:r>
            <a:r>
              <a:rPr kumimoji="0" lang="en-US" altLang="zh-CN" sz="2800" baseline="-25000">
                <a:effectLst>
                  <a:outerShdw blurRad="38100" dist="38100" dir="2700000" algn="tl">
                    <a:srgbClr val="C0C0C0"/>
                  </a:outerShdw>
                </a:effectLst>
                <a:latin typeface="Arial" pitchFamily="34" charset="0"/>
                <a:ea typeface="楷体_GB2312" pitchFamily="49" charset="-122"/>
              </a:rPr>
              <a:t>2</a:t>
            </a:r>
            <a:r>
              <a:rPr kumimoji="0" lang="zh-CN" altLang="en-US" sz="2800">
                <a:effectLst>
                  <a:outerShdw blurRad="38100" dist="38100" dir="2700000" algn="tl">
                    <a:srgbClr val="C0C0C0"/>
                  </a:outerShdw>
                </a:effectLst>
                <a:latin typeface="Arial" pitchFamily="34" charset="0"/>
                <a:ea typeface="楷体_GB2312" pitchFamily="49" charset="-122"/>
              </a:rPr>
              <a:t>（</a:t>
            </a:r>
            <a:r>
              <a:rPr kumimoji="0" lang="en-US" altLang="zh-CN" sz="2800">
                <a:effectLst>
                  <a:outerShdw blurRad="38100" dist="38100" dir="2700000" algn="tl">
                    <a:srgbClr val="C0C0C0"/>
                  </a:outerShdw>
                </a:effectLst>
                <a:latin typeface="Arial" pitchFamily="34" charset="0"/>
                <a:ea typeface="楷体_GB2312" pitchFamily="49" charset="-122"/>
              </a:rPr>
              <a:t>S2</a:t>
            </a:r>
            <a:r>
              <a:rPr kumimoji="0" lang="zh-CN" altLang="en-US" sz="2800">
                <a:effectLst>
                  <a:outerShdw blurRad="38100" dist="38100" dir="2700000" algn="tl">
                    <a:srgbClr val="C0C0C0"/>
                  </a:outerShdw>
                </a:effectLst>
                <a:latin typeface="Arial" pitchFamily="34" charset="0"/>
                <a:ea typeface="楷体_GB2312" pitchFamily="49" charset="-122"/>
              </a:rPr>
              <a:t>）；</a:t>
            </a:r>
          </a:p>
        </p:txBody>
      </p:sp>
      <p:sp>
        <p:nvSpPr>
          <p:cNvPr id="12" name="Text Box 10"/>
          <p:cNvSpPr txBox="1">
            <a:spLocks noChangeArrowheads="1"/>
          </p:cNvSpPr>
          <p:nvPr/>
        </p:nvSpPr>
        <p:spPr bwMode="auto">
          <a:xfrm>
            <a:off x="9108441" y="3021435"/>
            <a:ext cx="2809875" cy="519112"/>
          </a:xfrm>
          <a:prstGeom prst="rect">
            <a:avLst/>
          </a:prstGeom>
          <a:noFill/>
          <a:ln w="9525">
            <a:noFill/>
            <a:miter lim="800000"/>
            <a:headEnd/>
            <a:tailEnd/>
          </a:ln>
          <a:effectLst/>
        </p:spPr>
        <p:txBody>
          <a:bodyPr>
            <a:spAutoFit/>
          </a:bodyPr>
          <a:lstStyle/>
          <a:p>
            <a:pPr>
              <a:defRPr/>
            </a:pPr>
            <a:r>
              <a:rPr kumimoji="0" lang="en-US" altLang="zh-CN" sz="2800">
                <a:effectLst>
                  <a:outerShdw blurRad="38100" dist="38100" dir="2700000" algn="tl">
                    <a:srgbClr val="C0C0C0"/>
                  </a:outerShdw>
                </a:effectLst>
                <a:latin typeface="Arial" pitchFamily="34" charset="0"/>
                <a:ea typeface="楷体_GB2312" pitchFamily="49" charset="-122"/>
              </a:rPr>
              <a:t>wait</a:t>
            </a:r>
            <a:r>
              <a:rPr kumimoji="0" lang="en-US" altLang="zh-CN" sz="2800" baseline="-25000">
                <a:effectLst>
                  <a:outerShdw blurRad="38100" dist="38100" dir="2700000" algn="tl">
                    <a:srgbClr val="C0C0C0"/>
                  </a:outerShdw>
                </a:effectLst>
                <a:latin typeface="Arial" pitchFamily="34" charset="0"/>
                <a:ea typeface="楷体_GB2312" pitchFamily="49" charset="-122"/>
              </a:rPr>
              <a:t>2</a:t>
            </a:r>
            <a:r>
              <a:rPr kumimoji="0" lang="zh-CN" altLang="en-US" sz="2800">
                <a:effectLst>
                  <a:outerShdw blurRad="38100" dist="38100" dir="2700000" algn="tl">
                    <a:srgbClr val="C0C0C0"/>
                  </a:outerShdw>
                </a:effectLst>
                <a:latin typeface="Arial" pitchFamily="34" charset="0"/>
                <a:ea typeface="楷体_GB2312" pitchFamily="49" charset="-122"/>
              </a:rPr>
              <a:t>（</a:t>
            </a:r>
            <a:r>
              <a:rPr kumimoji="0" lang="en-US" altLang="zh-CN" sz="2800">
                <a:effectLst>
                  <a:outerShdw blurRad="38100" dist="38100" dir="2700000" algn="tl">
                    <a:srgbClr val="C0C0C0"/>
                  </a:outerShdw>
                </a:effectLst>
                <a:latin typeface="Arial" pitchFamily="34" charset="0"/>
                <a:ea typeface="楷体_GB2312" pitchFamily="49" charset="-122"/>
              </a:rPr>
              <a:t>S1</a:t>
            </a:r>
            <a:r>
              <a:rPr kumimoji="0" lang="zh-CN" altLang="en-US" sz="2800">
                <a:effectLst>
                  <a:outerShdw blurRad="38100" dist="38100" dir="2700000" algn="tl">
                    <a:srgbClr val="C0C0C0"/>
                  </a:outerShdw>
                </a:effectLst>
                <a:latin typeface="Arial" pitchFamily="34" charset="0"/>
                <a:ea typeface="楷体_GB2312" pitchFamily="49" charset="-122"/>
              </a:rPr>
              <a:t>）；</a:t>
            </a:r>
          </a:p>
        </p:txBody>
      </p:sp>
      <p:sp>
        <p:nvSpPr>
          <p:cNvPr id="13" name="Text Box 11"/>
          <p:cNvSpPr txBox="1">
            <a:spLocks noChangeArrowheads="1"/>
          </p:cNvSpPr>
          <p:nvPr/>
        </p:nvSpPr>
        <p:spPr bwMode="auto">
          <a:xfrm>
            <a:off x="5723891" y="716385"/>
            <a:ext cx="963612" cy="457200"/>
          </a:xfrm>
          <a:prstGeom prst="rect">
            <a:avLst/>
          </a:prstGeom>
          <a:noFill/>
          <a:ln w="9525">
            <a:noFill/>
            <a:miter lim="800000"/>
            <a:headEnd/>
            <a:tailEnd/>
          </a:ln>
          <a:effectLst/>
        </p:spPr>
        <p:txBody>
          <a:bodyPr wrap="none">
            <a:spAutoFit/>
          </a:bodyPr>
          <a:lstStyle/>
          <a:p>
            <a:pPr>
              <a:defRPr/>
            </a:pPr>
            <a:r>
              <a:rPr kumimoji="0" lang="zh-CN" altLang="en-US" sz="2400" dirty="0">
                <a:effectLst>
                  <a:outerShdw blurRad="38100" dist="38100" dir="2700000" algn="tl">
                    <a:srgbClr val="C0C0C0"/>
                  </a:outerShdw>
                </a:effectLst>
                <a:latin typeface="文鼎火柴体" pitchFamily="33" charset="-122"/>
                <a:ea typeface="文鼎火柴体" pitchFamily="33" charset="-122"/>
              </a:rPr>
              <a:t>进程</a:t>
            </a:r>
            <a:r>
              <a:rPr kumimoji="0" lang="en-US" altLang="zh-CN" sz="2400" dirty="0">
                <a:effectLst>
                  <a:outerShdw blurRad="38100" dist="38100" dir="2700000" algn="tl">
                    <a:srgbClr val="C0C0C0"/>
                  </a:outerShdw>
                </a:effectLst>
                <a:latin typeface="Arial" pitchFamily="34" charset="0"/>
                <a:ea typeface="文鼎火柴体" pitchFamily="33" charset="-122"/>
              </a:rPr>
              <a:t>1</a:t>
            </a:r>
          </a:p>
        </p:txBody>
      </p:sp>
      <p:sp>
        <p:nvSpPr>
          <p:cNvPr id="14" name="Text Box 12"/>
          <p:cNvSpPr txBox="1">
            <a:spLocks noChangeArrowheads="1"/>
          </p:cNvSpPr>
          <p:nvPr/>
        </p:nvSpPr>
        <p:spPr bwMode="auto">
          <a:xfrm>
            <a:off x="9560878" y="1587922"/>
            <a:ext cx="946150" cy="457200"/>
          </a:xfrm>
          <a:prstGeom prst="rect">
            <a:avLst/>
          </a:prstGeom>
          <a:noFill/>
          <a:ln w="9525">
            <a:noFill/>
            <a:miter lim="800000"/>
            <a:headEnd/>
            <a:tailEnd/>
          </a:ln>
          <a:effectLst/>
        </p:spPr>
        <p:txBody>
          <a:bodyPr wrap="none">
            <a:spAutoFit/>
          </a:bodyPr>
          <a:lstStyle/>
          <a:p>
            <a:pPr>
              <a:defRPr/>
            </a:pPr>
            <a:r>
              <a:rPr kumimoji="0" lang="zh-CN" altLang="en-US" sz="2400" dirty="0">
                <a:effectLst>
                  <a:outerShdw blurRad="38100" dist="38100" dir="2700000" algn="tl">
                    <a:srgbClr val="C0C0C0"/>
                  </a:outerShdw>
                </a:effectLst>
                <a:latin typeface="文鼎火柴体" pitchFamily="33" charset="-122"/>
                <a:ea typeface="文鼎火柴体" pitchFamily="33" charset="-122"/>
              </a:rPr>
              <a:t>进程</a:t>
            </a:r>
            <a:r>
              <a:rPr kumimoji="0" lang="en-US" altLang="zh-CN" sz="2400" dirty="0">
                <a:effectLst>
                  <a:outerShdw blurRad="38100" dist="38100" dir="2700000" algn="tl">
                    <a:srgbClr val="C0C0C0"/>
                  </a:outerShdw>
                </a:effectLst>
                <a:latin typeface="文鼎火柴体" pitchFamily="33" charset="-122"/>
                <a:ea typeface="文鼎火柴体" pitchFamily="33" charset="-122"/>
              </a:rPr>
              <a:t>2</a:t>
            </a:r>
          </a:p>
        </p:txBody>
      </p:sp>
      <p:sp>
        <p:nvSpPr>
          <p:cNvPr id="15" name="Text Box 13"/>
          <p:cNvSpPr txBox="1">
            <a:spLocks noChangeArrowheads="1"/>
          </p:cNvSpPr>
          <p:nvPr/>
        </p:nvSpPr>
        <p:spPr bwMode="auto">
          <a:xfrm>
            <a:off x="3444247" y="4322147"/>
            <a:ext cx="2328863" cy="457200"/>
          </a:xfrm>
          <a:prstGeom prst="rect">
            <a:avLst/>
          </a:prstGeom>
          <a:noFill/>
          <a:ln w="9525">
            <a:noFill/>
            <a:miter lim="800000"/>
            <a:headEnd/>
            <a:tailEnd/>
          </a:ln>
          <a:effectLst/>
        </p:spPr>
        <p:txBody>
          <a:bodyPr wrap="none">
            <a:spAutoFit/>
          </a:bodyPr>
          <a:lstStyle/>
          <a:p>
            <a:pPr>
              <a:defRPr/>
            </a:pPr>
            <a:r>
              <a:rPr kumimoji="0" lang="zh-CN" altLang="en-US" sz="2400" dirty="0">
                <a:effectLst>
                  <a:outerShdw blurRad="38100" dist="38100" dir="2700000" algn="tl">
                    <a:srgbClr val="C0C0C0"/>
                  </a:outerShdw>
                </a:effectLst>
                <a:latin typeface="Arial" pitchFamily="34" charset="0"/>
                <a:ea typeface="楷体_GB2312" pitchFamily="49" charset="-122"/>
              </a:rPr>
              <a:t>系统推进过程为</a:t>
            </a:r>
          </a:p>
        </p:txBody>
      </p:sp>
      <p:grpSp>
        <p:nvGrpSpPr>
          <p:cNvPr id="16" name="Group 14"/>
          <p:cNvGrpSpPr>
            <a:grpSpLocks/>
          </p:cNvGrpSpPr>
          <p:nvPr/>
        </p:nvGrpSpPr>
        <p:grpSpPr bwMode="auto">
          <a:xfrm>
            <a:off x="3444247" y="4961909"/>
            <a:ext cx="2305050" cy="576263"/>
            <a:chOff x="193" y="2659"/>
            <a:chExt cx="1327" cy="363"/>
          </a:xfrm>
        </p:grpSpPr>
        <p:sp>
          <p:nvSpPr>
            <p:cNvPr id="17" name="Oval 15"/>
            <p:cNvSpPr>
              <a:spLocks noChangeArrowheads="1"/>
            </p:cNvSpPr>
            <p:nvPr/>
          </p:nvSpPr>
          <p:spPr bwMode="auto">
            <a:xfrm>
              <a:off x="193" y="2659"/>
              <a:ext cx="1179" cy="363"/>
            </a:xfrm>
            <a:prstGeom prst="ellipse">
              <a:avLst/>
            </a:prstGeom>
            <a:solidFill>
              <a:srgbClr val="6666FF"/>
            </a:solidFill>
            <a:ln w="9525">
              <a:solidFill>
                <a:schemeClr val="tx1"/>
              </a:solidFill>
              <a:round/>
              <a:headEnd/>
              <a:tailEnd/>
            </a:ln>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b="0"/>
            </a:p>
          </p:txBody>
        </p:sp>
        <p:sp>
          <p:nvSpPr>
            <p:cNvPr id="18" name="Text Box 16"/>
            <p:cNvSpPr txBox="1">
              <a:spLocks noChangeArrowheads="1"/>
            </p:cNvSpPr>
            <p:nvPr/>
          </p:nvSpPr>
          <p:spPr bwMode="auto">
            <a:xfrm>
              <a:off x="283" y="2704"/>
              <a:ext cx="1237" cy="250"/>
            </a:xfrm>
            <a:prstGeom prst="rect">
              <a:avLst/>
            </a:prstGeom>
            <a:noFill/>
            <a:ln w="9525">
              <a:noFill/>
              <a:miter lim="800000"/>
              <a:headEnd/>
              <a:tailEnd/>
            </a:ln>
            <a:effectLst/>
          </p:spPr>
          <p:txBody>
            <a:bodyPr>
              <a:spAutoFit/>
            </a:bodyPr>
            <a:lstStyle/>
            <a:p>
              <a:pPr>
                <a:defRPr/>
              </a:pPr>
              <a:r>
                <a:rPr kumimoji="0" lang="en-US" altLang="zh-CN" sz="2000" dirty="0">
                  <a:effectLst>
                    <a:outerShdw blurRad="38100" dist="38100" dir="2700000" algn="tl">
                      <a:srgbClr val="C0C0C0"/>
                    </a:outerShdw>
                  </a:effectLst>
                  <a:latin typeface="Arial" pitchFamily="34" charset="0"/>
                  <a:ea typeface="楷体_GB2312" pitchFamily="49" charset="-122"/>
                </a:rPr>
                <a:t>wait</a:t>
              </a:r>
              <a:r>
                <a:rPr kumimoji="0" lang="en-US" altLang="zh-CN" sz="2000" baseline="-25000" dirty="0">
                  <a:effectLst>
                    <a:outerShdw blurRad="38100" dist="38100" dir="2700000" algn="tl">
                      <a:srgbClr val="C0C0C0"/>
                    </a:outerShdw>
                  </a:effectLst>
                  <a:latin typeface="Arial" pitchFamily="34" charset="0"/>
                  <a:ea typeface="楷体_GB2312" pitchFamily="49" charset="-122"/>
                </a:rPr>
                <a:t>1</a:t>
              </a:r>
              <a:r>
                <a:rPr kumimoji="0" lang="zh-CN" altLang="en-US" sz="2000" dirty="0">
                  <a:effectLst>
                    <a:outerShdw blurRad="38100" dist="38100" dir="2700000" algn="tl">
                      <a:srgbClr val="C0C0C0"/>
                    </a:outerShdw>
                  </a:effectLst>
                  <a:latin typeface="Arial" pitchFamily="34" charset="0"/>
                  <a:ea typeface="楷体_GB2312" pitchFamily="49" charset="-122"/>
                </a:rPr>
                <a:t>（</a:t>
              </a:r>
              <a:r>
                <a:rPr kumimoji="0" lang="en-US" altLang="zh-CN" sz="2000" dirty="0">
                  <a:effectLst>
                    <a:outerShdw blurRad="38100" dist="38100" dir="2700000" algn="tl">
                      <a:srgbClr val="C0C0C0"/>
                    </a:outerShdw>
                  </a:effectLst>
                  <a:latin typeface="Arial" pitchFamily="34" charset="0"/>
                  <a:ea typeface="楷体_GB2312" pitchFamily="49" charset="-122"/>
                </a:rPr>
                <a:t>S1</a:t>
              </a:r>
              <a:r>
                <a:rPr kumimoji="0" lang="zh-CN" altLang="en-US" sz="2000" dirty="0">
                  <a:effectLst>
                    <a:outerShdw blurRad="38100" dist="38100" dir="2700000" algn="tl">
                      <a:srgbClr val="C0C0C0"/>
                    </a:outerShdw>
                  </a:effectLst>
                  <a:latin typeface="Arial" pitchFamily="34" charset="0"/>
                  <a:ea typeface="楷体_GB2312" pitchFamily="49" charset="-122"/>
                </a:rPr>
                <a:t>）；</a:t>
              </a:r>
            </a:p>
          </p:txBody>
        </p:sp>
      </p:grpSp>
      <p:grpSp>
        <p:nvGrpSpPr>
          <p:cNvPr id="19" name="Group 17"/>
          <p:cNvGrpSpPr>
            <a:grpSpLocks/>
          </p:cNvGrpSpPr>
          <p:nvPr/>
        </p:nvGrpSpPr>
        <p:grpSpPr bwMode="auto">
          <a:xfrm>
            <a:off x="5731835" y="4961909"/>
            <a:ext cx="2249487" cy="576263"/>
            <a:chOff x="1599" y="2659"/>
            <a:chExt cx="1327" cy="363"/>
          </a:xfrm>
        </p:grpSpPr>
        <p:sp>
          <p:nvSpPr>
            <p:cNvPr id="20" name="Oval 18"/>
            <p:cNvSpPr>
              <a:spLocks noChangeArrowheads="1"/>
            </p:cNvSpPr>
            <p:nvPr/>
          </p:nvSpPr>
          <p:spPr bwMode="auto">
            <a:xfrm>
              <a:off x="1599" y="2659"/>
              <a:ext cx="1179" cy="363"/>
            </a:xfrm>
            <a:prstGeom prst="ellipse">
              <a:avLst/>
            </a:prstGeom>
            <a:solidFill>
              <a:schemeClr val="accent1">
                <a:lumMod val="20000"/>
                <a:lumOff val="80000"/>
              </a:schemeClr>
            </a:solidFill>
            <a:ln w="9525">
              <a:solidFill>
                <a:schemeClr val="tx1"/>
              </a:solidFill>
              <a:round/>
              <a:headEnd/>
              <a:tailEnd/>
            </a:ln>
          </p:spPr>
          <p:txBody>
            <a:bodyPr wrap="none" anchor="ctr"/>
            <a:lstStyle/>
            <a:p>
              <a:pPr>
                <a:defRPr/>
              </a:pPr>
              <a:endParaRPr lang="zh-CN" altLang="en-US" b="0"/>
            </a:p>
          </p:txBody>
        </p:sp>
        <p:sp>
          <p:nvSpPr>
            <p:cNvPr id="21" name="Text Box 19"/>
            <p:cNvSpPr txBox="1">
              <a:spLocks noChangeArrowheads="1"/>
            </p:cNvSpPr>
            <p:nvPr/>
          </p:nvSpPr>
          <p:spPr bwMode="auto">
            <a:xfrm>
              <a:off x="1689" y="2704"/>
              <a:ext cx="1237" cy="250"/>
            </a:xfrm>
            <a:prstGeom prst="rect">
              <a:avLst/>
            </a:prstGeom>
            <a:noFill/>
            <a:ln w="9525">
              <a:noFill/>
              <a:miter lim="800000"/>
              <a:headEnd/>
              <a:tailEnd/>
            </a:ln>
            <a:effectLst/>
          </p:spPr>
          <p:txBody>
            <a:bodyPr>
              <a:spAutoFit/>
            </a:bodyPr>
            <a:lstStyle/>
            <a:p>
              <a:pPr>
                <a:defRPr/>
              </a:pPr>
              <a:r>
                <a:rPr kumimoji="0" lang="en-US" altLang="zh-CN" sz="2000">
                  <a:effectLst>
                    <a:outerShdw blurRad="38100" dist="38100" dir="2700000" algn="tl">
                      <a:srgbClr val="C0C0C0"/>
                    </a:outerShdw>
                  </a:effectLst>
                  <a:latin typeface="Arial" pitchFamily="34" charset="0"/>
                  <a:ea typeface="楷体_GB2312" pitchFamily="49" charset="-122"/>
                </a:rPr>
                <a:t>wait</a:t>
              </a:r>
              <a:r>
                <a:rPr kumimoji="0" lang="en-US" altLang="zh-CN" sz="2000" baseline="-25000">
                  <a:effectLst>
                    <a:outerShdw blurRad="38100" dist="38100" dir="2700000" algn="tl">
                      <a:srgbClr val="C0C0C0"/>
                    </a:outerShdw>
                  </a:effectLst>
                  <a:latin typeface="Arial" pitchFamily="34" charset="0"/>
                  <a:ea typeface="楷体_GB2312" pitchFamily="49" charset="-122"/>
                </a:rPr>
                <a:t>2</a:t>
              </a:r>
              <a:r>
                <a:rPr kumimoji="0" lang="zh-CN" altLang="en-US" sz="2000">
                  <a:effectLst>
                    <a:outerShdw blurRad="38100" dist="38100" dir="2700000" algn="tl">
                      <a:srgbClr val="C0C0C0"/>
                    </a:outerShdw>
                  </a:effectLst>
                  <a:latin typeface="Arial" pitchFamily="34" charset="0"/>
                  <a:ea typeface="楷体_GB2312" pitchFamily="49" charset="-122"/>
                </a:rPr>
                <a:t>（</a:t>
              </a:r>
              <a:r>
                <a:rPr kumimoji="0" lang="en-US" altLang="zh-CN" sz="2000">
                  <a:effectLst>
                    <a:outerShdw blurRad="38100" dist="38100" dir="2700000" algn="tl">
                      <a:srgbClr val="C0C0C0"/>
                    </a:outerShdw>
                  </a:effectLst>
                  <a:latin typeface="Arial" pitchFamily="34" charset="0"/>
                  <a:ea typeface="楷体_GB2312" pitchFamily="49" charset="-122"/>
                </a:rPr>
                <a:t>S2</a:t>
              </a:r>
              <a:r>
                <a:rPr kumimoji="0" lang="zh-CN" altLang="en-US" sz="2000">
                  <a:effectLst>
                    <a:outerShdw blurRad="38100" dist="38100" dir="2700000" algn="tl">
                      <a:srgbClr val="C0C0C0"/>
                    </a:outerShdw>
                  </a:effectLst>
                  <a:latin typeface="Arial" pitchFamily="34" charset="0"/>
                  <a:ea typeface="楷体_GB2312" pitchFamily="49" charset="-122"/>
                </a:rPr>
                <a:t>）；</a:t>
              </a:r>
            </a:p>
          </p:txBody>
        </p:sp>
      </p:grpSp>
      <p:grpSp>
        <p:nvGrpSpPr>
          <p:cNvPr id="22" name="Group 20"/>
          <p:cNvGrpSpPr>
            <a:grpSpLocks/>
          </p:cNvGrpSpPr>
          <p:nvPr/>
        </p:nvGrpSpPr>
        <p:grpSpPr bwMode="auto">
          <a:xfrm>
            <a:off x="7963860" y="4961909"/>
            <a:ext cx="2249487" cy="576263"/>
            <a:chOff x="3005" y="2659"/>
            <a:chExt cx="1327" cy="363"/>
          </a:xfrm>
          <a:solidFill>
            <a:schemeClr val="accent1">
              <a:lumMod val="20000"/>
              <a:lumOff val="80000"/>
            </a:schemeClr>
          </a:solidFill>
        </p:grpSpPr>
        <p:sp>
          <p:nvSpPr>
            <p:cNvPr id="23" name="Oval 21"/>
            <p:cNvSpPr>
              <a:spLocks noChangeArrowheads="1"/>
            </p:cNvSpPr>
            <p:nvPr/>
          </p:nvSpPr>
          <p:spPr bwMode="auto">
            <a:xfrm>
              <a:off x="3005" y="2659"/>
              <a:ext cx="1179" cy="363"/>
            </a:xfrm>
            <a:prstGeom prst="ellipse">
              <a:avLst/>
            </a:prstGeom>
            <a:grpFill/>
            <a:ln w="9525">
              <a:solidFill>
                <a:schemeClr val="tx1"/>
              </a:solidFill>
              <a:round/>
              <a:headEnd/>
              <a:tailEnd/>
            </a:ln>
          </p:spPr>
          <p:txBody>
            <a:bodyPr wrap="none" anchor="ctr"/>
            <a:lstStyle/>
            <a:p>
              <a:pPr>
                <a:defRPr/>
              </a:pPr>
              <a:endParaRPr lang="zh-CN" altLang="en-US" b="0"/>
            </a:p>
          </p:txBody>
        </p:sp>
        <p:sp>
          <p:nvSpPr>
            <p:cNvPr id="24" name="Text Box 22"/>
            <p:cNvSpPr txBox="1">
              <a:spLocks noChangeArrowheads="1"/>
            </p:cNvSpPr>
            <p:nvPr/>
          </p:nvSpPr>
          <p:spPr bwMode="auto">
            <a:xfrm>
              <a:off x="3095" y="2704"/>
              <a:ext cx="1237" cy="250"/>
            </a:xfrm>
            <a:prstGeom prst="rect">
              <a:avLst/>
            </a:prstGeom>
            <a:noFill/>
            <a:ln w="9525">
              <a:noFill/>
              <a:miter lim="800000"/>
              <a:headEnd/>
              <a:tailEnd/>
            </a:ln>
            <a:effectLst/>
          </p:spPr>
          <p:txBody>
            <a:bodyPr>
              <a:spAutoFit/>
            </a:bodyPr>
            <a:lstStyle/>
            <a:p>
              <a:pPr>
                <a:defRPr/>
              </a:pPr>
              <a:r>
                <a:rPr kumimoji="0" lang="en-US" altLang="zh-CN" sz="2000" dirty="0">
                  <a:effectLst>
                    <a:outerShdw blurRad="38100" dist="38100" dir="2700000" algn="tl">
                      <a:srgbClr val="C0C0C0"/>
                    </a:outerShdw>
                  </a:effectLst>
                  <a:latin typeface="Arial" pitchFamily="34" charset="0"/>
                  <a:ea typeface="楷体_GB2312" pitchFamily="49" charset="-122"/>
                </a:rPr>
                <a:t>wait</a:t>
              </a:r>
              <a:r>
                <a:rPr kumimoji="0" lang="en-US" altLang="zh-CN" sz="2000" baseline="-25000" dirty="0">
                  <a:effectLst>
                    <a:outerShdw blurRad="38100" dist="38100" dir="2700000" algn="tl">
                      <a:srgbClr val="C0C0C0"/>
                    </a:outerShdw>
                  </a:effectLst>
                  <a:latin typeface="Arial" pitchFamily="34" charset="0"/>
                  <a:ea typeface="楷体_GB2312" pitchFamily="49" charset="-122"/>
                </a:rPr>
                <a:t>2</a:t>
              </a:r>
              <a:r>
                <a:rPr kumimoji="0" lang="zh-CN" altLang="en-US" sz="2000" dirty="0">
                  <a:effectLst>
                    <a:outerShdw blurRad="38100" dist="38100" dir="2700000" algn="tl">
                      <a:srgbClr val="C0C0C0"/>
                    </a:outerShdw>
                  </a:effectLst>
                  <a:latin typeface="Arial" pitchFamily="34" charset="0"/>
                  <a:ea typeface="楷体_GB2312" pitchFamily="49" charset="-122"/>
                </a:rPr>
                <a:t>（</a:t>
              </a:r>
              <a:r>
                <a:rPr kumimoji="0" lang="en-US" altLang="zh-CN" sz="2000" dirty="0">
                  <a:effectLst>
                    <a:outerShdw blurRad="38100" dist="38100" dir="2700000" algn="tl">
                      <a:srgbClr val="C0C0C0"/>
                    </a:outerShdw>
                  </a:effectLst>
                  <a:latin typeface="Arial" pitchFamily="34" charset="0"/>
                  <a:ea typeface="楷体_GB2312" pitchFamily="49" charset="-122"/>
                </a:rPr>
                <a:t>S1</a:t>
              </a:r>
              <a:r>
                <a:rPr kumimoji="0" lang="zh-CN" altLang="en-US" sz="2000" dirty="0">
                  <a:effectLst>
                    <a:outerShdw blurRad="38100" dist="38100" dir="2700000" algn="tl">
                      <a:srgbClr val="C0C0C0"/>
                    </a:outerShdw>
                  </a:effectLst>
                  <a:latin typeface="Arial" pitchFamily="34" charset="0"/>
                  <a:ea typeface="楷体_GB2312" pitchFamily="49" charset="-122"/>
                </a:rPr>
                <a:t>）；</a:t>
              </a:r>
            </a:p>
          </p:txBody>
        </p:sp>
      </p:grpSp>
      <p:grpSp>
        <p:nvGrpSpPr>
          <p:cNvPr id="25" name="Group 23"/>
          <p:cNvGrpSpPr>
            <a:grpSpLocks/>
          </p:cNvGrpSpPr>
          <p:nvPr/>
        </p:nvGrpSpPr>
        <p:grpSpPr bwMode="auto">
          <a:xfrm>
            <a:off x="10195885" y="4961909"/>
            <a:ext cx="2106612" cy="576263"/>
            <a:chOff x="4411" y="2659"/>
            <a:chExt cx="1327" cy="363"/>
          </a:xfrm>
        </p:grpSpPr>
        <p:sp>
          <p:nvSpPr>
            <p:cNvPr id="26" name="Oval 24"/>
            <p:cNvSpPr>
              <a:spLocks noChangeArrowheads="1"/>
            </p:cNvSpPr>
            <p:nvPr/>
          </p:nvSpPr>
          <p:spPr bwMode="auto">
            <a:xfrm>
              <a:off x="4411" y="2659"/>
              <a:ext cx="1179" cy="363"/>
            </a:xfrm>
            <a:prstGeom prst="ellipse">
              <a:avLst/>
            </a:prstGeom>
            <a:solidFill>
              <a:srgbClr val="0066FF"/>
            </a:solidFill>
            <a:ln w="9525">
              <a:solidFill>
                <a:schemeClr val="tx1"/>
              </a:solidFill>
              <a:round/>
              <a:headEnd/>
              <a:tailEnd/>
            </a:ln>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b="0"/>
            </a:p>
          </p:txBody>
        </p:sp>
        <p:sp>
          <p:nvSpPr>
            <p:cNvPr id="27" name="Text Box 25"/>
            <p:cNvSpPr txBox="1">
              <a:spLocks noChangeArrowheads="1"/>
            </p:cNvSpPr>
            <p:nvPr/>
          </p:nvSpPr>
          <p:spPr bwMode="auto">
            <a:xfrm>
              <a:off x="4501" y="2704"/>
              <a:ext cx="1237" cy="250"/>
            </a:xfrm>
            <a:prstGeom prst="rect">
              <a:avLst/>
            </a:prstGeom>
            <a:noFill/>
            <a:ln w="9525">
              <a:noFill/>
              <a:miter lim="800000"/>
              <a:headEnd/>
              <a:tailEnd/>
            </a:ln>
            <a:effectLst/>
          </p:spPr>
          <p:txBody>
            <a:bodyPr>
              <a:spAutoFit/>
            </a:bodyPr>
            <a:lstStyle/>
            <a:p>
              <a:pPr>
                <a:defRPr/>
              </a:pPr>
              <a:r>
                <a:rPr kumimoji="0" lang="en-US" altLang="zh-CN" sz="2000" dirty="0">
                  <a:effectLst>
                    <a:outerShdw blurRad="38100" dist="38100" dir="2700000" algn="tl">
                      <a:srgbClr val="C0C0C0"/>
                    </a:outerShdw>
                  </a:effectLst>
                  <a:latin typeface="Arial" pitchFamily="34" charset="0"/>
                  <a:ea typeface="楷体_GB2312" pitchFamily="49" charset="-122"/>
                </a:rPr>
                <a:t>wait</a:t>
              </a:r>
              <a:r>
                <a:rPr kumimoji="0" lang="en-US" altLang="zh-CN" sz="2000" baseline="-25000" dirty="0">
                  <a:effectLst>
                    <a:outerShdw blurRad="38100" dist="38100" dir="2700000" algn="tl">
                      <a:srgbClr val="C0C0C0"/>
                    </a:outerShdw>
                  </a:effectLst>
                  <a:latin typeface="Arial" pitchFamily="34" charset="0"/>
                  <a:ea typeface="楷体_GB2312" pitchFamily="49" charset="-122"/>
                </a:rPr>
                <a:t>1</a:t>
              </a:r>
              <a:r>
                <a:rPr kumimoji="0" lang="zh-CN" altLang="en-US" sz="2000" dirty="0">
                  <a:effectLst>
                    <a:outerShdw blurRad="38100" dist="38100" dir="2700000" algn="tl">
                      <a:srgbClr val="C0C0C0"/>
                    </a:outerShdw>
                  </a:effectLst>
                  <a:latin typeface="Arial" pitchFamily="34" charset="0"/>
                  <a:ea typeface="楷体_GB2312" pitchFamily="49" charset="-122"/>
                </a:rPr>
                <a:t>（</a:t>
              </a:r>
              <a:r>
                <a:rPr kumimoji="0" lang="en-US" altLang="zh-CN" sz="2000" dirty="0">
                  <a:effectLst>
                    <a:outerShdw blurRad="38100" dist="38100" dir="2700000" algn="tl">
                      <a:srgbClr val="C0C0C0"/>
                    </a:outerShdw>
                  </a:effectLst>
                  <a:latin typeface="Arial" pitchFamily="34" charset="0"/>
                  <a:ea typeface="楷体_GB2312" pitchFamily="49" charset="-122"/>
                </a:rPr>
                <a:t>S2</a:t>
              </a:r>
              <a:r>
                <a:rPr kumimoji="0" lang="zh-CN" altLang="en-US" sz="2000" dirty="0">
                  <a:effectLst>
                    <a:outerShdw blurRad="38100" dist="38100" dir="2700000" algn="tl">
                      <a:srgbClr val="C0C0C0"/>
                    </a:outerShdw>
                  </a:effectLst>
                  <a:latin typeface="Arial" pitchFamily="34" charset="0"/>
                  <a:ea typeface="楷体_GB2312" pitchFamily="49" charset="-122"/>
                </a:rPr>
                <a:t>）；</a:t>
              </a:r>
            </a:p>
          </p:txBody>
        </p:sp>
      </p:grpSp>
      <p:sp>
        <p:nvSpPr>
          <p:cNvPr id="28" name="Line 26"/>
          <p:cNvSpPr>
            <a:spLocks noChangeShapeType="1"/>
          </p:cNvSpPr>
          <p:nvPr/>
        </p:nvSpPr>
        <p:spPr bwMode="auto">
          <a:xfrm>
            <a:off x="5371472" y="5249247"/>
            <a:ext cx="3603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 name="Line 27"/>
          <p:cNvSpPr>
            <a:spLocks noChangeShapeType="1"/>
          </p:cNvSpPr>
          <p:nvPr/>
        </p:nvSpPr>
        <p:spPr bwMode="auto">
          <a:xfrm>
            <a:off x="7603497" y="5249247"/>
            <a:ext cx="3603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 name="Line 28"/>
          <p:cNvSpPr>
            <a:spLocks noChangeShapeType="1"/>
          </p:cNvSpPr>
          <p:nvPr/>
        </p:nvSpPr>
        <p:spPr bwMode="auto">
          <a:xfrm>
            <a:off x="9835522" y="5249247"/>
            <a:ext cx="36036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1" name="AutoShape 29"/>
          <p:cNvSpPr>
            <a:spLocks noChangeArrowheads="1"/>
          </p:cNvSpPr>
          <p:nvPr/>
        </p:nvSpPr>
        <p:spPr bwMode="auto">
          <a:xfrm>
            <a:off x="7547935" y="5800109"/>
            <a:ext cx="1512887" cy="863600"/>
          </a:xfrm>
          <a:prstGeom prst="wedgeRoundRectCallout">
            <a:avLst>
              <a:gd name="adj1" fmla="val 5616"/>
              <a:gd name="adj2" fmla="val -88421"/>
              <a:gd name="adj3" fmla="val 16667"/>
            </a:avLst>
          </a:prstGeom>
          <a:solidFill>
            <a:schemeClr val="accent1">
              <a:lumMod val="20000"/>
              <a:lumOff val="80000"/>
            </a:schemeClr>
          </a:solidFill>
          <a:ln w="9525">
            <a:solidFill>
              <a:schemeClr val="tx1"/>
            </a:solidFill>
            <a:miter lim="800000"/>
            <a:headEnd/>
            <a:tailEnd/>
          </a:ln>
          <a:effectLst/>
        </p:spPr>
        <p:txBody>
          <a:bodyPr/>
          <a:lstStyle/>
          <a:p>
            <a:pPr algn="ctr">
              <a:defRPr/>
            </a:pPr>
            <a:r>
              <a:rPr kumimoji="0" lang="zh-CN" altLang="en-US" sz="2400" dirty="0">
                <a:effectLst>
                  <a:outerShdw blurRad="38100" dist="38100" dir="2700000" algn="tl">
                    <a:srgbClr val="FFFFFF"/>
                  </a:outerShdw>
                </a:effectLst>
                <a:latin typeface="Arial" pitchFamily="34" charset="0"/>
                <a:ea typeface="楷体_GB2312" pitchFamily="49" charset="-122"/>
              </a:rPr>
              <a:t>进程</a:t>
            </a:r>
            <a:r>
              <a:rPr kumimoji="0" lang="en-US" altLang="zh-CN" sz="2400" dirty="0">
                <a:effectLst>
                  <a:outerShdw blurRad="38100" dist="38100" dir="2700000" algn="tl">
                    <a:srgbClr val="FFFFFF"/>
                  </a:outerShdw>
                </a:effectLst>
                <a:latin typeface="Arial" pitchFamily="34" charset="0"/>
                <a:ea typeface="楷体_GB2312" pitchFamily="49" charset="-122"/>
              </a:rPr>
              <a:t>2</a:t>
            </a:r>
          </a:p>
          <a:p>
            <a:pPr algn="ctr">
              <a:defRPr/>
            </a:pPr>
            <a:r>
              <a:rPr kumimoji="0" lang="zh-CN" altLang="en-US" sz="2400" dirty="0">
                <a:effectLst>
                  <a:outerShdw blurRad="38100" dist="38100" dir="2700000" algn="tl">
                    <a:srgbClr val="FFFFFF"/>
                  </a:outerShdw>
                </a:effectLst>
                <a:latin typeface="Arial" pitchFamily="34" charset="0"/>
                <a:ea typeface="楷体_GB2312" pitchFamily="49" charset="-122"/>
              </a:rPr>
              <a:t>阻塞</a:t>
            </a:r>
          </a:p>
        </p:txBody>
      </p:sp>
      <p:sp>
        <p:nvSpPr>
          <p:cNvPr id="32" name="AutoShape 30"/>
          <p:cNvSpPr>
            <a:spLocks noChangeArrowheads="1"/>
          </p:cNvSpPr>
          <p:nvPr/>
        </p:nvSpPr>
        <p:spPr bwMode="auto">
          <a:xfrm>
            <a:off x="9781547" y="5800109"/>
            <a:ext cx="1512888" cy="863600"/>
          </a:xfrm>
          <a:prstGeom prst="wedgeRoundRectCallout">
            <a:avLst>
              <a:gd name="adj1" fmla="val 4671"/>
              <a:gd name="adj2" fmla="val -86949"/>
              <a:gd name="adj3" fmla="val 16667"/>
            </a:avLst>
          </a:prstGeom>
          <a:solidFill>
            <a:schemeClr val="accent1">
              <a:lumMod val="20000"/>
              <a:lumOff val="80000"/>
            </a:schemeClr>
          </a:solidFill>
          <a:ln w="9525">
            <a:solidFill>
              <a:schemeClr val="tx1"/>
            </a:solidFill>
            <a:miter lim="800000"/>
            <a:headEnd/>
            <a:tailEnd/>
          </a:ln>
          <a:effectLst/>
        </p:spPr>
        <p:txBody>
          <a:bodyPr/>
          <a:lstStyle/>
          <a:p>
            <a:pPr algn="ctr">
              <a:defRPr/>
            </a:pPr>
            <a:r>
              <a:rPr kumimoji="0" lang="zh-CN" altLang="en-US" sz="2400" dirty="0">
                <a:effectLst>
                  <a:outerShdw blurRad="38100" dist="38100" dir="2700000" algn="tl">
                    <a:srgbClr val="FFFFFF"/>
                  </a:outerShdw>
                </a:effectLst>
                <a:latin typeface="Arial" pitchFamily="34" charset="0"/>
                <a:ea typeface="楷体_GB2312" pitchFamily="49" charset="-122"/>
              </a:rPr>
              <a:t>进程</a:t>
            </a:r>
            <a:r>
              <a:rPr kumimoji="0" lang="en-US" altLang="zh-CN" sz="2400" dirty="0">
                <a:effectLst>
                  <a:outerShdw blurRad="38100" dist="38100" dir="2700000" algn="tl">
                    <a:srgbClr val="FFFFFF"/>
                  </a:outerShdw>
                </a:effectLst>
                <a:latin typeface="Arial" pitchFamily="34" charset="0"/>
                <a:ea typeface="楷体_GB2312" pitchFamily="49" charset="-122"/>
              </a:rPr>
              <a:t>1</a:t>
            </a:r>
          </a:p>
          <a:p>
            <a:pPr algn="ctr">
              <a:defRPr/>
            </a:pPr>
            <a:r>
              <a:rPr kumimoji="0" lang="zh-CN" altLang="en-US" sz="2400" dirty="0">
                <a:effectLst>
                  <a:outerShdw blurRad="38100" dist="38100" dir="2700000" algn="tl">
                    <a:srgbClr val="FFFFFF"/>
                  </a:outerShdw>
                </a:effectLst>
                <a:latin typeface="Arial" pitchFamily="34" charset="0"/>
                <a:ea typeface="楷体_GB2312" pitchFamily="49" charset="-122"/>
              </a:rPr>
              <a:t>阻塞</a:t>
            </a:r>
          </a:p>
        </p:txBody>
      </p:sp>
      <p:sp>
        <p:nvSpPr>
          <p:cNvPr id="33" name="Oval 31"/>
          <p:cNvSpPr>
            <a:spLocks noChangeArrowheads="1"/>
          </p:cNvSpPr>
          <p:nvPr/>
        </p:nvSpPr>
        <p:spPr bwMode="auto">
          <a:xfrm>
            <a:off x="7957503" y="1392660"/>
            <a:ext cx="503238" cy="503237"/>
          </a:xfrm>
          <a:prstGeom prst="ellipse">
            <a:avLst/>
          </a:prstGeom>
          <a:solidFill>
            <a:schemeClr val="accent1">
              <a:lumMod val="20000"/>
              <a:lumOff val="80000"/>
            </a:schemeClr>
          </a:solidFill>
          <a:ln w="9525">
            <a:solidFill>
              <a:schemeClr val="tx1"/>
            </a:solidFill>
            <a:round/>
            <a:headEnd/>
            <a:tailEnd/>
          </a:ln>
          <a:effectLst/>
        </p:spPr>
        <p:txBody>
          <a:bodyPr wrap="none" anchor="ctr"/>
          <a:lstStyle/>
          <a:p>
            <a:pPr algn="ctr">
              <a:defRPr/>
            </a:pPr>
            <a:r>
              <a:rPr kumimoji="0" lang="en-US" altLang="zh-CN" sz="2800">
                <a:effectLst>
                  <a:outerShdw blurRad="38100" dist="38100" dir="2700000" algn="tl">
                    <a:srgbClr val="FFFFFF"/>
                  </a:outerShdw>
                </a:effectLst>
                <a:latin typeface="Arial" pitchFamily="34" charset="0"/>
                <a:ea typeface="楷体_GB2312" pitchFamily="49" charset="-122"/>
              </a:rPr>
              <a:t>S1</a:t>
            </a:r>
          </a:p>
        </p:txBody>
      </p:sp>
      <p:sp>
        <p:nvSpPr>
          <p:cNvPr id="34" name="Oval 32"/>
          <p:cNvSpPr>
            <a:spLocks noChangeArrowheads="1"/>
          </p:cNvSpPr>
          <p:nvPr/>
        </p:nvSpPr>
        <p:spPr bwMode="auto">
          <a:xfrm>
            <a:off x="7955916" y="2254672"/>
            <a:ext cx="503237" cy="503238"/>
          </a:xfrm>
          <a:prstGeom prst="ellipse">
            <a:avLst/>
          </a:prstGeom>
          <a:solidFill>
            <a:schemeClr val="accent1">
              <a:lumMod val="20000"/>
              <a:lumOff val="80000"/>
            </a:schemeClr>
          </a:solidFill>
          <a:ln w="9525">
            <a:solidFill>
              <a:schemeClr val="tx1"/>
            </a:solidFill>
            <a:round/>
            <a:headEnd/>
            <a:tailEnd/>
          </a:ln>
          <a:effectLst/>
        </p:spPr>
        <p:txBody>
          <a:bodyPr wrap="none" anchor="ctr"/>
          <a:lstStyle/>
          <a:p>
            <a:pPr algn="ctr">
              <a:defRPr/>
            </a:pPr>
            <a:r>
              <a:rPr kumimoji="0" lang="en-US" altLang="zh-CN" sz="2800">
                <a:effectLst>
                  <a:outerShdw blurRad="38100" dist="38100" dir="2700000" algn="tl">
                    <a:srgbClr val="FFFFFF"/>
                  </a:outerShdw>
                </a:effectLst>
                <a:latin typeface="Arial" pitchFamily="34" charset="0"/>
                <a:ea typeface="楷体_GB2312" pitchFamily="49" charset="-122"/>
              </a:rPr>
              <a:t>S2</a:t>
            </a:r>
          </a:p>
        </p:txBody>
      </p:sp>
      <p:sp>
        <p:nvSpPr>
          <p:cNvPr id="35" name="Rectangle 33"/>
          <p:cNvSpPr>
            <a:spLocks noChangeArrowheads="1"/>
          </p:cNvSpPr>
          <p:nvPr/>
        </p:nvSpPr>
        <p:spPr bwMode="auto">
          <a:xfrm>
            <a:off x="5149216" y="1291060"/>
            <a:ext cx="3743325" cy="649287"/>
          </a:xfrm>
          <a:prstGeom prst="rect">
            <a:avLst/>
          </a:prstGeom>
          <a:solidFill>
            <a:srgbClr val="3366CC">
              <a:alpha val="45882"/>
            </a:srgbClr>
          </a:solidFill>
          <a:ln w="9525">
            <a:solidFill>
              <a:schemeClr val="tx1"/>
            </a:solidFill>
            <a:miter lim="800000"/>
            <a:headEnd/>
            <a:tailEnd/>
          </a:ln>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ctr" eaLnBrk="1" hangingPunct="1"/>
            <a:endParaRPr lang="zh-CN" altLang="zh-CN" sz="2000" b="0"/>
          </a:p>
        </p:txBody>
      </p:sp>
      <p:sp>
        <p:nvSpPr>
          <p:cNvPr id="36" name="Rectangle 34"/>
          <p:cNvSpPr>
            <a:spLocks noChangeArrowheads="1"/>
          </p:cNvSpPr>
          <p:nvPr/>
        </p:nvSpPr>
        <p:spPr bwMode="auto">
          <a:xfrm>
            <a:off x="7668578" y="2083222"/>
            <a:ext cx="3673475" cy="720725"/>
          </a:xfrm>
          <a:prstGeom prst="rect">
            <a:avLst/>
          </a:prstGeom>
          <a:solidFill>
            <a:srgbClr val="3366CC">
              <a:alpha val="50195"/>
            </a:srgbClr>
          </a:solidFill>
          <a:ln w="9525">
            <a:solidFill>
              <a:schemeClr val="tx1"/>
            </a:solidFill>
            <a:miter lim="800000"/>
            <a:headEnd/>
            <a:tailEnd/>
          </a:ln>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b="0"/>
          </a:p>
        </p:txBody>
      </p:sp>
      <p:sp>
        <p:nvSpPr>
          <p:cNvPr id="37" name="Line 35"/>
          <p:cNvSpPr>
            <a:spLocks noChangeShapeType="1"/>
          </p:cNvSpPr>
          <p:nvPr/>
        </p:nvSpPr>
        <p:spPr bwMode="auto">
          <a:xfrm>
            <a:off x="10908666" y="3262735"/>
            <a:ext cx="935037" cy="0"/>
          </a:xfrm>
          <a:prstGeom prst="line">
            <a:avLst/>
          </a:prstGeom>
          <a:noFill/>
          <a:ln w="76200">
            <a:solidFill>
              <a:srgbClr val="FF99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36"/>
          <p:cNvSpPr>
            <a:spLocks noChangeShapeType="1"/>
          </p:cNvSpPr>
          <p:nvPr/>
        </p:nvSpPr>
        <p:spPr bwMode="auto">
          <a:xfrm flipV="1">
            <a:off x="11843703" y="1533947"/>
            <a:ext cx="0" cy="1728788"/>
          </a:xfrm>
          <a:prstGeom prst="line">
            <a:avLst/>
          </a:prstGeom>
          <a:noFill/>
          <a:ln w="76200">
            <a:solidFill>
              <a:srgbClr val="FF99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Line 37"/>
          <p:cNvSpPr>
            <a:spLocks noChangeShapeType="1"/>
          </p:cNvSpPr>
          <p:nvPr/>
        </p:nvSpPr>
        <p:spPr bwMode="auto">
          <a:xfrm flipH="1">
            <a:off x="8460741" y="1533947"/>
            <a:ext cx="3382962" cy="0"/>
          </a:xfrm>
          <a:prstGeom prst="line">
            <a:avLst/>
          </a:prstGeom>
          <a:noFill/>
          <a:ln w="76200">
            <a:solidFill>
              <a:srgbClr val="FF99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0" name="Line 38"/>
          <p:cNvSpPr>
            <a:spLocks noChangeShapeType="1"/>
          </p:cNvSpPr>
          <p:nvPr/>
        </p:nvSpPr>
        <p:spPr bwMode="auto">
          <a:xfrm>
            <a:off x="7163753" y="2399135"/>
            <a:ext cx="792163" cy="71437"/>
          </a:xfrm>
          <a:prstGeom prst="line">
            <a:avLst/>
          </a:prstGeom>
          <a:noFill/>
          <a:ln w="76200">
            <a:solidFill>
              <a:srgbClr val="FF9966"/>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 name="Text Box 39"/>
          <p:cNvSpPr txBox="1">
            <a:spLocks noChangeArrowheads="1"/>
          </p:cNvSpPr>
          <p:nvPr/>
        </p:nvSpPr>
        <p:spPr bwMode="auto">
          <a:xfrm>
            <a:off x="3229935" y="5815984"/>
            <a:ext cx="3960812" cy="830263"/>
          </a:xfrm>
          <a:prstGeom prst="rect">
            <a:avLst/>
          </a:prstGeom>
          <a:noFill/>
          <a:ln w="9525">
            <a:noFill/>
            <a:miter lim="800000"/>
            <a:headEnd/>
            <a:tailEnd/>
          </a:ln>
          <a:effectLst/>
        </p:spPr>
        <p:txBody>
          <a:bodyPr>
            <a:spAutoFit/>
          </a:bodyPr>
          <a:lstStyle/>
          <a:p>
            <a:pPr>
              <a:defRPr/>
            </a:pPr>
            <a:r>
              <a:rPr kumimoji="0" lang="zh-CN" altLang="en-US" sz="2400" dirty="0">
                <a:effectLst>
                  <a:outerShdw blurRad="38100" dist="38100" dir="2700000" algn="tl">
                    <a:srgbClr val="C0C0C0"/>
                  </a:outerShdw>
                </a:effectLst>
                <a:latin typeface="Arial" pitchFamily="34" charset="0"/>
                <a:ea typeface="楷体_GB2312" pitchFamily="49" charset="-122"/>
              </a:rPr>
              <a:t>进程</a:t>
            </a:r>
            <a:r>
              <a:rPr kumimoji="0" lang="en-US" altLang="zh-CN" sz="2400" dirty="0">
                <a:effectLst>
                  <a:outerShdw blurRad="38100" dist="38100" dir="2700000" algn="tl">
                    <a:srgbClr val="C0C0C0"/>
                  </a:outerShdw>
                </a:effectLst>
                <a:latin typeface="Arial" pitchFamily="34" charset="0"/>
                <a:ea typeface="楷体_GB2312" pitchFamily="49" charset="-122"/>
              </a:rPr>
              <a:t>1</a:t>
            </a:r>
            <a:r>
              <a:rPr kumimoji="0" lang="zh-CN" altLang="en-US" sz="2400" dirty="0">
                <a:effectLst>
                  <a:outerShdw blurRad="38100" dist="38100" dir="2700000" algn="tl">
                    <a:srgbClr val="C0C0C0"/>
                  </a:outerShdw>
                </a:effectLst>
                <a:latin typeface="Arial" pitchFamily="34" charset="0"/>
                <a:ea typeface="楷体_GB2312" pitchFamily="49" charset="-122"/>
              </a:rPr>
              <a:t>和进程</a:t>
            </a:r>
            <a:r>
              <a:rPr kumimoji="0" lang="en-US" altLang="zh-CN" sz="2400" dirty="0">
                <a:effectLst>
                  <a:outerShdw blurRad="38100" dist="38100" dir="2700000" algn="tl">
                    <a:srgbClr val="C0C0C0"/>
                  </a:outerShdw>
                </a:effectLst>
                <a:latin typeface="Arial" pitchFamily="34" charset="0"/>
                <a:ea typeface="楷体_GB2312" pitchFamily="49" charset="-122"/>
              </a:rPr>
              <a:t>2</a:t>
            </a:r>
            <a:r>
              <a:rPr kumimoji="0" lang="zh-CN" altLang="en-US" sz="2400" dirty="0">
                <a:effectLst>
                  <a:outerShdw blurRad="38100" dist="38100" dir="2700000" algn="tl">
                    <a:srgbClr val="C0C0C0"/>
                  </a:outerShdw>
                </a:effectLst>
                <a:latin typeface="Arial" pitchFamily="34" charset="0"/>
                <a:ea typeface="楷体_GB2312" pitchFamily="49" charset="-122"/>
              </a:rPr>
              <a:t>都无法继续推进，两个进程进入</a:t>
            </a:r>
            <a:r>
              <a:rPr kumimoji="0" lang="zh-CN" altLang="en-US" sz="2400" dirty="0">
                <a:solidFill>
                  <a:srgbClr val="C00000"/>
                </a:solidFill>
                <a:effectLst>
                  <a:outerShdw blurRad="38100" dist="38100" dir="2700000" algn="tl">
                    <a:srgbClr val="C0C0C0"/>
                  </a:outerShdw>
                </a:effectLst>
                <a:latin typeface="Arial" pitchFamily="34" charset="0"/>
                <a:ea typeface="楷体_GB2312" pitchFamily="49" charset="-122"/>
              </a:rPr>
              <a:t>死锁</a:t>
            </a:r>
            <a:r>
              <a:rPr kumimoji="0" lang="zh-CN" altLang="en-US" sz="2400" dirty="0">
                <a:effectLst>
                  <a:outerShdw blurRad="38100" dist="38100" dir="2700000" algn="tl">
                    <a:srgbClr val="C0C0C0"/>
                  </a:outerShdw>
                </a:effectLst>
                <a:latin typeface="Arial" pitchFamily="34" charset="0"/>
                <a:ea typeface="楷体_GB2312" pitchFamily="49" charset="-122"/>
              </a:rPr>
              <a:t>状态</a:t>
            </a:r>
          </a:p>
        </p:txBody>
      </p:sp>
      <p:sp>
        <p:nvSpPr>
          <p:cNvPr id="42" name="Text Box 40"/>
          <p:cNvSpPr txBox="1">
            <a:spLocks noChangeArrowheads="1"/>
          </p:cNvSpPr>
          <p:nvPr/>
        </p:nvSpPr>
        <p:spPr bwMode="auto">
          <a:xfrm>
            <a:off x="5795328" y="2418185"/>
            <a:ext cx="903288" cy="523875"/>
          </a:xfrm>
          <a:prstGeom prst="rect">
            <a:avLst/>
          </a:prstGeom>
          <a:noFill/>
          <a:ln w="9525">
            <a:noFill/>
            <a:miter lim="800000"/>
            <a:headEnd/>
            <a:tailEnd/>
          </a:ln>
          <a:effectLst/>
        </p:spPr>
        <p:txBody>
          <a:bodyPr wrap="none">
            <a:spAutoFit/>
          </a:bodyPr>
          <a:lstStyle/>
          <a:p>
            <a:pPr>
              <a:defRPr/>
            </a:pPr>
            <a:r>
              <a:rPr kumimoji="0" lang="en-US" altLang="zh-CN" sz="2800" dirty="0">
                <a:effectLst>
                  <a:outerShdw blurRad="38100" dist="38100" dir="2700000" algn="tl">
                    <a:srgbClr val="C0C0C0"/>
                  </a:outerShdw>
                </a:effectLst>
                <a:latin typeface="Arial" pitchFamily="34" charset="0"/>
                <a:ea typeface="楷体_GB2312" pitchFamily="49" charset="-122"/>
              </a:rPr>
              <a:t>……</a:t>
            </a:r>
            <a:endParaRPr kumimoji="0" lang="zh-CN" altLang="en-US" sz="2800" dirty="0">
              <a:effectLst>
                <a:outerShdw blurRad="38100" dist="38100" dir="2700000" algn="tl">
                  <a:srgbClr val="C0C0C0"/>
                </a:outerShdw>
              </a:effectLst>
              <a:latin typeface="Arial" pitchFamily="34" charset="0"/>
              <a:ea typeface="楷体_GB2312" pitchFamily="49" charset="-122"/>
            </a:endParaRPr>
          </a:p>
        </p:txBody>
      </p:sp>
      <p:sp>
        <p:nvSpPr>
          <p:cNvPr id="43" name="Text Box 41"/>
          <p:cNvSpPr txBox="1">
            <a:spLocks noChangeArrowheads="1"/>
          </p:cNvSpPr>
          <p:nvPr/>
        </p:nvSpPr>
        <p:spPr bwMode="auto">
          <a:xfrm>
            <a:off x="9660891" y="3257972"/>
            <a:ext cx="903287" cy="523875"/>
          </a:xfrm>
          <a:prstGeom prst="rect">
            <a:avLst/>
          </a:prstGeom>
          <a:noFill/>
          <a:ln w="9525">
            <a:noFill/>
            <a:miter lim="800000"/>
            <a:headEnd/>
            <a:tailEnd/>
          </a:ln>
          <a:effectLst/>
        </p:spPr>
        <p:txBody>
          <a:bodyPr wrap="none">
            <a:spAutoFit/>
          </a:bodyPr>
          <a:lstStyle/>
          <a:p>
            <a:pPr>
              <a:defRPr/>
            </a:pPr>
            <a:r>
              <a:rPr kumimoji="0" lang="en-US" altLang="zh-CN" sz="2800" dirty="0">
                <a:effectLst>
                  <a:outerShdw blurRad="38100" dist="38100" dir="2700000" algn="tl">
                    <a:srgbClr val="C0C0C0"/>
                  </a:outerShdw>
                </a:effectLst>
                <a:latin typeface="Arial" pitchFamily="34" charset="0"/>
                <a:ea typeface="楷体_GB2312" pitchFamily="49" charset="-122"/>
              </a:rPr>
              <a:t>……</a:t>
            </a:r>
            <a:endParaRPr kumimoji="0" lang="zh-CN" altLang="en-US" sz="2800" dirty="0">
              <a:effectLst>
                <a:outerShdw blurRad="38100" dist="38100" dir="2700000" algn="tl">
                  <a:srgbClr val="C0C0C0"/>
                </a:outerShdw>
              </a:effectLst>
              <a:latin typeface="Arial" pitchFamily="34" charset="0"/>
              <a:ea typeface="楷体_GB2312" pitchFamily="49" charset="-122"/>
            </a:endParaRPr>
          </a:p>
        </p:txBody>
      </p:sp>
      <p:sp>
        <p:nvSpPr>
          <p:cNvPr id="44" name="Text Box 42"/>
          <p:cNvSpPr txBox="1">
            <a:spLocks noChangeArrowheads="1"/>
          </p:cNvSpPr>
          <p:nvPr/>
        </p:nvSpPr>
        <p:spPr bwMode="auto">
          <a:xfrm>
            <a:off x="5292091" y="3037310"/>
            <a:ext cx="2005012" cy="946150"/>
          </a:xfrm>
          <a:prstGeom prst="rect">
            <a:avLst/>
          </a:prstGeom>
          <a:noFill/>
          <a:ln w="9525">
            <a:noFill/>
            <a:miter lim="800000"/>
            <a:headEnd/>
            <a:tailEnd/>
          </a:ln>
          <a:effectLst/>
        </p:spPr>
        <p:txBody>
          <a:bodyPr wrap="none">
            <a:spAutoFit/>
          </a:bodyPr>
          <a:lstStyle/>
          <a:p>
            <a:pPr>
              <a:defRPr/>
            </a:pPr>
            <a:r>
              <a:rPr kumimoji="0" lang="en-US" altLang="zh-CN" sz="2800">
                <a:effectLst>
                  <a:outerShdw blurRad="38100" dist="38100" dir="2700000" algn="tl">
                    <a:srgbClr val="C0C0C0"/>
                  </a:outerShdw>
                </a:effectLst>
                <a:latin typeface="Arial" pitchFamily="34" charset="0"/>
                <a:ea typeface="楷体_GB2312" pitchFamily="49" charset="-122"/>
              </a:rPr>
              <a:t>signal(S2);</a:t>
            </a:r>
          </a:p>
          <a:p>
            <a:pPr>
              <a:defRPr/>
            </a:pPr>
            <a:r>
              <a:rPr kumimoji="0" lang="en-US" altLang="zh-CN" sz="2800">
                <a:effectLst>
                  <a:outerShdw blurRad="38100" dist="38100" dir="2700000" algn="tl">
                    <a:srgbClr val="C0C0C0"/>
                  </a:outerShdw>
                </a:effectLst>
                <a:latin typeface="Arial" pitchFamily="34" charset="0"/>
                <a:ea typeface="楷体_GB2312" pitchFamily="49" charset="-122"/>
              </a:rPr>
              <a:t>signal(S1);</a:t>
            </a:r>
          </a:p>
        </p:txBody>
      </p:sp>
      <p:sp>
        <p:nvSpPr>
          <p:cNvPr id="45" name="Text Box 43"/>
          <p:cNvSpPr txBox="1">
            <a:spLocks noChangeArrowheads="1"/>
          </p:cNvSpPr>
          <p:nvPr/>
        </p:nvSpPr>
        <p:spPr bwMode="auto">
          <a:xfrm>
            <a:off x="9179878" y="3621510"/>
            <a:ext cx="2005013" cy="946150"/>
          </a:xfrm>
          <a:prstGeom prst="rect">
            <a:avLst/>
          </a:prstGeom>
          <a:noFill/>
          <a:ln w="9525">
            <a:noFill/>
            <a:miter lim="800000"/>
            <a:headEnd/>
            <a:tailEnd/>
          </a:ln>
          <a:effectLst/>
        </p:spPr>
        <p:txBody>
          <a:bodyPr wrap="none">
            <a:spAutoFit/>
          </a:bodyPr>
          <a:lstStyle/>
          <a:p>
            <a:pPr>
              <a:defRPr/>
            </a:pPr>
            <a:r>
              <a:rPr kumimoji="0" lang="en-US" altLang="zh-CN" sz="2800" dirty="0">
                <a:effectLst>
                  <a:outerShdw blurRad="38100" dist="38100" dir="2700000" algn="tl">
                    <a:srgbClr val="C0C0C0"/>
                  </a:outerShdw>
                </a:effectLst>
                <a:latin typeface="Arial" pitchFamily="34" charset="0"/>
                <a:ea typeface="楷体_GB2312" pitchFamily="49" charset="-122"/>
              </a:rPr>
              <a:t>signal(S1);</a:t>
            </a:r>
          </a:p>
          <a:p>
            <a:pPr>
              <a:defRPr/>
            </a:pPr>
            <a:r>
              <a:rPr kumimoji="0" lang="en-US" altLang="zh-CN" sz="2800" dirty="0">
                <a:effectLst>
                  <a:outerShdw blurRad="38100" dist="38100" dir="2700000" algn="tl">
                    <a:srgbClr val="C0C0C0"/>
                  </a:outerShdw>
                </a:effectLst>
                <a:latin typeface="Arial" pitchFamily="34" charset="0"/>
                <a:ea typeface="楷体_GB2312" pitchFamily="49" charset="-122"/>
              </a:rPr>
              <a:t>signal(S2);</a:t>
            </a:r>
          </a:p>
        </p:txBody>
      </p:sp>
      <p:sp>
        <p:nvSpPr>
          <p:cNvPr id="47" name="文本框 19"/>
          <p:cNvSpPr txBox="1">
            <a:spLocks noChangeArrowheads="1"/>
          </p:cNvSpPr>
          <p:nvPr/>
        </p:nvSpPr>
        <p:spPr bwMode="auto">
          <a:xfrm>
            <a:off x="1122931" y="2281457"/>
            <a:ext cx="3872149"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en-US" sz="2400" dirty="0"/>
              <a:t>将多次对多个信号量的申请改为一次，用一个原子操作完成。</a:t>
            </a:r>
          </a:p>
        </p:txBody>
      </p:sp>
      <p:sp>
        <p:nvSpPr>
          <p:cNvPr id="48" name="文本框 54"/>
          <p:cNvSpPr txBox="1">
            <a:spLocks noChangeArrowheads="1"/>
          </p:cNvSpPr>
          <p:nvPr/>
        </p:nvSpPr>
        <p:spPr bwMode="auto">
          <a:xfrm>
            <a:off x="1150228" y="1832593"/>
            <a:ext cx="207064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1" indent="0"/>
            <a:r>
              <a:rPr lang="zh-CN" altLang="en-US" sz="2000" b="1" dirty="0">
                <a:solidFill>
                  <a:srgbClr val="505050"/>
                </a:solidFill>
                <a:latin typeface="微软雅黑" panose="020B0503020204020204" pitchFamily="34" charset="-122"/>
                <a:ea typeface="微软雅黑" panose="020B0503020204020204" pitchFamily="34" charset="-122"/>
              </a:rPr>
              <a:t>基本思想</a:t>
            </a:r>
          </a:p>
        </p:txBody>
      </p:sp>
      <p:sp>
        <p:nvSpPr>
          <p:cNvPr id="49" name="Text Box 7"/>
          <p:cNvSpPr txBox="1">
            <a:spLocks noChangeArrowheads="1"/>
          </p:cNvSpPr>
          <p:nvPr/>
        </p:nvSpPr>
        <p:spPr bwMode="auto">
          <a:xfrm>
            <a:off x="1197591" y="3526899"/>
            <a:ext cx="3770194" cy="461665"/>
          </a:xfrm>
          <a:prstGeom prst="rect">
            <a:avLst/>
          </a:prstGeom>
          <a:solidFill>
            <a:schemeClr val="accent1">
              <a:lumMod val="20000"/>
              <a:lumOff val="80000"/>
            </a:schemeClr>
          </a:solidFill>
          <a:ln w="9525">
            <a:solidFill>
              <a:schemeClr val="tx1"/>
            </a:solidFill>
            <a:miter lim="800000"/>
            <a:headEnd/>
            <a:tailEnd/>
          </a:ln>
          <a:effectLst/>
        </p:spPr>
        <p:txBody>
          <a:bodyPr wrap="square">
            <a:spAutoFit/>
          </a:bodyPr>
          <a:lstStyle/>
          <a:p>
            <a:pPr>
              <a:defRPr/>
            </a:pPr>
            <a:r>
              <a:rPr kumimoji="0" lang="en-US" altLang="zh-CN" sz="2400" dirty="0" err="1">
                <a:effectLst>
                  <a:outerShdw blurRad="38100" dist="38100" dir="2700000" algn="tl">
                    <a:srgbClr val="FFFFFF"/>
                  </a:outerShdw>
                </a:effectLst>
                <a:latin typeface="Arial" pitchFamily="34" charset="0"/>
                <a:ea typeface="楷体_GB2312" pitchFamily="49" charset="-122"/>
              </a:rPr>
              <a:t>Swait</a:t>
            </a:r>
            <a:r>
              <a:rPr kumimoji="0" lang="zh-CN" altLang="en-US" sz="2400" dirty="0">
                <a:effectLst>
                  <a:outerShdw blurRad="38100" dist="38100" dir="2700000" algn="tl">
                    <a:srgbClr val="FFFFFF"/>
                  </a:outerShdw>
                </a:effectLst>
                <a:latin typeface="Arial" pitchFamily="34" charset="0"/>
                <a:ea typeface="楷体_GB2312" pitchFamily="49" charset="-122"/>
              </a:rPr>
              <a:t>（</a:t>
            </a:r>
            <a:r>
              <a:rPr kumimoji="0" lang="en-US" altLang="zh-CN" sz="2400" dirty="0">
                <a:effectLst>
                  <a:outerShdw blurRad="38100" dist="38100" dir="2700000" algn="tl">
                    <a:srgbClr val="FFFFFF"/>
                  </a:outerShdw>
                </a:effectLst>
                <a:latin typeface="Arial" pitchFamily="34" charset="0"/>
                <a:ea typeface="楷体_GB2312" pitchFamily="49" charset="-122"/>
              </a:rPr>
              <a:t>S</a:t>
            </a:r>
            <a:r>
              <a:rPr kumimoji="0" lang="en-US" altLang="zh-CN" sz="2400" baseline="-25000" dirty="0">
                <a:effectLst>
                  <a:outerShdw blurRad="38100" dist="38100" dir="2700000" algn="tl">
                    <a:srgbClr val="FFFFFF"/>
                  </a:outerShdw>
                </a:effectLst>
                <a:latin typeface="Arial" pitchFamily="34" charset="0"/>
                <a:ea typeface="楷体_GB2312" pitchFamily="49" charset="-122"/>
              </a:rPr>
              <a:t>1</a:t>
            </a:r>
            <a:r>
              <a:rPr kumimoji="0" lang="zh-CN" altLang="en-US" sz="2400" dirty="0">
                <a:effectLst>
                  <a:outerShdw blurRad="38100" dist="38100" dir="2700000" algn="tl">
                    <a:srgbClr val="FFFFFF"/>
                  </a:outerShdw>
                </a:effectLst>
                <a:latin typeface="Arial" pitchFamily="34" charset="0"/>
                <a:ea typeface="楷体_GB2312" pitchFamily="49" charset="-122"/>
              </a:rPr>
              <a:t>，</a:t>
            </a:r>
            <a:r>
              <a:rPr kumimoji="0" lang="en-US" altLang="zh-CN" sz="2400" dirty="0">
                <a:effectLst>
                  <a:outerShdw blurRad="38100" dist="38100" dir="2700000" algn="tl">
                    <a:srgbClr val="FFFFFF"/>
                  </a:outerShdw>
                </a:effectLst>
                <a:latin typeface="Arial" pitchFamily="34" charset="0"/>
                <a:ea typeface="楷体_GB2312" pitchFamily="49" charset="-122"/>
              </a:rPr>
              <a:t>S</a:t>
            </a:r>
            <a:r>
              <a:rPr kumimoji="0" lang="en-US" altLang="zh-CN" sz="2400" baseline="-25000" dirty="0">
                <a:effectLst>
                  <a:outerShdw blurRad="38100" dist="38100" dir="2700000" algn="tl">
                    <a:srgbClr val="FFFFFF"/>
                  </a:outerShdw>
                </a:effectLst>
                <a:latin typeface="Arial" pitchFamily="34" charset="0"/>
                <a:ea typeface="楷体_GB2312" pitchFamily="49" charset="-122"/>
              </a:rPr>
              <a:t>2</a:t>
            </a:r>
            <a:r>
              <a:rPr kumimoji="0" lang="zh-CN" altLang="en-US" sz="2400" dirty="0">
                <a:effectLst>
                  <a:outerShdw blurRad="38100" dist="38100" dir="2700000" algn="tl">
                    <a:srgbClr val="FFFFFF"/>
                  </a:outerShdw>
                </a:effectLst>
                <a:latin typeface="Arial" pitchFamily="34" charset="0"/>
                <a:ea typeface="楷体_GB2312" pitchFamily="49" charset="-122"/>
              </a:rPr>
              <a:t>，</a:t>
            </a:r>
            <a:r>
              <a:rPr kumimoji="0" lang="en-US" altLang="zh-CN" sz="2400" dirty="0">
                <a:effectLst>
                  <a:outerShdw blurRad="38100" dist="38100" dir="2700000" algn="tl">
                    <a:srgbClr val="FFFFFF"/>
                  </a:outerShdw>
                </a:effectLst>
                <a:latin typeface="Arial" pitchFamily="34" charset="0"/>
                <a:ea typeface="楷体_GB2312" pitchFamily="49" charset="-122"/>
              </a:rPr>
              <a:t>S</a:t>
            </a:r>
            <a:r>
              <a:rPr kumimoji="0" lang="en-US" altLang="zh-CN" sz="2400" baseline="-25000" dirty="0">
                <a:effectLst>
                  <a:outerShdw blurRad="38100" dist="38100" dir="2700000" algn="tl">
                    <a:srgbClr val="FFFFFF"/>
                  </a:outerShdw>
                </a:effectLst>
                <a:latin typeface="Arial" pitchFamily="34" charset="0"/>
                <a:ea typeface="楷体_GB2312" pitchFamily="49" charset="-122"/>
              </a:rPr>
              <a:t>3</a:t>
            </a:r>
            <a:r>
              <a:rPr kumimoji="0" lang="en-US" altLang="zh-CN" sz="2400" dirty="0">
                <a:effectLst>
                  <a:outerShdw blurRad="38100" dist="38100" dir="2700000" algn="tl">
                    <a:srgbClr val="FFFFFF"/>
                  </a:outerShdw>
                </a:effectLst>
                <a:latin typeface="Arial" pitchFamily="34" charset="0"/>
                <a:ea typeface="楷体_GB2312" pitchFamily="49" charset="-122"/>
              </a:rPr>
              <a:t>……S</a:t>
            </a:r>
            <a:r>
              <a:rPr kumimoji="0" lang="en-US" altLang="zh-CN" sz="2400" baseline="-25000" dirty="0">
                <a:effectLst>
                  <a:outerShdw blurRad="38100" dist="38100" dir="2700000" algn="tl">
                    <a:srgbClr val="FFFFFF"/>
                  </a:outerShdw>
                </a:effectLst>
                <a:latin typeface="Arial" pitchFamily="34" charset="0"/>
                <a:ea typeface="楷体_GB2312" pitchFamily="49" charset="-122"/>
              </a:rPr>
              <a:t>n</a:t>
            </a:r>
            <a:r>
              <a:rPr kumimoji="0" lang="zh-CN" altLang="en-US" sz="2400" dirty="0">
                <a:effectLst>
                  <a:outerShdw blurRad="38100" dist="38100" dir="2700000" algn="tl">
                    <a:srgbClr val="FFFFFF"/>
                  </a:outerShdw>
                </a:effectLst>
                <a:latin typeface="Arial" pitchFamily="34" charset="0"/>
                <a:ea typeface="楷体_GB2312" pitchFamily="49" charset="-122"/>
              </a:rPr>
              <a:t>）</a:t>
            </a:r>
          </a:p>
        </p:txBody>
      </p:sp>
      <p:sp>
        <p:nvSpPr>
          <p:cNvPr id="50" name="文本框 19"/>
          <p:cNvSpPr txBox="1">
            <a:spLocks noChangeArrowheads="1"/>
          </p:cNvSpPr>
          <p:nvPr/>
        </p:nvSpPr>
        <p:spPr bwMode="auto">
          <a:xfrm>
            <a:off x="1131635" y="4147614"/>
            <a:ext cx="2234417"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en-US" sz="2400" dirty="0"/>
              <a:t>进程要么一次获得所有的资源，要么一个也申请不到。</a:t>
            </a:r>
          </a:p>
        </p:txBody>
      </p:sp>
    </p:spTree>
    <p:extLst>
      <p:ext uri="{BB962C8B-B14F-4D97-AF65-F5344CB8AC3E}">
        <p14:creationId xmlns:p14="http://schemas.microsoft.com/office/powerpoint/2010/main" val="1685771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wipe(left)">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wipe(left)">
                                      <p:cBhvr>
                                        <p:cTn id="17" dur="500"/>
                                        <p:tgtEl>
                                          <p:spTgt spid="28"/>
                                        </p:tgtEl>
                                      </p:cBhvr>
                                    </p:animEffec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dissolve">
                                      <p:cBhvr>
                                        <p:cTn id="21" dur="500"/>
                                        <p:tgtEl>
                                          <p:spTgt spid="1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grpId="0" nodeType="clickEffect">
                                  <p:stCondLst>
                                    <p:cond delay="0"/>
                                  </p:stCondLst>
                                  <p:childTnLst>
                                    <p:set>
                                      <p:cBhvr>
                                        <p:cTn id="25" dur="1" fill="hold">
                                          <p:stCondLst>
                                            <p:cond delay="0"/>
                                          </p:stCondLst>
                                        </p:cTn>
                                        <p:tgtEl>
                                          <p:spTgt spid="36"/>
                                        </p:tgtEl>
                                        <p:attrNameLst>
                                          <p:attrName>style.visibility</p:attrName>
                                        </p:attrNameLst>
                                      </p:cBhvr>
                                      <p:to>
                                        <p:strVal val="visible"/>
                                      </p:to>
                                    </p:set>
                                    <p:animEffect transition="in" filter="wipe(right)">
                                      <p:cBhvr>
                                        <p:cTn id="26" dur="500"/>
                                        <p:tgtEl>
                                          <p:spTgt spid="3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wipe(left)">
                                      <p:cBhvr>
                                        <p:cTn id="31" dur="500"/>
                                        <p:tgtEl>
                                          <p:spTgt spid="29"/>
                                        </p:tgtEl>
                                      </p:cBhvr>
                                    </p:animEffect>
                                  </p:childTnLst>
                                </p:cTn>
                              </p:par>
                            </p:childTnLst>
                          </p:cTn>
                        </p:par>
                        <p:par>
                          <p:cTn id="32" fill="hold">
                            <p:stCondLst>
                              <p:cond delay="500"/>
                            </p:stCondLst>
                            <p:childTnLst>
                              <p:par>
                                <p:cTn id="33" presetID="9" presetClass="entr" presetSubtype="0" fill="hold" nodeType="after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dissolve">
                                      <p:cBhvr>
                                        <p:cTn id="35" dur="500"/>
                                        <p:tgtEl>
                                          <p:spTgt spid="2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37"/>
                                        </p:tgtEl>
                                        <p:attrNameLst>
                                          <p:attrName>style.visibility</p:attrName>
                                        </p:attrNameLst>
                                      </p:cBhvr>
                                      <p:to>
                                        <p:strVal val="visible"/>
                                      </p:to>
                                    </p:set>
                                    <p:animEffect transition="in" filter="wipe(left)">
                                      <p:cBhvr>
                                        <p:cTn id="40" dur="500"/>
                                        <p:tgtEl>
                                          <p:spTgt spid="37"/>
                                        </p:tgtEl>
                                      </p:cBhvr>
                                    </p:animEffect>
                                  </p:childTnLst>
                                </p:cTn>
                              </p:par>
                            </p:childTnLst>
                          </p:cTn>
                        </p:par>
                        <p:par>
                          <p:cTn id="41" fill="hold">
                            <p:stCondLst>
                              <p:cond delay="500"/>
                            </p:stCondLst>
                            <p:childTnLst>
                              <p:par>
                                <p:cTn id="42" presetID="22" presetClass="entr" presetSubtype="4" fill="hold" grpId="0" nodeType="afterEffect">
                                  <p:stCondLst>
                                    <p:cond delay="0"/>
                                  </p:stCondLst>
                                  <p:childTnLst>
                                    <p:set>
                                      <p:cBhvr>
                                        <p:cTn id="43" dur="1" fill="hold">
                                          <p:stCondLst>
                                            <p:cond delay="0"/>
                                          </p:stCondLst>
                                        </p:cTn>
                                        <p:tgtEl>
                                          <p:spTgt spid="38"/>
                                        </p:tgtEl>
                                        <p:attrNameLst>
                                          <p:attrName>style.visibility</p:attrName>
                                        </p:attrNameLst>
                                      </p:cBhvr>
                                      <p:to>
                                        <p:strVal val="visible"/>
                                      </p:to>
                                    </p:set>
                                    <p:animEffect transition="in" filter="wipe(down)">
                                      <p:cBhvr>
                                        <p:cTn id="44" dur="500"/>
                                        <p:tgtEl>
                                          <p:spTgt spid="38"/>
                                        </p:tgtEl>
                                      </p:cBhvr>
                                    </p:animEffect>
                                  </p:childTnLst>
                                </p:cTn>
                              </p:par>
                            </p:childTnLst>
                          </p:cTn>
                        </p:par>
                        <p:par>
                          <p:cTn id="45" fill="hold">
                            <p:stCondLst>
                              <p:cond delay="1000"/>
                            </p:stCondLst>
                            <p:childTnLst>
                              <p:par>
                                <p:cTn id="46" presetID="22" presetClass="entr" presetSubtype="2" fill="hold" grpId="0" nodeType="afterEffect">
                                  <p:stCondLst>
                                    <p:cond delay="0"/>
                                  </p:stCondLst>
                                  <p:childTnLst>
                                    <p:set>
                                      <p:cBhvr>
                                        <p:cTn id="47" dur="1" fill="hold">
                                          <p:stCondLst>
                                            <p:cond delay="0"/>
                                          </p:stCondLst>
                                        </p:cTn>
                                        <p:tgtEl>
                                          <p:spTgt spid="39"/>
                                        </p:tgtEl>
                                        <p:attrNameLst>
                                          <p:attrName>style.visibility</p:attrName>
                                        </p:attrNameLst>
                                      </p:cBhvr>
                                      <p:to>
                                        <p:strVal val="visible"/>
                                      </p:to>
                                    </p:set>
                                    <p:animEffect transition="in" filter="wipe(right)">
                                      <p:cBhvr>
                                        <p:cTn id="48" dur="500"/>
                                        <p:tgtEl>
                                          <p:spTgt spid="39"/>
                                        </p:tgtEl>
                                      </p:cBhvr>
                                    </p:animEffect>
                                  </p:childTnLst>
                                </p:cTn>
                              </p:par>
                            </p:childTnLst>
                          </p:cTn>
                        </p:par>
                        <p:par>
                          <p:cTn id="49" fill="hold">
                            <p:stCondLst>
                              <p:cond delay="1500"/>
                            </p:stCondLst>
                            <p:childTnLst>
                              <p:par>
                                <p:cTn id="50" presetID="9" presetClass="entr" presetSubtype="0" fill="hold" grpId="0" nodeType="afterEffect">
                                  <p:stCondLst>
                                    <p:cond delay="0"/>
                                  </p:stCondLst>
                                  <p:childTnLst>
                                    <p:set>
                                      <p:cBhvr>
                                        <p:cTn id="51" dur="1" fill="hold">
                                          <p:stCondLst>
                                            <p:cond delay="0"/>
                                          </p:stCondLst>
                                        </p:cTn>
                                        <p:tgtEl>
                                          <p:spTgt spid="31"/>
                                        </p:tgtEl>
                                        <p:attrNameLst>
                                          <p:attrName>style.visibility</p:attrName>
                                        </p:attrNameLst>
                                      </p:cBhvr>
                                      <p:to>
                                        <p:strVal val="visible"/>
                                      </p:to>
                                    </p:set>
                                    <p:animEffect transition="in" filter="dissolve">
                                      <p:cBhvr>
                                        <p:cTn id="52" dur="500"/>
                                        <p:tgtEl>
                                          <p:spTgt spid="31"/>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30"/>
                                        </p:tgtEl>
                                        <p:attrNameLst>
                                          <p:attrName>style.visibility</p:attrName>
                                        </p:attrNameLst>
                                      </p:cBhvr>
                                      <p:to>
                                        <p:strVal val="visible"/>
                                      </p:to>
                                    </p:set>
                                    <p:animEffect transition="in" filter="wipe(left)">
                                      <p:cBhvr>
                                        <p:cTn id="57" dur="500"/>
                                        <p:tgtEl>
                                          <p:spTgt spid="30"/>
                                        </p:tgtEl>
                                      </p:cBhvr>
                                    </p:animEffect>
                                  </p:childTnLst>
                                </p:cTn>
                              </p:par>
                            </p:childTnLst>
                          </p:cTn>
                        </p:par>
                        <p:par>
                          <p:cTn id="58" fill="hold">
                            <p:stCondLst>
                              <p:cond delay="500"/>
                            </p:stCondLst>
                            <p:childTnLst>
                              <p:par>
                                <p:cTn id="59" presetID="9" presetClass="entr" presetSubtype="0" fill="hold" nodeType="afterEffect">
                                  <p:stCondLst>
                                    <p:cond delay="0"/>
                                  </p:stCondLst>
                                  <p:childTnLst>
                                    <p:set>
                                      <p:cBhvr>
                                        <p:cTn id="60" dur="1" fill="hold">
                                          <p:stCondLst>
                                            <p:cond delay="0"/>
                                          </p:stCondLst>
                                        </p:cTn>
                                        <p:tgtEl>
                                          <p:spTgt spid="25"/>
                                        </p:tgtEl>
                                        <p:attrNameLst>
                                          <p:attrName>style.visibility</p:attrName>
                                        </p:attrNameLst>
                                      </p:cBhvr>
                                      <p:to>
                                        <p:strVal val="visible"/>
                                      </p:to>
                                    </p:set>
                                    <p:animEffect transition="in" filter="dissolve">
                                      <p:cBhvr>
                                        <p:cTn id="61" dur="500"/>
                                        <p:tgtEl>
                                          <p:spTgt spid="25"/>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wipe(left)">
                                      <p:cBhvr>
                                        <p:cTn id="66" dur="500"/>
                                        <p:tgtEl>
                                          <p:spTgt spid="40"/>
                                        </p:tgtEl>
                                      </p:cBhvr>
                                    </p:animEffect>
                                  </p:childTnLst>
                                </p:cTn>
                              </p:par>
                            </p:childTnLst>
                          </p:cTn>
                        </p:par>
                        <p:par>
                          <p:cTn id="67" fill="hold">
                            <p:stCondLst>
                              <p:cond delay="500"/>
                            </p:stCondLst>
                            <p:childTnLst>
                              <p:par>
                                <p:cTn id="68" presetID="9" presetClass="entr" presetSubtype="0" fill="hold" grpId="0" nodeType="afterEffect">
                                  <p:stCondLst>
                                    <p:cond delay="0"/>
                                  </p:stCondLst>
                                  <p:childTnLst>
                                    <p:set>
                                      <p:cBhvr>
                                        <p:cTn id="69" dur="1" fill="hold">
                                          <p:stCondLst>
                                            <p:cond delay="0"/>
                                          </p:stCondLst>
                                        </p:cTn>
                                        <p:tgtEl>
                                          <p:spTgt spid="32"/>
                                        </p:tgtEl>
                                        <p:attrNameLst>
                                          <p:attrName>style.visibility</p:attrName>
                                        </p:attrNameLst>
                                      </p:cBhvr>
                                      <p:to>
                                        <p:strVal val="visible"/>
                                      </p:to>
                                    </p:set>
                                    <p:animEffect transition="in" filter="dissolve">
                                      <p:cBhvr>
                                        <p:cTn id="70" dur="500"/>
                                        <p:tgtEl>
                                          <p:spTgt spid="32"/>
                                        </p:tgtEl>
                                      </p:cBhvr>
                                    </p:animEffect>
                                  </p:childTnLst>
                                </p:cTn>
                              </p:par>
                            </p:childTnLst>
                          </p:cTn>
                        </p:par>
                      </p:childTnLst>
                    </p:cTn>
                  </p:par>
                  <p:par>
                    <p:cTn id="71" fill="hold">
                      <p:stCondLst>
                        <p:cond delay="indefinite"/>
                      </p:stCondLst>
                      <p:childTnLst>
                        <p:par>
                          <p:cTn id="72" fill="hold">
                            <p:stCondLst>
                              <p:cond delay="0"/>
                            </p:stCondLst>
                            <p:childTnLst>
                              <p:par>
                                <p:cTn id="73" presetID="51" presetClass="entr" presetSubtype="0" fill="hold" grpId="0" nodeType="clickEffect">
                                  <p:stCondLst>
                                    <p:cond delay="0"/>
                                  </p:stCondLst>
                                  <p:childTnLst>
                                    <p:set>
                                      <p:cBhvr>
                                        <p:cTn id="74" dur="1" fill="hold">
                                          <p:stCondLst>
                                            <p:cond delay="0"/>
                                          </p:stCondLst>
                                        </p:cTn>
                                        <p:tgtEl>
                                          <p:spTgt spid="41"/>
                                        </p:tgtEl>
                                        <p:attrNameLst>
                                          <p:attrName>style.visibility</p:attrName>
                                        </p:attrNameLst>
                                      </p:cBhvr>
                                      <p:to>
                                        <p:strVal val="visible"/>
                                      </p:to>
                                    </p:set>
                                    <p:animEffect transition="in" filter="fade">
                                      <p:cBhvr>
                                        <p:cTn id="75" dur="770" decel="100000"/>
                                        <p:tgtEl>
                                          <p:spTgt spid="41"/>
                                        </p:tgtEl>
                                      </p:cBhvr>
                                    </p:animEffect>
                                    <p:animScale>
                                      <p:cBhvr>
                                        <p:cTn id="76" dur="770" decel="100000"/>
                                        <p:tgtEl>
                                          <p:spTgt spid="41"/>
                                        </p:tgtEl>
                                      </p:cBhvr>
                                      <p:from x="10000" y="10000"/>
                                      <p:to x="200000" y="450000"/>
                                    </p:animScale>
                                    <p:animScale>
                                      <p:cBhvr>
                                        <p:cTn id="77" dur="1230" accel="100000" fill="hold">
                                          <p:stCondLst>
                                            <p:cond delay="770"/>
                                          </p:stCondLst>
                                        </p:cTn>
                                        <p:tgtEl>
                                          <p:spTgt spid="41"/>
                                        </p:tgtEl>
                                      </p:cBhvr>
                                      <p:from x="200000" y="450000"/>
                                      <p:to x="100000" y="100000"/>
                                    </p:animScale>
                                    <p:set>
                                      <p:cBhvr>
                                        <p:cTn id="78" dur="770" fill="hold"/>
                                        <p:tgtEl>
                                          <p:spTgt spid="41"/>
                                        </p:tgtEl>
                                        <p:attrNameLst>
                                          <p:attrName>ppt_x</p:attrName>
                                        </p:attrNameLst>
                                      </p:cBhvr>
                                      <p:to>
                                        <p:strVal val="(0.5)"/>
                                      </p:to>
                                    </p:set>
                                    <p:anim from="(0.5)" to="(#ppt_x)" calcmode="lin" valueType="num">
                                      <p:cBhvr>
                                        <p:cTn id="79" dur="1230" accel="100000" fill="hold">
                                          <p:stCondLst>
                                            <p:cond delay="770"/>
                                          </p:stCondLst>
                                        </p:cTn>
                                        <p:tgtEl>
                                          <p:spTgt spid="41"/>
                                        </p:tgtEl>
                                        <p:attrNameLst>
                                          <p:attrName>ppt_x</p:attrName>
                                        </p:attrNameLst>
                                      </p:cBhvr>
                                    </p:anim>
                                    <p:set>
                                      <p:cBhvr>
                                        <p:cTn id="80" dur="770" fill="hold"/>
                                        <p:tgtEl>
                                          <p:spTgt spid="41"/>
                                        </p:tgtEl>
                                        <p:attrNameLst>
                                          <p:attrName>ppt_y</p:attrName>
                                        </p:attrNameLst>
                                      </p:cBhvr>
                                      <p:to>
                                        <p:strVal val="(#ppt_y+0.4)"/>
                                      </p:to>
                                    </p:set>
                                    <p:anim from="(#ppt_y+0.4)" to="(#ppt_y)" calcmode="lin" valueType="num">
                                      <p:cBhvr>
                                        <p:cTn id="81" dur="1230" accel="100000" fill="hold">
                                          <p:stCondLst>
                                            <p:cond delay="770"/>
                                          </p:stCondLst>
                                        </p:cTn>
                                        <p:tgtEl>
                                          <p:spTgt spid="41"/>
                                        </p:tgtEl>
                                        <p:attrNameLst>
                                          <p:attrName>ppt_y</p:attrName>
                                        </p:attrNameLst>
                                      </p:cBhvr>
                                    </p:anim>
                                  </p:childTnLst>
                                </p:cTn>
                              </p:par>
                            </p:childTnLst>
                          </p:cTn>
                        </p:par>
                      </p:childTnLst>
                    </p:cTn>
                  </p:par>
                  <p:par>
                    <p:cTn id="82" fill="hold">
                      <p:stCondLst>
                        <p:cond delay="indefinite"/>
                      </p:stCondLst>
                      <p:childTnLst>
                        <p:par>
                          <p:cTn id="83" fill="hold">
                            <p:stCondLst>
                              <p:cond delay="0"/>
                            </p:stCondLst>
                            <p:childTnLst>
                              <p:par>
                                <p:cTn id="84" presetID="22" presetClass="entr" presetSubtype="4" fill="hold" grpId="0" nodeType="clickEffect">
                                  <p:stCondLst>
                                    <p:cond delay="0"/>
                                  </p:stCondLst>
                                  <p:childTnLst>
                                    <p:set>
                                      <p:cBhvr>
                                        <p:cTn id="85" dur="1" fill="hold">
                                          <p:stCondLst>
                                            <p:cond delay="0"/>
                                          </p:stCondLst>
                                        </p:cTn>
                                        <p:tgtEl>
                                          <p:spTgt spid="48"/>
                                        </p:tgtEl>
                                        <p:attrNameLst>
                                          <p:attrName>style.visibility</p:attrName>
                                        </p:attrNameLst>
                                      </p:cBhvr>
                                      <p:to>
                                        <p:strVal val="visible"/>
                                      </p:to>
                                    </p:set>
                                    <p:animEffect transition="in" filter="wipe(down)">
                                      <p:cBhvr>
                                        <p:cTn id="86" dur="500"/>
                                        <p:tgtEl>
                                          <p:spTgt spid="48"/>
                                        </p:tgtEl>
                                      </p:cBhvr>
                                    </p:animEffect>
                                  </p:childTnLst>
                                </p:cTn>
                              </p:par>
                            </p:childTnLst>
                          </p:cTn>
                        </p:par>
                      </p:childTnLst>
                    </p:cTn>
                  </p:par>
                  <p:par>
                    <p:cTn id="87" fill="hold">
                      <p:stCondLst>
                        <p:cond delay="indefinite"/>
                      </p:stCondLst>
                      <p:childTnLst>
                        <p:par>
                          <p:cTn id="88" fill="hold">
                            <p:stCondLst>
                              <p:cond delay="0"/>
                            </p:stCondLst>
                            <p:childTnLst>
                              <p:par>
                                <p:cTn id="89" presetID="18" presetClass="entr" presetSubtype="12" fill="hold" grpId="0" nodeType="clickEffect">
                                  <p:stCondLst>
                                    <p:cond delay="0"/>
                                  </p:stCondLst>
                                  <p:childTnLst>
                                    <p:set>
                                      <p:cBhvr>
                                        <p:cTn id="90" dur="1" fill="hold">
                                          <p:stCondLst>
                                            <p:cond delay="0"/>
                                          </p:stCondLst>
                                        </p:cTn>
                                        <p:tgtEl>
                                          <p:spTgt spid="47"/>
                                        </p:tgtEl>
                                        <p:attrNameLst>
                                          <p:attrName>style.visibility</p:attrName>
                                        </p:attrNameLst>
                                      </p:cBhvr>
                                      <p:to>
                                        <p:strVal val="visible"/>
                                      </p:to>
                                    </p:set>
                                    <p:animEffect transition="in" filter="strips(downLeft)">
                                      <p:cBhvr>
                                        <p:cTn id="91" dur="500"/>
                                        <p:tgtEl>
                                          <p:spTgt spid="47"/>
                                        </p:tgtEl>
                                      </p:cBhvr>
                                    </p:animEffect>
                                  </p:childTnLst>
                                </p:cTn>
                              </p:par>
                            </p:childTnLst>
                          </p:cTn>
                        </p:par>
                      </p:childTnLst>
                    </p:cTn>
                  </p:par>
                  <p:par>
                    <p:cTn id="92" fill="hold">
                      <p:stCondLst>
                        <p:cond delay="indefinite"/>
                      </p:stCondLst>
                      <p:childTnLst>
                        <p:par>
                          <p:cTn id="93" fill="hold">
                            <p:stCondLst>
                              <p:cond delay="0"/>
                            </p:stCondLst>
                            <p:childTnLst>
                              <p:par>
                                <p:cTn id="94" presetID="22" presetClass="entr" presetSubtype="8" fill="hold" grpId="0" nodeType="clickEffect">
                                  <p:stCondLst>
                                    <p:cond delay="0"/>
                                  </p:stCondLst>
                                  <p:childTnLst>
                                    <p:set>
                                      <p:cBhvr>
                                        <p:cTn id="95" dur="1" fill="hold">
                                          <p:stCondLst>
                                            <p:cond delay="0"/>
                                          </p:stCondLst>
                                        </p:cTn>
                                        <p:tgtEl>
                                          <p:spTgt spid="49"/>
                                        </p:tgtEl>
                                        <p:attrNameLst>
                                          <p:attrName>style.visibility</p:attrName>
                                        </p:attrNameLst>
                                      </p:cBhvr>
                                      <p:to>
                                        <p:strVal val="visible"/>
                                      </p:to>
                                    </p:set>
                                    <p:animEffect transition="in" filter="wipe(left)">
                                      <p:cBhvr>
                                        <p:cTn id="96" dur="500"/>
                                        <p:tgtEl>
                                          <p:spTgt spid="49"/>
                                        </p:tgtEl>
                                      </p:cBhvr>
                                    </p:animEffect>
                                  </p:childTnLst>
                                </p:cTn>
                              </p:par>
                            </p:childTnLst>
                          </p:cTn>
                        </p:par>
                      </p:childTnLst>
                    </p:cTn>
                  </p:par>
                  <p:par>
                    <p:cTn id="97" fill="hold">
                      <p:stCondLst>
                        <p:cond delay="indefinite"/>
                      </p:stCondLst>
                      <p:childTnLst>
                        <p:par>
                          <p:cTn id="98" fill="hold">
                            <p:stCondLst>
                              <p:cond delay="0"/>
                            </p:stCondLst>
                            <p:childTnLst>
                              <p:par>
                                <p:cTn id="99" presetID="18" presetClass="entr" presetSubtype="12" fill="hold" grpId="0" nodeType="clickEffect">
                                  <p:stCondLst>
                                    <p:cond delay="0"/>
                                  </p:stCondLst>
                                  <p:childTnLst>
                                    <p:set>
                                      <p:cBhvr>
                                        <p:cTn id="100" dur="1" fill="hold">
                                          <p:stCondLst>
                                            <p:cond delay="0"/>
                                          </p:stCondLst>
                                        </p:cTn>
                                        <p:tgtEl>
                                          <p:spTgt spid="50"/>
                                        </p:tgtEl>
                                        <p:attrNameLst>
                                          <p:attrName>style.visibility</p:attrName>
                                        </p:attrNameLst>
                                      </p:cBhvr>
                                      <p:to>
                                        <p:strVal val="visible"/>
                                      </p:to>
                                    </p:set>
                                    <p:animEffect transition="in" filter="strips(downLeft)">
                                      <p:cBhvr>
                                        <p:cTn id="101"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5" grpId="0" animBg="1"/>
      <p:bldP spid="36" grpId="0" animBg="1"/>
      <p:bldP spid="37" grpId="0" animBg="1"/>
      <p:bldP spid="38" grpId="0" animBg="1"/>
      <p:bldP spid="39" grpId="0" animBg="1"/>
      <p:bldP spid="40" grpId="0" animBg="1"/>
      <p:bldP spid="41" grpId="0"/>
      <p:bldP spid="47" grpId="0"/>
      <p:bldP spid="48" grpId="0"/>
      <p:bldP spid="49" grpId="0" animBg="1"/>
      <p:bldP spid="5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848833" y="202028"/>
            <a:ext cx="3967716" cy="457196"/>
          </a:xfrm>
        </p:spPr>
        <p:txBody>
          <a:bodyPr/>
          <a:lstStyle/>
          <a:p>
            <a:r>
              <a:rPr lang="en-US" altLang="zh-CN" dirty="0"/>
              <a:t>3.</a:t>
            </a:r>
            <a:r>
              <a:rPr lang="zh-CN" altLang="en-US" dirty="0"/>
              <a:t>信号量机制</a:t>
            </a:r>
          </a:p>
        </p:txBody>
      </p:sp>
      <p:grpSp>
        <p:nvGrpSpPr>
          <p:cNvPr id="4" name="组合 3"/>
          <p:cNvGrpSpPr/>
          <p:nvPr/>
        </p:nvGrpSpPr>
        <p:grpSpPr>
          <a:xfrm>
            <a:off x="1004177" y="1027910"/>
            <a:ext cx="5314736" cy="665162"/>
            <a:chOff x="1004177" y="1027910"/>
            <a:chExt cx="5314736" cy="665162"/>
          </a:xfrm>
        </p:grpSpPr>
        <p:sp>
          <p:nvSpPr>
            <p:cNvPr id="5" name="矩形 4"/>
            <p:cNvSpPr/>
            <p:nvPr/>
          </p:nvSpPr>
          <p:spPr>
            <a:xfrm>
              <a:off x="1150228" y="1561310"/>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矩形 5"/>
            <p:cNvSpPr/>
            <p:nvPr/>
          </p:nvSpPr>
          <p:spPr>
            <a:xfrm>
              <a:off x="2058278" y="1561310"/>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7" name="文本框 55"/>
            <p:cNvSpPr txBox="1">
              <a:spLocks noChangeArrowheads="1"/>
            </p:cNvSpPr>
            <p:nvPr/>
          </p:nvSpPr>
          <p:spPr bwMode="auto">
            <a:xfrm>
              <a:off x="1004177" y="1027910"/>
              <a:ext cx="53147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a:t>
              </a:r>
              <a:r>
                <a:rPr lang="en-US" altLang="zh-CN" sz="2400" b="1" dirty="0">
                  <a:solidFill>
                    <a:srgbClr val="4C7E51"/>
                  </a:solidFill>
                  <a:latin typeface="微软雅黑" panose="020B0503020204020204" pitchFamily="34" charset="-122"/>
                  <a:ea typeface="微软雅黑" panose="020B0503020204020204" pitchFamily="34" charset="-122"/>
                </a:rPr>
                <a:t>AND</a:t>
              </a:r>
              <a:r>
                <a:rPr lang="zh-CN" altLang="en-US" sz="2400" b="1" dirty="0">
                  <a:solidFill>
                    <a:srgbClr val="4C7E51"/>
                  </a:solidFill>
                  <a:latin typeface="微软雅黑" panose="020B0503020204020204" pitchFamily="34" charset="-122"/>
                  <a:ea typeface="微软雅黑" panose="020B0503020204020204" pitchFamily="34" charset="-122"/>
                </a:rPr>
                <a:t>型信号量</a:t>
              </a:r>
            </a:p>
          </p:txBody>
        </p:sp>
      </p:grpSp>
      <p:sp>
        <p:nvSpPr>
          <p:cNvPr id="8" name="Text Box 4"/>
          <p:cNvSpPr txBox="1">
            <a:spLocks noChangeArrowheads="1"/>
          </p:cNvSpPr>
          <p:nvPr/>
        </p:nvSpPr>
        <p:spPr bwMode="auto">
          <a:xfrm>
            <a:off x="988875" y="1934774"/>
            <a:ext cx="5387050" cy="414575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10000"/>
              </a:spcBef>
            </a:pPr>
            <a:r>
              <a:rPr lang="en-US" altLang="zh-CN" dirty="0">
                <a:solidFill>
                  <a:srgbClr val="00B050"/>
                </a:solidFill>
              </a:rPr>
              <a:t>/*</a:t>
            </a:r>
            <a:r>
              <a:rPr lang="en-US" altLang="zh-CN" dirty="0" err="1">
                <a:solidFill>
                  <a:srgbClr val="00B050"/>
                </a:solidFill>
              </a:rPr>
              <a:t>Swait</a:t>
            </a:r>
            <a:r>
              <a:rPr lang="en-US" altLang="zh-CN" dirty="0">
                <a:solidFill>
                  <a:srgbClr val="00B050"/>
                </a:solidFill>
              </a:rPr>
              <a:t>(s)</a:t>
            </a:r>
            <a:r>
              <a:rPr lang="zh-CN" altLang="en-US" dirty="0">
                <a:solidFill>
                  <a:srgbClr val="00B050"/>
                </a:solidFill>
              </a:rPr>
              <a:t>操作</a:t>
            </a:r>
            <a:r>
              <a:rPr lang="en-US" altLang="zh-CN" dirty="0">
                <a:solidFill>
                  <a:srgbClr val="00B050"/>
                </a:solidFill>
              </a:rPr>
              <a:t>*/</a:t>
            </a:r>
          </a:p>
          <a:p>
            <a:pPr lvl="1" eaLnBrk="1" hangingPunct="1">
              <a:lnSpc>
                <a:spcPct val="90000"/>
              </a:lnSpc>
              <a:spcBef>
                <a:spcPts val="600"/>
              </a:spcBef>
            </a:pPr>
            <a:r>
              <a:rPr lang="en-US" altLang="zh-CN" b="0" dirty="0" err="1"/>
              <a:t>Swait</a:t>
            </a:r>
            <a:r>
              <a:rPr lang="en-US" altLang="zh-CN" b="0" dirty="0"/>
              <a:t>(S</a:t>
            </a:r>
            <a:r>
              <a:rPr lang="en-US" altLang="zh-CN" b="0" baseline="-25000" dirty="0"/>
              <a:t>1</a:t>
            </a:r>
            <a:r>
              <a:rPr lang="en-US" altLang="zh-CN" b="0" dirty="0"/>
              <a:t>, S</a:t>
            </a:r>
            <a:r>
              <a:rPr lang="en-US" altLang="zh-CN" b="0" baseline="-25000" dirty="0"/>
              <a:t>2</a:t>
            </a:r>
            <a:r>
              <a:rPr lang="en-US" altLang="zh-CN" b="0" dirty="0"/>
              <a:t>, … ,S</a:t>
            </a:r>
            <a:r>
              <a:rPr lang="en-US" altLang="zh-CN" b="0" baseline="-25000" dirty="0"/>
              <a:t>n</a:t>
            </a:r>
            <a:r>
              <a:rPr lang="en-US" altLang="zh-CN" b="0" dirty="0"/>
              <a:t>) {</a:t>
            </a:r>
          </a:p>
          <a:p>
            <a:pPr lvl="1" eaLnBrk="1" hangingPunct="1">
              <a:lnSpc>
                <a:spcPct val="90000"/>
              </a:lnSpc>
              <a:spcBef>
                <a:spcPts val="600"/>
              </a:spcBef>
            </a:pPr>
            <a:r>
              <a:rPr lang="en-US" altLang="zh-CN" b="0" dirty="0"/>
              <a:t>        while(TRUE) {</a:t>
            </a:r>
          </a:p>
          <a:p>
            <a:pPr lvl="1" eaLnBrk="1" hangingPunct="1">
              <a:lnSpc>
                <a:spcPct val="90000"/>
              </a:lnSpc>
              <a:spcBef>
                <a:spcPts val="600"/>
              </a:spcBef>
            </a:pPr>
            <a:r>
              <a:rPr lang="en-US" altLang="zh-CN" b="0" dirty="0"/>
              <a:t>            if (S</a:t>
            </a:r>
            <a:r>
              <a:rPr lang="en-US" altLang="zh-CN" b="0" baseline="-25000" dirty="0"/>
              <a:t>1</a:t>
            </a:r>
            <a:r>
              <a:rPr lang="en-US" altLang="zh-CN" b="0" dirty="0"/>
              <a:t>&gt;=1 &amp;&amp; … &amp;&amp; S</a:t>
            </a:r>
            <a:r>
              <a:rPr lang="en-US" altLang="zh-CN" b="0" baseline="-25000" dirty="0"/>
              <a:t>n</a:t>
            </a:r>
            <a:r>
              <a:rPr lang="en-US" altLang="zh-CN" b="0" dirty="0"/>
              <a:t>&gt;=1){</a:t>
            </a:r>
          </a:p>
          <a:p>
            <a:pPr lvl="1" eaLnBrk="1" hangingPunct="1">
              <a:lnSpc>
                <a:spcPct val="90000"/>
              </a:lnSpc>
              <a:spcBef>
                <a:spcPts val="600"/>
              </a:spcBef>
            </a:pPr>
            <a:r>
              <a:rPr lang="en-US" altLang="zh-CN" b="0" dirty="0"/>
              <a:t>                for (</a:t>
            </a:r>
            <a:r>
              <a:rPr lang="en-US" altLang="zh-CN" b="0" dirty="0" err="1"/>
              <a:t>i</a:t>
            </a:r>
            <a:r>
              <a:rPr lang="en-US" altLang="zh-CN" b="0" dirty="0"/>
              <a:t>=1; </a:t>
            </a:r>
            <a:r>
              <a:rPr lang="en-US" altLang="zh-CN" b="0" dirty="0" err="1"/>
              <a:t>i</a:t>
            </a:r>
            <a:r>
              <a:rPr lang="en-US" altLang="zh-CN" b="0" dirty="0"/>
              <a:t>&lt;=</a:t>
            </a:r>
            <a:r>
              <a:rPr lang="en-US" altLang="zh-CN" b="0" dirty="0" err="1"/>
              <a:t>n;i</a:t>
            </a:r>
            <a:r>
              <a:rPr lang="en-US" altLang="zh-CN" b="0" dirty="0"/>
              <a:t>++) S</a:t>
            </a:r>
            <a:r>
              <a:rPr lang="en-US" altLang="zh-CN" b="0" baseline="-25000" dirty="0"/>
              <a:t>i</a:t>
            </a:r>
            <a:r>
              <a:rPr lang="en-US" altLang="zh-CN" b="0" dirty="0"/>
              <a:t>--; </a:t>
            </a:r>
          </a:p>
          <a:p>
            <a:pPr lvl="1" eaLnBrk="1" hangingPunct="1">
              <a:lnSpc>
                <a:spcPct val="90000"/>
              </a:lnSpc>
              <a:spcBef>
                <a:spcPts val="600"/>
              </a:spcBef>
            </a:pPr>
            <a:r>
              <a:rPr lang="en-US" altLang="zh-CN" b="0" dirty="0"/>
              <a:t>                break;</a:t>
            </a:r>
          </a:p>
          <a:p>
            <a:pPr lvl="1" eaLnBrk="1" hangingPunct="1">
              <a:lnSpc>
                <a:spcPct val="90000"/>
              </a:lnSpc>
              <a:spcBef>
                <a:spcPts val="600"/>
              </a:spcBef>
            </a:pPr>
            <a:r>
              <a:rPr lang="en-US" altLang="zh-CN" b="0" dirty="0"/>
              <a:t>            }</a:t>
            </a:r>
          </a:p>
          <a:p>
            <a:pPr lvl="1" eaLnBrk="1" hangingPunct="1">
              <a:lnSpc>
                <a:spcPct val="90000"/>
              </a:lnSpc>
              <a:spcBef>
                <a:spcPts val="600"/>
              </a:spcBef>
            </a:pPr>
            <a:r>
              <a:rPr lang="en-US" altLang="zh-CN" b="0" dirty="0"/>
              <a:t>            else {</a:t>
            </a:r>
            <a:r>
              <a:rPr lang="zh-CN" altLang="en-US" b="0" dirty="0"/>
              <a:t>阻塞</a:t>
            </a:r>
            <a:r>
              <a:rPr lang="en-US" altLang="zh-CN" b="0" dirty="0"/>
              <a:t>}</a:t>
            </a:r>
          </a:p>
          <a:p>
            <a:pPr lvl="1" eaLnBrk="1" hangingPunct="1">
              <a:lnSpc>
                <a:spcPct val="90000"/>
              </a:lnSpc>
              <a:spcBef>
                <a:spcPts val="600"/>
              </a:spcBef>
            </a:pPr>
            <a:r>
              <a:rPr lang="en-US" altLang="zh-CN" b="0" dirty="0"/>
              <a:t>        }</a:t>
            </a:r>
          </a:p>
          <a:p>
            <a:pPr lvl="1" eaLnBrk="1" hangingPunct="1">
              <a:lnSpc>
                <a:spcPct val="90000"/>
              </a:lnSpc>
              <a:spcBef>
                <a:spcPts val="600"/>
              </a:spcBef>
            </a:pPr>
            <a:r>
              <a:rPr lang="en-US" altLang="zh-CN" b="0" dirty="0"/>
              <a:t>    }</a:t>
            </a:r>
          </a:p>
        </p:txBody>
      </p:sp>
      <p:sp>
        <p:nvSpPr>
          <p:cNvPr id="11" name="Text Box 6"/>
          <p:cNvSpPr txBox="1">
            <a:spLocks noChangeArrowheads="1"/>
          </p:cNvSpPr>
          <p:nvPr/>
        </p:nvSpPr>
        <p:spPr bwMode="auto">
          <a:xfrm>
            <a:off x="6138824" y="1469540"/>
            <a:ext cx="3416320" cy="400110"/>
          </a:xfrm>
          <a:prstGeom prst="rect">
            <a:avLst/>
          </a:prstGeom>
          <a:noFill/>
          <a:ln w="9525">
            <a:noFill/>
            <a:miter lim="800000"/>
            <a:headEnd/>
            <a:tailEnd/>
          </a:ln>
          <a:effectLst/>
        </p:spPr>
        <p:txBody>
          <a:bodyPr wrap="none">
            <a:spAutoFit/>
          </a:bodyPr>
          <a:lstStyle/>
          <a:p>
            <a:pPr>
              <a:defRPr/>
            </a:pPr>
            <a:r>
              <a:rPr kumimoji="0" lang="en-US" altLang="zh-CN" sz="2000" dirty="0" err="1">
                <a:effectLst>
                  <a:outerShdw blurRad="38100" dist="38100" dir="2700000" algn="tl">
                    <a:srgbClr val="C0C0C0"/>
                  </a:outerShdw>
                </a:effectLst>
                <a:latin typeface="Arial" pitchFamily="34" charset="0"/>
                <a:ea typeface="楷体_GB2312" pitchFamily="49" charset="-122"/>
              </a:rPr>
              <a:t>Swait</a:t>
            </a:r>
            <a:r>
              <a:rPr kumimoji="0" lang="zh-CN" altLang="en-US" sz="2000" dirty="0">
                <a:effectLst>
                  <a:outerShdw blurRad="38100" dist="38100" dir="2700000" algn="tl">
                    <a:srgbClr val="C0C0C0"/>
                  </a:outerShdw>
                </a:effectLst>
                <a:latin typeface="Arial" pitchFamily="34" charset="0"/>
                <a:ea typeface="楷体_GB2312" pitchFamily="49" charset="-122"/>
              </a:rPr>
              <a:t>（</a:t>
            </a:r>
            <a:r>
              <a:rPr kumimoji="0" lang="en-US" altLang="zh-CN" sz="2000" dirty="0">
                <a:effectLst>
                  <a:outerShdw blurRad="38100" dist="38100" dir="2700000" algn="tl">
                    <a:srgbClr val="C0C0C0"/>
                  </a:outerShdw>
                </a:effectLst>
                <a:latin typeface="Arial" pitchFamily="34" charset="0"/>
                <a:ea typeface="楷体_GB2312" pitchFamily="49" charset="-122"/>
              </a:rPr>
              <a:t>S</a:t>
            </a:r>
            <a:r>
              <a:rPr kumimoji="0" lang="en-US" altLang="zh-CN" sz="2000" baseline="-25000" dirty="0">
                <a:effectLst>
                  <a:outerShdw blurRad="38100" dist="38100" dir="2700000" algn="tl">
                    <a:srgbClr val="C0C0C0"/>
                  </a:outerShdw>
                </a:effectLst>
                <a:latin typeface="Arial" pitchFamily="34" charset="0"/>
                <a:ea typeface="楷体_GB2312" pitchFamily="49" charset="-122"/>
              </a:rPr>
              <a:t>1</a:t>
            </a:r>
            <a:r>
              <a:rPr kumimoji="0" lang="zh-CN" altLang="en-US" sz="2000" dirty="0">
                <a:effectLst>
                  <a:outerShdw blurRad="38100" dist="38100" dir="2700000" algn="tl">
                    <a:srgbClr val="C0C0C0"/>
                  </a:outerShdw>
                </a:effectLst>
                <a:latin typeface="Arial" pitchFamily="34" charset="0"/>
                <a:ea typeface="楷体_GB2312" pitchFamily="49" charset="-122"/>
              </a:rPr>
              <a:t>，</a:t>
            </a:r>
            <a:r>
              <a:rPr kumimoji="0" lang="en-US" altLang="zh-CN" sz="2000" dirty="0">
                <a:effectLst>
                  <a:outerShdw blurRad="38100" dist="38100" dir="2700000" algn="tl">
                    <a:srgbClr val="C0C0C0"/>
                  </a:outerShdw>
                </a:effectLst>
                <a:latin typeface="Arial" pitchFamily="34" charset="0"/>
                <a:ea typeface="楷体_GB2312" pitchFamily="49" charset="-122"/>
              </a:rPr>
              <a:t>S</a:t>
            </a:r>
            <a:r>
              <a:rPr kumimoji="0" lang="en-US" altLang="zh-CN" sz="2000" baseline="-25000" dirty="0">
                <a:effectLst>
                  <a:outerShdw blurRad="38100" dist="38100" dir="2700000" algn="tl">
                    <a:srgbClr val="C0C0C0"/>
                  </a:outerShdw>
                </a:effectLst>
                <a:latin typeface="Arial" pitchFamily="34" charset="0"/>
                <a:ea typeface="楷体_GB2312" pitchFamily="49" charset="-122"/>
              </a:rPr>
              <a:t>2</a:t>
            </a:r>
            <a:r>
              <a:rPr kumimoji="0" lang="zh-CN" altLang="en-US" sz="2000" dirty="0">
                <a:effectLst>
                  <a:outerShdw blurRad="38100" dist="38100" dir="2700000" algn="tl">
                    <a:srgbClr val="C0C0C0"/>
                  </a:outerShdw>
                </a:effectLst>
                <a:latin typeface="Arial" pitchFamily="34" charset="0"/>
                <a:ea typeface="楷体_GB2312" pitchFamily="49" charset="-122"/>
              </a:rPr>
              <a:t>，</a:t>
            </a:r>
            <a:r>
              <a:rPr kumimoji="0" lang="en-US" altLang="zh-CN" sz="2000" dirty="0">
                <a:effectLst>
                  <a:outerShdw blurRad="38100" dist="38100" dir="2700000" algn="tl">
                    <a:srgbClr val="C0C0C0"/>
                  </a:outerShdw>
                </a:effectLst>
                <a:latin typeface="Arial" pitchFamily="34" charset="0"/>
                <a:ea typeface="楷体_GB2312" pitchFamily="49" charset="-122"/>
              </a:rPr>
              <a:t>S</a:t>
            </a:r>
            <a:r>
              <a:rPr kumimoji="0" lang="en-US" altLang="zh-CN" sz="2000" baseline="-25000" dirty="0">
                <a:effectLst>
                  <a:outerShdw blurRad="38100" dist="38100" dir="2700000" algn="tl">
                    <a:srgbClr val="C0C0C0"/>
                  </a:outerShdw>
                </a:effectLst>
                <a:latin typeface="Arial" pitchFamily="34" charset="0"/>
                <a:ea typeface="楷体_GB2312" pitchFamily="49" charset="-122"/>
              </a:rPr>
              <a:t>3</a:t>
            </a:r>
            <a:r>
              <a:rPr kumimoji="0" lang="en-US" altLang="zh-CN" sz="2000" dirty="0">
                <a:effectLst>
                  <a:outerShdw blurRad="38100" dist="38100" dir="2700000" algn="tl">
                    <a:srgbClr val="C0C0C0"/>
                  </a:outerShdw>
                </a:effectLst>
                <a:latin typeface="Arial" pitchFamily="34" charset="0"/>
                <a:ea typeface="楷体_GB2312" pitchFamily="49" charset="-122"/>
              </a:rPr>
              <a:t>……</a:t>
            </a:r>
            <a:r>
              <a:rPr kumimoji="0" lang="en-US" altLang="zh-CN" sz="2000" dirty="0" err="1">
                <a:effectLst>
                  <a:outerShdw blurRad="38100" dist="38100" dir="2700000" algn="tl">
                    <a:srgbClr val="C0C0C0"/>
                  </a:outerShdw>
                </a:effectLst>
                <a:latin typeface="Arial" pitchFamily="34" charset="0"/>
                <a:ea typeface="楷体_GB2312" pitchFamily="49" charset="-122"/>
              </a:rPr>
              <a:t>S</a:t>
            </a:r>
            <a:r>
              <a:rPr kumimoji="0" lang="en-US" altLang="zh-CN" sz="2000" baseline="-25000" dirty="0" err="1">
                <a:effectLst>
                  <a:outerShdw blurRad="38100" dist="38100" dir="2700000" algn="tl">
                    <a:srgbClr val="C0C0C0"/>
                  </a:outerShdw>
                </a:effectLst>
                <a:latin typeface="Arial" pitchFamily="34" charset="0"/>
                <a:ea typeface="楷体_GB2312" pitchFamily="49" charset="-122"/>
              </a:rPr>
              <a:t>n</a:t>
            </a:r>
            <a:r>
              <a:rPr kumimoji="0" lang="zh-CN" altLang="en-US" sz="2000" dirty="0">
                <a:effectLst>
                  <a:outerShdw blurRad="38100" dist="38100" dir="2700000" algn="tl">
                    <a:srgbClr val="C0C0C0"/>
                  </a:outerShdw>
                </a:effectLst>
                <a:latin typeface="Arial" pitchFamily="34" charset="0"/>
                <a:ea typeface="楷体_GB2312" pitchFamily="49" charset="-122"/>
              </a:rPr>
              <a:t>）</a:t>
            </a:r>
          </a:p>
        </p:txBody>
      </p:sp>
      <p:sp>
        <p:nvSpPr>
          <p:cNvPr id="12" name="AutoShape 7"/>
          <p:cNvSpPr>
            <a:spLocks noChangeArrowheads="1"/>
          </p:cNvSpPr>
          <p:nvPr/>
        </p:nvSpPr>
        <p:spPr bwMode="auto">
          <a:xfrm>
            <a:off x="6642832" y="2170691"/>
            <a:ext cx="2336800" cy="627063"/>
          </a:xfrm>
          <a:prstGeom prst="flowChartDecision">
            <a:avLst/>
          </a:prstGeom>
          <a:solidFill>
            <a:schemeClr val="accent1">
              <a:lumMod val="20000"/>
              <a:lumOff val="80000"/>
            </a:schemeClr>
          </a:solidFill>
          <a:ln w="9525">
            <a:solidFill>
              <a:schemeClr val="tx1"/>
            </a:solidFill>
            <a:miter lim="800000"/>
            <a:headEnd/>
            <a:tailEnd/>
          </a:ln>
          <a:effectLst/>
        </p:spPr>
        <p:txBody>
          <a:bodyPr wrap="none" anchor="ctr"/>
          <a:lstStyle/>
          <a:p>
            <a:pPr algn="ctr">
              <a:defRPr/>
            </a:pPr>
            <a:r>
              <a:rPr kumimoji="0" lang="en-US" altLang="zh-CN" sz="2000" dirty="0">
                <a:effectLst>
                  <a:outerShdw blurRad="38100" dist="38100" dir="2700000" algn="tl">
                    <a:srgbClr val="FFFFFF"/>
                  </a:outerShdw>
                </a:effectLst>
                <a:latin typeface="Arial" pitchFamily="34" charset="0"/>
                <a:ea typeface="楷体_GB2312" pitchFamily="49" charset="-122"/>
              </a:rPr>
              <a:t>S</a:t>
            </a:r>
            <a:r>
              <a:rPr kumimoji="0" lang="en-US" altLang="zh-CN" sz="2000" baseline="-25000" dirty="0">
                <a:effectLst>
                  <a:outerShdw blurRad="38100" dist="38100" dir="2700000" algn="tl">
                    <a:srgbClr val="FFFFFF"/>
                  </a:outerShdw>
                </a:effectLst>
                <a:latin typeface="Arial" pitchFamily="34" charset="0"/>
                <a:ea typeface="楷体_GB2312" pitchFamily="49" charset="-122"/>
              </a:rPr>
              <a:t>1</a:t>
            </a:r>
            <a:r>
              <a:rPr kumimoji="0" lang="en-US" altLang="zh-CN" sz="2000" dirty="0">
                <a:effectLst>
                  <a:outerShdw blurRad="38100" dist="38100" dir="2700000" algn="tl">
                    <a:srgbClr val="FFFFFF"/>
                  </a:outerShdw>
                </a:effectLst>
                <a:latin typeface="Arial" pitchFamily="34" charset="0"/>
                <a:ea typeface="楷体_GB2312" pitchFamily="49" charset="-122"/>
              </a:rPr>
              <a:t>&gt;</a:t>
            </a:r>
            <a:r>
              <a:rPr kumimoji="0" lang="zh-CN" altLang="en-US" sz="2000" dirty="0">
                <a:effectLst>
                  <a:outerShdw blurRad="38100" dist="38100" dir="2700000" algn="tl">
                    <a:srgbClr val="FFFFFF"/>
                  </a:outerShdw>
                </a:effectLst>
                <a:latin typeface="Arial" pitchFamily="34" charset="0"/>
                <a:ea typeface="楷体_GB2312" pitchFamily="49" charset="-122"/>
              </a:rPr>
              <a:t>＝</a:t>
            </a:r>
            <a:r>
              <a:rPr kumimoji="0" lang="en-US" altLang="zh-CN" sz="2000" dirty="0">
                <a:effectLst>
                  <a:outerShdw blurRad="38100" dist="38100" dir="2700000" algn="tl">
                    <a:srgbClr val="FFFFFF"/>
                  </a:outerShdw>
                </a:effectLst>
                <a:latin typeface="Arial" pitchFamily="34" charset="0"/>
                <a:ea typeface="楷体_GB2312" pitchFamily="49" charset="-122"/>
              </a:rPr>
              <a:t>1?</a:t>
            </a:r>
          </a:p>
        </p:txBody>
      </p:sp>
      <p:sp>
        <p:nvSpPr>
          <p:cNvPr id="13" name="AutoShape 8"/>
          <p:cNvSpPr>
            <a:spLocks noChangeArrowheads="1"/>
          </p:cNvSpPr>
          <p:nvPr/>
        </p:nvSpPr>
        <p:spPr bwMode="auto">
          <a:xfrm>
            <a:off x="6622195" y="3064454"/>
            <a:ext cx="2336800" cy="627062"/>
          </a:xfrm>
          <a:prstGeom prst="flowChartDecision">
            <a:avLst/>
          </a:prstGeom>
          <a:solidFill>
            <a:schemeClr val="accent1">
              <a:lumMod val="20000"/>
              <a:lumOff val="80000"/>
            </a:schemeClr>
          </a:solidFill>
          <a:ln w="9525">
            <a:solidFill>
              <a:schemeClr val="tx1"/>
            </a:solidFill>
            <a:miter lim="800000"/>
            <a:headEnd/>
            <a:tailEnd/>
          </a:ln>
          <a:effectLst/>
        </p:spPr>
        <p:txBody>
          <a:bodyPr wrap="none" anchor="ctr"/>
          <a:lstStyle/>
          <a:p>
            <a:pPr algn="ctr">
              <a:defRPr/>
            </a:pPr>
            <a:r>
              <a:rPr lang="en-US" altLang="zh-CN" sz="2000" dirty="0">
                <a:effectLst>
                  <a:outerShdw blurRad="38100" dist="38100" dir="2700000" algn="tl">
                    <a:srgbClr val="C0C0C0"/>
                  </a:outerShdw>
                </a:effectLst>
                <a:latin typeface="Arial" pitchFamily="34" charset="0"/>
                <a:ea typeface="楷体_GB2312" pitchFamily="49" charset="-122"/>
              </a:rPr>
              <a:t>S2&gt;</a:t>
            </a:r>
            <a:r>
              <a:rPr lang="zh-CN" altLang="en-US" sz="2000" dirty="0">
                <a:effectLst>
                  <a:outerShdw blurRad="38100" dist="38100" dir="2700000" algn="tl">
                    <a:srgbClr val="C0C0C0"/>
                  </a:outerShdw>
                </a:effectLst>
                <a:latin typeface="Arial" pitchFamily="34" charset="0"/>
                <a:ea typeface="楷体_GB2312" pitchFamily="49" charset="-122"/>
              </a:rPr>
              <a:t>＝</a:t>
            </a:r>
            <a:r>
              <a:rPr lang="en-US" altLang="zh-CN" sz="2000" dirty="0">
                <a:effectLst>
                  <a:outerShdw blurRad="38100" dist="38100" dir="2700000" algn="tl">
                    <a:srgbClr val="C0C0C0"/>
                  </a:outerShdw>
                </a:effectLst>
                <a:latin typeface="Arial" pitchFamily="34" charset="0"/>
                <a:ea typeface="楷体_GB2312" pitchFamily="49" charset="-122"/>
              </a:rPr>
              <a:t>1?</a:t>
            </a:r>
          </a:p>
        </p:txBody>
      </p:sp>
      <p:sp>
        <p:nvSpPr>
          <p:cNvPr id="14" name="Line 9"/>
          <p:cNvSpPr>
            <a:spLocks noChangeShapeType="1"/>
          </p:cNvSpPr>
          <p:nvPr/>
        </p:nvSpPr>
        <p:spPr bwMode="auto">
          <a:xfrm>
            <a:off x="7828695" y="1902404"/>
            <a:ext cx="1587" cy="268287"/>
          </a:xfrm>
          <a:prstGeom prst="line">
            <a:avLst/>
          </a:prstGeom>
          <a:noFill/>
          <a:ln w="28575">
            <a:solidFill>
              <a:schemeClr val="tx1"/>
            </a:solidFill>
            <a:round/>
            <a:headEnd/>
            <a:tailEnd type="triangle" w="med" len="med"/>
          </a:ln>
        </p:spPr>
        <p:txBody>
          <a:bodyPr/>
          <a:lstStyle/>
          <a:p>
            <a:endParaRPr lang="zh-CN" altLang="en-US"/>
          </a:p>
        </p:txBody>
      </p:sp>
      <p:sp>
        <p:nvSpPr>
          <p:cNvPr id="15" name="Line 10"/>
          <p:cNvSpPr>
            <a:spLocks noChangeShapeType="1"/>
          </p:cNvSpPr>
          <p:nvPr/>
        </p:nvSpPr>
        <p:spPr bwMode="auto">
          <a:xfrm>
            <a:off x="7796945" y="2810454"/>
            <a:ext cx="1587" cy="268287"/>
          </a:xfrm>
          <a:prstGeom prst="line">
            <a:avLst/>
          </a:prstGeom>
          <a:noFill/>
          <a:ln w="28575">
            <a:solidFill>
              <a:schemeClr val="tx1"/>
            </a:solidFill>
            <a:round/>
            <a:headEnd/>
            <a:tailEnd type="triangle" w="med" len="med"/>
          </a:ln>
        </p:spPr>
        <p:txBody>
          <a:bodyPr/>
          <a:lstStyle/>
          <a:p>
            <a:endParaRPr lang="zh-CN" altLang="en-US"/>
          </a:p>
        </p:txBody>
      </p:sp>
      <p:sp>
        <p:nvSpPr>
          <p:cNvPr id="16" name="Line 11"/>
          <p:cNvSpPr>
            <a:spLocks noChangeShapeType="1"/>
          </p:cNvSpPr>
          <p:nvPr/>
        </p:nvSpPr>
        <p:spPr bwMode="auto">
          <a:xfrm>
            <a:off x="7785832" y="3699454"/>
            <a:ext cx="1588" cy="268287"/>
          </a:xfrm>
          <a:prstGeom prst="line">
            <a:avLst/>
          </a:prstGeom>
          <a:noFill/>
          <a:ln w="28575">
            <a:solidFill>
              <a:schemeClr val="tx1"/>
            </a:solidFill>
            <a:round/>
            <a:headEnd/>
            <a:tailEnd type="triangle" w="med" len="med"/>
          </a:ln>
        </p:spPr>
        <p:txBody>
          <a:bodyPr/>
          <a:lstStyle/>
          <a:p>
            <a:endParaRPr lang="zh-CN" altLang="en-US"/>
          </a:p>
        </p:txBody>
      </p:sp>
      <p:sp>
        <p:nvSpPr>
          <p:cNvPr id="17" name="Text Box 12"/>
          <p:cNvSpPr txBox="1">
            <a:spLocks noChangeArrowheads="1"/>
          </p:cNvSpPr>
          <p:nvPr/>
        </p:nvSpPr>
        <p:spPr bwMode="auto">
          <a:xfrm>
            <a:off x="7260370" y="3794704"/>
            <a:ext cx="1255712" cy="519112"/>
          </a:xfrm>
          <a:prstGeom prst="rect">
            <a:avLst/>
          </a:prstGeom>
          <a:noFill/>
          <a:ln w="9525">
            <a:noFill/>
            <a:miter lim="800000"/>
            <a:headEnd/>
            <a:tailEnd/>
          </a:ln>
          <a:effectLst/>
        </p:spPr>
        <p:txBody>
          <a:bodyPr wrap="none">
            <a:spAutoFit/>
          </a:bodyPr>
          <a:lstStyle/>
          <a:p>
            <a:pPr>
              <a:defRPr/>
            </a:pPr>
            <a:r>
              <a:rPr kumimoji="0" lang="zh-CN" altLang="en-US" sz="2800" dirty="0">
                <a:effectLst>
                  <a:outerShdw blurRad="38100" dist="38100" dir="2700000" algn="tl">
                    <a:srgbClr val="C0C0C0"/>
                  </a:outerShdw>
                </a:effectLst>
                <a:latin typeface="Arial" pitchFamily="34" charset="0"/>
                <a:ea typeface="楷体_GB2312" pitchFamily="49" charset="-122"/>
              </a:rPr>
              <a:t>。。。</a:t>
            </a:r>
          </a:p>
        </p:txBody>
      </p:sp>
      <p:sp>
        <p:nvSpPr>
          <p:cNvPr id="18" name="Rectangle 13"/>
          <p:cNvSpPr>
            <a:spLocks noChangeArrowheads="1"/>
          </p:cNvSpPr>
          <p:nvPr/>
        </p:nvSpPr>
        <p:spPr bwMode="auto">
          <a:xfrm>
            <a:off x="6956560" y="4669062"/>
            <a:ext cx="1724921" cy="1365978"/>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defRPr/>
            </a:pPr>
            <a:r>
              <a:rPr lang="en-US" altLang="zh-CN" sz="2000" dirty="0">
                <a:effectLst>
                  <a:outerShdw blurRad="38100" dist="38100" dir="2700000" algn="tl">
                    <a:srgbClr val="C0C0C0"/>
                  </a:outerShdw>
                </a:effectLst>
                <a:latin typeface="Arial" pitchFamily="34" charset="0"/>
                <a:ea typeface="楷体_GB2312" pitchFamily="49" charset="-122"/>
              </a:rPr>
              <a:t>S1=S1</a:t>
            </a:r>
            <a:r>
              <a:rPr lang="zh-CN" altLang="en-US" sz="2000" dirty="0">
                <a:effectLst>
                  <a:outerShdw blurRad="38100" dist="38100" dir="2700000" algn="tl">
                    <a:srgbClr val="C0C0C0"/>
                  </a:outerShdw>
                </a:effectLst>
                <a:latin typeface="Arial" pitchFamily="34" charset="0"/>
                <a:ea typeface="楷体_GB2312" pitchFamily="49" charset="-122"/>
              </a:rPr>
              <a:t>－</a:t>
            </a:r>
            <a:r>
              <a:rPr lang="en-US" altLang="zh-CN" sz="2000" dirty="0">
                <a:effectLst>
                  <a:outerShdw blurRad="38100" dist="38100" dir="2700000" algn="tl">
                    <a:srgbClr val="C0C0C0"/>
                  </a:outerShdw>
                </a:effectLst>
                <a:latin typeface="Arial" pitchFamily="34" charset="0"/>
                <a:ea typeface="楷体_GB2312" pitchFamily="49" charset="-122"/>
              </a:rPr>
              <a:t>1</a:t>
            </a:r>
            <a:r>
              <a:rPr lang="zh-CN" altLang="en-US" sz="2000" dirty="0">
                <a:effectLst>
                  <a:outerShdw blurRad="38100" dist="38100" dir="2700000" algn="tl">
                    <a:srgbClr val="C0C0C0"/>
                  </a:outerShdw>
                </a:effectLst>
                <a:latin typeface="Arial" pitchFamily="34" charset="0"/>
                <a:ea typeface="楷体_GB2312" pitchFamily="49" charset="-122"/>
              </a:rPr>
              <a:t>；</a:t>
            </a:r>
          </a:p>
          <a:p>
            <a:pPr algn="ctr">
              <a:defRPr/>
            </a:pPr>
            <a:r>
              <a:rPr lang="en-US" altLang="zh-CN" sz="2000" dirty="0">
                <a:effectLst>
                  <a:outerShdw blurRad="38100" dist="38100" dir="2700000" algn="tl">
                    <a:srgbClr val="C0C0C0"/>
                  </a:outerShdw>
                </a:effectLst>
                <a:latin typeface="Arial" pitchFamily="34" charset="0"/>
                <a:ea typeface="楷体_GB2312" pitchFamily="49" charset="-122"/>
              </a:rPr>
              <a:t>S2=S2</a:t>
            </a:r>
            <a:r>
              <a:rPr lang="zh-CN" altLang="en-US" sz="2000" dirty="0">
                <a:effectLst>
                  <a:outerShdw blurRad="38100" dist="38100" dir="2700000" algn="tl">
                    <a:srgbClr val="C0C0C0"/>
                  </a:outerShdw>
                </a:effectLst>
                <a:latin typeface="Arial" pitchFamily="34" charset="0"/>
                <a:ea typeface="楷体_GB2312" pitchFamily="49" charset="-122"/>
              </a:rPr>
              <a:t>－</a:t>
            </a:r>
            <a:r>
              <a:rPr lang="en-US" altLang="zh-CN" sz="2000" dirty="0">
                <a:effectLst>
                  <a:outerShdw blurRad="38100" dist="38100" dir="2700000" algn="tl">
                    <a:srgbClr val="C0C0C0"/>
                  </a:outerShdw>
                </a:effectLst>
                <a:latin typeface="Arial" pitchFamily="34" charset="0"/>
                <a:ea typeface="楷体_GB2312" pitchFamily="49" charset="-122"/>
              </a:rPr>
              <a:t>1</a:t>
            </a:r>
            <a:r>
              <a:rPr lang="zh-CN" altLang="en-US" sz="2000" dirty="0">
                <a:effectLst>
                  <a:outerShdw blurRad="38100" dist="38100" dir="2700000" algn="tl">
                    <a:srgbClr val="C0C0C0"/>
                  </a:outerShdw>
                </a:effectLst>
                <a:latin typeface="Arial" pitchFamily="34" charset="0"/>
                <a:ea typeface="楷体_GB2312" pitchFamily="49" charset="-122"/>
              </a:rPr>
              <a:t>；</a:t>
            </a:r>
          </a:p>
          <a:p>
            <a:pPr algn="ctr">
              <a:defRPr/>
            </a:pPr>
            <a:r>
              <a:rPr lang="en-US" altLang="zh-CN" sz="2000" dirty="0">
                <a:effectLst>
                  <a:outerShdw blurRad="38100" dist="38100" dir="2700000" algn="tl">
                    <a:srgbClr val="C0C0C0"/>
                  </a:outerShdw>
                </a:effectLst>
                <a:latin typeface="Arial" pitchFamily="34" charset="0"/>
                <a:ea typeface="楷体_GB2312" pitchFamily="49" charset="-122"/>
              </a:rPr>
              <a:t>……</a:t>
            </a:r>
          </a:p>
          <a:p>
            <a:pPr algn="ctr">
              <a:defRPr/>
            </a:pPr>
            <a:r>
              <a:rPr lang="en-US" altLang="zh-CN" sz="2000" dirty="0" err="1">
                <a:effectLst>
                  <a:outerShdw blurRad="38100" dist="38100" dir="2700000" algn="tl">
                    <a:srgbClr val="C0C0C0"/>
                  </a:outerShdw>
                </a:effectLst>
                <a:latin typeface="Arial" pitchFamily="34" charset="0"/>
                <a:ea typeface="楷体_GB2312" pitchFamily="49" charset="-122"/>
              </a:rPr>
              <a:t>Sn</a:t>
            </a:r>
            <a:r>
              <a:rPr lang="en-US" altLang="zh-CN" sz="2000" dirty="0">
                <a:effectLst>
                  <a:outerShdw blurRad="38100" dist="38100" dir="2700000" algn="tl">
                    <a:srgbClr val="C0C0C0"/>
                  </a:outerShdw>
                </a:effectLst>
                <a:latin typeface="Arial" pitchFamily="34" charset="0"/>
                <a:ea typeface="楷体_GB2312" pitchFamily="49" charset="-122"/>
              </a:rPr>
              <a:t>=</a:t>
            </a:r>
            <a:r>
              <a:rPr lang="en-US" altLang="zh-CN" sz="2000" dirty="0" err="1">
                <a:effectLst>
                  <a:outerShdw blurRad="38100" dist="38100" dir="2700000" algn="tl">
                    <a:srgbClr val="C0C0C0"/>
                  </a:outerShdw>
                </a:effectLst>
                <a:latin typeface="Arial" pitchFamily="34" charset="0"/>
                <a:ea typeface="楷体_GB2312" pitchFamily="49" charset="-122"/>
              </a:rPr>
              <a:t>Sn</a:t>
            </a:r>
            <a:r>
              <a:rPr lang="zh-CN" altLang="en-US" sz="2000" dirty="0">
                <a:effectLst>
                  <a:outerShdw blurRad="38100" dist="38100" dir="2700000" algn="tl">
                    <a:srgbClr val="C0C0C0"/>
                  </a:outerShdw>
                </a:effectLst>
                <a:latin typeface="Arial" pitchFamily="34" charset="0"/>
                <a:ea typeface="楷体_GB2312" pitchFamily="49" charset="-122"/>
              </a:rPr>
              <a:t>－</a:t>
            </a:r>
            <a:r>
              <a:rPr lang="en-US" altLang="zh-CN" sz="2000" dirty="0">
                <a:effectLst>
                  <a:outerShdw blurRad="38100" dist="38100" dir="2700000" algn="tl">
                    <a:srgbClr val="C0C0C0"/>
                  </a:outerShdw>
                </a:effectLst>
                <a:latin typeface="Arial" pitchFamily="34" charset="0"/>
                <a:ea typeface="楷体_GB2312" pitchFamily="49" charset="-122"/>
              </a:rPr>
              <a:t>1</a:t>
            </a:r>
            <a:r>
              <a:rPr lang="zh-CN" altLang="en-US" sz="2000" dirty="0">
                <a:effectLst>
                  <a:outerShdw blurRad="38100" dist="38100" dir="2700000" algn="tl">
                    <a:srgbClr val="C0C0C0"/>
                  </a:outerShdw>
                </a:effectLst>
                <a:latin typeface="Arial" pitchFamily="34" charset="0"/>
                <a:ea typeface="楷体_GB2312" pitchFamily="49" charset="-122"/>
              </a:rPr>
              <a:t>；</a:t>
            </a:r>
          </a:p>
        </p:txBody>
      </p:sp>
      <p:sp>
        <p:nvSpPr>
          <p:cNvPr id="19" name="Line 14"/>
          <p:cNvSpPr>
            <a:spLocks noChangeShapeType="1"/>
          </p:cNvSpPr>
          <p:nvPr/>
        </p:nvSpPr>
        <p:spPr bwMode="auto">
          <a:xfrm>
            <a:off x="7785832" y="4299529"/>
            <a:ext cx="1588" cy="358775"/>
          </a:xfrm>
          <a:prstGeom prst="line">
            <a:avLst/>
          </a:prstGeom>
          <a:noFill/>
          <a:ln w="28575">
            <a:solidFill>
              <a:schemeClr val="tx1"/>
            </a:solidFill>
            <a:round/>
            <a:headEnd/>
            <a:tailEnd type="triangle" w="med" len="med"/>
          </a:ln>
        </p:spPr>
        <p:txBody>
          <a:bodyPr/>
          <a:lstStyle/>
          <a:p>
            <a:endParaRPr lang="zh-CN" altLang="en-US"/>
          </a:p>
        </p:txBody>
      </p:sp>
      <p:sp>
        <p:nvSpPr>
          <p:cNvPr id="20" name="Line 15"/>
          <p:cNvSpPr>
            <a:spLocks noChangeShapeType="1"/>
          </p:cNvSpPr>
          <p:nvPr/>
        </p:nvSpPr>
        <p:spPr bwMode="auto">
          <a:xfrm>
            <a:off x="10480959" y="2467199"/>
            <a:ext cx="1588" cy="1436688"/>
          </a:xfrm>
          <a:prstGeom prst="line">
            <a:avLst/>
          </a:prstGeom>
          <a:noFill/>
          <a:ln w="38100">
            <a:solidFill>
              <a:schemeClr val="tx1"/>
            </a:solidFill>
            <a:round/>
            <a:headEnd/>
            <a:tailEnd type="triangle" w="med" len="med"/>
          </a:ln>
        </p:spPr>
        <p:txBody>
          <a:bodyPr/>
          <a:lstStyle/>
          <a:p>
            <a:endParaRPr lang="zh-CN" altLang="en-US"/>
          </a:p>
        </p:txBody>
      </p:sp>
      <p:sp>
        <p:nvSpPr>
          <p:cNvPr id="21" name="Line 16"/>
          <p:cNvSpPr>
            <a:spLocks noChangeShapeType="1"/>
          </p:cNvSpPr>
          <p:nvPr/>
        </p:nvSpPr>
        <p:spPr bwMode="auto">
          <a:xfrm>
            <a:off x="8979633" y="2488190"/>
            <a:ext cx="1466102" cy="18342"/>
          </a:xfrm>
          <a:prstGeom prst="line">
            <a:avLst/>
          </a:prstGeom>
          <a:noFill/>
          <a:ln w="38100">
            <a:solidFill>
              <a:schemeClr val="tx1"/>
            </a:solidFill>
            <a:round/>
            <a:headEnd/>
            <a:tailEnd/>
          </a:ln>
        </p:spPr>
        <p:txBody>
          <a:bodyPr/>
          <a:lstStyle/>
          <a:p>
            <a:endParaRPr lang="zh-CN" altLang="en-US"/>
          </a:p>
        </p:txBody>
      </p:sp>
      <p:sp>
        <p:nvSpPr>
          <p:cNvPr id="22" name="Line 17"/>
          <p:cNvSpPr>
            <a:spLocks noChangeShapeType="1"/>
          </p:cNvSpPr>
          <p:nvPr/>
        </p:nvSpPr>
        <p:spPr bwMode="auto">
          <a:xfrm flipV="1">
            <a:off x="8908195" y="3377901"/>
            <a:ext cx="1591328" cy="7228"/>
          </a:xfrm>
          <a:prstGeom prst="line">
            <a:avLst/>
          </a:prstGeom>
          <a:noFill/>
          <a:ln w="38100">
            <a:solidFill>
              <a:schemeClr val="tx1"/>
            </a:solidFill>
            <a:round/>
            <a:headEnd/>
            <a:tailEnd/>
          </a:ln>
        </p:spPr>
        <p:txBody>
          <a:bodyPr/>
          <a:lstStyle/>
          <a:p>
            <a:endParaRPr lang="zh-CN" altLang="en-US"/>
          </a:p>
        </p:txBody>
      </p:sp>
      <p:sp>
        <p:nvSpPr>
          <p:cNvPr id="23" name="Text Box 18"/>
          <p:cNvSpPr txBox="1">
            <a:spLocks noChangeArrowheads="1"/>
          </p:cNvSpPr>
          <p:nvPr/>
        </p:nvSpPr>
        <p:spPr bwMode="auto">
          <a:xfrm>
            <a:off x="9466995" y="1991304"/>
            <a:ext cx="370614" cy="400110"/>
          </a:xfrm>
          <a:prstGeom prst="rect">
            <a:avLst/>
          </a:prstGeom>
          <a:noFill/>
          <a:ln w="9525">
            <a:noFill/>
            <a:miter lim="800000"/>
            <a:headEnd/>
            <a:tailEnd/>
          </a:ln>
          <a:effectLst/>
        </p:spPr>
        <p:txBody>
          <a:bodyPr wrap="none">
            <a:spAutoFit/>
          </a:bodyPr>
          <a:lstStyle/>
          <a:p>
            <a:pPr>
              <a:defRPr/>
            </a:pPr>
            <a:r>
              <a:rPr lang="en-US" altLang="zh-CN" sz="2000" dirty="0" err="1">
                <a:effectLst>
                  <a:outerShdw blurRad="38100" dist="38100" dir="2700000" algn="tl">
                    <a:srgbClr val="C0C0C0"/>
                  </a:outerShdw>
                </a:effectLst>
                <a:latin typeface="Arial" pitchFamily="34" charset="0"/>
                <a:ea typeface="楷体_GB2312" pitchFamily="49" charset="-122"/>
              </a:rPr>
              <a:t>N</a:t>
            </a:r>
          </a:p>
        </p:txBody>
      </p:sp>
      <p:sp>
        <p:nvSpPr>
          <p:cNvPr id="24" name="Text Box 19"/>
          <p:cNvSpPr txBox="1">
            <a:spLocks noChangeArrowheads="1"/>
          </p:cNvSpPr>
          <p:nvPr/>
        </p:nvSpPr>
        <p:spPr bwMode="auto">
          <a:xfrm>
            <a:off x="9444770" y="2866016"/>
            <a:ext cx="370614" cy="400110"/>
          </a:xfrm>
          <a:prstGeom prst="rect">
            <a:avLst/>
          </a:prstGeom>
          <a:noFill/>
          <a:ln w="9525">
            <a:noFill/>
            <a:miter lim="800000"/>
            <a:headEnd/>
            <a:tailEnd/>
          </a:ln>
          <a:effectLst/>
        </p:spPr>
        <p:txBody>
          <a:bodyPr wrap="none">
            <a:spAutoFit/>
          </a:bodyPr>
          <a:lstStyle/>
          <a:p>
            <a:pPr>
              <a:defRPr/>
            </a:pPr>
            <a:r>
              <a:rPr lang="en-US" altLang="zh-CN" sz="2000" dirty="0" err="1">
                <a:effectLst>
                  <a:outerShdw blurRad="38100" dist="38100" dir="2700000" algn="tl">
                    <a:srgbClr val="C0C0C0"/>
                  </a:outerShdw>
                </a:effectLst>
                <a:latin typeface="Arial" pitchFamily="34" charset="0"/>
                <a:ea typeface="楷体_GB2312" pitchFamily="49" charset="-122"/>
              </a:rPr>
              <a:t>N</a:t>
            </a:r>
          </a:p>
        </p:txBody>
      </p:sp>
      <p:sp>
        <p:nvSpPr>
          <p:cNvPr id="25" name="Rectangle 20"/>
          <p:cNvSpPr>
            <a:spLocks noChangeArrowheads="1"/>
          </p:cNvSpPr>
          <p:nvPr/>
        </p:nvSpPr>
        <p:spPr bwMode="auto">
          <a:xfrm>
            <a:off x="9226589" y="3891541"/>
            <a:ext cx="2542334" cy="1777739"/>
          </a:xfrm>
          <a:prstGeom prst="rect">
            <a:avLst/>
          </a:prstGeom>
          <a:solidFill>
            <a:schemeClr val="accent1">
              <a:lumMod val="20000"/>
              <a:lumOff val="80000"/>
            </a:schemeClr>
          </a:solidFill>
          <a:ln w="9525">
            <a:solidFill>
              <a:schemeClr val="tx1"/>
            </a:solidFill>
            <a:miter lim="800000"/>
            <a:headEnd/>
            <a:tailEnd/>
          </a:ln>
          <a:effectLst/>
        </p:spPr>
        <p:txBody>
          <a:bodyPr anchor="ctr"/>
          <a:lstStyle/>
          <a:p>
            <a:pPr>
              <a:defRPr/>
            </a:pPr>
            <a:r>
              <a:rPr lang="zh-CN" altLang="en-US" sz="2000" dirty="0">
                <a:effectLst>
                  <a:outerShdw blurRad="38100" dist="38100" dir="2700000" algn="tl">
                    <a:srgbClr val="C0C0C0"/>
                  </a:outerShdw>
                </a:effectLst>
                <a:latin typeface="Arial" pitchFamily="34" charset="0"/>
                <a:ea typeface="楷体_GB2312" pitchFamily="49" charset="-122"/>
              </a:rPr>
              <a:t>本进程进入</a:t>
            </a:r>
            <a:r>
              <a:rPr lang="en-US" altLang="zh-CN" sz="2000" dirty="0">
                <a:effectLst>
                  <a:outerShdw blurRad="38100" dist="38100" dir="2700000" algn="tl">
                    <a:srgbClr val="C0C0C0"/>
                  </a:outerShdw>
                </a:effectLst>
                <a:latin typeface="Arial" pitchFamily="34" charset="0"/>
                <a:ea typeface="楷体_GB2312" pitchFamily="49" charset="-122"/>
              </a:rPr>
              <a:t>Si&lt;1</a:t>
            </a:r>
            <a:r>
              <a:rPr lang="zh-CN" altLang="en-US" sz="2000" dirty="0">
                <a:effectLst>
                  <a:outerShdw blurRad="38100" dist="38100" dir="2700000" algn="tl">
                    <a:srgbClr val="C0C0C0"/>
                  </a:outerShdw>
                </a:effectLst>
                <a:latin typeface="Arial" pitchFamily="34" charset="0"/>
                <a:ea typeface="楷体_GB2312" pitchFamily="49" charset="-122"/>
              </a:rPr>
              <a:t>的第一个</a:t>
            </a:r>
            <a:r>
              <a:rPr lang="en-US" altLang="zh-CN" sz="2000" dirty="0">
                <a:effectLst>
                  <a:outerShdw blurRad="38100" dist="38100" dir="2700000" algn="tl">
                    <a:srgbClr val="C0C0C0"/>
                  </a:outerShdw>
                </a:effectLst>
                <a:latin typeface="Arial" pitchFamily="34" charset="0"/>
                <a:ea typeface="楷体_GB2312" pitchFamily="49" charset="-122"/>
              </a:rPr>
              <a:t>Si</a:t>
            </a:r>
            <a:r>
              <a:rPr lang="zh-CN" altLang="en-US" sz="2000" dirty="0">
                <a:effectLst>
                  <a:outerShdw blurRad="38100" dist="38100" dir="2700000" algn="tl">
                    <a:srgbClr val="C0C0C0"/>
                  </a:outerShdw>
                </a:effectLst>
                <a:latin typeface="Arial" pitchFamily="34" charset="0"/>
                <a:ea typeface="楷体_GB2312" pitchFamily="49" charset="-122"/>
              </a:rPr>
              <a:t>的阻塞队列中，</a:t>
            </a:r>
          </a:p>
          <a:p>
            <a:pPr>
              <a:defRPr/>
            </a:pPr>
            <a:r>
              <a:rPr lang="zh-CN" altLang="en-US" sz="2000" dirty="0">
                <a:effectLst>
                  <a:outerShdw blurRad="38100" dist="38100" dir="2700000" algn="tl">
                    <a:srgbClr val="C0C0C0"/>
                  </a:outerShdw>
                </a:effectLst>
                <a:latin typeface="Arial" pitchFamily="34" charset="0"/>
                <a:ea typeface="楷体_GB2312" pitchFamily="49" charset="-122"/>
              </a:rPr>
              <a:t>并将进程的程序指针设到</a:t>
            </a:r>
            <a:r>
              <a:rPr lang="en-US" altLang="zh-CN" sz="2000" dirty="0" err="1">
                <a:effectLst>
                  <a:outerShdw blurRad="38100" dist="38100" dir="2700000" algn="tl">
                    <a:srgbClr val="C0C0C0"/>
                  </a:outerShdw>
                </a:effectLst>
                <a:latin typeface="Arial" pitchFamily="34" charset="0"/>
                <a:ea typeface="楷体_GB2312" pitchFamily="49" charset="-122"/>
              </a:rPr>
              <a:t>Swait</a:t>
            </a:r>
            <a:r>
              <a:rPr lang="zh-CN" altLang="en-US" sz="2000" dirty="0">
                <a:effectLst>
                  <a:outerShdw blurRad="38100" dist="38100" dir="2700000" algn="tl">
                    <a:srgbClr val="C0C0C0"/>
                  </a:outerShdw>
                </a:effectLst>
                <a:latin typeface="Arial" pitchFamily="34" charset="0"/>
                <a:ea typeface="楷体_GB2312" pitchFamily="49" charset="-122"/>
              </a:rPr>
              <a:t>（）的开头</a:t>
            </a:r>
          </a:p>
        </p:txBody>
      </p:sp>
      <p:sp>
        <p:nvSpPr>
          <p:cNvPr id="26" name="Text Box 18"/>
          <p:cNvSpPr txBox="1">
            <a:spLocks noChangeArrowheads="1"/>
          </p:cNvSpPr>
          <p:nvPr/>
        </p:nvSpPr>
        <p:spPr bwMode="auto">
          <a:xfrm>
            <a:off x="7188167" y="2713859"/>
            <a:ext cx="356188" cy="400110"/>
          </a:xfrm>
          <a:prstGeom prst="rect">
            <a:avLst/>
          </a:prstGeom>
          <a:noFill/>
          <a:ln w="9525">
            <a:noFill/>
            <a:miter lim="800000"/>
            <a:headEnd/>
            <a:tailEnd/>
          </a:ln>
          <a:effectLst/>
        </p:spPr>
        <p:txBody>
          <a:bodyPr wrap="none">
            <a:spAutoFit/>
          </a:bodyPr>
          <a:lstStyle/>
          <a:p>
            <a:pPr>
              <a:defRPr/>
            </a:pPr>
            <a:r>
              <a:rPr lang="en-US" altLang="zh-CN" sz="2000" dirty="0" err="1">
                <a:effectLst>
                  <a:outerShdw blurRad="38100" dist="38100" dir="2700000" algn="tl">
                    <a:srgbClr val="C0C0C0"/>
                  </a:outerShdw>
                </a:effectLst>
                <a:latin typeface="Arial" pitchFamily="34" charset="0"/>
                <a:ea typeface="楷体_GB2312" pitchFamily="49" charset="-122"/>
              </a:rPr>
              <a:t>Y</a:t>
            </a:r>
          </a:p>
        </p:txBody>
      </p:sp>
      <p:sp>
        <p:nvSpPr>
          <p:cNvPr id="27" name="Text Box 18"/>
          <p:cNvSpPr txBox="1">
            <a:spLocks noChangeArrowheads="1"/>
          </p:cNvSpPr>
          <p:nvPr/>
        </p:nvSpPr>
        <p:spPr bwMode="auto">
          <a:xfrm>
            <a:off x="7198925" y="3628259"/>
            <a:ext cx="356188" cy="400110"/>
          </a:xfrm>
          <a:prstGeom prst="rect">
            <a:avLst/>
          </a:prstGeom>
          <a:noFill/>
          <a:ln w="9525">
            <a:noFill/>
            <a:miter lim="800000"/>
            <a:headEnd/>
            <a:tailEnd/>
          </a:ln>
          <a:effectLst/>
        </p:spPr>
        <p:txBody>
          <a:bodyPr wrap="none">
            <a:spAutoFit/>
          </a:bodyPr>
          <a:lstStyle/>
          <a:p>
            <a:pPr>
              <a:defRPr/>
            </a:pPr>
            <a:r>
              <a:rPr lang="en-US" altLang="zh-CN" sz="2000" dirty="0" err="1">
                <a:effectLst>
                  <a:outerShdw blurRad="38100" dist="38100" dir="2700000" algn="tl">
                    <a:srgbClr val="C0C0C0"/>
                  </a:outerShdw>
                </a:effectLst>
                <a:latin typeface="Arial" pitchFamily="34" charset="0"/>
                <a:ea typeface="楷体_GB2312" pitchFamily="49" charset="-122"/>
              </a:rPr>
              <a:t>Y</a:t>
            </a:r>
          </a:p>
        </p:txBody>
      </p:sp>
    </p:spTree>
    <p:extLst>
      <p:ext uri="{BB962C8B-B14F-4D97-AF65-F5344CB8AC3E}">
        <p14:creationId xmlns:p14="http://schemas.microsoft.com/office/powerpoint/2010/main" val="1794450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848833" y="202028"/>
            <a:ext cx="3967716" cy="457196"/>
          </a:xfrm>
        </p:spPr>
        <p:txBody>
          <a:bodyPr/>
          <a:lstStyle/>
          <a:p>
            <a:r>
              <a:rPr lang="en-US" altLang="zh-CN" dirty="0"/>
              <a:t>3.</a:t>
            </a:r>
            <a:r>
              <a:rPr lang="zh-CN" altLang="en-US" dirty="0"/>
              <a:t>信号量机制</a:t>
            </a:r>
          </a:p>
        </p:txBody>
      </p:sp>
      <p:grpSp>
        <p:nvGrpSpPr>
          <p:cNvPr id="2" name="组合 3"/>
          <p:cNvGrpSpPr/>
          <p:nvPr/>
        </p:nvGrpSpPr>
        <p:grpSpPr>
          <a:xfrm>
            <a:off x="1004177" y="1027910"/>
            <a:ext cx="5314736" cy="665162"/>
            <a:chOff x="1004177" y="1027910"/>
            <a:chExt cx="5314736" cy="665162"/>
          </a:xfrm>
        </p:grpSpPr>
        <p:sp>
          <p:nvSpPr>
            <p:cNvPr id="5" name="矩形 4"/>
            <p:cNvSpPr/>
            <p:nvPr/>
          </p:nvSpPr>
          <p:spPr>
            <a:xfrm>
              <a:off x="1150228" y="1561310"/>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矩形 5"/>
            <p:cNvSpPr/>
            <p:nvPr/>
          </p:nvSpPr>
          <p:spPr>
            <a:xfrm>
              <a:off x="2058278" y="1561310"/>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7" name="文本框 55"/>
            <p:cNvSpPr txBox="1">
              <a:spLocks noChangeArrowheads="1"/>
            </p:cNvSpPr>
            <p:nvPr/>
          </p:nvSpPr>
          <p:spPr bwMode="auto">
            <a:xfrm>
              <a:off x="1004177" y="1027910"/>
              <a:ext cx="53147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a:t>
              </a:r>
              <a:r>
                <a:rPr lang="en-US" altLang="zh-CN" sz="2400" b="1" dirty="0">
                  <a:solidFill>
                    <a:srgbClr val="4C7E51"/>
                  </a:solidFill>
                  <a:latin typeface="微软雅黑" panose="020B0503020204020204" pitchFamily="34" charset="-122"/>
                  <a:ea typeface="微软雅黑" panose="020B0503020204020204" pitchFamily="34" charset="-122"/>
                </a:rPr>
                <a:t>AND</a:t>
              </a:r>
              <a:r>
                <a:rPr lang="zh-CN" altLang="en-US" sz="2400" b="1" dirty="0">
                  <a:solidFill>
                    <a:srgbClr val="4C7E51"/>
                  </a:solidFill>
                  <a:latin typeface="微软雅黑" panose="020B0503020204020204" pitchFamily="34" charset="-122"/>
                  <a:ea typeface="微软雅黑" panose="020B0503020204020204" pitchFamily="34" charset="-122"/>
                </a:rPr>
                <a:t>型信号量</a:t>
              </a:r>
            </a:p>
          </p:txBody>
        </p:sp>
      </p:grpSp>
      <p:sp>
        <p:nvSpPr>
          <p:cNvPr id="10" name="Text Box 4"/>
          <p:cNvSpPr txBox="1">
            <a:spLocks noChangeArrowheads="1"/>
          </p:cNvSpPr>
          <p:nvPr/>
        </p:nvSpPr>
        <p:spPr bwMode="auto">
          <a:xfrm>
            <a:off x="1131172" y="1987629"/>
            <a:ext cx="4764019" cy="3749231"/>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10000"/>
              </a:spcBef>
            </a:pPr>
            <a:r>
              <a:rPr lang="en-US" altLang="zh-CN" dirty="0">
                <a:solidFill>
                  <a:srgbClr val="00B050"/>
                </a:solidFill>
              </a:rPr>
              <a:t>/*</a:t>
            </a:r>
            <a:r>
              <a:rPr lang="en-US" altLang="zh-CN" dirty="0" err="1">
                <a:solidFill>
                  <a:srgbClr val="00B050"/>
                </a:solidFill>
              </a:rPr>
              <a:t>Ssignal</a:t>
            </a:r>
            <a:r>
              <a:rPr lang="en-US" altLang="zh-CN" dirty="0">
                <a:solidFill>
                  <a:srgbClr val="00B050"/>
                </a:solidFill>
              </a:rPr>
              <a:t>(s)</a:t>
            </a:r>
            <a:r>
              <a:rPr lang="zh-CN" altLang="en-US" dirty="0">
                <a:solidFill>
                  <a:srgbClr val="00B050"/>
                </a:solidFill>
              </a:rPr>
              <a:t>操作</a:t>
            </a:r>
            <a:r>
              <a:rPr lang="en-US" altLang="zh-CN" dirty="0">
                <a:solidFill>
                  <a:srgbClr val="00B050"/>
                </a:solidFill>
              </a:rPr>
              <a:t>*/</a:t>
            </a:r>
          </a:p>
          <a:p>
            <a:pPr lvl="1" eaLnBrk="1" hangingPunct="1">
              <a:lnSpc>
                <a:spcPct val="90000"/>
              </a:lnSpc>
              <a:spcBef>
                <a:spcPts val="675"/>
              </a:spcBef>
            </a:pPr>
            <a:r>
              <a:rPr lang="en-US" altLang="zh-CN" b="0" dirty="0" err="1"/>
              <a:t>Ssignal</a:t>
            </a:r>
            <a:r>
              <a:rPr lang="en-US" altLang="zh-CN" b="0" dirty="0"/>
              <a:t>(S</a:t>
            </a:r>
            <a:r>
              <a:rPr lang="en-US" altLang="zh-CN" b="0" baseline="-25000" dirty="0"/>
              <a:t>1</a:t>
            </a:r>
            <a:r>
              <a:rPr lang="en-US" altLang="zh-CN" b="0" dirty="0"/>
              <a:t>, S</a:t>
            </a:r>
            <a:r>
              <a:rPr lang="en-US" altLang="zh-CN" b="0" baseline="-25000" dirty="0"/>
              <a:t>2</a:t>
            </a:r>
            <a:r>
              <a:rPr lang="en-US" altLang="zh-CN" b="0" dirty="0"/>
              <a:t>, … ,S</a:t>
            </a:r>
            <a:r>
              <a:rPr lang="en-US" altLang="zh-CN" b="0" baseline="-25000" dirty="0"/>
              <a:t>n</a:t>
            </a:r>
            <a:r>
              <a:rPr lang="en-US" altLang="zh-CN" b="0" dirty="0"/>
              <a:t>)</a:t>
            </a:r>
          </a:p>
          <a:p>
            <a:pPr lvl="1" eaLnBrk="1" hangingPunct="1">
              <a:lnSpc>
                <a:spcPct val="90000"/>
              </a:lnSpc>
              <a:spcBef>
                <a:spcPts val="600"/>
              </a:spcBef>
            </a:pPr>
            <a:r>
              <a:rPr lang="en-US" altLang="zh-CN" b="0" dirty="0"/>
              <a:t>        while(TRUE) {</a:t>
            </a:r>
          </a:p>
          <a:p>
            <a:pPr lvl="1" eaLnBrk="1" hangingPunct="1">
              <a:lnSpc>
                <a:spcPct val="90000"/>
              </a:lnSpc>
              <a:spcBef>
                <a:spcPts val="600"/>
              </a:spcBef>
            </a:pPr>
            <a:r>
              <a:rPr lang="en-US" altLang="zh-CN" b="0" dirty="0"/>
              <a:t>            for (</a:t>
            </a:r>
            <a:r>
              <a:rPr lang="en-US" altLang="zh-CN" b="0" dirty="0" err="1"/>
              <a:t>i</a:t>
            </a:r>
            <a:r>
              <a:rPr lang="en-US" altLang="zh-CN" b="0" dirty="0"/>
              <a:t>=1; </a:t>
            </a:r>
            <a:r>
              <a:rPr lang="en-US" altLang="zh-CN" b="0" dirty="0" err="1"/>
              <a:t>i</a:t>
            </a:r>
            <a:r>
              <a:rPr lang="en-US" altLang="zh-CN" b="0" dirty="0"/>
              <a:t>&lt;=</a:t>
            </a:r>
            <a:r>
              <a:rPr lang="en-US" altLang="zh-CN" b="0" dirty="0" err="1"/>
              <a:t>n;i</a:t>
            </a:r>
            <a:r>
              <a:rPr lang="en-US" altLang="zh-CN" b="0" dirty="0"/>
              <a:t>++) {</a:t>
            </a:r>
          </a:p>
          <a:p>
            <a:pPr lvl="1" eaLnBrk="1" hangingPunct="1">
              <a:lnSpc>
                <a:spcPct val="90000"/>
              </a:lnSpc>
              <a:spcBef>
                <a:spcPts val="600"/>
              </a:spcBef>
            </a:pPr>
            <a:r>
              <a:rPr lang="en-US" altLang="zh-CN" b="0" dirty="0"/>
              <a:t>                S</a:t>
            </a:r>
            <a:r>
              <a:rPr lang="en-US" altLang="zh-CN" b="0" baseline="-25000" dirty="0"/>
              <a:t>i</a:t>
            </a:r>
            <a:r>
              <a:rPr lang="en-US" altLang="zh-CN" b="0" dirty="0"/>
              <a:t>++; </a:t>
            </a:r>
          </a:p>
          <a:p>
            <a:pPr lvl="1" eaLnBrk="1" hangingPunct="1">
              <a:lnSpc>
                <a:spcPct val="90000"/>
              </a:lnSpc>
              <a:spcBef>
                <a:spcPts val="600"/>
              </a:spcBef>
            </a:pPr>
            <a:r>
              <a:rPr lang="en-US" altLang="zh-CN" b="0" dirty="0"/>
              <a:t>                </a:t>
            </a:r>
            <a:r>
              <a:rPr lang="zh-CN" altLang="en-US" b="0" dirty="0"/>
              <a:t>唤醒</a:t>
            </a:r>
            <a:endParaRPr lang="en-US" altLang="zh-CN" b="0" dirty="0"/>
          </a:p>
          <a:p>
            <a:pPr lvl="1" eaLnBrk="1" hangingPunct="1">
              <a:lnSpc>
                <a:spcPct val="90000"/>
              </a:lnSpc>
              <a:spcBef>
                <a:spcPts val="600"/>
              </a:spcBef>
            </a:pPr>
            <a:r>
              <a:rPr lang="en-US" altLang="zh-CN" b="0" dirty="0"/>
              <a:t>            }</a:t>
            </a:r>
          </a:p>
          <a:p>
            <a:pPr lvl="1" eaLnBrk="1" hangingPunct="1">
              <a:lnSpc>
                <a:spcPct val="90000"/>
              </a:lnSpc>
              <a:spcBef>
                <a:spcPts val="600"/>
              </a:spcBef>
            </a:pPr>
            <a:r>
              <a:rPr lang="en-US" altLang="zh-CN" b="0" dirty="0"/>
              <a:t>        }</a:t>
            </a:r>
          </a:p>
          <a:p>
            <a:pPr lvl="1" eaLnBrk="1" hangingPunct="1">
              <a:lnSpc>
                <a:spcPct val="90000"/>
              </a:lnSpc>
              <a:spcBef>
                <a:spcPts val="600"/>
              </a:spcBef>
            </a:pPr>
            <a:r>
              <a:rPr lang="en-US" altLang="zh-CN" b="0" dirty="0"/>
              <a:t>    }</a:t>
            </a:r>
          </a:p>
        </p:txBody>
      </p:sp>
      <p:sp>
        <p:nvSpPr>
          <p:cNvPr id="11" name="Text Box 4"/>
          <p:cNvSpPr txBox="1">
            <a:spLocks noChangeArrowheads="1"/>
          </p:cNvSpPr>
          <p:nvPr/>
        </p:nvSpPr>
        <p:spPr bwMode="auto">
          <a:xfrm>
            <a:off x="7053430" y="1520322"/>
            <a:ext cx="3631122" cy="400110"/>
          </a:xfrm>
          <a:prstGeom prst="rect">
            <a:avLst/>
          </a:prstGeom>
          <a:noFill/>
          <a:ln w="9525">
            <a:noFill/>
            <a:miter lim="800000"/>
            <a:headEnd/>
            <a:tailEnd/>
          </a:ln>
          <a:effectLst/>
        </p:spPr>
        <p:txBody>
          <a:bodyPr wrap="none">
            <a:spAutoFit/>
          </a:bodyPr>
          <a:lstStyle/>
          <a:p>
            <a:pPr>
              <a:defRPr/>
            </a:pPr>
            <a:r>
              <a:rPr kumimoji="0" lang="en-US" altLang="zh-CN" sz="2000" dirty="0" err="1">
                <a:effectLst>
                  <a:outerShdw blurRad="38100" dist="38100" dir="2700000" algn="tl">
                    <a:srgbClr val="C0C0C0"/>
                  </a:outerShdw>
                </a:effectLst>
                <a:latin typeface="Arial" pitchFamily="34" charset="0"/>
                <a:ea typeface="楷体_GB2312" pitchFamily="49" charset="-122"/>
              </a:rPr>
              <a:t>Ssignal</a:t>
            </a:r>
            <a:r>
              <a:rPr kumimoji="0" lang="zh-CN" altLang="en-US" sz="2000" dirty="0">
                <a:effectLst>
                  <a:outerShdw blurRad="38100" dist="38100" dir="2700000" algn="tl">
                    <a:srgbClr val="C0C0C0"/>
                  </a:outerShdw>
                </a:effectLst>
                <a:latin typeface="Arial" pitchFamily="34" charset="0"/>
                <a:ea typeface="楷体_GB2312" pitchFamily="49" charset="-122"/>
              </a:rPr>
              <a:t>（</a:t>
            </a:r>
            <a:r>
              <a:rPr kumimoji="0" lang="en-US" altLang="zh-CN" sz="2000" dirty="0">
                <a:effectLst>
                  <a:outerShdw blurRad="38100" dist="38100" dir="2700000" algn="tl">
                    <a:srgbClr val="C0C0C0"/>
                  </a:outerShdw>
                </a:effectLst>
                <a:latin typeface="Arial" pitchFamily="34" charset="0"/>
                <a:ea typeface="楷体_GB2312" pitchFamily="49" charset="-122"/>
              </a:rPr>
              <a:t>S</a:t>
            </a:r>
            <a:r>
              <a:rPr kumimoji="0" lang="en-US" altLang="zh-CN" sz="2000" baseline="-25000" dirty="0">
                <a:effectLst>
                  <a:outerShdw blurRad="38100" dist="38100" dir="2700000" algn="tl">
                    <a:srgbClr val="C0C0C0"/>
                  </a:outerShdw>
                </a:effectLst>
                <a:latin typeface="Arial" pitchFamily="34" charset="0"/>
                <a:ea typeface="楷体_GB2312" pitchFamily="49" charset="-122"/>
              </a:rPr>
              <a:t>1</a:t>
            </a:r>
            <a:r>
              <a:rPr kumimoji="0" lang="zh-CN" altLang="en-US" sz="2000" dirty="0">
                <a:effectLst>
                  <a:outerShdw blurRad="38100" dist="38100" dir="2700000" algn="tl">
                    <a:srgbClr val="C0C0C0"/>
                  </a:outerShdw>
                </a:effectLst>
                <a:latin typeface="Arial" pitchFamily="34" charset="0"/>
                <a:ea typeface="楷体_GB2312" pitchFamily="49" charset="-122"/>
              </a:rPr>
              <a:t>，</a:t>
            </a:r>
            <a:r>
              <a:rPr kumimoji="0" lang="en-US" altLang="zh-CN" sz="2000" dirty="0">
                <a:effectLst>
                  <a:outerShdw blurRad="38100" dist="38100" dir="2700000" algn="tl">
                    <a:srgbClr val="C0C0C0"/>
                  </a:outerShdw>
                </a:effectLst>
                <a:latin typeface="Arial" pitchFamily="34" charset="0"/>
                <a:ea typeface="楷体_GB2312" pitchFamily="49" charset="-122"/>
              </a:rPr>
              <a:t>S</a:t>
            </a:r>
            <a:r>
              <a:rPr kumimoji="0" lang="en-US" altLang="zh-CN" sz="2000" baseline="-25000" dirty="0">
                <a:effectLst>
                  <a:outerShdw blurRad="38100" dist="38100" dir="2700000" algn="tl">
                    <a:srgbClr val="C0C0C0"/>
                  </a:outerShdw>
                </a:effectLst>
                <a:latin typeface="Arial" pitchFamily="34" charset="0"/>
                <a:ea typeface="楷体_GB2312" pitchFamily="49" charset="-122"/>
              </a:rPr>
              <a:t>2</a:t>
            </a:r>
            <a:r>
              <a:rPr kumimoji="0" lang="zh-CN" altLang="en-US" sz="2000" dirty="0">
                <a:effectLst>
                  <a:outerShdw blurRad="38100" dist="38100" dir="2700000" algn="tl">
                    <a:srgbClr val="C0C0C0"/>
                  </a:outerShdw>
                </a:effectLst>
                <a:latin typeface="Arial" pitchFamily="34" charset="0"/>
                <a:ea typeface="楷体_GB2312" pitchFamily="49" charset="-122"/>
              </a:rPr>
              <a:t>，</a:t>
            </a:r>
            <a:r>
              <a:rPr kumimoji="0" lang="en-US" altLang="zh-CN" sz="2000" dirty="0">
                <a:effectLst>
                  <a:outerShdw blurRad="38100" dist="38100" dir="2700000" algn="tl">
                    <a:srgbClr val="C0C0C0"/>
                  </a:outerShdw>
                </a:effectLst>
                <a:latin typeface="Arial" pitchFamily="34" charset="0"/>
                <a:ea typeface="楷体_GB2312" pitchFamily="49" charset="-122"/>
              </a:rPr>
              <a:t>S</a:t>
            </a:r>
            <a:r>
              <a:rPr kumimoji="0" lang="en-US" altLang="zh-CN" sz="2000" baseline="-25000" dirty="0">
                <a:effectLst>
                  <a:outerShdw blurRad="38100" dist="38100" dir="2700000" algn="tl">
                    <a:srgbClr val="C0C0C0"/>
                  </a:outerShdw>
                </a:effectLst>
                <a:latin typeface="Arial" pitchFamily="34" charset="0"/>
                <a:ea typeface="楷体_GB2312" pitchFamily="49" charset="-122"/>
              </a:rPr>
              <a:t>3</a:t>
            </a:r>
            <a:r>
              <a:rPr kumimoji="0" lang="en-US" altLang="zh-CN" sz="2000" dirty="0">
                <a:effectLst>
                  <a:outerShdw blurRad="38100" dist="38100" dir="2700000" algn="tl">
                    <a:srgbClr val="C0C0C0"/>
                  </a:outerShdw>
                </a:effectLst>
                <a:latin typeface="Arial" pitchFamily="34" charset="0"/>
                <a:ea typeface="楷体_GB2312" pitchFamily="49" charset="-122"/>
              </a:rPr>
              <a:t>……</a:t>
            </a:r>
            <a:r>
              <a:rPr kumimoji="0" lang="en-US" altLang="zh-CN" sz="2000" dirty="0" err="1">
                <a:effectLst>
                  <a:outerShdw blurRad="38100" dist="38100" dir="2700000" algn="tl">
                    <a:srgbClr val="C0C0C0"/>
                  </a:outerShdw>
                </a:effectLst>
                <a:latin typeface="Arial" pitchFamily="34" charset="0"/>
                <a:ea typeface="楷体_GB2312" pitchFamily="49" charset="-122"/>
              </a:rPr>
              <a:t>S</a:t>
            </a:r>
            <a:r>
              <a:rPr kumimoji="0" lang="en-US" altLang="zh-CN" sz="2000" baseline="-25000" dirty="0" err="1">
                <a:effectLst>
                  <a:outerShdw blurRad="38100" dist="38100" dir="2700000" algn="tl">
                    <a:srgbClr val="C0C0C0"/>
                  </a:outerShdw>
                </a:effectLst>
                <a:latin typeface="Arial" pitchFamily="34" charset="0"/>
                <a:ea typeface="楷体_GB2312" pitchFamily="49" charset="-122"/>
              </a:rPr>
              <a:t>n</a:t>
            </a:r>
            <a:r>
              <a:rPr kumimoji="0" lang="zh-CN" altLang="en-US" sz="2000" dirty="0">
                <a:effectLst>
                  <a:outerShdw blurRad="38100" dist="38100" dir="2700000" algn="tl">
                    <a:srgbClr val="C0C0C0"/>
                  </a:outerShdw>
                </a:effectLst>
                <a:latin typeface="Arial" pitchFamily="34" charset="0"/>
                <a:ea typeface="楷体_GB2312" pitchFamily="49" charset="-122"/>
              </a:rPr>
              <a:t>）</a:t>
            </a:r>
          </a:p>
        </p:txBody>
      </p:sp>
      <p:sp>
        <p:nvSpPr>
          <p:cNvPr id="12" name="Rectangle 5"/>
          <p:cNvSpPr>
            <a:spLocks noChangeArrowheads="1"/>
          </p:cNvSpPr>
          <p:nvPr/>
        </p:nvSpPr>
        <p:spPr bwMode="auto">
          <a:xfrm>
            <a:off x="7934268" y="2410385"/>
            <a:ext cx="1887463" cy="152691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defRPr/>
            </a:pPr>
            <a:r>
              <a:rPr kumimoji="0" lang="en-US" altLang="zh-CN" sz="2000" dirty="0">
                <a:effectLst>
                  <a:outerShdw blurRad="38100" dist="38100" dir="2700000" algn="tl">
                    <a:srgbClr val="FFFFFF"/>
                  </a:outerShdw>
                </a:effectLst>
                <a:latin typeface="Arial" pitchFamily="34" charset="0"/>
                <a:ea typeface="楷体_GB2312" pitchFamily="49" charset="-122"/>
              </a:rPr>
              <a:t>S</a:t>
            </a:r>
            <a:r>
              <a:rPr kumimoji="0" lang="en-US" altLang="zh-CN" sz="2000" baseline="-25000" dirty="0">
                <a:effectLst>
                  <a:outerShdw blurRad="38100" dist="38100" dir="2700000" algn="tl">
                    <a:srgbClr val="FFFFFF"/>
                  </a:outerShdw>
                </a:effectLst>
                <a:latin typeface="Arial" pitchFamily="34" charset="0"/>
                <a:ea typeface="楷体_GB2312" pitchFamily="49" charset="-122"/>
              </a:rPr>
              <a:t>1</a:t>
            </a:r>
            <a:r>
              <a:rPr kumimoji="0" lang="en-US" altLang="zh-CN" sz="2000" dirty="0">
                <a:effectLst>
                  <a:outerShdw blurRad="38100" dist="38100" dir="2700000" algn="tl">
                    <a:srgbClr val="FFFFFF"/>
                  </a:outerShdw>
                </a:effectLst>
                <a:latin typeface="Arial" pitchFamily="34" charset="0"/>
                <a:ea typeface="楷体_GB2312" pitchFamily="49" charset="-122"/>
              </a:rPr>
              <a:t>=S</a:t>
            </a:r>
            <a:r>
              <a:rPr kumimoji="0" lang="en-US" altLang="zh-CN" sz="2000" baseline="-25000" dirty="0">
                <a:effectLst>
                  <a:outerShdw blurRad="38100" dist="38100" dir="2700000" algn="tl">
                    <a:srgbClr val="FFFFFF"/>
                  </a:outerShdw>
                </a:effectLst>
                <a:latin typeface="Arial" pitchFamily="34" charset="0"/>
                <a:ea typeface="楷体_GB2312" pitchFamily="49" charset="-122"/>
              </a:rPr>
              <a:t>1</a:t>
            </a:r>
            <a:r>
              <a:rPr kumimoji="0" lang="zh-CN" altLang="en-US" sz="2000" dirty="0">
                <a:effectLst>
                  <a:outerShdw blurRad="38100" dist="38100" dir="2700000" algn="tl">
                    <a:srgbClr val="FFFFFF"/>
                  </a:outerShdw>
                </a:effectLst>
                <a:latin typeface="Arial" pitchFamily="34" charset="0"/>
                <a:ea typeface="楷体_GB2312" pitchFamily="49" charset="-122"/>
              </a:rPr>
              <a:t>＋</a:t>
            </a:r>
            <a:r>
              <a:rPr kumimoji="0" lang="en-US" altLang="zh-CN" sz="2000" dirty="0">
                <a:effectLst>
                  <a:outerShdw blurRad="38100" dist="38100" dir="2700000" algn="tl">
                    <a:srgbClr val="FFFFFF"/>
                  </a:outerShdw>
                </a:effectLst>
                <a:latin typeface="Arial" pitchFamily="34" charset="0"/>
                <a:ea typeface="楷体_GB2312" pitchFamily="49" charset="-122"/>
              </a:rPr>
              <a:t>1</a:t>
            </a:r>
            <a:r>
              <a:rPr kumimoji="0" lang="zh-CN" altLang="en-US" sz="2000" dirty="0">
                <a:effectLst>
                  <a:outerShdw blurRad="38100" dist="38100" dir="2700000" algn="tl">
                    <a:srgbClr val="FFFFFF"/>
                  </a:outerShdw>
                </a:effectLst>
                <a:latin typeface="Arial" pitchFamily="34" charset="0"/>
                <a:ea typeface="楷体_GB2312" pitchFamily="49" charset="-122"/>
              </a:rPr>
              <a:t>；</a:t>
            </a:r>
          </a:p>
          <a:p>
            <a:pPr algn="ctr">
              <a:defRPr/>
            </a:pPr>
            <a:r>
              <a:rPr kumimoji="0" lang="en-US" altLang="zh-CN" sz="2000" dirty="0">
                <a:effectLst>
                  <a:outerShdw blurRad="38100" dist="38100" dir="2700000" algn="tl">
                    <a:srgbClr val="FFFFFF"/>
                  </a:outerShdw>
                </a:effectLst>
                <a:latin typeface="Arial" pitchFamily="34" charset="0"/>
                <a:ea typeface="楷体_GB2312" pitchFamily="49" charset="-122"/>
              </a:rPr>
              <a:t>S</a:t>
            </a:r>
            <a:r>
              <a:rPr kumimoji="0" lang="en-US" altLang="zh-CN" sz="2000" baseline="-25000" dirty="0">
                <a:effectLst>
                  <a:outerShdw blurRad="38100" dist="38100" dir="2700000" algn="tl">
                    <a:srgbClr val="FFFFFF"/>
                  </a:outerShdw>
                </a:effectLst>
                <a:latin typeface="Arial" pitchFamily="34" charset="0"/>
                <a:ea typeface="楷体_GB2312" pitchFamily="49" charset="-122"/>
              </a:rPr>
              <a:t>2</a:t>
            </a:r>
            <a:r>
              <a:rPr kumimoji="0" lang="en-US" altLang="zh-CN" sz="2000" dirty="0">
                <a:effectLst>
                  <a:outerShdw blurRad="38100" dist="38100" dir="2700000" algn="tl">
                    <a:srgbClr val="FFFFFF"/>
                  </a:outerShdw>
                </a:effectLst>
                <a:latin typeface="Arial" pitchFamily="34" charset="0"/>
                <a:ea typeface="楷体_GB2312" pitchFamily="49" charset="-122"/>
              </a:rPr>
              <a:t>=S</a:t>
            </a:r>
            <a:r>
              <a:rPr kumimoji="0" lang="en-US" altLang="zh-CN" sz="2000" baseline="-25000" dirty="0">
                <a:effectLst>
                  <a:outerShdw blurRad="38100" dist="38100" dir="2700000" algn="tl">
                    <a:srgbClr val="FFFFFF"/>
                  </a:outerShdw>
                </a:effectLst>
                <a:latin typeface="Arial" pitchFamily="34" charset="0"/>
                <a:ea typeface="楷体_GB2312" pitchFamily="49" charset="-122"/>
              </a:rPr>
              <a:t>2</a:t>
            </a:r>
            <a:r>
              <a:rPr kumimoji="0" lang="zh-CN" altLang="en-US" sz="2000" dirty="0">
                <a:effectLst>
                  <a:outerShdw blurRad="38100" dist="38100" dir="2700000" algn="tl">
                    <a:srgbClr val="FFFFFF"/>
                  </a:outerShdw>
                </a:effectLst>
                <a:latin typeface="Arial" pitchFamily="34" charset="0"/>
                <a:ea typeface="楷体_GB2312" pitchFamily="49" charset="-122"/>
              </a:rPr>
              <a:t>＋</a:t>
            </a:r>
            <a:r>
              <a:rPr kumimoji="0" lang="en-US" altLang="zh-CN" sz="2000" dirty="0">
                <a:effectLst>
                  <a:outerShdw blurRad="38100" dist="38100" dir="2700000" algn="tl">
                    <a:srgbClr val="FFFFFF"/>
                  </a:outerShdw>
                </a:effectLst>
                <a:latin typeface="Arial" pitchFamily="34" charset="0"/>
                <a:ea typeface="楷体_GB2312" pitchFamily="49" charset="-122"/>
              </a:rPr>
              <a:t>1</a:t>
            </a:r>
            <a:r>
              <a:rPr kumimoji="0" lang="zh-CN" altLang="en-US" sz="2000" dirty="0">
                <a:effectLst>
                  <a:outerShdw blurRad="38100" dist="38100" dir="2700000" algn="tl">
                    <a:srgbClr val="FFFFFF"/>
                  </a:outerShdw>
                </a:effectLst>
                <a:latin typeface="Arial" pitchFamily="34" charset="0"/>
                <a:ea typeface="楷体_GB2312" pitchFamily="49" charset="-122"/>
              </a:rPr>
              <a:t>；</a:t>
            </a:r>
          </a:p>
          <a:p>
            <a:pPr algn="ctr">
              <a:defRPr/>
            </a:pPr>
            <a:r>
              <a:rPr kumimoji="0" lang="en-US" altLang="zh-CN" sz="2000" dirty="0">
                <a:effectLst>
                  <a:outerShdw blurRad="38100" dist="38100" dir="2700000" algn="tl">
                    <a:srgbClr val="FFFFFF"/>
                  </a:outerShdw>
                </a:effectLst>
                <a:latin typeface="Arial" pitchFamily="34" charset="0"/>
                <a:ea typeface="楷体_GB2312" pitchFamily="49" charset="-122"/>
              </a:rPr>
              <a:t>……</a:t>
            </a:r>
          </a:p>
          <a:p>
            <a:pPr algn="ctr">
              <a:defRPr/>
            </a:pPr>
            <a:r>
              <a:rPr kumimoji="0" lang="en-US" altLang="zh-CN" sz="2000" dirty="0" err="1">
                <a:effectLst>
                  <a:outerShdw blurRad="38100" dist="38100" dir="2700000" algn="tl">
                    <a:srgbClr val="FFFFFF"/>
                  </a:outerShdw>
                </a:effectLst>
                <a:latin typeface="Arial" pitchFamily="34" charset="0"/>
                <a:ea typeface="楷体_GB2312" pitchFamily="49" charset="-122"/>
              </a:rPr>
              <a:t>S</a:t>
            </a:r>
            <a:r>
              <a:rPr kumimoji="0" lang="en-US" altLang="zh-CN" sz="2000" baseline="-25000" dirty="0" err="1">
                <a:effectLst>
                  <a:outerShdw blurRad="38100" dist="38100" dir="2700000" algn="tl">
                    <a:srgbClr val="FFFFFF"/>
                  </a:outerShdw>
                </a:effectLst>
                <a:latin typeface="Arial" pitchFamily="34" charset="0"/>
                <a:ea typeface="楷体_GB2312" pitchFamily="49" charset="-122"/>
              </a:rPr>
              <a:t>n</a:t>
            </a:r>
            <a:r>
              <a:rPr kumimoji="0" lang="en-US" altLang="zh-CN" sz="2000" dirty="0">
                <a:effectLst>
                  <a:outerShdw blurRad="38100" dist="38100" dir="2700000" algn="tl">
                    <a:srgbClr val="FFFFFF"/>
                  </a:outerShdw>
                </a:effectLst>
                <a:latin typeface="Arial" pitchFamily="34" charset="0"/>
                <a:ea typeface="楷体_GB2312" pitchFamily="49" charset="-122"/>
              </a:rPr>
              <a:t>=</a:t>
            </a:r>
            <a:r>
              <a:rPr kumimoji="0" lang="en-US" altLang="zh-CN" sz="2000" dirty="0" err="1">
                <a:effectLst>
                  <a:outerShdw blurRad="38100" dist="38100" dir="2700000" algn="tl">
                    <a:srgbClr val="FFFFFF"/>
                  </a:outerShdw>
                </a:effectLst>
                <a:latin typeface="Arial" pitchFamily="34" charset="0"/>
                <a:ea typeface="楷体_GB2312" pitchFamily="49" charset="-122"/>
              </a:rPr>
              <a:t>S</a:t>
            </a:r>
            <a:r>
              <a:rPr kumimoji="0" lang="en-US" altLang="zh-CN" sz="2000" baseline="-25000" dirty="0" err="1">
                <a:effectLst>
                  <a:outerShdw blurRad="38100" dist="38100" dir="2700000" algn="tl">
                    <a:srgbClr val="FFFFFF"/>
                  </a:outerShdw>
                </a:effectLst>
                <a:latin typeface="Arial" pitchFamily="34" charset="0"/>
                <a:ea typeface="楷体_GB2312" pitchFamily="49" charset="-122"/>
              </a:rPr>
              <a:t>n</a:t>
            </a:r>
            <a:r>
              <a:rPr kumimoji="0" lang="zh-CN" altLang="en-US" sz="2000" dirty="0">
                <a:effectLst>
                  <a:outerShdw blurRad="38100" dist="38100" dir="2700000" algn="tl">
                    <a:srgbClr val="FFFFFF"/>
                  </a:outerShdw>
                </a:effectLst>
                <a:latin typeface="Arial" pitchFamily="34" charset="0"/>
                <a:ea typeface="楷体_GB2312" pitchFamily="49" charset="-122"/>
              </a:rPr>
              <a:t>＋</a:t>
            </a:r>
            <a:r>
              <a:rPr kumimoji="0" lang="en-US" altLang="zh-CN" sz="2000" dirty="0">
                <a:effectLst>
                  <a:outerShdw blurRad="38100" dist="38100" dir="2700000" algn="tl">
                    <a:srgbClr val="FFFFFF"/>
                  </a:outerShdw>
                </a:effectLst>
                <a:latin typeface="Arial" pitchFamily="34" charset="0"/>
                <a:ea typeface="楷体_GB2312" pitchFamily="49" charset="-122"/>
              </a:rPr>
              <a:t>1</a:t>
            </a:r>
            <a:r>
              <a:rPr kumimoji="0" lang="zh-CN" altLang="en-US" sz="2000" dirty="0">
                <a:effectLst>
                  <a:outerShdw blurRad="38100" dist="38100" dir="2700000" algn="tl">
                    <a:srgbClr val="FFFFFF"/>
                  </a:outerShdw>
                </a:effectLst>
                <a:latin typeface="Arial" pitchFamily="34" charset="0"/>
                <a:ea typeface="楷体_GB2312" pitchFamily="49" charset="-122"/>
              </a:rPr>
              <a:t>；</a:t>
            </a:r>
          </a:p>
        </p:txBody>
      </p:sp>
      <p:sp>
        <p:nvSpPr>
          <p:cNvPr id="13" name="Line 6"/>
          <p:cNvSpPr>
            <a:spLocks noChangeShapeType="1"/>
          </p:cNvSpPr>
          <p:nvPr/>
        </p:nvSpPr>
        <p:spPr bwMode="auto">
          <a:xfrm>
            <a:off x="8858942" y="1959890"/>
            <a:ext cx="0" cy="431800"/>
          </a:xfrm>
          <a:prstGeom prst="line">
            <a:avLst/>
          </a:prstGeom>
          <a:noFill/>
          <a:ln w="38100">
            <a:solidFill>
              <a:schemeClr val="tx1"/>
            </a:solidFill>
            <a:round/>
            <a:headEnd/>
            <a:tailEnd type="triangle" w="med" len="med"/>
          </a:ln>
        </p:spPr>
        <p:txBody>
          <a:bodyPr/>
          <a:lstStyle/>
          <a:p>
            <a:endParaRPr lang="zh-CN" altLang="en-US"/>
          </a:p>
        </p:txBody>
      </p:sp>
      <p:sp>
        <p:nvSpPr>
          <p:cNvPr id="14" name="Rectangle 7"/>
          <p:cNvSpPr>
            <a:spLocks noChangeArrowheads="1"/>
          </p:cNvSpPr>
          <p:nvPr/>
        </p:nvSpPr>
        <p:spPr bwMode="auto">
          <a:xfrm>
            <a:off x="7648442" y="4530800"/>
            <a:ext cx="2431474" cy="858782"/>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defRPr/>
            </a:pPr>
            <a:r>
              <a:rPr kumimoji="0" lang="zh-CN" altLang="en-US" sz="2000" dirty="0">
                <a:effectLst>
                  <a:outerShdw blurRad="38100" dist="38100" dir="2700000" algn="tl">
                    <a:srgbClr val="FFFFFF"/>
                  </a:outerShdw>
                </a:effectLst>
                <a:latin typeface="Arial" pitchFamily="34" charset="0"/>
                <a:ea typeface="楷体_GB2312" pitchFamily="49" charset="-122"/>
              </a:rPr>
              <a:t>将</a:t>
            </a:r>
            <a:r>
              <a:rPr kumimoji="0" lang="en-US" altLang="zh-CN" sz="2000" dirty="0">
                <a:effectLst>
                  <a:outerShdw blurRad="38100" dist="38100" dir="2700000" algn="tl">
                    <a:srgbClr val="FFFFFF"/>
                  </a:outerShdw>
                </a:effectLst>
                <a:latin typeface="Arial" pitchFamily="34" charset="0"/>
                <a:ea typeface="楷体_GB2312" pitchFamily="49" charset="-122"/>
              </a:rPr>
              <a:t>S</a:t>
            </a:r>
            <a:r>
              <a:rPr kumimoji="0" lang="en-US" altLang="zh-CN" sz="2000" baseline="-25000" dirty="0">
                <a:effectLst>
                  <a:outerShdw blurRad="38100" dist="38100" dir="2700000" algn="tl">
                    <a:srgbClr val="FFFFFF"/>
                  </a:outerShdw>
                </a:effectLst>
                <a:latin typeface="Arial" pitchFamily="34" charset="0"/>
                <a:ea typeface="楷体_GB2312" pitchFamily="49" charset="-122"/>
              </a:rPr>
              <a:t>i</a:t>
            </a:r>
            <a:r>
              <a:rPr kumimoji="0" lang="zh-CN" altLang="en-US" sz="2000" dirty="0">
                <a:effectLst>
                  <a:outerShdw blurRad="38100" dist="38100" dir="2700000" algn="tl">
                    <a:srgbClr val="FFFFFF"/>
                  </a:outerShdw>
                </a:effectLst>
                <a:latin typeface="Arial" pitchFamily="34" charset="0"/>
                <a:ea typeface="楷体_GB2312" pitchFamily="49" charset="-122"/>
              </a:rPr>
              <a:t>队列中第一个</a:t>
            </a:r>
          </a:p>
          <a:p>
            <a:pPr algn="ctr">
              <a:defRPr/>
            </a:pPr>
            <a:r>
              <a:rPr kumimoji="0" lang="zh-CN" altLang="en-US" sz="2000" dirty="0">
                <a:effectLst>
                  <a:outerShdw blurRad="38100" dist="38100" dir="2700000" algn="tl">
                    <a:srgbClr val="FFFFFF"/>
                  </a:outerShdw>
                </a:effectLst>
                <a:latin typeface="Arial" pitchFamily="34" charset="0"/>
                <a:ea typeface="楷体_GB2312" pitchFamily="49" charset="-122"/>
              </a:rPr>
              <a:t>等待进程唤醒</a:t>
            </a:r>
          </a:p>
        </p:txBody>
      </p:sp>
      <p:sp>
        <p:nvSpPr>
          <p:cNvPr id="15" name="Line 8"/>
          <p:cNvSpPr>
            <a:spLocks noChangeShapeType="1"/>
          </p:cNvSpPr>
          <p:nvPr/>
        </p:nvSpPr>
        <p:spPr bwMode="auto">
          <a:xfrm>
            <a:off x="8858942" y="3933368"/>
            <a:ext cx="0" cy="576263"/>
          </a:xfrm>
          <a:prstGeom prst="line">
            <a:avLst/>
          </a:prstGeom>
          <a:noFill/>
          <a:ln w="38100">
            <a:solidFill>
              <a:schemeClr val="tx1"/>
            </a:solidFill>
            <a:round/>
            <a:headEnd/>
            <a:tailEnd type="triangle" w="med" len="med"/>
          </a:ln>
        </p:spPr>
        <p:txBody>
          <a:bodyPr/>
          <a:lstStyle/>
          <a:p>
            <a:endParaRPr lang="zh-CN" altLang="en-US"/>
          </a:p>
        </p:txBody>
      </p:sp>
    </p:spTree>
    <p:extLst>
      <p:ext uri="{BB962C8B-B14F-4D97-AF65-F5344CB8AC3E}">
        <p14:creationId xmlns:p14="http://schemas.microsoft.com/office/powerpoint/2010/main" val="744292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848833" y="202028"/>
            <a:ext cx="3967716" cy="457196"/>
          </a:xfrm>
        </p:spPr>
        <p:txBody>
          <a:bodyPr/>
          <a:lstStyle/>
          <a:p>
            <a:r>
              <a:rPr lang="en-US" altLang="zh-CN" dirty="0"/>
              <a:t>3.</a:t>
            </a:r>
            <a:r>
              <a:rPr lang="zh-CN" altLang="en-US" dirty="0"/>
              <a:t>信号量机制</a:t>
            </a:r>
          </a:p>
        </p:txBody>
      </p:sp>
      <p:grpSp>
        <p:nvGrpSpPr>
          <p:cNvPr id="9" name="组合 3"/>
          <p:cNvGrpSpPr/>
          <p:nvPr/>
        </p:nvGrpSpPr>
        <p:grpSpPr>
          <a:xfrm>
            <a:off x="1004177" y="1027910"/>
            <a:ext cx="5314736" cy="665162"/>
            <a:chOff x="1004177" y="1027910"/>
            <a:chExt cx="5314736" cy="665162"/>
          </a:xfrm>
        </p:grpSpPr>
        <p:sp>
          <p:nvSpPr>
            <p:cNvPr id="10" name="矩形 9"/>
            <p:cNvSpPr/>
            <p:nvPr/>
          </p:nvSpPr>
          <p:spPr>
            <a:xfrm>
              <a:off x="1150228" y="1561310"/>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1" name="矩形 10"/>
            <p:cNvSpPr/>
            <p:nvPr/>
          </p:nvSpPr>
          <p:spPr>
            <a:xfrm>
              <a:off x="2058278" y="1561310"/>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2" name="文本框 55"/>
            <p:cNvSpPr txBox="1">
              <a:spLocks noChangeArrowheads="1"/>
            </p:cNvSpPr>
            <p:nvPr/>
          </p:nvSpPr>
          <p:spPr bwMode="auto">
            <a:xfrm>
              <a:off x="1004177" y="1027910"/>
              <a:ext cx="53147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AND</a:t>
              </a:r>
              <a:r>
                <a:rPr lang="zh-CN" altLang="en-US" sz="2400" b="1" dirty="0">
                  <a:solidFill>
                    <a:srgbClr val="4C7E51"/>
                  </a:solidFill>
                  <a:latin typeface="微软雅黑" panose="020B0503020204020204" pitchFamily="34" charset="-122"/>
                  <a:ea typeface="微软雅黑" panose="020B0503020204020204" pitchFamily="34" charset="-122"/>
                </a:rPr>
                <a:t>型信号量流程</a:t>
              </a:r>
            </a:p>
          </p:txBody>
        </p:sp>
      </p:grpSp>
      <p:sp>
        <p:nvSpPr>
          <p:cNvPr id="13" name="Oval 5"/>
          <p:cNvSpPr>
            <a:spLocks noChangeArrowheads="1"/>
          </p:cNvSpPr>
          <p:nvPr/>
        </p:nvSpPr>
        <p:spPr bwMode="auto">
          <a:xfrm>
            <a:off x="5517858" y="4279438"/>
            <a:ext cx="2442802" cy="647700"/>
          </a:xfrm>
          <a:prstGeom prst="ellipse">
            <a:avLst/>
          </a:prstGeom>
          <a:solidFill>
            <a:schemeClr val="accent1">
              <a:lumMod val="20000"/>
              <a:lumOff val="80000"/>
            </a:schemeClr>
          </a:solidFill>
          <a:ln w="9525">
            <a:solidFill>
              <a:schemeClr val="tx1"/>
            </a:solidFill>
            <a:round/>
            <a:headEnd/>
            <a:tailEnd/>
          </a:ln>
        </p:spPr>
        <p:txBody>
          <a:bodyPr wrap="none" anchor="ctr"/>
          <a:lstStyle/>
          <a:p>
            <a:pPr>
              <a:defRPr/>
            </a:pPr>
            <a:endParaRPr lang="zh-CN" altLang="en-US" sz="2000" b="0"/>
          </a:p>
        </p:txBody>
      </p:sp>
      <p:sp>
        <p:nvSpPr>
          <p:cNvPr id="14" name="Oval 6"/>
          <p:cNvSpPr>
            <a:spLocks noChangeArrowheads="1"/>
          </p:cNvSpPr>
          <p:nvPr/>
        </p:nvSpPr>
        <p:spPr bwMode="auto">
          <a:xfrm>
            <a:off x="1753496" y="4279438"/>
            <a:ext cx="2613423" cy="647700"/>
          </a:xfrm>
          <a:prstGeom prst="ellipse">
            <a:avLst/>
          </a:prstGeom>
          <a:solidFill>
            <a:schemeClr val="accent1">
              <a:lumMod val="20000"/>
              <a:lumOff val="80000"/>
            </a:schemeClr>
          </a:solidFill>
          <a:ln w="9525">
            <a:solidFill>
              <a:schemeClr val="tx1"/>
            </a:solidFill>
            <a:round/>
            <a:headEnd/>
            <a:tailEnd/>
          </a:ln>
        </p:spPr>
        <p:txBody>
          <a:bodyPr wrap="none" anchor="ctr"/>
          <a:lstStyle/>
          <a:p>
            <a:pPr>
              <a:defRPr/>
            </a:pPr>
            <a:endParaRPr lang="zh-CN" altLang="en-US" sz="2000" b="0"/>
          </a:p>
        </p:txBody>
      </p:sp>
      <p:sp>
        <p:nvSpPr>
          <p:cNvPr id="15" name="Rectangle 7"/>
          <p:cNvSpPr>
            <a:spLocks noChangeArrowheads="1"/>
          </p:cNvSpPr>
          <p:nvPr/>
        </p:nvSpPr>
        <p:spPr bwMode="auto">
          <a:xfrm>
            <a:off x="2026574" y="2428690"/>
            <a:ext cx="2061335" cy="1218154"/>
          </a:xfrm>
          <a:prstGeom prst="rect">
            <a:avLst/>
          </a:prstGeom>
          <a:solidFill>
            <a:schemeClr val="accent1">
              <a:lumMod val="20000"/>
              <a:lumOff val="80000"/>
            </a:schemeClr>
          </a:solidFill>
          <a:ln w="9525">
            <a:solidFill>
              <a:schemeClr val="tx1"/>
            </a:solidFill>
            <a:miter lim="800000"/>
            <a:headEnd/>
            <a:tailEnd/>
          </a:ln>
        </p:spPr>
        <p:txBody>
          <a:bodyPr wrap="none" anchor="ctr"/>
          <a:lstStyle/>
          <a:p>
            <a:pPr>
              <a:defRPr/>
            </a:pPr>
            <a:endParaRPr lang="zh-CN" altLang="en-US" sz="2000" b="0"/>
          </a:p>
        </p:txBody>
      </p:sp>
      <p:sp>
        <p:nvSpPr>
          <p:cNvPr id="16" name="Text Box 8"/>
          <p:cNvSpPr txBox="1">
            <a:spLocks noChangeArrowheads="1"/>
          </p:cNvSpPr>
          <p:nvPr/>
        </p:nvSpPr>
        <p:spPr bwMode="auto">
          <a:xfrm>
            <a:off x="2026574" y="2448480"/>
            <a:ext cx="2061335" cy="400110"/>
          </a:xfrm>
          <a:prstGeom prst="rect">
            <a:avLst/>
          </a:prstGeom>
          <a:noFill/>
          <a:ln w="9525">
            <a:noFill/>
            <a:miter lim="800000"/>
            <a:headEnd/>
            <a:tailEnd/>
          </a:ln>
          <a:effectLst/>
        </p:spPr>
        <p:txBody>
          <a:bodyPr wrap="square">
            <a:spAutoFit/>
          </a:bodyPr>
          <a:lstStyle/>
          <a:p>
            <a:pPr>
              <a:defRPr/>
            </a:pPr>
            <a:r>
              <a:rPr kumimoji="0" lang="en-US" altLang="zh-CN" sz="2000" dirty="0">
                <a:effectLst>
                  <a:outerShdw blurRad="38100" dist="38100" dir="2700000" algn="tl">
                    <a:srgbClr val="C0C0C0"/>
                  </a:outerShdw>
                </a:effectLst>
                <a:latin typeface="Arial" pitchFamily="34" charset="0"/>
                <a:ea typeface="楷体_GB2312" pitchFamily="49" charset="-122"/>
              </a:rPr>
              <a:t>wait</a:t>
            </a:r>
            <a:r>
              <a:rPr kumimoji="0" lang="en-US" altLang="zh-CN" sz="2000" baseline="-25000" dirty="0">
                <a:effectLst>
                  <a:outerShdw blurRad="38100" dist="38100" dir="2700000" algn="tl">
                    <a:srgbClr val="C0C0C0"/>
                  </a:outerShdw>
                </a:effectLst>
                <a:latin typeface="Arial" pitchFamily="34" charset="0"/>
                <a:ea typeface="楷体_GB2312" pitchFamily="49" charset="-122"/>
              </a:rPr>
              <a:t>1</a:t>
            </a:r>
            <a:r>
              <a:rPr kumimoji="0" lang="zh-CN" altLang="en-US" sz="2000" dirty="0">
                <a:effectLst>
                  <a:outerShdw blurRad="38100" dist="38100" dir="2700000" algn="tl">
                    <a:srgbClr val="C0C0C0"/>
                  </a:outerShdw>
                </a:effectLst>
                <a:latin typeface="Arial" pitchFamily="34" charset="0"/>
                <a:ea typeface="楷体_GB2312" pitchFamily="49" charset="-122"/>
              </a:rPr>
              <a:t>（</a:t>
            </a:r>
            <a:r>
              <a:rPr kumimoji="0" lang="en-US" altLang="zh-CN" sz="2000" dirty="0">
                <a:effectLst>
                  <a:outerShdw blurRad="38100" dist="38100" dir="2700000" algn="tl">
                    <a:srgbClr val="C0C0C0"/>
                  </a:outerShdw>
                </a:effectLst>
                <a:latin typeface="Arial" pitchFamily="34" charset="0"/>
                <a:ea typeface="楷体_GB2312" pitchFamily="49" charset="-122"/>
              </a:rPr>
              <a:t>S</a:t>
            </a:r>
            <a:r>
              <a:rPr kumimoji="0" lang="en-US" altLang="zh-CN" sz="2000" baseline="-25000" dirty="0">
                <a:effectLst>
                  <a:outerShdw blurRad="38100" dist="38100" dir="2700000" algn="tl">
                    <a:srgbClr val="C0C0C0"/>
                  </a:outerShdw>
                </a:effectLst>
                <a:latin typeface="Arial" pitchFamily="34" charset="0"/>
                <a:ea typeface="楷体_GB2312" pitchFamily="49" charset="-122"/>
              </a:rPr>
              <a:t>1</a:t>
            </a:r>
            <a:r>
              <a:rPr kumimoji="0" lang="zh-CN" altLang="en-US" sz="2000" dirty="0">
                <a:effectLst>
                  <a:outerShdw blurRad="38100" dist="38100" dir="2700000" algn="tl">
                    <a:srgbClr val="C0C0C0"/>
                  </a:outerShdw>
                </a:effectLst>
                <a:latin typeface="Arial" pitchFamily="34" charset="0"/>
                <a:ea typeface="楷体_GB2312" pitchFamily="49" charset="-122"/>
              </a:rPr>
              <a:t>）；</a:t>
            </a:r>
          </a:p>
        </p:txBody>
      </p:sp>
      <p:sp>
        <p:nvSpPr>
          <p:cNvPr id="17" name="Text Box 9"/>
          <p:cNvSpPr txBox="1">
            <a:spLocks noChangeArrowheads="1"/>
          </p:cNvSpPr>
          <p:nvPr/>
        </p:nvSpPr>
        <p:spPr bwMode="auto">
          <a:xfrm>
            <a:off x="2026574" y="3208353"/>
            <a:ext cx="2072093" cy="400110"/>
          </a:xfrm>
          <a:prstGeom prst="rect">
            <a:avLst/>
          </a:prstGeom>
          <a:noFill/>
          <a:ln w="9525">
            <a:noFill/>
            <a:miter lim="800000"/>
            <a:headEnd/>
            <a:tailEnd/>
          </a:ln>
          <a:effectLst/>
        </p:spPr>
        <p:txBody>
          <a:bodyPr wrap="square">
            <a:spAutoFit/>
          </a:bodyPr>
          <a:lstStyle/>
          <a:p>
            <a:pPr>
              <a:defRPr/>
            </a:pPr>
            <a:r>
              <a:rPr kumimoji="0" lang="en-US" altLang="zh-CN" sz="2000" dirty="0">
                <a:effectLst>
                  <a:outerShdw blurRad="38100" dist="38100" dir="2700000" algn="tl">
                    <a:srgbClr val="C0C0C0"/>
                  </a:outerShdw>
                </a:effectLst>
                <a:latin typeface="Arial" pitchFamily="34" charset="0"/>
                <a:ea typeface="楷体_GB2312" pitchFamily="49" charset="-122"/>
              </a:rPr>
              <a:t>wait</a:t>
            </a:r>
            <a:r>
              <a:rPr kumimoji="0" lang="en-US" altLang="zh-CN" sz="2000" baseline="-25000" dirty="0">
                <a:effectLst>
                  <a:outerShdw blurRad="38100" dist="38100" dir="2700000" algn="tl">
                    <a:srgbClr val="C0C0C0"/>
                  </a:outerShdw>
                </a:effectLst>
                <a:latin typeface="Arial" pitchFamily="34" charset="0"/>
                <a:ea typeface="楷体_GB2312" pitchFamily="49" charset="-122"/>
              </a:rPr>
              <a:t>1</a:t>
            </a:r>
            <a:r>
              <a:rPr kumimoji="0" lang="zh-CN" altLang="en-US" sz="2000" dirty="0">
                <a:effectLst>
                  <a:outerShdw blurRad="38100" dist="38100" dir="2700000" algn="tl">
                    <a:srgbClr val="C0C0C0"/>
                  </a:outerShdw>
                </a:effectLst>
                <a:latin typeface="Arial" pitchFamily="34" charset="0"/>
                <a:ea typeface="楷体_GB2312" pitchFamily="49" charset="-122"/>
              </a:rPr>
              <a:t>（</a:t>
            </a:r>
            <a:r>
              <a:rPr kumimoji="0" lang="en-US" altLang="zh-CN" sz="2000" dirty="0">
                <a:effectLst>
                  <a:outerShdw blurRad="38100" dist="38100" dir="2700000" algn="tl">
                    <a:srgbClr val="C0C0C0"/>
                  </a:outerShdw>
                </a:effectLst>
                <a:latin typeface="Arial" pitchFamily="34" charset="0"/>
                <a:ea typeface="楷体_GB2312" pitchFamily="49" charset="-122"/>
              </a:rPr>
              <a:t>S</a:t>
            </a:r>
            <a:r>
              <a:rPr kumimoji="0" lang="en-US" altLang="zh-CN" sz="2000" baseline="-25000" dirty="0">
                <a:effectLst>
                  <a:outerShdw blurRad="38100" dist="38100" dir="2700000" algn="tl">
                    <a:srgbClr val="C0C0C0"/>
                  </a:outerShdw>
                </a:effectLst>
                <a:latin typeface="Arial" pitchFamily="34" charset="0"/>
                <a:ea typeface="楷体_GB2312" pitchFamily="49" charset="-122"/>
              </a:rPr>
              <a:t>2</a:t>
            </a:r>
            <a:r>
              <a:rPr kumimoji="0" lang="zh-CN" altLang="en-US" sz="2000" dirty="0">
                <a:effectLst>
                  <a:outerShdw blurRad="38100" dist="38100" dir="2700000" algn="tl">
                    <a:srgbClr val="C0C0C0"/>
                  </a:outerShdw>
                </a:effectLst>
                <a:latin typeface="Arial" pitchFamily="34" charset="0"/>
                <a:ea typeface="楷体_GB2312" pitchFamily="49" charset="-122"/>
              </a:rPr>
              <a:t>）；</a:t>
            </a:r>
          </a:p>
        </p:txBody>
      </p:sp>
      <p:sp>
        <p:nvSpPr>
          <p:cNvPr id="18" name="Text Box 10"/>
          <p:cNvSpPr txBox="1">
            <a:spLocks noChangeArrowheads="1"/>
          </p:cNvSpPr>
          <p:nvPr/>
        </p:nvSpPr>
        <p:spPr bwMode="auto">
          <a:xfrm>
            <a:off x="2623602" y="1889967"/>
            <a:ext cx="848309" cy="400110"/>
          </a:xfrm>
          <a:prstGeom prst="rect">
            <a:avLst/>
          </a:prstGeom>
          <a:noFill/>
          <a:ln w="9525">
            <a:noFill/>
            <a:miter lim="800000"/>
            <a:headEnd/>
            <a:tailEnd/>
          </a:ln>
          <a:effectLst/>
        </p:spPr>
        <p:txBody>
          <a:bodyPr wrap="none">
            <a:spAutoFit/>
          </a:bodyPr>
          <a:lstStyle/>
          <a:p>
            <a:pPr>
              <a:defRPr/>
            </a:pPr>
            <a:r>
              <a:rPr kumimoji="0" lang="zh-CN" altLang="en-US" sz="2000" dirty="0">
                <a:effectLst>
                  <a:outerShdw blurRad="38100" dist="38100" dir="2700000" algn="tl">
                    <a:srgbClr val="C0C0C0"/>
                  </a:outerShdw>
                </a:effectLst>
                <a:latin typeface="文鼎火柴体" pitchFamily="33" charset="-122"/>
                <a:ea typeface="文鼎火柴体" pitchFamily="33" charset="-122"/>
              </a:rPr>
              <a:t>进程</a:t>
            </a:r>
            <a:r>
              <a:rPr kumimoji="0" lang="en-US" altLang="zh-CN" sz="2000" dirty="0">
                <a:effectLst>
                  <a:outerShdw blurRad="38100" dist="38100" dir="2700000" algn="tl">
                    <a:srgbClr val="C0C0C0"/>
                  </a:outerShdw>
                </a:effectLst>
                <a:latin typeface="文鼎火柴体" pitchFamily="33" charset="-122"/>
                <a:ea typeface="文鼎火柴体" pitchFamily="33" charset="-122"/>
              </a:rPr>
              <a:t>1</a:t>
            </a:r>
          </a:p>
        </p:txBody>
      </p:sp>
      <p:sp>
        <p:nvSpPr>
          <p:cNvPr id="19" name="Rectangle 11"/>
          <p:cNvSpPr>
            <a:spLocks noChangeArrowheads="1"/>
          </p:cNvSpPr>
          <p:nvPr/>
        </p:nvSpPr>
        <p:spPr bwMode="auto">
          <a:xfrm>
            <a:off x="5806782" y="2447740"/>
            <a:ext cx="1960239" cy="1220619"/>
          </a:xfrm>
          <a:prstGeom prst="rect">
            <a:avLst/>
          </a:prstGeom>
          <a:solidFill>
            <a:schemeClr val="accent1">
              <a:lumMod val="20000"/>
              <a:lumOff val="80000"/>
            </a:schemeClr>
          </a:solidFill>
          <a:ln w="9525">
            <a:solidFill>
              <a:schemeClr val="tx1"/>
            </a:solidFill>
            <a:miter lim="800000"/>
            <a:headEnd/>
            <a:tailEnd/>
          </a:ln>
        </p:spPr>
        <p:txBody>
          <a:bodyPr wrap="none" anchor="ctr"/>
          <a:lstStyle/>
          <a:p>
            <a:pPr>
              <a:defRPr/>
            </a:pPr>
            <a:endParaRPr lang="zh-CN" altLang="en-US" sz="2000" b="0"/>
          </a:p>
        </p:txBody>
      </p:sp>
      <p:sp>
        <p:nvSpPr>
          <p:cNvPr id="20" name="Text Box 12"/>
          <p:cNvSpPr txBox="1">
            <a:spLocks noChangeArrowheads="1"/>
          </p:cNvSpPr>
          <p:nvPr/>
        </p:nvSpPr>
        <p:spPr bwMode="auto">
          <a:xfrm>
            <a:off x="5808370" y="2466112"/>
            <a:ext cx="1958652" cy="400110"/>
          </a:xfrm>
          <a:prstGeom prst="rect">
            <a:avLst/>
          </a:prstGeom>
          <a:noFill/>
          <a:ln w="9525">
            <a:noFill/>
            <a:miter lim="800000"/>
            <a:headEnd/>
            <a:tailEnd/>
          </a:ln>
          <a:effectLst/>
        </p:spPr>
        <p:txBody>
          <a:bodyPr wrap="square">
            <a:spAutoFit/>
          </a:bodyPr>
          <a:lstStyle/>
          <a:p>
            <a:pPr>
              <a:defRPr/>
            </a:pPr>
            <a:r>
              <a:rPr kumimoji="0" lang="en-US" altLang="zh-CN" sz="2000" dirty="0">
                <a:effectLst>
                  <a:outerShdw blurRad="38100" dist="38100" dir="2700000" algn="tl">
                    <a:srgbClr val="C0C0C0"/>
                  </a:outerShdw>
                </a:effectLst>
                <a:latin typeface="Arial" pitchFamily="34" charset="0"/>
                <a:ea typeface="楷体_GB2312" pitchFamily="49" charset="-122"/>
              </a:rPr>
              <a:t>wait</a:t>
            </a:r>
            <a:r>
              <a:rPr kumimoji="0" lang="en-US" altLang="zh-CN" sz="2000" baseline="-25000" dirty="0">
                <a:effectLst>
                  <a:outerShdw blurRad="38100" dist="38100" dir="2700000" algn="tl">
                    <a:srgbClr val="C0C0C0"/>
                  </a:outerShdw>
                </a:effectLst>
                <a:latin typeface="Arial" pitchFamily="34" charset="0"/>
                <a:ea typeface="楷体_GB2312" pitchFamily="49" charset="-122"/>
              </a:rPr>
              <a:t>2</a:t>
            </a:r>
            <a:r>
              <a:rPr kumimoji="0" lang="zh-CN" altLang="en-US" sz="2000" dirty="0">
                <a:effectLst>
                  <a:outerShdw blurRad="38100" dist="38100" dir="2700000" algn="tl">
                    <a:srgbClr val="C0C0C0"/>
                  </a:outerShdw>
                </a:effectLst>
                <a:latin typeface="Arial" pitchFamily="34" charset="0"/>
                <a:ea typeface="楷体_GB2312" pitchFamily="49" charset="-122"/>
              </a:rPr>
              <a:t>（</a:t>
            </a:r>
            <a:r>
              <a:rPr kumimoji="0" lang="en-US" altLang="zh-CN" sz="2000" dirty="0">
                <a:effectLst>
                  <a:outerShdw blurRad="38100" dist="38100" dir="2700000" algn="tl">
                    <a:srgbClr val="C0C0C0"/>
                  </a:outerShdw>
                </a:effectLst>
                <a:latin typeface="Arial" pitchFamily="34" charset="0"/>
                <a:ea typeface="楷体_GB2312" pitchFamily="49" charset="-122"/>
              </a:rPr>
              <a:t>S</a:t>
            </a:r>
            <a:r>
              <a:rPr kumimoji="0" lang="en-US" altLang="zh-CN" sz="2000" baseline="-25000" dirty="0">
                <a:effectLst>
                  <a:outerShdw blurRad="38100" dist="38100" dir="2700000" algn="tl">
                    <a:srgbClr val="C0C0C0"/>
                  </a:outerShdw>
                </a:effectLst>
                <a:latin typeface="Arial" pitchFamily="34" charset="0"/>
                <a:ea typeface="楷体_GB2312" pitchFamily="49" charset="-122"/>
              </a:rPr>
              <a:t>2</a:t>
            </a:r>
            <a:r>
              <a:rPr kumimoji="0" lang="zh-CN" altLang="en-US" sz="2000" dirty="0">
                <a:effectLst>
                  <a:outerShdw blurRad="38100" dist="38100" dir="2700000" algn="tl">
                    <a:srgbClr val="C0C0C0"/>
                  </a:outerShdw>
                </a:effectLst>
                <a:latin typeface="Arial" pitchFamily="34" charset="0"/>
                <a:ea typeface="楷体_GB2312" pitchFamily="49" charset="-122"/>
              </a:rPr>
              <a:t>）；</a:t>
            </a:r>
          </a:p>
        </p:txBody>
      </p:sp>
      <p:sp>
        <p:nvSpPr>
          <p:cNvPr id="21" name="Text Box 13"/>
          <p:cNvSpPr txBox="1">
            <a:spLocks noChangeArrowheads="1"/>
          </p:cNvSpPr>
          <p:nvPr/>
        </p:nvSpPr>
        <p:spPr bwMode="auto">
          <a:xfrm>
            <a:off x="5808370" y="3262143"/>
            <a:ext cx="1958652" cy="400110"/>
          </a:xfrm>
          <a:prstGeom prst="rect">
            <a:avLst/>
          </a:prstGeom>
          <a:noFill/>
          <a:ln w="9525">
            <a:noFill/>
            <a:miter lim="800000"/>
            <a:headEnd/>
            <a:tailEnd/>
          </a:ln>
          <a:effectLst/>
        </p:spPr>
        <p:txBody>
          <a:bodyPr wrap="square">
            <a:spAutoFit/>
          </a:bodyPr>
          <a:lstStyle/>
          <a:p>
            <a:pPr>
              <a:defRPr/>
            </a:pPr>
            <a:r>
              <a:rPr kumimoji="0" lang="en-US" altLang="zh-CN" sz="2000" dirty="0">
                <a:effectLst>
                  <a:outerShdw blurRad="38100" dist="38100" dir="2700000" algn="tl">
                    <a:srgbClr val="C0C0C0"/>
                  </a:outerShdw>
                </a:effectLst>
                <a:latin typeface="Arial" pitchFamily="34" charset="0"/>
                <a:ea typeface="楷体_GB2312" pitchFamily="49" charset="-122"/>
              </a:rPr>
              <a:t>wait</a:t>
            </a:r>
            <a:r>
              <a:rPr kumimoji="0" lang="en-US" altLang="zh-CN" sz="2000" baseline="-25000" dirty="0">
                <a:effectLst>
                  <a:outerShdw blurRad="38100" dist="38100" dir="2700000" algn="tl">
                    <a:srgbClr val="C0C0C0"/>
                  </a:outerShdw>
                </a:effectLst>
                <a:latin typeface="Arial" pitchFamily="34" charset="0"/>
                <a:ea typeface="楷体_GB2312" pitchFamily="49" charset="-122"/>
              </a:rPr>
              <a:t>2</a:t>
            </a:r>
            <a:r>
              <a:rPr kumimoji="0" lang="zh-CN" altLang="en-US" sz="2000" dirty="0">
                <a:effectLst>
                  <a:outerShdw blurRad="38100" dist="38100" dir="2700000" algn="tl">
                    <a:srgbClr val="C0C0C0"/>
                  </a:outerShdw>
                </a:effectLst>
                <a:latin typeface="Arial" pitchFamily="34" charset="0"/>
                <a:ea typeface="楷体_GB2312" pitchFamily="49" charset="-122"/>
              </a:rPr>
              <a:t>（</a:t>
            </a:r>
            <a:r>
              <a:rPr kumimoji="0" lang="en-US" altLang="zh-CN" sz="2000" dirty="0">
                <a:effectLst>
                  <a:outerShdw blurRad="38100" dist="38100" dir="2700000" algn="tl">
                    <a:srgbClr val="C0C0C0"/>
                  </a:outerShdw>
                </a:effectLst>
                <a:latin typeface="Arial" pitchFamily="34" charset="0"/>
                <a:ea typeface="楷体_GB2312" pitchFamily="49" charset="-122"/>
              </a:rPr>
              <a:t>S</a:t>
            </a:r>
            <a:r>
              <a:rPr kumimoji="0" lang="en-US" altLang="zh-CN" sz="2000" baseline="-25000" dirty="0">
                <a:effectLst>
                  <a:outerShdw blurRad="38100" dist="38100" dir="2700000" algn="tl">
                    <a:srgbClr val="C0C0C0"/>
                  </a:outerShdw>
                </a:effectLst>
                <a:latin typeface="Arial" pitchFamily="34" charset="0"/>
                <a:ea typeface="楷体_GB2312" pitchFamily="49" charset="-122"/>
              </a:rPr>
              <a:t>1</a:t>
            </a:r>
            <a:r>
              <a:rPr kumimoji="0" lang="zh-CN" altLang="en-US" sz="2000" dirty="0">
                <a:effectLst>
                  <a:outerShdw blurRad="38100" dist="38100" dir="2700000" algn="tl">
                    <a:srgbClr val="C0C0C0"/>
                  </a:outerShdw>
                </a:effectLst>
                <a:latin typeface="Arial" pitchFamily="34" charset="0"/>
                <a:ea typeface="楷体_GB2312" pitchFamily="49" charset="-122"/>
              </a:rPr>
              <a:t>）；</a:t>
            </a:r>
          </a:p>
        </p:txBody>
      </p:sp>
      <p:sp>
        <p:nvSpPr>
          <p:cNvPr id="22" name="Text Box 14"/>
          <p:cNvSpPr txBox="1">
            <a:spLocks noChangeArrowheads="1"/>
          </p:cNvSpPr>
          <p:nvPr/>
        </p:nvSpPr>
        <p:spPr bwMode="auto">
          <a:xfrm>
            <a:off x="6388305" y="1889968"/>
            <a:ext cx="848309" cy="400110"/>
          </a:xfrm>
          <a:prstGeom prst="rect">
            <a:avLst/>
          </a:prstGeom>
          <a:noFill/>
          <a:ln w="9525">
            <a:noFill/>
            <a:miter lim="800000"/>
            <a:headEnd/>
            <a:tailEnd/>
          </a:ln>
          <a:effectLst/>
        </p:spPr>
        <p:txBody>
          <a:bodyPr wrap="none">
            <a:spAutoFit/>
          </a:bodyPr>
          <a:lstStyle/>
          <a:p>
            <a:pPr>
              <a:defRPr/>
            </a:pPr>
            <a:r>
              <a:rPr kumimoji="0" lang="zh-CN" altLang="en-US" sz="2000" dirty="0">
                <a:effectLst>
                  <a:outerShdw blurRad="38100" dist="38100" dir="2700000" algn="tl">
                    <a:srgbClr val="C0C0C0"/>
                  </a:outerShdw>
                </a:effectLst>
                <a:latin typeface="文鼎火柴体" pitchFamily="33" charset="-122"/>
                <a:ea typeface="文鼎火柴体" pitchFamily="33" charset="-122"/>
              </a:rPr>
              <a:t>进程</a:t>
            </a:r>
            <a:r>
              <a:rPr kumimoji="0" lang="en-US" altLang="zh-CN" sz="2000" dirty="0">
                <a:effectLst>
                  <a:outerShdw blurRad="38100" dist="38100" dir="2700000" algn="tl">
                    <a:srgbClr val="C0C0C0"/>
                  </a:outerShdw>
                </a:effectLst>
                <a:latin typeface="文鼎火柴体" pitchFamily="33" charset="-122"/>
                <a:ea typeface="文鼎火柴体" pitchFamily="33" charset="-122"/>
              </a:rPr>
              <a:t>2</a:t>
            </a:r>
          </a:p>
        </p:txBody>
      </p:sp>
      <p:sp>
        <p:nvSpPr>
          <p:cNvPr id="23" name="Text Box 15"/>
          <p:cNvSpPr txBox="1">
            <a:spLocks noChangeArrowheads="1"/>
          </p:cNvSpPr>
          <p:nvPr/>
        </p:nvSpPr>
        <p:spPr bwMode="auto">
          <a:xfrm>
            <a:off x="2026574" y="2841810"/>
            <a:ext cx="2023311" cy="400110"/>
          </a:xfrm>
          <a:prstGeom prst="rect">
            <a:avLst/>
          </a:prstGeom>
          <a:noFill/>
          <a:ln w="9525">
            <a:noFill/>
            <a:miter lim="800000"/>
            <a:headEnd/>
            <a:tailEnd/>
          </a:ln>
          <a:effectLst/>
        </p:spPr>
        <p:txBody>
          <a:bodyPr wrap="none">
            <a:spAutoFit/>
          </a:bodyPr>
          <a:lstStyle/>
          <a:p>
            <a:pPr>
              <a:defRPr/>
            </a:pPr>
            <a:r>
              <a:rPr kumimoji="0" lang="en-US" altLang="zh-CN" sz="2000" dirty="0">
                <a:effectLst>
                  <a:outerShdw blurRad="38100" dist="38100" dir="2700000" algn="tl">
                    <a:srgbClr val="C0C0C0"/>
                  </a:outerShdw>
                </a:effectLst>
                <a:latin typeface="Arial" pitchFamily="34" charset="0"/>
                <a:ea typeface="楷体_GB2312" pitchFamily="49" charset="-122"/>
              </a:rPr>
              <a:t>Swait</a:t>
            </a:r>
            <a:r>
              <a:rPr kumimoji="0" lang="en-US" altLang="zh-CN" sz="2000" baseline="-25000" dirty="0">
                <a:effectLst>
                  <a:outerShdw blurRad="38100" dist="38100" dir="2700000" algn="tl">
                    <a:srgbClr val="C0C0C0"/>
                  </a:outerShdw>
                </a:effectLst>
                <a:latin typeface="Arial" pitchFamily="34" charset="0"/>
                <a:ea typeface="楷体_GB2312" pitchFamily="49" charset="-122"/>
              </a:rPr>
              <a:t>1</a:t>
            </a:r>
            <a:r>
              <a:rPr kumimoji="0" lang="zh-CN" altLang="en-US" sz="2000" dirty="0">
                <a:effectLst>
                  <a:outerShdw blurRad="38100" dist="38100" dir="2700000" algn="tl">
                    <a:srgbClr val="C0C0C0"/>
                  </a:outerShdw>
                </a:effectLst>
                <a:latin typeface="Arial" pitchFamily="34" charset="0"/>
                <a:ea typeface="楷体_GB2312" pitchFamily="49" charset="-122"/>
              </a:rPr>
              <a:t>（</a:t>
            </a:r>
            <a:r>
              <a:rPr kumimoji="0" lang="en-US" altLang="zh-CN" sz="2000" dirty="0">
                <a:effectLst>
                  <a:outerShdw blurRad="38100" dist="38100" dir="2700000" algn="tl">
                    <a:srgbClr val="C0C0C0"/>
                  </a:outerShdw>
                </a:effectLst>
                <a:latin typeface="Arial" pitchFamily="34" charset="0"/>
                <a:ea typeface="楷体_GB2312" pitchFamily="49" charset="-122"/>
              </a:rPr>
              <a:t>S</a:t>
            </a:r>
            <a:r>
              <a:rPr kumimoji="0" lang="en-US" altLang="zh-CN" sz="2000" baseline="-25000" dirty="0">
                <a:effectLst>
                  <a:outerShdw blurRad="38100" dist="38100" dir="2700000" algn="tl">
                    <a:srgbClr val="C0C0C0"/>
                  </a:outerShdw>
                </a:effectLst>
                <a:latin typeface="Arial" pitchFamily="34" charset="0"/>
                <a:ea typeface="楷体_GB2312" pitchFamily="49" charset="-122"/>
              </a:rPr>
              <a:t>1</a:t>
            </a:r>
            <a:r>
              <a:rPr kumimoji="0" lang="en-US" altLang="zh-CN" sz="2000" dirty="0">
                <a:effectLst>
                  <a:outerShdw blurRad="38100" dist="38100" dir="2700000" algn="tl">
                    <a:srgbClr val="C0C0C0"/>
                  </a:outerShdw>
                </a:effectLst>
                <a:latin typeface="Arial" pitchFamily="34" charset="0"/>
                <a:ea typeface="楷体_GB2312" pitchFamily="49" charset="-122"/>
              </a:rPr>
              <a:t>,S</a:t>
            </a:r>
            <a:r>
              <a:rPr kumimoji="0" lang="en-US" altLang="zh-CN" sz="2000" baseline="-25000" dirty="0">
                <a:effectLst>
                  <a:outerShdw blurRad="38100" dist="38100" dir="2700000" algn="tl">
                    <a:srgbClr val="C0C0C0"/>
                  </a:outerShdw>
                </a:effectLst>
                <a:latin typeface="Arial" pitchFamily="34" charset="0"/>
                <a:ea typeface="楷体_GB2312" pitchFamily="49" charset="-122"/>
              </a:rPr>
              <a:t>2</a:t>
            </a:r>
            <a:r>
              <a:rPr kumimoji="0" lang="zh-CN" altLang="en-US" sz="2000" dirty="0">
                <a:effectLst>
                  <a:outerShdw blurRad="38100" dist="38100" dir="2700000" algn="tl">
                    <a:srgbClr val="C0C0C0"/>
                  </a:outerShdw>
                </a:effectLst>
                <a:latin typeface="Arial" pitchFamily="34" charset="0"/>
                <a:ea typeface="楷体_GB2312" pitchFamily="49" charset="-122"/>
              </a:rPr>
              <a:t>）</a:t>
            </a:r>
          </a:p>
        </p:txBody>
      </p:sp>
      <p:sp>
        <p:nvSpPr>
          <p:cNvPr id="24" name="Text Box 16"/>
          <p:cNvSpPr txBox="1">
            <a:spLocks noChangeArrowheads="1"/>
          </p:cNvSpPr>
          <p:nvPr/>
        </p:nvSpPr>
        <p:spPr bwMode="auto">
          <a:xfrm>
            <a:off x="5813132" y="2884842"/>
            <a:ext cx="1964647" cy="400110"/>
          </a:xfrm>
          <a:prstGeom prst="rect">
            <a:avLst/>
          </a:prstGeom>
          <a:noFill/>
          <a:ln w="9525">
            <a:noFill/>
            <a:miter lim="800000"/>
            <a:headEnd/>
            <a:tailEnd/>
          </a:ln>
          <a:effectLst/>
        </p:spPr>
        <p:txBody>
          <a:bodyPr wrap="square">
            <a:spAutoFit/>
          </a:bodyPr>
          <a:lstStyle/>
          <a:p>
            <a:pPr>
              <a:defRPr/>
            </a:pPr>
            <a:r>
              <a:rPr kumimoji="0" lang="en-US" altLang="zh-CN" sz="2000" dirty="0">
                <a:effectLst>
                  <a:outerShdw blurRad="38100" dist="38100" dir="2700000" algn="tl">
                    <a:srgbClr val="C0C0C0"/>
                  </a:outerShdw>
                </a:effectLst>
                <a:latin typeface="Arial" pitchFamily="34" charset="0"/>
                <a:ea typeface="楷体_GB2312" pitchFamily="49" charset="-122"/>
              </a:rPr>
              <a:t>Swait</a:t>
            </a:r>
            <a:r>
              <a:rPr kumimoji="0" lang="en-US" altLang="zh-CN" sz="2000" baseline="-25000" dirty="0">
                <a:effectLst>
                  <a:outerShdw blurRad="38100" dist="38100" dir="2700000" algn="tl">
                    <a:srgbClr val="C0C0C0"/>
                  </a:outerShdw>
                </a:effectLst>
                <a:latin typeface="Arial" pitchFamily="34" charset="0"/>
                <a:ea typeface="楷体_GB2312" pitchFamily="49" charset="-122"/>
              </a:rPr>
              <a:t>2</a:t>
            </a:r>
            <a:r>
              <a:rPr kumimoji="0" lang="zh-CN" altLang="en-US" sz="2000" dirty="0">
                <a:effectLst>
                  <a:outerShdw blurRad="38100" dist="38100" dir="2700000" algn="tl">
                    <a:srgbClr val="C0C0C0"/>
                  </a:outerShdw>
                </a:effectLst>
                <a:latin typeface="Arial" pitchFamily="34" charset="0"/>
                <a:ea typeface="楷体_GB2312" pitchFamily="49" charset="-122"/>
              </a:rPr>
              <a:t>（</a:t>
            </a:r>
            <a:r>
              <a:rPr kumimoji="0" lang="en-US" altLang="zh-CN" sz="2000" dirty="0">
                <a:effectLst>
                  <a:outerShdw blurRad="38100" dist="38100" dir="2700000" algn="tl">
                    <a:srgbClr val="C0C0C0"/>
                  </a:outerShdw>
                </a:effectLst>
                <a:latin typeface="Arial" pitchFamily="34" charset="0"/>
                <a:ea typeface="楷体_GB2312" pitchFamily="49" charset="-122"/>
              </a:rPr>
              <a:t>S</a:t>
            </a:r>
            <a:r>
              <a:rPr kumimoji="0" lang="en-US" altLang="zh-CN" sz="2000" baseline="-25000" dirty="0">
                <a:effectLst>
                  <a:outerShdw blurRad="38100" dist="38100" dir="2700000" algn="tl">
                    <a:srgbClr val="C0C0C0"/>
                  </a:outerShdw>
                </a:effectLst>
                <a:latin typeface="Arial" pitchFamily="34" charset="0"/>
                <a:ea typeface="楷体_GB2312" pitchFamily="49" charset="-122"/>
              </a:rPr>
              <a:t>1</a:t>
            </a:r>
            <a:r>
              <a:rPr kumimoji="0" lang="en-US" altLang="zh-CN" sz="2000" dirty="0">
                <a:effectLst>
                  <a:outerShdw blurRad="38100" dist="38100" dir="2700000" algn="tl">
                    <a:srgbClr val="C0C0C0"/>
                  </a:outerShdw>
                </a:effectLst>
                <a:latin typeface="Arial" pitchFamily="34" charset="0"/>
                <a:ea typeface="楷体_GB2312" pitchFamily="49" charset="-122"/>
              </a:rPr>
              <a:t>,S</a:t>
            </a:r>
            <a:r>
              <a:rPr kumimoji="0" lang="en-US" altLang="zh-CN" sz="2000" baseline="-25000" dirty="0">
                <a:effectLst>
                  <a:outerShdw blurRad="38100" dist="38100" dir="2700000" algn="tl">
                    <a:srgbClr val="C0C0C0"/>
                  </a:outerShdw>
                </a:effectLst>
                <a:latin typeface="Arial" pitchFamily="34" charset="0"/>
                <a:ea typeface="楷体_GB2312" pitchFamily="49" charset="-122"/>
              </a:rPr>
              <a:t>2</a:t>
            </a:r>
            <a:r>
              <a:rPr kumimoji="0" lang="zh-CN" altLang="en-US" sz="2000" dirty="0">
                <a:effectLst>
                  <a:outerShdw blurRad="38100" dist="38100" dir="2700000" algn="tl">
                    <a:srgbClr val="C0C0C0"/>
                  </a:outerShdw>
                </a:effectLst>
                <a:latin typeface="Arial" pitchFamily="34" charset="0"/>
                <a:ea typeface="楷体_GB2312" pitchFamily="49" charset="-122"/>
              </a:rPr>
              <a:t>）</a:t>
            </a:r>
          </a:p>
        </p:txBody>
      </p:sp>
      <p:sp>
        <p:nvSpPr>
          <p:cNvPr id="25" name="Text Box 17"/>
          <p:cNvSpPr txBox="1">
            <a:spLocks noChangeArrowheads="1"/>
          </p:cNvSpPr>
          <p:nvPr/>
        </p:nvSpPr>
        <p:spPr bwMode="auto">
          <a:xfrm>
            <a:off x="2003578" y="4390733"/>
            <a:ext cx="2023311" cy="400110"/>
          </a:xfrm>
          <a:prstGeom prst="rect">
            <a:avLst/>
          </a:prstGeom>
          <a:noFill/>
          <a:ln w="9525">
            <a:noFill/>
            <a:miter lim="800000"/>
            <a:headEnd/>
            <a:tailEnd/>
          </a:ln>
          <a:effectLst/>
        </p:spPr>
        <p:txBody>
          <a:bodyPr wrap="none">
            <a:spAutoFit/>
          </a:bodyPr>
          <a:lstStyle/>
          <a:p>
            <a:pPr>
              <a:defRPr/>
            </a:pPr>
            <a:r>
              <a:rPr kumimoji="0" lang="en-US" altLang="zh-CN" sz="2000" dirty="0">
                <a:effectLst>
                  <a:outerShdw blurRad="38100" dist="38100" dir="2700000" algn="tl">
                    <a:srgbClr val="C0C0C0"/>
                  </a:outerShdw>
                </a:effectLst>
                <a:latin typeface="Arial" pitchFamily="34" charset="0"/>
                <a:ea typeface="楷体_GB2312" pitchFamily="49" charset="-122"/>
              </a:rPr>
              <a:t>Swait</a:t>
            </a:r>
            <a:r>
              <a:rPr kumimoji="0" lang="en-US" altLang="zh-CN" sz="2000" baseline="-25000" dirty="0">
                <a:effectLst>
                  <a:outerShdw blurRad="38100" dist="38100" dir="2700000" algn="tl">
                    <a:srgbClr val="C0C0C0"/>
                  </a:outerShdw>
                </a:effectLst>
                <a:latin typeface="Arial" pitchFamily="34" charset="0"/>
                <a:ea typeface="楷体_GB2312" pitchFamily="49" charset="-122"/>
              </a:rPr>
              <a:t>1</a:t>
            </a:r>
            <a:r>
              <a:rPr kumimoji="0" lang="zh-CN" altLang="en-US" sz="2000" dirty="0">
                <a:effectLst>
                  <a:outerShdw blurRad="38100" dist="38100" dir="2700000" algn="tl">
                    <a:srgbClr val="C0C0C0"/>
                  </a:outerShdw>
                </a:effectLst>
                <a:latin typeface="Arial" pitchFamily="34" charset="0"/>
                <a:ea typeface="楷体_GB2312" pitchFamily="49" charset="-122"/>
              </a:rPr>
              <a:t>（</a:t>
            </a:r>
            <a:r>
              <a:rPr kumimoji="0" lang="en-US" altLang="zh-CN" sz="2000" dirty="0">
                <a:effectLst>
                  <a:outerShdw blurRad="38100" dist="38100" dir="2700000" algn="tl">
                    <a:srgbClr val="C0C0C0"/>
                  </a:outerShdw>
                </a:effectLst>
                <a:latin typeface="Arial" pitchFamily="34" charset="0"/>
                <a:ea typeface="楷体_GB2312" pitchFamily="49" charset="-122"/>
              </a:rPr>
              <a:t>S</a:t>
            </a:r>
            <a:r>
              <a:rPr kumimoji="0" lang="en-US" altLang="zh-CN" sz="2000" baseline="-25000" dirty="0">
                <a:effectLst>
                  <a:outerShdw blurRad="38100" dist="38100" dir="2700000" algn="tl">
                    <a:srgbClr val="C0C0C0"/>
                  </a:outerShdw>
                </a:effectLst>
                <a:latin typeface="Arial" pitchFamily="34" charset="0"/>
                <a:ea typeface="楷体_GB2312" pitchFamily="49" charset="-122"/>
              </a:rPr>
              <a:t>1</a:t>
            </a:r>
            <a:r>
              <a:rPr kumimoji="0" lang="en-US" altLang="zh-CN" sz="2000" dirty="0">
                <a:effectLst>
                  <a:outerShdw blurRad="38100" dist="38100" dir="2700000" algn="tl">
                    <a:srgbClr val="C0C0C0"/>
                  </a:outerShdw>
                </a:effectLst>
                <a:latin typeface="Arial" pitchFamily="34" charset="0"/>
                <a:ea typeface="楷体_GB2312" pitchFamily="49" charset="-122"/>
              </a:rPr>
              <a:t>,S</a:t>
            </a:r>
            <a:r>
              <a:rPr kumimoji="0" lang="en-US" altLang="zh-CN" sz="2000" baseline="-25000" dirty="0">
                <a:effectLst>
                  <a:outerShdw blurRad="38100" dist="38100" dir="2700000" algn="tl">
                    <a:srgbClr val="C0C0C0"/>
                  </a:outerShdw>
                </a:effectLst>
                <a:latin typeface="Arial" pitchFamily="34" charset="0"/>
                <a:ea typeface="楷体_GB2312" pitchFamily="49" charset="-122"/>
              </a:rPr>
              <a:t>2</a:t>
            </a:r>
            <a:r>
              <a:rPr kumimoji="0" lang="zh-CN" altLang="en-US" sz="2000" dirty="0">
                <a:effectLst>
                  <a:outerShdw blurRad="38100" dist="38100" dir="2700000" algn="tl">
                    <a:srgbClr val="C0C0C0"/>
                  </a:outerShdw>
                </a:effectLst>
                <a:latin typeface="Arial" pitchFamily="34" charset="0"/>
                <a:ea typeface="楷体_GB2312" pitchFamily="49" charset="-122"/>
              </a:rPr>
              <a:t>）</a:t>
            </a:r>
          </a:p>
        </p:txBody>
      </p:sp>
      <p:sp>
        <p:nvSpPr>
          <p:cNvPr id="26" name="Text Box 18"/>
          <p:cNvSpPr txBox="1">
            <a:spLocks noChangeArrowheads="1"/>
          </p:cNvSpPr>
          <p:nvPr/>
        </p:nvSpPr>
        <p:spPr bwMode="auto">
          <a:xfrm>
            <a:off x="5763751" y="4401491"/>
            <a:ext cx="2024786" cy="400110"/>
          </a:xfrm>
          <a:prstGeom prst="rect">
            <a:avLst/>
          </a:prstGeom>
          <a:noFill/>
          <a:ln w="9525">
            <a:noFill/>
            <a:miter lim="800000"/>
            <a:headEnd/>
            <a:tailEnd/>
          </a:ln>
          <a:effectLst/>
        </p:spPr>
        <p:txBody>
          <a:bodyPr wrap="square">
            <a:spAutoFit/>
          </a:bodyPr>
          <a:lstStyle/>
          <a:p>
            <a:pPr>
              <a:defRPr/>
            </a:pPr>
            <a:r>
              <a:rPr kumimoji="0" lang="en-US" altLang="zh-CN" sz="2000" dirty="0">
                <a:effectLst>
                  <a:outerShdw blurRad="38100" dist="38100" dir="2700000" algn="tl">
                    <a:srgbClr val="C0C0C0"/>
                  </a:outerShdw>
                </a:effectLst>
                <a:latin typeface="Arial" pitchFamily="34" charset="0"/>
                <a:ea typeface="楷体_GB2312" pitchFamily="49" charset="-122"/>
              </a:rPr>
              <a:t>Swait</a:t>
            </a:r>
            <a:r>
              <a:rPr kumimoji="0" lang="en-US" altLang="zh-CN" sz="2000" baseline="-25000" dirty="0">
                <a:effectLst>
                  <a:outerShdw blurRad="38100" dist="38100" dir="2700000" algn="tl">
                    <a:srgbClr val="C0C0C0"/>
                  </a:outerShdw>
                </a:effectLst>
                <a:latin typeface="Arial" pitchFamily="34" charset="0"/>
                <a:ea typeface="楷体_GB2312" pitchFamily="49" charset="-122"/>
              </a:rPr>
              <a:t>2</a:t>
            </a:r>
            <a:r>
              <a:rPr kumimoji="0" lang="zh-CN" altLang="en-US" sz="2000" dirty="0">
                <a:effectLst>
                  <a:outerShdw blurRad="38100" dist="38100" dir="2700000" algn="tl">
                    <a:srgbClr val="C0C0C0"/>
                  </a:outerShdw>
                </a:effectLst>
                <a:latin typeface="Arial" pitchFamily="34" charset="0"/>
                <a:ea typeface="楷体_GB2312" pitchFamily="49" charset="-122"/>
              </a:rPr>
              <a:t>（</a:t>
            </a:r>
            <a:r>
              <a:rPr kumimoji="0" lang="en-US" altLang="zh-CN" sz="2000" dirty="0">
                <a:effectLst>
                  <a:outerShdw blurRad="38100" dist="38100" dir="2700000" algn="tl">
                    <a:srgbClr val="C0C0C0"/>
                  </a:outerShdw>
                </a:effectLst>
                <a:latin typeface="Arial" pitchFamily="34" charset="0"/>
                <a:ea typeface="楷体_GB2312" pitchFamily="49" charset="-122"/>
              </a:rPr>
              <a:t>S</a:t>
            </a:r>
            <a:r>
              <a:rPr kumimoji="0" lang="en-US" altLang="zh-CN" sz="2000" baseline="-25000" dirty="0">
                <a:effectLst>
                  <a:outerShdw blurRad="38100" dist="38100" dir="2700000" algn="tl">
                    <a:srgbClr val="C0C0C0"/>
                  </a:outerShdw>
                </a:effectLst>
                <a:latin typeface="Arial" pitchFamily="34" charset="0"/>
                <a:ea typeface="楷体_GB2312" pitchFamily="49" charset="-122"/>
              </a:rPr>
              <a:t>1</a:t>
            </a:r>
            <a:r>
              <a:rPr kumimoji="0" lang="en-US" altLang="zh-CN" sz="2000" dirty="0">
                <a:effectLst>
                  <a:outerShdw blurRad="38100" dist="38100" dir="2700000" algn="tl">
                    <a:srgbClr val="C0C0C0"/>
                  </a:outerShdw>
                </a:effectLst>
                <a:latin typeface="Arial" pitchFamily="34" charset="0"/>
                <a:ea typeface="楷体_GB2312" pitchFamily="49" charset="-122"/>
              </a:rPr>
              <a:t>,S</a:t>
            </a:r>
            <a:r>
              <a:rPr kumimoji="0" lang="en-US" altLang="zh-CN" sz="2000" baseline="-25000" dirty="0">
                <a:effectLst>
                  <a:outerShdw blurRad="38100" dist="38100" dir="2700000" algn="tl">
                    <a:srgbClr val="C0C0C0"/>
                  </a:outerShdw>
                </a:effectLst>
                <a:latin typeface="Arial" pitchFamily="34" charset="0"/>
                <a:ea typeface="楷体_GB2312" pitchFamily="49" charset="-122"/>
              </a:rPr>
              <a:t>2</a:t>
            </a:r>
            <a:r>
              <a:rPr kumimoji="0" lang="zh-CN" altLang="en-US" sz="2000" dirty="0">
                <a:effectLst>
                  <a:outerShdw blurRad="38100" dist="38100" dir="2700000" algn="tl">
                    <a:srgbClr val="C0C0C0"/>
                  </a:outerShdw>
                </a:effectLst>
                <a:latin typeface="Arial" pitchFamily="34" charset="0"/>
                <a:ea typeface="楷体_GB2312" pitchFamily="49" charset="-122"/>
              </a:rPr>
              <a:t>）</a:t>
            </a:r>
          </a:p>
        </p:txBody>
      </p:sp>
      <p:sp>
        <p:nvSpPr>
          <p:cNvPr id="27" name="Text Box 19"/>
          <p:cNvSpPr txBox="1">
            <a:spLocks noChangeArrowheads="1"/>
          </p:cNvSpPr>
          <p:nvPr/>
        </p:nvSpPr>
        <p:spPr bwMode="auto">
          <a:xfrm>
            <a:off x="982369" y="3779869"/>
            <a:ext cx="1210588" cy="400110"/>
          </a:xfrm>
          <a:prstGeom prst="rect">
            <a:avLst/>
          </a:prstGeom>
          <a:noFill/>
          <a:ln w="9525">
            <a:noFill/>
            <a:miter lim="800000"/>
            <a:headEnd/>
            <a:tailEnd/>
          </a:ln>
          <a:effectLst/>
        </p:spPr>
        <p:txBody>
          <a:bodyPr wrap="none">
            <a:spAutoFit/>
          </a:bodyPr>
          <a:lstStyle/>
          <a:p>
            <a:pPr>
              <a:defRPr/>
            </a:pPr>
            <a:r>
              <a:rPr kumimoji="0" lang="zh-CN" altLang="en-US" sz="2000" dirty="0">
                <a:effectLst>
                  <a:outerShdw blurRad="38100" dist="38100" dir="2700000" algn="tl">
                    <a:srgbClr val="C0C0C0"/>
                  </a:outerShdw>
                </a:effectLst>
                <a:latin typeface="Arial" pitchFamily="34" charset="0"/>
                <a:ea typeface="楷体_GB2312" pitchFamily="49" charset="-122"/>
              </a:rPr>
              <a:t>系统推进</a:t>
            </a:r>
          </a:p>
        </p:txBody>
      </p:sp>
      <p:sp>
        <p:nvSpPr>
          <p:cNvPr id="28" name="Line 20"/>
          <p:cNvSpPr>
            <a:spLocks noChangeShapeType="1"/>
          </p:cNvSpPr>
          <p:nvPr/>
        </p:nvSpPr>
        <p:spPr bwMode="auto">
          <a:xfrm>
            <a:off x="4366919" y="4599050"/>
            <a:ext cx="1152525" cy="1587"/>
          </a:xfrm>
          <a:prstGeom prst="line">
            <a:avLst/>
          </a:prstGeom>
          <a:noFill/>
          <a:ln w="9525">
            <a:solidFill>
              <a:schemeClr val="tx1"/>
            </a:solidFill>
            <a:round/>
            <a:headEnd/>
            <a:tailEnd type="triangle" w="med" len="med"/>
          </a:ln>
        </p:spPr>
        <p:txBody>
          <a:bodyPr/>
          <a:lstStyle/>
          <a:p>
            <a:endParaRPr lang="zh-CN" altLang="en-US" sz="2000"/>
          </a:p>
        </p:txBody>
      </p:sp>
      <p:sp>
        <p:nvSpPr>
          <p:cNvPr id="29" name="Oval 21"/>
          <p:cNvSpPr>
            <a:spLocks noChangeArrowheads="1"/>
          </p:cNvSpPr>
          <p:nvPr/>
        </p:nvSpPr>
        <p:spPr bwMode="auto">
          <a:xfrm>
            <a:off x="5517857" y="5382782"/>
            <a:ext cx="2453559" cy="647700"/>
          </a:xfrm>
          <a:prstGeom prst="ellipse">
            <a:avLst/>
          </a:prstGeom>
          <a:solidFill>
            <a:schemeClr val="accent1">
              <a:lumMod val="20000"/>
              <a:lumOff val="80000"/>
            </a:schemeClr>
          </a:solidFill>
          <a:ln w="9525">
            <a:solidFill>
              <a:schemeClr val="tx1"/>
            </a:solidFill>
            <a:round/>
            <a:headEnd/>
            <a:tailEnd/>
          </a:ln>
        </p:spPr>
        <p:txBody>
          <a:bodyPr wrap="none" anchor="ctr"/>
          <a:lstStyle/>
          <a:p>
            <a:pPr>
              <a:defRPr/>
            </a:pPr>
            <a:endParaRPr lang="zh-CN" altLang="en-US" sz="2000" b="0"/>
          </a:p>
        </p:txBody>
      </p:sp>
      <p:sp>
        <p:nvSpPr>
          <p:cNvPr id="30" name="Oval 22"/>
          <p:cNvSpPr>
            <a:spLocks noChangeArrowheads="1"/>
          </p:cNvSpPr>
          <p:nvPr/>
        </p:nvSpPr>
        <p:spPr bwMode="auto">
          <a:xfrm>
            <a:off x="1785769" y="5382782"/>
            <a:ext cx="2581150" cy="647700"/>
          </a:xfrm>
          <a:prstGeom prst="ellipse">
            <a:avLst/>
          </a:prstGeom>
          <a:solidFill>
            <a:schemeClr val="accent1">
              <a:lumMod val="20000"/>
              <a:lumOff val="80000"/>
            </a:schemeClr>
          </a:solidFill>
          <a:ln w="9525">
            <a:solidFill>
              <a:schemeClr val="tx1"/>
            </a:solidFill>
            <a:round/>
            <a:headEnd/>
            <a:tailEnd/>
          </a:ln>
        </p:spPr>
        <p:txBody>
          <a:bodyPr wrap="none" anchor="ctr"/>
          <a:lstStyle/>
          <a:p>
            <a:pPr>
              <a:defRPr/>
            </a:pPr>
            <a:endParaRPr lang="zh-CN" altLang="en-US" sz="2000" b="0"/>
          </a:p>
        </p:txBody>
      </p:sp>
      <p:sp>
        <p:nvSpPr>
          <p:cNvPr id="31" name="Text Box 23"/>
          <p:cNvSpPr txBox="1">
            <a:spLocks noChangeArrowheads="1"/>
          </p:cNvSpPr>
          <p:nvPr/>
        </p:nvSpPr>
        <p:spPr bwMode="auto">
          <a:xfrm>
            <a:off x="5821070" y="5470973"/>
            <a:ext cx="2064286" cy="400110"/>
          </a:xfrm>
          <a:prstGeom prst="rect">
            <a:avLst/>
          </a:prstGeom>
          <a:noFill/>
          <a:ln w="9525">
            <a:noFill/>
            <a:miter lim="800000"/>
            <a:headEnd/>
            <a:tailEnd/>
          </a:ln>
          <a:effectLst/>
        </p:spPr>
        <p:txBody>
          <a:bodyPr wrap="square">
            <a:spAutoFit/>
          </a:bodyPr>
          <a:lstStyle/>
          <a:p>
            <a:pPr>
              <a:defRPr/>
            </a:pPr>
            <a:r>
              <a:rPr kumimoji="0" lang="en-US" altLang="zh-CN" sz="2000" dirty="0">
                <a:effectLst>
                  <a:outerShdw blurRad="38100" dist="38100" dir="2700000" algn="tl">
                    <a:srgbClr val="C0C0C0"/>
                  </a:outerShdw>
                </a:effectLst>
                <a:latin typeface="Arial" pitchFamily="34" charset="0"/>
                <a:ea typeface="楷体_GB2312" pitchFamily="49" charset="-122"/>
              </a:rPr>
              <a:t>Swait</a:t>
            </a:r>
            <a:r>
              <a:rPr kumimoji="0" lang="en-US" altLang="zh-CN" sz="2000" baseline="-25000" dirty="0">
                <a:effectLst>
                  <a:outerShdw blurRad="38100" dist="38100" dir="2700000" algn="tl">
                    <a:srgbClr val="C0C0C0"/>
                  </a:outerShdw>
                </a:effectLst>
                <a:latin typeface="Arial" pitchFamily="34" charset="0"/>
                <a:ea typeface="楷体_GB2312" pitchFamily="49" charset="-122"/>
              </a:rPr>
              <a:t>1</a:t>
            </a:r>
            <a:r>
              <a:rPr kumimoji="0" lang="zh-CN" altLang="en-US" sz="2000" dirty="0">
                <a:effectLst>
                  <a:outerShdw blurRad="38100" dist="38100" dir="2700000" algn="tl">
                    <a:srgbClr val="C0C0C0"/>
                  </a:outerShdw>
                </a:effectLst>
                <a:latin typeface="Arial" pitchFamily="34" charset="0"/>
                <a:ea typeface="楷体_GB2312" pitchFamily="49" charset="-122"/>
              </a:rPr>
              <a:t>（</a:t>
            </a:r>
            <a:r>
              <a:rPr kumimoji="0" lang="en-US" altLang="zh-CN" sz="2000" dirty="0">
                <a:effectLst>
                  <a:outerShdw blurRad="38100" dist="38100" dir="2700000" algn="tl">
                    <a:srgbClr val="C0C0C0"/>
                  </a:outerShdw>
                </a:effectLst>
                <a:latin typeface="Arial" pitchFamily="34" charset="0"/>
                <a:ea typeface="楷体_GB2312" pitchFamily="49" charset="-122"/>
              </a:rPr>
              <a:t>S</a:t>
            </a:r>
            <a:r>
              <a:rPr kumimoji="0" lang="en-US" altLang="zh-CN" sz="2000" baseline="-25000" dirty="0">
                <a:effectLst>
                  <a:outerShdw blurRad="38100" dist="38100" dir="2700000" algn="tl">
                    <a:srgbClr val="C0C0C0"/>
                  </a:outerShdw>
                </a:effectLst>
                <a:latin typeface="Arial" pitchFamily="34" charset="0"/>
                <a:ea typeface="楷体_GB2312" pitchFamily="49" charset="-122"/>
              </a:rPr>
              <a:t>1</a:t>
            </a:r>
            <a:r>
              <a:rPr kumimoji="0" lang="en-US" altLang="zh-CN" sz="2000" dirty="0">
                <a:effectLst>
                  <a:outerShdw blurRad="38100" dist="38100" dir="2700000" algn="tl">
                    <a:srgbClr val="C0C0C0"/>
                  </a:outerShdw>
                </a:effectLst>
                <a:latin typeface="Arial" pitchFamily="34" charset="0"/>
                <a:ea typeface="楷体_GB2312" pitchFamily="49" charset="-122"/>
              </a:rPr>
              <a:t>,S</a:t>
            </a:r>
            <a:r>
              <a:rPr kumimoji="0" lang="en-US" altLang="zh-CN" sz="2000" baseline="-25000" dirty="0">
                <a:effectLst>
                  <a:outerShdw blurRad="38100" dist="38100" dir="2700000" algn="tl">
                    <a:srgbClr val="C0C0C0"/>
                  </a:outerShdw>
                </a:effectLst>
                <a:latin typeface="Arial" pitchFamily="34" charset="0"/>
                <a:ea typeface="楷体_GB2312" pitchFamily="49" charset="-122"/>
              </a:rPr>
              <a:t>2</a:t>
            </a:r>
            <a:r>
              <a:rPr kumimoji="0" lang="zh-CN" altLang="en-US" sz="2000" dirty="0">
                <a:effectLst>
                  <a:outerShdw blurRad="38100" dist="38100" dir="2700000" algn="tl">
                    <a:srgbClr val="C0C0C0"/>
                  </a:outerShdw>
                </a:effectLst>
                <a:latin typeface="Arial" pitchFamily="34" charset="0"/>
                <a:ea typeface="楷体_GB2312" pitchFamily="49" charset="-122"/>
              </a:rPr>
              <a:t>）</a:t>
            </a:r>
          </a:p>
        </p:txBody>
      </p:sp>
      <p:sp>
        <p:nvSpPr>
          <p:cNvPr id="32" name="Text Box 24"/>
          <p:cNvSpPr txBox="1">
            <a:spLocks noChangeArrowheads="1"/>
          </p:cNvSpPr>
          <p:nvPr/>
        </p:nvSpPr>
        <p:spPr bwMode="auto">
          <a:xfrm>
            <a:off x="2085757" y="5515589"/>
            <a:ext cx="2023311" cy="400110"/>
          </a:xfrm>
          <a:prstGeom prst="rect">
            <a:avLst/>
          </a:prstGeom>
          <a:noFill/>
          <a:ln w="9525">
            <a:noFill/>
            <a:miter lim="800000"/>
            <a:headEnd/>
            <a:tailEnd/>
          </a:ln>
          <a:effectLst/>
        </p:spPr>
        <p:txBody>
          <a:bodyPr wrap="none">
            <a:spAutoFit/>
          </a:bodyPr>
          <a:lstStyle/>
          <a:p>
            <a:pPr>
              <a:defRPr/>
            </a:pPr>
            <a:r>
              <a:rPr kumimoji="0" lang="en-US" altLang="zh-CN" sz="2000" dirty="0">
                <a:effectLst>
                  <a:outerShdw blurRad="38100" dist="38100" dir="2700000" algn="tl">
                    <a:srgbClr val="C0C0C0"/>
                  </a:outerShdw>
                </a:effectLst>
                <a:latin typeface="Arial" pitchFamily="34" charset="0"/>
                <a:ea typeface="楷体_GB2312" pitchFamily="49" charset="-122"/>
              </a:rPr>
              <a:t>Swait</a:t>
            </a:r>
            <a:r>
              <a:rPr kumimoji="0" lang="en-US" altLang="zh-CN" sz="2000" baseline="-25000" dirty="0">
                <a:effectLst>
                  <a:outerShdw blurRad="38100" dist="38100" dir="2700000" algn="tl">
                    <a:srgbClr val="C0C0C0"/>
                  </a:outerShdw>
                </a:effectLst>
                <a:latin typeface="Arial" pitchFamily="34" charset="0"/>
                <a:ea typeface="楷体_GB2312" pitchFamily="49" charset="-122"/>
              </a:rPr>
              <a:t>2</a:t>
            </a:r>
            <a:r>
              <a:rPr kumimoji="0" lang="zh-CN" altLang="en-US" sz="2000" dirty="0">
                <a:effectLst>
                  <a:outerShdw blurRad="38100" dist="38100" dir="2700000" algn="tl">
                    <a:srgbClr val="C0C0C0"/>
                  </a:outerShdw>
                </a:effectLst>
                <a:latin typeface="Arial" pitchFamily="34" charset="0"/>
                <a:ea typeface="楷体_GB2312" pitchFamily="49" charset="-122"/>
              </a:rPr>
              <a:t>（</a:t>
            </a:r>
            <a:r>
              <a:rPr kumimoji="0" lang="en-US" altLang="zh-CN" sz="2000" dirty="0">
                <a:effectLst>
                  <a:outerShdw blurRad="38100" dist="38100" dir="2700000" algn="tl">
                    <a:srgbClr val="C0C0C0"/>
                  </a:outerShdw>
                </a:effectLst>
                <a:latin typeface="Arial" pitchFamily="34" charset="0"/>
                <a:ea typeface="楷体_GB2312" pitchFamily="49" charset="-122"/>
              </a:rPr>
              <a:t>S</a:t>
            </a:r>
            <a:r>
              <a:rPr kumimoji="0" lang="en-US" altLang="zh-CN" sz="2000" baseline="-25000" dirty="0">
                <a:effectLst>
                  <a:outerShdw blurRad="38100" dist="38100" dir="2700000" algn="tl">
                    <a:srgbClr val="C0C0C0"/>
                  </a:outerShdw>
                </a:effectLst>
                <a:latin typeface="Arial" pitchFamily="34" charset="0"/>
                <a:ea typeface="楷体_GB2312" pitchFamily="49" charset="-122"/>
              </a:rPr>
              <a:t>1</a:t>
            </a:r>
            <a:r>
              <a:rPr kumimoji="0" lang="en-US" altLang="zh-CN" sz="2000" dirty="0">
                <a:effectLst>
                  <a:outerShdw blurRad="38100" dist="38100" dir="2700000" algn="tl">
                    <a:srgbClr val="C0C0C0"/>
                  </a:outerShdw>
                </a:effectLst>
                <a:latin typeface="Arial" pitchFamily="34" charset="0"/>
                <a:ea typeface="楷体_GB2312" pitchFamily="49" charset="-122"/>
              </a:rPr>
              <a:t>,S</a:t>
            </a:r>
            <a:r>
              <a:rPr kumimoji="0" lang="en-US" altLang="zh-CN" sz="2000" baseline="-25000" dirty="0">
                <a:effectLst>
                  <a:outerShdw blurRad="38100" dist="38100" dir="2700000" algn="tl">
                    <a:srgbClr val="C0C0C0"/>
                  </a:outerShdw>
                </a:effectLst>
                <a:latin typeface="Arial" pitchFamily="34" charset="0"/>
                <a:ea typeface="楷体_GB2312" pitchFamily="49" charset="-122"/>
              </a:rPr>
              <a:t>2</a:t>
            </a:r>
            <a:r>
              <a:rPr kumimoji="0" lang="zh-CN" altLang="en-US" sz="2000" dirty="0">
                <a:effectLst>
                  <a:outerShdw blurRad="38100" dist="38100" dir="2700000" algn="tl">
                    <a:srgbClr val="C0C0C0"/>
                  </a:outerShdw>
                </a:effectLst>
                <a:latin typeface="Arial" pitchFamily="34" charset="0"/>
                <a:ea typeface="楷体_GB2312" pitchFamily="49" charset="-122"/>
              </a:rPr>
              <a:t>）</a:t>
            </a:r>
          </a:p>
        </p:txBody>
      </p:sp>
      <p:sp>
        <p:nvSpPr>
          <p:cNvPr id="33" name="Line 25"/>
          <p:cNvSpPr>
            <a:spLocks noChangeShapeType="1"/>
          </p:cNvSpPr>
          <p:nvPr/>
        </p:nvSpPr>
        <p:spPr bwMode="auto">
          <a:xfrm>
            <a:off x="4366919" y="5670119"/>
            <a:ext cx="1152525" cy="0"/>
          </a:xfrm>
          <a:prstGeom prst="line">
            <a:avLst/>
          </a:prstGeom>
          <a:noFill/>
          <a:ln w="9525">
            <a:solidFill>
              <a:schemeClr val="tx1"/>
            </a:solidFill>
            <a:round/>
            <a:headEnd/>
            <a:tailEnd type="triangle" w="med" len="med"/>
          </a:ln>
        </p:spPr>
        <p:txBody>
          <a:bodyPr/>
          <a:lstStyle/>
          <a:p>
            <a:endParaRPr lang="zh-CN" altLang="en-US" sz="2000"/>
          </a:p>
        </p:txBody>
      </p:sp>
      <p:sp>
        <p:nvSpPr>
          <p:cNvPr id="34" name="Text Box 26"/>
          <p:cNvSpPr txBox="1">
            <a:spLocks noChangeArrowheads="1"/>
          </p:cNvSpPr>
          <p:nvPr/>
        </p:nvSpPr>
        <p:spPr bwMode="auto">
          <a:xfrm>
            <a:off x="1110060" y="4838627"/>
            <a:ext cx="441146" cy="400110"/>
          </a:xfrm>
          <a:prstGeom prst="rect">
            <a:avLst/>
          </a:prstGeom>
          <a:noFill/>
          <a:ln w="9525">
            <a:noFill/>
            <a:miter lim="800000"/>
            <a:headEnd/>
            <a:tailEnd/>
          </a:ln>
          <a:effectLst/>
        </p:spPr>
        <p:txBody>
          <a:bodyPr wrap="none">
            <a:spAutoFit/>
          </a:bodyPr>
          <a:lstStyle/>
          <a:p>
            <a:pPr>
              <a:defRPr/>
            </a:pPr>
            <a:r>
              <a:rPr kumimoji="0" lang="zh-CN" altLang="en-US" sz="2000" dirty="0">
                <a:effectLst>
                  <a:outerShdw blurRad="38100" dist="38100" dir="2700000" algn="tl">
                    <a:srgbClr val="C0C0C0"/>
                  </a:outerShdw>
                </a:effectLst>
                <a:latin typeface="Arial" pitchFamily="34" charset="0"/>
                <a:ea typeface="楷体_GB2312" pitchFamily="49" charset="-122"/>
              </a:rPr>
              <a:t>或</a:t>
            </a:r>
          </a:p>
        </p:txBody>
      </p:sp>
    </p:spTree>
    <p:extLst>
      <p:ext uri="{BB962C8B-B14F-4D97-AF65-F5344CB8AC3E}">
        <p14:creationId xmlns:p14="http://schemas.microsoft.com/office/powerpoint/2010/main" val="805637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6"/>
                                        </p:tgtEl>
                                      </p:cBhvr>
                                    </p:animEffect>
                                    <p:set>
                                      <p:cBhvr>
                                        <p:cTn id="7" dur="1" fill="hold">
                                          <p:stCondLst>
                                            <p:cond delay="499"/>
                                          </p:stCondLst>
                                        </p:cTn>
                                        <p:tgtEl>
                                          <p:spTgt spid="16"/>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17"/>
                                        </p:tgtEl>
                                      </p:cBhvr>
                                    </p:animEffect>
                                    <p:set>
                                      <p:cBhvr>
                                        <p:cTn id="10" dur="1" fill="hold">
                                          <p:stCondLst>
                                            <p:cond delay="499"/>
                                          </p:stCondLst>
                                        </p:cTn>
                                        <p:tgtEl>
                                          <p:spTgt spid="17"/>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20"/>
                                        </p:tgtEl>
                                      </p:cBhvr>
                                    </p:animEffect>
                                    <p:set>
                                      <p:cBhvr>
                                        <p:cTn id="13" dur="1" fill="hold">
                                          <p:stCondLst>
                                            <p:cond delay="499"/>
                                          </p:stCondLst>
                                        </p:cTn>
                                        <p:tgtEl>
                                          <p:spTgt spid="20"/>
                                        </p:tgtEl>
                                        <p:attrNameLst>
                                          <p:attrName>style.visibility</p:attrName>
                                        </p:attrNameLst>
                                      </p:cBhvr>
                                      <p:to>
                                        <p:strVal val="hidden"/>
                                      </p:to>
                                    </p:set>
                                  </p:childTnLst>
                                </p:cTn>
                              </p:par>
                              <p:par>
                                <p:cTn id="14" presetID="10" presetClass="exit" presetSubtype="0" fill="hold" grpId="0" nodeType="withEffect">
                                  <p:stCondLst>
                                    <p:cond delay="0"/>
                                  </p:stCondLst>
                                  <p:childTnLst>
                                    <p:animEffect transition="out" filter="fade">
                                      <p:cBhvr>
                                        <p:cTn id="15" dur="500"/>
                                        <p:tgtEl>
                                          <p:spTgt spid="21"/>
                                        </p:tgtEl>
                                      </p:cBhvr>
                                    </p:animEffect>
                                    <p:set>
                                      <p:cBhvr>
                                        <p:cTn id="16" dur="1" fill="hold">
                                          <p:stCondLst>
                                            <p:cond delay="499"/>
                                          </p:stCondLst>
                                        </p:cTn>
                                        <p:tgtEl>
                                          <p:spTgt spid="21"/>
                                        </p:tgtEl>
                                        <p:attrNameLst>
                                          <p:attrName>style.visibility</p:attrName>
                                        </p:attrNameLst>
                                      </p:cBhvr>
                                      <p:to>
                                        <p:strVal val="hidden"/>
                                      </p:to>
                                    </p:set>
                                  </p:childTnLst>
                                </p:cTn>
                              </p:par>
                              <p:par>
                                <p:cTn id="17" presetID="9"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dissolve">
                                      <p:cBhvr>
                                        <p:cTn id="19" dur="500"/>
                                        <p:tgtEl>
                                          <p:spTgt spid="24"/>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dissolve">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wipe(left)">
                                      <p:cBhvr>
                                        <p:cTn id="27" dur="500"/>
                                        <p:tgtEl>
                                          <p:spTgt spid="14"/>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wipe(left)">
                                      <p:cBhvr>
                                        <p:cTn id="30" dur="500"/>
                                        <p:tgtEl>
                                          <p:spTgt spid="25"/>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wipe(left)">
                                      <p:cBhvr>
                                        <p:cTn id="34" dur="500"/>
                                        <p:tgtEl>
                                          <p:spTgt spid="28"/>
                                        </p:tgtEl>
                                      </p:cBhvr>
                                    </p:animEffect>
                                  </p:childTnLst>
                                </p:cTn>
                              </p:par>
                            </p:childTnLst>
                          </p:cTn>
                        </p:par>
                        <p:par>
                          <p:cTn id="35" fill="hold">
                            <p:stCondLst>
                              <p:cond delay="1000"/>
                            </p:stCondLst>
                            <p:childTnLst>
                              <p:par>
                                <p:cTn id="36" presetID="22" presetClass="entr" presetSubtype="8" fill="hold" grpId="0" nodeType="after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wipe(left)">
                                      <p:cBhvr>
                                        <p:cTn id="38" dur="500"/>
                                        <p:tgtEl>
                                          <p:spTgt spid="26"/>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wipe(left)">
                                      <p:cBhvr>
                                        <p:cTn id="41" dur="500"/>
                                        <p:tgtEl>
                                          <p:spTgt spid="1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wipe(left)">
                                      <p:cBhvr>
                                        <p:cTn id="46" dur="500"/>
                                        <p:tgtEl>
                                          <p:spTgt spid="30"/>
                                        </p:tgtEl>
                                      </p:cBhvr>
                                    </p:animEffect>
                                  </p:childTnLst>
                                </p:cTn>
                              </p:par>
                              <p:par>
                                <p:cTn id="47" presetID="22" presetClass="entr" presetSubtype="8" fill="hold" grpId="0" nodeType="withEffect">
                                  <p:stCondLst>
                                    <p:cond delay="0"/>
                                  </p:stCondLst>
                                  <p:childTnLst>
                                    <p:set>
                                      <p:cBhvr>
                                        <p:cTn id="48" dur="1" fill="hold">
                                          <p:stCondLst>
                                            <p:cond delay="0"/>
                                          </p:stCondLst>
                                        </p:cTn>
                                        <p:tgtEl>
                                          <p:spTgt spid="32"/>
                                        </p:tgtEl>
                                        <p:attrNameLst>
                                          <p:attrName>style.visibility</p:attrName>
                                        </p:attrNameLst>
                                      </p:cBhvr>
                                      <p:to>
                                        <p:strVal val="visible"/>
                                      </p:to>
                                    </p:set>
                                    <p:animEffect transition="in" filter="wipe(left)">
                                      <p:cBhvr>
                                        <p:cTn id="49" dur="500"/>
                                        <p:tgtEl>
                                          <p:spTgt spid="32"/>
                                        </p:tgtEl>
                                      </p:cBhvr>
                                    </p:animEffect>
                                  </p:childTnLst>
                                </p:cTn>
                              </p:par>
                            </p:childTnLst>
                          </p:cTn>
                        </p:par>
                        <p:par>
                          <p:cTn id="50" fill="hold">
                            <p:stCondLst>
                              <p:cond delay="500"/>
                            </p:stCondLst>
                            <p:childTnLst>
                              <p:par>
                                <p:cTn id="51" presetID="22" presetClass="entr" presetSubtype="8" fill="hold" grpId="0" nodeType="after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wipe(left)">
                                      <p:cBhvr>
                                        <p:cTn id="53" dur="500"/>
                                        <p:tgtEl>
                                          <p:spTgt spid="33"/>
                                        </p:tgtEl>
                                      </p:cBhvr>
                                    </p:animEffect>
                                  </p:childTnLst>
                                </p:cTn>
                              </p:par>
                            </p:childTnLst>
                          </p:cTn>
                        </p:par>
                        <p:par>
                          <p:cTn id="54" fill="hold">
                            <p:stCondLst>
                              <p:cond delay="1000"/>
                            </p:stCondLst>
                            <p:childTnLst>
                              <p:par>
                                <p:cTn id="55" presetID="22" presetClass="entr" presetSubtype="8" fill="hold" grpId="0" nodeType="afterEffect">
                                  <p:stCondLst>
                                    <p:cond delay="0"/>
                                  </p:stCondLst>
                                  <p:childTnLst>
                                    <p:set>
                                      <p:cBhvr>
                                        <p:cTn id="56" dur="1" fill="hold">
                                          <p:stCondLst>
                                            <p:cond delay="0"/>
                                          </p:stCondLst>
                                        </p:cTn>
                                        <p:tgtEl>
                                          <p:spTgt spid="29"/>
                                        </p:tgtEl>
                                        <p:attrNameLst>
                                          <p:attrName>style.visibility</p:attrName>
                                        </p:attrNameLst>
                                      </p:cBhvr>
                                      <p:to>
                                        <p:strVal val="visible"/>
                                      </p:to>
                                    </p:set>
                                    <p:animEffect transition="in" filter="wipe(left)">
                                      <p:cBhvr>
                                        <p:cTn id="57" dur="500"/>
                                        <p:tgtEl>
                                          <p:spTgt spid="29"/>
                                        </p:tgtEl>
                                      </p:cBhvr>
                                    </p:animEffect>
                                  </p:childTnLst>
                                </p:cTn>
                              </p:par>
                              <p:par>
                                <p:cTn id="58" presetID="22" presetClass="entr" presetSubtype="8" fill="hold" grpId="0" nodeType="withEffect">
                                  <p:stCondLst>
                                    <p:cond delay="0"/>
                                  </p:stCondLst>
                                  <p:childTnLst>
                                    <p:set>
                                      <p:cBhvr>
                                        <p:cTn id="59" dur="1" fill="hold">
                                          <p:stCondLst>
                                            <p:cond delay="0"/>
                                          </p:stCondLst>
                                        </p:cTn>
                                        <p:tgtEl>
                                          <p:spTgt spid="31"/>
                                        </p:tgtEl>
                                        <p:attrNameLst>
                                          <p:attrName>style.visibility</p:attrName>
                                        </p:attrNameLst>
                                      </p:cBhvr>
                                      <p:to>
                                        <p:strVal val="visible"/>
                                      </p:to>
                                    </p:set>
                                    <p:animEffect transition="in" filter="wipe(left)">
                                      <p:cBhvr>
                                        <p:cTn id="60"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6" grpId="0"/>
      <p:bldP spid="17" grpId="0"/>
      <p:bldP spid="20" grpId="0"/>
      <p:bldP spid="21" grpId="0"/>
      <p:bldP spid="23" grpId="0"/>
      <p:bldP spid="24" grpId="0"/>
      <p:bldP spid="25" grpId="0"/>
      <p:bldP spid="26" grpId="0"/>
      <p:bldP spid="28" grpId="0" animBg="1"/>
      <p:bldP spid="29" grpId="0" animBg="1"/>
      <p:bldP spid="30" grpId="0" animBg="1"/>
      <p:bldP spid="31" grpId="0"/>
      <p:bldP spid="32" grpId="0"/>
      <p:bldP spid="33"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848833" y="202028"/>
            <a:ext cx="3967716" cy="457196"/>
          </a:xfrm>
        </p:spPr>
        <p:txBody>
          <a:bodyPr/>
          <a:lstStyle/>
          <a:p>
            <a:r>
              <a:rPr lang="en-US" altLang="zh-CN" dirty="0"/>
              <a:t>3.</a:t>
            </a:r>
            <a:r>
              <a:rPr lang="zh-CN" altLang="en-US" dirty="0"/>
              <a:t>信号量机制</a:t>
            </a:r>
          </a:p>
        </p:txBody>
      </p:sp>
      <p:grpSp>
        <p:nvGrpSpPr>
          <p:cNvPr id="2" name="组合 3"/>
          <p:cNvGrpSpPr/>
          <p:nvPr/>
        </p:nvGrpSpPr>
        <p:grpSpPr>
          <a:xfrm>
            <a:off x="1004177" y="1027910"/>
            <a:ext cx="5314736" cy="665162"/>
            <a:chOff x="1004177" y="1027910"/>
            <a:chExt cx="5314736" cy="665162"/>
          </a:xfrm>
        </p:grpSpPr>
        <p:sp>
          <p:nvSpPr>
            <p:cNvPr id="5" name="矩形 4"/>
            <p:cNvSpPr/>
            <p:nvPr/>
          </p:nvSpPr>
          <p:spPr>
            <a:xfrm>
              <a:off x="1150228" y="1561310"/>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矩形 5"/>
            <p:cNvSpPr/>
            <p:nvPr/>
          </p:nvSpPr>
          <p:spPr>
            <a:xfrm>
              <a:off x="2058278" y="1561310"/>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7" name="文本框 55"/>
            <p:cNvSpPr txBox="1">
              <a:spLocks noChangeArrowheads="1"/>
            </p:cNvSpPr>
            <p:nvPr/>
          </p:nvSpPr>
          <p:spPr bwMode="auto">
            <a:xfrm>
              <a:off x="1004177" y="1027910"/>
              <a:ext cx="53147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AND</a:t>
              </a:r>
              <a:r>
                <a:rPr lang="zh-CN" altLang="en-US" sz="2400" b="1" dirty="0">
                  <a:solidFill>
                    <a:srgbClr val="4C7E51"/>
                  </a:solidFill>
                  <a:latin typeface="微软雅黑" panose="020B0503020204020204" pitchFamily="34" charset="-122"/>
                  <a:ea typeface="微软雅黑" panose="020B0503020204020204" pitchFamily="34" charset="-122"/>
                </a:rPr>
                <a:t>型信号量应用</a:t>
              </a:r>
            </a:p>
          </p:txBody>
        </p:sp>
      </p:grpSp>
      <p:sp>
        <p:nvSpPr>
          <p:cNvPr id="16" name="圆角矩形 15"/>
          <p:cNvSpPr/>
          <p:nvPr/>
        </p:nvSpPr>
        <p:spPr>
          <a:xfrm>
            <a:off x="4103007" y="1029354"/>
            <a:ext cx="642942" cy="500066"/>
          </a:xfrm>
          <a:prstGeom prst="roundRect">
            <a:avLst/>
          </a:prstGeom>
          <a:gradFill flip="none" rotWithShape="1">
            <a:gsLst>
              <a:gs pos="17000">
                <a:schemeClr val="accent1">
                  <a:tint val="66000"/>
                  <a:satMod val="160000"/>
                  <a:alpha val="91000"/>
                </a:schemeClr>
              </a:gs>
              <a:gs pos="50000">
                <a:schemeClr val="accent1">
                  <a:tint val="44500"/>
                  <a:satMod val="160000"/>
                </a:schemeClr>
              </a:gs>
              <a:gs pos="100000">
                <a:schemeClr val="accent1">
                  <a:tint val="23500"/>
                  <a:satMod val="160000"/>
                </a:schemeClr>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000" dirty="0">
                <a:solidFill>
                  <a:srgbClr val="002060"/>
                </a:solidFill>
              </a:rPr>
              <a:t>3</a:t>
            </a:r>
            <a:endParaRPr lang="zh-CN" altLang="en-US" sz="2000" dirty="0">
              <a:solidFill>
                <a:srgbClr val="002060"/>
              </a:solidFill>
            </a:endParaRPr>
          </a:p>
        </p:txBody>
      </p:sp>
      <p:sp>
        <p:nvSpPr>
          <p:cNvPr id="17" name="TextBox 16"/>
          <p:cNvSpPr txBox="1">
            <a:spLocks noChangeArrowheads="1"/>
          </p:cNvSpPr>
          <p:nvPr/>
        </p:nvSpPr>
        <p:spPr bwMode="auto">
          <a:xfrm>
            <a:off x="4215747" y="627735"/>
            <a:ext cx="312906" cy="400110"/>
          </a:xfrm>
          <a:prstGeom prst="rect">
            <a:avLst/>
          </a:prstGeom>
          <a:noFill/>
          <a:ln w="9525">
            <a:noFill/>
            <a:miter lim="800000"/>
            <a:headEnd/>
            <a:tailEnd/>
          </a:ln>
        </p:spPr>
        <p:txBody>
          <a:bodyPr wrap="none">
            <a:spAutoFit/>
          </a:bodyPr>
          <a:lstStyle/>
          <a:p>
            <a:r>
              <a:rPr lang="en-US" altLang="zh-CN" sz="2000"/>
              <a:t>A</a:t>
            </a:r>
            <a:endParaRPr lang="zh-CN" altLang="en-US" sz="2000"/>
          </a:p>
        </p:txBody>
      </p:sp>
      <p:sp>
        <p:nvSpPr>
          <p:cNvPr id="18" name="圆角矩形 17"/>
          <p:cNvSpPr/>
          <p:nvPr/>
        </p:nvSpPr>
        <p:spPr>
          <a:xfrm>
            <a:off x="4817409" y="1029372"/>
            <a:ext cx="642938" cy="500063"/>
          </a:xfrm>
          <a:prstGeom prst="roundRect">
            <a:avLst/>
          </a:prstGeom>
          <a:solidFill>
            <a:srgbClr val="FFC000"/>
          </a:solidFill>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2000" dirty="0">
                <a:solidFill>
                  <a:srgbClr val="002060"/>
                </a:solidFill>
              </a:rPr>
              <a:t>2</a:t>
            </a:r>
            <a:endParaRPr lang="zh-CN" altLang="en-US" sz="2000" dirty="0">
              <a:solidFill>
                <a:srgbClr val="002060"/>
              </a:solidFill>
            </a:endParaRPr>
          </a:p>
        </p:txBody>
      </p:sp>
      <p:sp>
        <p:nvSpPr>
          <p:cNvPr id="19" name="TextBox 18"/>
          <p:cNvSpPr txBox="1">
            <a:spLocks noChangeArrowheads="1"/>
          </p:cNvSpPr>
          <p:nvPr/>
        </p:nvSpPr>
        <p:spPr bwMode="auto">
          <a:xfrm>
            <a:off x="4930122" y="627735"/>
            <a:ext cx="312906" cy="400110"/>
          </a:xfrm>
          <a:prstGeom prst="rect">
            <a:avLst/>
          </a:prstGeom>
          <a:noFill/>
          <a:ln w="9525">
            <a:noFill/>
            <a:miter lim="800000"/>
            <a:headEnd/>
            <a:tailEnd/>
          </a:ln>
        </p:spPr>
        <p:txBody>
          <a:bodyPr wrap="none">
            <a:spAutoFit/>
          </a:bodyPr>
          <a:lstStyle/>
          <a:p>
            <a:r>
              <a:rPr lang="en-US" altLang="zh-CN" sz="2000"/>
              <a:t>B</a:t>
            </a:r>
            <a:endParaRPr lang="zh-CN" altLang="en-US" sz="2000"/>
          </a:p>
        </p:txBody>
      </p:sp>
      <p:sp>
        <p:nvSpPr>
          <p:cNvPr id="20" name="圆角矩形 19"/>
          <p:cNvSpPr/>
          <p:nvPr/>
        </p:nvSpPr>
        <p:spPr>
          <a:xfrm>
            <a:off x="5531784" y="1029372"/>
            <a:ext cx="642938" cy="500063"/>
          </a:xfrm>
          <a:prstGeom prst="roundRect">
            <a:avLst/>
          </a:prstGeom>
          <a:solidFill>
            <a:srgbClr val="92D050"/>
          </a:solidFill>
        </p:spPr>
        <p:style>
          <a:lnRef idx="2">
            <a:schemeClr val="accent4"/>
          </a:lnRef>
          <a:fillRef idx="1">
            <a:schemeClr val="lt1"/>
          </a:fillRef>
          <a:effectRef idx="0">
            <a:schemeClr val="accent4"/>
          </a:effectRef>
          <a:fontRef idx="minor">
            <a:schemeClr val="dk1"/>
          </a:fontRef>
        </p:style>
        <p:txBody>
          <a:bodyPr anchor="ctr"/>
          <a:lstStyle/>
          <a:p>
            <a:pPr algn="ctr">
              <a:defRPr/>
            </a:pPr>
            <a:r>
              <a:rPr lang="en-US" altLang="zh-CN" sz="2000" dirty="0">
                <a:solidFill>
                  <a:srgbClr val="002060"/>
                </a:solidFill>
              </a:rPr>
              <a:t>2</a:t>
            </a:r>
            <a:endParaRPr lang="zh-CN" altLang="en-US" sz="2000" dirty="0">
              <a:solidFill>
                <a:srgbClr val="002060"/>
              </a:solidFill>
            </a:endParaRPr>
          </a:p>
        </p:txBody>
      </p:sp>
      <p:sp>
        <p:nvSpPr>
          <p:cNvPr id="21" name="TextBox 20"/>
          <p:cNvSpPr txBox="1">
            <a:spLocks noChangeArrowheads="1"/>
          </p:cNvSpPr>
          <p:nvPr/>
        </p:nvSpPr>
        <p:spPr bwMode="auto">
          <a:xfrm>
            <a:off x="5644497" y="627735"/>
            <a:ext cx="312906" cy="400110"/>
          </a:xfrm>
          <a:prstGeom prst="rect">
            <a:avLst/>
          </a:prstGeom>
          <a:noFill/>
          <a:ln w="9525">
            <a:noFill/>
            <a:miter lim="800000"/>
            <a:headEnd/>
            <a:tailEnd/>
          </a:ln>
        </p:spPr>
        <p:txBody>
          <a:bodyPr wrap="none">
            <a:spAutoFit/>
          </a:bodyPr>
          <a:lstStyle/>
          <a:p>
            <a:r>
              <a:rPr lang="en-US" altLang="zh-CN" sz="2000"/>
              <a:t>C</a:t>
            </a:r>
            <a:endParaRPr lang="zh-CN" altLang="en-US" sz="2000"/>
          </a:p>
        </p:txBody>
      </p:sp>
      <p:sp>
        <p:nvSpPr>
          <p:cNvPr id="22" name="矩形 21"/>
          <p:cNvSpPr/>
          <p:nvPr/>
        </p:nvSpPr>
        <p:spPr>
          <a:xfrm>
            <a:off x="6460472" y="1029372"/>
            <a:ext cx="3089307" cy="400110"/>
          </a:xfrm>
          <a:prstGeom prst="rect">
            <a:avLst/>
          </a:prstGeom>
        </p:spPr>
        <p:txBody>
          <a:bodyPr wrap="none">
            <a:spAutoFit/>
          </a:bodyPr>
          <a:lstStyle/>
          <a:p>
            <a:pPr>
              <a:defRPr/>
            </a:pPr>
            <a:r>
              <a:rPr lang="zh-CN" altLang="en-US" sz="2000" b="0" kern="0" dirty="0">
                <a:ea typeface="+mn-ea"/>
              </a:rPr>
              <a:t>到达顺序：</a:t>
            </a:r>
            <a:r>
              <a:rPr lang="en-US" altLang="zh-CN" sz="2000" b="0" kern="0" dirty="0">
                <a:ea typeface="+mn-ea"/>
              </a:rPr>
              <a:t>P</a:t>
            </a:r>
            <a:r>
              <a:rPr lang="en-US" altLang="zh-CN" sz="2000" b="0" kern="0" baseline="-25000" dirty="0">
                <a:ea typeface="+mn-ea"/>
              </a:rPr>
              <a:t>1</a:t>
            </a:r>
            <a:r>
              <a:rPr lang="zh-CN" altLang="en-US" sz="2000" b="0" kern="0" dirty="0">
                <a:ea typeface="+mn-ea"/>
              </a:rPr>
              <a:t>，</a:t>
            </a:r>
            <a:r>
              <a:rPr lang="en-US" altLang="zh-CN" sz="2000" b="0" kern="0" dirty="0">
                <a:ea typeface="+mn-ea"/>
              </a:rPr>
              <a:t>P</a:t>
            </a:r>
            <a:r>
              <a:rPr lang="en-US" altLang="zh-CN" sz="2000" b="0" kern="0" baseline="-25000" dirty="0">
                <a:ea typeface="+mn-ea"/>
              </a:rPr>
              <a:t>2</a:t>
            </a:r>
            <a:r>
              <a:rPr lang="zh-CN" altLang="en-US" sz="2000" b="0" kern="0" dirty="0">
                <a:ea typeface="+mn-ea"/>
              </a:rPr>
              <a:t>，</a:t>
            </a:r>
            <a:r>
              <a:rPr lang="en-US" altLang="zh-CN" sz="2000" b="0" kern="0" dirty="0">
                <a:ea typeface="+mn-ea"/>
              </a:rPr>
              <a:t>P</a:t>
            </a:r>
            <a:r>
              <a:rPr lang="en-US" altLang="zh-CN" sz="2000" b="0" kern="0" baseline="-25000" dirty="0">
                <a:ea typeface="+mn-ea"/>
              </a:rPr>
              <a:t>3</a:t>
            </a:r>
            <a:r>
              <a:rPr lang="zh-CN" altLang="en-US" sz="2000" b="0" kern="0" dirty="0">
                <a:ea typeface="+mn-ea"/>
              </a:rPr>
              <a:t>，</a:t>
            </a:r>
            <a:r>
              <a:rPr lang="en-US" altLang="zh-CN" sz="2000" b="0" kern="0" dirty="0">
                <a:ea typeface="+mn-ea"/>
              </a:rPr>
              <a:t>P</a:t>
            </a:r>
            <a:r>
              <a:rPr lang="en-US" altLang="zh-CN" sz="2000" b="0" kern="0" baseline="-25000" dirty="0">
                <a:ea typeface="+mn-ea"/>
              </a:rPr>
              <a:t>4</a:t>
            </a:r>
            <a:endParaRPr lang="zh-CN" altLang="en-US" sz="2000" b="0" kern="0" baseline="-25000" dirty="0">
              <a:ea typeface="+mn-ea"/>
            </a:endParaRPr>
          </a:p>
        </p:txBody>
      </p:sp>
      <p:sp>
        <p:nvSpPr>
          <p:cNvPr id="23" name="矩形 22"/>
          <p:cNvSpPr/>
          <p:nvPr/>
        </p:nvSpPr>
        <p:spPr>
          <a:xfrm>
            <a:off x="3817284" y="1672310"/>
            <a:ext cx="7192995" cy="400110"/>
          </a:xfrm>
          <a:prstGeom prst="rect">
            <a:avLst/>
          </a:prstGeom>
        </p:spPr>
        <p:txBody>
          <a:bodyPr wrap="none">
            <a:spAutoFit/>
          </a:bodyPr>
          <a:lstStyle/>
          <a:p>
            <a:pPr>
              <a:defRPr/>
            </a:pPr>
            <a:r>
              <a:rPr lang="zh-CN" altLang="en-US" sz="2000" b="0" kern="0" dirty="0"/>
              <a:t>资源申请向量：</a:t>
            </a:r>
            <a:r>
              <a:rPr lang="en-US" altLang="zh-CN" sz="2000" b="0" kern="0" dirty="0"/>
              <a:t>P</a:t>
            </a:r>
            <a:r>
              <a:rPr lang="en-US" altLang="zh-CN" sz="2000" b="0" kern="0" baseline="-25000" dirty="0"/>
              <a:t>1</a:t>
            </a:r>
            <a:r>
              <a:rPr lang="en-US" altLang="zh-CN" sz="2000" b="0" kern="0" dirty="0"/>
              <a:t>(1,1,1)</a:t>
            </a:r>
            <a:r>
              <a:rPr lang="zh-CN" altLang="en-US" sz="2000" b="0" kern="0" dirty="0"/>
              <a:t>，</a:t>
            </a:r>
            <a:r>
              <a:rPr lang="en-US" altLang="zh-CN" sz="2000" b="0" kern="0" dirty="0"/>
              <a:t>P</a:t>
            </a:r>
            <a:r>
              <a:rPr lang="en-US" altLang="zh-CN" sz="2000" b="0" kern="0" baseline="-25000" dirty="0"/>
              <a:t>2</a:t>
            </a:r>
            <a:r>
              <a:rPr lang="en-US" altLang="zh-CN" sz="2000" b="0" kern="0" dirty="0"/>
              <a:t>(1,1,0)</a:t>
            </a:r>
            <a:r>
              <a:rPr lang="zh-CN" altLang="en-US" sz="2000" b="0" kern="0" dirty="0"/>
              <a:t>，</a:t>
            </a:r>
            <a:r>
              <a:rPr lang="en-US" altLang="zh-CN" sz="2000" b="0" kern="0" dirty="0"/>
              <a:t>P</a:t>
            </a:r>
            <a:r>
              <a:rPr lang="en-US" altLang="zh-CN" sz="2000" b="0" kern="0" baseline="-25000" dirty="0"/>
              <a:t>3</a:t>
            </a:r>
            <a:r>
              <a:rPr lang="en-US" altLang="zh-CN" sz="2000" b="0" kern="0" dirty="0"/>
              <a:t>(1,0,1)</a:t>
            </a:r>
            <a:r>
              <a:rPr lang="zh-CN" altLang="en-US" sz="2000" b="0" kern="0" dirty="0"/>
              <a:t>，</a:t>
            </a:r>
            <a:r>
              <a:rPr lang="en-US" altLang="zh-CN" sz="2000" b="0" kern="0" dirty="0"/>
              <a:t>P</a:t>
            </a:r>
            <a:r>
              <a:rPr lang="en-US" altLang="zh-CN" sz="2000" b="0" kern="0" baseline="-25000" dirty="0"/>
              <a:t>4</a:t>
            </a:r>
            <a:r>
              <a:rPr lang="en-US" altLang="zh-CN" sz="2000" b="0" kern="0" dirty="0"/>
              <a:t>(0,1,1)</a:t>
            </a:r>
            <a:endParaRPr lang="zh-CN" altLang="en-US" sz="2000" dirty="0"/>
          </a:p>
        </p:txBody>
      </p:sp>
      <p:sp>
        <p:nvSpPr>
          <p:cNvPr id="24" name="矩形 23"/>
          <p:cNvSpPr/>
          <p:nvPr/>
        </p:nvSpPr>
        <p:spPr>
          <a:xfrm>
            <a:off x="3888722" y="2243810"/>
            <a:ext cx="3986989" cy="400110"/>
          </a:xfrm>
          <a:prstGeom prst="rect">
            <a:avLst/>
          </a:prstGeom>
        </p:spPr>
        <p:txBody>
          <a:bodyPr wrap="none">
            <a:spAutoFit/>
          </a:bodyPr>
          <a:lstStyle/>
          <a:p>
            <a:pPr>
              <a:defRPr/>
            </a:pPr>
            <a:r>
              <a:rPr lang="en-US" altLang="zh-CN" sz="2000" b="0" kern="0" dirty="0"/>
              <a:t>P</a:t>
            </a:r>
            <a:r>
              <a:rPr lang="en-US" altLang="zh-CN" sz="2000" b="0" kern="0" baseline="-25000" dirty="0"/>
              <a:t>1</a:t>
            </a:r>
            <a:r>
              <a:rPr lang="zh-CN" altLang="en-US" sz="2000" b="0" kern="0" dirty="0"/>
              <a:t>到达，执行</a:t>
            </a:r>
            <a:r>
              <a:rPr lang="en-US" altLang="zh-CN" sz="2000" b="0" kern="0" dirty="0" err="1"/>
              <a:t>Swait</a:t>
            </a:r>
            <a:r>
              <a:rPr lang="en-US" altLang="zh-CN" sz="2000" b="0" kern="0" dirty="0"/>
              <a:t>(S</a:t>
            </a:r>
            <a:r>
              <a:rPr lang="en-US" altLang="zh-CN" sz="2000" b="0" kern="0" baseline="-25000" dirty="0"/>
              <a:t>1</a:t>
            </a:r>
            <a:r>
              <a:rPr lang="en-US" altLang="zh-CN" sz="2000" b="0" kern="0" dirty="0"/>
              <a:t>,S</a:t>
            </a:r>
            <a:r>
              <a:rPr lang="en-US" altLang="zh-CN" sz="2000" b="0" kern="0" baseline="-25000" dirty="0"/>
              <a:t>2</a:t>
            </a:r>
            <a:r>
              <a:rPr lang="en-US" altLang="zh-CN" sz="2000" b="0" kern="0" dirty="0"/>
              <a:t>,S</a:t>
            </a:r>
            <a:r>
              <a:rPr lang="en-US" altLang="zh-CN" sz="2000" b="0" kern="0" baseline="-25000" dirty="0"/>
              <a:t>3</a:t>
            </a:r>
            <a:r>
              <a:rPr lang="en-US" altLang="zh-CN" sz="2000" b="0" kern="0" dirty="0"/>
              <a:t>)</a:t>
            </a:r>
            <a:r>
              <a:rPr lang="zh-CN" altLang="en-US" sz="2000" b="0" kern="0" dirty="0"/>
              <a:t>操作</a:t>
            </a:r>
            <a:endParaRPr lang="zh-CN" altLang="en-US" sz="2000" dirty="0"/>
          </a:p>
        </p:txBody>
      </p:sp>
      <p:sp>
        <p:nvSpPr>
          <p:cNvPr id="25" name="圆角矩形 24"/>
          <p:cNvSpPr/>
          <p:nvPr/>
        </p:nvSpPr>
        <p:spPr>
          <a:xfrm>
            <a:off x="8603601" y="2232511"/>
            <a:ext cx="642942" cy="500066"/>
          </a:xfrm>
          <a:prstGeom prst="roundRect">
            <a:avLst/>
          </a:prstGeom>
          <a:gradFill flip="none" rotWithShape="1">
            <a:gsLst>
              <a:gs pos="17000">
                <a:schemeClr val="accent1">
                  <a:tint val="66000"/>
                  <a:satMod val="160000"/>
                  <a:alpha val="91000"/>
                </a:schemeClr>
              </a:gs>
              <a:gs pos="50000">
                <a:schemeClr val="accent1">
                  <a:tint val="44500"/>
                  <a:satMod val="160000"/>
                </a:schemeClr>
              </a:gs>
              <a:gs pos="100000">
                <a:schemeClr val="accent1">
                  <a:tint val="23500"/>
                  <a:satMod val="160000"/>
                </a:schemeClr>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000" dirty="0">
                <a:solidFill>
                  <a:srgbClr val="002060"/>
                </a:solidFill>
              </a:rPr>
              <a:t>2</a:t>
            </a:r>
            <a:endParaRPr lang="zh-CN" altLang="en-US" sz="2000" dirty="0">
              <a:solidFill>
                <a:srgbClr val="002060"/>
              </a:solidFill>
            </a:endParaRPr>
          </a:p>
        </p:txBody>
      </p:sp>
      <p:sp>
        <p:nvSpPr>
          <p:cNvPr id="26" name="圆角矩形 25"/>
          <p:cNvSpPr/>
          <p:nvPr/>
        </p:nvSpPr>
        <p:spPr>
          <a:xfrm>
            <a:off x="9317972" y="2232697"/>
            <a:ext cx="642937" cy="500063"/>
          </a:xfrm>
          <a:prstGeom prst="roundRect">
            <a:avLst/>
          </a:prstGeom>
          <a:solidFill>
            <a:srgbClr val="FFC000"/>
          </a:solidFill>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2000" dirty="0">
                <a:solidFill>
                  <a:srgbClr val="002060"/>
                </a:solidFill>
              </a:rPr>
              <a:t>1</a:t>
            </a:r>
            <a:endParaRPr lang="zh-CN" altLang="en-US" sz="2000" dirty="0">
              <a:solidFill>
                <a:srgbClr val="002060"/>
              </a:solidFill>
            </a:endParaRPr>
          </a:p>
        </p:txBody>
      </p:sp>
      <p:sp>
        <p:nvSpPr>
          <p:cNvPr id="27" name="圆角矩形 26"/>
          <p:cNvSpPr/>
          <p:nvPr/>
        </p:nvSpPr>
        <p:spPr>
          <a:xfrm>
            <a:off x="10032347" y="2232697"/>
            <a:ext cx="642937" cy="500063"/>
          </a:xfrm>
          <a:prstGeom prst="roundRect">
            <a:avLst/>
          </a:prstGeom>
          <a:solidFill>
            <a:srgbClr val="92D050"/>
          </a:solidFill>
        </p:spPr>
        <p:style>
          <a:lnRef idx="2">
            <a:schemeClr val="accent4"/>
          </a:lnRef>
          <a:fillRef idx="1">
            <a:schemeClr val="lt1"/>
          </a:fillRef>
          <a:effectRef idx="0">
            <a:schemeClr val="accent4"/>
          </a:effectRef>
          <a:fontRef idx="minor">
            <a:schemeClr val="dk1"/>
          </a:fontRef>
        </p:style>
        <p:txBody>
          <a:bodyPr anchor="ctr"/>
          <a:lstStyle/>
          <a:p>
            <a:pPr algn="ctr">
              <a:defRPr/>
            </a:pPr>
            <a:r>
              <a:rPr lang="en-US" altLang="zh-CN" sz="2000" dirty="0">
                <a:solidFill>
                  <a:srgbClr val="002060"/>
                </a:solidFill>
              </a:rPr>
              <a:t>1</a:t>
            </a:r>
            <a:endParaRPr lang="zh-CN" altLang="en-US" sz="2000" dirty="0">
              <a:solidFill>
                <a:srgbClr val="002060"/>
              </a:solidFill>
            </a:endParaRPr>
          </a:p>
        </p:txBody>
      </p:sp>
      <p:sp>
        <p:nvSpPr>
          <p:cNvPr id="28" name="矩形 27"/>
          <p:cNvSpPr/>
          <p:nvPr/>
        </p:nvSpPr>
        <p:spPr>
          <a:xfrm>
            <a:off x="3888722" y="2826422"/>
            <a:ext cx="3645550" cy="400110"/>
          </a:xfrm>
          <a:prstGeom prst="rect">
            <a:avLst/>
          </a:prstGeom>
        </p:spPr>
        <p:txBody>
          <a:bodyPr wrap="none">
            <a:spAutoFit/>
          </a:bodyPr>
          <a:lstStyle/>
          <a:p>
            <a:pPr>
              <a:defRPr/>
            </a:pPr>
            <a:r>
              <a:rPr lang="en-US" altLang="zh-CN" sz="2000" b="0" kern="0" dirty="0"/>
              <a:t>P</a:t>
            </a:r>
            <a:r>
              <a:rPr lang="en-US" altLang="zh-CN" sz="2000" b="0" kern="0" baseline="-25000" dirty="0"/>
              <a:t>2</a:t>
            </a:r>
            <a:r>
              <a:rPr lang="zh-CN" altLang="en-US" sz="2000" b="0" kern="0" dirty="0"/>
              <a:t>到达，执行</a:t>
            </a:r>
            <a:r>
              <a:rPr lang="en-US" altLang="zh-CN" sz="2000" b="0" kern="0" dirty="0" err="1"/>
              <a:t>Swait</a:t>
            </a:r>
            <a:r>
              <a:rPr lang="en-US" altLang="zh-CN" sz="2000" b="0" kern="0" dirty="0"/>
              <a:t>(S</a:t>
            </a:r>
            <a:r>
              <a:rPr lang="en-US" altLang="zh-CN" sz="2000" b="0" kern="0" baseline="-25000" dirty="0"/>
              <a:t>1</a:t>
            </a:r>
            <a:r>
              <a:rPr lang="en-US" altLang="zh-CN" sz="2000" b="0" kern="0" dirty="0"/>
              <a:t>,S</a:t>
            </a:r>
            <a:r>
              <a:rPr lang="en-US" altLang="zh-CN" sz="2000" b="0" kern="0" baseline="-25000" dirty="0"/>
              <a:t>2</a:t>
            </a:r>
            <a:r>
              <a:rPr lang="en-US" altLang="zh-CN" sz="2000" b="0" kern="0" dirty="0"/>
              <a:t>)</a:t>
            </a:r>
            <a:r>
              <a:rPr lang="zh-CN" altLang="en-US" sz="2000" b="0" kern="0" dirty="0"/>
              <a:t>操作</a:t>
            </a:r>
            <a:endParaRPr lang="zh-CN" altLang="en-US" sz="2000" dirty="0"/>
          </a:p>
        </p:txBody>
      </p:sp>
      <p:sp>
        <p:nvSpPr>
          <p:cNvPr id="29" name="圆角矩形 28"/>
          <p:cNvSpPr/>
          <p:nvPr/>
        </p:nvSpPr>
        <p:spPr>
          <a:xfrm>
            <a:off x="8603601" y="2815304"/>
            <a:ext cx="642942" cy="500066"/>
          </a:xfrm>
          <a:prstGeom prst="roundRect">
            <a:avLst/>
          </a:prstGeom>
          <a:gradFill flip="none" rotWithShape="1">
            <a:gsLst>
              <a:gs pos="17000">
                <a:schemeClr val="accent1">
                  <a:tint val="66000"/>
                  <a:satMod val="160000"/>
                  <a:alpha val="91000"/>
                </a:schemeClr>
              </a:gs>
              <a:gs pos="50000">
                <a:schemeClr val="accent1">
                  <a:tint val="44500"/>
                  <a:satMod val="160000"/>
                </a:schemeClr>
              </a:gs>
              <a:gs pos="100000">
                <a:schemeClr val="accent1">
                  <a:tint val="23500"/>
                  <a:satMod val="160000"/>
                </a:schemeClr>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000" dirty="0">
                <a:solidFill>
                  <a:srgbClr val="002060"/>
                </a:solidFill>
              </a:rPr>
              <a:t>1</a:t>
            </a:r>
            <a:endParaRPr lang="zh-CN" altLang="en-US" sz="2000" dirty="0">
              <a:solidFill>
                <a:srgbClr val="002060"/>
              </a:solidFill>
            </a:endParaRPr>
          </a:p>
        </p:txBody>
      </p:sp>
      <p:sp>
        <p:nvSpPr>
          <p:cNvPr id="30" name="圆角矩形 29"/>
          <p:cNvSpPr/>
          <p:nvPr/>
        </p:nvSpPr>
        <p:spPr>
          <a:xfrm>
            <a:off x="9317972" y="2815310"/>
            <a:ext cx="642937" cy="500062"/>
          </a:xfrm>
          <a:prstGeom prst="roundRect">
            <a:avLst/>
          </a:prstGeom>
          <a:solidFill>
            <a:srgbClr val="FFC000"/>
          </a:solidFill>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2000" dirty="0">
                <a:solidFill>
                  <a:srgbClr val="002060"/>
                </a:solidFill>
              </a:rPr>
              <a:t>0</a:t>
            </a:r>
            <a:endParaRPr lang="zh-CN" altLang="en-US" sz="2000" dirty="0">
              <a:solidFill>
                <a:srgbClr val="002060"/>
              </a:solidFill>
            </a:endParaRPr>
          </a:p>
        </p:txBody>
      </p:sp>
      <p:sp>
        <p:nvSpPr>
          <p:cNvPr id="31" name="圆角矩形 30"/>
          <p:cNvSpPr/>
          <p:nvPr/>
        </p:nvSpPr>
        <p:spPr>
          <a:xfrm>
            <a:off x="10032347" y="2815310"/>
            <a:ext cx="642937" cy="500062"/>
          </a:xfrm>
          <a:prstGeom prst="roundRect">
            <a:avLst/>
          </a:prstGeom>
          <a:solidFill>
            <a:srgbClr val="92D050"/>
          </a:solidFill>
        </p:spPr>
        <p:style>
          <a:lnRef idx="2">
            <a:schemeClr val="accent4"/>
          </a:lnRef>
          <a:fillRef idx="1">
            <a:schemeClr val="lt1"/>
          </a:fillRef>
          <a:effectRef idx="0">
            <a:schemeClr val="accent4"/>
          </a:effectRef>
          <a:fontRef idx="minor">
            <a:schemeClr val="dk1"/>
          </a:fontRef>
        </p:style>
        <p:txBody>
          <a:bodyPr anchor="ctr"/>
          <a:lstStyle/>
          <a:p>
            <a:pPr algn="ctr">
              <a:defRPr/>
            </a:pPr>
            <a:r>
              <a:rPr lang="en-US" altLang="zh-CN" sz="2000" dirty="0">
                <a:solidFill>
                  <a:srgbClr val="002060"/>
                </a:solidFill>
              </a:rPr>
              <a:t>1</a:t>
            </a:r>
            <a:endParaRPr lang="zh-CN" altLang="en-US" sz="2000" dirty="0">
              <a:solidFill>
                <a:srgbClr val="002060"/>
              </a:solidFill>
            </a:endParaRPr>
          </a:p>
        </p:txBody>
      </p:sp>
      <p:sp>
        <p:nvSpPr>
          <p:cNvPr id="32" name="矩形 31"/>
          <p:cNvSpPr/>
          <p:nvPr/>
        </p:nvSpPr>
        <p:spPr>
          <a:xfrm>
            <a:off x="3888722" y="3409035"/>
            <a:ext cx="3773790" cy="400110"/>
          </a:xfrm>
          <a:prstGeom prst="rect">
            <a:avLst/>
          </a:prstGeom>
        </p:spPr>
        <p:txBody>
          <a:bodyPr wrap="none">
            <a:spAutoFit/>
          </a:bodyPr>
          <a:lstStyle/>
          <a:p>
            <a:pPr>
              <a:defRPr/>
            </a:pPr>
            <a:r>
              <a:rPr lang="en-US" altLang="zh-CN" sz="2000" b="0" kern="0" dirty="0"/>
              <a:t>P</a:t>
            </a:r>
            <a:r>
              <a:rPr lang="en-US" altLang="zh-CN" sz="2000" b="0" kern="0" baseline="-25000" dirty="0"/>
              <a:t>3</a:t>
            </a:r>
            <a:r>
              <a:rPr lang="zh-CN" altLang="en-US" sz="2000" b="0" kern="0" dirty="0"/>
              <a:t>到达，执行</a:t>
            </a:r>
            <a:r>
              <a:rPr lang="en-US" altLang="zh-CN" sz="2000" b="0" kern="0" dirty="0" err="1"/>
              <a:t>Swait</a:t>
            </a:r>
            <a:r>
              <a:rPr lang="en-US" altLang="zh-CN" sz="2000" b="0" kern="0" dirty="0"/>
              <a:t>(S</a:t>
            </a:r>
            <a:r>
              <a:rPr lang="en-US" altLang="zh-CN" sz="2000" b="0" kern="0" baseline="-25000" dirty="0"/>
              <a:t>1</a:t>
            </a:r>
            <a:r>
              <a:rPr lang="en-US" altLang="zh-CN" sz="2000" b="0" kern="0" dirty="0"/>
              <a:t>, S</a:t>
            </a:r>
            <a:r>
              <a:rPr lang="en-US" altLang="zh-CN" sz="2000" b="0" kern="0" baseline="-25000" dirty="0"/>
              <a:t>3</a:t>
            </a:r>
            <a:r>
              <a:rPr lang="en-US" altLang="zh-CN" sz="2000" b="0" kern="0" dirty="0"/>
              <a:t>)</a:t>
            </a:r>
            <a:r>
              <a:rPr lang="zh-CN" altLang="en-US" sz="2000" b="0" kern="0" dirty="0"/>
              <a:t>操作</a:t>
            </a:r>
            <a:endParaRPr lang="zh-CN" altLang="en-US" sz="2000" dirty="0"/>
          </a:p>
        </p:txBody>
      </p:sp>
      <p:sp>
        <p:nvSpPr>
          <p:cNvPr id="33" name="圆角矩形 32"/>
          <p:cNvSpPr/>
          <p:nvPr/>
        </p:nvSpPr>
        <p:spPr>
          <a:xfrm>
            <a:off x="8603601" y="3398097"/>
            <a:ext cx="642942" cy="500066"/>
          </a:xfrm>
          <a:prstGeom prst="roundRect">
            <a:avLst/>
          </a:prstGeom>
          <a:gradFill flip="none" rotWithShape="1">
            <a:gsLst>
              <a:gs pos="17000">
                <a:schemeClr val="accent1">
                  <a:tint val="66000"/>
                  <a:satMod val="160000"/>
                  <a:alpha val="91000"/>
                </a:schemeClr>
              </a:gs>
              <a:gs pos="50000">
                <a:schemeClr val="accent1">
                  <a:tint val="44500"/>
                  <a:satMod val="160000"/>
                </a:schemeClr>
              </a:gs>
              <a:gs pos="100000">
                <a:schemeClr val="accent1">
                  <a:tint val="23500"/>
                  <a:satMod val="160000"/>
                </a:schemeClr>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000" dirty="0">
                <a:solidFill>
                  <a:srgbClr val="002060"/>
                </a:solidFill>
              </a:rPr>
              <a:t>0</a:t>
            </a:r>
            <a:endParaRPr lang="zh-CN" altLang="en-US" sz="2000" dirty="0">
              <a:solidFill>
                <a:srgbClr val="002060"/>
              </a:solidFill>
            </a:endParaRPr>
          </a:p>
        </p:txBody>
      </p:sp>
      <p:sp>
        <p:nvSpPr>
          <p:cNvPr id="34" name="圆角矩形 33"/>
          <p:cNvSpPr/>
          <p:nvPr/>
        </p:nvSpPr>
        <p:spPr>
          <a:xfrm>
            <a:off x="9317972" y="3397922"/>
            <a:ext cx="642937" cy="500063"/>
          </a:xfrm>
          <a:prstGeom prst="roundRect">
            <a:avLst/>
          </a:prstGeom>
          <a:solidFill>
            <a:srgbClr val="FFC000"/>
          </a:solidFill>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2000" dirty="0">
                <a:solidFill>
                  <a:srgbClr val="002060"/>
                </a:solidFill>
              </a:rPr>
              <a:t>0</a:t>
            </a:r>
            <a:endParaRPr lang="zh-CN" altLang="en-US" sz="2000" dirty="0">
              <a:solidFill>
                <a:srgbClr val="002060"/>
              </a:solidFill>
            </a:endParaRPr>
          </a:p>
        </p:txBody>
      </p:sp>
      <p:sp>
        <p:nvSpPr>
          <p:cNvPr id="35" name="圆角矩形 34"/>
          <p:cNvSpPr/>
          <p:nvPr/>
        </p:nvSpPr>
        <p:spPr>
          <a:xfrm>
            <a:off x="10032347" y="3397922"/>
            <a:ext cx="642937" cy="500063"/>
          </a:xfrm>
          <a:prstGeom prst="roundRect">
            <a:avLst/>
          </a:prstGeom>
          <a:solidFill>
            <a:srgbClr val="92D050"/>
          </a:solidFill>
        </p:spPr>
        <p:style>
          <a:lnRef idx="2">
            <a:schemeClr val="accent4"/>
          </a:lnRef>
          <a:fillRef idx="1">
            <a:schemeClr val="lt1"/>
          </a:fillRef>
          <a:effectRef idx="0">
            <a:schemeClr val="accent4"/>
          </a:effectRef>
          <a:fontRef idx="minor">
            <a:schemeClr val="dk1"/>
          </a:fontRef>
        </p:style>
        <p:txBody>
          <a:bodyPr anchor="ctr"/>
          <a:lstStyle/>
          <a:p>
            <a:pPr algn="ctr">
              <a:defRPr/>
            </a:pPr>
            <a:r>
              <a:rPr lang="en-US" altLang="zh-CN" sz="2000" dirty="0">
                <a:solidFill>
                  <a:srgbClr val="002060"/>
                </a:solidFill>
              </a:rPr>
              <a:t>0</a:t>
            </a:r>
            <a:endParaRPr lang="zh-CN" altLang="en-US" sz="2000" dirty="0">
              <a:solidFill>
                <a:srgbClr val="002060"/>
              </a:solidFill>
            </a:endParaRPr>
          </a:p>
        </p:txBody>
      </p:sp>
      <p:sp>
        <p:nvSpPr>
          <p:cNvPr id="36" name="矩形 35"/>
          <p:cNvSpPr/>
          <p:nvPr/>
        </p:nvSpPr>
        <p:spPr>
          <a:xfrm>
            <a:off x="3888722" y="4040860"/>
            <a:ext cx="3645550" cy="400110"/>
          </a:xfrm>
          <a:prstGeom prst="rect">
            <a:avLst/>
          </a:prstGeom>
        </p:spPr>
        <p:txBody>
          <a:bodyPr wrap="none">
            <a:spAutoFit/>
          </a:bodyPr>
          <a:lstStyle/>
          <a:p>
            <a:pPr>
              <a:defRPr/>
            </a:pPr>
            <a:r>
              <a:rPr lang="en-US" altLang="zh-CN" sz="2000" b="0" kern="0" dirty="0"/>
              <a:t>P</a:t>
            </a:r>
            <a:r>
              <a:rPr lang="en-US" altLang="zh-CN" sz="2000" b="0" kern="0" baseline="-25000" dirty="0"/>
              <a:t>4</a:t>
            </a:r>
            <a:r>
              <a:rPr lang="zh-CN" altLang="en-US" sz="2000" b="0" kern="0" dirty="0"/>
              <a:t>到达，执行</a:t>
            </a:r>
            <a:r>
              <a:rPr lang="en-US" altLang="zh-CN" sz="2000" b="0" kern="0" dirty="0" err="1"/>
              <a:t>Swait</a:t>
            </a:r>
            <a:r>
              <a:rPr lang="en-US" altLang="zh-CN" sz="2000" b="0" kern="0" dirty="0"/>
              <a:t>(S</a:t>
            </a:r>
            <a:r>
              <a:rPr lang="en-US" altLang="zh-CN" sz="2000" b="0" kern="0" baseline="-25000" dirty="0"/>
              <a:t>2</a:t>
            </a:r>
            <a:r>
              <a:rPr lang="en-US" altLang="zh-CN" sz="2000" b="0" kern="0" dirty="0"/>
              <a:t>,S</a:t>
            </a:r>
            <a:r>
              <a:rPr lang="en-US" altLang="zh-CN" sz="2000" b="0" kern="0" baseline="-25000" dirty="0"/>
              <a:t>3</a:t>
            </a:r>
            <a:r>
              <a:rPr lang="en-US" altLang="zh-CN" sz="2000" b="0" kern="0" dirty="0"/>
              <a:t>)</a:t>
            </a:r>
            <a:r>
              <a:rPr lang="zh-CN" altLang="en-US" sz="2000" b="0" kern="0" dirty="0"/>
              <a:t>操作</a:t>
            </a:r>
            <a:endParaRPr lang="zh-CN" altLang="en-US" sz="2000" dirty="0"/>
          </a:p>
        </p:txBody>
      </p:sp>
      <p:sp>
        <p:nvSpPr>
          <p:cNvPr id="37" name="爆炸形 1 36"/>
          <p:cNvSpPr/>
          <p:nvPr/>
        </p:nvSpPr>
        <p:spPr>
          <a:xfrm>
            <a:off x="8532159" y="3886872"/>
            <a:ext cx="1500188" cy="928688"/>
          </a:xfrm>
          <a:prstGeom prst="irregularSeal1">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000" dirty="0">
                <a:solidFill>
                  <a:srgbClr val="FF0000"/>
                </a:solidFill>
              </a:rPr>
              <a:t>阻塞</a:t>
            </a:r>
          </a:p>
        </p:txBody>
      </p:sp>
      <p:sp>
        <p:nvSpPr>
          <p:cNvPr id="38" name="矩形 37"/>
          <p:cNvSpPr/>
          <p:nvPr/>
        </p:nvSpPr>
        <p:spPr>
          <a:xfrm>
            <a:off x="3888722" y="4601247"/>
            <a:ext cx="3688830" cy="400110"/>
          </a:xfrm>
          <a:prstGeom prst="rect">
            <a:avLst/>
          </a:prstGeom>
        </p:spPr>
        <p:txBody>
          <a:bodyPr wrap="none">
            <a:spAutoFit/>
          </a:bodyPr>
          <a:lstStyle/>
          <a:p>
            <a:pPr>
              <a:defRPr/>
            </a:pPr>
            <a:r>
              <a:rPr lang="en-US" altLang="zh-CN" sz="2000" kern="0" dirty="0">
                <a:solidFill>
                  <a:srgbClr val="C00000"/>
                </a:solidFill>
              </a:rPr>
              <a:t>P</a:t>
            </a:r>
            <a:r>
              <a:rPr lang="en-US" altLang="zh-CN" sz="2000" b="0" kern="0" baseline="-25000" dirty="0">
                <a:solidFill>
                  <a:srgbClr val="C00000"/>
                </a:solidFill>
              </a:rPr>
              <a:t>4</a:t>
            </a:r>
            <a:r>
              <a:rPr lang="zh-CN" altLang="en-US" sz="2000" kern="0" dirty="0">
                <a:solidFill>
                  <a:srgbClr val="C00000"/>
                </a:solidFill>
              </a:rPr>
              <a:t>会排在</a:t>
            </a:r>
            <a:r>
              <a:rPr lang="en-US" altLang="zh-CN" sz="2000" kern="0" dirty="0">
                <a:solidFill>
                  <a:srgbClr val="C00000"/>
                </a:solidFill>
              </a:rPr>
              <a:t>S</a:t>
            </a:r>
            <a:r>
              <a:rPr lang="en-US" altLang="zh-CN" sz="2000" b="0" kern="0" baseline="-25000" dirty="0">
                <a:solidFill>
                  <a:srgbClr val="C00000"/>
                </a:solidFill>
              </a:rPr>
              <a:t>2</a:t>
            </a:r>
            <a:r>
              <a:rPr lang="zh-CN" altLang="en-US" sz="2000" kern="0" dirty="0">
                <a:solidFill>
                  <a:srgbClr val="C00000"/>
                </a:solidFill>
              </a:rPr>
              <a:t>所对应的等待队列中</a:t>
            </a:r>
            <a:endParaRPr lang="zh-CN" altLang="en-US" sz="2000" dirty="0">
              <a:solidFill>
                <a:srgbClr val="C00000"/>
              </a:solidFill>
            </a:endParaRPr>
          </a:p>
        </p:txBody>
      </p:sp>
      <p:sp>
        <p:nvSpPr>
          <p:cNvPr id="39" name="矩形 38"/>
          <p:cNvSpPr/>
          <p:nvPr/>
        </p:nvSpPr>
        <p:spPr>
          <a:xfrm>
            <a:off x="3888722" y="5112422"/>
            <a:ext cx="4756430" cy="400110"/>
          </a:xfrm>
          <a:prstGeom prst="rect">
            <a:avLst/>
          </a:prstGeom>
        </p:spPr>
        <p:txBody>
          <a:bodyPr wrap="none">
            <a:spAutoFit/>
          </a:bodyPr>
          <a:lstStyle/>
          <a:p>
            <a:pPr>
              <a:defRPr/>
            </a:pPr>
            <a:r>
              <a:rPr lang="en-US" altLang="zh-CN" sz="2000" b="0" kern="0" dirty="0"/>
              <a:t>P</a:t>
            </a:r>
            <a:r>
              <a:rPr lang="en-US" altLang="zh-CN" sz="2000" b="0" kern="0" baseline="-25000" dirty="0"/>
              <a:t>1</a:t>
            </a:r>
            <a:r>
              <a:rPr lang="zh-CN" altLang="en-US" sz="2000" b="0" kern="0" dirty="0"/>
              <a:t>执行完成，执行</a:t>
            </a:r>
            <a:r>
              <a:rPr lang="en-US" altLang="zh-CN" sz="2000" b="0" kern="0" dirty="0" err="1"/>
              <a:t>Ssignal</a:t>
            </a:r>
            <a:r>
              <a:rPr lang="en-US" altLang="zh-CN" sz="2000" b="0" kern="0" dirty="0"/>
              <a:t>(S</a:t>
            </a:r>
            <a:r>
              <a:rPr lang="en-US" altLang="zh-CN" sz="2000" b="0" kern="0" baseline="-25000" dirty="0"/>
              <a:t>1</a:t>
            </a:r>
            <a:r>
              <a:rPr lang="en-US" altLang="zh-CN" sz="2000" b="0" kern="0" dirty="0"/>
              <a:t>,S</a:t>
            </a:r>
            <a:r>
              <a:rPr lang="en-US" altLang="zh-CN" sz="2000" b="0" kern="0" baseline="-25000" dirty="0"/>
              <a:t>2</a:t>
            </a:r>
            <a:r>
              <a:rPr lang="en-US" altLang="zh-CN" sz="2000" b="0" kern="0" dirty="0"/>
              <a:t>,S</a:t>
            </a:r>
            <a:r>
              <a:rPr lang="en-US" altLang="zh-CN" sz="2000" b="0" kern="0" baseline="-25000" dirty="0"/>
              <a:t>3</a:t>
            </a:r>
            <a:r>
              <a:rPr lang="en-US" altLang="zh-CN" sz="2000" b="0" kern="0" dirty="0"/>
              <a:t>)</a:t>
            </a:r>
            <a:r>
              <a:rPr lang="zh-CN" altLang="en-US" sz="2000" b="0" kern="0" dirty="0"/>
              <a:t>操作</a:t>
            </a:r>
            <a:endParaRPr lang="zh-CN" altLang="en-US" sz="2000" dirty="0"/>
          </a:p>
        </p:txBody>
      </p:sp>
      <p:sp>
        <p:nvSpPr>
          <p:cNvPr id="40" name="圆角矩形 39"/>
          <p:cNvSpPr/>
          <p:nvPr/>
        </p:nvSpPr>
        <p:spPr>
          <a:xfrm>
            <a:off x="9460857" y="5101320"/>
            <a:ext cx="642942" cy="500066"/>
          </a:xfrm>
          <a:prstGeom prst="roundRect">
            <a:avLst/>
          </a:prstGeom>
          <a:gradFill flip="none" rotWithShape="1">
            <a:gsLst>
              <a:gs pos="17000">
                <a:schemeClr val="accent1">
                  <a:tint val="66000"/>
                  <a:satMod val="160000"/>
                  <a:alpha val="91000"/>
                </a:schemeClr>
              </a:gs>
              <a:gs pos="50000">
                <a:schemeClr val="accent1">
                  <a:tint val="44500"/>
                  <a:satMod val="160000"/>
                </a:schemeClr>
              </a:gs>
              <a:gs pos="100000">
                <a:schemeClr val="accent1">
                  <a:tint val="23500"/>
                  <a:satMod val="160000"/>
                </a:schemeClr>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000" dirty="0">
                <a:solidFill>
                  <a:srgbClr val="002060"/>
                </a:solidFill>
              </a:rPr>
              <a:t>1</a:t>
            </a:r>
            <a:endParaRPr lang="zh-CN" altLang="en-US" sz="2000" dirty="0">
              <a:solidFill>
                <a:srgbClr val="002060"/>
              </a:solidFill>
            </a:endParaRPr>
          </a:p>
        </p:txBody>
      </p:sp>
      <p:sp>
        <p:nvSpPr>
          <p:cNvPr id="41" name="圆角矩形 40"/>
          <p:cNvSpPr/>
          <p:nvPr/>
        </p:nvSpPr>
        <p:spPr>
          <a:xfrm>
            <a:off x="10175222" y="5101310"/>
            <a:ext cx="642937" cy="500062"/>
          </a:xfrm>
          <a:prstGeom prst="roundRect">
            <a:avLst/>
          </a:prstGeom>
          <a:solidFill>
            <a:srgbClr val="FFC000"/>
          </a:solidFill>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2000" dirty="0">
                <a:solidFill>
                  <a:srgbClr val="002060"/>
                </a:solidFill>
              </a:rPr>
              <a:t>1</a:t>
            </a:r>
            <a:endParaRPr lang="zh-CN" altLang="en-US" sz="2000" dirty="0">
              <a:solidFill>
                <a:srgbClr val="002060"/>
              </a:solidFill>
            </a:endParaRPr>
          </a:p>
        </p:txBody>
      </p:sp>
      <p:sp>
        <p:nvSpPr>
          <p:cNvPr id="42" name="圆角矩形 41"/>
          <p:cNvSpPr/>
          <p:nvPr/>
        </p:nvSpPr>
        <p:spPr>
          <a:xfrm>
            <a:off x="10889597" y="5101310"/>
            <a:ext cx="642937" cy="500062"/>
          </a:xfrm>
          <a:prstGeom prst="roundRect">
            <a:avLst/>
          </a:prstGeom>
          <a:solidFill>
            <a:srgbClr val="92D050"/>
          </a:solidFill>
        </p:spPr>
        <p:style>
          <a:lnRef idx="2">
            <a:schemeClr val="accent4"/>
          </a:lnRef>
          <a:fillRef idx="1">
            <a:schemeClr val="lt1"/>
          </a:fillRef>
          <a:effectRef idx="0">
            <a:schemeClr val="accent4"/>
          </a:effectRef>
          <a:fontRef idx="minor">
            <a:schemeClr val="dk1"/>
          </a:fontRef>
        </p:style>
        <p:txBody>
          <a:bodyPr anchor="ctr"/>
          <a:lstStyle/>
          <a:p>
            <a:pPr algn="ctr">
              <a:defRPr/>
            </a:pPr>
            <a:r>
              <a:rPr lang="en-US" altLang="zh-CN" sz="2000" dirty="0">
                <a:solidFill>
                  <a:srgbClr val="002060"/>
                </a:solidFill>
              </a:rPr>
              <a:t>1</a:t>
            </a:r>
            <a:endParaRPr lang="zh-CN" altLang="en-US" sz="2000" dirty="0">
              <a:solidFill>
                <a:srgbClr val="002060"/>
              </a:solidFill>
            </a:endParaRPr>
          </a:p>
        </p:txBody>
      </p:sp>
      <p:sp>
        <p:nvSpPr>
          <p:cNvPr id="43" name="矩形 42"/>
          <p:cNvSpPr/>
          <p:nvPr/>
        </p:nvSpPr>
        <p:spPr>
          <a:xfrm>
            <a:off x="3888722" y="5672810"/>
            <a:ext cx="4158511" cy="400110"/>
          </a:xfrm>
          <a:prstGeom prst="rect">
            <a:avLst/>
          </a:prstGeom>
        </p:spPr>
        <p:txBody>
          <a:bodyPr wrap="none">
            <a:spAutoFit/>
          </a:bodyPr>
          <a:lstStyle/>
          <a:p>
            <a:pPr>
              <a:defRPr/>
            </a:pPr>
            <a:r>
              <a:rPr lang="en-US" altLang="zh-CN" sz="2000" kern="0" dirty="0">
                <a:solidFill>
                  <a:srgbClr val="C00000"/>
                </a:solidFill>
              </a:rPr>
              <a:t>P</a:t>
            </a:r>
            <a:r>
              <a:rPr lang="en-US" altLang="zh-CN" sz="2000" b="0" kern="0" baseline="-25000" dirty="0">
                <a:solidFill>
                  <a:srgbClr val="C00000"/>
                </a:solidFill>
              </a:rPr>
              <a:t>4</a:t>
            </a:r>
            <a:r>
              <a:rPr lang="zh-CN" altLang="en-US" sz="2000" kern="0" dirty="0">
                <a:solidFill>
                  <a:srgbClr val="C00000"/>
                </a:solidFill>
              </a:rPr>
              <a:t>会被唤醒，</a:t>
            </a:r>
            <a:r>
              <a:rPr lang="zh-CN" altLang="en-US" sz="2000" b="0" kern="0" dirty="0"/>
              <a:t>执行</a:t>
            </a:r>
            <a:r>
              <a:rPr lang="en-US" altLang="zh-CN" sz="2000" b="0" kern="0" dirty="0" err="1"/>
              <a:t>Swait</a:t>
            </a:r>
            <a:r>
              <a:rPr lang="en-US" altLang="zh-CN" sz="2000" b="0" kern="0" dirty="0"/>
              <a:t>(S</a:t>
            </a:r>
            <a:r>
              <a:rPr lang="en-US" altLang="zh-CN" sz="2000" b="0" kern="0" baseline="-25000" dirty="0"/>
              <a:t>2</a:t>
            </a:r>
            <a:r>
              <a:rPr lang="en-US" altLang="zh-CN" sz="2000" b="0" kern="0" dirty="0"/>
              <a:t>,S</a:t>
            </a:r>
            <a:r>
              <a:rPr lang="en-US" altLang="zh-CN" sz="2000" b="0" kern="0" baseline="-25000" dirty="0"/>
              <a:t>3</a:t>
            </a:r>
            <a:r>
              <a:rPr lang="en-US" altLang="zh-CN" sz="2000" b="0" kern="0" dirty="0"/>
              <a:t>)</a:t>
            </a:r>
            <a:r>
              <a:rPr lang="zh-CN" altLang="en-US" sz="2000" b="0" kern="0" dirty="0"/>
              <a:t>操作</a:t>
            </a:r>
            <a:endParaRPr lang="zh-CN" altLang="en-US" sz="2000" dirty="0">
              <a:solidFill>
                <a:srgbClr val="C00000"/>
              </a:solidFill>
            </a:endParaRPr>
          </a:p>
        </p:txBody>
      </p:sp>
      <p:sp>
        <p:nvSpPr>
          <p:cNvPr id="44" name="圆角矩形 43"/>
          <p:cNvSpPr/>
          <p:nvPr/>
        </p:nvSpPr>
        <p:spPr>
          <a:xfrm>
            <a:off x="9460857" y="5672824"/>
            <a:ext cx="642942" cy="500066"/>
          </a:xfrm>
          <a:prstGeom prst="roundRect">
            <a:avLst/>
          </a:prstGeom>
          <a:gradFill flip="none" rotWithShape="1">
            <a:gsLst>
              <a:gs pos="17000">
                <a:schemeClr val="accent1">
                  <a:tint val="66000"/>
                  <a:satMod val="160000"/>
                  <a:alpha val="91000"/>
                </a:schemeClr>
              </a:gs>
              <a:gs pos="50000">
                <a:schemeClr val="accent1">
                  <a:tint val="44500"/>
                  <a:satMod val="160000"/>
                </a:schemeClr>
              </a:gs>
              <a:gs pos="100000">
                <a:schemeClr val="accent1">
                  <a:tint val="23500"/>
                  <a:satMod val="160000"/>
                </a:schemeClr>
              </a:gs>
            </a:gsLst>
            <a:lin ang="5400000" scaled="0"/>
            <a:tileRect/>
          </a:gra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000" dirty="0">
                <a:solidFill>
                  <a:srgbClr val="002060"/>
                </a:solidFill>
              </a:rPr>
              <a:t>1</a:t>
            </a:r>
            <a:endParaRPr lang="zh-CN" altLang="en-US" sz="2000" dirty="0">
              <a:solidFill>
                <a:srgbClr val="002060"/>
              </a:solidFill>
            </a:endParaRPr>
          </a:p>
        </p:txBody>
      </p:sp>
      <p:sp>
        <p:nvSpPr>
          <p:cNvPr id="45" name="圆角矩形 44"/>
          <p:cNvSpPr/>
          <p:nvPr/>
        </p:nvSpPr>
        <p:spPr>
          <a:xfrm>
            <a:off x="10175222" y="5672810"/>
            <a:ext cx="642937" cy="500062"/>
          </a:xfrm>
          <a:prstGeom prst="roundRect">
            <a:avLst/>
          </a:prstGeom>
          <a:solidFill>
            <a:srgbClr val="FFC000"/>
          </a:solidFill>
        </p:spPr>
        <p:style>
          <a:lnRef idx="2">
            <a:schemeClr val="accent2"/>
          </a:lnRef>
          <a:fillRef idx="1">
            <a:schemeClr val="lt1"/>
          </a:fillRef>
          <a:effectRef idx="0">
            <a:schemeClr val="accent2"/>
          </a:effectRef>
          <a:fontRef idx="minor">
            <a:schemeClr val="dk1"/>
          </a:fontRef>
        </p:style>
        <p:txBody>
          <a:bodyPr anchor="ctr"/>
          <a:lstStyle/>
          <a:p>
            <a:pPr algn="ctr">
              <a:defRPr/>
            </a:pPr>
            <a:r>
              <a:rPr lang="en-US" altLang="zh-CN" sz="2000" dirty="0">
                <a:solidFill>
                  <a:srgbClr val="002060"/>
                </a:solidFill>
              </a:rPr>
              <a:t>0</a:t>
            </a:r>
            <a:endParaRPr lang="zh-CN" altLang="en-US" sz="2000" dirty="0">
              <a:solidFill>
                <a:srgbClr val="002060"/>
              </a:solidFill>
            </a:endParaRPr>
          </a:p>
        </p:txBody>
      </p:sp>
      <p:sp>
        <p:nvSpPr>
          <p:cNvPr id="46" name="圆角矩形 45"/>
          <p:cNvSpPr/>
          <p:nvPr/>
        </p:nvSpPr>
        <p:spPr>
          <a:xfrm>
            <a:off x="10889597" y="5672810"/>
            <a:ext cx="642937" cy="500062"/>
          </a:xfrm>
          <a:prstGeom prst="roundRect">
            <a:avLst/>
          </a:prstGeom>
          <a:solidFill>
            <a:srgbClr val="92D050"/>
          </a:solidFill>
        </p:spPr>
        <p:style>
          <a:lnRef idx="2">
            <a:schemeClr val="accent4"/>
          </a:lnRef>
          <a:fillRef idx="1">
            <a:schemeClr val="lt1"/>
          </a:fillRef>
          <a:effectRef idx="0">
            <a:schemeClr val="accent4"/>
          </a:effectRef>
          <a:fontRef idx="minor">
            <a:schemeClr val="dk1"/>
          </a:fontRef>
        </p:style>
        <p:txBody>
          <a:bodyPr anchor="ctr"/>
          <a:lstStyle/>
          <a:p>
            <a:pPr algn="ctr">
              <a:defRPr/>
            </a:pPr>
            <a:r>
              <a:rPr lang="en-US" altLang="zh-CN" sz="2000" dirty="0">
                <a:solidFill>
                  <a:srgbClr val="002060"/>
                </a:solidFill>
              </a:rPr>
              <a:t>0</a:t>
            </a:r>
            <a:endParaRPr lang="zh-CN" altLang="en-US" sz="2000" dirty="0">
              <a:solidFill>
                <a:srgbClr val="002060"/>
              </a:solidFill>
            </a:endParaRPr>
          </a:p>
        </p:txBody>
      </p:sp>
    </p:spTree>
    <p:extLst>
      <p:ext uri="{BB962C8B-B14F-4D97-AF65-F5344CB8AC3E}">
        <p14:creationId xmlns:p14="http://schemas.microsoft.com/office/powerpoint/2010/main" val="1562811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linds(horizontal)">
                                      <p:cBhvr>
                                        <p:cTn id="7" dur="500"/>
                                        <p:tgtEl>
                                          <p:spTgt spid="1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blinds(horizontal)">
                                      <p:cBhvr>
                                        <p:cTn id="10" dur="500"/>
                                        <p:tgtEl>
                                          <p:spTgt spid="17"/>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blinds(horizontal)">
                                      <p:cBhvr>
                                        <p:cTn id="13" dur="500"/>
                                        <p:tgtEl>
                                          <p:spTgt spid="18"/>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blinds(horizontal)">
                                      <p:cBhvr>
                                        <p:cTn id="16" dur="500"/>
                                        <p:tgtEl>
                                          <p:spTgt spid="19"/>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blinds(horizontal)">
                                      <p:cBhvr>
                                        <p:cTn id="19" dur="500"/>
                                        <p:tgtEl>
                                          <p:spTgt spid="20"/>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blinds(horizontal)">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additive="base">
                                        <p:cTn id="27" dur="500" fill="hold"/>
                                        <p:tgtEl>
                                          <p:spTgt spid="22"/>
                                        </p:tgtEl>
                                        <p:attrNameLst>
                                          <p:attrName>ppt_x</p:attrName>
                                        </p:attrNameLst>
                                      </p:cBhvr>
                                      <p:tavLst>
                                        <p:tav tm="0">
                                          <p:val>
                                            <p:strVal val="1+#ppt_w/2"/>
                                          </p:val>
                                        </p:tav>
                                        <p:tav tm="100000">
                                          <p:val>
                                            <p:strVal val="#ppt_x"/>
                                          </p:val>
                                        </p:tav>
                                      </p:tavLst>
                                    </p:anim>
                                    <p:anim calcmode="lin" valueType="num">
                                      <p:cBhvr additive="base">
                                        <p:cTn id="28"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54" presetClass="entr" presetSubtype="0" accel="100000"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anim calcmode="lin" valueType="num">
                                      <p:cBhvr>
                                        <p:cTn id="33" dur="500" fill="hold"/>
                                        <p:tgtEl>
                                          <p:spTgt spid="23"/>
                                        </p:tgtEl>
                                        <p:attrNameLst>
                                          <p:attrName>ppt_w</p:attrName>
                                        </p:attrNameLst>
                                      </p:cBhvr>
                                      <p:tavLst>
                                        <p:tav tm="0">
                                          <p:val>
                                            <p:strVal val="#ppt_w*0.05"/>
                                          </p:val>
                                        </p:tav>
                                        <p:tav tm="100000">
                                          <p:val>
                                            <p:strVal val="#ppt_w"/>
                                          </p:val>
                                        </p:tav>
                                      </p:tavLst>
                                    </p:anim>
                                    <p:anim calcmode="lin" valueType="num">
                                      <p:cBhvr>
                                        <p:cTn id="34" dur="500" fill="hold"/>
                                        <p:tgtEl>
                                          <p:spTgt spid="23"/>
                                        </p:tgtEl>
                                        <p:attrNameLst>
                                          <p:attrName>ppt_h</p:attrName>
                                        </p:attrNameLst>
                                      </p:cBhvr>
                                      <p:tavLst>
                                        <p:tav tm="0">
                                          <p:val>
                                            <p:strVal val="#ppt_h"/>
                                          </p:val>
                                        </p:tav>
                                        <p:tav tm="100000">
                                          <p:val>
                                            <p:strVal val="#ppt_h"/>
                                          </p:val>
                                        </p:tav>
                                      </p:tavLst>
                                    </p:anim>
                                    <p:anim calcmode="lin" valueType="num">
                                      <p:cBhvr>
                                        <p:cTn id="35" dur="500" fill="hold"/>
                                        <p:tgtEl>
                                          <p:spTgt spid="23"/>
                                        </p:tgtEl>
                                        <p:attrNameLst>
                                          <p:attrName>ppt_x</p:attrName>
                                        </p:attrNameLst>
                                      </p:cBhvr>
                                      <p:tavLst>
                                        <p:tav tm="0">
                                          <p:val>
                                            <p:strVal val="#ppt_x-.2"/>
                                          </p:val>
                                        </p:tav>
                                        <p:tav tm="100000">
                                          <p:val>
                                            <p:strVal val="#ppt_x"/>
                                          </p:val>
                                        </p:tav>
                                      </p:tavLst>
                                    </p:anim>
                                    <p:anim calcmode="lin" valueType="num">
                                      <p:cBhvr>
                                        <p:cTn id="36" dur="500" fill="hold"/>
                                        <p:tgtEl>
                                          <p:spTgt spid="23"/>
                                        </p:tgtEl>
                                        <p:attrNameLst>
                                          <p:attrName>ppt_y</p:attrName>
                                        </p:attrNameLst>
                                      </p:cBhvr>
                                      <p:tavLst>
                                        <p:tav tm="0">
                                          <p:val>
                                            <p:strVal val="#ppt_y"/>
                                          </p:val>
                                        </p:tav>
                                        <p:tav tm="100000">
                                          <p:val>
                                            <p:strVal val="#ppt_y"/>
                                          </p:val>
                                        </p:tav>
                                      </p:tavLst>
                                    </p:anim>
                                    <p:animEffect transition="in" filter="fade">
                                      <p:cBhvr>
                                        <p:cTn id="37" dur="50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wipe(left)">
                                      <p:cBhvr>
                                        <p:cTn id="42" dur="500"/>
                                        <p:tgtEl>
                                          <p:spTgt spid="24"/>
                                        </p:tgtEl>
                                      </p:cBhvr>
                                    </p:animEffect>
                                  </p:childTnLst>
                                </p:cTn>
                              </p:par>
                            </p:childTnLst>
                          </p:cTn>
                        </p:par>
                      </p:childTnLst>
                    </p:cTn>
                  </p:par>
                  <p:par>
                    <p:cTn id="43" fill="hold">
                      <p:stCondLst>
                        <p:cond delay="indefinite"/>
                      </p:stCondLst>
                      <p:childTnLst>
                        <p:par>
                          <p:cTn id="44" fill="hold">
                            <p:stCondLst>
                              <p:cond delay="0"/>
                            </p:stCondLst>
                            <p:childTnLst>
                              <p:par>
                                <p:cTn id="45" presetID="38" presetClass="entr" presetSubtype="0" accel="50000" fill="hold" nodeType="clickEffect">
                                  <p:stCondLst>
                                    <p:cond delay="0"/>
                                  </p:stCondLst>
                                  <p:iterate type="lt">
                                    <p:tmPct val="50000"/>
                                  </p:iterate>
                                  <p:childTnLst>
                                    <p:set>
                                      <p:cBhvr>
                                        <p:cTn id="46" dur="1" fill="hold">
                                          <p:stCondLst>
                                            <p:cond delay="0"/>
                                          </p:stCondLst>
                                        </p:cTn>
                                        <p:tgtEl>
                                          <p:spTgt spid="25"/>
                                        </p:tgtEl>
                                        <p:attrNameLst>
                                          <p:attrName>style.visibility</p:attrName>
                                        </p:attrNameLst>
                                      </p:cBhvr>
                                      <p:to>
                                        <p:strVal val="visible"/>
                                      </p:to>
                                    </p:set>
                                    <p:set>
                                      <p:cBhvr>
                                        <p:cTn id="47" dur="455" fill="hold">
                                          <p:stCondLst>
                                            <p:cond delay="0"/>
                                          </p:stCondLst>
                                        </p:cTn>
                                        <p:tgtEl>
                                          <p:spTgt spid="25"/>
                                        </p:tgtEl>
                                        <p:attrNameLst>
                                          <p:attrName>style.rotation</p:attrName>
                                        </p:attrNameLst>
                                      </p:cBhvr>
                                      <p:to>
                                        <p:strVal val="-45.0"/>
                                      </p:to>
                                    </p:set>
                                    <p:anim calcmode="lin" valueType="num">
                                      <p:cBhvr>
                                        <p:cTn id="48" dur="455" fill="hold">
                                          <p:stCondLst>
                                            <p:cond delay="455"/>
                                          </p:stCondLst>
                                        </p:cTn>
                                        <p:tgtEl>
                                          <p:spTgt spid="25"/>
                                        </p:tgtEl>
                                        <p:attrNameLst>
                                          <p:attrName>style.rotation</p:attrName>
                                        </p:attrNameLst>
                                      </p:cBhvr>
                                      <p:tavLst>
                                        <p:tav tm="0">
                                          <p:val>
                                            <p:fltVal val="-45"/>
                                          </p:val>
                                        </p:tav>
                                        <p:tav tm="69900">
                                          <p:val>
                                            <p:fltVal val="45"/>
                                          </p:val>
                                        </p:tav>
                                        <p:tav tm="100000">
                                          <p:val>
                                            <p:fltVal val="0"/>
                                          </p:val>
                                        </p:tav>
                                      </p:tavLst>
                                    </p:anim>
                                    <p:anim calcmode="lin" valueType="num">
                                      <p:cBhvr>
                                        <p:cTn id="49" dur="455" fill="hold">
                                          <p:stCondLst>
                                            <p:cond delay="0"/>
                                          </p:stCondLst>
                                        </p:cTn>
                                        <p:tgtEl>
                                          <p:spTgt spid="25"/>
                                        </p:tgtEl>
                                        <p:attrNameLst>
                                          <p:attrName>ppt_y</p:attrName>
                                        </p:attrNameLst>
                                      </p:cBhvr>
                                      <p:tavLst>
                                        <p:tav tm="0">
                                          <p:val>
                                            <p:strVal val="#ppt_y-1"/>
                                          </p:val>
                                        </p:tav>
                                        <p:tav tm="100000">
                                          <p:val>
                                            <p:strVal val="#ppt_y-(0.354*#ppt_w-0.172*#ppt_h)"/>
                                          </p:val>
                                        </p:tav>
                                      </p:tavLst>
                                    </p:anim>
                                    <p:anim calcmode="lin" valueType="num">
                                      <p:cBhvr>
                                        <p:cTn id="50" dur="156" decel="50000" autoRev="1" fill="hold">
                                          <p:stCondLst>
                                            <p:cond delay="455"/>
                                          </p:stCondLst>
                                        </p:cTn>
                                        <p:tgtEl>
                                          <p:spTgt spid="25"/>
                                        </p:tgtEl>
                                        <p:attrNameLst>
                                          <p:attrName>ppt_y</p:attrName>
                                        </p:attrNameLst>
                                      </p:cBhvr>
                                      <p:tavLst>
                                        <p:tav tm="0">
                                          <p:val>
                                            <p:strVal val="#ppt_y-(0.354*#ppt_w-0.172*#ppt_h)"/>
                                          </p:val>
                                        </p:tav>
                                        <p:tav tm="100000">
                                          <p:val>
                                            <p:strVal val="#ppt_y-(0.354*#ppt_w-0.172*#ppt_h)-#ppt_h/2"/>
                                          </p:val>
                                        </p:tav>
                                      </p:tavLst>
                                    </p:anim>
                                    <p:anim calcmode="lin" valueType="num">
                                      <p:cBhvr>
                                        <p:cTn id="51" dur="136" fill="hold">
                                          <p:stCondLst>
                                            <p:cond delay="864"/>
                                          </p:stCondLst>
                                        </p:cTn>
                                        <p:tgtEl>
                                          <p:spTgt spid="25"/>
                                        </p:tgtEl>
                                        <p:attrNameLst>
                                          <p:attrName>ppt_y</p:attrName>
                                        </p:attrNameLst>
                                      </p:cBhvr>
                                      <p:tavLst>
                                        <p:tav tm="0">
                                          <p:val>
                                            <p:strVal val="#ppt_y-(0.354*#ppt_w-0.172*#ppt_h)"/>
                                          </p:val>
                                        </p:tav>
                                        <p:tav tm="100000">
                                          <p:val>
                                            <p:strVal val="#ppt_y"/>
                                          </p:val>
                                        </p:tav>
                                      </p:tavLst>
                                    </p:anim>
                                  </p:childTnLst>
                                </p:cTn>
                              </p:par>
                              <p:par>
                                <p:cTn id="52" presetID="38" presetClass="entr" presetSubtype="0" accel="50000" fill="hold" grpId="0" nodeType="withEffect">
                                  <p:stCondLst>
                                    <p:cond delay="0"/>
                                  </p:stCondLst>
                                  <p:iterate type="lt">
                                    <p:tmPct val="50000"/>
                                  </p:iterate>
                                  <p:childTnLst>
                                    <p:set>
                                      <p:cBhvr>
                                        <p:cTn id="53" dur="1" fill="hold">
                                          <p:stCondLst>
                                            <p:cond delay="0"/>
                                          </p:stCondLst>
                                        </p:cTn>
                                        <p:tgtEl>
                                          <p:spTgt spid="26"/>
                                        </p:tgtEl>
                                        <p:attrNameLst>
                                          <p:attrName>style.visibility</p:attrName>
                                        </p:attrNameLst>
                                      </p:cBhvr>
                                      <p:to>
                                        <p:strVal val="visible"/>
                                      </p:to>
                                    </p:set>
                                    <p:set>
                                      <p:cBhvr>
                                        <p:cTn id="54" dur="455" fill="hold">
                                          <p:stCondLst>
                                            <p:cond delay="0"/>
                                          </p:stCondLst>
                                        </p:cTn>
                                        <p:tgtEl>
                                          <p:spTgt spid="26"/>
                                        </p:tgtEl>
                                        <p:attrNameLst>
                                          <p:attrName>style.rotation</p:attrName>
                                        </p:attrNameLst>
                                      </p:cBhvr>
                                      <p:to>
                                        <p:strVal val="-45.0"/>
                                      </p:to>
                                    </p:set>
                                    <p:anim calcmode="lin" valueType="num">
                                      <p:cBhvr>
                                        <p:cTn id="55" dur="455" fill="hold">
                                          <p:stCondLst>
                                            <p:cond delay="455"/>
                                          </p:stCondLst>
                                        </p:cTn>
                                        <p:tgtEl>
                                          <p:spTgt spid="26"/>
                                        </p:tgtEl>
                                        <p:attrNameLst>
                                          <p:attrName>style.rotation</p:attrName>
                                        </p:attrNameLst>
                                      </p:cBhvr>
                                      <p:tavLst>
                                        <p:tav tm="0">
                                          <p:val>
                                            <p:fltVal val="-45"/>
                                          </p:val>
                                        </p:tav>
                                        <p:tav tm="69900">
                                          <p:val>
                                            <p:fltVal val="45"/>
                                          </p:val>
                                        </p:tav>
                                        <p:tav tm="100000">
                                          <p:val>
                                            <p:fltVal val="0"/>
                                          </p:val>
                                        </p:tav>
                                      </p:tavLst>
                                    </p:anim>
                                    <p:anim calcmode="lin" valueType="num">
                                      <p:cBhvr>
                                        <p:cTn id="56" dur="455" fill="hold">
                                          <p:stCondLst>
                                            <p:cond delay="0"/>
                                          </p:stCondLst>
                                        </p:cTn>
                                        <p:tgtEl>
                                          <p:spTgt spid="26"/>
                                        </p:tgtEl>
                                        <p:attrNameLst>
                                          <p:attrName>ppt_y</p:attrName>
                                        </p:attrNameLst>
                                      </p:cBhvr>
                                      <p:tavLst>
                                        <p:tav tm="0">
                                          <p:val>
                                            <p:strVal val="#ppt_y-1"/>
                                          </p:val>
                                        </p:tav>
                                        <p:tav tm="100000">
                                          <p:val>
                                            <p:strVal val="#ppt_y-(0.354*#ppt_w-0.172*#ppt_h)"/>
                                          </p:val>
                                        </p:tav>
                                      </p:tavLst>
                                    </p:anim>
                                    <p:anim calcmode="lin" valueType="num">
                                      <p:cBhvr>
                                        <p:cTn id="57" dur="156" decel="50000" autoRev="1" fill="hold">
                                          <p:stCondLst>
                                            <p:cond delay="455"/>
                                          </p:stCondLst>
                                        </p:cTn>
                                        <p:tgtEl>
                                          <p:spTgt spid="26"/>
                                        </p:tgtEl>
                                        <p:attrNameLst>
                                          <p:attrName>ppt_y</p:attrName>
                                        </p:attrNameLst>
                                      </p:cBhvr>
                                      <p:tavLst>
                                        <p:tav tm="0">
                                          <p:val>
                                            <p:strVal val="#ppt_y-(0.354*#ppt_w-0.172*#ppt_h)"/>
                                          </p:val>
                                        </p:tav>
                                        <p:tav tm="100000">
                                          <p:val>
                                            <p:strVal val="#ppt_y-(0.354*#ppt_w-0.172*#ppt_h)-#ppt_h/2"/>
                                          </p:val>
                                        </p:tav>
                                      </p:tavLst>
                                    </p:anim>
                                    <p:anim calcmode="lin" valueType="num">
                                      <p:cBhvr>
                                        <p:cTn id="58" dur="136" fill="hold">
                                          <p:stCondLst>
                                            <p:cond delay="864"/>
                                          </p:stCondLst>
                                        </p:cTn>
                                        <p:tgtEl>
                                          <p:spTgt spid="26"/>
                                        </p:tgtEl>
                                        <p:attrNameLst>
                                          <p:attrName>ppt_y</p:attrName>
                                        </p:attrNameLst>
                                      </p:cBhvr>
                                      <p:tavLst>
                                        <p:tav tm="0">
                                          <p:val>
                                            <p:strVal val="#ppt_y-(0.354*#ppt_w-0.172*#ppt_h)"/>
                                          </p:val>
                                        </p:tav>
                                        <p:tav tm="100000">
                                          <p:val>
                                            <p:strVal val="#ppt_y"/>
                                          </p:val>
                                        </p:tav>
                                      </p:tavLst>
                                    </p:anim>
                                  </p:childTnLst>
                                </p:cTn>
                              </p:par>
                              <p:par>
                                <p:cTn id="59" presetID="38" presetClass="entr" presetSubtype="0" accel="50000" fill="hold" grpId="0" nodeType="withEffect">
                                  <p:stCondLst>
                                    <p:cond delay="0"/>
                                  </p:stCondLst>
                                  <p:iterate type="lt">
                                    <p:tmPct val="50000"/>
                                  </p:iterate>
                                  <p:childTnLst>
                                    <p:set>
                                      <p:cBhvr>
                                        <p:cTn id="60" dur="1" fill="hold">
                                          <p:stCondLst>
                                            <p:cond delay="0"/>
                                          </p:stCondLst>
                                        </p:cTn>
                                        <p:tgtEl>
                                          <p:spTgt spid="27"/>
                                        </p:tgtEl>
                                        <p:attrNameLst>
                                          <p:attrName>style.visibility</p:attrName>
                                        </p:attrNameLst>
                                      </p:cBhvr>
                                      <p:to>
                                        <p:strVal val="visible"/>
                                      </p:to>
                                    </p:set>
                                    <p:set>
                                      <p:cBhvr>
                                        <p:cTn id="61" dur="455" fill="hold">
                                          <p:stCondLst>
                                            <p:cond delay="0"/>
                                          </p:stCondLst>
                                        </p:cTn>
                                        <p:tgtEl>
                                          <p:spTgt spid="27"/>
                                        </p:tgtEl>
                                        <p:attrNameLst>
                                          <p:attrName>style.rotation</p:attrName>
                                        </p:attrNameLst>
                                      </p:cBhvr>
                                      <p:to>
                                        <p:strVal val="-45.0"/>
                                      </p:to>
                                    </p:set>
                                    <p:anim calcmode="lin" valueType="num">
                                      <p:cBhvr>
                                        <p:cTn id="62" dur="455" fill="hold">
                                          <p:stCondLst>
                                            <p:cond delay="455"/>
                                          </p:stCondLst>
                                        </p:cTn>
                                        <p:tgtEl>
                                          <p:spTgt spid="27"/>
                                        </p:tgtEl>
                                        <p:attrNameLst>
                                          <p:attrName>style.rotation</p:attrName>
                                        </p:attrNameLst>
                                      </p:cBhvr>
                                      <p:tavLst>
                                        <p:tav tm="0">
                                          <p:val>
                                            <p:fltVal val="-45"/>
                                          </p:val>
                                        </p:tav>
                                        <p:tav tm="69900">
                                          <p:val>
                                            <p:fltVal val="45"/>
                                          </p:val>
                                        </p:tav>
                                        <p:tav tm="100000">
                                          <p:val>
                                            <p:fltVal val="0"/>
                                          </p:val>
                                        </p:tav>
                                      </p:tavLst>
                                    </p:anim>
                                    <p:anim calcmode="lin" valueType="num">
                                      <p:cBhvr>
                                        <p:cTn id="63" dur="455" fill="hold">
                                          <p:stCondLst>
                                            <p:cond delay="0"/>
                                          </p:stCondLst>
                                        </p:cTn>
                                        <p:tgtEl>
                                          <p:spTgt spid="27"/>
                                        </p:tgtEl>
                                        <p:attrNameLst>
                                          <p:attrName>ppt_y</p:attrName>
                                        </p:attrNameLst>
                                      </p:cBhvr>
                                      <p:tavLst>
                                        <p:tav tm="0">
                                          <p:val>
                                            <p:strVal val="#ppt_y-1"/>
                                          </p:val>
                                        </p:tav>
                                        <p:tav tm="100000">
                                          <p:val>
                                            <p:strVal val="#ppt_y-(0.354*#ppt_w-0.172*#ppt_h)"/>
                                          </p:val>
                                        </p:tav>
                                      </p:tavLst>
                                    </p:anim>
                                    <p:anim calcmode="lin" valueType="num">
                                      <p:cBhvr>
                                        <p:cTn id="64" dur="156" decel="50000" autoRev="1" fill="hold">
                                          <p:stCondLst>
                                            <p:cond delay="455"/>
                                          </p:stCondLst>
                                        </p:cTn>
                                        <p:tgtEl>
                                          <p:spTgt spid="27"/>
                                        </p:tgtEl>
                                        <p:attrNameLst>
                                          <p:attrName>ppt_y</p:attrName>
                                        </p:attrNameLst>
                                      </p:cBhvr>
                                      <p:tavLst>
                                        <p:tav tm="0">
                                          <p:val>
                                            <p:strVal val="#ppt_y-(0.354*#ppt_w-0.172*#ppt_h)"/>
                                          </p:val>
                                        </p:tav>
                                        <p:tav tm="100000">
                                          <p:val>
                                            <p:strVal val="#ppt_y-(0.354*#ppt_w-0.172*#ppt_h)-#ppt_h/2"/>
                                          </p:val>
                                        </p:tav>
                                      </p:tavLst>
                                    </p:anim>
                                    <p:anim calcmode="lin" valueType="num">
                                      <p:cBhvr>
                                        <p:cTn id="65" dur="136" fill="hold">
                                          <p:stCondLst>
                                            <p:cond delay="864"/>
                                          </p:stCondLst>
                                        </p:cTn>
                                        <p:tgtEl>
                                          <p:spTgt spid="27"/>
                                        </p:tgtEl>
                                        <p:attrNameLst>
                                          <p:attrName>ppt_y</p:attrName>
                                        </p:attrNameLst>
                                      </p:cBhvr>
                                      <p:tavLst>
                                        <p:tav tm="0">
                                          <p:val>
                                            <p:strVal val="#ppt_y-(0.354*#ppt_w-0.172*#ppt_h)"/>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grpId="0" nodeType="clickEffect">
                                  <p:stCondLst>
                                    <p:cond delay="0"/>
                                  </p:stCondLst>
                                  <p:childTnLst>
                                    <p:set>
                                      <p:cBhvr>
                                        <p:cTn id="69" dur="1" fill="hold">
                                          <p:stCondLst>
                                            <p:cond delay="0"/>
                                          </p:stCondLst>
                                        </p:cTn>
                                        <p:tgtEl>
                                          <p:spTgt spid="28"/>
                                        </p:tgtEl>
                                        <p:attrNameLst>
                                          <p:attrName>style.visibility</p:attrName>
                                        </p:attrNameLst>
                                      </p:cBhvr>
                                      <p:to>
                                        <p:strVal val="visible"/>
                                      </p:to>
                                    </p:set>
                                    <p:animEffect transition="in" filter="wipe(left)">
                                      <p:cBhvr>
                                        <p:cTn id="70" dur="500"/>
                                        <p:tgtEl>
                                          <p:spTgt spid="28"/>
                                        </p:tgtEl>
                                      </p:cBhvr>
                                    </p:animEffect>
                                  </p:childTnLst>
                                </p:cTn>
                              </p:par>
                            </p:childTnLst>
                          </p:cTn>
                        </p:par>
                      </p:childTnLst>
                    </p:cTn>
                  </p:par>
                  <p:par>
                    <p:cTn id="71" fill="hold">
                      <p:stCondLst>
                        <p:cond delay="indefinite"/>
                      </p:stCondLst>
                      <p:childTnLst>
                        <p:par>
                          <p:cTn id="72" fill="hold">
                            <p:stCondLst>
                              <p:cond delay="0"/>
                            </p:stCondLst>
                            <p:childTnLst>
                              <p:par>
                                <p:cTn id="73" presetID="38" presetClass="entr" presetSubtype="0" accel="50000" fill="hold" nodeType="clickEffect">
                                  <p:stCondLst>
                                    <p:cond delay="0"/>
                                  </p:stCondLst>
                                  <p:iterate type="lt">
                                    <p:tmPct val="50000"/>
                                  </p:iterate>
                                  <p:childTnLst>
                                    <p:set>
                                      <p:cBhvr>
                                        <p:cTn id="74" dur="1" fill="hold">
                                          <p:stCondLst>
                                            <p:cond delay="0"/>
                                          </p:stCondLst>
                                        </p:cTn>
                                        <p:tgtEl>
                                          <p:spTgt spid="29"/>
                                        </p:tgtEl>
                                        <p:attrNameLst>
                                          <p:attrName>style.visibility</p:attrName>
                                        </p:attrNameLst>
                                      </p:cBhvr>
                                      <p:to>
                                        <p:strVal val="visible"/>
                                      </p:to>
                                    </p:set>
                                    <p:set>
                                      <p:cBhvr>
                                        <p:cTn id="75" dur="455" fill="hold">
                                          <p:stCondLst>
                                            <p:cond delay="0"/>
                                          </p:stCondLst>
                                        </p:cTn>
                                        <p:tgtEl>
                                          <p:spTgt spid="29"/>
                                        </p:tgtEl>
                                        <p:attrNameLst>
                                          <p:attrName>style.rotation</p:attrName>
                                        </p:attrNameLst>
                                      </p:cBhvr>
                                      <p:to>
                                        <p:strVal val="-45.0"/>
                                      </p:to>
                                    </p:set>
                                    <p:anim calcmode="lin" valueType="num">
                                      <p:cBhvr>
                                        <p:cTn id="76" dur="455" fill="hold">
                                          <p:stCondLst>
                                            <p:cond delay="455"/>
                                          </p:stCondLst>
                                        </p:cTn>
                                        <p:tgtEl>
                                          <p:spTgt spid="29"/>
                                        </p:tgtEl>
                                        <p:attrNameLst>
                                          <p:attrName>style.rotation</p:attrName>
                                        </p:attrNameLst>
                                      </p:cBhvr>
                                      <p:tavLst>
                                        <p:tav tm="0">
                                          <p:val>
                                            <p:fltVal val="-45"/>
                                          </p:val>
                                        </p:tav>
                                        <p:tav tm="69900">
                                          <p:val>
                                            <p:fltVal val="45"/>
                                          </p:val>
                                        </p:tav>
                                        <p:tav tm="100000">
                                          <p:val>
                                            <p:fltVal val="0"/>
                                          </p:val>
                                        </p:tav>
                                      </p:tavLst>
                                    </p:anim>
                                    <p:anim calcmode="lin" valueType="num">
                                      <p:cBhvr>
                                        <p:cTn id="77" dur="455" fill="hold">
                                          <p:stCondLst>
                                            <p:cond delay="0"/>
                                          </p:stCondLst>
                                        </p:cTn>
                                        <p:tgtEl>
                                          <p:spTgt spid="29"/>
                                        </p:tgtEl>
                                        <p:attrNameLst>
                                          <p:attrName>ppt_y</p:attrName>
                                        </p:attrNameLst>
                                      </p:cBhvr>
                                      <p:tavLst>
                                        <p:tav tm="0">
                                          <p:val>
                                            <p:strVal val="#ppt_y-1"/>
                                          </p:val>
                                        </p:tav>
                                        <p:tav tm="100000">
                                          <p:val>
                                            <p:strVal val="#ppt_y-(0.354*#ppt_w-0.172*#ppt_h)"/>
                                          </p:val>
                                        </p:tav>
                                      </p:tavLst>
                                    </p:anim>
                                    <p:anim calcmode="lin" valueType="num">
                                      <p:cBhvr>
                                        <p:cTn id="78" dur="156" decel="50000" autoRev="1" fill="hold">
                                          <p:stCondLst>
                                            <p:cond delay="455"/>
                                          </p:stCondLst>
                                        </p:cTn>
                                        <p:tgtEl>
                                          <p:spTgt spid="29"/>
                                        </p:tgtEl>
                                        <p:attrNameLst>
                                          <p:attrName>ppt_y</p:attrName>
                                        </p:attrNameLst>
                                      </p:cBhvr>
                                      <p:tavLst>
                                        <p:tav tm="0">
                                          <p:val>
                                            <p:strVal val="#ppt_y-(0.354*#ppt_w-0.172*#ppt_h)"/>
                                          </p:val>
                                        </p:tav>
                                        <p:tav tm="100000">
                                          <p:val>
                                            <p:strVal val="#ppt_y-(0.354*#ppt_w-0.172*#ppt_h)-#ppt_h/2"/>
                                          </p:val>
                                        </p:tav>
                                      </p:tavLst>
                                    </p:anim>
                                    <p:anim calcmode="lin" valueType="num">
                                      <p:cBhvr>
                                        <p:cTn id="79" dur="136" fill="hold">
                                          <p:stCondLst>
                                            <p:cond delay="864"/>
                                          </p:stCondLst>
                                        </p:cTn>
                                        <p:tgtEl>
                                          <p:spTgt spid="29"/>
                                        </p:tgtEl>
                                        <p:attrNameLst>
                                          <p:attrName>ppt_y</p:attrName>
                                        </p:attrNameLst>
                                      </p:cBhvr>
                                      <p:tavLst>
                                        <p:tav tm="0">
                                          <p:val>
                                            <p:strVal val="#ppt_y-(0.354*#ppt_w-0.172*#ppt_h)"/>
                                          </p:val>
                                        </p:tav>
                                        <p:tav tm="100000">
                                          <p:val>
                                            <p:strVal val="#ppt_y"/>
                                          </p:val>
                                        </p:tav>
                                      </p:tavLst>
                                    </p:anim>
                                  </p:childTnLst>
                                </p:cTn>
                              </p:par>
                              <p:par>
                                <p:cTn id="80" presetID="38" presetClass="entr" presetSubtype="0" accel="50000" fill="hold" grpId="0" nodeType="withEffect">
                                  <p:stCondLst>
                                    <p:cond delay="0"/>
                                  </p:stCondLst>
                                  <p:iterate type="lt">
                                    <p:tmPct val="50000"/>
                                  </p:iterate>
                                  <p:childTnLst>
                                    <p:set>
                                      <p:cBhvr>
                                        <p:cTn id="81" dur="1" fill="hold">
                                          <p:stCondLst>
                                            <p:cond delay="0"/>
                                          </p:stCondLst>
                                        </p:cTn>
                                        <p:tgtEl>
                                          <p:spTgt spid="30"/>
                                        </p:tgtEl>
                                        <p:attrNameLst>
                                          <p:attrName>style.visibility</p:attrName>
                                        </p:attrNameLst>
                                      </p:cBhvr>
                                      <p:to>
                                        <p:strVal val="visible"/>
                                      </p:to>
                                    </p:set>
                                    <p:set>
                                      <p:cBhvr>
                                        <p:cTn id="82" dur="455" fill="hold">
                                          <p:stCondLst>
                                            <p:cond delay="0"/>
                                          </p:stCondLst>
                                        </p:cTn>
                                        <p:tgtEl>
                                          <p:spTgt spid="30"/>
                                        </p:tgtEl>
                                        <p:attrNameLst>
                                          <p:attrName>style.rotation</p:attrName>
                                        </p:attrNameLst>
                                      </p:cBhvr>
                                      <p:to>
                                        <p:strVal val="-45.0"/>
                                      </p:to>
                                    </p:set>
                                    <p:anim calcmode="lin" valueType="num">
                                      <p:cBhvr>
                                        <p:cTn id="83" dur="455" fill="hold">
                                          <p:stCondLst>
                                            <p:cond delay="455"/>
                                          </p:stCondLst>
                                        </p:cTn>
                                        <p:tgtEl>
                                          <p:spTgt spid="30"/>
                                        </p:tgtEl>
                                        <p:attrNameLst>
                                          <p:attrName>style.rotation</p:attrName>
                                        </p:attrNameLst>
                                      </p:cBhvr>
                                      <p:tavLst>
                                        <p:tav tm="0">
                                          <p:val>
                                            <p:fltVal val="-45"/>
                                          </p:val>
                                        </p:tav>
                                        <p:tav tm="69900">
                                          <p:val>
                                            <p:fltVal val="45"/>
                                          </p:val>
                                        </p:tav>
                                        <p:tav tm="100000">
                                          <p:val>
                                            <p:fltVal val="0"/>
                                          </p:val>
                                        </p:tav>
                                      </p:tavLst>
                                    </p:anim>
                                    <p:anim calcmode="lin" valueType="num">
                                      <p:cBhvr>
                                        <p:cTn id="84" dur="455" fill="hold">
                                          <p:stCondLst>
                                            <p:cond delay="0"/>
                                          </p:stCondLst>
                                        </p:cTn>
                                        <p:tgtEl>
                                          <p:spTgt spid="30"/>
                                        </p:tgtEl>
                                        <p:attrNameLst>
                                          <p:attrName>ppt_y</p:attrName>
                                        </p:attrNameLst>
                                      </p:cBhvr>
                                      <p:tavLst>
                                        <p:tav tm="0">
                                          <p:val>
                                            <p:strVal val="#ppt_y-1"/>
                                          </p:val>
                                        </p:tav>
                                        <p:tav tm="100000">
                                          <p:val>
                                            <p:strVal val="#ppt_y-(0.354*#ppt_w-0.172*#ppt_h)"/>
                                          </p:val>
                                        </p:tav>
                                      </p:tavLst>
                                    </p:anim>
                                    <p:anim calcmode="lin" valueType="num">
                                      <p:cBhvr>
                                        <p:cTn id="85" dur="156" decel="50000" autoRev="1" fill="hold">
                                          <p:stCondLst>
                                            <p:cond delay="455"/>
                                          </p:stCondLst>
                                        </p:cTn>
                                        <p:tgtEl>
                                          <p:spTgt spid="30"/>
                                        </p:tgtEl>
                                        <p:attrNameLst>
                                          <p:attrName>ppt_y</p:attrName>
                                        </p:attrNameLst>
                                      </p:cBhvr>
                                      <p:tavLst>
                                        <p:tav tm="0">
                                          <p:val>
                                            <p:strVal val="#ppt_y-(0.354*#ppt_w-0.172*#ppt_h)"/>
                                          </p:val>
                                        </p:tav>
                                        <p:tav tm="100000">
                                          <p:val>
                                            <p:strVal val="#ppt_y-(0.354*#ppt_w-0.172*#ppt_h)-#ppt_h/2"/>
                                          </p:val>
                                        </p:tav>
                                      </p:tavLst>
                                    </p:anim>
                                    <p:anim calcmode="lin" valueType="num">
                                      <p:cBhvr>
                                        <p:cTn id="86" dur="136" fill="hold">
                                          <p:stCondLst>
                                            <p:cond delay="864"/>
                                          </p:stCondLst>
                                        </p:cTn>
                                        <p:tgtEl>
                                          <p:spTgt spid="30"/>
                                        </p:tgtEl>
                                        <p:attrNameLst>
                                          <p:attrName>ppt_y</p:attrName>
                                        </p:attrNameLst>
                                      </p:cBhvr>
                                      <p:tavLst>
                                        <p:tav tm="0">
                                          <p:val>
                                            <p:strVal val="#ppt_y-(0.354*#ppt_w-0.172*#ppt_h)"/>
                                          </p:val>
                                        </p:tav>
                                        <p:tav tm="100000">
                                          <p:val>
                                            <p:strVal val="#ppt_y"/>
                                          </p:val>
                                        </p:tav>
                                      </p:tavLst>
                                    </p:anim>
                                  </p:childTnLst>
                                </p:cTn>
                              </p:par>
                              <p:par>
                                <p:cTn id="87" presetID="38" presetClass="entr" presetSubtype="0" accel="50000" fill="hold" grpId="0" nodeType="withEffect">
                                  <p:stCondLst>
                                    <p:cond delay="0"/>
                                  </p:stCondLst>
                                  <p:iterate type="lt">
                                    <p:tmPct val="50000"/>
                                  </p:iterate>
                                  <p:childTnLst>
                                    <p:set>
                                      <p:cBhvr>
                                        <p:cTn id="88" dur="1" fill="hold">
                                          <p:stCondLst>
                                            <p:cond delay="0"/>
                                          </p:stCondLst>
                                        </p:cTn>
                                        <p:tgtEl>
                                          <p:spTgt spid="31"/>
                                        </p:tgtEl>
                                        <p:attrNameLst>
                                          <p:attrName>style.visibility</p:attrName>
                                        </p:attrNameLst>
                                      </p:cBhvr>
                                      <p:to>
                                        <p:strVal val="visible"/>
                                      </p:to>
                                    </p:set>
                                    <p:set>
                                      <p:cBhvr>
                                        <p:cTn id="89" dur="455" fill="hold">
                                          <p:stCondLst>
                                            <p:cond delay="0"/>
                                          </p:stCondLst>
                                        </p:cTn>
                                        <p:tgtEl>
                                          <p:spTgt spid="31"/>
                                        </p:tgtEl>
                                        <p:attrNameLst>
                                          <p:attrName>style.rotation</p:attrName>
                                        </p:attrNameLst>
                                      </p:cBhvr>
                                      <p:to>
                                        <p:strVal val="-45.0"/>
                                      </p:to>
                                    </p:set>
                                    <p:anim calcmode="lin" valueType="num">
                                      <p:cBhvr>
                                        <p:cTn id="90" dur="455" fill="hold">
                                          <p:stCondLst>
                                            <p:cond delay="455"/>
                                          </p:stCondLst>
                                        </p:cTn>
                                        <p:tgtEl>
                                          <p:spTgt spid="31"/>
                                        </p:tgtEl>
                                        <p:attrNameLst>
                                          <p:attrName>style.rotation</p:attrName>
                                        </p:attrNameLst>
                                      </p:cBhvr>
                                      <p:tavLst>
                                        <p:tav tm="0">
                                          <p:val>
                                            <p:fltVal val="-45"/>
                                          </p:val>
                                        </p:tav>
                                        <p:tav tm="69900">
                                          <p:val>
                                            <p:fltVal val="45"/>
                                          </p:val>
                                        </p:tav>
                                        <p:tav tm="100000">
                                          <p:val>
                                            <p:fltVal val="0"/>
                                          </p:val>
                                        </p:tav>
                                      </p:tavLst>
                                    </p:anim>
                                    <p:anim calcmode="lin" valueType="num">
                                      <p:cBhvr>
                                        <p:cTn id="91" dur="455" fill="hold">
                                          <p:stCondLst>
                                            <p:cond delay="0"/>
                                          </p:stCondLst>
                                        </p:cTn>
                                        <p:tgtEl>
                                          <p:spTgt spid="31"/>
                                        </p:tgtEl>
                                        <p:attrNameLst>
                                          <p:attrName>ppt_y</p:attrName>
                                        </p:attrNameLst>
                                      </p:cBhvr>
                                      <p:tavLst>
                                        <p:tav tm="0">
                                          <p:val>
                                            <p:strVal val="#ppt_y-1"/>
                                          </p:val>
                                        </p:tav>
                                        <p:tav tm="100000">
                                          <p:val>
                                            <p:strVal val="#ppt_y-(0.354*#ppt_w-0.172*#ppt_h)"/>
                                          </p:val>
                                        </p:tav>
                                      </p:tavLst>
                                    </p:anim>
                                    <p:anim calcmode="lin" valueType="num">
                                      <p:cBhvr>
                                        <p:cTn id="92" dur="156" decel="50000" autoRev="1" fill="hold">
                                          <p:stCondLst>
                                            <p:cond delay="455"/>
                                          </p:stCondLst>
                                        </p:cTn>
                                        <p:tgtEl>
                                          <p:spTgt spid="31"/>
                                        </p:tgtEl>
                                        <p:attrNameLst>
                                          <p:attrName>ppt_y</p:attrName>
                                        </p:attrNameLst>
                                      </p:cBhvr>
                                      <p:tavLst>
                                        <p:tav tm="0">
                                          <p:val>
                                            <p:strVal val="#ppt_y-(0.354*#ppt_w-0.172*#ppt_h)"/>
                                          </p:val>
                                        </p:tav>
                                        <p:tav tm="100000">
                                          <p:val>
                                            <p:strVal val="#ppt_y-(0.354*#ppt_w-0.172*#ppt_h)-#ppt_h/2"/>
                                          </p:val>
                                        </p:tav>
                                      </p:tavLst>
                                    </p:anim>
                                    <p:anim calcmode="lin" valueType="num">
                                      <p:cBhvr>
                                        <p:cTn id="93" dur="136" fill="hold">
                                          <p:stCondLst>
                                            <p:cond delay="864"/>
                                          </p:stCondLst>
                                        </p:cTn>
                                        <p:tgtEl>
                                          <p:spTgt spid="31"/>
                                        </p:tgtEl>
                                        <p:attrNameLst>
                                          <p:attrName>ppt_y</p:attrName>
                                        </p:attrNameLst>
                                      </p:cBhvr>
                                      <p:tavLst>
                                        <p:tav tm="0">
                                          <p:val>
                                            <p:strVal val="#ppt_y-(0.354*#ppt_w-0.172*#ppt_h)"/>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22" presetClass="entr" presetSubtype="8" fill="hold" grpId="0" nodeType="click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wipe(left)">
                                      <p:cBhvr>
                                        <p:cTn id="98" dur="500"/>
                                        <p:tgtEl>
                                          <p:spTgt spid="32"/>
                                        </p:tgtEl>
                                      </p:cBhvr>
                                    </p:animEffect>
                                  </p:childTnLst>
                                </p:cTn>
                              </p:par>
                            </p:childTnLst>
                          </p:cTn>
                        </p:par>
                      </p:childTnLst>
                    </p:cTn>
                  </p:par>
                  <p:par>
                    <p:cTn id="99" fill="hold">
                      <p:stCondLst>
                        <p:cond delay="indefinite"/>
                      </p:stCondLst>
                      <p:childTnLst>
                        <p:par>
                          <p:cTn id="100" fill="hold">
                            <p:stCondLst>
                              <p:cond delay="0"/>
                            </p:stCondLst>
                            <p:childTnLst>
                              <p:par>
                                <p:cTn id="101" presetID="38" presetClass="entr" presetSubtype="0" accel="50000" fill="hold" nodeType="clickEffect">
                                  <p:stCondLst>
                                    <p:cond delay="0"/>
                                  </p:stCondLst>
                                  <p:iterate type="lt">
                                    <p:tmPct val="50000"/>
                                  </p:iterate>
                                  <p:childTnLst>
                                    <p:set>
                                      <p:cBhvr>
                                        <p:cTn id="102" dur="1" fill="hold">
                                          <p:stCondLst>
                                            <p:cond delay="0"/>
                                          </p:stCondLst>
                                        </p:cTn>
                                        <p:tgtEl>
                                          <p:spTgt spid="33"/>
                                        </p:tgtEl>
                                        <p:attrNameLst>
                                          <p:attrName>style.visibility</p:attrName>
                                        </p:attrNameLst>
                                      </p:cBhvr>
                                      <p:to>
                                        <p:strVal val="visible"/>
                                      </p:to>
                                    </p:set>
                                    <p:set>
                                      <p:cBhvr>
                                        <p:cTn id="103" dur="455" fill="hold">
                                          <p:stCondLst>
                                            <p:cond delay="0"/>
                                          </p:stCondLst>
                                        </p:cTn>
                                        <p:tgtEl>
                                          <p:spTgt spid="33"/>
                                        </p:tgtEl>
                                        <p:attrNameLst>
                                          <p:attrName>style.rotation</p:attrName>
                                        </p:attrNameLst>
                                      </p:cBhvr>
                                      <p:to>
                                        <p:strVal val="-45.0"/>
                                      </p:to>
                                    </p:set>
                                    <p:anim calcmode="lin" valueType="num">
                                      <p:cBhvr>
                                        <p:cTn id="104" dur="455" fill="hold">
                                          <p:stCondLst>
                                            <p:cond delay="455"/>
                                          </p:stCondLst>
                                        </p:cTn>
                                        <p:tgtEl>
                                          <p:spTgt spid="33"/>
                                        </p:tgtEl>
                                        <p:attrNameLst>
                                          <p:attrName>style.rotation</p:attrName>
                                        </p:attrNameLst>
                                      </p:cBhvr>
                                      <p:tavLst>
                                        <p:tav tm="0">
                                          <p:val>
                                            <p:fltVal val="-45"/>
                                          </p:val>
                                        </p:tav>
                                        <p:tav tm="69900">
                                          <p:val>
                                            <p:fltVal val="45"/>
                                          </p:val>
                                        </p:tav>
                                        <p:tav tm="100000">
                                          <p:val>
                                            <p:fltVal val="0"/>
                                          </p:val>
                                        </p:tav>
                                      </p:tavLst>
                                    </p:anim>
                                    <p:anim calcmode="lin" valueType="num">
                                      <p:cBhvr>
                                        <p:cTn id="105" dur="455" fill="hold">
                                          <p:stCondLst>
                                            <p:cond delay="0"/>
                                          </p:stCondLst>
                                        </p:cTn>
                                        <p:tgtEl>
                                          <p:spTgt spid="33"/>
                                        </p:tgtEl>
                                        <p:attrNameLst>
                                          <p:attrName>ppt_y</p:attrName>
                                        </p:attrNameLst>
                                      </p:cBhvr>
                                      <p:tavLst>
                                        <p:tav tm="0">
                                          <p:val>
                                            <p:strVal val="#ppt_y-1"/>
                                          </p:val>
                                        </p:tav>
                                        <p:tav tm="100000">
                                          <p:val>
                                            <p:strVal val="#ppt_y-(0.354*#ppt_w-0.172*#ppt_h)"/>
                                          </p:val>
                                        </p:tav>
                                      </p:tavLst>
                                    </p:anim>
                                    <p:anim calcmode="lin" valueType="num">
                                      <p:cBhvr>
                                        <p:cTn id="106" dur="156" decel="50000" autoRev="1" fill="hold">
                                          <p:stCondLst>
                                            <p:cond delay="455"/>
                                          </p:stCondLst>
                                        </p:cTn>
                                        <p:tgtEl>
                                          <p:spTgt spid="33"/>
                                        </p:tgtEl>
                                        <p:attrNameLst>
                                          <p:attrName>ppt_y</p:attrName>
                                        </p:attrNameLst>
                                      </p:cBhvr>
                                      <p:tavLst>
                                        <p:tav tm="0">
                                          <p:val>
                                            <p:strVal val="#ppt_y-(0.354*#ppt_w-0.172*#ppt_h)"/>
                                          </p:val>
                                        </p:tav>
                                        <p:tav tm="100000">
                                          <p:val>
                                            <p:strVal val="#ppt_y-(0.354*#ppt_w-0.172*#ppt_h)-#ppt_h/2"/>
                                          </p:val>
                                        </p:tav>
                                      </p:tavLst>
                                    </p:anim>
                                    <p:anim calcmode="lin" valueType="num">
                                      <p:cBhvr>
                                        <p:cTn id="107" dur="136" fill="hold">
                                          <p:stCondLst>
                                            <p:cond delay="864"/>
                                          </p:stCondLst>
                                        </p:cTn>
                                        <p:tgtEl>
                                          <p:spTgt spid="33"/>
                                        </p:tgtEl>
                                        <p:attrNameLst>
                                          <p:attrName>ppt_y</p:attrName>
                                        </p:attrNameLst>
                                      </p:cBhvr>
                                      <p:tavLst>
                                        <p:tav tm="0">
                                          <p:val>
                                            <p:strVal val="#ppt_y-(0.354*#ppt_w-0.172*#ppt_h)"/>
                                          </p:val>
                                        </p:tav>
                                        <p:tav tm="100000">
                                          <p:val>
                                            <p:strVal val="#ppt_y"/>
                                          </p:val>
                                        </p:tav>
                                      </p:tavLst>
                                    </p:anim>
                                  </p:childTnLst>
                                </p:cTn>
                              </p:par>
                              <p:par>
                                <p:cTn id="108" presetID="38" presetClass="entr" presetSubtype="0" accel="50000" fill="hold" grpId="0" nodeType="withEffect">
                                  <p:stCondLst>
                                    <p:cond delay="0"/>
                                  </p:stCondLst>
                                  <p:iterate type="lt">
                                    <p:tmPct val="50000"/>
                                  </p:iterate>
                                  <p:childTnLst>
                                    <p:set>
                                      <p:cBhvr>
                                        <p:cTn id="109" dur="1" fill="hold">
                                          <p:stCondLst>
                                            <p:cond delay="0"/>
                                          </p:stCondLst>
                                        </p:cTn>
                                        <p:tgtEl>
                                          <p:spTgt spid="34"/>
                                        </p:tgtEl>
                                        <p:attrNameLst>
                                          <p:attrName>style.visibility</p:attrName>
                                        </p:attrNameLst>
                                      </p:cBhvr>
                                      <p:to>
                                        <p:strVal val="visible"/>
                                      </p:to>
                                    </p:set>
                                    <p:set>
                                      <p:cBhvr>
                                        <p:cTn id="110" dur="455" fill="hold">
                                          <p:stCondLst>
                                            <p:cond delay="0"/>
                                          </p:stCondLst>
                                        </p:cTn>
                                        <p:tgtEl>
                                          <p:spTgt spid="34"/>
                                        </p:tgtEl>
                                        <p:attrNameLst>
                                          <p:attrName>style.rotation</p:attrName>
                                        </p:attrNameLst>
                                      </p:cBhvr>
                                      <p:to>
                                        <p:strVal val="-45.0"/>
                                      </p:to>
                                    </p:set>
                                    <p:anim calcmode="lin" valueType="num">
                                      <p:cBhvr>
                                        <p:cTn id="111" dur="455" fill="hold">
                                          <p:stCondLst>
                                            <p:cond delay="455"/>
                                          </p:stCondLst>
                                        </p:cTn>
                                        <p:tgtEl>
                                          <p:spTgt spid="34"/>
                                        </p:tgtEl>
                                        <p:attrNameLst>
                                          <p:attrName>style.rotation</p:attrName>
                                        </p:attrNameLst>
                                      </p:cBhvr>
                                      <p:tavLst>
                                        <p:tav tm="0">
                                          <p:val>
                                            <p:fltVal val="-45"/>
                                          </p:val>
                                        </p:tav>
                                        <p:tav tm="69900">
                                          <p:val>
                                            <p:fltVal val="45"/>
                                          </p:val>
                                        </p:tav>
                                        <p:tav tm="100000">
                                          <p:val>
                                            <p:fltVal val="0"/>
                                          </p:val>
                                        </p:tav>
                                      </p:tavLst>
                                    </p:anim>
                                    <p:anim calcmode="lin" valueType="num">
                                      <p:cBhvr>
                                        <p:cTn id="112" dur="455" fill="hold">
                                          <p:stCondLst>
                                            <p:cond delay="0"/>
                                          </p:stCondLst>
                                        </p:cTn>
                                        <p:tgtEl>
                                          <p:spTgt spid="34"/>
                                        </p:tgtEl>
                                        <p:attrNameLst>
                                          <p:attrName>ppt_y</p:attrName>
                                        </p:attrNameLst>
                                      </p:cBhvr>
                                      <p:tavLst>
                                        <p:tav tm="0">
                                          <p:val>
                                            <p:strVal val="#ppt_y-1"/>
                                          </p:val>
                                        </p:tav>
                                        <p:tav tm="100000">
                                          <p:val>
                                            <p:strVal val="#ppt_y-(0.354*#ppt_w-0.172*#ppt_h)"/>
                                          </p:val>
                                        </p:tav>
                                      </p:tavLst>
                                    </p:anim>
                                    <p:anim calcmode="lin" valueType="num">
                                      <p:cBhvr>
                                        <p:cTn id="113" dur="156" decel="50000" autoRev="1" fill="hold">
                                          <p:stCondLst>
                                            <p:cond delay="455"/>
                                          </p:stCondLst>
                                        </p:cTn>
                                        <p:tgtEl>
                                          <p:spTgt spid="34"/>
                                        </p:tgtEl>
                                        <p:attrNameLst>
                                          <p:attrName>ppt_y</p:attrName>
                                        </p:attrNameLst>
                                      </p:cBhvr>
                                      <p:tavLst>
                                        <p:tav tm="0">
                                          <p:val>
                                            <p:strVal val="#ppt_y-(0.354*#ppt_w-0.172*#ppt_h)"/>
                                          </p:val>
                                        </p:tav>
                                        <p:tav tm="100000">
                                          <p:val>
                                            <p:strVal val="#ppt_y-(0.354*#ppt_w-0.172*#ppt_h)-#ppt_h/2"/>
                                          </p:val>
                                        </p:tav>
                                      </p:tavLst>
                                    </p:anim>
                                    <p:anim calcmode="lin" valueType="num">
                                      <p:cBhvr>
                                        <p:cTn id="114" dur="136" fill="hold">
                                          <p:stCondLst>
                                            <p:cond delay="864"/>
                                          </p:stCondLst>
                                        </p:cTn>
                                        <p:tgtEl>
                                          <p:spTgt spid="34"/>
                                        </p:tgtEl>
                                        <p:attrNameLst>
                                          <p:attrName>ppt_y</p:attrName>
                                        </p:attrNameLst>
                                      </p:cBhvr>
                                      <p:tavLst>
                                        <p:tav tm="0">
                                          <p:val>
                                            <p:strVal val="#ppt_y-(0.354*#ppt_w-0.172*#ppt_h)"/>
                                          </p:val>
                                        </p:tav>
                                        <p:tav tm="100000">
                                          <p:val>
                                            <p:strVal val="#ppt_y"/>
                                          </p:val>
                                        </p:tav>
                                      </p:tavLst>
                                    </p:anim>
                                  </p:childTnLst>
                                </p:cTn>
                              </p:par>
                              <p:par>
                                <p:cTn id="115" presetID="38" presetClass="entr" presetSubtype="0" accel="50000" fill="hold" grpId="0" nodeType="withEffect">
                                  <p:stCondLst>
                                    <p:cond delay="0"/>
                                  </p:stCondLst>
                                  <p:iterate type="lt">
                                    <p:tmPct val="50000"/>
                                  </p:iterate>
                                  <p:childTnLst>
                                    <p:set>
                                      <p:cBhvr>
                                        <p:cTn id="116" dur="1" fill="hold">
                                          <p:stCondLst>
                                            <p:cond delay="0"/>
                                          </p:stCondLst>
                                        </p:cTn>
                                        <p:tgtEl>
                                          <p:spTgt spid="35"/>
                                        </p:tgtEl>
                                        <p:attrNameLst>
                                          <p:attrName>style.visibility</p:attrName>
                                        </p:attrNameLst>
                                      </p:cBhvr>
                                      <p:to>
                                        <p:strVal val="visible"/>
                                      </p:to>
                                    </p:set>
                                    <p:set>
                                      <p:cBhvr>
                                        <p:cTn id="117" dur="455" fill="hold">
                                          <p:stCondLst>
                                            <p:cond delay="0"/>
                                          </p:stCondLst>
                                        </p:cTn>
                                        <p:tgtEl>
                                          <p:spTgt spid="35"/>
                                        </p:tgtEl>
                                        <p:attrNameLst>
                                          <p:attrName>style.rotation</p:attrName>
                                        </p:attrNameLst>
                                      </p:cBhvr>
                                      <p:to>
                                        <p:strVal val="-45.0"/>
                                      </p:to>
                                    </p:set>
                                    <p:anim calcmode="lin" valueType="num">
                                      <p:cBhvr>
                                        <p:cTn id="118" dur="455" fill="hold">
                                          <p:stCondLst>
                                            <p:cond delay="455"/>
                                          </p:stCondLst>
                                        </p:cTn>
                                        <p:tgtEl>
                                          <p:spTgt spid="35"/>
                                        </p:tgtEl>
                                        <p:attrNameLst>
                                          <p:attrName>style.rotation</p:attrName>
                                        </p:attrNameLst>
                                      </p:cBhvr>
                                      <p:tavLst>
                                        <p:tav tm="0">
                                          <p:val>
                                            <p:fltVal val="-45"/>
                                          </p:val>
                                        </p:tav>
                                        <p:tav tm="69900">
                                          <p:val>
                                            <p:fltVal val="45"/>
                                          </p:val>
                                        </p:tav>
                                        <p:tav tm="100000">
                                          <p:val>
                                            <p:fltVal val="0"/>
                                          </p:val>
                                        </p:tav>
                                      </p:tavLst>
                                    </p:anim>
                                    <p:anim calcmode="lin" valueType="num">
                                      <p:cBhvr>
                                        <p:cTn id="119" dur="455" fill="hold">
                                          <p:stCondLst>
                                            <p:cond delay="0"/>
                                          </p:stCondLst>
                                        </p:cTn>
                                        <p:tgtEl>
                                          <p:spTgt spid="35"/>
                                        </p:tgtEl>
                                        <p:attrNameLst>
                                          <p:attrName>ppt_y</p:attrName>
                                        </p:attrNameLst>
                                      </p:cBhvr>
                                      <p:tavLst>
                                        <p:tav tm="0">
                                          <p:val>
                                            <p:strVal val="#ppt_y-1"/>
                                          </p:val>
                                        </p:tav>
                                        <p:tav tm="100000">
                                          <p:val>
                                            <p:strVal val="#ppt_y-(0.354*#ppt_w-0.172*#ppt_h)"/>
                                          </p:val>
                                        </p:tav>
                                      </p:tavLst>
                                    </p:anim>
                                    <p:anim calcmode="lin" valueType="num">
                                      <p:cBhvr>
                                        <p:cTn id="120" dur="156" decel="50000" autoRev="1" fill="hold">
                                          <p:stCondLst>
                                            <p:cond delay="455"/>
                                          </p:stCondLst>
                                        </p:cTn>
                                        <p:tgtEl>
                                          <p:spTgt spid="35"/>
                                        </p:tgtEl>
                                        <p:attrNameLst>
                                          <p:attrName>ppt_y</p:attrName>
                                        </p:attrNameLst>
                                      </p:cBhvr>
                                      <p:tavLst>
                                        <p:tav tm="0">
                                          <p:val>
                                            <p:strVal val="#ppt_y-(0.354*#ppt_w-0.172*#ppt_h)"/>
                                          </p:val>
                                        </p:tav>
                                        <p:tav tm="100000">
                                          <p:val>
                                            <p:strVal val="#ppt_y-(0.354*#ppt_w-0.172*#ppt_h)-#ppt_h/2"/>
                                          </p:val>
                                        </p:tav>
                                      </p:tavLst>
                                    </p:anim>
                                    <p:anim calcmode="lin" valueType="num">
                                      <p:cBhvr>
                                        <p:cTn id="121" dur="136" fill="hold">
                                          <p:stCondLst>
                                            <p:cond delay="864"/>
                                          </p:stCondLst>
                                        </p:cTn>
                                        <p:tgtEl>
                                          <p:spTgt spid="35"/>
                                        </p:tgtEl>
                                        <p:attrNameLst>
                                          <p:attrName>ppt_y</p:attrName>
                                        </p:attrNameLst>
                                      </p:cBhvr>
                                      <p:tavLst>
                                        <p:tav tm="0">
                                          <p:val>
                                            <p:strVal val="#ppt_y-(0.354*#ppt_w-0.172*#ppt_h)"/>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22" presetClass="entr" presetSubtype="8" fill="hold" grpId="0" nodeType="clickEffect">
                                  <p:stCondLst>
                                    <p:cond delay="0"/>
                                  </p:stCondLst>
                                  <p:childTnLst>
                                    <p:set>
                                      <p:cBhvr>
                                        <p:cTn id="125" dur="1" fill="hold">
                                          <p:stCondLst>
                                            <p:cond delay="0"/>
                                          </p:stCondLst>
                                        </p:cTn>
                                        <p:tgtEl>
                                          <p:spTgt spid="36"/>
                                        </p:tgtEl>
                                        <p:attrNameLst>
                                          <p:attrName>style.visibility</p:attrName>
                                        </p:attrNameLst>
                                      </p:cBhvr>
                                      <p:to>
                                        <p:strVal val="visible"/>
                                      </p:to>
                                    </p:set>
                                    <p:animEffect transition="in" filter="wipe(left)">
                                      <p:cBhvr>
                                        <p:cTn id="126" dur="500"/>
                                        <p:tgtEl>
                                          <p:spTgt spid="36"/>
                                        </p:tgtEl>
                                      </p:cBhvr>
                                    </p:animEffect>
                                  </p:childTnLst>
                                </p:cTn>
                              </p:par>
                            </p:childTnLst>
                          </p:cTn>
                        </p:par>
                      </p:childTnLst>
                    </p:cTn>
                  </p:par>
                  <p:par>
                    <p:cTn id="127" fill="hold">
                      <p:stCondLst>
                        <p:cond delay="indefinite"/>
                      </p:stCondLst>
                      <p:childTnLst>
                        <p:par>
                          <p:cTn id="128" fill="hold">
                            <p:stCondLst>
                              <p:cond delay="0"/>
                            </p:stCondLst>
                            <p:childTnLst>
                              <p:par>
                                <p:cTn id="129" presetID="45" presetClass="entr" presetSubtype="0" fill="hold" grpId="0" nodeType="clickEffect">
                                  <p:stCondLst>
                                    <p:cond delay="0"/>
                                  </p:stCondLst>
                                  <p:iterate type="lt">
                                    <p:tmPct val="10000"/>
                                  </p:iterate>
                                  <p:childTnLst>
                                    <p:set>
                                      <p:cBhvr>
                                        <p:cTn id="130" dur="1" fill="hold">
                                          <p:stCondLst>
                                            <p:cond delay="0"/>
                                          </p:stCondLst>
                                        </p:cTn>
                                        <p:tgtEl>
                                          <p:spTgt spid="37"/>
                                        </p:tgtEl>
                                        <p:attrNameLst>
                                          <p:attrName>style.visibility</p:attrName>
                                        </p:attrNameLst>
                                      </p:cBhvr>
                                      <p:to>
                                        <p:strVal val="visible"/>
                                      </p:to>
                                    </p:set>
                                    <p:animEffect transition="in" filter="fade">
                                      <p:cBhvr>
                                        <p:cTn id="131" dur="1000"/>
                                        <p:tgtEl>
                                          <p:spTgt spid="37"/>
                                        </p:tgtEl>
                                      </p:cBhvr>
                                    </p:animEffect>
                                    <p:anim calcmode="lin" valueType="num">
                                      <p:cBhvr>
                                        <p:cTn id="132" dur="1000" fill="hold"/>
                                        <p:tgtEl>
                                          <p:spTgt spid="37"/>
                                        </p:tgtEl>
                                        <p:attrNameLst>
                                          <p:attrName>ppt_w</p:attrName>
                                        </p:attrNameLst>
                                      </p:cBhvr>
                                      <p:tavLst>
                                        <p:tav tm="0" fmla="#ppt_w*sin(2.5*pi*$)">
                                          <p:val>
                                            <p:fltVal val="0"/>
                                          </p:val>
                                        </p:tav>
                                        <p:tav tm="100000">
                                          <p:val>
                                            <p:fltVal val="1"/>
                                          </p:val>
                                        </p:tav>
                                      </p:tavLst>
                                    </p:anim>
                                    <p:anim calcmode="lin" valueType="num">
                                      <p:cBhvr>
                                        <p:cTn id="133" dur="1000" fill="hold"/>
                                        <p:tgtEl>
                                          <p:spTgt spid="37"/>
                                        </p:tgtEl>
                                        <p:attrNameLst>
                                          <p:attrName>ppt_h</p:attrName>
                                        </p:attrNameLst>
                                      </p:cBhvr>
                                      <p:tavLst>
                                        <p:tav tm="0">
                                          <p:val>
                                            <p:strVal val="#ppt_h"/>
                                          </p:val>
                                        </p:tav>
                                        <p:tav tm="100000">
                                          <p:val>
                                            <p:strVal val="#ppt_h"/>
                                          </p:val>
                                        </p:tav>
                                      </p:tavLst>
                                    </p:anim>
                                  </p:childTnLst>
                                </p:cTn>
                              </p:par>
                            </p:childTnLst>
                          </p:cTn>
                        </p:par>
                      </p:childTnLst>
                    </p:cTn>
                  </p:par>
                  <p:par>
                    <p:cTn id="134" fill="hold">
                      <p:stCondLst>
                        <p:cond delay="indefinite"/>
                      </p:stCondLst>
                      <p:childTnLst>
                        <p:par>
                          <p:cTn id="135" fill="hold">
                            <p:stCondLst>
                              <p:cond delay="0"/>
                            </p:stCondLst>
                            <p:childTnLst>
                              <p:par>
                                <p:cTn id="136" presetID="55" presetClass="entr" presetSubtype="0" fill="hold" grpId="0" nodeType="clickEffect">
                                  <p:stCondLst>
                                    <p:cond delay="0"/>
                                  </p:stCondLst>
                                  <p:childTnLst>
                                    <p:set>
                                      <p:cBhvr>
                                        <p:cTn id="137" dur="1" fill="hold">
                                          <p:stCondLst>
                                            <p:cond delay="0"/>
                                          </p:stCondLst>
                                        </p:cTn>
                                        <p:tgtEl>
                                          <p:spTgt spid="38"/>
                                        </p:tgtEl>
                                        <p:attrNameLst>
                                          <p:attrName>style.visibility</p:attrName>
                                        </p:attrNameLst>
                                      </p:cBhvr>
                                      <p:to>
                                        <p:strVal val="visible"/>
                                      </p:to>
                                    </p:set>
                                    <p:anim calcmode="lin" valueType="num">
                                      <p:cBhvr>
                                        <p:cTn id="138" dur="1000" fill="hold"/>
                                        <p:tgtEl>
                                          <p:spTgt spid="38"/>
                                        </p:tgtEl>
                                        <p:attrNameLst>
                                          <p:attrName>ppt_w</p:attrName>
                                        </p:attrNameLst>
                                      </p:cBhvr>
                                      <p:tavLst>
                                        <p:tav tm="0">
                                          <p:val>
                                            <p:strVal val="#ppt_w*0.70"/>
                                          </p:val>
                                        </p:tav>
                                        <p:tav tm="100000">
                                          <p:val>
                                            <p:strVal val="#ppt_w"/>
                                          </p:val>
                                        </p:tav>
                                      </p:tavLst>
                                    </p:anim>
                                    <p:anim calcmode="lin" valueType="num">
                                      <p:cBhvr>
                                        <p:cTn id="139" dur="1000" fill="hold"/>
                                        <p:tgtEl>
                                          <p:spTgt spid="38"/>
                                        </p:tgtEl>
                                        <p:attrNameLst>
                                          <p:attrName>ppt_h</p:attrName>
                                        </p:attrNameLst>
                                      </p:cBhvr>
                                      <p:tavLst>
                                        <p:tav tm="0">
                                          <p:val>
                                            <p:strVal val="#ppt_h"/>
                                          </p:val>
                                        </p:tav>
                                        <p:tav tm="100000">
                                          <p:val>
                                            <p:strVal val="#ppt_h"/>
                                          </p:val>
                                        </p:tav>
                                      </p:tavLst>
                                    </p:anim>
                                    <p:animEffect transition="in" filter="fade">
                                      <p:cBhvr>
                                        <p:cTn id="140" dur="1000"/>
                                        <p:tgtEl>
                                          <p:spTgt spid="38"/>
                                        </p:tgtEl>
                                      </p:cBhvr>
                                    </p:animEffect>
                                  </p:childTnLst>
                                </p:cTn>
                              </p:par>
                            </p:childTnLst>
                          </p:cTn>
                        </p:par>
                      </p:childTnLst>
                    </p:cTn>
                  </p:par>
                  <p:par>
                    <p:cTn id="141" fill="hold">
                      <p:stCondLst>
                        <p:cond delay="indefinite"/>
                      </p:stCondLst>
                      <p:childTnLst>
                        <p:par>
                          <p:cTn id="142" fill="hold">
                            <p:stCondLst>
                              <p:cond delay="0"/>
                            </p:stCondLst>
                            <p:childTnLst>
                              <p:par>
                                <p:cTn id="143" presetID="22" presetClass="entr" presetSubtype="8" fill="hold" grpId="0" nodeType="clickEffect">
                                  <p:stCondLst>
                                    <p:cond delay="0"/>
                                  </p:stCondLst>
                                  <p:childTnLst>
                                    <p:set>
                                      <p:cBhvr>
                                        <p:cTn id="144" dur="1" fill="hold">
                                          <p:stCondLst>
                                            <p:cond delay="0"/>
                                          </p:stCondLst>
                                        </p:cTn>
                                        <p:tgtEl>
                                          <p:spTgt spid="39"/>
                                        </p:tgtEl>
                                        <p:attrNameLst>
                                          <p:attrName>style.visibility</p:attrName>
                                        </p:attrNameLst>
                                      </p:cBhvr>
                                      <p:to>
                                        <p:strVal val="visible"/>
                                      </p:to>
                                    </p:set>
                                    <p:animEffect transition="in" filter="wipe(left)">
                                      <p:cBhvr>
                                        <p:cTn id="145" dur="500"/>
                                        <p:tgtEl>
                                          <p:spTgt spid="39"/>
                                        </p:tgtEl>
                                      </p:cBhvr>
                                    </p:animEffect>
                                  </p:childTnLst>
                                </p:cTn>
                              </p:par>
                            </p:childTnLst>
                          </p:cTn>
                        </p:par>
                      </p:childTnLst>
                    </p:cTn>
                  </p:par>
                  <p:par>
                    <p:cTn id="146" fill="hold">
                      <p:stCondLst>
                        <p:cond delay="indefinite"/>
                      </p:stCondLst>
                      <p:childTnLst>
                        <p:par>
                          <p:cTn id="147" fill="hold">
                            <p:stCondLst>
                              <p:cond delay="0"/>
                            </p:stCondLst>
                            <p:childTnLst>
                              <p:par>
                                <p:cTn id="148" presetID="16" presetClass="entr" presetSubtype="26" fill="hold" nodeType="clickEffect">
                                  <p:stCondLst>
                                    <p:cond delay="0"/>
                                  </p:stCondLst>
                                  <p:childTnLst>
                                    <p:set>
                                      <p:cBhvr>
                                        <p:cTn id="149" dur="1" fill="hold">
                                          <p:stCondLst>
                                            <p:cond delay="0"/>
                                          </p:stCondLst>
                                        </p:cTn>
                                        <p:tgtEl>
                                          <p:spTgt spid="40"/>
                                        </p:tgtEl>
                                        <p:attrNameLst>
                                          <p:attrName>style.visibility</p:attrName>
                                        </p:attrNameLst>
                                      </p:cBhvr>
                                      <p:to>
                                        <p:strVal val="visible"/>
                                      </p:to>
                                    </p:set>
                                    <p:animEffect transition="in" filter="barn(inHorizontal)">
                                      <p:cBhvr>
                                        <p:cTn id="150" dur="500"/>
                                        <p:tgtEl>
                                          <p:spTgt spid="40"/>
                                        </p:tgtEl>
                                      </p:cBhvr>
                                    </p:animEffect>
                                  </p:childTnLst>
                                </p:cTn>
                              </p:par>
                              <p:par>
                                <p:cTn id="151" presetID="16" presetClass="entr" presetSubtype="26" fill="hold" grpId="0" nodeType="withEffect">
                                  <p:stCondLst>
                                    <p:cond delay="0"/>
                                  </p:stCondLst>
                                  <p:childTnLst>
                                    <p:set>
                                      <p:cBhvr>
                                        <p:cTn id="152" dur="1" fill="hold">
                                          <p:stCondLst>
                                            <p:cond delay="0"/>
                                          </p:stCondLst>
                                        </p:cTn>
                                        <p:tgtEl>
                                          <p:spTgt spid="41"/>
                                        </p:tgtEl>
                                        <p:attrNameLst>
                                          <p:attrName>style.visibility</p:attrName>
                                        </p:attrNameLst>
                                      </p:cBhvr>
                                      <p:to>
                                        <p:strVal val="visible"/>
                                      </p:to>
                                    </p:set>
                                    <p:animEffect transition="in" filter="barn(inHorizontal)">
                                      <p:cBhvr>
                                        <p:cTn id="153" dur="500"/>
                                        <p:tgtEl>
                                          <p:spTgt spid="41"/>
                                        </p:tgtEl>
                                      </p:cBhvr>
                                    </p:animEffect>
                                  </p:childTnLst>
                                </p:cTn>
                              </p:par>
                              <p:par>
                                <p:cTn id="154" presetID="16" presetClass="entr" presetSubtype="26" fill="hold" grpId="0" nodeType="withEffect">
                                  <p:stCondLst>
                                    <p:cond delay="0"/>
                                  </p:stCondLst>
                                  <p:childTnLst>
                                    <p:set>
                                      <p:cBhvr>
                                        <p:cTn id="155" dur="1" fill="hold">
                                          <p:stCondLst>
                                            <p:cond delay="0"/>
                                          </p:stCondLst>
                                        </p:cTn>
                                        <p:tgtEl>
                                          <p:spTgt spid="42"/>
                                        </p:tgtEl>
                                        <p:attrNameLst>
                                          <p:attrName>style.visibility</p:attrName>
                                        </p:attrNameLst>
                                      </p:cBhvr>
                                      <p:to>
                                        <p:strVal val="visible"/>
                                      </p:to>
                                    </p:set>
                                    <p:animEffect transition="in" filter="barn(inHorizontal)">
                                      <p:cBhvr>
                                        <p:cTn id="156" dur="500"/>
                                        <p:tgtEl>
                                          <p:spTgt spid="42"/>
                                        </p:tgtEl>
                                      </p:cBhvr>
                                    </p:animEffect>
                                  </p:childTnLst>
                                </p:cTn>
                              </p:par>
                            </p:childTnLst>
                          </p:cTn>
                        </p:par>
                      </p:childTnLst>
                    </p:cTn>
                  </p:par>
                  <p:par>
                    <p:cTn id="157" fill="hold">
                      <p:stCondLst>
                        <p:cond delay="indefinite"/>
                      </p:stCondLst>
                      <p:childTnLst>
                        <p:par>
                          <p:cTn id="158" fill="hold">
                            <p:stCondLst>
                              <p:cond delay="0"/>
                            </p:stCondLst>
                            <p:childTnLst>
                              <p:par>
                                <p:cTn id="159" presetID="22" presetClass="entr" presetSubtype="8" fill="hold" grpId="0" nodeType="clickEffect">
                                  <p:stCondLst>
                                    <p:cond delay="0"/>
                                  </p:stCondLst>
                                  <p:childTnLst>
                                    <p:set>
                                      <p:cBhvr>
                                        <p:cTn id="160" dur="1" fill="hold">
                                          <p:stCondLst>
                                            <p:cond delay="0"/>
                                          </p:stCondLst>
                                        </p:cTn>
                                        <p:tgtEl>
                                          <p:spTgt spid="43"/>
                                        </p:tgtEl>
                                        <p:attrNameLst>
                                          <p:attrName>style.visibility</p:attrName>
                                        </p:attrNameLst>
                                      </p:cBhvr>
                                      <p:to>
                                        <p:strVal val="visible"/>
                                      </p:to>
                                    </p:set>
                                    <p:animEffect transition="in" filter="wipe(left)">
                                      <p:cBhvr>
                                        <p:cTn id="161" dur="500"/>
                                        <p:tgtEl>
                                          <p:spTgt spid="43"/>
                                        </p:tgtEl>
                                      </p:cBhvr>
                                    </p:animEffect>
                                  </p:childTnLst>
                                </p:cTn>
                              </p:par>
                            </p:childTnLst>
                          </p:cTn>
                        </p:par>
                      </p:childTnLst>
                    </p:cTn>
                  </p:par>
                  <p:par>
                    <p:cTn id="162" fill="hold">
                      <p:stCondLst>
                        <p:cond delay="indefinite"/>
                      </p:stCondLst>
                      <p:childTnLst>
                        <p:par>
                          <p:cTn id="163" fill="hold">
                            <p:stCondLst>
                              <p:cond delay="0"/>
                            </p:stCondLst>
                            <p:childTnLst>
                              <p:par>
                                <p:cTn id="164" presetID="9" presetClass="entr" presetSubtype="0" fill="hold" nodeType="clickEffect">
                                  <p:stCondLst>
                                    <p:cond delay="0"/>
                                  </p:stCondLst>
                                  <p:childTnLst>
                                    <p:set>
                                      <p:cBhvr>
                                        <p:cTn id="165" dur="1" fill="hold">
                                          <p:stCondLst>
                                            <p:cond delay="0"/>
                                          </p:stCondLst>
                                        </p:cTn>
                                        <p:tgtEl>
                                          <p:spTgt spid="44"/>
                                        </p:tgtEl>
                                        <p:attrNameLst>
                                          <p:attrName>style.visibility</p:attrName>
                                        </p:attrNameLst>
                                      </p:cBhvr>
                                      <p:to>
                                        <p:strVal val="visible"/>
                                      </p:to>
                                    </p:set>
                                    <p:animEffect transition="in" filter="dissolve">
                                      <p:cBhvr>
                                        <p:cTn id="166" dur="500"/>
                                        <p:tgtEl>
                                          <p:spTgt spid="44"/>
                                        </p:tgtEl>
                                      </p:cBhvr>
                                    </p:animEffect>
                                  </p:childTnLst>
                                </p:cTn>
                              </p:par>
                              <p:par>
                                <p:cTn id="167" presetID="9" presetClass="entr" presetSubtype="0" fill="hold" grpId="0" nodeType="withEffect">
                                  <p:stCondLst>
                                    <p:cond delay="0"/>
                                  </p:stCondLst>
                                  <p:childTnLst>
                                    <p:set>
                                      <p:cBhvr>
                                        <p:cTn id="168" dur="1" fill="hold">
                                          <p:stCondLst>
                                            <p:cond delay="0"/>
                                          </p:stCondLst>
                                        </p:cTn>
                                        <p:tgtEl>
                                          <p:spTgt spid="45"/>
                                        </p:tgtEl>
                                        <p:attrNameLst>
                                          <p:attrName>style.visibility</p:attrName>
                                        </p:attrNameLst>
                                      </p:cBhvr>
                                      <p:to>
                                        <p:strVal val="visible"/>
                                      </p:to>
                                    </p:set>
                                    <p:animEffect transition="in" filter="dissolve">
                                      <p:cBhvr>
                                        <p:cTn id="169" dur="500"/>
                                        <p:tgtEl>
                                          <p:spTgt spid="45"/>
                                        </p:tgtEl>
                                      </p:cBhvr>
                                    </p:animEffect>
                                  </p:childTnLst>
                                </p:cTn>
                              </p:par>
                              <p:par>
                                <p:cTn id="170" presetID="9" presetClass="entr" presetSubtype="0" fill="hold" grpId="0" nodeType="withEffect">
                                  <p:stCondLst>
                                    <p:cond delay="0"/>
                                  </p:stCondLst>
                                  <p:childTnLst>
                                    <p:set>
                                      <p:cBhvr>
                                        <p:cTn id="171" dur="1" fill="hold">
                                          <p:stCondLst>
                                            <p:cond delay="0"/>
                                          </p:stCondLst>
                                        </p:cTn>
                                        <p:tgtEl>
                                          <p:spTgt spid="46"/>
                                        </p:tgtEl>
                                        <p:attrNameLst>
                                          <p:attrName>style.visibility</p:attrName>
                                        </p:attrNameLst>
                                      </p:cBhvr>
                                      <p:to>
                                        <p:strVal val="visible"/>
                                      </p:to>
                                    </p:set>
                                    <p:animEffect transition="in" filter="dissolve">
                                      <p:cBhvr>
                                        <p:cTn id="172"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animBg="1"/>
      <p:bldP spid="19" grpId="0"/>
      <p:bldP spid="20" grpId="0" animBg="1"/>
      <p:bldP spid="21" grpId="0"/>
      <p:bldP spid="22" grpId="0"/>
      <p:bldP spid="23" grpId="0"/>
      <p:bldP spid="24" grpId="0"/>
      <p:bldP spid="26" grpId="0" animBg="1"/>
      <p:bldP spid="27" grpId="0" animBg="1"/>
      <p:bldP spid="28" grpId="0"/>
      <p:bldP spid="30" grpId="0" animBg="1"/>
      <p:bldP spid="31" grpId="0" animBg="1"/>
      <p:bldP spid="32" grpId="0"/>
      <p:bldP spid="34" grpId="0" animBg="1"/>
      <p:bldP spid="35" grpId="0" animBg="1"/>
      <p:bldP spid="36" grpId="0"/>
      <p:bldP spid="37" grpId="0" animBg="1"/>
      <p:bldP spid="38" grpId="0"/>
      <p:bldP spid="39" grpId="0"/>
      <p:bldP spid="41" grpId="0" animBg="1"/>
      <p:bldP spid="42" grpId="0" animBg="1"/>
      <p:bldP spid="43" grpId="0"/>
      <p:bldP spid="45" grpId="0" animBg="1"/>
      <p:bldP spid="4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848833" y="202028"/>
            <a:ext cx="3967716" cy="457196"/>
          </a:xfrm>
        </p:spPr>
        <p:txBody>
          <a:bodyPr/>
          <a:lstStyle/>
          <a:p>
            <a:r>
              <a:rPr lang="en-US" altLang="zh-CN" dirty="0"/>
              <a:t>3.</a:t>
            </a:r>
            <a:r>
              <a:rPr lang="zh-CN" altLang="en-US" dirty="0"/>
              <a:t>信号量机制</a:t>
            </a:r>
          </a:p>
        </p:txBody>
      </p:sp>
      <p:grpSp>
        <p:nvGrpSpPr>
          <p:cNvPr id="2" name="组合 3"/>
          <p:cNvGrpSpPr/>
          <p:nvPr/>
        </p:nvGrpSpPr>
        <p:grpSpPr>
          <a:xfrm>
            <a:off x="1004177" y="1027910"/>
            <a:ext cx="5314736" cy="665162"/>
            <a:chOff x="1004177" y="1027910"/>
            <a:chExt cx="5314736" cy="665162"/>
          </a:xfrm>
        </p:grpSpPr>
        <p:sp>
          <p:nvSpPr>
            <p:cNvPr id="5" name="矩形 4"/>
            <p:cNvSpPr/>
            <p:nvPr/>
          </p:nvSpPr>
          <p:spPr>
            <a:xfrm>
              <a:off x="1150228" y="1561310"/>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矩形 5"/>
            <p:cNvSpPr/>
            <p:nvPr/>
          </p:nvSpPr>
          <p:spPr>
            <a:xfrm>
              <a:off x="2058278" y="1561310"/>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7" name="文本框 55"/>
            <p:cNvSpPr txBox="1">
              <a:spLocks noChangeArrowheads="1"/>
            </p:cNvSpPr>
            <p:nvPr/>
          </p:nvSpPr>
          <p:spPr bwMode="auto">
            <a:xfrm>
              <a:off x="1004177" y="1027910"/>
              <a:ext cx="53147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3</a:t>
              </a:r>
              <a:r>
                <a:rPr lang="zh-CN" altLang="en-US" sz="2400" b="1" dirty="0">
                  <a:solidFill>
                    <a:srgbClr val="4C7E51"/>
                  </a:solidFill>
                  <a:latin typeface="微软雅黑" panose="020B0503020204020204" pitchFamily="34" charset="-122"/>
                  <a:ea typeface="微软雅黑" panose="020B0503020204020204" pitchFamily="34" charset="-122"/>
                </a:rPr>
                <a:t>）信号量集</a:t>
              </a:r>
            </a:p>
          </p:txBody>
        </p:sp>
      </p:grpSp>
      <p:sp>
        <p:nvSpPr>
          <p:cNvPr id="16" name="文本框 54"/>
          <p:cNvSpPr txBox="1">
            <a:spLocks noChangeArrowheads="1"/>
          </p:cNvSpPr>
          <p:nvPr/>
        </p:nvSpPr>
        <p:spPr bwMode="auto">
          <a:xfrm>
            <a:off x="1004178" y="1847155"/>
            <a:ext cx="1920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05050"/>
                </a:solidFill>
                <a:latin typeface="微软雅黑" panose="020B0503020204020204" pitchFamily="34" charset="-122"/>
                <a:ea typeface="微软雅黑" panose="020B0503020204020204" pitchFamily="34" charset="-122"/>
              </a:rPr>
              <a:t>引入原因</a:t>
            </a:r>
          </a:p>
        </p:txBody>
      </p:sp>
      <p:sp>
        <p:nvSpPr>
          <p:cNvPr id="17" name="文本框 19"/>
          <p:cNvSpPr txBox="1">
            <a:spLocks noChangeArrowheads="1"/>
          </p:cNvSpPr>
          <p:nvPr/>
        </p:nvSpPr>
        <p:spPr bwMode="auto">
          <a:xfrm>
            <a:off x="972804" y="2313357"/>
            <a:ext cx="901029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en-US" sz="2400" dirty="0"/>
              <a:t>一次需要</a:t>
            </a:r>
            <a:r>
              <a:rPr lang="en-US" altLang="zh-CN" sz="2400" dirty="0"/>
              <a:t>N</a:t>
            </a:r>
            <a:r>
              <a:rPr lang="zh-CN" altLang="en-US" sz="2400" dirty="0"/>
              <a:t>个某类资源时，需进行</a:t>
            </a:r>
            <a:r>
              <a:rPr lang="en-US" altLang="zh-CN" sz="2400" dirty="0"/>
              <a:t>N</a:t>
            </a:r>
            <a:r>
              <a:rPr lang="zh-CN" altLang="en-US" sz="2400" dirty="0"/>
              <a:t>次</a:t>
            </a:r>
            <a:r>
              <a:rPr lang="en-US" altLang="zh-CN" sz="2400" dirty="0"/>
              <a:t>wait(S)</a:t>
            </a:r>
            <a:r>
              <a:rPr lang="zh-CN" altLang="en-US" sz="2400" dirty="0"/>
              <a:t>操作，这是低效的。</a:t>
            </a:r>
            <a:endParaRPr lang="en-US" altLang="zh-CN" sz="2400" dirty="0"/>
          </a:p>
          <a:p>
            <a:pPr marL="0" lvl="2" indent="0">
              <a:buBlip>
                <a:blip r:embed="rId2"/>
              </a:buBlip>
            </a:pPr>
            <a:r>
              <a:rPr lang="zh-CN" altLang="en-US" sz="2400" dirty="0"/>
              <a:t>某些情况下，当资源数量低于某一下限值时，便不予分配。</a:t>
            </a:r>
            <a:endParaRPr lang="en-US" altLang="zh-CN" sz="2400" dirty="0"/>
          </a:p>
        </p:txBody>
      </p:sp>
      <p:sp>
        <p:nvSpPr>
          <p:cNvPr id="18" name="文本框 54"/>
          <p:cNvSpPr txBox="1">
            <a:spLocks noChangeArrowheads="1"/>
          </p:cNvSpPr>
          <p:nvPr/>
        </p:nvSpPr>
        <p:spPr bwMode="auto">
          <a:xfrm>
            <a:off x="1005966" y="3225967"/>
            <a:ext cx="1920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05050"/>
                </a:solidFill>
                <a:latin typeface="微软雅黑" panose="020B0503020204020204" pitchFamily="34" charset="-122"/>
                <a:ea typeface="微软雅黑" panose="020B0503020204020204" pitchFamily="34" charset="-122"/>
              </a:rPr>
              <a:t>基本思想</a:t>
            </a:r>
          </a:p>
        </p:txBody>
      </p:sp>
      <p:sp>
        <p:nvSpPr>
          <p:cNvPr id="19" name="文本框 19"/>
          <p:cNvSpPr txBox="1">
            <a:spLocks noChangeArrowheads="1"/>
          </p:cNvSpPr>
          <p:nvPr/>
        </p:nvSpPr>
        <p:spPr bwMode="auto">
          <a:xfrm>
            <a:off x="974592" y="3692169"/>
            <a:ext cx="9010292" cy="187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en-US" altLang="zh-CN" sz="2400" dirty="0"/>
              <a:t>S</a:t>
            </a:r>
            <a:r>
              <a:rPr lang="en-US" altLang="zh-CN" sz="2400" baseline="-25000" dirty="0"/>
              <a:t>i</a:t>
            </a:r>
            <a:r>
              <a:rPr lang="zh-CN" altLang="en-US" sz="2400" dirty="0"/>
              <a:t>：各信号量</a:t>
            </a:r>
            <a:endParaRPr lang="en-US" altLang="zh-CN" sz="2400" dirty="0"/>
          </a:p>
          <a:p>
            <a:pPr marL="0" lvl="2" indent="0">
              <a:buBlip>
                <a:blip r:embed="rId2"/>
              </a:buBlip>
            </a:pPr>
            <a:r>
              <a:rPr lang="en-US" altLang="zh-CN" sz="2400" dirty="0" err="1"/>
              <a:t>t</a:t>
            </a:r>
            <a:r>
              <a:rPr lang="en-US" altLang="zh-CN" sz="2400" baseline="-25000" dirty="0" err="1"/>
              <a:t>i</a:t>
            </a:r>
            <a:r>
              <a:rPr lang="zh-CN" altLang="en-US" sz="2400" dirty="0"/>
              <a:t>：申请下限</a:t>
            </a:r>
            <a:endParaRPr lang="en-US" altLang="zh-CN" sz="2400" dirty="0"/>
          </a:p>
          <a:p>
            <a:pPr marL="0" lvl="2" indent="0"/>
            <a:r>
              <a:rPr lang="en-US" altLang="zh-CN" sz="2000" dirty="0"/>
              <a:t>             </a:t>
            </a:r>
            <a:r>
              <a:rPr lang="en-US" altLang="zh-CN" sz="2000" dirty="0" err="1"/>
              <a:t>t</a:t>
            </a:r>
            <a:r>
              <a:rPr lang="en-US" altLang="zh-CN" sz="2000" baseline="-25000" dirty="0" err="1"/>
              <a:t>i</a:t>
            </a:r>
            <a:r>
              <a:rPr lang="en-US" altLang="zh-CN" sz="2000" dirty="0"/>
              <a:t> &gt; 0</a:t>
            </a:r>
            <a:r>
              <a:rPr lang="zh-CN" altLang="en-US" sz="2000" dirty="0"/>
              <a:t>时，可进行资源预留</a:t>
            </a:r>
            <a:endParaRPr lang="en-US" altLang="zh-CN" sz="2000" dirty="0"/>
          </a:p>
          <a:p>
            <a:pPr marL="0" lvl="2" indent="0">
              <a:buBlip>
                <a:blip r:embed="rId2"/>
              </a:buBlip>
            </a:pPr>
            <a:r>
              <a:rPr lang="en-US" altLang="zh-CN" sz="2400" dirty="0" err="1"/>
              <a:t>d</a:t>
            </a:r>
            <a:r>
              <a:rPr lang="en-US" altLang="zh-CN" sz="2400" baseline="-25000" dirty="0" err="1"/>
              <a:t>i</a:t>
            </a:r>
            <a:r>
              <a:rPr lang="zh-CN" altLang="en-US" sz="2400" dirty="0"/>
              <a:t>：申请个数</a:t>
            </a:r>
          </a:p>
          <a:p>
            <a:pPr lvl="1">
              <a:spcBef>
                <a:spcPct val="20000"/>
              </a:spcBef>
            </a:pPr>
            <a:r>
              <a:rPr lang="zh-CN" altLang="en-US" sz="2000" dirty="0"/>
              <a:t>   一次可申请一种资源的多个</a:t>
            </a:r>
            <a:endParaRPr lang="en-US" altLang="zh-CN" sz="2000" dirty="0"/>
          </a:p>
        </p:txBody>
      </p:sp>
    </p:spTree>
    <p:extLst>
      <p:ext uri="{BB962C8B-B14F-4D97-AF65-F5344CB8AC3E}">
        <p14:creationId xmlns:p14="http://schemas.microsoft.com/office/powerpoint/2010/main" val="483537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strips(downLeft)">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strips(downLeft)">
                                      <p:cBhvr>
                                        <p:cTn id="1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848833" y="202028"/>
            <a:ext cx="3967716" cy="457196"/>
          </a:xfrm>
        </p:spPr>
        <p:txBody>
          <a:bodyPr/>
          <a:lstStyle/>
          <a:p>
            <a:r>
              <a:rPr lang="en-US" altLang="zh-CN" dirty="0"/>
              <a:t>3.</a:t>
            </a:r>
            <a:r>
              <a:rPr lang="zh-CN" altLang="en-US" dirty="0"/>
              <a:t>信号量机制</a:t>
            </a:r>
          </a:p>
        </p:txBody>
      </p:sp>
      <p:grpSp>
        <p:nvGrpSpPr>
          <p:cNvPr id="2" name="组合 3"/>
          <p:cNvGrpSpPr/>
          <p:nvPr/>
        </p:nvGrpSpPr>
        <p:grpSpPr>
          <a:xfrm>
            <a:off x="1004177" y="1027910"/>
            <a:ext cx="5314736" cy="665162"/>
            <a:chOff x="1004177" y="1027910"/>
            <a:chExt cx="5314736" cy="665162"/>
          </a:xfrm>
        </p:grpSpPr>
        <p:sp>
          <p:nvSpPr>
            <p:cNvPr id="5" name="矩形 4"/>
            <p:cNvSpPr/>
            <p:nvPr/>
          </p:nvSpPr>
          <p:spPr>
            <a:xfrm>
              <a:off x="1150228" y="1561310"/>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矩形 5"/>
            <p:cNvSpPr/>
            <p:nvPr/>
          </p:nvSpPr>
          <p:spPr>
            <a:xfrm>
              <a:off x="2058278" y="1561310"/>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7" name="文本框 55"/>
            <p:cNvSpPr txBox="1">
              <a:spLocks noChangeArrowheads="1"/>
            </p:cNvSpPr>
            <p:nvPr/>
          </p:nvSpPr>
          <p:spPr bwMode="auto">
            <a:xfrm>
              <a:off x="1004177" y="1027910"/>
              <a:ext cx="53147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信号量集流程</a:t>
              </a:r>
            </a:p>
          </p:txBody>
        </p:sp>
      </p:grpSp>
      <p:sp>
        <p:nvSpPr>
          <p:cNvPr id="11" name="Text Box 5"/>
          <p:cNvSpPr txBox="1">
            <a:spLocks noChangeArrowheads="1"/>
          </p:cNvSpPr>
          <p:nvPr/>
        </p:nvSpPr>
        <p:spPr bwMode="auto">
          <a:xfrm>
            <a:off x="1150228" y="1774825"/>
            <a:ext cx="4320413" cy="400110"/>
          </a:xfrm>
          <a:prstGeom prst="rect">
            <a:avLst/>
          </a:prstGeom>
          <a:noFill/>
          <a:ln w="9525">
            <a:noFill/>
            <a:miter lim="800000"/>
            <a:headEnd/>
            <a:tailEnd/>
          </a:ln>
          <a:effectLst/>
        </p:spPr>
        <p:txBody>
          <a:bodyPr wrap="none">
            <a:spAutoFit/>
          </a:bodyPr>
          <a:lstStyle/>
          <a:p>
            <a:pPr>
              <a:defRPr/>
            </a:pPr>
            <a:r>
              <a:rPr kumimoji="0" lang="en-US" altLang="zh-CN" sz="2000" dirty="0" err="1">
                <a:effectLst>
                  <a:outerShdw blurRad="38100" dist="38100" dir="2700000" algn="tl">
                    <a:srgbClr val="C0C0C0"/>
                  </a:outerShdw>
                </a:effectLst>
                <a:latin typeface="Arial" pitchFamily="34" charset="0"/>
                <a:ea typeface="楷体_GB2312" pitchFamily="49" charset="-122"/>
              </a:rPr>
              <a:t>Swait</a:t>
            </a:r>
            <a:r>
              <a:rPr kumimoji="0" lang="zh-CN" altLang="en-US" sz="2000" dirty="0">
                <a:effectLst>
                  <a:outerShdw blurRad="38100" dist="38100" dir="2700000" algn="tl">
                    <a:srgbClr val="C0C0C0"/>
                  </a:outerShdw>
                </a:effectLst>
                <a:latin typeface="Arial" pitchFamily="34" charset="0"/>
                <a:ea typeface="楷体_GB2312" pitchFamily="49" charset="-122"/>
              </a:rPr>
              <a:t>（</a:t>
            </a:r>
            <a:r>
              <a:rPr kumimoji="0" lang="en-US" altLang="zh-CN" sz="2000" dirty="0">
                <a:effectLst>
                  <a:outerShdw blurRad="38100" dist="38100" dir="2700000" algn="tl">
                    <a:srgbClr val="C0C0C0"/>
                  </a:outerShdw>
                </a:effectLst>
                <a:latin typeface="Arial" pitchFamily="34" charset="0"/>
                <a:ea typeface="楷体_GB2312" pitchFamily="49" charset="-122"/>
              </a:rPr>
              <a:t>S</a:t>
            </a:r>
            <a:r>
              <a:rPr kumimoji="0" lang="en-US" altLang="zh-CN" sz="2000" baseline="-25000" dirty="0">
                <a:effectLst>
                  <a:outerShdw blurRad="38100" dist="38100" dir="2700000" algn="tl">
                    <a:srgbClr val="C0C0C0"/>
                  </a:outerShdw>
                </a:effectLst>
                <a:latin typeface="Arial" pitchFamily="34" charset="0"/>
                <a:ea typeface="楷体_GB2312" pitchFamily="49" charset="-122"/>
              </a:rPr>
              <a:t>1</a:t>
            </a:r>
            <a:r>
              <a:rPr kumimoji="0" lang="zh-CN" altLang="en-US" sz="2000" dirty="0">
                <a:effectLst>
                  <a:outerShdw blurRad="38100" dist="38100" dir="2700000" algn="tl">
                    <a:srgbClr val="C0C0C0"/>
                  </a:outerShdw>
                </a:effectLst>
                <a:latin typeface="Arial" pitchFamily="34" charset="0"/>
                <a:ea typeface="楷体_GB2312" pitchFamily="49" charset="-122"/>
              </a:rPr>
              <a:t>，</a:t>
            </a:r>
            <a:r>
              <a:rPr kumimoji="0" lang="en-US" altLang="zh-CN" sz="2000" dirty="0">
                <a:effectLst>
                  <a:outerShdw blurRad="38100" dist="38100" dir="2700000" algn="tl">
                    <a:srgbClr val="C0C0C0"/>
                  </a:outerShdw>
                </a:effectLst>
                <a:latin typeface="Arial" pitchFamily="34" charset="0"/>
                <a:ea typeface="楷体_GB2312" pitchFamily="49" charset="-122"/>
              </a:rPr>
              <a:t>t</a:t>
            </a:r>
            <a:r>
              <a:rPr kumimoji="0" lang="en-US" altLang="zh-CN" sz="2000" baseline="-25000" dirty="0">
                <a:effectLst>
                  <a:outerShdw blurRad="38100" dist="38100" dir="2700000" algn="tl">
                    <a:srgbClr val="C0C0C0"/>
                  </a:outerShdw>
                </a:effectLst>
                <a:latin typeface="Arial" pitchFamily="34" charset="0"/>
                <a:ea typeface="楷体_GB2312" pitchFamily="49" charset="-122"/>
              </a:rPr>
              <a:t>1</a:t>
            </a:r>
            <a:r>
              <a:rPr kumimoji="0" lang="zh-CN" altLang="en-US" sz="2000" dirty="0">
                <a:effectLst>
                  <a:outerShdw blurRad="38100" dist="38100" dir="2700000" algn="tl">
                    <a:srgbClr val="C0C0C0"/>
                  </a:outerShdw>
                </a:effectLst>
                <a:latin typeface="Arial" pitchFamily="34" charset="0"/>
                <a:ea typeface="楷体_GB2312" pitchFamily="49" charset="-122"/>
              </a:rPr>
              <a:t>，</a:t>
            </a:r>
            <a:r>
              <a:rPr kumimoji="0" lang="en-US" altLang="zh-CN" sz="2000" dirty="0">
                <a:effectLst>
                  <a:outerShdw blurRad="38100" dist="38100" dir="2700000" algn="tl">
                    <a:srgbClr val="C0C0C0"/>
                  </a:outerShdw>
                </a:effectLst>
                <a:latin typeface="Arial" pitchFamily="34" charset="0"/>
                <a:ea typeface="楷体_GB2312" pitchFamily="49" charset="-122"/>
              </a:rPr>
              <a:t>d</a:t>
            </a:r>
            <a:r>
              <a:rPr kumimoji="0" lang="en-US" altLang="zh-CN" sz="2000" baseline="-25000" dirty="0">
                <a:effectLst>
                  <a:outerShdw blurRad="38100" dist="38100" dir="2700000" algn="tl">
                    <a:srgbClr val="C0C0C0"/>
                  </a:outerShdw>
                </a:effectLst>
                <a:latin typeface="Arial" pitchFamily="34" charset="0"/>
                <a:ea typeface="楷体_GB2312" pitchFamily="49" charset="-122"/>
              </a:rPr>
              <a:t>1</a:t>
            </a:r>
            <a:r>
              <a:rPr kumimoji="0" lang="en-US" altLang="zh-CN" sz="2000" dirty="0">
                <a:effectLst>
                  <a:outerShdw blurRad="38100" dist="38100" dir="2700000" algn="tl">
                    <a:srgbClr val="C0C0C0"/>
                  </a:outerShdw>
                </a:effectLst>
                <a:latin typeface="Arial" pitchFamily="34" charset="0"/>
                <a:ea typeface="楷体_GB2312" pitchFamily="49" charset="-122"/>
              </a:rPr>
              <a:t>……S</a:t>
            </a:r>
            <a:r>
              <a:rPr kumimoji="0" lang="en-US" altLang="zh-CN" sz="2000" baseline="-25000" dirty="0">
                <a:effectLst>
                  <a:outerShdw blurRad="38100" dist="38100" dir="2700000" algn="tl">
                    <a:srgbClr val="C0C0C0"/>
                  </a:outerShdw>
                </a:effectLst>
                <a:latin typeface="Arial" pitchFamily="34" charset="0"/>
                <a:ea typeface="楷体_GB2312" pitchFamily="49" charset="-122"/>
              </a:rPr>
              <a:t>n </a:t>
            </a:r>
            <a:r>
              <a:rPr kumimoji="0" lang="zh-CN" altLang="en-US" sz="2000" dirty="0">
                <a:effectLst>
                  <a:outerShdw blurRad="38100" dist="38100" dir="2700000" algn="tl">
                    <a:srgbClr val="C0C0C0"/>
                  </a:outerShdw>
                </a:effectLst>
                <a:latin typeface="Arial" pitchFamily="34" charset="0"/>
              </a:rPr>
              <a:t>，</a:t>
            </a:r>
            <a:r>
              <a:rPr kumimoji="0" lang="en-US" altLang="zh-CN" sz="2000" dirty="0" err="1">
                <a:effectLst>
                  <a:outerShdw blurRad="38100" dist="38100" dir="2700000" algn="tl">
                    <a:srgbClr val="C0C0C0"/>
                  </a:outerShdw>
                </a:effectLst>
                <a:latin typeface="Arial" pitchFamily="34" charset="0"/>
              </a:rPr>
              <a:t>t</a:t>
            </a:r>
            <a:r>
              <a:rPr kumimoji="0" lang="en-US" altLang="zh-CN" sz="2000" baseline="-25000" dirty="0" err="1">
                <a:effectLst>
                  <a:outerShdw blurRad="38100" dist="38100" dir="2700000" algn="tl">
                    <a:srgbClr val="C0C0C0"/>
                  </a:outerShdw>
                </a:effectLst>
                <a:latin typeface="Arial" pitchFamily="34" charset="0"/>
              </a:rPr>
              <a:t>n</a:t>
            </a:r>
            <a:r>
              <a:rPr kumimoji="0" lang="zh-CN" altLang="en-US" sz="2000" dirty="0">
                <a:effectLst>
                  <a:outerShdw blurRad="38100" dist="38100" dir="2700000" algn="tl">
                    <a:srgbClr val="C0C0C0"/>
                  </a:outerShdw>
                </a:effectLst>
                <a:latin typeface="Arial" pitchFamily="34" charset="0"/>
              </a:rPr>
              <a:t>，</a:t>
            </a:r>
            <a:r>
              <a:rPr kumimoji="0" lang="en-US" altLang="zh-CN" sz="2000" dirty="0" err="1">
                <a:effectLst>
                  <a:outerShdw blurRad="38100" dist="38100" dir="2700000" algn="tl">
                    <a:srgbClr val="C0C0C0"/>
                  </a:outerShdw>
                </a:effectLst>
                <a:latin typeface="Arial" pitchFamily="34" charset="0"/>
              </a:rPr>
              <a:t>d</a:t>
            </a:r>
            <a:r>
              <a:rPr kumimoji="0" lang="en-US" altLang="zh-CN" sz="2000" baseline="-25000" dirty="0" err="1">
                <a:effectLst>
                  <a:outerShdw blurRad="38100" dist="38100" dir="2700000" algn="tl">
                    <a:srgbClr val="C0C0C0"/>
                  </a:outerShdw>
                </a:effectLst>
                <a:latin typeface="Arial" pitchFamily="34" charset="0"/>
              </a:rPr>
              <a:t>n</a:t>
            </a:r>
            <a:r>
              <a:rPr kumimoji="0" lang="en-US" altLang="zh-CN" sz="2000" b="0" dirty="0">
                <a:latin typeface="Arial" pitchFamily="34" charset="0"/>
              </a:rPr>
              <a:t> </a:t>
            </a:r>
            <a:r>
              <a:rPr kumimoji="0" lang="zh-CN" altLang="en-US" sz="2000" dirty="0">
                <a:effectLst>
                  <a:outerShdw blurRad="38100" dist="38100" dir="2700000" algn="tl">
                    <a:srgbClr val="C0C0C0"/>
                  </a:outerShdw>
                </a:effectLst>
                <a:latin typeface="Arial" pitchFamily="34" charset="0"/>
                <a:ea typeface="楷体_GB2312" pitchFamily="49" charset="-122"/>
              </a:rPr>
              <a:t>）</a:t>
            </a:r>
          </a:p>
        </p:txBody>
      </p:sp>
      <p:sp>
        <p:nvSpPr>
          <p:cNvPr id="12" name="AutoShape 6"/>
          <p:cNvSpPr>
            <a:spLocks noChangeArrowheads="1"/>
          </p:cNvSpPr>
          <p:nvPr/>
        </p:nvSpPr>
        <p:spPr bwMode="auto">
          <a:xfrm>
            <a:off x="1920166" y="2498725"/>
            <a:ext cx="2336800" cy="627063"/>
          </a:xfrm>
          <a:prstGeom prst="flowChartDecision">
            <a:avLst/>
          </a:prstGeom>
          <a:solidFill>
            <a:schemeClr val="accent1">
              <a:lumMod val="20000"/>
              <a:lumOff val="80000"/>
            </a:schemeClr>
          </a:solidFill>
          <a:ln w="9525">
            <a:solidFill>
              <a:schemeClr val="tx1"/>
            </a:solidFill>
            <a:miter lim="800000"/>
            <a:headEnd/>
            <a:tailEnd/>
          </a:ln>
          <a:effectLst/>
        </p:spPr>
        <p:txBody>
          <a:bodyPr wrap="none" anchor="ctr"/>
          <a:lstStyle/>
          <a:p>
            <a:pPr algn="ctr">
              <a:defRPr/>
            </a:pPr>
            <a:r>
              <a:rPr kumimoji="0" lang="en-US" altLang="zh-CN" sz="2000">
                <a:effectLst>
                  <a:outerShdw blurRad="38100" dist="38100" dir="2700000" algn="tl">
                    <a:srgbClr val="FFFFFF"/>
                  </a:outerShdw>
                </a:effectLst>
                <a:latin typeface="Arial" pitchFamily="34" charset="0"/>
                <a:ea typeface="楷体_GB2312" pitchFamily="49" charset="-122"/>
              </a:rPr>
              <a:t>S</a:t>
            </a:r>
            <a:r>
              <a:rPr kumimoji="0" lang="en-US" altLang="zh-CN" sz="2000" baseline="-25000">
                <a:effectLst>
                  <a:outerShdw blurRad="38100" dist="38100" dir="2700000" algn="tl">
                    <a:srgbClr val="FFFFFF"/>
                  </a:outerShdw>
                </a:effectLst>
                <a:latin typeface="Arial" pitchFamily="34" charset="0"/>
                <a:ea typeface="楷体_GB2312" pitchFamily="49" charset="-122"/>
              </a:rPr>
              <a:t>1</a:t>
            </a:r>
            <a:r>
              <a:rPr kumimoji="0" lang="en-US" altLang="zh-CN" sz="2000">
                <a:effectLst>
                  <a:outerShdw blurRad="38100" dist="38100" dir="2700000" algn="tl">
                    <a:srgbClr val="FFFFFF"/>
                  </a:outerShdw>
                </a:effectLst>
                <a:latin typeface="Arial" pitchFamily="34" charset="0"/>
                <a:ea typeface="楷体_GB2312" pitchFamily="49" charset="-122"/>
              </a:rPr>
              <a:t>&gt;</a:t>
            </a:r>
            <a:r>
              <a:rPr kumimoji="0" lang="zh-CN" altLang="en-US" sz="2000">
                <a:effectLst>
                  <a:outerShdw blurRad="38100" dist="38100" dir="2700000" algn="tl">
                    <a:srgbClr val="FFFFFF"/>
                  </a:outerShdw>
                </a:effectLst>
                <a:latin typeface="Arial" pitchFamily="34" charset="0"/>
                <a:ea typeface="楷体_GB2312" pitchFamily="49" charset="-122"/>
              </a:rPr>
              <a:t>＝</a:t>
            </a:r>
            <a:r>
              <a:rPr kumimoji="0" lang="en-US" altLang="zh-CN" sz="2000">
                <a:effectLst>
                  <a:outerShdw blurRad="38100" dist="38100" dir="2700000" algn="tl">
                    <a:srgbClr val="FFFFFF"/>
                  </a:outerShdw>
                </a:effectLst>
                <a:latin typeface="Arial" pitchFamily="34" charset="0"/>
                <a:ea typeface="楷体_GB2312" pitchFamily="49" charset="-122"/>
              </a:rPr>
              <a:t>t</a:t>
            </a:r>
            <a:r>
              <a:rPr kumimoji="0" lang="en-US" altLang="zh-CN" sz="2000" baseline="-25000">
                <a:effectLst>
                  <a:outerShdw blurRad="38100" dist="38100" dir="2700000" algn="tl">
                    <a:srgbClr val="FFFFFF"/>
                  </a:outerShdw>
                </a:effectLst>
                <a:latin typeface="Arial" pitchFamily="34" charset="0"/>
                <a:ea typeface="楷体_GB2312" pitchFamily="49" charset="-122"/>
              </a:rPr>
              <a:t>1</a:t>
            </a:r>
            <a:r>
              <a:rPr kumimoji="0" lang="en-US" altLang="zh-CN" sz="2000">
                <a:effectLst>
                  <a:outerShdw blurRad="38100" dist="38100" dir="2700000" algn="tl">
                    <a:srgbClr val="FFFFFF"/>
                  </a:outerShdw>
                </a:effectLst>
                <a:latin typeface="Arial" pitchFamily="34" charset="0"/>
                <a:ea typeface="楷体_GB2312" pitchFamily="49" charset="-122"/>
              </a:rPr>
              <a:t>?</a:t>
            </a:r>
          </a:p>
        </p:txBody>
      </p:sp>
      <p:sp>
        <p:nvSpPr>
          <p:cNvPr id="13" name="AutoShape 7"/>
          <p:cNvSpPr>
            <a:spLocks noChangeArrowheads="1"/>
          </p:cNvSpPr>
          <p:nvPr/>
        </p:nvSpPr>
        <p:spPr bwMode="auto">
          <a:xfrm>
            <a:off x="1940803" y="3413125"/>
            <a:ext cx="2336800" cy="627063"/>
          </a:xfrm>
          <a:prstGeom prst="flowChartDecision">
            <a:avLst/>
          </a:prstGeom>
          <a:solidFill>
            <a:schemeClr val="accent1">
              <a:lumMod val="20000"/>
              <a:lumOff val="80000"/>
            </a:schemeClr>
          </a:solidFill>
          <a:ln w="9525">
            <a:solidFill>
              <a:schemeClr val="tx1"/>
            </a:solidFill>
            <a:miter lim="800000"/>
            <a:headEnd/>
            <a:tailEnd/>
          </a:ln>
          <a:effectLst/>
        </p:spPr>
        <p:txBody>
          <a:bodyPr wrap="none" anchor="ctr"/>
          <a:lstStyle/>
          <a:p>
            <a:pPr algn="ctr">
              <a:defRPr/>
            </a:pPr>
            <a:r>
              <a:rPr kumimoji="0" lang="en-US" altLang="zh-CN" sz="2000">
                <a:effectLst>
                  <a:outerShdw blurRad="38100" dist="38100" dir="2700000" algn="tl">
                    <a:srgbClr val="FFFFFF"/>
                  </a:outerShdw>
                </a:effectLst>
                <a:latin typeface="Arial" pitchFamily="34" charset="0"/>
                <a:ea typeface="楷体_GB2312" pitchFamily="49" charset="-122"/>
              </a:rPr>
              <a:t>S</a:t>
            </a:r>
            <a:r>
              <a:rPr kumimoji="0" lang="en-US" altLang="zh-CN" sz="2000" baseline="-25000">
                <a:effectLst>
                  <a:outerShdw blurRad="38100" dist="38100" dir="2700000" algn="tl">
                    <a:srgbClr val="FFFFFF"/>
                  </a:outerShdw>
                </a:effectLst>
                <a:latin typeface="Arial" pitchFamily="34" charset="0"/>
                <a:ea typeface="楷体_GB2312" pitchFamily="49" charset="-122"/>
              </a:rPr>
              <a:t>2</a:t>
            </a:r>
            <a:r>
              <a:rPr kumimoji="0" lang="en-US" altLang="zh-CN" sz="2000">
                <a:effectLst>
                  <a:outerShdw blurRad="38100" dist="38100" dir="2700000" algn="tl">
                    <a:srgbClr val="FFFFFF"/>
                  </a:outerShdw>
                </a:effectLst>
                <a:latin typeface="Arial" pitchFamily="34" charset="0"/>
                <a:ea typeface="楷体_GB2312" pitchFamily="49" charset="-122"/>
              </a:rPr>
              <a:t>&gt;</a:t>
            </a:r>
            <a:r>
              <a:rPr kumimoji="0" lang="zh-CN" altLang="en-US" sz="2000">
                <a:effectLst>
                  <a:outerShdw blurRad="38100" dist="38100" dir="2700000" algn="tl">
                    <a:srgbClr val="FFFFFF"/>
                  </a:outerShdw>
                </a:effectLst>
                <a:latin typeface="Arial" pitchFamily="34" charset="0"/>
                <a:ea typeface="楷体_GB2312" pitchFamily="49" charset="-122"/>
              </a:rPr>
              <a:t>＝</a:t>
            </a:r>
            <a:r>
              <a:rPr kumimoji="0" lang="en-US" altLang="zh-CN" sz="2000">
                <a:effectLst>
                  <a:outerShdw blurRad="38100" dist="38100" dir="2700000" algn="tl">
                    <a:srgbClr val="FFFFFF"/>
                  </a:outerShdw>
                </a:effectLst>
                <a:latin typeface="Arial" pitchFamily="34" charset="0"/>
                <a:ea typeface="楷体_GB2312" pitchFamily="49" charset="-122"/>
              </a:rPr>
              <a:t>t</a:t>
            </a:r>
            <a:r>
              <a:rPr kumimoji="0" lang="en-US" altLang="zh-CN" sz="2000" baseline="-25000">
                <a:effectLst>
                  <a:outerShdw blurRad="38100" dist="38100" dir="2700000" algn="tl">
                    <a:srgbClr val="FFFFFF"/>
                  </a:outerShdw>
                </a:effectLst>
                <a:latin typeface="Arial" pitchFamily="34" charset="0"/>
                <a:ea typeface="楷体_GB2312" pitchFamily="49" charset="-122"/>
              </a:rPr>
              <a:t>2</a:t>
            </a:r>
            <a:r>
              <a:rPr kumimoji="0" lang="en-US" altLang="zh-CN" sz="2000">
                <a:effectLst>
                  <a:outerShdw blurRad="38100" dist="38100" dir="2700000" algn="tl">
                    <a:srgbClr val="FFFFFF"/>
                  </a:outerShdw>
                </a:effectLst>
                <a:latin typeface="Arial" pitchFamily="34" charset="0"/>
                <a:ea typeface="楷体_GB2312" pitchFamily="49" charset="-122"/>
              </a:rPr>
              <a:t>?</a:t>
            </a:r>
          </a:p>
        </p:txBody>
      </p:sp>
      <p:sp>
        <p:nvSpPr>
          <p:cNvPr id="14" name="Line 8"/>
          <p:cNvSpPr>
            <a:spLocks noChangeShapeType="1"/>
          </p:cNvSpPr>
          <p:nvPr/>
        </p:nvSpPr>
        <p:spPr bwMode="auto">
          <a:xfrm>
            <a:off x="3113966" y="2214563"/>
            <a:ext cx="1587" cy="26828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p>
        </p:txBody>
      </p:sp>
      <p:sp>
        <p:nvSpPr>
          <p:cNvPr id="15" name="Line 9"/>
          <p:cNvSpPr>
            <a:spLocks noChangeShapeType="1"/>
          </p:cNvSpPr>
          <p:nvPr/>
        </p:nvSpPr>
        <p:spPr bwMode="auto">
          <a:xfrm>
            <a:off x="3113966" y="3143250"/>
            <a:ext cx="1587" cy="26828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p>
        </p:txBody>
      </p:sp>
      <p:sp>
        <p:nvSpPr>
          <p:cNvPr id="20" name="Line 10"/>
          <p:cNvSpPr>
            <a:spLocks noChangeShapeType="1"/>
          </p:cNvSpPr>
          <p:nvPr/>
        </p:nvSpPr>
        <p:spPr bwMode="auto">
          <a:xfrm>
            <a:off x="3136191" y="4059238"/>
            <a:ext cx="1587" cy="26828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p>
        </p:txBody>
      </p:sp>
      <p:sp>
        <p:nvSpPr>
          <p:cNvPr id="21" name="Text Box 11"/>
          <p:cNvSpPr txBox="1">
            <a:spLocks noChangeArrowheads="1"/>
          </p:cNvSpPr>
          <p:nvPr/>
        </p:nvSpPr>
        <p:spPr bwMode="auto">
          <a:xfrm>
            <a:off x="2685341" y="4052888"/>
            <a:ext cx="697627" cy="400110"/>
          </a:xfrm>
          <a:prstGeom prst="rect">
            <a:avLst/>
          </a:prstGeom>
          <a:noFill/>
          <a:ln w="9525">
            <a:noFill/>
            <a:miter lim="800000"/>
            <a:headEnd/>
            <a:tailEnd/>
          </a:ln>
          <a:effectLst/>
        </p:spPr>
        <p:txBody>
          <a:bodyPr wrap="none">
            <a:spAutoFit/>
          </a:bodyPr>
          <a:lstStyle/>
          <a:p>
            <a:pPr>
              <a:defRPr/>
            </a:pPr>
            <a:r>
              <a:rPr kumimoji="0" lang="en-US" altLang="zh-CN" sz="2000" dirty="0">
                <a:effectLst>
                  <a:outerShdw blurRad="38100" dist="38100" dir="2700000" algn="tl">
                    <a:srgbClr val="C0C0C0"/>
                  </a:outerShdw>
                </a:effectLst>
                <a:latin typeface="Arial" pitchFamily="34" charset="0"/>
                <a:ea typeface="楷体_GB2312" pitchFamily="49" charset="-122"/>
              </a:rPr>
              <a:t>……</a:t>
            </a:r>
            <a:endParaRPr kumimoji="0" lang="zh-CN" altLang="en-US" sz="2000" dirty="0">
              <a:effectLst>
                <a:outerShdw blurRad="38100" dist="38100" dir="2700000" algn="tl">
                  <a:srgbClr val="C0C0C0"/>
                </a:outerShdw>
              </a:effectLst>
              <a:latin typeface="Arial" pitchFamily="34" charset="0"/>
              <a:ea typeface="楷体_GB2312" pitchFamily="49" charset="-122"/>
            </a:endParaRPr>
          </a:p>
        </p:txBody>
      </p:sp>
      <p:sp>
        <p:nvSpPr>
          <p:cNvPr id="22" name="Rectangle 12"/>
          <p:cNvSpPr>
            <a:spLocks noChangeArrowheads="1"/>
          </p:cNvSpPr>
          <p:nvPr/>
        </p:nvSpPr>
        <p:spPr bwMode="auto">
          <a:xfrm>
            <a:off x="2298086" y="4812633"/>
            <a:ext cx="1679384" cy="1346772"/>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defRPr/>
            </a:pPr>
            <a:r>
              <a:rPr kumimoji="0" lang="en-US" altLang="zh-CN" sz="2000" dirty="0">
                <a:effectLst>
                  <a:outerShdw blurRad="38100" dist="38100" dir="2700000" algn="tl">
                    <a:srgbClr val="FFFFFF"/>
                  </a:outerShdw>
                </a:effectLst>
                <a:latin typeface="Arial" pitchFamily="34" charset="0"/>
                <a:ea typeface="楷体_GB2312" pitchFamily="49" charset="-122"/>
              </a:rPr>
              <a:t>S</a:t>
            </a:r>
            <a:r>
              <a:rPr kumimoji="0" lang="en-US" altLang="zh-CN" sz="2000" baseline="-25000" dirty="0">
                <a:effectLst>
                  <a:outerShdw blurRad="38100" dist="38100" dir="2700000" algn="tl">
                    <a:srgbClr val="FFFFFF"/>
                  </a:outerShdw>
                </a:effectLst>
                <a:latin typeface="Arial" pitchFamily="34" charset="0"/>
                <a:ea typeface="楷体_GB2312" pitchFamily="49" charset="-122"/>
              </a:rPr>
              <a:t>1</a:t>
            </a:r>
            <a:r>
              <a:rPr kumimoji="0" lang="en-US" altLang="zh-CN" sz="2000" dirty="0">
                <a:effectLst>
                  <a:outerShdw blurRad="38100" dist="38100" dir="2700000" algn="tl">
                    <a:srgbClr val="FFFFFF"/>
                  </a:outerShdw>
                </a:effectLst>
                <a:latin typeface="Arial" pitchFamily="34" charset="0"/>
                <a:ea typeface="楷体_GB2312" pitchFamily="49" charset="-122"/>
              </a:rPr>
              <a:t>=S</a:t>
            </a:r>
            <a:r>
              <a:rPr kumimoji="0" lang="en-US" altLang="zh-CN" sz="2000" baseline="-25000" dirty="0">
                <a:effectLst>
                  <a:outerShdw blurRad="38100" dist="38100" dir="2700000" algn="tl">
                    <a:srgbClr val="FFFFFF"/>
                  </a:outerShdw>
                </a:effectLst>
                <a:latin typeface="Arial" pitchFamily="34" charset="0"/>
                <a:ea typeface="楷体_GB2312" pitchFamily="49" charset="-122"/>
              </a:rPr>
              <a:t>1</a:t>
            </a:r>
            <a:r>
              <a:rPr kumimoji="0" lang="zh-CN" altLang="en-US" sz="2000" dirty="0">
                <a:effectLst>
                  <a:outerShdw blurRad="38100" dist="38100" dir="2700000" algn="tl">
                    <a:srgbClr val="FFFFFF"/>
                  </a:outerShdw>
                </a:effectLst>
                <a:latin typeface="Arial" pitchFamily="34" charset="0"/>
                <a:ea typeface="楷体_GB2312" pitchFamily="49" charset="-122"/>
              </a:rPr>
              <a:t>－</a:t>
            </a:r>
            <a:r>
              <a:rPr kumimoji="0" lang="en-US" altLang="zh-CN" sz="2000" dirty="0">
                <a:effectLst>
                  <a:outerShdw blurRad="38100" dist="38100" dir="2700000" algn="tl">
                    <a:srgbClr val="FFFFFF"/>
                  </a:outerShdw>
                </a:effectLst>
                <a:latin typeface="Arial" pitchFamily="34" charset="0"/>
                <a:ea typeface="楷体_GB2312" pitchFamily="49" charset="-122"/>
              </a:rPr>
              <a:t>d</a:t>
            </a:r>
            <a:r>
              <a:rPr kumimoji="0" lang="en-US" altLang="zh-CN" sz="2000" baseline="-25000" dirty="0">
                <a:effectLst>
                  <a:outerShdw blurRad="38100" dist="38100" dir="2700000" algn="tl">
                    <a:srgbClr val="FFFFFF"/>
                  </a:outerShdw>
                </a:effectLst>
                <a:latin typeface="Arial" pitchFamily="34" charset="0"/>
                <a:ea typeface="楷体_GB2312" pitchFamily="49" charset="-122"/>
              </a:rPr>
              <a:t>1</a:t>
            </a:r>
            <a:r>
              <a:rPr kumimoji="0" lang="zh-CN" altLang="en-US" sz="2000" dirty="0">
                <a:effectLst>
                  <a:outerShdw blurRad="38100" dist="38100" dir="2700000" algn="tl">
                    <a:srgbClr val="FFFFFF"/>
                  </a:outerShdw>
                </a:effectLst>
                <a:latin typeface="Arial" pitchFamily="34" charset="0"/>
                <a:ea typeface="楷体_GB2312" pitchFamily="49" charset="-122"/>
              </a:rPr>
              <a:t>；</a:t>
            </a:r>
          </a:p>
          <a:p>
            <a:pPr algn="ctr">
              <a:defRPr/>
            </a:pPr>
            <a:r>
              <a:rPr kumimoji="0" lang="en-US" altLang="zh-CN" sz="2000" dirty="0">
                <a:effectLst>
                  <a:outerShdw blurRad="38100" dist="38100" dir="2700000" algn="tl">
                    <a:srgbClr val="FFFFFF"/>
                  </a:outerShdw>
                </a:effectLst>
                <a:latin typeface="Arial" pitchFamily="34" charset="0"/>
                <a:ea typeface="楷体_GB2312" pitchFamily="49" charset="-122"/>
              </a:rPr>
              <a:t>S</a:t>
            </a:r>
            <a:r>
              <a:rPr kumimoji="0" lang="en-US" altLang="zh-CN" sz="2000" baseline="-25000" dirty="0">
                <a:effectLst>
                  <a:outerShdw blurRad="38100" dist="38100" dir="2700000" algn="tl">
                    <a:srgbClr val="FFFFFF"/>
                  </a:outerShdw>
                </a:effectLst>
                <a:latin typeface="Arial" pitchFamily="34" charset="0"/>
                <a:ea typeface="楷体_GB2312" pitchFamily="49" charset="-122"/>
              </a:rPr>
              <a:t>2</a:t>
            </a:r>
            <a:r>
              <a:rPr kumimoji="0" lang="en-US" altLang="zh-CN" sz="2000" dirty="0">
                <a:effectLst>
                  <a:outerShdw blurRad="38100" dist="38100" dir="2700000" algn="tl">
                    <a:srgbClr val="FFFFFF"/>
                  </a:outerShdw>
                </a:effectLst>
                <a:latin typeface="Arial" pitchFamily="34" charset="0"/>
                <a:ea typeface="楷体_GB2312" pitchFamily="49" charset="-122"/>
              </a:rPr>
              <a:t>=S</a:t>
            </a:r>
            <a:r>
              <a:rPr kumimoji="0" lang="en-US" altLang="zh-CN" sz="2000" baseline="-25000" dirty="0">
                <a:effectLst>
                  <a:outerShdw blurRad="38100" dist="38100" dir="2700000" algn="tl">
                    <a:srgbClr val="FFFFFF"/>
                  </a:outerShdw>
                </a:effectLst>
                <a:latin typeface="Arial" pitchFamily="34" charset="0"/>
                <a:ea typeface="楷体_GB2312" pitchFamily="49" charset="-122"/>
              </a:rPr>
              <a:t>2</a:t>
            </a:r>
            <a:r>
              <a:rPr kumimoji="0" lang="zh-CN" altLang="en-US" sz="2000" dirty="0">
                <a:effectLst>
                  <a:outerShdw blurRad="38100" dist="38100" dir="2700000" algn="tl">
                    <a:srgbClr val="FFFFFF"/>
                  </a:outerShdw>
                </a:effectLst>
                <a:latin typeface="Arial" pitchFamily="34" charset="0"/>
                <a:ea typeface="楷体_GB2312" pitchFamily="49" charset="-122"/>
              </a:rPr>
              <a:t>－</a:t>
            </a:r>
            <a:r>
              <a:rPr kumimoji="0" lang="en-US" altLang="zh-CN" sz="2000" dirty="0">
                <a:effectLst>
                  <a:outerShdw blurRad="38100" dist="38100" dir="2700000" algn="tl">
                    <a:srgbClr val="FFFFFF"/>
                  </a:outerShdw>
                </a:effectLst>
                <a:latin typeface="Arial" pitchFamily="34" charset="0"/>
                <a:ea typeface="楷体_GB2312" pitchFamily="49" charset="-122"/>
              </a:rPr>
              <a:t>d</a:t>
            </a:r>
            <a:r>
              <a:rPr kumimoji="0" lang="en-US" altLang="zh-CN" sz="2000" baseline="-25000" dirty="0">
                <a:effectLst>
                  <a:outerShdw blurRad="38100" dist="38100" dir="2700000" algn="tl">
                    <a:srgbClr val="FFFFFF"/>
                  </a:outerShdw>
                </a:effectLst>
                <a:latin typeface="Arial" pitchFamily="34" charset="0"/>
                <a:ea typeface="楷体_GB2312" pitchFamily="49" charset="-122"/>
              </a:rPr>
              <a:t>2</a:t>
            </a:r>
            <a:r>
              <a:rPr kumimoji="0" lang="zh-CN" altLang="en-US" sz="2000" dirty="0">
                <a:effectLst>
                  <a:outerShdw blurRad="38100" dist="38100" dir="2700000" algn="tl">
                    <a:srgbClr val="FFFFFF"/>
                  </a:outerShdw>
                </a:effectLst>
                <a:latin typeface="Arial" pitchFamily="34" charset="0"/>
                <a:ea typeface="楷体_GB2312" pitchFamily="49" charset="-122"/>
              </a:rPr>
              <a:t>；</a:t>
            </a:r>
          </a:p>
          <a:p>
            <a:pPr algn="ctr">
              <a:defRPr/>
            </a:pPr>
            <a:r>
              <a:rPr kumimoji="0" lang="en-US" altLang="zh-CN" sz="2000" dirty="0">
                <a:effectLst>
                  <a:outerShdw blurRad="38100" dist="38100" dir="2700000" algn="tl">
                    <a:srgbClr val="FFFFFF"/>
                  </a:outerShdw>
                </a:effectLst>
                <a:latin typeface="Arial" pitchFamily="34" charset="0"/>
                <a:ea typeface="楷体_GB2312" pitchFamily="49" charset="-122"/>
              </a:rPr>
              <a:t>……</a:t>
            </a:r>
          </a:p>
          <a:p>
            <a:pPr algn="ctr">
              <a:defRPr/>
            </a:pPr>
            <a:r>
              <a:rPr kumimoji="0" lang="en-US" altLang="zh-CN" sz="2000" dirty="0">
                <a:effectLst>
                  <a:outerShdw blurRad="38100" dist="38100" dir="2700000" algn="tl">
                    <a:srgbClr val="FFFFFF"/>
                  </a:outerShdw>
                </a:effectLst>
                <a:latin typeface="Arial" pitchFamily="34" charset="0"/>
                <a:ea typeface="楷体_GB2312" pitchFamily="49" charset="-122"/>
              </a:rPr>
              <a:t>S</a:t>
            </a:r>
            <a:r>
              <a:rPr kumimoji="0" lang="en-US" altLang="zh-CN" sz="2000" baseline="-25000" dirty="0">
                <a:effectLst>
                  <a:outerShdw blurRad="38100" dist="38100" dir="2700000" algn="tl">
                    <a:srgbClr val="FFFFFF"/>
                  </a:outerShdw>
                </a:effectLst>
                <a:latin typeface="Arial" pitchFamily="34" charset="0"/>
                <a:ea typeface="楷体_GB2312" pitchFamily="49" charset="-122"/>
              </a:rPr>
              <a:t>n</a:t>
            </a:r>
            <a:r>
              <a:rPr kumimoji="0" lang="en-US" altLang="zh-CN" sz="2000" dirty="0">
                <a:effectLst>
                  <a:outerShdw blurRad="38100" dist="38100" dir="2700000" algn="tl">
                    <a:srgbClr val="FFFFFF"/>
                  </a:outerShdw>
                </a:effectLst>
                <a:latin typeface="Arial" pitchFamily="34" charset="0"/>
                <a:ea typeface="楷体_GB2312" pitchFamily="49" charset="-122"/>
              </a:rPr>
              <a:t>=S</a:t>
            </a:r>
            <a:r>
              <a:rPr kumimoji="0" lang="en-US" altLang="zh-CN" sz="2000" baseline="-25000" dirty="0">
                <a:effectLst>
                  <a:outerShdw blurRad="38100" dist="38100" dir="2700000" algn="tl">
                    <a:srgbClr val="FFFFFF"/>
                  </a:outerShdw>
                </a:effectLst>
                <a:latin typeface="Arial" pitchFamily="34" charset="0"/>
                <a:ea typeface="楷体_GB2312" pitchFamily="49" charset="-122"/>
              </a:rPr>
              <a:t>n</a:t>
            </a:r>
            <a:r>
              <a:rPr kumimoji="0" lang="zh-CN" altLang="en-US" sz="2000" dirty="0">
                <a:effectLst>
                  <a:outerShdw blurRad="38100" dist="38100" dir="2700000" algn="tl">
                    <a:srgbClr val="FFFFFF"/>
                  </a:outerShdw>
                </a:effectLst>
                <a:latin typeface="Arial" pitchFamily="34" charset="0"/>
                <a:ea typeface="楷体_GB2312" pitchFamily="49" charset="-122"/>
              </a:rPr>
              <a:t>－</a:t>
            </a:r>
            <a:r>
              <a:rPr kumimoji="0" lang="en-US" altLang="zh-CN" sz="2000" dirty="0" err="1">
                <a:effectLst>
                  <a:outerShdw blurRad="38100" dist="38100" dir="2700000" algn="tl">
                    <a:srgbClr val="FFFFFF"/>
                  </a:outerShdw>
                </a:effectLst>
                <a:latin typeface="Arial" pitchFamily="34" charset="0"/>
                <a:ea typeface="楷体_GB2312" pitchFamily="49" charset="-122"/>
              </a:rPr>
              <a:t>d</a:t>
            </a:r>
            <a:r>
              <a:rPr kumimoji="0" lang="en-US" altLang="zh-CN" sz="2000" baseline="-25000" dirty="0" err="1">
                <a:effectLst>
                  <a:outerShdw blurRad="38100" dist="38100" dir="2700000" algn="tl">
                    <a:srgbClr val="FFFFFF"/>
                  </a:outerShdw>
                </a:effectLst>
                <a:latin typeface="Arial" pitchFamily="34" charset="0"/>
                <a:ea typeface="楷体_GB2312" pitchFamily="49" charset="-122"/>
              </a:rPr>
              <a:t>n</a:t>
            </a:r>
            <a:r>
              <a:rPr kumimoji="0" lang="zh-CN" altLang="en-US" sz="2000" dirty="0">
                <a:effectLst>
                  <a:outerShdw blurRad="38100" dist="38100" dir="2700000" algn="tl">
                    <a:srgbClr val="FFFFFF"/>
                  </a:outerShdw>
                </a:effectLst>
                <a:latin typeface="Arial" pitchFamily="34" charset="0"/>
                <a:ea typeface="楷体_GB2312" pitchFamily="49" charset="-122"/>
              </a:rPr>
              <a:t>；</a:t>
            </a:r>
          </a:p>
        </p:txBody>
      </p:sp>
      <p:sp>
        <p:nvSpPr>
          <p:cNvPr id="23" name="Line 13"/>
          <p:cNvSpPr>
            <a:spLocks noChangeShapeType="1"/>
          </p:cNvSpPr>
          <p:nvPr/>
        </p:nvSpPr>
        <p:spPr bwMode="auto">
          <a:xfrm>
            <a:off x="3137778" y="4551312"/>
            <a:ext cx="1089" cy="258379"/>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p>
        </p:txBody>
      </p:sp>
      <p:sp>
        <p:nvSpPr>
          <p:cNvPr id="24" name="Line 14"/>
          <p:cNvSpPr>
            <a:spLocks noChangeShapeType="1"/>
          </p:cNvSpPr>
          <p:nvPr/>
        </p:nvSpPr>
        <p:spPr bwMode="auto">
          <a:xfrm flipH="1">
            <a:off x="6079721" y="2824163"/>
            <a:ext cx="0" cy="150336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p>
        </p:txBody>
      </p:sp>
      <p:sp>
        <p:nvSpPr>
          <p:cNvPr id="25" name="Line 15"/>
          <p:cNvSpPr>
            <a:spLocks noChangeShapeType="1"/>
          </p:cNvSpPr>
          <p:nvPr/>
        </p:nvSpPr>
        <p:spPr bwMode="auto">
          <a:xfrm flipV="1">
            <a:off x="4291891" y="2824162"/>
            <a:ext cx="178783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26" name="Line 16"/>
          <p:cNvSpPr>
            <a:spLocks noChangeShapeType="1"/>
          </p:cNvSpPr>
          <p:nvPr/>
        </p:nvSpPr>
        <p:spPr bwMode="auto">
          <a:xfrm flipV="1">
            <a:off x="4301417" y="3714750"/>
            <a:ext cx="177830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27" name="Text Box 17"/>
          <p:cNvSpPr txBox="1">
            <a:spLocks noChangeArrowheads="1"/>
          </p:cNvSpPr>
          <p:nvPr/>
        </p:nvSpPr>
        <p:spPr bwMode="auto">
          <a:xfrm>
            <a:off x="4209341" y="2249488"/>
            <a:ext cx="370614" cy="400110"/>
          </a:xfrm>
          <a:prstGeom prst="rect">
            <a:avLst/>
          </a:prstGeom>
          <a:noFill/>
          <a:ln w="9525">
            <a:noFill/>
            <a:miter lim="800000"/>
            <a:headEnd/>
            <a:tailEnd/>
          </a:ln>
          <a:effectLst/>
        </p:spPr>
        <p:txBody>
          <a:bodyPr wrap="non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kumimoji="0" lang="en-US" altLang="zh-CN" sz="2000">
                <a:effectLst>
                  <a:outerShdw blurRad="38100" dist="38100" dir="2700000" algn="tl">
                    <a:srgbClr val="C0C0C0"/>
                  </a:outerShdw>
                </a:effectLst>
                <a:latin typeface="Arial" pitchFamily="34" charset="0"/>
                <a:ea typeface="楷体_GB2312" pitchFamily="1" charset="-122"/>
              </a:rPr>
              <a:t>N</a:t>
            </a:r>
          </a:p>
        </p:txBody>
      </p:sp>
      <p:sp>
        <p:nvSpPr>
          <p:cNvPr id="28" name="Text Box 18"/>
          <p:cNvSpPr txBox="1">
            <a:spLocks noChangeArrowheads="1"/>
          </p:cNvSpPr>
          <p:nvPr/>
        </p:nvSpPr>
        <p:spPr bwMode="auto">
          <a:xfrm>
            <a:off x="4229978" y="2998788"/>
            <a:ext cx="370614" cy="400110"/>
          </a:xfrm>
          <a:prstGeom prst="rect">
            <a:avLst/>
          </a:prstGeom>
          <a:noFill/>
          <a:ln w="9525">
            <a:noFill/>
            <a:miter lim="800000"/>
            <a:headEnd/>
            <a:tailEnd/>
          </a:ln>
          <a:effectLst/>
        </p:spPr>
        <p:txBody>
          <a:bodyPr wrap="non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r>
              <a:rPr kumimoji="0" lang="en-US" altLang="zh-CN" sz="2000">
                <a:effectLst>
                  <a:outerShdw blurRad="38100" dist="38100" dir="2700000" algn="tl">
                    <a:srgbClr val="C0C0C0"/>
                  </a:outerShdw>
                </a:effectLst>
                <a:latin typeface="Arial" pitchFamily="34" charset="0"/>
                <a:ea typeface="楷体_GB2312" pitchFamily="1" charset="-122"/>
              </a:rPr>
              <a:t>N</a:t>
            </a:r>
          </a:p>
        </p:txBody>
      </p:sp>
      <p:sp>
        <p:nvSpPr>
          <p:cNvPr id="29" name="Rectangle 19"/>
          <p:cNvSpPr>
            <a:spLocks noChangeArrowheads="1"/>
          </p:cNvSpPr>
          <p:nvPr/>
        </p:nvSpPr>
        <p:spPr bwMode="auto">
          <a:xfrm>
            <a:off x="4394648" y="4327525"/>
            <a:ext cx="3417958" cy="1355343"/>
          </a:xfrm>
          <a:prstGeom prst="rect">
            <a:avLst/>
          </a:prstGeom>
          <a:solidFill>
            <a:schemeClr val="accent1">
              <a:lumMod val="20000"/>
              <a:lumOff val="80000"/>
            </a:schemeClr>
          </a:solidFill>
          <a:ln w="9525">
            <a:solidFill>
              <a:schemeClr val="tx1"/>
            </a:solidFill>
            <a:miter lim="800000"/>
            <a:headEnd/>
            <a:tailEnd/>
          </a:ln>
          <a:effectLst/>
        </p:spPr>
        <p:txBody>
          <a:bodyPr anchor="ctr"/>
          <a:lstStyle/>
          <a:p>
            <a:pPr>
              <a:defRPr/>
            </a:pPr>
            <a:r>
              <a:rPr kumimoji="0" lang="en-US" altLang="zh-CN" sz="2000" dirty="0">
                <a:latin typeface="华文楷体" pitchFamily="2" charset="-122"/>
                <a:ea typeface="华文楷体" pitchFamily="2" charset="-122"/>
              </a:rPr>
              <a:t>1</a:t>
            </a:r>
            <a:r>
              <a:rPr kumimoji="0" lang="zh-CN" altLang="en-US" sz="2000" dirty="0">
                <a:latin typeface="华文楷体" pitchFamily="2" charset="-122"/>
                <a:ea typeface="华文楷体" pitchFamily="2" charset="-122"/>
              </a:rPr>
              <a:t>）将正在执行的进程移入第一个满足</a:t>
            </a:r>
            <a:r>
              <a:rPr lang="en-US" altLang="zh-CN" sz="2000" dirty="0">
                <a:latin typeface="华文楷体" pitchFamily="2" charset="-122"/>
                <a:ea typeface="华文楷体" pitchFamily="2" charset="-122"/>
              </a:rPr>
              <a:t>S</a:t>
            </a:r>
            <a:r>
              <a:rPr lang="en-US" altLang="zh-CN" sz="2000" baseline="-25000" dirty="0">
                <a:latin typeface="华文楷体" pitchFamily="2" charset="-122"/>
                <a:ea typeface="华文楷体" pitchFamily="2" charset="-122"/>
              </a:rPr>
              <a:t>i</a:t>
            </a:r>
            <a:r>
              <a:rPr lang="en-US" altLang="zh-CN" sz="2000" dirty="0">
                <a:latin typeface="华文楷体" pitchFamily="2" charset="-122"/>
                <a:ea typeface="华文楷体" pitchFamily="2" charset="-122"/>
              </a:rPr>
              <a:t>&lt;</a:t>
            </a:r>
            <a:r>
              <a:rPr lang="en-US" altLang="zh-CN" sz="2000" dirty="0" err="1">
                <a:latin typeface="华文楷体" pitchFamily="2" charset="-122"/>
                <a:ea typeface="华文楷体" pitchFamily="2" charset="-122"/>
              </a:rPr>
              <a:t>t</a:t>
            </a:r>
            <a:r>
              <a:rPr lang="en-US" altLang="zh-CN" sz="2000" baseline="-25000" dirty="0" err="1">
                <a:latin typeface="华文楷体" pitchFamily="2" charset="-122"/>
                <a:ea typeface="华文楷体" pitchFamily="2" charset="-122"/>
              </a:rPr>
              <a:t>i</a:t>
            </a:r>
            <a:r>
              <a:rPr lang="zh-CN" altLang="en-US" sz="2000" dirty="0">
                <a:latin typeface="华文楷体" pitchFamily="2" charset="-122"/>
                <a:ea typeface="华文楷体" pitchFamily="2" charset="-122"/>
              </a:rPr>
              <a:t>的阻塞队列中；</a:t>
            </a:r>
            <a:endParaRPr lang="en-US" altLang="zh-CN" sz="2000" dirty="0">
              <a:latin typeface="华文楷体" pitchFamily="2" charset="-122"/>
              <a:ea typeface="华文楷体" pitchFamily="2" charset="-122"/>
            </a:endParaRPr>
          </a:p>
          <a:p>
            <a:pPr>
              <a:defRPr/>
            </a:pPr>
            <a:r>
              <a:rPr lang="en-US" altLang="zh-CN" sz="2000" dirty="0">
                <a:latin typeface="华文楷体" pitchFamily="2" charset="-122"/>
                <a:ea typeface="华文楷体" pitchFamily="2" charset="-122"/>
              </a:rPr>
              <a:t>2</a:t>
            </a:r>
            <a:r>
              <a:rPr lang="zh-CN" altLang="en-US" sz="2000" dirty="0">
                <a:latin typeface="华文楷体" pitchFamily="2" charset="-122"/>
                <a:ea typeface="华文楷体" pitchFamily="2" charset="-122"/>
              </a:rPr>
              <a:t>）将程序指针指向该进程中</a:t>
            </a:r>
            <a:r>
              <a:rPr lang="en-US" altLang="zh-CN" sz="2000" dirty="0" err="1">
                <a:latin typeface="华文楷体" pitchFamily="2" charset="-122"/>
                <a:ea typeface="华文楷体" pitchFamily="2" charset="-122"/>
              </a:rPr>
              <a:t>Swait</a:t>
            </a:r>
            <a:r>
              <a:rPr lang="zh-CN" altLang="en-US" sz="2000" dirty="0">
                <a:latin typeface="华文楷体" pitchFamily="2" charset="-122"/>
                <a:ea typeface="华文楷体" pitchFamily="2" charset="-122"/>
              </a:rPr>
              <a:t>操作开始处</a:t>
            </a:r>
          </a:p>
        </p:txBody>
      </p:sp>
      <p:grpSp>
        <p:nvGrpSpPr>
          <p:cNvPr id="4" name="组合 3"/>
          <p:cNvGrpSpPr/>
          <p:nvPr/>
        </p:nvGrpSpPr>
        <p:grpSpPr>
          <a:xfrm>
            <a:off x="7778034" y="1795143"/>
            <a:ext cx="3669594" cy="4046099"/>
            <a:chOff x="7778034" y="1795143"/>
            <a:chExt cx="3669594" cy="4046099"/>
          </a:xfrm>
        </p:grpSpPr>
        <p:sp>
          <p:nvSpPr>
            <p:cNvPr id="30" name="Text Box 4"/>
            <p:cNvSpPr txBox="1">
              <a:spLocks noChangeArrowheads="1"/>
            </p:cNvSpPr>
            <p:nvPr/>
          </p:nvSpPr>
          <p:spPr bwMode="auto">
            <a:xfrm>
              <a:off x="7778034" y="1795143"/>
              <a:ext cx="3669594" cy="400110"/>
            </a:xfrm>
            <a:prstGeom prst="rect">
              <a:avLst/>
            </a:prstGeom>
            <a:noFill/>
            <a:ln w="9525">
              <a:noFill/>
              <a:miter lim="800000"/>
              <a:headEnd/>
              <a:tailEnd/>
            </a:ln>
            <a:effectLst/>
          </p:spPr>
          <p:txBody>
            <a:bodyPr wrap="none">
              <a:spAutoFit/>
            </a:bodyPr>
            <a:lstStyle/>
            <a:p>
              <a:pPr>
                <a:defRPr/>
              </a:pPr>
              <a:r>
                <a:rPr kumimoji="0" lang="en-US" altLang="zh-CN" sz="2000" dirty="0" err="1">
                  <a:effectLst>
                    <a:outerShdw blurRad="38100" dist="38100" dir="2700000" algn="tl">
                      <a:srgbClr val="C0C0C0"/>
                    </a:outerShdw>
                  </a:effectLst>
                  <a:latin typeface="Arial" pitchFamily="34" charset="0"/>
                  <a:ea typeface="楷体_GB2312" pitchFamily="49" charset="-122"/>
                </a:rPr>
                <a:t>Ssignal</a:t>
              </a:r>
              <a:r>
                <a:rPr kumimoji="0" lang="zh-CN" altLang="en-US" sz="2000" dirty="0">
                  <a:effectLst>
                    <a:outerShdw blurRad="38100" dist="38100" dir="2700000" algn="tl">
                      <a:srgbClr val="C0C0C0"/>
                    </a:outerShdw>
                  </a:effectLst>
                  <a:latin typeface="Arial" pitchFamily="34" charset="0"/>
                  <a:ea typeface="楷体_GB2312" pitchFamily="49" charset="-122"/>
                </a:rPr>
                <a:t>（</a:t>
              </a:r>
              <a:r>
                <a:rPr kumimoji="0" lang="en-US" altLang="zh-CN" sz="2000" dirty="0">
                  <a:effectLst>
                    <a:outerShdw blurRad="38100" dist="38100" dir="2700000" algn="tl">
                      <a:srgbClr val="C0C0C0"/>
                    </a:outerShdw>
                  </a:effectLst>
                  <a:latin typeface="Arial" pitchFamily="34" charset="0"/>
                  <a:ea typeface="楷体_GB2312" pitchFamily="49" charset="-122"/>
                </a:rPr>
                <a:t>S</a:t>
              </a:r>
              <a:r>
                <a:rPr kumimoji="0" lang="en-US" altLang="zh-CN" sz="2000" baseline="-25000" dirty="0">
                  <a:effectLst>
                    <a:outerShdw blurRad="38100" dist="38100" dir="2700000" algn="tl">
                      <a:srgbClr val="C0C0C0"/>
                    </a:outerShdw>
                  </a:effectLst>
                  <a:latin typeface="Arial" pitchFamily="34" charset="0"/>
                  <a:ea typeface="楷体_GB2312" pitchFamily="49" charset="-122"/>
                </a:rPr>
                <a:t>1</a:t>
              </a:r>
              <a:r>
                <a:rPr kumimoji="0" lang="zh-CN" altLang="en-US" sz="2000" dirty="0">
                  <a:effectLst>
                    <a:outerShdw blurRad="38100" dist="38100" dir="2700000" algn="tl">
                      <a:srgbClr val="C0C0C0"/>
                    </a:outerShdw>
                  </a:effectLst>
                  <a:latin typeface="Arial" pitchFamily="34" charset="0"/>
                  <a:ea typeface="楷体_GB2312" pitchFamily="49" charset="-122"/>
                </a:rPr>
                <a:t>，</a:t>
              </a:r>
              <a:r>
                <a:rPr kumimoji="0" lang="en-US" altLang="zh-CN" sz="2000" dirty="0">
                  <a:effectLst>
                    <a:outerShdw blurRad="38100" dist="38100" dir="2700000" algn="tl">
                      <a:srgbClr val="C0C0C0"/>
                    </a:outerShdw>
                  </a:effectLst>
                  <a:latin typeface="Arial" pitchFamily="34" charset="0"/>
                  <a:ea typeface="楷体_GB2312" pitchFamily="49" charset="-122"/>
                </a:rPr>
                <a:t>d</a:t>
              </a:r>
              <a:r>
                <a:rPr kumimoji="0" lang="en-US" altLang="zh-CN" sz="2000" baseline="-25000" dirty="0">
                  <a:effectLst>
                    <a:outerShdw blurRad="38100" dist="38100" dir="2700000" algn="tl">
                      <a:srgbClr val="C0C0C0"/>
                    </a:outerShdw>
                  </a:effectLst>
                  <a:latin typeface="Arial" pitchFamily="34" charset="0"/>
                  <a:ea typeface="楷体_GB2312" pitchFamily="49" charset="-122"/>
                </a:rPr>
                <a:t>1</a:t>
              </a:r>
              <a:r>
                <a:rPr kumimoji="0" lang="en-US" altLang="zh-CN" sz="2000" dirty="0">
                  <a:effectLst>
                    <a:outerShdw blurRad="38100" dist="38100" dir="2700000" algn="tl">
                      <a:srgbClr val="C0C0C0"/>
                    </a:outerShdw>
                  </a:effectLst>
                  <a:latin typeface="Arial" pitchFamily="34" charset="0"/>
                  <a:ea typeface="楷体_GB2312" pitchFamily="49" charset="-122"/>
                </a:rPr>
                <a:t>……S</a:t>
              </a:r>
              <a:r>
                <a:rPr kumimoji="0" lang="en-US" altLang="zh-CN" sz="2000" baseline="-25000" dirty="0">
                  <a:effectLst>
                    <a:outerShdw blurRad="38100" dist="38100" dir="2700000" algn="tl">
                      <a:srgbClr val="C0C0C0"/>
                    </a:outerShdw>
                  </a:effectLst>
                  <a:latin typeface="Arial" pitchFamily="34" charset="0"/>
                  <a:ea typeface="楷体_GB2312" pitchFamily="49" charset="-122"/>
                </a:rPr>
                <a:t>n </a:t>
              </a:r>
              <a:r>
                <a:rPr kumimoji="0" lang="zh-CN" altLang="en-US" sz="2000" dirty="0">
                  <a:effectLst>
                    <a:outerShdw blurRad="38100" dist="38100" dir="2700000" algn="tl">
                      <a:srgbClr val="C0C0C0"/>
                    </a:outerShdw>
                  </a:effectLst>
                  <a:latin typeface="Arial" pitchFamily="34" charset="0"/>
                  <a:ea typeface="楷体_GB2312" pitchFamily="49" charset="-122"/>
                </a:rPr>
                <a:t>，</a:t>
              </a:r>
              <a:r>
                <a:rPr kumimoji="0" lang="en-US" altLang="zh-CN" sz="2000" dirty="0" err="1">
                  <a:effectLst>
                    <a:outerShdw blurRad="38100" dist="38100" dir="2700000" algn="tl">
                      <a:srgbClr val="C0C0C0"/>
                    </a:outerShdw>
                  </a:effectLst>
                  <a:latin typeface="Arial" pitchFamily="34" charset="0"/>
                  <a:ea typeface="楷体_GB2312" pitchFamily="49" charset="-122"/>
                </a:rPr>
                <a:t>d</a:t>
              </a:r>
              <a:r>
                <a:rPr kumimoji="0" lang="en-US" altLang="zh-CN" sz="2000" baseline="-25000" dirty="0" err="1">
                  <a:effectLst>
                    <a:outerShdw blurRad="38100" dist="38100" dir="2700000" algn="tl">
                      <a:srgbClr val="C0C0C0"/>
                    </a:outerShdw>
                  </a:effectLst>
                  <a:latin typeface="Arial" pitchFamily="34" charset="0"/>
                  <a:ea typeface="楷体_GB2312" pitchFamily="49" charset="-122"/>
                </a:rPr>
                <a:t>n</a:t>
              </a:r>
              <a:r>
                <a:rPr kumimoji="0" lang="en-US" altLang="zh-CN" sz="2000" baseline="-25000" dirty="0">
                  <a:effectLst>
                    <a:outerShdw blurRad="38100" dist="38100" dir="2700000" algn="tl">
                      <a:srgbClr val="C0C0C0"/>
                    </a:outerShdw>
                  </a:effectLst>
                  <a:latin typeface="Arial" pitchFamily="34" charset="0"/>
                  <a:ea typeface="楷体_GB2312" pitchFamily="49" charset="-122"/>
                </a:rPr>
                <a:t> </a:t>
              </a:r>
              <a:r>
                <a:rPr kumimoji="0" lang="zh-CN" altLang="en-US" sz="2000" dirty="0">
                  <a:effectLst>
                    <a:outerShdw blurRad="38100" dist="38100" dir="2700000" algn="tl">
                      <a:srgbClr val="C0C0C0"/>
                    </a:outerShdw>
                  </a:effectLst>
                  <a:latin typeface="Arial" pitchFamily="34" charset="0"/>
                  <a:ea typeface="楷体_GB2312" pitchFamily="49" charset="-122"/>
                </a:rPr>
                <a:t>）</a:t>
              </a:r>
            </a:p>
          </p:txBody>
        </p:sp>
        <p:sp>
          <p:nvSpPr>
            <p:cNvPr id="31" name="Rectangle 5"/>
            <p:cNvSpPr>
              <a:spLocks noChangeArrowheads="1"/>
            </p:cNvSpPr>
            <p:nvPr/>
          </p:nvSpPr>
          <p:spPr bwMode="auto">
            <a:xfrm>
              <a:off x="8782058" y="2662128"/>
              <a:ext cx="1661546" cy="1440687"/>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defRPr/>
              </a:pPr>
              <a:r>
                <a:rPr kumimoji="0" lang="en-US" altLang="zh-CN" sz="2000" dirty="0">
                  <a:effectLst>
                    <a:outerShdw blurRad="38100" dist="38100" dir="2700000" algn="tl">
                      <a:srgbClr val="FFFFFF"/>
                    </a:outerShdw>
                  </a:effectLst>
                  <a:latin typeface="Arial" pitchFamily="34" charset="0"/>
                  <a:ea typeface="楷体_GB2312" pitchFamily="49" charset="-122"/>
                </a:rPr>
                <a:t>S</a:t>
              </a:r>
              <a:r>
                <a:rPr kumimoji="0" lang="en-US" altLang="zh-CN" sz="2000" baseline="-25000" dirty="0">
                  <a:effectLst>
                    <a:outerShdw blurRad="38100" dist="38100" dir="2700000" algn="tl">
                      <a:srgbClr val="FFFFFF"/>
                    </a:outerShdw>
                  </a:effectLst>
                  <a:latin typeface="Arial" pitchFamily="34" charset="0"/>
                  <a:ea typeface="楷体_GB2312" pitchFamily="49" charset="-122"/>
                </a:rPr>
                <a:t>1</a:t>
              </a:r>
              <a:r>
                <a:rPr kumimoji="0" lang="en-US" altLang="zh-CN" sz="2000" dirty="0">
                  <a:effectLst>
                    <a:outerShdw blurRad="38100" dist="38100" dir="2700000" algn="tl">
                      <a:srgbClr val="FFFFFF"/>
                    </a:outerShdw>
                  </a:effectLst>
                  <a:latin typeface="Arial" pitchFamily="34" charset="0"/>
                  <a:ea typeface="楷体_GB2312" pitchFamily="49" charset="-122"/>
                </a:rPr>
                <a:t>=S</a:t>
              </a:r>
              <a:r>
                <a:rPr kumimoji="0" lang="en-US" altLang="zh-CN" sz="2000" baseline="-25000" dirty="0">
                  <a:effectLst>
                    <a:outerShdw blurRad="38100" dist="38100" dir="2700000" algn="tl">
                      <a:srgbClr val="FFFFFF"/>
                    </a:outerShdw>
                  </a:effectLst>
                  <a:latin typeface="Arial" pitchFamily="34" charset="0"/>
                  <a:ea typeface="楷体_GB2312" pitchFamily="49" charset="-122"/>
                </a:rPr>
                <a:t>1</a:t>
              </a:r>
              <a:r>
                <a:rPr kumimoji="0" lang="zh-CN" altLang="en-US" sz="2000" dirty="0">
                  <a:effectLst>
                    <a:outerShdw blurRad="38100" dist="38100" dir="2700000" algn="tl">
                      <a:srgbClr val="FFFFFF"/>
                    </a:outerShdw>
                  </a:effectLst>
                  <a:latin typeface="Arial" pitchFamily="34" charset="0"/>
                  <a:ea typeface="楷体_GB2312" pitchFamily="49" charset="-122"/>
                </a:rPr>
                <a:t>＋</a:t>
              </a:r>
              <a:r>
                <a:rPr kumimoji="0" lang="en-US" altLang="zh-CN" sz="2000" dirty="0">
                  <a:effectLst>
                    <a:outerShdw blurRad="38100" dist="38100" dir="2700000" algn="tl">
                      <a:srgbClr val="FFFFFF"/>
                    </a:outerShdw>
                  </a:effectLst>
                  <a:latin typeface="Arial" pitchFamily="34" charset="0"/>
                  <a:ea typeface="楷体_GB2312" pitchFamily="49" charset="-122"/>
                </a:rPr>
                <a:t>d</a:t>
              </a:r>
              <a:r>
                <a:rPr kumimoji="0" lang="en-US" altLang="zh-CN" sz="2000" baseline="-25000" dirty="0">
                  <a:effectLst>
                    <a:outerShdw blurRad="38100" dist="38100" dir="2700000" algn="tl">
                      <a:srgbClr val="FFFFFF"/>
                    </a:outerShdw>
                  </a:effectLst>
                  <a:latin typeface="Arial" pitchFamily="34" charset="0"/>
                  <a:ea typeface="楷体_GB2312" pitchFamily="49" charset="-122"/>
                </a:rPr>
                <a:t>1</a:t>
              </a:r>
              <a:r>
                <a:rPr kumimoji="0" lang="zh-CN" altLang="en-US" sz="2000" dirty="0">
                  <a:effectLst>
                    <a:outerShdw blurRad="38100" dist="38100" dir="2700000" algn="tl">
                      <a:srgbClr val="FFFFFF"/>
                    </a:outerShdw>
                  </a:effectLst>
                  <a:latin typeface="Arial" pitchFamily="34" charset="0"/>
                  <a:ea typeface="楷体_GB2312" pitchFamily="49" charset="-122"/>
                </a:rPr>
                <a:t>；</a:t>
              </a:r>
            </a:p>
            <a:p>
              <a:pPr algn="ctr">
                <a:defRPr/>
              </a:pPr>
              <a:r>
                <a:rPr kumimoji="0" lang="en-US" altLang="zh-CN" sz="2000" dirty="0">
                  <a:effectLst>
                    <a:outerShdw blurRad="38100" dist="38100" dir="2700000" algn="tl">
                      <a:srgbClr val="FFFFFF"/>
                    </a:outerShdw>
                  </a:effectLst>
                  <a:latin typeface="Arial" pitchFamily="34" charset="0"/>
                  <a:ea typeface="楷体_GB2312" pitchFamily="49" charset="-122"/>
                </a:rPr>
                <a:t>S</a:t>
              </a:r>
              <a:r>
                <a:rPr kumimoji="0" lang="en-US" altLang="zh-CN" sz="2000" baseline="-25000" dirty="0">
                  <a:effectLst>
                    <a:outerShdw blurRad="38100" dist="38100" dir="2700000" algn="tl">
                      <a:srgbClr val="FFFFFF"/>
                    </a:outerShdw>
                  </a:effectLst>
                  <a:latin typeface="Arial" pitchFamily="34" charset="0"/>
                  <a:ea typeface="楷体_GB2312" pitchFamily="49" charset="-122"/>
                </a:rPr>
                <a:t>2</a:t>
              </a:r>
              <a:r>
                <a:rPr kumimoji="0" lang="en-US" altLang="zh-CN" sz="2000" dirty="0">
                  <a:effectLst>
                    <a:outerShdw blurRad="38100" dist="38100" dir="2700000" algn="tl">
                      <a:srgbClr val="FFFFFF"/>
                    </a:outerShdw>
                  </a:effectLst>
                  <a:latin typeface="Arial" pitchFamily="34" charset="0"/>
                  <a:ea typeface="楷体_GB2312" pitchFamily="49" charset="-122"/>
                </a:rPr>
                <a:t>=S</a:t>
              </a:r>
              <a:r>
                <a:rPr kumimoji="0" lang="en-US" altLang="zh-CN" sz="2000" baseline="-25000" dirty="0">
                  <a:effectLst>
                    <a:outerShdw blurRad="38100" dist="38100" dir="2700000" algn="tl">
                      <a:srgbClr val="FFFFFF"/>
                    </a:outerShdw>
                  </a:effectLst>
                  <a:latin typeface="Arial" pitchFamily="34" charset="0"/>
                  <a:ea typeface="楷体_GB2312" pitchFamily="49" charset="-122"/>
                </a:rPr>
                <a:t>2</a:t>
              </a:r>
              <a:r>
                <a:rPr kumimoji="0" lang="zh-CN" altLang="en-US" sz="2000" dirty="0">
                  <a:effectLst>
                    <a:outerShdw blurRad="38100" dist="38100" dir="2700000" algn="tl">
                      <a:srgbClr val="FFFFFF"/>
                    </a:outerShdw>
                  </a:effectLst>
                  <a:latin typeface="Arial" pitchFamily="34" charset="0"/>
                  <a:ea typeface="楷体_GB2312" pitchFamily="49" charset="-122"/>
                </a:rPr>
                <a:t>＋</a:t>
              </a:r>
              <a:r>
                <a:rPr kumimoji="0" lang="en-US" altLang="zh-CN" sz="2000" dirty="0">
                  <a:effectLst>
                    <a:outerShdw blurRad="38100" dist="38100" dir="2700000" algn="tl">
                      <a:srgbClr val="FFFFFF"/>
                    </a:outerShdw>
                  </a:effectLst>
                  <a:latin typeface="Arial" pitchFamily="34" charset="0"/>
                  <a:ea typeface="楷体_GB2312" pitchFamily="49" charset="-122"/>
                </a:rPr>
                <a:t>d</a:t>
              </a:r>
              <a:r>
                <a:rPr kumimoji="0" lang="en-US" altLang="zh-CN" sz="2000" baseline="-25000" dirty="0">
                  <a:effectLst>
                    <a:outerShdw blurRad="38100" dist="38100" dir="2700000" algn="tl">
                      <a:srgbClr val="FFFFFF"/>
                    </a:outerShdw>
                  </a:effectLst>
                  <a:latin typeface="Arial" pitchFamily="34" charset="0"/>
                  <a:ea typeface="楷体_GB2312" pitchFamily="49" charset="-122"/>
                </a:rPr>
                <a:t>2</a:t>
              </a:r>
              <a:r>
                <a:rPr kumimoji="0" lang="zh-CN" altLang="en-US" sz="2000" dirty="0">
                  <a:effectLst>
                    <a:outerShdw blurRad="38100" dist="38100" dir="2700000" algn="tl">
                      <a:srgbClr val="FFFFFF"/>
                    </a:outerShdw>
                  </a:effectLst>
                  <a:latin typeface="Arial" pitchFamily="34" charset="0"/>
                  <a:ea typeface="楷体_GB2312" pitchFamily="49" charset="-122"/>
                </a:rPr>
                <a:t>；</a:t>
              </a:r>
            </a:p>
            <a:p>
              <a:pPr algn="ctr">
                <a:defRPr/>
              </a:pPr>
              <a:r>
                <a:rPr kumimoji="0" lang="en-US" altLang="zh-CN" sz="2000" dirty="0">
                  <a:effectLst>
                    <a:outerShdw blurRad="38100" dist="38100" dir="2700000" algn="tl">
                      <a:srgbClr val="FFFFFF"/>
                    </a:outerShdw>
                  </a:effectLst>
                  <a:latin typeface="Arial" pitchFamily="34" charset="0"/>
                  <a:ea typeface="楷体_GB2312" pitchFamily="49" charset="-122"/>
                </a:rPr>
                <a:t>……</a:t>
              </a:r>
            </a:p>
            <a:p>
              <a:pPr algn="ctr">
                <a:defRPr/>
              </a:pPr>
              <a:r>
                <a:rPr kumimoji="0" lang="en-US" altLang="zh-CN" sz="2000" dirty="0">
                  <a:effectLst>
                    <a:outerShdw blurRad="38100" dist="38100" dir="2700000" algn="tl">
                      <a:srgbClr val="FFFFFF"/>
                    </a:outerShdw>
                  </a:effectLst>
                  <a:latin typeface="Arial" pitchFamily="34" charset="0"/>
                  <a:ea typeface="楷体_GB2312" pitchFamily="49" charset="-122"/>
                </a:rPr>
                <a:t>S</a:t>
              </a:r>
              <a:r>
                <a:rPr kumimoji="0" lang="en-US" altLang="zh-CN" sz="2000" baseline="-25000" dirty="0">
                  <a:effectLst>
                    <a:outerShdw blurRad="38100" dist="38100" dir="2700000" algn="tl">
                      <a:srgbClr val="FFFFFF"/>
                    </a:outerShdw>
                  </a:effectLst>
                  <a:latin typeface="Arial" pitchFamily="34" charset="0"/>
                  <a:ea typeface="楷体_GB2312" pitchFamily="49" charset="-122"/>
                </a:rPr>
                <a:t>n</a:t>
              </a:r>
              <a:r>
                <a:rPr kumimoji="0" lang="en-US" altLang="zh-CN" sz="2000" dirty="0">
                  <a:effectLst>
                    <a:outerShdw blurRad="38100" dist="38100" dir="2700000" algn="tl">
                      <a:srgbClr val="FFFFFF"/>
                    </a:outerShdw>
                  </a:effectLst>
                  <a:latin typeface="Arial" pitchFamily="34" charset="0"/>
                  <a:ea typeface="楷体_GB2312" pitchFamily="49" charset="-122"/>
                </a:rPr>
                <a:t>=S</a:t>
              </a:r>
              <a:r>
                <a:rPr kumimoji="0" lang="en-US" altLang="zh-CN" sz="2000" baseline="-25000" dirty="0">
                  <a:effectLst>
                    <a:outerShdw blurRad="38100" dist="38100" dir="2700000" algn="tl">
                      <a:srgbClr val="FFFFFF"/>
                    </a:outerShdw>
                  </a:effectLst>
                  <a:latin typeface="Arial" pitchFamily="34" charset="0"/>
                  <a:ea typeface="楷体_GB2312" pitchFamily="49" charset="-122"/>
                </a:rPr>
                <a:t>n</a:t>
              </a:r>
              <a:r>
                <a:rPr kumimoji="0" lang="zh-CN" altLang="en-US" sz="2000" dirty="0">
                  <a:effectLst>
                    <a:outerShdw blurRad="38100" dist="38100" dir="2700000" algn="tl">
                      <a:srgbClr val="FFFFFF"/>
                    </a:outerShdw>
                  </a:effectLst>
                  <a:latin typeface="Arial" pitchFamily="34" charset="0"/>
                  <a:ea typeface="楷体_GB2312" pitchFamily="49" charset="-122"/>
                </a:rPr>
                <a:t>＋</a:t>
              </a:r>
              <a:r>
                <a:rPr kumimoji="0" lang="en-US" altLang="zh-CN" sz="2000" dirty="0" err="1">
                  <a:effectLst>
                    <a:outerShdw blurRad="38100" dist="38100" dir="2700000" algn="tl">
                      <a:srgbClr val="FFFFFF"/>
                    </a:outerShdw>
                  </a:effectLst>
                  <a:latin typeface="Arial" pitchFamily="34" charset="0"/>
                  <a:ea typeface="楷体_GB2312" pitchFamily="49" charset="-122"/>
                </a:rPr>
                <a:t>d</a:t>
              </a:r>
              <a:r>
                <a:rPr kumimoji="0" lang="en-US" altLang="zh-CN" sz="2000" baseline="-25000" dirty="0" err="1">
                  <a:effectLst>
                    <a:outerShdw blurRad="38100" dist="38100" dir="2700000" algn="tl">
                      <a:srgbClr val="FFFFFF"/>
                    </a:outerShdw>
                  </a:effectLst>
                  <a:latin typeface="Arial" pitchFamily="34" charset="0"/>
                  <a:ea typeface="楷体_GB2312" pitchFamily="49" charset="-122"/>
                </a:rPr>
                <a:t>n</a:t>
              </a:r>
              <a:r>
                <a:rPr kumimoji="0" lang="zh-CN" altLang="en-US" sz="2000" dirty="0">
                  <a:effectLst>
                    <a:outerShdw blurRad="38100" dist="38100" dir="2700000" algn="tl">
                      <a:srgbClr val="FFFFFF"/>
                    </a:outerShdw>
                  </a:effectLst>
                  <a:latin typeface="Arial" pitchFamily="34" charset="0"/>
                  <a:ea typeface="楷体_GB2312" pitchFamily="49" charset="-122"/>
                </a:rPr>
                <a:t>；</a:t>
              </a:r>
            </a:p>
          </p:txBody>
        </p:sp>
        <p:sp>
          <p:nvSpPr>
            <p:cNvPr id="32" name="Line 6"/>
            <p:cNvSpPr>
              <a:spLocks noChangeShapeType="1"/>
            </p:cNvSpPr>
            <p:nvPr/>
          </p:nvSpPr>
          <p:spPr bwMode="auto">
            <a:xfrm>
              <a:off x="9612831" y="2216040"/>
              <a:ext cx="0" cy="4318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p>
          </p:txBody>
        </p:sp>
        <p:sp>
          <p:nvSpPr>
            <p:cNvPr id="33" name="Rectangle 7"/>
            <p:cNvSpPr>
              <a:spLocks noChangeArrowheads="1"/>
            </p:cNvSpPr>
            <p:nvPr/>
          </p:nvSpPr>
          <p:spPr bwMode="auto">
            <a:xfrm>
              <a:off x="8176035" y="4675474"/>
              <a:ext cx="2873591" cy="1165768"/>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defRPr/>
              </a:pPr>
              <a:r>
                <a:rPr kumimoji="0" lang="zh-CN" altLang="en-US" sz="2000" dirty="0">
                  <a:latin typeface="华文楷体" pitchFamily="2" charset="-122"/>
                  <a:ea typeface="华文楷体" pitchFamily="2" charset="-122"/>
                </a:rPr>
                <a:t>将与</a:t>
              </a:r>
              <a:r>
                <a:rPr kumimoji="0" lang="en-US" altLang="zh-CN" sz="2000" dirty="0">
                  <a:latin typeface="华文楷体" pitchFamily="2" charset="-122"/>
                  <a:ea typeface="华文楷体" pitchFamily="2" charset="-122"/>
                </a:rPr>
                <a:t>S</a:t>
              </a:r>
              <a:r>
                <a:rPr kumimoji="0" lang="en-US" altLang="zh-CN" sz="2000" baseline="-25000" dirty="0">
                  <a:latin typeface="华文楷体" pitchFamily="2" charset="-122"/>
                  <a:ea typeface="华文楷体" pitchFamily="2" charset="-122"/>
                </a:rPr>
                <a:t>i</a:t>
              </a:r>
              <a:r>
                <a:rPr kumimoji="0" lang="zh-CN" altLang="en-US" sz="2000" dirty="0">
                  <a:latin typeface="华文楷体" pitchFamily="2" charset="-122"/>
                  <a:ea typeface="华文楷体" pitchFamily="2" charset="-122"/>
                </a:rPr>
                <a:t>相关的阻塞队列</a:t>
              </a:r>
              <a:endParaRPr kumimoji="0" lang="en-US" altLang="zh-CN" sz="2000" dirty="0">
                <a:latin typeface="华文楷体" pitchFamily="2" charset="-122"/>
                <a:ea typeface="华文楷体" pitchFamily="2" charset="-122"/>
              </a:endParaRPr>
            </a:p>
            <a:p>
              <a:pPr>
                <a:defRPr/>
              </a:pPr>
              <a:r>
                <a:rPr kumimoji="0" lang="zh-CN" altLang="en-US" sz="2000" dirty="0">
                  <a:latin typeface="华文楷体" pitchFamily="2" charset="-122"/>
                  <a:ea typeface="华文楷体" pitchFamily="2" charset="-122"/>
                </a:rPr>
                <a:t>中的所有进程移到就绪</a:t>
              </a:r>
              <a:endParaRPr kumimoji="0" lang="en-US" altLang="zh-CN" sz="2000" dirty="0">
                <a:latin typeface="华文楷体" pitchFamily="2" charset="-122"/>
                <a:ea typeface="华文楷体" pitchFamily="2" charset="-122"/>
              </a:endParaRPr>
            </a:p>
            <a:p>
              <a:pPr>
                <a:defRPr/>
              </a:pPr>
              <a:r>
                <a:rPr kumimoji="0" lang="zh-CN" altLang="en-US" sz="2000" dirty="0">
                  <a:latin typeface="华文楷体" pitchFamily="2" charset="-122"/>
                  <a:ea typeface="华文楷体" pitchFamily="2" charset="-122"/>
                </a:rPr>
                <a:t>队列</a:t>
              </a:r>
            </a:p>
          </p:txBody>
        </p:sp>
        <p:sp>
          <p:nvSpPr>
            <p:cNvPr id="34" name="Line 8"/>
            <p:cNvSpPr>
              <a:spLocks noChangeShapeType="1"/>
            </p:cNvSpPr>
            <p:nvPr/>
          </p:nvSpPr>
          <p:spPr bwMode="auto">
            <a:xfrm>
              <a:off x="9612831" y="4104239"/>
              <a:ext cx="0" cy="57626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000"/>
            </a:p>
          </p:txBody>
        </p:sp>
      </p:grpSp>
    </p:spTree>
    <p:extLst>
      <p:ext uri="{BB962C8B-B14F-4D97-AF65-F5344CB8AC3E}">
        <p14:creationId xmlns:p14="http://schemas.microsoft.com/office/powerpoint/2010/main" val="3016539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848833" y="202028"/>
            <a:ext cx="3967716" cy="457196"/>
          </a:xfrm>
        </p:spPr>
        <p:txBody>
          <a:bodyPr/>
          <a:lstStyle/>
          <a:p>
            <a:r>
              <a:rPr lang="en-US" altLang="zh-CN" dirty="0"/>
              <a:t>3.</a:t>
            </a:r>
            <a:r>
              <a:rPr lang="zh-CN" altLang="en-US" dirty="0"/>
              <a:t>信号量机制</a:t>
            </a:r>
          </a:p>
        </p:txBody>
      </p:sp>
      <p:grpSp>
        <p:nvGrpSpPr>
          <p:cNvPr id="2" name="组合 3"/>
          <p:cNvGrpSpPr/>
          <p:nvPr/>
        </p:nvGrpSpPr>
        <p:grpSpPr>
          <a:xfrm>
            <a:off x="1004177" y="1027910"/>
            <a:ext cx="5314736" cy="665162"/>
            <a:chOff x="1004177" y="1027910"/>
            <a:chExt cx="5314736" cy="665162"/>
          </a:xfrm>
        </p:grpSpPr>
        <p:sp>
          <p:nvSpPr>
            <p:cNvPr id="5" name="矩形 4"/>
            <p:cNvSpPr/>
            <p:nvPr/>
          </p:nvSpPr>
          <p:spPr>
            <a:xfrm>
              <a:off x="1150228" y="1561310"/>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矩形 5"/>
            <p:cNvSpPr/>
            <p:nvPr/>
          </p:nvSpPr>
          <p:spPr>
            <a:xfrm>
              <a:off x="2058278" y="1561310"/>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7" name="文本框 55"/>
            <p:cNvSpPr txBox="1">
              <a:spLocks noChangeArrowheads="1"/>
            </p:cNvSpPr>
            <p:nvPr/>
          </p:nvSpPr>
          <p:spPr bwMode="auto">
            <a:xfrm>
              <a:off x="1004177" y="1027910"/>
              <a:ext cx="53147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信号量集特殊情况</a:t>
              </a:r>
            </a:p>
          </p:txBody>
        </p:sp>
      </p:grpSp>
      <p:sp>
        <p:nvSpPr>
          <p:cNvPr id="17" name="文本框 19"/>
          <p:cNvSpPr txBox="1">
            <a:spLocks noChangeArrowheads="1"/>
          </p:cNvSpPr>
          <p:nvPr/>
        </p:nvSpPr>
        <p:spPr bwMode="auto">
          <a:xfrm>
            <a:off x="1060948" y="1794727"/>
            <a:ext cx="10362227"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en-US" altLang="zh-CN" sz="2400" dirty="0" err="1"/>
              <a:t>Swait</a:t>
            </a:r>
            <a:r>
              <a:rPr lang="en-US" altLang="zh-CN" sz="2400" dirty="0"/>
              <a:t>(S, d, d)</a:t>
            </a:r>
            <a:r>
              <a:rPr lang="zh-CN" altLang="en-US" sz="2400" dirty="0"/>
              <a:t>。 此时在信号量集中只有一个信号量</a:t>
            </a:r>
            <a:r>
              <a:rPr lang="en-US" altLang="zh-CN" sz="2400" dirty="0"/>
              <a:t>S</a:t>
            </a:r>
            <a:r>
              <a:rPr lang="zh-CN" altLang="en-US" sz="2400" dirty="0"/>
              <a:t>， 但允许它每次申请</a:t>
            </a:r>
            <a:r>
              <a:rPr lang="en-US" altLang="zh-CN" sz="2400" dirty="0"/>
              <a:t>d</a:t>
            </a:r>
            <a:r>
              <a:rPr lang="zh-CN" altLang="en-US" sz="2400" dirty="0"/>
              <a:t>个资源，当现有资源数少于</a:t>
            </a:r>
            <a:r>
              <a:rPr lang="en-US" altLang="zh-CN" sz="2400" dirty="0"/>
              <a:t>d</a:t>
            </a:r>
            <a:r>
              <a:rPr lang="zh-CN" altLang="en-US" sz="2400" dirty="0"/>
              <a:t>时，不予分配。</a:t>
            </a:r>
            <a:endParaRPr lang="en-US" altLang="zh-CN" sz="2400" dirty="0"/>
          </a:p>
          <a:p>
            <a:pPr marL="0" lvl="2" indent="0">
              <a:buBlip>
                <a:blip r:embed="rId2"/>
              </a:buBlip>
            </a:pPr>
            <a:r>
              <a:rPr lang="en-US" altLang="zh-CN" sz="2400" dirty="0" err="1"/>
              <a:t>Swait</a:t>
            </a:r>
            <a:r>
              <a:rPr lang="en-US" altLang="zh-CN" sz="2400" dirty="0"/>
              <a:t>(S, 1, 1)</a:t>
            </a:r>
            <a:r>
              <a:rPr lang="zh-CN" altLang="en-US" sz="2400" dirty="0"/>
              <a:t>。 此时的信号量集已蜕化为一般的记录型信号量</a:t>
            </a:r>
            <a:r>
              <a:rPr lang="en-US" altLang="zh-CN" sz="2400" dirty="0"/>
              <a:t>(S</a:t>
            </a:r>
            <a:r>
              <a:rPr lang="zh-CN" altLang="en-US" sz="2400" dirty="0"/>
              <a:t>＞</a:t>
            </a:r>
            <a:r>
              <a:rPr lang="en-US" altLang="zh-CN" sz="2400" dirty="0"/>
              <a:t>1</a:t>
            </a:r>
            <a:r>
              <a:rPr lang="zh-CN" altLang="en-US" sz="2400" dirty="0"/>
              <a:t>时</a:t>
            </a:r>
            <a:r>
              <a:rPr lang="en-US" altLang="zh-CN" sz="2400" dirty="0"/>
              <a:t>)</a:t>
            </a:r>
            <a:r>
              <a:rPr lang="zh-CN" altLang="en-US" sz="2400" dirty="0"/>
              <a:t>或互斥信号量</a:t>
            </a:r>
            <a:r>
              <a:rPr lang="en-US" altLang="zh-CN" sz="2400" dirty="0"/>
              <a:t>(S=1</a:t>
            </a:r>
            <a:r>
              <a:rPr lang="zh-CN" altLang="en-US" sz="2400" dirty="0"/>
              <a:t>时</a:t>
            </a:r>
            <a:r>
              <a:rPr lang="en-US" altLang="zh-CN" sz="2400" dirty="0"/>
              <a:t>)</a:t>
            </a:r>
            <a:r>
              <a:rPr lang="zh-CN" altLang="en-US" sz="2400" dirty="0"/>
              <a:t>。</a:t>
            </a:r>
            <a:endParaRPr lang="en-US" altLang="zh-CN" sz="2400" dirty="0"/>
          </a:p>
          <a:p>
            <a:pPr marL="0" lvl="2" indent="0">
              <a:buBlip>
                <a:blip r:embed="rId2"/>
              </a:buBlip>
            </a:pPr>
            <a:r>
              <a:rPr lang="en-US" altLang="zh-CN" sz="2400" dirty="0" err="1"/>
              <a:t>Swait</a:t>
            </a:r>
            <a:r>
              <a:rPr lang="en-US" altLang="zh-CN" sz="2400" dirty="0"/>
              <a:t>(S, 1, 0)</a:t>
            </a:r>
            <a:r>
              <a:rPr lang="zh-CN" altLang="en-US" sz="2400" dirty="0"/>
              <a:t>。这是一种很特殊且很有用的信号量操作。当</a:t>
            </a:r>
            <a:r>
              <a:rPr lang="en-US" altLang="zh-CN" sz="2400" dirty="0"/>
              <a:t>S≥1</a:t>
            </a:r>
            <a:r>
              <a:rPr lang="zh-CN" altLang="en-US" sz="2400" dirty="0"/>
              <a:t>时，允许多个进程进入某特定区；当</a:t>
            </a:r>
            <a:r>
              <a:rPr lang="en-US" altLang="zh-CN" sz="2400" dirty="0"/>
              <a:t>S</a:t>
            </a:r>
            <a:r>
              <a:rPr lang="zh-CN" altLang="en-US" sz="2400" dirty="0"/>
              <a:t>变为</a:t>
            </a:r>
            <a:r>
              <a:rPr lang="en-US" altLang="zh-CN" sz="2400" dirty="0"/>
              <a:t>0</a:t>
            </a:r>
            <a:r>
              <a:rPr lang="zh-CN" altLang="en-US" sz="2400" dirty="0"/>
              <a:t>后，将阻止任何进程进入特定区。换言之，它相当于一个可控开关。 </a:t>
            </a:r>
          </a:p>
        </p:txBody>
      </p:sp>
      <p:sp>
        <p:nvSpPr>
          <p:cNvPr id="11" name="Rectangle 3"/>
          <p:cNvSpPr>
            <a:spLocks noChangeArrowheads="1"/>
          </p:cNvSpPr>
          <p:nvPr/>
        </p:nvSpPr>
        <p:spPr bwMode="auto">
          <a:xfrm>
            <a:off x="4451639" y="4134069"/>
            <a:ext cx="2808288" cy="2580635"/>
          </a:xfrm>
          <a:prstGeom prst="rect">
            <a:avLst/>
          </a:prstGeom>
          <a:solidFill>
            <a:srgbClr val="008000"/>
          </a:solidFill>
          <a:ln w="9525">
            <a:solidFill>
              <a:schemeClr val="tx1"/>
            </a:solidFill>
            <a:miter lim="800000"/>
            <a:headEnd/>
            <a:tailEnd/>
          </a:ln>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a:p>
        </p:txBody>
      </p:sp>
      <p:sp>
        <p:nvSpPr>
          <p:cNvPr id="12" name="Text Box 4"/>
          <p:cNvSpPr txBox="1">
            <a:spLocks noChangeArrowheads="1"/>
          </p:cNvSpPr>
          <p:nvPr/>
        </p:nvSpPr>
        <p:spPr bwMode="auto">
          <a:xfrm>
            <a:off x="4810414" y="4205506"/>
            <a:ext cx="223202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50000"/>
              </a:spcBef>
            </a:pPr>
            <a:r>
              <a:rPr kumimoji="0" lang="en-US" altLang="zh-CN" sz="2000" dirty="0">
                <a:solidFill>
                  <a:schemeClr val="bg1"/>
                </a:solidFill>
                <a:latin typeface="Arial" pitchFamily="34" charset="0"/>
              </a:rPr>
              <a:t>S=1</a:t>
            </a:r>
          </a:p>
          <a:p>
            <a:pPr eaLnBrk="1" hangingPunct="1">
              <a:spcBef>
                <a:spcPct val="50000"/>
              </a:spcBef>
            </a:pPr>
            <a:r>
              <a:rPr kumimoji="0" lang="en-US" altLang="zh-CN" sz="2000" dirty="0" err="1">
                <a:solidFill>
                  <a:schemeClr val="bg1"/>
                </a:solidFill>
                <a:latin typeface="Arial" pitchFamily="34" charset="0"/>
              </a:rPr>
              <a:t>Swait</a:t>
            </a:r>
            <a:r>
              <a:rPr kumimoji="0" lang="en-US" altLang="zh-CN" sz="2000" dirty="0">
                <a:solidFill>
                  <a:schemeClr val="bg1"/>
                </a:solidFill>
                <a:latin typeface="Arial" pitchFamily="34" charset="0"/>
              </a:rPr>
              <a:t>(S,1,0)</a:t>
            </a:r>
          </a:p>
        </p:txBody>
      </p:sp>
      <p:sp>
        <p:nvSpPr>
          <p:cNvPr id="13" name="Rectangle 5"/>
          <p:cNvSpPr>
            <a:spLocks noChangeArrowheads="1"/>
          </p:cNvSpPr>
          <p:nvPr/>
        </p:nvSpPr>
        <p:spPr bwMode="auto">
          <a:xfrm>
            <a:off x="4698780" y="5209577"/>
            <a:ext cx="2374900" cy="1296988"/>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ctr" eaLnBrk="1" hangingPunct="1"/>
            <a:endParaRPr kumimoji="0" lang="en-US" altLang="zh-CN" sz="1800">
              <a:latin typeface="Arial" pitchFamily="34" charset="0"/>
            </a:endParaRPr>
          </a:p>
          <a:p>
            <a:pPr algn="ctr" eaLnBrk="1" hangingPunct="1"/>
            <a:endParaRPr kumimoji="0" lang="en-US" altLang="zh-CN" sz="1800">
              <a:latin typeface="Arial" pitchFamily="34" charset="0"/>
            </a:endParaRPr>
          </a:p>
          <a:p>
            <a:pPr algn="ctr" eaLnBrk="1" hangingPunct="1"/>
            <a:endParaRPr kumimoji="0" lang="en-US" altLang="zh-CN" sz="1800">
              <a:latin typeface="Arial" pitchFamily="34" charset="0"/>
            </a:endParaRPr>
          </a:p>
          <a:p>
            <a:pPr algn="ctr" eaLnBrk="1" hangingPunct="1"/>
            <a:r>
              <a:rPr kumimoji="0" lang="en-US" altLang="zh-CN" sz="1800">
                <a:latin typeface="Arial" pitchFamily="34" charset="0"/>
              </a:rPr>
              <a:t>     </a:t>
            </a:r>
            <a:r>
              <a:rPr kumimoji="0" lang="zh-CN" altLang="en-US" sz="1800">
                <a:solidFill>
                  <a:srgbClr val="FF0000"/>
                </a:solidFill>
                <a:latin typeface="Arial" pitchFamily="34" charset="0"/>
              </a:rPr>
              <a:t>临界区</a:t>
            </a:r>
          </a:p>
        </p:txBody>
      </p:sp>
      <p:sp>
        <p:nvSpPr>
          <p:cNvPr id="14" name="Oval 6"/>
          <p:cNvSpPr>
            <a:spLocks noChangeArrowheads="1"/>
          </p:cNvSpPr>
          <p:nvPr/>
        </p:nvSpPr>
        <p:spPr bwMode="auto">
          <a:xfrm>
            <a:off x="4738977" y="5354834"/>
            <a:ext cx="433387" cy="503237"/>
          </a:xfrm>
          <a:prstGeom prst="ellipse">
            <a:avLst/>
          </a:prstGeom>
          <a:solidFill>
            <a:schemeClr val="bg1"/>
          </a:solidFill>
          <a:ln w="9525">
            <a:solidFill>
              <a:schemeClr val="tx1"/>
            </a:solidFill>
            <a:round/>
            <a:headEnd/>
            <a:tailEnd/>
          </a:ln>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ctr" eaLnBrk="1" hangingPunct="1"/>
            <a:r>
              <a:rPr kumimoji="0" lang="en-US" altLang="zh-CN" sz="1800">
                <a:latin typeface="Arial" pitchFamily="34" charset="0"/>
              </a:rPr>
              <a:t>P1</a:t>
            </a:r>
          </a:p>
        </p:txBody>
      </p:sp>
      <p:sp>
        <p:nvSpPr>
          <p:cNvPr id="15" name="Oval 7"/>
          <p:cNvSpPr>
            <a:spLocks noChangeArrowheads="1"/>
          </p:cNvSpPr>
          <p:nvPr/>
        </p:nvSpPr>
        <p:spPr bwMode="auto">
          <a:xfrm>
            <a:off x="5170777" y="5354834"/>
            <a:ext cx="433387" cy="503237"/>
          </a:xfrm>
          <a:prstGeom prst="ellipse">
            <a:avLst/>
          </a:prstGeom>
          <a:solidFill>
            <a:schemeClr val="bg1"/>
          </a:solidFill>
          <a:ln w="9525">
            <a:solidFill>
              <a:schemeClr val="tx1"/>
            </a:solidFill>
            <a:round/>
            <a:headEnd/>
            <a:tailEnd/>
          </a:ln>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ctr" eaLnBrk="1" hangingPunct="1"/>
            <a:r>
              <a:rPr kumimoji="0" lang="en-US" altLang="zh-CN" sz="1800">
                <a:latin typeface="Arial" pitchFamily="34" charset="0"/>
              </a:rPr>
              <a:t>P2</a:t>
            </a:r>
          </a:p>
        </p:txBody>
      </p:sp>
      <p:sp>
        <p:nvSpPr>
          <p:cNvPr id="20" name="Oval 8"/>
          <p:cNvSpPr>
            <a:spLocks noChangeArrowheads="1"/>
          </p:cNvSpPr>
          <p:nvPr/>
        </p:nvSpPr>
        <p:spPr bwMode="auto">
          <a:xfrm>
            <a:off x="5602577" y="5354834"/>
            <a:ext cx="433387" cy="503237"/>
          </a:xfrm>
          <a:prstGeom prst="ellipse">
            <a:avLst/>
          </a:prstGeom>
          <a:solidFill>
            <a:schemeClr val="bg1"/>
          </a:solidFill>
          <a:ln w="9525">
            <a:solidFill>
              <a:schemeClr val="tx1"/>
            </a:solidFill>
            <a:round/>
            <a:headEnd/>
            <a:tailEnd/>
          </a:ln>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ctr" eaLnBrk="1" hangingPunct="1"/>
            <a:r>
              <a:rPr kumimoji="0" lang="en-US" altLang="zh-CN" sz="1800">
                <a:latin typeface="Arial" pitchFamily="34" charset="0"/>
              </a:rPr>
              <a:t>P3</a:t>
            </a:r>
          </a:p>
        </p:txBody>
      </p:sp>
      <p:sp>
        <p:nvSpPr>
          <p:cNvPr id="21" name="Oval 9"/>
          <p:cNvSpPr>
            <a:spLocks noChangeArrowheads="1"/>
          </p:cNvSpPr>
          <p:nvPr/>
        </p:nvSpPr>
        <p:spPr bwMode="auto">
          <a:xfrm>
            <a:off x="6034377" y="5354834"/>
            <a:ext cx="433387" cy="503237"/>
          </a:xfrm>
          <a:prstGeom prst="ellipse">
            <a:avLst/>
          </a:prstGeom>
          <a:solidFill>
            <a:schemeClr val="bg1"/>
          </a:solidFill>
          <a:ln w="9525">
            <a:solidFill>
              <a:schemeClr val="tx1"/>
            </a:solidFill>
            <a:round/>
            <a:headEnd/>
            <a:tailEnd/>
          </a:ln>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ctr" eaLnBrk="1" hangingPunct="1"/>
            <a:r>
              <a:rPr kumimoji="0" lang="en-US" altLang="zh-CN" sz="1800">
                <a:latin typeface="Arial" pitchFamily="34" charset="0"/>
              </a:rPr>
              <a:t>…</a:t>
            </a:r>
          </a:p>
        </p:txBody>
      </p:sp>
      <p:sp>
        <p:nvSpPr>
          <p:cNvPr id="22" name="Oval 10"/>
          <p:cNvSpPr>
            <a:spLocks noChangeArrowheads="1"/>
          </p:cNvSpPr>
          <p:nvPr/>
        </p:nvSpPr>
        <p:spPr bwMode="auto">
          <a:xfrm>
            <a:off x="6539202" y="5354834"/>
            <a:ext cx="433387" cy="503237"/>
          </a:xfrm>
          <a:prstGeom prst="ellipse">
            <a:avLst/>
          </a:prstGeom>
          <a:solidFill>
            <a:schemeClr val="bg1"/>
          </a:solidFill>
          <a:ln w="9525">
            <a:solidFill>
              <a:schemeClr val="tx1"/>
            </a:solidFill>
            <a:round/>
            <a:headEnd/>
            <a:tailEnd/>
          </a:ln>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ctr" eaLnBrk="1" hangingPunct="1"/>
            <a:r>
              <a:rPr kumimoji="0" lang="en-US" altLang="zh-CN" sz="1800">
                <a:latin typeface="Arial" pitchFamily="34" charset="0"/>
              </a:rPr>
              <a:t>Pn</a:t>
            </a:r>
          </a:p>
        </p:txBody>
      </p:sp>
      <p:sp>
        <p:nvSpPr>
          <p:cNvPr id="23" name="Rectangle 11"/>
          <p:cNvSpPr>
            <a:spLocks noChangeArrowheads="1"/>
          </p:cNvSpPr>
          <p:nvPr/>
        </p:nvSpPr>
        <p:spPr bwMode="auto">
          <a:xfrm>
            <a:off x="7867412" y="4120422"/>
            <a:ext cx="2808288" cy="2604511"/>
          </a:xfrm>
          <a:prstGeom prst="rect">
            <a:avLst/>
          </a:prstGeom>
          <a:solidFill>
            <a:srgbClr val="008000"/>
          </a:solidFill>
          <a:ln w="9525">
            <a:solidFill>
              <a:schemeClr val="tx1"/>
            </a:solidFill>
            <a:miter lim="800000"/>
            <a:headEnd/>
            <a:tailEnd/>
          </a:ln>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a:p>
        </p:txBody>
      </p:sp>
      <p:sp>
        <p:nvSpPr>
          <p:cNvPr id="24" name="Text Box 12"/>
          <p:cNvSpPr txBox="1">
            <a:spLocks noChangeArrowheads="1"/>
          </p:cNvSpPr>
          <p:nvPr/>
        </p:nvSpPr>
        <p:spPr bwMode="auto">
          <a:xfrm>
            <a:off x="8226187" y="4191858"/>
            <a:ext cx="2232025"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50000"/>
              </a:spcBef>
            </a:pPr>
            <a:r>
              <a:rPr kumimoji="0" lang="en-US" altLang="zh-CN" sz="2000" dirty="0">
                <a:solidFill>
                  <a:schemeClr val="bg1"/>
                </a:solidFill>
                <a:latin typeface="Arial" pitchFamily="34" charset="0"/>
              </a:rPr>
              <a:t>S=0</a:t>
            </a:r>
          </a:p>
          <a:p>
            <a:pPr eaLnBrk="1" hangingPunct="1">
              <a:spcBef>
                <a:spcPct val="50000"/>
              </a:spcBef>
            </a:pPr>
            <a:r>
              <a:rPr kumimoji="0" lang="en-US" altLang="zh-CN" sz="2000" dirty="0" err="1">
                <a:solidFill>
                  <a:schemeClr val="bg1"/>
                </a:solidFill>
                <a:latin typeface="Arial" pitchFamily="34" charset="0"/>
              </a:rPr>
              <a:t>Swait</a:t>
            </a:r>
            <a:r>
              <a:rPr kumimoji="0" lang="en-US" altLang="zh-CN" sz="2000" dirty="0">
                <a:solidFill>
                  <a:schemeClr val="bg1"/>
                </a:solidFill>
                <a:latin typeface="Arial" pitchFamily="34" charset="0"/>
              </a:rPr>
              <a:t>(S,1,0)</a:t>
            </a:r>
          </a:p>
        </p:txBody>
      </p:sp>
      <p:sp>
        <p:nvSpPr>
          <p:cNvPr id="25" name="Rectangle 13"/>
          <p:cNvSpPr>
            <a:spLocks noChangeArrowheads="1"/>
          </p:cNvSpPr>
          <p:nvPr/>
        </p:nvSpPr>
        <p:spPr bwMode="auto">
          <a:xfrm>
            <a:off x="8083290" y="5223848"/>
            <a:ext cx="2374900" cy="1296988"/>
          </a:xfrm>
          <a:prstGeom prst="rect">
            <a:avLst/>
          </a:prstGeom>
          <a:solidFill>
            <a:schemeClr val="accent1"/>
          </a:solidFill>
          <a:ln w="9525">
            <a:solidFill>
              <a:schemeClr val="tx1"/>
            </a:solidFill>
            <a:miter lim="800000"/>
            <a:headEnd/>
            <a:tailEnd/>
          </a:ln>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ctr" eaLnBrk="1" hangingPunct="1"/>
            <a:endParaRPr kumimoji="0" lang="en-US" altLang="zh-CN" sz="1800">
              <a:latin typeface="Arial" pitchFamily="34" charset="0"/>
            </a:endParaRPr>
          </a:p>
          <a:p>
            <a:pPr algn="ctr" eaLnBrk="1" hangingPunct="1"/>
            <a:endParaRPr kumimoji="0" lang="en-US" altLang="zh-CN" sz="1800">
              <a:latin typeface="Arial" pitchFamily="34" charset="0"/>
            </a:endParaRPr>
          </a:p>
          <a:p>
            <a:pPr algn="ctr" eaLnBrk="1" hangingPunct="1"/>
            <a:endParaRPr kumimoji="0" lang="en-US" altLang="zh-CN" sz="1800">
              <a:latin typeface="Arial" pitchFamily="34" charset="0"/>
            </a:endParaRPr>
          </a:p>
          <a:p>
            <a:pPr algn="ctr" eaLnBrk="1" hangingPunct="1"/>
            <a:r>
              <a:rPr kumimoji="0" lang="zh-CN" altLang="en-US" sz="1800">
                <a:solidFill>
                  <a:srgbClr val="FF0000"/>
                </a:solidFill>
                <a:latin typeface="Arial" pitchFamily="34" charset="0"/>
              </a:rPr>
              <a:t>临界区</a:t>
            </a:r>
          </a:p>
        </p:txBody>
      </p:sp>
      <p:sp>
        <p:nvSpPr>
          <p:cNvPr id="26" name="Oval 14"/>
          <p:cNvSpPr>
            <a:spLocks noChangeArrowheads="1"/>
          </p:cNvSpPr>
          <p:nvPr/>
        </p:nvSpPr>
        <p:spPr bwMode="auto">
          <a:xfrm>
            <a:off x="9593002" y="4682306"/>
            <a:ext cx="433388" cy="503237"/>
          </a:xfrm>
          <a:prstGeom prst="ellipse">
            <a:avLst/>
          </a:prstGeom>
          <a:solidFill>
            <a:schemeClr val="bg1"/>
          </a:solidFill>
          <a:ln w="9525">
            <a:solidFill>
              <a:schemeClr val="tx1"/>
            </a:solidFill>
            <a:round/>
            <a:headEnd/>
            <a:tailEnd/>
          </a:ln>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ctr" eaLnBrk="1" hangingPunct="1"/>
            <a:r>
              <a:rPr kumimoji="0" lang="en-US" altLang="zh-CN" sz="1800">
                <a:latin typeface="Arial" pitchFamily="34" charset="0"/>
              </a:rPr>
              <a:t>P1</a:t>
            </a:r>
          </a:p>
        </p:txBody>
      </p:sp>
      <p:sp>
        <p:nvSpPr>
          <p:cNvPr id="27" name="Oval 15"/>
          <p:cNvSpPr>
            <a:spLocks noChangeArrowheads="1"/>
          </p:cNvSpPr>
          <p:nvPr/>
        </p:nvSpPr>
        <p:spPr bwMode="auto">
          <a:xfrm>
            <a:off x="10024802" y="4682306"/>
            <a:ext cx="433388" cy="503237"/>
          </a:xfrm>
          <a:prstGeom prst="ellipse">
            <a:avLst/>
          </a:prstGeom>
          <a:solidFill>
            <a:schemeClr val="bg1"/>
          </a:solidFill>
          <a:ln w="9525">
            <a:solidFill>
              <a:schemeClr val="tx1"/>
            </a:solidFill>
            <a:round/>
            <a:headEnd/>
            <a:tailEnd/>
          </a:ln>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ctr" eaLnBrk="1" hangingPunct="1"/>
            <a:r>
              <a:rPr kumimoji="0" lang="en-US" altLang="zh-CN" sz="1800">
                <a:latin typeface="Arial" pitchFamily="34" charset="0"/>
              </a:rPr>
              <a:t>P2</a:t>
            </a:r>
          </a:p>
        </p:txBody>
      </p:sp>
      <p:sp>
        <p:nvSpPr>
          <p:cNvPr id="28" name="Oval 16"/>
          <p:cNvSpPr>
            <a:spLocks noChangeArrowheads="1"/>
          </p:cNvSpPr>
          <p:nvPr/>
        </p:nvSpPr>
        <p:spPr bwMode="auto">
          <a:xfrm>
            <a:off x="9808902" y="4682306"/>
            <a:ext cx="433388" cy="503237"/>
          </a:xfrm>
          <a:prstGeom prst="ellipse">
            <a:avLst/>
          </a:prstGeom>
          <a:solidFill>
            <a:schemeClr val="bg1"/>
          </a:solidFill>
          <a:ln w="9525">
            <a:solidFill>
              <a:schemeClr val="tx1"/>
            </a:solidFill>
            <a:round/>
            <a:headEnd/>
            <a:tailEnd/>
          </a:ln>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ctr" eaLnBrk="1" hangingPunct="1"/>
            <a:r>
              <a:rPr kumimoji="0" lang="en-US" altLang="zh-CN" sz="1800">
                <a:latin typeface="Arial" pitchFamily="34" charset="0"/>
              </a:rPr>
              <a:t>P3</a:t>
            </a:r>
          </a:p>
        </p:txBody>
      </p:sp>
      <p:sp>
        <p:nvSpPr>
          <p:cNvPr id="29" name="Oval 17"/>
          <p:cNvSpPr>
            <a:spLocks noChangeArrowheads="1"/>
          </p:cNvSpPr>
          <p:nvPr/>
        </p:nvSpPr>
        <p:spPr bwMode="auto">
          <a:xfrm>
            <a:off x="9593002" y="4682306"/>
            <a:ext cx="433388" cy="503237"/>
          </a:xfrm>
          <a:prstGeom prst="ellipse">
            <a:avLst/>
          </a:prstGeom>
          <a:solidFill>
            <a:schemeClr val="bg1"/>
          </a:solidFill>
          <a:ln w="9525">
            <a:solidFill>
              <a:schemeClr val="tx1"/>
            </a:solidFill>
            <a:round/>
            <a:headEnd/>
            <a:tailEnd/>
          </a:ln>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ctr" eaLnBrk="1" hangingPunct="1"/>
            <a:r>
              <a:rPr kumimoji="0" lang="en-US" altLang="zh-CN" sz="1800">
                <a:latin typeface="Arial" pitchFamily="34" charset="0"/>
              </a:rPr>
              <a:t>…</a:t>
            </a:r>
          </a:p>
        </p:txBody>
      </p:sp>
      <p:sp>
        <p:nvSpPr>
          <p:cNvPr id="30" name="Oval 18"/>
          <p:cNvSpPr>
            <a:spLocks noChangeArrowheads="1"/>
          </p:cNvSpPr>
          <p:nvPr/>
        </p:nvSpPr>
        <p:spPr bwMode="auto">
          <a:xfrm>
            <a:off x="10096240" y="4682306"/>
            <a:ext cx="433387" cy="503237"/>
          </a:xfrm>
          <a:prstGeom prst="ellipse">
            <a:avLst/>
          </a:prstGeom>
          <a:solidFill>
            <a:schemeClr val="bg1"/>
          </a:solidFill>
          <a:ln w="9525">
            <a:solidFill>
              <a:schemeClr val="tx1"/>
            </a:solidFill>
            <a:round/>
            <a:headEnd/>
            <a:tailEnd/>
          </a:ln>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ctr" eaLnBrk="1" hangingPunct="1"/>
            <a:r>
              <a:rPr kumimoji="0" lang="en-US" altLang="zh-CN" sz="1800">
                <a:latin typeface="Arial" pitchFamily="34" charset="0"/>
              </a:rPr>
              <a:t>Pn</a:t>
            </a:r>
          </a:p>
        </p:txBody>
      </p:sp>
    </p:spTree>
    <p:extLst>
      <p:ext uri="{BB962C8B-B14F-4D97-AF65-F5344CB8AC3E}">
        <p14:creationId xmlns:p14="http://schemas.microsoft.com/office/powerpoint/2010/main" val="21608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animEffect transition="in" filter="wipe(left)">
                                      <p:cBhvr>
                                        <p:cTn id="7" dur="500"/>
                                        <p:tgtEl>
                                          <p:spTgt spid="1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7">
                                            <p:txEl>
                                              <p:pRg st="1" end="1"/>
                                            </p:txEl>
                                          </p:spTgt>
                                        </p:tgtEl>
                                        <p:attrNameLst>
                                          <p:attrName>style.visibility</p:attrName>
                                        </p:attrNameLst>
                                      </p:cBhvr>
                                      <p:to>
                                        <p:strVal val="visible"/>
                                      </p:to>
                                    </p:set>
                                    <p:animEffect transition="in" filter="wipe(down)">
                                      <p:cBhvr>
                                        <p:cTn id="12" dur="500"/>
                                        <p:tgtEl>
                                          <p:spTgt spid="1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7">
                                            <p:txEl>
                                              <p:pRg st="2" end="2"/>
                                            </p:txEl>
                                          </p:spTgt>
                                        </p:tgtEl>
                                        <p:attrNameLst>
                                          <p:attrName>style.visibility</p:attrName>
                                        </p:attrNameLst>
                                      </p:cBhvr>
                                      <p:to>
                                        <p:strVal val="visible"/>
                                      </p:to>
                                    </p:set>
                                    <p:animEffect transition="in" filter="wipe(left)">
                                      <p:cBhvr>
                                        <p:cTn id="17" dur="500"/>
                                        <p:tgtEl>
                                          <p:spTgt spid="1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13"/>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 presetClass="entr" presetSubtype="1"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 calcmode="lin" valueType="num">
                                      <p:cBhvr additive="base">
                                        <p:cTn id="30" dur="500" fill="hold"/>
                                        <p:tgtEl>
                                          <p:spTgt spid="14"/>
                                        </p:tgtEl>
                                        <p:attrNameLst>
                                          <p:attrName>ppt_x</p:attrName>
                                        </p:attrNameLst>
                                      </p:cBhvr>
                                      <p:tavLst>
                                        <p:tav tm="0">
                                          <p:val>
                                            <p:strVal val="#ppt_x"/>
                                          </p:val>
                                        </p:tav>
                                        <p:tav tm="100000">
                                          <p:val>
                                            <p:strVal val="#ppt_x"/>
                                          </p:val>
                                        </p:tav>
                                      </p:tavLst>
                                    </p:anim>
                                    <p:anim calcmode="lin" valueType="num">
                                      <p:cBhvr additive="base">
                                        <p:cTn id="31"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1" fill="hold" grpId="0" nodeType="clickEffect">
                                  <p:stCondLst>
                                    <p:cond delay="0"/>
                                  </p:stCondLst>
                                  <p:childTnLst>
                                    <p:set>
                                      <p:cBhvr>
                                        <p:cTn id="35" dur="1" fill="hold">
                                          <p:stCondLst>
                                            <p:cond delay="0"/>
                                          </p:stCondLst>
                                        </p:cTn>
                                        <p:tgtEl>
                                          <p:spTgt spid="15"/>
                                        </p:tgtEl>
                                        <p:attrNameLst>
                                          <p:attrName>style.visibility</p:attrName>
                                        </p:attrNameLst>
                                      </p:cBhvr>
                                      <p:to>
                                        <p:strVal val="visible"/>
                                      </p:to>
                                    </p:set>
                                    <p:anim calcmode="lin" valueType="num">
                                      <p:cBhvr additive="base">
                                        <p:cTn id="36" dur="500" fill="hold"/>
                                        <p:tgtEl>
                                          <p:spTgt spid="15"/>
                                        </p:tgtEl>
                                        <p:attrNameLst>
                                          <p:attrName>ppt_x</p:attrName>
                                        </p:attrNameLst>
                                      </p:cBhvr>
                                      <p:tavLst>
                                        <p:tav tm="0">
                                          <p:val>
                                            <p:strVal val="#ppt_x"/>
                                          </p:val>
                                        </p:tav>
                                        <p:tav tm="100000">
                                          <p:val>
                                            <p:strVal val="#ppt_x"/>
                                          </p:val>
                                        </p:tav>
                                      </p:tavLst>
                                    </p:anim>
                                    <p:anim calcmode="lin" valueType="num">
                                      <p:cBhvr additive="base">
                                        <p:cTn id="37" dur="500" fill="hold"/>
                                        <p:tgtEl>
                                          <p:spTgt spid="15"/>
                                        </p:tgtEl>
                                        <p:attrNameLst>
                                          <p:attrName>ppt_y</p:attrName>
                                        </p:attrNameLst>
                                      </p:cBhvr>
                                      <p:tavLst>
                                        <p:tav tm="0">
                                          <p:val>
                                            <p:strVal val="0-#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1"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anim calcmode="lin" valueType="num">
                                      <p:cBhvr additive="base">
                                        <p:cTn id="42" dur="500" fill="hold"/>
                                        <p:tgtEl>
                                          <p:spTgt spid="20"/>
                                        </p:tgtEl>
                                        <p:attrNameLst>
                                          <p:attrName>ppt_x</p:attrName>
                                        </p:attrNameLst>
                                      </p:cBhvr>
                                      <p:tavLst>
                                        <p:tav tm="0">
                                          <p:val>
                                            <p:strVal val="#ppt_x"/>
                                          </p:val>
                                        </p:tav>
                                        <p:tav tm="100000">
                                          <p:val>
                                            <p:strVal val="#ppt_x"/>
                                          </p:val>
                                        </p:tav>
                                      </p:tavLst>
                                    </p:anim>
                                    <p:anim calcmode="lin" valueType="num">
                                      <p:cBhvr additive="base">
                                        <p:cTn id="43" dur="500" fill="hold"/>
                                        <p:tgtEl>
                                          <p:spTgt spid="20"/>
                                        </p:tgtEl>
                                        <p:attrNameLst>
                                          <p:attrName>ppt_y</p:attrName>
                                        </p:attrNameLst>
                                      </p:cBhvr>
                                      <p:tavLst>
                                        <p:tav tm="0">
                                          <p:val>
                                            <p:strVal val="0-#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1" fill="hold" grpId="0" nodeType="clickEffect">
                                  <p:stCondLst>
                                    <p:cond delay="0"/>
                                  </p:stCondLst>
                                  <p:childTnLst>
                                    <p:set>
                                      <p:cBhvr>
                                        <p:cTn id="47" dur="1" fill="hold">
                                          <p:stCondLst>
                                            <p:cond delay="0"/>
                                          </p:stCondLst>
                                        </p:cTn>
                                        <p:tgtEl>
                                          <p:spTgt spid="21"/>
                                        </p:tgtEl>
                                        <p:attrNameLst>
                                          <p:attrName>style.visibility</p:attrName>
                                        </p:attrNameLst>
                                      </p:cBhvr>
                                      <p:to>
                                        <p:strVal val="visible"/>
                                      </p:to>
                                    </p:set>
                                    <p:anim calcmode="lin" valueType="num">
                                      <p:cBhvr additive="base">
                                        <p:cTn id="48" dur="500" fill="hold"/>
                                        <p:tgtEl>
                                          <p:spTgt spid="21"/>
                                        </p:tgtEl>
                                        <p:attrNameLst>
                                          <p:attrName>ppt_x</p:attrName>
                                        </p:attrNameLst>
                                      </p:cBhvr>
                                      <p:tavLst>
                                        <p:tav tm="0">
                                          <p:val>
                                            <p:strVal val="#ppt_x"/>
                                          </p:val>
                                        </p:tav>
                                        <p:tav tm="100000">
                                          <p:val>
                                            <p:strVal val="#ppt_x"/>
                                          </p:val>
                                        </p:tav>
                                      </p:tavLst>
                                    </p:anim>
                                    <p:anim calcmode="lin" valueType="num">
                                      <p:cBhvr additive="base">
                                        <p:cTn id="49" dur="500" fill="hold"/>
                                        <p:tgtEl>
                                          <p:spTgt spid="21"/>
                                        </p:tgtEl>
                                        <p:attrNameLst>
                                          <p:attrName>ppt_y</p:attrName>
                                        </p:attrNameLst>
                                      </p:cBhvr>
                                      <p:tavLst>
                                        <p:tav tm="0">
                                          <p:val>
                                            <p:strVal val="0-#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1" fill="hold" grpId="0" nodeType="clickEffect">
                                  <p:stCondLst>
                                    <p:cond delay="0"/>
                                  </p:stCondLst>
                                  <p:childTnLst>
                                    <p:set>
                                      <p:cBhvr>
                                        <p:cTn id="53" dur="1" fill="hold">
                                          <p:stCondLst>
                                            <p:cond delay="0"/>
                                          </p:stCondLst>
                                        </p:cTn>
                                        <p:tgtEl>
                                          <p:spTgt spid="22"/>
                                        </p:tgtEl>
                                        <p:attrNameLst>
                                          <p:attrName>style.visibility</p:attrName>
                                        </p:attrNameLst>
                                      </p:cBhvr>
                                      <p:to>
                                        <p:strVal val="visible"/>
                                      </p:to>
                                    </p:set>
                                    <p:anim calcmode="lin" valueType="num">
                                      <p:cBhvr additive="base">
                                        <p:cTn id="54" dur="500" fill="hold"/>
                                        <p:tgtEl>
                                          <p:spTgt spid="22"/>
                                        </p:tgtEl>
                                        <p:attrNameLst>
                                          <p:attrName>ppt_x</p:attrName>
                                        </p:attrNameLst>
                                      </p:cBhvr>
                                      <p:tavLst>
                                        <p:tav tm="0">
                                          <p:val>
                                            <p:strVal val="#ppt_x"/>
                                          </p:val>
                                        </p:tav>
                                        <p:tav tm="100000">
                                          <p:val>
                                            <p:strVal val="#ppt_x"/>
                                          </p:val>
                                        </p:tav>
                                      </p:tavLst>
                                    </p:anim>
                                    <p:anim calcmode="lin" valueType="num">
                                      <p:cBhvr additive="base">
                                        <p:cTn id="55" dur="500" fill="hold"/>
                                        <p:tgtEl>
                                          <p:spTgt spid="22"/>
                                        </p:tgtEl>
                                        <p:attrNameLst>
                                          <p:attrName>ppt_y</p:attrName>
                                        </p:attrNameLst>
                                      </p:cBhvr>
                                      <p:tavLst>
                                        <p:tav tm="0">
                                          <p:val>
                                            <p:strVal val="0-#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23"/>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25"/>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24"/>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26"/>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27"/>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28"/>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29"/>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grpId="0" nodeType="clickEffect">
                                  <p:stCondLst>
                                    <p:cond delay="0"/>
                                  </p:stCondLst>
                                  <p:childTnLst>
                                    <p:set>
                                      <p:cBhvr>
                                        <p:cTn id="85"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13" grpId="0" animBg="1"/>
      <p:bldP spid="14" grpId="0" animBg="1"/>
      <p:bldP spid="15" grpId="0" animBg="1"/>
      <p:bldP spid="20" grpId="0" animBg="1"/>
      <p:bldP spid="21" grpId="0" animBg="1"/>
      <p:bldP spid="22" grpId="0" animBg="1"/>
      <p:bldP spid="23" grpId="0" animBg="1"/>
      <p:bldP spid="24" grpId="0"/>
      <p:bldP spid="25" grpId="0" animBg="1"/>
      <p:bldP spid="26" grpId="0" animBg="1"/>
      <p:bldP spid="27" grpId="0" animBg="1"/>
      <p:bldP spid="28" grpId="0" animBg="1"/>
      <p:bldP spid="29" grpId="0" animBg="1"/>
      <p:bldP spid="3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848833" y="202028"/>
            <a:ext cx="3967716" cy="457196"/>
          </a:xfrm>
        </p:spPr>
        <p:txBody>
          <a:bodyPr/>
          <a:lstStyle/>
          <a:p>
            <a:r>
              <a:rPr lang="en-US" altLang="zh-CN" dirty="0"/>
              <a:t>4.</a:t>
            </a:r>
            <a:r>
              <a:rPr lang="zh-CN" altLang="en-US" dirty="0"/>
              <a:t>信号量的应用</a:t>
            </a:r>
          </a:p>
        </p:txBody>
      </p:sp>
      <p:grpSp>
        <p:nvGrpSpPr>
          <p:cNvPr id="2" name="组合 3"/>
          <p:cNvGrpSpPr/>
          <p:nvPr/>
        </p:nvGrpSpPr>
        <p:grpSpPr>
          <a:xfrm>
            <a:off x="1004177" y="1027910"/>
            <a:ext cx="5314736" cy="665162"/>
            <a:chOff x="1004177" y="1027910"/>
            <a:chExt cx="5314736" cy="665162"/>
          </a:xfrm>
        </p:grpSpPr>
        <p:sp>
          <p:nvSpPr>
            <p:cNvPr id="5" name="矩形 4"/>
            <p:cNvSpPr/>
            <p:nvPr/>
          </p:nvSpPr>
          <p:spPr>
            <a:xfrm>
              <a:off x="1150228" y="1561310"/>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矩形 5"/>
            <p:cNvSpPr/>
            <p:nvPr/>
          </p:nvSpPr>
          <p:spPr>
            <a:xfrm>
              <a:off x="2058278" y="1561310"/>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7" name="文本框 55"/>
            <p:cNvSpPr txBox="1">
              <a:spLocks noChangeArrowheads="1"/>
            </p:cNvSpPr>
            <p:nvPr/>
          </p:nvSpPr>
          <p:spPr bwMode="auto">
            <a:xfrm>
              <a:off x="1004177" y="1027910"/>
              <a:ext cx="53147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）利用信号量实现进程的互斥</a:t>
              </a:r>
            </a:p>
          </p:txBody>
        </p:sp>
      </p:grpSp>
      <p:sp>
        <p:nvSpPr>
          <p:cNvPr id="16" name="文本框 54"/>
          <p:cNvSpPr txBox="1">
            <a:spLocks noChangeArrowheads="1"/>
          </p:cNvSpPr>
          <p:nvPr/>
        </p:nvSpPr>
        <p:spPr bwMode="auto">
          <a:xfrm>
            <a:off x="1004178" y="1847155"/>
            <a:ext cx="39636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05050"/>
                </a:solidFill>
                <a:latin typeface="微软雅黑" panose="020B0503020204020204" pitchFamily="34" charset="-122"/>
                <a:ea typeface="微软雅黑" panose="020B0503020204020204" pitchFamily="34" charset="-122"/>
              </a:rPr>
              <a:t>对竞争资源的互斥访问过程</a:t>
            </a:r>
          </a:p>
        </p:txBody>
      </p:sp>
      <p:sp>
        <p:nvSpPr>
          <p:cNvPr id="11" name="Rectangle 5"/>
          <p:cNvSpPr>
            <a:spLocks noChangeArrowheads="1"/>
          </p:cNvSpPr>
          <p:nvPr/>
        </p:nvSpPr>
        <p:spPr bwMode="auto">
          <a:xfrm>
            <a:off x="2075978" y="3116263"/>
            <a:ext cx="2651125" cy="533400"/>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altLang="zh-CN" sz="2800">
                <a:effectLst>
                  <a:outerShdw blurRad="38100" dist="38100" dir="2700000" algn="tl">
                    <a:srgbClr val="C0C0C0"/>
                  </a:outerShdw>
                </a:effectLst>
                <a:latin typeface="Arial" pitchFamily="34" charset="0"/>
                <a:ea typeface="楷体_GB2312" pitchFamily="49" charset="-122"/>
              </a:rPr>
              <a:t>…</a:t>
            </a:r>
          </a:p>
        </p:txBody>
      </p:sp>
      <p:sp>
        <p:nvSpPr>
          <p:cNvPr id="12" name="Rectangle 6"/>
          <p:cNvSpPr>
            <a:spLocks noChangeArrowheads="1"/>
          </p:cNvSpPr>
          <p:nvPr/>
        </p:nvSpPr>
        <p:spPr bwMode="auto">
          <a:xfrm>
            <a:off x="2075978" y="3649663"/>
            <a:ext cx="2651125" cy="533400"/>
          </a:xfrm>
          <a:prstGeom prst="rect">
            <a:avLst/>
          </a:prstGeom>
          <a:solidFill>
            <a:srgbClr val="FFFF00"/>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altLang="zh-CN" sz="2800" dirty="0">
                <a:effectLst>
                  <a:outerShdw blurRad="38100" dist="38100" dir="2700000" algn="tl">
                    <a:srgbClr val="FFFFFF"/>
                  </a:outerShdw>
                </a:effectLst>
                <a:latin typeface="Arial" pitchFamily="34" charset="0"/>
                <a:ea typeface="楷体_GB2312" pitchFamily="49" charset="-122"/>
              </a:rPr>
              <a:t>wait</a:t>
            </a:r>
            <a:r>
              <a:rPr lang="zh-CN" altLang="en-US" sz="2800" dirty="0">
                <a:effectLst>
                  <a:outerShdw blurRad="38100" dist="38100" dir="2700000" algn="tl">
                    <a:srgbClr val="FFFFFF"/>
                  </a:outerShdw>
                </a:effectLst>
                <a:latin typeface="Arial" pitchFamily="34" charset="0"/>
                <a:ea typeface="楷体_GB2312" pitchFamily="49" charset="-122"/>
              </a:rPr>
              <a:t>（</a:t>
            </a:r>
            <a:r>
              <a:rPr lang="en-US" altLang="zh-CN" sz="2800" dirty="0">
                <a:effectLst>
                  <a:outerShdw blurRad="38100" dist="38100" dir="2700000" algn="tl">
                    <a:srgbClr val="FFFFFF"/>
                  </a:outerShdw>
                </a:effectLst>
                <a:latin typeface="Arial" pitchFamily="34" charset="0"/>
                <a:ea typeface="楷体_GB2312" pitchFamily="49" charset="-122"/>
              </a:rPr>
              <a:t>s</a:t>
            </a:r>
            <a:r>
              <a:rPr lang="zh-CN" altLang="en-US" sz="2800" dirty="0">
                <a:effectLst>
                  <a:outerShdw blurRad="38100" dist="38100" dir="2700000" algn="tl">
                    <a:srgbClr val="FFFFFF"/>
                  </a:outerShdw>
                </a:effectLst>
                <a:latin typeface="Arial" pitchFamily="34" charset="0"/>
                <a:ea typeface="楷体_GB2312" pitchFamily="49" charset="-122"/>
              </a:rPr>
              <a:t>）</a:t>
            </a:r>
          </a:p>
        </p:txBody>
      </p:sp>
      <p:sp>
        <p:nvSpPr>
          <p:cNvPr id="13" name="Rectangle 7"/>
          <p:cNvSpPr>
            <a:spLocks noChangeArrowheads="1"/>
          </p:cNvSpPr>
          <p:nvPr/>
        </p:nvSpPr>
        <p:spPr bwMode="auto">
          <a:xfrm>
            <a:off x="2075978" y="4183063"/>
            <a:ext cx="2651125" cy="685800"/>
          </a:xfrm>
          <a:prstGeom prst="rect">
            <a:avLst/>
          </a:prstGeom>
          <a:solidFill>
            <a:schemeClr val="accent2">
              <a:lumMod val="20000"/>
              <a:lumOff val="80000"/>
            </a:schemeClr>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zh-CN" altLang="en-US" sz="2800">
                <a:effectLst>
                  <a:outerShdw blurRad="38100" dist="38100" dir="2700000" algn="tl">
                    <a:srgbClr val="FFFFFF"/>
                  </a:outerShdw>
                </a:effectLst>
                <a:latin typeface="Arial" pitchFamily="34" charset="0"/>
                <a:ea typeface="楷体_GB2312" pitchFamily="49" charset="-122"/>
              </a:rPr>
              <a:t>临界区</a:t>
            </a:r>
          </a:p>
        </p:txBody>
      </p:sp>
      <p:sp>
        <p:nvSpPr>
          <p:cNvPr id="14" name="Rectangle 8"/>
          <p:cNvSpPr>
            <a:spLocks noChangeArrowheads="1"/>
          </p:cNvSpPr>
          <p:nvPr/>
        </p:nvSpPr>
        <p:spPr bwMode="auto">
          <a:xfrm>
            <a:off x="2075978" y="4868863"/>
            <a:ext cx="2651125" cy="533400"/>
          </a:xfrm>
          <a:prstGeom prst="rect">
            <a:avLst/>
          </a:prstGeom>
          <a:solidFill>
            <a:srgbClr val="FFFF00"/>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altLang="zh-CN" sz="2800" dirty="0">
                <a:effectLst>
                  <a:outerShdw blurRad="38100" dist="38100" dir="2700000" algn="tl">
                    <a:srgbClr val="FFFFFF"/>
                  </a:outerShdw>
                </a:effectLst>
                <a:latin typeface="Arial" pitchFamily="34" charset="0"/>
                <a:ea typeface="楷体_GB2312" pitchFamily="49" charset="-122"/>
              </a:rPr>
              <a:t>signal</a:t>
            </a:r>
            <a:r>
              <a:rPr lang="zh-CN" altLang="en-US" sz="2800" dirty="0">
                <a:effectLst>
                  <a:outerShdw blurRad="38100" dist="38100" dir="2700000" algn="tl">
                    <a:srgbClr val="FFFFFF"/>
                  </a:outerShdw>
                </a:effectLst>
                <a:latin typeface="Arial" pitchFamily="34" charset="0"/>
                <a:ea typeface="楷体_GB2312" pitchFamily="49" charset="-122"/>
              </a:rPr>
              <a:t>（</a:t>
            </a:r>
            <a:r>
              <a:rPr lang="en-US" altLang="zh-CN" sz="2800" dirty="0">
                <a:effectLst>
                  <a:outerShdw blurRad="38100" dist="38100" dir="2700000" algn="tl">
                    <a:srgbClr val="FFFFFF"/>
                  </a:outerShdw>
                </a:effectLst>
                <a:latin typeface="Arial" pitchFamily="34" charset="0"/>
                <a:ea typeface="楷体_GB2312" pitchFamily="49" charset="-122"/>
              </a:rPr>
              <a:t>s</a:t>
            </a:r>
            <a:r>
              <a:rPr lang="zh-CN" altLang="en-US" sz="2800" dirty="0">
                <a:effectLst>
                  <a:outerShdw blurRad="38100" dist="38100" dir="2700000" algn="tl">
                    <a:srgbClr val="FFFFFF"/>
                  </a:outerShdw>
                </a:effectLst>
                <a:latin typeface="Arial" pitchFamily="34" charset="0"/>
                <a:ea typeface="楷体_GB2312" pitchFamily="49" charset="-122"/>
              </a:rPr>
              <a:t>）</a:t>
            </a:r>
          </a:p>
        </p:txBody>
      </p:sp>
      <p:sp>
        <p:nvSpPr>
          <p:cNvPr id="15" name="Text Box 9"/>
          <p:cNvSpPr txBox="1">
            <a:spLocks noChangeArrowheads="1"/>
          </p:cNvSpPr>
          <p:nvPr/>
        </p:nvSpPr>
        <p:spPr bwMode="auto">
          <a:xfrm>
            <a:off x="2874490" y="2425700"/>
            <a:ext cx="1014413" cy="519113"/>
          </a:xfrm>
          <a:prstGeom prst="rect">
            <a:avLst/>
          </a:prstGeom>
          <a:noFill/>
          <a:ln w="9525">
            <a:noFill/>
            <a:miter lim="800000"/>
            <a:headEnd/>
            <a:tailEnd/>
          </a:ln>
          <a:effectLst/>
        </p:spPr>
        <p:txBody>
          <a:bodyPr wrap="none">
            <a:spAutoFit/>
          </a:bodyPr>
          <a:lstStyle/>
          <a:p>
            <a:pPr>
              <a:defRPr/>
            </a:pPr>
            <a:r>
              <a:rPr lang="zh-CN" altLang="en-US" sz="2800">
                <a:effectLst>
                  <a:outerShdw blurRad="38100" dist="38100" dir="2700000" algn="tl">
                    <a:srgbClr val="C0C0C0"/>
                  </a:outerShdw>
                </a:effectLst>
                <a:latin typeface="文鼎ＰＯＰ－４" pitchFamily="33" charset="-122"/>
                <a:ea typeface="文鼎ＰＯＰ－４" pitchFamily="33" charset="-122"/>
              </a:rPr>
              <a:t>进程</a:t>
            </a:r>
            <a:r>
              <a:rPr lang="en-US" altLang="zh-CN" sz="2800">
                <a:effectLst>
                  <a:outerShdw blurRad="38100" dist="38100" dir="2700000" algn="tl">
                    <a:srgbClr val="C0C0C0"/>
                  </a:outerShdw>
                </a:effectLst>
                <a:latin typeface="文鼎ＰＯＰ－４" pitchFamily="33" charset="-122"/>
                <a:ea typeface="文鼎ＰＯＰ－４" pitchFamily="33" charset="-122"/>
              </a:rPr>
              <a:t>1</a:t>
            </a:r>
          </a:p>
        </p:txBody>
      </p:sp>
      <p:sp>
        <p:nvSpPr>
          <p:cNvPr id="20" name="Text Box 10"/>
          <p:cNvSpPr txBox="1">
            <a:spLocks noChangeArrowheads="1"/>
          </p:cNvSpPr>
          <p:nvPr/>
        </p:nvSpPr>
        <p:spPr bwMode="auto">
          <a:xfrm>
            <a:off x="7383158" y="2414588"/>
            <a:ext cx="1165225" cy="519112"/>
          </a:xfrm>
          <a:prstGeom prst="rect">
            <a:avLst/>
          </a:prstGeom>
          <a:noFill/>
          <a:ln w="9525">
            <a:noFill/>
            <a:miter lim="800000"/>
            <a:headEnd/>
            <a:tailEnd/>
          </a:ln>
          <a:effectLst/>
        </p:spPr>
        <p:txBody>
          <a:bodyPr wrap="none">
            <a:spAutoFit/>
          </a:bodyPr>
          <a:lstStyle/>
          <a:p>
            <a:pPr>
              <a:defRPr/>
            </a:pPr>
            <a:r>
              <a:rPr lang="zh-CN" altLang="en-US" sz="2800">
                <a:effectLst>
                  <a:outerShdw blurRad="38100" dist="38100" dir="2700000" algn="tl">
                    <a:srgbClr val="C0C0C0"/>
                  </a:outerShdw>
                </a:effectLst>
                <a:latin typeface="文鼎ＰＯＰ－４" pitchFamily="33" charset="-122"/>
                <a:ea typeface="文鼎ＰＯＰ－４" pitchFamily="33" charset="-122"/>
              </a:rPr>
              <a:t>进程</a:t>
            </a:r>
            <a:r>
              <a:rPr lang="en-US" altLang="zh-CN" sz="2800">
                <a:effectLst>
                  <a:outerShdw blurRad="38100" dist="38100" dir="2700000" algn="tl">
                    <a:srgbClr val="C0C0C0"/>
                  </a:outerShdw>
                </a:effectLst>
                <a:latin typeface="文鼎ＰＯＰ－４" pitchFamily="33" charset="-122"/>
                <a:ea typeface="文鼎ＰＯＰ－４" pitchFamily="33" charset="-122"/>
              </a:rPr>
              <a:t>2</a:t>
            </a:r>
          </a:p>
        </p:txBody>
      </p:sp>
      <p:sp>
        <p:nvSpPr>
          <p:cNvPr id="21" name="Rectangle 11"/>
          <p:cNvSpPr>
            <a:spLocks noChangeArrowheads="1"/>
          </p:cNvSpPr>
          <p:nvPr/>
        </p:nvSpPr>
        <p:spPr bwMode="auto">
          <a:xfrm>
            <a:off x="2075978" y="5402263"/>
            <a:ext cx="2651125" cy="533400"/>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altLang="zh-CN" sz="2800">
                <a:effectLst>
                  <a:outerShdw blurRad="38100" dist="38100" dir="2700000" algn="tl">
                    <a:srgbClr val="C0C0C0"/>
                  </a:outerShdw>
                </a:effectLst>
                <a:latin typeface="Arial" pitchFamily="34" charset="0"/>
                <a:ea typeface="楷体_GB2312" pitchFamily="49" charset="-122"/>
              </a:rPr>
              <a:t>…</a:t>
            </a:r>
          </a:p>
        </p:txBody>
      </p:sp>
      <p:sp>
        <p:nvSpPr>
          <p:cNvPr id="22" name="Rectangle 12"/>
          <p:cNvSpPr>
            <a:spLocks noChangeArrowheads="1"/>
          </p:cNvSpPr>
          <p:nvPr/>
        </p:nvSpPr>
        <p:spPr bwMode="auto">
          <a:xfrm>
            <a:off x="6579883" y="3040063"/>
            <a:ext cx="2632075" cy="533400"/>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altLang="zh-CN" sz="2800">
                <a:effectLst>
                  <a:outerShdw blurRad="38100" dist="38100" dir="2700000" algn="tl">
                    <a:srgbClr val="C0C0C0"/>
                  </a:outerShdw>
                </a:effectLst>
                <a:latin typeface="Arial" pitchFamily="34" charset="0"/>
                <a:ea typeface="楷体_GB2312" pitchFamily="49" charset="-122"/>
              </a:rPr>
              <a:t>…</a:t>
            </a:r>
          </a:p>
        </p:txBody>
      </p:sp>
      <p:sp>
        <p:nvSpPr>
          <p:cNvPr id="23" name="Rectangle 13"/>
          <p:cNvSpPr>
            <a:spLocks noChangeArrowheads="1"/>
          </p:cNvSpPr>
          <p:nvPr/>
        </p:nvSpPr>
        <p:spPr bwMode="auto">
          <a:xfrm>
            <a:off x="6579883" y="3573463"/>
            <a:ext cx="2632075" cy="533400"/>
          </a:xfrm>
          <a:prstGeom prst="rect">
            <a:avLst/>
          </a:prstGeom>
          <a:solidFill>
            <a:srgbClr val="FFFF00"/>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altLang="zh-CN" sz="2800">
                <a:effectLst>
                  <a:outerShdw blurRad="38100" dist="38100" dir="2700000" algn="tl">
                    <a:srgbClr val="FFFFFF"/>
                  </a:outerShdw>
                </a:effectLst>
                <a:latin typeface="Arial" pitchFamily="34" charset="0"/>
                <a:ea typeface="楷体_GB2312" pitchFamily="49" charset="-122"/>
              </a:rPr>
              <a:t>wait</a:t>
            </a:r>
            <a:r>
              <a:rPr lang="zh-CN" altLang="en-US" sz="2800">
                <a:effectLst>
                  <a:outerShdw blurRad="38100" dist="38100" dir="2700000" algn="tl">
                    <a:srgbClr val="FFFFFF"/>
                  </a:outerShdw>
                </a:effectLst>
                <a:latin typeface="Arial" pitchFamily="34" charset="0"/>
                <a:ea typeface="楷体_GB2312" pitchFamily="49" charset="-122"/>
              </a:rPr>
              <a:t>（</a:t>
            </a:r>
            <a:r>
              <a:rPr lang="en-US" altLang="zh-CN" sz="2800">
                <a:effectLst>
                  <a:outerShdw blurRad="38100" dist="38100" dir="2700000" algn="tl">
                    <a:srgbClr val="FFFFFF"/>
                  </a:outerShdw>
                </a:effectLst>
                <a:latin typeface="Arial" pitchFamily="34" charset="0"/>
                <a:ea typeface="楷体_GB2312" pitchFamily="49" charset="-122"/>
              </a:rPr>
              <a:t>s</a:t>
            </a:r>
            <a:r>
              <a:rPr lang="zh-CN" altLang="en-US" sz="2800">
                <a:effectLst>
                  <a:outerShdw blurRad="38100" dist="38100" dir="2700000" algn="tl">
                    <a:srgbClr val="FFFFFF"/>
                  </a:outerShdw>
                </a:effectLst>
                <a:latin typeface="Arial" pitchFamily="34" charset="0"/>
                <a:ea typeface="楷体_GB2312" pitchFamily="49" charset="-122"/>
              </a:rPr>
              <a:t>）</a:t>
            </a:r>
          </a:p>
        </p:txBody>
      </p:sp>
      <p:sp>
        <p:nvSpPr>
          <p:cNvPr id="24" name="Rectangle 14"/>
          <p:cNvSpPr>
            <a:spLocks noChangeArrowheads="1"/>
          </p:cNvSpPr>
          <p:nvPr/>
        </p:nvSpPr>
        <p:spPr bwMode="auto">
          <a:xfrm>
            <a:off x="6579883" y="4106863"/>
            <a:ext cx="2632075" cy="685800"/>
          </a:xfrm>
          <a:prstGeom prst="rect">
            <a:avLst/>
          </a:prstGeom>
          <a:solidFill>
            <a:schemeClr val="accent2">
              <a:lumMod val="20000"/>
              <a:lumOff val="80000"/>
            </a:schemeClr>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zh-CN" altLang="en-US" sz="2800">
                <a:effectLst>
                  <a:outerShdw blurRad="38100" dist="38100" dir="2700000" algn="tl">
                    <a:srgbClr val="FFFFFF"/>
                  </a:outerShdw>
                </a:effectLst>
                <a:latin typeface="Arial" pitchFamily="34" charset="0"/>
                <a:ea typeface="楷体_GB2312" pitchFamily="49" charset="-122"/>
              </a:rPr>
              <a:t>临界区</a:t>
            </a:r>
          </a:p>
        </p:txBody>
      </p:sp>
      <p:sp>
        <p:nvSpPr>
          <p:cNvPr id="25" name="Rectangle 15"/>
          <p:cNvSpPr>
            <a:spLocks noChangeArrowheads="1"/>
          </p:cNvSpPr>
          <p:nvPr/>
        </p:nvSpPr>
        <p:spPr bwMode="auto">
          <a:xfrm>
            <a:off x="6579883" y="4792663"/>
            <a:ext cx="2632075" cy="533400"/>
          </a:xfrm>
          <a:prstGeom prst="rect">
            <a:avLst/>
          </a:prstGeom>
          <a:solidFill>
            <a:srgbClr val="FFFF00"/>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altLang="zh-CN" sz="2800">
                <a:effectLst>
                  <a:outerShdw blurRad="38100" dist="38100" dir="2700000" algn="tl">
                    <a:srgbClr val="FFFFFF"/>
                  </a:outerShdw>
                </a:effectLst>
                <a:latin typeface="Arial" pitchFamily="34" charset="0"/>
                <a:ea typeface="楷体_GB2312" pitchFamily="49" charset="-122"/>
              </a:rPr>
              <a:t>signal</a:t>
            </a:r>
            <a:r>
              <a:rPr lang="zh-CN" altLang="en-US" sz="2800">
                <a:effectLst>
                  <a:outerShdw blurRad="38100" dist="38100" dir="2700000" algn="tl">
                    <a:srgbClr val="FFFFFF"/>
                  </a:outerShdw>
                </a:effectLst>
                <a:latin typeface="Arial" pitchFamily="34" charset="0"/>
                <a:ea typeface="楷体_GB2312" pitchFamily="49" charset="-122"/>
              </a:rPr>
              <a:t>（</a:t>
            </a:r>
            <a:r>
              <a:rPr lang="en-US" altLang="zh-CN" sz="2800">
                <a:effectLst>
                  <a:outerShdw blurRad="38100" dist="38100" dir="2700000" algn="tl">
                    <a:srgbClr val="FFFFFF"/>
                  </a:outerShdw>
                </a:effectLst>
                <a:latin typeface="Arial" pitchFamily="34" charset="0"/>
                <a:ea typeface="楷体_GB2312" pitchFamily="49" charset="-122"/>
              </a:rPr>
              <a:t>s</a:t>
            </a:r>
            <a:r>
              <a:rPr lang="zh-CN" altLang="en-US" sz="2800">
                <a:effectLst>
                  <a:outerShdw blurRad="38100" dist="38100" dir="2700000" algn="tl">
                    <a:srgbClr val="FFFFFF"/>
                  </a:outerShdw>
                </a:effectLst>
                <a:latin typeface="Arial" pitchFamily="34" charset="0"/>
                <a:ea typeface="楷体_GB2312" pitchFamily="49" charset="-122"/>
              </a:rPr>
              <a:t>）</a:t>
            </a:r>
          </a:p>
        </p:txBody>
      </p:sp>
      <p:sp>
        <p:nvSpPr>
          <p:cNvPr id="26" name="Rectangle 16"/>
          <p:cNvSpPr>
            <a:spLocks noChangeArrowheads="1"/>
          </p:cNvSpPr>
          <p:nvPr/>
        </p:nvSpPr>
        <p:spPr bwMode="auto">
          <a:xfrm>
            <a:off x="6579883" y="5326063"/>
            <a:ext cx="2632075" cy="533400"/>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altLang="zh-CN" sz="2800">
                <a:effectLst>
                  <a:outerShdw blurRad="38100" dist="38100" dir="2700000" algn="tl">
                    <a:srgbClr val="C0C0C0"/>
                  </a:outerShdw>
                </a:effectLst>
                <a:latin typeface="Arial" pitchFamily="34" charset="0"/>
                <a:ea typeface="楷体_GB2312" pitchFamily="49" charset="-122"/>
              </a:rPr>
              <a:t>…</a:t>
            </a:r>
          </a:p>
        </p:txBody>
      </p:sp>
      <p:grpSp>
        <p:nvGrpSpPr>
          <p:cNvPr id="4" name="组合 3"/>
          <p:cNvGrpSpPr/>
          <p:nvPr/>
        </p:nvGrpSpPr>
        <p:grpSpPr>
          <a:xfrm>
            <a:off x="4429718" y="1729385"/>
            <a:ext cx="5969259" cy="550085"/>
            <a:chOff x="4429718" y="1729385"/>
            <a:chExt cx="5969259" cy="550085"/>
          </a:xfrm>
        </p:grpSpPr>
        <p:sp>
          <p:nvSpPr>
            <p:cNvPr id="27" name="Text Box 17"/>
            <p:cNvSpPr txBox="1">
              <a:spLocks noChangeArrowheads="1"/>
            </p:cNvSpPr>
            <p:nvPr/>
          </p:nvSpPr>
          <p:spPr bwMode="auto">
            <a:xfrm>
              <a:off x="4429718" y="1760358"/>
              <a:ext cx="1789113" cy="519112"/>
            </a:xfrm>
            <a:prstGeom prst="rect">
              <a:avLst/>
            </a:prstGeom>
            <a:noFill/>
            <a:ln w="9525">
              <a:noFill/>
              <a:miter lim="800000"/>
              <a:headEnd/>
              <a:tailEnd/>
            </a:ln>
            <a:effectLst/>
          </p:spPr>
          <p:txBody>
            <a:bodyPr wrap="none">
              <a:spAutoFit/>
            </a:bodyPr>
            <a:lstStyle/>
            <a:p>
              <a:pPr>
                <a:defRPr/>
              </a:pPr>
              <a:r>
                <a:rPr lang="en-US" altLang="zh-CN" sz="2800" dirty="0">
                  <a:effectLst>
                    <a:outerShdw blurRad="38100" dist="38100" dir="2700000" algn="tl">
                      <a:srgbClr val="C0C0C0"/>
                    </a:outerShdw>
                  </a:effectLst>
                  <a:latin typeface="Arial" pitchFamily="34" charset="0"/>
                  <a:ea typeface="楷体_GB2312" pitchFamily="49" charset="-122"/>
                </a:rPr>
                <a:t>wait</a:t>
              </a:r>
              <a:r>
                <a:rPr lang="zh-CN" altLang="en-US" sz="2800" dirty="0">
                  <a:effectLst>
                    <a:outerShdw blurRad="38100" dist="38100" dir="2700000" algn="tl">
                      <a:srgbClr val="C0C0C0"/>
                    </a:outerShdw>
                  </a:effectLst>
                  <a:latin typeface="Arial" pitchFamily="34" charset="0"/>
                  <a:ea typeface="楷体_GB2312" pitchFamily="49" charset="-122"/>
                </a:rPr>
                <a:t>（</a:t>
              </a:r>
              <a:r>
                <a:rPr lang="en-US" altLang="zh-CN" sz="2800" dirty="0">
                  <a:effectLst>
                    <a:outerShdw blurRad="38100" dist="38100" dir="2700000" algn="tl">
                      <a:srgbClr val="C0C0C0"/>
                    </a:outerShdw>
                  </a:effectLst>
                  <a:latin typeface="Arial" pitchFamily="34" charset="0"/>
                  <a:ea typeface="楷体_GB2312" pitchFamily="49" charset="-122"/>
                </a:rPr>
                <a:t>s</a:t>
              </a:r>
              <a:r>
                <a:rPr lang="zh-CN" altLang="en-US" sz="2800" dirty="0">
                  <a:effectLst>
                    <a:outerShdw blurRad="38100" dist="38100" dir="2700000" algn="tl">
                      <a:srgbClr val="C0C0C0"/>
                    </a:outerShdw>
                  </a:effectLst>
                  <a:latin typeface="Arial" pitchFamily="34" charset="0"/>
                  <a:ea typeface="楷体_GB2312" pitchFamily="49" charset="-122"/>
                </a:rPr>
                <a:t>）</a:t>
              </a:r>
            </a:p>
          </p:txBody>
        </p:sp>
        <p:sp>
          <p:nvSpPr>
            <p:cNvPr id="28" name="Line 18"/>
            <p:cNvSpPr>
              <a:spLocks noChangeShapeType="1"/>
            </p:cNvSpPr>
            <p:nvPr/>
          </p:nvSpPr>
          <p:spPr bwMode="auto">
            <a:xfrm>
              <a:off x="5885715" y="2021076"/>
              <a:ext cx="38973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 name="Text Box 19"/>
            <p:cNvSpPr txBox="1">
              <a:spLocks noChangeArrowheads="1"/>
            </p:cNvSpPr>
            <p:nvPr/>
          </p:nvSpPr>
          <p:spPr bwMode="auto">
            <a:xfrm>
              <a:off x="6275445" y="1731403"/>
              <a:ext cx="1612900" cy="519112"/>
            </a:xfrm>
            <a:prstGeom prst="rect">
              <a:avLst/>
            </a:prstGeom>
            <a:noFill/>
            <a:ln w="9525">
              <a:noFill/>
              <a:miter lim="800000"/>
              <a:headEnd/>
              <a:tailEnd/>
            </a:ln>
            <a:effectLst/>
          </p:spPr>
          <p:txBody>
            <a:bodyPr wrap="none">
              <a:spAutoFit/>
            </a:bodyPr>
            <a:lstStyle/>
            <a:p>
              <a:pPr>
                <a:defRPr/>
              </a:pPr>
              <a:r>
                <a:rPr lang="zh-CN" altLang="en-US" sz="2800" dirty="0">
                  <a:effectLst>
                    <a:outerShdw blurRad="38100" dist="38100" dir="2700000" algn="tl">
                      <a:srgbClr val="C0C0C0"/>
                    </a:outerShdw>
                  </a:effectLst>
                  <a:latin typeface="Arial" pitchFamily="34" charset="0"/>
                  <a:ea typeface="楷体_GB2312" pitchFamily="49" charset="-122"/>
                </a:rPr>
                <a:t>访问资源</a:t>
              </a:r>
            </a:p>
          </p:txBody>
        </p:sp>
        <p:sp>
          <p:nvSpPr>
            <p:cNvPr id="30" name="Text Box 20"/>
            <p:cNvSpPr txBox="1">
              <a:spLocks noChangeArrowheads="1"/>
            </p:cNvSpPr>
            <p:nvPr/>
          </p:nvSpPr>
          <p:spPr bwMode="auto">
            <a:xfrm>
              <a:off x="8273314" y="1729385"/>
              <a:ext cx="2125663" cy="519112"/>
            </a:xfrm>
            <a:prstGeom prst="rect">
              <a:avLst/>
            </a:prstGeom>
            <a:noFill/>
            <a:ln w="9525">
              <a:noFill/>
              <a:miter lim="800000"/>
              <a:headEnd/>
              <a:tailEnd/>
            </a:ln>
            <a:effectLst/>
          </p:spPr>
          <p:txBody>
            <a:bodyPr wrap="none">
              <a:spAutoFit/>
            </a:bodyPr>
            <a:lstStyle/>
            <a:p>
              <a:pPr>
                <a:defRPr/>
              </a:pPr>
              <a:r>
                <a:rPr lang="en-US" altLang="zh-CN" sz="2800" dirty="0">
                  <a:effectLst>
                    <a:outerShdw blurRad="38100" dist="38100" dir="2700000" algn="tl">
                      <a:srgbClr val="C0C0C0"/>
                    </a:outerShdw>
                  </a:effectLst>
                  <a:latin typeface="Arial" pitchFamily="34" charset="0"/>
                  <a:ea typeface="楷体_GB2312" pitchFamily="49" charset="-122"/>
                </a:rPr>
                <a:t>signal</a:t>
              </a:r>
              <a:r>
                <a:rPr lang="zh-CN" altLang="en-US" sz="2800" dirty="0">
                  <a:effectLst>
                    <a:outerShdw blurRad="38100" dist="38100" dir="2700000" algn="tl">
                      <a:srgbClr val="C0C0C0"/>
                    </a:outerShdw>
                  </a:effectLst>
                  <a:latin typeface="Arial" pitchFamily="34" charset="0"/>
                  <a:ea typeface="楷体_GB2312" pitchFamily="49" charset="-122"/>
                </a:rPr>
                <a:t>（</a:t>
              </a:r>
              <a:r>
                <a:rPr lang="en-US" altLang="zh-CN" sz="2800" dirty="0">
                  <a:effectLst>
                    <a:outerShdw blurRad="38100" dist="38100" dir="2700000" algn="tl">
                      <a:srgbClr val="C0C0C0"/>
                    </a:outerShdw>
                  </a:effectLst>
                  <a:latin typeface="Arial" pitchFamily="34" charset="0"/>
                  <a:ea typeface="楷体_GB2312" pitchFamily="49" charset="-122"/>
                </a:rPr>
                <a:t>s</a:t>
              </a:r>
              <a:r>
                <a:rPr lang="zh-CN" altLang="en-US" sz="2800" dirty="0">
                  <a:effectLst>
                    <a:outerShdw blurRad="38100" dist="38100" dir="2700000" algn="tl">
                      <a:srgbClr val="C0C0C0"/>
                    </a:outerShdw>
                  </a:effectLst>
                  <a:latin typeface="Arial" pitchFamily="34" charset="0"/>
                  <a:ea typeface="楷体_GB2312" pitchFamily="49" charset="-122"/>
                </a:rPr>
                <a:t>）</a:t>
              </a:r>
            </a:p>
          </p:txBody>
        </p:sp>
        <p:sp>
          <p:nvSpPr>
            <p:cNvPr id="31" name="Line 21"/>
            <p:cNvSpPr>
              <a:spLocks noChangeShapeType="1"/>
            </p:cNvSpPr>
            <p:nvPr/>
          </p:nvSpPr>
          <p:spPr bwMode="auto">
            <a:xfrm>
              <a:off x="7877501" y="2019914"/>
              <a:ext cx="380324" cy="116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32" name="Text Box 22"/>
          <p:cNvSpPr txBox="1">
            <a:spLocks noChangeArrowheads="1"/>
          </p:cNvSpPr>
          <p:nvPr/>
        </p:nvSpPr>
        <p:spPr bwMode="auto">
          <a:xfrm>
            <a:off x="1939453" y="5945188"/>
            <a:ext cx="1408112" cy="579437"/>
          </a:xfrm>
          <a:prstGeom prst="rect">
            <a:avLst/>
          </a:prstGeom>
          <a:noFill/>
          <a:ln w="9525">
            <a:noFill/>
            <a:miter lim="800000"/>
            <a:headEnd/>
            <a:tailEnd/>
          </a:ln>
          <a:effectLst/>
        </p:spPr>
        <p:txBody>
          <a:bodyPr wrap="none">
            <a:spAutoFit/>
          </a:bodyPr>
          <a:lstStyle/>
          <a:p>
            <a:pPr>
              <a:defRPr/>
            </a:pPr>
            <a:r>
              <a:rPr lang="zh-CN" altLang="en-US" sz="3200">
                <a:solidFill>
                  <a:schemeClr val="accent2"/>
                </a:solidFill>
                <a:effectLst>
                  <a:outerShdw blurRad="38100" dist="38100" dir="2700000" algn="tl">
                    <a:srgbClr val="C0C0C0"/>
                  </a:outerShdw>
                </a:effectLst>
                <a:latin typeface="Arial" pitchFamily="34" charset="0"/>
                <a:ea typeface="隶书" pitchFamily="49" charset="-122"/>
              </a:rPr>
              <a:t>状态：</a:t>
            </a:r>
          </a:p>
        </p:txBody>
      </p:sp>
      <p:sp>
        <p:nvSpPr>
          <p:cNvPr id="33" name="Text Box 23"/>
          <p:cNvSpPr txBox="1">
            <a:spLocks noChangeArrowheads="1"/>
          </p:cNvSpPr>
          <p:nvPr/>
        </p:nvSpPr>
        <p:spPr bwMode="auto">
          <a:xfrm>
            <a:off x="6573533" y="5945188"/>
            <a:ext cx="1408112" cy="579437"/>
          </a:xfrm>
          <a:prstGeom prst="rect">
            <a:avLst/>
          </a:prstGeom>
          <a:noFill/>
          <a:ln w="9525">
            <a:noFill/>
            <a:miter lim="800000"/>
            <a:headEnd/>
            <a:tailEnd/>
          </a:ln>
          <a:effectLst/>
        </p:spPr>
        <p:txBody>
          <a:bodyPr wrap="none">
            <a:spAutoFit/>
          </a:bodyPr>
          <a:lstStyle/>
          <a:p>
            <a:pPr>
              <a:defRPr/>
            </a:pPr>
            <a:r>
              <a:rPr lang="zh-CN" altLang="en-US" sz="3200">
                <a:solidFill>
                  <a:schemeClr val="accent2"/>
                </a:solidFill>
                <a:effectLst>
                  <a:outerShdw blurRad="38100" dist="38100" dir="2700000" algn="tl">
                    <a:srgbClr val="C0C0C0"/>
                  </a:outerShdw>
                </a:effectLst>
                <a:latin typeface="Arial" pitchFamily="34" charset="0"/>
                <a:ea typeface="隶书" pitchFamily="49" charset="-122"/>
              </a:rPr>
              <a:t>状态：</a:t>
            </a:r>
          </a:p>
        </p:txBody>
      </p:sp>
      <p:sp>
        <p:nvSpPr>
          <p:cNvPr id="34" name="AutoShape 24"/>
          <p:cNvSpPr>
            <a:spLocks noChangeArrowheads="1"/>
          </p:cNvSpPr>
          <p:nvPr/>
        </p:nvSpPr>
        <p:spPr bwMode="auto">
          <a:xfrm>
            <a:off x="4076228" y="3192463"/>
            <a:ext cx="398462" cy="381000"/>
          </a:xfrm>
          <a:prstGeom prst="sun">
            <a:avLst>
              <a:gd name="adj" fmla="val 25000"/>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b="0"/>
          </a:p>
        </p:txBody>
      </p:sp>
      <p:sp>
        <p:nvSpPr>
          <p:cNvPr id="35" name="AutoShape 25"/>
          <p:cNvSpPr>
            <a:spLocks noChangeArrowheads="1"/>
          </p:cNvSpPr>
          <p:nvPr/>
        </p:nvSpPr>
        <p:spPr bwMode="auto">
          <a:xfrm>
            <a:off x="8637283" y="3116263"/>
            <a:ext cx="398462" cy="381000"/>
          </a:xfrm>
          <a:prstGeom prst="sun">
            <a:avLst>
              <a:gd name="adj" fmla="val 25000"/>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b="0"/>
          </a:p>
        </p:txBody>
      </p:sp>
      <p:sp>
        <p:nvSpPr>
          <p:cNvPr id="36" name="Line 26"/>
          <p:cNvSpPr>
            <a:spLocks noChangeShapeType="1"/>
          </p:cNvSpPr>
          <p:nvPr/>
        </p:nvSpPr>
        <p:spPr bwMode="auto">
          <a:xfrm>
            <a:off x="4458816" y="5156200"/>
            <a:ext cx="3522830" cy="811213"/>
          </a:xfrm>
          <a:prstGeom prst="line">
            <a:avLst/>
          </a:prstGeom>
          <a:noFill/>
          <a:ln w="76200">
            <a:solidFill>
              <a:srgbClr val="FFC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 name="Text Box 27"/>
          <p:cNvSpPr txBox="1">
            <a:spLocks noChangeArrowheads="1"/>
          </p:cNvSpPr>
          <p:nvPr/>
        </p:nvSpPr>
        <p:spPr bwMode="auto">
          <a:xfrm>
            <a:off x="5164644" y="5694469"/>
            <a:ext cx="898525" cy="519112"/>
          </a:xfrm>
          <a:prstGeom prst="rect">
            <a:avLst/>
          </a:prstGeom>
          <a:noFill/>
          <a:ln w="9525">
            <a:noFill/>
            <a:miter lim="800000"/>
            <a:headEnd/>
            <a:tailEnd/>
          </a:ln>
          <a:effectLst/>
        </p:spPr>
        <p:txBody>
          <a:bodyPr wrap="none">
            <a:spAutoFit/>
          </a:bodyPr>
          <a:lstStyle/>
          <a:p>
            <a:pPr>
              <a:defRPr/>
            </a:pPr>
            <a:r>
              <a:rPr kumimoji="0" lang="zh-CN" altLang="en-US" sz="2800" dirty="0">
                <a:solidFill>
                  <a:srgbClr val="7030A0"/>
                </a:solidFill>
                <a:effectLst>
                  <a:outerShdw blurRad="38100" dist="38100" dir="2700000" algn="tl">
                    <a:srgbClr val="C0C0C0"/>
                  </a:outerShdw>
                </a:effectLst>
                <a:latin typeface="Arial" pitchFamily="34" charset="0"/>
                <a:ea typeface="楷体_GB2312" pitchFamily="49" charset="-122"/>
              </a:rPr>
              <a:t>唤醒</a:t>
            </a:r>
          </a:p>
        </p:txBody>
      </p:sp>
      <p:sp>
        <p:nvSpPr>
          <p:cNvPr id="38" name="Text Box 28"/>
          <p:cNvSpPr txBox="1">
            <a:spLocks noChangeArrowheads="1"/>
          </p:cNvSpPr>
          <p:nvPr/>
        </p:nvSpPr>
        <p:spPr bwMode="auto">
          <a:xfrm>
            <a:off x="3018953" y="5967413"/>
            <a:ext cx="898525" cy="519112"/>
          </a:xfrm>
          <a:prstGeom prst="rect">
            <a:avLst/>
          </a:prstGeom>
          <a:noFill/>
          <a:ln w="9525">
            <a:noFill/>
            <a:miter lim="800000"/>
            <a:headEnd/>
            <a:tailEnd/>
          </a:ln>
          <a:effectLst/>
        </p:spPr>
        <p:txBody>
          <a:bodyPr wrap="none">
            <a:spAutoFit/>
          </a:bodyPr>
          <a:lstStyle/>
          <a:p>
            <a:pPr>
              <a:defRPr/>
            </a:pPr>
            <a:r>
              <a:rPr kumimoji="0" lang="zh-CN" altLang="en-US" sz="2800">
                <a:effectLst>
                  <a:outerShdw blurRad="38100" dist="38100" dir="2700000" algn="tl">
                    <a:srgbClr val="C0C0C0"/>
                  </a:outerShdw>
                </a:effectLst>
                <a:latin typeface="Arial" pitchFamily="34" charset="0"/>
                <a:ea typeface="黑体" pitchFamily="2" charset="-122"/>
              </a:rPr>
              <a:t>就绪</a:t>
            </a:r>
          </a:p>
        </p:txBody>
      </p:sp>
      <p:sp>
        <p:nvSpPr>
          <p:cNvPr id="39" name="Text Box 29"/>
          <p:cNvSpPr txBox="1">
            <a:spLocks noChangeArrowheads="1"/>
          </p:cNvSpPr>
          <p:nvPr/>
        </p:nvSpPr>
        <p:spPr bwMode="auto">
          <a:xfrm>
            <a:off x="3739678" y="5967413"/>
            <a:ext cx="898525" cy="519112"/>
          </a:xfrm>
          <a:prstGeom prst="rect">
            <a:avLst/>
          </a:prstGeom>
          <a:noFill/>
          <a:ln w="9525">
            <a:noFill/>
            <a:miter lim="800000"/>
            <a:headEnd/>
            <a:tailEnd/>
          </a:ln>
          <a:effectLst/>
        </p:spPr>
        <p:txBody>
          <a:bodyPr wrap="none">
            <a:spAutoFit/>
          </a:bodyPr>
          <a:lstStyle/>
          <a:p>
            <a:pPr>
              <a:defRPr/>
            </a:pPr>
            <a:r>
              <a:rPr kumimoji="0" lang="zh-CN" altLang="en-US" sz="2800">
                <a:effectLst>
                  <a:outerShdw blurRad="38100" dist="38100" dir="2700000" algn="tl">
                    <a:srgbClr val="C0C0C0"/>
                  </a:outerShdw>
                </a:effectLst>
                <a:latin typeface="Arial" pitchFamily="34" charset="0"/>
                <a:ea typeface="黑体" pitchFamily="2" charset="-122"/>
              </a:rPr>
              <a:t>执行</a:t>
            </a:r>
          </a:p>
        </p:txBody>
      </p:sp>
      <p:sp>
        <p:nvSpPr>
          <p:cNvPr id="40" name="Text Box 30"/>
          <p:cNvSpPr txBox="1">
            <a:spLocks noChangeArrowheads="1"/>
          </p:cNvSpPr>
          <p:nvPr/>
        </p:nvSpPr>
        <p:spPr bwMode="auto">
          <a:xfrm>
            <a:off x="7672083" y="5967413"/>
            <a:ext cx="898525" cy="519112"/>
          </a:xfrm>
          <a:prstGeom prst="rect">
            <a:avLst/>
          </a:prstGeom>
          <a:noFill/>
          <a:ln w="9525">
            <a:noFill/>
            <a:miter lim="800000"/>
            <a:headEnd/>
            <a:tailEnd/>
          </a:ln>
          <a:effectLst/>
        </p:spPr>
        <p:txBody>
          <a:bodyPr wrap="none">
            <a:spAutoFit/>
          </a:bodyPr>
          <a:lstStyle/>
          <a:p>
            <a:pPr>
              <a:defRPr/>
            </a:pPr>
            <a:r>
              <a:rPr kumimoji="0" lang="zh-CN" altLang="en-US" sz="2800" dirty="0">
                <a:effectLst>
                  <a:outerShdw blurRad="38100" dist="38100" dir="2700000" algn="tl">
                    <a:srgbClr val="C0C0C0"/>
                  </a:outerShdw>
                </a:effectLst>
                <a:latin typeface="Arial" pitchFamily="34" charset="0"/>
                <a:ea typeface="黑体" pitchFamily="2" charset="-122"/>
              </a:rPr>
              <a:t>就绪</a:t>
            </a:r>
          </a:p>
        </p:txBody>
      </p:sp>
      <p:sp>
        <p:nvSpPr>
          <p:cNvPr id="41" name="Text Box 31"/>
          <p:cNvSpPr txBox="1">
            <a:spLocks noChangeArrowheads="1"/>
          </p:cNvSpPr>
          <p:nvPr/>
        </p:nvSpPr>
        <p:spPr bwMode="auto">
          <a:xfrm>
            <a:off x="8391220" y="5967413"/>
            <a:ext cx="898525" cy="519112"/>
          </a:xfrm>
          <a:prstGeom prst="rect">
            <a:avLst/>
          </a:prstGeom>
          <a:noFill/>
          <a:ln w="9525">
            <a:noFill/>
            <a:miter lim="800000"/>
            <a:headEnd/>
            <a:tailEnd/>
          </a:ln>
          <a:effectLst/>
        </p:spPr>
        <p:txBody>
          <a:bodyPr wrap="none">
            <a:spAutoFit/>
          </a:bodyPr>
          <a:lstStyle/>
          <a:p>
            <a:pPr>
              <a:defRPr/>
            </a:pPr>
            <a:r>
              <a:rPr kumimoji="0" lang="zh-CN" altLang="en-US" sz="2800">
                <a:effectLst>
                  <a:outerShdw blurRad="38100" dist="38100" dir="2700000" algn="tl">
                    <a:srgbClr val="C0C0C0"/>
                  </a:outerShdw>
                </a:effectLst>
                <a:latin typeface="Arial" pitchFamily="34" charset="0"/>
                <a:ea typeface="黑体" pitchFamily="2" charset="-122"/>
              </a:rPr>
              <a:t>执行</a:t>
            </a:r>
          </a:p>
        </p:txBody>
      </p:sp>
      <p:sp>
        <p:nvSpPr>
          <p:cNvPr id="42" name="Text Box 32"/>
          <p:cNvSpPr txBox="1">
            <a:spLocks noChangeArrowheads="1"/>
          </p:cNvSpPr>
          <p:nvPr/>
        </p:nvSpPr>
        <p:spPr bwMode="auto">
          <a:xfrm>
            <a:off x="9111945" y="5967413"/>
            <a:ext cx="898525" cy="519112"/>
          </a:xfrm>
          <a:prstGeom prst="rect">
            <a:avLst/>
          </a:prstGeom>
          <a:noFill/>
          <a:ln w="9525">
            <a:noFill/>
            <a:miter lim="800000"/>
            <a:headEnd/>
            <a:tailEnd/>
          </a:ln>
          <a:effectLst/>
        </p:spPr>
        <p:txBody>
          <a:bodyPr wrap="none">
            <a:spAutoFit/>
          </a:bodyPr>
          <a:lstStyle/>
          <a:p>
            <a:pPr>
              <a:defRPr/>
            </a:pPr>
            <a:r>
              <a:rPr kumimoji="0" lang="zh-CN" altLang="en-US" sz="2800">
                <a:effectLst>
                  <a:outerShdw blurRad="38100" dist="38100" dir="2700000" algn="tl">
                    <a:srgbClr val="C0C0C0"/>
                  </a:outerShdw>
                </a:effectLst>
                <a:latin typeface="Arial" pitchFamily="34" charset="0"/>
                <a:ea typeface="黑体" pitchFamily="2" charset="-122"/>
              </a:rPr>
              <a:t>阻塞</a:t>
            </a:r>
          </a:p>
        </p:txBody>
      </p:sp>
      <p:sp>
        <p:nvSpPr>
          <p:cNvPr id="43" name="Text Box 36"/>
          <p:cNvSpPr txBox="1">
            <a:spLocks noChangeArrowheads="1"/>
          </p:cNvSpPr>
          <p:nvPr/>
        </p:nvSpPr>
        <p:spPr bwMode="auto">
          <a:xfrm>
            <a:off x="9035745" y="2425700"/>
            <a:ext cx="2525712" cy="519112"/>
          </a:xfrm>
          <a:prstGeom prst="rect">
            <a:avLst/>
          </a:prstGeom>
          <a:solidFill>
            <a:schemeClr val="accent1">
              <a:lumMod val="20000"/>
              <a:lumOff val="80000"/>
            </a:schemeClr>
          </a:solidFill>
          <a:ln w="9525">
            <a:noFill/>
            <a:miter lim="800000"/>
            <a:headEnd/>
            <a:tailEnd/>
          </a:ln>
          <a:effectLst/>
        </p:spPr>
        <p:txBody>
          <a:bodyPr wrap="none">
            <a:spAutoFit/>
          </a:bodyPr>
          <a:lstStyle/>
          <a:p>
            <a:pPr>
              <a:defRPr/>
            </a:pPr>
            <a:r>
              <a:rPr lang="zh-CN" altLang="en-US" sz="2800" dirty="0">
                <a:effectLst>
                  <a:outerShdw blurRad="38100" dist="38100" dir="2700000" algn="tl">
                    <a:srgbClr val="FFFFFF"/>
                  </a:outerShdw>
                </a:effectLst>
                <a:latin typeface="Arial" pitchFamily="34" charset="0"/>
                <a:ea typeface="楷体_GB2312" pitchFamily="49" charset="-122"/>
              </a:rPr>
              <a:t>信号量初值为</a:t>
            </a:r>
            <a:r>
              <a:rPr lang="en-US" altLang="zh-CN" sz="2800" dirty="0">
                <a:effectLst>
                  <a:outerShdw blurRad="38100" dist="38100" dir="2700000" algn="tl">
                    <a:srgbClr val="FFFFFF"/>
                  </a:outerShdw>
                </a:effectLst>
                <a:latin typeface="Arial" pitchFamily="34" charset="0"/>
                <a:ea typeface="楷体_GB2312" pitchFamily="49" charset="-122"/>
              </a:rPr>
              <a:t>1</a:t>
            </a:r>
          </a:p>
        </p:txBody>
      </p:sp>
      <p:sp>
        <p:nvSpPr>
          <p:cNvPr id="8" name="圆角矩形 7"/>
          <p:cNvSpPr/>
          <p:nvPr/>
        </p:nvSpPr>
        <p:spPr>
          <a:xfrm>
            <a:off x="5253370" y="2414588"/>
            <a:ext cx="721071" cy="6143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8"/>
          <p:cNvSpPr txBox="1"/>
          <p:nvPr/>
        </p:nvSpPr>
        <p:spPr>
          <a:xfrm>
            <a:off x="5438374" y="2439348"/>
            <a:ext cx="474637" cy="523220"/>
          </a:xfrm>
          <a:prstGeom prst="rect">
            <a:avLst/>
          </a:prstGeom>
          <a:noFill/>
        </p:spPr>
        <p:txBody>
          <a:bodyPr wrap="square" rtlCol="0">
            <a:spAutoFit/>
          </a:bodyPr>
          <a:lstStyle/>
          <a:p>
            <a:r>
              <a:rPr lang="en-US" altLang="zh-CN" sz="2800" b="1" dirty="0"/>
              <a:t>1</a:t>
            </a:r>
            <a:endParaRPr lang="zh-CN" altLang="en-US" sz="2800" b="1" dirty="0"/>
          </a:p>
        </p:txBody>
      </p:sp>
      <p:sp>
        <p:nvSpPr>
          <p:cNvPr id="46" name="TextBox 45"/>
          <p:cNvSpPr txBox="1"/>
          <p:nvPr/>
        </p:nvSpPr>
        <p:spPr>
          <a:xfrm>
            <a:off x="5411078" y="2482258"/>
            <a:ext cx="474637" cy="5232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altLang="zh-CN" sz="2800" b="1" dirty="0">
                <a:solidFill>
                  <a:schemeClr val="tx1"/>
                </a:solidFill>
              </a:rPr>
              <a:t>0</a:t>
            </a:r>
            <a:endParaRPr lang="zh-CN" altLang="en-US" sz="2800" b="1" dirty="0">
              <a:solidFill>
                <a:schemeClr val="tx1"/>
              </a:solidFill>
            </a:endParaRPr>
          </a:p>
        </p:txBody>
      </p:sp>
      <p:sp>
        <p:nvSpPr>
          <p:cNvPr id="45" name="TextBox 44"/>
          <p:cNvSpPr txBox="1"/>
          <p:nvPr/>
        </p:nvSpPr>
        <p:spPr>
          <a:xfrm>
            <a:off x="5265984" y="2470135"/>
            <a:ext cx="624796" cy="5232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altLang="zh-CN" sz="2800" b="1" dirty="0">
                <a:solidFill>
                  <a:schemeClr val="tx1"/>
                </a:solidFill>
              </a:rPr>
              <a:t>-1</a:t>
            </a:r>
            <a:endParaRPr lang="zh-CN" altLang="en-US" sz="2800" b="1" dirty="0">
              <a:solidFill>
                <a:schemeClr val="tx1"/>
              </a:solidFill>
            </a:endParaRPr>
          </a:p>
        </p:txBody>
      </p:sp>
      <p:sp>
        <p:nvSpPr>
          <p:cNvPr id="47" name="TextBox 46"/>
          <p:cNvSpPr txBox="1"/>
          <p:nvPr/>
        </p:nvSpPr>
        <p:spPr>
          <a:xfrm>
            <a:off x="5341063" y="2482258"/>
            <a:ext cx="474637" cy="5232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altLang="zh-CN" sz="2800" b="1" dirty="0">
                <a:solidFill>
                  <a:schemeClr val="tx1"/>
                </a:solidFill>
              </a:rPr>
              <a:t>0</a:t>
            </a:r>
            <a:endParaRPr lang="zh-CN" altLang="en-US" sz="2800" b="1" dirty="0">
              <a:solidFill>
                <a:schemeClr val="tx1"/>
              </a:solidFill>
            </a:endParaRPr>
          </a:p>
        </p:txBody>
      </p:sp>
      <p:sp>
        <p:nvSpPr>
          <p:cNvPr id="48" name="TextBox 47"/>
          <p:cNvSpPr txBox="1"/>
          <p:nvPr/>
        </p:nvSpPr>
        <p:spPr>
          <a:xfrm>
            <a:off x="5353323" y="2439348"/>
            <a:ext cx="474637" cy="5232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altLang="zh-CN" sz="2800" b="1" dirty="0">
                <a:solidFill>
                  <a:schemeClr val="tx1"/>
                </a:solidFill>
              </a:rPr>
              <a:t>1</a:t>
            </a:r>
            <a:endParaRPr lang="zh-CN" altLang="en-US" sz="2800" b="1" dirty="0">
              <a:solidFill>
                <a:schemeClr val="tx1"/>
              </a:solidFill>
            </a:endParaRPr>
          </a:p>
        </p:txBody>
      </p:sp>
    </p:spTree>
    <p:extLst>
      <p:ext uri="{BB962C8B-B14F-4D97-AF65-F5344CB8AC3E}">
        <p14:creationId xmlns:p14="http://schemas.microsoft.com/office/powerpoint/2010/main" val="14201178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2" fill="hold" grpId="0" nodeType="click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slide(fromRight)">
                                      <p:cBhvr>
                                        <p:cTn id="22" dur="500"/>
                                        <p:tgtEl>
                                          <p:spTgt spid="4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grpId="0" nodeType="clickEffect">
                                  <p:stCondLst>
                                    <p:cond delay="0"/>
                                  </p:stCondLst>
                                  <p:childTnLst>
                                    <p:animEffect transition="out" filter="fade">
                                      <p:cBhvr>
                                        <p:cTn id="26" dur="500"/>
                                        <p:tgtEl>
                                          <p:spTgt spid="38"/>
                                        </p:tgtEl>
                                      </p:cBhvr>
                                    </p:animEffect>
                                    <p:set>
                                      <p:cBhvr>
                                        <p:cTn id="27" dur="1" fill="hold">
                                          <p:stCondLst>
                                            <p:cond delay="499"/>
                                          </p:stCondLst>
                                        </p:cTn>
                                        <p:tgtEl>
                                          <p:spTgt spid="38"/>
                                        </p:tgtEl>
                                        <p:attrNameLst>
                                          <p:attrName>style.visibility</p:attrName>
                                        </p:attrNameLst>
                                      </p:cBhvr>
                                      <p:to>
                                        <p:strVal val="hidden"/>
                                      </p:to>
                                    </p:set>
                                  </p:childTnLst>
                                </p:cTn>
                              </p:par>
                              <p:par>
                                <p:cTn id="28" presetID="9" presetClass="entr" presetSubtype="0" fill="hold" grpId="0" nodeType="withEffect">
                                  <p:stCondLst>
                                    <p:cond delay="0"/>
                                  </p:stCondLst>
                                  <p:childTnLst>
                                    <p:set>
                                      <p:cBhvr>
                                        <p:cTn id="29" dur="1" fill="hold">
                                          <p:stCondLst>
                                            <p:cond delay="0"/>
                                          </p:stCondLst>
                                        </p:cTn>
                                        <p:tgtEl>
                                          <p:spTgt spid="39"/>
                                        </p:tgtEl>
                                        <p:attrNameLst>
                                          <p:attrName>style.visibility</p:attrName>
                                        </p:attrNameLst>
                                      </p:cBhvr>
                                      <p:to>
                                        <p:strVal val="visible"/>
                                      </p:to>
                                    </p:set>
                                    <p:animEffect transition="in" filter="dissolve">
                                      <p:cBhvr>
                                        <p:cTn id="30" dur="500"/>
                                        <p:tgtEl>
                                          <p:spTgt spid="39"/>
                                        </p:tgtEl>
                                      </p:cBhvr>
                                    </p:animEffect>
                                  </p:childTnLst>
                                </p:cTn>
                              </p:par>
                            </p:childTnLst>
                          </p:cTn>
                        </p:par>
                      </p:childTnLst>
                    </p:cTn>
                  </p:par>
                  <p:par>
                    <p:cTn id="31" fill="hold">
                      <p:stCondLst>
                        <p:cond delay="indefinite"/>
                      </p:stCondLst>
                      <p:childTnLst>
                        <p:par>
                          <p:cTn id="32" fill="hold">
                            <p:stCondLst>
                              <p:cond delay="0"/>
                            </p:stCondLst>
                            <p:childTnLst>
                              <p:par>
                                <p:cTn id="33" presetID="0" presetClass="path" presetSubtype="0" accel="50000" decel="50000" fill="hold" grpId="0" nodeType="clickEffect">
                                  <p:stCondLst>
                                    <p:cond delay="400"/>
                                  </p:stCondLst>
                                  <p:childTnLst>
                                    <p:animMotion origin="layout" path="M 5.83333E-6 6.50058E-6 L 5.83333E-6 0.07347 " pathEditMode="relative" ptsTypes="AA">
                                      <p:cBhvr>
                                        <p:cTn id="34" dur="2000" fill="hold"/>
                                        <p:tgtEl>
                                          <p:spTgt spid="34"/>
                                        </p:tgtEl>
                                        <p:attrNameLst>
                                          <p:attrName>ppt_x</p:attrName>
                                          <p:attrName>ppt_y</p:attrName>
                                        </p:attrNameLst>
                                      </p:cBhvr>
                                    </p:animMotion>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46"/>
                                        </p:tgtEl>
                                        <p:attrNameLst>
                                          <p:attrName>style.visibility</p:attrName>
                                        </p:attrNameLst>
                                      </p:cBhvr>
                                      <p:to>
                                        <p:strVal val="visible"/>
                                      </p:to>
                                    </p:set>
                                    <p:animEffect transition="in" filter="fade">
                                      <p:cBhvr>
                                        <p:cTn id="39" dur="500"/>
                                        <p:tgtEl>
                                          <p:spTgt spid="46"/>
                                        </p:tgtEl>
                                      </p:cBhvr>
                                    </p:animEffect>
                                  </p:childTnLst>
                                </p:cTn>
                              </p:par>
                            </p:childTnLst>
                          </p:cTn>
                        </p:par>
                        <p:par>
                          <p:cTn id="40" fill="hold">
                            <p:stCondLst>
                              <p:cond delay="500"/>
                            </p:stCondLst>
                            <p:childTnLst>
                              <p:par>
                                <p:cTn id="41" presetID="0" presetClass="path" presetSubtype="0" accel="50000" decel="50000" fill="hold" grpId="1" nodeType="afterEffect">
                                  <p:stCondLst>
                                    <p:cond delay="0"/>
                                  </p:stCondLst>
                                  <p:childTnLst>
                                    <p:animMotion origin="layout" path="M 5.83333E-6 0.07347 L 5.83333E-6 0.1576 " pathEditMode="relative" ptsTypes="AA">
                                      <p:cBhvr>
                                        <p:cTn id="42" dur="2000" fill="hold"/>
                                        <p:tgtEl>
                                          <p:spTgt spid="34"/>
                                        </p:tgtEl>
                                        <p:attrNameLst>
                                          <p:attrName>ppt_x</p:attrName>
                                          <p:attrName>ppt_y</p:attrName>
                                        </p:attrNameLst>
                                      </p:cBhvr>
                                    </p:animMotion>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grpId="1" nodeType="clickEffect">
                                  <p:stCondLst>
                                    <p:cond delay="0"/>
                                  </p:stCondLst>
                                  <p:childTnLst>
                                    <p:animEffect transition="out" filter="fade">
                                      <p:cBhvr>
                                        <p:cTn id="46" dur="500"/>
                                        <p:tgtEl>
                                          <p:spTgt spid="39"/>
                                        </p:tgtEl>
                                      </p:cBhvr>
                                    </p:animEffect>
                                    <p:set>
                                      <p:cBhvr>
                                        <p:cTn id="47" dur="1" fill="hold">
                                          <p:stCondLst>
                                            <p:cond delay="499"/>
                                          </p:stCondLst>
                                        </p:cTn>
                                        <p:tgtEl>
                                          <p:spTgt spid="39"/>
                                        </p:tgtEl>
                                        <p:attrNameLst>
                                          <p:attrName>style.visibility</p:attrName>
                                        </p:attrNameLst>
                                      </p:cBhvr>
                                      <p:to>
                                        <p:strVal val="hidden"/>
                                      </p:to>
                                    </p:set>
                                  </p:childTnLst>
                                </p:cTn>
                              </p:par>
                              <p:par>
                                <p:cTn id="48" presetID="9" presetClass="entr" presetSubtype="0" fill="hold" grpId="1" nodeType="withEffect">
                                  <p:stCondLst>
                                    <p:cond delay="0"/>
                                  </p:stCondLst>
                                  <p:childTnLst>
                                    <p:set>
                                      <p:cBhvr>
                                        <p:cTn id="49" dur="1" fill="hold">
                                          <p:stCondLst>
                                            <p:cond delay="0"/>
                                          </p:stCondLst>
                                        </p:cTn>
                                        <p:tgtEl>
                                          <p:spTgt spid="38"/>
                                        </p:tgtEl>
                                        <p:attrNameLst>
                                          <p:attrName>style.visibility</p:attrName>
                                        </p:attrNameLst>
                                      </p:cBhvr>
                                      <p:to>
                                        <p:strVal val="visible"/>
                                      </p:to>
                                    </p:set>
                                    <p:animEffect transition="in" filter="dissolve">
                                      <p:cBhvr>
                                        <p:cTn id="50" dur="500"/>
                                        <p:tgtEl>
                                          <p:spTgt spid="38"/>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xit" presetSubtype="0" fill="hold" grpId="0" nodeType="clickEffect">
                                  <p:stCondLst>
                                    <p:cond delay="0"/>
                                  </p:stCondLst>
                                  <p:childTnLst>
                                    <p:animEffect transition="out" filter="fade">
                                      <p:cBhvr>
                                        <p:cTn id="54" dur="500"/>
                                        <p:tgtEl>
                                          <p:spTgt spid="40"/>
                                        </p:tgtEl>
                                      </p:cBhvr>
                                    </p:animEffect>
                                    <p:set>
                                      <p:cBhvr>
                                        <p:cTn id="55" dur="1" fill="hold">
                                          <p:stCondLst>
                                            <p:cond delay="499"/>
                                          </p:stCondLst>
                                        </p:cTn>
                                        <p:tgtEl>
                                          <p:spTgt spid="40"/>
                                        </p:tgtEl>
                                        <p:attrNameLst>
                                          <p:attrName>style.visibility</p:attrName>
                                        </p:attrNameLst>
                                      </p:cBhvr>
                                      <p:to>
                                        <p:strVal val="hidden"/>
                                      </p:to>
                                    </p:set>
                                  </p:childTnLst>
                                </p:cTn>
                              </p:par>
                              <p:par>
                                <p:cTn id="56" presetID="9" presetClass="entr" presetSubtype="0" fill="hold" grpId="0" nodeType="withEffect">
                                  <p:stCondLst>
                                    <p:cond delay="0"/>
                                  </p:stCondLst>
                                  <p:childTnLst>
                                    <p:set>
                                      <p:cBhvr>
                                        <p:cTn id="57" dur="1" fill="hold">
                                          <p:stCondLst>
                                            <p:cond delay="0"/>
                                          </p:stCondLst>
                                        </p:cTn>
                                        <p:tgtEl>
                                          <p:spTgt spid="41"/>
                                        </p:tgtEl>
                                        <p:attrNameLst>
                                          <p:attrName>style.visibility</p:attrName>
                                        </p:attrNameLst>
                                      </p:cBhvr>
                                      <p:to>
                                        <p:strVal val="visible"/>
                                      </p:to>
                                    </p:set>
                                    <p:animEffect transition="in" filter="dissolve">
                                      <p:cBhvr>
                                        <p:cTn id="58" dur="500"/>
                                        <p:tgtEl>
                                          <p:spTgt spid="41"/>
                                        </p:tgtEl>
                                      </p:cBhvr>
                                    </p:animEffect>
                                  </p:childTnLst>
                                </p:cTn>
                              </p:par>
                            </p:childTnLst>
                          </p:cTn>
                        </p:par>
                      </p:childTnLst>
                    </p:cTn>
                  </p:par>
                  <p:par>
                    <p:cTn id="59" fill="hold">
                      <p:stCondLst>
                        <p:cond delay="indefinite"/>
                      </p:stCondLst>
                      <p:childTnLst>
                        <p:par>
                          <p:cTn id="60" fill="hold">
                            <p:stCondLst>
                              <p:cond delay="0"/>
                            </p:stCondLst>
                            <p:childTnLst>
                              <p:par>
                                <p:cTn id="61" presetID="0" presetClass="path" presetSubtype="0" accel="50000" decel="50000" fill="hold" grpId="0" nodeType="clickEffect">
                                  <p:stCondLst>
                                    <p:cond delay="0"/>
                                  </p:stCondLst>
                                  <p:childTnLst>
                                    <p:animMotion origin="layout" path="M -5.E-6 3.00116E-6 L -5.E-6 0.07369 " pathEditMode="relative" ptsTypes="AA">
                                      <p:cBhvr>
                                        <p:cTn id="62" dur="2000" fill="hold"/>
                                        <p:tgtEl>
                                          <p:spTgt spid="35"/>
                                        </p:tgtEl>
                                        <p:attrNameLst>
                                          <p:attrName>ppt_x</p:attrName>
                                          <p:attrName>ppt_y</p:attrName>
                                        </p:attrNameLst>
                                      </p:cBhvr>
                                    </p:animMotion>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5"/>
                                        </p:tgtEl>
                                        <p:attrNameLst>
                                          <p:attrName>style.visibility</p:attrName>
                                        </p:attrNameLst>
                                      </p:cBhvr>
                                      <p:to>
                                        <p:strVal val="visible"/>
                                      </p:to>
                                    </p:set>
                                    <p:animEffect transition="in" filter="fade">
                                      <p:cBhvr>
                                        <p:cTn id="67" dur="500"/>
                                        <p:tgtEl>
                                          <p:spTgt spid="45"/>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xit" presetSubtype="0" fill="hold" grpId="1" nodeType="clickEffect">
                                  <p:stCondLst>
                                    <p:cond delay="0"/>
                                  </p:stCondLst>
                                  <p:childTnLst>
                                    <p:animEffect transition="out" filter="fade">
                                      <p:cBhvr>
                                        <p:cTn id="71" dur="500"/>
                                        <p:tgtEl>
                                          <p:spTgt spid="41"/>
                                        </p:tgtEl>
                                      </p:cBhvr>
                                    </p:animEffect>
                                    <p:set>
                                      <p:cBhvr>
                                        <p:cTn id="72" dur="1" fill="hold">
                                          <p:stCondLst>
                                            <p:cond delay="499"/>
                                          </p:stCondLst>
                                        </p:cTn>
                                        <p:tgtEl>
                                          <p:spTgt spid="41"/>
                                        </p:tgtEl>
                                        <p:attrNameLst>
                                          <p:attrName>style.visibility</p:attrName>
                                        </p:attrNameLst>
                                      </p:cBhvr>
                                      <p:to>
                                        <p:strVal val="hidden"/>
                                      </p:to>
                                    </p:set>
                                  </p:childTnLst>
                                </p:cTn>
                              </p:par>
                              <p:par>
                                <p:cTn id="73" presetID="9" presetClass="entr" presetSubtype="0" fill="hold" grpId="0" nodeType="withEffect">
                                  <p:stCondLst>
                                    <p:cond delay="0"/>
                                  </p:stCondLst>
                                  <p:childTnLst>
                                    <p:set>
                                      <p:cBhvr>
                                        <p:cTn id="74" dur="1" fill="hold">
                                          <p:stCondLst>
                                            <p:cond delay="0"/>
                                          </p:stCondLst>
                                        </p:cTn>
                                        <p:tgtEl>
                                          <p:spTgt spid="42"/>
                                        </p:tgtEl>
                                        <p:attrNameLst>
                                          <p:attrName>style.visibility</p:attrName>
                                        </p:attrNameLst>
                                      </p:cBhvr>
                                      <p:to>
                                        <p:strVal val="visible"/>
                                      </p:to>
                                    </p:set>
                                    <p:animEffect transition="in" filter="dissolve">
                                      <p:cBhvr>
                                        <p:cTn id="75" dur="500"/>
                                        <p:tgtEl>
                                          <p:spTgt spid="42"/>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xit" presetSubtype="0" fill="hold" grpId="2" nodeType="clickEffect">
                                  <p:stCondLst>
                                    <p:cond delay="0"/>
                                  </p:stCondLst>
                                  <p:childTnLst>
                                    <p:animEffect transition="out" filter="fade">
                                      <p:cBhvr>
                                        <p:cTn id="79" dur="500"/>
                                        <p:tgtEl>
                                          <p:spTgt spid="38"/>
                                        </p:tgtEl>
                                      </p:cBhvr>
                                    </p:animEffect>
                                    <p:set>
                                      <p:cBhvr>
                                        <p:cTn id="80" dur="1" fill="hold">
                                          <p:stCondLst>
                                            <p:cond delay="499"/>
                                          </p:stCondLst>
                                        </p:cTn>
                                        <p:tgtEl>
                                          <p:spTgt spid="38"/>
                                        </p:tgtEl>
                                        <p:attrNameLst>
                                          <p:attrName>style.visibility</p:attrName>
                                        </p:attrNameLst>
                                      </p:cBhvr>
                                      <p:to>
                                        <p:strVal val="hidden"/>
                                      </p:to>
                                    </p:set>
                                  </p:childTnLst>
                                </p:cTn>
                              </p:par>
                              <p:par>
                                <p:cTn id="81" presetID="9" presetClass="entr" presetSubtype="0" fill="hold" grpId="2" nodeType="withEffect">
                                  <p:stCondLst>
                                    <p:cond delay="0"/>
                                  </p:stCondLst>
                                  <p:childTnLst>
                                    <p:set>
                                      <p:cBhvr>
                                        <p:cTn id="82" dur="1" fill="hold">
                                          <p:stCondLst>
                                            <p:cond delay="0"/>
                                          </p:stCondLst>
                                        </p:cTn>
                                        <p:tgtEl>
                                          <p:spTgt spid="39"/>
                                        </p:tgtEl>
                                        <p:attrNameLst>
                                          <p:attrName>style.visibility</p:attrName>
                                        </p:attrNameLst>
                                      </p:cBhvr>
                                      <p:to>
                                        <p:strVal val="visible"/>
                                      </p:to>
                                    </p:set>
                                    <p:animEffect transition="in" filter="dissolve">
                                      <p:cBhvr>
                                        <p:cTn id="83" dur="500"/>
                                        <p:tgtEl>
                                          <p:spTgt spid="39"/>
                                        </p:tgtEl>
                                      </p:cBhvr>
                                    </p:animEffect>
                                  </p:childTnLst>
                                </p:cTn>
                              </p:par>
                            </p:childTnLst>
                          </p:cTn>
                        </p:par>
                      </p:childTnLst>
                    </p:cTn>
                  </p:par>
                  <p:par>
                    <p:cTn id="84" fill="hold">
                      <p:stCondLst>
                        <p:cond delay="indefinite"/>
                      </p:stCondLst>
                      <p:childTnLst>
                        <p:par>
                          <p:cTn id="85" fill="hold">
                            <p:stCondLst>
                              <p:cond delay="0"/>
                            </p:stCondLst>
                            <p:childTnLst>
                              <p:par>
                                <p:cTn id="86" presetID="0" presetClass="path" presetSubtype="0" accel="50000" decel="50000" fill="hold" grpId="2" nodeType="clickEffect">
                                  <p:stCondLst>
                                    <p:cond delay="0"/>
                                  </p:stCondLst>
                                  <p:childTnLst>
                                    <p:animMotion origin="layout" path="M 5.E-6 0.1576 L 5.E-6 0.26258 " pathEditMode="relative" ptsTypes="AA">
                                      <p:cBhvr>
                                        <p:cTn id="87" dur="2000" fill="hold"/>
                                        <p:tgtEl>
                                          <p:spTgt spid="34"/>
                                        </p:tgtEl>
                                        <p:attrNameLst>
                                          <p:attrName>ppt_x</p:attrName>
                                          <p:attrName>ppt_y</p:attrName>
                                        </p:attrNameLst>
                                      </p:cBhvr>
                                    </p:animMotion>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7"/>
                                        </p:tgtEl>
                                        <p:attrNameLst>
                                          <p:attrName>style.visibility</p:attrName>
                                        </p:attrNameLst>
                                      </p:cBhvr>
                                      <p:to>
                                        <p:strVal val="visible"/>
                                      </p:to>
                                    </p:set>
                                    <p:animEffect transition="in" filter="fade">
                                      <p:cBhvr>
                                        <p:cTn id="92" dur="500"/>
                                        <p:tgtEl>
                                          <p:spTgt spid="47"/>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36"/>
                                        </p:tgtEl>
                                        <p:attrNameLst>
                                          <p:attrName>style.visibility</p:attrName>
                                        </p:attrNameLst>
                                      </p:cBhvr>
                                      <p:to>
                                        <p:strVal val="visible"/>
                                      </p:to>
                                    </p:set>
                                    <p:animEffect transition="in" filter="wipe(left)">
                                      <p:cBhvr>
                                        <p:cTn id="97" dur="500"/>
                                        <p:tgtEl>
                                          <p:spTgt spid="36"/>
                                        </p:tgtEl>
                                      </p:cBhvr>
                                    </p:animEffect>
                                  </p:childTnLst>
                                </p:cTn>
                              </p:par>
                            </p:childTnLst>
                          </p:cTn>
                        </p:par>
                        <p:par>
                          <p:cTn id="98" fill="hold">
                            <p:stCondLst>
                              <p:cond delay="500"/>
                            </p:stCondLst>
                            <p:childTnLst>
                              <p:par>
                                <p:cTn id="99" presetID="9" presetClass="entr" presetSubtype="0" fill="hold" grpId="0" nodeType="afterEffect">
                                  <p:stCondLst>
                                    <p:cond delay="0"/>
                                  </p:stCondLst>
                                  <p:childTnLst>
                                    <p:set>
                                      <p:cBhvr>
                                        <p:cTn id="100" dur="1" fill="hold">
                                          <p:stCondLst>
                                            <p:cond delay="0"/>
                                          </p:stCondLst>
                                        </p:cTn>
                                        <p:tgtEl>
                                          <p:spTgt spid="37"/>
                                        </p:tgtEl>
                                        <p:attrNameLst>
                                          <p:attrName>style.visibility</p:attrName>
                                        </p:attrNameLst>
                                      </p:cBhvr>
                                      <p:to>
                                        <p:strVal val="visible"/>
                                      </p:to>
                                    </p:set>
                                    <p:animEffect transition="in" filter="dissolve">
                                      <p:cBhvr>
                                        <p:cTn id="101" dur="500"/>
                                        <p:tgtEl>
                                          <p:spTgt spid="37"/>
                                        </p:tgtEl>
                                      </p:cBhvr>
                                    </p:animEffect>
                                  </p:childTnLst>
                                </p:cTn>
                              </p:par>
                            </p:childTnLst>
                          </p:cTn>
                        </p:par>
                        <p:par>
                          <p:cTn id="102" fill="hold">
                            <p:stCondLst>
                              <p:cond delay="1000"/>
                            </p:stCondLst>
                            <p:childTnLst>
                              <p:par>
                                <p:cTn id="103" presetID="10" presetClass="exit" presetSubtype="0" fill="hold" grpId="1" nodeType="afterEffect">
                                  <p:stCondLst>
                                    <p:cond delay="0"/>
                                  </p:stCondLst>
                                  <p:childTnLst>
                                    <p:animEffect transition="out" filter="fade">
                                      <p:cBhvr>
                                        <p:cTn id="104" dur="500"/>
                                        <p:tgtEl>
                                          <p:spTgt spid="42"/>
                                        </p:tgtEl>
                                      </p:cBhvr>
                                    </p:animEffect>
                                    <p:set>
                                      <p:cBhvr>
                                        <p:cTn id="105" dur="1" fill="hold">
                                          <p:stCondLst>
                                            <p:cond delay="499"/>
                                          </p:stCondLst>
                                        </p:cTn>
                                        <p:tgtEl>
                                          <p:spTgt spid="42"/>
                                        </p:tgtEl>
                                        <p:attrNameLst>
                                          <p:attrName>style.visibility</p:attrName>
                                        </p:attrNameLst>
                                      </p:cBhvr>
                                      <p:to>
                                        <p:strVal val="hidden"/>
                                      </p:to>
                                    </p:set>
                                  </p:childTnLst>
                                </p:cTn>
                              </p:par>
                              <p:par>
                                <p:cTn id="106" presetID="9" presetClass="entr" presetSubtype="0" fill="hold" grpId="1" nodeType="withEffect">
                                  <p:stCondLst>
                                    <p:cond delay="0"/>
                                  </p:stCondLst>
                                  <p:childTnLst>
                                    <p:set>
                                      <p:cBhvr>
                                        <p:cTn id="107" dur="1" fill="hold">
                                          <p:stCondLst>
                                            <p:cond delay="0"/>
                                          </p:stCondLst>
                                        </p:cTn>
                                        <p:tgtEl>
                                          <p:spTgt spid="40"/>
                                        </p:tgtEl>
                                        <p:attrNameLst>
                                          <p:attrName>style.visibility</p:attrName>
                                        </p:attrNameLst>
                                      </p:cBhvr>
                                      <p:to>
                                        <p:strVal val="visible"/>
                                      </p:to>
                                    </p:set>
                                    <p:animEffect transition="in" filter="dissolve">
                                      <p:cBhvr>
                                        <p:cTn id="108" dur="500"/>
                                        <p:tgtEl>
                                          <p:spTgt spid="40"/>
                                        </p:tgtEl>
                                      </p:cBhvr>
                                    </p:animEffect>
                                  </p:childTnLst>
                                </p:cTn>
                              </p:par>
                            </p:childTnLst>
                          </p:cTn>
                        </p:par>
                        <p:par>
                          <p:cTn id="109" fill="hold">
                            <p:stCondLst>
                              <p:cond delay="1500"/>
                            </p:stCondLst>
                            <p:childTnLst>
                              <p:par>
                                <p:cTn id="110" presetID="0" presetClass="path" presetSubtype="0" accel="50000" decel="50000" fill="hold" grpId="3" nodeType="afterEffect">
                                  <p:stCondLst>
                                    <p:cond delay="0"/>
                                  </p:stCondLst>
                                  <p:childTnLst>
                                    <p:animMotion origin="layout" path="M 2.22222E-6 0.26258 L 2.22222E-6 0.33627 " pathEditMode="relative" ptsTypes="AA">
                                      <p:cBhvr>
                                        <p:cTn id="111" dur="2000" fill="hold"/>
                                        <p:tgtEl>
                                          <p:spTgt spid="34"/>
                                        </p:tgtEl>
                                        <p:attrNameLst>
                                          <p:attrName>ppt_x</p:attrName>
                                          <p:attrName>ppt_y</p:attrName>
                                        </p:attrNameLst>
                                      </p:cBhvr>
                                    </p:animMotion>
                                  </p:childTnLst>
                                </p:cTn>
                              </p:par>
                            </p:childTnLst>
                          </p:cTn>
                        </p:par>
                      </p:childTnLst>
                    </p:cTn>
                  </p:par>
                  <p:par>
                    <p:cTn id="112" fill="hold">
                      <p:stCondLst>
                        <p:cond delay="indefinite"/>
                      </p:stCondLst>
                      <p:childTnLst>
                        <p:par>
                          <p:cTn id="113" fill="hold">
                            <p:stCondLst>
                              <p:cond delay="0"/>
                            </p:stCondLst>
                            <p:childTnLst>
                              <p:par>
                                <p:cTn id="114" presetID="10" presetClass="exit" presetSubtype="0" fill="hold" grpId="3" nodeType="clickEffect">
                                  <p:stCondLst>
                                    <p:cond delay="0"/>
                                  </p:stCondLst>
                                  <p:childTnLst>
                                    <p:animEffect transition="out" filter="fade">
                                      <p:cBhvr>
                                        <p:cTn id="115" dur="500"/>
                                        <p:tgtEl>
                                          <p:spTgt spid="39"/>
                                        </p:tgtEl>
                                      </p:cBhvr>
                                    </p:animEffect>
                                    <p:set>
                                      <p:cBhvr>
                                        <p:cTn id="116" dur="1" fill="hold">
                                          <p:stCondLst>
                                            <p:cond delay="499"/>
                                          </p:stCondLst>
                                        </p:cTn>
                                        <p:tgtEl>
                                          <p:spTgt spid="39"/>
                                        </p:tgtEl>
                                        <p:attrNameLst>
                                          <p:attrName>style.visibility</p:attrName>
                                        </p:attrNameLst>
                                      </p:cBhvr>
                                      <p:to>
                                        <p:strVal val="hidden"/>
                                      </p:to>
                                    </p:set>
                                  </p:childTnLst>
                                </p:cTn>
                              </p:par>
                              <p:par>
                                <p:cTn id="117" presetID="9" presetClass="entr" presetSubtype="0" fill="hold" grpId="3" nodeType="withEffect">
                                  <p:stCondLst>
                                    <p:cond delay="0"/>
                                  </p:stCondLst>
                                  <p:childTnLst>
                                    <p:set>
                                      <p:cBhvr>
                                        <p:cTn id="118" dur="1" fill="hold">
                                          <p:stCondLst>
                                            <p:cond delay="0"/>
                                          </p:stCondLst>
                                        </p:cTn>
                                        <p:tgtEl>
                                          <p:spTgt spid="38"/>
                                        </p:tgtEl>
                                        <p:attrNameLst>
                                          <p:attrName>style.visibility</p:attrName>
                                        </p:attrNameLst>
                                      </p:cBhvr>
                                      <p:to>
                                        <p:strVal val="visible"/>
                                      </p:to>
                                    </p:set>
                                    <p:animEffect transition="in" filter="dissolve">
                                      <p:cBhvr>
                                        <p:cTn id="119" dur="500"/>
                                        <p:tgtEl>
                                          <p:spTgt spid="38"/>
                                        </p:tgtEl>
                                      </p:cBhvr>
                                    </p:animEffect>
                                  </p:childTnLst>
                                </p:cTn>
                              </p:par>
                              <p:par>
                                <p:cTn id="120" presetID="3" presetClass="exit" presetSubtype="10" fill="hold" grpId="1" nodeType="withEffect">
                                  <p:stCondLst>
                                    <p:cond delay="0"/>
                                  </p:stCondLst>
                                  <p:childTnLst>
                                    <p:animEffect transition="out" filter="blinds(horizontal)">
                                      <p:cBhvr>
                                        <p:cTn id="121" dur="500"/>
                                        <p:tgtEl>
                                          <p:spTgt spid="37"/>
                                        </p:tgtEl>
                                      </p:cBhvr>
                                    </p:animEffect>
                                    <p:set>
                                      <p:cBhvr>
                                        <p:cTn id="122" dur="1" fill="hold">
                                          <p:stCondLst>
                                            <p:cond delay="499"/>
                                          </p:stCondLst>
                                        </p:cTn>
                                        <p:tgtEl>
                                          <p:spTgt spid="37"/>
                                        </p:tgtEl>
                                        <p:attrNameLst>
                                          <p:attrName>style.visibility</p:attrName>
                                        </p:attrNameLst>
                                      </p:cBhvr>
                                      <p:to>
                                        <p:strVal val="hidden"/>
                                      </p:to>
                                    </p:set>
                                  </p:childTnLst>
                                </p:cTn>
                              </p:par>
                              <p:par>
                                <p:cTn id="123" presetID="3" presetClass="exit" presetSubtype="10" fill="hold" grpId="1" nodeType="withEffect">
                                  <p:stCondLst>
                                    <p:cond delay="0"/>
                                  </p:stCondLst>
                                  <p:childTnLst>
                                    <p:animEffect transition="out" filter="blinds(horizontal)">
                                      <p:cBhvr>
                                        <p:cTn id="124" dur="500"/>
                                        <p:tgtEl>
                                          <p:spTgt spid="36"/>
                                        </p:tgtEl>
                                      </p:cBhvr>
                                    </p:animEffect>
                                    <p:set>
                                      <p:cBhvr>
                                        <p:cTn id="125" dur="1" fill="hold">
                                          <p:stCondLst>
                                            <p:cond delay="499"/>
                                          </p:stCondLst>
                                        </p:cTn>
                                        <p:tgtEl>
                                          <p:spTgt spid="36"/>
                                        </p:tgtEl>
                                        <p:attrNameLst>
                                          <p:attrName>style.visibility</p:attrName>
                                        </p:attrNameLst>
                                      </p:cBhvr>
                                      <p:to>
                                        <p:strVal val="hidden"/>
                                      </p:to>
                                    </p:set>
                                  </p:childTnLst>
                                </p:cTn>
                              </p:par>
                            </p:childTnLst>
                          </p:cTn>
                        </p:par>
                      </p:childTnLst>
                    </p:cTn>
                  </p:par>
                  <p:par>
                    <p:cTn id="126" fill="hold">
                      <p:stCondLst>
                        <p:cond delay="indefinite"/>
                      </p:stCondLst>
                      <p:childTnLst>
                        <p:par>
                          <p:cTn id="127" fill="hold">
                            <p:stCondLst>
                              <p:cond delay="0"/>
                            </p:stCondLst>
                            <p:childTnLst>
                              <p:par>
                                <p:cTn id="128" presetID="10" presetClass="exit" presetSubtype="0" fill="hold" grpId="2" nodeType="clickEffect">
                                  <p:stCondLst>
                                    <p:cond delay="0"/>
                                  </p:stCondLst>
                                  <p:childTnLst>
                                    <p:animEffect transition="out" filter="fade">
                                      <p:cBhvr>
                                        <p:cTn id="129" dur="500"/>
                                        <p:tgtEl>
                                          <p:spTgt spid="40"/>
                                        </p:tgtEl>
                                      </p:cBhvr>
                                    </p:animEffect>
                                    <p:set>
                                      <p:cBhvr>
                                        <p:cTn id="130" dur="1" fill="hold">
                                          <p:stCondLst>
                                            <p:cond delay="499"/>
                                          </p:stCondLst>
                                        </p:cTn>
                                        <p:tgtEl>
                                          <p:spTgt spid="40"/>
                                        </p:tgtEl>
                                        <p:attrNameLst>
                                          <p:attrName>style.visibility</p:attrName>
                                        </p:attrNameLst>
                                      </p:cBhvr>
                                      <p:to>
                                        <p:strVal val="hidden"/>
                                      </p:to>
                                    </p:set>
                                  </p:childTnLst>
                                </p:cTn>
                              </p:par>
                              <p:par>
                                <p:cTn id="131" presetID="9" presetClass="entr" presetSubtype="0" fill="hold" grpId="2" nodeType="withEffect">
                                  <p:stCondLst>
                                    <p:cond delay="0"/>
                                  </p:stCondLst>
                                  <p:childTnLst>
                                    <p:set>
                                      <p:cBhvr>
                                        <p:cTn id="132" dur="1" fill="hold">
                                          <p:stCondLst>
                                            <p:cond delay="0"/>
                                          </p:stCondLst>
                                        </p:cTn>
                                        <p:tgtEl>
                                          <p:spTgt spid="41"/>
                                        </p:tgtEl>
                                        <p:attrNameLst>
                                          <p:attrName>style.visibility</p:attrName>
                                        </p:attrNameLst>
                                      </p:cBhvr>
                                      <p:to>
                                        <p:strVal val="visible"/>
                                      </p:to>
                                    </p:set>
                                    <p:animEffect transition="in" filter="dissolve">
                                      <p:cBhvr>
                                        <p:cTn id="133" dur="500"/>
                                        <p:tgtEl>
                                          <p:spTgt spid="41"/>
                                        </p:tgtEl>
                                      </p:cBhvr>
                                    </p:animEffect>
                                  </p:childTnLst>
                                </p:cTn>
                              </p:par>
                            </p:childTnLst>
                          </p:cTn>
                        </p:par>
                      </p:childTnLst>
                    </p:cTn>
                  </p:par>
                  <p:par>
                    <p:cTn id="134" fill="hold">
                      <p:stCondLst>
                        <p:cond delay="indefinite"/>
                      </p:stCondLst>
                      <p:childTnLst>
                        <p:par>
                          <p:cTn id="135" fill="hold">
                            <p:stCondLst>
                              <p:cond delay="0"/>
                            </p:stCondLst>
                            <p:childTnLst>
                              <p:par>
                                <p:cTn id="136" presetID="0" presetClass="path" presetSubtype="0" accel="50000" decel="50000" fill="hold" grpId="1" nodeType="clickEffect">
                                  <p:stCondLst>
                                    <p:cond delay="0"/>
                                  </p:stCondLst>
                                  <p:childTnLst>
                                    <p:animMotion origin="layout" path="M 5.27778E-6 0.0737 L 5.27778E-6 0.15783 " pathEditMode="relative" ptsTypes="AA">
                                      <p:cBhvr>
                                        <p:cTn id="137" dur="2000" fill="hold"/>
                                        <p:tgtEl>
                                          <p:spTgt spid="35"/>
                                        </p:tgtEl>
                                        <p:attrNameLst>
                                          <p:attrName>ppt_x</p:attrName>
                                          <p:attrName>ppt_y</p:attrName>
                                        </p:attrNameLst>
                                      </p:cBhvr>
                                    </p:animMotion>
                                  </p:childTnLst>
                                </p:cTn>
                              </p:par>
                            </p:childTnLst>
                          </p:cTn>
                        </p:par>
                        <p:par>
                          <p:cTn id="138" fill="hold">
                            <p:stCondLst>
                              <p:cond delay="2000"/>
                            </p:stCondLst>
                            <p:childTnLst>
                              <p:par>
                                <p:cTn id="139" presetID="0" presetClass="path" presetSubtype="0" accel="50000" decel="50000" fill="hold" grpId="2" nodeType="afterEffect">
                                  <p:stCondLst>
                                    <p:cond delay="0"/>
                                  </p:stCondLst>
                                  <p:childTnLst>
                                    <p:animMotion origin="layout" path="M 5.27778E-6 0.15783 L 5.27778E-6 0.26304 " pathEditMode="relative" ptsTypes="AA">
                                      <p:cBhvr>
                                        <p:cTn id="140" dur="2000" fill="hold"/>
                                        <p:tgtEl>
                                          <p:spTgt spid="35"/>
                                        </p:tgtEl>
                                        <p:attrNameLst>
                                          <p:attrName>ppt_x</p:attrName>
                                          <p:attrName>ppt_y</p:attrName>
                                        </p:attrNameLst>
                                      </p:cBhvr>
                                    </p:animMotion>
                                  </p:childTnLst>
                                </p:cTn>
                              </p:par>
                            </p:childTnLst>
                          </p:cTn>
                        </p:par>
                      </p:childTnLst>
                    </p:cTn>
                  </p:par>
                  <p:par>
                    <p:cTn id="141" fill="hold">
                      <p:stCondLst>
                        <p:cond delay="indefinite"/>
                      </p:stCondLst>
                      <p:childTnLst>
                        <p:par>
                          <p:cTn id="142" fill="hold">
                            <p:stCondLst>
                              <p:cond delay="0"/>
                            </p:stCondLst>
                            <p:childTnLst>
                              <p:par>
                                <p:cTn id="143" presetID="10" presetClass="entr" presetSubtype="0" fill="hold" grpId="0" nodeType="clickEffect">
                                  <p:stCondLst>
                                    <p:cond delay="0"/>
                                  </p:stCondLst>
                                  <p:childTnLst>
                                    <p:set>
                                      <p:cBhvr>
                                        <p:cTn id="144" dur="1" fill="hold">
                                          <p:stCondLst>
                                            <p:cond delay="0"/>
                                          </p:stCondLst>
                                        </p:cTn>
                                        <p:tgtEl>
                                          <p:spTgt spid="48"/>
                                        </p:tgtEl>
                                        <p:attrNameLst>
                                          <p:attrName>style.visibility</p:attrName>
                                        </p:attrNameLst>
                                      </p:cBhvr>
                                      <p:to>
                                        <p:strVal val="visible"/>
                                      </p:to>
                                    </p:set>
                                    <p:animEffect transition="in" filter="fade">
                                      <p:cBhvr>
                                        <p:cTn id="145" dur="500"/>
                                        <p:tgtEl>
                                          <p:spTgt spid="48"/>
                                        </p:tgtEl>
                                      </p:cBhvr>
                                    </p:animEffect>
                                  </p:childTnLst>
                                </p:cTn>
                              </p:par>
                            </p:childTnLst>
                          </p:cTn>
                        </p:par>
                        <p:par>
                          <p:cTn id="146" fill="hold">
                            <p:stCondLst>
                              <p:cond delay="500"/>
                            </p:stCondLst>
                            <p:childTnLst>
                              <p:par>
                                <p:cTn id="147" presetID="0" presetClass="path" presetSubtype="0" accel="50000" decel="50000" fill="hold" grpId="3" nodeType="afterEffect">
                                  <p:stCondLst>
                                    <p:cond delay="0"/>
                                  </p:stCondLst>
                                  <p:childTnLst>
                                    <p:animMotion origin="layout" path="M 5.27778E-6 0.26304 L 5.27778E-6 0.3365 " pathEditMode="relative" ptsTypes="AA">
                                      <p:cBhvr>
                                        <p:cTn id="148" dur="2000" fill="hold"/>
                                        <p:tgtEl>
                                          <p:spTgt spid="3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4" grpId="1" animBg="1"/>
      <p:bldP spid="34" grpId="2" animBg="1"/>
      <p:bldP spid="34" grpId="3" animBg="1"/>
      <p:bldP spid="35" grpId="0" animBg="1"/>
      <p:bldP spid="35" grpId="1" animBg="1"/>
      <p:bldP spid="35" grpId="2" animBg="1"/>
      <p:bldP spid="35" grpId="3" animBg="1"/>
      <p:bldP spid="36" grpId="0" animBg="1"/>
      <p:bldP spid="36" grpId="1" animBg="1"/>
      <p:bldP spid="37" grpId="0"/>
      <p:bldP spid="37" grpId="1"/>
      <p:bldP spid="38" grpId="0"/>
      <p:bldP spid="38" grpId="1"/>
      <p:bldP spid="38" grpId="2"/>
      <p:bldP spid="38" grpId="3"/>
      <p:bldP spid="39" grpId="0"/>
      <p:bldP spid="39" grpId="1"/>
      <p:bldP spid="39" grpId="2"/>
      <p:bldP spid="39" grpId="3"/>
      <p:bldP spid="40" grpId="0"/>
      <p:bldP spid="40" grpId="1"/>
      <p:bldP spid="40" grpId="2"/>
      <p:bldP spid="41" grpId="0"/>
      <p:bldP spid="41" grpId="1"/>
      <p:bldP spid="41" grpId="2"/>
      <p:bldP spid="42" grpId="0"/>
      <p:bldP spid="42" grpId="1"/>
      <p:bldP spid="43" grpId="0" animBg="1"/>
      <p:bldP spid="8" grpId="0" animBg="1"/>
      <p:bldP spid="9" grpId="0"/>
      <p:bldP spid="46" grpId="0" animBg="1"/>
      <p:bldP spid="45" grpId="0" animBg="1"/>
      <p:bldP spid="47" grpId="0" animBg="1"/>
      <p:bldP spid="4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848833" y="202028"/>
            <a:ext cx="3967716" cy="457196"/>
          </a:xfrm>
        </p:spPr>
        <p:txBody>
          <a:bodyPr/>
          <a:lstStyle/>
          <a:p>
            <a:r>
              <a:rPr lang="en-US" altLang="zh-CN" dirty="0"/>
              <a:t>4.</a:t>
            </a:r>
            <a:r>
              <a:rPr lang="zh-CN" altLang="en-US" dirty="0"/>
              <a:t>信号量的应用</a:t>
            </a:r>
          </a:p>
        </p:txBody>
      </p:sp>
      <p:grpSp>
        <p:nvGrpSpPr>
          <p:cNvPr id="2" name="组合 3"/>
          <p:cNvGrpSpPr/>
          <p:nvPr/>
        </p:nvGrpSpPr>
        <p:grpSpPr>
          <a:xfrm>
            <a:off x="1004177" y="1027910"/>
            <a:ext cx="5314736" cy="665162"/>
            <a:chOff x="1004177" y="1027910"/>
            <a:chExt cx="5314736" cy="665162"/>
          </a:xfrm>
        </p:grpSpPr>
        <p:sp>
          <p:nvSpPr>
            <p:cNvPr id="5" name="矩形 4"/>
            <p:cNvSpPr/>
            <p:nvPr/>
          </p:nvSpPr>
          <p:spPr>
            <a:xfrm>
              <a:off x="1150228" y="1561310"/>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矩形 5"/>
            <p:cNvSpPr/>
            <p:nvPr/>
          </p:nvSpPr>
          <p:spPr>
            <a:xfrm>
              <a:off x="2058278" y="1561310"/>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7" name="文本框 55"/>
            <p:cNvSpPr txBox="1">
              <a:spLocks noChangeArrowheads="1"/>
            </p:cNvSpPr>
            <p:nvPr/>
          </p:nvSpPr>
          <p:spPr bwMode="auto">
            <a:xfrm>
              <a:off x="1004177" y="1027910"/>
              <a:ext cx="53147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）利用信号量实现进程的互斥</a:t>
              </a:r>
            </a:p>
          </p:txBody>
        </p:sp>
      </p:grpSp>
      <p:sp>
        <p:nvSpPr>
          <p:cNvPr id="16" name="文本框 54"/>
          <p:cNvSpPr txBox="1">
            <a:spLocks noChangeArrowheads="1"/>
          </p:cNvSpPr>
          <p:nvPr/>
        </p:nvSpPr>
        <p:spPr bwMode="auto">
          <a:xfrm>
            <a:off x="1004178" y="1847155"/>
            <a:ext cx="531473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en-US" sz="2000" dirty="0"/>
              <a:t>利用信号量实现进程互斥的进程可描述如下：</a:t>
            </a:r>
            <a:endParaRPr lang="zh-CN" altLang="en-US" sz="2000" b="1" dirty="0">
              <a:solidFill>
                <a:srgbClr val="505050"/>
              </a:solidFill>
              <a:latin typeface="微软雅黑" panose="020B0503020204020204" pitchFamily="34" charset="-122"/>
              <a:ea typeface="微软雅黑" panose="020B0503020204020204" pitchFamily="34" charset="-122"/>
            </a:endParaRPr>
          </a:p>
        </p:txBody>
      </p:sp>
      <p:sp>
        <p:nvSpPr>
          <p:cNvPr id="44" name="Text Box 4"/>
          <p:cNvSpPr txBox="1">
            <a:spLocks noChangeArrowheads="1"/>
          </p:cNvSpPr>
          <p:nvPr/>
        </p:nvSpPr>
        <p:spPr bwMode="auto">
          <a:xfrm>
            <a:off x="1081988" y="2325663"/>
            <a:ext cx="4936673" cy="4007251"/>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just" eaLnBrk="1" hangingPunct="1">
              <a:spcBef>
                <a:spcPct val="20000"/>
              </a:spcBef>
            </a:pPr>
            <a:r>
              <a:rPr lang="en-US" altLang="zh-CN" b="0" dirty="0"/>
              <a:t>semaphore </a:t>
            </a:r>
            <a:r>
              <a:rPr lang="en-US" altLang="zh-CN" b="0" dirty="0" err="1"/>
              <a:t>mutex</a:t>
            </a:r>
            <a:r>
              <a:rPr lang="en-US" altLang="zh-CN" b="0" dirty="0"/>
              <a:t>=1;</a:t>
            </a:r>
          </a:p>
          <a:p>
            <a:pPr algn="just" eaLnBrk="1" hangingPunct="1">
              <a:spcBef>
                <a:spcPct val="20000"/>
              </a:spcBef>
            </a:pPr>
            <a:r>
              <a:rPr lang="en-US" altLang="zh-CN" b="0" dirty="0"/>
              <a:t>    P</a:t>
            </a:r>
            <a:r>
              <a:rPr lang="en-US" altLang="zh-CN" b="0" baseline="-25000" dirty="0"/>
              <a:t>A</a:t>
            </a:r>
            <a:r>
              <a:rPr lang="en-US" altLang="zh-CN" b="0" dirty="0"/>
              <a:t>(){</a:t>
            </a:r>
          </a:p>
          <a:p>
            <a:pPr algn="just" eaLnBrk="1" hangingPunct="1">
              <a:spcBef>
                <a:spcPct val="20000"/>
              </a:spcBef>
            </a:pPr>
            <a:r>
              <a:rPr lang="en-US" altLang="zh-CN" b="0" dirty="0"/>
              <a:t>        while(1) {</a:t>
            </a:r>
          </a:p>
          <a:p>
            <a:pPr algn="just" eaLnBrk="1" hangingPunct="1">
              <a:spcBef>
                <a:spcPct val="20000"/>
              </a:spcBef>
            </a:pPr>
            <a:r>
              <a:rPr lang="en-US" altLang="zh-CN" b="0" dirty="0"/>
              <a:t>            </a:t>
            </a:r>
            <a:r>
              <a:rPr lang="en-US" altLang="zh-CN" dirty="0">
                <a:solidFill>
                  <a:schemeClr val="accent2"/>
                </a:solidFill>
              </a:rPr>
              <a:t>wait(</a:t>
            </a:r>
            <a:r>
              <a:rPr lang="en-US" altLang="zh-CN" dirty="0" err="1">
                <a:solidFill>
                  <a:schemeClr val="accent2"/>
                </a:solidFill>
              </a:rPr>
              <a:t>mutex</a:t>
            </a:r>
            <a:r>
              <a:rPr lang="en-US" altLang="zh-CN" dirty="0">
                <a:solidFill>
                  <a:schemeClr val="accent2"/>
                </a:solidFill>
              </a:rPr>
              <a:t>);</a:t>
            </a:r>
            <a:endParaRPr lang="en-US" altLang="zh-CN" dirty="0"/>
          </a:p>
          <a:p>
            <a:pPr algn="just" eaLnBrk="1" hangingPunct="1">
              <a:spcBef>
                <a:spcPct val="20000"/>
              </a:spcBef>
            </a:pPr>
            <a:r>
              <a:rPr lang="en-US" altLang="zh-CN" b="0" dirty="0"/>
              <a:t>            critical section</a:t>
            </a:r>
          </a:p>
          <a:p>
            <a:pPr algn="just" eaLnBrk="1" hangingPunct="1">
              <a:spcBef>
                <a:spcPct val="20000"/>
              </a:spcBef>
            </a:pPr>
            <a:r>
              <a:rPr lang="en-US" altLang="zh-CN" b="0" dirty="0"/>
              <a:t>            </a:t>
            </a:r>
            <a:r>
              <a:rPr lang="en-US" altLang="zh-CN" dirty="0">
                <a:solidFill>
                  <a:schemeClr val="accent2"/>
                </a:solidFill>
              </a:rPr>
              <a:t>signal(</a:t>
            </a:r>
            <a:r>
              <a:rPr lang="en-US" altLang="zh-CN" dirty="0" err="1">
                <a:solidFill>
                  <a:schemeClr val="accent2"/>
                </a:solidFill>
              </a:rPr>
              <a:t>mutex</a:t>
            </a:r>
            <a:r>
              <a:rPr lang="en-US" altLang="zh-CN" dirty="0">
                <a:solidFill>
                  <a:schemeClr val="accent2"/>
                </a:solidFill>
              </a:rPr>
              <a:t>);</a:t>
            </a:r>
            <a:r>
              <a:rPr lang="en-US" altLang="zh-CN" dirty="0"/>
              <a:t></a:t>
            </a:r>
          </a:p>
          <a:p>
            <a:pPr algn="just" eaLnBrk="1" hangingPunct="1">
              <a:spcBef>
                <a:spcPct val="20000"/>
              </a:spcBef>
            </a:pPr>
            <a:r>
              <a:rPr lang="en-US" altLang="zh-CN" b="0" dirty="0"/>
              <a:t>            remainder section</a:t>
            </a:r>
          </a:p>
          <a:p>
            <a:pPr eaLnBrk="1" hangingPunct="1">
              <a:spcBef>
                <a:spcPct val="20000"/>
              </a:spcBef>
            </a:pPr>
            <a:r>
              <a:rPr lang="en-US" altLang="zh-CN" b="0" dirty="0"/>
              <a:t>        }</a:t>
            </a:r>
          </a:p>
          <a:p>
            <a:pPr eaLnBrk="1" hangingPunct="1">
              <a:spcBef>
                <a:spcPct val="20000"/>
              </a:spcBef>
            </a:pPr>
            <a:r>
              <a:rPr lang="en-US" altLang="zh-CN" b="0" dirty="0"/>
              <a:t>    }</a:t>
            </a:r>
          </a:p>
        </p:txBody>
      </p:sp>
      <p:sp>
        <p:nvSpPr>
          <p:cNvPr id="49" name="Text Box 4"/>
          <p:cNvSpPr txBox="1">
            <a:spLocks noChangeArrowheads="1"/>
          </p:cNvSpPr>
          <p:nvPr/>
        </p:nvSpPr>
        <p:spPr bwMode="auto">
          <a:xfrm>
            <a:off x="6318913" y="2355230"/>
            <a:ext cx="4936673" cy="4007251"/>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lgn="just" eaLnBrk="1" hangingPunct="1">
              <a:spcBef>
                <a:spcPct val="20000"/>
              </a:spcBef>
            </a:pPr>
            <a:endParaRPr lang="en-US" altLang="zh-CN" b="0" dirty="0"/>
          </a:p>
          <a:p>
            <a:pPr algn="just" eaLnBrk="1" hangingPunct="1">
              <a:spcBef>
                <a:spcPct val="20000"/>
              </a:spcBef>
            </a:pPr>
            <a:r>
              <a:rPr lang="en-US" altLang="zh-CN" b="0" dirty="0"/>
              <a:t>P</a:t>
            </a:r>
            <a:r>
              <a:rPr lang="en-US" altLang="zh-CN" b="0" baseline="-25000" dirty="0"/>
              <a:t>B</a:t>
            </a:r>
            <a:r>
              <a:rPr lang="en-US" altLang="zh-CN" b="0" dirty="0"/>
              <a:t>(){</a:t>
            </a:r>
          </a:p>
          <a:p>
            <a:pPr algn="just" eaLnBrk="1" hangingPunct="1">
              <a:spcBef>
                <a:spcPct val="20000"/>
              </a:spcBef>
            </a:pPr>
            <a:r>
              <a:rPr lang="en-US" altLang="zh-CN" b="0" dirty="0"/>
              <a:t>    while(1) {</a:t>
            </a:r>
          </a:p>
          <a:p>
            <a:pPr algn="just" eaLnBrk="1" hangingPunct="1">
              <a:spcBef>
                <a:spcPct val="20000"/>
              </a:spcBef>
            </a:pPr>
            <a:r>
              <a:rPr lang="en-US" altLang="zh-CN" b="0" dirty="0"/>
              <a:t>        </a:t>
            </a:r>
            <a:r>
              <a:rPr lang="en-US" altLang="zh-CN" dirty="0">
                <a:solidFill>
                  <a:schemeClr val="accent2"/>
                </a:solidFill>
              </a:rPr>
              <a:t>wait(</a:t>
            </a:r>
            <a:r>
              <a:rPr lang="en-US" altLang="zh-CN" dirty="0" err="1">
                <a:solidFill>
                  <a:schemeClr val="accent2"/>
                </a:solidFill>
              </a:rPr>
              <a:t>mutex</a:t>
            </a:r>
            <a:r>
              <a:rPr lang="en-US" altLang="zh-CN" dirty="0">
                <a:solidFill>
                  <a:schemeClr val="accent2"/>
                </a:solidFill>
              </a:rPr>
              <a:t>);</a:t>
            </a:r>
            <a:endParaRPr lang="en-US" altLang="zh-CN" dirty="0"/>
          </a:p>
          <a:p>
            <a:pPr algn="just" eaLnBrk="1" hangingPunct="1">
              <a:spcBef>
                <a:spcPct val="20000"/>
              </a:spcBef>
            </a:pPr>
            <a:r>
              <a:rPr lang="en-US" altLang="zh-CN" b="0" dirty="0"/>
              <a:t>        critical section</a:t>
            </a:r>
          </a:p>
          <a:p>
            <a:pPr algn="just" eaLnBrk="1" hangingPunct="1">
              <a:spcBef>
                <a:spcPct val="20000"/>
              </a:spcBef>
            </a:pPr>
            <a:r>
              <a:rPr lang="en-US" altLang="zh-CN" b="0" dirty="0"/>
              <a:t>        </a:t>
            </a:r>
            <a:r>
              <a:rPr lang="en-US" altLang="zh-CN" dirty="0">
                <a:solidFill>
                  <a:schemeClr val="accent2"/>
                </a:solidFill>
              </a:rPr>
              <a:t>signal(</a:t>
            </a:r>
            <a:r>
              <a:rPr lang="en-US" altLang="zh-CN" dirty="0" err="1">
                <a:solidFill>
                  <a:schemeClr val="accent2"/>
                </a:solidFill>
              </a:rPr>
              <a:t>mutex</a:t>
            </a:r>
            <a:r>
              <a:rPr lang="en-US" altLang="zh-CN" dirty="0">
                <a:solidFill>
                  <a:schemeClr val="accent2"/>
                </a:solidFill>
              </a:rPr>
              <a:t>);</a:t>
            </a:r>
            <a:r>
              <a:rPr lang="en-US" altLang="zh-CN" dirty="0"/>
              <a:t></a:t>
            </a:r>
          </a:p>
          <a:p>
            <a:pPr algn="just" eaLnBrk="1" hangingPunct="1">
              <a:spcBef>
                <a:spcPct val="20000"/>
              </a:spcBef>
            </a:pPr>
            <a:r>
              <a:rPr lang="en-US" altLang="zh-CN" b="0" dirty="0"/>
              <a:t>        remainder section</a:t>
            </a:r>
          </a:p>
          <a:p>
            <a:pPr eaLnBrk="1" hangingPunct="1">
              <a:spcBef>
                <a:spcPct val="20000"/>
              </a:spcBef>
            </a:pPr>
            <a:r>
              <a:rPr lang="en-US" altLang="zh-CN" b="0" dirty="0"/>
              <a:t>    }</a:t>
            </a:r>
          </a:p>
          <a:p>
            <a:pPr eaLnBrk="1" hangingPunct="1">
              <a:spcBef>
                <a:spcPct val="20000"/>
              </a:spcBef>
            </a:pPr>
            <a:r>
              <a:rPr lang="en-US" altLang="zh-CN" b="0" dirty="0"/>
              <a:t>}</a:t>
            </a:r>
          </a:p>
        </p:txBody>
      </p:sp>
      <p:sp>
        <p:nvSpPr>
          <p:cNvPr id="50" name="Text Box 5"/>
          <p:cNvSpPr txBox="1">
            <a:spLocks noChangeArrowheads="1"/>
          </p:cNvSpPr>
          <p:nvPr/>
        </p:nvSpPr>
        <p:spPr bwMode="auto">
          <a:xfrm>
            <a:off x="6140569" y="1802004"/>
            <a:ext cx="568822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50000"/>
              </a:spcBef>
            </a:pPr>
            <a:r>
              <a:rPr lang="en-US" altLang="zh-CN" dirty="0">
                <a:solidFill>
                  <a:srgbClr val="FF0000"/>
                </a:solidFill>
              </a:rPr>
              <a:t>wait(</a:t>
            </a:r>
            <a:r>
              <a:rPr lang="en-US" altLang="zh-CN" dirty="0" err="1">
                <a:solidFill>
                  <a:srgbClr val="FF0000"/>
                </a:solidFill>
              </a:rPr>
              <a:t>mutex</a:t>
            </a:r>
            <a:r>
              <a:rPr lang="en-US" altLang="zh-CN" dirty="0">
                <a:solidFill>
                  <a:srgbClr val="FF0000"/>
                </a:solidFill>
              </a:rPr>
              <a:t>)</a:t>
            </a:r>
            <a:r>
              <a:rPr lang="zh-CN" altLang="en-US" dirty="0">
                <a:solidFill>
                  <a:srgbClr val="FF0000"/>
                </a:solidFill>
              </a:rPr>
              <a:t>和</a:t>
            </a:r>
            <a:r>
              <a:rPr lang="en-US" altLang="zh-CN" dirty="0">
                <a:solidFill>
                  <a:srgbClr val="FF0000"/>
                </a:solidFill>
              </a:rPr>
              <a:t>signal(</a:t>
            </a:r>
            <a:r>
              <a:rPr lang="en-US" altLang="zh-CN" dirty="0" err="1">
                <a:solidFill>
                  <a:srgbClr val="FF0000"/>
                </a:solidFill>
              </a:rPr>
              <a:t>mutex</a:t>
            </a:r>
            <a:r>
              <a:rPr lang="en-US" altLang="zh-CN" dirty="0">
                <a:solidFill>
                  <a:srgbClr val="FF0000"/>
                </a:solidFill>
              </a:rPr>
              <a:t>)</a:t>
            </a:r>
            <a:r>
              <a:rPr lang="zh-CN" altLang="en-US" dirty="0">
                <a:solidFill>
                  <a:srgbClr val="FF0000"/>
                </a:solidFill>
              </a:rPr>
              <a:t>必须成对出现</a:t>
            </a:r>
          </a:p>
        </p:txBody>
      </p:sp>
    </p:spTree>
    <p:extLst>
      <p:ext uri="{BB962C8B-B14F-4D97-AF65-F5344CB8AC3E}">
        <p14:creationId xmlns:p14="http://schemas.microsoft.com/office/powerpoint/2010/main" val="956749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5" presetClass="entr" presetSubtype="0" fill="hold" grpId="0" nodeType="clickEffect">
                                  <p:stCondLst>
                                    <p:cond delay="0"/>
                                  </p:stCondLst>
                                  <p:childTnLst>
                                    <p:set>
                                      <p:cBhvr>
                                        <p:cTn id="14" dur="1" fill="hold">
                                          <p:stCondLst>
                                            <p:cond delay="0"/>
                                          </p:stCondLst>
                                        </p:cTn>
                                        <p:tgtEl>
                                          <p:spTgt spid="50"/>
                                        </p:tgtEl>
                                        <p:attrNameLst>
                                          <p:attrName>style.visibility</p:attrName>
                                        </p:attrNameLst>
                                      </p:cBhvr>
                                      <p:to>
                                        <p:strVal val="visible"/>
                                      </p:to>
                                    </p:set>
                                    <p:anim calcmode="lin" valueType="num">
                                      <p:cBhvr>
                                        <p:cTn id="15" dur="1000" fill="hold"/>
                                        <p:tgtEl>
                                          <p:spTgt spid="50"/>
                                        </p:tgtEl>
                                        <p:attrNameLst>
                                          <p:attrName>ppt_w</p:attrName>
                                        </p:attrNameLst>
                                      </p:cBhvr>
                                      <p:tavLst>
                                        <p:tav tm="0">
                                          <p:val>
                                            <p:strVal val="#ppt_w*0.70"/>
                                          </p:val>
                                        </p:tav>
                                        <p:tav tm="100000">
                                          <p:val>
                                            <p:strVal val="#ppt_w"/>
                                          </p:val>
                                        </p:tav>
                                      </p:tavLst>
                                    </p:anim>
                                    <p:anim calcmode="lin" valueType="num">
                                      <p:cBhvr>
                                        <p:cTn id="16" dur="1000" fill="hold"/>
                                        <p:tgtEl>
                                          <p:spTgt spid="50"/>
                                        </p:tgtEl>
                                        <p:attrNameLst>
                                          <p:attrName>ppt_h</p:attrName>
                                        </p:attrNameLst>
                                      </p:cBhvr>
                                      <p:tavLst>
                                        <p:tav tm="0">
                                          <p:val>
                                            <p:strVal val="#ppt_h"/>
                                          </p:val>
                                        </p:tav>
                                        <p:tav tm="100000">
                                          <p:val>
                                            <p:strVal val="#ppt_h"/>
                                          </p:val>
                                        </p:tav>
                                      </p:tavLst>
                                    </p:anim>
                                    <p:animEffect transition="in" filter="fade">
                                      <p:cBhvr>
                                        <p:cTn id="17" dur="10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9" grpId="0" animBg="1"/>
      <p:bldP spid="5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848833" y="202028"/>
            <a:ext cx="3967716" cy="457196"/>
          </a:xfrm>
        </p:spPr>
        <p:txBody>
          <a:bodyPr/>
          <a:lstStyle/>
          <a:p>
            <a:r>
              <a:rPr lang="en-US" altLang="zh-CN" dirty="0"/>
              <a:t>4.</a:t>
            </a:r>
            <a:r>
              <a:rPr lang="zh-CN" altLang="en-US" dirty="0"/>
              <a:t>信号量的应用</a:t>
            </a:r>
          </a:p>
        </p:txBody>
      </p:sp>
      <p:grpSp>
        <p:nvGrpSpPr>
          <p:cNvPr id="2" name="组合 3"/>
          <p:cNvGrpSpPr/>
          <p:nvPr/>
        </p:nvGrpSpPr>
        <p:grpSpPr>
          <a:xfrm>
            <a:off x="1004177" y="1027910"/>
            <a:ext cx="5314736" cy="665162"/>
            <a:chOff x="1004177" y="1027910"/>
            <a:chExt cx="5314736" cy="665162"/>
          </a:xfrm>
        </p:grpSpPr>
        <p:sp>
          <p:nvSpPr>
            <p:cNvPr id="5" name="矩形 4"/>
            <p:cNvSpPr/>
            <p:nvPr/>
          </p:nvSpPr>
          <p:spPr>
            <a:xfrm>
              <a:off x="1150228" y="1561310"/>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矩形 5"/>
            <p:cNvSpPr/>
            <p:nvPr/>
          </p:nvSpPr>
          <p:spPr>
            <a:xfrm>
              <a:off x="2058278" y="1561310"/>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7" name="文本框 55"/>
            <p:cNvSpPr txBox="1">
              <a:spLocks noChangeArrowheads="1"/>
            </p:cNvSpPr>
            <p:nvPr/>
          </p:nvSpPr>
          <p:spPr bwMode="auto">
            <a:xfrm>
              <a:off x="1004177" y="1027910"/>
              <a:ext cx="53147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）利用信号量实现前驱关系</a:t>
              </a:r>
            </a:p>
          </p:txBody>
        </p:sp>
      </p:grpSp>
      <p:sp>
        <p:nvSpPr>
          <p:cNvPr id="46" name="Rectangle 4"/>
          <p:cNvSpPr>
            <a:spLocks noChangeArrowheads="1"/>
          </p:cNvSpPr>
          <p:nvPr/>
        </p:nvSpPr>
        <p:spPr bwMode="auto">
          <a:xfrm>
            <a:off x="1105778" y="1790260"/>
            <a:ext cx="8610600" cy="1370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spcBef>
                <a:spcPct val="50000"/>
              </a:spcBef>
              <a:buSzPct val="140000"/>
            </a:pPr>
            <a:r>
              <a:rPr kumimoji="0" lang="en-US" altLang="zh-CN" b="0" dirty="0">
                <a:latin typeface="楷体_GB2312" pitchFamily="1" charset="-122"/>
                <a:ea typeface="楷体_GB2312" pitchFamily="1" charset="-122"/>
              </a:rPr>
              <a:t>P</a:t>
            </a:r>
            <a:r>
              <a:rPr kumimoji="0" lang="en-US" altLang="zh-CN" b="0" baseline="-25000" dirty="0">
                <a:latin typeface="楷体_GB2312" pitchFamily="1" charset="-122"/>
                <a:ea typeface="楷体_GB2312" pitchFamily="1" charset="-122"/>
              </a:rPr>
              <a:t>i</a:t>
            </a:r>
            <a:r>
              <a:rPr kumimoji="0" lang="zh-CN" altLang="en-US" b="0" dirty="0">
                <a:latin typeface="楷体_GB2312" pitchFamily="1" charset="-122"/>
                <a:ea typeface="楷体_GB2312" pitchFamily="1" charset="-122"/>
              </a:rPr>
              <a:t>代表进程；</a:t>
            </a:r>
          </a:p>
          <a:p>
            <a:pPr>
              <a:spcBef>
                <a:spcPct val="50000"/>
              </a:spcBef>
              <a:buSzPct val="140000"/>
            </a:pPr>
            <a:r>
              <a:rPr kumimoji="0" lang="en-US" altLang="zh-CN" b="0" dirty="0">
                <a:latin typeface="楷体_GB2312" pitchFamily="1" charset="-122"/>
                <a:ea typeface="楷体_GB2312" pitchFamily="1" charset="-122"/>
              </a:rPr>
              <a:t>S</a:t>
            </a:r>
            <a:r>
              <a:rPr kumimoji="0" lang="en-US" altLang="zh-CN" b="0" baseline="-25000" dirty="0">
                <a:latin typeface="楷体_GB2312" pitchFamily="1" charset="-122"/>
                <a:ea typeface="楷体_GB2312" pitchFamily="1" charset="-122"/>
              </a:rPr>
              <a:t>i</a:t>
            </a:r>
            <a:r>
              <a:rPr kumimoji="0" lang="zh-CN" altLang="en-US" b="0" dirty="0">
                <a:latin typeface="楷体_GB2312" pitchFamily="1" charset="-122"/>
                <a:ea typeface="楷体_GB2312" pitchFamily="1" charset="-122"/>
              </a:rPr>
              <a:t>代表</a:t>
            </a:r>
            <a:r>
              <a:rPr kumimoji="0" lang="en-US" altLang="zh-CN" b="0" dirty="0">
                <a:latin typeface="楷体_GB2312" pitchFamily="1" charset="-122"/>
                <a:ea typeface="楷体_GB2312" pitchFamily="1" charset="-122"/>
              </a:rPr>
              <a:t>P</a:t>
            </a:r>
            <a:r>
              <a:rPr kumimoji="0" lang="en-US" altLang="zh-CN" b="0" baseline="-25000" dirty="0">
                <a:latin typeface="楷体_GB2312" pitchFamily="1" charset="-122"/>
                <a:ea typeface="楷体_GB2312" pitchFamily="1" charset="-122"/>
              </a:rPr>
              <a:t>i</a:t>
            </a:r>
            <a:r>
              <a:rPr kumimoji="0" lang="zh-CN" altLang="en-US" b="0" dirty="0">
                <a:latin typeface="楷体_GB2312" pitchFamily="1" charset="-122"/>
                <a:ea typeface="楷体_GB2312" pitchFamily="1" charset="-122"/>
              </a:rPr>
              <a:t>中的语句；</a:t>
            </a:r>
            <a:r>
              <a:rPr kumimoji="0" lang="en-US" altLang="zh-CN" b="0" dirty="0">
                <a:latin typeface="楷体_GB2312" pitchFamily="1" charset="-122"/>
                <a:ea typeface="楷体_GB2312" pitchFamily="1" charset="-122"/>
              </a:rPr>
              <a:t>s</a:t>
            </a:r>
            <a:r>
              <a:rPr kumimoji="0" lang="zh-CN" altLang="en-US" b="0" dirty="0">
                <a:latin typeface="楷体_GB2312" pitchFamily="1" charset="-122"/>
                <a:ea typeface="楷体_GB2312" pitchFamily="1" charset="-122"/>
              </a:rPr>
              <a:t>为具有前驱关系的两进程的公用信号量，其初值为</a:t>
            </a:r>
            <a:r>
              <a:rPr kumimoji="0" lang="en-US" altLang="zh-CN" b="0" dirty="0">
                <a:latin typeface="楷体_GB2312" pitchFamily="1" charset="-122"/>
                <a:ea typeface="楷体_GB2312" pitchFamily="1" charset="-122"/>
              </a:rPr>
              <a:t>0</a:t>
            </a:r>
            <a:r>
              <a:rPr kumimoji="0" lang="zh-CN" altLang="en-US" b="0" dirty="0">
                <a:latin typeface="楷体_GB2312" pitchFamily="1" charset="-122"/>
                <a:ea typeface="楷体_GB2312" pitchFamily="1" charset="-122"/>
              </a:rPr>
              <a:t>。</a:t>
            </a:r>
          </a:p>
        </p:txBody>
      </p:sp>
      <p:sp>
        <p:nvSpPr>
          <p:cNvPr id="48" name="Text Box 4"/>
          <p:cNvSpPr txBox="1">
            <a:spLocks noChangeArrowheads="1"/>
          </p:cNvSpPr>
          <p:nvPr/>
        </p:nvSpPr>
        <p:spPr bwMode="auto">
          <a:xfrm>
            <a:off x="3010981" y="2810953"/>
            <a:ext cx="4936673" cy="4007251"/>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spcBef>
                <a:spcPts val="600"/>
              </a:spcBef>
            </a:pPr>
            <a:r>
              <a:rPr lang="en-US" altLang="zh-CN" b="0" dirty="0"/>
              <a:t>p1(){S</a:t>
            </a:r>
            <a:r>
              <a:rPr kumimoji="0" lang="en-US" altLang="zh-CN" b="0" baseline="-25000" dirty="0">
                <a:latin typeface="楷体_GB2312" pitchFamily="1" charset="-122"/>
                <a:ea typeface="楷体_GB2312" pitchFamily="1" charset="-122"/>
              </a:rPr>
              <a:t>1</a:t>
            </a:r>
            <a:r>
              <a:rPr lang="en-US" altLang="zh-CN" b="0" dirty="0"/>
              <a:t>; </a:t>
            </a:r>
            <a:r>
              <a:rPr lang="en-US" altLang="zh-CN" b="0" dirty="0">
                <a:solidFill>
                  <a:schemeClr val="accent2"/>
                </a:solidFill>
              </a:rPr>
              <a:t>signal(s);</a:t>
            </a:r>
            <a:r>
              <a:rPr lang="en-US" altLang="zh-CN" b="0" dirty="0"/>
              <a:t>}</a:t>
            </a:r>
          </a:p>
          <a:p>
            <a:pPr>
              <a:spcBef>
                <a:spcPts val="600"/>
              </a:spcBef>
            </a:pPr>
            <a:r>
              <a:rPr lang="en-US" altLang="zh-CN" b="0" dirty="0"/>
              <a:t>p2(){</a:t>
            </a:r>
            <a:r>
              <a:rPr lang="en-US" altLang="zh-CN" b="0" dirty="0">
                <a:solidFill>
                  <a:schemeClr val="accent2"/>
                </a:solidFill>
              </a:rPr>
              <a:t>wait(s);</a:t>
            </a:r>
            <a:r>
              <a:rPr lang="en-US" altLang="zh-CN" b="0" dirty="0"/>
              <a:t> S</a:t>
            </a:r>
            <a:r>
              <a:rPr kumimoji="0" lang="en-US" altLang="zh-CN" b="0" baseline="-25000" dirty="0">
                <a:latin typeface="楷体_GB2312" pitchFamily="1" charset="-122"/>
                <a:ea typeface="楷体_GB2312" pitchFamily="1" charset="-122"/>
              </a:rPr>
              <a:t>2</a:t>
            </a:r>
            <a:r>
              <a:rPr lang="en-US" altLang="zh-CN" b="0" dirty="0"/>
              <a:t>;}</a:t>
            </a:r>
          </a:p>
          <a:p>
            <a:pPr>
              <a:spcBef>
                <a:spcPts val="600"/>
              </a:spcBef>
            </a:pPr>
            <a:r>
              <a:rPr lang="en-US" altLang="zh-CN" b="0" dirty="0"/>
              <a:t>main() {</a:t>
            </a:r>
          </a:p>
          <a:p>
            <a:pPr>
              <a:spcBef>
                <a:spcPts val="600"/>
              </a:spcBef>
            </a:pPr>
            <a:r>
              <a:rPr lang="en-US" altLang="zh-CN" b="0" dirty="0"/>
              <a:t>    semaphore s;</a:t>
            </a:r>
          </a:p>
          <a:p>
            <a:pPr>
              <a:spcBef>
                <a:spcPts val="600"/>
              </a:spcBef>
            </a:pPr>
            <a:r>
              <a:rPr lang="en-US" altLang="zh-CN" b="0" dirty="0"/>
              <a:t>    </a:t>
            </a:r>
            <a:r>
              <a:rPr lang="en-US" altLang="zh-CN" b="0" dirty="0" err="1"/>
              <a:t>s.value</a:t>
            </a:r>
            <a:r>
              <a:rPr lang="en-US" altLang="zh-CN" b="0" dirty="0"/>
              <a:t>=0;</a:t>
            </a:r>
          </a:p>
          <a:p>
            <a:pPr>
              <a:spcBef>
                <a:spcPts val="600"/>
              </a:spcBef>
            </a:pPr>
            <a:r>
              <a:rPr lang="en-US" altLang="zh-CN" b="0" dirty="0"/>
              <a:t>    </a:t>
            </a:r>
            <a:r>
              <a:rPr lang="en-US" altLang="zh-CN" b="0" dirty="0" err="1"/>
              <a:t>cobegin</a:t>
            </a:r>
            <a:r>
              <a:rPr lang="en-US" altLang="zh-CN" b="0" dirty="0"/>
              <a:t>    </a:t>
            </a:r>
          </a:p>
          <a:p>
            <a:pPr>
              <a:spcBef>
                <a:spcPts val="600"/>
              </a:spcBef>
            </a:pPr>
            <a:r>
              <a:rPr lang="en-US" altLang="zh-CN" b="0" dirty="0"/>
              <a:t>        p1();p2();</a:t>
            </a:r>
          </a:p>
          <a:p>
            <a:pPr>
              <a:spcBef>
                <a:spcPts val="600"/>
              </a:spcBef>
            </a:pPr>
            <a:r>
              <a:rPr lang="en-US" altLang="zh-CN" b="0" dirty="0"/>
              <a:t>    </a:t>
            </a:r>
            <a:r>
              <a:rPr lang="en-US" altLang="zh-CN" b="0" dirty="0" err="1"/>
              <a:t>coend</a:t>
            </a:r>
            <a:endParaRPr lang="en-US" altLang="zh-CN" b="0" dirty="0"/>
          </a:p>
          <a:p>
            <a:pPr>
              <a:spcBef>
                <a:spcPts val="600"/>
              </a:spcBef>
            </a:pPr>
            <a:r>
              <a:rPr lang="en-US" altLang="zh-CN" b="0" dirty="0"/>
              <a:t>}</a:t>
            </a:r>
          </a:p>
        </p:txBody>
      </p:sp>
      <p:sp>
        <p:nvSpPr>
          <p:cNvPr id="49" name="Oval 6"/>
          <p:cNvSpPr>
            <a:spLocks noChangeArrowheads="1"/>
          </p:cNvSpPr>
          <p:nvPr/>
        </p:nvSpPr>
        <p:spPr bwMode="auto">
          <a:xfrm>
            <a:off x="8872182" y="3162097"/>
            <a:ext cx="685800" cy="533400"/>
          </a:xfrm>
          <a:prstGeom prst="ellipse">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b="0"/>
          </a:p>
        </p:txBody>
      </p:sp>
      <p:sp>
        <p:nvSpPr>
          <p:cNvPr id="50" name="Text Box 7"/>
          <p:cNvSpPr txBox="1">
            <a:spLocks noChangeArrowheads="1"/>
          </p:cNvSpPr>
          <p:nvPr/>
        </p:nvSpPr>
        <p:spPr bwMode="auto">
          <a:xfrm>
            <a:off x="8338782" y="3238297"/>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spcBef>
                <a:spcPct val="50000"/>
              </a:spcBef>
            </a:pPr>
            <a:r>
              <a:rPr lang="en-US" altLang="zh-CN" b="0"/>
              <a:t>S</a:t>
            </a:r>
            <a:r>
              <a:rPr kumimoji="0" lang="en-US" altLang="zh-CN" sz="2000" b="0" baseline="-25000">
                <a:latin typeface="楷体_GB2312" pitchFamily="1" charset="-122"/>
                <a:ea typeface="楷体_GB2312" pitchFamily="1" charset="-122"/>
              </a:rPr>
              <a:t>1</a:t>
            </a:r>
          </a:p>
        </p:txBody>
      </p:sp>
      <p:sp>
        <p:nvSpPr>
          <p:cNvPr id="51" name="Text Box 8"/>
          <p:cNvSpPr txBox="1">
            <a:spLocks noChangeArrowheads="1"/>
          </p:cNvSpPr>
          <p:nvPr/>
        </p:nvSpPr>
        <p:spPr bwMode="auto">
          <a:xfrm>
            <a:off x="10624782" y="3162097"/>
            <a:ext cx="1066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spcBef>
                <a:spcPct val="50000"/>
              </a:spcBef>
            </a:pPr>
            <a:r>
              <a:rPr lang="en-US" altLang="zh-CN" b="0"/>
              <a:t>S</a:t>
            </a:r>
            <a:r>
              <a:rPr kumimoji="0" lang="en-US" altLang="zh-CN" sz="2000" b="0" baseline="-25000">
                <a:latin typeface="楷体_GB2312" pitchFamily="1" charset="-122"/>
                <a:ea typeface="楷体_GB2312" pitchFamily="1" charset="-122"/>
              </a:rPr>
              <a:t>2</a:t>
            </a:r>
          </a:p>
        </p:txBody>
      </p:sp>
      <p:sp>
        <p:nvSpPr>
          <p:cNvPr id="52" name="Oval 9"/>
          <p:cNvSpPr>
            <a:spLocks noChangeArrowheads="1"/>
          </p:cNvSpPr>
          <p:nvPr/>
        </p:nvSpPr>
        <p:spPr bwMode="auto">
          <a:xfrm>
            <a:off x="8262582" y="3162097"/>
            <a:ext cx="609600" cy="533400"/>
          </a:xfrm>
          <a:prstGeom prst="ellipse">
            <a:avLst/>
          </a:prstGeom>
          <a:noFill/>
          <a:ln w="9525">
            <a:solidFill>
              <a:schemeClr val="tx2"/>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b="0"/>
          </a:p>
        </p:txBody>
      </p:sp>
      <p:sp>
        <p:nvSpPr>
          <p:cNvPr id="53" name="Oval 10"/>
          <p:cNvSpPr>
            <a:spLocks noChangeArrowheads="1"/>
          </p:cNvSpPr>
          <p:nvPr/>
        </p:nvSpPr>
        <p:spPr bwMode="auto">
          <a:xfrm>
            <a:off x="10548582" y="3162097"/>
            <a:ext cx="609600" cy="533400"/>
          </a:xfrm>
          <a:prstGeom prst="ellipse">
            <a:avLst/>
          </a:prstGeom>
          <a:noFill/>
          <a:ln w="9525">
            <a:solidFill>
              <a:schemeClr val="tx2"/>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b="0"/>
          </a:p>
        </p:txBody>
      </p:sp>
      <p:sp>
        <p:nvSpPr>
          <p:cNvPr id="54" name="Line 11"/>
          <p:cNvSpPr>
            <a:spLocks noChangeShapeType="1"/>
          </p:cNvSpPr>
          <p:nvPr/>
        </p:nvSpPr>
        <p:spPr bwMode="auto">
          <a:xfrm>
            <a:off x="8872182" y="3466897"/>
            <a:ext cx="1676400" cy="1587"/>
          </a:xfrm>
          <a:prstGeom prst="line">
            <a:avLst/>
          </a:prstGeom>
          <a:noFill/>
          <a:ln w="9525">
            <a:solidFill>
              <a:schemeClr val="tx2"/>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zh-CN" altLang="en-US"/>
          </a:p>
        </p:txBody>
      </p:sp>
      <p:sp>
        <p:nvSpPr>
          <p:cNvPr id="55" name="Text Box 12"/>
          <p:cNvSpPr txBox="1">
            <a:spLocks noChangeArrowheads="1"/>
          </p:cNvSpPr>
          <p:nvPr/>
        </p:nvSpPr>
        <p:spPr bwMode="auto">
          <a:xfrm>
            <a:off x="9537345" y="3082722"/>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spcBef>
                <a:spcPct val="50000"/>
              </a:spcBef>
            </a:pPr>
            <a:r>
              <a:rPr lang="en-US" altLang="zh-CN" b="0"/>
              <a:t>s</a:t>
            </a:r>
          </a:p>
        </p:txBody>
      </p:sp>
      <p:sp>
        <p:nvSpPr>
          <p:cNvPr id="56" name="Text Box 13"/>
          <p:cNvSpPr txBox="1">
            <a:spLocks noChangeArrowheads="1"/>
          </p:cNvSpPr>
          <p:nvPr/>
        </p:nvSpPr>
        <p:spPr bwMode="auto">
          <a:xfrm>
            <a:off x="8338782" y="3695497"/>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spcBef>
                <a:spcPct val="50000"/>
              </a:spcBef>
            </a:pPr>
            <a:r>
              <a:rPr lang="en-US" altLang="zh-CN" b="0"/>
              <a:t>p</a:t>
            </a:r>
            <a:r>
              <a:rPr kumimoji="0" lang="en-US" altLang="zh-CN" sz="2000" b="0" baseline="-25000">
                <a:latin typeface="楷体_GB2312" pitchFamily="1" charset="-122"/>
                <a:ea typeface="楷体_GB2312" pitchFamily="1" charset="-122"/>
              </a:rPr>
              <a:t>1</a:t>
            </a:r>
          </a:p>
        </p:txBody>
      </p:sp>
      <p:sp>
        <p:nvSpPr>
          <p:cNvPr id="57" name="Text Box 14"/>
          <p:cNvSpPr txBox="1">
            <a:spLocks noChangeArrowheads="1"/>
          </p:cNvSpPr>
          <p:nvPr/>
        </p:nvSpPr>
        <p:spPr bwMode="auto">
          <a:xfrm>
            <a:off x="10700982" y="3695497"/>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a:spcBef>
                <a:spcPct val="50000"/>
              </a:spcBef>
            </a:pPr>
            <a:r>
              <a:rPr lang="en-US" altLang="zh-CN" b="0"/>
              <a:t>p</a:t>
            </a:r>
            <a:r>
              <a:rPr kumimoji="0" lang="en-US" altLang="zh-CN" sz="2000" b="0" baseline="-25000">
                <a:latin typeface="楷体_GB2312" pitchFamily="1" charset="-122"/>
                <a:ea typeface="楷体_GB2312" pitchFamily="1" charset="-122"/>
              </a:rPr>
              <a:t>2</a:t>
            </a:r>
          </a:p>
        </p:txBody>
      </p:sp>
    </p:spTree>
    <p:extLst>
      <p:ext uri="{BB962C8B-B14F-4D97-AF65-F5344CB8AC3E}">
        <p14:creationId xmlns:p14="http://schemas.microsoft.com/office/powerpoint/2010/main" val="591928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848833" y="202028"/>
            <a:ext cx="3967716" cy="457196"/>
          </a:xfrm>
        </p:spPr>
        <p:txBody>
          <a:bodyPr/>
          <a:lstStyle/>
          <a:p>
            <a:r>
              <a:rPr lang="en-US" altLang="zh-CN" dirty="0"/>
              <a:t>4.</a:t>
            </a:r>
            <a:r>
              <a:rPr lang="zh-CN" altLang="en-US" dirty="0"/>
              <a:t>信号量的应用</a:t>
            </a:r>
          </a:p>
        </p:txBody>
      </p:sp>
      <p:grpSp>
        <p:nvGrpSpPr>
          <p:cNvPr id="2" name="组合 3"/>
          <p:cNvGrpSpPr/>
          <p:nvPr/>
        </p:nvGrpSpPr>
        <p:grpSpPr>
          <a:xfrm>
            <a:off x="1004177" y="1027910"/>
            <a:ext cx="5314736" cy="665162"/>
            <a:chOff x="1004177" y="1027910"/>
            <a:chExt cx="5314736" cy="665162"/>
          </a:xfrm>
        </p:grpSpPr>
        <p:sp>
          <p:nvSpPr>
            <p:cNvPr id="5" name="矩形 4"/>
            <p:cNvSpPr/>
            <p:nvPr/>
          </p:nvSpPr>
          <p:spPr>
            <a:xfrm>
              <a:off x="1150228" y="1561310"/>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矩形 5"/>
            <p:cNvSpPr/>
            <p:nvPr/>
          </p:nvSpPr>
          <p:spPr>
            <a:xfrm>
              <a:off x="2058278" y="1561310"/>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7" name="文本框 55"/>
            <p:cNvSpPr txBox="1">
              <a:spLocks noChangeArrowheads="1"/>
            </p:cNvSpPr>
            <p:nvPr/>
          </p:nvSpPr>
          <p:spPr bwMode="auto">
            <a:xfrm>
              <a:off x="1004177" y="1027910"/>
              <a:ext cx="53147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）利用信号量实现前驱关系</a:t>
              </a:r>
            </a:p>
          </p:txBody>
        </p:sp>
      </p:grpSp>
      <p:sp>
        <p:nvSpPr>
          <p:cNvPr id="18" name="Oval 4"/>
          <p:cNvSpPr>
            <a:spLocks noChangeArrowheads="1"/>
          </p:cNvSpPr>
          <p:nvPr/>
        </p:nvSpPr>
        <p:spPr bwMode="auto">
          <a:xfrm>
            <a:off x="4393051" y="1877283"/>
            <a:ext cx="503238" cy="431800"/>
          </a:xfrm>
          <a:prstGeom prst="ellipse">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algn="ctr">
              <a:defRPr/>
            </a:pPr>
            <a:r>
              <a:rPr lang="en-US" altLang="zh-CN" sz="2400"/>
              <a:t>S</a:t>
            </a:r>
            <a:r>
              <a:rPr lang="en-US" altLang="zh-CN" sz="2400" baseline="-25000"/>
              <a:t>1</a:t>
            </a:r>
          </a:p>
        </p:txBody>
      </p:sp>
      <p:sp>
        <p:nvSpPr>
          <p:cNvPr id="19" name="Oval 5"/>
          <p:cNvSpPr>
            <a:spLocks noChangeArrowheads="1"/>
          </p:cNvSpPr>
          <p:nvPr/>
        </p:nvSpPr>
        <p:spPr bwMode="auto">
          <a:xfrm>
            <a:off x="3384989" y="2669445"/>
            <a:ext cx="503237" cy="431800"/>
          </a:xfrm>
          <a:prstGeom prst="ellipse">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algn="ctr">
              <a:defRPr/>
            </a:pPr>
            <a:r>
              <a:rPr lang="en-US" altLang="zh-CN" sz="2400"/>
              <a:t>S</a:t>
            </a:r>
            <a:r>
              <a:rPr lang="en-US" altLang="zh-CN" sz="2400" baseline="-25000"/>
              <a:t>2</a:t>
            </a:r>
          </a:p>
        </p:txBody>
      </p:sp>
      <p:sp>
        <p:nvSpPr>
          <p:cNvPr id="20" name="Oval 6"/>
          <p:cNvSpPr>
            <a:spLocks noChangeArrowheads="1"/>
          </p:cNvSpPr>
          <p:nvPr/>
        </p:nvSpPr>
        <p:spPr bwMode="auto">
          <a:xfrm>
            <a:off x="4969314" y="3390170"/>
            <a:ext cx="503237" cy="431800"/>
          </a:xfrm>
          <a:prstGeom prst="ellipse">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algn="ctr">
              <a:defRPr/>
            </a:pPr>
            <a:r>
              <a:rPr lang="en-US" altLang="zh-CN" sz="2400"/>
              <a:t>S</a:t>
            </a:r>
            <a:r>
              <a:rPr lang="en-US" altLang="zh-CN" sz="2400" baseline="-25000"/>
              <a:t>5</a:t>
            </a:r>
          </a:p>
        </p:txBody>
      </p:sp>
      <p:sp>
        <p:nvSpPr>
          <p:cNvPr id="21" name="Oval 7"/>
          <p:cNvSpPr>
            <a:spLocks noChangeArrowheads="1"/>
          </p:cNvSpPr>
          <p:nvPr/>
        </p:nvSpPr>
        <p:spPr bwMode="auto">
          <a:xfrm>
            <a:off x="2808726" y="3893408"/>
            <a:ext cx="503238" cy="431800"/>
          </a:xfrm>
          <a:prstGeom prst="ellipse">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algn="ctr">
              <a:defRPr/>
            </a:pPr>
            <a:r>
              <a:rPr lang="en-US" altLang="zh-CN" sz="2400"/>
              <a:t>S</a:t>
            </a:r>
            <a:r>
              <a:rPr lang="en-US" altLang="zh-CN" sz="2400" baseline="-25000"/>
              <a:t>3</a:t>
            </a:r>
          </a:p>
        </p:txBody>
      </p:sp>
      <p:sp>
        <p:nvSpPr>
          <p:cNvPr id="22" name="Oval 8"/>
          <p:cNvSpPr>
            <a:spLocks noChangeArrowheads="1"/>
          </p:cNvSpPr>
          <p:nvPr/>
        </p:nvSpPr>
        <p:spPr bwMode="auto">
          <a:xfrm>
            <a:off x="3961251" y="3677508"/>
            <a:ext cx="503238" cy="431800"/>
          </a:xfrm>
          <a:prstGeom prst="ellipse">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algn="ctr">
              <a:defRPr/>
            </a:pPr>
            <a:r>
              <a:rPr lang="en-US" altLang="zh-CN" sz="2400"/>
              <a:t>S</a:t>
            </a:r>
            <a:r>
              <a:rPr lang="en-US" altLang="zh-CN" sz="2400" baseline="-25000"/>
              <a:t>4</a:t>
            </a:r>
          </a:p>
        </p:txBody>
      </p:sp>
      <p:sp>
        <p:nvSpPr>
          <p:cNvPr id="23" name="Oval 9"/>
          <p:cNvSpPr>
            <a:spLocks noChangeArrowheads="1"/>
          </p:cNvSpPr>
          <p:nvPr/>
        </p:nvSpPr>
        <p:spPr bwMode="auto">
          <a:xfrm>
            <a:off x="3529451" y="5190395"/>
            <a:ext cx="503238" cy="431800"/>
          </a:xfrm>
          <a:prstGeom prst="ellipse">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algn="ctr">
              <a:defRPr/>
            </a:pPr>
            <a:r>
              <a:rPr lang="en-US" altLang="zh-CN" sz="2400"/>
              <a:t>S</a:t>
            </a:r>
            <a:r>
              <a:rPr lang="en-US" altLang="zh-CN" sz="2400" baseline="-25000"/>
              <a:t>6</a:t>
            </a:r>
          </a:p>
        </p:txBody>
      </p:sp>
      <p:cxnSp>
        <p:nvCxnSpPr>
          <p:cNvPr id="24" name="AutoShape 10"/>
          <p:cNvCxnSpPr>
            <a:cxnSpLocks noChangeShapeType="1"/>
            <a:stCxn id="18" idx="5"/>
            <a:endCxn id="20" idx="0"/>
          </p:cNvCxnSpPr>
          <p:nvPr/>
        </p:nvCxnSpPr>
        <p:spPr bwMode="auto">
          <a:xfrm>
            <a:off x="4823264" y="2245583"/>
            <a:ext cx="398462" cy="1144587"/>
          </a:xfrm>
          <a:prstGeom prst="straightConnector1">
            <a:avLst/>
          </a:prstGeom>
          <a:ln>
            <a:headEnd/>
            <a:tailEnd type="triangle" w="med" len="med"/>
          </a:ln>
        </p:spPr>
        <p:style>
          <a:lnRef idx="2">
            <a:schemeClr val="accent6">
              <a:shade val="50000"/>
            </a:schemeClr>
          </a:lnRef>
          <a:fillRef idx="1">
            <a:schemeClr val="accent6"/>
          </a:fillRef>
          <a:effectRef idx="0">
            <a:schemeClr val="accent6"/>
          </a:effectRef>
          <a:fontRef idx="minor">
            <a:schemeClr val="lt1"/>
          </a:fontRef>
        </p:style>
      </p:cxnSp>
      <p:cxnSp>
        <p:nvCxnSpPr>
          <p:cNvPr id="25" name="AutoShape 11"/>
          <p:cNvCxnSpPr>
            <a:cxnSpLocks noChangeShapeType="1"/>
            <a:stCxn id="18" idx="3"/>
            <a:endCxn id="19" idx="7"/>
          </p:cNvCxnSpPr>
          <p:nvPr/>
        </p:nvCxnSpPr>
        <p:spPr bwMode="auto">
          <a:xfrm flipH="1">
            <a:off x="3815201" y="2245583"/>
            <a:ext cx="650875" cy="487362"/>
          </a:xfrm>
          <a:prstGeom prst="straightConnector1">
            <a:avLst/>
          </a:prstGeom>
          <a:ln>
            <a:headEnd/>
            <a:tailEnd type="triangle" w="med" len="med"/>
          </a:ln>
        </p:spPr>
        <p:style>
          <a:lnRef idx="2">
            <a:schemeClr val="accent6">
              <a:shade val="50000"/>
            </a:schemeClr>
          </a:lnRef>
          <a:fillRef idx="1">
            <a:schemeClr val="accent6"/>
          </a:fillRef>
          <a:effectRef idx="0">
            <a:schemeClr val="accent6"/>
          </a:effectRef>
          <a:fontRef idx="minor">
            <a:schemeClr val="lt1"/>
          </a:fontRef>
        </p:style>
      </p:cxnSp>
      <p:cxnSp>
        <p:nvCxnSpPr>
          <p:cNvPr id="26" name="AutoShape 12"/>
          <p:cNvCxnSpPr>
            <a:cxnSpLocks noChangeShapeType="1"/>
            <a:stCxn id="19" idx="3"/>
            <a:endCxn id="21" idx="0"/>
          </p:cNvCxnSpPr>
          <p:nvPr/>
        </p:nvCxnSpPr>
        <p:spPr bwMode="auto">
          <a:xfrm flipH="1">
            <a:off x="3061139" y="3037745"/>
            <a:ext cx="396875" cy="855663"/>
          </a:xfrm>
          <a:prstGeom prst="straightConnector1">
            <a:avLst/>
          </a:prstGeom>
          <a:ln>
            <a:headEnd/>
            <a:tailEnd type="triangle" w="med" len="med"/>
          </a:ln>
        </p:spPr>
        <p:style>
          <a:lnRef idx="2">
            <a:schemeClr val="accent6">
              <a:shade val="50000"/>
            </a:schemeClr>
          </a:lnRef>
          <a:fillRef idx="1">
            <a:schemeClr val="accent6"/>
          </a:fillRef>
          <a:effectRef idx="0">
            <a:schemeClr val="accent6"/>
          </a:effectRef>
          <a:fontRef idx="minor">
            <a:schemeClr val="lt1"/>
          </a:fontRef>
        </p:style>
      </p:cxnSp>
      <p:cxnSp>
        <p:nvCxnSpPr>
          <p:cNvPr id="27" name="AutoShape 13"/>
          <p:cNvCxnSpPr>
            <a:cxnSpLocks noChangeShapeType="1"/>
            <a:stCxn id="19" idx="5"/>
            <a:endCxn id="22" idx="1"/>
          </p:cNvCxnSpPr>
          <p:nvPr/>
        </p:nvCxnSpPr>
        <p:spPr bwMode="auto">
          <a:xfrm>
            <a:off x="3815201" y="3037745"/>
            <a:ext cx="219075" cy="703263"/>
          </a:xfrm>
          <a:prstGeom prst="straightConnector1">
            <a:avLst/>
          </a:prstGeom>
          <a:ln>
            <a:headEnd/>
            <a:tailEnd type="triangle" w="med" len="med"/>
          </a:ln>
        </p:spPr>
        <p:style>
          <a:lnRef idx="2">
            <a:schemeClr val="accent6">
              <a:shade val="50000"/>
            </a:schemeClr>
          </a:lnRef>
          <a:fillRef idx="1">
            <a:schemeClr val="accent6"/>
          </a:fillRef>
          <a:effectRef idx="0">
            <a:schemeClr val="accent6"/>
          </a:effectRef>
          <a:fontRef idx="minor">
            <a:schemeClr val="lt1"/>
          </a:fontRef>
        </p:style>
      </p:cxnSp>
      <p:cxnSp>
        <p:nvCxnSpPr>
          <p:cNvPr id="28" name="AutoShape 14"/>
          <p:cNvCxnSpPr>
            <a:cxnSpLocks noChangeShapeType="1"/>
            <a:stCxn id="22" idx="4"/>
            <a:endCxn id="23" idx="0"/>
          </p:cNvCxnSpPr>
          <p:nvPr/>
        </p:nvCxnSpPr>
        <p:spPr bwMode="auto">
          <a:xfrm flipH="1">
            <a:off x="3781864" y="4109308"/>
            <a:ext cx="431800" cy="1081087"/>
          </a:xfrm>
          <a:prstGeom prst="straightConnector1">
            <a:avLst/>
          </a:prstGeom>
          <a:ln>
            <a:headEnd/>
            <a:tailEnd type="triangle" w="med" len="med"/>
          </a:ln>
        </p:spPr>
        <p:style>
          <a:lnRef idx="2">
            <a:schemeClr val="accent6">
              <a:shade val="50000"/>
            </a:schemeClr>
          </a:lnRef>
          <a:fillRef idx="1">
            <a:schemeClr val="accent6"/>
          </a:fillRef>
          <a:effectRef idx="0">
            <a:schemeClr val="accent6"/>
          </a:effectRef>
          <a:fontRef idx="minor">
            <a:schemeClr val="lt1"/>
          </a:fontRef>
        </p:style>
      </p:cxnSp>
      <p:cxnSp>
        <p:nvCxnSpPr>
          <p:cNvPr id="29" name="AutoShape 15"/>
          <p:cNvCxnSpPr>
            <a:cxnSpLocks noChangeShapeType="1"/>
            <a:stCxn id="21" idx="4"/>
            <a:endCxn id="23" idx="1"/>
          </p:cNvCxnSpPr>
          <p:nvPr/>
        </p:nvCxnSpPr>
        <p:spPr bwMode="auto">
          <a:xfrm>
            <a:off x="3061139" y="4325208"/>
            <a:ext cx="541337" cy="928687"/>
          </a:xfrm>
          <a:prstGeom prst="straightConnector1">
            <a:avLst/>
          </a:prstGeom>
          <a:ln>
            <a:headEnd/>
            <a:tailEnd type="triangle" w="med" len="med"/>
          </a:ln>
        </p:spPr>
        <p:style>
          <a:lnRef idx="2">
            <a:schemeClr val="accent6">
              <a:shade val="50000"/>
            </a:schemeClr>
          </a:lnRef>
          <a:fillRef idx="1">
            <a:schemeClr val="accent6"/>
          </a:fillRef>
          <a:effectRef idx="0">
            <a:schemeClr val="accent6"/>
          </a:effectRef>
          <a:fontRef idx="minor">
            <a:schemeClr val="lt1"/>
          </a:fontRef>
        </p:style>
      </p:cxnSp>
      <p:cxnSp>
        <p:nvCxnSpPr>
          <p:cNvPr id="30" name="AutoShape 16"/>
          <p:cNvCxnSpPr>
            <a:cxnSpLocks noChangeShapeType="1"/>
            <a:stCxn id="20" idx="4"/>
            <a:endCxn id="23" idx="7"/>
          </p:cNvCxnSpPr>
          <p:nvPr/>
        </p:nvCxnSpPr>
        <p:spPr bwMode="auto">
          <a:xfrm flipH="1">
            <a:off x="3959664" y="3821970"/>
            <a:ext cx="1262062" cy="1431925"/>
          </a:xfrm>
          <a:prstGeom prst="straightConnector1">
            <a:avLst/>
          </a:prstGeom>
          <a:ln>
            <a:headEnd/>
            <a:tailEnd type="triangle" w="med" len="med"/>
          </a:ln>
        </p:spPr>
        <p:style>
          <a:lnRef idx="2">
            <a:schemeClr val="accent6">
              <a:shade val="50000"/>
            </a:schemeClr>
          </a:lnRef>
          <a:fillRef idx="1">
            <a:schemeClr val="accent6"/>
          </a:fillRef>
          <a:effectRef idx="0">
            <a:schemeClr val="accent6"/>
          </a:effectRef>
          <a:fontRef idx="minor">
            <a:schemeClr val="lt1"/>
          </a:fontRef>
        </p:style>
      </p:cxnSp>
      <p:sp>
        <p:nvSpPr>
          <p:cNvPr id="31" name="Text Box 17"/>
          <p:cNvSpPr txBox="1">
            <a:spLocks noChangeArrowheads="1"/>
          </p:cNvSpPr>
          <p:nvPr/>
        </p:nvSpPr>
        <p:spPr bwMode="auto">
          <a:xfrm>
            <a:off x="3888226" y="2237645"/>
            <a:ext cx="360363" cy="461665"/>
          </a:xfrm>
          <a:prstGeom prst="rect">
            <a:avLst/>
          </a:prstGeom>
          <a:noFill/>
          <a:ln>
            <a:noFill/>
          </a:ln>
        </p:spPr>
        <p:style>
          <a:lnRef idx="2">
            <a:schemeClr val="accent6"/>
          </a:lnRef>
          <a:fillRef idx="1">
            <a:schemeClr val="lt1"/>
          </a:fillRef>
          <a:effectRef idx="0">
            <a:schemeClr val="accent6"/>
          </a:effectRef>
          <a:fontRef idx="minor">
            <a:schemeClr val="dk1"/>
          </a:fontRef>
        </p:style>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50000"/>
              </a:spcBef>
            </a:pPr>
            <a:r>
              <a:rPr kumimoji="0" lang="en-US" altLang="zh-CN">
                <a:latin typeface="Arial" pitchFamily="34" charset="0"/>
              </a:rPr>
              <a:t>a</a:t>
            </a:r>
          </a:p>
        </p:txBody>
      </p:sp>
      <p:sp>
        <p:nvSpPr>
          <p:cNvPr id="32" name="Text Box 18"/>
          <p:cNvSpPr txBox="1">
            <a:spLocks noChangeArrowheads="1"/>
          </p:cNvSpPr>
          <p:nvPr/>
        </p:nvSpPr>
        <p:spPr bwMode="auto">
          <a:xfrm>
            <a:off x="4896289" y="2453545"/>
            <a:ext cx="360362" cy="461665"/>
          </a:xfrm>
          <a:prstGeom prst="rect">
            <a:avLst/>
          </a:prstGeom>
          <a:noFill/>
          <a:ln>
            <a:noFill/>
          </a:ln>
        </p:spPr>
        <p:style>
          <a:lnRef idx="2">
            <a:schemeClr val="accent6"/>
          </a:lnRef>
          <a:fillRef idx="1">
            <a:schemeClr val="lt1"/>
          </a:fillRef>
          <a:effectRef idx="0">
            <a:schemeClr val="accent6"/>
          </a:effectRef>
          <a:fontRef idx="minor">
            <a:schemeClr val="dk1"/>
          </a:fontRef>
        </p:style>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50000"/>
              </a:spcBef>
            </a:pPr>
            <a:r>
              <a:rPr kumimoji="0" lang="en-US" altLang="zh-CN">
                <a:latin typeface="Arial" pitchFamily="34" charset="0"/>
              </a:rPr>
              <a:t>b</a:t>
            </a:r>
          </a:p>
        </p:txBody>
      </p:sp>
      <p:sp>
        <p:nvSpPr>
          <p:cNvPr id="33" name="Text Box 19"/>
          <p:cNvSpPr txBox="1">
            <a:spLocks noChangeArrowheads="1"/>
          </p:cNvSpPr>
          <p:nvPr/>
        </p:nvSpPr>
        <p:spPr bwMode="auto">
          <a:xfrm>
            <a:off x="3024626" y="3174270"/>
            <a:ext cx="360363" cy="461665"/>
          </a:xfrm>
          <a:prstGeom prst="rect">
            <a:avLst/>
          </a:prstGeom>
          <a:noFill/>
          <a:ln>
            <a:noFill/>
          </a:ln>
        </p:spPr>
        <p:style>
          <a:lnRef idx="2">
            <a:schemeClr val="accent6"/>
          </a:lnRef>
          <a:fillRef idx="1">
            <a:schemeClr val="lt1"/>
          </a:fillRef>
          <a:effectRef idx="0">
            <a:schemeClr val="accent6"/>
          </a:effectRef>
          <a:fontRef idx="minor">
            <a:schemeClr val="dk1"/>
          </a:fontRef>
        </p:style>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50000"/>
              </a:spcBef>
            </a:pPr>
            <a:r>
              <a:rPr kumimoji="0" lang="en-US" altLang="zh-CN">
                <a:latin typeface="Arial" pitchFamily="34" charset="0"/>
              </a:rPr>
              <a:t>c</a:t>
            </a:r>
          </a:p>
        </p:txBody>
      </p:sp>
      <p:sp>
        <p:nvSpPr>
          <p:cNvPr id="34" name="Text Box 20"/>
          <p:cNvSpPr txBox="1">
            <a:spLocks noChangeArrowheads="1"/>
          </p:cNvSpPr>
          <p:nvPr/>
        </p:nvSpPr>
        <p:spPr bwMode="auto">
          <a:xfrm>
            <a:off x="3888226" y="3174270"/>
            <a:ext cx="360363" cy="461665"/>
          </a:xfrm>
          <a:prstGeom prst="rect">
            <a:avLst/>
          </a:prstGeom>
          <a:noFill/>
          <a:ln>
            <a:noFill/>
          </a:ln>
        </p:spPr>
        <p:style>
          <a:lnRef idx="2">
            <a:schemeClr val="accent6"/>
          </a:lnRef>
          <a:fillRef idx="1">
            <a:schemeClr val="lt1"/>
          </a:fillRef>
          <a:effectRef idx="0">
            <a:schemeClr val="accent6"/>
          </a:effectRef>
          <a:fontRef idx="minor">
            <a:schemeClr val="dk1"/>
          </a:fontRef>
        </p:style>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50000"/>
              </a:spcBef>
            </a:pPr>
            <a:r>
              <a:rPr kumimoji="0" lang="en-US" altLang="zh-CN">
                <a:latin typeface="Arial" pitchFamily="34" charset="0"/>
              </a:rPr>
              <a:t>d</a:t>
            </a:r>
          </a:p>
        </p:txBody>
      </p:sp>
      <p:sp>
        <p:nvSpPr>
          <p:cNvPr id="35" name="Text Box 21"/>
          <p:cNvSpPr txBox="1">
            <a:spLocks noChangeArrowheads="1"/>
          </p:cNvSpPr>
          <p:nvPr/>
        </p:nvSpPr>
        <p:spPr bwMode="auto">
          <a:xfrm>
            <a:off x="4537514" y="4398233"/>
            <a:ext cx="360362" cy="461665"/>
          </a:xfrm>
          <a:prstGeom prst="rect">
            <a:avLst/>
          </a:prstGeom>
          <a:noFill/>
          <a:ln>
            <a:noFill/>
          </a:ln>
        </p:spPr>
        <p:style>
          <a:lnRef idx="2">
            <a:schemeClr val="accent6"/>
          </a:lnRef>
          <a:fillRef idx="1">
            <a:schemeClr val="lt1"/>
          </a:fillRef>
          <a:effectRef idx="0">
            <a:schemeClr val="accent6"/>
          </a:effectRef>
          <a:fontRef idx="minor">
            <a:schemeClr val="dk1"/>
          </a:fontRef>
        </p:style>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50000"/>
              </a:spcBef>
            </a:pPr>
            <a:r>
              <a:rPr kumimoji="0" lang="en-US" altLang="zh-CN">
                <a:latin typeface="Arial" pitchFamily="34" charset="0"/>
              </a:rPr>
              <a:t>g</a:t>
            </a:r>
          </a:p>
        </p:txBody>
      </p:sp>
      <p:sp>
        <p:nvSpPr>
          <p:cNvPr id="36" name="Text Box 22"/>
          <p:cNvSpPr txBox="1">
            <a:spLocks noChangeArrowheads="1"/>
          </p:cNvSpPr>
          <p:nvPr/>
        </p:nvSpPr>
        <p:spPr bwMode="auto">
          <a:xfrm>
            <a:off x="4032689" y="4398233"/>
            <a:ext cx="360362" cy="461665"/>
          </a:xfrm>
          <a:prstGeom prst="rect">
            <a:avLst/>
          </a:prstGeom>
          <a:noFill/>
          <a:ln>
            <a:noFill/>
          </a:ln>
        </p:spPr>
        <p:style>
          <a:lnRef idx="2">
            <a:schemeClr val="accent6"/>
          </a:lnRef>
          <a:fillRef idx="1">
            <a:schemeClr val="lt1"/>
          </a:fillRef>
          <a:effectRef idx="0">
            <a:schemeClr val="accent6"/>
          </a:effectRef>
          <a:fontRef idx="minor">
            <a:schemeClr val="dk1"/>
          </a:fontRef>
        </p:style>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50000"/>
              </a:spcBef>
            </a:pPr>
            <a:r>
              <a:rPr kumimoji="0" lang="en-US" altLang="zh-CN">
                <a:latin typeface="Arial" pitchFamily="34" charset="0"/>
              </a:rPr>
              <a:t>f</a:t>
            </a:r>
          </a:p>
        </p:txBody>
      </p:sp>
      <p:sp>
        <p:nvSpPr>
          <p:cNvPr id="37" name="Text Box 23"/>
          <p:cNvSpPr txBox="1">
            <a:spLocks noChangeArrowheads="1"/>
          </p:cNvSpPr>
          <p:nvPr/>
        </p:nvSpPr>
        <p:spPr bwMode="auto">
          <a:xfrm>
            <a:off x="3240526" y="4398233"/>
            <a:ext cx="360363" cy="461665"/>
          </a:xfrm>
          <a:prstGeom prst="rect">
            <a:avLst/>
          </a:prstGeom>
          <a:noFill/>
          <a:ln>
            <a:noFill/>
          </a:ln>
        </p:spPr>
        <p:style>
          <a:lnRef idx="2">
            <a:schemeClr val="accent6"/>
          </a:lnRef>
          <a:fillRef idx="1">
            <a:schemeClr val="lt1"/>
          </a:fillRef>
          <a:effectRef idx="0">
            <a:schemeClr val="accent6"/>
          </a:effectRef>
          <a:fontRef idx="minor">
            <a:schemeClr val="dk1"/>
          </a:fontRef>
        </p:style>
        <p:txBody>
          <a:bodyPr>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ct val="50000"/>
              </a:spcBef>
            </a:pPr>
            <a:r>
              <a:rPr kumimoji="0" lang="en-US" altLang="zh-CN">
                <a:latin typeface="Arial" pitchFamily="34" charset="0"/>
              </a:rPr>
              <a:t>e</a:t>
            </a:r>
          </a:p>
        </p:txBody>
      </p:sp>
      <p:sp>
        <p:nvSpPr>
          <p:cNvPr id="38" name="Text Box 3"/>
          <p:cNvSpPr txBox="1">
            <a:spLocks noChangeArrowheads="1"/>
          </p:cNvSpPr>
          <p:nvPr/>
        </p:nvSpPr>
        <p:spPr bwMode="auto">
          <a:xfrm>
            <a:off x="5718412" y="321011"/>
            <a:ext cx="6223379" cy="6263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spcBef>
                <a:spcPts val="600"/>
              </a:spcBef>
            </a:pPr>
            <a:r>
              <a:rPr lang="en-US" altLang="zh-CN" dirty="0"/>
              <a:t>p1(){S</a:t>
            </a:r>
            <a:r>
              <a:rPr lang="en-US" altLang="zh-CN" baseline="-25000" dirty="0"/>
              <a:t>1</a:t>
            </a:r>
            <a:r>
              <a:rPr lang="en-US" altLang="zh-CN" dirty="0"/>
              <a:t>;signal(a);signal(b);}</a:t>
            </a:r>
          </a:p>
          <a:p>
            <a:pPr eaLnBrk="1" hangingPunct="1">
              <a:spcBef>
                <a:spcPts val="600"/>
              </a:spcBef>
            </a:pPr>
            <a:r>
              <a:rPr lang="en-US" altLang="zh-CN" dirty="0"/>
              <a:t>p2(){wait(a);S</a:t>
            </a:r>
            <a:r>
              <a:rPr lang="en-US" altLang="zh-CN" baseline="-25000" dirty="0"/>
              <a:t>2</a:t>
            </a:r>
            <a:r>
              <a:rPr lang="en-US" altLang="zh-CN" dirty="0"/>
              <a:t>;signal(c);signal(d);}</a:t>
            </a:r>
          </a:p>
          <a:p>
            <a:pPr eaLnBrk="1" hangingPunct="1">
              <a:spcBef>
                <a:spcPts val="600"/>
              </a:spcBef>
            </a:pPr>
            <a:r>
              <a:rPr lang="en-US" altLang="zh-CN" dirty="0"/>
              <a:t>p3(){wait(c);S</a:t>
            </a:r>
            <a:r>
              <a:rPr lang="en-US" altLang="zh-CN" baseline="-25000" dirty="0"/>
              <a:t>3</a:t>
            </a:r>
            <a:r>
              <a:rPr lang="en-US" altLang="zh-CN" dirty="0"/>
              <a:t>;signal(e);}</a:t>
            </a:r>
          </a:p>
          <a:p>
            <a:pPr eaLnBrk="1" hangingPunct="1">
              <a:spcBef>
                <a:spcPts val="600"/>
              </a:spcBef>
            </a:pPr>
            <a:r>
              <a:rPr lang="en-US" altLang="zh-CN" dirty="0"/>
              <a:t>p4(){wait(d);S</a:t>
            </a:r>
            <a:r>
              <a:rPr lang="en-US" altLang="zh-CN" baseline="-25000" dirty="0"/>
              <a:t>4</a:t>
            </a:r>
            <a:r>
              <a:rPr lang="en-US" altLang="zh-CN" dirty="0"/>
              <a:t>;signal(f);}</a:t>
            </a:r>
          </a:p>
          <a:p>
            <a:pPr eaLnBrk="1" hangingPunct="1">
              <a:spcBef>
                <a:spcPts val="600"/>
              </a:spcBef>
            </a:pPr>
            <a:r>
              <a:rPr lang="en-US" altLang="zh-CN" dirty="0"/>
              <a:t>p5(){wait(b);S</a:t>
            </a:r>
            <a:r>
              <a:rPr lang="en-US" altLang="zh-CN" baseline="-25000" dirty="0"/>
              <a:t>5</a:t>
            </a:r>
            <a:r>
              <a:rPr lang="en-US" altLang="zh-CN" dirty="0"/>
              <a:t>;signal(g);}</a:t>
            </a:r>
          </a:p>
          <a:p>
            <a:pPr eaLnBrk="1" hangingPunct="1">
              <a:spcBef>
                <a:spcPts val="600"/>
              </a:spcBef>
            </a:pPr>
            <a:r>
              <a:rPr lang="en-US" altLang="zh-CN" dirty="0"/>
              <a:t>p6(){wait(e);wait(f);wait(g);S</a:t>
            </a:r>
            <a:r>
              <a:rPr lang="en-US" altLang="zh-CN" baseline="-25000" dirty="0"/>
              <a:t>6</a:t>
            </a:r>
            <a:r>
              <a:rPr lang="en-US" altLang="zh-CN" dirty="0"/>
              <a:t>;}</a:t>
            </a:r>
          </a:p>
          <a:p>
            <a:pPr eaLnBrk="1" hangingPunct="1">
              <a:spcBef>
                <a:spcPts val="600"/>
              </a:spcBef>
            </a:pPr>
            <a:r>
              <a:rPr lang="en-US" altLang="zh-CN" dirty="0"/>
              <a:t>main() {</a:t>
            </a:r>
          </a:p>
          <a:p>
            <a:pPr eaLnBrk="1" hangingPunct="1">
              <a:spcBef>
                <a:spcPts val="600"/>
              </a:spcBef>
            </a:pPr>
            <a:r>
              <a:rPr lang="en-US" altLang="zh-CN" dirty="0"/>
              <a:t>    semaphore </a:t>
            </a:r>
            <a:r>
              <a:rPr lang="en-US" altLang="zh-CN" dirty="0" err="1"/>
              <a:t>a,b,c,d,e,f,g</a:t>
            </a:r>
            <a:r>
              <a:rPr lang="en-US" altLang="zh-CN" dirty="0"/>
              <a:t>;</a:t>
            </a:r>
          </a:p>
          <a:p>
            <a:pPr eaLnBrk="1" hangingPunct="1">
              <a:spcBef>
                <a:spcPts val="600"/>
              </a:spcBef>
            </a:pPr>
            <a:r>
              <a:rPr lang="en-US" altLang="zh-CN" dirty="0"/>
              <a:t>    </a:t>
            </a:r>
            <a:r>
              <a:rPr lang="en-US" altLang="zh-CN" dirty="0" err="1"/>
              <a:t>a.value</a:t>
            </a:r>
            <a:r>
              <a:rPr lang="en-US" altLang="zh-CN" dirty="0"/>
              <a:t>=</a:t>
            </a:r>
            <a:r>
              <a:rPr lang="en-US" altLang="zh-CN" dirty="0" err="1"/>
              <a:t>b.value</a:t>
            </a:r>
            <a:r>
              <a:rPr lang="en-US" altLang="zh-CN" dirty="0"/>
              <a:t>=</a:t>
            </a:r>
            <a:r>
              <a:rPr lang="en-US" altLang="zh-CN" dirty="0" err="1"/>
              <a:t>c.value</a:t>
            </a:r>
            <a:r>
              <a:rPr lang="en-US" altLang="zh-CN" dirty="0"/>
              <a:t>=</a:t>
            </a:r>
            <a:r>
              <a:rPr lang="en-US" altLang="zh-CN" dirty="0" err="1"/>
              <a:t>d.value</a:t>
            </a:r>
            <a:r>
              <a:rPr lang="en-US" altLang="zh-CN" dirty="0"/>
              <a:t>=</a:t>
            </a:r>
            <a:r>
              <a:rPr lang="en-US" altLang="zh-CN" dirty="0" err="1"/>
              <a:t>e.value</a:t>
            </a:r>
            <a:r>
              <a:rPr lang="en-US" altLang="zh-CN" dirty="0"/>
              <a:t>=0;</a:t>
            </a:r>
          </a:p>
          <a:p>
            <a:pPr eaLnBrk="1" hangingPunct="1">
              <a:spcBef>
                <a:spcPts val="600"/>
              </a:spcBef>
            </a:pPr>
            <a:r>
              <a:rPr lang="en-US" altLang="zh-CN" dirty="0"/>
              <a:t>    </a:t>
            </a:r>
            <a:r>
              <a:rPr lang="en-US" altLang="zh-CN" dirty="0" err="1"/>
              <a:t>f.value</a:t>
            </a:r>
            <a:r>
              <a:rPr lang="en-US" altLang="zh-CN" dirty="0"/>
              <a:t>=</a:t>
            </a:r>
            <a:r>
              <a:rPr lang="en-US" altLang="zh-CN" dirty="0" err="1"/>
              <a:t>g.value</a:t>
            </a:r>
            <a:r>
              <a:rPr lang="en-US" altLang="zh-CN" dirty="0"/>
              <a:t>=0;</a:t>
            </a:r>
          </a:p>
          <a:p>
            <a:pPr eaLnBrk="1" hangingPunct="1">
              <a:spcBef>
                <a:spcPts val="600"/>
              </a:spcBef>
            </a:pPr>
            <a:r>
              <a:rPr lang="en-US" altLang="zh-CN" dirty="0"/>
              <a:t>    </a:t>
            </a:r>
            <a:r>
              <a:rPr lang="en-US" altLang="zh-CN" dirty="0" err="1"/>
              <a:t>cobegin</a:t>
            </a:r>
            <a:endParaRPr lang="en-US" altLang="zh-CN" dirty="0"/>
          </a:p>
          <a:p>
            <a:pPr eaLnBrk="1" hangingPunct="1">
              <a:spcBef>
                <a:spcPts val="600"/>
              </a:spcBef>
            </a:pPr>
            <a:r>
              <a:rPr lang="en-US" altLang="zh-CN" dirty="0"/>
              <a:t>        p1();p2();p3();p4();p5();p6();</a:t>
            </a:r>
          </a:p>
          <a:p>
            <a:pPr eaLnBrk="1" hangingPunct="1">
              <a:spcBef>
                <a:spcPts val="600"/>
              </a:spcBef>
            </a:pPr>
            <a:r>
              <a:rPr lang="en-US" altLang="zh-CN" dirty="0"/>
              <a:t>    </a:t>
            </a:r>
            <a:r>
              <a:rPr lang="en-US" altLang="zh-CN" dirty="0" err="1"/>
              <a:t>coend</a:t>
            </a:r>
            <a:endParaRPr lang="en-US" altLang="zh-CN" dirty="0"/>
          </a:p>
          <a:p>
            <a:pPr eaLnBrk="1" hangingPunct="1">
              <a:spcBef>
                <a:spcPts val="600"/>
              </a:spcBef>
            </a:pPr>
            <a:r>
              <a:rPr lang="en-US" altLang="zh-CN" dirty="0"/>
              <a:t>}</a:t>
            </a:r>
          </a:p>
        </p:txBody>
      </p:sp>
    </p:spTree>
    <p:extLst>
      <p:ext uri="{BB962C8B-B14F-4D97-AF65-F5344CB8AC3E}">
        <p14:creationId xmlns:p14="http://schemas.microsoft.com/office/powerpoint/2010/main" val="1873221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up)">
                                      <p:cBhvr>
                                        <p:cTn id="11" dur="500"/>
                                        <p:tgtEl>
                                          <p:spTgt spid="25"/>
                                        </p:tgtEl>
                                      </p:cBhvr>
                                    </p:animEffect>
                                  </p:childTnLst>
                                </p:cTn>
                              </p:par>
                              <p:par>
                                <p:cTn id="12" presetID="22" presetClass="entr" presetSubtype="1" fill="hold" nodeType="with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wipe(up)">
                                      <p:cBhvr>
                                        <p:cTn id="14" dur="500"/>
                                        <p:tgtEl>
                                          <p:spTgt spid="24"/>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nodeType="click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wipe(up)">
                                      <p:cBhvr>
                                        <p:cTn id="25" dur="500"/>
                                        <p:tgtEl>
                                          <p:spTgt spid="26"/>
                                        </p:tgtEl>
                                      </p:cBhvr>
                                    </p:animEffect>
                                  </p:childTnLst>
                                </p:cTn>
                              </p:par>
                              <p:par>
                                <p:cTn id="26" presetID="22" presetClass="entr" presetSubtype="1"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wipe(up)">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29"/>
                                        </p:tgtEl>
                                        <p:attrNameLst>
                                          <p:attrName>style.visibility</p:attrName>
                                        </p:attrNameLst>
                                      </p:cBhvr>
                                      <p:to>
                                        <p:strVal val="visible"/>
                                      </p:to>
                                    </p:set>
                                    <p:animEffect transition="in" filter="wipe(up)">
                                      <p:cBhvr>
                                        <p:cTn id="39" dur="500"/>
                                        <p:tgtEl>
                                          <p:spTgt spid="29"/>
                                        </p:tgtEl>
                                      </p:cBhvr>
                                    </p:animEffect>
                                  </p:childTnLst>
                                </p:cTn>
                              </p:par>
                              <p:par>
                                <p:cTn id="40" presetID="22" presetClass="entr" presetSubtype="1" fill="hold" nodeType="with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wipe(up)">
                                      <p:cBhvr>
                                        <p:cTn id="42" dur="500"/>
                                        <p:tgtEl>
                                          <p:spTgt spid="28"/>
                                        </p:tgtEl>
                                      </p:cBhvr>
                                    </p:animEffect>
                                  </p:childTnLst>
                                </p:cTn>
                              </p:par>
                              <p:par>
                                <p:cTn id="43" presetID="22" presetClass="entr" presetSubtype="1" fill="hold" nodeType="with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wipe(up)">
                                      <p:cBhvr>
                                        <p:cTn id="45" dur="500"/>
                                        <p:tgtEl>
                                          <p:spTgt spid="30"/>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23"/>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31"/>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32"/>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33"/>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1" presetClass="entr" presetSubtype="0" fill="hold" grpId="0" nodeType="clickEffect">
                                  <p:stCondLst>
                                    <p:cond delay="0"/>
                                  </p:stCondLst>
                                  <p:childTnLst>
                                    <p:set>
                                      <p:cBhvr>
                                        <p:cTn id="65" dur="1" fill="hold">
                                          <p:stCondLst>
                                            <p:cond delay="0"/>
                                          </p:stCondLst>
                                        </p:cTn>
                                        <p:tgtEl>
                                          <p:spTgt spid="34"/>
                                        </p:tgtEl>
                                        <p:attrNameLst>
                                          <p:attrName>style.visibility</p:attrName>
                                        </p:attrNameLst>
                                      </p:cBhvr>
                                      <p:to>
                                        <p:strVal val="visible"/>
                                      </p:to>
                                    </p:se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35"/>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36"/>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37"/>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22" presetClass="entr" presetSubtype="1" fill="hold" nodeType="clickEffect">
                                  <p:stCondLst>
                                    <p:cond delay="0"/>
                                  </p:stCondLst>
                                  <p:childTnLst>
                                    <p:set>
                                      <p:cBhvr>
                                        <p:cTn id="81" dur="1" fill="hold">
                                          <p:stCondLst>
                                            <p:cond delay="0"/>
                                          </p:stCondLst>
                                        </p:cTn>
                                        <p:tgtEl>
                                          <p:spTgt spid="38">
                                            <p:txEl>
                                              <p:pRg st="7" end="7"/>
                                            </p:txEl>
                                          </p:spTgt>
                                        </p:tgtEl>
                                        <p:attrNameLst>
                                          <p:attrName>style.visibility</p:attrName>
                                        </p:attrNameLst>
                                      </p:cBhvr>
                                      <p:to>
                                        <p:strVal val="visible"/>
                                      </p:to>
                                    </p:set>
                                    <p:animEffect transition="in" filter="wipe(up)">
                                      <p:cBhvr>
                                        <p:cTn id="82" dur="500"/>
                                        <p:tgtEl>
                                          <p:spTgt spid="38">
                                            <p:txEl>
                                              <p:pRg st="7" end="7"/>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1" fill="hold" nodeType="clickEffect">
                                  <p:stCondLst>
                                    <p:cond delay="0"/>
                                  </p:stCondLst>
                                  <p:childTnLst>
                                    <p:set>
                                      <p:cBhvr>
                                        <p:cTn id="86" dur="1" fill="hold">
                                          <p:stCondLst>
                                            <p:cond delay="0"/>
                                          </p:stCondLst>
                                        </p:cTn>
                                        <p:tgtEl>
                                          <p:spTgt spid="38">
                                            <p:txEl>
                                              <p:pRg st="8" end="8"/>
                                            </p:txEl>
                                          </p:spTgt>
                                        </p:tgtEl>
                                        <p:attrNameLst>
                                          <p:attrName>style.visibility</p:attrName>
                                        </p:attrNameLst>
                                      </p:cBhvr>
                                      <p:to>
                                        <p:strVal val="visible"/>
                                      </p:to>
                                    </p:set>
                                    <p:animEffect transition="in" filter="wipe(up)">
                                      <p:cBhvr>
                                        <p:cTn id="87" dur="500"/>
                                        <p:tgtEl>
                                          <p:spTgt spid="38">
                                            <p:txEl>
                                              <p:pRg st="8" end="8"/>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1" fill="hold" nodeType="clickEffect">
                                  <p:stCondLst>
                                    <p:cond delay="0"/>
                                  </p:stCondLst>
                                  <p:childTnLst>
                                    <p:set>
                                      <p:cBhvr>
                                        <p:cTn id="91" dur="1" fill="hold">
                                          <p:stCondLst>
                                            <p:cond delay="0"/>
                                          </p:stCondLst>
                                        </p:cTn>
                                        <p:tgtEl>
                                          <p:spTgt spid="38">
                                            <p:txEl>
                                              <p:pRg st="9" end="9"/>
                                            </p:txEl>
                                          </p:spTgt>
                                        </p:tgtEl>
                                        <p:attrNameLst>
                                          <p:attrName>style.visibility</p:attrName>
                                        </p:attrNameLst>
                                      </p:cBhvr>
                                      <p:to>
                                        <p:strVal val="visible"/>
                                      </p:to>
                                    </p:set>
                                    <p:animEffect transition="in" filter="wipe(up)">
                                      <p:cBhvr>
                                        <p:cTn id="92" dur="500"/>
                                        <p:tgtEl>
                                          <p:spTgt spid="38">
                                            <p:txEl>
                                              <p:pRg st="9" end="9"/>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1" fill="hold" nodeType="clickEffect">
                                  <p:stCondLst>
                                    <p:cond delay="0"/>
                                  </p:stCondLst>
                                  <p:childTnLst>
                                    <p:set>
                                      <p:cBhvr>
                                        <p:cTn id="96" dur="1" fill="hold">
                                          <p:stCondLst>
                                            <p:cond delay="0"/>
                                          </p:stCondLst>
                                        </p:cTn>
                                        <p:tgtEl>
                                          <p:spTgt spid="38">
                                            <p:txEl>
                                              <p:pRg st="0" end="0"/>
                                            </p:txEl>
                                          </p:spTgt>
                                        </p:tgtEl>
                                        <p:attrNameLst>
                                          <p:attrName>style.visibility</p:attrName>
                                        </p:attrNameLst>
                                      </p:cBhvr>
                                      <p:to>
                                        <p:strVal val="visible"/>
                                      </p:to>
                                    </p:set>
                                    <p:animEffect transition="in" filter="wipe(up)">
                                      <p:cBhvr>
                                        <p:cTn id="97" dur="500"/>
                                        <p:tgtEl>
                                          <p:spTgt spid="38">
                                            <p:txEl>
                                              <p:pRg st="0" end="0"/>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1" fill="hold" nodeType="clickEffect">
                                  <p:stCondLst>
                                    <p:cond delay="0"/>
                                  </p:stCondLst>
                                  <p:childTnLst>
                                    <p:set>
                                      <p:cBhvr>
                                        <p:cTn id="101" dur="1" fill="hold">
                                          <p:stCondLst>
                                            <p:cond delay="0"/>
                                          </p:stCondLst>
                                        </p:cTn>
                                        <p:tgtEl>
                                          <p:spTgt spid="38">
                                            <p:txEl>
                                              <p:pRg st="1" end="1"/>
                                            </p:txEl>
                                          </p:spTgt>
                                        </p:tgtEl>
                                        <p:attrNameLst>
                                          <p:attrName>style.visibility</p:attrName>
                                        </p:attrNameLst>
                                      </p:cBhvr>
                                      <p:to>
                                        <p:strVal val="visible"/>
                                      </p:to>
                                    </p:set>
                                    <p:animEffect transition="in" filter="wipe(up)">
                                      <p:cBhvr>
                                        <p:cTn id="102" dur="500"/>
                                        <p:tgtEl>
                                          <p:spTgt spid="38">
                                            <p:txEl>
                                              <p:pRg st="1" end="1"/>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1" fill="hold" nodeType="clickEffect">
                                  <p:stCondLst>
                                    <p:cond delay="0"/>
                                  </p:stCondLst>
                                  <p:childTnLst>
                                    <p:set>
                                      <p:cBhvr>
                                        <p:cTn id="106" dur="1" fill="hold">
                                          <p:stCondLst>
                                            <p:cond delay="0"/>
                                          </p:stCondLst>
                                        </p:cTn>
                                        <p:tgtEl>
                                          <p:spTgt spid="38">
                                            <p:txEl>
                                              <p:pRg st="2" end="2"/>
                                            </p:txEl>
                                          </p:spTgt>
                                        </p:tgtEl>
                                        <p:attrNameLst>
                                          <p:attrName>style.visibility</p:attrName>
                                        </p:attrNameLst>
                                      </p:cBhvr>
                                      <p:to>
                                        <p:strVal val="visible"/>
                                      </p:to>
                                    </p:set>
                                    <p:animEffect transition="in" filter="wipe(up)">
                                      <p:cBhvr>
                                        <p:cTn id="107" dur="500"/>
                                        <p:tgtEl>
                                          <p:spTgt spid="38">
                                            <p:txEl>
                                              <p:pRg st="2" end="2"/>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1" fill="hold" nodeType="clickEffect">
                                  <p:stCondLst>
                                    <p:cond delay="0"/>
                                  </p:stCondLst>
                                  <p:childTnLst>
                                    <p:set>
                                      <p:cBhvr>
                                        <p:cTn id="111" dur="1" fill="hold">
                                          <p:stCondLst>
                                            <p:cond delay="0"/>
                                          </p:stCondLst>
                                        </p:cTn>
                                        <p:tgtEl>
                                          <p:spTgt spid="38">
                                            <p:txEl>
                                              <p:pRg st="3" end="3"/>
                                            </p:txEl>
                                          </p:spTgt>
                                        </p:tgtEl>
                                        <p:attrNameLst>
                                          <p:attrName>style.visibility</p:attrName>
                                        </p:attrNameLst>
                                      </p:cBhvr>
                                      <p:to>
                                        <p:strVal val="visible"/>
                                      </p:to>
                                    </p:set>
                                    <p:animEffect transition="in" filter="wipe(up)">
                                      <p:cBhvr>
                                        <p:cTn id="112" dur="500"/>
                                        <p:tgtEl>
                                          <p:spTgt spid="38">
                                            <p:txEl>
                                              <p:pRg st="3" end="3"/>
                                            </p:txEl>
                                          </p:spTgt>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1" fill="hold" nodeType="clickEffect">
                                  <p:stCondLst>
                                    <p:cond delay="0"/>
                                  </p:stCondLst>
                                  <p:childTnLst>
                                    <p:set>
                                      <p:cBhvr>
                                        <p:cTn id="116" dur="1" fill="hold">
                                          <p:stCondLst>
                                            <p:cond delay="0"/>
                                          </p:stCondLst>
                                        </p:cTn>
                                        <p:tgtEl>
                                          <p:spTgt spid="38">
                                            <p:txEl>
                                              <p:pRg st="4" end="4"/>
                                            </p:txEl>
                                          </p:spTgt>
                                        </p:tgtEl>
                                        <p:attrNameLst>
                                          <p:attrName>style.visibility</p:attrName>
                                        </p:attrNameLst>
                                      </p:cBhvr>
                                      <p:to>
                                        <p:strVal val="visible"/>
                                      </p:to>
                                    </p:set>
                                    <p:animEffect transition="in" filter="wipe(up)">
                                      <p:cBhvr>
                                        <p:cTn id="117" dur="500"/>
                                        <p:tgtEl>
                                          <p:spTgt spid="38">
                                            <p:txEl>
                                              <p:pRg st="4" end="4"/>
                                            </p:txEl>
                                          </p:spTgt>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1" fill="hold" nodeType="clickEffect">
                                  <p:stCondLst>
                                    <p:cond delay="0"/>
                                  </p:stCondLst>
                                  <p:childTnLst>
                                    <p:set>
                                      <p:cBhvr>
                                        <p:cTn id="121" dur="1" fill="hold">
                                          <p:stCondLst>
                                            <p:cond delay="0"/>
                                          </p:stCondLst>
                                        </p:cTn>
                                        <p:tgtEl>
                                          <p:spTgt spid="38">
                                            <p:txEl>
                                              <p:pRg st="5" end="5"/>
                                            </p:txEl>
                                          </p:spTgt>
                                        </p:tgtEl>
                                        <p:attrNameLst>
                                          <p:attrName>style.visibility</p:attrName>
                                        </p:attrNameLst>
                                      </p:cBhvr>
                                      <p:to>
                                        <p:strVal val="visible"/>
                                      </p:to>
                                    </p:set>
                                    <p:animEffect transition="in" filter="wipe(up)">
                                      <p:cBhvr>
                                        <p:cTn id="122" dur="500"/>
                                        <p:tgtEl>
                                          <p:spTgt spid="38">
                                            <p:txEl>
                                              <p:pRg st="5" end="5"/>
                                            </p:txEl>
                                          </p:spTgt>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1" fill="hold" nodeType="clickEffect">
                                  <p:stCondLst>
                                    <p:cond delay="0"/>
                                  </p:stCondLst>
                                  <p:childTnLst>
                                    <p:set>
                                      <p:cBhvr>
                                        <p:cTn id="126" dur="1" fill="hold">
                                          <p:stCondLst>
                                            <p:cond delay="0"/>
                                          </p:stCondLst>
                                        </p:cTn>
                                        <p:tgtEl>
                                          <p:spTgt spid="38">
                                            <p:txEl>
                                              <p:pRg st="6" end="6"/>
                                            </p:txEl>
                                          </p:spTgt>
                                        </p:tgtEl>
                                        <p:attrNameLst>
                                          <p:attrName>style.visibility</p:attrName>
                                        </p:attrNameLst>
                                      </p:cBhvr>
                                      <p:to>
                                        <p:strVal val="visible"/>
                                      </p:to>
                                    </p:set>
                                    <p:animEffect transition="in" filter="wipe(up)">
                                      <p:cBhvr>
                                        <p:cTn id="127" dur="500"/>
                                        <p:tgtEl>
                                          <p:spTgt spid="38">
                                            <p:txEl>
                                              <p:pRg st="6" end="6"/>
                                            </p:txEl>
                                          </p:spTgt>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1" fill="hold" nodeType="clickEffect">
                                  <p:stCondLst>
                                    <p:cond delay="0"/>
                                  </p:stCondLst>
                                  <p:childTnLst>
                                    <p:set>
                                      <p:cBhvr>
                                        <p:cTn id="131" dur="1" fill="hold">
                                          <p:stCondLst>
                                            <p:cond delay="0"/>
                                          </p:stCondLst>
                                        </p:cTn>
                                        <p:tgtEl>
                                          <p:spTgt spid="38">
                                            <p:txEl>
                                              <p:pRg st="10" end="10"/>
                                            </p:txEl>
                                          </p:spTgt>
                                        </p:tgtEl>
                                        <p:attrNameLst>
                                          <p:attrName>style.visibility</p:attrName>
                                        </p:attrNameLst>
                                      </p:cBhvr>
                                      <p:to>
                                        <p:strVal val="visible"/>
                                      </p:to>
                                    </p:set>
                                    <p:animEffect transition="in" filter="wipe(up)">
                                      <p:cBhvr>
                                        <p:cTn id="132" dur="500"/>
                                        <p:tgtEl>
                                          <p:spTgt spid="38">
                                            <p:txEl>
                                              <p:pRg st="10" end="10"/>
                                            </p:txEl>
                                          </p:spTgt>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1" fill="hold" nodeType="clickEffect">
                                  <p:stCondLst>
                                    <p:cond delay="0"/>
                                  </p:stCondLst>
                                  <p:childTnLst>
                                    <p:set>
                                      <p:cBhvr>
                                        <p:cTn id="136" dur="1" fill="hold">
                                          <p:stCondLst>
                                            <p:cond delay="0"/>
                                          </p:stCondLst>
                                        </p:cTn>
                                        <p:tgtEl>
                                          <p:spTgt spid="38">
                                            <p:txEl>
                                              <p:pRg st="11" end="11"/>
                                            </p:txEl>
                                          </p:spTgt>
                                        </p:tgtEl>
                                        <p:attrNameLst>
                                          <p:attrName>style.visibility</p:attrName>
                                        </p:attrNameLst>
                                      </p:cBhvr>
                                      <p:to>
                                        <p:strVal val="visible"/>
                                      </p:to>
                                    </p:set>
                                    <p:animEffect transition="in" filter="wipe(up)">
                                      <p:cBhvr>
                                        <p:cTn id="137" dur="500"/>
                                        <p:tgtEl>
                                          <p:spTgt spid="38">
                                            <p:txEl>
                                              <p:pRg st="11" end="11"/>
                                            </p:txEl>
                                          </p:spTgt>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1" fill="hold" nodeType="clickEffect">
                                  <p:stCondLst>
                                    <p:cond delay="0"/>
                                  </p:stCondLst>
                                  <p:childTnLst>
                                    <p:set>
                                      <p:cBhvr>
                                        <p:cTn id="141" dur="1" fill="hold">
                                          <p:stCondLst>
                                            <p:cond delay="0"/>
                                          </p:stCondLst>
                                        </p:cTn>
                                        <p:tgtEl>
                                          <p:spTgt spid="38">
                                            <p:txEl>
                                              <p:pRg st="12" end="12"/>
                                            </p:txEl>
                                          </p:spTgt>
                                        </p:tgtEl>
                                        <p:attrNameLst>
                                          <p:attrName>style.visibility</p:attrName>
                                        </p:attrNameLst>
                                      </p:cBhvr>
                                      <p:to>
                                        <p:strVal val="visible"/>
                                      </p:to>
                                    </p:set>
                                    <p:animEffect transition="in" filter="wipe(up)">
                                      <p:cBhvr>
                                        <p:cTn id="142" dur="500"/>
                                        <p:tgtEl>
                                          <p:spTgt spid="38">
                                            <p:txEl>
                                              <p:pRg st="12" end="12"/>
                                            </p:txEl>
                                          </p:spTgt>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1" fill="hold" nodeType="clickEffect">
                                  <p:stCondLst>
                                    <p:cond delay="0"/>
                                  </p:stCondLst>
                                  <p:childTnLst>
                                    <p:set>
                                      <p:cBhvr>
                                        <p:cTn id="146" dur="1" fill="hold">
                                          <p:stCondLst>
                                            <p:cond delay="0"/>
                                          </p:stCondLst>
                                        </p:cTn>
                                        <p:tgtEl>
                                          <p:spTgt spid="38">
                                            <p:txEl>
                                              <p:pRg st="13" end="13"/>
                                            </p:txEl>
                                          </p:spTgt>
                                        </p:tgtEl>
                                        <p:attrNameLst>
                                          <p:attrName>style.visibility</p:attrName>
                                        </p:attrNameLst>
                                      </p:cBhvr>
                                      <p:to>
                                        <p:strVal val="visible"/>
                                      </p:to>
                                    </p:set>
                                    <p:animEffect transition="in" filter="wipe(up)">
                                      <p:cBhvr>
                                        <p:cTn id="147" dur="500"/>
                                        <p:tgtEl>
                                          <p:spTgt spid="38">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0" grpId="0" animBg="1"/>
      <p:bldP spid="21" grpId="0" animBg="1"/>
      <p:bldP spid="22" grpId="0" animBg="1"/>
      <p:bldP spid="23" grpId="0" animBg="1"/>
      <p:bldP spid="31" grpId="0"/>
      <p:bldP spid="32" grpId="0"/>
      <p:bldP spid="33" grpId="0"/>
      <p:bldP spid="34" grpId="0"/>
      <p:bldP spid="35" grpId="0"/>
      <p:bldP spid="36" grpId="0"/>
      <p:bldP spid="3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848833" y="202028"/>
            <a:ext cx="3967716" cy="457196"/>
          </a:xfrm>
        </p:spPr>
        <p:txBody>
          <a:bodyPr/>
          <a:lstStyle/>
          <a:p>
            <a:r>
              <a:rPr lang="en-US" altLang="zh-CN" dirty="0"/>
              <a:t>4.</a:t>
            </a:r>
            <a:r>
              <a:rPr lang="zh-CN" altLang="en-US" dirty="0"/>
              <a:t>信号量的应用</a:t>
            </a:r>
          </a:p>
        </p:txBody>
      </p:sp>
      <p:grpSp>
        <p:nvGrpSpPr>
          <p:cNvPr id="2" name="组合 3"/>
          <p:cNvGrpSpPr/>
          <p:nvPr/>
        </p:nvGrpSpPr>
        <p:grpSpPr>
          <a:xfrm>
            <a:off x="1004177" y="1027910"/>
            <a:ext cx="5314736" cy="665162"/>
            <a:chOff x="1004177" y="1027910"/>
            <a:chExt cx="5314736" cy="665162"/>
          </a:xfrm>
        </p:grpSpPr>
        <p:sp>
          <p:nvSpPr>
            <p:cNvPr id="5" name="矩形 4"/>
            <p:cNvSpPr/>
            <p:nvPr/>
          </p:nvSpPr>
          <p:spPr>
            <a:xfrm>
              <a:off x="1150228" y="1561310"/>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矩形 5"/>
            <p:cNvSpPr/>
            <p:nvPr/>
          </p:nvSpPr>
          <p:spPr>
            <a:xfrm>
              <a:off x="2058278" y="1561310"/>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7" name="文本框 55"/>
            <p:cNvSpPr txBox="1">
              <a:spLocks noChangeArrowheads="1"/>
            </p:cNvSpPr>
            <p:nvPr/>
          </p:nvSpPr>
          <p:spPr bwMode="auto">
            <a:xfrm>
              <a:off x="1004177" y="1027910"/>
              <a:ext cx="53147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）利用信号量实现前驱关系</a:t>
              </a:r>
            </a:p>
          </p:txBody>
        </p:sp>
      </p:grpSp>
      <p:sp>
        <p:nvSpPr>
          <p:cNvPr id="43" name="Text Box 36"/>
          <p:cNvSpPr txBox="1">
            <a:spLocks noChangeArrowheads="1"/>
          </p:cNvSpPr>
          <p:nvPr/>
        </p:nvSpPr>
        <p:spPr bwMode="auto">
          <a:xfrm>
            <a:off x="6520153" y="1042198"/>
            <a:ext cx="2539478" cy="523220"/>
          </a:xfrm>
          <a:prstGeom prst="rect">
            <a:avLst/>
          </a:prstGeom>
          <a:solidFill>
            <a:schemeClr val="accent1">
              <a:lumMod val="20000"/>
              <a:lumOff val="80000"/>
            </a:schemeClr>
          </a:solidFill>
          <a:ln w="9525">
            <a:noFill/>
            <a:miter lim="800000"/>
            <a:headEnd/>
            <a:tailEnd/>
          </a:ln>
          <a:effectLst/>
        </p:spPr>
        <p:txBody>
          <a:bodyPr wrap="none">
            <a:spAutoFit/>
          </a:bodyPr>
          <a:lstStyle/>
          <a:p>
            <a:pPr>
              <a:defRPr/>
            </a:pPr>
            <a:r>
              <a:rPr lang="zh-CN" altLang="en-US" sz="2800" dirty="0">
                <a:effectLst>
                  <a:outerShdw blurRad="38100" dist="38100" dir="2700000" algn="tl">
                    <a:srgbClr val="FFFFFF"/>
                  </a:outerShdw>
                </a:effectLst>
                <a:latin typeface="Arial" pitchFamily="34" charset="0"/>
                <a:ea typeface="楷体_GB2312" pitchFamily="49" charset="-122"/>
              </a:rPr>
              <a:t>信号量初值为</a:t>
            </a:r>
            <a:r>
              <a:rPr lang="en-US" altLang="zh-CN" sz="2800" dirty="0">
                <a:effectLst>
                  <a:outerShdw blurRad="38100" dist="38100" dir="2700000" algn="tl">
                    <a:srgbClr val="FFFFFF"/>
                  </a:outerShdw>
                </a:effectLst>
                <a:latin typeface="Arial" pitchFamily="34" charset="0"/>
                <a:ea typeface="楷体_GB2312" pitchFamily="49" charset="-122"/>
              </a:rPr>
              <a:t>0</a:t>
            </a:r>
          </a:p>
        </p:txBody>
      </p:sp>
      <p:sp>
        <p:nvSpPr>
          <p:cNvPr id="78" name="Text Box 6"/>
          <p:cNvSpPr txBox="1">
            <a:spLocks noChangeArrowheads="1"/>
          </p:cNvSpPr>
          <p:nvPr/>
        </p:nvSpPr>
        <p:spPr bwMode="auto">
          <a:xfrm>
            <a:off x="3275109" y="1725613"/>
            <a:ext cx="1606550" cy="519112"/>
          </a:xfrm>
          <a:prstGeom prst="rect">
            <a:avLst/>
          </a:prstGeom>
          <a:noFill/>
          <a:ln w="9525">
            <a:noFill/>
            <a:miter lim="800000"/>
            <a:headEnd/>
            <a:tailEnd/>
          </a:ln>
          <a:effectLst/>
        </p:spPr>
        <p:txBody>
          <a:bodyPr wrap="none">
            <a:spAutoFit/>
          </a:bodyPr>
          <a:lstStyle/>
          <a:p>
            <a:pPr>
              <a:defRPr/>
            </a:pPr>
            <a:r>
              <a:rPr lang="zh-CN" altLang="en-US" sz="2800">
                <a:effectLst>
                  <a:outerShdw blurRad="38100" dist="38100" dir="2700000" algn="tl">
                    <a:srgbClr val="C0C0C0"/>
                  </a:outerShdw>
                </a:effectLst>
                <a:latin typeface="Arial" pitchFamily="34" charset="0"/>
                <a:ea typeface="文鼎火柴体" pitchFamily="33" charset="-122"/>
              </a:rPr>
              <a:t>司机进程</a:t>
            </a:r>
          </a:p>
        </p:txBody>
      </p:sp>
      <p:sp>
        <p:nvSpPr>
          <p:cNvPr id="79" name="Rectangle 7"/>
          <p:cNvSpPr>
            <a:spLocks noChangeArrowheads="1"/>
          </p:cNvSpPr>
          <p:nvPr/>
        </p:nvSpPr>
        <p:spPr bwMode="auto">
          <a:xfrm>
            <a:off x="2697259" y="2325688"/>
            <a:ext cx="2438400" cy="64611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zh-CN" altLang="en-US" sz="2800" dirty="0">
                <a:effectLst>
                  <a:outerShdw blurRad="38100" dist="38100" dir="2700000" algn="tl">
                    <a:srgbClr val="C0C0C0"/>
                  </a:outerShdw>
                </a:effectLst>
                <a:latin typeface="Arial" pitchFamily="34" charset="0"/>
                <a:ea typeface="楷体_GB2312" pitchFamily="49" charset="-122"/>
              </a:rPr>
              <a:t>正常行车</a:t>
            </a:r>
          </a:p>
        </p:txBody>
      </p:sp>
      <p:sp>
        <p:nvSpPr>
          <p:cNvPr id="80" name="Rectangle 8"/>
          <p:cNvSpPr>
            <a:spLocks noChangeArrowheads="1"/>
          </p:cNvSpPr>
          <p:nvPr/>
        </p:nvSpPr>
        <p:spPr bwMode="auto">
          <a:xfrm>
            <a:off x="2697259" y="2971800"/>
            <a:ext cx="2438400" cy="752475"/>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zh-CN" altLang="en-US" sz="2800">
                <a:effectLst>
                  <a:outerShdw blurRad="38100" dist="38100" dir="2700000" algn="tl">
                    <a:srgbClr val="C0C0C0"/>
                  </a:outerShdw>
                </a:effectLst>
                <a:latin typeface="Arial" pitchFamily="34" charset="0"/>
                <a:ea typeface="楷体_GB2312" pitchFamily="49" charset="-122"/>
              </a:rPr>
              <a:t>到站停车</a:t>
            </a:r>
          </a:p>
        </p:txBody>
      </p:sp>
      <p:sp>
        <p:nvSpPr>
          <p:cNvPr id="81" name="Rectangle 9"/>
          <p:cNvSpPr>
            <a:spLocks noChangeArrowheads="1"/>
          </p:cNvSpPr>
          <p:nvPr/>
        </p:nvSpPr>
        <p:spPr bwMode="auto">
          <a:xfrm>
            <a:off x="2697259" y="3724275"/>
            <a:ext cx="2438400" cy="752475"/>
          </a:xfrm>
          <a:prstGeom prst="rect">
            <a:avLst/>
          </a:prstGeom>
          <a:solidFill>
            <a:srgbClr val="FFFF00"/>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altLang="zh-CN">
                <a:effectLst>
                  <a:outerShdw blurRad="38100" dist="38100" dir="2700000" algn="tl">
                    <a:srgbClr val="FFFFFF"/>
                  </a:outerShdw>
                </a:effectLst>
                <a:latin typeface="Arial" pitchFamily="34" charset="0"/>
                <a:ea typeface="楷体_GB2312" pitchFamily="49" charset="-122"/>
              </a:rPr>
              <a:t>signal</a:t>
            </a:r>
            <a:r>
              <a:rPr lang="zh-CN" altLang="en-US">
                <a:effectLst>
                  <a:outerShdw blurRad="38100" dist="38100" dir="2700000" algn="tl">
                    <a:srgbClr val="FFFFFF"/>
                  </a:outerShdw>
                </a:effectLst>
                <a:latin typeface="Arial" pitchFamily="34" charset="0"/>
                <a:ea typeface="楷体_GB2312" pitchFamily="49" charset="-122"/>
              </a:rPr>
              <a:t>（停车）</a:t>
            </a:r>
          </a:p>
        </p:txBody>
      </p:sp>
      <p:sp>
        <p:nvSpPr>
          <p:cNvPr id="82" name="Rectangle 10"/>
          <p:cNvSpPr>
            <a:spLocks noChangeArrowheads="1"/>
          </p:cNvSpPr>
          <p:nvPr/>
        </p:nvSpPr>
        <p:spPr bwMode="auto">
          <a:xfrm>
            <a:off x="2697259" y="4476750"/>
            <a:ext cx="2438400" cy="754063"/>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zh-CN" altLang="en-US" sz="2800">
                <a:effectLst>
                  <a:outerShdw blurRad="38100" dist="38100" dir="2700000" algn="tl">
                    <a:srgbClr val="C0C0C0"/>
                  </a:outerShdw>
                </a:effectLst>
                <a:latin typeface="Arial" pitchFamily="34" charset="0"/>
                <a:ea typeface="楷体_GB2312" pitchFamily="49" charset="-122"/>
              </a:rPr>
              <a:t>喝茶</a:t>
            </a:r>
          </a:p>
        </p:txBody>
      </p:sp>
      <p:sp>
        <p:nvSpPr>
          <p:cNvPr id="83" name="Rectangle 11"/>
          <p:cNvSpPr>
            <a:spLocks noChangeArrowheads="1"/>
          </p:cNvSpPr>
          <p:nvPr/>
        </p:nvSpPr>
        <p:spPr bwMode="auto">
          <a:xfrm>
            <a:off x="2697259" y="5230813"/>
            <a:ext cx="2438400" cy="752475"/>
          </a:xfrm>
          <a:prstGeom prst="rect">
            <a:avLst/>
          </a:prstGeom>
          <a:solidFill>
            <a:srgbClr val="FFC000"/>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altLang="zh-CN">
                <a:effectLst>
                  <a:outerShdw blurRad="38100" dist="38100" dir="2700000" algn="tl">
                    <a:srgbClr val="FFFFFF"/>
                  </a:outerShdw>
                </a:effectLst>
                <a:latin typeface="Arial" pitchFamily="34" charset="0"/>
                <a:ea typeface="楷体_GB2312" pitchFamily="49" charset="-122"/>
              </a:rPr>
              <a:t>wait</a:t>
            </a:r>
            <a:r>
              <a:rPr lang="zh-CN" altLang="en-US">
                <a:effectLst>
                  <a:outerShdw blurRad="38100" dist="38100" dir="2700000" algn="tl">
                    <a:srgbClr val="FFFFFF"/>
                  </a:outerShdw>
                </a:effectLst>
                <a:latin typeface="Arial" pitchFamily="34" charset="0"/>
                <a:ea typeface="楷体_GB2312" pitchFamily="49" charset="-122"/>
              </a:rPr>
              <a:t>（关车门）</a:t>
            </a:r>
          </a:p>
        </p:txBody>
      </p:sp>
      <p:sp>
        <p:nvSpPr>
          <p:cNvPr id="84" name="Rectangle 12"/>
          <p:cNvSpPr>
            <a:spLocks noChangeArrowheads="1"/>
          </p:cNvSpPr>
          <p:nvPr/>
        </p:nvSpPr>
        <p:spPr bwMode="auto">
          <a:xfrm>
            <a:off x="2697259" y="5983288"/>
            <a:ext cx="2438400" cy="685800"/>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zh-CN" altLang="en-US" sz="2800">
                <a:effectLst>
                  <a:outerShdw blurRad="38100" dist="38100" dir="2700000" algn="tl">
                    <a:srgbClr val="C0C0C0"/>
                  </a:outerShdw>
                </a:effectLst>
                <a:latin typeface="Arial" pitchFamily="34" charset="0"/>
                <a:ea typeface="楷体_GB2312" pitchFamily="49" charset="-122"/>
              </a:rPr>
              <a:t>正常行车</a:t>
            </a:r>
          </a:p>
        </p:txBody>
      </p:sp>
      <p:sp>
        <p:nvSpPr>
          <p:cNvPr id="85" name="Rectangle 13"/>
          <p:cNvSpPr>
            <a:spLocks noChangeArrowheads="1"/>
          </p:cNvSpPr>
          <p:nvPr/>
        </p:nvSpPr>
        <p:spPr bwMode="auto">
          <a:xfrm>
            <a:off x="6943821" y="2325688"/>
            <a:ext cx="2438400" cy="646112"/>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zh-CN" altLang="en-US" sz="2800">
                <a:effectLst>
                  <a:outerShdw blurRad="38100" dist="38100" dir="2700000" algn="tl">
                    <a:srgbClr val="C0C0C0"/>
                  </a:outerShdw>
                </a:effectLst>
                <a:latin typeface="Arial" pitchFamily="34" charset="0"/>
                <a:ea typeface="楷体_GB2312" pitchFamily="49" charset="-122"/>
              </a:rPr>
              <a:t>售票</a:t>
            </a:r>
          </a:p>
        </p:txBody>
      </p:sp>
      <p:sp>
        <p:nvSpPr>
          <p:cNvPr id="86" name="Rectangle 14"/>
          <p:cNvSpPr>
            <a:spLocks noChangeArrowheads="1"/>
          </p:cNvSpPr>
          <p:nvPr/>
        </p:nvSpPr>
        <p:spPr bwMode="auto">
          <a:xfrm>
            <a:off x="6943821" y="2971800"/>
            <a:ext cx="2438400" cy="752475"/>
          </a:xfrm>
          <a:prstGeom prst="rect">
            <a:avLst/>
          </a:prstGeom>
          <a:solidFill>
            <a:srgbClr val="FFFF00"/>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altLang="zh-CN">
                <a:effectLst>
                  <a:outerShdw blurRad="38100" dist="38100" dir="2700000" algn="tl">
                    <a:srgbClr val="FFFFFF"/>
                  </a:outerShdw>
                </a:effectLst>
                <a:latin typeface="Arial" pitchFamily="34" charset="0"/>
                <a:ea typeface="楷体_GB2312" pitchFamily="49" charset="-122"/>
              </a:rPr>
              <a:t>wait</a:t>
            </a:r>
            <a:r>
              <a:rPr lang="zh-CN" altLang="en-US">
                <a:effectLst>
                  <a:outerShdw blurRad="38100" dist="38100" dir="2700000" algn="tl">
                    <a:srgbClr val="FFFFFF"/>
                  </a:outerShdw>
                </a:effectLst>
                <a:latin typeface="Arial" pitchFamily="34" charset="0"/>
                <a:ea typeface="楷体_GB2312" pitchFamily="49" charset="-122"/>
              </a:rPr>
              <a:t>（停车）</a:t>
            </a:r>
          </a:p>
        </p:txBody>
      </p:sp>
      <p:sp>
        <p:nvSpPr>
          <p:cNvPr id="87" name="Rectangle 15"/>
          <p:cNvSpPr>
            <a:spLocks noChangeArrowheads="1"/>
          </p:cNvSpPr>
          <p:nvPr/>
        </p:nvSpPr>
        <p:spPr bwMode="auto">
          <a:xfrm>
            <a:off x="6943821" y="3724275"/>
            <a:ext cx="2438400" cy="752475"/>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zh-CN" altLang="en-US" sz="2800">
                <a:effectLst>
                  <a:outerShdw blurRad="38100" dist="38100" dir="2700000" algn="tl">
                    <a:srgbClr val="C0C0C0"/>
                  </a:outerShdw>
                </a:effectLst>
                <a:latin typeface="Arial" pitchFamily="34" charset="0"/>
                <a:ea typeface="楷体_GB2312" pitchFamily="49" charset="-122"/>
              </a:rPr>
              <a:t>开车门</a:t>
            </a:r>
          </a:p>
        </p:txBody>
      </p:sp>
      <p:sp>
        <p:nvSpPr>
          <p:cNvPr id="88" name="Rectangle 16"/>
          <p:cNvSpPr>
            <a:spLocks noChangeArrowheads="1"/>
          </p:cNvSpPr>
          <p:nvPr/>
        </p:nvSpPr>
        <p:spPr bwMode="auto">
          <a:xfrm>
            <a:off x="6943821" y="4476750"/>
            <a:ext cx="2438400" cy="754063"/>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zh-CN" altLang="en-US" sz="2800">
                <a:effectLst>
                  <a:outerShdw blurRad="38100" dist="38100" dir="2700000" algn="tl">
                    <a:srgbClr val="C0C0C0"/>
                  </a:outerShdw>
                </a:effectLst>
                <a:latin typeface="Arial" pitchFamily="34" charset="0"/>
                <a:ea typeface="楷体_GB2312" pitchFamily="49" charset="-122"/>
              </a:rPr>
              <a:t>关车门</a:t>
            </a:r>
          </a:p>
        </p:txBody>
      </p:sp>
      <p:sp>
        <p:nvSpPr>
          <p:cNvPr id="89" name="Rectangle 17"/>
          <p:cNvSpPr>
            <a:spLocks noChangeArrowheads="1"/>
          </p:cNvSpPr>
          <p:nvPr/>
        </p:nvSpPr>
        <p:spPr bwMode="auto">
          <a:xfrm>
            <a:off x="6943821" y="5230813"/>
            <a:ext cx="2438400" cy="752475"/>
          </a:xfrm>
          <a:prstGeom prst="rect">
            <a:avLst/>
          </a:prstGeom>
          <a:solidFill>
            <a:srgbClr val="FFC000"/>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altLang="zh-CN">
                <a:effectLst>
                  <a:outerShdw blurRad="38100" dist="38100" dir="2700000" algn="tl">
                    <a:srgbClr val="FFFFFF"/>
                  </a:outerShdw>
                </a:effectLst>
                <a:latin typeface="Arial" pitchFamily="34" charset="0"/>
                <a:ea typeface="楷体_GB2312" pitchFamily="49" charset="-122"/>
              </a:rPr>
              <a:t>signal</a:t>
            </a:r>
            <a:r>
              <a:rPr lang="zh-CN" altLang="en-US">
                <a:effectLst>
                  <a:outerShdw blurRad="38100" dist="38100" dir="2700000" algn="tl">
                    <a:srgbClr val="FFFFFF"/>
                  </a:outerShdw>
                </a:effectLst>
                <a:latin typeface="Arial" pitchFamily="34" charset="0"/>
                <a:ea typeface="楷体_GB2312" pitchFamily="49" charset="-122"/>
              </a:rPr>
              <a:t>（关车门）</a:t>
            </a:r>
          </a:p>
        </p:txBody>
      </p:sp>
      <p:sp>
        <p:nvSpPr>
          <p:cNvPr id="90" name="Rectangle 18"/>
          <p:cNvSpPr>
            <a:spLocks noChangeArrowheads="1"/>
          </p:cNvSpPr>
          <p:nvPr/>
        </p:nvSpPr>
        <p:spPr bwMode="auto">
          <a:xfrm>
            <a:off x="6943821" y="5983288"/>
            <a:ext cx="2438400" cy="685800"/>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zh-CN" altLang="en-US" sz="2800">
                <a:effectLst>
                  <a:outerShdw blurRad="38100" dist="38100" dir="2700000" algn="tl">
                    <a:srgbClr val="C0C0C0"/>
                  </a:outerShdw>
                </a:effectLst>
                <a:latin typeface="Arial" pitchFamily="34" charset="0"/>
                <a:ea typeface="楷体_GB2312" pitchFamily="49" charset="-122"/>
              </a:rPr>
              <a:t>售票</a:t>
            </a:r>
          </a:p>
        </p:txBody>
      </p:sp>
      <p:sp>
        <p:nvSpPr>
          <p:cNvPr id="91" name="Text Box 19"/>
          <p:cNvSpPr txBox="1">
            <a:spLocks noChangeArrowheads="1"/>
          </p:cNvSpPr>
          <p:nvPr/>
        </p:nvSpPr>
        <p:spPr bwMode="auto">
          <a:xfrm>
            <a:off x="7172421" y="1725613"/>
            <a:ext cx="1962150" cy="519112"/>
          </a:xfrm>
          <a:prstGeom prst="rect">
            <a:avLst/>
          </a:prstGeom>
          <a:noFill/>
          <a:ln w="9525">
            <a:noFill/>
            <a:miter lim="800000"/>
            <a:headEnd/>
            <a:tailEnd/>
          </a:ln>
          <a:effectLst/>
        </p:spPr>
        <p:txBody>
          <a:bodyPr wrap="none">
            <a:spAutoFit/>
          </a:bodyPr>
          <a:lstStyle/>
          <a:p>
            <a:pPr>
              <a:defRPr/>
            </a:pPr>
            <a:r>
              <a:rPr lang="zh-CN" altLang="en-US" sz="2800">
                <a:effectLst>
                  <a:outerShdw blurRad="38100" dist="38100" dir="2700000" algn="tl">
                    <a:srgbClr val="C0C0C0"/>
                  </a:outerShdw>
                </a:effectLst>
                <a:latin typeface="Arial" pitchFamily="34" charset="0"/>
                <a:ea typeface="文鼎火柴体" pitchFamily="33" charset="-122"/>
              </a:rPr>
              <a:t>售票员进程</a:t>
            </a:r>
          </a:p>
        </p:txBody>
      </p:sp>
      <p:grpSp>
        <p:nvGrpSpPr>
          <p:cNvPr id="92" name="Group 20"/>
          <p:cNvGrpSpPr>
            <a:grpSpLocks/>
          </p:cNvGrpSpPr>
          <p:nvPr/>
        </p:nvGrpSpPr>
        <p:grpSpPr bwMode="auto">
          <a:xfrm>
            <a:off x="5107084" y="5526088"/>
            <a:ext cx="1752600" cy="542925"/>
            <a:chOff x="2304" y="3024"/>
            <a:chExt cx="1104" cy="342"/>
          </a:xfrm>
        </p:grpSpPr>
        <p:sp>
          <p:nvSpPr>
            <p:cNvPr id="93" name="Line 21"/>
            <p:cNvSpPr>
              <a:spLocks noChangeShapeType="1"/>
            </p:cNvSpPr>
            <p:nvPr/>
          </p:nvSpPr>
          <p:spPr bwMode="auto">
            <a:xfrm>
              <a:off x="2304" y="3024"/>
              <a:ext cx="1104" cy="0"/>
            </a:xfrm>
            <a:prstGeom prst="line">
              <a:avLst/>
            </a:prstGeom>
            <a:noFill/>
            <a:ln w="38100">
              <a:solidFill>
                <a:schemeClr val="tx1"/>
              </a:solidFill>
              <a:prstDash val="dash"/>
              <a:round/>
              <a:headEnd type="triangle" w="med" len="med"/>
              <a:tailEnd type="triangle" w="med" len="med"/>
            </a:ln>
            <a:effectLst>
              <a:outerShdw dist="35921" dir="2700000" algn="ctr" rotWithShape="0">
                <a:schemeClr val="bg2"/>
              </a:outerShdw>
            </a:effectLst>
          </p:spPr>
          <p:txBody>
            <a:bodyPr/>
            <a:lstStyle/>
            <a:p>
              <a:pPr>
                <a:defRPr/>
              </a:pPr>
              <a:endParaRPr lang="zh-CN" altLang="en-US" b="0"/>
            </a:p>
          </p:txBody>
        </p:sp>
        <p:sp>
          <p:nvSpPr>
            <p:cNvPr id="94" name="Text Box 22"/>
            <p:cNvSpPr txBox="1">
              <a:spLocks noChangeArrowheads="1"/>
            </p:cNvSpPr>
            <p:nvPr/>
          </p:nvSpPr>
          <p:spPr bwMode="auto">
            <a:xfrm>
              <a:off x="2544" y="3039"/>
              <a:ext cx="791" cy="327"/>
            </a:xfrm>
            <a:prstGeom prst="rect">
              <a:avLst/>
            </a:prstGeom>
            <a:noFill/>
            <a:ln w="9525">
              <a:noFill/>
              <a:miter lim="800000"/>
              <a:headEnd/>
              <a:tailEnd/>
            </a:ln>
            <a:effectLst/>
          </p:spPr>
          <p:txBody>
            <a:bodyPr wrap="none">
              <a:spAutoFit/>
            </a:bodyPr>
            <a:lstStyle/>
            <a:p>
              <a:pPr>
                <a:defRPr/>
              </a:pPr>
              <a:r>
                <a:rPr lang="zh-CN" altLang="en-US" sz="2800">
                  <a:effectLst>
                    <a:outerShdw blurRad="38100" dist="38100" dir="2700000" algn="tl">
                      <a:srgbClr val="C0C0C0"/>
                    </a:outerShdw>
                  </a:effectLst>
                  <a:latin typeface="Arial" pitchFamily="34" charset="0"/>
                  <a:ea typeface="楷体_GB2312" pitchFamily="49" charset="-122"/>
                </a:rPr>
                <a:t>同步点</a:t>
              </a:r>
            </a:p>
          </p:txBody>
        </p:sp>
      </p:grpSp>
      <p:grpSp>
        <p:nvGrpSpPr>
          <p:cNvPr id="95" name="Group 23"/>
          <p:cNvGrpSpPr>
            <a:grpSpLocks/>
          </p:cNvGrpSpPr>
          <p:nvPr/>
        </p:nvGrpSpPr>
        <p:grpSpPr bwMode="auto">
          <a:xfrm>
            <a:off x="5107084" y="3544888"/>
            <a:ext cx="1828800" cy="923925"/>
            <a:chOff x="2304" y="1776"/>
            <a:chExt cx="1152" cy="582"/>
          </a:xfrm>
        </p:grpSpPr>
        <p:sp>
          <p:nvSpPr>
            <p:cNvPr id="96" name="Line 24"/>
            <p:cNvSpPr>
              <a:spLocks noChangeShapeType="1"/>
            </p:cNvSpPr>
            <p:nvPr/>
          </p:nvSpPr>
          <p:spPr bwMode="auto">
            <a:xfrm flipV="1">
              <a:off x="2304" y="1776"/>
              <a:ext cx="1152" cy="288"/>
            </a:xfrm>
            <a:prstGeom prst="line">
              <a:avLst/>
            </a:prstGeom>
            <a:noFill/>
            <a:ln w="38100">
              <a:solidFill>
                <a:schemeClr val="tx1"/>
              </a:solidFill>
              <a:prstDash val="dash"/>
              <a:round/>
              <a:headEnd type="triangle" w="med" len="med"/>
              <a:tailEnd type="triangle" w="med" len="med"/>
            </a:ln>
            <a:effectLst>
              <a:outerShdw dist="35921" dir="2700000" algn="ctr" rotWithShape="0">
                <a:schemeClr val="bg2"/>
              </a:outerShdw>
            </a:effectLst>
          </p:spPr>
          <p:txBody>
            <a:bodyPr/>
            <a:lstStyle/>
            <a:p>
              <a:pPr>
                <a:defRPr/>
              </a:pPr>
              <a:endParaRPr lang="zh-CN" altLang="en-US" b="0"/>
            </a:p>
          </p:txBody>
        </p:sp>
        <p:sp>
          <p:nvSpPr>
            <p:cNvPr id="97" name="Text Box 25"/>
            <p:cNvSpPr txBox="1">
              <a:spLocks noChangeArrowheads="1"/>
            </p:cNvSpPr>
            <p:nvPr/>
          </p:nvSpPr>
          <p:spPr bwMode="auto">
            <a:xfrm>
              <a:off x="2544" y="2031"/>
              <a:ext cx="791" cy="327"/>
            </a:xfrm>
            <a:prstGeom prst="rect">
              <a:avLst/>
            </a:prstGeom>
            <a:noFill/>
            <a:ln w="9525">
              <a:noFill/>
              <a:miter lim="800000"/>
              <a:headEnd/>
              <a:tailEnd/>
            </a:ln>
            <a:effectLst/>
          </p:spPr>
          <p:txBody>
            <a:bodyPr wrap="none">
              <a:spAutoFit/>
            </a:bodyPr>
            <a:lstStyle/>
            <a:p>
              <a:pPr>
                <a:defRPr/>
              </a:pPr>
              <a:r>
                <a:rPr lang="zh-CN" altLang="en-US" sz="2800">
                  <a:effectLst>
                    <a:outerShdw blurRad="38100" dist="38100" dir="2700000" algn="tl">
                      <a:srgbClr val="C0C0C0"/>
                    </a:outerShdw>
                  </a:effectLst>
                  <a:latin typeface="Arial" pitchFamily="34" charset="0"/>
                  <a:ea typeface="楷体_GB2312" pitchFamily="49" charset="-122"/>
                </a:rPr>
                <a:t>同步点</a:t>
              </a:r>
            </a:p>
          </p:txBody>
        </p:sp>
      </p:grpSp>
      <p:sp>
        <p:nvSpPr>
          <p:cNvPr id="98" name="AutoShape 26"/>
          <p:cNvSpPr>
            <a:spLocks noChangeArrowheads="1"/>
          </p:cNvSpPr>
          <p:nvPr/>
        </p:nvSpPr>
        <p:spPr bwMode="auto">
          <a:xfrm>
            <a:off x="4678459" y="2498725"/>
            <a:ext cx="304800" cy="304800"/>
          </a:xfrm>
          <a:prstGeom prst="sun">
            <a:avLst>
              <a:gd name="adj" fmla="val 25000"/>
            </a:avLst>
          </a:prstGeom>
          <a:solidFill>
            <a:schemeClr val="hlink"/>
          </a:solidFill>
          <a:ln w="9525">
            <a:solidFill>
              <a:schemeClr val="tx1"/>
            </a:solidFill>
            <a:miter lim="800000"/>
            <a:headEnd/>
            <a:tailEnd/>
          </a:ln>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b="0"/>
          </a:p>
        </p:txBody>
      </p:sp>
      <p:sp>
        <p:nvSpPr>
          <p:cNvPr id="99" name="AutoShape 27"/>
          <p:cNvSpPr>
            <a:spLocks noChangeArrowheads="1"/>
          </p:cNvSpPr>
          <p:nvPr/>
        </p:nvSpPr>
        <p:spPr bwMode="auto">
          <a:xfrm>
            <a:off x="8925021" y="2478088"/>
            <a:ext cx="304800" cy="304800"/>
          </a:xfrm>
          <a:prstGeom prst="sun">
            <a:avLst>
              <a:gd name="adj" fmla="val 25000"/>
            </a:avLst>
          </a:prstGeom>
          <a:solidFill>
            <a:schemeClr val="hlink"/>
          </a:solidFill>
          <a:ln w="9525">
            <a:solidFill>
              <a:schemeClr val="tx1"/>
            </a:solidFill>
            <a:miter lim="800000"/>
            <a:headEnd/>
            <a:tailEnd/>
          </a:ln>
        </p:spPr>
        <p:txBody>
          <a:bodyPr wrap="none" anchor="ct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eaLnBrk="1" hangingPunct="1"/>
            <a:endParaRPr lang="zh-CN" altLang="en-US" b="0"/>
          </a:p>
        </p:txBody>
      </p:sp>
      <p:sp>
        <p:nvSpPr>
          <p:cNvPr id="100" name="Line 28"/>
          <p:cNvSpPr>
            <a:spLocks noChangeShapeType="1"/>
          </p:cNvSpPr>
          <p:nvPr/>
        </p:nvSpPr>
        <p:spPr bwMode="auto">
          <a:xfrm>
            <a:off x="1843184" y="3163888"/>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1" name="Text Box 29"/>
          <p:cNvSpPr txBox="1">
            <a:spLocks noChangeArrowheads="1"/>
          </p:cNvSpPr>
          <p:nvPr/>
        </p:nvSpPr>
        <p:spPr bwMode="auto">
          <a:xfrm>
            <a:off x="1322483" y="3967163"/>
            <a:ext cx="1154483" cy="400110"/>
          </a:xfrm>
          <a:prstGeom prst="rect">
            <a:avLst/>
          </a:prstGeom>
          <a:noFill/>
          <a:ln w="9525">
            <a:noFill/>
            <a:miter lim="800000"/>
            <a:headEnd/>
            <a:tailEnd/>
          </a:ln>
          <a:effectLst/>
        </p:spPr>
        <p:txBody>
          <a:bodyPr wrap="none">
            <a:spAutoFit/>
          </a:bodyPr>
          <a:lstStyle/>
          <a:p>
            <a:pPr>
              <a:defRPr/>
            </a:pPr>
            <a:r>
              <a:rPr lang="en-US" altLang="zh-CN" sz="2000" dirty="0">
                <a:solidFill>
                  <a:schemeClr val="accent2"/>
                </a:solidFill>
                <a:effectLst>
                  <a:outerShdw blurRad="38100" dist="38100" dir="2700000" algn="tl">
                    <a:srgbClr val="C0C0C0"/>
                  </a:outerShdw>
                </a:effectLst>
                <a:latin typeface="Arial" pitchFamily="34" charset="0"/>
                <a:ea typeface="楷体_GB2312" pitchFamily="49" charset="-122"/>
              </a:rPr>
              <a:t>signal(s)</a:t>
            </a:r>
          </a:p>
        </p:txBody>
      </p:sp>
      <p:sp>
        <p:nvSpPr>
          <p:cNvPr id="102" name="Line 30"/>
          <p:cNvSpPr>
            <a:spLocks noChangeShapeType="1"/>
          </p:cNvSpPr>
          <p:nvPr/>
        </p:nvSpPr>
        <p:spPr bwMode="auto">
          <a:xfrm>
            <a:off x="1843184" y="4535488"/>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3" name="Line 31"/>
          <p:cNvSpPr>
            <a:spLocks noChangeShapeType="1"/>
          </p:cNvSpPr>
          <p:nvPr/>
        </p:nvSpPr>
        <p:spPr bwMode="auto">
          <a:xfrm>
            <a:off x="9839421" y="3151188"/>
            <a:ext cx="0" cy="609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4" name="Text Box 32"/>
          <p:cNvSpPr txBox="1">
            <a:spLocks noChangeArrowheads="1"/>
          </p:cNvSpPr>
          <p:nvPr/>
        </p:nvSpPr>
        <p:spPr bwMode="auto">
          <a:xfrm>
            <a:off x="9382221" y="3790950"/>
            <a:ext cx="939681" cy="400110"/>
          </a:xfrm>
          <a:prstGeom prst="rect">
            <a:avLst/>
          </a:prstGeom>
          <a:noFill/>
          <a:ln w="9525">
            <a:noFill/>
            <a:miter lim="800000"/>
            <a:headEnd/>
            <a:tailEnd/>
          </a:ln>
          <a:effectLst/>
        </p:spPr>
        <p:txBody>
          <a:bodyPr wrap="none">
            <a:spAutoFit/>
          </a:bodyPr>
          <a:lstStyle/>
          <a:p>
            <a:pPr>
              <a:defRPr/>
            </a:pPr>
            <a:r>
              <a:rPr lang="en-US" altLang="zh-CN" sz="2000" dirty="0">
                <a:solidFill>
                  <a:schemeClr val="accent2"/>
                </a:solidFill>
                <a:effectLst>
                  <a:outerShdw blurRad="38100" dist="38100" dir="2700000" algn="tl">
                    <a:srgbClr val="C0C0C0"/>
                  </a:outerShdw>
                </a:effectLst>
                <a:latin typeface="Arial" pitchFamily="34" charset="0"/>
                <a:ea typeface="楷体_GB2312" pitchFamily="49" charset="-122"/>
              </a:rPr>
              <a:t>wait(s)</a:t>
            </a:r>
          </a:p>
        </p:txBody>
      </p:sp>
      <p:sp>
        <p:nvSpPr>
          <p:cNvPr id="105" name="Line 33"/>
          <p:cNvSpPr>
            <a:spLocks noChangeShapeType="1"/>
          </p:cNvSpPr>
          <p:nvPr/>
        </p:nvSpPr>
        <p:spPr bwMode="auto">
          <a:xfrm>
            <a:off x="9839421" y="4370388"/>
            <a:ext cx="0" cy="685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6" name="Text Box 34"/>
          <p:cNvSpPr txBox="1">
            <a:spLocks noChangeArrowheads="1"/>
          </p:cNvSpPr>
          <p:nvPr/>
        </p:nvSpPr>
        <p:spPr bwMode="auto">
          <a:xfrm>
            <a:off x="1446309" y="2522538"/>
            <a:ext cx="898525" cy="519112"/>
          </a:xfrm>
          <a:prstGeom prst="rect">
            <a:avLst/>
          </a:prstGeom>
          <a:noFill/>
          <a:ln w="9525">
            <a:noFill/>
            <a:miter lim="800000"/>
            <a:headEnd/>
            <a:tailEnd/>
          </a:ln>
          <a:effectLst/>
        </p:spPr>
        <p:txBody>
          <a:bodyPr wrap="none">
            <a:spAutoFit/>
          </a:bodyPr>
          <a:lstStyle/>
          <a:p>
            <a:pPr>
              <a:defRPr/>
            </a:pPr>
            <a:r>
              <a:rPr lang="zh-CN" altLang="en-US" sz="2800" dirty="0">
                <a:solidFill>
                  <a:schemeClr val="accent2"/>
                </a:solidFill>
                <a:effectLst>
                  <a:outerShdw blurRad="38100" dist="38100" dir="2700000" algn="tl">
                    <a:srgbClr val="C0C0C0"/>
                  </a:outerShdw>
                </a:effectLst>
                <a:latin typeface="Arial" pitchFamily="34" charset="0"/>
                <a:ea typeface="楷体_GB2312" pitchFamily="49" charset="-122"/>
              </a:rPr>
              <a:t>前驱</a:t>
            </a:r>
          </a:p>
        </p:txBody>
      </p:sp>
      <p:sp>
        <p:nvSpPr>
          <p:cNvPr id="107" name="Text Box 35"/>
          <p:cNvSpPr txBox="1">
            <a:spLocks noChangeArrowheads="1"/>
          </p:cNvSpPr>
          <p:nvPr/>
        </p:nvSpPr>
        <p:spPr bwMode="auto">
          <a:xfrm>
            <a:off x="9458421" y="2565400"/>
            <a:ext cx="898525" cy="519113"/>
          </a:xfrm>
          <a:prstGeom prst="rect">
            <a:avLst/>
          </a:prstGeom>
          <a:noFill/>
          <a:ln w="9525">
            <a:noFill/>
            <a:miter lim="800000"/>
            <a:headEnd/>
            <a:tailEnd/>
          </a:ln>
          <a:effectLst/>
        </p:spPr>
        <p:txBody>
          <a:bodyPr wrap="none">
            <a:spAutoFit/>
          </a:bodyPr>
          <a:lstStyle/>
          <a:p>
            <a:pPr>
              <a:defRPr/>
            </a:pPr>
            <a:r>
              <a:rPr lang="zh-CN" altLang="en-US" sz="2800">
                <a:solidFill>
                  <a:schemeClr val="accent2"/>
                </a:solidFill>
                <a:effectLst>
                  <a:outerShdw blurRad="38100" dist="38100" dir="2700000" algn="tl">
                    <a:srgbClr val="C0C0C0"/>
                  </a:outerShdw>
                </a:effectLst>
                <a:latin typeface="Arial" pitchFamily="34" charset="0"/>
                <a:ea typeface="楷体_GB2312" pitchFamily="49" charset="-122"/>
              </a:rPr>
              <a:t>后继</a:t>
            </a:r>
          </a:p>
        </p:txBody>
      </p:sp>
      <p:sp>
        <p:nvSpPr>
          <p:cNvPr id="108" name="圆角矩形 107"/>
          <p:cNvSpPr/>
          <p:nvPr/>
        </p:nvSpPr>
        <p:spPr>
          <a:xfrm>
            <a:off x="5732215" y="2983639"/>
            <a:ext cx="721071" cy="6143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TextBox 109"/>
          <p:cNvSpPr txBox="1"/>
          <p:nvPr/>
        </p:nvSpPr>
        <p:spPr>
          <a:xfrm>
            <a:off x="5888040" y="3021668"/>
            <a:ext cx="474637" cy="5232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altLang="zh-CN" sz="2800" b="1" dirty="0">
                <a:solidFill>
                  <a:schemeClr val="tx1"/>
                </a:solidFill>
              </a:rPr>
              <a:t>0</a:t>
            </a:r>
            <a:endParaRPr lang="zh-CN" altLang="en-US" sz="2800" b="1" dirty="0">
              <a:solidFill>
                <a:schemeClr val="tx1"/>
              </a:solidFill>
            </a:endParaRPr>
          </a:p>
        </p:txBody>
      </p:sp>
      <p:sp>
        <p:nvSpPr>
          <p:cNvPr id="113" name="TextBox 112"/>
          <p:cNvSpPr txBox="1"/>
          <p:nvPr/>
        </p:nvSpPr>
        <p:spPr>
          <a:xfrm>
            <a:off x="5878621" y="3021668"/>
            <a:ext cx="474637" cy="5232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altLang="zh-CN" sz="2800" b="1" dirty="0">
                <a:solidFill>
                  <a:schemeClr val="tx1"/>
                </a:solidFill>
              </a:rPr>
              <a:t>1</a:t>
            </a:r>
            <a:endParaRPr lang="zh-CN" altLang="en-US" sz="2800" b="1" dirty="0">
              <a:solidFill>
                <a:schemeClr val="tx1"/>
              </a:solidFill>
            </a:endParaRPr>
          </a:p>
        </p:txBody>
      </p:sp>
      <p:sp>
        <p:nvSpPr>
          <p:cNvPr id="114" name="圆角矩形 113"/>
          <p:cNvSpPr/>
          <p:nvPr/>
        </p:nvSpPr>
        <p:spPr>
          <a:xfrm>
            <a:off x="5732215" y="6079716"/>
            <a:ext cx="721071" cy="61436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TextBox 114"/>
          <p:cNvSpPr txBox="1"/>
          <p:nvPr/>
        </p:nvSpPr>
        <p:spPr>
          <a:xfrm>
            <a:off x="5858257" y="6119170"/>
            <a:ext cx="474637" cy="5232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altLang="zh-CN" sz="2800" b="1" dirty="0">
                <a:solidFill>
                  <a:schemeClr val="tx1"/>
                </a:solidFill>
              </a:rPr>
              <a:t>0</a:t>
            </a:r>
            <a:endParaRPr lang="zh-CN" altLang="en-US" sz="2800" b="1" dirty="0">
              <a:solidFill>
                <a:schemeClr val="tx1"/>
              </a:solidFill>
            </a:endParaRPr>
          </a:p>
        </p:txBody>
      </p:sp>
      <p:sp>
        <p:nvSpPr>
          <p:cNvPr id="112" name="TextBox 111"/>
          <p:cNvSpPr txBox="1"/>
          <p:nvPr/>
        </p:nvSpPr>
        <p:spPr>
          <a:xfrm>
            <a:off x="5858591" y="6088697"/>
            <a:ext cx="474637" cy="5232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altLang="zh-CN" sz="2800" b="1" dirty="0">
                <a:solidFill>
                  <a:schemeClr val="tx1"/>
                </a:solidFill>
              </a:rPr>
              <a:t>1</a:t>
            </a:r>
            <a:endParaRPr lang="zh-CN" altLang="en-US" sz="2800" b="1" dirty="0">
              <a:solidFill>
                <a:schemeClr val="tx1"/>
              </a:solidFill>
            </a:endParaRPr>
          </a:p>
        </p:txBody>
      </p:sp>
      <p:sp>
        <p:nvSpPr>
          <p:cNvPr id="116" name="TextBox 115"/>
          <p:cNvSpPr txBox="1"/>
          <p:nvPr/>
        </p:nvSpPr>
        <p:spPr>
          <a:xfrm>
            <a:off x="5918156" y="3041650"/>
            <a:ext cx="474637" cy="5232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altLang="zh-CN" sz="2800" b="1" dirty="0">
                <a:solidFill>
                  <a:schemeClr val="tx1"/>
                </a:solidFill>
              </a:rPr>
              <a:t>0</a:t>
            </a:r>
            <a:endParaRPr lang="zh-CN" altLang="en-US" sz="2800" b="1" dirty="0">
              <a:solidFill>
                <a:schemeClr val="tx1"/>
              </a:solidFill>
            </a:endParaRPr>
          </a:p>
        </p:txBody>
      </p:sp>
      <p:sp>
        <p:nvSpPr>
          <p:cNvPr id="117" name="TextBox 116"/>
          <p:cNvSpPr txBox="1"/>
          <p:nvPr/>
        </p:nvSpPr>
        <p:spPr>
          <a:xfrm>
            <a:off x="5844276" y="6129915"/>
            <a:ext cx="474637" cy="5232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r>
              <a:rPr lang="en-US" altLang="zh-CN" sz="2800" b="1" dirty="0">
                <a:solidFill>
                  <a:schemeClr val="tx1"/>
                </a:solidFill>
              </a:rPr>
              <a:t>0</a:t>
            </a:r>
            <a:endParaRPr lang="zh-CN" altLang="en-US" sz="2800" b="1" dirty="0">
              <a:solidFill>
                <a:schemeClr val="tx1"/>
              </a:solidFill>
            </a:endParaRPr>
          </a:p>
        </p:txBody>
      </p:sp>
    </p:spTree>
    <p:extLst>
      <p:ext uri="{BB962C8B-B14F-4D97-AF65-F5344CB8AC3E}">
        <p14:creationId xmlns:p14="http://schemas.microsoft.com/office/powerpoint/2010/main" val="3975050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95"/>
                                        </p:tgtEl>
                                        <p:attrNameLst>
                                          <p:attrName>style.visibility</p:attrName>
                                        </p:attrNameLst>
                                      </p:cBhvr>
                                      <p:to>
                                        <p:strVal val="visible"/>
                                      </p:to>
                                    </p:set>
                                    <p:animEffect transition="in" filter="barn(outHorizontal)">
                                      <p:cBhvr>
                                        <p:cTn id="7" dur="500"/>
                                        <p:tgtEl>
                                          <p:spTgt spid="9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8"/>
                                        </p:tgtEl>
                                        <p:attrNameLst>
                                          <p:attrName>style.visibility</p:attrName>
                                        </p:attrNameLst>
                                      </p:cBhvr>
                                      <p:to>
                                        <p:strVal val="visible"/>
                                      </p:to>
                                    </p:set>
                                    <p:animEffect transition="in" filter="fade">
                                      <p:cBhvr>
                                        <p:cTn id="12" dur="500"/>
                                        <p:tgtEl>
                                          <p:spTgt spid="10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0"/>
                                        </p:tgtEl>
                                        <p:attrNameLst>
                                          <p:attrName>style.visibility</p:attrName>
                                        </p:attrNameLst>
                                      </p:cBhvr>
                                      <p:to>
                                        <p:strVal val="visible"/>
                                      </p:to>
                                    </p:set>
                                    <p:animEffect transition="in" filter="fade">
                                      <p:cBhvr>
                                        <p:cTn id="17" dur="500"/>
                                        <p:tgtEl>
                                          <p:spTgt spid="110"/>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2" fill="hold" grpId="0" nodeType="click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slide(fromRight)">
                                      <p:cBhvr>
                                        <p:cTn id="22" dur="500"/>
                                        <p:tgtEl>
                                          <p:spTgt spid="43"/>
                                        </p:tgtEl>
                                      </p:cBhvr>
                                    </p:animEffect>
                                  </p:childTnLst>
                                </p:cTn>
                              </p:par>
                            </p:childTnLst>
                          </p:cTn>
                        </p:par>
                      </p:childTnLst>
                    </p:cTn>
                  </p:par>
                  <p:par>
                    <p:cTn id="23" fill="hold">
                      <p:stCondLst>
                        <p:cond delay="indefinite"/>
                      </p:stCondLst>
                      <p:childTnLst>
                        <p:par>
                          <p:cTn id="24" fill="hold">
                            <p:stCondLst>
                              <p:cond delay="0"/>
                            </p:stCondLst>
                            <p:childTnLst>
                              <p:par>
                                <p:cTn id="25" presetID="0" presetClass="path" presetSubtype="0" accel="50000" decel="50000" fill="hold" grpId="0" nodeType="clickEffect">
                                  <p:stCondLst>
                                    <p:cond delay="0"/>
                                  </p:stCondLst>
                                  <p:childTnLst>
                                    <p:animMotion origin="layout" path="M -1.11111E-6 -2.24797E-6 L -1.11111E-6 0.10522 " pathEditMode="relative" ptsTypes="AA">
                                      <p:cBhvr>
                                        <p:cTn id="26" dur="2000" fill="hold"/>
                                        <p:tgtEl>
                                          <p:spTgt spid="99"/>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0" presetClass="path" presetSubtype="0" accel="50000" decel="50000" fill="hold" grpId="0" nodeType="clickEffect">
                                  <p:stCondLst>
                                    <p:cond delay="0"/>
                                  </p:stCondLst>
                                  <p:childTnLst>
                                    <p:animMotion origin="layout" path="M -3.33333E-6 4.98262E-7 L -3.33333E-6 0.10522 " pathEditMode="relative" ptsTypes="AA">
                                      <p:cBhvr>
                                        <p:cTn id="30" dur="2000" fill="hold"/>
                                        <p:tgtEl>
                                          <p:spTgt spid="98"/>
                                        </p:tgtEl>
                                        <p:attrNameLst>
                                          <p:attrName>ppt_x</p:attrName>
                                          <p:attrName>ppt_y</p:attrName>
                                        </p:attrNameLst>
                                      </p:cBhvr>
                                    </p:animMotion>
                                  </p:childTnLst>
                                </p:cTn>
                              </p:par>
                            </p:childTnLst>
                          </p:cTn>
                        </p:par>
                      </p:childTnLst>
                    </p:cTn>
                  </p:par>
                  <p:par>
                    <p:cTn id="31" fill="hold">
                      <p:stCondLst>
                        <p:cond delay="indefinite"/>
                      </p:stCondLst>
                      <p:childTnLst>
                        <p:par>
                          <p:cTn id="32" fill="hold">
                            <p:stCondLst>
                              <p:cond delay="0"/>
                            </p:stCondLst>
                            <p:childTnLst>
                              <p:par>
                                <p:cTn id="33" presetID="0" presetClass="path" presetSubtype="0" accel="50000" decel="50000" fill="hold" grpId="1" nodeType="clickEffect">
                                  <p:stCondLst>
                                    <p:cond delay="0"/>
                                  </p:stCondLst>
                                  <p:childTnLst>
                                    <p:animMotion origin="layout" path="M -3.33333E-6 0.10522 L -3.33333E-6 0.2 " pathEditMode="relative" ptsTypes="AA">
                                      <p:cBhvr>
                                        <p:cTn id="34" dur="2000" fill="hold"/>
                                        <p:tgtEl>
                                          <p:spTgt spid="98"/>
                                        </p:tgtEl>
                                        <p:attrNameLst>
                                          <p:attrName>ppt_x</p:attrName>
                                          <p:attrName>ppt_y</p:attrName>
                                        </p:attrNameLst>
                                      </p:cBhvr>
                                    </p:animMotion>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13"/>
                                        </p:tgtEl>
                                        <p:attrNameLst>
                                          <p:attrName>style.visibility</p:attrName>
                                        </p:attrNameLst>
                                      </p:cBhvr>
                                      <p:to>
                                        <p:strVal val="visible"/>
                                      </p:to>
                                    </p:set>
                                    <p:animEffect transition="in" filter="fade">
                                      <p:cBhvr>
                                        <p:cTn id="39" dur="500"/>
                                        <p:tgtEl>
                                          <p:spTgt spid="113"/>
                                        </p:tgtEl>
                                      </p:cBhvr>
                                    </p:animEffect>
                                  </p:childTnLst>
                                </p:cTn>
                              </p:par>
                            </p:childTnLst>
                          </p:cTn>
                        </p:par>
                      </p:childTnLst>
                    </p:cTn>
                  </p:par>
                  <p:par>
                    <p:cTn id="40" fill="hold">
                      <p:stCondLst>
                        <p:cond delay="indefinite"/>
                      </p:stCondLst>
                      <p:childTnLst>
                        <p:par>
                          <p:cTn id="41" fill="hold">
                            <p:stCondLst>
                              <p:cond delay="0"/>
                            </p:stCondLst>
                            <p:childTnLst>
                              <p:par>
                                <p:cTn id="42" presetID="0" presetClass="path" presetSubtype="0" accel="50000" decel="50000" fill="hold" grpId="2" nodeType="clickEffect">
                                  <p:stCondLst>
                                    <p:cond delay="0"/>
                                  </p:stCondLst>
                                  <p:childTnLst>
                                    <p:animMotion origin="layout" path="M -3.33333E-6 0.2 L -3.33333E-6 0.3263 " pathEditMode="relative" ptsTypes="AA">
                                      <p:cBhvr>
                                        <p:cTn id="43" dur="2000" fill="hold"/>
                                        <p:tgtEl>
                                          <p:spTgt spid="98"/>
                                        </p:tgtEl>
                                        <p:attrNameLst>
                                          <p:attrName>ppt_x</p:attrName>
                                          <p:attrName>ppt_y</p:attrName>
                                        </p:attrNameLst>
                                      </p:cBhvr>
                                    </p:animMotion>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16"/>
                                        </p:tgtEl>
                                        <p:attrNameLst>
                                          <p:attrName>style.visibility</p:attrName>
                                        </p:attrNameLst>
                                      </p:cBhvr>
                                      <p:to>
                                        <p:strVal val="visible"/>
                                      </p:to>
                                    </p:set>
                                    <p:animEffect transition="in" filter="fade">
                                      <p:cBhvr>
                                        <p:cTn id="48" dur="500"/>
                                        <p:tgtEl>
                                          <p:spTgt spid="116"/>
                                        </p:tgtEl>
                                      </p:cBhvr>
                                    </p:animEffect>
                                  </p:childTnLst>
                                </p:cTn>
                              </p:par>
                            </p:childTnLst>
                          </p:cTn>
                        </p:par>
                      </p:childTnLst>
                    </p:cTn>
                  </p:par>
                  <p:par>
                    <p:cTn id="49" fill="hold">
                      <p:stCondLst>
                        <p:cond delay="indefinite"/>
                      </p:stCondLst>
                      <p:childTnLst>
                        <p:par>
                          <p:cTn id="50" fill="hold">
                            <p:stCondLst>
                              <p:cond delay="0"/>
                            </p:stCondLst>
                            <p:childTnLst>
                              <p:par>
                                <p:cTn id="51" presetID="0" presetClass="path" presetSubtype="0" accel="50000" decel="50000" fill="hold" grpId="1" nodeType="clickEffect">
                                  <p:stCondLst>
                                    <p:cond delay="0"/>
                                  </p:stCondLst>
                                  <p:childTnLst>
                                    <p:animMotion origin="layout" path="M -1.11111E-6 0.10522 L -1.11111E-6 0.22086 " pathEditMode="relative" ptsTypes="AA">
                                      <p:cBhvr>
                                        <p:cTn id="52" dur="2000" fill="hold"/>
                                        <p:tgtEl>
                                          <p:spTgt spid="99"/>
                                        </p:tgtEl>
                                        <p:attrNameLst>
                                          <p:attrName>ppt_x</p:attrName>
                                          <p:attrName>ppt_y</p:attrName>
                                        </p:attrNameLst>
                                      </p:cBhvr>
                                    </p:animMotion>
                                  </p:childTnLst>
                                </p:cTn>
                              </p:par>
                            </p:childTnLst>
                          </p:cTn>
                        </p:par>
                      </p:childTnLst>
                    </p:cTn>
                  </p:par>
                  <p:par>
                    <p:cTn id="53" fill="hold">
                      <p:stCondLst>
                        <p:cond delay="indefinite"/>
                      </p:stCondLst>
                      <p:childTnLst>
                        <p:par>
                          <p:cTn id="54" fill="hold">
                            <p:stCondLst>
                              <p:cond delay="0"/>
                            </p:stCondLst>
                            <p:childTnLst>
                              <p:par>
                                <p:cTn id="55" presetID="0" presetClass="path" presetSubtype="0" accel="50000" decel="50000" fill="hold" grpId="2" nodeType="clickEffect">
                                  <p:stCondLst>
                                    <p:cond delay="0"/>
                                  </p:stCondLst>
                                  <p:childTnLst>
                                    <p:animMotion origin="layout" path="M -1.11111E-6 0.22086 L -1.11111E-6 0.32607 " pathEditMode="relative" ptsTypes="AA">
                                      <p:cBhvr>
                                        <p:cTn id="56" dur="2000" fill="hold"/>
                                        <p:tgtEl>
                                          <p:spTgt spid="99"/>
                                        </p:tgtEl>
                                        <p:attrNameLst>
                                          <p:attrName>ppt_x</p:attrName>
                                          <p:attrName>ppt_y</p:attrName>
                                        </p:attrNameLst>
                                      </p:cBhvr>
                                    </p:animMotion>
                                  </p:childTnLst>
                                </p:cTn>
                              </p:par>
                            </p:childTnLst>
                          </p:cTn>
                        </p:par>
                      </p:childTnLst>
                    </p:cTn>
                  </p:par>
                  <p:par>
                    <p:cTn id="57" fill="hold">
                      <p:stCondLst>
                        <p:cond delay="indefinite"/>
                      </p:stCondLst>
                      <p:childTnLst>
                        <p:par>
                          <p:cTn id="58" fill="hold">
                            <p:stCondLst>
                              <p:cond delay="0"/>
                            </p:stCondLst>
                            <p:childTnLst>
                              <p:par>
                                <p:cTn id="59" presetID="0" presetClass="path" presetSubtype="0" accel="50000" decel="50000" fill="hold" grpId="3" nodeType="clickEffect">
                                  <p:stCondLst>
                                    <p:cond delay="0"/>
                                  </p:stCondLst>
                                  <p:childTnLst>
                                    <p:animMotion origin="layout" path="M -3.33333E-6 0.3263 L -3.33333E-6 0.43129 " pathEditMode="relative" ptsTypes="AA">
                                      <p:cBhvr>
                                        <p:cTn id="60" dur="2000" fill="hold"/>
                                        <p:tgtEl>
                                          <p:spTgt spid="98"/>
                                        </p:tgtEl>
                                        <p:attrNameLst>
                                          <p:attrName>ppt_x</p:attrName>
                                          <p:attrName>ppt_y</p:attrName>
                                        </p:attrNameLst>
                                      </p:cBhvr>
                                    </p:animMotion>
                                  </p:childTnLst>
                                </p:cTn>
                              </p:par>
                            </p:childTnLst>
                          </p:cTn>
                        </p:par>
                      </p:childTnLst>
                    </p:cTn>
                  </p:par>
                  <p:par>
                    <p:cTn id="61" fill="hold">
                      <p:stCondLst>
                        <p:cond delay="indefinite"/>
                      </p:stCondLst>
                      <p:childTnLst>
                        <p:par>
                          <p:cTn id="62" fill="hold">
                            <p:stCondLst>
                              <p:cond delay="0"/>
                            </p:stCondLst>
                            <p:childTnLst>
                              <p:par>
                                <p:cTn id="63" presetID="16" presetClass="entr" presetSubtype="42" fill="hold" nodeType="clickEffect">
                                  <p:stCondLst>
                                    <p:cond delay="0"/>
                                  </p:stCondLst>
                                  <p:childTnLst>
                                    <p:set>
                                      <p:cBhvr>
                                        <p:cTn id="64" dur="1" fill="hold">
                                          <p:stCondLst>
                                            <p:cond delay="0"/>
                                          </p:stCondLst>
                                        </p:cTn>
                                        <p:tgtEl>
                                          <p:spTgt spid="92"/>
                                        </p:tgtEl>
                                        <p:attrNameLst>
                                          <p:attrName>style.visibility</p:attrName>
                                        </p:attrNameLst>
                                      </p:cBhvr>
                                      <p:to>
                                        <p:strVal val="visible"/>
                                      </p:to>
                                    </p:set>
                                    <p:animEffect transition="in" filter="barn(outHorizontal)">
                                      <p:cBhvr>
                                        <p:cTn id="65" dur="500"/>
                                        <p:tgtEl>
                                          <p:spTgt spid="92"/>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114"/>
                                        </p:tgtEl>
                                        <p:attrNameLst>
                                          <p:attrName>style.visibility</p:attrName>
                                        </p:attrNameLst>
                                      </p:cBhvr>
                                      <p:to>
                                        <p:strVal val="visible"/>
                                      </p:to>
                                    </p:set>
                                    <p:animEffect transition="in" filter="fade">
                                      <p:cBhvr>
                                        <p:cTn id="70" dur="500"/>
                                        <p:tgtEl>
                                          <p:spTgt spid="11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115"/>
                                        </p:tgtEl>
                                        <p:attrNameLst>
                                          <p:attrName>style.visibility</p:attrName>
                                        </p:attrNameLst>
                                      </p:cBhvr>
                                      <p:to>
                                        <p:strVal val="visible"/>
                                      </p:to>
                                    </p:set>
                                    <p:animEffect transition="in" filter="fade">
                                      <p:cBhvr>
                                        <p:cTn id="75" dur="500"/>
                                        <p:tgtEl>
                                          <p:spTgt spid="115"/>
                                        </p:tgtEl>
                                      </p:cBhvr>
                                    </p:animEffect>
                                  </p:childTnLst>
                                </p:cTn>
                              </p:par>
                            </p:childTnLst>
                          </p:cTn>
                        </p:par>
                      </p:childTnLst>
                    </p:cTn>
                  </p:par>
                  <p:par>
                    <p:cTn id="76" fill="hold">
                      <p:stCondLst>
                        <p:cond delay="indefinite"/>
                      </p:stCondLst>
                      <p:childTnLst>
                        <p:par>
                          <p:cTn id="77" fill="hold">
                            <p:stCondLst>
                              <p:cond delay="0"/>
                            </p:stCondLst>
                            <p:childTnLst>
                              <p:par>
                                <p:cTn id="78" presetID="0" presetClass="path" presetSubtype="0" accel="50000" decel="50000" fill="hold" grpId="3" nodeType="clickEffect">
                                  <p:stCondLst>
                                    <p:cond delay="0"/>
                                  </p:stCondLst>
                                  <p:childTnLst>
                                    <p:animMotion origin="layout" path="M -1.11111E-6 0.32607 L -1.11111E-6 0.43106 " pathEditMode="relative" ptsTypes="AA">
                                      <p:cBhvr>
                                        <p:cTn id="79" dur="2000" fill="hold"/>
                                        <p:tgtEl>
                                          <p:spTgt spid="99"/>
                                        </p:tgtEl>
                                        <p:attrNameLst>
                                          <p:attrName>ppt_x</p:attrName>
                                          <p:attrName>ppt_y</p:attrName>
                                        </p:attrNameLst>
                                      </p:cBhvr>
                                    </p:animMotion>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112"/>
                                        </p:tgtEl>
                                        <p:attrNameLst>
                                          <p:attrName>style.visibility</p:attrName>
                                        </p:attrNameLst>
                                      </p:cBhvr>
                                      <p:to>
                                        <p:strVal val="visible"/>
                                      </p:to>
                                    </p:set>
                                    <p:animEffect transition="in" filter="fade">
                                      <p:cBhvr>
                                        <p:cTn id="84" dur="500"/>
                                        <p:tgtEl>
                                          <p:spTgt spid="112"/>
                                        </p:tgtEl>
                                      </p:cBhvr>
                                    </p:animEffect>
                                  </p:childTnLst>
                                </p:cTn>
                              </p:par>
                            </p:childTnLst>
                          </p:cTn>
                        </p:par>
                      </p:childTnLst>
                    </p:cTn>
                  </p:par>
                  <p:par>
                    <p:cTn id="85" fill="hold">
                      <p:stCondLst>
                        <p:cond delay="indefinite"/>
                      </p:stCondLst>
                      <p:childTnLst>
                        <p:par>
                          <p:cTn id="86" fill="hold">
                            <p:stCondLst>
                              <p:cond delay="0"/>
                            </p:stCondLst>
                            <p:childTnLst>
                              <p:par>
                                <p:cTn id="87" presetID="0" presetClass="path" presetSubtype="0" accel="50000" decel="50000" fill="hold" grpId="4" nodeType="clickEffect">
                                  <p:stCondLst>
                                    <p:cond delay="0"/>
                                  </p:stCondLst>
                                  <p:childTnLst>
                                    <p:animMotion origin="layout" path="M -5.E-6 0.43106 L -5.E-6 0.53627 " pathEditMode="relative" ptsTypes="AA">
                                      <p:cBhvr>
                                        <p:cTn id="88" dur="2000" fill="hold"/>
                                        <p:tgtEl>
                                          <p:spTgt spid="99"/>
                                        </p:tgtEl>
                                        <p:attrNameLst>
                                          <p:attrName>ppt_x</p:attrName>
                                          <p:attrName>ppt_y</p:attrName>
                                        </p:attrNameLst>
                                      </p:cBhvr>
                                    </p:animMotion>
                                  </p:childTnLst>
                                </p:cTn>
                              </p:par>
                            </p:childTnLst>
                          </p:cTn>
                        </p:par>
                      </p:childTnLst>
                    </p:cTn>
                  </p:par>
                  <p:par>
                    <p:cTn id="89" fill="hold">
                      <p:stCondLst>
                        <p:cond delay="indefinite"/>
                      </p:stCondLst>
                      <p:childTnLst>
                        <p:par>
                          <p:cTn id="90" fill="hold">
                            <p:stCondLst>
                              <p:cond delay="0"/>
                            </p:stCondLst>
                            <p:childTnLst>
                              <p:par>
                                <p:cTn id="91" presetID="10" presetClass="entr" presetSubtype="0" fill="hold" grpId="0" nodeType="clickEffect">
                                  <p:stCondLst>
                                    <p:cond delay="0"/>
                                  </p:stCondLst>
                                  <p:childTnLst>
                                    <p:set>
                                      <p:cBhvr>
                                        <p:cTn id="92" dur="1" fill="hold">
                                          <p:stCondLst>
                                            <p:cond delay="0"/>
                                          </p:stCondLst>
                                        </p:cTn>
                                        <p:tgtEl>
                                          <p:spTgt spid="117"/>
                                        </p:tgtEl>
                                        <p:attrNameLst>
                                          <p:attrName>style.visibility</p:attrName>
                                        </p:attrNameLst>
                                      </p:cBhvr>
                                      <p:to>
                                        <p:strVal val="visible"/>
                                      </p:to>
                                    </p:set>
                                    <p:animEffect transition="in" filter="fade">
                                      <p:cBhvr>
                                        <p:cTn id="93" dur="500"/>
                                        <p:tgtEl>
                                          <p:spTgt spid="117"/>
                                        </p:tgtEl>
                                      </p:cBhvr>
                                    </p:animEffect>
                                  </p:childTnLst>
                                </p:cTn>
                              </p:par>
                            </p:childTnLst>
                          </p:cTn>
                        </p:par>
                      </p:childTnLst>
                    </p:cTn>
                  </p:par>
                  <p:par>
                    <p:cTn id="94" fill="hold">
                      <p:stCondLst>
                        <p:cond delay="indefinite"/>
                      </p:stCondLst>
                      <p:childTnLst>
                        <p:par>
                          <p:cTn id="95" fill="hold">
                            <p:stCondLst>
                              <p:cond delay="0"/>
                            </p:stCondLst>
                            <p:childTnLst>
                              <p:par>
                                <p:cTn id="96" presetID="0" presetClass="path" presetSubtype="0" accel="50000" decel="50000" fill="hold" grpId="4" nodeType="clickEffect">
                                  <p:stCondLst>
                                    <p:cond delay="0"/>
                                  </p:stCondLst>
                                  <p:childTnLst>
                                    <p:animMotion origin="layout" path="M -3.33333E-6 0.43129 L -3.33333E-6 0.5365 " pathEditMode="relative" rAng="0" ptsTypes="AA">
                                      <p:cBhvr>
                                        <p:cTn id="97" dur="2000" fill="hold"/>
                                        <p:tgtEl>
                                          <p:spTgt spid="98"/>
                                        </p:tgtEl>
                                        <p:attrNameLst>
                                          <p:attrName>ppt_x</p:attrName>
                                          <p:attrName>ppt_y</p:attrName>
                                        </p:attrNameLst>
                                      </p:cBhvr>
                                      <p:rCtr x="0" y="53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98" grpId="0" animBg="1"/>
      <p:bldP spid="98" grpId="1" animBg="1"/>
      <p:bldP spid="98" grpId="2" animBg="1"/>
      <p:bldP spid="98" grpId="3" animBg="1"/>
      <p:bldP spid="98" grpId="4" animBg="1"/>
      <p:bldP spid="99" grpId="0" animBg="1"/>
      <p:bldP spid="99" grpId="1" animBg="1"/>
      <p:bldP spid="99" grpId="2" animBg="1"/>
      <p:bldP spid="99" grpId="3" animBg="1"/>
      <p:bldP spid="99" grpId="4" animBg="1"/>
      <p:bldP spid="108" grpId="0" animBg="1"/>
      <p:bldP spid="110" grpId="0" animBg="1"/>
      <p:bldP spid="113" grpId="0" animBg="1"/>
      <p:bldP spid="114" grpId="0" animBg="1"/>
      <p:bldP spid="115" grpId="0" animBg="1"/>
      <p:bldP spid="112" grpId="0" animBg="1"/>
      <p:bldP spid="116" grpId="0" animBg="1"/>
      <p:bldP spid="11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5.</a:t>
            </a:r>
            <a:r>
              <a:rPr lang="zh-CN" altLang="en-US" dirty="0"/>
              <a:t>管程机制</a:t>
            </a:r>
          </a:p>
        </p:txBody>
      </p:sp>
      <p:sp>
        <p:nvSpPr>
          <p:cNvPr id="8" name="文本框 55"/>
          <p:cNvSpPr txBox="1">
            <a:spLocks noChangeArrowheads="1"/>
          </p:cNvSpPr>
          <p:nvPr/>
        </p:nvSpPr>
        <p:spPr bwMode="auto">
          <a:xfrm>
            <a:off x="840405" y="925938"/>
            <a:ext cx="276260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400" b="1" dirty="0">
                <a:solidFill>
                  <a:srgbClr val="4C7E51"/>
                </a:solidFill>
                <a:latin typeface="微软雅黑" panose="020B0503020204020204" pitchFamily="34" charset="-122"/>
                <a:ea typeface="微软雅黑" panose="020B0503020204020204" pitchFamily="34" charset="-122"/>
              </a:rPr>
              <a:t>管程的提出</a:t>
            </a:r>
          </a:p>
        </p:txBody>
      </p:sp>
      <p:sp>
        <p:nvSpPr>
          <p:cNvPr id="9" name="文本框 19"/>
          <p:cNvSpPr txBox="1">
            <a:spLocks noChangeArrowheads="1"/>
          </p:cNvSpPr>
          <p:nvPr/>
        </p:nvSpPr>
        <p:spPr bwMode="auto">
          <a:xfrm>
            <a:off x="1011521" y="2400207"/>
            <a:ext cx="10362227"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zh-CN" sz="2400" dirty="0"/>
              <a:t>易读性差，因为要了解对于一组共享变量及信号量的操作是否正确，必须通读整个系统或者并发程序。</a:t>
            </a:r>
            <a:endParaRPr lang="en-US" altLang="zh-CN" sz="2400" dirty="0"/>
          </a:p>
          <a:p>
            <a:pPr marL="0" lvl="2" indent="0">
              <a:buBlip>
                <a:blip r:embed="rId2"/>
              </a:buBlip>
            </a:pPr>
            <a:r>
              <a:rPr lang="zh-CN" altLang="zh-CN" sz="2400" dirty="0"/>
              <a:t>不利于修改和维护，程序的局部性很差，所以任一组变量或一段代码都有可能影响全局。</a:t>
            </a:r>
            <a:endParaRPr lang="en-US" altLang="zh-CN" sz="2400" dirty="0"/>
          </a:p>
          <a:p>
            <a:pPr marL="0" lvl="2" indent="0">
              <a:buBlip>
                <a:blip r:embed="rId2"/>
              </a:buBlip>
            </a:pPr>
            <a:r>
              <a:rPr lang="zh-CN" altLang="zh-CN" sz="2400" dirty="0"/>
              <a:t>正确性难以保证，操作系统或并发程序通常很大，要保证这样一个复杂的系统没有逻辑错误是很难。</a:t>
            </a:r>
          </a:p>
          <a:p>
            <a:pPr marL="0" lvl="2" indent="0">
              <a:buBlip>
                <a:blip r:embed="rId2"/>
              </a:buBlip>
            </a:pPr>
            <a:endParaRPr lang="zh-CN" altLang="en-US" sz="2400" dirty="0"/>
          </a:p>
        </p:txBody>
      </p:sp>
      <p:sp>
        <p:nvSpPr>
          <p:cNvPr id="10" name="Rectangle 4"/>
          <p:cNvSpPr>
            <a:spLocks noChangeArrowheads="1"/>
          </p:cNvSpPr>
          <p:nvPr/>
        </p:nvSpPr>
        <p:spPr bwMode="auto">
          <a:xfrm>
            <a:off x="253161" y="1466386"/>
            <a:ext cx="1090499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b="1">
                <a:solidFill>
                  <a:schemeClr val="tx1"/>
                </a:solidFill>
                <a:latin typeface="Times New Roman" pitchFamily="18" charset="0"/>
                <a:ea typeface="宋体" pitchFamily="2" charset="-122"/>
              </a:defRPr>
            </a:lvl1pPr>
            <a:lvl2pPr marL="742950" indent="-285750" eaLnBrk="0" hangingPunct="0">
              <a:defRPr kumimoji="1" sz="2400" b="1">
                <a:solidFill>
                  <a:schemeClr val="tx1"/>
                </a:solidFill>
                <a:latin typeface="Times New Roman" pitchFamily="18" charset="0"/>
                <a:ea typeface="宋体" pitchFamily="2" charset="-122"/>
              </a:defRPr>
            </a:lvl2pPr>
            <a:lvl3pPr marL="1143000" indent="-228600" eaLnBrk="0" hangingPunct="0">
              <a:defRPr kumimoji="1" sz="2400" b="1">
                <a:solidFill>
                  <a:schemeClr val="tx1"/>
                </a:solidFill>
                <a:latin typeface="Times New Roman" pitchFamily="18" charset="0"/>
                <a:ea typeface="宋体" pitchFamily="2" charset="-122"/>
              </a:defRPr>
            </a:lvl3pPr>
            <a:lvl4pPr marL="1600200" indent="-228600" eaLnBrk="0" hangingPunct="0">
              <a:defRPr kumimoji="1" sz="2400" b="1">
                <a:solidFill>
                  <a:schemeClr val="tx1"/>
                </a:solidFill>
                <a:latin typeface="Times New Roman" pitchFamily="18" charset="0"/>
                <a:ea typeface="宋体" pitchFamily="2" charset="-122"/>
              </a:defRPr>
            </a:lvl4pPr>
            <a:lvl5pPr marL="2057400" indent="-228600" eaLnBrk="0" hangingPunct="0">
              <a:defRPr kumimoji="1"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imes New Roman" pitchFamily="18" charset="0"/>
                <a:ea typeface="宋体" pitchFamily="2" charset="-122"/>
              </a:defRPr>
            </a:lvl9pPr>
          </a:lstStyle>
          <a:p>
            <a:pPr marL="609600" indent="-609600" eaLnBrk="1" hangingPunct="1">
              <a:buFontTx/>
              <a:buNone/>
            </a:pPr>
            <a:r>
              <a:rPr kumimoji="0" lang="en-US" altLang="zh-CN" b="0" dirty="0">
                <a:latin typeface="楷体_GB2312" pitchFamily="1" charset="-122"/>
                <a:ea typeface="楷体_GB2312" pitchFamily="1" charset="-122"/>
              </a:rPr>
              <a:t>        </a:t>
            </a:r>
            <a:r>
              <a:rPr kumimoji="0" lang="zh-CN" altLang="zh-CN" b="0" dirty="0">
                <a:latin typeface="楷体_GB2312" pitchFamily="1" charset="-122"/>
                <a:ea typeface="楷体_GB2312" pitchFamily="1" charset="-122"/>
              </a:rPr>
              <a:t>采用PV同步机制来编写并发程序，对于共享变量及信号量变量的操作将被分散于各个进程中。</a:t>
            </a:r>
          </a:p>
        </p:txBody>
      </p:sp>
    </p:spTree>
    <p:extLst>
      <p:ext uri="{BB962C8B-B14F-4D97-AF65-F5344CB8AC3E}">
        <p14:creationId xmlns:p14="http://schemas.microsoft.com/office/powerpoint/2010/main" val="2287790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wipe(left)">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wipe(left)">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wipe(left)">
                                      <p:cBhvr>
                                        <p:cTn id="17"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848833" y="202028"/>
            <a:ext cx="3967716" cy="457196"/>
          </a:xfrm>
        </p:spPr>
        <p:txBody>
          <a:bodyPr/>
          <a:lstStyle/>
          <a:p>
            <a:r>
              <a:rPr lang="en-US" altLang="zh-CN" dirty="0"/>
              <a:t>5.</a:t>
            </a:r>
            <a:r>
              <a:rPr lang="zh-CN" altLang="en-US" dirty="0"/>
              <a:t>管程机制</a:t>
            </a:r>
          </a:p>
        </p:txBody>
      </p:sp>
      <p:grpSp>
        <p:nvGrpSpPr>
          <p:cNvPr id="2" name="组合 3"/>
          <p:cNvGrpSpPr/>
          <p:nvPr/>
        </p:nvGrpSpPr>
        <p:grpSpPr>
          <a:xfrm>
            <a:off x="1004177" y="1027910"/>
            <a:ext cx="5314736" cy="665162"/>
            <a:chOff x="1004177" y="1027910"/>
            <a:chExt cx="5314736" cy="665162"/>
          </a:xfrm>
        </p:grpSpPr>
        <p:sp>
          <p:nvSpPr>
            <p:cNvPr id="5" name="矩形 4"/>
            <p:cNvSpPr/>
            <p:nvPr/>
          </p:nvSpPr>
          <p:spPr>
            <a:xfrm>
              <a:off x="1150228" y="1561310"/>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矩形 5"/>
            <p:cNvSpPr/>
            <p:nvPr/>
          </p:nvSpPr>
          <p:spPr>
            <a:xfrm>
              <a:off x="2058278" y="1561310"/>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7" name="文本框 55"/>
            <p:cNvSpPr txBox="1">
              <a:spLocks noChangeArrowheads="1"/>
            </p:cNvSpPr>
            <p:nvPr/>
          </p:nvSpPr>
          <p:spPr bwMode="auto">
            <a:xfrm>
              <a:off x="1004177" y="1027910"/>
              <a:ext cx="53147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）管程的定义</a:t>
              </a:r>
            </a:p>
          </p:txBody>
        </p:sp>
      </p:grpSp>
      <p:sp>
        <p:nvSpPr>
          <p:cNvPr id="11" name="文本框 19"/>
          <p:cNvSpPr txBox="1">
            <a:spLocks noChangeArrowheads="1"/>
          </p:cNvSpPr>
          <p:nvPr/>
        </p:nvSpPr>
        <p:spPr bwMode="auto">
          <a:xfrm>
            <a:off x="1098020" y="2375492"/>
            <a:ext cx="1036222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zh-CN" sz="2400" dirty="0"/>
              <a:t>定义了一个数据结构和能为并发进程所执行（在该数据结构上）的一组操作，这组操作能同步进程和改变管程中的数据</a:t>
            </a:r>
            <a:r>
              <a:rPr lang="zh-CN" altLang="en-US" sz="2400" dirty="0"/>
              <a:t>。</a:t>
            </a:r>
            <a:endParaRPr lang="zh-CN" altLang="zh-CN" sz="2400" dirty="0"/>
          </a:p>
        </p:txBody>
      </p:sp>
      <p:sp>
        <p:nvSpPr>
          <p:cNvPr id="12" name="文本框 19"/>
          <p:cNvSpPr txBox="1">
            <a:spLocks noChangeArrowheads="1"/>
          </p:cNvSpPr>
          <p:nvPr/>
        </p:nvSpPr>
        <p:spPr bwMode="auto">
          <a:xfrm>
            <a:off x="1122733" y="3242181"/>
            <a:ext cx="1036222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zh-CN" sz="2400" dirty="0"/>
              <a:t>一个管程是一个由过程、变量和数据结构组成的集合，它们组成了一个特殊的模块或软件包。</a:t>
            </a:r>
          </a:p>
        </p:txBody>
      </p:sp>
      <p:sp>
        <p:nvSpPr>
          <p:cNvPr id="18" name="文本框 19"/>
          <p:cNvSpPr txBox="1">
            <a:spLocks noChangeArrowheads="1"/>
          </p:cNvSpPr>
          <p:nvPr/>
        </p:nvSpPr>
        <p:spPr bwMode="auto">
          <a:xfrm>
            <a:off x="1150228" y="4764468"/>
            <a:ext cx="10362227"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en-US" sz="2400" dirty="0"/>
              <a:t>管程的名字</a:t>
            </a:r>
            <a:endParaRPr lang="en-US" altLang="zh-CN" sz="2400" dirty="0"/>
          </a:p>
          <a:p>
            <a:pPr marL="0" lvl="2" indent="0">
              <a:buBlip>
                <a:blip r:embed="rId2"/>
              </a:buBlip>
            </a:pPr>
            <a:r>
              <a:rPr lang="zh-CN" altLang="en-US" sz="2400" dirty="0"/>
              <a:t>局部于管程的共享变量说明；</a:t>
            </a:r>
          </a:p>
          <a:p>
            <a:pPr marL="0" lvl="2" indent="0">
              <a:buBlip>
                <a:blip r:embed="rId2"/>
              </a:buBlip>
            </a:pPr>
            <a:r>
              <a:rPr lang="zh-CN" altLang="en-US" sz="2400" dirty="0"/>
              <a:t>对该数据结构进行操作的一组过程；</a:t>
            </a:r>
          </a:p>
          <a:p>
            <a:pPr marL="0" lvl="2" indent="0">
              <a:buBlip>
                <a:blip r:embed="rId2"/>
              </a:buBlip>
            </a:pPr>
            <a:r>
              <a:rPr lang="zh-CN" altLang="en-US" sz="2400" dirty="0"/>
              <a:t>对局部于管程的数据设置初始值的语句。</a:t>
            </a:r>
          </a:p>
        </p:txBody>
      </p:sp>
      <p:sp>
        <p:nvSpPr>
          <p:cNvPr id="19" name="文本框 54"/>
          <p:cNvSpPr txBox="1">
            <a:spLocks noChangeArrowheads="1"/>
          </p:cNvSpPr>
          <p:nvPr/>
        </p:nvSpPr>
        <p:spPr bwMode="auto">
          <a:xfrm>
            <a:off x="1085662" y="1888378"/>
            <a:ext cx="14670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管程的定义</a:t>
            </a:r>
          </a:p>
        </p:txBody>
      </p:sp>
      <p:sp>
        <p:nvSpPr>
          <p:cNvPr id="20" name="文本框 54"/>
          <p:cNvSpPr txBox="1">
            <a:spLocks noChangeArrowheads="1"/>
          </p:cNvSpPr>
          <p:nvPr/>
        </p:nvSpPr>
        <p:spPr bwMode="auto">
          <a:xfrm>
            <a:off x="1150228" y="4231125"/>
            <a:ext cx="14670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管程的组成</a:t>
            </a:r>
          </a:p>
        </p:txBody>
      </p:sp>
    </p:spTree>
    <p:extLst>
      <p:ext uri="{BB962C8B-B14F-4D97-AF65-F5344CB8AC3E}">
        <p14:creationId xmlns:p14="http://schemas.microsoft.com/office/powerpoint/2010/main" val="3716399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wipe(left)">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xEl>
                                              <p:pRg st="0" end="0"/>
                                            </p:txEl>
                                          </p:spTgt>
                                        </p:tgtEl>
                                        <p:attrNameLst>
                                          <p:attrName>style.visibility</p:attrName>
                                        </p:attrNameLst>
                                      </p:cBhvr>
                                      <p:to>
                                        <p:strVal val="visible"/>
                                      </p:to>
                                    </p:set>
                                    <p:animEffect transition="in" filter="wipe(left)">
                                      <p:cBhvr>
                                        <p:cTn id="12" dur="500"/>
                                        <p:tgtEl>
                                          <p:spTgt spid="1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8">
                                            <p:txEl>
                                              <p:pRg st="0" end="0"/>
                                            </p:txEl>
                                          </p:spTgt>
                                        </p:tgtEl>
                                        <p:attrNameLst>
                                          <p:attrName>style.visibility</p:attrName>
                                        </p:attrNameLst>
                                      </p:cBhvr>
                                      <p:to>
                                        <p:strVal val="visible"/>
                                      </p:to>
                                    </p:set>
                                    <p:animEffect transition="in" filter="wipe(left)">
                                      <p:cBhvr>
                                        <p:cTn id="17" dur="500"/>
                                        <p:tgtEl>
                                          <p:spTgt spid="18">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8">
                                            <p:txEl>
                                              <p:pRg st="1" end="1"/>
                                            </p:txEl>
                                          </p:spTgt>
                                        </p:tgtEl>
                                        <p:attrNameLst>
                                          <p:attrName>style.visibility</p:attrName>
                                        </p:attrNameLst>
                                      </p:cBhvr>
                                      <p:to>
                                        <p:strVal val="visible"/>
                                      </p:to>
                                    </p:set>
                                    <p:animEffect transition="in" filter="wipe(left)">
                                      <p:cBhvr>
                                        <p:cTn id="22" dur="500"/>
                                        <p:tgtEl>
                                          <p:spTgt spid="18">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8">
                                            <p:txEl>
                                              <p:pRg st="2" end="2"/>
                                            </p:txEl>
                                          </p:spTgt>
                                        </p:tgtEl>
                                        <p:attrNameLst>
                                          <p:attrName>style.visibility</p:attrName>
                                        </p:attrNameLst>
                                      </p:cBhvr>
                                      <p:to>
                                        <p:strVal val="visible"/>
                                      </p:to>
                                    </p:set>
                                    <p:animEffect transition="in" filter="wipe(left)">
                                      <p:cBhvr>
                                        <p:cTn id="27" dur="500"/>
                                        <p:tgtEl>
                                          <p:spTgt spid="18">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8">
                                            <p:txEl>
                                              <p:pRg st="3" end="3"/>
                                            </p:txEl>
                                          </p:spTgt>
                                        </p:tgtEl>
                                        <p:attrNameLst>
                                          <p:attrName>style.visibility</p:attrName>
                                        </p:attrNameLst>
                                      </p:cBhvr>
                                      <p:to>
                                        <p:strVal val="visible"/>
                                      </p:to>
                                    </p:set>
                                    <p:animEffect transition="in" filter="wipe(left)">
                                      <p:cBhvr>
                                        <p:cTn id="32" dur="500"/>
                                        <p:tgtEl>
                                          <p:spTgt spid="18">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0" presetClass="entr" presetSubtype="0" decel="100000" fill="hold" grpId="0" nodeType="clickEffect">
                                  <p:stCondLst>
                                    <p:cond delay="0"/>
                                  </p:stCondLst>
                                  <p:iterate type="lt">
                                    <p:tmPct val="5000"/>
                                  </p:iterate>
                                  <p:childTnLst>
                                    <p:set>
                                      <p:cBhvr>
                                        <p:cTn id="36" dur="1" fill="hold">
                                          <p:stCondLst>
                                            <p:cond delay="0"/>
                                          </p:stCondLst>
                                        </p:cTn>
                                        <p:tgtEl>
                                          <p:spTgt spid="19"/>
                                        </p:tgtEl>
                                        <p:attrNameLst>
                                          <p:attrName>style.visibility</p:attrName>
                                        </p:attrNameLst>
                                      </p:cBhvr>
                                      <p:to>
                                        <p:strVal val="visible"/>
                                      </p:to>
                                    </p:set>
                                    <p:anim calcmode="lin" valueType="num">
                                      <p:cBhvr>
                                        <p:cTn id="37" dur="500" fill="hold"/>
                                        <p:tgtEl>
                                          <p:spTgt spid="19"/>
                                        </p:tgtEl>
                                        <p:attrNameLst>
                                          <p:attrName>ppt_w</p:attrName>
                                        </p:attrNameLst>
                                      </p:cBhvr>
                                      <p:tavLst>
                                        <p:tav tm="0">
                                          <p:val>
                                            <p:strVal val="#ppt_w+.3"/>
                                          </p:val>
                                        </p:tav>
                                        <p:tav tm="100000">
                                          <p:val>
                                            <p:strVal val="#ppt_w"/>
                                          </p:val>
                                        </p:tav>
                                      </p:tavLst>
                                    </p:anim>
                                    <p:anim calcmode="lin" valueType="num">
                                      <p:cBhvr>
                                        <p:cTn id="38" dur="500" fill="hold"/>
                                        <p:tgtEl>
                                          <p:spTgt spid="19"/>
                                        </p:tgtEl>
                                        <p:attrNameLst>
                                          <p:attrName>ppt_h</p:attrName>
                                        </p:attrNameLst>
                                      </p:cBhvr>
                                      <p:tavLst>
                                        <p:tav tm="0">
                                          <p:val>
                                            <p:strVal val="#ppt_h"/>
                                          </p:val>
                                        </p:tav>
                                        <p:tav tm="100000">
                                          <p:val>
                                            <p:strVal val="#ppt_h"/>
                                          </p:val>
                                        </p:tav>
                                      </p:tavLst>
                                    </p:anim>
                                    <p:animEffect transition="in" filter="fade">
                                      <p:cBhvr>
                                        <p:cTn id="39" dur="500"/>
                                        <p:tgtEl>
                                          <p:spTgt spid="19"/>
                                        </p:tgtEl>
                                      </p:cBhvr>
                                    </p:animEffect>
                                  </p:childTnLst>
                                </p:cTn>
                              </p:par>
                            </p:childTnLst>
                          </p:cTn>
                        </p:par>
                      </p:childTnLst>
                    </p:cTn>
                  </p:par>
                  <p:par>
                    <p:cTn id="40" fill="hold">
                      <p:stCondLst>
                        <p:cond delay="indefinite"/>
                      </p:stCondLst>
                      <p:childTnLst>
                        <p:par>
                          <p:cTn id="41" fill="hold">
                            <p:stCondLst>
                              <p:cond delay="0"/>
                            </p:stCondLst>
                            <p:childTnLst>
                              <p:par>
                                <p:cTn id="42" presetID="50" presetClass="entr" presetSubtype="0" decel="100000" fill="hold" grpId="0" nodeType="clickEffect">
                                  <p:stCondLst>
                                    <p:cond delay="0"/>
                                  </p:stCondLst>
                                  <p:iterate type="lt">
                                    <p:tmPct val="5000"/>
                                  </p:iterate>
                                  <p:childTnLst>
                                    <p:set>
                                      <p:cBhvr>
                                        <p:cTn id="43" dur="1" fill="hold">
                                          <p:stCondLst>
                                            <p:cond delay="0"/>
                                          </p:stCondLst>
                                        </p:cTn>
                                        <p:tgtEl>
                                          <p:spTgt spid="20"/>
                                        </p:tgtEl>
                                        <p:attrNameLst>
                                          <p:attrName>style.visibility</p:attrName>
                                        </p:attrNameLst>
                                      </p:cBhvr>
                                      <p:to>
                                        <p:strVal val="visible"/>
                                      </p:to>
                                    </p:set>
                                    <p:anim calcmode="lin" valueType="num">
                                      <p:cBhvr>
                                        <p:cTn id="44" dur="500" fill="hold"/>
                                        <p:tgtEl>
                                          <p:spTgt spid="20"/>
                                        </p:tgtEl>
                                        <p:attrNameLst>
                                          <p:attrName>ppt_w</p:attrName>
                                        </p:attrNameLst>
                                      </p:cBhvr>
                                      <p:tavLst>
                                        <p:tav tm="0">
                                          <p:val>
                                            <p:strVal val="#ppt_w+.3"/>
                                          </p:val>
                                        </p:tav>
                                        <p:tav tm="100000">
                                          <p:val>
                                            <p:strVal val="#ppt_w"/>
                                          </p:val>
                                        </p:tav>
                                      </p:tavLst>
                                    </p:anim>
                                    <p:anim calcmode="lin" valueType="num">
                                      <p:cBhvr>
                                        <p:cTn id="45" dur="500" fill="hold"/>
                                        <p:tgtEl>
                                          <p:spTgt spid="20"/>
                                        </p:tgtEl>
                                        <p:attrNameLst>
                                          <p:attrName>ppt_h</p:attrName>
                                        </p:attrNameLst>
                                      </p:cBhvr>
                                      <p:tavLst>
                                        <p:tav tm="0">
                                          <p:val>
                                            <p:strVal val="#ppt_h"/>
                                          </p:val>
                                        </p:tav>
                                        <p:tav tm="100000">
                                          <p:val>
                                            <p:strVal val="#ppt_h"/>
                                          </p:val>
                                        </p:tav>
                                      </p:tavLst>
                                    </p:anim>
                                    <p:animEffect transition="in" filter="fade">
                                      <p:cBhvr>
                                        <p:cTn id="4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848833" y="202028"/>
            <a:ext cx="3967716" cy="457196"/>
          </a:xfrm>
        </p:spPr>
        <p:txBody>
          <a:bodyPr/>
          <a:lstStyle/>
          <a:p>
            <a:r>
              <a:rPr lang="en-US" altLang="zh-CN" dirty="0"/>
              <a:t>5.</a:t>
            </a:r>
            <a:r>
              <a:rPr lang="zh-CN" altLang="en-US" dirty="0"/>
              <a:t>管程机制</a:t>
            </a:r>
          </a:p>
        </p:txBody>
      </p:sp>
      <p:grpSp>
        <p:nvGrpSpPr>
          <p:cNvPr id="2" name="组合 3"/>
          <p:cNvGrpSpPr/>
          <p:nvPr/>
        </p:nvGrpSpPr>
        <p:grpSpPr>
          <a:xfrm>
            <a:off x="1004177" y="1027910"/>
            <a:ext cx="5314736" cy="665162"/>
            <a:chOff x="1004177" y="1027910"/>
            <a:chExt cx="5314736" cy="665162"/>
          </a:xfrm>
        </p:grpSpPr>
        <p:sp>
          <p:nvSpPr>
            <p:cNvPr id="5" name="矩形 4"/>
            <p:cNvSpPr/>
            <p:nvPr/>
          </p:nvSpPr>
          <p:spPr>
            <a:xfrm>
              <a:off x="1150228" y="1561310"/>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矩形 5"/>
            <p:cNvSpPr/>
            <p:nvPr/>
          </p:nvSpPr>
          <p:spPr>
            <a:xfrm>
              <a:off x="2058278" y="1561310"/>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7" name="文本框 55"/>
            <p:cNvSpPr txBox="1">
              <a:spLocks noChangeArrowheads="1"/>
            </p:cNvSpPr>
            <p:nvPr/>
          </p:nvSpPr>
          <p:spPr bwMode="auto">
            <a:xfrm>
              <a:off x="1004177" y="1027910"/>
              <a:ext cx="53147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）管程的定义</a:t>
              </a:r>
            </a:p>
          </p:txBody>
        </p:sp>
      </p:grpSp>
      <p:sp>
        <p:nvSpPr>
          <p:cNvPr id="18" name="文本框 19"/>
          <p:cNvSpPr txBox="1">
            <a:spLocks noChangeArrowheads="1"/>
          </p:cNvSpPr>
          <p:nvPr/>
        </p:nvSpPr>
        <p:spPr bwMode="auto">
          <a:xfrm>
            <a:off x="1150228" y="5255899"/>
            <a:ext cx="676339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zh-CN" sz="2400" dirty="0">
                <a:latin typeface="黑体" panose="02010609060101010101" pitchFamily="49" charset="-122"/>
                <a:ea typeface="黑体" panose="02010609060101010101" pitchFamily="49" charset="-122"/>
              </a:rPr>
              <a:t>局部变量只能被管程的过程访问</a:t>
            </a:r>
            <a:endParaRPr lang="en-US" altLang="zh-CN" sz="2400" dirty="0">
              <a:latin typeface="黑体" panose="02010609060101010101" pitchFamily="49" charset="-122"/>
              <a:ea typeface="黑体" panose="02010609060101010101" pitchFamily="49" charset="-122"/>
            </a:endParaRPr>
          </a:p>
          <a:p>
            <a:pPr marL="0" lvl="2" indent="0">
              <a:buBlip>
                <a:blip r:embed="rId2"/>
              </a:buBlip>
            </a:pPr>
            <a:r>
              <a:rPr lang="zh-CN" altLang="zh-CN" sz="2400" dirty="0">
                <a:latin typeface="黑体" panose="02010609060101010101" pitchFamily="49" charset="-122"/>
                <a:ea typeface="黑体" panose="02010609060101010101" pitchFamily="49" charset="-122"/>
              </a:rPr>
              <a:t>进程通过调用管程的过程进入管程</a:t>
            </a:r>
          </a:p>
          <a:p>
            <a:pPr marL="0" lvl="2" indent="0">
              <a:buBlip>
                <a:blip r:embed="rId2"/>
              </a:buBlip>
            </a:pPr>
            <a:r>
              <a:rPr lang="zh-CN" altLang="zh-CN" sz="2400" dirty="0">
                <a:latin typeface="黑体" panose="02010609060101010101" pitchFamily="49" charset="-122"/>
                <a:ea typeface="黑体" panose="02010609060101010101" pitchFamily="49" charset="-122"/>
              </a:rPr>
              <a:t>只有一个进程在管程中执行</a:t>
            </a:r>
            <a:endParaRPr lang="zh-CN" altLang="en-US" sz="2400" dirty="0">
              <a:latin typeface="黑体" panose="02010609060101010101" pitchFamily="49" charset="-122"/>
              <a:ea typeface="黑体" panose="02010609060101010101" pitchFamily="49" charset="-122"/>
            </a:endParaRPr>
          </a:p>
        </p:txBody>
      </p:sp>
      <p:grpSp>
        <p:nvGrpSpPr>
          <p:cNvPr id="19" name="组合 18"/>
          <p:cNvGrpSpPr/>
          <p:nvPr/>
        </p:nvGrpSpPr>
        <p:grpSpPr>
          <a:xfrm>
            <a:off x="4296509" y="1007749"/>
            <a:ext cx="4322762" cy="4248150"/>
            <a:chOff x="395288" y="1773238"/>
            <a:chExt cx="4322762" cy="4248150"/>
          </a:xfrm>
        </p:grpSpPr>
        <p:sp>
          <p:nvSpPr>
            <p:cNvPr id="20" name="Text Box 4"/>
            <p:cNvSpPr txBox="1">
              <a:spLocks noChangeArrowheads="1"/>
            </p:cNvSpPr>
            <p:nvPr/>
          </p:nvSpPr>
          <p:spPr bwMode="auto">
            <a:xfrm>
              <a:off x="1619250" y="2133600"/>
              <a:ext cx="1584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zh-CN" sz="2400" b="0">
                  <a:latin typeface="Times New Roman" panose="02020603050405020304" pitchFamily="18" charset="0"/>
                  <a:ea typeface="黑体" panose="02010609060101010101" pitchFamily="49" charset="-122"/>
                </a:rPr>
                <a:t>共享数据</a:t>
              </a:r>
            </a:p>
          </p:txBody>
        </p:sp>
        <p:sp>
          <p:nvSpPr>
            <p:cNvPr id="21" name="Rectangle 5"/>
            <p:cNvSpPr>
              <a:spLocks noChangeArrowheads="1"/>
            </p:cNvSpPr>
            <p:nvPr/>
          </p:nvSpPr>
          <p:spPr bwMode="auto">
            <a:xfrm>
              <a:off x="1042988" y="2781300"/>
              <a:ext cx="288925" cy="2159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2400">
                <a:latin typeface="Times New Roman" panose="02020603050405020304" pitchFamily="18" charset="0"/>
                <a:ea typeface="黑体" panose="02010609060101010101" pitchFamily="49" charset="-122"/>
              </a:endParaRPr>
            </a:p>
          </p:txBody>
        </p:sp>
        <p:sp>
          <p:nvSpPr>
            <p:cNvPr id="22" name="Rectangle 6"/>
            <p:cNvSpPr>
              <a:spLocks noChangeArrowheads="1"/>
            </p:cNvSpPr>
            <p:nvPr/>
          </p:nvSpPr>
          <p:spPr bwMode="auto">
            <a:xfrm>
              <a:off x="1619250" y="2781300"/>
              <a:ext cx="288925" cy="2159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2400">
                <a:latin typeface="Times New Roman" panose="02020603050405020304" pitchFamily="18" charset="0"/>
                <a:ea typeface="黑体" panose="02010609060101010101" pitchFamily="49" charset="-122"/>
              </a:endParaRPr>
            </a:p>
          </p:txBody>
        </p:sp>
        <p:sp>
          <p:nvSpPr>
            <p:cNvPr id="23" name="Rectangle 7"/>
            <p:cNvSpPr>
              <a:spLocks noChangeArrowheads="1"/>
            </p:cNvSpPr>
            <p:nvPr/>
          </p:nvSpPr>
          <p:spPr bwMode="auto">
            <a:xfrm>
              <a:off x="2195513" y="2781300"/>
              <a:ext cx="288925" cy="2159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2400">
                <a:latin typeface="Times New Roman" panose="02020603050405020304" pitchFamily="18" charset="0"/>
                <a:ea typeface="黑体" panose="02010609060101010101" pitchFamily="49" charset="-122"/>
              </a:endParaRPr>
            </a:p>
          </p:txBody>
        </p:sp>
        <p:sp>
          <p:nvSpPr>
            <p:cNvPr id="24" name="Rectangle 8"/>
            <p:cNvSpPr>
              <a:spLocks noChangeArrowheads="1"/>
            </p:cNvSpPr>
            <p:nvPr/>
          </p:nvSpPr>
          <p:spPr bwMode="auto">
            <a:xfrm>
              <a:off x="971550" y="3500438"/>
              <a:ext cx="503238" cy="9366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2400">
                <a:latin typeface="Times New Roman" panose="02020603050405020304" pitchFamily="18" charset="0"/>
                <a:ea typeface="黑体" panose="02010609060101010101" pitchFamily="49" charset="-122"/>
              </a:endParaRPr>
            </a:p>
          </p:txBody>
        </p:sp>
        <p:sp>
          <p:nvSpPr>
            <p:cNvPr id="25" name="Rectangle 9"/>
            <p:cNvSpPr>
              <a:spLocks noChangeArrowheads="1"/>
            </p:cNvSpPr>
            <p:nvPr/>
          </p:nvSpPr>
          <p:spPr bwMode="auto">
            <a:xfrm>
              <a:off x="1619250" y="3500438"/>
              <a:ext cx="503238" cy="9366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2400">
                <a:latin typeface="Times New Roman" panose="02020603050405020304" pitchFamily="18" charset="0"/>
                <a:ea typeface="黑体" panose="02010609060101010101" pitchFamily="49" charset="-122"/>
              </a:endParaRPr>
            </a:p>
          </p:txBody>
        </p:sp>
        <p:sp>
          <p:nvSpPr>
            <p:cNvPr id="26" name="Rectangle 10"/>
            <p:cNvSpPr>
              <a:spLocks noChangeArrowheads="1"/>
            </p:cNvSpPr>
            <p:nvPr/>
          </p:nvSpPr>
          <p:spPr bwMode="auto">
            <a:xfrm>
              <a:off x="2771775" y="3500438"/>
              <a:ext cx="503238" cy="9366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2400">
                <a:latin typeface="Times New Roman" panose="02020603050405020304" pitchFamily="18" charset="0"/>
                <a:ea typeface="黑体" panose="02010609060101010101" pitchFamily="49" charset="-122"/>
              </a:endParaRPr>
            </a:p>
          </p:txBody>
        </p:sp>
        <p:sp>
          <p:nvSpPr>
            <p:cNvPr id="27" name="Text Box 11"/>
            <p:cNvSpPr txBox="1">
              <a:spLocks noChangeArrowheads="1"/>
            </p:cNvSpPr>
            <p:nvPr/>
          </p:nvSpPr>
          <p:spPr bwMode="auto">
            <a:xfrm>
              <a:off x="2195513" y="3644900"/>
              <a:ext cx="1584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zh-CN" sz="2400" b="0">
                  <a:latin typeface="Times New Roman" panose="02020603050405020304" pitchFamily="18" charset="0"/>
                  <a:ea typeface="黑体" panose="02010609060101010101" pitchFamily="49" charset="-122"/>
                </a:rPr>
                <a:t>…</a:t>
              </a:r>
            </a:p>
          </p:txBody>
        </p:sp>
        <p:sp>
          <p:nvSpPr>
            <p:cNvPr id="28" name="Line 12"/>
            <p:cNvSpPr>
              <a:spLocks noChangeShapeType="1"/>
            </p:cNvSpPr>
            <p:nvPr/>
          </p:nvSpPr>
          <p:spPr bwMode="auto">
            <a:xfrm>
              <a:off x="1331913" y="2852738"/>
              <a:ext cx="2873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Line 13"/>
            <p:cNvSpPr>
              <a:spLocks noChangeShapeType="1"/>
            </p:cNvSpPr>
            <p:nvPr/>
          </p:nvSpPr>
          <p:spPr bwMode="auto">
            <a:xfrm>
              <a:off x="1906588" y="2852738"/>
              <a:ext cx="2873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Text Box 14"/>
            <p:cNvSpPr txBox="1">
              <a:spLocks noChangeArrowheads="1"/>
            </p:cNvSpPr>
            <p:nvPr/>
          </p:nvSpPr>
          <p:spPr bwMode="auto">
            <a:xfrm>
              <a:off x="971550" y="4652963"/>
              <a:ext cx="21605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zh-CN" sz="2400" b="0" dirty="0">
                  <a:latin typeface="Times New Roman" panose="02020603050405020304" pitchFamily="18" charset="0"/>
                  <a:ea typeface="黑体" panose="02010609060101010101" pitchFamily="49" charset="-122"/>
                </a:rPr>
                <a:t>一组操作进程</a:t>
              </a:r>
            </a:p>
          </p:txBody>
        </p:sp>
        <p:sp>
          <p:nvSpPr>
            <p:cNvPr id="31" name="Text Box 15"/>
            <p:cNvSpPr txBox="1">
              <a:spLocks noChangeArrowheads="1"/>
            </p:cNvSpPr>
            <p:nvPr/>
          </p:nvSpPr>
          <p:spPr bwMode="auto">
            <a:xfrm>
              <a:off x="898525" y="5229225"/>
              <a:ext cx="21605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en-US" altLang="zh-CN" sz="2400" b="0" dirty="0">
                  <a:latin typeface="Times New Roman" panose="02020603050405020304" pitchFamily="18" charset="0"/>
                  <a:ea typeface="黑体" panose="02010609060101010101" pitchFamily="49" charset="-122"/>
                </a:rPr>
                <a:t>   </a:t>
              </a:r>
              <a:r>
                <a:rPr lang="zh-CN" altLang="zh-CN" sz="2400" b="0" dirty="0">
                  <a:latin typeface="Times New Roman" panose="02020603050405020304" pitchFamily="18" charset="0"/>
                  <a:ea typeface="黑体" panose="02010609060101010101" pitchFamily="49" charset="-122"/>
                </a:rPr>
                <a:t>初识化代码</a:t>
              </a:r>
            </a:p>
          </p:txBody>
        </p:sp>
        <p:sp>
          <p:nvSpPr>
            <p:cNvPr id="32" name="Oval 16"/>
            <p:cNvSpPr>
              <a:spLocks noChangeArrowheads="1"/>
            </p:cNvSpPr>
            <p:nvPr/>
          </p:nvSpPr>
          <p:spPr bwMode="auto">
            <a:xfrm>
              <a:off x="395288" y="1773238"/>
              <a:ext cx="3311525" cy="424815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2400">
                <a:latin typeface="Times New Roman" panose="02020603050405020304" pitchFamily="18" charset="0"/>
                <a:ea typeface="黑体" panose="02010609060101010101" pitchFamily="49" charset="-122"/>
              </a:endParaRPr>
            </a:p>
          </p:txBody>
        </p:sp>
        <p:sp>
          <p:nvSpPr>
            <p:cNvPr id="33" name="Line 17"/>
            <p:cNvSpPr>
              <a:spLocks noChangeShapeType="1"/>
            </p:cNvSpPr>
            <p:nvPr/>
          </p:nvSpPr>
          <p:spPr bwMode="auto">
            <a:xfrm>
              <a:off x="539750" y="3213100"/>
              <a:ext cx="29511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Line 18"/>
            <p:cNvSpPr>
              <a:spLocks noChangeShapeType="1"/>
            </p:cNvSpPr>
            <p:nvPr/>
          </p:nvSpPr>
          <p:spPr bwMode="auto">
            <a:xfrm>
              <a:off x="783690" y="5229224"/>
              <a:ext cx="2491323" cy="1965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AutoShape 19"/>
            <p:cNvSpPr>
              <a:spLocks/>
            </p:cNvSpPr>
            <p:nvPr/>
          </p:nvSpPr>
          <p:spPr bwMode="auto">
            <a:xfrm rot="5400000">
              <a:off x="1871663" y="3681413"/>
              <a:ext cx="288925" cy="1800225"/>
            </a:xfrm>
            <a:prstGeom prst="rightBrace">
              <a:avLst>
                <a:gd name="adj1" fmla="val 5192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endParaRPr lang="zh-CN" altLang="en-US" sz="2400">
                <a:latin typeface="Times New Roman" panose="02020603050405020304" pitchFamily="18" charset="0"/>
                <a:ea typeface="黑体" panose="02010609060101010101" pitchFamily="49" charset="-122"/>
              </a:endParaRPr>
            </a:p>
          </p:txBody>
        </p:sp>
        <p:sp>
          <p:nvSpPr>
            <p:cNvPr id="36" name="Text Box 20"/>
            <p:cNvSpPr txBox="1">
              <a:spLocks noChangeArrowheads="1"/>
            </p:cNvSpPr>
            <p:nvPr/>
          </p:nvSpPr>
          <p:spPr bwMode="auto">
            <a:xfrm>
              <a:off x="3276600" y="1844675"/>
              <a:ext cx="1441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None/>
              </a:pPr>
              <a:r>
                <a:rPr lang="zh-CN" altLang="zh-CN" sz="2400" b="0">
                  <a:latin typeface="Times New Roman" panose="02020603050405020304" pitchFamily="18" charset="0"/>
                  <a:ea typeface="黑体" panose="02010609060101010101" pitchFamily="49" charset="-122"/>
                </a:rPr>
                <a:t>进入队列</a:t>
              </a:r>
            </a:p>
          </p:txBody>
        </p:sp>
        <p:sp>
          <p:nvSpPr>
            <p:cNvPr id="37" name="Line 21"/>
            <p:cNvSpPr>
              <a:spLocks noChangeShapeType="1"/>
            </p:cNvSpPr>
            <p:nvPr/>
          </p:nvSpPr>
          <p:spPr bwMode="auto">
            <a:xfrm flipH="1">
              <a:off x="3419475" y="2492375"/>
              <a:ext cx="360363"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8" name="Text Box 2"/>
          <p:cNvSpPr txBox="1">
            <a:spLocks noChangeArrowheads="1"/>
          </p:cNvSpPr>
          <p:nvPr/>
        </p:nvSpPr>
        <p:spPr bwMode="auto">
          <a:xfrm>
            <a:off x="7780536" y="1931853"/>
            <a:ext cx="4095750" cy="4524375"/>
          </a:xfrm>
          <a:prstGeom prst="rect">
            <a:avLst/>
          </a:prstGeom>
          <a:solidFill>
            <a:srgbClr val="CCECFF"/>
          </a:solidFill>
          <a:ln w="19050">
            <a:solidFill>
              <a:srgbClr val="66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Bef>
                <a:spcPct val="0"/>
              </a:spcBef>
              <a:buFontTx/>
              <a:buNone/>
            </a:pPr>
            <a:r>
              <a:rPr lang="zh-CN" altLang="zh-CN" sz="2400" b="0" dirty="0">
                <a:latin typeface="Times New Roman" panose="02020603050405020304" pitchFamily="18" charset="0"/>
                <a:ea typeface="黑体" panose="02010609060101010101" pitchFamily="49" charset="-122"/>
              </a:rPr>
              <a:t> monitor monitor-name</a:t>
            </a:r>
            <a:r>
              <a:rPr lang="en-US" altLang="zh-CN" sz="2400" b="0" dirty="0">
                <a:latin typeface="Times New Roman" panose="02020603050405020304" pitchFamily="18" charset="0"/>
                <a:ea typeface="黑体" panose="02010609060101010101" pitchFamily="49" charset="-122"/>
              </a:rPr>
              <a:t>{</a:t>
            </a:r>
            <a:endParaRPr lang="zh-CN" altLang="zh-CN" sz="2400" b="0" dirty="0">
              <a:latin typeface="Times New Roman" panose="02020603050405020304" pitchFamily="18" charset="0"/>
              <a:ea typeface="黑体" panose="02010609060101010101" pitchFamily="49" charset="-122"/>
            </a:endParaRPr>
          </a:p>
          <a:p>
            <a:pPr lvl="1" eaLnBrk="1" hangingPunct="1">
              <a:lnSpc>
                <a:spcPct val="120000"/>
              </a:lnSpc>
              <a:spcBef>
                <a:spcPct val="0"/>
              </a:spcBef>
              <a:buFontTx/>
              <a:buNone/>
            </a:pPr>
            <a:r>
              <a:rPr lang="zh-CN" altLang="zh-CN" sz="2000" b="0" dirty="0">
                <a:solidFill>
                  <a:schemeClr val="folHlink"/>
                </a:solidFill>
                <a:latin typeface="Times New Roman" panose="02020603050405020304" pitchFamily="18" charset="0"/>
                <a:ea typeface="黑体" panose="02010609060101010101" pitchFamily="49" charset="-122"/>
              </a:rPr>
              <a:t>  </a:t>
            </a:r>
            <a:r>
              <a:rPr lang="zh-CN" altLang="zh-CN" sz="2400" b="0" dirty="0">
                <a:solidFill>
                  <a:srgbClr val="C00000"/>
                </a:solidFill>
                <a:latin typeface="Times New Roman" panose="02020603050405020304" pitchFamily="18" charset="0"/>
                <a:ea typeface="黑体" panose="02010609060101010101" pitchFamily="49" charset="-122"/>
              </a:rPr>
              <a:t>variable declarations</a:t>
            </a:r>
            <a:r>
              <a:rPr lang="en-US" altLang="zh-CN" sz="2400" b="0" dirty="0">
                <a:solidFill>
                  <a:srgbClr val="C00000"/>
                </a:solidFill>
                <a:latin typeface="Times New Roman" panose="02020603050405020304" pitchFamily="18" charset="0"/>
                <a:ea typeface="黑体" panose="02010609060101010101" pitchFamily="49" charset="-122"/>
              </a:rPr>
              <a:t>;</a:t>
            </a:r>
          </a:p>
          <a:p>
            <a:pPr lvl="1" eaLnBrk="1" hangingPunct="1">
              <a:lnSpc>
                <a:spcPct val="120000"/>
              </a:lnSpc>
              <a:spcBef>
                <a:spcPct val="0"/>
              </a:spcBef>
              <a:buFontTx/>
              <a:buNone/>
            </a:pPr>
            <a:r>
              <a:rPr lang="en-US" altLang="zh-CN" sz="2400" b="0" dirty="0">
                <a:solidFill>
                  <a:srgbClr val="C00000"/>
                </a:solidFill>
                <a:latin typeface="Times New Roman" panose="02020603050405020304" pitchFamily="18" charset="0"/>
                <a:ea typeface="黑体" panose="02010609060101010101" pitchFamily="49" charset="-122"/>
              </a:rPr>
              <a:t>  condition declarations;</a:t>
            </a:r>
          </a:p>
          <a:p>
            <a:pPr lvl="1" eaLnBrk="1" hangingPunct="1">
              <a:lnSpc>
                <a:spcPct val="120000"/>
              </a:lnSpc>
              <a:spcBef>
                <a:spcPct val="0"/>
              </a:spcBef>
              <a:buFontTx/>
              <a:buNone/>
            </a:pPr>
            <a:r>
              <a:rPr lang="en-US" altLang="zh-CN" sz="2400" b="0" dirty="0">
                <a:latin typeface="Times New Roman" panose="02020603050405020304" pitchFamily="18" charset="0"/>
                <a:ea typeface="黑体" panose="02010609060101010101" pitchFamily="49" charset="-122"/>
              </a:rPr>
              <a:t>  public:</a:t>
            </a:r>
            <a:endParaRPr lang="zh-CN" altLang="zh-CN" sz="2400" b="0" dirty="0">
              <a:latin typeface="Times New Roman" panose="02020603050405020304" pitchFamily="18" charset="0"/>
              <a:ea typeface="黑体" panose="02010609060101010101" pitchFamily="49" charset="-122"/>
            </a:endParaRPr>
          </a:p>
          <a:p>
            <a:pPr lvl="1" eaLnBrk="1" hangingPunct="1">
              <a:lnSpc>
                <a:spcPct val="120000"/>
              </a:lnSpc>
              <a:spcBef>
                <a:spcPct val="0"/>
              </a:spcBef>
              <a:buFontTx/>
              <a:buNone/>
            </a:pPr>
            <a:r>
              <a:rPr lang="zh-CN" altLang="zh-CN" sz="2400" b="0" dirty="0">
                <a:latin typeface="Times New Roman" panose="02020603050405020304" pitchFamily="18" charset="0"/>
                <a:ea typeface="黑体" panose="02010609060101010101" pitchFamily="49" charset="-122"/>
              </a:rPr>
              <a:t>  </a:t>
            </a:r>
            <a:r>
              <a:rPr lang="en-US" altLang="zh-CN" sz="2400" b="0" dirty="0">
                <a:latin typeface="Times New Roman" panose="02020603050405020304" pitchFamily="18" charset="0"/>
                <a:ea typeface="黑体" panose="02010609060101010101" pitchFamily="49" charset="-122"/>
              </a:rPr>
              <a:t>void </a:t>
            </a:r>
            <a:r>
              <a:rPr lang="zh-CN" altLang="zh-CN" sz="2400" b="0" dirty="0">
                <a:latin typeface="Times New Roman" panose="02020603050405020304" pitchFamily="18" charset="0"/>
                <a:ea typeface="黑体" panose="02010609060101010101" pitchFamily="49" charset="-122"/>
              </a:rPr>
              <a:t>P1(…)</a:t>
            </a:r>
            <a:r>
              <a:rPr lang="en-US" altLang="zh-CN" sz="2400" b="0" dirty="0">
                <a:latin typeface="Times New Roman" panose="02020603050405020304" pitchFamily="18" charset="0"/>
                <a:ea typeface="黑体" panose="02010609060101010101" pitchFamily="49" charset="-122"/>
              </a:rPr>
              <a:t>{</a:t>
            </a:r>
            <a:r>
              <a:rPr lang="zh-CN" altLang="zh-CN" sz="2400" b="0" dirty="0">
                <a:latin typeface="Times New Roman" panose="02020603050405020304" pitchFamily="18" charset="0"/>
                <a:ea typeface="黑体" panose="02010609060101010101" pitchFamily="49" charset="-122"/>
              </a:rPr>
              <a:t> … ;</a:t>
            </a:r>
            <a:r>
              <a:rPr lang="en-US" altLang="zh-CN" sz="2400" b="0" dirty="0">
                <a:latin typeface="Times New Roman" panose="02020603050405020304" pitchFamily="18" charset="0"/>
                <a:ea typeface="黑体" panose="02010609060101010101" pitchFamily="49" charset="-122"/>
              </a:rPr>
              <a:t>}</a:t>
            </a:r>
            <a:endParaRPr lang="zh-CN" altLang="zh-CN" sz="2400" b="0" dirty="0">
              <a:latin typeface="Times New Roman" panose="02020603050405020304" pitchFamily="18" charset="0"/>
              <a:ea typeface="黑体" panose="02010609060101010101" pitchFamily="49" charset="-122"/>
            </a:endParaRPr>
          </a:p>
          <a:p>
            <a:pPr lvl="1" eaLnBrk="1" hangingPunct="1">
              <a:lnSpc>
                <a:spcPct val="120000"/>
              </a:lnSpc>
              <a:spcBef>
                <a:spcPct val="0"/>
              </a:spcBef>
              <a:buFontTx/>
              <a:buNone/>
            </a:pPr>
            <a:r>
              <a:rPr lang="zh-CN" altLang="zh-CN" sz="2400" b="0" dirty="0">
                <a:latin typeface="Times New Roman" panose="02020603050405020304" pitchFamily="18" charset="0"/>
                <a:ea typeface="黑体" panose="02010609060101010101" pitchFamily="49" charset="-122"/>
              </a:rPr>
              <a:t>  </a:t>
            </a:r>
            <a:r>
              <a:rPr lang="en-US" altLang="zh-CN" sz="2400" b="0" dirty="0">
                <a:latin typeface="Times New Roman" panose="02020603050405020304" pitchFamily="18" charset="0"/>
                <a:ea typeface="黑体" panose="02010609060101010101" pitchFamily="49" charset="-122"/>
              </a:rPr>
              <a:t>void </a:t>
            </a:r>
            <a:r>
              <a:rPr lang="zh-CN" altLang="zh-CN" sz="2400" b="0" dirty="0">
                <a:latin typeface="Times New Roman" panose="02020603050405020304" pitchFamily="18" charset="0"/>
                <a:ea typeface="黑体" panose="02010609060101010101" pitchFamily="49" charset="-122"/>
              </a:rPr>
              <a:t>P2(…)</a:t>
            </a:r>
            <a:r>
              <a:rPr lang="en-US" altLang="zh-CN" sz="2400" b="0" dirty="0">
                <a:latin typeface="Times New Roman" panose="02020603050405020304" pitchFamily="18" charset="0"/>
                <a:ea typeface="黑体" panose="02010609060101010101" pitchFamily="49" charset="-122"/>
              </a:rPr>
              <a:t> {</a:t>
            </a:r>
            <a:r>
              <a:rPr lang="zh-CN" altLang="zh-CN" sz="2400" b="0" dirty="0">
                <a:latin typeface="Times New Roman" panose="02020603050405020304" pitchFamily="18" charset="0"/>
                <a:ea typeface="黑体" panose="02010609060101010101" pitchFamily="49" charset="-122"/>
              </a:rPr>
              <a:t> … ;</a:t>
            </a:r>
            <a:r>
              <a:rPr lang="en-US" altLang="zh-CN" sz="2400" b="0" dirty="0">
                <a:latin typeface="Times New Roman" panose="02020603050405020304" pitchFamily="18" charset="0"/>
                <a:ea typeface="黑体" panose="02010609060101010101" pitchFamily="49" charset="-122"/>
              </a:rPr>
              <a:t>}</a:t>
            </a:r>
            <a:endParaRPr lang="zh-CN" altLang="zh-CN" sz="2400" b="0" dirty="0">
              <a:latin typeface="Times New Roman" panose="02020603050405020304" pitchFamily="18" charset="0"/>
              <a:ea typeface="黑体" panose="02010609060101010101" pitchFamily="49" charset="-122"/>
            </a:endParaRPr>
          </a:p>
          <a:p>
            <a:pPr lvl="1" eaLnBrk="1" hangingPunct="1">
              <a:lnSpc>
                <a:spcPct val="120000"/>
              </a:lnSpc>
              <a:spcBef>
                <a:spcPct val="0"/>
              </a:spcBef>
              <a:buFontTx/>
              <a:buNone/>
            </a:pPr>
            <a:r>
              <a:rPr lang="zh-CN" altLang="zh-CN" sz="2400" b="0" dirty="0">
                <a:latin typeface="Times New Roman" panose="02020603050405020304" pitchFamily="18" charset="0"/>
                <a:ea typeface="黑体" panose="02010609060101010101" pitchFamily="49" charset="-122"/>
              </a:rPr>
              <a:t>        …</a:t>
            </a:r>
          </a:p>
          <a:p>
            <a:pPr lvl="1" eaLnBrk="1" hangingPunct="1">
              <a:lnSpc>
                <a:spcPct val="120000"/>
              </a:lnSpc>
              <a:spcBef>
                <a:spcPct val="0"/>
              </a:spcBef>
              <a:buFontTx/>
              <a:buNone/>
            </a:pPr>
            <a:r>
              <a:rPr lang="zh-CN" altLang="zh-CN" sz="2400" b="0" dirty="0">
                <a:latin typeface="Times New Roman" panose="02020603050405020304" pitchFamily="18" charset="0"/>
                <a:ea typeface="黑体" panose="02010609060101010101" pitchFamily="49" charset="-122"/>
              </a:rPr>
              <a:t>  </a:t>
            </a:r>
            <a:r>
              <a:rPr lang="en-US" altLang="zh-CN" sz="2400" b="0" dirty="0">
                <a:latin typeface="Times New Roman" panose="02020603050405020304" pitchFamily="18" charset="0"/>
                <a:ea typeface="黑体" panose="02010609060101010101" pitchFamily="49" charset="-122"/>
              </a:rPr>
              <a:t>void </a:t>
            </a:r>
            <a:r>
              <a:rPr lang="zh-CN" altLang="zh-CN" sz="2400" b="0" dirty="0">
                <a:latin typeface="Times New Roman" panose="02020603050405020304" pitchFamily="18" charset="0"/>
                <a:ea typeface="黑体" panose="02010609060101010101" pitchFamily="49" charset="-122"/>
              </a:rPr>
              <a:t>Pn(…)</a:t>
            </a:r>
            <a:r>
              <a:rPr lang="en-US" altLang="zh-CN" sz="2400" b="0" dirty="0">
                <a:latin typeface="Times New Roman" panose="02020603050405020304" pitchFamily="18" charset="0"/>
                <a:ea typeface="黑体" panose="02010609060101010101" pitchFamily="49" charset="-122"/>
              </a:rPr>
              <a:t> {</a:t>
            </a:r>
            <a:r>
              <a:rPr lang="zh-CN" altLang="zh-CN" sz="2400" b="0" dirty="0">
                <a:latin typeface="Times New Roman" panose="02020603050405020304" pitchFamily="18" charset="0"/>
                <a:ea typeface="黑体" panose="02010609060101010101" pitchFamily="49" charset="-122"/>
              </a:rPr>
              <a:t> … ;</a:t>
            </a:r>
            <a:r>
              <a:rPr lang="en-US" altLang="zh-CN" sz="2400" b="0" dirty="0">
                <a:latin typeface="Times New Roman" panose="02020603050405020304" pitchFamily="18" charset="0"/>
                <a:ea typeface="黑体" panose="02010609060101010101" pitchFamily="49" charset="-122"/>
              </a:rPr>
              <a:t>}</a:t>
            </a:r>
            <a:endParaRPr lang="zh-CN" altLang="zh-CN" sz="2400" b="0" dirty="0">
              <a:latin typeface="Times New Roman" panose="02020603050405020304" pitchFamily="18" charset="0"/>
              <a:ea typeface="黑体" panose="02010609060101010101" pitchFamily="49" charset="-122"/>
            </a:endParaRPr>
          </a:p>
          <a:p>
            <a:pPr lvl="1" eaLnBrk="1" hangingPunct="1">
              <a:lnSpc>
                <a:spcPct val="120000"/>
              </a:lnSpc>
              <a:spcBef>
                <a:spcPct val="0"/>
              </a:spcBef>
              <a:buFontTx/>
              <a:buNone/>
            </a:pPr>
            <a:r>
              <a:rPr lang="en-US" altLang="zh-CN" sz="2400" b="0" dirty="0">
                <a:latin typeface="Times New Roman" panose="02020603050405020304" pitchFamily="18" charset="0"/>
                <a:ea typeface="黑体" panose="02010609060101010101" pitchFamily="49" charset="-122"/>
              </a:rPr>
              <a:t> </a:t>
            </a:r>
            <a:r>
              <a:rPr lang="en-US" altLang="zh-CN" sz="2400" b="0" dirty="0">
                <a:solidFill>
                  <a:srgbClr val="C00000"/>
                </a:solidFill>
                <a:latin typeface="Times New Roman" panose="02020603050405020304" pitchFamily="18" charset="0"/>
                <a:ea typeface="黑体" panose="02010609060101010101" pitchFamily="49" charset="-122"/>
              </a:rPr>
              <a:t>{</a:t>
            </a:r>
            <a:r>
              <a:rPr lang="zh-CN" altLang="zh-CN" sz="2400" b="0" dirty="0">
                <a:solidFill>
                  <a:srgbClr val="C00000"/>
                </a:solidFill>
                <a:latin typeface="Times New Roman" panose="02020603050405020304" pitchFamily="18" charset="0"/>
                <a:ea typeface="黑体" panose="02010609060101010101" pitchFamily="49" charset="-122"/>
              </a:rPr>
              <a:t>        initialization code;</a:t>
            </a:r>
            <a:r>
              <a:rPr lang="en-US" altLang="zh-CN" sz="2400" b="0" dirty="0">
                <a:solidFill>
                  <a:srgbClr val="C00000"/>
                </a:solidFill>
                <a:latin typeface="Times New Roman" panose="02020603050405020304" pitchFamily="18" charset="0"/>
                <a:ea typeface="黑体" panose="02010609060101010101" pitchFamily="49" charset="-122"/>
              </a:rPr>
              <a:t>}</a:t>
            </a:r>
          </a:p>
          <a:p>
            <a:pPr eaLnBrk="1" hangingPunct="1">
              <a:lnSpc>
                <a:spcPct val="120000"/>
              </a:lnSpc>
              <a:spcBef>
                <a:spcPct val="0"/>
              </a:spcBef>
              <a:buFontTx/>
              <a:buNone/>
            </a:pPr>
            <a:r>
              <a:rPr lang="en-US" altLang="zh-CN" sz="2400" b="0" dirty="0">
                <a:latin typeface="Times New Roman" panose="02020603050405020304" pitchFamily="18" charset="0"/>
                <a:ea typeface="黑体" panose="02010609060101010101" pitchFamily="49" charset="-122"/>
              </a:rPr>
              <a:t>}</a:t>
            </a:r>
            <a:endParaRPr lang="zh-CN" altLang="zh-CN" sz="2400" b="0" dirty="0">
              <a:latin typeface="Times New Roman" panose="02020603050405020304" pitchFamily="18" charset="0"/>
              <a:ea typeface="黑体" panose="02010609060101010101" pitchFamily="49" charset="-122"/>
            </a:endParaRPr>
          </a:p>
        </p:txBody>
      </p:sp>
      <p:sp>
        <p:nvSpPr>
          <p:cNvPr id="39" name="文本框 54"/>
          <p:cNvSpPr txBox="1">
            <a:spLocks noChangeArrowheads="1"/>
          </p:cNvSpPr>
          <p:nvPr/>
        </p:nvSpPr>
        <p:spPr bwMode="auto">
          <a:xfrm>
            <a:off x="1150228" y="4855789"/>
            <a:ext cx="14670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管程的特点</a:t>
            </a:r>
          </a:p>
        </p:txBody>
      </p:sp>
    </p:spTree>
    <p:extLst>
      <p:ext uri="{BB962C8B-B14F-4D97-AF65-F5344CB8AC3E}">
        <p14:creationId xmlns:p14="http://schemas.microsoft.com/office/powerpoint/2010/main" val="1670976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wipe(left)">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wipe(left)">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wipe(left)">
                                      <p:cBhvr>
                                        <p:cTn id="17" dur="500"/>
                                        <p:tgtEl>
                                          <p:spTgt spid="1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0" presetClass="entr" presetSubtype="0" decel="100000" fill="hold" grpId="0" nodeType="clickEffect">
                                  <p:stCondLst>
                                    <p:cond delay="0"/>
                                  </p:stCondLst>
                                  <p:iterate type="lt">
                                    <p:tmPct val="5000"/>
                                  </p:iterate>
                                  <p:childTnLst>
                                    <p:set>
                                      <p:cBhvr>
                                        <p:cTn id="21" dur="1" fill="hold">
                                          <p:stCondLst>
                                            <p:cond delay="0"/>
                                          </p:stCondLst>
                                        </p:cTn>
                                        <p:tgtEl>
                                          <p:spTgt spid="39"/>
                                        </p:tgtEl>
                                        <p:attrNameLst>
                                          <p:attrName>style.visibility</p:attrName>
                                        </p:attrNameLst>
                                      </p:cBhvr>
                                      <p:to>
                                        <p:strVal val="visible"/>
                                      </p:to>
                                    </p:set>
                                    <p:anim calcmode="lin" valueType="num">
                                      <p:cBhvr>
                                        <p:cTn id="22" dur="500" fill="hold"/>
                                        <p:tgtEl>
                                          <p:spTgt spid="39"/>
                                        </p:tgtEl>
                                        <p:attrNameLst>
                                          <p:attrName>ppt_w</p:attrName>
                                        </p:attrNameLst>
                                      </p:cBhvr>
                                      <p:tavLst>
                                        <p:tav tm="0">
                                          <p:val>
                                            <p:strVal val="#ppt_w+.3"/>
                                          </p:val>
                                        </p:tav>
                                        <p:tav tm="100000">
                                          <p:val>
                                            <p:strVal val="#ppt_w"/>
                                          </p:val>
                                        </p:tav>
                                      </p:tavLst>
                                    </p:anim>
                                    <p:anim calcmode="lin" valueType="num">
                                      <p:cBhvr>
                                        <p:cTn id="23" dur="500" fill="hold"/>
                                        <p:tgtEl>
                                          <p:spTgt spid="39"/>
                                        </p:tgtEl>
                                        <p:attrNameLst>
                                          <p:attrName>ppt_h</p:attrName>
                                        </p:attrNameLst>
                                      </p:cBhvr>
                                      <p:tavLst>
                                        <p:tav tm="0">
                                          <p:val>
                                            <p:strVal val="#ppt_h"/>
                                          </p:val>
                                        </p:tav>
                                        <p:tav tm="100000">
                                          <p:val>
                                            <p:strVal val="#ppt_h"/>
                                          </p:val>
                                        </p:tav>
                                      </p:tavLst>
                                    </p:anim>
                                    <p:animEffect transition="in" filter="fade">
                                      <p:cBhvr>
                                        <p:cTn id="24"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848833" y="202028"/>
            <a:ext cx="3967716" cy="457196"/>
          </a:xfrm>
        </p:spPr>
        <p:txBody>
          <a:bodyPr/>
          <a:lstStyle/>
          <a:p>
            <a:r>
              <a:rPr lang="en-US" altLang="zh-CN" dirty="0"/>
              <a:t>5.</a:t>
            </a:r>
            <a:r>
              <a:rPr lang="zh-CN" altLang="en-US" dirty="0"/>
              <a:t>管程机制</a:t>
            </a:r>
          </a:p>
        </p:txBody>
      </p:sp>
      <p:grpSp>
        <p:nvGrpSpPr>
          <p:cNvPr id="2" name="组合 3"/>
          <p:cNvGrpSpPr/>
          <p:nvPr/>
        </p:nvGrpSpPr>
        <p:grpSpPr>
          <a:xfrm>
            <a:off x="1004177" y="1027910"/>
            <a:ext cx="5314736" cy="665162"/>
            <a:chOff x="1004177" y="1027910"/>
            <a:chExt cx="5314736" cy="665162"/>
          </a:xfrm>
        </p:grpSpPr>
        <p:sp>
          <p:nvSpPr>
            <p:cNvPr id="5" name="矩形 4"/>
            <p:cNvSpPr/>
            <p:nvPr/>
          </p:nvSpPr>
          <p:spPr>
            <a:xfrm>
              <a:off x="1150228" y="1561310"/>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矩形 5"/>
            <p:cNvSpPr/>
            <p:nvPr/>
          </p:nvSpPr>
          <p:spPr>
            <a:xfrm>
              <a:off x="2058278" y="1561310"/>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7" name="文本框 55"/>
            <p:cNvSpPr txBox="1">
              <a:spLocks noChangeArrowheads="1"/>
            </p:cNvSpPr>
            <p:nvPr/>
          </p:nvSpPr>
          <p:spPr bwMode="auto">
            <a:xfrm>
              <a:off x="1004177" y="1027910"/>
              <a:ext cx="53147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1</a:t>
              </a:r>
              <a:r>
                <a:rPr lang="zh-CN" altLang="en-US" sz="2400" b="1" dirty="0">
                  <a:solidFill>
                    <a:srgbClr val="4C7E51"/>
                  </a:solidFill>
                  <a:latin typeface="微软雅黑" panose="020B0503020204020204" pitchFamily="34" charset="-122"/>
                  <a:ea typeface="微软雅黑" panose="020B0503020204020204" pitchFamily="34" charset="-122"/>
                </a:rPr>
                <a:t>）管程的定义</a:t>
              </a:r>
            </a:p>
          </p:txBody>
        </p:sp>
      </p:grpSp>
      <p:sp>
        <p:nvSpPr>
          <p:cNvPr id="11" name="文本框 19"/>
          <p:cNvSpPr txBox="1">
            <a:spLocks noChangeArrowheads="1"/>
          </p:cNvSpPr>
          <p:nvPr/>
        </p:nvSpPr>
        <p:spPr bwMode="auto">
          <a:xfrm>
            <a:off x="1150228" y="2305463"/>
            <a:ext cx="577233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en-US" sz="2400" dirty="0"/>
              <a:t>模块化</a:t>
            </a:r>
          </a:p>
          <a:p>
            <a:pPr marL="0" lvl="2" indent="0">
              <a:buBlip>
                <a:blip r:embed="rId2"/>
              </a:buBlip>
            </a:pPr>
            <a:r>
              <a:rPr lang="zh-CN" altLang="en-US" sz="2400" dirty="0"/>
              <a:t>抽象数据类型</a:t>
            </a:r>
          </a:p>
          <a:p>
            <a:pPr marL="0" lvl="2" indent="0">
              <a:buBlip>
                <a:blip r:embed="rId2"/>
              </a:buBlip>
            </a:pPr>
            <a:r>
              <a:rPr lang="zh-CN" altLang="en-US" sz="2400" dirty="0"/>
              <a:t>信息隐藏</a:t>
            </a:r>
            <a:endParaRPr lang="zh-CN" altLang="zh-CN" sz="2400" dirty="0"/>
          </a:p>
        </p:txBody>
      </p:sp>
      <p:sp>
        <p:nvSpPr>
          <p:cNvPr id="18" name="文本框 19"/>
          <p:cNvSpPr txBox="1">
            <a:spLocks noChangeArrowheads="1"/>
          </p:cNvSpPr>
          <p:nvPr/>
        </p:nvSpPr>
        <p:spPr bwMode="auto">
          <a:xfrm>
            <a:off x="4686055" y="2246002"/>
            <a:ext cx="6952909" cy="378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en-US" sz="2400" dirty="0"/>
              <a:t>定义的数据结构不同。进程：pcb，管程：消息队列</a:t>
            </a:r>
          </a:p>
          <a:p>
            <a:pPr marL="0" lvl="2" indent="0">
              <a:buBlip>
                <a:blip r:embed="rId2"/>
              </a:buBlip>
            </a:pPr>
            <a:r>
              <a:rPr lang="zh-CN" altLang="en-US" sz="2400" dirty="0"/>
              <a:t>对各自数据结构上的操作不同。管程：初始化、同步，进程：pcb可以被系统多个模块访问修改。</a:t>
            </a:r>
          </a:p>
          <a:p>
            <a:pPr marL="0" lvl="2" indent="0">
              <a:buBlip>
                <a:blip r:embed="rId2"/>
              </a:buBlip>
            </a:pPr>
            <a:r>
              <a:rPr lang="zh-CN" altLang="en-US" sz="2400" dirty="0"/>
              <a:t>设置的目的不同。进程：并发，管程：共享资源的互斥访问</a:t>
            </a:r>
          </a:p>
          <a:p>
            <a:pPr marL="0" lvl="2" indent="0">
              <a:buBlip>
                <a:blip r:embed="rId2"/>
              </a:buBlip>
            </a:pPr>
            <a:r>
              <a:rPr lang="zh-CN" altLang="en-US" sz="2400" dirty="0"/>
              <a:t>工作方式不同。进程：主动，管程：被动</a:t>
            </a:r>
            <a:endParaRPr lang="en-US" altLang="zh-CN" sz="2400" dirty="0"/>
          </a:p>
          <a:p>
            <a:pPr marL="0" lvl="2" indent="0">
              <a:buBlip>
                <a:blip r:embed="rId2"/>
              </a:buBlip>
            </a:pPr>
            <a:r>
              <a:rPr lang="zh-CN" altLang="en-US" sz="2400" dirty="0"/>
              <a:t>多道进程能并发，管程不能与调用者并发。</a:t>
            </a:r>
            <a:endParaRPr lang="en-US" altLang="zh-CN" sz="2400" dirty="0"/>
          </a:p>
          <a:p>
            <a:pPr marL="0" lvl="2" indent="0">
              <a:buBlip>
                <a:blip r:embed="rId2"/>
              </a:buBlip>
            </a:pPr>
            <a:r>
              <a:rPr lang="zh-CN" altLang="en-US" sz="2400" dirty="0"/>
              <a:t>进程具有动态性，管程是os的一个资源管理模块，供进程调用。</a:t>
            </a:r>
          </a:p>
        </p:txBody>
      </p:sp>
      <p:sp>
        <p:nvSpPr>
          <p:cNvPr id="16" name="文本框 54"/>
          <p:cNvSpPr txBox="1">
            <a:spLocks noChangeArrowheads="1"/>
          </p:cNvSpPr>
          <p:nvPr/>
        </p:nvSpPr>
        <p:spPr bwMode="auto">
          <a:xfrm>
            <a:off x="1150228" y="1816015"/>
            <a:ext cx="146706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管程的特征</a:t>
            </a:r>
          </a:p>
        </p:txBody>
      </p:sp>
      <p:sp>
        <p:nvSpPr>
          <p:cNvPr id="19" name="文本框 54"/>
          <p:cNvSpPr txBox="1">
            <a:spLocks noChangeArrowheads="1"/>
          </p:cNvSpPr>
          <p:nvPr/>
        </p:nvSpPr>
        <p:spPr bwMode="auto">
          <a:xfrm>
            <a:off x="4686055" y="1816015"/>
            <a:ext cx="223651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2000" b="1" dirty="0">
                <a:solidFill>
                  <a:srgbClr val="595959"/>
                </a:solidFill>
                <a:latin typeface="微软雅黑" panose="020B0503020204020204" pitchFamily="34" charset="-122"/>
                <a:ea typeface="微软雅黑" panose="020B0503020204020204" pitchFamily="34" charset="-122"/>
              </a:rPr>
              <a:t>管程与进程的区别</a:t>
            </a:r>
          </a:p>
        </p:txBody>
      </p:sp>
    </p:spTree>
    <p:extLst>
      <p:ext uri="{BB962C8B-B14F-4D97-AF65-F5344CB8AC3E}">
        <p14:creationId xmlns:p14="http://schemas.microsoft.com/office/powerpoint/2010/main" val="1667691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wipe(left)">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wipe(left)">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wipe(left)">
                                      <p:cBhvr>
                                        <p:cTn id="17" dur="500"/>
                                        <p:tgtEl>
                                          <p:spTgt spid="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8">
                                            <p:txEl>
                                              <p:pRg st="0" end="0"/>
                                            </p:txEl>
                                          </p:spTgt>
                                        </p:tgtEl>
                                        <p:attrNameLst>
                                          <p:attrName>style.visibility</p:attrName>
                                        </p:attrNameLst>
                                      </p:cBhvr>
                                      <p:to>
                                        <p:strVal val="visible"/>
                                      </p:to>
                                    </p:set>
                                    <p:animEffect transition="in" filter="wipe(left)">
                                      <p:cBhvr>
                                        <p:cTn id="22" dur="500"/>
                                        <p:tgtEl>
                                          <p:spTgt spid="18">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8">
                                            <p:txEl>
                                              <p:pRg st="1" end="1"/>
                                            </p:txEl>
                                          </p:spTgt>
                                        </p:tgtEl>
                                        <p:attrNameLst>
                                          <p:attrName>style.visibility</p:attrName>
                                        </p:attrNameLst>
                                      </p:cBhvr>
                                      <p:to>
                                        <p:strVal val="visible"/>
                                      </p:to>
                                    </p:set>
                                    <p:animEffect transition="in" filter="wipe(left)">
                                      <p:cBhvr>
                                        <p:cTn id="27" dur="500"/>
                                        <p:tgtEl>
                                          <p:spTgt spid="18">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8">
                                            <p:txEl>
                                              <p:pRg st="2" end="2"/>
                                            </p:txEl>
                                          </p:spTgt>
                                        </p:tgtEl>
                                        <p:attrNameLst>
                                          <p:attrName>style.visibility</p:attrName>
                                        </p:attrNameLst>
                                      </p:cBhvr>
                                      <p:to>
                                        <p:strVal val="visible"/>
                                      </p:to>
                                    </p:set>
                                    <p:animEffect transition="in" filter="wipe(left)">
                                      <p:cBhvr>
                                        <p:cTn id="32" dur="500"/>
                                        <p:tgtEl>
                                          <p:spTgt spid="18">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8">
                                            <p:txEl>
                                              <p:pRg st="3" end="3"/>
                                            </p:txEl>
                                          </p:spTgt>
                                        </p:tgtEl>
                                        <p:attrNameLst>
                                          <p:attrName>style.visibility</p:attrName>
                                        </p:attrNameLst>
                                      </p:cBhvr>
                                      <p:to>
                                        <p:strVal val="visible"/>
                                      </p:to>
                                    </p:set>
                                    <p:animEffect transition="in" filter="wipe(left)">
                                      <p:cBhvr>
                                        <p:cTn id="37" dur="500"/>
                                        <p:tgtEl>
                                          <p:spTgt spid="18">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8">
                                            <p:txEl>
                                              <p:pRg st="4" end="4"/>
                                            </p:txEl>
                                          </p:spTgt>
                                        </p:tgtEl>
                                        <p:attrNameLst>
                                          <p:attrName>style.visibility</p:attrName>
                                        </p:attrNameLst>
                                      </p:cBhvr>
                                      <p:to>
                                        <p:strVal val="visible"/>
                                      </p:to>
                                    </p:set>
                                    <p:animEffect transition="in" filter="wipe(left)">
                                      <p:cBhvr>
                                        <p:cTn id="42" dur="500"/>
                                        <p:tgtEl>
                                          <p:spTgt spid="18">
                                            <p:txEl>
                                              <p:pRg st="4" end="4"/>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8">
                                            <p:txEl>
                                              <p:pRg st="5" end="5"/>
                                            </p:txEl>
                                          </p:spTgt>
                                        </p:tgtEl>
                                        <p:attrNameLst>
                                          <p:attrName>style.visibility</p:attrName>
                                        </p:attrNameLst>
                                      </p:cBhvr>
                                      <p:to>
                                        <p:strVal val="visible"/>
                                      </p:to>
                                    </p:set>
                                    <p:animEffect transition="in" filter="wipe(left)">
                                      <p:cBhvr>
                                        <p:cTn id="47" dur="500"/>
                                        <p:tgtEl>
                                          <p:spTgt spid="18">
                                            <p:txEl>
                                              <p:pRg st="5" end="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50" presetClass="entr" presetSubtype="0" decel="100000" fill="hold" grpId="0" nodeType="clickEffect">
                                  <p:stCondLst>
                                    <p:cond delay="0"/>
                                  </p:stCondLst>
                                  <p:iterate type="lt">
                                    <p:tmPct val="5000"/>
                                  </p:iterate>
                                  <p:childTnLst>
                                    <p:set>
                                      <p:cBhvr>
                                        <p:cTn id="51" dur="1" fill="hold">
                                          <p:stCondLst>
                                            <p:cond delay="0"/>
                                          </p:stCondLst>
                                        </p:cTn>
                                        <p:tgtEl>
                                          <p:spTgt spid="16"/>
                                        </p:tgtEl>
                                        <p:attrNameLst>
                                          <p:attrName>style.visibility</p:attrName>
                                        </p:attrNameLst>
                                      </p:cBhvr>
                                      <p:to>
                                        <p:strVal val="visible"/>
                                      </p:to>
                                    </p:set>
                                    <p:anim calcmode="lin" valueType="num">
                                      <p:cBhvr>
                                        <p:cTn id="52" dur="500" fill="hold"/>
                                        <p:tgtEl>
                                          <p:spTgt spid="16"/>
                                        </p:tgtEl>
                                        <p:attrNameLst>
                                          <p:attrName>ppt_w</p:attrName>
                                        </p:attrNameLst>
                                      </p:cBhvr>
                                      <p:tavLst>
                                        <p:tav tm="0">
                                          <p:val>
                                            <p:strVal val="#ppt_w+.3"/>
                                          </p:val>
                                        </p:tav>
                                        <p:tav tm="100000">
                                          <p:val>
                                            <p:strVal val="#ppt_w"/>
                                          </p:val>
                                        </p:tav>
                                      </p:tavLst>
                                    </p:anim>
                                    <p:anim calcmode="lin" valueType="num">
                                      <p:cBhvr>
                                        <p:cTn id="53" dur="500" fill="hold"/>
                                        <p:tgtEl>
                                          <p:spTgt spid="16"/>
                                        </p:tgtEl>
                                        <p:attrNameLst>
                                          <p:attrName>ppt_h</p:attrName>
                                        </p:attrNameLst>
                                      </p:cBhvr>
                                      <p:tavLst>
                                        <p:tav tm="0">
                                          <p:val>
                                            <p:strVal val="#ppt_h"/>
                                          </p:val>
                                        </p:tav>
                                        <p:tav tm="100000">
                                          <p:val>
                                            <p:strVal val="#ppt_h"/>
                                          </p:val>
                                        </p:tav>
                                      </p:tavLst>
                                    </p:anim>
                                    <p:animEffect transition="in" filter="fade">
                                      <p:cBhvr>
                                        <p:cTn id="54" dur="500"/>
                                        <p:tgtEl>
                                          <p:spTgt spid="16"/>
                                        </p:tgtEl>
                                      </p:cBhvr>
                                    </p:animEffect>
                                  </p:childTnLst>
                                </p:cTn>
                              </p:par>
                            </p:childTnLst>
                          </p:cTn>
                        </p:par>
                      </p:childTnLst>
                    </p:cTn>
                  </p:par>
                  <p:par>
                    <p:cTn id="55" fill="hold">
                      <p:stCondLst>
                        <p:cond delay="indefinite"/>
                      </p:stCondLst>
                      <p:childTnLst>
                        <p:par>
                          <p:cTn id="56" fill="hold">
                            <p:stCondLst>
                              <p:cond delay="0"/>
                            </p:stCondLst>
                            <p:childTnLst>
                              <p:par>
                                <p:cTn id="57" presetID="50" presetClass="entr" presetSubtype="0" decel="100000" fill="hold" grpId="0" nodeType="clickEffect">
                                  <p:stCondLst>
                                    <p:cond delay="0"/>
                                  </p:stCondLst>
                                  <p:iterate type="lt">
                                    <p:tmPct val="5000"/>
                                  </p:iterate>
                                  <p:childTnLst>
                                    <p:set>
                                      <p:cBhvr>
                                        <p:cTn id="58" dur="1" fill="hold">
                                          <p:stCondLst>
                                            <p:cond delay="0"/>
                                          </p:stCondLst>
                                        </p:cTn>
                                        <p:tgtEl>
                                          <p:spTgt spid="19"/>
                                        </p:tgtEl>
                                        <p:attrNameLst>
                                          <p:attrName>style.visibility</p:attrName>
                                        </p:attrNameLst>
                                      </p:cBhvr>
                                      <p:to>
                                        <p:strVal val="visible"/>
                                      </p:to>
                                    </p:set>
                                    <p:anim calcmode="lin" valueType="num">
                                      <p:cBhvr>
                                        <p:cTn id="59" dur="500" fill="hold"/>
                                        <p:tgtEl>
                                          <p:spTgt spid="19"/>
                                        </p:tgtEl>
                                        <p:attrNameLst>
                                          <p:attrName>ppt_w</p:attrName>
                                        </p:attrNameLst>
                                      </p:cBhvr>
                                      <p:tavLst>
                                        <p:tav tm="0">
                                          <p:val>
                                            <p:strVal val="#ppt_w+.3"/>
                                          </p:val>
                                        </p:tav>
                                        <p:tav tm="100000">
                                          <p:val>
                                            <p:strVal val="#ppt_w"/>
                                          </p:val>
                                        </p:tav>
                                      </p:tavLst>
                                    </p:anim>
                                    <p:anim calcmode="lin" valueType="num">
                                      <p:cBhvr>
                                        <p:cTn id="60" dur="500" fill="hold"/>
                                        <p:tgtEl>
                                          <p:spTgt spid="19"/>
                                        </p:tgtEl>
                                        <p:attrNameLst>
                                          <p:attrName>ppt_h</p:attrName>
                                        </p:attrNameLst>
                                      </p:cBhvr>
                                      <p:tavLst>
                                        <p:tav tm="0">
                                          <p:val>
                                            <p:strVal val="#ppt_h"/>
                                          </p:val>
                                        </p:tav>
                                        <p:tav tm="100000">
                                          <p:val>
                                            <p:strVal val="#ppt_h"/>
                                          </p:val>
                                        </p:tav>
                                      </p:tavLst>
                                    </p:anim>
                                    <p:animEffect transition="in" filter="fade">
                                      <p:cBhvr>
                                        <p:cTn id="6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848833" y="202028"/>
            <a:ext cx="3967716" cy="457196"/>
          </a:xfrm>
        </p:spPr>
        <p:txBody>
          <a:bodyPr/>
          <a:lstStyle/>
          <a:p>
            <a:r>
              <a:rPr lang="en-US" altLang="zh-CN" dirty="0"/>
              <a:t>5.</a:t>
            </a:r>
            <a:r>
              <a:rPr lang="zh-CN" altLang="en-US" dirty="0"/>
              <a:t>管程机制</a:t>
            </a:r>
          </a:p>
        </p:txBody>
      </p:sp>
      <p:grpSp>
        <p:nvGrpSpPr>
          <p:cNvPr id="2" name="组合 3"/>
          <p:cNvGrpSpPr/>
          <p:nvPr/>
        </p:nvGrpSpPr>
        <p:grpSpPr>
          <a:xfrm>
            <a:off x="1004177" y="1027910"/>
            <a:ext cx="5314736" cy="665162"/>
            <a:chOff x="1004177" y="1027910"/>
            <a:chExt cx="5314736" cy="665162"/>
          </a:xfrm>
        </p:grpSpPr>
        <p:sp>
          <p:nvSpPr>
            <p:cNvPr id="5" name="矩形 4"/>
            <p:cNvSpPr/>
            <p:nvPr/>
          </p:nvSpPr>
          <p:spPr>
            <a:xfrm>
              <a:off x="1150228" y="1561310"/>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矩形 5"/>
            <p:cNvSpPr/>
            <p:nvPr/>
          </p:nvSpPr>
          <p:spPr>
            <a:xfrm>
              <a:off x="2058278" y="1561310"/>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7" name="文本框 55"/>
            <p:cNvSpPr txBox="1">
              <a:spLocks noChangeArrowheads="1"/>
            </p:cNvSpPr>
            <p:nvPr/>
          </p:nvSpPr>
          <p:spPr bwMode="auto">
            <a:xfrm>
              <a:off x="1004177" y="1027910"/>
              <a:ext cx="53147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2</a:t>
              </a:r>
              <a:r>
                <a:rPr lang="zh-CN" altLang="en-US" sz="2400" b="1" dirty="0">
                  <a:solidFill>
                    <a:srgbClr val="4C7E51"/>
                  </a:solidFill>
                  <a:latin typeface="微软雅黑" panose="020B0503020204020204" pitchFamily="34" charset="-122"/>
                  <a:ea typeface="微软雅黑" panose="020B0503020204020204" pitchFamily="34" charset="-122"/>
                </a:rPr>
                <a:t>）条件变量</a:t>
              </a:r>
            </a:p>
          </p:txBody>
        </p:sp>
      </p:grpSp>
      <p:sp>
        <p:nvSpPr>
          <p:cNvPr id="11" name="文本框 19"/>
          <p:cNvSpPr txBox="1">
            <a:spLocks noChangeArrowheads="1"/>
          </p:cNvSpPr>
          <p:nvPr/>
        </p:nvSpPr>
        <p:spPr bwMode="auto">
          <a:xfrm>
            <a:off x="1150228" y="2305463"/>
            <a:ext cx="9896713"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lvl="2" indent="0">
              <a:buBlip>
                <a:blip r:embed="rId2"/>
              </a:buBlip>
            </a:pPr>
            <a:r>
              <a:rPr lang="zh-CN" altLang="zh-CN" sz="2400" dirty="0"/>
              <a:t>Wait:当进程请求临界资源未能满足时，管程便调用wait原语使该进程等待，并将它排在等待队列中。</a:t>
            </a:r>
            <a:endParaRPr lang="en-US" altLang="zh-CN" sz="2400" dirty="0"/>
          </a:p>
          <a:p>
            <a:pPr marL="0" lvl="2" indent="0">
              <a:buBlip>
                <a:blip r:embed="rId2"/>
              </a:buBlip>
            </a:pPr>
            <a:r>
              <a:rPr lang="zh-CN" altLang="zh-CN" sz="2400" dirty="0"/>
              <a:t>Signal:仅当另一进程访问并释放之后，管程又调用signal原语，唤醒等待队列中的队首进程</a:t>
            </a:r>
            <a:endParaRPr lang="en-US" altLang="zh-CN" sz="2400" dirty="0"/>
          </a:p>
          <a:p>
            <a:pPr lvl="1"/>
            <a:r>
              <a:rPr lang="zh-CN" altLang="zh-CN" sz="2400" dirty="0"/>
              <a:t>如  condition  x</a:t>
            </a:r>
          </a:p>
          <a:p>
            <a:pPr lvl="1"/>
            <a:r>
              <a:rPr lang="zh-CN" altLang="zh-CN" sz="2400" dirty="0"/>
              <a:t>          x.wait   x.signal</a:t>
            </a:r>
          </a:p>
        </p:txBody>
      </p:sp>
      <p:sp>
        <p:nvSpPr>
          <p:cNvPr id="16" name="文本框 54"/>
          <p:cNvSpPr txBox="1">
            <a:spLocks noChangeArrowheads="1"/>
          </p:cNvSpPr>
          <p:nvPr/>
        </p:nvSpPr>
        <p:spPr bwMode="auto">
          <a:xfrm>
            <a:off x="1150228" y="1816015"/>
            <a:ext cx="816120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lang="zh-CN" altLang="zh-CN" sz="2000" b="1" dirty="0">
                <a:solidFill>
                  <a:srgbClr val="595959"/>
                </a:solidFill>
                <a:latin typeface="微软雅黑" panose="020B0503020204020204" pitchFamily="34" charset="-122"/>
                <a:ea typeface="微软雅黑" panose="020B0503020204020204" pitchFamily="34" charset="-122"/>
              </a:rPr>
              <a:t>当利用管程实现同步时，必须设置两个同步操作原语wait和signal。</a:t>
            </a:r>
          </a:p>
        </p:txBody>
      </p:sp>
    </p:spTree>
    <p:extLst>
      <p:ext uri="{BB962C8B-B14F-4D97-AF65-F5344CB8AC3E}">
        <p14:creationId xmlns:p14="http://schemas.microsoft.com/office/powerpoint/2010/main" val="1633638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wipe(left)">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
                                            <p:txEl>
                                              <p:pRg st="1" end="1"/>
                                            </p:txEl>
                                          </p:spTgt>
                                        </p:tgtEl>
                                        <p:attrNameLst>
                                          <p:attrName>style.visibility</p:attrName>
                                        </p:attrNameLst>
                                      </p:cBhvr>
                                      <p:to>
                                        <p:strVal val="visible"/>
                                      </p:to>
                                    </p:set>
                                    <p:animEffect transition="in" filter="wipe(left)">
                                      <p:cBhvr>
                                        <p:cTn id="12" dur="500"/>
                                        <p:tgtEl>
                                          <p:spTgt spid="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
                                            <p:txEl>
                                              <p:pRg st="2" end="2"/>
                                            </p:txEl>
                                          </p:spTgt>
                                        </p:tgtEl>
                                        <p:attrNameLst>
                                          <p:attrName>style.visibility</p:attrName>
                                        </p:attrNameLst>
                                      </p:cBhvr>
                                      <p:to>
                                        <p:strVal val="visible"/>
                                      </p:to>
                                    </p:set>
                                    <p:animEffect transition="in" filter="wipe(left)">
                                      <p:cBhvr>
                                        <p:cTn id="17" dur="500"/>
                                        <p:tgtEl>
                                          <p:spTgt spid="1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1">
                                            <p:txEl>
                                              <p:pRg st="3" end="3"/>
                                            </p:txEl>
                                          </p:spTgt>
                                        </p:tgtEl>
                                        <p:attrNameLst>
                                          <p:attrName>style.visibility</p:attrName>
                                        </p:attrNameLst>
                                      </p:cBhvr>
                                      <p:to>
                                        <p:strVal val="visible"/>
                                      </p:to>
                                    </p:set>
                                    <p:animEffect transition="in" filter="wipe(left)">
                                      <p:cBhvr>
                                        <p:cTn id="22" dur="500"/>
                                        <p:tgtEl>
                                          <p:spTgt spid="1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0" presetClass="entr" presetSubtype="0" decel="100000" fill="hold" grpId="0" nodeType="clickEffect">
                                  <p:stCondLst>
                                    <p:cond delay="0"/>
                                  </p:stCondLst>
                                  <p:iterate type="lt">
                                    <p:tmPct val="5000"/>
                                  </p:iterate>
                                  <p:childTnLst>
                                    <p:set>
                                      <p:cBhvr>
                                        <p:cTn id="26" dur="1" fill="hold">
                                          <p:stCondLst>
                                            <p:cond delay="0"/>
                                          </p:stCondLst>
                                        </p:cTn>
                                        <p:tgtEl>
                                          <p:spTgt spid="16"/>
                                        </p:tgtEl>
                                        <p:attrNameLst>
                                          <p:attrName>style.visibility</p:attrName>
                                        </p:attrNameLst>
                                      </p:cBhvr>
                                      <p:to>
                                        <p:strVal val="visible"/>
                                      </p:to>
                                    </p:set>
                                    <p:anim calcmode="lin" valueType="num">
                                      <p:cBhvr>
                                        <p:cTn id="27" dur="500" fill="hold"/>
                                        <p:tgtEl>
                                          <p:spTgt spid="16"/>
                                        </p:tgtEl>
                                        <p:attrNameLst>
                                          <p:attrName>ppt_w</p:attrName>
                                        </p:attrNameLst>
                                      </p:cBhvr>
                                      <p:tavLst>
                                        <p:tav tm="0">
                                          <p:val>
                                            <p:strVal val="#ppt_w+.3"/>
                                          </p:val>
                                        </p:tav>
                                        <p:tav tm="100000">
                                          <p:val>
                                            <p:strVal val="#ppt_w"/>
                                          </p:val>
                                        </p:tav>
                                      </p:tavLst>
                                    </p:anim>
                                    <p:anim calcmode="lin" valueType="num">
                                      <p:cBhvr>
                                        <p:cTn id="28" dur="500" fill="hold"/>
                                        <p:tgtEl>
                                          <p:spTgt spid="16"/>
                                        </p:tgtEl>
                                        <p:attrNameLst>
                                          <p:attrName>ppt_h</p:attrName>
                                        </p:attrNameLst>
                                      </p:cBhvr>
                                      <p:tavLst>
                                        <p:tav tm="0">
                                          <p:val>
                                            <p:strVal val="#ppt_h"/>
                                          </p:val>
                                        </p:tav>
                                        <p:tav tm="100000">
                                          <p:val>
                                            <p:strVal val="#ppt_h"/>
                                          </p:val>
                                        </p:tav>
                                      </p:tavLst>
                                    </p:anim>
                                    <p:animEffect transition="in" filter="fade">
                                      <p:cBhvr>
                                        <p:cTn id="2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灯片编号占位符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D258FD5-D67C-4948-A422-7EDBC895FFFC}" type="slidenum">
              <a:rPr lang="zh-CN" altLang="zh-CN" sz="1400"/>
              <a:pPr>
                <a:spcBef>
                  <a:spcPct val="0"/>
                </a:spcBef>
                <a:buFontTx/>
                <a:buNone/>
              </a:pPr>
              <a:t>40</a:t>
            </a:fld>
            <a:endParaRPr lang="zh-CN" altLang="zh-CN" sz="1400"/>
          </a:p>
        </p:txBody>
      </p:sp>
      <p:sp>
        <p:nvSpPr>
          <p:cNvPr id="108548" name="Text Box 3"/>
          <p:cNvSpPr txBox="1">
            <a:spLocks noChangeArrowheads="1"/>
          </p:cNvSpPr>
          <p:nvPr/>
        </p:nvSpPr>
        <p:spPr bwMode="auto">
          <a:xfrm>
            <a:off x="1136976" y="1856995"/>
            <a:ext cx="7772400" cy="25668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spcBef>
                <a:spcPct val="50000"/>
              </a:spcBef>
              <a:buFontTx/>
              <a:buNone/>
            </a:pPr>
            <a:r>
              <a:rPr lang="zh-CN" altLang="zh-CN" sz="2400" dirty="0">
                <a:latin typeface="Times New Roman" panose="02020603050405020304" pitchFamily="18" charset="0"/>
                <a:ea typeface="黑体" panose="02010609060101010101" pitchFamily="49" charset="-122"/>
              </a:rPr>
              <a:t>建立管程——Producer-Consumer, 或简称为PC。</a:t>
            </a:r>
          </a:p>
          <a:p>
            <a:pPr algn="just" eaLnBrk="1" hangingPunct="1">
              <a:lnSpc>
                <a:spcPct val="130000"/>
              </a:lnSpc>
              <a:spcBef>
                <a:spcPct val="50000"/>
              </a:spcBef>
              <a:buFontTx/>
              <a:buNone/>
            </a:pPr>
            <a:r>
              <a:rPr lang="zh-CN" altLang="zh-CN" sz="2400" dirty="0">
                <a:latin typeface="Times New Roman" panose="02020603050405020304" pitchFamily="18" charset="0"/>
                <a:ea typeface="黑体" panose="02010609060101010101" pitchFamily="49" charset="-122"/>
              </a:rPr>
              <a:t>两个过程：</a:t>
            </a:r>
          </a:p>
          <a:p>
            <a:pPr algn="just" eaLnBrk="1" hangingPunct="1">
              <a:lnSpc>
                <a:spcPct val="130000"/>
              </a:lnSpc>
              <a:spcBef>
                <a:spcPct val="50000"/>
              </a:spcBef>
              <a:buFontTx/>
              <a:buNone/>
            </a:pPr>
            <a:r>
              <a:rPr lang="zh-CN" altLang="zh-CN" sz="2400" dirty="0">
                <a:latin typeface="Times New Roman" panose="02020603050405020304" pitchFamily="18" charset="0"/>
                <a:ea typeface="黑体" panose="02010609060101010101" pitchFamily="49" charset="-122"/>
              </a:rPr>
              <a:t>        (1) put(item)过程</a:t>
            </a:r>
          </a:p>
          <a:p>
            <a:pPr algn="just" eaLnBrk="1" hangingPunct="1">
              <a:lnSpc>
                <a:spcPct val="130000"/>
              </a:lnSpc>
              <a:spcBef>
                <a:spcPct val="50000"/>
              </a:spcBef>
              <a:buFontTx/>
              <a:buNone/>
            </a:pPr>
            <a:r>
              <a:rPr lang="zh-CN" altLang="zh-CN" sz="2400" dirty="0">
                <a:latin typeface="Times New Roman" panose="02020603050405020304" pitchFamily="18" charset="0"/>
                <a:ea typeface="黑体" panose="02010609060101010101" pitchFamily="49" charset="-122"/>
              </a:rPr>
              <a:t>        (2) get(item)过程</a:t>
            </a:r>
          </a:p>
        </p:txBody>
      </p:sp>
      <p:sp>
        <p:nvSpPr>
          <p:cNvPr id="5" name="标题 1">
            <a:extLst>
              <a:ext uri="{FF2B5EF4-FFF2-40B4-BE49-F238E27FC236}">
                <a16:creationId xmlns:a16="http://schemas.microsoft.com/office/drawing/2014/main" id="{0CE93C0E-7743-4253-9E11-D3A530E534D1}"/>
              </a:ext>
            </a:extLst>
          </p:cNvPr>
          <p:cNvSpPr txBox="1">
            <a:spLocks/>
          </p:cNvSpPr>
          <p:nvPr/>
        </p:nvSpPr>
        <p:spPr>
          <a:xfrm>
            <a:off x="848833" y="202028"/>
            <a:ext cx="3967716" cy="457196"/>
          </a:xfrm>
          <a:prstGeom prst="rect">
            <a:avLst/>
          </a:prstGeom>
        </p:spPr>
        <p:txBody>
          <a:bodyPr/>
          <a:lstStyle>
            <a:lvl1pPr algn="l" defTabSz="914400" rtl="0" eaLnBrk="1" latinLnBrk="0" hangingPunct="1">
              <a:lnSpc>
                <a:spcPct val="90000"/>
              </a:lnSpc>
              <a:spcBef>
                <a:spcPct val="0"/>
              </a:spcBef>
              <a:buNone/>
              <a:defRPr lang="zh-CN" altLang="en-US" sz="2400" b="1" kern="1200" dirty="0">
                <a:solidFill>
                  <a:srgbClr val="3D7351"/>
                </a:solidFill>
                <a:latin typeface="微软雅黑" panose="020B0503020204020204" pitchFamily="34" charset="-122"/>
                <a:ea typeface="微软雅黑" panose="020B0503020204020204" pitchFamily="34" charset="-122"/>
                <a:cs typeface="+mn-cs"/>
              </a:defRPr>
            </a:lvl1pPr>
          </a:lstStyle>
          <a:p>
            <a:r>
              <a:rPr lang="en-US" altLang="zh-CN" dirty="0"/>
              <a:t>5.</a:t>
            </a:r>
            <a:r>
              <a:rPr lang="zh-CN" altLang="en-US" dirty="0"/>
              <a:t>管程机制</a:t>
            </a:r>
          </a:p>
        </p:txBody>
      </p:sp>
      <p:grpSp>
        <p:nvGrpSpPr>
          <p:cNvPr id="6" name="组合 3">
            <a:extLst>
              <a:ext uri="{FF2B5EF4-FFF2-40B4-BE49-F238E27FC236}">
                <a16:creationId xmlns:a16="http://schemas.microsoft.com/office/drawing/2014/main" id="{8A898C99-5578-492A-A5DD-493F1CB368EC}"/>
              </a:ext>
            </a:extLst>
          </p:cNvPr>
          <p:cNvGrpSpPr/>
          <p:nvPr/>
        </p:nvGrpSpPr>
        <p:grpSpPr>
          <a:xfrm>
            <a:off x="1004177" y="1027910"/>
            <a:ext cx="5314736" cy="665162"/>
            <a:chOff x="1004177" y="1027910"/>
            <a:chExt cx="5314736" cy="665162"/>
          </a:xfrm>
        </p:grpSpPr>
        <p:sp>
          <p:nvSpPr>
            <p:cNvPr id="7" name="矩形 6">
              <a:extLst>
                <a:ext uri="{FF2B5EF4-FFF2-40B4-BE49-F238E27FC236}">
                  <a16:creationId xmlns:a16="http://schemas.microsoft.com/office/drawing/2014/main" id="{5F4679F9-5716-4220-89BD-F00F77D79D42}"/>
                </a:ext>
              </a:extLst>
            </p:cNvPr>
            <p:cNvSpPr/>
            <p:nvPr/>
          </p:nvSpPr>
          <p:spPr>
            <a:xfrm>
              <a:off x="1150228" y="1561310"/>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8" name="矩形 7">
              <a:extLst>
                <a:ext uri="{FF2B5EF4-FFF2-40B4-BE49-F238E27FC236}">
                  <a16:creationId xmlns:a16="http://schemas.microsoft.com/office/drawing/2014/main" id="{1FA53E9E-D99B-475F-A045-A797BBAC37E5}"/>
                </a:ext>
              </a:extLst>
            </p:cNvPr>
            <p:cNvSpPr/>
            <p:nvPr/>
          </p:nvSpPr>
          <p:spPr>
            <a:xfrm>
              <a:off x="2058278" y="1561310"/>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9" name="文本框 55">
              <a:extLst>
                <a:ext uri="{FF2B5EF4-FFF2-40B4-BE49-F238E27FC236}">
                  <a16:creationId xmlns:a16="http://schemas.microsoft.com/office/drawing/2014/main" id="{D3079819-BCA4-43CC-BFF8-21D22C863469}"/>
                </a:ext>
              </a:extLst>
            </p:cNvPr>
            <p:cNvSpPr txBox="1">
              <a:spLocks noChangeArrowheads="1"/>
            </p:cNvSpPr>
            <p:nvPr/>
          </p:nvSpPr>
          <p:spPr bwMode="auto">
            <a:xfrm>
              <a:off x="1004177" y="1027910"/>
              <a:ext cx="53147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3</a:t>
              </a:r>
              <a:r>
                <a:rPr lang="zh-CN" altLang="en-US" sz="2400" b="1" dirty="0">
                  <a:solidFill>
                    <a:srgbClr val="4C7E51"/>
                  </a:solidFill>
                  <a:latin typeface="微软雅黑" panose="020B0503020204020204" pitchFamily="34" charset="-122"/>
                  <a:ea typeface="微软雅黑" panose="020B0503020204020204" pitchFamily="34" charset="-122"/>
                </a:rPr>
                <a:t>）利用管程解决生产者</a:t>
              </a:r>
              <a:r>
                <a:rPr lang="en-US" altLang="zh-CN" sz="2400" b="1" dirty="0">
                  <a:solidFill>
                    <a:srgbClr val="4C7E51"/>
                  </a:solidFill>
                  <a:latin typeface="微软雅黑" panose="020B0503020204020204" pitchFamily="34" charset="-122"/>
                  <a:ea typeface="微软雅黑" panose="020B0503020204020204" pitchFamily="34" charset="-122"/>
                </a:rPr>
                <a:t>-</a:t>
              </a:r>
              <a:r>
                <a:rPr lang="zh-CN" altLang="en-US" sz="2400" b="1" dirty="0">
                  <a:solidFill>
                    <a:srgbClr val="4C7E51"/>
                  </a:solidFill>
                  <a:latin typeface="微软雅黑" panose="020B0503020204020204" pitchFamily="34" charset="-122"/>
                  <a:ea typeface="微软雅黑" panose="020B0503020204020204" pitchFamily="34" charset="-122"/>
                </a:rPr>
                <a:t>消费者问题</a:t>
              </a:r>
            </a:p>
          </p:txBody>
        </p:sp>
      </p:grpSp>
    </p:spTree>
    <p:extLst>
      <p:ext uri="{BB962C8B-B14F-4D97-AF65-F5344CB8AC3E}">
        <p14:creationId xmlns:p14="http://schemas.microsoft.com/office/powerpoint/2010/main" val="3838335960"/>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灯片编号占位符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BF2D7F5-2163-4D4B-91FE-4DAC65050448}" type="slidenum">
              <a:rPr lang="zh-CN" altLang="zh-CN" sz="1400"/>
              <a:pPr>
                <a:spcBef>
                  <a:spcPct val="0"/>
                </a:spcBef>
                <a:buFontTx/>
                <a:buNone/>
              </a:pPr>
              <a:t>41</a:t>
            </a:fld>
            <a:endParaRPr lang="zh-CN" altLang="zh-CN" sz="1400"/>
          </a:p>
        </p:txBody>
      </p:sp>
      <p:sp>
        <p:nvSpPr>
          <p:cNvPr id="109571" name="Text Box 2"/>
          <p:cNvSpPr txBox="1">
            <a:spLocks noChangeArrowheads="1"/>
          </p:cNvSpPr>
          <p:nvPr/>
        </p:nvSpPr>
        <p:spPr bwMode="auto">
          <a:xfrm>
            <a:off x="2135189" y="741318"/>
            <a:ext cx="3794125" cy="580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FontTx/>
              <a:buNone/>
            </a:pPr>
            <a:r>
              <a:rPr lang="zh-CN" altLang="zh-CN" sz="2400" dirty="0">
                <a:latin typeface="Times New Roman" panose="02020603050405020304" pitchFamily="18" charset="0"/>
              </a:rPr>
              <a:t>moniter PC</a:t>
            </a:r>
            <a:r>
              <a:rPr lang="en-US" altLang="zh-CN" sz="2400" dirty="0">
                <a:latin typeface="Times New Roman" panose="02020603050405020304" pitchFamily="18" charset="0"/>
              </a:rPr>
              <a:t>{</a:t>
            </a:r>
            <a:endParaRPr lang="zh-CN" altLang="zh-CN" sz="2400" dirty="0">
              <a:latin typeface="Times New Roman" panose="02020603050405020304" pitchFamily="18" charset="0"/>
            </a:endParaRPr>
          </a:p>
          <a:p>
            <a:pPr eaLnBrk="1" hangingPunct="1">
              <a:lnSpc>
                <a:spcPct val="130000"/>
              </a:lnSpc>
              <a:spcBef>
                <a:spcPct val="0"/>
              </a:spcBef>
              <a:buFontTx/>
              <a:buNone/>
            </a:pPr>
            <a:r>
              <a:rPr lang="zh-CN" altLang="zh-CN" sz="2400" dirty="0">
                <a:latin typeface="Times New Roman" panose="02020603050405020304" pitchFamily="18" charset="0"/>
              </a:rPr>
              <a:t> char buffer[N];</a:t>
            </a:r>
          </a:p>
          <a:p>
            <a:pPr eaLnBrk="1" hangingPunct="1">
              <a:lnSpc>
                <a:spcPct val="130000"/>
              </a:lnSpc>
              <a:spcBef>
                <a:spcPct val="0"/>
              </a:spcBef>
              <a:buFontTx/>
              <a:buNone/>
            </a:pPr>
            <a:r>
              <a:rPr lang="zh-CN" altLang="zh-CN" sz="2400" dirty="0">
                <a:latin typeface="Times New Roman" panose="02020603050405020304" pitchFamily="18" charset="0"/>
              </a:rPr>
              <a:t> int nextin nextout;</a:t>
            </a:r>
          </a:p>
          <a:p>
            <a:pPr eaLnBrk="1" hangingPunct="1">
              <a:lnSpc>
                <a:spcPct val="130000"/>
              </a:lnSpc>
              <a:spcBef>
                <a:spcPct val="0"/>
              </a:spcBef>
              <a:buFontTx/>
              <a:buNone/>
            </a:pPr>
            <a:r>
              <a:rPr lang="zh-CN" altLang="zh-CN" sz="2400" dirty="0">
                <a:latin typeface="Times New Roman" panose="02020603050405020304" pitchFamily="18" charset="0"/>
              </a:rPr>
              <a:t> int count;</a:t>
            </a:r>
          </a:p>
          <a:p>
            <a:pPr eaLnBrk="1" hangingPunct="1">
              <a:lnSpc>
                <a:spcPct val="130000"/>
              </a:lnSpc>
              <a:spcBef>
                <a:spcPct val="0"/>
              </a:spcBef>
              <a:buFontTx/>
              <a:buNone/>
            </a:pPr>
            <a:r>
              <a:rPr lang="zh-CN" altLang="zh-CN" sz="2400" dirty="0">
                <a:latin typeface="Times New Roman" panose="02020603050405020304" pitchFamily="18" charset="0"/>
              </a:rPr>
              <a:t> condition notfull,notempty;</a:t>
            </a:r>
          </a:p>
          <a:p>
            <a:pPr eaLnBrk="1" hangingPunct="1">
              <a:lnSpc>
                <a:spcPct val="130000"/>
              </a:lnSpc>
              <a:spcBef>
                <a:spcPct val="0"/>
              </a:spcBef>
              <a:buFontTx/>
              <a:buNone/>
            </a:pPr>
            <a:r>
              <a:rPr lang="en-US" altLang="zh-CN" sz="2400" dirty="0">
                <a:latin typeface="Times New Roman" panose="02020603050405020304" pitchFamily="18" charset="0"/>
              </a:rPr>
              <a:t>Public:</a:t>
            </a:r>
          </a:p>
          <a:p>
            <a:pPr eaLnBrk="1" hangingPunct="1">
              <a:lnSpc>
                <a:spcPct val="130000"/>
              </a:lnSpc>
              <a:spcBef>
                <a:spcPct val="0"/>
              </a:spcBef>
              <a:buFontTx/>
              <a:buNone/>
            </a:pPr>
            <a:r>
              <a:rPr lang="zh-CN" altLang="zh-CN" sz="2400" dirty="0">
                <a:latin typeface="Times New Roman" panose="02020603050405020304" pitchFamily="18" charset="0"/>
              </a:rPr>
              <a:t> void put(char x)</a:t>
            </a:r>
          </a:p>
          <a:p>
            <a:pPr eaLnBrk="1" hangingPunct="1">
              <a:lnSpc>
                <a:spcPct val="130000"/>
              </a:lnSpc>
              <a:spcBef>
                <a:spcPct val="0"/>
              </a:spcBef>
              <a:buFontTx/>
              <a:buNone/>
            </a:pPr>
            <a:r>
              <a:rPr lang="zh-CN" altLang="zh-CN" sz="2400" dirty="0">
                <a:latin typeface="Times New Roman" panose="02020603050405020304" pitchFamily="18" charset="0"/>
              </a:rPr>
              <a:t> { if (count==N) notfull.wait;</a:t>
            </a:r>
          </a:p>
          <a:p>
            <a:pPr eaLnBrk="1" hangingPunct="1">
              <a:lnSpc>
                <a:spcPct val="130000"/>
              </a:lnSpc>
              <a:spcBef>
                <a:spcPct val="0"/>
              </a:spcBef>
              <a:buFontTx/>
              <a:buNone/>
            </a:pPr>
            <a:r>
              <a:rPr lang="zh-CN" altLang="zh-CN" sz="2400" dirty="0">
                <a:latin typeface="Times New Roman" panose="02020603050405020304" pitchFamily="18" charset="0"/>
              </a:rPr>
              <a:t>    buffer[nextin]=x;</a:t>
            </a:r>
          </a:p>
          <a:p>
            <a:pPr eaLnBrk="1" hangingPunct="1">
              <a:lnSpc>
                <a:spcPct val="130000"/>
              </a:lnSpc>
              <a:spcBef>
                <a:spcPct val="0"/>
              </a:spcBef>
              <a:buFontTx/>
              <a:buNone/>
            </a:pPr>
            <a:r>
              <a:rPr lang="zh-CN" altLang="zh-CN" sz="2400" dirty="0">
                <a:latin typeface="Times New Roman" panose="02020603050405020304" pitchFamily="18" charset="0"/>
              </a:rPr>
              <a:t>    nextin=(nextin+1)%N;</a:t>
            </a:r>
          </a:p>
          <a:p>
            <a:pPr eaLnBrk="1" hangingPunct="1">
              <a:lnSpc>
                <a:spcPct val="130000"/>
              </a:lnSpc>
              <a:spcBef>
                <a:spcPct val="0"/>
              </a:spcBef>
              <a:buFontTx/>
              <a:buNone/>
            </a:pPr>
            <a:r>
              <a:rPr lang="zh-CN" altLang="zh-CN" sz="2400" dirty="0">
                <a:latin typeface="Times New Roman" panose="02020603050405020304" pitchFamily="18" charset="0"/>
              </a:rPr>
              <a:t>    count++;</a:t>
            </a:r>
          </a:p>
          <a:p>
            <a:pPr eaLnBrk="1" hangingPunct="1">
              <a:lnSpc>
                <a:spcPct val="130000"/>
              </a:lnSpc>
              <a:spcBef>
                <a:spcPct val="0"/>
              </a:spcBef>
              <a:buFontTx/>
              <a:buNone/>
            </a:pPr>
            <a:r>
              <a:rPr lang="en-US" altLang="zh-CN" sz="2400" dirty="0">
                <a:latin typeface="Times New Roman" panose="02020603050405020304" pitchFamily="18" charset="0"/>
              </a:rPr>
              <a:t>    </a:t>
            </a:r>
            <a:r>
              <a:rPr lang="zh-CN" altLang="zh-CN" sz="2400" dirty="0">
                <a:latin typeface="Times New Roman" panose="02020603050405020304" pitchFamily="18" charset="0"/>
              </a:rPr>
              <a:t>notempty.signal;  }</a:t>
            </a:r>
          </a:p>
        </p:txBody>
      </p:sp>
      <p:sp>
        <p:nvSpPr>
          <p:cNvPr id="109573" name="Text Box 4"/>
          <p:cNvSpPr txBox="1">
            <a:spLocks noChangeArrowheads="1"/>
          </p:cNvSpPr>
          <p:nvPr/>
        </p:nvSpPr>
        <p:spPr bwMode="auto">
          <a:xfrm>
            <a:off x="6417916" y="749503"/>
            <a:ext cx="4356100" cy="441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FontTx/>
              <a:buNone/>
            </a:pPr>
            <a:r>
              <a:rPr lang="zh-CN" altLang="zh-CN" sz="2400" dirty="0">
                <a:latin typeface="Times New Roman" panose="02020603050405020304" pitchFamily="18" charset="0"/>
              </a:rPr>
              <a:t>void  get(char x)</a:t>
            </a:r>
          </a:p>
          <a:p>
            <a:pPr eaLnBrk="1" hangingPunct="1">
              <a:lnSpc>
                <a:spcPct val="130000"/>
              </a:lnSpc>
              <a:spcBef>
                <a:spcPct val="0"/>
              </a:spcBef>
              <a:buFontTx/>
              <a:buNone/>
            </a:pPr>
            <a:r>
              <a:rPr lang="zh-CN" altLang="zh-CN" sz="2400" dirty="0">
                <a:latin typeface="Times New Roman" panose="02020603050405020304" pitchFamily="18" charset="0"/>
              </a:rPr>
              <a:t>{ if (count==0) notempty.wait;</a:t>
            </a:r>
          </a:p>
          <a:p>
            <a:pPr eaLnBrk="1" hangingPunct="1">
              <a:lnSpc>
                <a:spcPct val="130000"/>
              </a:lnSpc>
              <a:spcBef>
                <a:spcPct val="0"/>
              </a:spcBef>
              <a:buFontTx/>
              <a:buNone/>
            </a:pPr>
            <a:r>
              <a:rPr lang="zh-CN" altLang="zh-CN" sz="2400" dirty="0">
                <a:latin typeface="Times New Roman" panose="02020603050405020304" pitchFamily="18" charset="0"/>
              </a:rPr>
              <a:t>    x=buffer[nextout];</a:t>
            </a:r>
          </a:p>
          <a:p>
            <a:pPr eaLnBrk="1" hangingPunct="1">
              <a:lnSpc>
                <a:spcPct val="130000"/>
              </a:lnSpc>
              <a:spcBef>
                <a:spcPct val="0"/>
              </a:spcBef>
              <a:buFontTx/>
              <a:buNone/>
            </a:pPr>
            <a:r>
              <a:rPr lang="zh-CN" altLang="zh-CN" sz="2400" dirty="0">
                <a:latin typeface="Times New Roman" panose="02020603050405020304" pitchFamily="18" charset="0"/>
              </a:rPr>
              <a:t>    nextout=(nextout+1)%N;</a:t>
            </a:r>
          </a:p>
          <a:p>
            <a:pPr eaLnBrk="1" hangingPunct="1">
              <a:lnSpc>
                <a:spcPct val="130000"/>
              </a:lnSpc>
              <a:spcBef>
                <a:spcPct val="0"/>
              </a:spcBef>
              <a:buFontTx/>
              <a:buNone/>
            </a:pPr>
            <a:r>
              <a:rPr lang="zh-CN" altLang="zh-CN" sz="2400" dirty="0">
                <a:latin typeface="Times New Roman" panose="02020603050405020304" pitchFamily="18" charset="0"/>
              </a:rPr>
              <a:t>    count--;</a:t>
            </a:r>
          </a:p>
          <a:p>
            <a:pPr eaLnBrk="1" hangingPunct="1">
              <a:lnSpc>
                <a:spcPct val="130000"/>
              </a:lnSpc>
              <a:spcBef>
                <a:spcPct val="0"/>
              </a:spcBef>
              <a:buFontTx/>
              <a:buNone/>
            </a:pPr>
            <a:r>
              <a:rPr lang="en-US" altLang="zh-CN" sz="2400" dirty="0">
                <a:latin typeface="Times New Roman" panose="02020603050405020304" pitchFamily="18" charset="0"/>
              </a:rPr>
              <a:t>    </a:t>
            </a:r>
            <a:r>
              <a:rPr lang="zh-CN" altLang="zh-CN" sz="2400" dirty="0">
                <a:latin typeface="Times New Roman" panose="02020603050405020304" pitchFamily="18" charset="0"/>
              </a:rPr>
              <a:t>notfull.signal;</a:t>
            </a:r>
          </a:p>
          <a:p>
            <a:pPr eaLnBrk="1" hangingPunct="1">
              <a:lnSpc>
                <a:spcPct val="130000"/>
              </a:lnSpc>
              <a:spcBef>
                <a:spcPct val="0"/>
              </a:spcBef>
              <a:buFontTx/>
              <a:buNone/>
            </a:pPr>
            <a:r>
              <a:rPr lang="zh-CN" altLang="zh-CN" sz="2400" dirty="0">
                <a:latin typeface="Times New Roman" panose="02020603050405020304" pitchFamily="18" charset="0"/>
              </a:rPr>
              <a:t>}</a:t>
            </a:r>
          </a:p>
          <a:p>
            <a:pPr eaLnBrk="1" hangingPunct="1">
              <a:lnSpc>
                <a:spcPct val="130000"/>
              </a:lnSpc>
              <a:spcBef>
                <a:spcPct val="0"/>
              </a:spcBef>
              <a:buFontTx/>
              <a:buNone/>
            </a:pPr>
            <a:r>
              <a:rPr lang="zh-CN" altLang="zh-CN" sz="2400" dirty="0">
                <a:latin typeface="Times New Roman" panose="02020603050405020304" pitchFamily="18" charset="0"/>
              </a:rPr>
              <a:t>{nextin=0;nextout=0;count=0;}</a:t>
            </a:r>
            <a:endParaRPr lang="en-US" altLang="zh-CN" sz="2400" dirty="0">
              <a:latin typeface="Times New Roman" panose="02020603050405020304" pitchFamily="18" charset="0"/>
            </a:endParaRPr>
          </a:p>
          <a:p>
            <a:pPr eaLnBrk="1" hangingPunct="1">
              <a:lnSpc>
                <a:spcPct val="130000"/>
              </a:lnSpc>
              <a:spcBef>
                <a:spcPct val="0"/>
              </a:spcBef>
              <a:buFontTx/>
              <a:buNone/>
            </a:pPr>
            <a:r>
              <a:rPr lang="en-US" altLang="zh-CN" sz="2400" dirty="0">
                <a:latin typeface="Times New Roman" panose="02020603050405020304" pitchFamily="18" charset="0"/>
              </a:rPr>
              <a:t>}PC;</a:t>
            </a:r>
            <a:endParaRPr lang="zh-CN" altLang="zh-CN" sz="2400" dirty="0">
              <a:latin typeface="Times New Roman" panose="02020603050405020304" pitchFamily="18" charset="0"/>
            </a:endParaRPr>
          </a:p>
        </p:txBody>
      </p:sp>
      <p:sp>
        <p:nvSpPr>
          <p:cNvPr id="5" name="标题 1">
            <a:extLst>
              <a:ext uri="{FF2B5EF4-FFF2-40B4-BE49-F238E27FC236}">
                <a16:creationId xmlns:a16="http://schemas.microsoft.com/office/drawing/2014/main" id="{0BD35842-EFBC-4BDF-89D7-02F376C13193}"/>
              </a:ext>
            </a:extLst>
          </p:cNvPr>
          <p:cNvSpPr txBox="1">
            <a:spLocks/>
          </p:cNvSpPr>
          <p:nvPr/>
        </p:nvSpPr>
        <p:spPr>
          <a:xfrm>
            <a:off x="848833" y="202028"/>
            <a:ext cx="3967716" cy="457196"/>
          </a:xfrm>
          <a:prstGeom prst="rect">
            <a:avLst/>
          </a:prstGeom>
        </p:spPr>
        <p:txBody>
          <a:bodyPr/>
          <a:lstStyle>
            <a:lvl1pPr algn="l" defTabSz="914400" rtl="0" eaLnBrk="1" latinLnBrk="0" hangingPunct="1">
              <a:lnSpc>
                <a:spcPct val="90000"/>
              </a:lnSpc>
              <a:spcBef>
                <a:spcPct val="0"/>
              </a:spcBef>
              <a:buNone/>
              <a:defRPr lang="zh-CN" altLang="en-US" sz="2400" b="1" kern="1200" dirty="0">
                <a:solidFill>
                  <a:srgbClr val="3D7351"/>
                </a:solidFill>
                <a:latin typeface="微软雅黑" panose="020B0503020204020204" pitchFamily="34" charset="-122"/>
                <a:ea typeface="微软雅黑" panose="020B0503020204020204" pitchFamily="34" charset="-122"/>
                <a:cs typeface="+mn-cs"/>
              </a:defRPr>
            </a:lvl1pPr>
          </a:lstStyle>
          <a:p>
            <a:r>
              <a:rPr lang="en-US" altLang="zh-CN" dirty="0"/>
              <a:t>5.</a:t>
            </a:r>
            <a:r>
              <a:rPr lang="zh-CN" altLang="en-US" dirty="0"/>
              <a:t>管程机制</a:t>
            </a:r>
          </a:p>
        </p:txBody>
      </p:sp>
    </p:spTree>
    <p:extLst>
      <p:ext uri="{BB962C8B-B14F-4D97-AF65-F5344CB8AC3E}">
        <p14:creationId xmlns:p14="http://schemas.microsoft.com/office/powerpoint/2010/main" val="2549131973"/>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灯片编号占位符 3"/>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spcBef>
                <a:spcPct val="0"/>
              </a:spcBef>
              <a:buFontTx/>
              <a:buNone/>
            </a:pPr>
            <a:fld id="{CD258FD5-D67C-4948-A422-7EDBC895FFFC}" type="slidenum">
              <a:rPr lang="zh-CN" altLang="zh-CN" sz="1400"/>
              <a:pPr>
                <a:spcBef>
                  <a:spcPct val="0"/>
                </a:spcBef>
                <a:buFontTx/>
                <a:buNone/>
              </a:pPr>
              <a:t>42</a:t>
            </a:fld>
            <a:endParaRPr lang="zh-CN" altLang="zh-CN" sz="1400"/>
          </a:p>
        </p:txBody>
      </p:sp>
      <p:sp>
        <p:nvSpPr>
          <p:cNvPr id="5" name="标题 1">
            <a:extLst>
              <a:ext uri="{FF2B5EF4-FFF2-40B4-BE49-F238E27FC236}">
                <a16:creationId xmlns:a16="http://schemas.microsoft.com/office/drawing/2014/main" id="{0CE93C0E-7743-4253-9E11-D3A530E534D1}"/>
              </a:ext>
            </a:extLst>
          </p:cNvPr>
          <p:cNvSpPr txBox="1">
            <a:spLocks/>
          </p:cNvSpPr>
          <p:nvPr/>
        </p:nvSpPr>
        <p:spPr>
          <a:xfrm>
            <a:off x="848833" y="202028"/>
            <a:ext cx="3967716" cy="457196"/>
          </a:xfrm>
          <a:prstGeom prst="rect">
            <a:avLst/>
          </a:prstGeom>
        </p:spPr>
        <p:txBody>
          <a:bodyPr/>
          <a:lstStyle>
            <a:lvl1pPr algn="l" defTabSz="914400" rtl="0" eaLnBrk="1" latinLnBrk="0" hangingPunct="1">
              <a:lnSpc>
                <a:spcPct val="90000"/>
              </a:lnSpc>
              <a:spcBef>
                <a:spcPct val="0"/>
              </a:spcBef>
              <a:buNone/>
              <a:defRPr lang="zh-CN" altLang="en-US" sz="2400" b="1" kern="1200" dirty="0">
                <a:solidFill>
                  <a:srgbClr val="3D7351"/>
                </a:solidFill>
                <a:latin typeface="微软雅黑" panose="020B0503020204020204" pitchFamily="34" charset="-122"/>
                <a:ea typeface="微软雅黑" panose="020B0503020204020204" pitchFamily="34" charset="-122"/>
                <a:cs typeface="+mn-cs"/>
              </a:defRPr>
            </a:lvl1pPr>
          </a:lstStyle>
          <a:p>
            <a:r>
              <a:rPr lang="en-US" altLang="zh-CN" dirty="0"/>
              <a:t>5.</a:t>
            </a:r>
            <a:r>
              <a:rPr lang="zh-CN" altLang="en-US" dirty="0"/>
              <a:t>管程机制</a:t>
            </a:r>
          </a:p>
        </p:txBody>
      </p:sp>
      <p:grpSp>
        <p:nvGrpSpPr>
          <p:cNvPr id="6" name="组合 3">
            <a:extLst>
              <a:ext uri="{FF2B5EF4-FFF2-40B4-BE49-F238E27FC236}">
                <a16:creationId xmlns:a16="http://schemas.microsoft.com/office/drawing/2014/main" id="{8A898C99-5578-492A-A5DD-493F1CB368EC}"/>
              </a:ext>
            </a:extLst>
          </p:cNvPr>
          <p:cNvGrpSpPr/>
          <p:nvPr/>
        </p:nvGrpSpPr>
        <p:grpSpPr>
          <a:xfrm>
            <a:off x="1004177" y="1027910"/>
            <a:ext cx="5314736" cy="665162"/>
            <a:chOff x="1004177" y="1027910"/>
            <a:chExt cx="5314736" cy="665162"/>
          </a:xfrm>
        </p:grpSpPr>
        <p:sp>
          <p:nvSpPr>
            <p:cNvPr id="7" name="矩形 6">
              <a:extLst>
                <a:ext uri="{FF2B5EF4-FFF2-40B4-BE49-F238E27FC236}">
                  <a16:creationId xmlns:a16="http://schemas.microsoft.com/office/drawing/2014/main" id="{5F4679F9-5716-4220-89BD-F00F77D79D42}"/>
                </a:ext>
              </a:extLst>
            </p:cNvPr>
            <p:cNvSpPr/>
            <p:nvPr/>
          </p:nvSpPr>
          <p:spPr>
            <a:xfrm>
              <a:off x="1150228" y="1561310"/>
              <a:ext cx="776287" cy="131762"/>
            </a:xfrm>
            <a:prstGeom prst="rect">
              <a:avLst/>
            </a:prstGeom>
            <a:solidFill>
              <a:srgbClr val="4C7E51"/>
            </a:solidFill>
            <a:ln>
              <a:solidFill>
                <a:srgbClr val="4C7E5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8" name="矩形 7">
              <a:extLst>
                <a:ext uri="{FF2B5EF4-FFF2-40B4-BE49-F238E27FC236}">
                  <a16:creationId xmlns:a16="http://schemas.microsoft.com/office/drawing/2014/main" id="{1FA53E9E-D99B-475F-A045-A797BBAC37E5}"/>
                </a:ext>
              </a:extLst>
            </p:cNvPr>
            <p:cNvSpPr/>
            <p:nvPr/>
          </p:nvSpPr>
          <p:spPr>
            <a:xfrm>
              <a:off x="2058278" y="1561310"/>
              <a:ext cx="3352800" cy="131762"/>
            </a:xfrm>
            <a:prstGeom prst="rect">
              <a:avLst/>
            </a:prstGeom>
            <a:solidFill>
              <a:srgbClr val="8EB453"/>
            </a:solidFill>
            <a:ln>
              <a:solidFill>
                <a:srgbClr val="8EB45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9" name="文本框 55">
              <a:extLst>
                <a:ext uri="{FF2B5EF4-FFF2-40B4-BE49-F238E27FC236}">
                  <a16:creationId xmlns:a16="http://schemas.microsoft.com/office/drawing/2014/main" id="{D3079819-BCA4-43CC-BFF8-21D22C863469}"/>
                </a:ext>
              </a:extLst>
            </p:cNvPr>
            <p:cNvSpPr txBox="1">
              <a:spLocks noChangeArrowheads="1"/>
            </p:cNvSpPr>
            <p:nvPr/>
          </p:nvSpPr>
          <p:spPr bwMode="auto">
            <a:xfrm>
              <a:off x="1004177" y="1027910"/>
              <a:ext cx="53147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b="1" dirty="0">
                  <a:solidFill>
                    <a:srgbClr val="4C7E51"/>
                  </a:solidFill>
                  <a:latin typeface="微软雅黑" panose="020B0503020204020204" pitchFamily="34" charset="-122"/>
                  <a:ea typeface="微软雅黑" panose="020B0503020204020204" pitchFamily="34" charset="-122"/>
                </a:rPr>
                <a:t>3</a:t>
              </a:r>
              <a:r>
                <a:rPr lang="zh-CN" altLang="en-US" sz="2400" b="1" dirty="0">
                  <a:solidFill>
                    <a:srgbClr val="4C7E51"/>
                  </a:solidFill>
                  <a:latin typeface="微软雅黑" panose="020B0503020204020204" pitchFamily="34" charset="-122"/>
                  <a:ea typeface="微软雅黑" panose="020B0503020204020204" pitchFamily="34" charset="-122"/>
                </a:rPr>
                <a:t>）利用管程解决生产者</a:t>
              </a:r>
              <a:r>
                <a:rPr lang="en-US" altLang="zh-CN" sz="2400" b="1" dirty="0">
                  <a:solidFill>
                    <a:srgbClr val="4C7E51"/>
                  </a:solidFill>
                  <a:latin typeface="微软雅黑" panose="020B0503020204020204" pitchFamily="34" charset="-122"/>
                  <a:ea typeface="微软雅黑" panose="020B0503020204020204" pitchFamily="34" charset="-122"/>
                </a:rPr>
                <a:t>-</a:t>
              </a:r>
              <a:r>
                <a:rPr lang="zh-CN" altLang="en-US" sz="2400" b="1" dirty="0">
                  <a:solidFill>
                    <a:srgbClr val="4C7E51"/>
                  </a:solidFill>
                  <a:latin typeface="微软雅黑" panose="020B0503020204020204" pitchFamily="34" charset="-122"/>
                  <a:ea typeface="微软雅黑" panose="020B0503020204020204" pitchFamily="34" charset="-122"/>
                </a:rPr>
                <a:t>消费者问题</a:t>
              </a:r>
            </a:p>
          </p:txBody>
        </p:sp>
      </p:grpSp>
      <p:sp>
        <p:nvSpPr>
          <p:cNvPr id="2" name="Text Box 3">
            <a:extLst>
              <a:ext uri="{FF2B5EF4-FFF2-40B4-BE49-F238E27FC236}">
                <a16:creationId xmlns:a16="http://schemas.microsoft.com/office/drawing/2014/main" id="{704CC2A8-84F3-7245-D5BB-AF33FD77A738}"/>
              </a:ext>
            </a:extLst>
          </p:cNvPr>
          <p:cNvSpPr txBox="1">
            <a:spLocks noChangeArrowheads="1"/>
          </p:cNvSpPr>
          <p:nvPr/>
        </p:nvSpPr>
        <p:spPr bwMode="auto">
          <a:xfrm>
            <a:off x="1089715" y="1942834"/>
            <a:ext cx="7842250" cy="44135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FontTx/>
              <a:buNone/>
            </a:pPr>
            <a:r>
              <a:rPr lang="zh-CN" altLang="zh-CN" sz="2400" dirty="0">
                <a:latin typeface="Times New Roman" panose="02020603050405020304" pitchFamily="18" charset="0"/>
              </a:rPr>
              <a:t>void producer()</a:t>
            </a:r>
          </a:p>
          <a:p>
            <a:pPr eaLnBrk="1" hangingPunct="1">
              <a:lnSpc>
                <a:spcPct val="130000"/>
              </a:lnSpc>
              <a:spcBef>
                <a:spcPct val="0"/>
              </a:spcBef>
              <a:buFontTx/>
              <a:buNone/>
            </a:pPr>
            <a:r>
              <a:rPr lang="zh-CN" altLang="zh-CN" sz="2400" dirty="0">
                <a:latin typeface="Times New Roman" panose="02020603050405020304" pitchFamily="18" charset="0"/>
              </a:rPr>
              <a:t>{</a:t>
            </a:r>
          </a:p>
          <a:p>
            <a:pPr eaLnBrk="1" hangingPunct="1">
              <a:lnSpc>
                <a:spcPct val="130000"/>
              </a:lnSpc>
              <a:spcBef>
                <a:spcPct val="0"/>
              </a:spcBef>
              <a:buFontTx/>
              <a:buNone/>
            </a:pPr>
            <a:r>
              <a:rPr lang="zh-CN" altLang="zh-CN" sz="2400" dirty="0">
                <a:latin typeface="Times New Roman" panose="02020603050405020304" pitchFamily="18" charset="0"/>
              </a:rPr>
              <a:t>    char x;</a:t>
            </a:r>
          </a:p>
          <a:p>
            <a:pPr eaLnBrk="1" hangingPunct="1">
              <a:lnSpc>
                <a:spcPct val="130000"/>
              </a:lnSpc>
              <a:spcBef>
                <a:spcPct val="0"/>
              </a:spcBef>
              <a:buFontTx/>
              <a:buNone/>
            </a:pPr>
            <a:r>
              <a:rPr lang="zh-CN" altLang="zh-CN" sz="2400" dirty="0">
                <a:latin typeface="Times New Roman" panose="02020603050405020304" pitchFamily="18" charset="0"/>
              </a:rPr>
              <a:t>    while (</a:t>
            </a:r>
            <a:r>
              <a:rPr lang="en-US" altLang="zh-CN" sz="2400" dirty="0">
                <a:latin typeface="Times New Roman" panose="02020603050405020304" pitchFamily="18" charset="0"/>
              </a:rPr>
              <a:t>t</a:t>
            </a:r>
            <a:r>
              <a:rPr lang="zh-CN" altLang="zh-CN" sz="2400" dirty="0">
                <a:latin typeface="Times New Roman" panose="02020603050405020304" pitchFamily="18" charset="0"/>
              </a:rPr>
              <a:t>rue)</a:t>
            </a:r>
          </a:p>
          <a:p>
            <a:pPr eaLnBrk="1" hangingPunct="1">
              <a:lnSpc>
                <a:spcPct val="130000"/>
              </a:lnSpc>
              <a:spcBef>
                <a:spcPct val="0"/>
              </a:spcBef>
              <a:buFontTx/>
              <a:buNone/>
            </a:pPr>
            <a:r>
              <a:rPr lang="zh-CN" altLang="zh-CN" sz="2400" dirty="0">
                <a:latin typeface="Times New Roman" panose="02020603050405020304" pitchFamily="18" charset="0"/>
              </a:rPr>
              <a:t>   {</a:t>
            </a:r>
          </a:p>
          <a:p>
            <a:pPr eaLnBrk="1" hangingPunct="1">
              <a:lnSpc>
                <a:spcPct val="130000"/>
              </a:lnSpc>
              <a:spcBef>
                <a:spcPct val="0"/>
              </a:spcBef>
              <a:buFontTx/>
              <a:buNone/>
            </a:pPr>
            <a:r>
              <a:rPr lang="zh-CN" altLang="zh-CN" sz="2400" dirty="0">
                <a:latin typeface="Times New Roman" panose="02020603050405020304" pitchFamily="18" charset="0"/>
              </a:rPr>
              <a:t>      procedure(x);</a:t>
            </a:r>
          </a:p>
          <a:p>
            <a:pPr eaLnBrk="1" hangingPunct="1">
              <a:lnSpc>
                <a:spcPct val="130000"/>
              </a:lnSpc>
              <a:spcBef>
                <a:spcPct val="0"/>
              </a:spcBef>
              <a:buFontTx/>
              <a:buNone/>
            </a:pPr>
            <a:r>
              <a:rPr lang="zh-CN" altLang="zh-CN" sz="2400" dirty="0">
                <a:latin typeface="Times New Roman" panose="02020603050405020304" pitchFamily="18" charset="0"/>
              </a:rPr>
              <a:t>      PC.put(x);</a:t>
            </a:r>
          </a:p>
          <a:p>
            <a:pPr eaLnBrk="1" hangingPunct="1">
              <a:lnSpc>
                <a:spcPct val="130000"/>
              </a:lnSpc>
              <a:spcBef>
                <a:spcPct val="0"/>
              </a:spcBef>
              <a:buFontTx/>
              <a:buNone/>
            </a:pPr>
            <a:r>
              <a:rPr lang="zh-CN" altLang="zh-CN" sz="2400" dirty="0">
                <a:latin typeface="Times New Roman" panose="02020603050405020304" pitchFamily="18" charset="0"/>
              </a:rPr>
              <a:t>  }</a:t>
            </a:r>
          </a:p>
          <a:p>
            <a:pPr eaLnBrk="1" hangingPunct="1">
              <a:lnSpc>
                <a:spcPct val="130000"/>
              </a:lnSpc>
              <a:spcBef>
                <a:spcPct val="0"/>
              </a:spcBef>
              <a:buFontTx/>
              <a:buNone/>
            </a:pPr>
            <a:r>
              <a:rPr lang="zh-CN" altLang="zh-CN" sz="2400" dirty="0">
                <a:latin typeface="Times New Roman" panose="02020603050405020304" pitchFamily="18" charset="0"/>
              </a:rPr>
              <a:t>}</a:t>
            </a:r>
            <a:endParaRPr lang="zh-CN" altLang="zh-CN" sz="2300" dirty="0">
              <a:latin typeface="Times New Roman" panose="02020603050405020304" pitchFamily="18" charset="0"/>
            </a:endParaRPr>
          </a:p>
        </p:txBody>
      </p:sp>
      <p:sp>
        <p:nvSpPr>
          <p:cNvPr id="3" name="Rectangle 4">
            <a:extLst>
              <a:ext uri="{FF2B5EF4-FFF2-40B4-BE49-F238E27FC236}">
                <a16:creationId xmlns:a16="http://schemas.microsoft.com/office/drawing/2014/main" id="{3A6109B9-FAA5-734F-AB2A-BEE47F1E7D13}"/>
              </a:ext>
            </a:extLst>
          </p:cNvPr>
          <p:cNvSpPr>
            <a:spLocks noChangeArrowheads="1"/>
          </p:cNvSpPr>
          <p:nvPr/>
        </p:nvSpPr>
        <p:spPr bwMode="auto">
          <a:xfrm>
            <a:off x="4275222" y="1942834"/>
            <a:ext cx="2271712" cy="4373562"/>
          </a:xfrm>
          <a:prstGeom prst="rect">
            <a:avLst/>
          </a:prstGeom>
          <a:solidFill>
            <a:srgbClr val="CCECFF"/>
          </a:solidFill>
          <a:ln w="9525">
            <a:solidFill>
              <a:srgbClr val="9999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FontTx/>
              <a:buNone/>
            </a:pPr>
            <a:r>
              <a:rPr lang="zh-CN" altLang="zh-CN" sz="2400">
                <a:latin typeface="Times New Roman" panose="02020603050405020304" pitchFamily="18" charset="0"/>
              </a:rPr>
              <a:t>void consumer ()</a:t>
            </a:r>
            <a:br>
              <a:rPr lang="zh-CN" altLang="zh-CN" sz="2400">
                <a:latin typeface="Times New Roman" panose="02020603050405020304" pitchFamily="18" charset="0"/>
              </a:rPr>
            </a:br>
            <a:r>
              <a:rPr lang="zh-CN" altLang="zh-CN" sz="2400">
                <a:latin typeface="Times New Roman" panose="02020603050405020304" pitchFamily="18" charset="0"/>
              </a:rPr>
              <a:t>{</a:t>
            </a:r>
            <a:br>
              <a:rPr lang="zh-CN" altLang="zh-CN" sz="2400">
                <a:latin typeface="Times New Roman" panose="02020603050405020304" pitchFamily="18" charset="0"/>
              </a:rPr>
            </a:br>
            <a:r>
              <a:rPr lang="zh-CN" altLang="zh-CN" sz="2400">
                <a:latin typeface="Times New Roman" panose="02020603050405020304" pitchFamily="18" charset="0"/>
              </a:rPr>
              <a:t>   char x;</a:t>
            </a:r>
          </a:p>
          <a:p>
            <a:pPr eaLnBrk="1" hangingPunct="1">
              <a:lnSpc>
                <a:spcPct val="130000"/>
              </a:lnSpc>
              <a:spcBef>
                <a:spcPct val="0"/>
              </a:spcBef>
              <a:buFontTx/>
              <a:buNone/>
            </a:pPr>
            <a:r>
              <a:rPr lang="zh-CN" altLang="zh-CN" sz="2400">
                <a:latin typeface="Times New Roman" panose="02020603050405020304" pitchFamily="18" charset="0"/>
              </a:rPr>
              <a:t>   while (true)</a:t>
            </a:r>
          </a:p>
          <a:p>
            <a:pPr eaLnBrk="1" hangingPunct="1">
              <a:lnSpc>
                <a:spcPct val="130000"/>
              </a:lnSpc>
              <a:spcBef>
                <a:spcPct val="0"/>
              </a:spcBef>
              <a:buFontTx/>
              <a:buNone/>
            </a:pPr>
            <a:r>
              <a:rPr lang="zh-CN" altLang="zh-CN" sz="2400">
                <a:latin typeface="Times New Roman" panose="02020603050405020304" pitchFamily="18" charset="0"/>
              </a:rPr>
              <a:t>  {</a:t>
            </a:r>
          </a:p>
          <a:p>
            <a:pPr eaLnBrk="1" hangingPunct="1">
              <a:lnSpc>
                <a:spcPct val="130000"/>
              </a:lnSpc>
              <a:spcBef>
                <a:spcPct val="0"/>
              </a:spcBef>
              <a:buFontTx/>
              <a:buNone/>
            </a:pPr>
            <a:r>
              <a:rPr lang="zh-CN" altLang="zh-CN" sz="2400">
                <a:latin typeface="Times New Roman" panose="02020603050405020304" pitchFamily="18" charset="0"/>
              </a:rPr>
              <a:t>      PC.get(x);</a:t>
            </a:r>
          </a:p>
          <a:p>
            <a:pPr eaLnBrk="1" hangingPunct="1">
              <a:lnSpc>
                <a:spcPct val="130000"/>
              </a:lnSpc>
              <a:spcBef>
                <a:spcPct val="0"/>
              </a:spcBef>
              <a:buFontTx/>
              <a:buNone/>
            </a:pPr>
            <a:r>
              <a:rPr lang="zh-CN" altLang="zh-CN" sz="2400">
                <a:latin typeface="Times New Roman" panose="02020603050405020304" pitchFamily="18" charset="0"/>
              </a:rPr>
              <a:t>      consume(x)</a:t>
            </a:r>
          </a:p>
          <a:p>
            <a:pPr eaLnBrk="1" hangingPunct="1">
              <a:lnSpc>
                <a:spcPct val="130000"/>
              </a:lnSpc>
              <a:spcBef>
                <a:spcPct val="0"/>
              </a:spcBef>
              <a:buFontTx/>
              <a:buNone/>
            </a:pPr>
            <a:r>
              <a:rPr lang="zh-CN" altLang="zh-CN" sz="2400">
                <a:latin typeface="Times New Roman" panose="02020603050405020304" pitchFamily="18" charset="0"/>
              </a:rPr>
              <a:t>}</a:t>
            </a:r>
            <a:br>
              <a:rPr lang="zh-CN" altLang="zh-CN" sz="2400">
                <a:latin typeface="Times New Roman" panose="02020603050405020304" pitchFamily="18" charset="0"/>
              </a:rPr>
            </a:br>
            <a:endParaRPr lang="zh-CN" altLang="zh-CN" sz="2400">
              <a:latin typeface="Times New Roman" panose="02020603050405020304" pitchFamily="18" charset="0"/>
            </a:endParaRPr>
          </a:p>
        </p:txBody>
      </p:sp>
      <p:sp>
        <p:nvSpPr>
          <p:cNvPr id="4" name="Rectangle 4">
            <a:extLst>
              <a:ext uri="{FF2B5EF4-FFF2-40B4-BE49-F238E27FC236}">
                <a16:creationId xmlns:a16="http://schemas.microsoft.com/office/drawing/2014/main" id="{A1659E0C-92FD-6036-48D7-41CDE76E0A24}"/>
              </a:ext>
            </a:extLst>
          </p:cNvPr>
          <p:cNvSpPr>
            <a:spLocks noChangeArrowheads="1"/>
          </p:cNvSpPr>
          <p:nvPr/>
        </p:nvSpPr>
        <p:spPr bwMode="auto">
          <a:xfrm>
            <a:off x="7391377" y="1942834"/>
            <a:ext cx="2206625" cy="3935412"/>
          </a:xfrm>
          <a:prstGeom prst="rect">
            <a:avLst/>
          </a:prstGeom>
          <a:solidFill>
            <a:schemeClr val="bg1"/>
          </a:solidFill>
          <a:ln w="9525">
            <a:solidFill>
              <a:srgbClr val="9999FF"/>
            </a:solidFill>
            <a:miter lim="800000"/>
            <a:headEnd/>
            <a:tailEnd/>
          </a:ln>
        </p:spPr>
        <p:txBody>
          <a:bodyPr wrap="none" lIns="90000" tIns="46800" rIns="90000" bIns="4680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30000"/>
              </a:lnSpc>
              <a:spcBef>
                <a:spcPct val="0"/>
              </a:spcBef>
              <a:buFontTx/>
              <a:buNone/>
            </a:pPr>
            <a:r>
              <a:rPr lang="zh-CN" altLang="zh-CN" sz="2400">
                <a:latin typeface="Times New Roman" panose="02020603050405020304" pitchFamily="18" charset="0"/>
              </a:rPr>
              <a:t>void </a:t>
            </a:r>
            <a:r>
              <a:rPr lang="en-US" altLang="zh-CN" sz="2400">
                <a:latin typeface="Times New Roman" panose="02020603050405020304" pitchFamily="18" charset="0"/>
              </a:rPr>
              <a:t>main</a:t>
            </a:r>
            <a:r>
              <a:rPr lang="zh-CN" altLang="zh-CN" sz="2400">
                <a:latin typeface="Times New Roman" panose="02020603050405020304" pitchFamily="18" charset="0"/>
              </a:rPr>
              <a:t> ()</a:t>
            </a:r>
            <a:br>
              <a:rPr lang="zh-CN" altLang="zh-CN" sz="2400">
                <a:latin typeface="Times New Roman" panose="02020603050405020304" pitchFamily="18" charset="0"/>
              </a:rPr>
            </a:br>
            <a:r>
              <a:rPr lang="zh-CN" altLang="zh-CN" sz="2400">
                <a:latin typeface="Times New Roman" panose="02020603050405020304" pitchFamily="18" charset="0"/>
              </a:rPr>
              <a:t>{</a:t>
            </a:r>
            <a:br>
              <a:rPr lang="zh-CN" altLang="zh-CN" sz="2400">
                <a:latin typeface="Times New Roman" panose="02020603050405020304" pitchFamily="18" charset="0"/>
              </a:rPr>
            </a:br>
            <a:r>
              <a:rPr lang="zh-CN" altLang="zh-CN" sz="2400">
                <a:latin typeface="Times New Roman" panose="02020603050405020304" pitchFamily="18" charset="0"/>
              </a:rPr>
              <a:t>   </a:t>
            </a:r>
            <a:r>
              <a:rPr lang="en-US" altLang="zh-CN" sz="2400">
                <a:latin typeface="Times New Roman" panose="02020603050405020304" pitchFamily="18" charset="0"/>
              </a:rPr>
              <a:t>cobegin</a:t>
            </a:r>
            <a:endParaRPr lang="zh-CN" altLang="zh-CN" sz="2400">
              <a:latin typeface="Times New Roman" panose="02020603050405020304" pitchFamily="18" charset="0"/>
            </a:endParaRPr>
          </a:p>
          <a:p>
            <a:pPr eaLnBrk="1" hangingPunct="1">
              <a:lnSpc>
                <a:spcPct val="130000"/>
              </a:lnSpc>
              <a:spcBef>
                <a:spcPct val="0"/>
              </a:spcBef>
              <a:buFontTx/>
              <a:buNone/>
            </a:pPr>
            <a:r>
              <a:rPr lang="en-US" altLang="zh-CN" sz="2400">
                <a:latin typeface="Times New Roman" panose="02020603050405020304" pitchFamily="18" charset="0"/>
              </a:rPr>
              <a:t>      </a:t>
            </a:r>
            <a:r>
              <a:rPr lang="zh-CN" altLang="zh-CN" sz="2400">
                <a:latin typeface="Times New Roman" panose="02020603050405020304" pitchFamily="18" charset="0"/>
              </a:rPr>
              <a:t>producer();</a:t>
            </a:r>
          </a:p>
          <a:p>
            <a:pPr eaLnBrk="1" hangingPunct="1">
              <a:lnSpc>
                <a:spcPct val="130000"/>
              </a:lnSpc>
              <a:spcBef>
                <a:spcPct val="0"/>
              </a:spcBef>
              <a:buFontTx/>
              <a:buNone/>
            </a:pPr>
            <a:r>
              <a:rPr lang="zh-CN" altLang="zh-CN" sz="2400">
                <a:latin typeface="Times New Roman" panose="02020603050405020304" pitchFamily="18" charset="0"/>
              </a:rPr>
              <a:t>      consumer ()</a:t>
            </a:r>
            <a:r>
              <a:rPr lang="en-US" altLang="zh-CN" sz="2400">
                <a:latin typeface="Times New Roman" panose="02020603050405020304" pitchFamily="18" charset="0"/>
              </a:rPr>
              <a:t>;</a:t>
            </a:r>
          </a:p>
          <a:p>
            <a:pPr eaLnBrk="1" hangingPunct="1">
              <a:lnSpc>
                <a:spcPct val="130000"/>
              </a:lnSpc>
              <a:spcBef>
                <a:spcPct val="0"/>
              </a:spcBef>
              <a:buFontTx/>
              <a:buNone/>
            </a:pPr>
            <a:r>
              <a:rPr lang="en-US" altLang="zh-CN" sz="2400">
                <a:latin typeface="Times New Roman" panose="02020603050405020304" pitchFamily="18" charset="0"/>
              </a:rPr>
              <a:t>    coend;</a:t>
            </a:r>
            <a:endParaRPr lang="zh-CN" altLang="zh-CN" sz="2400">
              <a:latin typeface="Times New Roman" panose="02020603050405020304" pitchFamily="18" charset="0"/>
            </a:endParaRPr>
          </a:p>
          <a:p>
            <a:pPr eaLnBrk="1" hangingPunct="1">
              <a:lnSpc>
                <a:spcPct val="130000"/>
              </a:lnSpc>
              <a:spcBef>
                <a:spcPct val="0"/>
              </a:spcBef>
              <a:buFontTx/>
              <a:buNone/>
            </a:pPr>
            <a:r>
              <a:rPr lang="zh-CN" altLang="zh-CN" sz="2400">
                <a:latin typeface="Times New Roman" panose="02020603050405020304" pitchFamily="18" charset="0"/>
              </a:rPr>
              <a:t>}</a:t>
            </a:r>
            <a:br>
              <a:rPr lang="zh-CN" altLang="zh-CN" sz="2400">
                <a:latin typeface="Times New Roman" panose="02020603050405020304" pitchFamily="18" charset="0"/>
              </a:rPr>
            </a:br>
            <a:endParaRPr lang="zh-CN" altLang="zh-CN" sz="2400">
              <a:latin typeface="Times New Roman" panose="02020603050405020304" pitchFamily="18" charset="0"/>
            </a:endParaRPr>
          </a:p>
        </p:txBody>
      </p:sp>
    </p:spTree>
    <p:extLst>
      <p:ext uri="{BB962C8B-B14F-4D97-AF65-F5344CB8AC3E}">
        <p14:creationId xmlns:p14="http://schemas.microsoft.com/office/powerpoint/2010/main" val="2154922183"/>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2"/>
          <p:cNvSpPr/>
          <p:nvPr/>
        </p:nvSpPr>
        <p:spPr>
          <a:xfrm>
            <a:off x="2242517" y="2946258"/>
            <a:ext cx="596900" cy="656791"/>
          </a:xfrm>
          <a:custGeom>
            <a:avLst/>
            <a:gdLst>
              <a:gd name="connsiteX0" fmla="*/ 0 w 561975"/>
              <a:gd name="connsiteY0" fmla="*/ 0 h 547688"/>
              <a:gd name="connsiteX1" fmla="*/ 552450 w 561975"/>
              <a:gd name="connsiteY1" fmla="*/ 547688 h 547688"/>
              <a:gd name="connsiteX2" fmla="*/ 561975 w 561975"/>
              <a:gd name="connsiteY2" fmla="*/ 0 h 547688"/>
              <a:gd name="connsiteX3" fmla="*/ 0 w 561975"/>
              <a:gd name="connsiteY3" fmla="*/ 0 h 547688"/>
              <a:gd name="connsiteX0" fmla="*/ 0 w 576263"/>
              <a:gd name="connsiteY0" fmla="*/ 0 h 547688"/>
              <a:gd name="connsiteX1" fmla="*/ 566738 w 576263"/>
              <a:gd name="connsiteY1" fmla="*/ 547688 h 547688"/>
              <a:gd name="connsiteX2" fmla="*/ 576263 w 576263"/>
              <a:gd name="connsiteY2" fmla="*/ 0 h 547688"/>
              <a:gd name="connsiteX3" fmla="*/ 0 w 576263"/>
              <a:gd name="connsiteY3" fmla="*/ 0 h 547688"/>
              <a:gd name="connsiteX0" fmla="*/ 0 w 576263"/>
              <a:gd name="connsiteY0" fmla="*/ 0 h 571500"/>
              <a:gd name="connsiteX1" fmla="*/ 566738 w 576263"/>
              <a:gd name="connsiteY1" fmla="*/ 571500 h 571500"/>
              <a:gd name="connsiteX2" fmla="*/ 576263 w 576263"/>
              <a:gd name="connsiteY2" fmla="*/ 0 h 571500"/>
              <a:gd name="connsiteX3" fmla="*/ 0 w 576263"/>
              <a:gd name="connsiteY3" fmla="*/ 0 h 571500"/>
              <a:gd name="connsiteX0" fmla="*/ 0 w 576263"/>
              <a:gd name="connsiteY0" fmla="*/ 0 h 576263"/>
              <a:gd name="connsiteX1" fmla="*/ 571335 w 576263"/>
              <a:gd name="connsiteY1" fmla="*/ 576263 h 576263"/>
              <a:gd name="connsiteX2" fmla="*/ 576263 w 576263"/>
              <a:gd name="connsiteY2" fmla="*/ 0 h 576263"/>
              <a:gd name="connsiteX3" fmla="*/ 0 w 576263"/>
              <a:gd name="connsiteY3" fmla="*/ 0 h 576263"/>
              <a:gd name="connsiteX0" fmla="*/ 0 w 576448"/>
              <a:gd name="connsiteY0" fmla="*/ 0 h 576263"/>
              <a:gd name="connsiteX1" fmla="*/ 575933 w 576448"/>
              <a:gd name="connsiteY1" fmla="*/ 576263 h 576263"/>
              <a:gd name="connsiteX2" fmla="*/ 576263 w 576448"/>
              <a:gd name="connsiteY2" fmla="*/ 0 h 576263"/>
              <a:gd name="connsiteX3" fmla="*/ 0 w 576448"/>
              <a:gd name="connsiteY3" fmla="*/ 0 h 576263"/>
            </a:gdLst>
            <a:ahLst/>
            <a:cxnLst>
              <a:cxn ang="0">
                <a:pos x="connsiteX0" y="connsiteY0"/>
              </a:cxn>
              <a:cxn ang="0">
                <a:pos x="connsiteX1" y="connsiteY1"/>
              </a:cxn>
              <a:cxn ang="0">
                <a:pos x="connsiteX2" y="connsiteY2"/>
              </a:cxn>
              <a:cxn ang="0">
                <a:pos x="connsiteX3" y="connsiteY3"/>
              </a:cxn>
            </a:cxnLst>
            <a:rect l="l" t="t" r="r" b="b"/>
            <a:pathLst>
              <a:path w="576448" h="576263">
                <a:moveTo>
                  <a:pt x="0" y="0"/>
                </a:moveTo>
                <a:lnTo>
                  <a:pt x="575933" y="576263"/>
                </a:lnTo>
                <a:cubicBezTo>
                  <a:pt x="577576" y="384175"/>
                  <a:pt x="574620" y="192088"/>
                  <a:pt x="576263" y="0"/>
                </a:cubicBezTo>
                <a:lnTo>
                  <a:pt x="0" y="0"/>
                </a:lnTo>
                <a:close/>
              </a:path>
            </a:pathLst>
          </a:custGeom>
          <a:solidFill>
            <a:srgbClr val="61942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4" name="矩形 3"/>
          <p:cNvSpPr/>
          <p:nvPr/>
        </p:nvSpPr>
        <p:spPr>
          <a:xfrm>
            <a:off x="2832100" y="2949865"/>
            <a:ext cx="9359900" cy="65722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0" rIns="180000" bIns="0" anchor="ctr"/>
          <a:lstStyle/>
          <a:p>
            <a:pPr algn="ctr">
              <a:defRPr/>
            </a:pPr>
            <a:r>
              <a:rPr lang="zh-CN" altLang="en-US" sz="280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eiryo" panose="020B0604030504040204" pitchFamily="34" charset="-128"/>
              </a:rPr>
              <a:t>谢谢收看！</a:t>
            </a:r>
            <a:endParaRPr lang="zh-CN" altLang="en-US" sz="2800" dirty="0">
              <a:solidFill>
                <a:srgbClr val="CEEAB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eiryo" panose="020B0604030504040204" pitchFamily="34" charset="-128"/>
            </a:endParaRPr>
          </a:p>
        </p:txBody>
      </p:sp>
      <p:sp>
        <p:nvSpPr>
          <p:cNvPr id="7" name="矩形 6"/>
          <p:cNvSpPr/>
          <p:nvPr/>
        </p:nvSpPr>
        <p:spPr>
          <a:xfrm>
            <a:off x="1" y="2182092"/>
            <a:ext cx="9312276" cy="775277"/>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zh-CN" altLang="en-US" sz="3200" spc="200" dirty="0">
                <a:solidFill>
                  <a:srgbClr val="FFFFFF"/>
                </a:solidFill>
                <a:effectLst>
                  <a:outerShdw blurRad="50800" dist="38100" algn="l" rotWithShape="0">
                    <a:prstClr val="black">
                      <a:alpha val="40000"/>
                    </a:prstClr>
                  </a:outerShdw>
                </a:effectLst>
                <a:latin typeface="微软雅黑" panose="020B0503020204020204" pitchFamily="34" charset="-122"/>
                <a:ea typeface="微软雅黑" panose="020B0503020204020204" pitchFamily="34" charset="-122"/>
              </a:rPr>
              <a:t>                   </a:t>
            </a:r>
            <a:r>
              <a:rPr lang="zh-CN" altLang="en-US" sz="2800" spc="20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本节结束！</a:t>
            </a:r>
          </a:p>
        </p:txBody>
      </p:sp>
      <p:sp>
        <p:nvSpPr>
          <p:cNvPr id="6" name="直角三角形 5"/>
          <p:cNvSpPr/>
          <p:nvPr/>
        </p:nvSpPr>
        <p:spPr>
          <a:xfrm>
            <a:off x="9312275" y="2178052"/>
            <a:ext cx="853701" cy="779317"/>
          </a:xfrm>
          <a:prstGeom prst="rtTriangle">
            <a:avLst/>
          </a:prstGeom>
          <a:solidFill>
            <a:srgbClr val="007C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12" name="矩形 11"/>
          <p:cNvSpPr/>
          <p:nvPr/>
        </p:nvSpPr>
        <p:spPr>
          <a:xfrm>
            <a:off x="2581830" y="3921022"/>
            <a:ext cx="6906409" cy="1692771"/>
          </a:xfrm>
          <a:prstGeom prst="rect">
            <a:avLst/>
          </a:prstGeom>
          <a:noFill/>
          <a:ln w="25400" cap="flat" cmpd="sng" algn="ctr">
            <a:noFill/>
            <a:prstDash val="solid"/>
          </a:ln>
          <a:effectLst/>
        </p:spPr>
        <p:txBody>
          <a:bodyPr rtlCol="0" anchor="ctr"/>
          <a:lstStyle/>
          <a:p>
            <a:pPr>
              <a:lnSpc>
                <a:spcPts val="2400"/>
              </a:lnSpc>
            </a:pPr>
            <a:r>
              <a:rPr lang="en-US" altLang="zh-CN" sz="1200" kern="0" dirty="0">
                <a:solidFill>
                  <a:srgbClr val="EEECE1">
                    <a:lumMod val="25000"/>
                  </a:srgbClr>
                </a:solidFill>
                <a:latin typeface="微软雅黑" panose="020B0503020204020204" pitchFamily="34" charset="-122"/>
                <a:ea typeface="微软雅黑" panose="020B0503020204020204" pitchFamily="34" charset="-122"/>
              </a:rPr>
              <a:t> </a:t>
            </a:r>
          </a:p>
        </p:txBody>
      </p:sp>
    </p:spTree>
    <p:extLst>
      <p:ext uri="{BB962C8B-B14F-4D97-AF65-F5344CB8AC3E}">
        <p14:creationId xmlns:p14="http://schemas.microsoft.com/office/powerpoint/2010/main" val="400134420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12682</TotalTime>
  <Words>4117</Words>
  <Application>Microsoft Office PowerPoint</Application>
  <PresentationFormat>宽屏</PresentationFormat>
  <Paragraphs>763</Paragraphs>
  <Slides>43</Slides>
  <Notes>4</Notes>
  <HiddenSlides>0</HiddenSlides>
  <MMClips>0</MMClips>
  <ScaleCrop>false</ScaleCrop>
  <HeadingPairs>
    <vt:vector size="6" baseType="variant">
      <vt:variant>
        <vt:lpstr>已用的字体</vt:lpstr>
      </vt:variant>
      <vt:variant>
        <vt:i4>21</vt:i4>
      </vt:variant>
      <vt:variant>
        <vt:lpstr>主题</vt:lpstr>
      </vt:variant>
      <vt:variant>
        <vt:i4>3</vt:i4>
      </vt:variant>
      <vt:variant>
        <vt:lpstr>幻灯片标题</vt:lpstr>
      </vt:variant>
      <vt:variant>
        <vt:i4>43</vt:i4>
      </vt:variant>
    </vt:vector>
  </HeadingPairs>
  <TitlesOfParts>
    <vt:vector size="67" baseType="lpstr">
      <vt:lpstr>Gill Sans</vt:lpstr>
      <vt:lpstr>等线</vt:lpstr>
      <vt:lpstr>等线 Light</vt:lpstr>
      <vt:lpstr>方正清刻本悦宋简体</vt:lpstr>
      <vt:lpstr>黑体</vt:lpstr>
      <vt:lpstr>华文楷体</vt:lpstr>
      <vt:lpstr>楷体_GB2312</vt:lpstr>
      <vt:lpstr>宋体</vt:lpstr>
      <vt:lpstr>微软雅黑</vt:lpstr>
      <vt:lpstr>微软雅黑 Light</vt:lpstr>
      <vt:lpstr>文鼎ＰＯＰ－４</vt:lpstr>
      <vt:lpstr>文鼎火柴体</vt:lpstr>
      <vt:lpstr>幼圆</vt:lpstr>
      <vt:lpstr>Arial</vt:lpstr>
      <vt:lpstr>Calibri</vt:lpstr>
      <vt:lpstr>Helvetica</vt:lpstr>
      <vt:lpstr>Impact</vt:lpstr>
      <vt:lpstr>Open Sans Light</vt:lpstr>
      <vt:lpstr>Tahoma</vt:lpstr>
      <vt:lpstr>Times New Roman</vt:lpstr>
      <vt:lpstr>Wingdings</vt:lpstr>
      <vt:lpstr>Office 主题​​</vt:lpstr>
      <vt:lpstr>1_Office 主题​​</vt:lpstr>
      <vt:lpstr>2_Office 主题​​</vt:lpstr>
      <vt:lpstr>PowerPoint 演示文稿</vt:lpstr>
      <vt:lpstr>PowerPoint 演示文稿</vt:lpstr>
      <vt:lpstr>PowerPoint 演示文稿</vt:lpstr>
      <vt:lpstr>1.进程同步的概念</vt:lpstr>
      <vt:lpstr>1.进程同步的概念</vt:lpstr>
      <vt:lpstr>例：生产者-消费者问题</vt:lpstr>
      <vt:lpstr>例：生产者-消费者问题</vt:lpstr>
      <vt:lpstr>例：生产者-消费者问题</vt:lpstr>
      <vt:lpstr>例：生产者-消费者问题</vt:lpstr>
      <vt:lpstr>1.进程同步的概念</vt:lpstr>
      <vt:lpstr>1.进程同步的概念</vt:lpstr>
      <vt:lpstr>1.进程同步的概念</vt:lpstr>
      <vt:lpstr>PowerPoint 演示文稿</vt:lpstr>
      <vt:lpstr>PowerPoint 演示文稿</vt:lpstr>
      <vt:lpstr>PowerPoint 演示文稿</vt:lpstr>
      <vt:lpstr>PowerPoint 演示文稿</vt:lpstr>
      <vt:lpstr>3.信号量机制</vt:lpstr>
      <vt:lpstr>3.信号量机制</vt:lpstr>
      <vt:lpstr>3.信号量机制</vt:lpstr>
      <vt:lpstr>3.信号量机制</vt:lpstr>
      <vt:lpstr>3.信号量机制</vt:lpstr>
      <vt:lpstr>3.信号量机制</vt:lpstr>
      <vt:lpstr>3.信号量机制</vt:lpstr>
      <vt:lpstr>3.信号量机制</vt:lpstr>
      <vt:lpstr>3.信号量机制</vt:lpstr>
      <vt:lpstr>3.信号量机制</vt:lpstr>
      <vt:lpstr>3.信号量机制</vt:lpstr>
      <vt:lpstr>3.信号量机制</vt:lpstr>
      <vt:lpstr>3.信号量机制</vt:lpstr>
      <vt:lpstr>4.信号量的应用</vt:lpstr>
      <vt:lpstr>4.信号量的应用</vt:lpstr>
      <vt:lpstr>4.信号量的应用</vt:lpstr>
      <vt:lpstr>4.信号量的应用</vt:lpstr>
      <vt:lpstr>4.信号量的应用</vt:lpstr>
      <vt:lpstr>5.管程机制</vt:lpstr>
      <vt:lpstr>5.管程机制</vt:lpstr>
      <vt:lpstr>5.管程机制</vt:lpstr>
      <vt:lpstr>5.管程机制</vt:lpstr>
      <vt:lpstr>5.管程机制</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子 麦</cp:lastModifiedBy>
  <cp:revision>219</cp:revision>
  <dcterms:created xsi:type="dcterms:W3CDTF">2016-05-18T19:05:46Z</dcterms:created>
  <dcterms:modified xsi:type="dcterms:W3CDTF">2023-10-16T03:14:44Z</dcterms:modified>
</cp:coreProperties>
</file>