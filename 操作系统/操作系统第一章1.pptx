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328" r:id="rId2"/>
    <p:sldId id="282" r:id="rId3"/>
    <p:sldId id="331" r:id="rId4"/>
    <p:sldId id="264" r:id="rId5"/>
    <p:sldId id="291" r:id="rId6"/>
    <p:sldId id="293" r:id="rId7"/>
    <p:sldId id="292" r:id="rId8"/>
    <p:sldId id="330" r:id="rId9"/>
    <p:sldId id="300" r:id="rId10"/>
    <p:sldId id="260" r:id="rId11"/>
    <p:sldId id="295" r:id="rId12"/>
    <p:sldId id="334" r:id="rId13"/>
    <p:sldId id="332" r:id="rId14"/>
    <p:sldId id="296" r:id="rId15"/>
    <p:sldId id="299" r:id="rId16"/>
    <p:sldId id="301" r:id="rId17"/>
    <p:sldId id="333" r:id="rId18"/>
    <p:sldId id="336" r:id="rId19"/>
    <p:sldId id="337" r:id="rId20"/>
    <p:sldId id="338" r:id="rId21"/>
    <p:sldId id="302" r:id="rId22"/>
    <p:sldId id="303" r:id="rId23"/>
    <p:sldId id="304" r:id="rId24"/>
    <p:sldId id="329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54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288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697958-E9B7-42A7-88A1-0955046D9F80}" type="datetimeFigureOut">
              <a:rPr lang="zh-CN" altLang="en-US" smtClean="0"/>
              <a:t>2023-09-14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C1EEB2-1D72-4A9C-AB22-9E3BDA6E99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16562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093AD-7C06-486F-9754-D5B73F7C37DE}" type="datetimeFigureOut">
              <a:rPr lang="zh-CN" altLang="en-US" smtClean="0"/>
              <a:pPr/>
              <a:t>2023-09-14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3EDE87-FC43-4F0C-9C51-E666AB0AC5F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0440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214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0669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zh-CN"/>
              <a:t>Bradley Hand ITC</a:t>
            </a:r>
            <a:endParaRPr lang="zh-CN" altLang="en-US"/>
          </a:p>
        </p:txBody>
      </p:sp>
      <p:sp>
        <p:nvSpPr>
          <p:cNvPr id="4608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EF778EE-BD9B-4B2F-B8C1-9D68625E84B7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17023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140746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zh-CN"/>
              <a:t>Bradley Hand ITC</a:t>
            </a:r>
            <a:endParaRPr lang="zh-CN" altLang="en-US"/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A22D08D-015A-4468-8FD6-8EC1A3ED6E35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92623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214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214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506638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65146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02772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zh-CN"/>
              <a:t>Bradley Hand ITC</a:t>
            </a:r>
            <a:endParaRPr lang="zh-CN" altLang="en-US"/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A22D08D-015A-4468-8FD6-8EC1A3ED6E35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92623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63D4AD-47D3-4916-8A19-F3E2250E6173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24410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模板来自于 </a:t>
            </a:r>
            <a:r>
              <a:rPr lang="en-US" altLang="zh-CN"/>
              <a:t>http://www.ypppt.com</a:t>
            </a:r>
            <a:endParaRPr lang="zh-CN" altLang="en-US" dirty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5ED1824-6DB2-4029-B0DF-1D3CDCF11CDA}" type="slidenum">
              <a:rPr lang="zh-CN" altLang="en-US" smtClean="0">
                <a:solidFill>
                  <a:prstClr val="black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zh-CN" altLang="en-US">
              <a:solidFill>
                <a:prstClr val="black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3724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2023-09-14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232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2023-09-14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481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2023-09-14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0202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2023-09-14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143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2023-09-14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203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2023-09-14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971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2023-09-14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2064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2023-09-14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3247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2023-09-14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05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2023-09-14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350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2023-09-14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53898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1938" y1="46310" x2="41938" y2="46310"/>
                        <a14:foregroundMark x1="26672" y1="41021" x2="26672" y2="41021"/>
                        <a14:foregroundMark x1="31389" y1="39422" x2="31389" y2="39422"/>
                        <a14:backgroundMark x1="70755" y1="56581" x2="70755" y2="56581"/>
                        <a14:backgroundMark x1="68696" y1="52583" x2="65266" y2="51415"/>
                        <a14:backgroundMark x1="49914" y1="48032" x2="49314" y2="47909"/>
                        <a14:backgroundMark x1="49314" y1="54674" x2="48714" y2="54674"/>
                        <a14:backgroundMark x1="47513" y1="54490" x2="50772" y2="56827"/>
                        <a14:backgroundMark x1="67067" y1="62116" x2="67667" y2="61501"/>
                        <a14:backgroundMark x1="68525" y1="56396" x2="68525" y2="55351"/>
                        <a14:backgroundMark x1="70154" y1="50861" x2="70154" y2="50861"/>
                        <a14:backgroundMark x1="71184" y1="50431" x2="71184" y2="50431"/>
                        <a14:backgroundMark x1="38508" y1="41451" x2="38508" y2="41451"/>
                        <a14:backgroundMark x1="44254" y1="36470" x2="44254" y2="36470"/>
                        <a14:backgroundMark x1="42796" y1="43235" x2="42796" y2="43235"/>
                        <a14:backgroundMark x1="67067" y1="42927" x2="67067" y2="42927"/>
                        <a14:backgroundMark x1="58062" y1="45449" x2="57461" y2="45572"/>
                        <a14:backgroundMark x1="59091" y1="52768" x2="59520" y2="53321"/>
                        <a14:backgroundMark x1="59520" y1="54182" x2="59777" y2="55843"/>
                        <a14:backgroundMark x1="59777" y1="59164" x2="59777" y2="59164"/>
                        <a14:backgroundMark x1="78902" y1="35609" x2="78902" y2="35609"/>
                        <a14:backgroundMark x1="26415" y1="39729" x2="26415" y2="39729"/>
                        <a14:backgroundMark x1="25472" y1="42189" x2="25472" y2="42189"/>
                        <a14:backgroundMark x1="25214" y1="41636" x2="25214" y2="41636"/>
                        <a14:backgroundMark x1="46055" y1="56704" x2="46055" y2="56704"/>
                        <a14:backgroundMark x1="56690" y1="49508" x2="56690" y2="49508"/>
                        <a14:backgroundMark x1="56861" y1="49262" x2="60720" y2="48770"/>
                        <a14:backgroundMark x1="66295" y1="47601" x2="66895" y2="47601"/>
                        <a14:backgroundMark x1="71184" y1="46617" x2="76672" y2="45449"/>
                        <a14:backgroundMark x1="81389" y1="43973" x2="81389" y2="43973"/>
                      </a14:backgroundRemoval>
                    </a14:imgEffect>
                  </a14:imgLayer>
                </a14:imgProps>
              </a:ext>
            </a:extLst>
          </a:blip>
          <a:srcRect l="17878" t="35012" b="43146"/>
          <a:stretch/>
        </p:blipFill>
        <p:spPr>
          <a:xfrm>
            <a:off x="-1" y="0"/>
            <a:ext cx="5837731" cy="216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787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00E00-5D83-46E2-B18B-6027595511CC}" type="datetimeFigureOut">
              <a:rPr lang="zh-CN" altLang="en-US" smtClean="0"/>
              <a:pPr/>
              <a:t>2023-09-14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9543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13" Type="http://schemas.openxmlformats.org/officeDocument/2006/relationships/image" Target="../media/image11.jpeg"/><Relationship Id="rId18" Type="http://schemas.openxmlformats.org/officeDocument/2006/relationships/hyperlink" Target="http://images.google.cn/imgres?imgurl=http://www.linux-cn.com/upimg/070420/11M04I0G602FL.jpg&amp;imgrefurl=http://www.linux-cn.com/html/linux/publish/redflag/20070421/9354.html&amp;h=512&amp;w=1168&amp;sz=34&amp;hl=zh-CN&amp;start=27&amp;usg=__mCetksCjX8MScY9M-_xB54weXiY=&amp;tbnid=LmmXWGyRKRj9uM:&amp;tbnh=66&amp;tbnw=150&amp;prev=/images?q=%E7%BA%A2%E6%97%97Linux&amp;start=20&amp;gbv=2&amp;ndsp=20&amp;hl=zh-CN&amp;newwindow=1&amp;sa=N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://images.google.cn/imgres?imgurl=http://www.apcmag.com/site/wp-content/uploads/2006/07/suse-logo.jpg&amp;imgrefurl=http://apcmag.com/ultimate_desktop_search_suse_linux_enterprise_desktop_10_and_beagle.htm&amp;h=116&amp;w=120&amp;sz=4&amp;hl=zh-CN&amp;start=3&amp;usg=__-hwySQ0jHgfQe9xYkIvitEhH_xs=&amp;tbnid=vMMtRow_GEQE_M:&amp;tbnh=85&amp;tbnw=88&amp;prev=/images?q=suse+logo&amp;gbv=2&amp;hl=zh-CN&amp;newwindow=1" TargetMode="External"/><Relationship Id="rId12" Type="http://schemas.openxmlformats.org/officeDocument/2006/relationships/hyperlink" Target="http://images.google.cn/imgres?imgurl=http://blog.taragana.com/wp-content/uploads/2008/03/linux-logo.jpg&amp;imgrefurl=http://blog.taragana.com/index.php/category/linux/fedora-core-6/zh/&amp;h=375&amp;w=313&amp;sz=45&amp;hl=zh-CN&amp;start=1&amp;usg=__VsHPq3ExJQkqLEEt8fxWlDQLM4k=&amp;tbnid=zRU0W-fq3m3ByM:&amp;tbnh=122&amp;tbnw=102&amp;prev=/images?q=linux+logo&amp;gbv=2&amp;hl=zh-CN&amp;newwindow=1&amp;sa=X" TargetMode="External"/><Relationship Id="rId17" Type="http://schemas.openxmlformats.org/officeDocument/2006/relationships/image" Target="../media/image13.jpeg"/><Relationship Id="rId2" Type="http://schemas.openxmlformats.org/officeDocument/2006/relationships/image" Target="../media/image2.png"/><Relationship Id="rId16" Type="http://schemas.openxmlformats.org/officeDocument/2006/relationships/hyperlink" Target="http://image.baidu.com/i?ct=503316480&amp;z=0&amp;tn=baiduimagedetail&amp;word=%C6%BB%B9%FB+logo&amp;in=22173&amp;cl=2&amp;cm=1&amp;sc=0&amp;lm=-1&amp;pn=13&amp;rn=1&amp;di=3091540908&amp;ln=2000&amp;fr=" TargetMode="External"/><Relationship Id="rId20" Type="http://schemas.openxmlformats.org/officeDocument/2006/relationships/image" Target="../media/image1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11" Type="http://schemas.openxmlformats.org/officeDocument/2006/relationships/image" Target="../media/image10.jpeg"/><Relationship Id="rId5" Type="http://schemas.openxmlformats.org/officeDocument/2006/relationships/hyperlink" Target="http://images.google.cn/imgres?imgurl=http://www.kzeng.info/files/windows_vista_002-ig%5b4%5d.jpg&amp;imgrefurl=http://www.kzeng.info/blog/kzeng?page=8&amp;h=474&amp;w=640&amp;sz=64&amp;hl=zh-CN&amp;start=3&amp;usg=__00kkkf8-PoIdUIwt6Ihizr8qsgg=&amp;tbnid=SogAbFmlL-09rM:&amp;tbnh=101&amp;tbnw=137&amp;prev=/images?q=windows&amp;gbv=2&amp;hl=zh-CN&amp;newwindow=1" TargetMode="External"/><Relationship Id="rId15" Type="http://schemas.openxmlformats.org/officeDocument/2006/relationships/image" Target="../media/image12.jpeg"/><Relationship Id="rId10" Type="http://schemas.openxmlformats.org/officeDocument/2006/relationships/hyperlink" Target="http://images.google.cn/imgres?imgurl=http://imgsrc.baidu.com/baike/pic/item/8b527d278c95de10918f9dfe.jpg&amp;imgrefurl=http://b.baidu.com/view/329359.html&amp;h=296&amp;w=500&amp;sz=16&amp;hl=zh-CN&amp;start=8&amp;usg=__5T4uru7dRRHoq-Q_cga0u8zqutU=&amp;tbnid=CX-FPtb0ozz4iM:&amp;tbnh=77&amp;tbnw=130&amp;prev=/images?q=solaris&amp;gbv=2&amp;hl=zh-CN&amp;newwindow=1" TargetMode="External"/><Relationship Id="rId19" Type="http://schemas.openxmlformats.org/officeDocument/2006/relationships/image" Target="../media/image14.jpeg"/><Relationship Id="rId4" Type="http://schemas.microsoft.com/office/2007/relationships/hdphoto" Target="../media/hdphoto1.wdp"/><Relationship Id="rId9" Type="http://schemas.openxmlformats.org/officeDocument/2006/relationships/image" Target="../media/image9.jpeg"/><Relationship Id="rId14" Type="http://schemas.openxmlformats.org/officeDocument/2006/relationships/hyperlink" Target="http://images.google.cn/imgres?imgurl=http://blogs.zdnet.com/security/images/red_hat_logo_big.jpg&amp;imgrefurl=http://blogs.zdnet.com/security/?p=1784&amp;h=396&amp;w=360&amp;sz=63&amp;hl=zh-CN&amp;start=1&amp;usg=__D4weMyCSw7RjR2CGOqPz3E6cd-E=&amp;tbnid=mw3P22rAAis9PM:&amp;tbnh=124&amp;tbnw=113&amp;prev=/images?q=red+hat&amp;gbv=2&amp;hl=zh-CN&amp;newwindow=1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gif"/><Relationship Id="rId9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 cstate="print"/>
          <a:srcRect r="42146" b="48018"/>
          <a:stretch/>
        </p:blipFill>
        <p:spPr>
          <a:xfrm>
            <a:off x="7346062" y="2511276"/>
            <a:ext cx="4845938" cy="4346724"/>
          </a:xfrm>
          <a:prstGeom prst="rect">
            <a:avLst/>
          </a:prstGeom>
        </p:spPr>
      </p:pic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472862" y="2048669"/>
            <a:ext cx="7246275" cy="2760663"/>
          </a:xfrm>
          <a:prstGeom prst="rect">
            <a:avLst/>
          </a:prstGeom>
          <a:noFill/>
          <a:ln w="38100" cap="flat">
            <a:solidFill>
              <a:srgbClr val="3D735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1938" y1="46310" x2="41938" y2="46310"/>
                        <a14:foregroundMark x1="26672" y1="41021" x2="26672" y2="41021"/>
                        <a14:foregroundMark x1="31389" y1="39422" x2="31389" y2="39422"/>
                        <a14:backgroundMark x1="70755" y1="56581" x2="70755" y2="56581"/>
                        <a14:backgroundMark x1="68696" y1="52583" x2="65266" y2="51415"/>
                        <a14:backgroundMark x1="49914" y1="48032" x2="49314" y2="47909"/>
                        <a14:backgroundMark x1="49314" y1="54674" x2="48714" y2="54674"/>
                        <a14:backgroundMark x1="47513" y1="54490" x2="50772" y2="56827"/>
                        <a14:backgroundMark x1="67067" y1="62116" x2="67667" y2="61501"/>
                        <a14:backgroundMark x1="68525" y1="56396" x2="68525" y2="55351"/>
                        <a14:backgroundMark x1="70154" y1="50861" x2="70154" y2="50861"/>
                        <a14:backgroundMark x1="71184" y1="50431" x2="71184" y2="50431"/>
                        <a14:backgroundMark x1="38508" y1="41451" x2="38508" y2="41451"/>
                        <a14:backgroundMark x1="44254" y1="36470" x2="44254" y2="36470"/>
                        <a14:backgroundMark x1="42796" y1="43235" x2="42796" y2="43235"/>
                        <a14:backgroundMark x1="67067" y1="42927" x2="67067" y2="42927"/>
                        <a14:backgroundMark x1="58062" y1="45449" x2="57461" y2="45572"/>
                        <a14:backgroundMark x1="59091" y1="52768" x2="59520" y2="53321"/>
                        <a14:backgroundMark x1="59520" y1="54182" x2="59777" y2="55843"/>
                        <a14:backgroundMark x1="59777" y1="59164" x2="59777" y2="59164"/>
                        <a14:backgroundMark x1="78902" y1="35609" x2="78902" y2="35609"/>
                        <a14:backgroundMark x1="26415" y1="39729" x2="26415" y2="39729"/>
                        <a14:backgroundMark x1="25472" y1="42189" x2="25472" y2="42189"/>
                        <a14:backgroundMark x1="25214" y1="41636" x2="25214" y2="41636"/>
                        <a14:backgroundMark x1="46055" y1="56704" x2="46055" y2="56704"/>
                        <a14:backgroundMark x1="56690" y1="49508" x2="56690" y2="49508"/>
                        <a14:backgroundMark x1="56861" y1="49262" x2="60720" y2="48770"/>
                        <a14:backgroundMark x1="66295" y1="47601" x2="66895" y2="47601"/>
                        <a14:backgroundMark x1="71184" y1="46617" x2="76672" y2="45449"/>
                        <a14:backgroundMark x1="81389" y1="43973" x2="81389" y2="43973"/>
                      </a14:backgroundRemoval>
                    </a14:imgEffect>
                  </a14:imgLayer>
                </a14:imgProps>
              </a:ext>
            </a:extLst>
          </a:blip>
          <a:srcRect l="17878" t="35012" b="43146"/>
          <a:stretch/>
        </p:blipFill>
        <p:spPr>
          <a:xfrm>
            <a:off x="-1" y="0"/>
            <a:ext cx="5837731" cy="2166151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595747" y="2251341"/>
            <a:ext cx="310997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500" dirty="0">
                <a:solidFill>
                  <a:srgbClr val="3D7351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操作系统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939822" y="3912068"/>
            <a:ext cx="44176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200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200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32"/>
          <p:cNvSpPr txBox="1">
            <a:spLocks noChangeArrowheads="1"/>
          </p:cNvSpPr>
          <p:nvPr/>
        </p:nvSpPr>
        <p:spPr bwMode="auto">
          <a:xfrm>
            <a:off x="5512250" y="4270955"/>
            <a:ext cx="13838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主讲人：房斐斐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4143375" y="4409454"/>
            <a:ext cx="1299913" cy="0"/>
          </a:xfrm>
          <a:prstGeom prst="line">
            <a:avLst/>
          </a:prstGeom>
          <a:ln>
            <a:solidFill>
              <a:srgbClr val="3D73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6896100" y="4409454"/>
            <a:ext cx="1299913" cy="0"/>
          </a:xfrm>
          <a:prstGeom prst="line">
            <a:avLst/>
          </a:prstGeom>
          <a:ln>
            <a:solidFill>
              <a:srgbClr val="3D73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6"/>
          <p:cNvSpPr txBox="1"/>
          <p:nvPr/>
        </p:nvSpPr>
        <p:spPr>
          <a:xfrm>
            <a:off x="4130959" y="3187225"/>
            <a:ext cx="4571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3D7351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第一章 操作系统引论</a:t>
            </a:r>
          </a:p>
        </p:txBody>
      </p:sp>
    </p:spTree>
    <p:extLst>
      <p:ext uri="{BB962C8B-B14F-4D97-AF65-F5344CB8AC3E}">
        <p14:creationId xmlns:p14="http://schemas.microsoft.com/office/powerpoint/2010/main" val="2646257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10" name="组合 44"/>
          <p:cNvGrpSpPr>
            <a:grpSpLocks/>
          </p:cNvGrpSpPr>
          <p:nvPr/>
        </p:nvGrpSpPr>
        <p:grpSpPr bwMode="auto">
          <a:xfrm>
            <a:off x="10745957" y="263354"/>
            <a:ext cx="1086145" cy="1199735"/>
            <a:chOff x="1082387" y="806448"/>
            <a:chExt cx="5521613" cy="5062793"/>
          </a:xfrm>
        </p:grpSpPr>
        <p:pic>
          <p:nvPicPr>
            <p:cNvPr id="47121" name="Picture 13" descr="iMac-Mask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2387" y="806448"/>
              <a:ext cx="5521613" cy="50627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7122" name="图片 46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641" b="9682"/>
            <a:stretch>
              <a:fillRect/>
            </a:stretch>
          </p:blipFill>
          <p:spPr bwMode="auto">
            <a:xfrm>
              <a:off x="1445985" y="1130403"/>
              <a:ext cx="4824185" cy="2871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矩形 1"/>
          <p:cNvSpPr/>
          <p:nvPr/>
        </p:nvSpPr>
        <p:spPr>
          <a:xfrm>
            <a:off x="5580788" y="1463234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6488838" y="1463234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2" name="文本框 51"/>
          <p:cNvSpPr txBox="1">
            <a:spLocks noChangeArrowheads="1"/>
          </p:cNvSpPr>
          <p:nvPr/>
        </p:nvSpPr>
        <p:spPr bwMode="auto">
          <a:xfrm>
            <a:off x="5859112" y="4007049"/>
            <a:ext cx="5700541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400"/>
              </a:lnSpc>
              <a:spcBef>
                <a:spcPct val="0"/>
              </a:spcBef>
            </a:pPr>
            <a:r>
              <a:rPr lang="zh-CN" altLang="en-US" sz="2000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鸿蒙的生态系统建立起来，这不仅对华为生死攸关，也是中国所有相关制造商未来生存环境的一个决定性砝码。 </a:t>
            </a:r>
          </a:p>
        </p:txBody>
      </p:sp>
      <p:sp>
        <p:nvSpPr>
          <p:cNvPr id="47119" name="文本框 55"/>
          <p:cNvSpPr txBox="1">
            <a:spLocks noChangeArrowheads="1"/>
          </p:cNvSpPr>
          <p:nvPr/>
        </p:nvSpPr>
        <p:spPr bwMode="auto">
          <a:xfrm>
            <a:off x="5434738" y="929834"/>
            <a:ext cx="1920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鸿蒙系统</a:t>
            </a:r>
          </a:p>
        </p:txBody>
      </p:sp>
      <p:sp>
        <p:nvSpPr>
          <p:cNvPr id="27" name="矩形 26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9" name="矩形 28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31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课程引入</a:t>
            </a:r>
          </a:p>
        </p:txBody>
      </p: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3F966751-4BFC-4E92-A90C-A45B5E7A1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45" y="1463089"/>
            <a:ext cx="4910138" cy="310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Freeform 93">
            <a:extLst>
              <a:ext uri="{FF2B5EF4-FFF2-40B4-BE49-F238E27FC236}">
                <a16:creationId xmlns:a16="http://schemas.microsoft.com/office/drawing/2014/main" id="{B3CDACD2-7D3B-4332-9C73-F9EC69B64BD5}"/>
              </a:ext>
            </a:extLst>
          </p:cNvPr>
          <p:cNvSpPr>
            <a:spLocks noEditPoints="1"/>
          </p:cNvSpPr>
          <p:nvPr/>
        </p:nvSpPr>
        <p:spPr bwMode="auto">
          <a:xfrm>
            <a:off x="5583375" y="1788448"/>
            <a:ext cx="193675" cy="260350"/>
          </a:xfrm>
          <a:custGeom>
            <a:avLst/>
            <a:gdLst>
              <a:gd name="T0" fmla="*/ 188 w 216"/>
              <a:gd name="T1" fmla="*/ 126 h 288"/>
              <a:gd name="T2" fmla="*/ 188 w 216"/>
              <a:gd name="T3" fmla="*/ 79 h 288"/>
              <a:gd name="T4" fmla="*/ 109 w 216"/>
              <a:gd name="T5" fmla="*/ 0 h 288"/>
              <a:gd name="T6" fmla="*/ 108 w 216"/>
              <a:gd name="T7" fmla="*/ 0 h 288"/>
              <a:gd name="T8" fmla="*/ 106 w 216"/>
              <a:gd name="T9" fmla="*/ 0 h 288"/>
              <a:gd name="T10" fmla="*/ 28 w 216"/>
              <a:gd name="T11" fmla="*/ 79 h 288"/>
              <a:gd name="T12" fmla="*/ 28 w 216"/>
              <a:gd name="T13" fmla="*/ 126 h 288"/>
              <a:gd name="T14" fmla="*/ 0 w 216"/>
              <a:gd name="T15" fmla="*/ 126 h 288"/>
              <a:gd name="T16" fmla="*/ 0 w 216"/>
              <a:gd name="T17" fmla="*/ 288 h 288"/>
              <a:gd name="T18" fmla="*/ 216 w 216"/>
              <a:gd name="T19" fmla="*/ 288 h 288"/>
              <a:gd name="T20" fmla="*/ 216 w 216"/>
              <a:gd name="T21" fmla="*/ 126 h 288"/>
              <a:gd name="T22" fmla="*/ 188 w 216"/>
              <a:gd name="T23" fmla="*/ 126 h 288"/>
              <a:gd name="T24" fmla="*/ 133 w 216"/>
              <a:gd name="T25" fmla="*/ 259 h 288"/>
              <a:gd name="T26" fmla="*/ 84 w 216"/>
              <a:gd name="T27" fmla="*/ 259 h 288"/>
              <a:gd name="T28" fmla="*/ 96 w 216"/>
              <a:gd name="T29" fmla="*/ 206 h 288"/>
              <a:gd name="T30" fmla="*/ 84 w 216"/>
              <a:gd name="T31" fmla="*/ 185 h 288"/>
              <a:gd name="T32" fmla="*/ 108 w 216"/>
              <a:gd name="T33" fmla="*/ 161 h 288"/>
              <a:gd name="T34" fmla="*/ 133 w 216"/>
              <a:gd name="T35" fmla="*/ 185 h 288"/>
              <a:gd name="T36" fmla="*/ 120 w 216"/>
              <a:gd name="T37" fmla="*/ 206 h 288"/>
              <a:gd name="T38" fmla="*/ 133 w 216"/>
              <a:gd name="T39" fmla="*/ 259 h 288"/>
              <a:gd name="T40" fmla="*/ 148 w 216"/>
              <a:gd name="T41" fmla="*/ 126 h 288"/>
              <a:gd name="T42" fmla="*/ 67 w 216"/>
              <a:gd name="T43" fmla="*/ 126 h 288"/>
              <a:gd name="T44" fmla="*/ 67 w 216"/>
              <a:gd name="T45" fmla="*/ 79 h 288"/>
              <a:gd name="T46" fmla="*/ 106 w 216"/>
              <a:gd name="T47" fmla="*/ 40 h 288"/>
              <a:gd name="T48" fmla="*/ 108 w 216"/>
              <a:gd name="T49" fmla="*/ 40 h 288"/>
              <a:gd name="T50" fmla="*/ 109 w 216"/>
              <a:gd name="T51" fmla="*/ 40 h 288"/>
              <a:gd name="T52" fmla="*/ 148 w 216"/>
              <a:gd name="T53" fmla="*/ 79 h 288"/>
              <a:gd name="T54" fmla="*/ 148 w 216"/>
              <a:gd name="T55" fmla="*/ 126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16" h="288">
                <a:moveTo>
                  <a:pt x="188" y="126"/>
                </a:moveTo>
                <a:cubicBezTo>
                  <a:pt x="188" y="79"/>
                  <a:pt x="188" y="79"/>
                  <a:pt x="188" y="79"/>
                </a:cubicBezTo>
                <a:cubicBezTo>
                  <a:pt x="188" y="36"/>
                  <a:pt x="152" y="0"/>
                  <a:pt x="109" y="0"/>
                </a:cubicBezTo>
                <a:cubicBezTo>
                  <a:pt x="109" y="0"/>
                  <a:pt x="108" y="0"/>
                  <a:pt x="108" y="0"/>
                </a:cubicBezTo>
                <a:cubicBezTo>
                  <a:pt x="107" y="0"/>
                  <a:pt x="107" y="0"/>
                  <a:pt x="106" y="0"/>
                </a:cubicBezTo>
                <a:cubicBezTo>
                  <a:pt x="63" y="0"/>
                  <a:pt x="28" y="36"/>
                  <a:pt x="28" y="79"/>
                </a:cubicBezTo>
                <a:cubicBezTo>
                  <a:pt x="28" y="126"/>
                  <a:pt x="28" y="126"/>
                  <a:pt x="28" y="126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288"/>
                  <a:pt x="0" y="288"/>
                  <a:pt x="0" y="288"/>
                </a:cubicBezTo>
                <a:cubicBezTo>
                  <a:pt x="216" y="288"/>
                  <a:pt x="216" y="288"/>
                  <a:pt x="216" y="288"/>
                </a:cubicBezTo>
                <a:cubicBezTo>
                  <a:pt x="216" y="126"/>
                  <a:pt x="216" y="126"/>
                  <a:pt x="216" y="126"/>
                </a:cubicBezTo>
                <a:lnTo>
                  <a:pt x="188" y="126"/>
                </a:lnTo>
                <a:close/>
                <a:moveTo>
                  <a:pt x="133" y="259"/>
                </a:moveTo>
                <a:cubicBezTo>
                  <a:pt x="84" y="259"/>
                  <a:pt x="84" y="259"/>
                  <a:pt x="84" y="259"/>
                </a:cubicBezTo>
                <a:cubicBezTo>
                  <a:pt x="96" y="206"/>
                  <a:pt x="96" y="206"/>
                  <a:pt x="96" y="206"/>
                </a:cubicBezTo>
                <a:cubicBezTo>
                  <a:pt x="88" y="202"/>
                  <a:pt x="84" y="194"/>
                  <a:pt x="84" y="185"/>
                </a:cubicBezTo>
                <a:cubicBezTo>
                  <a:pt x="84" y="172"/>
                  <a:pt x="95" y="161"/>
                  <a:pt x="108" y="161"/>
                </a:cubicBezTo>
                <a:cubicBezTo>
                  <a:pt x="122" y="161"/>
                  <a:pt x="133" y="172"/>
                  <a:pt x="133" y="185"/>
                </a:cubicBezTo>
                <a:cubicBezTo>
                  <a:pt x="133" y="194"/>
                  <a:pt x="128" y="202"/>
                  <a:pt x="120" y="206"/>
                </a:cubicBezTo>
                <a:lnTo>
                  <a:pt x="133" y="259"/>
                </a:lnTo>
                <a:close/>
                <a:moveTo>
                  <a:pt x="148" y="126"/>
                </a:moveTo>
                <a:cubicBezTo>
                  <a:pt x="67" y="126"/>
                  <a:pt x="67" y="126"/>
                  <a:pt x="67" y="126"/>
                </a:cubicBezTo>
                <a:cubicBezTo>
                  <a:pt x="67" y="79"/>
                  <a:pt x="67" y="79"/>
                  <a:pt x="67" y="79"/>
                </a:cubicBezTo>
                <a:cubicBezTo>
                  <a:pt x="67" y="57"/>
                  <a:pt x="85" y="40"/>
                  <a:pt x="106" y="40"/>
                </a:cubicBezTo>
                <a:cubicBezTo>
                  <a:pt x="107" y="40"/>
                  <a:pt x="108" y="40"/>
                  <a:pt x="108" y="40"/>
                </a:cubicBezTo>
                <a:cubicBezTo>
                  <a:pt x="108" y="40"/>
                  <a:pt x="109" y="40"/>
                  <a:pt x="109" y="40"/>
                </a:cubicBezTo>
                <a:cubicBezTo>
                  <a:pt x="131" y="40"/>
                  <a:pt x="148" y="57"/>
                  <a:pt x="148" y="79"/>
                </a:cubicBezTo>
                <a:lnTo>
                  <a:pt x="148" y="126"/>
                </a:lnTo>
                <a:close/>
              </a:path>
            </a:pathLst>
          </a:custGeom>
          <a:noFill/>
          <a:ln w="9525">
            <a:solidFill>
              <a:srgbClr val="3D735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solidFill>
                <a:srgbClr val="3D735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C0459C8-2709-4A44-A586-1FC4760C4F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9113" y="1694855"/>
            <a:ext cx="570054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400"/>
              </a:lnSpc>
              <a:spcBef>
                <a:spcPct val="0"/>
              </a:spcBef>
            </a:pPr>
            <a:r>
              <a:rPr lang="zh-CN" altLang="en-US" sz="2000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鸿蒙系统的诞生拉开了永久性改变操作系统全球格局的序幕。</a:t>
            </a:r>
          </a:p>
        </p:txBody>
      </p:sp>
      <p:sp>
        <p:nvSpPr>
          <p:cNvPr id="25" name="Freeform 93">
            <a:extLst>
              <a:ext uri="{FF2B5EF4-FFF2-40B4-BE49-F238E27FC236}">
                <a16:creationId xmlns:a16="http://schemas.microsoft.com/office/drawing/2014/main" id="{7E36C50C-4292-42B0-8A80-0F33CC193015}"/>
              </a:ext>
            </a:extLst>
          </p:cNvPr>
          <p:cNvSpPr>
            <a:spLocks noEditPoints="1"/>
          </p:cNvSpPr>
          <p:nvPr/>
        </p:nvSpPr>
        <p:spPr bwMode="auto">
          <a:xfrm>
            <a:off x="5569571" y="2587608"/>
            <a:ext cx="193675" cy="260350"/>
          </a:xfrm>
          <a:custGeom>
            <a:avLst/>
            <a:gdLst>
              <a:gd name="T0" fmla="*/ 188 w 216"/>
              <a:gd name="T1" fmla="*/ 126 h 288"/>
              <a:gd name="T2" fmla="*/ 188 w 216"/>
              <a:gd name="T3" fmla="*/ 79 h 288"/>
              <a:gd name="T4" fmla="*/ 109 w 216"/>
              <a:gd name="T5" fmla="*/ 0 h 288"/>
              <a:gd name="T6" fmla="*/ 108 w 216"/>
              <a:gd name="T7" fmla="*/ 0 h 288"/>
              <a:gd name="T8" fmla="*/ 106 w 216"/>
              <a:gd name="T9" fmla="*/ 0 h 288"/>
              <a:gd name="T10" fmla="*/ 28 w 216"/>
              <a:gd name="T11" fmla="*/ 79 h 288"/>
              <a:gd name="T12" fmla="*/ 28 w 216"/>
              <a:gd name="T13" fmla="*/ 126 h 288"/>
              <a:gd name="T14" fmla="*/ 0 w 216"/>
              <a:gd name="T15" fmla="*/ 126 h 288"/>
              <a:gd name="T16" fmla="*/ 0 w 216"/>
              <a:gd name="T17" fmla="*/ 288 h 288"/>
              <a:gd name="T18" fmla="*/ 216 w 216"/>
              <a:gd name="T19" fmla="*/ 288 h 288"/>
              <a:gd name="T20" fmla="*/ 216 w 216"/>
              <a:gd name="T21" fmla="*/ 126 h 288"/>
              <a:gd name="T22" fmla="*/ 188 w 216"/>
              <a:gd name="T23" fmla="*/ 126 h 288"/>
              <a:gd name="T24" fmla="*/ 133 w 216"/>
              <a:gd name="T25" fmla="*/ 259 h 288"/>
              <a:gd name="T26" fmla="*/ 84 w 216"/>
              <a:gd name="T27" fmla="*/ 259 h 288"/>
              <a:gd name="T28" fmla="*/ 96 w 216"/>
              <a:gd name="T29" fmla="*/ 206 h 288"/>
              <a:gd name="T30" fmla="*/ 84 w 216"/>
              <a:gd name="T31" fmla="*/ 185 h 288"/>
              <a:gd name="T32" fmla="*/ 108 w 216"/>
              <a:gd name="T33" fmla="*/ 161 h 288"/>
              <a:gd name="T34" fmla="*/ 133 w 216"/>
              <a:gd name="T35" fmla="*/ 185 h 288"/>
              <a:gd name="T36" fmla="*/ 120 w 216"/>
              <a:gd name="T37" fmla="*/ 206 h 288"/>
              <a:gd name="T38" fmla="*/ 133 w 216"/>
              <a:gd name="T39" fmla="*/ 259 h 288"/>
              <a:gd name="T40" fmla="*/ 148 w 216"/>
              <a:gd name="T41" fmla="*/ 126 h 288"/>
              <a:gd name="T42" fmla="*/ 67 w 216"/>
              <a:gd name="T43" fmla="*/ 126 h 288"/>
              <a:gd name="T44" fmla="*/ 67 w 216"/>
              <a:gd name="T45" fmla="*/ 79 h 288"/>
              <a:gd name="T46" fmla="*/ 106 w 216"/>
              <a:gd name="T47" fmla="*/ 40 h 288"/>
              <a:gd name="T48" fmla="*/ 108 w 216"/>
              <a:gd name="T49" fmla="*/ 40 h 288"/>
              <a:gd name="T50" fmla="*/ 109 w 216"/>
              <a:gd name="T51" fmla="*/ 40 h 288"/>
              <a:gd name="T52" fmla="*/ 148 w 216"/>
              <a:gd name="T53" fmla="*/ 79 h 288"/>
              <a:gd name="T54" fmla="*/ 148 w 216"/>
              <a:gd name="T55" fmla="*/ 126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16" h="288">
                <a:moveTo>
                  <a:pt x="188" y="126"/>
                </a:moveTo>
                <a:cubicBezTo>
                  <a:pt x="188" y="79"/>
                  <a:pt x="188" y="79"/>
                  <a:pt x="188" y="79"/>
                </a:cubicBezTo>
                <a:cubicBezTo>
                  <a:pt x="188" y="36"/>
                  <a:pt x="152" y="0"/>
                  <a:pt x="109" y="0"/>
                </a:cubicBezTo>
                <a:cubicBezTo>
                  <a:pt x="109" y="0"/>
                  <a:pt x="108" y="0"/>
                  <a:pt x="108" y="0"/>
                </a:cubicBezTo>
                <a:cubicBezTo>
                  <a:pt x="107" y="0"/>
                  <a:pt x="107" y="0"/>
                  <a:pt x="106" y="0"/>
                </a:cubicBezTo>
                <a:cubicBezTo>
                  <a:pt x="63" y="0"/>
                  <a:pt x="28" y="36"/>
                  <a:pt x="28" y="79"/>
                </a:cubicBezTo>
                <a:cubicBezTo>
                  <a:pt x="28" y="126"/>
                  <a:pt x="28" y="126"/>
                  <a:pt x="28" y="126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288"/>
                  <a:pt x="0" y="288"/>
                  <a:pt x="0" y="288"/>
                </a:cubicBezTo>
                <a:cubicBezTo>
                  <a:pt x="216" y="288"/>
                  <a:pt x="216" y="288"/>
                  <a:pt x="216" y="288"/>
                </a:cubicBezTo>
                <a:cubicBezTo>
                  <a:pt x="216" y="126"/>
                  <a:pt x="216" y="126"/>
                  <a:pt x="216" y="126"/>
                </a:cubicBezTo>
                <a:lnTo>
                  <a:pt x="188" y="126"/>
                </a:lnTo>
                <a:close/>
                <a:moveTo>
                  <a:pt x="133" y="259"/>
                </a:moveTo>
                <a:cubicBezTo>
                  <a:pt x="84" y="259"/>
                  <a:pt x="84" y="259"/>
                  <a:pt x="84" y="259"/>
                </a:cubicBezTo>
                <a:cubicBezTo>
                  <a:pt x="96" y="206"/>
                  <a:pt x="96" y="206"/>
                  <a:pt x="96" y="206"/>
                </a:cubicBezTo>
                <a:cubicBezTo>
                  <a:pt x="88" y="202"/>
                  <a:pt x="84" y="194"/>
                  <a:pt x="84" y="185"/>
                </a:cubicBezTo>
                <a:cubicBezTo>
                  <a:pt x="84" y="172"/>
                  <a:pt x="95" y="161"/>
                  <a:pt x="108" y="161"/>
                </a:cubicBezTo>
                <a:cubicBezTo>
                  <a:pt x="122" y="161"/>
                  <a:pt x="133" y="172"/>
                  <a:pt x="133" y="185"/>
                </a:cubicBezTo>
                <a:cubicBezTo>
                  <a:pt x="133" y="194"/>
                  <a:pt x="128" y="202"/>
                  <a:pt x="120" y="206"/>
                </a:cubicBezTo>
                <a:lnTo>
                  <a:pt x="133" y="259"/>
                </a:lnTo>
                <a:close/>
                <a:moveTo>
                  <a:pt x="148" y="126"/>
                </a:moveTo>
                <a:cubicBezTo>
                  <a:pt x="67" y="126"/>
                  <a:pt x="67" y="126"/>
                  <a:pt x="67" y="126"/>
                </a:cubicBezTo>
                <a:cubicBezTo>
                  <a:pt x="67" y="79"/>
                  <a:pt x="67" y="79"/>
                  <a:pt x="67" y="79"/>
                </a:cubicBezTo>
                <a:cubicBezTo>
                  <a:pt x="67" y="57"/>
                  <a:pt x="85" y="40"/>
                  <a:pt x="106" y="40"/>
                </a:cubicBezTo>
                <a:cubicBezTo>
                  <a:pt x="107" y="40"/>
                  <a:pt x="108" y="40"/>
                  <a:pt x="108" y="40"/>
                </a:cubicBezTo>
                <a:cubicBezTo>
                  <a:pt x="108" y="40"/>
                  <a:pt x="109" y="40"/>
                  <a:pt x="109" y="40"/>
                </a:cubicBezTo>
                <a:cubicBezTo>
                  <a:pt x="131" y="40"/>
                  <a:pt x="148" y="57"/>
                  <a:pt x="148" y="79"/>
                </a:cubicBezTo>
                <a:lnTo>
                  <a:pt x="148" y="126"/>
                </a:lnTo>
                <a:close/>
              </a:path>
            </a:pathLst>
          </a:custGeom>
          <a:noFill/>
          <a:ln w="9525">
            <a:solidFill>
              <a:srgbClr val="3D735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solidFill>
                <a:srgbClr val="3D7351"/>
              </a:solidFill>
            </a:endParaRPr>
          </a:p>
        </p:txBody>
      </p:sp>
      <p:sp>
        <p:nvSpPr>
          <p:cNvPr id="26" name="Freeform 93">
            <a:extLst>
              <a:ext uri="{FF2B5EF4-FFF2-40B4-BE49-F238E27FC236}">
                <a16:creationId xmlns:a16="http://schemas.microsoft.com/office/drawing/2014/main" id="{81224FAD-8615-4534-8FB6-C17B9AF70664}"/>
              </a:ext>
            </a:extLst>
          </p:cNvPr>
          <p:cNvSpPr>
            <a:spLocks noEditPoints="1"/>
          </p:cNvSpPr>
          <p:nvPr/>
        </p:nvSpPr>
        <p:spPr bwMode="auto">
          <a:xfrm>
            <a:off x="5580788" y="4050116"/>
            <a:ext cx="193675" cy="260350"/>
          </a:xfrm>
          <a:custGeom>
            <a:avLst/>
            <a:gdLst>
              <a:gd name="T0" fmla="*/ 188 w 216"/>
              <a:gd name="T1" fmla="*/ 126 h 288"/>
              <a:gd name="T2" fmla="*/ 188 w 216"/>
              <a:gd name="T3" fmla="*/ 79 h 288"/>
              <a:gd name="T4" fmla="*/ 109 w 216"/>
              <a:gd name="T5" fmla="*/ 0 h 288"/>
              <a:gd name="T6" fmla="*/ 108 w 216"/>
              <a:gd name="T7" fmla="*/ 0 h 288"/>
              <a:gd name="T8" fmla="*/ 106 w 216"/>
              <a:gd name="T9" fmla="*/ 0 h 288"/>
              <a:gd name="T10" fmla="*/ 28 w 216"/>
              <a:gd name="T11" fmla="*/ 79 h 288"/>
              <a:gd name="T12" fmla="*/ 28 w 216"/>
              <a:gd name="T13" fmla="*/ 126 h 288"/>
              <a:gd name="T14" fmla="*/ 0 w 216"/>
              <a:gd name="T15" fmla="*/ 126 h 288"/>
              <a:gd name="T16" fmla="*/ 0 w 216"/>
              <a:gd name="T17" fmla="*/ 288 h 288"/>
              <a:gd name="T18" fmla="*/ 216 w 216"/>
              <a:gd name="T19" fmla="*/ 288 h 288"/>
              <a:gd name="T20" fmla="*/ 216 w 216"/>
              <a:gd name="T21" fmla="*/ 126 h 288"/>
              <a:gd name="T22" fmla="*/ 188 w 216"/>
              <a:gd name="T23" fmla="*/ 126 h 288"/>
              <a:gd name="T24" fmla="*/ 133 w 216"/>
              <a:gd name="T25" fmla="*/ 259 h 288"/>
              <a:gd name="T26" fmla="*/ 84 w 216"/>
              <a:gd name="T27" fmla="*/ 259 h 288"/>
              <a:gd name="T28" fmla="*/ 96 w 216"/>
              <a:gd name="T29" fmla="*/ 206 h 288"/>
              <a:gd name="T30" fmla="*/ 84 w 216"/>
              <a:gd name="T31" fmla="*/ 185 h 288"/>
              <a:gd name="T32" fmla="*/ 108 w 216"/>
              <a:gd name="T33" fmla="*/ 161 h 288"/>
              <a:gd name="T34" fmla="*/ 133 w 216"/>
              <a:gd name="T35" fmla="*/ 185 h 288"/>
              <a:gd name="T36" fmla="*/ 120 w 216"/>
              <a:gd name="T37" fmla="*/ 206 h 288"/>
              <a:gd name="T38" fmla="*/ 133 w 216"/>
              <a:gd name="T39" fmla="*/ 259 h 288"/>
              <a:gd name="T40" fmla="*/ 148 w 216"/>
              <a:gd name="T41" fmla="*/ 126 h 288"/>
              <a:gd name="T42" fmla="*/ 67 w 216"/>
              <a:gd name="T43" fmla="*/ 126 h 288"/>
              <a:gd name="T44" fmla="*/ 67 w 216"/>
              <a:gd name="T45" fmla="*/ 79 h 288"/>
              <a:gd name="T46" fmla="*/ 106 w 216"/>
              <a:gd name="T47" fmla="*/ 40 h 288"/>
              <a:gd name="T48" fmla="*/ 108 w 216"/>
              <a:gd name="T49" fmla="*/ 40 h 288"/>
              <a:gd name="T50" fmla="*/ 109 w 216"/>
              <a:gd name="T51" fmla="*/ 40 h 288"/>
              <a:gd name="T52" fmla="*/ 148 w 216"/>
              <a:gd name="T53" fmla="*/ 79 h 288"/>
              <a:gd name="T54" fmla="*/ 148 w 216"/>
              <a:gd name="T55" fmla="*/ 126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16" h="288">
                <a:moveTo>
                  <a:pt x="188" y="126"/>
                </a:moveTo>
                <a:cubicBezTo>
                  <a:pt x="188" y="79"/>
                  <a:pt x="188" y="79"/>
                  <a:pt x="188" y="79"/>
                </a:cubicBezTo>
                <a:cubicBezTo>
                  <a:pt x="188" y="36"/>
                  <a:pt x="152" y="0"/>
                  <a:pt x="109" y="0"/>
                </a:cubicBezTo>
                <a:cubicBezTo>
                  <a:pt x="109" y="0"/>
                  <a:pt x="108" y="0"/>
                  <a:pt x="108" y="0"/>
                </a:cubicBezTo>
                <a:cubicBezTo>
                  <a:pt x="107" y="0"/>
                  <a:pt x="107" y="0"/>
                  <a:pt x="106" y="0"/>
                </a:cubicBezTo>
                <a:cubicBezTo>
                  <a:pt x="63" y="0"/>
                  <a:pt x="28" y="36"/>
                  <a:pt x="28" y="79"/>
                </a:cubicBezTo>
                <a:cubicBezTo>
                  <a:pt x="28" y="126"/>
                  <a:pt x="28" y="126"/>
                  <a:pt x="28" y="126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288"/>
                  <a:pt x="0" y="288"/>
                  <a:pt x="0" y="288"/>
                </a:cubicBezTo>
                <a:cubicBezTo>
                  <a:pt x="216" y="288"/>
                  <a:pt x="216" y="288"/>
                  <a:pt x="216" y="288"/>
                </a:cubicBezTo>
                <a:cubicBezTo>
                  <a:pt x="216" y="126"/>
                  <a:pt x="216" y="126"/>
                  <a:pt x="216" y="126"/>
                </a:cubicBezTo>
                <a:lnTo>
                  <a:pt x="188" y="126"/>
                </a:lnTo>
                <a:close/>
                <a:moveTo>
                  <a:pt x="133" y="259"/>
                </a:moveTo>
                <a:cubicBezTo>
                  <a:pt x="84" y="259"/>
                  <a:pt x="84" y="259"/>
                  <a:pt x="84" y="259"/>
                </a:cubicBezTo>
                <a:cubicBezTo>
                  <a:pt x="96" y="206"/>
                  <a:pt x="96" y="206"/>
                  <a:pt x="96" y="206"/>
                </a:cubicBezTo>
                <a:cubicBezTo>
                  <a:pt x="88" y="202"/>
                  <a:pt x="84" y="194"/>
                  <a:pt x="84" y="185"/>
                </a:cubicBezTo>
                <a:cubicBezTo>
                  <a:pt x="84" y="172"/>
                  <a:pt x="95" y="161"/>
                  <a:pt x="108" y="161"/>
                </a:cubicBezTo>
                <a:cubicBezTo>
                  <a:pt x="122" y="161"/>
                  <a:pt x="133" y="172"/>
                  <a:pt x="133" y="185"/>
                </a:cubicBezTo>
                <a:cubicBezTo>
                  <a:pt x="133" y="194"/>
                  <a:pt x="128" y="202"/>
                  <a:pt x="120" y="206"/>
                </a:cubicBezTo>
                <a:lnTo>
                  <a:pt x="133" y="259"/>
                </a:lnTo>
                <a:close/>
                <a:moveTo>
                  <a:pt x="148" y="126"/>
                </a:moveTo>
                <a:cubicBezTo>
                  <a:pt x="67" y="126"/>
                  <a:pt x="67" y="126"/>
                  <a:pt x="67" y="126"/>
                </a:cubicBezTo>
                <a:cubicBezTo>
                  <a:pt x="67" y="79"/>
                  <a:pt x="67" y="79"/>
                  <a:pt x="67" y="79"/>
                </a:cubicBezTo>
                <a:cubicBezTo>
                  <a:pt x="67" y="57"/>
                  <a:pt x="85" y="40"/>
                  <a:pt x="106" y="40"/>
                </a:cubicBezTo>
                <a:cubicBezTo>
                  <a:pt x="107" y="40"/>
                  <a:pt x="108" y="40"/>
                  <a:pt x="108" y="40"/>
                </a:cubicBezTo>
                <a:cubicBezTo>
                  <a:pt x="108" y="40"/>
                  <a:pt x="109" y="40"/>
                  <a:pt x="109" y="40"/>
                </a:cubicBezTo>
                <a:cubicBezTo>
                  <a:pt x="131" y="40"/>
                  <a:pt x="148" y="57"/>
                  <a:pt x="148" y="79"/>
                </a:cubicBezTo>
                <a:lnTo>
                  <a:pt x="148" y="126"/>
                </a:lnTo>
                <a:close/>
              </a:path>
            </a:pathLst>
          </a:custGeom>
          <a:noFill/>
          <a:ln w="9525">
            <a:solidFill>
              <a:srgbClr val="3D735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solidFill>
                <a:srgbClr val="3D7351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15F0922-4DB6-40F8-A0D9-B7D9081C3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9113" y="2548049"/>
            <a:ext cx="5700541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400"/>
              </a:lnSpc>
              <a:spcBef>
                <a:spcPct val="0"/>
              </a:spcBef>
            </a:pPr>
            <a:r>
              <a:rPr lang="zh-CN" altLang="en-US" sz="2000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华为的坚强抵抗为中国其他相关制造商提供了喘息的时间，这尤其使华为的屹立不倒具有了全局意义。中国的各家厂商彼此既是竞争者，又组成了一个微妙但却真实的利益共同体。</a:t>
            </a:r>
          </a:p>
        </p:txBody>
      </p:sp>
    </p:spTree>
    <p:extLst>
      <p:ext uri="{BB962C8B-B14F-4D97-AF65-F5344CB8AC3E}">
        <p14:creationId xmlns:p14="http://schemas.microsoft.com/office/powerpoint/2010/main" val="3904316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24" grpId="0"/>
      <p:bldP spid="3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10" name="组合 44"/>
          <p:cNvGrpSpPr>
            <a:grpSpLocks/>
          </p:cNvGrpSpPr>
          <p:nvPr/>
        </p:nvGrpSpPr>
        <p:grpSpPr bwMode="auto">
          <a:xfrm>
            <a:off x="10745957" y="263354"/>
            <a:ext cx="1086145" cy="1199735"/>
            <a:chOff x="1082387" y="806448"/>
            <a:chExt cx="5521613" cy="5062793"/>
          </a:xfrm>
        </p:grpSpPr>
        <p:pic>
          <p:nvPicPr>
            <p:cNvPr id="47121" name="Picture 13" descr="iMac-Mask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2387" y="806448"/>
              <a:ext cx="5521613" cy="50627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7122" name="图片 46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641" b="9682"/>
            <a:stretch>
              <a:fillRect/>
            </a:stretch>
          </p:blipFill>
          <p:spPr bwMode="auto">
            <a:xfrm>
              <a:off x="1445985" y="1130403"/>
              <a:ext cx="4824185" cy="2871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0" name="矩形 49"/>
          <p:cNvSpPr/>
          <p:nvPr/>
        </p:nvSpPr>
        <p:spPr>
          <a:xfrm>
            <a:off x="5954239" y="1806978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6862289" y="1806978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4" name="文本框 53"/>
          <p:cNvSpPr txBox="1">
            <a:spLocks noChangeArrowheads="1"/>
          </p:cNvSpPr>
          <p:nvPr/>
        </p:nvSpPr>
        <p:spPr bwMode="auto">
          <a:xfrm>
            <a:off x="6168087" y="3892824"/>
            <a:ext cx="5287963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sz="2000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相关产品已广泛应用于交通运输、海洋渔业、水文监测、气象预报、测绘地理信息、森林防火、通信时统、电力调度、救灾减灾、应急搜救等领域。</a:t>
            </a:r>
          </a:p>
        </p:txBody>
      </p:sp>
      <p:sp>
        <p:nvSpPr>
          <p:cNvPr id="47120" name="文本框 56"/>
          <p:cNvSpPr txBox="1">
            <a:spLocks noChangeArrowheads="1"/>
          </p:cNvSpPr>
          <p:nvPr/>
        </p:nvSpPr>
        <p:spPr bwMode="auto">
          <a:xfrm>
            <a:off x="5808189" y="1260878"/>
            <a:ext cx="288543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北斗卫星导航系统</a:t>
            </a:r>
          </a:p>
        </p:txBody>
      </p:sp>
      <p:sp>
        <p:nvSpPr>
          <p:cNvPr id="27" name="矩形 26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9" name="矩形 28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31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课程引入</a:t>
            </a:r>
          </a:p>
        </p:txBody>
      </p: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65168281-6428-46BB-82DC-EC5FD0ED57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98" y="1806978"/>
            <a:ext cx="5287962" cy="309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Freeform 93">
            <a:extLst>
              <a:ext uri="{FF2B5EF4-FFF2-40B4-BE49-F238E27FC236}">
                <a16:creationId xmlns:a16="http://schemas.microsoft.com/office/drawing/2014/main" id="{5440F8A9-A154-48D1-BA9B-5FC17D4E488A}"/>
              </a:ext>
            </a:extLst>
          </p:cNvPr>
          <p:cNvSpPr>
            <a:spLocks noEditPoints="1"/>
          </p:cNvSpPr>
          <p:nvPr/>
        </p:nvSpPr>
        <p:spPr bwMode="auto">
          <a:xfrm>
            <a:off x="5964562" y="2209602"/>
            <a:ext cx="193675" cy="260350"/>
          </a:xfrm>
          <a:custGeom>
            <a:avLst/>
            <a:gdLst>
              <a:gd name="T0" fmla="*/ 188 w 216"/>
              <a:gd name="T1" fmla="*/ 126 h 288"/>
              <a:gd name="T2" fmla="*/ 188 w 216"/>
              <a:gd name="T3" fmla="*/ 79 h 288"/>
              <a:gd name="T4" fmla="*/ 109 w 216"/>
              <a:gd name="T5" fmla="*/ 0 h 288"/>
              <a:gd name="T6" fmla="*/ 108 w 216"/>
              <a:gd name="T7" fmla="*/ 0 h 288"/>
              <a:gd name="T8" fmla="*/ 106 w 216"/>
              <a:gd name="T9" fmla="*/ 0 h 288"/>
              <a:gd name="T10" fmla="*/ 28 w 216"/>
              <a:gd name="T11" fmla="*/ 79 h 288"/>
              <a:gd name="T12" fmla="*/ 28 w 216"/>
              <a:gd name="T13" fmla="*/ 126 h 288"/>
              <a:gd name="T14" fmla="*/ 0 w 216"/>
              <a:gd name="T15" fmla="*/ 126 h 288"/>
              <a:gd name="T16" fmla="*/ 0 w 216"/>
              <a:gd name="T17" fmla="*/ 288 h 288"/>
              <a:gd name="T18" fmla="*/ 216 w 216"/>
              <a:gd name="T19" fmla="*/ 288 h 288"/>
              <a:gd name="T20" fmla="*/ 216 w 216"/>
              <a:gd name="T21" fmla="*/ 126 h 288"/>
              <a:gd name="T22" fmla="*/ 188 w 216"/>
              <a:gd name="T23" fmla="*/ 126 h 288"/>
              <a:gd name="T24" fmla="*/ 133 w 216"/>
              <a:gd name="T25" fmla="*/ 259 h 288"/>
              <a:gd name="T26" fmla="*/ 84 w 216"/>
              <a:gd name="T27" fmla="*/ 259 h 288"/>
              <a:gd name="T28" fmla="*/ 96 w 216"/>
              <a:gd name="T29" fmla="*/ 206 h 288"/>
              <a:gd name="T30" fmla="*/ 84 w 216"/>
              <a:gd name="T31" fmla="*/ 185 h 288"/>
              <a:gd name="T32" fmla="*/ 108 w 216"/>
              <a:gd name="T33" fmla="*/ 161 h 288"/>
              <a:gd name="T34" fmla="*/ 133 w 216"/>
              <a:gd name="T35" fmla="*/ 185 h 288"/>
              <a:gd name="T36" fmla="*/ 120 w 216"/>
              <a:gd name="T37" fmla="*/ 206 h 288"/>
              <a:gd name="T38" fmla="*/ 133 w 216"/>
              <a:gd name="T39" fmla="*/ 259 h 288"/>
              <a:gd name="T40" fmla="*/ 148 w 216"/>
              <a:gd name="T41" fmla="*/ 126 h 288"/>
              <a:gd name="T42" fmla="*/ 67 w 216"/>
              <a:gd name="T43" fmla="*/ 126 h 288"/>
              <a:gd name="T44" fmla="*/ 67 w 216"/>
              <a:gd name="T45" fmla="*/ 79 h 288"/>
              <a:gd name="T46" fmla="*/ 106 w 216"/>
              <a:gd name="T47" fmla="*/ 40 h 288"/>
              <a:gd name="T48" fmla="*/ 108 w 216"/>
              <a:gd name="T49" fmla="*/ 40 h 288"/>
              <a:gd name="T50" fmla="*/ 109 w 216"/>
              <a:gd name="T51" fmla="*/ 40 h 288"/>
              <a:gd name="T52" fmla="*/ 148 w 216"/>
              <a:gd name="T53" fmla="*/ 79 h 288"/>
              <a:gd name="T54" fmla="*/ 148 w 216"/>
              <a:gd name="T55" fmla="*/ 126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16" h="288">
                <a:moveTo>
                  <a:pt x="188" y="126"/>
                </a:moveTo>
                <a:cubicBezTo>
                  <a:pt x="188" y="79"/>
                  <a:pt x="188" y="79"/>
                  <a:pt x="188" y="79"/>
                </a:cubicBezTo>
                <a:cubicBezTo>
                  <a:pt x="188" y="36"/>
                  <a:pt x="152" y="0"/>
                  <a:pt x="109" y="0"/>
                </a:cubicBezTo>
                <a:cubicBezTo>
                  <a:pt x="109" y="0"/>
                  <a:pt x="108" y="0"/>
                  <a:pt x="108" y="0"/>
                </a:cubicBezTo>
                <a:cubicBezTo>
                  <a:pt x="107" y="0"/>
                  <a:pt x="107" y="0"/>
                  <a:pt x="106" y="0"/>
                </a:cubicBezTo>
                <a:cubicBezTo>
                  <a:pt x="63" y="0"/>
                  <a:pt x="28" y="36"/>
                  <a:pt x="28" y="79"/>
                </a:cubicBezTo>
                <a:cubicBezTo>
                  <a:pt x="28" y="126"/>
                  <a:pt x="28" y="126"/>
                  <a:pt x="28" y="126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288"/>
                  <a:pt x="0" y="288"/>
                  <a:pt x="0" y="288"/>
                </a:cubicBezTo>
                <a:cubicBezTo>
                  <a:pt x="216" y="288"/>
                  <a:pt x="216" y="288"/>
                  <a:pt x="216" y="288"/>
                </a:cubicBezTo>
                <a:cubicBezTo>
                  <a:pt x="216" y="126"/>
                  <a:pt x="216" y="126"/>
                  <a:pt x="216" y="126"/>
                </a:cubicBezTo>
                <a:lnTo>
                  <a:pt x="188" y="126"/>
                </a:lnTo>
                <a:close/>
                <a:moveTo>
                  <a:pt x="133" y="259"/>
                </a:moveTo>
                <a:cubicBezTo>
                  <a:pt x="84" y="259"/>
                  <a:pt x="84" y="259"/>
                  <a:pt x="84" y="259"/>
                </a:cubicBezTo>
                <a:cubicBezTo>
                  <a:pt x="96" y="206"/>
                  <a:pt x="96" y="206"/>
                  <a:pt x="96" y="206"/>
                </a:cubicBezTo>
                <a:cubicBezTo>
                  <a:pt x="88" y="202"/>
                  <a:pt x="84" y="194"/>
                  <a:pt x="84" y="185"/>
                </a:cubicBezTo>
                <a:cubicBezTo>
                  <a:pt x="84" y="172"/>
                  <a:pt x="95" y="161"/>
                  <a:pt x="108" y="161"/>
                </a:cubicBezTo>
                <a:cubicBezTo>
                  <a:pt x="122" y="161"/>
                  <a:pt x="133" y="172"/>
                  <a:pt x="133" y="185"/>
                </a:cubicBezTo>
                <a:cubicBezTo>
                  <a:pt x="133" y="194"/>
                  <a:pt x="128" y="202"/>
                  <a:pt x="120" y="206"/>
                </a:cubicBezTo>
                <a:lnTo>
                  <a:pt x="133" y="259"/>
                </a:lnTo>
                <a:close/>
                <a:moveTo>
                  <a:pt x="148" y="126"/>
                </a:moveTo>
                <a:cubicBezTo>
                  <a:pt x="67" y="126"/>
                  <a:pt x="67" y="126"/>
                  <a:pt x="67" y="126"/>
                </a:cubicBezTo>
                <a:cubicBezTo>
                  <a:pt x="67" y="79"/>
                  <a:pt x="67" y="79"/>
                  <a:pt x="67" y="79"/>
                </a:cubicBezTo>
                <a:cubicBezTo>
                  <a:pt x="67" y="57"/>
                  <a:pt x="85" y="40"/>
                  <a:pt x="106" y="40"/>
                </a:cubicBezTo>
                <a:cubicBezTo>
                  <a:pt x="107" y="40"/>
                  <a:pt x="108" y="40"/>
                  <a:pt x="108" y="40"/>
                </a:cubicBezTo>
                <a:cubicBezTo>
                  <a:pt x="108" y="40"/>
                  <a:pt x="109" y="40"/>
                  <a:pt x="109" y="40"/>
                </a:cubicBezTo>
                <a:cubicBezTo>
                  <a:pt x="131" y="40"/>
                  <a:pt x="148" y="57"/>
                  <a:pt x="148" y="79"/>
                </a:cubicBezTo>
                <a:lnTo>
                  <a:pt x="148" y="126"/>
                </a:lnTo>
                <a:close/>
              </a:path>
            </a:pathLst>
          </a:custGeom>
          <a:noFill/>
          <a:ln w="9525">
            <a:solidFill>
              <a:srgbClr val="3D735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solidFill>
                <a:srgbClr val="3D7351"/>
              </a:solidFill>
            </a:endParaRPr>
          </a:p>
        </p:txBody>
      </p:sp>
      <p:sp>
        <p:nvSpPr>
          <p:cNvPr id="25" name="Freeform 93">
            <a:extLst>
              <a:ext uri="{FF2B5EF4-FFF2-40B4-BE49-F238E27FC236}">
                <a16:creationId xmlns:a16="http://schemas.microsoft.com/office/drawing/2014/main" id="{6448B8F4-4E40-4202-AB0C-3A620D3B19FE}"/>
              </a:ext>
            </a:extLst>
          </p:cNvPr>
          <p:cNvSpPr>
            <a:spLocks noEditPoints="1"/>
          </p:cNvSpPr>
          <p:nvPr/>
        </p:nvSpPr>
        <p:spPr bwMode="auto">
          <a:xfrm>
            <a:off x="5927076" y="4029302"/>
            <a:ext cx="193675" cy="260350"/>
          </a:xfrm>
          <a:custGeom>
            <a:avLst/>
            <a:gdLst>
              <a:gd name="T0" fmla="*/ 188 w 216"/>
              <a:gd name="T1" fmla="*/ 126 h 288"/>
              <a:gd name="T2" fmla="*/ 188 w 216"/>
              <a:gd name="T3" fmla="*/ 79 h 288"/>
              <a:gd name="T4" fmla="*/ 109 w 216"/>
              <a:gd name="T5" fmla="*/ 0 h 288"/>
              <a:gd name="T6" fmla="*/ 108 w 216"/>
              <a:gd name="T7" fmla="*/ 0 h 288"/>
              <a:gd name="T8" fmla="*/ 106 w 216"/>
              <a:gd name="T9" fmla="*/ 0 h 288"/>
              <a:gd name="T10" fmla="*/ 28 w 216"/>
              <a:gd name="T11" fmla="*/ 79 h 288"/>
              <a:gd name="T12" fmla="*/ 28 w 216"/>
              <a:gd name="T13" fmla="*/ 126 h 288"/>
              <a:gd name="T14" fmla="*/ 0 w 216"/>
              <a:gd name="T15" fmla="*/ 126 h 288"/>
              <a:gd name="T16" fmla="*/ 0 w 216"/>
              <a:gd name="T17" fmla="*/ 288 h 288"/>
              <a:gd name="T18" fmla="*/ 216 w 216"/>
              <a:gd name="T19" fmla="*/ 288 h 288"/>
              <a:gd name="T20" fmla="*/ 216 w 216"/>
              <a:gd name="T21" fmla="*/ 126 h 288"/>
              <a:gd name="T22" fmla="*/ 188 w 216"/>
              <a:gd name="T23" fmla="*/ 126 h 288"/>
              <a:gd name="T24" fmla="*/ 133 w 216"/>
              <a:gd name="T25" fmla="*/ 259 h 288"/>
              <a:gd name="T26" fmla="*/ 84 w 216"/>
              <a:gd name="T27" fmla="*/ 259 h 288"/>
              <a:gd name="T28" fmla="*/ 96 w 216"/>
              <a:gd name="T29" fmla="*/ 206 h 288"/>
              <a:gd name="T30" fmla="*/ 84 w 216"/>
              <a:gd name="T31" fmla="*/ 185 h 288"/>
              <a:gd name="T32" fmla="*/ 108 w 216"/>
              <a:gd name="T33" fmla="*/ 161 h 288"/>
              <a:gd name="T34" fmla="*/ 133 w 216"/>
              <a:gd name="T35" fmla="*/ 185 h 288"/>
              <a:gd name="T36" fmla="*/ 120 w 216"/>
              <a:gd name="T37" fmla="*/ 206 h 288"/>
              <a:gd name="T38" fmla="*/ 133 w 216"/>
              <a:gd name="T39" fmla="*/ 259 h 288"/>
              <a:gd name="T40" fmla="*/ 148 w 216"/>
              <a:gd name="T41" fmla="*/ 126 h 288"/>
              <a:gd name="T42" fmla="*/ 67 w 216"/>
              <a:gd name="T43" fmla="*/ 126 h 288"/>
              <a:gd name="T44" fmla="*/ 67 w 216"/>
              <a:gd name="T45" fmla="*/ 79 h 288"/>
              <a:gd name="T46" fmla="*/ 106 w 216"/>
              <a:gd name="T47" fmla="*/ 40 h 288"/>
              <a:gd name="T48" fmla="*/ 108 w 216"/>
              <a:gd name="T49" fmla="*/ 40 h 288"/>
              <a:gd name="T50" fmla="*/ 109 w 216"/>
              <a:gd name="T51" fmla="*/ 40 h 288"/>
              <a:gd name="T52" fmla="*/ 148 w 216"/>
              <a:gd name="T53" fmla="*/ 79 h 288"/>
              <a:gd name="T54" fmla="*/ 148 w 216"/>
              <a:gd name="T55" fmla="*/ 126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16" h="288">
                <a:moveTo>
                  <a:pt x="188" y="126"/>
                </a:moveTo>
                <a:cubicBezTo>
                  <a:pt x="188" y="79"/>
                  <a:pt x="188" y="79"/>
                  <a:pt x="188" y="79"/>
                </a:cubicBezTo>
                <a:cubicBezTo>
                  <a:pt x="188" y="36"/>
                  <a:pt x="152" y="0"/>
                  <a:pt x="109" y="0"/>
                </a:cubicBezTo>
                <a:cubicBezTo>
                  <a:pt x="109" y="0"/>
                  <a:pt x="108" y="0"/>
                  <a:pt x="108" y="0"/>
                </a:cubicBezTo>
                <a:cubicBezTo>
                  <a:pt x="107" y="0"/>
                  <a:pt x="107" y="0"/>
                  <a:pt x="106" y="0"/>
                </a:cubicBezTo>
                <a:cubicBezTo>
                  <a:pt x="63" y="0"/>
                  <a:pt x="28" y="36"/>
                  <a:pt x="28" y="79"/>
                </a:cubicBezTo>
                <a:cubicBezTo>
                  <a:pt x="28" y="126"/>
                  <a:pt x="28" y="126"/>
                  <a:pt x="28" y="126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288"/>
                  <a:pt x="0" y="288"/>
                  <a:pt x="0" y="288"/>
                </a:cubicBezTo>
                <a:cubicBezTo>
                  <a:pt x="216" y="288"/>
                  <a:pt x="216" y="288"/>
                  <a:pt x="216" y="288"/>
                </a:cubicBezTo>
                <a:cubicBezTo>
                  <a:pt x="216" y="126"/>
                  <a:pt x="216" y="126"/>
                  <a:pt x="216" y="126"/>
                </a:cubicBezTo>
                <a:lnTo>
                  <a:pt x="188" y="126"/>
                </a:lnTo>
                <a:close/>
                <a:moveTo>
                  <a:pt x="133" y="259"/>
                </a:moveTo>
                <a:cubicBezTo>
                  <a:pt x="84" y="259"/>
                  <a:pt x="84" y="259"/>
                  <a:pt x="84" y="259"/>
                </a:cubicBezTo>
                <a:cubicBezTo>
                  <a:pt x="96" y="206"/>
                  <a:pt x="96" y="206"/>
                  <a:pt x="96" y="206"/>
                </a:cubicBezTo>
                <a:cubicBezTo>
                  <a:pt x="88" y="202"/>
                  <a:pt x="84" y="194"/>
                  <a:pt x="84" y="185"/>
                </a:cubicBezTo>
                <a:cubicBezTo>
                  <a:pt x="84" y="172"/>
                  <a:pt x="95" y="161"/>
                  <a:pt x="108" y="161"/>
                </a:cubicBezTo>
                <a:cubicBezTo>
                  <a:pt x="122" y="161"/>
                  <a:pt x="133" y="172"/>
                  <a:pt x="133" y="185"/>
                </a:cubicBezTo>
                <a:cubicBezTo>
                  <a:pt x="133" y="194"/>
                  <a:pt x="128" y="202"/>
                  <a:pt x="120" y="206"/>
                </a:cubicBezTo>
                <a:lnTo>
                  <a:pt x="133" y="259"/>
                </a:lnTo>
                <a:close/>
                <a:moveTo>
                  <a:pt x="148" y="126"/>
                </a:moveTo>
                <a:cubicBezTo>
                  <a:pt x="67" y="126"/>
                  <a:pt x="67" y="126"/>
                  <a:pt x="67" y="126"/>
                </a:cubicBezTo>
                <a:cubicBezTo>
                  <a:pt x="67" y="79"/>
                  <a:pt x="67" y="79"/>
                  <a:pt x="67" y="79"/>
                </a:cubicBezTo>
                <a:cubicBezTo>
                  <a:pt x="67" y="57"/>
                  <a:pt x="85" y="40"/>
                  <a:pt x="106" y="40"/>
                </a:cubicBezTo>
                <a:cubicBezTo>
                  <a:pt x="107" y="40"/>
                  <a:pt x="108" y="40"/>
                  <a:pt x="108" y="40"/>
                </a:cubicBezTo>
                <a:cubicBezTo>
                  <a:pt x="108" y="40"/>
                  <a:pt x="109" y="40"/>
                  <a:pt x="109" y="40"/>
                </a:cubicBezTo>
                <a:cubicBezTo>
                  <a:pt x="131" y="40"/>
                  <a:pt x="148" y="57"/>
                  <a:pt x="148" y="79"/>
                </a:cubicBezTo>
                <a:lnTo>
                  <a:pt x="148" y="126"/>
                </a:lnTo>
                <a:close/>
              </a:path>
            </a:pathLst>
          </a:custGeom>
          <a:noFill/>
          <a:ln w="9525">
            <a:solidFill>
              <a:srgbClr val="3D735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solidFill>
                <a:srgbClr val="3D735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C7BD646-AE92-4F3B-AA0C-D50CA9393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9033" y="2123580"/>
            <a:ext cx="5352874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sz="2000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北斗卫星导航系统是中国着眼于国家安全和经济社会发展需要，自主建设、独立运行的卫星导航系统，是为全球用户提供全天候、全天时、高精度的定位、导航和授时服务的国家重要空间基础设施。</a:t>
            </a:r>
            <a:endParaRPr lang="en-US" altLang="zh-CN" sz="2000" dirty="0">
              <a:solidFill>
                <a:srgbClr val="505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39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 cstate="print"/>
          <a:srcRect r="42146" b="48018"/>
          <a:stretch/>
        </p:blipFill>
        <p:spPr>
          <a:xfrm>
            <a:off x="7346063" y="2511276"/>
            <a:ext cx="4845938" cy="4346724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1938" y1="46310" x2="41938" y2="46310"/>
                        <a14:foregroundMark x1="26672" y1="41021" x2="26672" y2="41021"/>
                        <a14:foregroundMark x1="31389" y1="39422" x2="31389" y2="39422"/>
                        <a14:backgroundMark x1="70755" y1="56581" x2="70755" y2="56581"/>
                        <a14:backgroundMark x1="68696" y1="52583" x2="65266" y2="51415"/>
                        <a14:backgroundMark x1="49914" y1="48032" x2="49314" y2="47909"/>
                        <a14:backgroundMark x1="49314" y1="54674" x2="48714" y2="54674"/>
                        <a14:backgroundMark x1="47513" y1="54490" x2="50772" y2="56827"/>
                        <a14:backgroundMark x1="67067" y1="62116" x2="67667" y2="61501"/>
                        <a14:backgroundMark x1="68525" y1="56396" x2="68525" y2="55351"/>
                        <a14:backgroundMark x1="70154" y1="50861" x2="70154" y2="50861"/>
                        <a14:backgroundMark x1="71184" y1="50431" x2="71184" y2="50431"/>
                        <a14:backgroundMark x1="38508" y1="41451" x2="38508" y2="41451"/>
                        <a14:backgroundMark x1="44254" y1="36470" x2="44254" y2="36470"/>
                        <a14:backgroundMark x1="42796" y1="43235" x2="42796" y2="43235"/>
                        <a14:backgroundMark x1="67067" y1="42927" x2="67067" y2="42927"/>
                        <a14:backgroundMark x1="58062" y1="45449" x2="57461" y2="45572"/>
                        <a14:backgroundMark x1="59091" y1="52768" x2="59520" y2="53321"/>
                        <a14:backgroundMark x1="59520" y1="54182" x2="59777" y2="55843"/>
                        <a14:backgroundMark x1="59777" y1="59164" x2="59777" y2="59164"/>
                        <a14:backgroundMark x1="78902" y1="35609" x2="78902" y2="35609"/>
                        <a14:backgroundMark x1="26415" y1="39729" x2="26415" y2="39729"/>
                        <a14:backgroundMark x1="25472" y1="42189" x2="25472" y2="42189"/>
                        <a14:backgroundMark x1="25214" y1="41636" x2="25214" y2="41636"/>
                        <a14:backgroundMark x1="46055" y1="56704" x2="46055" y2="56704"/>
                        <a14:backgroundMark x1="56690" y1="49508" x2="56690" y2="49508"/>
                        <a14:backgroundMark x1="56861" y1="49262" x2="60720" y2="48770"/>
                        <a14:backgroundMark x1="66295" y1="47601" x2="66895" y2="47601"/>
                        <a14:backgroundMark x1="71184" y1="46617" x2="76672" y2="45449"/>
                        <a14:backgroundMark x1="81389" y1="43973" x2="81389" y2="43973"/>
                      </a14:backgroundRemoval>
                    </a14:imgEffect>
                  </a14:imgLayer>
                </a14:imgProps>
              </a:ext>
            </a:extLst>
          </a:blip>
          <a:srcRect l="17878" t="35012" b="43146"/>
          <a:stretch/>
        </p:blipFill>
        <p:spPr>
          <a:xfrm>
            <a:off x="-1" y="0"/>
            <a:ext cx="5837731" cy="2166151"/>
          </a:xfrm>
          <a:prstGeom prst="rect">
            <a:avLst/>
          </a:prstGeom>
        </p:spPr>
      </p:pic>
      <p:grpSp>
        <p:nvGrpSpPr>
          <p:cNvPr id="18" name="Group 32"/>
          <p:cNvGrpSpPr>
            <a:grpSpLocks/>
          </p:cNvGrpSpPr>
          <p:nvPr/>
        </p:nvGrpSpPr>
        <p:grpSpPr bwMode="auto">
          <a:xfrm>
            <a:off x="2135831" y="1350523"/>
            <a:ext cx="7265988" cy="5262563"/>
            <a:chOff x="340" y="618"/>
            <a:chExt cx="4577" cy="3315"/>
          </a:xfrm>
        </p:grpSpPr>
        <p:grpSp>
          <p:nvGrpSpPr>
            <p:cNvPr id="19" name="Group 30"/>
            <p:cNvGrpSpPr>
              <a:grpSpLocks/>
            </p:cNvGrpSpPr>
            <p:nvPr/>
          </p:nvGrpSpPr>
          <p:grpSpPr bwMode="auto">
            <a:xfrm>
              <a:off x="340" y="709"/>
              <a:ext cx="3096" cy="3179"/>
              <a:chOff x="340" y="709"/>
              <a:chExt cx="3096" cy="3179"/>
            </a:xfrm>
          </p:grpSpPr>
          <p:grpSp>
            <p:nvGrpSpPr>
              <p:cNvPr id="26" name="Group 28"/>
              <p:cNvGrpSpPr>
                <a:grpSpLocks/>
              </p:cNvGrpSpPr>
              <p:nvPr/>
            </p:nvGrpSpPr>
            <p:grpSpPr bwMode="auto">
              <a:xfrm>
                <a:off x="340" y="709"/>
                <a:ext cx="1204" cy="3179"/>
                <a:chOff x="340" y="709"/>
                <a:chExt cx="1204" cy="3179"/>
              </a:xfrm>
            </p:grpSpPr>
            <p:pic>
              <p:nvPicPr>
                <p:cNvPr id="44" name="Picture 4">
                  <a:hlinkClick r:id="rId5"/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9221" t="7425" r="20073" b="17657"/>
                <a:stretch>
                  <a:fillRect/>
                </a:stretch>
              </p:blipFill>
              <p:spPr bwMode="auto">
                <a:xfrm>
                  <a:off x="587" y="709"/>
                  <a:ext cx="635" cy="57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5" name="Picture 8">
                  <a:hlinkClick r:id="rId7"/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77" y="3022"/>
                  <a:ext cx="664" cy="64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6" name="Picture 18" descr="20093159154271"/>
                <p:cNvPicPr>
                  <a:picLocks noChangeAspect="1" noChangeArrowheads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69225"/>
                <a:stretch>
                  <a:fillRect/>
                </a:stretch>
              </p:blipFill>
              <p:spPr bwMode="auto">
                <a:xfrm>
                  <a:off x="507" y="1752"/>
                  <a:ext cx="726" cy="6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7" name="Rectangle 14"/>
                <p:cNvSpPr>
                  <a:spLocks noChangeArrowheads="1"/>
                </p:cNvSpPr>
                <p:nvPr/>
              </p:nvSpPr>
              <p:spPr bwMode="auto">
                <a:xfrm>
                  <a:off x="479" y="1343"/>
                  <a:ext cx="916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eaLnBrk="0" hangingPunct="0"/>
                  <a:r>
                    <a:rPr lang="en-US" altLang="zh-CN" dirty="0"/>
                    <a:t>Windows</a:t>
                  </a:r>
                  <a:r>
                    <a:rPr lang="zh-CN" altLang="en-US" dirty="0"/>
                    <a:t>旗帜</a:t>
                  </a:r>
                </a:p>
              </p:txBody>
            </p:sp>
            <p:sp>
              <p:nvSpPr>
                <p:cNvPr id="48" name="Rectangle 20"/>
                <p:cNvSpPr>
                  <a:spLocks noChangeArrowheads="1"/>
                </p:cNvSpPr>
                <p:nvPr/>
              </p:nvSpPr>
              <p:spPr bwMode="auto">
                <a:xfrm>
                  <a:off x="340" y="3657"/>
                  <a:ext cx="1204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eaLnBrk="0" hangingPunct="0"/>
                  <a:r>
                    <a:rPr lang="en-US" altLang="zh-CN"/>
                    <a:t>Opensuse</a:t>
                  </a:r>
                  <a:r>
                    <a:rPr lang="zh-CN" altLang="en-US"/>
                    <a:t>变色龙</a:t>
                  </a:r>
                </a:p>
              </p:txBody>
            </p:sp>
            <p:sp>
              <p:nvSpPr>
                <p:cNvPr id="49" name="Rectangle 21"/>
                <p:cNvSpPr>
                  <a:spLocks noChangeArrowheads="1"/>
                </p:cNvSpPr>
                <p:nvPr/>
              </p:nvSpPr>
              <p:spPr bwMode="auto">
                <a:xfrm>
                  <a:off x="542" y="2478"/>
                  <a:ext cx="822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anchor="ctr">
                  <a:spAutoFit/>
                </a:bodyPr>
                <a:lstStyle/>
                <a:p>
                  <a:pPr algn="l" eaLnBrk="0" hangingPunct="0"/>
                  <a:r>
                    <a:rPr lang="en-US" altLang="zh-CN" dirty="0"/>
                    <a:t>Ubuntu</a:t>
                  </a:r>
                  <a:r>
                    <a:rPr lang="zh-CN" altLang="en-US" dirty="0"/>
                    <a:t>环 </a:t>
                  </a:r>
                </a:p>
              </p:txBody>
            </p:sp>
          </p:grpSp>
          <p:grpSp>
            <p:nvGrpSpPr>
              <p:cNvPr id="27" name="Group 29"/>
              <p:cNvGrpSpPr>
                <a:grpSpLocks/>
              </p:cNvGrpSpPr>
              <p:nvPr/>
            </p:nvGrpSpPr>
            <p:grpSpPr bwMode="auto">
              <a:xfrm>
                <a:off x="2154" y="709"/>
                <a:ext cx="1282" cy="3134"/>
                <a:chOff x="2150" y="709"/>
                <a:chExt cx="1282" cy="3134"/>
              </a:xfrm>
            </p:grpSpPr>
            <p:pic>
              <p:nvPicPr>
                <p:cNvPr id="28" name="Picture 5">
                  <a:hlinkClick r:id="rId10"/>
                </p:cNvPr>
                <p:cNvPicPr>
                  <a:picLocks noChangeAspect="1" noChangeArrowheads="1"/>
                </p:cNvPicPr>
                <p:nvPr/>
              </p:nvPicPr>
              <p:blipFill>
                <a:blip r:embed="rId1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200" y="2976"/>
                  <a:ext cx="862" cy="5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9" name="Picture 7">
                  <a:hlinkClick r:id="rId12"/>
                </p:cNvPr>
                <p:cNvPicPr>
                  <a:picLocks noChangeAspect="1" noChangeArrowheads="1"/>
                </p:cNvPicPr>
                <p:nvPr/>
              </p:nvPicPr>
              <p:blipFill>
                <a:blip r:embed="rId1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254" y="709"/>
                  <a:ext cx="612" cy="7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1" name="Picture 15">
                  <a:hlinkClick r:id="rId14"/>
                </p:cNvPr>
                <p:cNvPicPr>
                  <a:picLocks noChangeAspect="1" noChangeArrowheads="1"/>
                </p:cNvPicPr>
                <p:nvPr/>
              </p:nvPicPr>
              <p:blipFill>
                <a:blip r:embed="rId1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150" y="1888"/>
                  <a:ext cx="745" cy="81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2" name="Rectangle 19"/>
                <p:cNvSpPr>
                  <a:spLocks noChangeArrowheads="1"/>
                </p:cNvSpPr>
                <p:nvPr/>
              </p:nvSpPr>
              <p:spPr bwMode="auto">
                <a:xfrm>
                  <a:off x="2168" y="1480"/>
                  <a:ext cx="788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l" eaLnBrk="0" hangingPunct="0"/>
                  <a:r>
                    <a:rPr lang="en-US" altLang="zh-CN"/>
                    <a:t>Linux</a:t>
                  </a:r>
                  <a:r>
                    <a:rPr lang="zh-CN" altLang="en-US"/>
                    <a:t>企鹅</a:t>
                  </a:r>
                  <a:r>
                    <a:rPr lang="en-US" altLang="zh-CN"/>
                    <a:t> </a:t>
                  </a:r>
                </a:p>
              </p:txBody>
            </p:sp>
            <p:sp>
              <p:nvSpPr>
                <p:cNvPr id="43" name="Rectangle 24"/>
                <p:cNvSpPr>
                  <a:spLocks noChangeArrowheads="1"/>
                </p:cNvSpPr>
                <p:nvPr/>
              </p:nvSpPr>
              <p:spPr bwMode="auto">
                <a:xfrm>
                  <a:off x="2154" y="3612"/>
                  <a:ext cx="1278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anchor="ctr">
                  <a:spAutoFit/>
                </a:bodyPr>
                <a:lstStyle/>
                <a:p>
                  <a:pPr algn="l" eaLnBrk="0" hangingPunct="0"/>
                  <a:r>
                    <a:rPr lang="en-US" altLang="zh-CN" dirty="0"/>
                    <a:t>Sun</a:t>
                  </a:r>
                  <a:r>
                    <a:rPr lang="zh-CN" altLang="en-US" dirty="0"/>
                    <a:t>的</a:t>
                  </a:r>
                  <a:r>
                    <a:rPr lang="en-US" altLang="zh-CN" dirty="0"/>
                    <a:t>Solaris</a:t>
                  </a:r>
                  <a:endParaRPr lang="zh-CN" altLang="en-US" dirty="0"/>
                </a:p>
              </p:txBody>
            </p:sp>
          </p:grpSp>
        </p:grpSp>
        <p:grpSp>
          <p:nvGrpSpPr>
            <p:cNvPr id="20" name="Group 31"/>
            <p:cNvGrpSpPr>
              <a:grpSpLocks/>
            </p:cNvGrpSpPr>
            <p:nvPr/>
          </p:nvGrpSpPr>
          <p:grpSpPr bwMode="auto">
            <a:xfrm>
              <a:off x="3746" y="618"/>
              <a:ext cx="1171" cy="3315"/>
              <a:chOff x="3746" y="618"/>
              <a:chExt cx="1171" cy="3315"/>
            </a:xfrm>
          </p:grpSpPr>
          <p:pic>
            <p:nvPicPr>
              <p:cNvPr id="21" name="Picture 14" descr="u=4139596117,2314769543&amp;fm=0&amp;gp=-38">
                <a:hlinkClick r:id="rId16"/>
              </p:cNvPr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35" y="618"/>
                <a:ext cx="683" cy="7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2" name="Picture 16">
                <a:hlinkClick r:id="rId18"/>
              </p:cNvPr>
              <p:cNvPicPr>
                <a:picLocks noChangeAspect="1" noChangeArrowheads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46" y="1797"/>
                <a:ext cx="1089" cy="7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" name="Rectangle 18"/>
              <p:cNvSpPr>
                <a:spLocks noChangeArrowheads="1"/>
              </p:cNvSpPr>
              <p:nvPr/>
            </p:nvSpPr>
            <p:spPr bwMode="auto">
              <a:xfrm>
                <a:off x="3931" y="1434"/>
                <a:ext cx="76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 eaLnBrk="0" hangingPunct="0"/>
                <a:r>
                  <a:rPr lang="en-US" altLang="zh-CN" dirty="0"/>
                  <a:t>MAC  OS </a:t>
                </a:r>
              </a:p>
            </p:txBody>
          </p:sp>
          <p:pic>
            <p:nvPicPr>
              <p:cNvPr id="24" name="Picture 26" descr="2297738_image003"/>
              <p:cNvPicPr>
                <a:picLocks noChangeAspect="1" noChangeArrowheads="1"/>
              </p:cNvPicPr>
              <p:nvPr/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33" y="2795"/>
                <a:ext cx="1043" cy="78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5" name="Rectangle 27"/>
              <p:cNvSpPr>
                <a:spLocks noChangeArrowheads="1"/>
              </p:cNvSpPr>
              <p:nvPr/>
            </p:nvSpPr>
            <p:spPr bwMode="auto">
              <a:xfrm>
                <a:off x="3833" y="3702"/>
                <a:ext cx="108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l" eaLnBrk="0" hangingPunct="0"/>
                <a:r>
                  <a:rPr lang="zh-CN" altLang="en-US"/>
                  <a:t>谷歌的</a:t>
                </a:r>
                <a:r>
                  <a:rPr lang="en-US" altLang="zh-CN"/>
                  <a:t>Android</a:t>
                </a:r>
                <a:r>
                  <a:rPr lang="zh-CN" altLang="en-US"/>
                  <a:t> </a:t>
                </a:r>
              </a:p>
            </p:txBody>
          </p:sp>
        </p:grpSp>
      </p:grpSp>
      <p:sp>
        <p:nvSpPr>
          <p:cNvPr id="50" name="文本框 25"/>
          <p:cNvSpPr txBox="1">
            <a:spLocks noChangeArrowheads="1"/>
          </p:cNvSpPr>
          <p:nvPr/>
        </p:nvSpPr>
        <p:spPr bwMode="auto">
          <a:xfrm>
            <a:off x="2456506" y="601693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课程引入</a:t>
            </a:r>
          </a:p>
        </p:txBody>
      </p:sp>
      <p:sp>
        <p:nvSpPr>
          <p:cNvPr id="51" name="文本框 31"/>
          <p:cNvSpPr txBox="1"/>
          <p:nvPr/>
        </p:nvSpPr>
        <p:spPr>
          <a:xfrm>
            <a:off x="2491741" y="10633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8908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新月形 4"/>
          <p:cNvSpPr>
            <a:spLocks noChangeArrowheads="1"/>
          </p:cNvSpPr>
          <p:nvPr/>
        </p:nvSpPr>
        <p:spPr bwMode="auto">
          <a:xfrm rot="20751297">
            <a:off x="4364038" y="2060575"/>
            <a:ext cx="1589087" cy="3178175"/>
          </a:xfrm>
          <a:prstGeom prst="moon">
            <a:avLst>
              <a:gd name="adj" fmla="val 15190"/>
            </a:avLst>
          </a:prstGeom>
          <a:solidFill>
            <a:srgbClr val="8EB453"/>
          </a:solidFill>
          <a:ln w="3175" cmpd="sng">
            <a:solidFill>
              <a:srgbClr val="8EB453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FFFFFF"/>
              </a:solidFill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9" name="新月形 5"/>
          <p:cNvSpPr>
            <a:spLocks noChangeArrowheads="1"/>
          </p:cNvSpPr>
          <p:nvPr/>
        </p:nvSpPr>
        <p:spPr bwMode="auto">
          <a:xfrm rot="4551297">
            <a:off x="5176838" y="1025525"/>
            <a:ext cx="1589088" cy="3176587"/>
          </a:xfrm>
          <a:prstGeom prst="moon">
            <a:avLst>
              <a:gd name="adj" fmla="val 15190"/>
            </a:avLst>
          </a:prstGeom>
          <a:solidFill>
            <a:srgbClr val="4C7E51"/>
          </a:solidFill>
          <a:ln w="3175" cmpd="sng">
            <a:solidFill>
              <a:srgbClr val="F8F8F8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FFFFFF"/>
              </a:solidFill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0" name="新月形 6"/>
          <p:cNvSpPr>
            <a:spLocks noChangeArrowheads="1"/>
          </p:cNvSpPr>
          <p:nvPr/>
        </p:nvSpPr>
        <p:spPr bwMode="auto">
          <a:xfrm rot="9951297">
            <a:off x="6213475" y="1839913"/>
            <a:ext cx="1589088" cy="3178175"/>
          </a:xfrm>
          <a:prstGeom prst="moon">
            <a:avLst>
              <a:gd name="adj" fmla="val 15190"/>
            </a:avLst>
          </a:prstGeom>
          <a:solidFill>
            <a:srgbClr val="8EB453"/>
          </a:solidFill>
          <a:ln w="3175" cmpd="sng">
            <a:solidFill>
              <a:srgbClr val="8EB453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FFFFFF"/>
              </a:solidFill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1" name="新月形 7"/>
          <p:cNvSpPr>
            <a:spLocks noChangeArrowheads="1"/>
          </p:cNvSpPr>
          <p:nvPr/>
        </p:nvSpPr>
        <p:spPr bwMode="auto">
          <a:xfrm rot="15351297">
            <a:off x="5413375" y="2863850"/>
            <a:ext cx="1589088" cy="3176588"/>
          </a:xfrm>
          <a:prstGeom prst="moon">
            <a:avLst>
              <a:gd name="adj" fmla="val 15190"/>
            </a:avLst>
          </a:prstGeom>
          <a:solidFill>
            <a:srgbClr val="4C7E51"/>
          </a:solidFill>
          <a:ln w="3175" cmpd="sng">
            <a:solidFill>
              <a:srgbClr val="F8F8F8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FFFFFF"/>
              </a:solidFill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2" name="TextBox 11"/>
          <p:cNvSpPr>
            <a:spLocks noChangeArrowheads="1"/>
          </p:cNvSpPr>
          <p:nvPr/>
        </p:nvSpPr>
        <p:spPr bwMode="auto">
          <a:xfrm flipH="1">
            <a:off x="5076825" y="3236913"/>
            <a:ext cx="211137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445469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操作系统</a:t>
            </a:r>
            <a:endParaRPr lang="en-US" altLang="zh-CN" sz="2400" b="1" dirty="0">
              <a:solidFill>
                <a:srgbClr val="445469"/>
              </a:solidFill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445469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学习内容</a:t>
            </a:r>
            <a:endParaRPr lang="en-US" sz="2400" b="1" dirty="0">
              <a:solidFill>
                <a:srgbClr val="445469"/>
              </a:solidFill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直接连接符 24"/>
          <p:cNvSpPr>
            <a:spLocks noChangeShapeType="1"/>
          </p:cNvSpPr>
          <p:nvPr/>
        </p:nvSpPr>
        <p:spPr bwMode="auto">
          <a:xfrm flipH="1">
            <a:off x="3483115" y="2669253"/>
            <a:ext cx="1049337" cy="0"/>
          </a:xfrm>
          <a:prstGeom prst="line">
            <a:avLst/>
          </a:prstGeom>
          <a:noFill/>
          <a:ln w="12700" cmpd="sng">
            <a:solidFill>
              <a:srgbClr val="ADBACA"/>
            </a:solidFill>
            <a:prstDash val="sysDot"/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4" name="直接连接符 24"/>
          <p:cNvSpPr>
            <a:spLocks noChangeShapeType="1"/>
          </p:cNvSpPr>
          <p:nvPr/>
        </p:nvSpPr>
        <p:spPr bwMode="auto">
          <a:xfrm flipH="1">
            <a:off x="3483115" y="4159832"/>
            <a:ext cx="990498" cy="0"/>
          </a:xfrm>
          <a:prstGeom prst="line">
            <a:avLst/>
          </a:prstGeom>
          <a:noFill/>
          <a:ln w="12700" cmpd="sng">
            <a:solidFill>
              <a:srgbClr val="ADBACA"/>
            </a:solidFill>
            <a:prstDash val="sysDot"/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5" name="TextBox 13"/>
          <p:cNvSpPr txBox="1"/>
          <p:nvPr/>
        </p:nvSpPr>
        <p:spPr>
          <a:xfrm>
            <a:off x="1528968" y="2264819"/>
            <a:ext cx="1840564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1216817"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zh-CN" altLang="en-US" sz="2800" b="1" dirty="0">
                <a:solidFill>
                  <a:srgbClr val="44546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理解操作系统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如何工作</a:t>
            </a:r>
            <a:endParaRPr lang="en-US" sz="2800" b="1" dirty="0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7" name="矩形 26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34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课程引入</a:t>
            </a:r>
          </a:p>
        </p:txBody>
      </p:sp>
      <p:sp>
        <p:nvSpPr>
          <p:cNvPr id="26" name="直接连接符 24"/>
          <p:cNvSpPr>
            <a:spLocks noChangeShapeType="1"/>
          </p:cNvSpPr>
          <p:nvPr/>
        </p:nvSpPr>
        <p:spPr bwMode="auto">
          <a:xfrm flipV="1">
            <a:off x="6168300" y="1212752"/>
            <a:ext cx="0" cy="602399"/>
          </a:xfrm>
          <a:prstGeom prst="line">
            <a:avLst/>
          </a:prstGeom>
          <a:noFill/>
          <a:ln w="12700" cmpd="sng">
            <a:solidFill>
              <a:srgbClr val="ADBACA"/>
            </a:solidFill>
            <a:prstDash val="sysDot"/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8" name="TextBox 13"/>
          <p:cNvSpPr txBox="1"/>
          <p:nvPr/>
        </p:nvSpPr>
        <p:spPr>
          <a:xfrm>
            <a:off x="4367459" y="775341"/>
            <a:ext cx="3263934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1216817"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zh-CN" altLang="en-US" sz="2800" b="1" dirty="0">
                <a:solidFill>
                  <a:srgbClr val="44546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如何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使用</a:t>
            </a:r>
            <a:r>
              <a:rPr lang="zh-CN" altLang="en-US" sz="2800" b="1" dirty="0">
                <a:solidFill>
                  <a:srgbClr val="44546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操作系统</a:t>
            </a:r>
            <a:endParaRPr lang="en-US" sz="2800" b="1" dirty="0">
              <a:solidFill>
                <a:srgbClr val="445469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0" name="直接连接符 24"/>
          <p:cNvSpPr>
            <a:spLocks noChangeShapeType="1"/>
          </p:cNvSpPr>
          <p:nvPr/>
        </p:nvSpPr>
        <p:spPr bwMode="auto">
          <a:xfrm flipH="1">
            <a:off x="6132512" y="5205020"/>
            <a:ext cx="0" cy="567984"/>
          </a:xfrm>
          <a:prstGeom prst="line">
            <a:avLst/>
          </a:prstGeom>
          <a:noFill/>
          <a:ln w="12700" cmpd="sng">
            <a:solidFill>
              <a:srgbClr val="ADBACA"/>
            </a:solidFill>
            <a:prstDash val="sysDot"/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6" name="直接连接符 24"/>
          <p:cNvSpPr>
            <a:spLocks noChangeShapeType="1"/>
          </p:cNvSpPr>
          <p:nvPr/>
        </p:nvSpPr>
        <p:spPr bwMode="auto">
          <a:xfrm flipH="1" flipV="1">
            <a:off x="7705684" y="4159830"/>
            <a:ext cx="605801" cy="1"/>
          </a:xfrm>
          <a:prstGeom prst="line">
            <a:avLst/>
          </a:prstGeom>
          <a:noFill/>
          <a:ln w="12700" cmpd="sng">
            <a:solidFill>
              <a:srgbClr val="ADBACA"/>
            </a:solidFill>
            <a:prstDash val="sysDot"/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8" name="直接连接符 24"/>
          <p:cNvSpPr>
            <a:spLocks noChangeShapeType="1"/>
          </p:cNvSpPr>
          <p:nvPr/>
        </p:nvSpPr>
        <p:spPr bwMode="auto">
          <a:xfrm flipV="1">
            <a:off x="7628165" y="2671656"/>
            <a:ext cx="683321" cy="0"/>
          </a:xfrm>
          <a:prstGeom prst="line">
            <a:avLst/>
          </a:prstGeom>
          <a:noFill/>
          <a:ln w="12700" cmpd="sng">
            <a:solidFill>
              <a:srgbClr val="ADBACA"/>
            </a:solidFill>
            <a:prstDash val="sysDot"/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2" name="TextBox 13"/>
          <p:cNvSpPr txBox="1"/>
          <p:nvPr/>
        </p:nvSpPr>
        <p:spPr>
          <a:xfrm>
            <a:off x="1558536" y="3754723"/>
            <a:ext cx="1840564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1216817"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zh-CN" altLang="en-US" sz="2800" b="1" dirty="0">
                <a:solidFill>
                  <a:srgbClr val="44546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理解操作系统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工作方式</a:t>
            </a:r>
            <a:endParaRPr lang="en-US" sz="2800" b="1" dirty="0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3" name="TextBox 13"/>
          <p:cNvSpPr txBox="1"/>
          <p:nvPr/>
        </p:nvSpPr>
        <p:spPr>
          <a:xfrm>
            <a:off x="3300602" y="5898418"/>
            <a:ext cx="5745707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1216817"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zh-CN" altLang="en-US" sz="2800" b="1" dirty="0">
                <a:solidFill>
                  <a:srgbClr val="44546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掌握操作系统内部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算法</a:t>
            </a:r>
            <a:r>
              <a:rPr lang="zh-CN" altLang="en-US" sz="2800" b="1" dirty="0">
                <a:solidFill>
                  <a:srgbClr val="44546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和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数据结构</a:t>
            </a:r>
            <a:endParaRPr lang="en-US" sz="2800" b="1" dirty="0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5" name="TextBox 13"/>
          <p:cNvSpPr txBox="1"/>
          <p:nvPr/>
        </p:nvSpPr>
        <p:spPr>
          <a:xfrm>
            <a:off x="8453412" y="2025325"/>
            <a:ext cx="2915173" cy="12926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eaLnBrk="0" hangingPunct="0">
              <a:defRPr/>
            </a:pPr>
            <a:r>
              <a:rPr lang="zh-CN" altLang="en-US" sz="2800" b="1" dirty="0">
                <a:solidFill>
                  <a:srgbClr val="44546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理解设计操作系统过程中的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问题</a:t>
            </a:r>
            <a:r>
              <a:rPr lang="zh-CN" altLang="en-US" sz="2800" b="1" dirty="0">
                <a:solidFill>
                  <a:srgbClr val="44546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解决方案</a:t>
            </a:r>
            <a:r>
              <a:rPr lang="zh-CN" altLang="en-US" sz="2800" b="1" dirty="0">
                <a:solidFill>
                  <a:srgbClr val="44546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折中权衡</a:t>
            </a:r>
          </a:p>
        </p:txBody>
      </p:sp>
      <p:sp>
        <p:nvSpPr>
          <p:cNvPr id="56" name="TextBox 13"/>
          <p:cNvSpPr txBox="1"/>
          <p:nvPr/>
        </p:nvSpPr>
        <p:spPr>
          <a:xfrm>
            <a:off x="8469332" y="3726710"/>
            <a:ext cx="2915173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eaLnBrk="0" hangingPunct="0">
              <a:defRPr/>
            </a:pPr>
            <a:r>
              <a:rPr lang="zh-CN" altLang="en-US" sz="2800" b="1" dirty="0">
                <a:solidFill>
                  <a:srgbClr val="44546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掌握操作系统中的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典型技术</a:t>
            </a:r>
            <a:r>
              <a:rPr lang="zh-CN" altLang="en-US" sz="2800" b="1" dirty="0">
                <a:solidFill>
                  <a:srgbClr val="44546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应用</a:t>
            </a:r>
          </a:p>
        </p:txBody>
      </p:sp>
      <p:sp>
        <p:nvSpPr>
          <p:cNvPr id="2" name="乘号 1"/>
          <p:cNvSpPr/>
          <p:nvPr/>
        </p:nvSpPr>
        <p:spPr>
          <a:xfrm>
            <a:off x="5921149" y="1275116"/>
            <a:ext cx="513948" cy="47767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5790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28" grpId="0"/>
      <p:bldP spid="52" grpId="0"/>
      <p:bldP spid="53" grpId="0"/>
      <p:bldP spid="55" grpId="0"/>
      <p:bldP spid="56" grpId="0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 cstate="print"/>
          <a:srcRect r="42146" b="48018"/>
          <a:stretch/>
        </p:blipFill>
        <p:spPr>
          <a:xfrm>
            <a:off x="7346063" y="2507022"/>
            <a:ext cx="4845938" cy="4346724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1938" y1="46310" x2="41938" y2="46310"/>
                        <a14:foregroundMark x1="26672" y1="41021" x2="26672" y2="41021"/>
                        <a14:foregroundMark x1="31389" y1="39422" x2="31389" y2="39422"/>
                        <a14:backgroundMark x1="70755" y1="56581" x2="70755" y2="56581"/>
                        <a14:backgroundMark x1="68696" y1="52583" x2="65266" y2="51415"/>
                        <a14:backgroundMark x1="49914" y1="48032" x2="49314" y2="47909"/>
                        <a14:backgroundMark x1="49314" y1="54674" x2="48714" y2="54674"/>
                        <a14:backgroundMark x1="47513" y1="54490" x2="50772" y2="56827"/>
                        <a14:backgroundMark x1="67067" y1="62116" x2="67667" y2="61501"/>
                        <a14:backgroundMark x1="68525" y1="56396" x2="68525" y2="55351"/>
                        <a14:backgroundMark x1="70154" y1="50861" x2="70154" y2="50861"/>
                        <a14:backgroundMark x1="71184" y1="50431" x2="71184" y2="50431"/>
                        <a14:backgroundMark x1="38508" y1="41451" x2="38508" y2="41451"/>
                        <a14:backgroundMark x1="44254" y1="36470" x2="44254" y2="36470"/>
                        <a14:backgroundMark x1="42796" y1="43235" x2="42796" y2="43235"/>
                        <a14:backgroundMark x1="67067" y1="42927" x2="67067" y2="42927"/>
                        <a14:backgroundMark x1="58062" y1="45449" x2="57461" y2="45572"/>
                        <a14:backgroundMark x1="59091" y1="52768" x2="59520" y2="53321"/>
                        <a14:backgroundMark x1="59520" y1="54182" x2="59777" y2="55843"/>
                        <a14:backgroundMark x1="59777" y1="59164" x2="59777" y2="59164"/>
                        <a14:backgroundMark x1="78902" y1="35609" x2="78902" y2="35609"/>
                        <a14:backgroundMark x1="26415" y1="39729" x2="26415" y2="39729"/>
                        <a14:backgroundMark x1="25472" y1="42189" x2="25472" y2="42189"/>
                        <a14:backgroundMark x1="25214" y1="41636" x2="25214" y2="41636"/>
                        <a14:backgroundMark x1="46055" y1="56704" x2="46055" y2="56704"/>
                        <a14:backgroundMark x1="56690" y1="49508" x2="56690" y2="49508"/>
                        <a14:backgroundMark x1="56861" y1="49262" x2="60720" y2="48770"/>
                        <a14:backgroundMark x1="66295" y1="47601" x2="66895" y2="47601"/>
                        <a14:backgroundMark x1="71184" y1="46617" x2="76672" y2="45449"/>
                        <a14:backgroundMark x1="81389" y1="43973" x2="81389" y2="43973"/>
                      </a14:backgroundRemoval>
                    </a14:imgEffect>
                  </a14:imgLayer>
                </a14:imgProps>
              </a:ext>
            </a:extLst>
          </a:blip>
          <a:srcRect l="17878" t="35012" b="43146"/>
          <a:stretch/>
        </p:blipFill>
        <p:spPr>
          <a:xfrm>
            <a:off x="-1" y="0"/>
            <a:ext cx="5837731" cy="2166151"/>
          </a:xfrm>
          <a:prstGeom prst="rect">
            <a:avLst/>
          </a:prstGeom>
        </p:spPr>
      </p:pic>
      <p:sp>
        <p:nvSpPr>
          <p:cNvPr id="50" name="文本框 25"/>
          <p:cNvSpPr txBox="1">
            <a:spLocks noChangeArrowheads="1"/>
          </p:cNvSpPr>
          <p:nvPr/>
        </p:nvSpPr>
        <p:spPr bwMode="auto">
          <a:xfrm>
            <a:off x="2456506" y="601693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课程引入</a:t>
            </a:r>
          </a:p>
        </p:txBody>
      </p:sp>
      <p:grpSp>
        <p:nvGrpSpPr>
          <p:cNvPr id="30" name="Group 3"/>
          <p:cNvGrpSpPr>
            <a:grpSpLocks/>
          </p:cNvGrpSpPr>
          <p:nvPr/>
        </p:nvGrpSpPr>
        <p:grpSpPr bwMode="auto">
          <a:xfrm>
            <a:off x="3029734" y="1367433"/>
            <a:ext cx="5018088" cy="4784725"/>
            <a:chOff x="1488" y="960"/>
            <a:chExt cx="2928" cy="2880"/>
          </a:xfrm>
        </p:grpSpPr>
        <p:grpSp>
          <p:nvGrpSpPr>
            <p:cNvPr id="31" name="Group 4"/>
            <p:cNvGrpSpPr>
              <a:grpSpLocks/>
            </p:cNvGrpSpPr>
            <p:nvPr/>
          </p:nvGrpSpPr>
          <p:grpSpPr bwMode="auto">
            <a:xfrm>
              <a:off x="2356" y="960"/>
              <a:ext cx="1192" cy="959"/>
              <a:chOff x="2356" y="960"/>
              <a:chExt cx="1192" cy="959"/>
            </a:xfrm>
          </p:grpSpPr>
          <p:grpSp>
            <p:nvGrpSpPr>
              <p:cNvPr id="78" name="Group 5"/>
              <p:cNvGrpSpPr>
                <a:grpSpLocks/>
              </p:cNvGrpSpPr>
              <p:nvPr/>
            </p:nvGrpSpPr>
            <p:grpSpPr bwMode="auto">
              <a:xfrm>
                <a:off x="2356" y="960"/>
                <a:ext cx="1192" cy="959"/>
                <a:chOff x="2057" y="862"/>
                <a:chExt cx="1549" cy="1351"/>
              </a:xfrm>
            </p:grpSpPr>
            <p:sp>
              <p:nvSpPr>
                <p:cNvPr id="80" name="AutoShape 6"/>
                <p:cNvSpPr>
                  <a:spLocks noChangeArrowheads="1"/>
                </p:cNvSpPr>
                <p:nvPr/>
              </p:nvSpPr>
              <p:spPr bwMode="gray">
                <a:xfrm>
                  <a:off x="2070" y="885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1" name="AutoShape 7"/>
                <p:cNvSpPr>
                  <a:spLocks noChangeArrowheads="1"/>
                </p:cNvSpPr>
                <p:nvPr/>
              </p:nvSpPr>
              <p:spPr bwMode="gray">
                <a:xfrm>
                  <a:off x="2057" y="862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" name="AutoShape 8"/>
                <p:cNvSpPr>
                  <a:spLocks noChangeArrowheads="1"/>
                </p:cNvSpPr>
                <p:nvPr/>
              </p:nvSpPr>
              <p:spPr bwMode="gray">
                <a:xfrm>
                  <a:off x="2147" y="942"/>
                  <a:ext cx="1350" cy="1168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rgbClr val="7262EC"/>
                    </a:gs>
                    <a:gs pos="100000">
                      <a:srgbClr val="2614AA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79" name="Text Box 9"/>
              <p:cNvSpPr txBox="1">
                <a:spLocks noChangeArrowheads="1"/>
              </p:cNvSpPr>
              <p:nvPr/>
            </p:nvSpPr>
            <p:spPr bwMode="gray">
              <a:xfrm>
                <a:off x="2626" y="1170"/>
                <a:ext cx="649" cy="5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</a:rPr>
                  <a:t>输入输</a:t>
                </a:r>
                <a:endParaRPr lang="en-US" altLang="zh-CN" sz="2400" b="1" dirty="0">
                  <a:solidFill>
                    <a:srgbClr val="FFFFFF"/>
                  </a:solidFill>
                </a:endParaRPr>
              </a:p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</a:rPr>
                  <a:t>出管理</a:t>
                </a:r>
                <a:endParaRPr lang="en-US" altLang="zh-CN" sz="24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32" name="Group 10"/>
            <p:cNvGrpSpPr>
              <a:grpSpLocks/>
            </p:cNvGrpSpPr>
            <p:nvPr/>
          </p:nvGrpSpPr>
          <p:grpSpPr bwMode="auto">
            <a:xfrm>
              <a:off x="1488" y="1438"/>
              <a:ext cx="1193" cy="959"/>
              <a:chOff x="1488" y="1438"/>
              <a:chExt cx="1193" cy="959"/>
            </a:xfrm>
          </p:grpSpPr>
          <p:grpSp>
            <p:nvGrpSpPr>
              <p:cNvPr id="73" name="Group 11"/>
              <p:cNvGrpSpPr>
                <a:grpSpLocks/>
              </p:cNvGrpSpPr>
              <p:nvPr/>
            </p:nvGrpSpPr>
            <p:grpSpPr bwMode="auto">
              <a:xfrm>
                <a:off x="1488" y="1438"/>
                <a:ext cx="1193" cy="959"/>
                <a:chOff x="1110" y="2656"/>
                <a:chExt cx="1549" cy="1351"/>
              </a:xfrm>
            </p:grpSpPr>
            <p:sp>
              <p:nvSpPr>
                <p:cNvPr id="75" name="AutoShape 12"/>
                <p:cNvSpPr>
                  <a:spLocks noChangeArrowheads="1"/>
                </p:cNvSpPr>
                <p:nvPr/>
              </p:nvSpPr>
              <p:spPr bwMode="gray">
                <a:xfrm>
                  <a:off x="1123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6" name="AutoShape 13"/>
                <p:cNvSpPr>
                  <a:spLocks noChangeArrowheads="1"/>
                </p:cNvSpPr>
                <p:nvPr/>
              </p:nvSpPr>
              <p:spPr bwMode="gray">
                <a:xfrm>
                  <a:off x="1110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7" name="AutoShape 14"/>
                <p:cNvSpPr>
                  <a:spLocks noChangeArrowheads="1"/>
                </p:cNvSpPr>
                <p:nvPr/>
              </p:nvSpPr>
              <p:spPr bwMode="gray">
                <a:xfrm>
                  <a:off x="1200" y="2736"/>
                  <a:ext cx="1350" cy="1168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rgbClr val="24B443"/>
                    </a:gs>
                    <a:gs pos="100000">
                      <a:srgbClr val="115D16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74" name="Text Box 15"/>
              <p:cNvSpPr txBox="1">
                <a:spLocks noChangeArrowheads="1"/>
              </p:cNvSpPr>
              <p:nvPr/>
            </p:nvSpPr>
            <p:spPr bwMode="gray">
              <a:xfrm>
                <a:off x="1674" y="1778"/>
                <a:ext cx="830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</a:rPr>
                  <a:t>文件管理</a:t>
                </a:r>
              </a:p>
            </p:txBody>
          </p:sp>
        </p:grpSp>
        <p:grpSp>
          <p:nvGrpSpPr>
            <p:cNvPr id="33" name="Group 16"/>
            <p:cNvGrpSpPr>
              <a:grpSpLocks/>
            </p:cNvGrpSpPr>
            <p:nvPr/>
          </p:nvGrpSpPr>
          <p:grpSpPr bwMode="auto">
            <a:xfrm>
              <a:off x="2356" y="1919"/>
              <a:ext cx="1192" cy="959"/>
              <a:chOff x="2356" y="1919"/>
              <a:chExt cx="1192" cy="959"/>
            </a:xfrm>
          </p:grpSpPr>
          <p:grpSp>
            <p:nvGrpSpPr>
              <p:cNvPr id="68" name="Group 17"/>
              <p:cNvGrpSpPr>
                <a:grpSpLocks/>
              </p:cNvGrpSpPr>
              <p:nvPr/>
            </p:nvGrpSpPr>
            <p:grpSpPr bwMode="auto">
              <a:xfrm>
                <a:off x="2356" y="1919"/>
                <a:ext cx="1192" cy="959"/>
                <a:chOff x="3174" y="2656"/>
                <a:chExt cx="1549" cy="1351"/>
              </a:xfrm>
            </p:grpSpPr>
            <p:sp>
              <p:nvSpPr>
                <p:cNvPr id="70" name="AutoShape 18"/>
                <p:cNvSpPr>
                  <a:spLocks noChangeArrowheads="1"/>
                </p:cNvSpPr>
                <p:nvPr/>
              </p:nvSpPr>
              <p:spPr bwMode="gray">
                <a:xfrm>
                  <a:off x="3187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1" name="AutoShape 19"/>
                <p:cNvSpPr>
                  <a:spLocks noChangeArrowheads="1"/>
                </p:cNvSpPr>
                <p:nvPr/>
              </p:nvSpPr>
              <p:spPr bwMode="gray">
                <a:xfrm>
                  <a:off x="3174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" name="AutoShape 20"/>
                <p:cNvSpPr>
                  <a:spLocks noChangeArrowheads="1"/>
                </p:cNvSpPr>
                <p:nvPr/>
              </p:nvSpPr>
              <p:spPr bwMode="gray">
                <a:xfrm>
                  <a:off x="3264" y="2736"/>
                  <a:ext cx="1350" cy="1168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rgbClr val="CC7032"/>
                    </a:gs>
                    <a:gs pos="100000">
                      <a:srgbClr val="844820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69" name="Text Box 21"/>
              <p:cNvSpPr txBox="1">
                <a:spLocks noChangeArrowheads="1"/>
              </p:cNvSpPr>
              <p:nvPr/>
            </p:nvSpPr>
            <p:spPr bwMode="gray">
              <a:xfrm>
                <a:off x="2517" y="2109"/>
                <a:ext cx="830" cy="5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</a:rPr>
                  <a:t>进程描述</a:t>
                </a:r>
                <a:endParaRPr lang="en-US" altLang="zh-CN" sz="2400" b="1" dirty="0">
                  <a:solidFill>
                    <a:srgbClr val="FFFFFF"/>
                  </a:solidFill>
                </a:endParaRPr>
              </a:p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</a:rPr>
                  <a:t>与控制</a:t>
                </a:r>
                <a:endParaRPr lang="en-US" altLang="zh-CN" sz="24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34" name="Group 22"/>
            <p:cNvGrpSpPr>
              <a:grpSpLocks/>
            </p:cNvGrpSpPr>
            <p:nvPr/>
          </p:nvGrpSpPr>
          <p:grpSpPr bwMode="auto">
            <a:xfrm>
              <a:off x="3223" y="1438"/>
              <a:ext cx="1193" cy="959"/>
              <a:chOff x="3223" y="1438"/>
              <a:chExt cx="1193" cy="959"/>
            </a:xfrm>
          </p:grpSpPr>
          <p:grpSp>
            <p:nvGrpSpPr>
              <p:cNvPr id="63" name="Group 23"/>
              <p:cNvGrpSpPr>
                <a:grpSpLocks/>
              </p:cNvGrpSpPr>
              <p:nvPr/>
            </p:nvGrpSpPr>
            <p:grpSpPr bwMode="auto">
              <a:xfrm>
                <a:off x="3223" y="1438"/>
                <a:ext cx="1193" cy="959"/>
                <a:chOff x="2057" y="862"/>
                <a:chExt cx="1549" cy="1351"/>
              </a:xfrm>
            </p:grpSpPr>
            <p:sp>
              <p:nvSpPr>
                <p:cNvPr id="65" name="AutoShape 24"/>
                <p:cNvSpPr>
                  <a:spLocks noChangeArrowheads="1"/>
                </p:cNvSpPr>
                <p:nvPr/>
              </p:nvSpPr>
              <p:spPr bwMode="gray">
                <a:xfrm>
                  <a:off x="2070" y="885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6" name="AutoShape 25"/>
                <p:cNvSpPr>
                  <a:spLocks noChangeArrowheads="1"/>
                </p:cNvSpPr>
                <p:nvPr/>
              </p:nvSpPr>
              <p:spPr bwMode="gray">
                <a:xfrm>
                  <a:off x="2057" y="862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7" name="AutoShape 26"/>
                <p:cNvSpPr>
                  <a:spLocks noChangeArrowheads="1"/>
                </p:cNvSpPr>
                <p:nvPr/>
              </p:nvSpPr>
              <p:spPr bwMode="gray">
                <a:xfrm>
                  <a:off x="2147" y="942"/>
                  <a:ext cx="1350" cy="1168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rgbClr val="3E565A"/>
                    </a:gs>
                    <a:gs pos="100000">
                      <a:srgbClr val="85B9C3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64" name="Text Box 27"/>
              <p:cNvSpPr txBox="1">
                <a:spLocks noChangeArrowheads="1"/>
              </p:cNvSpPr>
              <p:nvPr/>
            </p:nvSpPr>
            <p:spPr bwMode="gray">
              <a:xfrm>
                <a:off x="3411" y="1764"/>
                <a:ext cx="830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</a:rPr>
                  <a:t>磁盘管理</a:t>
                </a:r>
                <a:endParaRPr lang="zh-CN" altLang="en-US" sz="1400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35" name="Group 28"/>
            <p:cNvGrpSpPr>
              <a:grpSpLocks/>
            </p:cNvGrpSpPr>
            <p:nvPr/>
          </p:nvGrpSpPr>
          <p:grpSpPr bwMode="auto">
            <a:xfrm>
              <a:off x="3223" y="2400"/>
              <a:ext cx="1193" cy="959"/>
              <a:chOff x="3223" y="2400"/>
              <a:chExt cx="1193" cy="959"/>
            </a:xfrm>
          </p:grpSpPr>
          <p:grpSp>
            <p:nvGrpSpPr>
              <p:cNvPr id="58" name="Group 29"/>
              <p:cNvGrpSpPr>
                <a:grpSpLocks/>
              </p:cNvGrpSpPr>
              <p:nvPr/>
            </p:nvGrpSpPr>
            <p:grpSpPr bwMode="auto">
              <a:xfrm>
                <a:off x="3223" y="2400"/>
                <a:ext cx="1193" cy="959"/>
                <a:chOff x="3174" y="2656"/>
                <a:chExt cx="1549" cy="1351"/>
              </a:xfrm>
            </p:grpSpPr>
            <p:sp>
              <p:nvSpPr>
                <p:cNvPr id="60" name="AutoShape 30"/>
                <p:cNvSpPr>
                  <a:spLocks noChangeArrowheads="1"/>
                </p:cNvSpPr>
                <p:nvPr/>
              </p:nvSpPr>
              <p:spPr bwMode="gray">
                <a:xfrm>
                  <a:off x="3187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1" name="AutoShape 31"/>
                <p:cNvSpPr>
                  <a:spLocks noChangeArrowheads="1"/>
                </p:cNvSpPr>
                <p:nvPr/>
              </p:nvSpPr>
              <p:spPr bwMode="gray">
                <a:xfrm>
                  <a:off x="3174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2" name="AutoShape 32"/>
                <p:cNvSpPr>
                  <a:spLocks noChangeArrowheads="1"/>
                </p:cNvSpPr>
                <p:nvPr/>
              </p:nvSpPr>
              <p:spPr bwMode="gray">
                <a:xfrm>
                  <a:off x="3264" y="2736"/>
                  <a:ext cx="1350" cy="1168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rgbClr val="245D52"/>
                    </a:gs>
                    <a:gs pos="100000">
                      <a:srgbClr val="4DC9B1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59" name="Text Box 33"/>
              <p:cNvSpPr txBox="1">
                <a:spLocks noChangeArrowheads="1"/>
              </p:cNvSpPr>
              <p:nvPr/>
            </p:nvSpPr>
            <p:spPr bwMode="gray">
              <a:xfrm>
                <a:off x="3403" y="2634"/>
                <a:ext cx="830" cy="5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</a:rPr>
                  <a:t>处理机调</a:t>
                </a:r>
                <a:endParaRPr lang="en-US" altLang="zh-CN" sz="2400" b="1" dirty="0">
                  <a:solidFill>
                    <a:srgbClr val="FFFFFF"/>
                  </a:solidFill>
                </a:endParaRPr>
              </a:p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</a:rPr>
                  <a:t>度与死锁</a:t>
                </a:r>
              </a:p>
            </p:txBody>
          </p:sp>
        </p:grpSp>
        <p:grpSp>
          <p:nvGrpSpPr>
            <p:cNvPr id="36" name="Group 34"/>
            <p:cNvGrpSpPr>
              <a:grpSpLocks/>
            </p:cNvGrpSpPr>
            <p:nvPr/>
          </p:nvGrpSpPr>
          <p:grpSpPr bwMode="auto">
            <a:xfrm>
              <a:off x="1488" y="2400"/>
              <a:ext cx="1193" cy="959"/>
              <a:chOff x="1488" y="2400"/>
              <a:chExt cx="1193" cy="959"/>
            </a:xfrm>
          </p:grpSpPr>
          <p:grpSp>
            <p:nvGrpSpPr>
              <p:cNvPr id="53" name="Group 35"/>
              <p:cNvGrpSpPr>
                <a:grpSpLocks/>
              </p:cNvGrpSpPr>
              <p:nvPr/>
            </p:nvGrpSpPr>
            <p:grpSpPr bwMode="auto">
              <a:xfrm>
                <a:off x="1488" y="2400"/>
                <a:ext cx="1193" cy="959"/>
                <a:chOff x="3174" y="2656"/>
                <a:chExt cx="1549" cy="1351"/>
              </a:xfrm>
            </p:grpSpPr>
            <p:sp>
              <p:nvSpPr>
                <p:cNvPr id="55" name="AutoShape 36"/>
                <p:cNvSpPr>
                  <a:spLocks noChangeArrowheads="1"/>
                </p:cNvSpPr>
                <p:nvPr/>
              </p:nvSpPr>
              <p:spPr bwMode="gray">
                <a:xfrm>
                  <a:off x="3187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56" name="AutoShape 37"/>
                <p:cNvSpPr>
                  <a:spLocks noChangeArrowheads="1"/>
                </p:cNvSpPr>
                <p:nvPr/>
              </p:nvSpPr>
              <p:spPr bwMode="gray">
                <a:xfrm>
                  <a:off x="3174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57" name="AutoShape 38"/>
                <p:cNvSpPr>
                  <a:spLocks noChangeArrowheads="1"/>
                </p:cNvSpPr>
                <p:nvPr/>
              </p:nvSpPr>
              <p:spPr bwMode="gray">
                <a:xfrm>
                  <a:off x="3264" y="2736"/>
                  <a:ext cx="1350" cy="1168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rgbClr val="0066CC"/>
                    </a:gs>
                    <a:gs pos="100000">
                      <a:srgbClr val="002F5E"/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54" name="Text Box 39"/>
              <p:cNvSpPr txBox="1">
                <a:spLocks noChangeArrowheads="1"/>
              </p:cNvSpPr>
              <p:nvPr/>
            </p:nvSpPr>
            <p:spPr bwMode="gray">
              <a:xfrm>
                <a:off x="1674" y="2738"/>
                <a:ext cx="830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</a:rPr>
                  <a:t>设备管理</a:t>
                </a:r>
              </a:p>
            </p:txBody>
          </p:sp>
        </p:grpSp>
        <p:grpSp>
          <p:nvGrpSpPr>
            <p:cNvPr id="37" name="Group 40"/>
            <p:cNvGrpSpPr>
              <a:grpSpLocks/>
            </p:cNvGrpSpPr>
            <p:nvPr/>
          </p:nvGrpSpPr>
          <p:grpSpPr bwMode="auto">
            <a:xfrm>
              <a:off x="2356" y="2881"/>
              <a:ext cx="1192" cy="959"/>
              <a:chOff x="2356" y="2881"/>
              <a:chExt cx="1192" cy="959"/>
            </a:xfrm>
          </p:grpSpPr>
          <p:grpSp>
            <p:nvGrpSpPr>
              <p:cNvPr id="38" name="Group 41"/>
              <p:cNvGrpSpPr>
                <a:grpSpLocks/>
              </p:cNvGrpSpPr>
              <p:nvPr/>
            </p:nvGrpSpPr>
            <p:grpSpPr bwMode="auto">
              <a:xfrm>
                <a:off x="2356" y="2881"/>
                <a:ext cx="1192" cy="959"/>
                <a:chOff x="3174" y="2656"/>
                <a:chExt cx="1549" cy="1351"/>
              </a:xfrm>
            </p:grpSpPr>
            <p:sp>
              <p:nvSpPr>
                <p:cNvPr id="40" name="AutoShape 42"/>
                <p:cNvSpPr>
                  <a:spLocks noChangeArrowheads="1"/>
                </p:cNvSpPr>
                <p:nvPr/>
              </p:nvSpPr>
              <p:spPr bwMode="gray">
                <a:xfrm>
                  <a:off x="3187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51" name="AutoShape 43"/>
                <p:cNvSpPr>
                  <a:spLocks noChangeArrowheads="1"/>
                </p:cNvSpPr>
                <p:nvPr/>
              </p:nvSpPr>
              <p:spPr bwMode="gray">
                <a:xfrm>
                  <a:off x="3174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52" name="AutoShape 44"/>
                <p:cNvSpPr>
                  <a:spLocks noChangeArrowheads="1"/>
                </p:cNvSpPr>
                <p:nvPr/>
              </p:nvSpPr>
              <p:spPr bwMode="gray">
                <a:xfrm>
                  <a:off x="3264" y="2736"/>
                  <a:ext cx="1350" cy="1168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rgbClr val="584F25"/>
                    </a:gs>
                    <a:gs pos="100000">
                      <a:srgbClr val="BFAA4F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39" name="Text Box 45"/>
              <p:cNvSpPr txBox="1">
                <a:spLocks noChangeArrowheads="1"/>
              </p:cNvSpPr>
              <p:nvPr/>
            </p:nvSpPr>
            <p:spPr bwMode="gray">
              <a:xfrm>
                <a:off x="2452" y="3215"/>
                <a:ext cx="1010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 algn="l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ctr"/>
                <a:r>
                  <a:rPr lang="zh-CN" altLang="en-US" sz="2400" b="1" dirty="0">
                    <a:solidFill>
                      <a:srgbClr val="FFFFFF"/>
                    </a:solidFill>
                  </a:rPr>
                  <a:t>存储器管理</a:t>
                </a:r>
              </a:p>
            </p:txBody>
          </p:sp>
        </p:grpSp>
      </p:grpSp>
      <p:sp>
        <p:nvSpPr>
          <p:cNvPr id="83" name="文本框 31"/>
          <p:cNvSpPr txBox="1"/>
          <p:nvPr/>
        </p:nvSpPr>
        <p:spPr>
          <a:xfrm>
            <a:off x="2487696" y="102204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3551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五边形 1"/>
          <p:cNvSpPr/>
          <p:nvPr/>
        </p:nvSpPr>
        <p:spPr>
          <a:xfrm>
            <a:off x="0" y="1743075"/>
            <a:ext cx="1828800" cy="914400"/>
          </a:xfrm>
          <a:prstGeom prst="homePlate">
            <a:avLst/>
          </a:prstGeom>
          <a:solidFill>
            <a:srgbClr val="8EB453"/>
          </a:solidFill>
          <a:ln>
            <a:solidFill>
              <a:srgbClr val="8AB3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燕尾形 2"/>
          <p:cNvSpPr/>
          <p:nvPr/>
        </p:nvSpPr>
        <p:spPr>
          <a:xfrm>
            <a:off x="1679575" y="1760538"/>
            <a:ext cx="8488363" cy="896937"/>
          </a:xfrm>
          <a:prstGeom prst="chevron">
            <a:avLst/>
          </a:prstGeom>
          <a:noFill/>
          <a:ln w="12700"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8EB453"/>
              </a:solidFill>
            </a:endParaRPr>
          </a:p>
        </p:txBody>
      </p:sp>
      <p:sp>
        <p:nvSpPr>
          <p:cNvPr id="113" name="五边形 112"/>
          <p:cNvSpPr/>
          <p:nvPr/>
        </p:nvSpPr>
        <p:spPr>
          <a:xfrm rot="10800000">
            <a:off x="10363200" y="2900363"/>
            <a:ext cx="1828800" cy="914400"/>
          </a:xfrm>
          <a:prstGeom prst="homePlate">
            <a:avLst/>
          </a:prstGeom>
          <a:solidFill>
            <a:srgbClr val="4C7E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14" name="燕尾形 113"/>
          <p:cNvSpPr/>
          <p:nvPr/>
        </p:nvSpPr>
        <p:spPr>
          <a:xfrm rot="10800000">
            <a:off x="2128838" y="2917825"/>
            <a:ext cx="8488362" cy="896938"/>
          </a:xfrm>
          <a:prstGeom prst="chevron">
            <a:avLst/>
          </a:prstGeom>
          <a:noFill/>
          <a:ln w="12700"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3D7351"/>
              </a:solidFill>
            </a:endParaRPr>
          </a:p>
        </p:txBody>
      </p:sp>
      <p:sp>
        <p:nvSpPr>
          <p:cNvPr id="115" name="五边形 114"/>
          <p:cNvSpPr/>
          <p:nvPr/>
        </p:nvSpPr>
        <p:spPr>
          <a:xfrm>
            <a:off x="0" y="3998913"/>
            <a:ext cx="1828800" cy="914400"/>
          </a:xfrm>
          <a:prstGeom prst="homePlate">
            <a:avLst/>
          </a:prstGeom>
          <a:solidFill>
            <a:srgbClr val="8EB453"/>
          </a:solidFill>
          <a:ln>
            <a:solidFill>
              <a:srgbClr val="8AB3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16" name="燕尾形 115"/>
          <p:cNvSpPr/>
          <p:nvPr/>
        </p:nvSpPr>
        <p:spPr>
          <a:xfrm>
            <a:off x="1679575" y="4016375"/>
            <a:ext cx="8488363" cy="896938"/>
          </a:xfrm>
          <a:prstGeom prst="chevron">
            <a:avLst/>
          </a:prstGeom>
          <a:noFill/>
          <a:ln w="12700"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8EB453"/>
              </a:solidFill>
            </a:endParaRPr>
          </a:p>
        </p:txBody>
      </p:sp>
      <p:sp>
        <p:nvSpPr>
          <p:cNvPr id="117" name="五边形 116"/>
          <p:cNvSpPr/>
          <p:nvPr/>
        </p:nvSpPr>
        <p:spPr>
          <a:xfrm rot="10800000">
            <a:off x="10363200" y="5157788"/>
            <a:ext cx="1828800" cy="914400"/>
          </a:xfrm>
          <a:prstGeom prst="homePlate">
            <a:avLst/>
          </a:prstGeom>
          <a:solidFill>
            <a:srgbClr val="4C7E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18" name="燕尾形 117"/>
          <p:cNvSpPr/>
          <p:nvPr/>
        </p:nvSpPr>
        <p:spPr>
          <a:xfrm rot="10800000">
            <a:off x="2128838" y="5175250"/>
            <a:ext cx="8488362" cy="896938"/>
          </a:xfrm>
          <a:prstGeom prst="chevron">
            <a:avLst/>
          </a:prstGeom>
          <a:noFill/>
          <a:ln w="12700"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3D7351"/>
              </a:solidFill>
            </a:endParaRPr>
          </a:p>
        </p:txBody>
      </p:sp>
      <p:sp>
        <p:nvSpPr>
          <p:cNvPr id="119" name="文本框 118"/>
          <p:cNvSpPr txBox="1">
            <a:spLocks noChangeArrowheads="1"/>
          </p:cNvSpPr>
          <p:nvPr/>
        </p:nvSpPr>
        <p:spPr bwMode="auto">
          <a:xfrm>
            <a:off x="1989138" y="2281238"/>
            <a:ext cx="83740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操作系统原理及</a:t>
            </a:r>
            <a:r>
              <a:rPr lang="en-US" altLang="zh-CN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内核分析，李芳，刘晓春，李东海等编著，清华大学出版社</a:t>
            </a:r>
          </a:p>
        </p:txBody>
      </p:sp>
      <p:sp>
        <p:nvSpPr>
          <p:cNvPr id="45071" name="文本框 119"/>
          <p:cNvSpPr txBox="1">
            <a:spLocks noChangeArrowheads="1"/>
          </p:cNvSpPr>
          <p:nvPr/>
        </p:nvSpPr>
        <p:spPr bwMode="auto">
          <a:xfrm>
            <a:off x="2051050" y="1879600"/>
            <a:ext cx="1920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教材</a:t>
            </a:r>
          </a:p>
        </p:txBody>
      </p:sp>
      <p:sp>
        <p:nvSpPr>
          <p:cNvPr id="121" name="文本框 120"/>
          <p:cNvSpPr txBox="1">
            <a:spLocks noChangeArrowheads="1"/>
          </p:cNvSpPr>
          <p:nvPr/>
        </p:nvSpPr>
        <p:spPr bwMode="auto">
          <a:xfrm>
            <a:off x="2051050" y="4513263"/>
            <a:ext cx="82883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计算机操作系统教程，张尧学，史美林。清华大学出版社</a:t>
            </a:r>
          </a:p>
        </p:txBody>
      </p:sp>
      <p:sp>
        <p:nvSpPr>
          <p:cNvPr id="45073" name="文本框 121"/>
          <p:cNvSpPr txBox="1">
            <a:spLocks noChangeArrowheads="1"/>
          </p:cNvSpPr>
          <p:nvPr/>
        </p:nvSpPr>
        <p:spPr bwMode="auto">
          <a:xfrm>
            <a:off x="2051050" y="4114800"/>
            <a:ext cx="1920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参考书</a:t>
            </a:r>
          </a:p>
        </p:txBody>
      </p:sp>
      <p:sp>
        <p:nvSpPr>
          <p:cNvPr id="123" name="文本框 122"/>
          <p:cNvSpPr txBox="1">
            <a:spLocks noChangeArrowheads="1"/>
          </p:cNvSpPr>
          <p:nvPr/>
        </p:nvSpPr>
        <p:spPr bwMode="auto">
          <a:xfrm>
            <a:off x="4587686" y="3397357"/>
            <a:ext cx="558025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现代操作系统，陈向群等译，机械工业出版社</a:t>
            </a:r>
          </a:p>
        </p:txBody>
      </p:sp>
      <p:sp>
        <p:nvSpPr>
          <p:cNvPr id="124" name="文本框 123"/>
          <p:cNvSpPr txBox="1">
            <a:spLocks noChangeArrowheads="1"/>
          </p:cNvSpPr>
          <p:nvPr/>
        </p:nvSpPr>
        <p:spPr bwMode="auto">
          <a:xfrm>
            <a:off x="3017838" y="5645150"/>
            <a:ext cx="759936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dirty="0">
                <a:latin typeface="Times New Roman" pitchFamily="18" charset="0"/>
              </a:rPr>
              <a:t>Operating System Concepts</a:t>
            </a:r>
            <a:r>
              <a:rPr kumimoji="1" lang="zh-CN" altLang="en-US" dirty="0">
                <a:latin typeface="Times New Roman" pitchFamily="18" charset="0"/>
              </a:rPr>
              <a:t>，</a:t>
            </a:r>
            <a:r>
              <a:rPr kumimoji="1" lang="en-US" altLang="zh-CN" dirty="0">
                <a:latin typeface="Times New Roman" pitchFamily="18" charset="0"/>
              </a:rPr>
              <a:t>Ninth Edition. </a:t>
            </a:r>
            <a:r>
              <a:rPr lang="en-US" altLang="zh-CN" dirty="0"/>
              <a:t>ABRAHAM SILBERSCHATZ</a:t>
            </a:r>
            <a:r>
              <a:rPr kumimoji="1" lang="en-US" altLang="zh-CN" dirty="0">
                <a:latin typeface="Times New Roman" pitchFamily="18" charset="0"/>
              </a:rPr>
              <a:t>, </a:t>
            </a:r>
            <a:r>
              <a:rPr lang="en-US" altLang="zh-CN" dirty="0"/>
              <a:t>PETER BAER GALVIN</a:t>
            </a:r>
            <a:r>
              <a:rPr kumimoji="1" lang="en-US" altLang="zh-CN" dirty="0">
                <a:latin typeface="Times New Roman" pitchFamily="18" charset="0"/>
              </a:rPr>
              <a:t>, </a:t>
            </a:r>
            <a:r>
              <a:rPr lang="en-US" altLang="zh-CN" dirty="0"/>
              <a:t>GREG GAGNE</a:t>
            </a:r>
            <a:r>
              <a:rPr kumimoji="1" lang="en-US" altLang="zh-CN" dirty="0">
                <a:latin typeface="Times New Roman" pitchFamily="18" charset="0"/>
              </a:rPr>
              <a:t> </a:t>
            </a:r>
            <a:r>
              <a:rPr kumimoji="1" lang="en-US" altLang="zh-CN" dirty="0" err="1">
                <a:latin typeface="Times New Roman" pitchFamily="18" charset="0"/>
              </a:rPr>
              <a:t>Jonh</a:t>
            </a:r>
            <a:r>
              <a:rPr kumimoji="1" lang="en-US" altLang="zh-CN" dirty="0">
                <a:latin typeface="Times New Roman" pitchFamily="18" charset="0"/>
              </a:rPr>
              <a:t> </a:t>
            </a:r>
            <a:r>
              <a:rPr kumimoji="1" lang="en-US" altLang="zh-CN" dirty="0" err="1">
                <a:latin typeface="Times New Roman" pitchFamily="18" charset="0"/>
              </a:rPr>
              <a:t>wiley</a:t>
            </a:r>
            <a:r>
              <a:rPr kumimoji="1" lang="en-US" altLang="zh-CN" dirty="0">
                <a:latin typeface="Times New Roman" pitchFamily="18" charset="0"/>
              </a:rPr>
              <a:t> &amp; Sons. Inc. 2012</a:t>
            </a:r>
            <a:endParaRPr kumimoji="1" lang="en-US" altLang="zh-CN" b="1" dirty="0">
              <a:latin typeface="宋体" pitchFamily="2" charset="-122"/>
            </a:endParaRPr>
          </a:p>
        </p:txBody>
      </p:sp>
      <p:sp>
        <p:nvSpPr>
          <p:cNvPr id="45076" name="文本框 124"/>
          <p:cNvSpPr txBox="1">
            <a:spLocks noChangeArrowheads="1"/>
          </p:cNvSpPr>
          <p:nvPr/>
        </p:nvSpPr>
        <p:spPr bwMode="auto">
          <a:xfrm>
            <a:off x="8916988" y="2970213"/>
            <a:ext cx="1920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参考书</a:t>
            </a:r>
          </a:p>
        </p:txBody>
      </p:sp>
      <p:sp>
        <p:nvSpPr>
          <p:cNvPr id="45077" name="文本框 125"/>
          <p:cNvSpPr txBox="1">
            <a:spLocks noChangeArrowheads="1"/>
          </p:cNvSpPr>
          <p:nvPr/>
        </p:nvSpPr>
        <p:spPr bwMode="auto">
          <a:xfrm>
            <a:off x="8916988" y="5289550"/>
            <a:ext cx="1920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参考书</a:t>
            </a:r>
          </a:p>
        </p:txBody>
      </p:sp>
      <p:sp>
        <p:nvSpPr>
          <p:cNvPr id="127" name="AutoShape 115"/>
          <p:cNvSpPr>
            <a:spLocks/>
          </p:cNvSpPr>
          <p:nvPr/>
        </p:nvSpPr>
        <p:spPr bwMode="auto">
          <a:xfrm>
            <a:off x="739775" y="1917700"/>
            <a:ext cx="565150" cy="62071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1357" y="18801"/>
                </a:moveTo>
                <a:cubicBezTo>
                  <a:pt x="21518" y="18965"/>
                  <a:pt x="21599" y="19177"/>
                  <a:pt x="21599" y="19436"/>
                </a:cubicBezTo>
                <a:cubicBezTo>
                  <a:pt x="21599" y="19580"/>
                  <a:pt x="21518" y="19775"/>
                  <a:pt x="21357" y="20018"/>
                </a:cubicBezTo>
                <a:cubicBezTo>
                  <a:pt x="21193" y="20261"/>
                  <a:pt x="20989" y="20504"/>
                  <a:pt x="20746" y="20741"/>
                </a:cubicBezTo>
                <a:cubicBezTo>
                  <a:pt x="20503" y="20978"/>
                  <a:pt x="20260" y="21184"/>
                  <a:pt x="20023" y="21348"/>
                </a:cubicBezTo>
                <a:cubicBezTo>
                  <a:pt x="19783" y="21518"/>
                  <a:pt x="19593" y="21599"/>
                  <a:pt x="19447" y="21599"/>
                </a:cubicBezTo>
                <a:cubicBezTo>
                  <a:pt x="19189" y="21599"/>
                  <a:pt x="18975" y="21515"/>
                  <a:pt x="18811" y="21343"/>
                </a:cubicBezTo>
                <a:lnTo>
                  <a:pt x="13957" y="16502"/>
                </a:lnTo>
                <a:cubicBezTo>
                  <a:pt x="13217" y="16980"/>
                  <a:pt x="12428" y="17350"/>
                  <a:pt x="11589" y="17604"/>
                </a:cubicBezTo>
                <a:cubicBezTo>
                  <a:pt x="10750" y="17864"/>
                  <a:pt x="9891" y="17991"/>
                  <a:pt x="9007" y="17991"/>
                </a:cubicBezTo>
                <a:cubicBezTo>
                  <a:pt x="7769" y="17991"/>
                  <a:pt x="6608" y="17759"/>
                  <a:pt x="5517" y="17290"/>
                </a:cubicBezTo>
                <a:cubicBezTo>
                  <a:pt x="4427" y="16822"/>
                  <a:pt x="3469" y="16175"/>
                  <a:pt x="2644" y="15353"/>
                </a:cubicBezTo>
                <a:cubicBezTo>
                  <a:pt x="1816" y="14534"/>
                  <a:pt x="1172" y="13580"/>
                  <a:pt x="700" y="12487"/>
                </a:cubicBezTo>
                <a:cubicBezTo>
                  <a:pt x="231" y="11400"/>
                  <a:pt x="0" y="10236"/>
                  <a:pt x="0" y="8999"/>
                </a:cubicBezTo>
                <a:cubicBezTo>
                  <a:pt x="0" y="7768"/>
                  <a:pt x="231" y="6602"/>
                  <a:pt x="700" y="5515"/>
                </a:cubicBezTo>
                <a:cubicBezTo>
                  <a:pt x="1169" y="4422"/>
                  <a:pt x="1816" y="3467"/>
                  <a:pt x="2644" y="2645"/>
                </a:cubicBezTo>
                <a:cubicBezTo>
                  <a:pt x="3469" y="1827"/>
                  <a:pt x="4424" y="1180"/>
                  <a:pt x="5512" y="708"/>
                </a:cubicBezTo>
                <a:cubicBezTo>
                  <a:pt x="6600" y="237"/>
                  <a:pt x="7764" y="0"/>
                  <a:pt x="9007" y="0"/>
                </a:cubicBezTo>
                <a:cubicBezTo>
                  <a:pt x="10244" y="0"/>
                  <a:pt x="11403" y="237"/>
                  <a:pt x="12488" y="708"/>
                </a:cubicBezTo>
                <a:cubicBezTo>
                  <a:pt x="13573" y="1180"/>
                  <a:pt x="14530" y="1827"/>
                  <a:pt x="15358" y="2645"/>
                </a:cubicBezTo>
                <a:cubicBezTo>
                  <a:pt x="16183" y="3467"/>
                  <a:pt x="16830" y="4422"/>
                  <a:pt x="17299" y="5515"/>
                </a:cubicBezTo>
                <a:cubicBezTo>
                  <a:pt x="17768" y="6602"/>
                  <a:pt x="18003" y="7768"/>
                  <a:pt x="18003" y="8999"/>
                </a:cubicBezTo>
                <a:cubicBezTo>
                  <a:pt x="18003" y="9886"/>
                  <a:pt x="17873" y="10747"/>
                  <a:pt x="17616" y="11589"/>
                </a:cubicBezTo>
                <a:cubicBezTo>
                  <a:pt x="17359" y="12433"/>
                  <a:pt x="16991" y="13218"/>
                  <a:pt x="16514" y="13947"/>
                </a:cubicBezTo>
                <a:lnTo>
                  <a:pt x="21357" y="18801"/>
                </a:lnTo>
                <a:close/>
                <a:moveTo>
                  <a:pt x="3596" y="8999"/>
                </a:moveTo>
                <a:cubicBezTo>
                  <a:pt x="3596" y="9759"/>
                  <a:pt x="3740" y="10465"/>
                  <a:pt x="4028" y="11117"/>
                </a:cubicBezTo>
                <a:cubicBezTo>
                  <a:pt x="4317" y="11770"/>
                  <a:pt x="4707" y="12337"/>
                  <a:pt x="5193" y="12820"/>
                </a:cubicBezTo>
                <a:cubicBezTo>
                  <a:pt x="5679" y="13300"/>
                  <a:pt x="6252" y="13684"/>
                  <a:pt x="6908" y="13969"/>
                </a:cubicBezTo>
                <a:cubicBezTo>
                  <a:pt x="7566" y="14252"/>
                  <a:pt x="8264" y="14393"/>
                  <a:pt x="9004" y="14393"/>
                </a:cubicBezTo>
                <a:cubicBezTo>
                  <a:pt x="9744" y="14393"/>
                  <a:pt x="10439" y="14252"/>
                  <a:pt x="11092" y="13969"/>
                </a:cubicBezTo>
                <a:cubicBezTo>
                  <a:pt x="11745" y="13684"/>
                  <a:pt x="12318" y="13300"/>
                  <a:pt x="12801" y="12820"/>
                </a:cubicBezTo>
                <a:cubicBezTo>
                  <a:pt x="13290" y="12337"/>
                  <a:pt x="13677" y="11770"/>
                  <a:pt x="13965" y="11117"/>
                </a:cubicBezTo>
                <a:cubicBezTo>
                  <a:pt x="14254" y="10465"/>
                  <a:pt x="14398" y="9759"/>
                  <a:pt x="14398" y="8999"/>
                </a:cubicBezTo>
                <a:cubicBezTo>
                  <a:pt x="14398" y="8259"/>
                  <a:pt x="14254" y="7565"/>
                  <a:pt x="13965" y="6912"/>
                </a:cubicBezTo>
                <a:cubicBezTo>
                  <a:pt x="13674" y="6257"/>
                  <a:pt x="13290" y="5684"/>
                  <a:pt x="12801" y="5192"/>
                </a:cubicBezTo>
                <a:cubicBezTo>
                  <a:pt x="12315" y="4704"/>
                  <a:pt x="11745" y="4317"/>
                  <a:pt x="11092" y="4032"/>
                </a:cubicBezTo>
                <a:cubicBezTo>
                  <a:pt x="10439" y="3749"/>
                  <a:pt x="9741" y="3605"/>
                  <a:pt x="9004" y="3605"/>
                </a:cubicBezTo>
                <a:cubicBezTo>
                  <a:pt x="8267" y="3605"/>
                  <a:pt x="7566" y="3749"/>
                  <a:pt x="6908" y="4032"/>
                </a:cubicBezTo>
                <a:cubicBezTo>
                  <a:pt x="6252" y="4317"/>
                  <a:pt x="5676" y="4704"/>
                  <a:pt x="5193" y="5192"/>
                </a:cubicBezTo>
                <a:cubicBezTo>
                  <a:pt x="4707" y="5684"/>
                  <a:pt x="4317" y="6257"/>
                  <a:pt x="4028" y="6912"/>
                </a:cubicBezTo>
                <a:cubicBezTo>
                  <a:pt x="3740" y="7565"/>
                  <a:pt x="3596" y="8256"/>
                  <a:pt x="3596" y="8999"/>
                </a:cubicBezTo>
                <a:moveTo>
                  <a:pt x="9007" y="5591"/>
                </a:moveTo>
                <a:cubicBezTo>
                  <a:pt x="9185" y="5591"/>
                  <a:pt x="9343" y="5656"/>
                  <a:pt x="9473" y="5785"/>
                </a:cubicBezTo>
                <a:cubicBezTo>
                  <a:pt x="9603" y="5918"/>
                  <a:pt x="9668" y="6082"/>
                  <a:pt x="9668" y="6279"/>
                </a:cubicBezTo>
                <a:cubicBezTo>
                  <a:pt x="9668" y="6460"/>
                  <a:pt x="9603" y="6616"/>
                  <a:pt x="9473" y="6745"/>
                </a:cubicBezTo>
                <a:cubicBezTo>
                  <a:pt x="9343" y="6878"/>
                  <a:pt x="9185" y="6943"/>
                  <a:pt x="9007" y="6943"/>
                </a:cubicBezTo>
                <a:cubicBezTo>
                  <a:pt x="8439" y="6943"/>
                  <a:pt x="7953" y="7144"/>
                  <a:pt x="7552" y="7536"/>
                </a:cubicBezTo>
                <a:cubicBezTo>
                  <a:pt x="7151" y="7934"/>
                  <a:pt x="6950" y="8423"/>
                  <a:pt x="6950" y="8996"/>
                </a:cubicBezTo>
                <a:cubicBezTo>
                  <a:pt x="6950" y="9180"/>
                  <a:pt x="6885" y="9332"/>
                  <a:pt x="6755" y="9465"/>
                </a:cubicBezTo>
                <a:cubicBezTo>
                  <a:pt x="6622" y="9595"/>
                  <a:pt x="6467" y="9657"/>
                  <a:pt x="6289" y="9657"/>
                </a:cubicBezTo>
                <a:cubicBezTo>
                  <a:pt x="6080" y="9657"/>
                  <a:pt x="5913" y="9595"/>
                  <a:pt x="5786" y="9465"/>
                </a:cubicBezTo>
                <a:cubicBezTo>
                  <a:pt x="5659" y="9332"/>
                  <a:pt x="5599" y="9180"/>
                  <a:pt x="5599" y="8996"/>
                </a:cubicBezTo>
                <a:cubicBezTo>
                  <a:pt x="5599" y="8539"/>
                  <a:pt x="5684" y="8104"/>
                  <a:pt x="5862" y="7686"/>
                </a:cubicBezTo>
                <a:cubicBezTo>
                  <a:pt x="6037" y="7271"/>
                  <a:pt x="6280" y="6907"/>
                  <a:pt x="6597" y="6590"/>
                </a:cubicBezTo>
                <a:cubicBezTo>
                  <a:pt x="6905" y="6277"/>
                  <a:pt x="7264" y="6028"/>
                  <a:pt x="7676" y="5856"/>
                </a:cubicBezTo>
                <a:cubicBezTo>
                  <a:pt x="8086" y="5681"/>
                  <a:pt x="8529" y="5591"/>
                  <a:pt x="9007" y="5591"/>
                </a:cubicBezTo>
              </a:path>
            </a:pathLst>
          </a:custGeom>
          <a:solidFill>
            <a:srgbClr val="F9F9F9"/>
          </a:solidFill>
          <a:ln>
            <a:noFill/>
          </a:ln>
          <a:effectLst/>
        </p:spPr>
        <p:txBody>
          <a:bodyPr lIns="101578" tIns="101578" rIns="101578" bIns="101578" anchor="ctr"/>
          <a:lstStyle/>
          <a:p>
            <a:pPr defTabSz="91419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5800" dirty="0">
              <a:solidFill>
                <a:srgbClr val="44CEB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" charset="0"/>
              <a:ea typeface="+mn-ea"/>
              <a:cs typeface="Gill Sans" charset="0"/>
              <a:sym typeface="Gill Sans" charset="0"/>
            </a:endParaRPr>
          </a:p>
        </p:txBody>
      </p:sp>
      <p:sp>
        <p:nvSpPr>
          <p:cNvPr id="128" name="AutoShape 29"/>
          <p:cNvSpPr>
            <a:spLocks/>
          </p:cNvSpPr>
          <p:nvPr/>
        </p:nvSpPr>
        <p:spPr bwMode="auto">
          <a:xfrm>
            <a:off x="804863" y="4229100"/>
            <a:ext cx="566737" cy="56832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3598" y="2167"/>
                </a:moveTo>
                <a:cubicBezTo>
                  <a:pt x="3598" y="2549"/>
                  <a:pt x="3517" y="2902"/>
                  <a:pt x="3358" y="3213"/>
                </a:cubicBezTo>
                <a:cubicBezTo>
                  <a:pt x="3197" y="3525"/>
                  <a:pt x="2981" y="3792"/>
                  <a:pt x="2707" y="4006"/>
                </a:cubicBezTo>
                <a:lnTo>
                  <a:pt x="2707" y="21050"/>
                </a:lnTo>
                <a:cubicBezTo>
                  <a:pt x="2707" y="21203"/>
                  <a:pt x="2663" y="21329"/>
                  <a:pt x="2580" y="21438"/>
                </a:cubicBezTo>
                <a:cubicBezTo>
                  <a:pt x="2492" y="21547"/>
                  <a:pt x="2386" y="21599"/>
                  <a:pt x="2262" y="21599"/>
                </a:cubicBezTo>
                <a:lnTo>
                  <a:pt x="1348" y="21599"/>
                </a:lnTo>
                <a:cubicBezTo>
                  <a:pt x="1221" y="21599"/>
                  <a:pt x="1118" y="21544"/>
                  <a:pt x="1038" y="21438"/>
                </a:cubicBezTo>
                <a:cubicBezTo>
                  <a:pt x="954" y="21329"/>
                  <a:pt x="913" y="21203"/>
                  <a:pt x="913" y="21050"/>
                </a:cubicBezTo>
                <a:lnTo>
                  <a:pt x="913" y="4006"/>
                </a:lnTo>
                <a:cubicBezTo>
                  <a:pt x="641" y="3792"/>
                  <a:pt x="421" y="3525"/>
                  <a:pt x="252" y="3213"/>
                </a:cubicBezTo>
                <a:cubicBezTo>
                  <a:pt x="83" y="2902"/>
                  <a:pt x="0" y="2549"/>
                  <a:pt x="0" y="2167"/>
                </a:cubicBezTo>
                <a:cubicBezTo>
                  <a:pt x="0" y="1574"/>
                  <a:pt x="176" y="1069"/>
                  <a:pt x="528" y="640"/>
                </a:cubicBezTo>
                <a:cubicBezTo>
                  <a:pt x="878" y="211"/>
                  <a:pt x="1304" y="0"/>
                  <a:pt x="1804" y="0"/>
                </a:cubicBezTo>
                <a:cubicBezTo>
                  <a:pt x="2296" y="0"/>
                  <a:pt x="2719" y="211"/>
                  <a:pt x="3069" y="640"/>
                </a:cubicBezTo>
                <a:cubicBezTo>
                  <a:pt x="3422" y="1069"/>
                  <a:pt x="3598" y="1571"/>
                  <a:pt x="3598" y="2167"/>
                </a:cubicBezTo>
                <a:moveTo>
                  <a:pt x="20838" y="2476"/>
                </a:moveTo>
                <a:cubicBezTo>
                  <a:pt x="21063" y="2323"/>
                  <a:pt x="21247" y="2297"/>
                  <a:pt x="21389" y="2391"/>
                </a:cubicBezTo>
                <a:cubicBezTo>
                  <a:pt x="21529" y="2485"/>
                  <a:pt x="21599" y="2684"/>
                  <a:pt x="21599" y="2996"/>
                </a:cubicBezTo>
                <a:lnTo>
                  <a:pt x="21599" y="13515"/>
                </a:lnTo>
                <a:cubicBezTo>
                  <a:pt x="21599" y="13803"/>
                  <a:pt x="21526" y="14106"/>
                  <a:pt x="21382" y="14420"/>
                </a:cubicBezTo>
                <a:cubicBezTo>
                  <a:pt x="21237" y="14737"/>
                  <a:pt x="21056" y="14966"/>
                  <a:pt x="20838" y="15119"/>
                </a:cubicBezTo>
                <a:cubicBezTo>
                  <a:pt x="19954" y="15757"/>
                  <a:pt x="19146" y="16165"/>
                  <a:pt x="18412" y="16350"/>
                </a:cubicBezTo>
                <a:cubicBezTo>
                  <a:pt x="17678" y="16529"/>
                  <a:pt x="17036" y="16606"/>
                  <a:pt x="16490" y="16567"/>
                </a:cubicBezTo>
                <a:cubicBezTo>
                  <a:pt x="15849" y="16526"/>
                  <a:pt x="15281" y="16371"/>
                  <a:pt x="14791" y="16103"/>
                </a:cubicBezTo>
                <a:cubicBezTo>
                  <a:pt x="14392" y="15851"/>
                  <a:pt x="14003" y="15607"/>
                  <a:pt x="13623" y="15378"/>
                </a:cubicBezTo>
                <a:cubicBezTo>
                  <a:pt x="13244" y="15146"/>
                  <a:pt x="12857" y="14946"/>
                  <a:pt x="12458" y="14773"/>
                </a:cubicBezTo>
                <a:cubicBezTo>
                  <a:pt x="12059" y="14599"/>
                  <a:pt x="11640" y="14461"/>
                  <a:pt x="11197" y="14358"/>
                </a:cubicBezTo>
                <a:cubicBezTo>
                  <a:pt x="10757" y="14256"/>
                  <a:pt x="10269" y="14203"/>
                  <a:pt x="9738" y="14203"/>
                </a:cubicBezTo>
                <a:cubicBezTo>
                  <a:pt x="9310" y="14220"/>
                  <a:pt x="8825" y="14306"/>
                  <a:pt x="8286" y="14455"/>
                </a:cubicBezTo>
                <a:cubicBezTo>
                  <a:pt x="7824" y="14588"/>
                  <a:pt x="7266" y="14799"/>
                  <a:pt x="6605" y="15090"/>
                </a:cubicBezTo>
                <a:cubicBezTo>
                  <a:pt x="5944" y="15381"/>
                  <a:pt x="5207" y="15792"/>
                  <a:pt x="4394" y="16327"/>
                </a:cubicBezTo>
                <a:cubicBezTo>
                  <a:pt x="4169" y="16476"/>
                  <a:pt x="3978" y="16494"/>
                  <a:pt x="3826" y="16382"/>
                </a:cubicBezTo>
                <a:cubicBezTo>
                  <a:pt x="3674" y="16268"/>
                  <a:pt x="3598" y="16059"/>
                  <a:pt x="3598" y="15751"/>
                </a:cubicBezTo>
                <a:lnTo>
                  <a:pt x="3598" y="5273"/>
                </a:lnTo>
                <a:cubicBezTo>
                  <a:pt x="3598" y="4964"/>
                  <a:pt x="3674" y="4653"/>
                  <a:pt x="3826" y="4347"/>
                </a:cubicBezTo>
                <a:cubicBezTo>
                  <a:pt x="3978" y="4036"/>
                  <a:pt x="4169" y="3807"/>
                  <a:pt x="4394" y="3654"/>
                </a:cubicBezTo>
                <a:cubicBezTo>
                  <a:pt x="5207" y="3143"/>
                  <a:pt x="5941" y="2737"/>
                  <a:pt x="6597" y="2447"/>
                </a:cubicBezTo>
                <a:cubicBezTo>
                  <a:pt x="7253" y="2156"/>
                  <a:pt x="7816" y="1944"/>
                  <a:pt x="8286" y="1812"/>
                </a:cubicBezTo>
                <a:cubicBezTo>
                  <a:pt x="8832" y="1665"/>
                  <a:pt x="9317" y="1580"/>
                  <a:pt x="9738" y="1559"/>
                </a:cubicBezTo>
                <a:cubicBezTo>
                  <a:pt x="10269" y="1559"/>
                  <a:pt x="10757" y="1612"/>
                  <a:pt x="11197" y="1715"/>
                </a:cubicBezTo>
                <a:cubicBezTo>
                  <a:pt x="11640" y="1818"/>
                  <a:pt x="12059" y="1956"/>
                  <a:pt x="12458" y="2135"/>
                </a:cubicBezTo>
                <a:cubicBezTo>
                  <a:pt x="12857" y="2306"/>
                  <a:pt x="13242" y="2508"/>
                  <a:pt x="13619" y="2737"/>
                </a:cubicBezTo>
                <a:cubicBezTo>
                  <a:pt x="13993" y="2967"/>
                  <a:pt x="14385" y="3207"/>
                  <a:pt x="14791" y="3463"/>
                </a:cubicBezTo>
                <a:cubicBezTo>
                  <a:pt x="15281" y="3736"/>
                  <a:pt x="15849" y="3889"/>
                  <a:pt x="16490" y="3924"/>
                </a:cubicBezTo>
                <a:cubicBezTo>
                  <a:pt x="17036" y="3965"/>
                  <a:pt x="17678" y="3889"/>
                  <a:pt x="18412" y="3707"/>
                </a:cubicBezTo>
                <a:cubicBezTo>
                  <a:pt x="19146" y="3522"/>
                  <a:pt x="19957" y="3113"/>
                  <a:pt x="20838" y="2476"/>
                </a:cubicBezTo>
              </a:path>
            </a:pathLst>
          </a:custGeom>
          <a:solidFill>
            <a:srgbClr val="F7F7F7"/>
          </a:solidFill>
          <a:ln>
            <a:noFill/>
          </a:ln>
          <a:effectLst/>
        </p:spPr>
        <p:txBody>
          <a:bodyPr lIns="101578" tIns="101578" rIns="101578" bIns="101578" anchor="ctr"/>
          <a:lstStyle/>
          <a:p>
            <a:pPr defTabSz="91419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5800" dirty="0">
              <a:solidFill>
                <a:srgbClr val="44CEB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" charset="0"/>
              <a:ea typeface="+mn-ea"/>
              <a:cs typeface="Gill Sans" charset="0"/>
              <a:sym typeface="Gill Sans" charset="0"/>
            </a:endParaRPr>
          </a:p>
        </p:txBody>
      </p:sp>
      <p:grpSp>
        <p:nvGrpSpPr>
          <p:cNvPr id="129" name="Group 2"/>
          <p:cNvGrpSpPr>
            <a:grpSpLocks/>
          </p:cNvGrpSpPr>
          <p:nvPr/>
        </p:nvGrpSpPr>
        <p:grpSpPr bwMode="auto">
          <a:xfrm>
            <a:off x="11111138" y="2970579"/>
            <a:ext cx="603534" cy="591956"/>
            <a:chOff x="1569458" y="688424"/>
            <a:chExt cx="334962" cy="331788"/>
          </a:xfrm>
          <a:solidFill>
            <a:srgbClr val="F7F7F7"/>
          </a:solidFill>
        </p:grpSpPr>
        <p:sp>
          <p:nvSpPr>
            <p:cNvPr id="130" name="Freeform 11"/>
            <p:cNvSpPr>
              <a:spLocks noChangeArrowheads="1"/>
            </p:cNvSpPr>
            <p:nvPr/>
          </p:nvSpPr>
          <p:spPr bwMode="auto">
            <a:xfrm>
              <a:off x="1587500" y="901699"/>
              <a:ext cx="42863" cy="77788"/>
            </a:xfrm>
            <a:custGeom>
              <a:avLst/>
              <a:gdLst>
                <a:gd name="T0" fmla="*/ 0 w 118"/>
                <a:gd name="T1" fmla="*/ 183 h 218"/>
                <a:gd name="T2" fmla="*/ 25 w 118"/>
                <a:gd name="T3" fmla="*/ 217 h 218"/>
                <a:gd name="T4" fmla="*/ 84 w 118"/>
                <a:gd name="T5" fmla="*/ 217 h 218"/>
                <a:gd name="T6" fmla="*/ 117 w 118"/>
                <a:gd name="T7" fmla="*/ 183 h 218"/>
                <a:gd name="T8" fmla="*/ 117 w 118"/>
                <a:gd name="T9" fmla="*/ 0 h 218"/>
                <a:gd name="T10" fmla="*/ 17 w 118"/>
                <a:gd name="T11" fmla="*/ 91 h 218"/>
                <a:gd name="T12" fmla="*/ 0 w 118"/>
                <a:gd name="T13" fmla="*/ 75 h 218"/>
                <a:gd name="T14" fmla="*/ 0 w 118"/>
                <a:gd name="T15" fmla="*/ 183 h 218"/>
                <a:gd name="T16" fmla="*/ 0 w 118"/>
                <a:gd name="T17" fmla="*/ 183 h 218"/>
                <a:gd name="T18" fmla="*/ 0 w 118"/>
                <a:gd name="T19" fmla="*/ 18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8" h="218">
                  <a:moveTo>
                    <a:pt x="0" y="183"/>
                  </a:moveTo>
                  <a:cubicBezTo>
                    <a:pt x="0" y="200"/>
                    <a:pt x="8" y="217"/>
                    <a:pt x="25" y="217"/>
                  </a:cubicBezTo>
                  <a:cubicBezTo>
                    <a:pt x="84" y="217"/>
                    <a:pt x="84" y="217"/>
                    <a:pt x="84" y="217"/>
                  </a:cubicBezTo>
                  <a:cubicBezTo>
                    <a:pt x="100" y="217"/>
                    <a:pt x="117" y="200"/>
                    <a:pt x="117" y="183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" y="91"/>
                    <a:pt x="17" y="91"/>
                    <a:pt x="17" y="91"/>
                  </a:cubicBezTo>
                  <a:cubicBezTo>
                    <a:pt x="0" y="75"/>
                    <a:pt x="0" y="75"/>
                    <a:pt x="0" y="75"/>
                  </a:cubicBezTo>
                  <a:lnTo>
                    <a:pt x="0" y="183"/>
                  </a:lnTo>
                  <a:close/>
                  <a:moveTo>
                    <a:pt x="0" y="183"/>
                  </a:moveTo>
                  <a:lnTo>
                    <a:pt x="0" y="183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31" name="Freeform 12"/>
            <p:cNvSpPr>
              <a:spLocks noChangeArrowheads="1"/>
            </p:cNvSpPr>
            <p:nvPr/>
          </p:nvSpPr>
          <p:spPr bwMode="auto">
            <a:xfrm>
              <a:off x="1657350" y="858837"/>
              <a:ext cx="42863" cy="120650"/>
            </a:xfrm>
            <a:custGeom>
              <a:avLst/>
              <a:gdLst>
                <a:gd name="T0" fmla="*/ 0 w 118"/>
                <a:gd name="T1" fmla="*/ 301 h 336"/>
                <a:gd name="T2" fmla="*/ 34 w 118"/>
                <a:gd name="T3" fmla="*/ 335 h 336"/>
                <a:gd name="T4" fmla="*/ 84 w 118"/>
                <a:gd name="T5" fmla="*/ 335 h 336"/>
                <a:gd name="T6" fmla="*/ 117 w 118"/>
                <a:gd name="T7" fmla="*/ 301 h 336"/>
                <a:gd name="T8" fmla="*/ 117 w 118"/>
                <a:gd name="T9" fmla="*/ 76 h 336"/>
                <a:gd name="T10" fmla="*/ 42 w 118"/>
                <a:gd name="T11" fmla="*/ 0 h 336"/>
                <a:gd name="T12" fmla="*/ 0 w 118"/>
                <a:gd name="T13" fmla="*/ 42 h 336"/>
                <a:gd name="T14" fmla="*/ 0 w 118"/>
                <a:gd name="T15" fmla="*/ 301 h 336"/>
                <a:gd name="T16" fmla="*/ 0 w 118"/>
                <a:gd name="T17" fmla="*/ 301 h 336"/>
                <a:gd name="T18" fmla="*/ 0 w 118"/>
                <a:gd name="T19" fmla="*/ 301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8" h="336">
                  <a:moveTo>
                    <a:pt x="0" y="301"/>
                  </a:moveTo>
                  <a:cubicBezTo>
                    <a:pt x="0" y="318"/>
                    <a:pt x="17" y="335"/>
                    <a:pt x="34" y="335"/>
                  </a:cubicBezTo>
                  <a:cubicBezTo>
                    <a:pt x="84" y="335"/>
                    <a:pt x="84" y="335"/>
                    <a:pt x="84" y="335"/>
                  </a:cubicBezTo>
                  <a:cubicBezTo>
                    <a:pt x="101" y="335"/>
                    <a:pt x="117" y="318"/>
                    <a:pt x="117" y="301"/>
                  </a:cubicBezTo>
                  <a:cubicBezTo>
                    <a:pt x="117" y="76"/>
                    <a:pt x="117" y="76"/>
                    <a:pt x="117" y="76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0" y="301"/>
                  </a:lnTo>
                  <a:close/>
                  <a:moveTo>
                    <a:pt x="0" y="301"/>
                  </a:moveTo>
                  <a:lnTo>
                    <a:pt x="0" y="301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32" name="Freeform 13"/>
            <p:cNvSpPr>
              <a:spLocks noChangeArrowheads="1"/>
            </p:cNvSpPr>
            <p:nvPr/>
          </p:nvSpPr>
          <p:spPr bwMode="auto">
            <a:xfrm>
              <a:off x="1727200" y="858837"/>
              <a:ext cx="42863" cy="120650"/>
            </a:xfrm>
            <a:custGeom>
              <a:avLst/>
              <a:gdLst>
                <a:gd name="T0" fmla="*/ 92 w 118"/>
                <a:gd name="T1" fmla="*/ 335 h 336"/>
                <a:gd name="T2" fmla="*/ 117 w 118"/>
                <a:gd name="T3" fmla="*/ 301 h 336"/>
                <a:gd name="T4" fmla="*/ 117 w 118"/>
                <a:gd name="T5" fmla="*/ 0 h 336"/>
                <a:gd name="T6" fmla="*/ 0 w 118"/>
                <a:gd name="T7" fmla="*/ 118 h 336"/>
                <a:gd name="T8" fmla="*/ 0 w 118"/>
                <a:gd name="T9" fmla="*/ 301 h 336"/>
                <a:gd name="T10" fmla="*/ 33 w 118"/>
                <a:gd name="T11" fmla="*/ 335 h 336"/>
                <a:gd name="T12" fmla="*/ 92 w 118"/>
                <a:gd name="T13" fmla="*/ 335 h 336"/>
                <a:gd name="T14" fmla="*/ 92 w 118"/>
                <a:gd name="T15" fmla="*/ 335 h 336"/>
                <a:gd name="T16" fmla="*/ 92 w 118"/>
                <a:gd name="T17" fmla="*/ 335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8" h="336">
                  <a:moveTo>
                    <a:pt x="92" y="335"/>
                  </a:moveTo>
                  <a:cubicBezTo>
                    <a:pt x="108" y="335"/>
                    <a:pt x="117" y="318"/>
                    <a:pt x="117" y="301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01"/>
                    <a:pt x="0" y="301"/>
                    <a:pt x="0" y="301"/>
                  </a:cubicBezTo>
                  <a:cubicBezTo>
                    <a:pt x="0" y="318"/>
                    <a:pt x="16" y="335"/>
                    <a:pt x="33" y="335"/>
                  </a:cubicBezTo>
                  <a:lnTo>
                    <a:pt x="92" y="335"/>
                  </a:lnTo>
                  <a:close/>
                  <a:moveTo>
                    <a:pt x="92" y="335"/>
                  </a:moveTo>
                  <a:lnTo>
                    <a:pt x="92" y="335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33" name="Freeform 14"/>
            <p:cNvSpPr>
              <a:spLocks noChangeArrowheads="1"/>
            </p:cNvSpPr>
            <p:nvPr/>
          </p:nvSpPr>
          <p:spPr bwMode="auto">
            <a:xfrm>
              <a:off x="1795463" y="817562"/>
              <a:ext cx="46037" cy="163512"/>
            </a:xfrm>
            <a:custGeom>
              <a:avLst/>
              <a:gdLst>
                <a:gd name="T0" fmla="*/ 0 w 126"/>
                <a:gd name="T1" fmla="*/ 41 h 452"/>
                <a:gd name="T2" fmla="*/ 0 w 126"/>
                <a:gd name="T3" fmla="*/ 417 h 452"/>
                <a:gd name="T4" fmla="*/ 33 w 126"/>
                <a:gd name="T5" fmla="*/ 451 h 452"/>
                <a:gd name="T6" fmla="*/ 92 w 126"/>
                <a:gd name="T7" fmla="*/ 451 h 452"/>
                <a:gd name="T8" fmla="*/ 125 w 126"/>
                <a:gd name="T9" fmla="*/ 417 h 452"/>
                <a:gd name="T10" fmla="*/ 125 w 126"/>
                <a:gd name="T11" fmla="*/ 66 h 452"/>
                <a:gd name="T12" fmla="*/ 50 w 126"/>
                <a:gd name="T13" fmla="*/ 0 h 452"/>
                <a:gd name="T14" fmla="*/ 0 w 126"/>
                <a:gd name="T15" fmla="*/ 41 h 452"/>
                <a:gd name="T16" fmla="*/ 0 w 126"/>
                <a:gd name="T17" fmla="*/ 41 h 452"/>
                <a:gd name="T18" fmla="*/ 0 w 126"/>
                <a:gd name="T19" fmla="*/ 41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6" h="452">
                  <a:moveTo>
                    <a:pt x="0" y="41"/>
                  </a:moveTo>
                  <a:cubicBezTo>
                    <a:pt x="0" y="417"/>
                    <a:pt x="0" y="417"/>
                    <a:pt x="0" y="417"/>
                  </a:cubicBezTo>
                  <a:cubicBezTo>
                    <a:pt x="0" y="434"/>
                    <a:pt x="17" y="451"/>
                    <a:pt x="33" y="451"/>
                  </a:cubicBezTo>
                  <a:cubicBezTo>
                    <a:pt x="92" y="451"/>
                    <a:pt x="92" y="451"/>
                    <a:pt x="92" y="451"/>
                  </a:cubicBezTo>
                  <a:cubicBezTo>
                    <a:pt x="109" y="451"/>
                    <a:pt x="125" y="434"/>
                    <a:pt x="125" y="417"/>
                  </a:cubicBezTo>
                  <a:cubicBezTo>
                    <a:pt x="125" y="66"/>
                    <a:pt x="125" y="66"/>
                    <a:pt x="125" y="66"/>
                  </a:cubicBezTo>
                  <a:cubicBezTo>
                    <a:pt x="50" y="0"/>
                    <a:pt x="50" y="0"/>
                    <a:pt x="50" y="0"/>
                  </a:cubicBezTo>
                  <a:lnTo>
                    <a:pt x="0" y="41"/>
                  </a:lnTo>
                  <a:close/>
                  <a:moveTo>
                    <a:pt x="0" y="41"/>
                  </a:moveTo>
                  <a:lnTo>
                    <a:pt x="0" y="41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34" name="Freeform 15"/>
            <p:cNvSpPr>
              <a:spLocks noChangeArrowheads="1"/>
            </p:cNvSpPr>
            <p:nvPr/>
          </p:nvSpPr>
          <p:spPr bwMode="auto">
            <a:xfrm>
              <a:off x="1576388" y="744537"/>
              <a:ext cx="261937" cy="163512"/>
            </a:xfrm>
            <a:custGeom>
              <a:avLst/>
              <a:gdLst>
                <a:gd name="T0" fmla="*/ 234 w 728"/>
                <a:gd name="T1" fmla="*/ 284 h 452"/>
                <a:gd name="T2" fmla="*/ 292 w 728"/>
                <a:gd name="T3" fmla="*/ 284 h 452"/>
                <a:gd name="T4" fmla="*/ 359 w 728"/>
                <a:gd name="T5" fmla="*/ 351 h 452"/>
                <a:gd name="T6" fmla="*/ 401 w 728"/>
                <a:gd name="T7" fmla="*/ 368 h 452"/>
                <a:gd name="T8" fmla="*/ 434 w 728"/>
                <a:gd name="T9" fmla="*/ 351 h 452"/>
                <a:gd name="T10" fmla="*/ 660 w 728"/>
                <a:gd name="T11" fmla="*/ 134 h 452"/>
                <a:gd name="T12" fmla="*/ 694 w 728"/>
                <a:gd name="T13" fmla="*/ 167 h 452"/>
                <a:gd name="T14" fmla="*/ 710 w 728"/>
                <a:gd name="T15" fmla="*/ 175 h 452"/>
                <a:gd name="T16" fmla="*/ 727 w 728"/>
                <a:gd name="T17" fmla="*/ 159 h 452"/>
                <a:gd name="T18" fmla="*/ 727 w 728"/>
                <a:gd name="T19" fmla="*/ 33 h 452"/>
                <a:gd name="T20" fmla="*/ 719 w 728"/>
                <a:gd name="T21" fmla="*/ 8 h 452"/>
                <a:gd name="T22" fmla="*/ 694 w 728"/>
                <a:gd name="T23" fmla="*/ 0 h 452"/>
                <a:gd name="T24" fmla="*/ 568 w 728"/>
                <a:gd name="T25" fmla="*/ 0 h 452"/>
                <a:gd name="T26" fmla="*/ 551 w 728"/>
                <a:gd name="T27" fmla="*/ 8 h 452"/>
                <a:gd name="T28" fmla="*/ 551 w 728"/>
                <a:gd name="T29" fmla="*/ 33 h 452"/>
                <a:gd name="T30" fmla="*/ 585 w 728"/>
                <a:gd name="T31" fmla="*/ 58 h 452"/>
                <a:gd name="T32" fmla="*/ 426 w 728"/>
                <a:gd name="T33" fmla="*/ 217 h 452"/>
                <a:gd name="T34" fmla="*/ 401 w 728"/>
                <a:gd name="T35" fmla="*/ 225 h 452"/>
                <a:gd name="T36" fmla="*/ 368 w 728"/>
                <a:gd name="T37" fmla="*/ 217 h 452"/>
                <a:gd name="T38" fmla="*/ 292 w 728"/>
                <a:gd name="T39" fmla="*/ 142 h 452"/>
                <a:gd name="T40" fmla="*/ 234 w 728"/>
                <a:gd name="T41" fmla="*/ 142 h 452"/>
                <a:gd name="T42" fmla="*/ 8 w 728"/>
                <a:gd name="T43" fmla="*/ 359 h 452"/>
                <a:gd name="T44" fmla="*/ 0 w 728"/>
                <a:gd name="T45" fmla="*/ 393 h 452"/>
                <a:gd name="T46" fmla="*/ 8 w 728"/>
                <a:gd name="T47" fmla="*/ 426 h 452"/>
                <a:gd name="T48" fmla="*/ 25 w 728"/>
                <a:gd name="T49" fmla="*/ 435 h 452"/>
                <a:gd name="T50" fmla="*/ 83 w 728"/>
                <a:gd name="T51" fmla="*/ 435 h 452"/>
                <a:gd name="T52" fmla="*/ 234 w 728"/>
                <a:gd name="T53" fmla="*/ 284 h 452"/>
                <a:gd name="T54" fmla="*/ 234 w 728"/>
                <a:gd name="T55" fmla="*/ 284 h 452"/>
                <a:gd name="T56" fmla="*/ 234 w 728"/>
                <a:gd name="T57" fmla="*/ 284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728" h="452">
                  <a:moveTo>
                    <a:pt x="234" y="284"/>
                  </a:moveTo>
                  <a:cubicBezTo>
                    <a:pt x="250" y="267"/>
                    <a:pt x="276" y="267"/>
                    <a:pt x="292" y="284"/>
                  </a:cubicBezTo>
                  <a:cubicBezTo>
                    <a:pt x="359" y="351"/>
                    <a:pt x="359" y="351"/>
                    <a:pt x="359" y="351"/>
                  </a:cubicBezTo>
                  <a:cubicBezTo>
                    <a:pt x="376" y="368"/>
                    <a:pt x="384" y="368"/>
                    <a:pt x="401" y="368"/>
                  </a:cubicBezTo>
                  <a:cubicBezTo>
                    <a:pt x="418" y="368"/>
                    <a:pt x="426" y="368"/>
                    <a:pt x="434" y="351"/>
                  </a:cubicBezTo>
                  <a:cubicBezTo>
                    <a:pt x="660" y="134"/>
                    <a:pt x="660" y="134"/>
                    <a:pt x="660" y="134"/>
                  </a:cubicBezTo>
                  <a:cubicBezTo>
                    <a:pt x="694" y="167"/>
                    <a:pt x="694" y="167"/>
                    <a:pt x="694" y="167"/>
                  </a:cubicBezTo>
                  <a:cubicBezTo>
                    <a:pt x="702" y="175"/>
                    <a:pt x="710" y="175"/>
                    <a:pt x="710" y="175"/>
                  </a:cubicBezTo>
                  <a:cubicBezTo>
                    <a:pt x="719" y="175"/>
                    <a:pt x="727" y="167"/>
                    <a:pt x="727" y="159"/>
                  </a:cubicBezTo>
                  <a:cubicBezTo>
                    <a:pt x="727" y="33"/>
                    <a:pt x="727" y="33"/>
                    <a:pt x="727" y="33"/>
                  </a:cubicBezTo>
                  <a:cubicBezTo>
                    <a:pt x="727" y="25"/>
                    <a:pt x="727" y="16"/>
                    <a:pt x="719" y="8"/>
                  </a:cubicBezTo>
                  <a:cubicBezTo>
                    <a:pt x="710" y="0"/>
                    <a:pt x="702" y="0"/>
                    <a:pt x="694" y="0"/>
                  </a:cubicBezTo>
                  <a:cubicBezTo>
                    <a:pt x="568" y="0"/>
                    <a:pt x="568" y="0"/>
                    <a:pt x="568" y="0"/>
                  </a:cubicBezTo>
                  <a:cubicBezTo>
                    <a:pt x="560" y="0"/>
                    <a:pt x="551" y="0"/>
                    <a:pt x="551" y="8"/>
                  </a:cubicBezTo>
                  <a:cubicBezTo>
                    <a:pt x="543" y="16"/>
                    <a:pt x="551" y="25"/>
                    <a:pt x="551" y="33"/>
                  </a:cubicBezTo>
                  <a:cubicBezTo>
                    <a:pt x="585" y="58"/>
                    <a:pt x="585" y="58"/>
                    <a:pt x="585" y="58"/>
                  </a:cubicBezTo>
                  <a:cubicBezTo>
                    <a:pt x="426" y="217"/>
                    <a:pt x="426" y="217"/>
                    <a:pt x="426" y="217"/>
                  </a:cubicBezTo>
                  <a:cubicBezTo>
                    <a:pt x="426" y="225"/>
                    <a:pt x="409" y="225"/>
                    <a:pt x="401" y="225"/>
                  </a:cubicBezTo>
                  <a:cubicBezTo>
                    <a:pt x="393" y="225"/>
                    <a:pt x="376" y="225"/>
                    <a:pt x="368" y="217"/>
                  </a:cubicBezTo>
                  <a:cubicBezTo>
                    <a:pt x="292" y="142"/>
                    <a:pt x="292" y="142"/>
                    <a:pt x="292" y="142"/>
                  </a:cubicBezTo>
                  <a:cubicBezTo>
                    <a:pt x="276" y="125"/>
                    <a:pt x="250" y="125"/>
                    <a:pt x="234" y="142"/>
                  </a:cubicBezTo>
                  <a:cubicBezTo>
                    <a:pt x="8" y="359"/>
                    <a:pt x="8" y="359"/>
                    <a:pt x="8" y="359"/>
                  </a:cubicBezTo>
                  <a:cubicBezTo>
                    <a:pt x="0" y="368"/>
                    <a:pt x="0" y="384"/>
                    <a:pt x="0" y="393"/>
                  </a:cubicBezTo>
                  <a:cubicBezTo>
                    <a:pt x="0" y="410"/>
                    <a:pt x="0" y="418"/>
                    <a:pt x="8" y="426"/>
                  </a:cubicBezTo>
                  <a:cubicBezTo>
                    <a:pt x="25" y="435"/>
                    <a:pt x="25" y="435"/>
                    <a:pt x="25" y="435"/>
                  </a:cubicBezTo>
                  <a:cubicBezTo>
                    <a:pt x="41" y="451"/>
                    <a:pt x="67" y="451"/>
                    <a:pt x="83" y="435"/>
                  </a:cubicBezTo>
                  <a:lnTo>
                    <a:pt x="234" y="284"/>
                  </a:lnTo>
                  <a:close/>
                  <a:moveTo>
                    <a:pt x="234" y="284"/>
                  </a:moveTo>
                  <a:lnTo>
                    <a:pt x="234" y="284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35" name="Freeform 16"/>
            <p:cNvSpPr>
              <a:spLocks noChangeArrowheads="1"/>
            </p:cNvSpPr>
            <p:nvPr/>
          </p:nvSpPr>
          <p:spPr bwMode="auto">
            <a:xfrm>
              <a:off x="1569458" y="688424"/>
              <a:ext cx="334962" cy="331788"/>
            </a:xfrm>
            <a:custGeom>
              <a:avLst/>
              <a:gdLst>
                <a:gd name="T0" fmla="*/ 887 w 929"/>
                <a:gd name="T1" fmla="*/ 0 h 921"/>
                <a:gd name="T2" fmla="*/ 836 w 929"/>
                <a:gd name="T3" fmla="*/ 50 h 921"/>
                <a:gd name="T4" fmla="*/ 836 w 929"/>
                <a:gd name="T5" fmla="*/ 837 h 921"/>
                <a:gd name="T6" fmla="*/ 51 w 929"/>
                <a:gd name="T7" fmla="*/ 837 h 921"/>
                <a:gd name="T8" fmla="*/ 0 w 929"/>
                <a:gd name="T9" fmla="*/ 878 h 921"/>
                <a:gd name="T10" fmla="*/ 51 w 929"/>
                <a:gd name="T11" fmla="*/ 920 h 921"/>
                <a:gd name="T12" fmla="*/ 887 w 929"/>
                <a:gd name="T13" fmla="*/ 920 h 921"/>
                <a:gd name="T14" fmla="*/ 928 w 929"/>
                <a:gd name="T15" fmla="*/ 878 h 921"/>
                <a:gd name="T16" fmla="*/ 928 w 929"/>
                <a:gd name="T17" fmla="*/ 50 h 921"/>
                <a:gd name="T18" fmla="*/ 887 w 929"/>
                <a:gd name="T19" fmla="*/ 0 h 921"/>
                <a:gd name="T20" fmla="*/ 887 w 929"/>
                <a:gd name="T21" fmla="*/ 0 h 921"/>
                <a:gd name="T22" fmla="*/ 887 w 929"/>
                <a:gd name="T23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29" h="921">
                  <a:moveTo>
                    <a:pt x="887" y="0"/>
                  </a:moveTo>
                  <a:cubicBezTo>
                    <a:pt x="862" y="0"/>
                    <a:pt x="836" y="26"/>
                    <a:pt x="836" y="50"/>
                  </a:cubicBezTo>
                  <a:cubicBezTo>
                    <a:pt x="836" y="837"/>
                    <a:pt x="836" y="837"/>
                    <a:pt x="836" y="837"/>
                  </a:cubicBezTo>
                  <a:cubicBezTo>
                    <a:pt x="51" y="837"/>
                    <a:pt x="51" y="837"/>
                    <a:pt x="51" y="837"/>
                  </a:cubicBezTo>
                  <a:cubicBezTo>
                    <a:pt x="26" y="837"/>
                    <a:pt x="0" y="853"/>
                    <a:pt x="0" y="878"/>
                  </a:cubicBezTo>
                  <a:cubicBezTo>
                    <a:pt x="0" y="903"/>
                    <a:pt x="26" y="920"/>
                    <a:pt x="51" y="920"/>
                  </a:cubicBezTo>
                  <a:cubicBezTo>
                    <a:pt x="887" y="920"/>
                    <a:pt x="887" y="920"/>
                    <a:pt x="887" y="920"/>
                  </a:cubicBezTo>
                  <a:cubicBezTo>
                    <a:pt x="912" y="920"/>
                    <a:pt x="928" y="903"/>
                    <a:pt x="928" y="878"/>
                  </a:cubicBezTo>
                  <a:cubicBezTo>
                    <a:pt x="928" y="50"/>
                    <a:pt x="928" y="50"/>
                    <a:pt x="928" y="50"/>
                  </a:cubicBezTo>
                  <a:cubicBezTo>
                    <a:pt x="928" y="26"/>
                    <a:pt x="903" y="0"/>
                    <a:pt x="887" y="0"/>
                  </a:cubicBezTo>
                  <a:close/>
                  <a:moveTo>
                    <a:pt x="887" y="0"/>
                  </a:moveTo>
                  <a:lnTo>
                    <a:pt x="887" y="0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</p:grpSp>
      <p:grpSp>
        <p:nvGrpSpPr>
          <p:cNvPr id="136" name="Group 587"/>
          <p:cNvGrpSpPr>
            <a:grpSpLocks/>
          </p:cNvGrpSpPr>
          <p:nvPr/>
        </p:nvGrpSpPr>
        <p:grpSpPr bwMode="auto">
          <a:xfrm>
            <a:off x="11123624" y="5353901"/>
            <a:ext cx="635875" cy="556737"/>
            <a:chOff x="1530350" y="5719762"/>
            <a:chExt cx="452438" cy="400050"/>
          </a:xfrm>
          <a:solidFill>
            <a:srgbClr val="F7F7F7"/>
          </a:solidFill>
        </p:grpSpPr>
        <p:sp>
          <p:nvSpPr>
            <p:cNvPr id="137" name="Freeform 533"/>
            <p:cNvSpPr>
              <a:spLocks noChangeArrowheads="1"/>
            </p:cNvSpPr>
            <p:nvPr/>
          </p:nvSpPr>
          <p:spPr bwMode="auto">
            <a:xfrm>
              <a:off x="1593850" y="5921374"/>
              <a:ext cx="42863" cy="39688"/>
            </a:xfrm>
            <a:custGeom>
              <a:avLst/>
              <a:gdLst>
                <a:gd name="T0" fmla="*/ 0 w 118"/>
                <a:gd name="T1" fmla="*/ 0 h 110"/>
                <a:gd name="T2" fmla="*/ 117 w 118"/>
                <a:gd name="T3" fmla="*/ 0 h 110"/>
                <a:gd name="T4" fmla="*/ 117 w 118"/>
                <a:gd name="T5" fmla="*/ 109 h 110"/>
                <a:gd name="T6" fmla="*/ 0 w 118"/>
                <a:gd name="T7" fmla="*/ 109 h 110"/>
                <a:gd name="T8" fmla="*/ 0 w 118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110">
                  <a:moveTo>
                    <a:pt x="0" y="0"/>
                  </a:moveTo>
                  <a:lnTo>
                    <a:pt x="117" y="0"/>
                  </a:lnTo>
                  <a:lnTo>
                    <a:pt x="117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38" name="Freeform 534"/>
            <p:cNvSpPr>
              <a:spLocks noChangeArrowheads="1"/>
            </p:cNvSpPr>
            <p:nvPr/>
          </p:nvSpPr>
          <p:spPr bwMode="auto">
            <a:xfrm>
              <a:off x="1593850" y="5984874"/>
              <a:ext cx="42863" cy="39688"/>
            </a:xfrm>
            <a:custGeom>
              <a:avLst/>
              <a:gdLst>
                <a:gd name="T0" fmla="*/ 0 w 118"/>
                <a:gd name="T1" fmla="*/ 0 h 110"/>
                <a:gd name="T2" fmla="*/ 117 w 118"/>
                <a:gd name="T3" fmla="*/ 0 h 110"/>
                <a:gd name="T4" fmla="*/ 117 w 118"/>
                <a:gd name="T5" fmla="*/ 109 h 110"/>
                <a:gd name="T6" fmla="*/ 0 w 118"/>
                <a:gd name="T7" fmla="*/ 109 h 110"/>
                <a:gd name="T8" fmla="*/ 0 w 118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110">
                  <a:moveTo>
                    <a:pt x="0" y="0"/>
                  </a:moveTo>
                  <a:lnTo>
                    <a:pt x="117" y="0"/>
                  </a:lnTo>
                  <a:lnTo>
                    <a:pt x="117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39" name="Freeform 535"/>
            <p:cNvSpPr>
              <a:spLocks noChangeArrowheads="1"/>
            </p:cNvSpPr>
            <p:nvPr/>
          </p:nvSpPr>
          <p:spPr bwMode="auto">
            <a:xfrm>
              <a:off x="1663700" y="5857874"/>
              <a:ext cx="39688" cy="39688"/>
            </a:xfrm>
            <a:custGeom>
              <a:avLst/>
              <a:gdLst>
                <a:gd name="T0" fmla="*/ 0 w 110"/>
                <a:gd name="T1" fmla="*/ 0 h 110"/>
                <a:gd name="T2" fmla="*/ 109 w 110"/>
                <a:gd name="T3" fmla="*/ 0 h 110"/>
                <a:gd name="T4" fmla="*/ 109 w 110"/>
                <a:gd name="T5" fmla="*/ 109 h 110"/>
                <a:gd name="T6" fmla="*/ 0 w 110"/>
                <a:gd name="T7" fmla="*/ 109 h 110"/>
                <a:gd name="T8" fmla="*/ 0 w 110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110">
                  <a:moveTo>
                    <a:pt x="0" y="0"/>
                  </a:moveTo>
                  <a:lnTo>
                    <a:pt x="109" y="0"/>
                  </a:lnTo>
                  <a:lnTo>
                    <a:pt x="109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40" name="Freeform 536"/>
            <p:cNvSpPr>
              <a:spLocks noChangeArrowheads="1"/>
            </p:cNvSpPr>
            <p:nvPr/>
          </p:nvSpPr>
          <p:spPr bwMode="auto">
            <a:xfrm>
              <a:off x="1663700" y="5921374"/>
              <a:ext cx="39688" cy="39688"/>
            </a:xfrm>
            <a:custGeom>
              <a:avLst/>
              <a:gdLst>
                <a:gd name="T0" fmla="*/ 0 w 110"/>
                <a:gd name="T1" fmla="*/ 0 h 110"/>
                <a:gd name="T2" fmla="*/ 109 w 110"/>
                <a:gd name="T3" fmla="*/ 0 h 110"/>
                <a:gd name="T4" fmla="*/ 109 w 110"/>
                <a:gd name="T5" fmla="*/ 109 h 110"/>
                <a:gd name="T6" fmla="*/ 0 w 110"/>
                <a:gd name="T7" fmla="*/ 109 h 110"/>
                <a:gd name="T8" fmla="*/ 0 w 110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110">
                  <a:moveTo>
                    <a:pt x="0" y="0"/>
                  </a:moveTo>
                  <a:lnTo>
                    <a:pt x="109" y="0"/>
                  </a:lnTo>
                  <a:lnTo>
                    <a:pt x="109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41" name="Freeform 537"/>
            <p:cNvSpPr>
              <a:spLocks noChangeArrowheads="1"/>
            </p:cNvSpPr>
            <p:nvPr/>
          </p:nvSpPr>
          <p:spPr bwMode="auto">
            <a:xfrm>
              <a:off x="1663700" y="5984874"/>
              <a:ext cx="39688" cy="39688"/>
            </a:xfrm>
            <a:custGeom>
              <a:avLst/>
              <a:gdLst>
                <a:gd name="T0" fmla="*/ 0 w 110"/>
                <a:gd name="T1" fmla="*/ 0 h 110"/>
                <a:gd name="T2" fmla="*/ 109 w 110"/>
                <a:gd name="T3" fmla="*/ 0 h 110"/>
                <a:gd name="T4" fmla="*/ 109 w 110"/>
                <a:gd name="T5" fmla="*/ 109 h 110"/>
                <a:gd name="T6" fmla="*/ 0 w 110"/>
                <a:gd name="T7" fmla="*/ 109 h 110"/>
                <a:gd name="T8" fmla="*/ 0 w 110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110">
                  <a:moveTo>
                    <a:pt x="0" y="0"/>
                  </a:moveTo>
                  <a:lnTo>
                    <a:pt x="109" y="0"/>
                  </a:lnTo>
                  <a:lnTo>
                    <a:pt x="109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42" name="Freeform 538"/>
            <p:cNvSpPr>
              <a:spLocks noChangeArrowheads="1"/>
            </p:cNvSpPr>
            <p:nvPr/>
          </p:nvSpPr>
          <p:spPr bwMode="auto">
            <a:xfrm>
              <a:off x="1530350" y="5719762"/>
              <a:ext cx="452438" cy="400050"/>
            </a:xfrm>
            <a:custGeom>
              <a:avLst/>
              <a:gdLst>
                <a:gd name="T0" fmla="*/ 1029 w 1255"/>
                <a:gd name="T1" fmla="*/ 75 h 1113"/>
                <a:gd name="T2" fmla="*/ 75 w 1255"/>
                <a:gd name="T3" fmla="*/ 0 h 1113"/>
                <a:gd name="T4" fmla="*/ 0 w 1255"/>
                <a:gd name="T5" fmla="*/ 953 h 1113"/>
                <a:gd name="T6" fmla="*/ 644 w 1255"/>
                <a:gd name="T7" fmla="*/ 1029 h 1113"/>
                <a:gd name="T8" fmla="*/ 1254 w 1255"/>
                <a:gd name="T9" fmla="*/ 736 h 1113"/>
                <a:gd name="T10" fmla="*/ 335 w 1255"/>
                <a:gd name="T11" fmla="*/ 75 h 1113"/>
                <a:gd name="T12" fmla="*/ 694 w 1255"/>
                <a:gd name="T13" fmla="*/ 167 h 1113"/>
                <a:gd name="T14" fmla="*/ 335 w 1255"/>
                <a:gd name="T15" fmla="*/ 75 h 1113"/>
                <a:gd name="T16" fmla="*/ 937 w 1255"/>
                <a:gd name="T17" fmla="*/ 251 h 1113"/>
                <a:gd name="T18" fmla="*/ 878 w 1255"/>
                <a:gd name="T19" fmla="*/ 368 h 1113"/>
                <a:gd name="T20" fmla="*/ 661 w 1255"/>
                <a:gd name="T21" fmla="*/ 385 h 1113"/>
                <a:gd name="T22" fmla="*/ 552 w 1255"/>
                <a:gd name="T23" fmla="*/ 494 h 1113"/>
                <a:gd name="T24" fmla="*/ 510 w 1255"/>
                <a:gd name="T25" fmla="*/ 736 h 1113"/>
                <a:gd name="T26" fmla="*/ 92 w 1255"/>
                <a:gd name="T27" fmla="*/ 920 h 1113"/>
                <a:gd name="T28" fmla="*/ 845 w 1255"/>
                <a:gd name="T29" fmla="*/ 435 h 1113"/>
                <a:gd name="T30" fmla="*/ 911 w 1255"/>
                <a:gd name="T31" fmla="*/ 435 h 1113"/>
                <a:gd name="T32" fmla="*/ 845 w 1255"/>
                <a:gd name="T33" fmla="*/ 435 h 1113"/>
                <a:gd name="T34" fmla="*/ 577 w 1255"/>
                <a:gd name="T35" fmla="*/ 769 h 1113"/>
                <a:gd name="T36" fmla="*/ 577 w 1255"/>
                <a:gd name="T37" fmla="*/ 703 h 1113"/>
                <a:gd name="T38" fmla="*/ 878 w 1255"/>
                <a:gd name="T39" fmla="*/ 1079 h 1113"/>
                <a:gd name="T40" fmla="*/ 878 w 1255"/>
                <a:gd name="T41" fmla="*/ 1004 h 1113"/>
                <a:gd name="T42" fmla="*/ 878 w 1255"/>
                <a:gd name="T43" fmla="*/ 1079 h 1113"/>
                <a:gd name="T44" fmla="*/ 945 w 1255"/>
                <a:gd name="T45" fmla="*/ 728 h 1113"/>
                <a:gd name="T46" fmla="*/ 878 w 1255"/>
                <a:gd name="T47" fmla="*/ 803 h 1113"/>
                <a:gd name="T48" fmla="*/ 661 w 1255"/>
                <a:gd name="T49" fmla="*/ 627 h 1113"/>
                <a:gd name="T50" fmla="*/ 694 w 1255"/>
                <a:gd name="T51" fmla="*/ 585 h 1113"/>
                <a:gd name="T52" fmla="*/ 878 w 1255"/>
                <a:gd name="T53" fmla="*/ 669 h 1113"/>
                <a:gd name="T54" fmla="*/ 1045 w 1255"/>
                <a:gd name="T55" fmla="*/ 544 h 1113"/>
                <a:gd name="T56" fmla="*/ 1087 w 1255"/>
                <a:gd name="T57" fmla="*/ 585 h 1113"/>
                <a:gd name="T58" fmla="*/ 1146 w 1255"/>
                <a:gd name="T59" fmla="*/ 736 h 1113"/>
                <a:gd name="T60" fmla="*/ 1221 w 1255"/>
                <a:gd name="T61" fmla="*/ 736 h 1113"/>
                <a:gd name="T62" fmla="*/ 1179 w 1255"/>
                <a:gd name="T63" fmla="*/ 769 h 1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55" h="1113">
                  <a:moveTo>
                    <a:pt x="1029" y="402"/>
                  </a:moveTo>
                  <a:cubicBezTo>
                    <a:pt x="1029" y="75"/>
                    <a:pt x="1029" y="75"/>
                    <a:pt x="1029" y="75"/>
                  </a:cubicBezTo>
                  <a:cubicBezTo>
                    <a:pt x="1029" y="34"/>
                    <a:pt x="995" y="0"/>
                    <a:pt x="953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34" y="0"/>
                    <a:pt x="0" y="34"/>
                    <a:pt x="0" y="75"/>
                  </a:cubicBezTo>
                  <a:cubicBezTo>
                    <a:pt x="0" y="953"/>
                    <a:pt x="0" y="953"/>
                    <a:pt x="0" y="953"/>
                  </a:cubicBezTo>
                  <a:cubicBezTo>
                    <a:pt x="0" y="995"/>
                    <a:pt x="34" y="1029"/>
                    <a:pt x="75" y="1029"/>
                  </a:cubicBezTo>
                  <a:cubicBezTo>
                    <a:pt x="644" y="1029"/>
                    <a:pt x="644" y="1029"/>
                    <a:pt x="644" y="1029"/>
                  </a:cubicBezTo>
                  <a:cubicBezTo>
                    <a:pt x="711" y="1079"/>
                    <a:pt x="795" y="1112"/>
                    <a:pt x="878" y="1112"/>
                  </a:cubicBezTo>
                  <a:cubicBezTo>
                    <a:pt x="1087" y="1112"/>
                    <a:pt x="1254" y="945"/>
                    <a:pt x="1254" y="736"/>
                  </a:cubicBezTo>
                  <a:cubicBezTo>
                    <a:pt x="1254" y="585"/>
                    <a:pt x="1162" y="460"/>
                    <a:pt x="1029" y="402"/>
                  </a:cubicBezTo>
                  <a:close/>
                  <a:moveTo>
                    <a:pt x="335" y="75"/>
                  </a:moveTo>
                  <a:cubicBezTo>
                    <a:pt x="694" y="75"/>
                    <a:pt x="694" y="75"/>
                    <a:pt x="694" y="75"/>
                  </a:cubicBezTo>
                  <a:cubicBezTo>
                    <a:pt x="694" y="167"/>
                    <a:pt x="694" y="167"/>
                    <a:pt x="694" y="167"/>
                  </a:cubicBezTo>
                  <a:cubicBezTo>
                    <a:pt x="335" y="167"/>
                    <a:pt x="335" y="167"/>
                    <a:pt x="335" y="167"/>
                  </a:cubicBezTo>
                  <a:lnTo>
                    <a:pt x="335" y="75"/>
                  </a:lnTo>
                  <a:close/>
                  <a:moveTo>
                    <a:pt x="92" y="251"/>
                  </a:moveTo>
                  <a:cubicBezTo>
                    <a:pt x="937" y="251"/>
                    <a:pt x="937" y="251"/>
                    <a:pt x="937" y="251"/>
                  </a:cubicBezTo>
                  <a:cubicBezTo>
                    <a:pt x="937" y="368"/>
                    <a:pt x="937" y="368"/>
                    <a:pt x="937" y="368"/>
                  </a:cubicBezTo>
                  <a:cubicBezTo>
                    <a:pt x="920" y="368"/>
                    <a:pt x="895" y="368"/>
                    <a:pt x="878" y="368"/>
                  </a:cubicBezTo>
                  <a:cubicBezTo>
                    <a:pt x="795" y="368"/>
                    <a:pt x="719" y="393"/>
                    <a:pt x="661" y="435"/>
                  </a:cubicBezTo>
                  <a:cubicBezTo>
                    <a:pt x="661" y="385"/>
                    <a:pt x="661" y="385"/>
                    <a:pt x="661" y="385"/>
                  </a:cubicBezTo>
                  <a:cubicBezTo>
                    <a:pt x="552" y="385"/>
                    <a:pt x="552" y="385"/>
                    <a:pt x="552" y="385"/>
                  </a:cubicBezTo>
                  <a:cubicBezTo>
                    <a:pt x="552" y="494"/>
                    <a:pt x="552" y="494"/>
                    <a:pt x="552" y="494"/>
                  </a:cubicBezTo>
                  <a:cubicBezTo>
                    <a:pt x="602" y="494"/>
                    <a:pt x="602" y="494"/>
                    <a:pt x="602" y="494"/>
                  </a:cubicBezTo>
                  <a:cubicBezTo>
                    <a:pt x="544" y="560"/>
                    <a:pt x="510" y="644"/>
                    <a:pt x="510" y="736"/>
                  </a:cubicBezTo>
                  <a:cubicBezTo>
                    <a:pt x="510" y="803"/>
                    <a:pt x="527" y="870"/>
                    <a:pt x="560" y="920"/>
                  </a:cubicBezTo>
                  <a:cubicBezTo>
                    <a:pt x="92" y="920"/>
                    <a:pt x="92" y="920"/>
                    <a:pt x="92" y="920"/>
                  </a:cubicBezTo>
                  <a:lnTo>
                    <a:pt x="92" y="251"/>
                  </a:lnTo>
                  <a:close/>
                  <a:moveTo>
                    <a:pt x="845" y="435"/>
                  </a:moveTo>
                  <a:cubicBezTo>
                    <a:pt x="845" y="418"/>
                    <a:pt x="861" y="402"/>
                    <a:pt x="878" y="402"/>
                  </a:cubicBezTo>
                  <a:cubicBezTo>
                    <a:pt x="895" y="402"/>
                    <a:pt x="911" y="418"/>
                    <a:pt x="911" y="435"/>
                  </a:cubicBezTo>
                  <a:cubicBezTo>
                    <a:pt x="911" y="452"/>
                    <a:pt x="895" y="468"/>
                    <a:pt x="878" y="468"/>
                  </a:cubicBezTo>
                  <a:cubicBezTo>
                    <a:pt x="861" y="468"/>
                    <a:pt x="845" y="452"/>
                    <a:pt x="845" y="435"/>
                  </a:cubicBezTo>
                  <a:close/>
                  <a:moveTo>
                    <a:pt x="610" y="736"/>
                  </a:moveTo>
                  <a:cubicBezTo>
                    <a:pt x="610" y="761"/>
                    <a:pt x="594" y="769"/>
                    <a:pt x="577" y="769"/>
                  </a:cubicBezTo>
                  <a:cubicBezTo>
                    <a:pt x="560" y="769"/>
                    <a:pt x="544" y="761"/>
                    <a:pt x="544" y="736"/>
                  </a:cubicBezTo>
                  <a:cubicBezTo>
                    <a:pt x="544" y="719"/>
                    <a:pt x="560" y="703"/>
                    <a:pt x="577" y="703"/>
                  </a:cubicBezTo>
                  <a:cubicBezTo>
                    <a:pt x="594" y="703"/>
                    <a:pt x="610" y="719"/>
                    <a:pt x="610" y="736"/>
                  </a:cubicBezTo>
                  <a:close/>
                  <a:moveTo>
                    <a:pt x="878" y="1079"/>
                  </a:moveTo>
                  <a:cubicBezTo>
                    <a:pt x="861" y="1079"/>
                    <a:pt x="845" y="1062"/>
                    <a:pt x="845" y="1045"/>
                  </a:cubicBezTo>
                  <a:cubicBezTo>
                    <a:pt x="845" y="1020"/>
                    <a:pt x="861" y="1004"/>
                    <a:pt x="878" y="1004"/>
                  </a:cubicBezTo>
                  <a:cubicBezTo>
                    <a:pt x="895" y="1004"/>
                    <a:pt x="911" y="1020"/>
                    <a:pt x="911" y="1045"/>
                  </a:cubicBezTo>
                  <a:cubicBezTo>
                    <a:pt x="911" y="1062"/>
                    <a:pt x="895" y="1079"/>
                    <a:pt x="878" y="1079"/>
                  </a:cubicBezTo>
                  <a:close/>
                  <a:moveTo>
                    <a:pt x="1087" y="585"/>
                  </a:moveTo>
                  <a:cubicBezTo>
                    <a:pt x="945" y="728"/>
                    <a:pt x="945" y="728"/>
                    <a:pt x="945" y="728"/>
                  </a:cubicBezTo>
                  <a:lnTo>
                    <a:pt x="945" y="736"/>
                  </a:lnTo>
                  <a:cubicBezTo>
                    <a:pt x="945" y="778"/>
                    <a:pt x="920" y="803"/>
                    <a:pt x="878" y="803"/>
                  </a:cubicBezTo>
                  <a:cubicBezTo>
                    <a:pt x="845" y="803"/>
                    <a:pt x="811" y="778"/>
                    <a:pt x="811" y="744"/>
                  </a:cubicBezTo>
                  <a:cubicBezTo>
                    <a:pt x="661" y="627"/>
                    <a:pt x="661" y="627"/>
                    <a:pt x="661" y="627"/>
                  </a:cubicBezTo>
                  <a:cubicBezTo>
                    <a:pt x="652" y="619"/>
                    <a:pt x="644" y="594"/>
                    <a:pt x="652" y="585"/>
                  </a:cubicBezTo>
                  <a:cubicBezTo>
                    <a:pt x="661" y="577"/>
                    <a:pt x="686" y="569"/>
                    <a:pt x="694" y="585"/>
                  </a:cubicBezTo>
                  <a:cubicBezTo>
                    <a:pt x="836" y="686"/>
                    <a:pt x="836" y="686"/>
                    <a:pt x="836" y="686"/>
                  </a:cubicBezTo>
                  <a:cubicBezTo>
                    <a:pt x="845" y="677"/>
                    <a:pt x="861" y="669"/>
                    <a:pt x="878" y="669"/>
                  </a:cubicBezTo>
                  <a:cubicBezTo>
                    <a:pt x="895" y="669"/>
                    <a:pt x="903" y="677"/>
                    <a:pt x="911" y="677"/>
                  </a:cubicBezTo>
                  <a:cubicBezTo>
                    <a:pt x="1045" y="544"/>
                    <a:pt x="1045" y="544"/>
                    <a:pt x="1045" y="544"/>
                  </a:cubicBezTo>
                  <a:cubicBezTo>
                    <a:pt x="1062" y="535"/>
                    <a:pt x="1079" y="535"/>
                    <a:pt x="1087" y="544"/>
                  </a:cubicBezTo>
                  <a:cubicBezTo>
                    <a:pt x="1104" y="552"/>
                    <a:pt x="1096" y="569"/>
                    <a:pt x="1087" y="585"/>
                  </a:cubicBezTo>
                  <a:close/>
                  <a:moveTo>
                    <a:pt x="1179" y="769"/>
                  </a:moveTo>
                  <a:cubicBezTo>
                    <a:pt x="1162" y="769"/>
                    <a:pt x="1146" y="761"/>
                    <a:pt x="1146" y="736"/>
                  </a:cubicBezTo>
                  <a:cubicBezTo>
                    <a:pt x="1146" y="719"/>
                    <a:pt x="1162" y="703"/>
                    <a:pt x="1179" y="703"/>
                  </a:cubicBezTo>
                  <a:cubicBezTo>
                    <a:pt x="1204" y="703"/>
                    <a:pt x="1221" y="719"/>
                    <a:pt x="1221" y="736"/>
                  </a:cubicBezTo>
                  <a:cubicBezTo>
                    <a:pt x="1221" y="761"/>
                    <a:pt x="1204" y="769"/>
                    <a:pt x="1179" y="769"/>
                  </a:cubicBezTo>
                  <a:close/>
                  <a:moveTo>
                    <a:pt x="1179" y="769"/>
                  </a:moveTo>
                  <a:lnTo>
                    <a:pt x="1179" y="769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</p:grpSp>
      <p:grpSp>
        <p:nvGrpSpPr>
          <p:cNvPr id="45082" name="组合 4"/>
          <p:cNvGrpSpPr>
            <a:grpSpLocks/>
          </p:cNvGrpSpPr>
          <p:nvPr/>
        </p:nvGrpSpPr>
        <p:grpSpPr bwMode="auto">
          <a:xfrm>
            <a:off x="9205913" y="1936750"/>
            <a:ext cx="554037" cy="555625"/>
            <a:chOff x="9205771" y="1936782"/>
            <a:chExt cx="554905" cy="554905"/>
          </a:xfrm>
        </p:grpSpPr>
        <p:sp>
          <p:nvSpPr>
            <p:cNvPr id="4" name="椭圆 3"/>
            <p:cNvSpPr/>
            <p:nvPr/>
          </p:nvSpPr>
          <p:spPr>
            <a:xfrm>
              <a:off x="9205771" y="1936782"/>
              <a:ext cx="554905" cy="554905"/>
            </a:xfrm>
            <a:prstGeom prst="ellipse">
              <a:avLst/>
            </a:prstGeom>
            <a:noFill/>
            <a:ln>
              <a:solidFill>
                <a:srgbClr val="50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  <p:sp>
          <p:nvSpPr>
            <p:cNvPr id="45093" name="文本框 142"/>
            <p:cNvSpPr txBox="1">
              <a:spLocks noChangeArrowheads="1"/>
            </p:cNvSpPr>
            <p:nvPr/>
          </p:nvSpPr>
          <p:spPr bwMode="auto">
            <a:xfrm>
              <a:off x="9229352" y="1947916"/>
              <a:ext cx="53132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505050"/>
                  </a:solidFill>
                  <a:latin typeface="Impact" panose="020B0806030902050204" pitchFamily="34" charset="0"/>
                  <a:ea typeface="微软雅黑" panose="020B0503020204020204" pitchFamily="34" charset="-122"/>
                </a:rPr>
                <a:t>01</a:t>
              </a:r>
              <a:endParaRPr lang="zh-CN" altLang="en-US" sz="2800">
                <a:solidFill>
                  <a:srgbClr val="505050"/>
                </a:solidFill>
                <a:latin typeface="Impact" panose="020B080603090205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5083" name="组合 143"/>
          <p:cNvGrpSpPr>
            <a:grpSpLocks/>
          </p:cNvGrpSpPr>
          <p:nvPr/>
        </p:nvGrpSpPr>
        <p:grpSpPr bwMode="auto">
          <a:xfrm>
            <a:off x="2376488" y="3111500"/>
            <a:ext cx="635000" cy="555625"/>
            <a:chOff x="9205771" y="1936782"/>
            <a:chExt cx="634995" cy="554905"/>
          </a:xfrm>
        </p:grpSpPr>
        <p:sp>
          <p:nvSpPr>
            <p:cNvPr id="145" name="椭圆 144"/>
            <p:cNvSpPr/>
            <p:nvPr/>
          </p:nvSpPr>
          <p:spPr>
            <a:xfrm>
              <a:off x="9205771" y="1936782"/>
              <a:ext cx="555621" cy="554905"/>
            </a:xfrm>
            <a:prstGeom prst="ellipse">
              <a:avLst/>
            </a:prstGeom>
            <a:noFill/>
            <a:ln>
              <a:solidFill>
                <a:srgbClr val="50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  <p:sp>
          <p:nvSpPr>
            <p:cNvPr id="45091" name="文本框 145"/>
            <p:cNvSpPr txBox="1">
              <a:spLocks noChangeArrowheads="1"/>
            </p:cNvSpPr>
            <p:nvPr/>
          </p:nvSpPr>
          <p:spPr bwMode="auto">
            <a:xfrm>
              <a:off x="9229351" y="1947916"/>
              <a:ext cx="61141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505050"/>
                  </a:solidFill>
                  <a:latin typeface="Impact" panose="020B0806030902050204" pitchFamily="34" charset="0"/>
                  <a:ea typeface="微软雅黑" panose="020B0503020204020204" pitchFamily="34" charset="-122"/>
                </a:rPr>
                <a:t>02</a:t>
              </a:r>
              <a:endParaRPr lang="zh-CN" altLang="en-US" sz="2800">
                <a:solidFill>
                  <a:srgbClr val="505050"/>
                </a:solidFill>
                <a:latin typeface="Impact" panose="020B080603090205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5084" name="组合 146"/>
          <p:cNvGrpSpPr>
            <a:grpSpLocks/>
          </p:cNvGrpSpPr>
          <p:nvPr/>
        </p:nvGrpSpPr>
        <p:grpSpPr bwMode="auto">
          <a:xfrm>
            <a:off x="2411413" y="5384800"/>
            <a:ext cx="620712" cy="554038"/>
            <a:chOff x="9198666" y="1936782"/>
            <a:chExt cx="620570" cy="554905"/>
          </a:xfrm>
        </p:grpSpPr>
        <p:sp>
          <p:nvSpPr>
            <p:cNvPr id="148" name="椭圆 147"/>
            <p:cNvSpPr/>
            <p:nvPr/>
          </p:nvSpPr>
          <p:spPr>
            <a:xfrm>
              <a:off x="9205015" y="1936782"/>
              <a:ext cx="555498" cy="554905"/>
            </a:xfrm>
            <a:prstGeom prst="ellipse">
              <a:avLst/>
            </a:prstGeom>
            <a:noFill/>
            <a:ln>
              <a:solidFill>
                <a:srgbClr val="50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  <p:sp>
          <p:nvSpPr>
            <p:cNvPr id="45089" name="文本框 148"/>
            <p:cNvSpPr txBox="1">
              <a:spLocks noChangeArrowheads="1"/>
            </p:cNvSpPr>
            <p:nvPr/>
          </p:nvSpPr>
          <p:spPr bwMode="auto">
            <a:xfrm>
              <a:off x="9198666" y="1964243"/>
              <a:ext cx="62057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505050"/>
                  </a:solidFill>
                  <a:latin typeface="Impact" panose="020B0806030902050204" pitchFamily="34" charset="0"/>
                  <a:ea typeface="微软雅黑" panose="020B0503020204020204" pitchFamily="34" charset="-122"/>
                </a:rPr>
                <a:t>04</a:t>
              </a:r>
              <a:endParaRPr lang="zh-CN" altLang="en-US" sz="2800">
                <a:solidFill>
                  <a:srgbClr val="505050"/>
                </a:solidFill>
                <a:latin typeface="Impact" panose="020B080603090205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5085" name="组合 149"/>
          <p:cNvGrpSpPr>
            <a:grpSpLocks/>
          </p:cNvGrpSpPr>
          <p:nvPr/>
        </p:nvGrpSpPr>
        <p:grpSpPr bwMode="auto">
          <a:xfrm>
            <a:off x="9205913" y="4189413"/>
            <a:ext cx="777875" cy="555625"/>
            <a:chOff x="9205771" y="1936782"/>
            <a:chExt cx="777559" cy="554905"/>
          </a:xfrm>
        </p:grpSpPr>
        <p:sp>
          <p:nvSpPr>
            <p:cNvPr id="151" name="椭圆 150"/>
            <p:cNvSpPr/>
            <p:nvPr/>
          </p:nvSpPr>
          <p:spPr>
            <a:xfrm>
              <a:off x="9205771" y="1936782"/>
              <a:ext cx="555399" cy="554905"/>
            </a:xfrm>
            <a:prstGeom prst="ellipse">
              <a:avLst/>
            </a:prstGeom>
            <a:noFill/>
            <a:ln>
              <a:solidFill>
                <a:srgbClr val="50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  <p:sp>
          <p:nvSpPr>
            <p:cNvPr id="45087" name="文本框 151"/>
            <p:cNvSpPr txBox="1">
              <a:spLocks noChangeArrowheads="1"/>
            </p:cNvSpPr>
            <p:nvPr/>
          </p:nvSpPr>
          <p:spPr bwMode="auto">
            <a:xfrm>
              <a:off x="9229351" y="1947916"/>
              <a:ext cx="75397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505050"/>
                  </a:solidFill>
                  <a:latin typeface="Impact" panose="020B0806030902050204" pitchFamily="34" charset="0"/>
                  <a:ea typeface="微软雅黑" panose="020B0503020204020204" pitchFamily="34" charset="-122"/>
                </a:rPr>
                <a:t>03</a:t>
              </a:r>
              <a:endParaRPr lang="zh-CN" altLang="en-US" sz="2800">
                <a:solidFill>
                  <a:srgbClr val="505050"/>
                </a:solidFill>
                <a:latin typeface="Impact" panose="020B0806030902050204" pitchFamily="34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52" name="矩形 51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54" name="矩形 53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55" name="椭圆 54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58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课程引入</a:t>
            </a:r>
          </a:p>
        </p:txBody>
      </p:sp>
      <p:sp>
        <p:nvSpPr>
          <p:cNvPr id="59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3277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/>
      <p:bldP spid="121" grpId="0"/>
      <p:bldP spid="123" grpId="0"/>
      <p:bldP spid="1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10" name="组合 44"/>
          <p:cNvGrpSpPr>
            <a:grpSpLocks/>
          </p:cNvGrpSpPr>
          <p:nvPr/>
        </p:nvGrpSpPr>
        <p:grpSpPr bwMode="auto">
          <a:xfrm>
            <a:off x="1160463" y="1884363"/>
            <a:ext cx="4737100" cy="4343400"/>
            <a:chOff x="1082387" y="806448"/>
            <a:chExt cx="5521613" cy="5062793"/>
          </a:xfrm>
        </p:grpSpPr>
        <p:pic>
          <p:nvPicPr>
            <p:cNvPr id="47121" name="Picture 13" descr="iMac-Mask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2387" y="806448"/>
              <a:ext cx="5521613" cy="50627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7122" name="图片 46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641" b="9682"/>
            <a:stretch>
              <a:fillRect/>
            </a:stretch>
          </p:blipFill>
          <p:spPr bwMode="auto">
            <a:xfrm>
              <a:off x="1445985" y="1130403"/>
              <a:ext cx="4824185" cy="2871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矩形 1"/>
          <p:cNvSpPr/>
          <p:nvPr/>
        </p:nvSpPr>
        <p:spPr>
          <a:xfrm>
            <a:off x="6418263" y="1493423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7326313" y="1493423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6418263" y="3630198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7326313" y="3630198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2" name="文本框 51"/>
          <p:cNvSpPr txBox="1">
            <a:spLocks noChangeArrowheads="1"/>
          </p:cNvSpPr>
          <p:nvPr/>
        </p:nvSpPr>
        <p:spPr bwMode="auto">
          <a:xfrm>
            <a:off x="6281051" y="2218551"/>
            <a:ext cx="490378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借助电、磁、光、机械等原理构成的各种物理部件的有机组合，是系统工作的实体。</a:t>
            </a:r>
          </a:p>
        </p:txBody>
      </p:sp>
      <p:sp>
        <p:nvSpPr>
          <p:cNvPr id="47116" name="文本框 52"/>
          <p:cNvSpPr txBox="1">
            <a:spLocks noChangeArrowheads="1"/>
          </p:cNvSpPr>
          <p:nvPr/>
        </p:nvSpPr>
        <p:spPr bwMode="auto">
          <a:xfrm>
            <a:off x="6272212" y="1797672"/>
            <a:ext cx="516461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、主存储器、</a:t>
            </a:r>
            <a:r>
              <a:rPr lang="en-US" altLang="zh-CN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控制系统、外围设备</a:t>
            </a:r>
          </a:p>
        </p:txBody>
      </p:sp>
      <p:sp>
        <p:nvSpPr>
          <p:cNvPr id="54" name="文本框 53"/>
          <p:cNvSpPr txBox="1">
            <a:spLocks noChangeArrowheads="1"/>
          </p:cNvSpPr>
          <p:nvPr/>
        </p:nvSpPr>
        <p:spPr bwMode="auto">
          <a:xfrm>
            <a:off x="6272213" y="4417046"/>
            <a:ext cx="4759324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各种程序和文件，用于指挥计算机系统按指定的的要求进行协同工作。关键系统软件是操作系统和语言处理软件。</a:t>
            </a:r>
          </a:p>
        </p:txBody>
      </p:sp>
      <p:sp>
        <p:nvSpPr>
          <p:cNvPr id="47118" name="文本框 54"/>
          <p:cNvSpPr txBox="1">
            <a:spLocks noChangeArrowheads="1"/>
          </p:cNvSpPr>
          <p:nvPr/>
        </p:nvSpPr>
        <p:spPr bwMode="auto">
          <a:xfrm>
            <a:off x="6272213" y="3937483"/>
            <a:ext cx="4406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系统软件、支撑软件、应用软件</a:t>
            </a:r>
          </a:p>
        </p:txBody>
      </p:sp>
      <p:sp>
        <p:nvSpPr>
          <p:cNvPr id="47119" name="文本框 55"/>
          <p:cNvSpPr txBox="1">
            <a:spLocks noChangeArrowheads="1"/>
          </p:cNvSpPr>
          <p:nvPr/>
        </p:nvSpPr>
        <p:spPr bwMode="auto">
          <a:xfrm>
            <a:off x="6272213" y="960023"/>
            <a:ext cx="1920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硬件子系统</a:t>
            </a:r>
          </a:p>
        </p:txBody>
      </p:sp>
      <p:sp>
        <p:nvSpPr>
          <p:cNvPr id="47120" name="文本框 56"/>
          <p:cNvSpPr txBox="1">
            <a:spLocks noChangeArrowheads="1"/>
          </p:cNvSpPr>
          <p:nvPr/>
        </p:nvSpPr>
        <p:spPr bwMode="auto">
          <a:xfrm>
            <a:off x="6272213" y="3084098"/>
            <a:ext cx="1920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软件子系统</a:t>
            </a:r>
          </a:p>
        </p:txBody>
      </p:sp>
      <p:sp>
        <p:nvSpPr>
          <p:cNvPr id="27" name="矩形 26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9" name="矩形 28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31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26468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计算机系统的组成</a:t>
            </a:r>
          </a:p>
        </p:txBody>
      </p: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07189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 cstate="print"/>
          <a:srcRect r="42146" b="48018"/>
          <a:stretch/>
        </p:blipFill>
        <p:spPr>
          <a:xfrm>
            <a:off x="7346063" y="2511276"/>
            <a:ext cx="4845938" cy="4346724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1938" y1="46310" x2="41938" y2="46310"/>
                        <a14:foregroundMark x1="26672" y1="41021" x2="26672" y2="41021"/>
                        <a14:foregroundMark x1="31389" y1="39422" x2="31389" y2="39422"/>
                        <a14:backgroundMark x1="70755" y1="56581" x2="70755" y2="56581"/>
                        <a14:backgroundMark x1="68696" y1="52583" x2="65266" y2="51415"/>
                        <a14:backgroundMark x1="49914" y1="48032" x2="49314" y2="47909"/>
                        <a14:backgroundMark x1="49314" y1="54674" x2="48714" y2="54674"/>
                        <a14:backgroundMark x1="47513" y1="54490" x2="50772" y2="56827"/>
                        <a14:backgroundMark x1="67067" y1="62116" x2="67667" y2="61501"/>
                        <a14:backgroundMark x1="68525" y1="56396" x2="68525" y2="55351"/>
                        <a14:backgroundMark x1="70154" y1="50861" x2="70154" y2="50861"/>
                        <a14:backgroundMark x1="71184" y1="50431" x2="71184" y2="50431"/>
                        <a14:backgroundMark x1="38508" y1="41451" x2="38508" y2="41451"/>
                        <a14:backgroundMark x1="44254" y1="36470" x2="44254" y2="36470"/>
                        <a14:backgroundMark x1="42796" y1="43235" x2="42796" y2="43235"/>
                        <a14:backgroundMark x1="67067" y1="42927" x2="67067" y2="42927"/>
                        <a14:backgroundMark x1="58062" y1="45449" x2="57461" y2="45572"/>
                        <a14:backgroundMark x1="59091" y1="52768" x2="59520" y2="53321"/>
                        <a14:backgroundMark x1="59520" y1="54182" x2="59777" y2="55843"/>
                        <a14:backgroundMark x1="59777" y1="59164" x2="59777" y2="59164"/>
                        <a14:backgroundMark x1="78902" y1="35609" x2="78902" y2="35609"/>
                        <a14:backgroundMark x1="26415" y1="39729" x2="26415" y2="39729"/>
                        <a14:backgroundMark x1="25472" y1="42189" x2="25472" y2="42189"/>
                        <a14:backgroundMark x1="25214" y1="41636" x2="25214" y2="41636"/>
                        <a14:backgroundMark x1="46055" y1="56704" x2="46055" y2="56704"/>
                        <a14:backgroundMark x1="56690" y1="49508" x2="56690" y2="49508"/>
                        <a14:backgroundMark x1="56861" y1="49262" x2="60720" y2="48770"/>
                        <a14:backgroundMark x1="66295" y1="47601" x2="66895" y2="47601"/>
                        <a14:backgroundMark x1="71184" y1="46617" x2="76672" y2="45449"/>
                        <a14:backgroundMark x1="81389" y1="43973" x2="81389" y2="43973"/>
                      </a14:backgroundRemoval>
                    </a14:imgEffect>
                  </a14:imgLayer>
                </a14:imgProps>
              </a:ext>
            </a:extLst>
          </a:blip>
          <a:srcRect l="17878" t="35012" b="43146"/>
          <a:stretch/>
        </p:blipFill>
        <p:spPr>
          <a:xfrm>
            <a:off x="-1" y="0"/>
            <a:ext cx="5837731" cy="2166151"/>
          </a:xfrm>
          <a:prstGeom prst="rect">
            <a:avLst/>
          </a:prstGeom>
        </p:spPr>
      </p:pic>
      <p:grpSp>
        <p:nvGrpSpPr>
          <p:cNvPr id="16" name="Group 14"/>
          <p:cNvGrpSpPr>
            <a:grpSpLocks/>
          </p:cNvGrpSpPr>
          <p:nvPr/>
        </p:nvGrpSpPr>
        <p:grpSpPr bwMode="auto">
          <a:xfrm>
            <a:off x="1759922" y="1952625"/>
            <a:ext cx="7777162" cy="3743325"/>
            <a:chOff x="703" y="1162"/>
            <a:chExt cx="4899" cy="2358"/>
          </a:xfrm>
        </p:grpSpPr>
        <p:sp>
          <p:nvSpPr>
            <p:cNvPr id="18" name="AutoShape 25"/>
            <p:cNvSpPr>
              <a:spLocks noChangeArrowheads="1"/>
            </p:cNvSpPr>
            <p:nvPr/>
          </p:nvSpPr>
          <p:spPr bwMode="auto">
            <a:xfrm>
              <a:off x="703" y="3067"/>
              <a:ext cx="3402" cy="453"/>
            </a:xfrm>
            <a:prstGeom prst="cube">
              <a:avLst>
                <a:gd name="adj" fmla="val 18986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en-US" b="1">
                  <a:solidFill>
                    <a:schemeClr val="bg1"/>
                  </a:solidFill>
                </a:rPr>
                <a:t>计算机硬件</a:t>
              </a:r>
            </a:p>
          </p:txBody>
        </p:sp>
        <p:sp>
          <p:nvSpPr>
            <p:cNvPr id="19" name="AutoShape 26"/>
            <p:cNvSpPr>
              <a:spLocks noChangeArrowheads="1"/>
            </p:cNvSpPr>
            <p:nvPr/>
          </p:nvSpPr>
          <p:spPr bwMode="auto">
            <a:xfrm>
              <a:off x="703" y="2692"/>
              <a:ext cx="2793" cy="453"/>
            </a:xfrm>
            <a:prstGeom prst="cube">
              <a:avLst>
                <a:gd name="adj" fmla="val 18986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en-US" b="1">
                  <a:solidFill>
                    <a:schemeClr val="bg1"/>
                  </a:solidFill>
                </a:rPr>
                <a:t>操作系统</a:t>
              </a:r>
            </a:p>
          </p:txBody>
        </p:sp>
        <p:sp>
          <p:nvSpPr>
            <p:cNvPr id="20" name="AutoShape 27"/>
            <p:cNvSpPr>
              <a:spLocks noChangeArrowheads="1"/>
            </p:cNvSpPr>
            <p:nvPr/>
          </p:nvSpPr>
          <p:spPr bwMode="auto">
            <a:xfrm>
              <a:off x="703" y="2317"/>
              <a:ext cx="2234" cy="453"/>
            </a:xfrm>
            <a:prstGeom prst="cube">
              <a:avLst>
                <a:gd name="adj" fmla="val 18986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en-US" b="1">
                  <a:solidFill>
                    <a:schemeClr val="bg1"/>
                  </a:solidFill>
                </a:rPr>
                <a:t>其他系统软件</a:t>
              </a:r>
            </a:p>
          </p:txBody>
        </p:sp>
        <p:sp>
          <p:nvSpPr>
            <p:cNvPr id="21" name="AutoShape 28"/>
            <p:cNvSpPr>
              <a:spLocks noChangeArrowheads="1"/>
            </p:cNvSpPr>
            <p:nvPr/>
          </p:nvSpPr>
          <p:spPr bwMode="auto">
            <a:xfrm>
              <a:off x="703" y="1943"/>
              <a:ext cx="1625" cy="453"/>
            </a:xfrm>
            <a:prstGeom prst="cube">
              <a:avLst>
                <a:gd name="adj" fmla="val 18986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en-US" b="1">
                  <a:solidFill>
                    <a:schemeClr val="bg1"/>
                  </a:solidFill>
                </a:rPr>
                <a:t>应用程序</a:t>
              </a:r>
            </a:p>
          </p:txBody>
        </p:sp>
        <p:sp>
          <p:nvSpPr>
            <p:cNvPr id="22" name="AutoShape 28"/>
            <p:cNvSpPr>
              <a:spLocks noChangeArrowheads="1"/>
            </p:cNvSpPr>
            <p:nvPr/>
          </p:nvSpPr>
          <p:spPr bwMode="auto">
            <a:xfrm>
              <a:off x="703" y="1569"/>
              <a:ext cx="1315" cy="453"/>
            </a:xfrm>
            <a:prstGeom prst="cube">
              <a:avLst>
                <a:gd name="adj" fmla="val 18986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en-US" b="1">
                  <a:solidFill>
                    <a:schemeClr val="bg1"/>
                  </a:solidFill>
                </a:rPr>
                <a:t>其他用户</a:t>
              </a:r>
            </a:p>
          </p:txBody>
        </p:sp>
        <p:sp>
          <p:nvSpPr>
            <p:cNvPr id="23" name="AutoShape 19"/>
            <p:cNvSpPr>
              <a:spLocks noChangeArrowheads="1"/>
            </p:cNvSpPr>
            <p:nvPr/>
          </p:nvSpPr>
          <p:spPr bwMode="auto">
            <a:xfrm>
              <a:off x="4241" y="2341"/>
              <a:ext cx="1361" cy="273"/>
            </a:xfrm>
            <a:prstGeom prst="wedgeRectCallout">
              <a:avLst>
                <a:gd name="adj1" fmla="val -103194"/>
                <a:gd name="adj2" fmla="val 163551"/>
              </a:avLst>
            </a:prstGeom>
            <a:gradFill rotWithShape="1">
              <a:gsLst>
                <a:gs pos="0">
                  <a:srgbClr val="FFFFFF"/>
                </a:gs>
                <a:gs pos="7001">
                  <a:srgbClr val="E6E6E6"/>
                </a:gs>
                <a:gs pos="32001">
                  <a:srgbClr val="7D8496"/>
                </a:gs>
                <a:gs pos="47000">
                  <a:srgbClr val="E6E6E6"/>
                </a:gs>
                <a:gs pos="85001">
                  <a:srgbClr val="7D8496"/>
                </a:gs>
                <a:gs pos="100000">
                  <a:srgbClr val="E6E6E6"/>
                </a:gs>
              </a:gsLst>
              <a:lin ang="5400000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en-US" b="1"/>
                <a:t>操作系统设计者</a:t>
              </a:r>
            </a:p>
          </p:txBody>
        </p:sp>
        <p:sp>
          <p:nvSpPr>
            <p:cNvPr id="24" name="AutoShape 20"/>
            <p:cNvSpPr>
              <a:spLocks noChangeArrowheads="1"/>
            </p:cNvSpPr>
            <p:nvPr/>
          </p:nvSpPr>
          <p:spPr bwMode="auto">
            <a:xfrm>
              <a:off x="3334" y="1706"/>
              <a:ext cx="1361" cy="273"/>
            </a:xfrm>
            <a:prstGeom prst="wedgeRectCallout">
              <a:avLst>
                <a:gd name="adj1" fmla="val -81301"/>
                <a:gd name="adj2" fmla="val 259523"/>
              </a:avLst>
            </a:prstGeom>
            <a:gradFill rotWithShape="1">
              <a:gsLst>
                <a:gs pos="0">
                  <a:srgbClr val="FFFFFF"/>
                </a:gs>
                <a:gs pos="7001">
                  <a:srgbClr val="E6E6E6"/>
                </a:gs>
                <a:gs pos="32001">
                  <a:srgbClr val="7D8496"/>
                </a:gs>
                <a:gs pos="47000">
                  <a:srgbClr val="E6E6E6"/>
                </a:gs>
                <a:gs pos="85001">
                  <a:srgbClr val="7D8496"/>
                </a:gs>
                <a:gs pos="100000">
                  <a:srgbClr val="E6E6E6"/>
                </a:gs>
              </a:gsLst>
              <a:lin ang="5400000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en-US" b="1"/>
                <a:t>系统软件设计者</a:t>
              </a:r>
            </a:p>
          </p:txBody>
        </p:sp>
        <p:sp>
          <p:nvSpPr>
            <p:cNvPr id="25" name="AutoShape 21"/>
            <p:cNvSpPr>
              <a:spLocks noChangeArrowheads="1"/>
            </p:cNvSpPr>
            <p:nvPr/>
          </p:nvSpPr>
          <p:spPr bwMode="auto">
            <a:xfrm>
              <a:off x="2789" y="1162"/>
              <a:ext cx="1361" cy="273"/>
            </a:xfrm>
            <a:prstGeom prst="wedgeRectCallout">
              <a:avLst>
                <a:gd name="adj1" fmla="val -82329"/>
                <a:gd name="adj2" fmla="val 310440"/>
              </a:avLst>
            </a:prstGeom>
            <a:gradFill rotWithShape="1">
              <a:gsLst>
                <a:gs pos="0">
                  <a:srgbClr val="FFFFFF"/>
                </a:gs>
                <a:gs pos="7001">
                  <a:srgbClr val="E6E6E6"/>
                </a:gs>
                <a:gs pos="32001">
                  <a:srgbClr val="7D8496"/>
                </a:gs>
                <a:gs pos="47000">
                  <a:srgbClr val="E6E6E6"/>
                </a:gs>
                <a:gs pos="85001">
                  <a:srgbClr val="7D8496"/>
                </a:gs>
                <a:gs pos="100000">
                  <a:srgbClr val="E6E6E6"/>
                </a:gs>
              </a:gsLst>
              <a:lin ang="5400000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en-US" b="1"/>
                <a:t>应用程序设计者</a:t>
              </a:r>
            </a:p>
          </p:txBody>
        </p:sp>
      </p:grpSp>
      <p:sp>
        <p:nvSpPr>
          <p:cNvPr id="26" name="文本框 25"/>
          <p:cNvSpPr txBox="1">
            <a:spLocks noChangeArrowheads="1"/>
          </p:cNvSpPr>
          <p:nvPr/>
        </p:nvSpPr>
        <p:spPr bwMode="auto">
          <a:xfrm>
            <a:off x="2345649" y="736242"/>
            <a:ext cx="32624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操作系统与开发者关系</a:t>
            </a:r>
          </a:p>
        </p:txBody>
      </p:sp>
      <p:sp>
        <p:nvSpPr>
          <p:cNvPr id="27" name="文本框 31"/>
          <p:cNvSpPr txBox="1"/>
          <p:nvPr/>
        </p:nvSpPr>
        <p:spPr>
          <a:xfrm>
            <a:off x="2372945" y="1184259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4643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 cstate="print"/>
          <a:srcRect r="42146" b="48018"/>
          <a:stretch/>
        </p:blipFill>
        <p:spPr>
          <a:xfrm>
            <a:off x="7346063" y="2511276"/>
            <a:ext cx="4845938" cy="4346724"/>
          </a:xfrm>
          <a:prstGeom prst="rect">
            <a:avLst/>
          </a:prstGeom>
        </p:spPr>
      </p:pic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472862" y="2048669"/>
            <a:ext cx="7246275" cy="2760663"/>
          </a:xfrm>
          <a:prstGeom prst="rect">
            <a:avLst/>
          </a:prstGeom>
          <a:noFill/>
          <a:ln w="38100" cap="flat">
            <a:solidFill>
              <a:srgbClr val="3D735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1938" y1="46310" x2="41938" y2="46310"/>
                        <a14:foregroundMark x1="26672" y1="41021" x2="26672" y2="41021"/>
                        <a14:foregroundMark x1="31389" y1="39422" x2="31389" y2="39422"/>
                        <a14:backgroundMark x1="70755" y1="56581" x2="70755" y2="56581"/>
                        <a14:backgroundMark x1="68696" y1="52583" x2="65266" y2="51415"/>
                        <a14:backgroundMark x1="49914" y1="48032" x2="49314" y2="47909"/>
                        <a14:backgroundMark x1="49314" y1="54674" x2="48714" y2="54674"/>
                        <a14:backgroundMark x1="47513" y1="54490" x2="50772" y2="56827"/>
                        <a14:backgroundMark x1="67067" y1="62116" x2="67667" y2="61501"/>
                        <a14:backgroundMark x1="68525" y1="56396" x2="68525" y2="55351"/>
                        <a14:backgroundMark x1="70154" y1="50861" x2="70154" y2="50861"/>
                        <a14:backgroundMark x1="71184" y1="50431" x2="71184" y2="50431"/>
                        <a14:backgroundMark x1="38508" y1="41451" x2="38508" y2="41451"/>
                        <a14:backgroundMark x1="44254" y1="36470" x2="44254" y2="36470"/>
                        <a14:backgroundMark x1="42796" y1="43235" x2="42796" y2="43235"/>
                        <a14:backgroundMark x1="67067" y1="42927" x2="67067" y2="42927"/>
                        <a14:backgroundMark x1="58062" y1="45449" x2="57461" y2="45572"/>
                        <a14:backgroundMark x1="59091" y1="52768" x2="59520" y2="53321"/>
                        <a14:backgroundMark x1="59520" y1="54182" x2="59777" y2="55843"/>
                        <a14:backgroundMark x1="59777" y1="59164" x2="59777" y2="59164"/>
                        <a14:backgroundMark x1="78902" y1="35609" x2="78902" y2="35609"/>
                        <a14:backgroundMark x1="26415" y1="39729" x2="26415" y2="39729"/>
                        <a14:backgroundMark x1="25472" y1="42189" x2="25472" y2="42189"/>
                        <a14:backgroundMark x1="25214" y1="41636" x2="25214" y2="41636"/>
                        <a14:backgroundMark x1="46055" y1="56704" x2="46055" y2="56704"/>
                        <a14:backgroundMark x1="56690" y1="49508" x2="56690" y2="49508"/>
                        <a14:backgroundMark x1="56861" y1="49262" x2="60720" y2="48770"/>
                        <a14:backgroundMark x1="66295" y1="47601" x2="66895" y2="47601"/>
                        <a14:backgroundMark x1="71184" y1="46617" x2="76672" y2="45449"/>
                        <a14:backgroundMark x1="81389" y1="43973" x2="81389" y2="43973"/>
                      </a14:backgroundRemoval>
                    </a14:imgEffect>
                  </a14:imgLayer>
                </a14:imgProps>
              </a:ext>
            </a:extLst>
          </a:blip>
          <a:srcRect l="17878" t="35012" b="43146"/>
          <a:stretch/>
        </p:blipFill>
        <p:spPr>
          <a:xfrm>
            <a:off x="-1" y="0"/>
            <a:ext cx="5837731" cy="2166151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3152633" y="2374188"/>
            <a:ext cx="6400775" cy="2109625"/>
            <a:chOff x="4806642" y="2317346"/>
            <a:chExt cx="5507258" cy="2109625"/>
          </a:xfrm>
        </p:grpSpPr>
        <p:sp>
          <p:nvSpPr>
            <p:cNvPr id="15" name="文本框 13"/>
            <p:cNvSpPr txBox="1">
              <a:spLocks noChangeArrowheads="1"/>
            </p:cNvSpPr>
            <p:nvPr/>
          </p:nvSpPr>
          <p:spPr bwMode="auto">
            <a:xfrm>
              <a:off x="7948242" y="2340801"/>
              <a:ext cx="170362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什么是操作系统</a:t>
              </a:r>
            </a:p>
          </p:txBody>
        </p:sp>
        <p:sp>
          <p:nvSpPr>
            <p:cNvPr id="16" name="文本框 14"/>
            <p:cNvSpPr txBox="1">
              <a:spLocks noChangeArrowheads="1"/>
            </p:cNvSpPr>
            <p:nvPr/>
          </p:nvSpPr>
          <p:spPr bwMode="auto">
            <a:xfrm>
              <a:off x="7948242" y="2890121"/>
              <a:ext cx="192430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操作系统运行环境</a:t>
              </a:r>
            </a:p>
          </p:txBody>
        </p:sp>
        <p:sp>
          <p:nvSpPr>
            <p:cNvPr id="18" name="文本框 15"/>
            <p:cNvSpPr txBox="1">
              <a:spLocks noChangeArrowheads="1"/>
            </p:cNvSpPr>
            <p:nvPr/>
          </p:nvSpPr>
          <p:spPr bwMode="auto">
            <a:xfrm>
              <a:off x="7948242" y="3439441"/>
              <a:ext cx="236565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操作系统的形成与发展</a:t>
              </a:r>
            </a:p>
          </p:txBody>
        </p:sp>
        <p:sp>
          <p:nvSpPr>
            <p:cNvPr id="19" name="文本框 16"/>
            <p:cNvSpPr txBox="1">
              <a:spLocks noChangeArrowheads="1"/>
            </p:cNvSpPr>
            <p:nvPr/>
          </p:nvSpPr>
          <p:spPr bwMode="auto">
            <a:xfrm>
              <a:off x="7948242" y="3988761"/>
              <a:ext cx="214498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操作系统的主要功能</a:t>
              </a: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7496132" y="2317346"/>
              <a:ext cx="6062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708265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1.1</a:t>
              </a:r>
              <a:endParaRPr lang="zh-CN" altLang="en-US" sz="2400" dirty="0">
                <a:solidFill>
                  <a:srgbClr val="70826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496133" y="2866666"/>
              <a:ext cx="64643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708265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1.2</a:t>
              </a:r>
              <a:endParaRPr lang="zh-CN" altLang="en-US" sz="2400" dirty="0">
                <a:solidFill>
                  <a:srgbClr val="70826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7496132" y="3415986"/>
              <a:ext cx="6464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708265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1.3</a:t>
              </a:r>
              <a:endParaRPr lang="zh-CN" altLang="en-US" sz="2400" dirty="0">
                <a:solidFill>
                  <a:srgbClr val="70826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7496132" y="3965306"/>
              <a:ext cx="6464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708265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1.4</a:t>
              </a:r>
              <a:endParaRPr lang="zh-CN" altLang="en-US" sz="2400" dirty="0">
                <a:solidFill>
                  <a:srgbClr val="70826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4806642" y="2938055"/>
              <a:ext cx="2088107" cy="992892"/>
              <a:chOff x="2995095" y="2938055"/>
              <a:chExt cx="2088107" cy="992892"/>
            </a:xfrm>
          </p:grpSpPr>
          <p:grpSp>
            <p:nvGrpSpPr>
              <p:cNvPr id="25" name="组合 24"/>
              <p:cNvGrpSpPr/>
              <p:nvPr/>
            </p:nvGrpSpPr>
            <p:grpSpPr>
              <a:xfrm>
                <a:off x="2995095" y="2938055"/>
                <a:ext cx="2088107" cy="992892"/>
                <a:chOff x="3053227" y="2938055"/>
                <a:chExt cx="2088107" cy="992892"/>
              </a:xfrm>
            </p:grpSpPr>
            <p:sp>
              <p:nvSpPr>
                <p:cNvPr id="28" name="文本框 27"/>
                <p:cNvSpPr txBox="1"/>
                <p:nvPr/>
              </p:nvSpPr>
              <p:spPr>
                <a:xfrm>
                  <a:off x="3630124" y="3469282"/>
                  <a:ext cx="127415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400" dirty="0">
                      <a:solidFill>
                        <a:srgbClr val="708265"/>
                      </a:solidFill>
                      <a:latin typeface="Impact" panose="020B0806030902050204" pitchFamily="34" charset="0"/>
                      <a:ea typeface="微软雅黑 Light" panose="020B0502040204020203" pitchFamily="34" charset="-122"/>
                    </a:rPr>
                    <a:t>CONTENT</a:t>
                  </a:r>
                  <a:endParaRPr lang="zh-CN" altLang="en-US" sz="2400" dirty="0">
                    <a:solidFill>
                      <a:srgbClr val="708265"/>
                    </a:solidFill>
                    <a:latin typeface="Impact" panose="020B0806030902050204" pitchFamily="34" charset="0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9" name="文本框 28"/>
                <p:cNvSpPr txBox="1"/>
                <p:nvPr/>
              </p:nvSpPr>
              <p:spPr>
                <a:xfrm>
                  <a:off x="3053227" y="2938055"/>
                  <a:ext cx="2088107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3600" dirty="0">
                      <a:solidFill>
                        <a:srgbClr val="708265"/>
                      </a:solidFill>
                      <a:latin typeface="方正清刻本悦宋简体" panose="02000000000000000000" pitchFamily="2" charset="-122"/>
                      <a:ea typeface="方正清刻本悦宋简体" panose="02000000000000000000" pitchFamily="2" charset="-122"/>
                    </a:rPr>
                    <a:t>第一章</a:t>
                  </a:r>
                </a:p>
              </p:txBody>
            </p:sp>
          </p:grpSp>
          <p:sp>
            <p:nvSpPr>
              <p:cNvPr id="26" name="L 形 25"/>
              <p:cNvSpPr/>
              <p:nvPr/>
            </p:nvSpPr>
            <p:spPr>
              <a:xfrm rot="2493705" flipH="1" flipV="1">
                <a:off x="4575036" y="3364836"/>
                <a:ext cx="54243" cy="54244"/>
              </a:xfrm>
              <a:prstGeom prst="corner">
                <a:avLst>
                  <a:gd name="adj1" fmla="val 15149"/>
                  <a:gd name="adj2" fmla="val 17140"/>
                </a:avLst>
              </a:prstGeom>
              <a:solidFill>
                <a:srgbClr val="708265"/>
              </a:solidFill>
              <a:ln>
                <a:solidFill>
                  <a:srgbClr val="70826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L 形 26"/>
              <p:cNvSpPr/>
              <p:nvPr/>
            </p:nvSpPr>
            <p:spPr>
              <a:xfrm rot="2493705" flipH="1" flipV="1">
                <a:off x="4649233" y="3364836"/>
                <a:ext cx="54243" cy="54244"/>
              </a:xfrm>
              <a:prstGeom prst="corner">
                <a:avLst>
                  <a:gd name="adj1" fmla="val 15149"/>
                  <a:gd name="adj2" fmla="val 17140"/>
                </a:avLst>
              </a:prstGeom>
              <a:solidFill>
                <a:srgbClr val="708265"/>
              </a:solidFill>
              <a:ln>
                <a:solidFill>
                  <a:srgbClr val="70826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96907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1901372" y="1638300"/>
            <a:ext cx="882372" cy="781051"/>
          </a:xfrm>
          <a:prstGeom prst="round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609258" y="1638299"/>
            <a:ext cx="892232" cy="781051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4" name="等腰三角形 3"/>
          <p:cNvSpPr/>
          <p:nvPr/>
        </p:nvSpPr>
        <p:spPr>
          <a:xfrm rot="5400000">
            <a:off x="3250964" y="1905494"/>
            <a:ext cx="769145" cy="258567"/>
          </a:xfrm>
          <a:prstGeom prst="triangle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1" name="圆角矩形 60"/>
          <p:cNvSpPr/>
          <p:nvPr/>
        </p:nvSpPr>
        <p:spPr>
          <a:xfrm>
            <a:off x="1901372" y="2768537"/>
            <a:ext cx="882372" cy="781051"/>
          </a:xfrm>
          <a:prstGeom prst="round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2609258" y="2768536"/>
            <a:ext cx="892232" cy="781051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5" name="等腰三角形 64"/>
          <p:cNvSpPr/>
          <p:nvPr/>
        </p:nvSpPr>
        <p:spPr>
          <a:xfrm rot="5400000">
            <a:off x="3250964" y="3035731"/>
            <a:ext cx="769145" cy="258567"/>
          </a:xfrm>
          <a:prstGeom prst="triangle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6" name="圆角矩形 65"/>
          <p:cNvSpPr/>
          <p:nvPr/>
        </p:nvSpPr>
        <p:spPr>
          <a:xfrm>
            <a:off x="1901372" y="3910680"/>
            <a:ext cx="882372" cy="781051"/>
          </a:xfrm>
          <a:prstGeom prst="round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2609258" y="3910679"/>
            <a:ext cx="892232" cy="781051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8" name="等腰三角形 67"/>
          <p:cNvSpPr/>
          <p:nvPr/>
        </p:nvSpPr>
        <p:spPr>
          <a:xfrm rot="5400000">
            <a:off x="3250964" y="4177874"/>
            <a:ext cx="769145" cy="258567"/>
          </a:xfrm>
          <a:prstGeom prst="triangle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9" name="圆角矩形 68"/>
          <p:cNvSpPr/>
          <p:nvPr/>
        </p:nvSpPr>
        <p:spPr>
          <a:xfrm>
            <a:off x="1901372" y="5040917"/>
            <a:ext cx="882372" cy="781051"/>
          </a:xfrm>
          <a:prstGeom prst="round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2609258" y="5040916"/>
            <a:ext cx="892232" cy="781051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71" name="等腰三角形 70"/>
          <p:cNvSpPr/>
          <p:nvPr/>
        </p:nvSpPr>
        <p:spPr>
          <a:xfrm rot="5400000">
            <a:off x="3250964" y="5308111"/>
            <a:ext cx="769145" cy="258567"/>
          </a:xfrm>
          <a:prstGeom prst="triangle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20487" name="文本框 5"/>
          <p:cNvSpPr txBox="1">
            <a:spLocks noChangeArrowheads="1"/>
          </p:cNvSpPr>
          <p:nvPr/>
        </p:nvSpPr>
        <p:spPr bwMode="auto">
          <a:xfrm>
            <a:off x="1958975" y="1736725"/>
            <a:ext cx="5921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</a:rPr>
              <a:t>01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20488" name="文本框 71"/>
          <p:cNvSpPr txBox="1">
            <a:spLocks noChangeArrowheads="1"/>
          </p:cNvSpPr>
          <p:nvPr/>
        </p:nvSpPr>
        <p:spPr bwMode="auto">
          <a:xfrm>
            <a:off x="1958975" y="2867025"/>
            <a:ext cx="646113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chemeClr val="bg1"/>
                </a:solidFill>
                <a:latin typeface="Impact" panose="020B0806030902050204" pitchFamily="34" charset="0"/>
              </a:rPr>
              <a:t>02</a:t>
            </a:r>
            <a:endParaRPr lang="zh-CN" altLang="en-US" sz="32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20489" name="文本框 87"/>
          <p:cNvSpPr txBox="1">
            <a:spLocks noChangeArrowheads="1"/>
          </p:cNvSpPr>
          <p:nvPr/>
        </p:nvSpPr>
        <p:spPr bwMode="auto">
          <a:xfrm>
            <a:off x="1958975" y="4008438"/>
            <a:ext cx="64611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</a:rPr>
              <a:t>03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20490" name="文本框 88"/>
          <p:cNvSpPr txBox="1">
            <a:spLocks noChangeArrowheads="1"/>
          </p:cNvSpPr>
          <p:nvPr/>
        </p:nvSpPr>
        <p:spPr bwMode="auto">
          <a:xfrm>
            <a:off x="1958975" y="5138738"/>
            <a:ext cx="64611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chemeClr val="bg1"/>
                </a:solidFill>
                <a:latin typeface="Impact" panose="020B0806030902050204" pitchFamily="34" charset="0"/>
              </a:rPr>
              <a:t>04</a:t>
            </a:r>
            <a:endParaRPr lang="zh-CN" altLang="en-US" sz="32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90" name="AutoShape 115"/>
          <p:cNvSpPr>
            <a:spLocks/>
          </p:cNvSpPr>
          <p:nvPr/>
        </p:nvSpPr>
        <p:spPr bwMode="auto">
          <a:xfrm>
            <a:off x="2857500" y="1808163"/>
            <a:ext cx="401638" cy="44132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1357" y="18801"/>
                </a:moveTo>
                <a:cubicBezTo>
                  <a:pt x="21518" y="18965"/>
                  <a:pt x="21599" y="19177"/>
                  <a:pt x="21599" y="19436"/>
                </a:cubicBezTo>
                <a:cubicBezTo>
                  <a:pt x="21599" y="19580"/>
                  <a:pt x="21518" y="19775"/>
                  <a:pt x="21357" y="20018"/>
                </a:cubicBezTo>
                <a:cubicBezTo>
                  <a:pt x="21193" y="20261"/>
                  <a:pt x="20989" y="20504"/>
                  <a:pt x="20746" y="20741"/>
                </a:cubicBezTo>
                <a:cubicBezTo>
                  <a:pt x="20503" y="20978"/>
                  <a:pt x="20260" y="21184"/>
                  <a:pt x="20023" y="21348"/>
                </a:cubicBezTo>
                <a:cubicBezTo>
                  <a:pt x="19783" y="21518"/>
                  <a:pt x="19593" y="21599"/>
                  <a:pt x="19447" y="21599"/>
                </a:cubicBezTo>
                <a:cubicBezTo>
                  <a:pt x="19189" y="21599"/>
                  <a:pt x="18975" y="21515"/>
                  <a:pt x="18811" y="21343"/>
                </a:cubicBezTo>
                <a:lnTo>
                  <a:pt x="13957" y="16502"/>
                </a:lnTo>
                <a:cubicBezTo>
                  <a:pt x="13217" y="16980"/>
                  <a:pt x="12428" y="17350"/>
                  <a:pt x="11589" y="17604"/>
                </a:cubicBezTo>
                <a:cubicBezTo>
                  <a:pt x="10750" y="17864"/>
                  <a:pt x="9891" y="17991"/>
                  <a:pt x="9007" y="17991"/>
                </a:cubicBezTo>
                <a:cubicBezTo>
                  <a:pt x="7769" y="17991"/>
                  <a:pt x="6608" y="17759"/>
                  <a:pt x="5517" y="17290"/>
                </a:cubicBezTo>
                <a:cubicBezTo>
                  <a:pt x="4427" y="16822"/>
                  <a:pt x="3469" y="16175"/>
                  <a:pt x="2644" y="15353"/>
                </a:cubicBezTo>
                <a:cubicBezTo>
                  <a:pt x="1816" y="14534"/>
                  <a:pt x="1172" y="13580"/>
                  <a:pt x="700" y="12487"/>
                </a:cubicBezTo>
                <a:cubicBezTo>
                  <a:pt x="231" y="11400"/>
                  <a:pt x="0" y="10236"/>
                  <a:pt x="0" y="8999"/>
                </a:cubicBezTo>
                <a:cubicBezTo>
                  <a:pt x="0" y="7768"/>
                  <a:pt x="231" y="6602"/>
                  <a:pt x="700" y="5515"/>
                </a:cubicBezTo>
                <a:cubicBezTo>
                  <a:pt x="1169" y="4422"/>
                  <a:pt x="1816" y="3467"/>
                  <a:pt x="2644" y="2645"/>
                </a:cubicBezTo>
                <a:cubicBezTo>
                  <a:pt x="3469" y="1827"/>
                  <a:pt x="4424" y="1180"/>
                  <a:pt x="5512" y="708"/>
                </a:cubicBezTo>
                <a:cubicBezTo>
                  <a:pt x="6600" y="237"/>
                  <a:pt x="7764" y="0"/>
                  <a:pt x="9007" y="0"/>
                </a:cubicBezTo>
                <a:cubicBezTo>
                  <a:pt x="10244" y="0"/>
                  <a:pt x="11403" y="237"/>
                  <a:pt x="12488" y="708"/>
                </a:cubicBezTo>
                <a:cubicBezTo>
                  <a:pt x="13573" y="1180"/>
                  <a:pt x="14530" y="1827"/>
                  <a:pt x="15358" y="2645"/>
                </a:cubicBezTo>
                <a:cubicBezTo>
                  <a:pt x="16183" y="3467"/>
                  <a:pt x="16830" y="4422"/>
                  <a:pt x="17299" y="5515"/>
                </a:cubicBezTo>
                <a:cubicBezTo>
                  <a:pt x="17768" y="6602"/>
                  <a:pt x="18003" y="7768"/>
                  <a:pt x="18003" y="8999"/>
                </a:cubicBezTo>
                <a:cubicBezTo>
                  <a:pt x="18003" y="9886"/>
                  <a:pt x="17873" y="10747"/>
                  <a:pt x="17616" y="11589"/>
                </a:cubicBezTo>
                <a:cubicBezTo>
                  <a:pt x="17359" y="12433"/>
                  <a:pt x="16991" y="13218"/>
                  <a:pt x="16514" y="13947"/>
                </a:cubicBezTo>
                <a:lnTo>
                  <a:pt x="21357" y="18801"/>
                </a:lnTo>
                <a:close/>
                <a:moveTo>
                  <a:pt x="3596" y="8999"/>
                </a:moveTo>
                <a:cubicBezTo>
                  <a:pt x="3596" y="9759"/>
                  <a:pt x="3740" y="10465"/>
                  <a:pt x="4028" y="11117"/>
                </a:cubicBezTo>
                <a:cubicBezTo>
                  <a:pt x="4317" y="11770"/>
                  <a:pt x="4707" y="12337"/>
                  <a:pt x="5193" y="12820"/>
                </a:cubicBezTo>
                <a:cubicBezTo>
                  <a:pt x="5679" y="13300"/>
                  <a:pt x="6252" y="13684"/>
                  <a:pt x="6908" y="13969"/>
                </a:cubicBezTo>
                <a:cubicBezTo>
                  <a:pt x="7566" y="14252"/>
                  <a:pt x="8264" y="14393"/>
                  <a:pt x="9004" y="14393"/>
                </a:cubicBezTo>
                <a:cubicBezTo>
                  <a:pt x="9744" y="14393"/>
                  <a:pt x="10439" y="14252"/>
                  <a:pt x="11092" y="13969"/>
                </a:cubicBezTo>
                <a:cubicBezTo>
                  <a:pt x="11745" y="13684"/>
                  <a:pt x="12318" y="13300"/>
                  <a:pt x="12801" y="12820"/>
                </a:cubicBezTo>
                <a:cubicBezTo>
                  <a:pt x="13290" y="12337"/>
                  <a:pt x="13677" y="11770"/>
                  <a:pt x="13965" y="11117"/>
                </a:cubicBezTo>
                <a:cubicBezTo>
                  <a:pt x="14254" y="10465"/>
                  <a:pt x="14398" y="9759"/>
                  <a:pt x="14398" y="8999"/>
                </a:cubicBezTo>
                <a:cubicBezTo>
                  <a:pt x="14398" y="8259"/>
                  <a:pt x="14254" y="7565"/>
                  <a:pt x="13965" y="6912"/>
                </a:cubicBezTo>
                <a:cubicBezTo>
                  <a:pt x="13674" y="6257"/>
                  <a:pt x="13290" y="5684"/>
                  <a:pt x="12801" y="5192"/>
                </a:cubicBezTo>
                <a:cubicBezTo>
                  <a:pt x="12315" y="4704"/>
                  <a:pt x="11745" y="4317"/>
                  <a:pt x="11092" y="4032"/>
                </a:cubicBezTo>
                <a:cubicBezTo>
                  <a:pt x="10439" y="3749"/>
                  <a:pt x="9741" y="3605"/>
                  <a:pt x="9004" y="3605"/>
                </a:cubicBezTo>
                <a:cubicBezTo>
                  <a:pt x="8267" y="3605"/>
                  <a:pt x="7566" y="3749"/>
                  <a:pt x="6908" y="4032"/>
                </a:cubicBezTo>
                <a:cubicBezTo>
                  <a:pt x="6252" y="4317"/>
                  <a:pt x="5676" y="4704"/>
                  <a:pt x="5193" y="5192"/>
                </a:cubicBezTo>
                <a:cubicBezTo>
                  <a:pt x="4707" y="5684"/>
                  <a:pt x="4317" y="6257"/>
                  <a:pt x="4028" y="6912"/>
                </a:cubicBezTo>
                <a:cubicBezTo>
                  <a:pt x="3740" y="7565"/>
                  <a:pt x="3596" y="8256"/>
                  <a:pt x="3596" y="8999"/>
                </a:cubicBezTo>
                <a:moveTo>
                  <a:pt x="9007" y="5591"/>
                </a:moveTo>
                <a:cubicBezTo>
                  <a:pt x="9185" y="5591"/>
                  <a:pt x="9343" y="5656"/>
                  <a:pt x="9473" y="5785"/>
                </a:cubicBezTo>
                <a:cubicBezTo>
                  <a:pt x="9603" y="5918"/>
                  <a:pt x="9668" y="6082"/>
                  <a:pt x="9668" y="6279"/>
                </a:cubicBezTo>
                <a:cubicBezTo>
                  <a:pt x="9668" y="6460"/>
                  <a:pt x="9603" y="6616"/>
                  <a:pt x="9473" y="6745"/>
                </a:cubicBezTo>
                <a:cubicBezTo>
                  <a:pt x="9343" y="6878"/>
                  <a:pt x="9185" y="6943"/>
                  <a:pt x="9007" y="6943"/>
                </a:cubicBezTo>
                <a:cubicBezTo>
                  <a:pt x="8439" y="6943"/>
                  <a:pt x="7953" y="7144"/>
                  <a:pt x="7552" y="7536"/>
                </a:cubicBezTo>
                <a:cubicBezTo>
                  <a:pt x="7151" y="7934"/>
                  <a:pt x="6950" y="8423"/>
                  <a:pt x="6950" y="8996"/>
                </a:cubicBezTo>
                <a:cubicBezTo>
                  <a:pt x="6950" y="9180"/>
                  <a:pt x="6885" y="9332"/>
                  <a:pt x="6755" y="9465"/>
                </a:cubicBezTo>
                <a:cubicBezTo>
                  <a:pt x="6622" y="9595"/>
                  <a:pt x="6467" y="9657"/>
                  <a:pt x="6289" y="9657"/>
                </a:cubicBezTo>
                <a:cubicBezTo>
                  <a:pt x="6080" y="9657"/>
                  <a:pt x="5913" y="9595"/>
                  <a:pt x="5786" y="9465"/>
                </a:cubicBezTo>
                <a:cubicBezTo>
                  <a:pt x="5659" y="9332"/>
                  <a:pt x="5599" y="9180"/>
                  <a:pt x="5599" y="8996"/>
                </a:cubicBezTo>
                <a:cubicBezTo>
                  <a:pt x="5599" y="8539"/>
                  <a:pt x="5684" y="8104"/>
                  <a:pt x="5862" y="7686"/>
                </a:cubicBezTo>
                <a:cubicBezTo>
                  <a:pt x="6037" y="7271"/>
                  <a:pt x="6280" y="6907"/>
                  <a:pt x="6597" y="6590"/>
                </a:cubicBezTo>
                <a:cubicBezTo>
                  <a:pt x="6905" y="6277"/>
                  <a:pt x="7264" y="6028"/>
                  <a:pt x="7676" y="5856"/>
                </a:cubicBezTo>
                <a:cubicBezTo>
                  <a:pt x="8086" y="5681"/>
                  <a:pt x="8529" y="5591"/>
                  <a:pt x="9007" y="5591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101578" tIns="101578" rIns="101578" bIns="101578" anchor="ctr"/>
          <a:lstStyle/>
          <a:p>
            <a:pPr defTabSz="91419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5800" dirty="0">
              <a:solidFill>
                <a:srgbClr val="44CEB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" charset="0"/>
              <a:ea typeface="+mn-ea"/>
              <a:cs typeface="Gill Sans" charset="0"/>
              <a:sym typeface="Gill Sans" charset="0"/>
            </a:endParaRPr>
          </a:p>
        </p:txBody>
      </p:sp>
      <p:sp>
        <p:nvSpPr>
          <p:cNvPr id="91" name="AutoShape 29"/>
          <p:cNvSpPr>
            <a:spLocks/>
          </p:cNvSpPr>
          <p:nvPr/>
        </p:nvSpPr>
        <p:spPr bwMode="auto">
          <a:xfrm>
            <a:off x="2857500" y="2943225"/>
            <a:ext cx="430213" cy="4318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3598" y="2167"/>
                </a:moveTo>
                <a:cubicBezTo>
                  <a:pt x="3598" y="2549"/>
                  <a:pt x="3517" y="2902"/>
                  <a:pt x="3358" y="3213"/>
                </a:cubicBezTo>
                <a:cubicBezTo>
                  <a:pt x="3197" y="3525"/>
                  <a:pt x="2981" y="3792"/>
                  <a:pt x="2707" y="4006"/>
                </a:cubicBezTo>
                <a:lnTo>
                  <a:pt x="2707" y="21050"/>
                </a:lnTo>
                <a:cubicBezTo>
                  <a:pt x="2707" y="21203"/>
                  <a:pt x="2663" y="21329"/>
                  <a:pt x="2580" y="21438"/>
                </a:cubicBezTo>
                <a:cubicBezTo>
                  <a:pt x="2492" y="21547"/>
                  <a:pt x="2386" y="21599"/>
                  <a:pt x="2262" y="21599"/>
                </a:cubicBezTo>
                <a:lnTo>
                  <a:pt x="1348" y="21599"/>
                </a:lnTo>
                <a:cubicBezTo>
                  <a:pt x="1221" y="21599"/>
                  <a:pt x="1118" y="21544"/>
                  <a:pt x="1038" y="21438"/>
                </a:cubicBezTo>
                <a:cubicBezTo>
                  <a:pt x="954" y="21329"/>
                  <a:pt x="913" y="21203"/>
                  <a:pt x="913" y="21050"/>
                </a:cubicBezTo>
                <a:lnTo>
                  <a:pt x="913" y="4006"/>
                </a:lnTo>
                <a:cubicBezTo>
                  <a:pt x="641" y="3792"/>
                  <a:pt x="421" y="3525"/>
                  <a:pt x="252" y="3213"/>
                </a:cubicBezTo>
                <a:cubicBezTo>
                  <a:pt x="83" y="2902"/>
                  <a:pt x="0" y="2549"/>
                  <a:pt x="0" y="2167"/>
                </a:cubicBezTo>
                <a:cubicBezTo>
                  <a:pt x="0" y="1574"/>
                  <a:pt x="176" y="1069"/>
                  <a:pt x="528" y="640"/>
                </a:cubicBezTo>
                <a:cubicBezTo>
                  <a:pt x="878" y="211"/>
                  <a:pt x="1304" y="0"/>
                  <a:pt x="1804" y="0"/>
                </a:cubicBezTo>
                <a:cubicBezTo>
                  <a:pt x="2296" y="0"/>
                  <a:pt x="2719" y="211"/>
                  <a:pt x="3069" y="640"/>
                </a:cubicBezTo>
                <a:cubicBezTo>
                  <a:pt x="3422" y="1069"/>
                  <a:pt x="3598" y="1571"/>
                  <a:pt x="3598" y="2167"/>
                </a:cubicBezTo>
                <a:moveTo>
                  <a:pt x="20838" y="2476"/>
                </a:moveTo>
                <a:cubicBezTo>
                  <a:pt x="21063" y="2323"/>
                  <a:pt x="21247" y="2297"/>
                  <a:pt x="21389" y="2391"/>
                </a:cubicBezTo>
                <a:cubicBezTo>
                  <a:pt x="21529" y="2485"/>
                  <a:pt x="21599" y="2684"/>
                  <a:pt x="21599" y="2996"/>
                </a:cubicBezTo>
                <a:lnTo>
                  <a:pt x="21599" y="13515"/>
                </a:lnTo>
                <a:cubicBezTo>
                  <a:pt x="21599" y="13803"/>
                  <a:pt x="21526" y="14106"/>
                  <a:pt x="21382" y="14420"/>
                </a:cubicBezTo>
                <a:cubicBezTo>
                  <a:pt x="21237" y="14737"/>
                  <a:pt x="21056" y="14966"/>
                  <a:pt x="20838" y="15119"/>
                </a:cubicBezTo>
                <a:cubicBezTo>
                  <a:pt x="19954" y="15757"/>
                  <a:pt x="19146" y="16165"/>
                  <a:pt x="18412" y="16350"/>
                </a:cubicBezTo>
                <a:cubicBezTo>
                  <a:pt x="17678" y="16529"/>
                  <a:pt x="17036" y="16606"/>
                  <a:pt x="16490" y="16567"/>
                </a:cubicBezTo>
                <a:cubicBezTo>
                  <a:pt x="15849" y="16526"/>
                  <a:pt x="15281" y="16371"/>
                  <a:pt x="14791" y="16103"/>
                </a:cubicBezTo>
                <a:cubicBezTo>
                  <a:pt x="14392" y="15851"/>
                  <a:pt x="14003" y="15607"/>
                  <a:pt x="13623" y="15378"/>
                </a:cubicBezTo>
                <a:cubicBezTo>
                  <a:pt x="13244" y="15146"/>
                  <a:pt x="12857" y="14946"/>
                  <a:pt x="12458" y="14773"/>
                </a:cubicBezTo>
                <a:cubicBezTo>
                  <a:pt x="12059" y="14599"/>
                  <a:pt x="11640" y="14461"/>
                  <a:pt x="11197" y="14358"/>
                </a:cubicBezTo>
                <a:cubicBezTo>
                  <a:pt x="10757" y="14256"/>
                  <a:pt x="10269" y="14203"/>
                  <a:pt x="9738" y="14203"/>
                </a:cubicBezTo>
                <a:cubicBezTo>
                  <a:pt x="9310" y="14220"/>
                  <a:pt x="8825" y="14306"/>
                  <a:pt x="8286" y="14455"/>
                </a:cubicBezTo>
                <a:cubicBezTo>
                  <a:pt x="7824" y="14588"/>
                  <a:pt x="7266" y="14799"/>
                  <a:pt x="6605" y="15090"/>
                </a:cubicBezTo>
                <a:cubicBezTo>
                  <a:pt x="5944" y="15381"/>
                  <a:pt x="5207" y="15792"/>
                  <a:pt x="4394" y="16327"/>
                </a:cubicBezTo>
                <a:cubicBezTo>
                  <a:pt x="4169" y="16476"/>
                  <a:pt x="3978" y="16494"/>
                  <a:pt x="3826" y="16382"/>
                </a:cubicBezTo>
                <a:cubicBezTo>
                  <a:pt x="3674" y="16268"/>
                  <a:pt x="3598" y="16059"/>
                  <a:pt x="3598" y="15751"/>
                </a:cubicBezTo>
                <a:lnTo>
                  <a:pt x="3598" y="5273"/>
                </a:lnTo>
                <a:cubicBezTo>
                  <a:pt x="3598" y="4964"/>
                  <a:pt x="3674" y="4653"/>
                  <a:pt x="3826" y="4347"/>
                </a:cubicBezTo>
                <a:cubicBezTo>
                  <a:pt x="3978" y="4036"/>
                  <a:pt x="4169" y="3807"/>
                  <a:pt x="4394" y="3654"/>
                </a:cubicBezTo>
                <a:cubicBezTo>
                  <a:pt x="5207" y="3143"/>
                  <a:pt x="5941" y="2737"/>
                  <a:pt x="6597" y="2447"/>
                </a:cubicBezTo>
                <a:cubicBezTo>
                  <a:pt x="7253" y="2156"/>
                  <a:pt x="7816" y="1944"/>
                  <a:pt x="8286" y="1812"/>
                </a:cubicBezTo>
                <a:cubicBezTo>
                  <a:pt x="8832" y="1665"/>
                  <a:pt x="9317" y="1580"/>
                  <a:pt x="9738" y="1559"/>
                </a:cubicBezTo>
                <a:cubicBezTo>
                  <a:pt x="10269" y="1559"/>
                  <a:pt x="10757" y="1612"/>
                  <a:pt x="11197" y="1715"/>
                </a:cubicBezTo>
                <a:cubicBezTo>
                  <a:pt x="11640" y="1818"/>
                  <a:pt x="12059" y="1956"/>
                  <a:pt x="12458" y="2135"/>
                </a:cubicBezTo>
                <a:cubicBezTo>
                  <a:pt x="12857" y="2306"/>
                  <a:pt x="13242" y="2508"/>
                  <a:pt x="13619" y="2737"/>
                </a:cubicBezTo>
                <a:cubicBezTo>
                  <a:pt x="13993" y="2967"/>
                  <a:pt x="14385" y="3207"/>
                  <a:pt x="14791" y="3463"/>
                </a:cubicBezTo>
                <a:cubicBezTo>
                  <a:pt x="15281" y="3736"/>
                  <a:pt x="15849" y="3889"/>
                  <a:pt x="16490" y="3924"/>
                </a:cubicBezTo>
                <a:cubicBezTo>
                  <a:pt x="17036" y="3965"/>
                  <a:pt x="17678" y="3889"/>
                  <a:pt x="18412" y="3707"/>
                </a:cubicBezTo>
                <a:cubicBezTo>
                  <a:pt x="19146" y="3522"/>
                  <a:pt x="19957" y="3113"/>
                  <a:pt x="20838" y="2476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101578" tIns="101578" rIns="101578" bIns="101578" anchor="ctr"/>
          <a:lstStyle/>
          <a:p>
            <a:pPr defTabSz="91419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5800" dirty="0">
              <a:solidFill>
                <a:srgbClr val="44CEB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" charset="0"/>
              <a:ea typeface="+mn-ea"/>
              <a:cs typeface="Gill Sans" charset="0"/>
              <a:sym typeface="Gill Sans" charset="0"/>
            </a:endParaRPr>
          </a:p>
        </p:txBody>
      </p:sp>
      <p:grpSp>
        <p:nvGrpSpPr>
          <p:cNvPr id="92" name="Group 2"/>
          <p:cNvGrpSpPr>
            <a:grpSpLocks/>
          </p:cNvGrpSpPr>
          <p:nvPr/>
        </p:nvGrpSpPr>
        <p:grpSpPr bwMode="auto">
          <a:xfrm>
            <a:off x="2857096" y="4084327"/>
            <a:ext cx="413920" cy="409944"/>
            <a:chOff x="1569458" y="688424"/>
            <a:chExt cx="334962" cy="331788"/>
          </a:xfrm>
          <a:solidFill>
            <a:srgbClr val="FFFFFF"/>
          </a:solidFill>
        </p:grpSpPr>
        <p:sp>
          <p:nvSpPr>
            <p:cNvPr id="93" name="Freeform 11"/>
            <p:cNvSpPr>
              <a:spLocks noChangeArrowheads="1"/>
            </p:cNvSpPr>
            <p:nvPr/>
          </p:nvSpPr>
          <p:spPr bwMode="auto">
            <a:xfrm>
              <a:off x="1587500" y="901699"/>
              <a:ext cx="42863" cy="77788"/>
            </a:xfrm>
            <a:custGeom>
              <a:avLst/>
              <a:gdLst>
                <a:gd name="T0" fmla="*/ 0 w 118"/>
                <a:gd name="T1" fmla="*/ 183 h 218"/>
                <a:gd name="T2" fmla="*/ 25 w 118"/>
                <a:gd name="T3" fmla="*/ 217 h 218"/>
                <a:gd name="T4" fmla="*/ 84 w 118"/>
                <a:gd name="T5" fmla="*/ 217 h 218"/>
                <a:gd name="T6" fmla="*/ 117 w 118"/>
                <a:gd name="T7" fmla="*/ 183 h 218"/>
                <a:gd name="T8" fmla="*/ 117 w 118"/>
                <a:gd name="T9" fmla="*/ 0 h 218"/>
                <a:gd name="T10" fmla="*/ 17 w 118"/>
                <a:gd name="T11" fmla="*/ 91 h 218"/>
                <a:gd name="T12" fmla="*/ 0 w 118"/>
                <a:gd name="T13" fmla="*/ 75 h 218"/>
                <a:gd name="T14" fmla="*/ 0 w 118"/>
                <a:gd name="T15" fmla="*/ 183 h 218"/>
                <a:gd name="T16" fmla="*/ 0 w 118"/>
                <a:gd name="T17" fmla="*/ 183 h 218"/>
                <a:gd name="T18" fmla="*/ 0 w 118"/>
                <a:gd name="T19" fmla="*/ 18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8" h="218">
                  <a:moveTo>
                    <a:pt x="0" y="183"/>
                  </a:moveTo>
                  <a:cubicBezTo>
                    <a:pt x="0" y="200"/>
                    <a:pt x="8" y="217"/>
                    <a:pt x="25" y="217"/>
                  </a:cubicBezTo>
                  <a:cubicBezTo>
                    <a:pt x="84" y="217"/>
                    <a:pt x="84" y="217"/>
                    <a:pt x="84" y="217"/>
                  </a:cubicBezTo>
                  <a:cubicBezTo>
                    <a:pt x="100" y="217"/>
                    <a:pt x="117" y="200"/>
                    <a:pt x="117" y="183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" y="91"/>
                    <a:pt x="17" y="91"/>
                    <a:pt x="17" y="91"/>
                  </a:cubicBezTo>
                  <a:cubicBezTo>
                    <a:pt x="0" y="75"/>
                    <a:pt x="0" y="75"/>
                    <a:pt x="0" y="75"/>
                  </a:cubicBezTo>
                  <a:lnTo>
                    <a:pt x="0" y="183"/>
                  </a:lnTo>
                  <a:close/>
                  <a:moveTo>
                    <a:pt x="0" y="183"/>
                  </a:moveTo>
                  <a:lnTo>
                    <a:pt x="0" y="183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94" name="Freeform 12"/>
            <p:cNvSpPr>
              <a:spLocks noChangeArrowheads="1"/>
            </p:cNvSpPr>
            <p:nvPr/>
          </p:nvSpPr>
          <p:spPr bwMode="auto">
            <a:xfrm>
              <a:off x="1657350" y="858837"/>
              <a:ext cx="42863" cy="120650"/>
            </a:xfrm>
            <a:custGeom>
              <a:avLst/>
              <a:gdLst>
                <a:gd name="T0" fmla="*/ 0 w 118"/>
                <a:gd name="T1" fmla="*/ 301 h 336"/>
                <a:gd name="T2" fmla="*/ 34 w 118"/>
                <a:gd name="T3" fmla="*/ 335 h 336"/>
                <a:gd name="T4" fmla="*/ 84 w 118"/>
                <a:gd name="T5" fmla="*/ 335 h 336"/>
                <a:gd name="T6" fmla="*/ 117 w 118"/>
                <a:gd name="T7" fmla="*/ 301 h 336"/>
                <a:gd name="T8" fmla="*/ 117 w 118"/>
                <a:gd name="T9" fmla="*/ 76 h 336"/>
                <a:gd name="T10" fmla="*/ 42 w 118"/>
                <a:gd name="T11" fmla="*/ 0 h 336"/>
                <a:gd name="T12" fmla="*/ 0 w 118"/>
                <a:gd name="T13" fmla="*/ 42 h 336"/>
                <a:gd name="T14" fmla="*/ 0 w 118"/>
                <a:gd name="T15" fmla="*/ 301 h 336"/>
                <a:gd name="T16" fmla="*/ 0 w 118"/>
                <a:gd name="T17" fmla="*/ 301 h 336"/>
                <a:gd name="T18" fmla="*/ 0 w 118"/>
                <a:gd name="T19" fmla="*/ 301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8" h="336">
                  <a:moveTo>
                    <a:pt x="0" y="301"/>
                  </a:moveTo>
                  <a:cubicBezTo>
                    <a:pt x="0" y="318"/>
                    <a:pt x="17" y="335"/>
                    <a:pt x="34" y="335"/>
                  </a:cubicBezTo>
                  <a:cubicBezTo>
                    <a:pt x="84" y="335"/>
                    <a:pt x="84" y="335"/>
                    <a:pt x="84" y="335"/>
                  </a:cubicBezTo>
                  <a:cubicBezTo>
                    <a:pt x="101" y="335"/>
                    <a:pt x="117" y="318"/>
                    <a:pt x="117" y="301"/>
                  </a:cubicBezTo>
                  <a:cubicBezTo>
                    <a:pt x="117" y="76"/>
                    <a:pt x="117" y="76"/>
                    <a:pt x="117" y="76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0" y="301"/>
                  </a:lnTo>
                  <a:close/>
                  <a:moveTo>
                    <a:pt x="0" y="301"/>
                  </a:moveTo>
                  <a:lnTo>
                    <a:pt x="0" y="301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95" name="Freeform 13"/>
            <p:cNvSpPr>
              <a:spLocks noChangeArrowheads="1"/>
            </p:cNvSpPr>
            <p:nvPr/>
          </p:nvSpPr>
          <p:spPr bwMode="auto">
            <a:xfrm>
              <a:off x="1727200" y="858837"/>
              <a:ext cx="42863" cy="120650"/>
            </a:xfrm>
            <a:custGeom>
              <a:avLst/>
              <a:gdLst>
                <a:gd name="T0" fmla="*/ 92 w 118"/>
                <a:gd name="T1" fmla="*/ 335 h 336"/>
                <a:gd name="T2" fmla="*/ 117 w 118"/>
                <a:gd name="T3" fmla="*/ 301 h 336"/>
                <a:gd name="T4" fmla="*/ 117 w 118"/>
                <a:gd name="T5" fmla="*/ 0 h 336"/>
                <a:gd name="T6" fmla="*/ 0 w 118"/>
                <a:gd name="T7" fmla="*/ 118 h 336"/>
                <a:gd name="T8" fmla="*/ 0 w 118"/>
                <a:gd name="T9" fmla="*/ 301 h 336"/>
                <a:gd name="T10" fmla="*/ 33 w 118"/>
                <a:gd name="T11" fmla="*/ 335 h 336"/>
                <a:gd name="T12" fmla="*/ 92 w 118"/>
                <a:gd name="T13" fmla="*/ 335 h 336"/>
                <a:gd name="T14" fmla="*/ 92 w 118"/>
                <a:gd name="T15" fmla="*/ 335 h 336"/>
                <a:gd name="T16" fmla="*/ 92 w 118"/>
                <a:gd name="T17" fmla="*/ 335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8" h="336">
                  <a:moveTo>
                    <a:pt x="92" y="335"/>
                  </a:moveTo>
                  <a:cubicBezTo>
                    <a:pt x="108" y="335"/>
                    <a:pt x="117" y="318"/>
                    <a:pt x="117" y="301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01"/>
                    <a:pt x="0" y="301"/>
                    <a:pt x="0" y="301"/>
                  </a:cubicBezTo>
                  <a:cubicBezTo>
                    <a:pt x="0" y="318"/>
                    <a:pt x="16" y="335"/>
                    <a:pt x="33" y="335"/>
                  </a:cubicBezTo>
                  <a:lnTo>
                    <a:pt x="92" y="335"/>
                  </a:lnTo>
                  <a:close/>
                  <a:moveTo>
                    <a:pt x="92" y="335"/>
                  </a:moveTo>
                  <a:lnTo>
                    <a:pt x="92" y="335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96" name="Freeform 14"/>
            <p:cNvSpPr>
              <a:spLocks noChangeArrowheads="1"/>
            </p:cNvSpPr>
            <p:nvPr/>
          </p:nvSpPr>
          <p:spPr bwMode="auto">
            <a:xfrm>
              <a:off x="1795463" y="817562"/>
              <a:ext cx="46037" cy="163512"/>
            </a:xfrm>
            <a:custGeom>
              <a:avLst/>
              <a:gdLst>
                <a:gd name="T0" fmla="*/ 0 w 126"/>
                <a:gd name="T1" fmla="*/ 41 h 452"/>
                <a:gd name="T2" fmla="*/ 0 w 126"/>
                <a:gd name="T3" fmla="*/ 417 h 452"/>
                <a:gd name="T4" fmla="*/ 33 w 126"/>
                <a:gd name="T5" fmla="*/ 451 h 452"/>
                <a:gd name="T6" fmla="*/ 92 w 126"/>
                <a:gd name="T7" fmla="*/ 451 h 452"/>
                <a:gd name="T8" fmla="*/ 125 w 126"/>
                <a:gd name="T9" fmla="*/ 417 h 452"/>
                <a:gd name="T10" fmla="*/ 125 w 126"/>
                <a:gd name="T11" fmla="*/ 66 h 452"/>
                <a:gd name="T12" fmla="*/ 50 w 126"/>
                <a:gd name="T13" fmla="*/ 0 h 452"/>
                <a:gd name="T14" fmla="*/ 0 w 126"/>
                <a:gd name="T15" fmla="*/ 41 h 452"/>
                <a:gd name="T16" fmla="*/ 0 w 126"/>
                <a:gd name="T17" fmla="*/ 41 h 452"/>
                <a:gd name="T18" fmla="*/ 0 w 126"/>
                <a:gd name="T19" fmla="*/ 41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6" h="452">
                  <a:moveTo>
                    <a:pt x="0" y="41"/>
                  </a:moveTo>
                  <a:cubicBezTo>
                    <a:pt x="0" y="417"/>
                    <a:pt x="0" y="417"/>
                    <a:pt x="0" y="417"/>
                  </a:cubicBezTo>
                  <a:cubicBezTo>
                    <a:pt x="0" y="434"/>
                    <a:pt x="17" y="451"/>
                    <a:pt x="33" y="451"/>
                  </a:cubicBezTo>
                  <a:cubicBezTo>
                    <a:pt x="92" y="451"/>
                    <a:pt x="92" y="451"/>
                    <a:pt x="92" y="451"/>
                  </a:cubicBezTo>
                  <a:cubicBezTo>
                    <a:pt x="109" y="451"/>
                    <a:pt x="125" y="434"/>
                    <a:pt x="125" y="417"/>
                  </a:cubicBezTo>
                  <a:cubicBezTo>
                    <a:pt x="125" y="66"/>
                    <a:pt x="125" y="66"/>
                    <a:pt x="125" y="66"/>
                  </a:cubicBezTo>
                  <a:cubicBezTo>
                    <a:pt x="50" y="0"/>
                    <a:pt x="50" y="0"/>
                    <a:pt x="50" y="0"/>
                  </a:cubicBezTo>
                  <a:lnTo>
                    <a:pt x="0" y="41"/>
                  </a:lnTo>
                  <a:close/>
                  <a:moveTo>
                    <a:pt x="0" y="41"/>
                  </a:moveTo>
                  <a:lnTo>
                    <a:pt x="0" y="41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97" name="Freeform 15"/>
            <p:cNvSpPr>
              <a:spLocks noChangeArrowheads="1"/>
            </p:cNvSpPr>
            <p:nvPr/>
          </p:nvSpPr>
          <p:spPr bwMode="auto">
            <a:xfrm>
              <a:off x="1576388" y="744537"/>
              <a:ext cx="261937" cy="163512"/>
            </a:xfrm>
            <a:custGeom>
              <a:avLst/>
              <a:gdLst>
                <a:gd name="T0" fmla="*/ 234 w 728"/>
                <a:gd name="T1" fmla="*/ 284 h 452"/>
                <a:gd name="T2" fmla="*/ 292 w 728"/>
                <a:gd name="T3" fmla="*/ 284 h 452"/>
                <a:gd name="T4" fmla="*/ 359 w 728"/>
                <a:gd name="T5" fmla="*/ 351 h 452"/>
                <a:gd name="T6" fmla="*/ 401 w 728"/>
                <a:gd name="T7" fmla="*/ 368 h 452"/>
                <a:gd name="T8" fmla="*/ 434 w 728"/>
                <a:gd name="T9" fmla="*/ 351 h 452"/>
                <a:gd name="T10" fmla="*/ 660 w 728"/>
                <a:gd name="T11" fmla="*/ 134 h 452"/>
                <a:gd name="T12" fmla="*/ 694 w 728"/>
                <a:gd name="T13" fmla="*/ 167 h 452"/>
                <a:gd name="T14" fmla="*/ 710 w 728"/>
                <a:gd name="T15" fmla="*/ 175 h 452"/>
                <a:gd name="T16" fmla="*/ 727 w 728"/>
                <a:gd name="T17" fmla="*/ 159 h 452"/>
                <a:gd name="T18" fmla="*/ 727 w 728"/>
                <a:gd name="T19" fmla="*/ 33 h 452"/>
                <a:gd name="T20" fmla="*/ 719 w 728"/>
                <a:gd name="T21" fmla="*/ 8 h 452"/>
                <a:gd name="T22" fmla="*/ 694 w 728"/>
                <a:gd name="T23" fmla="*/ 0 h 452"/>
                <a:gd name="T24" fmla="*/ 568 w 728"/>
                <a:gd name="T25" fmla="*/ 0 h 452"/>
                <a:gd name="T26" fmla="*/ 551 w 728"/>
                <a:gd name="T27" fmla="*/ 8 h 452"/>
                <a:gd name="T28" fmla="*/ 551 w 728"/>
                <a:gd name="T29" fmla="*/ 33 h 452"/>
                <a:gd name="T30" fmla="*/ 585 w 728"/>
                <a:gd name="T31" fmla="*/ 58 h 452"/>
                <a:gd name="T32" fmla="*/ 426 w 728"/>
                <a:gd name="T33" fmla="*/ 217 h 452"/>
                <a:gd name="T34" fmla="*/ 401 w 728"/>
                <a:gd name="T35" fmla="*/ 225 h 452"/>
                <a:gd name="T36" fmla="*/ 368 w 728"/>
                <a:gd name="T37" fmla="*/ 217 h 452"/>
                <a:gd name="T38" fmla="*/ 292 w 728"/>
                <a:gd name="T39" fmla="*/ 142 h 452"/>
                <a:gd name="T40" fmla="*/ 234 w 728"/>
                <a:gd name="T41" fmla="*/ 142 h 452"/>
                <a:gd name="T42" fmla="*/ 8 w 728"/>
                <a:gd name="T43" fmla="*/ 359 h 452"/>
                <a:gd name="T44" fmla="*/ 0 w 728"/>
                <a:gd name="T45" fmla="*/ 393 h 452"/>
                <a:gd name="T46" fmla="*/ 8 w 728"/>
                <a:gd name="T47" fmla="*/ 426 h 452"/>
                <a:gd name="T48" fmla="*/ 25 w 728"/>
                <a:gd name="T49" fmla="*/ 435 h 452"/>
                <a:gd name="T50" fmla="*/ 83 w 728"/>
                <a:gd name="T51" fmla="*/ 435 h 452"/>
                <a:gd name="T52" fmla="*/ 234 w 728"/>
                <a:gd name="T53" fmla="*/ 284 h 452"/>
                <a:gd name="T54" fmla="*/ 234 w 728"/>
                <a:gd name="T55" fmla="*/ 284 h 452"/>
                <a:gd name="T56" fmla="*/ 234 w 728"/>
                <a:gd name="T57" fmla="*/ 284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728" h="452">
                  <a:moveTo>
                    <a:pt x="234" y="284"/>
                  </a:moveTo>
                  <a:cubicBezTo>
                    <a:pt x="250" y="267"/>
                    <a:pt x="276" y="267"/>
                    <a:pt x="292" y="284"/>
                  </a:cubicBezTo>
                  <a:cubicBezTo>
                    <a:pt x="359" y="351"/>
                    <a:pt x="359" y="351"/>
                    <a:pt x="359" y="351"/>
                  </a:cubicBezTo>
                  <a:cubicBezTo>
                    <a:pt x="376" y="368"/>
                    <a:pt x="384" y="368"/>
                    <a:pt x="401" y="368"/>
                  </a:cubicBezTo>
                  <a:cubicBezTo>
                    <a:pt x="418" y="368"/>
                    <a:pt x="426" y="368"/>
                    <a:pt x="434" y="351"/>
                  </a:cubicBezTo>
                  <a:cubicBezTo>
                    <a:pt x="660" y="134"/>
                    <a:pt x="660" y="134"/>
                    <a:pt x="660" y="134"/>
                  </a:cubicBezTo>
                  <a:cubicBezTo>
                    <a:pt x="694" y="167"/>
                    <a:pt x="694" y="167"/>
                    <a:pt x="694" y="167"/>
                  </a:cubicBezTo>
                  <a:cubicBezTo>
                    <a:pt x="702" y="175"/>
                    <a:pt x="710" y="175"/>
                    <a:pt x="710" y="175"/>
                  </a:cubicBezTo>
                  <a:cubicBezTo>
                    <a:pt x="719" y="175"/>
                    <a:pt x="727" y="167"/>
                    <a:pt x="727" y="159"/>
                  </a:cubicBezTo>
                  <a:cubicBezTo>
                    <a:pt x="727" y="33"/>
                    <a:pt x="727" y="33"/>
                    <a:pt x="727" y="33"/>
                  </a:cubicBezTo>
                  <a:cubicBezTo>
                    <a:pt x="727" y="25"/>
                    <a:pt x="727" y="16"/>
                    <a:pt x="719" y="8"/>
                  </a:cubicBezTo>
                  <a:cubicBezTo>
                    <a:pt x="710" y="0"/>
                    <a:pt x="702" y="0"/>
                    <a:pt x="694" y="0"/>
                  </a:cubicBezTo>
                  <a:cubicBezTo>
                    <a:pt x="568" y="0"/>
                    <a:pt x="568" y="0"/>
                    <a:pt x="568" y="0"/>
                  </a:cubicBezTo>
                  <a:cubicBezTo>
                    <a:pt x="560" y="0"/>
                    <a:pt x="551" y="0"/>
                    <a:pt x="551" y="8"/>
                  </a:cubicBezTo>
                  <a:cubicBezTo>
                    <a:pt x="543" y="16"/>
                    <a:pt x="551" y="25"/>
                    <a:pt x="551" y="33"/>
                  </a:cubicBezTo>
                  <a:cubicBezTo>
                    <a:pt x="585" y="58"/>
                    <a:pt x="585" y="58"/>
                    <a:pt x="585" y="58"/>
                  </a:cubicBezTo>
                  <a:cubicBezTo>
                    <a:pt x="426" y="217"/>
                    <a:pt x="426" y="217"/>
                    <a:pt x="426" y="217"/>
                  </a:cubicBezTo>
                  <a:cubicBezTo>
                    <a:pt x="426" y="225"/>
                    <a:pt x="409" y="225"/>
                    <a:pt x="401" y="225"/>
                  </a:cubicBezTo>
                  <a:cubicBezTo>
                    <a:pt x="393" y="225"/>
                    <a:pt x="376" y="225"/>
                    <a:pt x="368" y="217"/>
                  </a:cubicBezTo>
                  <a:cubicBezTo>
                    <a:pt x="292" y="142"/>
                    <a:pt x="292" y="142"/>
                    <a:pt x="292" y="142"/>
                  </a:cubicBezTo>
                  <a:cubicBezTo>
                    <a:pt x="276" y="125"/>
                    <a:pt x="250" y="125"/>
                    <a:pt x="234" y="142"/>
                  </a:cubicBezTo>
                  <a:cubicBezTo>
                    <a:pt x="8" y="359"/>
                    <a:pt x="8" y="359"/>
                    <a:pt x="8" y="359"/>
                  </a:cubicBezTo>
                  <a:cubicBezTo>
                    <a:pt x="0" y="368"/>
                    <a:pt x="0" y="384"/>
                    <a:pt x="0" y="393"/>
                  </a:cubicBezTo>
                  <a:cubicBezTo>
                    <a:pt x="0" y="410"/>
                    <a:pt x="0" y="418"/>
                    <a:pt x="8" y="426"/>
                  </a:cubicBezTo>
                  <a:cubicBezTo>
                    <a:pt x="25" y="435"/>
                    <a:pt x="25" y="435"/>
                    <a:pt x="25" y="435"/>
                  </a:cubicBezTo>
                  <a:cubicBezTo>
                    <a:pt x="41" y="451"/>
                    <a:pt x="67" y="451"/>
                    <a:pt x="83" y="435"/>
                  </a:cubicBezTo>
                  <a:lnTo>
                    <a:pt x="234" y="284"/>
                  </a:lnTo>
                  <a:close/>
                  <a:moveTo>
                    <a:pt x="234" y="284"/>
                  </a:moveTo>
                  <a:lnTo>
                    <a:pt x="234" y="284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98" name="Freeform 16"/>
            <p:cNvSpPr>
              <a:spLocks noChangeArrowheads="1"/>
            </p:cNvSpPr>
            <p:nvPr/>
          </p:nvSpPr>
          <p:spPr bwMode="auto">
            <a:xfrm>
              <a:off x="1569458" y="688424"/>
              <a:ext cx="334962" cy="331788"/>
            </a:xfrm>
            <a:custGeom>
              <a:avLst/>
              <a:gdLst>
                <a:gd name="T0" fmla="*/ 887 w 929"/>
                <a:gd name="T1" fmla="*/ 0 h 921"/>
                <a:gd name="T2" fmla="*/ 836 w 929"/>
                <a:gd name="T3" fmla="*/ 50 h 921"/>
                <a:gd name="T4" fmla="*/ 836 w 929"/>
                <a:gd name="T5" fmla="*/ 837 h 921"/>
                <a:gd name="T6" fmla="*/ 51 w 929"/>
                <a:gd name="T7" fmla="*/ 837 h 921"/>
                <a:gd name="T8" fmla="*/ 0 w 929"/>
                <a:gd name="T9" fmla="*/ 878 h 921"/>
                <a:gd name="T10" fmla="*/ 51 w 929"/>
                <a:gd name="T11" fmla="*/ 920 h 921"/>
                <a:gd name="T12" fmla="*/ 887 w 929"/>
                <a:gd name="T13" fmla="*/ 920 h 921"/>
                <a:gd name="T14" fmla="*/ 928 w 929"/>
                <a:gd name="T15" fmla="*/ 878 h 921"/>
                <a:gd name="T16" fmla="*/ 928 w 929"/>
                <a:gd name="T17" fmla="*/ 50 h 921"/>
                <a:gd name="T18" fmla="*/ 887 w 929"/>
                <a:gd name="T19" fmla="*/ 0 h 921"/>
                <a:gd name="T20" fmla="*/ 887 w 929"/>
                <a:gd name="T21" fmla="*/ 0 h 921"/>
                <a:gd name="T22" fmla="*/ 887 w 929"/>
                <a:gd name="T23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29" h="921">
                  <a:moveTo>
                    <a:pt x="887" y="0"/>
                  </a:moveTo>
                  <a:cubicBezTo>
                    <a:pt x="862" y="0"/>
                    <a:pt x="836" y="26"/>
                    <a:pt x="836" y="50"/>
                  </a:cubicBezTo>
                  <a:cubicBezTo>
                    <a:pt x="836" y="837"/>
                    <a:pt x="836" y="837"/>
                    <a:pt x="836" y="837"/>
                  </a:cubicBezTo>
                  <a:cubicBezTo>
                    <a:pt x="51" y="837"/>
                    <a:pt x="51" y="837"/>
                    <a:pt x="51" y="837"/>
                  </a:cubicBezTo>
                  <a:cubicBezTo>
                    <a:pt x="26" y="837"/>
                    <a:pt x="0" y="853"/>
                    <a:pt x="0" y="878"/>
                  </a:cubicBezTo>
                  <a:cubicBezTo>
                    <a:pt x="0" y="903"/>
                    <a:pt x="26" y="920"/>
                    <a:pt x="51" y="920"/>
                  </a:cubicBezTo>
                  <a:cubicBezTo>
                    <a:pt x="887" y="920"/>
                    <a:pt x="887" y="920"/>
                    <a:pt x="887" y="920"/>
                  </a:cubicBezTo>
                  <a:cubicBezTo>
                    <a:pt x="912" y="920"/>
                    <a:pt x="928" y="903"/>
                    <a:pt x="928" y="878"/>
                  </a:cubicBezTo>
                  <a:cubicBezTo>
                    <a:pt x="928" y="50"/>
                    <a:pt x="928" y="50"/>
                    <a:pt x="928" y="50"/>
                  </a:cubicBezTo>
                  <a:cubicBezTo>
                    <a:pt x="928" y="26"/>
                    <a:pt x="903" y="0"/>
                    <a:pt x="887" y="0"/>
                  </a:cubicBezTo>
                  <a:close/>
                  <a:moveTo>
                    <a:pt x="887" y="0"/>
                  </a:moveTo>
                  <a:lnTo>
                    <a:pt x="887" y="0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</p:grpSp>
      <p:grpSp>
        <p:nvGrpSpPr>
          <p:cNvPr id="99" name="Group 587"/>
          <p:cNvGrpSpPr>
            <a:grpSpLocks/>
          </p:cNvGrpSpPr>
          <p:nvPr/>
        </p:nvGrpSpPr>
        <p:grpSpPr bwMode="auto">
          <a:xfrm>
            <a:off x="2847545" y="5261965"/>
            <a:ext cx="522416" cy="461865"/>
            <a:chOff x="1530350" y="5719762"/>
            <a:chExt cx="452438" cy="400050"/>
          </a:xfrm>
          <a:solidFill>
            <a:srgbClr val="FFFFFF"/>
          </a:solidFill>
        </p:grpSpPr>
        <p:sp>
          <p:nvSpPr>
            <p:cNvPr id="100" name="Freeform 533"/>
            <p:cNvSpPr>
              <a:spLocks noChangeArrowheads="1"/>
            </p:cNvSpPr>
            <p:nvPr/>
          </p:nvSpPr>
          <p:spPr bwMode="auto">
            <a:xfrm>
              <a:off x="1593850" y="5921374"/>
              <a:ext cx="42863" cy="39688"/>
            </a:xfrm>
            <a:custGeom>
              <a:avLst/>
              <a:gdLst>
                <a:gd name="T0" fmla="*/ 0 w 118"/>
                <a:gd name="T1" fmla="*/ 0 h 110"/>
                <a:gd name="T2" fmla="*/ 117 w 118"/>
                <a:gd name="T3" fmla="*/ 0 h 110"/>
                <a:gd name="T4" fmla="*/ 117 w 118"/>
                <a:gd name="T5" fmla="*/ 109 h 110"/>
                <a:gd name="T6" fmla="*/ 0 w 118"/>
                <a:gd name="T7" fmla="*/ 109 h 110"/>
                <a:gd name="T8" fmla="*/ 0 w 118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110">
                  <a:moveTo>
                    <a:pt x="0" y="0"/>
                  </a:moveTo>
                  <a:lnTo>
                    <a:pt x="117" y="0"/>
                  </a:lnTo>
                  <a:lnTo>
                    <a:pt x="117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01" name="Freeform 534"/>
            <p:cNvSpPr>
              <a:spLocks noChangeArrowheads="1"/>
            </p:cNvSpPr>
            <p:nvPr/>
          </p:nvSpPr>
          <p:spPr bwMode="auto">
            <a:xfrm>
              <a:off x="1593850" y="5984874"/>
              <a:ext cx="42863" cy="39688"/>
            </a:xfrm>
            <a:custGeom>
              <a:avLst/>
              <a:gdLst>
                <a:gd name="T0" fmla="*/ 0 w 118"/>
                <a:gd name="T1" fmla="*/ 0 h 110"/>
                <a:gd name="T2" fmla="*/ 117 w 118"/>
                <a:gd name="T3" fmla="*/ 0 h 110"/>
                <a:gd name="T4" fmla="*/ 117 w 118"/>
                <a:gd name="T5" fmla="*/ 109 h 110"/>
                <a:gd name="T6" fmla="*/ 0 w 118"/>
                <a:gd name="T7" fmla="*/ 109 h 110"/>
                <a:gd name="T8" fmla="*/ 0 w 118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110">
                  <a:moveTo>
                    <a:pt x="0" y="0"/>
                  </a:moveTo>
                  <a:lnTo>
                    <a:pt x="117" y="0"/>
                  </a:lnTo>
                  <a:lnTo>
                    <a:pt x="117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02" name="Freeform 535"/>
            <p:cNvSpPr>
              <a:spLocks noChangeArrowheads="1"/>
            </p:cNvSpPr>
            <p:nvPr/>
          </p:nvSpPr>
          <p:spPr bwMode="auto">
            <a:xfrm>
              <a:off x="1663700" y="5857874"/>
              <a:ext cx="39688" cy="39688"/>
            </a:xfrm>
            <a:custGeom>
              <a:avLst/>
              <a:gdLst>
                <a:gd name="T0" fmla="*/ 0 w 110"/>
                <a:gd name="T1" fmla="*/ 0 h 110"/>
                <a:gd name="T2" fmla="*/ 109 w 110"/>
                <a:gd name="T3" fmla="*/ 0 h 110"/>
                <a:gd name="T4" fmla="*/ 109 w 110"/>
                <a:gd name="T5" fmla="*/ 109 h 110"/>
                <a:gd name="T6" fmla="*/ 0 w 110"/>
                <a:gd name="T7" fmla="*/ 109 h 110"/>
                <a:gd name="T8" fmla="*/ 0 w 110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110">
                  <a:moveTo>
                    <a:pt x="0" y="0"/>
                  </a:moveTo>
                  <a:lnTo>
                    <a:pt x="109" y="0"/>
                  </a:lnTo>
                  <a:lnTo>
                    <a:pt x="109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03" name="Freeform 536"/>
            <p:cNvSpPr>
              <a:spLocks noChangeArrowheads="1"/>
            </p:cNvSpPr>
            <p:nvPr/>
          </p:nvSpPr>
          <p:spPr bwMode="auto">
            <a:xfrm>
              <a:off x="1663700" y="5921374"/>
              <a:ext cx="39688" cy="39688"/>
            </a:xfrm>
            <a:custGeom>
              <a:avLst/>
              <a:gdLst>
                <a:gd name="T0" fmla="*/ 0 w 110"/>
                <a:gd name="T1" fmla="*/ 0 h 110"/>
                <a:gd name="T2" fmla="*/ 109 w 110"/>
                <a:gd name="T3" fmla="*/ 0 h 110"/>
                <a:gd name="T4" fmla="*/ 109 w 110"/>
                <a:gd name="T5" fmla="*/ 109 h 110"/>
                <a:gd name="T6" fmla="*/ 0 w 110"/>
                <a:gd name="T7" fmla="*/ 109 h 110"/>
                <a:gd name="T8" fmla="*/ 0 w 110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110">
                  <a:moveTo>
                    <a:pt x="0" y="0"/>
                  </a:moveTo>
                  <a:lnTo>
                    <a:pt x="109" y="0"/>
                  </a:lnTo>
                  <a:lnTo>
                    <a:pt x="109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04" name="Freeform 537"/>
            <p:cNvSpPr>
              <a:spLocks noChangeArrowheads="1"/>
            </p:cNvSpPr>
            <p:nvPr/>
          </p:nvSpPr>
          <p:spPr bwMode="auto">
            <a:xfrm>
              <a:off x="1663700" y="5984874"/>
              <a:ext cx="39688" cy="39688"/>
            </a:xfrm>
            <a:custGeom>
              <a:avLst/>
              <a:gdLst>
                <a:gd name="T0" fmla="*/ 0 w 110"/>
                <a:gd name="T1" fmla="*/ 0 h 110"/>
                <a:gd name="T2" fmla="*/ 109 w 110"/>
                <a:gd name="T3" fmla="*/ 0 h 110"/>
                <a:gd name="T4" fmla="*/ 109 w 110"/>
                <a:gd name="T5" fmla="*/ 109 h 110"/>
                <a:gd name="T6" fmla="*/ 0 w 110"/>
                <a:gd name="T7" fmla="*/ 109 h 110"/>
                <a:gd name="T8" fmla="*/ 0 w 110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110">
                  <a:moveTo>
                    <a:pt x="0" y="0"/>
                  </a:moveTo>
                  <a:lnTo>
                    <a:pt x="109" y="0"/>
                  </a:lnTo>
                  <a:lnTo>
                    <a:pt x="109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05" name="Freeform 538"/>
            <p:cNvSpPr>
              <a:spLocks noChangeArrowheads="1"/>
            </p:cNvSpPr>
            <p:nvPr/>
          </p:nvSpPr>
          <p:spPr bwMode="auto">
            <a:xfrm>
              <a:off x="1530350" y="5719762"/>
              <a:ext cx="452438" cy="400050"/>
            </a:xfrm>
            <a:custGeom>
              <a:avLst/>
              <a:gdLst>
                <a:gd name="T0" fmla="*/ 1029 w 1255"/>
                <a:gd name="T1" fmla="*/ 75 h 1113"/>
                <a:gd name="T2" fmla="*/ 75 w 1255"/>
                <a:gd name="T3" fmla="*/ 0 h 1113"/>
                <a:gd name="T4" fmla="*/ 0 w 1255"/>
                <a:gd name="T5" fmla="*/ 953 h 1113"/>
                <a:gd name="T6" fmla="*/ 644 w 1255"/>
                <a:gd name="T7" fmla="*/ 1029 h 1113"/>
                <a:gd name="T8" fmla="*/ 1254 w 1255"/>
                <a:gd name="T9" fmla="*/ 736 h 1113"/>
                <a:gd name="T10" fmla="*/ 335 w 1255"/>
                <a:gd name="T11" fmla="*/ 75 h 1113"/>
                <a:gd name="T12" fmla="*/ 694 w 1255"/>
                <a:gd name="T13" fmla="*/ 167 h 1113"/>
                <a:gd name="T14" fmla="*/ 335 w 1255"/>
                <a:gd name="T15" fmla="*/ 75 h 1113"/>
                <a:gd name="T16" fmla="*/ 937 w 1255"/>
                <a:gd name="T17" fmla="*/ 251 h 1113"/>
                <a:gd name="T18" fmla="*/ 878 w 1255"/>
                <a:gd name="T19" fmla="*/ 368 h 1113"/>
                <a:gd name="T20" fmla="*/ 661 w 1255"/>
                <a:gd name="T21" fmla="*/ 385 h 1113"/>
                <a:gd name="T22" fmla="*/ 552 w 1255"/>
                <a:gd name="T23" fmla="*/ 494 h 1113"/>
                <a:gd name="T24" fmla="*/ 510 w 1255"/>
                <a:gd name="T25" fmla="*/ 736 h 1113"/>
                <a:gd name="T26" fmla="*/ 92 w 1255"/>
                <a:gd name="T27" fmla="*/ 920 h 1113"/>
                <a:gd name="T28" fmla="*/ 845 w 1255"/>
                <a:gd name="T29" fmla="*/ 435 h 1113"/>
                <a:gd name="T30" fmla="*/ 911 w 1255"/>
                <a:gd name="T31" fmla="*/ 435 h 1113"/>
                <a:gd name="T32" fmla="*/ 845 w 1255"/>
                <a:gd name="T33" fmla="*/ 435 h 1113"/>
                <a:gd name="T34" fmla="*/ 577 w 1255"/>
                <a:gd name="T35" fmla="*/ 769 h 1113"/>
                <a:gd name="T36" fmla="*/ 577 w 1255"/>
                <a:gd name="T37" fmla="*/ 703 h 1113"/>
                <a:gd name="T38" fmla="*/ 878 w 1255"/>
                <a:gd name="T39" fmla="*/ 1079 h 1113"/>
                <a:gd name="T40" fmla="*/ 878 w 1255"/>
                <a:gd name="T41" fmla="*/ 1004 h 1113"/>
                <a:gd name="T42" fmla="*/ 878 w 1255"/>
                <a:gd name="T43" fmla="*/ 1079 h 1113"/>
                <a:gd name="T44" fmla="*/ 945 w 1255"/>
                <a:gd name="T45" fmla="*/ 728 h 1113"/>
                <a:gd name="T46" fmla="*/ 878 w 1255"/>
                <a:gd name="T47" fmla="*/ 803 h 1113"/>
                <a:gd name="T48" fmla="*/ 661 w 1255"/>
                <a:gd name="T49" fmla="*/ 627 h 1113"/>
                <a:gd name="T50" fmla="*/ 694 w 1255"/>
                <a:gd name="T51" fmla="*/ 585 h 1113"/>
                <a:gd name="T52" fmla="*/ 878 w 1255"/>
                <a:gd name="T53" fmla="*/ 669 h 1113"/>
                <a:gd name="T54" fmla="*/ 1045 w 1255"/>
                <a:gd name="T55" fmla="*/ 544 h 1113"/>
                <a:gd name="T56" fmla="*/ 1087 w 1255"/>
                <a:gd name="T57" fmla="*/ 585 h 1113"/>
                <a:gd name="T58" fmla="*/ 1146 w 1255"/>
                <a:gd name="T59" fmla="*/ 736 h 1113"/>
                <a:gd name="T60" fmla="*/ 1221 w 1255"/>
                <a:gd name="T61" fmla="*/ 736 h 1113"/>
                <a:gd name="T62" fmla="*/ 1179 w 1255"/>
                <a:gd name="T63" fmla="*/ 769 h 1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55" h="1113">
                  <a:moveTo>
                    <a:pt x="1029" y="402"/>
                  </a:moveTo>
                  <a:cubicBezTo>
                    <a:pt x="1029" y="75"/>
                    <a:pt x="1029" y="75"/>
                    <a:pt x="1029" y="75"/>
                  </a:cubicBezTo>
                  <a:cubicBezTo>
                    <a:pt x="1029" y="34"/>
                    <a:pt x="995" y="0"/>
                    <a:pt x="953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34" y="0"/>
                    <a:pt x="0" y="34"/>
                    <a:pt x="0" y="75"/>
                  </a:cubicBezTo>
                  <a:cubicBezTo>
                    <a:pt x="0" y="953"/>
                    <a:pt x="0" y="953"/>
                    <a:pt x="0" y="953"/>
                  </a:cubicBezTo>
                  <a:cubicBezTo>
                    <a:pt x="0" y="995"/>
                    <a:pt x="34" y="1029"/>
                    <a:pt x="75" y="1029"/>
                  </a:cubicBezTo>
                  <a:cubicBezTo>
                    <a:pt x="644" y="1029"/>
                    <a:pt x="644" y="1029"/>
                    <a:pt x="644" y="1029"/>
                  </a:cubicBezTo>
                  <a:cubicBezTo>
                    <a:pt x="711" y="1079"/>
                    <a:pt x="795" y="1112"/>
                    <a:pt x="878" y="1112"/>
                  </a:cubicBezTo>
                  <a:cubicBezTo>
                    <a:pt x="1087" y="1112"/>
                    <a:pt x="1254" y="945"/>
                    <a:pt x="1254" y="736"/>
                  </a:cubicBezTo>
                  <a:cubicBezTo>
                    <a:pt x="1254" y="585"/>
                    <a:pt x="1162" y="460"/>
                    <a:pt x="1029" y="402"/>
                  </a:cubicBezTo>
                  <a:close/>
                  <a:moveTo>
                    <a:pt x="335" y="75"/>
                  </a:moveTo>
                  <a:cubicBezTo>
                    <a:pt x="694" y="75"/>
                    <a:pt x="694" y="75"/>
                    <a:pt x="694" y="75"/>
                  </a:cubicBezTo>
                  <a:cubicBezTo>
                    <a:pt x="694" y="167"/>
                    <a:pt x="694" y="167"/>
                    <a:pt x="694" y="167"/>
                  </a:cubicBezTo>
                  <a:cubicBezTo>
                    <a:pt x="335" y="167"/>
                    <a:pt x="335" y="167"/>
                    <a:pt x="335" y="167"/>
                  </a:cubicBezTo>
                  <a:lnTo>
                    <a:pt x="335" y="75"/>
                  </a:lnTo>
                  <a:close/>
                  <a:moveTo>
                    <a:pt x="92" y="251"/>
                  </a:moveTo>
                  <a:cubicBezTo>
                    <a:pt x="937" y="251"/>
                    <a:pt x="937" y="251"/>
                    <a:pt x="937" y="251"/>
                  </a:cubicBezTo>
                  <a:cubicBezTo>
                    <a:pt x="937" y="368"/>
                    <a:pt x="937" y="368"/>
                    <a:pt x="937" y="368"/>
                  </a:cubicBezTo>
                  <a:cubicBezTo>
                    <a:pt x="920" y="368"/>
                    <a:pt x="895" y="368"/>
                    <a:pt x="878" y="368"/>
                  </a:cubicBezTo>
                  <a:cubicBezTo>
                    <a:pt x="795" y="368"/>
                    <a:pt x="719" y="393"/>
                    <a:pt x="661" y="435"/>
                  </a:cubicBezTo>
                  <a:cubicBezTo>
                    <a:pt x="661" y="385"/>
                    <a:pt x="661" y="385"/>
                    <a:pt x="661" y="385"/>
                  </a:cubicBezTo>
                  <a:cubicBezTo>
                    <a:pt x="552" y="385"/>
                    <a:pt x="552" y="385"/>
                    <a:pt x="552" y="385"/>
                  </a:cubicBezTo>
                  <a:cubicBezTo>
                    <a:pt x="552" y="494"/>
                    <a:pt x="552" y="494"/>
                    <a:pt x="552" y="494"/>
                  </a:cubicBezTo>
                  <a:cubicBezTo>
                    <a:pt x="602" y="494"/>
                    <a:pt x="602" y="494"/>
                    <a:pt x="602" y="494"/>
                  </a:cubicBezTo>
                  <a:cubicBezTo>
                    <a:pt x="544" y="560"/>
                    <a:pt x="510" y="644"/>
                    <a:pt x="510" y="736"/>
                  </a:cubicBezTo>
                  <a:cubicBezTo>
                    <a:pt x="510" y="803"/>
                    <a:pt x="527" y="870"/>
                    <a:pt x="560" y="920"/>
                  </a:cubicBezTo>
                  <a:cubicBezTo>
                    <a:pt x="92" y="920"/>
                    <a:pt x="92" y="920"/>
                    <a:pt x="92" y="920"/>
                  </a:cubicBezTo>
                  <a:lnTo>
                    <a:pt x="92" y="251"/>
                  </a:lnTo>
                  <a:close/>
                  <a:moveTo>
                    <a:pt x="845" y="435"/>
                  </a:moveTo>
                  <a:cubicBezTo>
                    <a:pt x="845" y="418"/>
                    <a:pt x="861" y="402"/>
                    <a:pt x="878" y="402"/>
                  </a:cubicBezTo>
                  <a:cubicBezTo>
                    <a:pt x="895" y="402"/>
                    <a:pt x="911" y="418"/>
                    <a:pt x="911" y="435"/>
                  </a:cubicBezTo>
                  <a:cubicBezTo>
                    <a:pt x="911" y="452"/>
                    <a:pt x="895" y="468"/>
                    <a:pt x="878" y="468"/>
                  </a:cubicBezTo>
                  <a:cubicBezTo>
                    <a:pt x="861" y="468"/>
                    <a:pt x="845" y="452"/>
                    <a:pt x="845" y="435"/>
                  </a:cubicBezTo>
                  <a:close/>
                  <a:moveTo>
                    <a:pt x="610" y="736"/>
                  </a:moveTo>
                  <a:cubicBezTo>
                    <a:pt x="610" y="761"/>
                    <a:pt x="594" y="769"/>
                    <a:pt x="577" y="769"/>
                  </a:cubicBezTo>
                  <a:cubicBezTo>
                    <a:pt x="560" y="769"/>
                    <a:pt x="544" y="761"/>
                    <a:pt x="544" y="736"/>
                  </a:cubicBezTo>
                  <a:cubicBezTo>
                    <a:pt x="544" y="719"/>
                    <a:pt x="560" y="703"/>
                    <a:pt x="577" y="703"/>
                  </a:cubicBezTo>
                  <a:cubicBezTo>
                    <a:pt x="594" y="703"/>
                    <a:pt x="610" y="719"/>
                    <a:pt x="610" y="736"/>
                  </a:cubicBezTo>
                  <a:close/>
                  <a:moveTo>
                    <a:pt x="878" y="1079"/>
                  </a:moveTo>
                  <a:cubicBezTo>
                    <a:pt x="861" y="1079"/>
                    <a:pt x="845" y="1062"/>
                    <a:pt x="845" y="1045"/>
                  </a:cubicBezTo>
                  <a:cubicBezTo>
                    <a:pt x="845" y="1020"/>
                    <a:pt x="861" y="1004"/>
                    <a:pt x="878" y="1004"/>
                  </a:cubicBezTo>
                  <a:cubicBezTo>
                    <a:pt x="895" y="1004"/>
                    <a:pt x="911" y="1020"/>
                    <a:pt x="911" y="1045"/>
                  </a:cubicBezTo>
                  <a:cubicBezTo>
                    <a:pt x="911" y="1062"/>
                    <a:pt x="895" y="1079"/>
                    <a:pt x="878" y="1079"/>
                  </a:cubicBezTo>
                  <a:close/>
                  <a:moveTo>
                    <a:pt x="1087" y="585"/>
                  </a:moveTo>
                  <a:cubicBezTo>
                    <a:pt x="945" y="728"/>
                    <a:pt x="945" y="728"/>
                    <a:pt x="945" y="728"/>
                  </a:cubicBezTo>
                  <a:lnTo>
                    <a:pt x="945" y="736"/>
                  </a:lnTo>
                  <a:cubicBezTo>
                    <a:pt x="945" y="778"/>
                    <a:pt x="920" y="803"/>
                    <a:pt x="878" y="803"/>
                  </a:cubicBezTo>
                  <a:cubicBezTo>
                    <a:pt x="845" y="803"/>
                    <a:pt x="811" y="778"/>
                    <a:pt x="811" y="744"/>
                  </a:cubicBezTo>
                  <a:cubicBezTo>
                    <a:pt x="661" y="627"/>
                    <a:pt x="661" y="627"/>
                    <a:pt x="661" y="627"/>
                  </a:cubicBezTo>
                  <a:cubicBezTo>
                    <a:pt x="652" y="619"/>
                    <a:pt x="644" y="594"/>
                    <a:pt x="652" y="585"/>
                  </a:cubicBezTo>
                  <a:cubicBezTo>
                    <a:pt x="661" y="577"/>
                    <a:pt x="686" y="569"/>
                    <a:pt x="694" y="585"/>
                  </a:cubicBezTo>
                  <a:cubicBezTo>
                    <a:pt x="836" y="686"/>
                    <a:pt x="836" y="686"/>
                    <a:pt x="836" y="686"/>
                  </a:cubicBezTo>
                  <a:cubicBezTo>
                    <a:pt x="845" y="677"/>
                    <a:pt x="861" y="669"/>
                    <a:pt x="878" y="669"/>
                  </a:cubicBezTo>
                  <a:cubicBezTo>
                    <a:pt x="895" y="669"/>
                    <a:pt x="903" y="677"/>
                    <a:pt x="911" y="677"/>
                  </a:cubicBezTo>
                  <a:cubicBezTo>
                    <a:pt x="1045" y="544"/>
                    <a:pt x="1045" y="544"/>
                    <a:pt x="1045" y="544"/>
                  </a:cubicBezTo>
                  <a:cubicBezTo>
                    <a:pt x="1062" y="535"/>
                    <a:pt x="1079" y="535"/>
                    <a:pt x="1087" y="544"/>
                  </a:cubicBezTo>
                  <a:cubicBezTo>
                    <a:pt x="1104" y="552"/>
                    <a:pt x="1096" y="569"/>
                    <a:pt x="1087" y="585"/>
                  </a:cubicBezTo>
                  <a:close/>
                  <a:moveTo>
                    <a:pt x="1179" y="769"/>
                  </a:moveTo>
                  <a:cubicBezTo>
                    <a:pt x="1162" y="769"/>
                    <a:pt x="1146" y="761"/>
                    <a:pt x="1146" y="736"/>
                  </a:cubicBezTo>
                  <a:cubicBezTo>
                    <a:pt x="1146" y="719"/>
                    <a:pt x="1162" y="703"/>
                    <a:pt x="1179" y="703"/>
                  </a:cubicBezTo>
                  <a:cubicBezTo>
                    <a:pt x="1204" y="703"/>
                    <a:pt x="1221" y="719"/>
                    <a:pt x="1221" y="736"/>
                  </a:cubicBezTo>
                  <a:cubicBezTo>
                    <a:pt x="1221" y="761"/>
                    <a:pt x="1204" y="769"/>
                    <a:pt x="1179" y="769"/>
                  </a:cubicBezTo>
                  <a:close/>
                  <a:moveTo>
                    <a:pt x="1179" y="769"/>
                  </a:moveTo>
                  <a:lnTo>
                    <a:pt x="1179" y="769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</p:grpSp>
      <p:cxnSp>
        <p:nvCxnSpPr>
          <p:cNvPr id="8" name="直接连接符 7"/>
          <p:cNvCxnSpPr>
            <a:stCxn id="4" idx="0"/>
          </p:cNvCxnSpPr>
          <p:nvPr/>
        </p:nvCxnSpPr>
        <p:spPr>
          <a:xfrm flipV="1">
            <a:off x="3765550" y="2028825"/>
            <a:ext cx="908050" cy="635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V="1">
            <a:off x="3765550" y="3155950"/>
            <a:ext cx="908050" cy="635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 flipV="1">
            <a:off x="3765550" y="4289425"/>
            <a:ext cx="908050" cy="4763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 flipV="1">
            <a:off x="3765550" y="5416550"/>
            <a:ext cx="908050" cy="635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/>
          <p:cNvSpPr/>
          <p:nvPr/>
        </p:nvSpPr>
        <p:spPr>
          <a:xfrm>
            <a:off x="4570413" y="1976438"/>
            <a:ext cx="106362" cy="10477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4570413" y="3090863"/>
            <a:ext cx="106362" cy="10636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4570413" y="4235450"/>
            <a:ext cx="106362" cy="106363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4570413" y="5351463"/>
            <a:ext cx="106362" cy="10636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53" name="文本框 52"/>
          <p:cNvSpPr txBox="1">
            <a:spLocks noChangeArrowheads="1"/>
          </p:cNvSpPr>
          <p:nvPr/>
        </p:nvSpPr>
        <p:spPr bwMode="auto">
          <a:xfrm>
            <a:off x="4673600" y="1801174"/>
            <a:ext cx="67895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掌握什么是操作系统以及操作系统的目标和作用</a:t>
            </a:r>
          </a:p>
        </p:txBody>
      </p:sp>
      <p:sp>
        <p:nvSpPr>
          <p:cNvPr id="55" name="文本框 54"/>
          <p:cNvSpPr txBox="1">
            <a:spLocks noChangeArrowheads="1"/>
          </p:cNvSpPr>
          <p:nvPr/>
        </p:nvSpPr>
        <p:spPr bwMode="auto">
          <a:xfrm>
            <a:off x="4673600" y="2924747"/>
            <a:ext cx="661725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了解操作系统的发展过程，掌握不同种类操作系</a:t>
            </a:r>
            <a:endParaRPr lang="en-US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统的优缺点</a:t>
            </a:r>
          </a:p>
        </p:txBody>
      </p:sp>
      <p:sp>
        <p:nvSpPr>
          <p:cNvPr id="57" name="文本框 56"/>
          <p:cNvSpPr txBox="1">
            <a:spLocks noChangeArrowheads="1"/>
          </p:cNvSpPr>
          <p:nvPr/>
        </p:nvSpPr>
        <p:spPr bwMode="auto">
          <a:xfrm>
            <a:off x="4673600" y="4075023"/>
            <a:ext cx="37235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理解操作系统的基本特性</a:t>
            </a:r>
          </a:p>
        </p:txBody>
      </p:sp>
      <p:sp>
        <p:nvSpPr>
          <p:cNvPr id="59" name="文本框 58"/>
          <p:cNvSpPr txBox="1">
            <a:spLocks noChangeArrowheads="1"/>
          </p:cNvSpPr>
          <p:nvPr/>
        </p:nvSpPr>
        <p:spPr bwMode="auto">
          <a:xfrm>
            <a:off x="4673600" y="5197077"/>
            <a:ext cx="37235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掌握操作系统的主要功能</a:t>
            </a:r>
          </a:p>
        </p:txBody>
      </p:sp>
      <p:sp>
        <p:nvSpPr>
          <p:cNvPr id="62" name="矩形 61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77" name="组合 76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78" name="矩形 77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79" name="椭圆 78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80" name="文本框 25"/>
          <p:cNvSpPr txBox="1">
            <a:spLocks noChangeArrowheads="1"/>
          </p:cNvSpPr>
          <p:nvPr/>
        </p:nvSpPr>
        <p:spPr bwMode="auto">
          <a:xfrm>
            <a:off x="902970" y="199077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本章学习目标</a:t>
            </a:r>
          </a:p>
        </p:txBody>
      </p:sp>
      <p:sp>
        <p:nvSpPr>
          <p:cNvPr id="63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03575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5" grpId="0"/>
      <p:bldP spid="57" grpId="0"/>
      <p:bldP spid="5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 cstate="print"/>
          <a:srcRect r="42146" b="48018"/>
          <a:stretch/>
        </p:blipFill>
        <p:spPr>
          <a:xfrm>
            <a:off x="7346063" y="2511276"/>
            <a:ext cx="4845938" cy="4346724"/>
          </a:xfrm>
          <a:prstGeom prst="rect">
            <a:avLst/>
          </a:prstGeom>
        </p:spPr>
      </p:pic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439936" y="1137130"/>
            <a:ext cx="7246275" cy="1733178"/>
          </a:xfrm>
          <a:prstGeom prst="rect">
            <a:avLst/>
          </a:prstGeom>
          <a:noFill/>
          <a:ln w="38100" cap="flat">
            <a:solidFill>
              <a:srgbClr val="3D735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1938" y1="46310" x2="41938" y2="46310"/>
                        <a14:foregroundMark x1="26672" y1="41021" x2="26672" y2="41021"/>
                        <a14:foregroundMark x1="31389" y1="39422" x2="31389" y2="39422"/>
                        <a14:backgroundMark x1="70755" y1="56581" x2="70755" y2="56581"/>
                        <a14:backgroundMark x1="68696" y1="52583" x2="65266" y2="51415"/>
                        <a14:backgroundMark x1="49914" y1="48032" x2="49314" y2="47909"/>
                        <a14:backgroundMark x1="49314" y1="54674" x2="48714" y2="54674"/>
                        <a14:backgroundMark x1="47513" y1="54490" x2="50772" y2="56827"/>
                        <a14:backgroundMark x1="67067" y1="62116" x2="67667" y2="61501"/>
                        <a14:backgroundMark x1="68525" y1="56396" x2="68525" y2="55351"/>
                        <a14:backgroundMark x1="70154" y1="50861" x2="70154" y2="50861"/>
                        <a14:backgroundMark x1="71184" y1="50431" x2="71184" y2="50431"/>
                        <a14:backgroundMark x1="38508" y1="41451" x2="38508" y2="41451"/>
                        <a14:backgroundMark x1="44254" y1="36470" x2="44254" y2="36470"/>
                        <a14:backgroundMark x1="42796" y1="43235" x2="42796" y2="43235"/>
                        <a14:backgroundMark x1="67067" y1="42927" x2="67067" y2="42927"/>
                        <a14:backgroundMark x1="58062" y1="45449" x2="57461" y2="45572"/>
                        <a14:backgroundMark x1="59091" y1="52768" x2="59520" y2="53321"/>
                        <a14:backgroundMark x1="59520" y1="54182" x2="59777" y2="55843"/>
                        <a14:backgroundMark x1="59777" y1="59164" x2="59777" y2="59164"/>
                        <a14:backgroundMark x1="78902" y1="35609" x2="78902" y2="35609"/>
                        <a14:backgroundMark x1="26415" y1="39729" x2="26415" y2="39729"/>
                        <a14:backgroundMark x1="25472" y1="42189" x2="25472" y2="42189"/>
                        <a14:backgroundMark x1="25214" y1="41636" x2="25214" y2="41636"/>
                        <a14:backgroundMark x1="46055" y1="56704" x2="46055" y2="56704"/>
                        <a14:backgroundMark x1="56690" y1="49508" x2="56690" y2="49508"/>
                        <a14:backgroundMark x1="56861" y1="49262" x2="60720" y2="48770"/>
                        <a14:backgroundMark x1="66295" y1="47601" x2="66895" y2="47601"/>
                        <a14:backgroundMark x1="71184" y1="46617" x2="76672" y2="45449"/>
                        <a14:backgroundMark x1="81389" y1="43973" x2="81389" y2="43973"/>
                      </a14:backgroundRemoval>
                    </a14:imgEffect>
                  </a14:imgLayer>
                </a14:imgProps>
              </a:ext>
            </a:extLst>
          </a:blip>
          <a:srcRect l="17878" t="35012" b="43146"/>
          <a:stretch/>
        </p:blipFill>
        <p:spPr>
          <a:xfrm>
            <a:off x="0" y="0"/>
            <a:ext cx="5837731" cy="2166151"/>
          </a:xfrm>
          <a:prstGeom prst="rect">
            <a:avLst/>
          </a:prstGeom>
        </p:spPr>
      </p:pic>
      <p:grpSp>
        <p:nvGrpSpPr>
          <p:cNvPr id="30" name="组合 29"/>
          <p:cNvGrpSpPr/>
          <p:nvPr/>
        </p:nvGrpSpPr>
        <p:grpSpPr>
          <a:xfrm>
            <a:off x="2729551" y="1483991"/>
            <a:ext cx="6989586" cy="1104503"/>
            <a:chOff x="3621789" y="2876749"/>
            <a:chExt cx="5471412" cy="1104503"/>
          </a:xfrm>
        </p:grpSpPr>
        <p:sp>
          <p:nvSpPr>
            <p:cNvPr id="31" name="矩形 30"/>
            <p:cNvSpPr/>
            <p:nvPr/>
          </p:nvSpPr>
          <p:spPr bwMode="auto">
            <a:xfrm>
              <a:off x="4971853" y="3707291"/>
              <a:ext cx="123825" cy="123825"/>
            </a:xfrm>
            <a:prstGeom prst="rect">
              <a:avLst/>
            </a:prstGeom>
            <a:solidFill>
              <a:srgbClr val="708265"/>
            </a:solidFill>
            <a:ln>
              <a:solidFill>
                <a:srgbClr val="70826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rgbClr val="595959"/>
                </a:solidFill>
              </a:endParaRPr>
            </a:p>
          </p:txBody>
        </p:sp>
        <p:sp>
          <p:nvSpPr>
            <p:cNvPr id="32" name="文本框 13"/>
            <p:cNvSpPr txBox="1">
              <a:spLocks noChangeArrowheads="1"/>
            </p:cNvSpPr>
            <p:nvPr/>
          </p:nvSpPr>
          <p:spPr bwMode="auto">
            <a:xfrm>
              <a:off x="5095677" y="3596166"/>
              <a:ext cx="137784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矩形 32"/>
            <p:cNvSpPr/>
            <p:nvPr/>
          </p:nvSpPr>
          <p:spPr bwMode="auto">
            <a:xfrm>
              <a:off x="7136457" y="3705704"/>
              <a:ext cx="123825" cy="125413"/>
            </a:xfrm>
            <a:prstGeom prst="rect">
              <a:avLst/>
            </a:prstGeom>
            <a:solidFill>
              <a:srgbClr val="708265"/>
            </a:solidFill>
            <a:ln>
              <a:solidFill>
                <a:srgbClr val="70826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rgbClr val="595959"/>
                </a:solidFill>
              </a:endParaRPr>
            </a:p>
          </p:txBody>
        </p:sp>
        <p:sp>
          <p:nvSpPr>
            <p:cNvPr id="34" name="文本框 13"/>
            <p:cNvSpPr txBox="1">
              <a:spLocks noChangeArrowheads="1"/>
            </p:cNvSpPr>
            <p:nvPr/>
          </p:nvSpPr>
          <p:spPr bwMode="auto">
            <a:xfrm>
              <a:off x="7260281" y="3596167"/>
              <a:ext cx="129951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文本框 13"/>
            <p:cNvSpPr txBox="1">
              <a:spLocks noChangeArrowheads="1"/>
            </p:cNvSpPr>
            <p:nvPr/>
          </p:nvSpPr>
          <p:spPr bwMode="auto">
            <a:xfrm>
              <a:off x="4813114" y="2890068"/>
              <a:ext cx="4280087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zh-CN" altLang="en-US" sz="4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什么是操作系统</a:t>
              </a: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3655926" y="3396477"/>
              <a:ext cx="127415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rgbClr val="708265"/>
                  </a:solidFill>
                  <a:latin typeface="Impact" panose="020B0806030902050204" pitchFamily="34" charset="0"/>
                  <a:ea typeface="微软雅黑 Light" panose="020B0502040204020203" pitchFamily="34" charset="-122"/>
                </a:rPr>
                <a:t>PART</a:t>
              </a:r>
              <a:endParaRPr lang="zh-CN" altLang="en-US" sz="3200" dirty="0">
                <a:solidFill>
                  <a:srgbClr val="708265"/>
                </a:solidFill>
                <a:latin typeface="Impact" panose="020B0806030902050204" pitchFamily="34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3621789" y="2876749"/>
              <a:ext cx="134243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dirty="0">
                  <a:solidFill>
                    <a:srgbClr val="70826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1.1</a:t>
              </a:r>
              <a:endParaRPr lang="zh-CN" altLang="en-US" sz="4000" dirty="0">
                <a:solidFill>
                  <a:srgbClr val="70826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8" name="组合 37"/>
            <p:cNvGrpSpPr/>
            <p:nvPr/>
          </p:nvGrpSpPr>
          <p:grpSpPr>
            <a:xfrm>
              <a:off x="4293004" y="3250218"/>
              <a:ext cx="207440" cy="104457"/>
              <a:chOff x="4093098" y="3134123"/>
              <a:chExt cx="107723" cy="54244"/>
            </a:xfrm>
          </p:grpSpPr>
          <p:sp>
            <p:nvSpPr>
              <p:cNvPr id="39" name="L 形 38"/>
              <p:cNvSpPr/>
              <p:nvPr/>
            </p:nvSpPr>
            <p:spPr>
              <a:xfrm rot="2493705" flipH="1" flipV="1">
                <a:off x="4093098" y="3134123"/>
                <a:ext cx="54243" cy="54244"/>
              </a:xfrm>
              <a:prstGeom prst="corner">
                <a:avLst>
                  <a:gd name="adj1" fmla="val 15149"/>
                  <a:gd name="adj2" fmla="val 17140"/>
                </a:avLst>
              </a:prstGeom>
              <a:solidFill>
                <a:srgbClr val="6F8163"/>
              </a:solidFill>
              <a:ln>
                <a:solidFill>
                  <a:srgbClr val="70826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200">
                  <a:solidFill>
                    <a:srgbClr val="708265"/>
                  </a:solidFill>
                </a:endParaRPr>
              </a:p>
            </p:txBody>
          </p:sp>
          <p:sp>
            <p:nvSpPr>
              <p:cNvPr id="40" name="L 形 39"/>
              <p:cNvSpPr/>
              <p:nvPr/>
            </p:nvSpPr>
            <p:spPr>
              <a:xfrm rot="2493705" flipH="1" flipV="1">
                <a:off x="4146578" y="3134123"/>
                <a:ext cx="54243" cy="54244"/>
              </a:xfrm>
              <a:prstGeom prst="corner">
                <a:avLst>
                  <a:gd name="adj1" fmla="val 15149"/>
                  <a:gd name="adj2" fmla="val 17140"/>
                </a:avLst>
              </a:prstGeom>
              <a:solidFill>
                <a:srgbClr val="6F8163"/>
              </a:solidFill>
              <a:ln>
                <a:solidFill>
                  <a:srgbClr val="70826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200">
                  <a:solidFill>
                    <a:srgbClr val="708265"/>
                  </a:solidFill>
                </a:endParaRPr>
              </a:p>
            </p:txBody>
          </p:sp>
        </p:grpSp>
      </p:grpSp>
      <p:sp>
        <p:nvSpPr>
          <p:cNvPr id="16" name="文本框 21"/>
          <p:cNvSpPr txBox="1">
            <a:spLocks noChangeArrowheads="1"/>
          </p:cNvSpPr>
          <p:nvPr/>
        </p:nvSpPr>
        <p:spPr bwMode="auto">
          <a:xfrm>
            <a:off x="2439935" y="3299725"/>
            <a:ext cx="7279201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/>
              <a:t>         操作系统（</a:t>
            </a:r>
            <a:r>
              <a:rPr lang="en-US" altLang="zh-CN" sz="2400" dirty="0"/>
              <a:t>Operating System OS</a:t>
            </a:r>
            <a:r>
              <a:rPr lang="zh-CN" altLang="en-US" sz="2400" dirty="0"/>
              <a:t>）是每台计算机必须安装的最基本的系统软件，它能为操纵硬件和执行程序简历一个更实用的系统平台</a:t>
            </a:r>
            <a:endParaRPr lang="zh-CN" altLang="en-US" sz="2400" dirty="0">
              <a:solidFill>
                <a:srgbClr val="505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5805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8B51E39-0265-FBED-2B7E-7EAFAB4BD2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2642" y="443557"/>
            <a:ext cx="5271240" cy="5919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7">
            <a:extLst>
              <a:ext uri="{FF2B5EF4-FFF2-40B4-BE49-F238E27FC236}">
                <a16:creationId xmlns:a16="http://schemas.microsoft.com/office/drawing/2014/main" id="{021BADBC-1965-A04D-9AF3-4D31B863D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9310" y="1657831"/>
            <a:ext cx="1107996" cy="427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en-US" altLang="zh-CN" dirty="0"/>
          </a:p>
          <a:p>
            <a:pPr>
              <a:defRPr/>
            </a:pPr>
            <a:r>
              <a:rPr lang="zh-CN" altLang="en-US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程序是如何运行的？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65C82F4-E8DE-AB6D-2116-27ED64CC4294}"/>
              </a:ext>
            </a:extLst>
          </p:cNvPr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641A0320-38DE-C6CB-853C-D7D66B57DC02}"/>
              </a:ext>
            </a:extLst>
          </p:cNvPr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DD498D9-7F74-4A2A-6CBA-3F54A52A930A}"/>
                </a:ext>
              </a:extLst>
            </p:cNvPr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49BF6936-A9DA-9858-B633-8C70A07519A2}"/>
                </a:ext>
              </a:extLst>
            </p:cNvPr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725EED54-CC2A-F902-61DC-594BC6506A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970" y="212725"/>
            <a:ext cx="2339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什么是操作系统</a:t>
            </a:r>
          </a:p>
        </p:txBody>
      </p:sp>
      <p:sp>
        <p:nvSpPr>
          <p:cNvPr id="11" name="文本框 31">
            <a:extLst>
              <a:ext uri="{FF2B5EF4-FFF2-40B4-BE49-F238E27FC236}">
                <a16:creationId xmlns:a16="http://schemas.microsoft.com/office/drawing/2014/main" id="{5F81356D-B6E7-B5A0-5830-45B74FAF7EF0}"/>
              </a:ext>
            </a:extLst>
          </p:cNvPr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75463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18263" y="1973067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7326313" y="1973067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6418263" y="4587522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7326313" y="4587522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7116" name="文本框 52"/>
          <p:cNvSpPr txBox="1">
            <a:spLocks noChangeArrowheads="1"/>
          </p:cNvSpPr>
          <p:nvPr/>
        </p:nvSpPr>
        <p:spPr bwMode="auto">
          <a:xfrm>
            <a:off x="6681653" y="2208679"/>
            <a:ext cx="2730500" cy="1422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  <a:r>
              <a:rPr lang="en-US" altLang="zh-CN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的工作</a:t>
            </a:r>
            <a:endParaRPr lang="en-US" altLang="zh-CN" sz="2000" b="1" dirty="0">
              <a:solidFill>
                <a:srgbClr val="505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访问存储器</a:t>
            </a:r>
            <a:endParaRPr lang="en-US" altLang="zh-CN" sz="2000" b="1" dirty="0">
              <a:solidFill>
                <a:srgbClr val="505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设备驱动、中断处理</a:t>
            </a:r>
          </a:p>
        </p:txBody>
      </p:sp>
      <p:sp>
        <p:nvSpPr>
          <p:cNvPr id="47119" name="文本框 55"/>
          <p:cNvSpPr txBox="1">
            <a:spLocks noChangeArrowheads="1"/>
          </p:cNvSpPr>
          <p:nvPr/>
        </p:nvSpPr>
        <p:spPr bwMode="auto">
          <a:xfrm>
            <a:off x="6272213" y="1439667"/>
            <a:ext cx="1920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与硬件关系</a:t>
            </a:r>
          </a:p>
        </p:txBody>
      </p:sp>
      <p:sp>
        <p:nvSpPr>
          <p:cNvPr id="47120" name="文本框 56"/>
          <p:cNvSpPr txBox="1">
            <a:spLocks noChangeArrowheads="1"/>
          </p:cNvSpPr>
          <p:nvPr/>
        </p:nvSpPr>
        <p:spPr bwMode="auto">
          <a:xfrm>
            <a:off x="6272213" y="4041422"/>
            <a:ext cx="412738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与用户及应用程序的关系</a:t>
            </a:r>
          </a:p>
        </p:txBody>
      </p:sp>
      <p:sp>
        <p:nvSpPr>
          <p:cNvPr id="27" name="矩形 26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9" name="矩形 28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31" name="文本框 25"/>
          <p:cNvSpPr txBox="1">
            <a:spLocks noChangeArrowheads="1"/>
          </p:cNvSpPr>
          <p:nvPr/>
        </p:nvSpPr>
        <p:spPr bwMode="auto">
          <a:xfrm>
            <a:off x="902970" y="933430"/>
            <a:ext cx="38779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操作系统与各层之间的关系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Group 31"/>
          <p:cNvGrpSpPr>
            <a:grpSpLocks/>
          </p:cNvGrpSpPr>
          <p:nvPr/>
        </p:nvGrpSpPr>
        <p:grpSpPr bwMode="auto">
          <a:xfrm>
            <a:off x="934706" y="1550025"/>
            <a:ext cx="4114800" cy="3962400"/>
            <a:chOff x="107" y="754"/>
            <a:chExt cx="2592" cy="2496"/>
          </a:xfrm>
        </p:grpSpPr>
        <p:sp>
          <p:nvSpPr>
            <p:cNvPr id="22" name="Oval 30"/>
            <p:cNvSpPr>
              <a:spLocks noChangeArrowheads="1"/>
            </p:cNvSpPr>
            <p:nvPr/>
          </p:nvSpPr>
          <p:spPr bwMode="auto">
            <a:xfrm>
              <a:off x="107" y="754"/>
              <a:ext cx="2592" cy="249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zh-CN"/>
            </a:p>
          </p:txBody>
        </p:sp>
        <p:sp>
          <p:nvSpPr>
            <p:cNvPr id="23" name="Oval 31"/>
            <p:cNvSpPr>
              <a:spLocks noChangeArrowheads="1"/>
            </p:cNvSpPr>
            <p:nvPr/>
          </p:nvSpPr>
          <p:spPr bwMode="auto">
            <a:xfrm>
              <a:off x="467" y="1090"/>
              <a:ext cx="1872" cy="1776"/>
            </a:xfrm>
            <a:prstGeom prst="ellipse">
              <a:avLst/>
            </a:prstGeom>
            <a:solidFill>
              <a:srgbClr val="FF3399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zh-CN"/>
            </a:p>
          </p:txBody>
        </p:sp>
        <p:sp>
          <p:nvSpPr>
            <p:cNvPr id="24" name="Oval 32"/>
            <p:cNvSpPr>
              <a:spLocks noChangeArrowheads="1"/>
            </p:cNvSpPr>
            <p:nvPr/>
          </p:nvSpPr>
          <p:spPr bwMode="auto">
            <a:xfrm>
              <a:off x="779" y="1402"/>
              <a:ext cx="1328" cy="1200"/>
            </a:xfrm>
            <a:prstGeom prst="ellipse">
              <a:avLst/>
            </a:prstGeom>
            <a:solidFill>
              <a:srgbClr val="CC9900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zh-CN"/>
            </a:p>
          </p:txBody>
        </p:sp>
        <p:sp>
          <p:nvSpPr>
            <p:cNvPr id="25" name="Oval 33"/>
            <p:cNvSpPr>
              <a:spLocks noChangeArrowheads="1"/>
            </p:cNvSpPr>
            <p:nvPr/>
          </p:nvSpPr>
          <p:spPr bwMode="auto">
            <a:xfrm>
              <a:off x="1163" y="1786"/>
              <a:ext cx="576" cy="480"/>
            </a:xfrm>
            <a:prstGeom prst="ellipse">
              <a:avLst/>
            </a:prstGeom>
            <a:solidFill>
              <a:srgbClr val="FF66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26" name="Text Box 34"/>
            <p:cNvSpPr txBox="1">
              <a:spLocks noChangeArrowheads="1"/>
            </p:cNvSpPr>
            <p:nvPr/>
          </p:nvSpPr>
          <p:spPr bwMode="auto">
            <a:xfrm>
              <a:off x="1199" y="1940"/>
              <a:ext cx="540" cy="2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kumimoji="1" lang="en-US" altLang="zh-CN" sz="1600">
                  <a:solidFill>
                    <a:srgbClr val="000000"/>
                  </a:solidFill>
                  <a:latin typeface="Times New Roman" pitchFamily="18" charset="0"/>
                </a:rPr>
                <a:t>  </a:t>
              </a:r>
              <a:r>
                <a:rPr kumimoji="1" lang="zh-CN" altLang="en-US" sz="1600">
                  <a:solidFill>
                    <a:srgbClr val="000000"/>
                  </a:solidFill>
                  <a:latin typeface="Times New Roman" pitchFamily="18" charset="0"/>
                </a:rPr>
                <a:t>裸机</a:t>
              </a:r>
            </a:p>
          </p:txBody>
        </p:sp>
        <p:sp>
          <p:nvSpPr>
            <p:cNvPr id="33" name="Text Box 35"/>
            <p:cNvSpPr txBox="1">
              <a:spLocks noChangeArrowheads="1"/>
            </p:cNvSpPr>
            <p:nvPr/>
          </p:nvSpPr>
          <p:spPr bwMode="auto">
            <a:xfrm>
              <a:off x="1059" y="1501"/>
              <a:ext cx="248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1600" dirty="0">
                  <a:solidFill>
                    <a:srgbClr val="000000"/>
                  </a:solidFill>
                  <a:latin typeface="Times New Roman" pitchFamily="18" charset="0"/>
                </a:rPr>
                <a:t>作</a:t>
              </a:r>
            </a:p>
          </p:txBody>
        </p:sp>
        <p:sp>
          <p:nvSpPr>
            <p:cNvPr id="34" name="Text Box 36"/>
            <p:cNvSpPr txBox="1">
              <a:spLocks noChangeArrowheads="1"/>
            </p:cNvSpPr>
            <p:nvPr/>
          </p:nvSpPr>
          <p:spPr bwMode="auto">
            <a:xfrm>
              <a:off x="1595" y="1522"/>
              <a:ext cx="248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1600">
                  <a:solidFill>
                    <a:srgbClr val="000000"/>
                  </a:solidFill>
                  <a:latin typeface="Times New Roman" pitchFamily="18" charset="0"/>
                </a:rPr>
                <a:t>系</a:t>
              </a:r>
            </a:p>
          </p:txBody>
        </p:sp>
        <p:sp>
          <p:nvSpPr>
            <p:cNvPr id="35" name="Text Box 37"/>
            <p:cNvSpPr txBox="1">
              <a:spLocks noChangeArrowheads="1"/>
            </p:cNvSpPr>
            <p:nvPr/>
          </p:nvSpPr>
          <p:spPr bwMode="auto">
            <a:xfrm>
              <a:off x="923" y="2098"/>
              <a:ext cx="248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1600">
                  <a:solidFill>
                    <a:srgbClr val="000000"/>
                  </a:solidFill>
                  <a:latin typeface="Times New Roman" pitchFamily="18" charset="0"/>
                </a:rPr>
                <a:t>操</a:t>
              </a:r>
            </a:p>
          </p:txBody>
        </p:sp>
        <p:sp>
          <p:nvSpPr>
            <p:cNvPr id="36" name="Text Box 38"/>
            <p:cNvSpPr txBox="1">
              <a:spLocks noChangeArrowheads="1"/>
            </p:cNvSpPr>
            <p:nvPr/>
          </p:nvSpPr>
          <p:spPr bwMode="auto">
            <a:xfrm>
              <a:off x="1739" y="2146"/>
              <a:ext cx="248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1600">
                  <a:solidFill>
                    <a:srgbClr val="000000"/>
                  </a:solidFill>
                  <a:latin typeface="Times New Roman" pitchFamily="18" charset="0"/>
                </a:rPr>
                <a:t>统</a:t>
              </a:r>
            </a:p>
          </p:txBody>
        </p:sp>
        <p:sp>
          <p:nvSpPr>
            <p:cNvPr id="37" name="Text Box 39"/>
            <p:cNvSpPr txBox="1">
              <a:spLocks noChangeArrowheads="1"/>
            </p:cNvSpPr>
            <p:nvPr/>
          </p:nvSpPr>
          <p:spPr bwMode="auto">
            <a:xfrm>
              <a:off x="749" y="2455"/>
              <a:ext cx="270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1600">
                  <a:solidFill>
                    <a:srgbClr val="000000"/>
                  </a:solidFill>
                  <a:latin typeface="Times New Roman" pitchFamily="18" charset="0"/>
                </a:rPr>
                <a:t>其</a:t>
              </a:r>
            </a:p>
          </p:txBody>
        </p:sp>
        <p:sp>
          <p:nvSpPr>
            <p:cNvPr id="38" name="Text Box 40"/>
            <p:cNvSpPr txBox="1">
              <a:spLocks noChangeArrowheads="1"/>
            </p:cNvSpPr>
            <p:nvPr/>
          </p:nvSpPr>
          <p:spPr bwMode="auto">
            <a:xfrm>
              <a:off x="539" y="1762"/>
              <a:ext cx="270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1600">
                  <a:solidFill>
                    <a:srgbClr val="000000"/>
                  </a:solidFill>
                  <a:latin typeface="Times New Roman" pitchFamily="18" charset="0"/>
                </a:rPr>
                <a:t>他</a:t>
              </a:r>
            </a:p>
          </p:txBody>
        </p:sp>
        <p:sp>
          <p:nvSpPr>
            <p:cNvPr id="39" name="Text Box 41"/>
            <p:cNvSpPr txBox="1">
              <a:spLocks noChangeArrowheads="1"/>
            </p:cNvSpPr>
            <p:nvPr/>
          </p:nvSpPr>
          <p:spPr bwMode="auto">
            <a:xfrm>
              <a:off x="941" y="1186"/>
              <a:ext cx="270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1600">
                  <a:solidFill>
                    <a:srgbClr val="000000"/>
                  </a:solidFill>
                  <a:latin typeface="Times New Roman" pitchFamily="18" charset="0"/>
                </a:rPr>
                <a:t>系</a:t>
              </a:r>
            </a:p>
          </p:txBody>
        </p:sp>
        <p:sp>
          <p:nvSpPr>
            <p:cNvPr id="40" name="Text Box 42"/>
            <p:cNvSpPr txBox="1">
              <a:spLocks noChangeArrowheads="1"/>
            </p:cNvSpPr>
            <p:nvPr/>
          </p:nvSpPr>
          <p:spPr bwMode="auto">
            <a:xfrm>
              <a:off x="1709" y="1234"/>
              <a:ext cx="270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1600">
                  <a:solidFill>
                    <a:srgbClr val="000000"/>
                  </a:solidFill>
                  <a:latin typeface="Times New Roman" pitchFamily="18" charset="0"/>
                </a:rPr>
                <a:t>统</a:t>
              </a:r>
            </a:p>
          </p:txBody>
        </p:sp>
        <p:sp>
          <p:nvSpPr>
            <p:cNvPr id="41" name="Text Box 43"/>
            <p:cNvSpPr txBox="1">
              <a:spLocks noChangeArrowheads="1"/>
            </p:cNvSpPr>
            <p:nvPr/>
          </p:nvSpPr>
          <p:spPr bwMode="auto">
            <a:xfrm>
              <a:off x="2123" y="1807"/>
              <a:ext cx="270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1600">
                  <a:solidFill>
                    <a:srgbClr val="000000"/>
                  </a:solidFill>
                  <a:latin typeface="Times New Roman" pitchFamily="18" charset="0"/>
                </a:rPr>
                <a:t>软</a:t>
              </a:r>
            </a:p>
          </p:txBody>
        </p:sp>
        <p:sp>
          <p:nvSpPr>
            <p:cNvPr id="42" name="Text Box 44"/>
            <p:cNvSpPr txBox="1">
              <a:spLocks noChangeArrowheads="1"/>
            </p:cNvSpPr>
            <p:nvPr/>
          </p:nvSpPr>
          <p:spPr bwMode="auto">
            <a:xfrm>
              <a:off x="1853" y="2434"/>
              <a:ext cx="270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1600" dirty="0">
                  <a:solidFill>
                    <a:srgbClr val="000000"/>
                  </a:solidFill>
                  <a:latin typeface="Times New Roman" pitchFamily="18" charset="0"/>
                </a:rPr>
                <a:t>件</a:t>
              </a:r>
            </a:p>
          </p:txBody>
        </p:sp>
        <p:sp>
          <p:nvSpPr>
            <p:cNvPr id="43" name="Text Box 45"/>
            <p:cNvSpPr txBox="1">
              <a:spLocks noChangeArrowheads="1"/>
            </p:cNvSpPr>
            <p:nvPr/>
          </p:nvSpPr>
          <p:spPr bwMode="auto">
            <a:xfrm>
              <a:off x="251" y="2386"/>
              <a:ext cx="336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1600">
                  <a:solidFill>
                    <a:srgbClr val="000000"/>
                  </a:solidFill>
                  <a:latin typeface="Times New Roman" pitchFamily="18" charset="0"/>
                </a:rPr>
                <a:t>用</a:t>
              </a:r>
            </a:p>
          </p:txBody>
        </p:sp>
        <p:sp>
          <p:nvSpPr>
            <p:cNvPr id="44" name="Text Box 46"/>
            <p:cNvSpPr txBox="1">
              <a:spLocks noChangeArrowheads="1"/>
            </p:cNvSpPr>
            <p:nvPr/>
          </p:nvSpPr>
          <p:spPr bwMode="auto">
            <a:xfrm>
              <a:off x="875" y="2818"/>
              <a:ext cx="336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1600">
                  <a:solidFill>
                    <a:srgbClr val="000000"/>
                  </a:solidFill>
                  <a:latin typeface="Times New Roman" pitchFamily="18" charset="0"/>
                </a:rPr>
                <a:t>户</a:t>
              </a:r>
            </a:p>
          </p:txBody>
        </p:sp>
        <p:sp>
          <p:nvSpPr>
            <p:cNvPr id="45" name="Text Box 47"/>
            <p:cNvSpPr txBox="1">
              <a:spLocks noChangeArrowheads="1"/>
            </p:cNvSpPr>
            <p:nvPr/>
          </p:nvSpPr>
          <p:spPr bwMode="auto">
            <a:xfrm>
              <a:off x="347" y="1234"/>
              <a:ext cx="336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1600">
                  <a:solidFill>
                    <a:srgbClr val="000000"/>
                  </a:solidFill>
                  <a:latin typeface="Times New Roman" pitchFamily="18" charset="0"/>
                </a:rPr>
                <a:t>应</a:t>
              </a:r>
            </a:p>
          </p:txBody>
        </p:sp>
        <p:sp>
          <p:nvSpPr>
            <p:cNvPr id="46" name="Text Box 48"/>
            <p:cNvSpPr txBox="1">
              <a:spLocks noChangeArrowheads="1"/>
            </p:cNvSpPr>
            <p:nvPr/>
          </p:nvSpPr>
          <p:spPr bwMode="auto">
            <a:xfrm>
              <a:off x="971" y="850"/>
              <a:ext cx="336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1600">
                  <a:solidFill>
                    <a:srgbClr val="000000"/>
                  </a:solidFill>
                  <a:latin typeface="Times New Roman" pitchFamily="18" charset="0"/>
                </a:rPr>
                <a:t>用</a:t>
              </a:r>
            </a:p>
          </p:txBody>
        </p:sp>
        <p:sp>
          <p:nvSpPr>
            <p:cNvPr id="47" name="Text Box 49"/>
            <p:cNvSpPr txBox="1">
              <a:spLocks noChangeArrowheads="1"/>
            </p:cNvSpPr>
            <p:nvPr/>
          </p:nvSpPr>
          <p:spPr bwMode="auto">
            <a:xfrm>
              <a:off x="1643" y="850"/>
              <a:ext cx="336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1600">
                  <a:solidFill>
                    <a:srgbClr val="000000"/>
                  </a:solidFill>
                  <a:latin typeface="Times New Roman" pitchFamily="18" charset="0"/>
                </a:rPr>
                <a:t>程</a:t>
              </a:r>
            </a:p>
          </p:txBody>
        </p:sp>
        <p:sp>
          <p:nvSpPr>
            <p:cNvPr id="48" name="Text Box 50"/>
            <p:cNvSpPr txBox="1">
              <a:spLocks noChangeArrowheads="1"/>
            </p:cNvSpPr>
            <p:nvPr/>
          </p:nvSpPr>
          <p:spPr bwMode="auto">
            <a:xfrm>
              <a:off x="2219" y="1234"/>
              <a:ext cx="336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1600">
                  <a:solidFill>
                    <a:srgbClr val="000000"/>
                  </a:solidFill>
                  <a:latin typeface="Times New Roman" pitchFamily="18" charset="0"/>
                </a:rPr>
                <a:t>序</a:t>
              </a:r>
            </a:p>
          </p:txBody>
        </p:sp>
        <p:sp>
          <p:nvSpPr>
            <p:cNvPr id="53" name="Text Box 51"/>
            <p:cNvSpPr txBox="1">
              <a:spLocks noChangeArrowheads="1"/>
            </p:cNvSpPr>
            <p:nvPr/>
          </p:nvSpPr>
          <p:spPr bwMode="auto">
            <a:xfrm>
              <a:off x="2315" y="2338"/>
              <a:ext cx="336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1600">
                  <a:solidFill>
                    <a:srgbClr val="000000"/>
                  </a:solidFill>
                  <a:latin typeface="Times New Roman" pitchFamily="18" charset="0"/>
                </a:rPr>
                <a:t>序</a:t>
              </a:r>
            </a:p>
          </p:txBody>
        </p:sp>
        <p:sp>
          <p:nvSpPr>
            <p:cNvPr id="55" name="Text Box 52"/>
            <p:cNvSpPr txBox="1">
              <a:spLocks noChangeArrowheads="1"/>
            </p:cNvSpPr>
            <p:nvPr/>
          </p:nvSpPr>
          <p:spPr bwMode="auto">
            <a:xfrm>
              <a:off x="1787" y="2818"/>
              <a:ext cx="336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1600">
                  <a:solidFill>
                    <a:srgbClr val="000000"/>
                  </a:solidFill>
                  <a:latin typeface="Times New Roman" pitchFamily="18" charset="0"/>
                </a:rPr>
                <a:t>程</a:t>
              </a:r>
            </a:p>
          </p:txBody>
        </p:sp>
      </p:grpSp>
      <p:sp>
        <p:nvSpPr>
          <p:cNvPr id="56" name="Freeform 93"/>
          <p:cNvSpPr>
            <a:spLocks noEditPoints="1"/>
          </p:cNvSpPr>
          <p:nvPr/>
        </p:nvSpPr>
        <p:spPr bwMode="auto">
          <a:xfrm>
            <a:off x="6418263" y="2373697"/>
            <a:ext cx="193675" cy="260350"/>
          </a:xfrm>
          <a:custGeom>
            <a:avLst/>
            <a:gdLst>
              <a:gd name="T0" fmla="*/ 188 w 216"/>
              <a:gd name="T1" fmla="*/ 126 h 288"/>
              <a:gd name="T2" fmla="*/ 188 w 216"/>
              <a:gd name="T3" fmla="*/ 79 h 288"/>
              <a:gd name="T4" fmla="*/ 109 w 216"/>
              <a:gd name="T5" fmla="*/ 0 h 288"/>
              <a:gd name="T6" fmla="*/ 108 w 216"/>
              <a:gd name="T7" fmla="*/ 0 h 288"/>
              <a:gd name="T8" fmla="*/ 106 w 216"/>
              <a:gd name="T9" fmla="*/ 0 h 288"/>
              <a:gd name="T10" fmla="*/ 28 w 216"/>
              <a:gd name="T11" fmla="*/ 79 h 288"/>
              <a:gd name="T12" fmla="*/ 28 w 216"/>
              <a:gd name="T13" fmla="*/ 126 h 288"/>
              <a:gd name="T14" fmla="*/ 0 w 216"/>
              <a:gd name="T15" fmla="*/ 126 h 288"/>
              <a:gd name="T16" fmla="*/ 0 w 216"/>
              <a:gd name="T17" fmla="*/ 288 h 288"/>
              <a:gd name="T18" fmla="*/ 216 w 216"/>
              <a:gd name="T19" fmla="*/ 288 h 288"/>
              <a:gd name="T20" fmla="*/ 216 w 216"/>
              <a:gd name="T21" fmla="*/ 126 h 288"/>
              <a:gd name="T22" fmla="*/ 188 w 216"/>
              <a:gd name="T23" fmla="*/ 126 h 288"/>
              <a:gd name="T24" fmla="*/ 133 w 216"/>
              <a:gd name="T25" fmla="*/ 259 h 288"/>
              <a:gd name="T26" fmla="*/ 84 w 216"/>
              <a:gd name="T27" fmla="*/ 259 h 288"/>
              <a:gd name="T28" fmla="*/ 96 w 216"/>
              <a:gd name="T29" fmla="*/ 206 h 288"/>
              <a:gd name="T30" fmla="*/ 84 w 216"/>
              <a:gd name="T31" fmla="*/ 185 h 288"/>
              <a:gd name="T32" fmla="*/ 108 w 216"/>
              <a:gd name="T33" fmla="*/ 161 h 288"/>
              <a:gd name="T34" fmla="*/ 133 w 216"/>
              <a:gd name="T35" fmla="*/ 185 h 288"/>
              <a:gd name="T36" fmla="*/ 120 w 216"/>
              <a:gd name="T37" fmla="*/ 206 h 288"/>
              <a:gd name="T38" fmla="*/ 133 w 216"/>
              <a:gd name="T39" fmla="*/ 259 h 288"/>
              <a:gd name="T40" fmla="*/ 148 w 216"/>
              <a:gd name="T41" fmla="*/ 126 h 288"/>
              <a:gd name="T42" fmla="*/ 67 w 216"/>
              <a:gd name="T43" fmla="*/ 126 h 288"/>
              <a:gd name="T44" fmla="*/ 67 w 216"/>
              <a:gd name="T45" fmla="*/ 79 h 288"/>
              <a:gd name="T46" fmla="*/ 106 w 216"/>
              <a:gd name="T47" fmla="*/ 40 h 288"/>
              <a:gd name="T48" fmla="*/ 108 w 216"/>
              <a:gd name="T49" fmla="*/ 40 h 288"/>
              <a:gd name="T50" fmla="*/ 109 w 216"/>
              <a:gd name="T51" fmla="*/ 40 h 288"/>
              <a:gd name="T52" fmla="*/ 148 w 216"/>
              <a:gd name="T53" fmla="*/ 79 h 288"/>
              <a:gd name="T54" fmla="*/ 148 w 216"/>
              <a:gd name="T55" fmla="*/ 126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16" h="288">
                <a:moveTo>
                  <a:pt x="188" y="126"/>
                </a:moveTo>
                <a:cubicBezTo>
                  <a:pt x="188" y="79"/>
                  <a:pt x="188" y="79"/>
                  <a:pt x="188" y="79"/>
                </a:cubicBezTo>
                <a:cubicBezTo>
                  <a:pt x="188" y="36"/>
                  <a:pt x="152" y="0"/>
                  <a:pt x="109" y="0"/>
                </a:cubicBezTo>
                <a:cubicBezTo>
                  <a:pt x="109" y="0"/>
                  <a:pt x="108" y="0"/>
                  <a:pt x="108" y="0"/>
                </a:cubicBezTo>
                <a:cubicBezTo>
                  <a:pt x="107" y="0"/>
                  <a:pt x="107" y="0"/>
                  <a:pt x="106" y="0"/>
                </a:cubicBezTo>
                <a:cubicBezTo>
                  <a:pt x="63" y="0"/>
                  <a:pt x="28" y="36"/>
                  <a:pt x="28" y="79"/>
                </a:cubicBezTo>
                <a:cubicBezTo>
                  <a:pt x="28" y="126"/>
                  <a:pt x="28" y="126"/>
                  <a:pt x="28" y="126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288"/>
                  <a:pt x="0" y="288"/>
                  <a:pt x="0" y="288"/>
                </a:cubicBezTo>
                <a:cubicBezTo>
                  <a:pt x="216" y="288"/>
                  <a:pt x="216" y="288"/>
                  <a:pt x="216" y="288"/>
                </a:cubicBezTo>
                <a:cubicBezTo>
                  <a:pt x="216" y="126"/>
                  <a:pt x="216" y="126"/>
                  <a:pt x="216" y="126"/>
                </a:cubicBezTo>
                <a:lnTo>
                  <a:pt x="188" y="126"/>
                </a:lnTo>
                <a:close/>
                <a:moveTo>
                  <a:pt x="133" y="259"/>
                </a:moveTo>
                <a:cubicBezTo>
                  <a:pt x="84" y="259"/>
                  <a:pt x="84" y="259"/>
                  <a:pt x="84" y="259"/>
                </a:cubicBezTo>
                <a:cubicBezTo>
                  <a:pt x="96" y="206"/>
                  <a:pt x="96" y="206"/>
                  <a:pt x="96" y="206"/>
                </a:cubicBezTo>
                <a:cubicBezTo>
                  <a:pt x="88" y="202"/>
                  <a:pt x="84" y="194"/>
                  <a:pt x="84" y="185"/>
                </a:cubicBezTo>
                <a:cubicBezTo>
                  <a:pt x="84" y="172"/>
                  <a:pt x="95" y="161"/>
                  <a:pt x="108" y="161"/>
                </a:cubicBezTo>
                <a:cubicBezTo>
                  <a:pt x="122" y="161"/>
                  <a:pt x="133" y="172"/>
                  <a:pt x="133" y="185"/>
                </a:cubicBezTo>
                <a:cubicBezTo>
                  <a:pt x="133" y="194"/>
                  <a:pt x="128" y="202"/>
                  <a:pt x="120" y="206"/>
                </a:cubicBezTo>
                <a:lnTo>
                  <a:pt x="133" y="259"/>
                </a:lnTo>
                <a:close/>
                <a:moveTo>
                  <a:pt x="148" y="126"/>
                </a:moveTo>
                <a:cubicBezTo>
                  <a:pt x="67" y="126"/>
                  <a:pt x="67" y="126"/>
                  <a:pt x="67" y="126"/>
                </a:cubicBezTo>
                <a:cubicBezTo>
                  <a:pt x="67" y="79"/>
                  <a:pt x="67" y="79"/>
                  <a:pt x="67" y="79"/>
                </a:cubicBezTo>
                <a:cubicBezTo>
                  <a:pt x="67" y="57"/>
                  <a:pt x="85" y="40"/>
                  <a:pt x="106" y="40"/>
                </a:cubicBezTo>
                <a:cubicBezTo>
                  <a:pt x="107" y="40"/>
                  <a:pt x="108" y="40"/>
                  <a:pt x="108" y="40"/>
                </a:cubicBezTo>
                <a:cubicBezTo>
                  <a:pt x="108" y="40"/>
                  <a:pt x="109" y="40"/>
                  <a:pt x="109" y="40"/>
                </a:cubicBezTo>
                <a:cubicBezTo>
                  <a:pt x="131" y="40"/>
                  <a:pt x="148" y="57"/>
                  <a:pt x="148" y="79"/>
                </a:cubicBezTo>
                <a:lnTo>
                  <a:pt x="148" y="126"/>
                </a:lnTo>
                <a:close/>
              </a:path>
            </a:pathLst>
          </a:custGeom>
          <a:noFill/>
          <a:ln w="9525">
            <a:solidFill>
              <a:srgbClr val="3D735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solidFill>
                <a:srgbClr val="3D7351"/>
              </a:solidFill>
            </a:endParaRPr>
          </a:p>
        </p:txBody>
      </p:sp>
      <p:sp>
        <p:nvSpPr>
          <p:cNvPr id="57" name="Freeform 93"/>
          <p:cNvSpPr>
            <a:spLocks noEditPoints="1"/>
          </p:cNvSpPr>
          <p:nvPr/>
        </p:nvSpPr>
        <p:spPr bwMode="auto">
          <a:xfrm>
            <a:off x="6418262" y="2826707"/>
            <a:ext cx="193675" cy="260350"/>
          </a:xfrm>
          <a:custGeom>
            <a:avLst/>
            <a:gdLst>
              <a:gd name="T0" fmla="*/ 188 w 216"/>
              <a:gd name="T1" fmla="*/ 126 h 288"/>
              <a:gd name="T2" fmla="*/ 188 w 216"/>
              <a:gd name="T3" fmla="*/ 79 h 288"/>
              <a:gd name="T4" fmla="*/ 109 w 216"/>
              <a:gd name="T5" fmla="*/ 0 h 288"/>
              <a:gd name="T6" fmla="*/ 108 w 216"/>
              <a:gd name="T7" fmla="*/ 0 h 288"/>
              <a:gd name="T8" fmla="*/ 106 w 216"/>
              <a:gd name="T9" fmla="*/ 0 h 288"/>
              <a:gd name="T10" fmla="*/ 28 w 216"/>
              <a:gd name="T11" fmla="*/ 79 h 288"/>
              <a:gd name="T12" fmla="*/ 28 w 216"/>
              <a:gd name="T13" fmla="*/ 126 h 288"/>
              <a:gd name="T14" fmla="*/ 0 w 216"/>
              <a:gd name="T15" fmla="*/ 126 h 288"/>
              <a:gd name="T16" fmla="*/ 0 w 216"/>
              <a:gd name="T17" fmla="*/ 288 h 288"/>
              <a:gd name="T18" fmla="*/ 216 w 216"/>
              <a:gd name="T19" fmla="*/ 288 h 288"/>
              <a:gd name="T20" fmla="*/ 216 w 216"/>
              <a:gd name="T21" fmla="*/ 126 h 288"/>
              <a:gd name="T22" fmla="*/ 188 w 216"/>
              <a:gd name="T23" fmla="*/ 126 h 288"/>
              <a:gd name="T24" fmla="*/ 133 w 216"/>
              <a:gd name="T25" fmla="*/ 259 h 288"/>
              <a:gd name="T26" fmla="*/ 84 w 216"/>
              <a:gd name="T27" fmla="*/ 259 h 288"/>
              <a:gd name="T28" fmla="*/ 96 w 216"/>
              <a:gd name="T29" fmla="*/ 206 h 288"/>
              <a:gd name="T30" fmla="*/ 84 w 216"/>
              <a:gd name="T31" fmla="*/ 185 h 288"/>
              <a:gd name="T32" fmla="*/ 108 w 216"/>
              <a:gd name="T33" fmla="*/ 161 h 288"/>
              <a:gd name="T34" fmla="*/ 133 w 216"/>
              <a:gd name="T35" fmla="*/ 185 h 288"/>
              <a:gd name="T36" fmla="*/ 120 w 216"/>
              <a:gd name="T37" fmla="*/ 206 h 288"/>
              <a:gd name="T38" fmla="*/ 133 w 216"/>
              <a:gd name="T39" fmla="*/ 259 h 288"/>
              <a:gd name="T40" fmla="*/ 148 w 216"/>
              <a:gd name="T41" fmla="*/ 126 h 288"/>
              <a:gd name="T42" fmla="*/ 67 w 216"/>
              <a:gd name="T43" fmla="*/ 126 h 288"/>
              <a:gd name="T44" fmla="*/ 67 w 216"/>
              <a:gd name="T45" fmla="*/ 79 h 288"/>
              <a:gd name="T46" fmla="*/ 106 w 216"/>
              <a:gd name="T47" fmla="*/ 40 h 288"/>
              <a:gd name="T48" fmla="*/ 108 w 216"/>
              <a:gd name="T49" fmla="*/ 40 h 288"/>
              <a:gd name="T50" fmla="*/ 109 w 216"/>
              <a:gd name="T51" fmla="*/ 40 h 288"/>
              <a:gd name="T52" fmla="*/ 148 w 216"/>
              <a:gd name="T53" fmla="*/ 79 h 288"/>
              <a:gd name="T54" fmla="*/ 148 w 216"/>
              <a:gd name="T55" fmla="*/ 126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16" h="288">
                <a:moveTo>
                  <a:pt x="188" y="126"/>
                </a:moveTo>
                <a:cubicBezTo>
                  <a:pt x="188" y="79"/>
                  <a:pt x="188" y="79"/>
                  <a:pt x="188" y="79"/>
                </a:cubicBezTo>
                <a:cubicBezTo>
                  <a:pt x="188" y="36"/>
                  <a:pt x="152" y="0"/>
                  <a:pt x="109" y="0"/>
                </a:cubicBezTo>
                <a:cubicBezTo>
                  <a:pt x="109" y="0"/>
                  <a:pt x="108" y="0"/>
                  <a:pt x="108" y="0"/>
                </a:cubicBezTo>
                <a:cubicBezTo>
                  <a:pt x="107" y="0"/>
                  <a:pt x="107" y="0"/>
                  <a:pt x="106" y="0"/>
                </a:cubicBezTo>
                <a:cubicBezTo>
                  <a:pt x="63" y="0"/>
                  <a:pt x="28" y="36"/>
                  <a:pt x="28" y="79"/>
                </a:cubicBezTo>
                <a:cubicBezTo>
                  <a:pt x="28" y="126"/>
                  <a:pt x="28" y="126"/>
                  <a:pt x="28" y="126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288"/>
                  <a:pt x="0" y="288"/>
                  <a:pt x="0" y="288"/>
                </a:cubicBezTo>
                <a:cubicBezTo>
                  <a:pt x="216" y="288"/>
                  <a:pt x="216" y="288"/>
                  <a:pt x="216" y="288"/>
                </a:cubicBezTo>
                <a:cubicBezTo>
                  <a:pt x="216" y="126"/>
                  <a:pt x="216" y="126"/>
                  <a:pt x="216" y="126"/>
                </a:cubicBezTo>
                <a:lnTo>
                  <a:pt x="188" y="126"/>
                </a:lnTo>
                <a:close/>
                <a:moveTo>
                  <a:pt x="133" y="259"/>
                </a:moveTo>
                <a:cubicBezTo>
                  <a:pt x="84" y="259"/>
                  <a:pt x="84" y="259"/>
                  <a:pt x="84" y="259"/>
                </a:cubicBezTo>
                <a:cubicBezTo>
                  <a:pt x="96" y="206"/>
                  <a:pt x="96" y="206"/>
                  <a:pt x="96" y="206"/>
                </a:cubicBezTo>
                <a:cubicBezTo>
                  <a:pt x="88" y="202"/>
                  <a:pt x="84" y="194"/>
                  <a:pt x="84" y="185"/>
                </a:cubicBezTo>
                <a:cubicBezTo>
                  <a:pt x="84" y="172"/>
                  <a:pt x="95" y="161"/>
                  <a:pt x="108" y="161"/>
                </a:cubicBezTo>
                <a:cubicBezTo>
                  <a:pt x="122" y="161"/>
                  <a:pt x="133" y="172"/>
                  <a:pt x="133" y="185"/>
                </a:cubicBezTo>
                <a:cubicBezTo>
                  <a:pt x="133" y="194"/>
                  <a:pt x="128" y="202"/>
                  <a:pt x="120" y="206"/>
                </a:cubicBezTo>
                <a:lnTo>
                  <a:pt x="133" y="259"/>
                </a:lnTo>
                <a:close/>
                <a:moveTo>
                  <a:pt x="148" y="126"/>
                </a:moveTo>
                <a:cubicBezTo>
                  <a:pt x="67" y="126"/>
                  <a:pt x="67" y="126"/>
                  <a:pt x="67" y="126"/>
                </a:cubicBezTo>
                <a:cubicBezTo>
                  <a:pt x="67" y="79"/>
                  <a:pt x="67" y="79"/>
                  <a:pt x="67" y="79"/>
                </a:cubicBezTo>
                <a:cubicBezTo>
                  <a:pt x="67" y="57"/>
                  <a:pt x="85" y="40"/>
                  <a:pt x="106" y="40"/>
                </a:cubicBezTo>
                <a:cubicBezTo>
                  <a:pt x="107" y="40"/>
                  <a:pt x="108" y="40"/>
                  <a:pt x="108" y="40"/>
                </a:cubicBezTo>
                <a:cubicBezTo>
                  <a:pt x="108" y="40"/>
                  <a:pt x="109" y="40"/>
                  <a:pt x="109" y="40"/>
                </a:cubicBezTo>
                <a:cubicBezTo>
                  <a:pt x="131" y="40"/>
                  <a:pt x="148" y="57"/>
                  <a:pt x="148" y="79"/>
                </a:cubicBezTo>
                <a:lnTo>
                  <a:pt x="148" y="126"/>
                </a:lnTo>
                <a:close/>
              </a:path>
            </a:pathLst>
          </a:custGeom>
          <a:noFill/>
          <a:ln w="9525">
            <a:solidFill>
              <a:srgbClr val="3D735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solidFill>
                <a:srgbClr val="3D7351"/>
              </a:solidFill>
            </a:endParaRPr>
          </a:p>
        </p:txBody>
      </p:sp>
      <p:sp>
        <p:nvSpPr>
          <p:cNvPr id="58" name="Freeform 93"/>
          <p:cNvSpPr>
            <a:spLocks noEditPoints="1"/>
          </p:cNvSpPr>
          <p:nvPr/>
        </p:nvSpPr>
        <p:spPr bwMode="auto">
          <a:xfrm>
            <a:off x="6418263" y="3302162"/>
            <a:ext cx="193675" cy="260350"/>
          </a:xfrm>
          <a:custGeom>
            <a:avLst/>
            <a:gdLst>
              <a:gd name="T0" fmla="*/ 188 w 216"/>
              <a:gd name="T1" fmla="*/ 126 h 288"/>
              <a:gd name="T2" fmla="*/ 188 w 216"/>
              <a:gd name="T3" fmla="*/ 79 h 288"/>
              <a:gd name="T4" fmla="*/ 109 w 216"/>
              <a:gd name="T5" fmla="*/ 0 h 288"/>
              <a:gd name="T6" fmla="*/ 108 w 216"/>
              <a:gd name="T7" fmla="*/ 0 h 288"/>
              <a:gd name="T8" fmla="*/ 106 w 216"/>
              <a:gd name="T9" fmla="*/ 0 h 288"/>
              <a:gd name="T10" fmla="*/ 28 w 216"/>
              <a:gd name="T11" fmla="*/ 79 h 288"/>
              <a:gd name="T12" fmla="*/ 28 w 216"/>
              <a:gd name="T13" fmla="*/ 126 h 288"/>
              <a:gd name="T14" fmla="*/ 0 w 216"/>
              <a:gd name="T15" fmla="*/ 126 h 288"/>
              <a:gd name="T16" fmla="*/ 0 w 216"/>
              <a:gd name="T17" fmla="*/ 288 h 288"/>
              <a:gd name="T18" fmla="*/ 216 w 216"/>
              <a:gd name="T19" fmla="*/ 288 h 288"/>
              <a:gd name="T20" fmla="*/ 216 w 216"/>
              <a:gd name="T21" fmla="*/ 126 h 288"/>
              <a:gd name="T22" fmla="*/ 188 w 216"/>
              <a:gd name="T23" fmla="*/ 126 h 288"/>
              <a:gd name="T24" fmla="*/ 133 w 216"/>
              <a:gd name="T25" fmla="*/ 259 h 288"/>
              <a:gd name="T26" fmla="*/ 84 w 216"/>
              <a:gd name="T27" fmla="*/ 259 h 288"/>
              <a:gd name="T28" fmla="*/ 96 w 216"/>
              <a:gd name="T29" fmla="*/ 206 h 288"/>
              <a:gd name="T30" fmla="*/ 84 w 216"/>
              <a:gd name="T31" fmla="*/ 185 h 288"/>
              <a:gd name="T32" fmla="*/ 108 w 216"/>
              <a:gd name="T33" fmla="*/ 161 h 288"/>
              <a:gd name="T34" fmla="*/ 133 w 216"/>
              <a:gd name="T35" fmla="*/ 185 h 288"/>
              <a:gd name="T36" fmla="*/ 120 w 216"/>
              <a:gd name="T37" fmla="*/ 206 h 288"/>
              <a:gd name="T38" fmla="*/ 133 w 216"/>
              <a:gd name="T39" fmla="*/ 259 h 288"/>
              <a:gd name="T40" fmla="*/ 148 w 216"/>
              <a:gd name="T41" fmla="*/ 126 h 288"/>
              <a:gd name="T42" fmla="*/ 67 w 216"/>
              <a:gd name="T43" fmla="*/ 126 h 288"/>
              <a:gd name="T44" fmla="*/ 67 w 216"/>
              <a:gd name="T45" fmla="*/ 79 h 288"/>
              <a:gd name="T46" fmla="*/ 106 w 216"/>
              <a:gd name="T47" fmla="*/ 40 h 288"/>
              <a:gd name="T48" fmla="*/ 108 w 216"/>
              <a:gd name="T49" fmla="*/ 40 h 288"/>
              <a:gd name="T50" fmla="*/ 109 w 216"/>
              <a:gd name="T51" fmla="*/ 40 h 288"/>
              <a:gd name="T52" fmla="*/ 148 w 216"/>
              <a:gd name="T53" fmla="*/ 79 h 288"/>
              <a:gd name="T54" fmla="*/ 148 w 216"/>
              <a:gd name="T55" fmla="*/ 126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16" h="288">
                <a:moveTo>
                  <a:pt x="188" y="126"/>
                </a:moveTo>
                <a:cubicBezTo>
                  <a:pt x="188" y="79"/>
                  <a:pt x="188" y="79"/>
                  <a:pt x="188" y="79"/>
                </a:cubicBezTo>
                <a:cubicBezTo>
                  <a:pt x="188" y="36"/>
                  <a:pt x="152" y="0"/>
                  <a:pt x="109" y="0"/>
                </a:cubicBezTo>
                <a:cubicBezTo>
                  <a:pt x="109" y="0"/>
                  <a:pt x="108" y="0"/>
                  <a:pt x="108" y="0"/>
                </a:cubicBezTo>
                <a:cubicBezTo>
                  <a:pt x="107" y="0"/>
                  <a:pt x="107" y="0"/>
                  <a:pt x="106" y="0"/>
                </a:cubicBezTo>
                <a:cubicBezTo>
                  <a:pt x="63" y="0"/>
                  <a:pt x="28" y="36"/>
                  <a:pt x="28" y="79"/>
                </a:cubicBezTo>
                <a:cubicBezTo>
                  <a:pt x="28" y="126"/>
                  <a:pt x="28" y="126"/>
                  <a:pt x="28" y="126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288"/>
                  <a:pt x="0" y="288"/>
                  <a:pt x="0" y="288"/>
                </a:cubicBezTo>
                <a:cubicBezTo>
                  <a:pt x="216" y="288"/>
                  <a:pt x="216" y="288"/>
                  <a:pt x="216" y="288"/>
                </a:cubicBezTo>
                <a:cubicBezTo>
                  <a:pt x="216" y="126"/>
                  <a:pt x="216" y="126"/>
                  <a:pt x="216" y="126"/>
                </a:cubicBezTo>
                <a:lnTo>
                  <a:pt x="188" y="126"/>
                </a:lnTo>
                <a:close/>
                <a:moveTo>
                  <a:pt x="133" y="259"/>
                </a:moveTo>
                <a:cubicBezTo>
                  <a:pt x="84" y="259"/>
                  <a:pt x="84" y="259"/>
                  <a:pt x="84" y="259"/>
                </a:cubicBezTo>
                <a:cubicBezTo>
                  <a:pt x="96" y="206"/>
                  <a:pt x="96" y="206"/>
                  <a:pt x="96" y="206"/>
                </a:cubicBezTo>
                <a:cubicBezTo>
                  <a:pt x="88" y="202"/>
                  <a:pt x="84" y="194"/>
                  <a:pt x="84" y="185"/>
                </a:cubicBezTo>
                <a:cubicBezTo>
                  <a:pt x="84" y="172"/>
                  <a:pt x="95" y="161"/>
                  <a:pt x="108" y="161"/>
                </a:cubicBezTo>
                <a:cubicBezTo>
                  <a:pt x="122" y="161"/>
                  <a:pt x="133" y="172"/>
                  <a:pt x="133" y="185"/>
                </a:cubicBezTo>
                <a:cubicBezTo>
                  <a:pt x="133" y="194"/>
                  <a:pt x="128" y="202"/>
                  <a:pt x="120" y="206"/>
                </a:cubicBezTo>
                <a:lnTo>
                  <a:pt x="133" y="259"/>
                </a:lnTo>
                <a:close/>
                <a:moveTo>
                  <a:pt x="148" y="126"/>
                </a:moveTo>
                <a:cubicBezTo>
                  <a:pt x="67" y="126"/>
                  <a:pt x="67" y="126"/>
                  <a:pt x="67" y="126"/>
                </a:cubicBezTo>
                <a:cubicBezTo>
                  <a:pt x="67" y="79"/>
                  <a:pt x="67" y="79"/>
                  <a:pt x="67" y="79"/>
                </a:cubicBezTo>
                <a:cubicBezTo>
                  <a:pt x="67" y="57"/>
                  <a:pt x="85" y="40"/>
                  <a:pt x="106" y="40"/>
                </a:cubicBezTo>
                <a:cubicBezTo>
                  <a:pt x="107" y="40"/>
                  <a:pt x="108" y="40"/>
                  <a:pt x="108" y="40"/>
                </a:cubicBezTo>
                <a:cubicBezTo>
                  <a:pt x="108" y="40"/>
                  <a:pt x="109" y="40"/>
                  <a:pt x="109" y="40"/>
                </a:cubicBezTo>
                <a:cubicBezTo>
                  <a:pt x="131" y="40"/>
                  <a:pt x="148" y="57"/>
                  <a:pt x="148" y="79"/>
                </a:cubicBezTo>
                <a:lnTo>
                  <a:pt x="148" y="126"/>
                </a:lnTo>
                <a:close/>
              </a:path>
            </a:pathLst>
          </a:custGeom>
          <a:noFill/>
          <a:ln w="9525">
            <a:solidFill>
              <a:srgbClr val="3D735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solidFill>
                <a:srgbClr val="3D7351"/>
              </a:solidFill>
            </a:endParaRPr>
          </a:p>
        </p:txBody>
      </p:sp>
      <p:sp>
        <p:nvSpPr>
          <p:cNvPr id="59" name="文本框 52"/>
          <p:cNvSpPr txBox="1">
            <a:spLocks noChangeArrowheads="1"/>
          </p:cNvSpPr>
          <p:nvPr/>
        </p:nvSpPr>
        <p:spPr bwMode="auto">
          <a:xfrm>
            <a:off x="6661253" y="4975056"/>
            <a:ext cx="27305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提供方便的用户界面</a:t>
            </a:r>
            <a:endParaRPr lang="en-US" altLang="zh-CN" sz="2000" b="1" dirty="0">
              <a:solidFill>
                <a:srgbClr val="505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提供优质的服务</a:t>
            </a:r>
            <a:endParaRPr lang="en-US" altLang="zh-CN" sz="2000" b="1" dirty="0">
              <a:solidFill>
                <a:srgbClr val="505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Freeform 93"/>
          <p:cNvSpPr>
            <a:spLocks noEditPoints="1"/>
          </p:cNvSpPr>
          <p:nvPr/>
        </p:nvSpPr>
        <p:spPr bwMode="auto">
          <a:xfrm>
            <a:off x="6418261" y="5135865"/>
            <a:ext cx="193675" cy="260350"/>
          </a:xfrm>
          <a:custGeom>
            <a:avLst/>
            <a:gdLst>
              <a:gd name="T0" fmla="*/ 188 w 216"/>
              <a:gd name="T1" fmla="*/ 126 h 288"/>
              <a:gd name="T2" fmla="*/ 188 w 216"/>
              <a:gd name="T3" fmla="*/ 79 h 288"/>
              <a:gd name="T4" fmla="*/ 109 w 216"/>
              <a:gd name="T5" fmla="*/ 0 h 288"/>
              <a:gd name="T6" fmla="*/ 108 w 216"/>
              <a:gd name="T7" fmla="*/ 0 h 288"/>
              <a:gd name="T8" fmla="*/ 106 w 216"/>
              <a:gd name="T9" fmla="*/ 0 h 288"/>
              <a:gd name="T10" fmla="*/ 28 w 216"/>
              <a:gd name="T11" fmla="*/ 79 h 288"/>
              <a:gd name="T12" fmla="*/ 28 w 216"/>
              <a:gd name="T13" fmla="*/ 126 h 288"/>
              <a:gd name="T14" fmla="*/ 0 w 216"/>
              <a:gd name="T15" fmla="*/ 126 h 288"/>
              <a:gd name="T16" fmla="*/ 0 w 216"/>
              <a:gd name="T17" fmla="*/ 288 h 288"/>
              <a:gd name="T18" fmla="*/ 216 w 216"/>
              <a:gd name="T19" fmla="*/ 288 h 288"/>
              <a:gd name="T20" fmla="*/ 216 w 216"/>
              <a:gd name="T21" fmla="*/ 126 h 288"/>
              <a:gd name="T22" fmla="*/ 188 w 216"/>
              <a:gd name="T23" fmla="*/ 126 h 288"/>
              <a:gd name="T24" fmla="*/ 133 w 216"/>
              <a:gd name="T25" fmla="*/ 259 h 288"/>
              <a:gd name="T26" fmla="*/ 84 w 216"/>
              <a:gd name="T27" fmla="*/ 259 h 288"/>
              <a:gd name="T28" fmla="*/ 96 w 216"/>
              <a:gd name="T29" fmla="*/ 206 h 288"/>
              <a:gd name="T30" fmla="*/ 84 w 216"/>
              <a:gd name="T31" fmla="*/ 185 h 288"/>
              <a:gd name="T32" fmla="*/ 108 w 216"/>
              <a:gd name="T33" fmla="*/ 161 h 288"/>
              <a:gd name="T34" fmla="*/ 133 w 216"/>
              <a:gd name="T35" fmla="*/ 185 h 288"/>
              <a:gd name="T36" fmla="*/ 120 w 216"/>
              <a:gd name="T37" fmla="*/ 206 h 288"/>
              <a:gd name="T38" fmla="*/ 133 w 216"/>
              <a:gd name="T39" fmla="*/ 259 h 288"/>
              <a:gd name="T40" fmla="*/ 148 w 216"/>
              <a:gd name="T41" fmla="*/ 126 h 288"/>
              <a:gd name="T42" fmla="*/ 67 w 216"/>
              <a:gd name="T43" fmla="*/ 126 h 288"/>
              <a:gd name="T44" fmla="*/ 67 w 216"/>
              <a:gd name="T45" fmla="*/ 79 h 288"/>
              <a:gd name="T46" fmla="*/ 106 w 216"/>
              <a:gd name="T47" fmla="*/ 40 h 288"/>
              <a:gd name="T48" fmla="*/ 108 w 216"/>
              <a:gd name="T49" fmla="*/ 40 h 288"/>
              <a:gd name="T50" fmla="*/ 109 w 216"/>
              <a:gd name="T51" fmla="*/ 40 h 288"/>
              <a:gd name="T52" fmla="*/ 148 w 216"/>
              <a:gd name="T53" fmla="*/ 79 h 288"/>
              <a:gd name="T54" fmla="*/ 148 w 216"/>
              <a:gd name="T55" fmla="*/ 126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16" h="288">
                <a:moveTo>
                  <a:pt x="188" y="126"/>
                </a:moveTo>
                <a:cubicBezTo>
                  <a:pt x="188" y="79"/>
                  <a:pt x="188" y="79"/>
                  <a:pt x="188" y="79"/>
                </a:cubicBezTo>
                <a:cubicBezTo>
                  <a:pt x="188" y="36"/>
                  <a:pt x="152" y="0"/>
                  <a:pt x="109" y="0"/>
                </a:cubicBezTo>
                <a:cubicBezTo>
                  <a:pt x="109" y="0"/>
                  <a:pt x="108" y="0"/>
                  <a:pt x="108" y="0"/>
                </a:cubicBezTo>
                <a:cubicBezTo>
                  <a:pt x="107" y="0"/>
                  <a:pt x="107" y="0"/>
                  <a:pt x="106" y="0"/>
                </a:cubicBezTo>
                <a:cubicBezTo>
                  <a:pt x="63" y="0"/>
                  <a:pt x="28" y="36"/>
                  <a:pt x="28" y="79"/>
                </a:cubicBezTo>
                <a:cubicBezTo>
                  <a:pt x="28" y="126"/>
                  <a:pt x="28" y="126"/>
                  <a:pt x="28" y="126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288"/>
                  <a:pt x="0" y="288"/>
                  <a:pt x="0" y="288"/>
                </a:cubicBezTo>
                <a:cubicBezTo>
                  <a:pt x="216" y="288"/>
                  <a:pt x="216" y="288"/>
                  <a:pt x="216" y="288"/>
                </a:cubicBezTo>
                <a:cubicBezTo>
                  <a:pt x="216" y="126"/>
                  <a:pt x="216" y="126"/>
                  <a:pt x="216" y="126"/>
                </a:cubicBezTo>
                <a:lnTo>
                  <a:pt x="188" y="126"/>
                </a:lnTo>
                <a:close/>
                <a:moveTo>
                  <a:pt x="133" y="259"/>
                </a:moveTo>
                <a:cubicBezTo>
                  <a:pt x="84" y="259"/>
                  <a:pt x="84" y="259"/>
                  <a:pt x="84" y="259"/>
                </a:cubicBezTo>
                <a:cubicBezTo>
                  <a:pt x="96" y="206"/>
                  <a:pt x="96" y="206"/>
                  <a:pt x="96" y="206"/>
                </a:cubicBezTo>
                <a:cubicBezTo>
                  <a:pt x="88" y="202"/>
                  <a:pt x="84" y="194"/>
                  <a:pt x="84" y="185"/>
                </a:cubicBezTo>
                <a:cubicBezTo>
                  <a:pt x="84" y="172"/>
                  <a:pt x="95" y="161"/>
                  <a:pt x="108" y="161"/>
                </a:cubicBezTo>
                <a:cubicBezTo>
                  <a:pt x="122" y="161"/>
                  <a:pt x="133" y="172"/>
                  <a:pt x="133" y="185"/>
                </a:cubicBezTo>
                <a:cubicBezTo>
                  <a:pt x="133" y="194"/>
                  <a:pt x="128" y="202"/>
                  <a:pt x="120" y="206"/>
                </a:cubicBezTo>
                <a:lnTo>
                  <a:pt x="133" y="259"/>
                </a:lnTo>
                <a:close/>
                <a:moveTo>
                  <a:pt x="148" y="126"/>
                </a:moveTo>
                <a:cubicBezTo>
                  <a:pt x="67" y="126"/>
                  <a:pt x="67" y="126"/>
                  <a:pt x="67" y="126"/>
                </a:cubicBezTo>
                <a:cubicBezTo>
                  <a:pt x="67" y="79"/>
                  <a:pt x="67" y="79"/>
                  <a:pt x="67" y="79"/>
                </a:cubicBezTo>
                <a:cubicBezTo>
                  <a:pt x="67" y="57"/>
                  <a:pt x="85" y="40"/>
                  <a:pt x="106" y="40"/>
                </a:cubicBezTo>
                <a:cubicBezTo>
                  <a:pt x="107" y="40"/>
                  <a:pt x="108" y="40"/>
                  <a:pt x="108" y="40"/>
                </a:cubicBezTo>
                <a:cubicBezTo>
                  <a:pt x="108" y="40"/>
                  <a:pt x="109" y="40"/>
                  <a:pt x="109" y="40"/>
                </a:cubicBezTo>
                <a:cubicBezTo>
                  <a:pt x="131" y="40"/>
                  <a:pt x="148" y="57"/>
                  <a:pt x="148" y="79"/>
                </a:cubicBezTo>
                <a:lnTo>
                  <a:pt x="148" y="126"/>
                </a:lnTo>
                <a:close/>
              </a:path>
            </a:pathLst>
          </a:custGeom>
          <a:noFill/>
          <a:ln w="9525">
            <a:solidFill>
              <a:srgbClr val="3D735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solidFill>
                <a:srgbClr val="3D7351"/>
              </a:solidFill>
            </a:endParaRPr>
          </a:p>
        </p:txBody>
      </p:sp>
      <p:sp>
        <p:nvSpPr>
          <p:cNvPr id="61" name="Freeform 93"/>
          <p:cNvSpPr>
            <a:spLocks noEditPoints="1"/>
          </p:cNvSpPr>
          <p:nvPr/>
        </p:nvSpPr>
        <p:spPr bwMode="auto">
          <a:xfrm>
            <a:off x="6418260" y="5614652"/>
            <a:ext cx="193675" cy="260350"/>
          </a:xfrm>
          <a:custGeom>
            <a:avLst/>
            <a:gdLst>
              <a:gd name="T0" fmla="*/ 188 w 216"/>
              <a:gd name="T1" fmla="*/ 126 h 288"/>
              <a:gd name="T2" fmla="*/ 188 w 216"/>
              <a:gd name="T3" fmla="*/ 79 h 288"/>
              <a:gd name="T4" fmla="*/ 109 w 216"/>
              <a:gd name="T5" fmla="*/ 0 h 288"/>
              <a:gd name="T6" fmla="*/ 108 w 216"/>
              <a:gd name="T7" fmla="*/ 0 h 288"/>
              <a:gd name="T8" fmla="*/ 106 w 216"/>
              <a:gd name="T9" fmla="*/ 0 h 288"/>
              <a:gd name="T10" fmla="*/ 28 w 216"/>
              <a:gd name="T11" fmla="*/ 79 h 288"/>
              <a:gd name="T12" fmla="*/ 28 w 216"/>
              <a:gd name="T13" fmla="*/ 126 h 288"/>
              <a:gd name="T14" fmla="*/ 0 w 216"/>
              <a:gd name="T15" fmla="*/ 126 h 288"/>
              <a:gd name="T16" fmla="*/ 0 w 216"/>
              <a:gd name="T17" fmla="*/ 288 h 288"/>
              <a:gd name="T18" fmla="*/ 216 w 216"/>
              <a:gd name="T19" fmla="*/ 288 h 288"/>
              <a:gd name="T20" fmla="*/ 216 w 216"/>
              <a:gd name="T21" fmla="*/ 126 h 288"/>
              <a:gd name="T22" fmla="*/ 188 w 216"/>
              <a:gd name="T23" fmla="*/ 126 h 288"/>
              <a:gd name="T24" fmla="*/ 133 w 216"/>
              <a:gd name="T25" fmla="*/ 259 h 288"/>
              <a:gd name="T26" fmla="*/ 84 w 216"/>
              <a:gd name="T27" fmla="*/ 259 h 288"/>
              <a:gd name="T28" fmla="*/ 96 w 216"/>
              <a:gd name="T29" fmla="*/ 206 h 288"/>
              <a:gd name="T30" fmla="*/ 84 w 216"/>
              <a:gd name="T31" fmla="*/ 185 h 288"/>
              <a:gd name="T32" fmla="*/ 108 w 216"/>
              <a:gd name="T33" fmla="*/ 161 h 288"/>
              <a:gd name="T34" fmla="*/ 133 w 216"/>
              <a:gd name="T35" fmla="*/ 185 h 288"/>
              <a:gd name="T36" fmla="*/ 120 w 216"/>
              <a:gd name="T37" fmla="*/ 206 h 288"/>
              <a:gd name="T38" fmla="*/ 133 w 216"/>
              <a:gd name="T39" fmla="*/ 259 h 288"/>
              <a:gd name="T40" fmla="*/ 148 w 216"/>
              <a:gd name="T41" fmla="*/ 126 h 288"/>
              <a:gd name="T42" fmla="*/ 67 w 216"/>
              <a:gd name="T43" fmla="*/ 126 h 288"/>
              <a:gd name="T44" fmla="*/ 67 w 216"/>
              <a:gd name="T45" fmla="*/ 79 h 288"/>
              <a:gd name="T46" fmla="*/ 106 w 216"/>
              <a:gd name="T47" fmla="*/ 40 h 288"/>
              <a:gd name="T48" fmla="*/ 108 w 216"/>
              <a:gd name="T49" fmla="*/ 40 h 288"/>
              <a:gd name="T50" fmla="*/ 109 w 216"/>
              <a:gd name="T51" fmla="*/ 40 h 288"/>
              <a:gd name="T52" fmla="*/ 148 w 216"/>
              <a:gd name="T53" fmla="*/ 79 h 288"/>
              <a:gd name="T54" fmla="*/ 148 w 216"/>
              <a:gd name="T55" fmla="*/ 126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16" h="288">
                <a:moveTo>
                  <a:pt x="188" y="126"/>
                </a:moveTo>
                <a:cubicBezTo>
                  <a:pt x="188" y="79"/>
                  <a:pt x="188" y="79"/>
                  <a:pt x="188" y="79"/>
                </a:cubicBezTo>
                <a:cubicBezTo>
                  <a:pt x="188" y="36"/>
                  <a:pt x="152" y="0"/>
                  <a:pt x="109" y="0"/>
                </a:cubicBezTo>
                <a:cubicBezTo>
                  <a:pt x="109" y="0"/>
                  <a:pt x="108" y="0"/>
                  <a:pt x="108" y="0"/>
                </a:cubicBezTo>
                <a:cubicBezTo>
                  <a:pt x="107" y="0"/>
                  <a:pt x="107" y="0"/>
                  <a:pt x="106" y="0"/>
                </a:cubicBezTo>
                <a:cubicBezTo>
                  <a:pt x="63" y="0"/>
                  <a:pt x="28" y="36"/>
                  <a:pt x="28" y="79"/>
                </a:cubicBezTo>
                <a:cubicBezTo>
                  <a:pt x="28" y="126"/>
                  <a:pt x="28" y="126"/>
                  <a:pt x="28" y="126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288"/>
                  <a:pt x="0" y="288"/>
                  <a:pt x="0" y="288"/>
                </a:cubicBezTo>
                <a:cubicBezTo>
                  <a:pt x="216" y="288"/>
                  <a:pt x="216" y="288"/>
                  <a:pt x="216" y="288"/>
                </a:cubicBezTo>
                <a:cubicBezTo>
                  <a:pt x="216" y="126"/>
                  <a:pt x="216" y="126"/>
                  <a:pt x="216" y="126"/>
                </a:cubicBezTo>
                <a:lnTo>
                  <a:pt x="188" y="126"/>
                </a:lnTo>
                <a:close/>
                <a:moveTo>
                  <a:pt x="133" y="259"/>
                </a:moveTo>
                <a:cubicBezTo>
                  <a:pt x="84" y="259"/>
                  <a:pt x="84" y="259"/>
                  <a:pt x="84" y="259"/>
                </a:cubicBezTo>
                <a:cubicBezTo>
                  <a:pt x="96" y="206"/>
                  <a:pt x="96" y="206"/>
                  <a:pt x="96" y="206"/>
                </a:cubicBezTo>
                <a:cubicBezTo>
                  <a:pt x="88" y="202"/>
                  <a:pt x="84" y="194"/>
                  <a:pt x="84" y="185"/>
                </a:cubicBezTo>
                <a:cubicBezTo>
                  <a:pt x="84" y="172"/>
                  <a:pt x="95" y="161"/>
                  <a:pt x="108" y="161"/>
                </a:cubicBezTo>
                <a:cubicBezTo>
                  <a:pt x="122" y="161"/>
                  <a:pt x="133" y="172"/>
                  <a:pt x="133" y="185"/>
                </a:cubicBezTo>
                <a:cubicBezTo>
                  <a:pt x="133" y="194"/>
                  <a:pt x="128" y="202"/>
                  <a:pt x="120" y="206"/>
                </a:cubicBezTo>
                <a:lnTo>
                  <a:pt x="133" y="259"/>
                </a:lnTo>
                <a:close/>
                <a:moveTo>
                  <a:pt x="148" y="126"/>
                </a:moveTo>
                <a:cubicBezTo>
                  <a:pt x="67" y="126"/>
                  <a:pt x="67" y="126"/>
                  <a:pt x="67" y="126"/>
                </a:cubicBezTo>
                <a:cubicBezTo>
                  <a:pt x="67" y="79"/>
                  <a:pt x="67" y="79"/>
                  <a:pt x="67" y="79"/>
                </a:cubicBezTo>
                <a:cubicBezTo>
                  <a:pt x="67" y="57"/>
                  <a:pt x="85" y="40"/>
                  <a:pt x="106" y="40"/>
                </a:cubicBezTo>
                <a:cubicBezTo>
                  <a:pt x="107" y="40"/>
                  <a:pt x="108" y="40"/>
                  <a:pt x="108" y="40"/>
                </a:cubicBezTo>
                <a:cubicBezTo>
                  <a:pt x="108" y="40"/>
                  <a:pt x="109" y="40"/>
                  <a:pt x="109" y="40"/>
                </a:cubicBezTo>
                <a:cubicBezTo>
                  <a:pt x="131" y="40"/>
                  <a:pt x="148" y="57"/>
                  <a:pt x="148" y="79"/>
                </a:cubicBezTo>
                <a:lnTo>
                  <a:pt x="148" y="126"/>
                </a:lnTo>
                <a:close/>
              </a:path>
            </a:pathLst>
          </a:custGeom>
          <a:noFill/>
          <a:ln w="9525">
            <a:solidFill>
              <a:srgbClr val="3D735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solidFill>
                <a:srgbClr val="3D735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D9CA527-E295-9421-E382-E1D0960B6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970" y="212725"/>
            <a:ext cx="2339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操作系统的作用</a:t>
            </a:r>
          </a:p>
        </p:txBody>
      </p:sp>
    </p:spTree>
    <p:extLst>
      <p:ext uri="{BB962C8B-B14F-4D97-AF65-F5344CB8AC3E}">
        <p14:creationId xmlns:p14="http://schemas.microsoft.com/office/powerpoint/2010/main" val="134872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18263" y="1973067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7326313" y="1973067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6418263" y="4423746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7326313" y="4423746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7116" name="文本框 52"/>
          <p:cNvSpPr txBox="1">
            <a:spLocks noChangeArrowheads="1"/>
          </p:cNvSpPr>
          <p:nvPr/>
        </p:nvSpPr>
        <p:spPr bwMode="auto">
          <a:xfrm>
            <a:off x="6681652" y="2208679"/>
            <a:ext cx="326756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提供操作系统运行基础</a:t>
            </a:r>
            <a:endParaRPr lang="en-US" altLang="zh-CN" sz="2000" b="1" dirty="0">
              <a:solidFill>
                <a:srgbClr val="505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限制了操作系统的功能实现</a:t>
            </a:r>
            <a:endParaRPr lang="en-US" altLang="zh-CN" sz="2000" b="1" dirty="0">
              <a:solidFill>
                <a:srgbClr val="505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119" name="文本框 55"/>
          <p:cNvSpPr txBox="1">
            <a:spLocks noChangeArrowheads="1"/>
          </p:cNvSpPr>
          <p:nvPr/>
        </p:nvSpPr>
        <p:spPr bwMode="auto">
          <a:xfrm>
            <a:off x="6272213" y="1439667"/>
            <a:ext cx="23258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下层硬件环境</a:t>
            </a:r>
          </a:p>
        </p:txBody>
      </p:sp>
      <p:sp>
        <p:nvSpPr>
          <p:cNvPr id="47120" name="文本框 56"/>
          <p:cNvSpPr txBox="1">
            <a:spLocks noChangeArrowheads="1"/>
          </p:cNvSpPr>
          <p:nvPr/>
        </p:nvSpPr>
        <p:spPr bwMode="auto">
          <a:xfrm>
            <a:off x="6272213" y="3877646"/>
            <a:ext cx="412738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上层软件</a:t>
            </a:r>
          </a:p>
        </p:txBody>
      </p:sp>
      <p:sp>
        <p:nvSpPr>
          <p:cNvPr id="27" name="矩形 26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9" name="矩形 28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31" name="文本框 25"/>
          <p:cNvSpPr txBox="1">
            <a:spLocks noChangeArrowheads="1"/>
          </p:cNvSpPr>
          <p:nvPr/>
        </p:nvSpPr>
        <p:spPr bwMode="auto">
          <a:xfrm>
            <a:off x="751290" y="933728"/>
            <a:ext cx="32624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各层对操作系统的制约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Group 31"/>
          <p:cNvGrpSpPr>
            <a:grpSpLocks/>
          </p:cNvGrpSpPr>
          <p:nvPr/>
        </p:nvGrpSpPr>
        <p:grpSpPr bwMode="auto">
          <a:xfrm>
            <a:off x="934706" y="1550025"/>
            <a:ext cx="4114800" cy="3962400"/>
            <a:chOff x="107" y="754"/>
            <a:chExt cx="2592" cy="2496"/>
          </a:xfrm>
        </p:grpSpPr>
        <p:sp>
          <p:nvSpPr>
            <p:cNvPr id="22" name="Oval 30"/>
            <p:cNvSpPr>
              <a:spLocks noChangeArrowheads="1"/>
            </p:cNvSpPr>
            <p:nvPr/>
          </p:nvSpPr>
          <p:spPr bwMode="auto">
            <a:xfrm>
              <a:off x="107" y="754"/>
              <a:ext cx="2592" cy="249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zh-CN"/>
            </a:p>
          </p:txBody>
        </p:sp>
        <p:sp>
          <p:nvSpPr>
            <p:cNvPr id="23" name="Oval 31"/>
            <p:cNvSpPr>
              <a:spLocks noChangeArrowheads="1"/>
            </p:cNvSpPr>
            <p:nvPr/>
          </p:nvSpPr>
          <p:spPr bwMode="auto">
            <a:xfrm>
              <a:off x="467" y="1090"/>
              <a:ext cx="1872" cy="1776"/>
            </a:xfrm>
            <a:prstGeom prst="ellipse">
              <a:avLst/>
            </a:prstGeom>
            <a:solidFill>
              <a:srgbClr val="FF3399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zh-CN"/>
            </a:p>
          </p:txBody>
        </p:sp>
        <p:sp>
          <p:nvSpPr>
            <p:cNvPr id="24" name="Oval 32"/>
            <p:cNvSpPr>
              <a:spLocks noChangeArrowheads="1"/>
            </p:cNvSpPr>
            <p:nvPr/>
          </p:nvSpPr>
          <p:spPr bwMode="auto">
            <a:xfrm>
              <a:off x="779" y="1402"/>
              <a:ext cx="1328" cy="1200"/>
            </a:xfrm>
            <a:prstGeom prst="ellipse">
              <a:avLst/>
            </a:prstGeom>
            <a:solidFill>
              <a:srgbClr val="CC9900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zh-CN"/>
            </a:p>
          </p:txBody>
        </p:sp>
        <p:sp>
          <p:nvSpPr>
            <p:cNvPr id="25" name="Oval 33"/>
            <p:cNvSpPr>
              <a:spLocks noChangeArrowheads="1"/>
            </p:cNvSpPr>
            <p:nvPr/>
          </p:nvSpPr>
          <p:spPr bwMode="auto">
            <a:xfrm>
              <a:off x="1163" y="1786"/>
              <a:ext cx="576" cy="480"/>
            </a:xfrm>
            <a:prstGeom prst="ellipse">
              <a:avLst/>
            </a:prstGeom>
            <a:solidFill>
              <a:srgbClr val="FF66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26" name="Text Box 34"/>
            <p:cNvSpPr txBox="1">
              <a:spLocks noChangeArrowheads="1"/>
            </p:cNvSpPr>
            <p:nvPr/>
          </p:nvSpPr>
          <p:spPr bwMode="auto">
            <a:xfrm>
              <a:off x="1199" y="1940"/>
              <a:ext cx="540" cy="2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kumimoji="1" lang="en-US" altLang="zh-CN" sz="1600">
                  <a:solidFill>
                    <a:srgbClr val="000000"/>
                  </a:solidFill>
                  <a:latin typeface="Times New Roman" pitchFamily="18" charset="0"/>
                </a:rPr>
                <a:t>  </a:t>
              </a:r>
              <a:r>
                <a:rPr kumimoji="1" lang="zh-CN" altLang="en-US" sz="1600">
                  <a:solidFill>
                    <a:srgbClr val="000000"/>
                  </a:solidFill>
                  <a:latin typeface="Times New Roman" pitchFamily="18" charset="0"/>
                </a:rPr>
                <a:t>裸机</a:t>
              </a:r>
            </a:p>
          </p:txBody>
        </p:sp>
        <p:sp>
          <p:nvSpPr>
            <p:cNvPr id="33" name="Text Box 35"/>
            <p:cNvSpPr txBox="1">
              <a:spLocks noChangeArrowheads="1"/>
            </p:cNvSpPr>
            <p:nvPr/>
          </p:nvSpPr>
          <p:spPr bwMode="auto">
            <a:xfrm>
              <a:off x="1059" y="1501"/>
              <a:ext cx="248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1600" dirty="0">
                  <a:solidFill>
                    <a:srgbClr val="000000"/>
                  </a:solidFill>
                  <a:latin typeface="Times New Roman" pitchFamily="18" charset="0"/>
                </a:rPr>
                <a:t>作</a:t>
              </a:r>
            </a:p>
          </p:txBody>
        </p:sp>
        <p:sp>
          <p:nvSpPr>
            <p:cNvPr id="34" name="Text Box 36"/>
            <p:cNvSpPr txBox="1">
              <a:spLocks noChangeArrowheads="1"/>
            </p:cNvSpPr>
            <p:nvPr/>
          </p:nvSpPr>
          <p:spPr bwMode="auto">
            <a:xfrm>
              <a:off x="1595" y="1522"/>
              <a:ext cx="248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1600">
                  <a:solidFill>
                    <a:srgbClr val="000000"/>
                  </a:solidFill>
                  <a:latin typeface="Times New Roman" pitchFamily="18" charset="0"/>
                </a:rPr>
                <a:t>系</a:t>
              </a:r>
            </a:p>
          </p:txBody>
        </p:sp>
        <p:sp>
          <p:nvSpPr>
            <p:cNvPr id="35" name="Text Box 37"/>
            <p:cNvSpPr txBox="1">
              <a:spLocks noChangeArrowheads="1"/>
            </p:cNvSpPr>
            <p:nvPr/>
          </p:nvSpPr>
          <p:spPr bwMode="auto">
            <a:xfrm>
              <a:off x="923" y="2098"/>
              <a:ext cx="248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1600">
                  <a:solidFill>
                    <a:srgbClr val="000000"/>
                  </a:solidFill>
                  <a:latin typeface="Times New Roman" pitchFamily="18" charset="0"/>
                </a:rPr>
                <a:t>操</a:t>
              </a:r>
            </a:p>
          </p:txBody>
        </p:sp>
        <p:sp>
          <p:nvSpPr>
            <p:cNvPr id="36" name="Text Box 38"/>
            <p:cNvSpPr txBox="1">
              <a:spLocks noChangeArrowheads="1"/>
            </p:cNvSpPr>
            <p:nvPr/>
          </p:nvSpPr>
          <p:spPr bwMode="auto">
            <a:xfrm>
              <a:off x="1739" y="2146"/>
              <a:ext cx="248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1600">
                  <a:solidFill>
                    <a:srgbClr val="000000"/>
                  </a:solidFill>
                  <a:latin typeface="Times New Roman" pitchFamily="18" charset="0"/>
                </a:rPr>
                <a:t>统</a:t>
              </a:r>
            </a:p>
          </p:txBody>
        </p:sp>
        <p:sp>
          <p:nvSpPr>
            <p:cNvPr id="37" name="Text Box 39"/>
            <p:cNvSpPr txBox="1">
              <a:spLocks noChangeArrowheads="1"/>
            </p:cNvSpPr>
            <p:nvPr/>
          </p:nvSpPr>
          <p:spPr bwMode="auto">
            <a:xfrm>
              <a:off x="749" y="2455"/>
              <a:ext cx="270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1600">
                  <a:solidFill>
                    <a:srgbClr val="000000"/>
                  </a:solidFill>
                  <a:latin typeface="Times New Roman" pitchFamily="18" charset="0"/>
                </a:rPr>
                <a:t>其</a:t>
              </a:r>
            </a:p>
          </p:txBody>
        </p:sp>
        <p:sp>
          <p:nvSpPr>
            <p:cNvPr id="38" name="Text Box 40"/>
            <p:cNvSpPr txBox="1">
              <a:spLocks noChangeArrowheads="1"/>
            </p:cNvSpPr>
            <p:nvPr/>
          </p:nvSpPr>
          <p:spPr bwMode="auto">
            <a:xfrm>
              <a:off x="539" y="1762"/>
              <a:ext cx="270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1600">
                  <a:solidFill>
                    <a:srgbClr val="000000"/>
                  </a:solidFill>
                  <a:latin typeface="Times New Roman" pitchFamily="18" charset="0"/>
                </a:rPr>
                <a:t>他</a:t>
              </a:r>
            </a:p>
          </p:txBody>
        </p:sp>
        <p:sp>
          <p:nvSpPr>
            <p:cNvPr id="39" name="Text Box 41"/>
            <p:cNvSpPr txBox="1">
              <a:spLocks noChangeArrowheads="1"/>
            </p:cNvSpPr>
            <p:nvPr/>
          </p:nvSpPr>
          <p:spPr bwMode="auto">
            <a:xfrm>
              <a:off x="941" y="1186"/>
              <a:ext cx="270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1600">
                  <a:solidFill>
                    <a:srgbClr val="000000"/>
                  </a:solidFill>
                  <a:latin typeface="Times New Roman" pitchFamily="18" charset="0"/>
                </a:rPr>
                <a:t>系</a:t>
              </a:r>
            </a:p>
          </p:txBody>
        </p:sp>
        <p:sp>
          <p:nvSpPr>
            <p:cNvPr id="40" name="Text Box 42"/>
            <p:cNvSpPr txBox="1">
              <a:spLocks noChangeArrowheads="1"/>
            </p:cNvSpPr>
            <p:nvPr/>
          </p:nvSpPr>
          <p:spPr bwMode="auto">
            <a:xfrm>
              <a:off x="1709" y="1234"/>
              <a:ext cx="270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1600">
                  <a:solidFill>
                    <a:srgbClr val="000000"/>
                  </a:solidFill>
                  <a:latin typeface="Times New Roman" pitchFamily="18" charset="0"/>
                </a:rPr>
                <a:t>统</a:t>
              </a:r>
            </a:p>
          </p:txBody>
        </p:sp>
        <p:sp>
          <p:nvSpPr>
            <p:cNvPr id="41" name="Text Box 43"/>
            <p:cNvSpPr txBox="1">
              <a:spLocks noChangeArrowheads="1"/>
            </p:cNvSpPr>
            <p:nvPr/>
          </p:nvSpPr>
          <p:spPr bwMode="auto">
            <a:xfrm>
              <a:off x="2123" y="1807"/>
              <a:ext cx="270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1600">
                  <a:solidFill>
                    <a:srgbClr val="000000"/>
                  </a:solidFill>
                  <a:latin typeface="Times New Roman" pitchFamily="18" charset="0"/>
                </a:rPr>
                <a:t>软</a:t>
              </a:r>
            </a:p>
          </p:txBody>
        </p:sp>
        <p:sp>
          <p:nvSpPr>
            <p:cNvPr id="42" name="Text Box 44"/>
            <p:cNvSpPr txBox="1">
              <a:spLocks noChangeArrowheads="1"/>
            </p:cNvSpPr>
            <p:nvPr/>
          </p:nvSpPr>
          <p:spPr bwMode="auto">
            <a:xfrm>
              <a:off x="1853" y="2434"/>
              <a:ext cx="270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1600" dirty="0">
                  <a:solidFill>
                    <a:srgbClr val="000000"/>
                  </a:solidFill>
                  <a:latin typeface="Times New Roman" pitchFamily="18" charset="0"/>
                </a:rPr>
                <a:t>件</a:t>
              </a:r>
            </a:p>
          </p:txBody>
        </p:sp>
        <p:sp>
          <p:nvSpPr>
            <p:cNvPr id="43" name="Text Box 45"/>
            <p:cNvSpPr txBox="1">
              <a:spLocks noChangeArrowheads="1"/>
            </p:cNvSpPr>
            <p:nvPr/>
          </p:nvSpPr>
          <p:spPr bwMode="auto">
            <a:xfrm>
              <a:off x="251" y="2386"/>
              <a:ext cx="336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1600">
                  <a:solidFill>
                    <a:srgbClr val="000000"/>
                  </a:solidFill>
                  <a:latin typeface="Times New Roman" pitchFamily="18" charset="0"/>
                </a:rPr>
                <a:t>用</a:t>
              </a:r>
            </a:p>
          </p:txBody>
        </p:sp>
        <p:sp>
          <p:nvSpPr>
            <p:cNvPr id="44" name="Text Box 46"/>
            <p:cNvSpPr txBox="1">
              <a:spLocks noChangeArrowheads="1"/>
            </p:cNvSpPr>
            <p:nvPr/>
          </p:nvSpPr>
          <p:spPr bwMode="auto">
            <a:xfrm>
              <a:off x="875" y="2818"/>
              <a:ext cx="336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1600">
                  <a:solidFill>
                    <a:srgbClr val="000000"/>
                  </a:solidFill>
                  <a:latin typeface="Times New Roman" pitchFamily="18" charset="0"/>
                </a:rPr>
                <a:t>户</a:t>
              </a:r>
            </a:p>
          </p:txBody>
        </p:sp>
        <p:sp>
          <p:nvSpPr>
            <p:cNvPr id="45" name="Text Box 47"/>
            <p:cNvSpPr txBox="1">
              <a:spLocks noChangeArrowheads="1"/>
            </p:cNvSpPr>
            <p:nvPr/>
          </p:nvSpPr>
          <p:spPr bwMode="auto">
            <a:xfrm>
              <a:off x="347" y="1234"/>
              <a:ext cx="336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1600">
                  <a:solidFill>
                    <a:srgbClr val="000000"/>
                  </a:solidFill>
                  <a:latin typeface="Times New Roman" pitchFamily="18" charset="0"/>
                </a:rPr>
                <a:t>应</a:t>
              </a:r>
            </a:p>
          </p:txBody>
        </p:sp>
        <p:sp>
          <p:nvSpPr>
            <p:cNvPr id="46" name="Text Box 48"/>
            <p:cNvSpPr txBox="1">
              <a:spLocks noChangeArrowheads="1"/>
            </p:cNvSpPr>
            <p:nvPr/>
          </p:nvSpPr>
          <p:spPr bwMode="auto">
            <a:xfrm>
              <a:off x="971" y="850"/>
              <a:ext cx="336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1600">
                  <a:solidFill>
                    <a:srgbClr val="000000"/>
                  </a:solidFill>
                  <a:latin typeface="Times New Roman" pitchFamily="18" charset="0"/>
                </a:rPr>
                <a:t>用</a:t>
              </a:r>
            </a:p>
          </p:txBody>
        </p:sp>
        <p:sp>
          <p:nvSpPr>
            <p:cNvPr id="47" name="Text Box 49"/>
            <p:cNvSpPr txBox="1">
              <a:spLocks noChangeArrowheads="1"/>
            </p:cNvSpPr>
            <p:nvPr/>
          </p:nvSpPr>
          <p:spPr bwMode="auto">
            <a:xfrm>
              <a:off x="1643" y="850"/>
              <a:ext cx="336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1600">
                  <a:solidFill>
                    <a:srgbClr val="000000"/>
                  </a:solidFill>
                  <a:latin typeface="Times New Roman" pitchFamily="18" charset="0"/>
                </a:rPr>
                <a:t>程</a:t>
              </a:r>
            </a:p>
          </p:txBody>
        </p:sp>
        <p:sp>
          <p:nvSpPr>
            <p:cNvPr id="48" name="Text Box 50"/>
            <p:cNvSpPr txBox="1">
              <a:spLocks noChangeArrowheads="1"/>
            </p:cNvSpPr>
            <p:nvPr/>
          </p:nvSpPr>
          <p:spPr bwMode="auto">
            <a:xfrm>
              <a:off x="2219" y="1234"/>
              <a:ext cx="336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1600">
                  <a:solidFill>
                    <a:srgbClr val="000000"/>
                  </a:solidFill>
                  <a:latin typeface="Times New Roman" pitchFamily="18" charset="0"/>
                </a:rPr>
                <a:t>序</a:t>
              </a:r>
            </a:p>
          </p:txBody>
        </p:sp>
        <p:sp>
          <p:nvSpPr>
            <p:cNvPr id="53" name="Text Box 51"/>
            <p:cNvSpPr txBox="1">
              <a:spLocks noChangeArrowheads="1"/>
            </p:cNvSpPr>
            <p:nvPr/>
          </p:nvSpPr>
          <p:spPr bwMode="auto">
            <a:xfrm>
              <a:off x="2315" y="2338"/>
              <a:ext cx="336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1600">
                  <a:solidFill>
                    <a:srgbClr val="000000"/>
                  </a:solidFill>
                  <a:latin typeface="Times New Roman" pitchFamily="18" charset="0"/>
                </a:rPr>
                <a:t>序</a:t>
              </a:r>
            </a:p>
          </p:txBody>
        </p:sp>
        <p:sp>
          <p:nvSpPr>
            <p:cNvPr id="55" name="Text Box 52"/>
            <p:cNvSpPr txBox="1">
              <a:spLocks noChangeArrowheads="1"/>
            </p:cNvSpPr>
            <p:nvPr/>
          </p:nvSpPr>
          <p:spPr bwMode="auto">
            <a:xfrm>
              <a:off x="1787" y="2818"/>
              <a:ext cx="336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algn="l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1600">
                  <a:solidFill>
                    <a:srgbClr val="000000"/>
                  </a:solidFill>
                  <a:latin typeface="Times New Roman" pitchFamily="18" charset="0"/>
                </a:rPr>
                <a:t>程</a:t>
              </a:r>
            </a:p>
          </p:txBody>
        </p:sp>
      </p:grpSp>
      <p:sp>
        <p:nvSpPr>
          <p:cNvPr id="56" name="Freeform 93"/>
          <p:cNvSpPr>
            <a:spLocks noEditPoints="1"/>
          </p:cNvSpPr>
          <p:nvPr/>
        </p:nvSpPr>
        <p:spPr bwMode="auto">
          <a:xfrm>
            <a:off x="6418263" y="2373697"/>
            <a:ext cx="193675" cy="260350"/>
          </a:xfrm>
          <a:custGeom>
            <a:avLst/>
            <a:gdLst>
              <a:gd name="T0" fmla="*/ 188 w 216"/>
              <a:gd name="T1" fmla="*/ 126 h 288"/>
              <a:gd name="T2" fmla="*/ 188 w 216"/>
              <a:gd name="T3" fmla="*/ 79 h 288"/>
              <a:gd name="T4" fmla="*/ 109 w 216"/>
              <a:gd name="T5" fmla="*/ 0 h 288"/>
              <a:gd name="T6" fmla="*/ 108 w 216"/>
              <a:gd name="T7" fmla="*/ 0 h 288"/>
              <a:gd name="T8" fmla="*/ 106 w 216"/>
              <a:gd name="T9" fmla="*/ 0 h 288"/>
              <a:gd name="T10" fmla="*/ 28 w 216"/>
              <a:gd name="T11" fmla="*/ 79 h 288"/>
              <a:gd name="T12" fmla="*/ 28 w 216"/>
              <a:gd name="T13" fmla="*/ 126 h 288"/>
              <a:gd name="T14" fmla="*/ 0 w 216"/>
              <a:gd name="T15" fmla="*/ 126 h 288"/>
              <a:gd name="T16" fmla="*/ 0 w 216"/>
              <a:gd name="T17" fmla="*/ 288 h 288"/>
              <a:gd name="T18" fmla="*/ 216 w 216"/>
              <a:gd name="T19" fmla="*/ 288 h 288"/>
              <a:gd name="T20" fmla="*/ 216 w 216"/>
              <a:gd name="T21" fmla="*/ 126 h 288"/>
              <a:gd name="T22" fmla="*/ 188 w 216"/>
              <a:gd name="T23" fmla="*/ 126 h 288"/>
              <a:gd name="T24" fmla="*/ 133 w 216"/>
              <a:gd name="T25" fmla="*/ 259 h 288"/>
              <a:gd name="T26" fmla="*/ 84 w 216"/>
              <a:gd name="T27" fmla="*/ 259 h 288"/>
              <a:gd name="T28" fmla="*/ 96 w 216"/>
              <a:gd name="T29" fmla="*/ 206 h 288"/>
              <a:gd name="T30" fmla="*/ 84 w 216"/>
              <a:gd name="T31" fmla="*/ 185 h 288"/>
              <a:gd name="T32" fmla="*/ 108 w 216"/>
              <a:gd name="T33" fmla="*/ 161 h 288"/>
              <a:gd name="T34" fmla="*/ 133 w 216"/>
              <a:gd name="T35" fmla="*/ 185 h 288"/>
              <a:gd name="T36" fmla="*/ 120 w 216"/>
              <a:gd name="T37" fmla="*/ 206 h 288"/>
              <a:gd name="T38" fmla="*/ 133 w 216"/>
              <a:gd name="T39" fmla="*/ 259 h 288"/>
              <a:gd name="T40" fmla="*/ 148 w 216"/>
              <a:gd name="T41" fmla="*/ 126 h 288"/>
              <a:gd name="T42" fmla="*/ 67 w 216"/>
              <a:gd name="T43" fmla="*/ 126 h 288"/>
              <a:gd name="T44" fmla="*/ 67 w 216"/>
              <a:gd name="T45" fmla="*/ 79 h 288"/>
              <a:gd name="T46" fmla="*/ 106 w 216"/>
              <a:gd name="T47" fmla="*/ 40 h 288"/>
              <a:gd name="T48" fmla="*/ 108 w 216"/>
              <a:gd name="T49" fmla="*/ 40 h 288"/>
              <a:gd name="T50" fmla="*/ 109 w 216"/>
              <a:gd name="T51" fmla="*/ 40 h 288"/>
              <a:gd name="T52" fmla="*/ 148 w 216"/>
              <a:gd name="T53" fmla="*/ 79 h 288"/>
              <a:gd name="T54" fmla="*/ 148 w 216"/>
              <a:gd name="T55" fmla="*/ 126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16" h="288">
                <a:moveTo>
                  <a:pt x="188" y="126"/>
                </a:moveTo>
                <a:cubicBezTo>
                  <a:pt x="188" y="79"/>
                  <a:pt x="188" y="79"/>
                  <a:pt x="188" y="79"/>
                </a:cubicBezTo>
                <a:cubicBezTo>
                  <a:pt x="188" y="36"/>
                  <a:pt x="152" y="0"/>
                  <a:pt x="109" y="0"/>
                </a:cubicBezTo>
                <a:cubicBezTo>
                  <a:pt x="109" y="0"/>
                  <a:pt x="108" y="0"/>
                  <a:pt x="108" y="0"/>
                </a:cubicBezTo>
                <a:cubicBezTo>
                  <a:pt x="107" y="0"/>
                  <a:pt x="107" y="0"/>
                  <a:pt x="106" y="0"/>
                </a:cubicBezTo>
                <a:cubicBezTo>
                  <a:pt x="63" y="0"/>
                  <a:pt x="28" y="36"/>
                  <a:pt x="28" y="79"/>
                </a:cubicBezTo>
                <a:cubicBezTo>
                  <a:pt x="28" y="126"/>
                  <a:pt x="28" y="126"/>
                  <a:pt x="28" y="126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288"/>
                  <a:pt x="0" y="288"/>
                  <a:pt x="0" y="288"/>
                </a:cubicBezTo>
                <a:cubicBezTo>
                  <a:pt x="216" y="288"/>
                  <a:pt x="216" y="288"/>
                  <a:pt x="216" y="288"/>
                </a:cubicBezTo>
                <a:cubicBezTo>
                  <a:pt x="216" y="126"/>
                  <a:pt x="216" y="126"/>
                  <a:pt x="216" y="126"/>
                </a:cubicBezTo>
                <a:lnTo>
                  <a:pt x="188" y="126"/>
                </a:lnTo>
                <a:close/>
                <a:moveTo>
                  <a:pt x="133" y="259"/>
                </a:moveTo>
                <a:cubicBezTo>
                  <a:pt x="84" y="259"/>
                  <a:pt x="84" y="259"/>
                  <a:pt x="84" y="259"/>
                </a:cubicBezTo>
                <a:cubicBezTo>
                  <a:pt x="96" y="206"/>
                  <a:pt x="96" y="206"/>
                  <a:pt x="96" y="206"/>
                </a:cubicBezTo>
                <a:cubicBezTo>
                  <a:pt x="88" y="202"/>
                  <a:pt x="84" y="194"/>
                  <a:pt x="84" y="185"/>
                </a:cubicBezTo>
                <a:cubicBezTo>
                  <a:pt x="84" y="172"/>
                  <a:pt x="95" y="161"/>
                  <a:pt x="108" y="161"/>
                </a:cubicBezTo>
                <a:cubicBezTo>
                  <a:pt x="122" y="161"/>
                  <a:pt x="133" y="172"/>
                  <a:pt x="133" y="185"/>
                </a:cubicBezTo>
                <a:cubicBezTo>
                  <a:pt x="133" y="194"/>
                  <a:pt x="128" y="202"/>
                  <a:pt x="120" y="206"/>
                </a:cubicBezTo>
                <a:lnTo>
                  <a:pt x="133" y="259"/>
                </a:lnTo>
                <a:close/>
                <a:moveTo>
                  <a:pt x="148" y="126"/>
                </a:moveTo>
                <a:cubicBezTo>
                  <a:pt x="67" y="126"/>
                  <a:pt x="67" y="126"/>
                  <a:pt x="67" y="126"/>
                </a:cubicBezTo>
                <a:cubicBezTo>
                  <a:pt x="67" y="79"/>
                  <a:pt x="67" y="79"/>
                  <a:pt x="67" y="79"/>
                </a:cubicBezTo>
                <a:cubicBezTo>
                  <a:pt x="67" y="57"/>
                  <a:pt x="85" y="40"/>
                  <a:pt x="106" y="40"/>
                </a:cubicBezTo>
                <a:cubicBezTo>
                  <a:pt x="107" y="40"/>
                  <a:pt x="108" y="40"/>
                  <a:pt x="108" y="40"/>
                </a:cubicBezTo>
                <a:cubicBezTo>
                  <a:pt x="108" y="40"/>
                  <a:pt x="109" y="40"/>
                  <a:pt x="109" y="40"/>
                </a:cubicBezTo>
                <a:cubicBezTo>
                  <a:pt x="131" y="40"/>
                  <a:pt x="148" y="57"/>
                  <a:pt x="148" y="79"/>
                </a:cubicBezTo>
                <a:lnTo>
                  <a:pt x="148" y="126"/>
                </a:lnTo>
                <a:close/>
              </a:path>
            </a:pathLst>
          </a:custGeom>
          <a:noFill/>
          <a:ln w="9525">
            <a:solidFill>
              <a:srgbClr val="3D735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solidFill>
                <a:srgbClr val="3D7351"/>
              </a:solidFill>
            </a:endParaRPr>
          </a:p>
        </p:txBody>
      </p:sp>
      <p:sp>
        <p:nvSpPr>
          <p:cNvPr id="57" name="Freeform 93"/>
          <p:cNvSpPr>
            <a:spLocks noEditPoints="1"/>
          </p:cNvSpPr>
          <p:nvPr/>
        </p:nvSpPr>
        <p:spPr bwMode="auto">
          <a:xfrm>
            <a:off x="6418262" y="2826707"/>
            <a:ext cx="193675" cy="260350"/>
          </a:xfrm>
          <a:custGeom>
            <a:avLst/>
            <a:gdLst>
              <a:gd name="T0" fmla="*/ 188 w 216"/>
              <a:gd name="T1" fmla="*/ 126 h 288"/>
              <a:gd name="T2" fmla="*/ 188 w 216"/>
              <a:gd name="T3" fmla="*/ 79 h 288"/>
              <a:gd name="T4" fmla="*/ 109 w 216"/>
              <a:gd name="T5" fmla="*/ 0 h 288"/>
              <a:gd name="T6" fmla="*/ 108 w 216"/>
              <a:gd name="T7" fmla="*/ 0 h 288"/>
              <a:gd name="T8" fmla="*/ 106 w 216"/>
              <a:gd name="T9" fmla="*/ 0 h 288"/>
              <a:gd name="T10" fmla="*/ 28 w 216"/>
              <a:gd name="T11" fmla="*/ 79 h 288"/>
              <a:gd name="T12" fmla="*/ 28 w 216"/>
              <a:gd name="T13" fmla="*/ 126 h 288"/>
              <a:gd name="T14" fmla="*/ 0 w 216"/>
              <a:gd name="T15" fmla="*/ 126 h 288"/>
              <a:gd name="T16" fmla="*/ 0 w 216"/>
              <a:gd name="T17" fmla="*/ 288 h 288"/>
              <a:gd name="T18" fmla="*/ 216 w 216"/>
              <a:gd name="T19" fmla="*/ 288 h 288"/>
              <a:gd name="T20" fmla="*/ 216 w 216"/>
              <a:gd name="T21" fmla="*/ 126 h 288"/>
              <a:gd name="T22" fmla="*/ 188 w 216"/>
              <a:gd name="T23" fmla="*/ 126 h 288"/>
              <a:gd name="T24" fmla="*/ 133 w 216"/>
              <a:gd name="T25" fmla="*/ 259 h 288"/>
              <a:gd name="T26" fmla="*/ 84 w 216"/>
              <a:gd name="T27" fmla="*/ 259 h 288"/>
              <a:gd name="T28" fmla="*/ 96 w 216"/>
              <a:gd name="T29" fmla="*/ 206 h 288"/>
              <a:gd name="T30" fmla="*/ 84 w 216"/>
              <a:gd name="T31" fmla="*/ 185 h 288"/>
              <a:gd name="T32" fmla="*/ 108 w 216"/>
              <a:gd name="T33" fmla="*/ 161 h 288"/>
              <a:gd name="T34" fmla="*/ 133 w 216"/>
              <a:gd name="T35" fmla="*/ 185 h 288"/>
              <a:gd name="T36" fmla="*/ 120 w 216"/>
              <a:gd name="T37" fmla="*/ 206 h 288"/>
              <a:gd name="T38" fmla="*/ 133 w 216"/>
              <a:gd name="T39" fmla="*/ 259 h 288"/>
              <a:gd name="T40" fmla="*/ 148 w 216"/>
              <a:gd name="T41" fmla="*/ 126 h 288"/>
              <a:gd name="T42" fmla="*/ 67 w 216"/>
              <a:gd name="T43" fmla="*/ 126 h 288"/>
              <a:gd name="T44" fmla="*/ 67 w 216"/>
              <a:gd name="T45" fmla="*/ 79 h 288"/>
              <a:gd name="T46" fmla="*/ 106 w 216"/>
              <a:gd name="T47" fmla="*/ 40 h 288"/>
              <a:gd name="T48" fmla="*/ 108 w 216"/>
              <a:gd name="T49" fmla="*/ 40 h 288"/>
              <a:gd name="T50" fmla="*/ 109 w 216"/>
              <a:gd name="T51" fmla="*/ 40 h 288"/>
              <a:gd name="T52" fmla="*/ 148 w 216"/>
              <a:gd name="T53" fmla="*/ 79 h 288"/>
              <a:gd name="T54" fmla="*/ 148 w 216"/>
              <a:gd name="T55" fmla="*/ 126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16" h="288">
                <a:moveTo>
                  <a:pt x="188" y="126"/>
                </a:moveTo>
                <a:cubicBezTo>
                  <a:pt x="188" y="79"/>
                  <a:pt x="188" y="79"/>
                  <a:pt x="188" y="79"/>
                </a:cubicBezTo>
                <a:cubicBezTo>
                  <a:pt x="188" y="36"/>
                  <a:pt x="152" y="0"/>
                  <a:pt x="109" y="0"/>
                </a:cubicBezTo>
                <a:cubicBezTo>
                  <a:pt x="109" y="0"/>
                  <a:pt x="108" y="0"/>
                  <a:pt x="108" y="0"/>
                </a:cubicBezTo>
                <a:cubicBezTo>
                  <a:pt x="107" y="0"/>
                  <a:pt x="107" y="0"/>
                  <a:pt x="106" y="0"/>
                </a:cubicBezTo>
                <a:cubicBezTo>
                  <a:pt x="63" y="0"/>
                  <a:pt x="28" y="36"/>
                  <a:pt x="28" y="79"/>
                </a:cubicBezTo>
                <a:cubicBezTo>
                  <a:pt x="28" y="126"/>
                  <a:pt x="28" y="126"/>
                  <a:pt x="28" y="126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288"/>
                  <a:pt x="0" y="288"/>
                  <a:pt x="0" y="288"/>
                </a:cubicBezTo>
                <a:cubicBezTo>
                  <a:pt x="216" y="288"/>
                  <a:pt x="216" y="288"/>
                  <a:pt x="216" y="288"/>
                </a:cubicBezTo>
                <a:cubicBezTo>
                  <a:pt x="216" y="126"/>
                  <a:pt x="216" y="126"/>
                  <a:pt x="216" y="126"/>
                </a:cubicBezTo>
                <a:lnTo>
                  <a:pt x="188" y="126"/>
                </a:lnTo>
                <a:close/>
                <a:moveTo>
                  <a:pt x="133" y="259"/>
                </a:moveTo>
                <a:cubicBezTo>
                  <a:pt x="84" y="259"/>
                  <a:pt x="84" y="259"/>
                  <a:pt x="84" y="259"/>
                </a:cubicBezTo>
                <a:cubicBezTo>
                  <a:pt x="96" y="206"/>
                  <a:pt x="96" y="206"/>
                  <a:pt x="96" y="206"/>
                </a:cubicBezTo>
                <a:cubicBezTo>
                  <a:pt x="88" y="202"/>
                  <a:pt x="84" y="194"/>
                  <a:pt x="84" y="185"/>
                </a:cubicBezTo>
                <a:cubicBezTo>
                  <a:pt x="84" y="172"/>
                  <a:pt x="95" y="161"/>
                  <a:pt x="108" y="161"/>
                </a:cubicBezTo>
                <a:cubicBezTo>
                  <a:pt x="122" y="161"/>
                  <a:pt x="133" y="172"/>
                  <a:pt x="133" y="185"/>
                </a:cubicBezTo>
                <a:cubicBezTo>
                  <a:pt x="133" y="194"/>
                  <a:pt x="128" y="202"/>
                  <a:pt x="120" y="206"/>
                </a:cubicBezTo>
                <a:lnTo>
                  <a:pt x="133" y="259"/>
                </a:lnTo>
                <a:close/>
                <a:moveTo>
                  <a:pt x="148" y="126"/>
                </a:moveTo>
                <a:cubicBezTo>
                  <a:pt x="67" y="126"/>
                  <a:pt x="67" y="126"/>
                  <a:pt x="67" y="126"/>
                </a:cubicBezTo>
                <a:cubicBezTo>
                  <a:pt x="67" y="79"/>
                  <a:pt x="67" y="79"/>
                  <a:pt x="67" y="79"/>
                </a:cubicBezTo>
                <a:cubicBezTo>
                  <a:pt x="67" y="57"/>
                  <a:pt x="85" y="40"/>
                  <a:pt x="106" y="40"/>
                </a:cubicBezTo>
                <a:cubicBezTo>
                  <a:pt x="107" y="40"/>
                  <a:pt x="108" y="40"/>
                  <a:pt x="108" y="40"/>
                </a:cubicBezTo>
                <a:cubicBezTo>
                  <a:pt x="108" y="40"/>
                  <a:pt x="109" y="40"/>
                  <a:pt x="109" y="40"/>
                </a:cubicBezTo>
                <a:cubicBezTo>
                  <a:pt x="131" y="40"/>
                  <a:pt x="148" y="57"/>
                  <a:pt x="148" y="79"/>
                </a:cubicBezTo>
                <a:lnTo>
                  <a:pt x="148" y="126"/>
                </a:lnTo>
                <a:close/>
              </a:path>
            </a:pathLst>
          </a:custGeom>
          <a:noFill/>
          <a:ln w="9525">
            <a:solidFill>
              <a:srgbClr val="3D735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solidFill>
                <a:srgbClr val="3D7351"/>
              </a:solidFill>
            </a:endParaRPr>
          </a:p>
        </p:txBody>
      </p:sp>
      <p:sp>
        <p:nvSpPr>
          <p:cNvPr id="59" name="文本框 52"/>
          <p:cNvSpPr txBox="1">
            <a:spLocks noChangeArrowheads="1"/>
          </p:cNvSpPr>
          <p:nvPr/>
        </p:nvSpPr>
        <p:spPr bwMode="auto">
          <a:xfrm>
            <a:off x="6661253" y="4811280"/>
            <a:ext cx="27305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对操作系统提出要求</a:t>
            </a:r>
            <a:endParaRPr lang="en-US" altLang="zh-CN" sz="2000" b="1" dirty="0">
              <a:solidFill>
                <a:srgbClr val="505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良好的用户界面</a:t>
            </a:r>
            <a:endParaRPr lang="en-US" altLang="zh-CN" sz="2000" b="1" dirty="0">
              <a:solidFill>
                <a:srgbClr val="505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Freeform 93"/>
          <p:cNvSpPr>
            <a:spLocks noEditPoints="1"/>
          </p:cNvSpPr>
          <p:nvPr/>
        </p:nvSpPr>
        <p:spPr bwMode="auto">
          <a:xfrm>
            <a:off x="6418261" y="4972089"/>
            <a:ext cx="193675" cy="260350"/>
          </a:xfrm>
          <a:custGeom>
            <a:avLst/>
            <a:gdLst>
              <a:gd name="T0" fmla="*/ 188 w 216"/>
              <a:gd name="T1" fmla="*/ 126 h 288"/>
              <a:gd name="T2" fmla="*/ 188 w 216"/>
              <a:gd name="T3" fmla="*/ 79 h 288"/>
              <a:gd name="T4" fmla="*/ 109 w 216"/>
              <a:gd name="T5" fmla="*/ 0 h 288"/>
              <a:gd name="T6" fmla="*/ 108 w 216"/>
              <a:gd name="T7" fmla="*/ 0 h 288"/>
              <a:gd name="T8" fmla="*/ 106 w 216"/>
              <a:gd name="T9" fmla="*/ 0 h 288"/>
              <a:gd name="T10" fmla="*/ 28 w 216"/>
              <a:gd name="T11" fmla="*/ 79 h 288"/>
              <a:gd name="T12" fmla="*/ 28 w 216"/>
              <a:gd name="T13" fmla="*/ 126 h 288"/>
              <a:gd name="T14" fmla="*/ 0 w 216"/>
              <a:gd name="T15" fmla="*/ 126 h 288"/>
              <a:gd name="T16" fmla="*/ 0 w 216"/>
              <a:gd name="T17" fmla="*/ 288 h 288"/>
              <a:gd name="T18" fmla="*/ 216 w 216"/>
              <a:gd name="T19" fmla="*/ 288 h 288"/>
              <a:gd name="T20" fmla="*/ 216 w 216"/>
              <a:gd name="T21" fmla="*/ 126 h 288"/>
              <a:gd name="T22" fmla="*/ 188 w 216"/>
              <a:gd name="T23" fmla="*/ 126 h 288"/>
              <a:gd name="T24" fmla="*/ 133 w 216"/>
              <a:gd name="T25" fmla="*/ 259 h 288"/>
              <a:gd name="T26" fmla="*/ 84 w 216"/>
              <a:gd name="T27" fmla="*/ 259 h 288"/>
              <a:gd name="T28" fmla="*/ 96 w 216"/>
              <a:gd name="T29" fmla="*/ 206 h 288"/>
              <a:gd name="T30" fmla="*/ 84 w 216"/>
              <a:gd name="T31" fmla="*/ 185 h 288"/>
              <a:gd name="T32" fmla="*/ 108 w 216"/>
              <a:gd name="T33" fmla="*/ 161 h 288"/>
              <a:gd name="T34" fmla="*/ 133 w 216"/>
              <a:gd name="T35" fmla="*/ 185 h 288"/>
              <a:gd name="T36" fmla="*/ 120 w 216"/>
              <a:gd name="T37" fmla="*/ 206 h 288"/>
              <a:gd name="T38" fmla="*/ 133 w 216"/>
              <a:gd name="T39" fmla="*/ 259 h 288"/>
              <a:gd name="T40" fmla="*/ 148 w 216"/>
              <a:gd name="T41" fmla="*/ 126 h 288"/>
              <a:gd name="T42" fmla="*/ 67 w 216"/>
              <a:gd name="T43" fmla="*/ 126 h 288"/>
              <a:gd name="T44" fmla="*/ 67 w 216"/>
              <a:gd name="T45" fmla="*/ 79 h 288"/>
              <a:gd name="T46" fmla="*/ 106 w 216"/>
              <a:gd name="T47" fmla="*/ 40 h 288"/>
              <a:gd name="T48" fmla="*/ 108 w 216"/>
              <a:gd name="T49" fmla="*/ 40 h 288"/>
              <a:gd name="T50" fmla="*/ 109 w 216"/>
              <a:gd name="T51" fmla="*/ 40 h 288"/>
              <a:gd name="T52" fmla="*/ 148 w 216"/>
              <a:gd name="T53" fmla="*/ 79 h 288"/>
              <a:gd name="T54" fmla="*/ 148 w 216"/>
              <a:gd name="T55" fmla="*/ 126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16" h="288">
                <a:moveTo>
                  <a:pt x="188" y="126"/>
                </a:moveTo>
                <a:cubicBezTo>
                  <a:pt x="188" y="79"/>
                  <a:pt x="188" y="79"/>
                  <a:pt x="188" y="79"/>
                </a:cubicBezTo>
                <a:cubicBezTo>
                  <a:pt x="188" y="36"/>
                  <a:pt x="152" y="0"/>
                  <a:pt x="109" y="0"/>
                </a:cubicBezTo>
                <a:cubicBezTo>
                  <a:pt x="109" y="0"/>
                  <a:pt x="108" y="0"/>
                  <a:pt x="108" y="0"/>
                </a:cubicBezTo>
                <a:cubicBezTo>
                  <a:pt x="107" y="0"/>
                  <a:pt x="107" y="0"/>
                  <a:pt x="106" y="0"/>
                </a:cubicBezTo>
                <a:cubicBezTo>
                  <a:pt x="63" y="0"/>
                  <a:pt x="28" y="36"/>
                  <a:pt x="28" y="79"/>
                </a:cubicBezTo>
                <a:cubicBezTo>
                  <a:pt x="28" y="126"/>
                  <a:pt x="28" y="126"/>
                  <a:pt x="28" y="126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288"/>
                  <a:pt x="0" y="288"/>
                  <a:pt x="0" y="288"/>
                </a:cubicBezTo>
                <a:cubicBezTo>
                  <a:pt x="216" y="288"/>
                  <a:pt x="216" y="288"/>
                  <a:pt x="216" y="288"/>
                </a:cubicBezTo>
                <a:cubicBezTo>
                  <a:pt x="216" y="126"/>
                  <a:pt x="216" y="126"/>
                  <a:pt x="216" y="126"/>
                </a:cubicBezTo>
                <a:lnTo>
                  <a:pt x="188" y="126"/>
                </a:lnTo>
                <a:close/>
                <a:moveTo>
                  <a:pt x="133" y="259"/>
                </a:moveTo>
                <a:cubicBezTo>
                  <a:pt x="84" y="259"/>
                  <a:pt x="84" y="259"/>
                  <a:pt x="84" y="259"/>
                </a:cubicBezTo>
                <a:cubicBezTo>
                  <a:pt x="96" y="206"/>
                  <a:pt x="96" y="206"/>
                  <a:pt x="96" y="206"/>
                </a:cubicBezTo>
                <a:cubicBezTo>
                  <a:pt x="88" y="202"/>
                  <a:pt x="84" y="194"/>
                  <a:pt x="84" y="185"/>
                </a:cubicBezTo>
                <a:cubicBezTo>
                  <a:pt x="84" y="172"/>
                  <a:pt x="95" y="161"/>
                  <a:pt x="108" y="161"/>
                </a:cubicBezTo>
                <a:cubicBezTo>
                  <a:pt x="122" y="161"/>
                  <a:pt x="133" y="172"/>
                  <a:pt x="133" y="185"/>
                </a:cubicBezTo>
                <a:cubicBezTo>
                  <a:pt x="133" y="194"/>
                  <a:pt x="128" y="202"/>
                  <a:pt x="120" y="206"/>
                </a:cubicBezTo>
                <a:lnTo>
                  <a:pt x="133" y="259"/>
                </a:lnTo>
                <a:close/>
                <a:moveTo>
                  <a:pt x="148" y="126"/>
                </a:moveTo>
                <a:cubicBezTo>
                  <a:pt x="67" y="126"/>
                  <a:pt x="67" y="126"/>
                  <a:pt x="67" y="126"/>
                </a:cubicBezTo>
                <a:cubicBezTo>
                  <a:pt x="67" y="79"/>
                  <a:pt x="67" y="79"/>
                  <a:pt x="67" y="79"/>
                </a:cubicBezTo>
                <a:cubicBezTo>
                  <a:pt x="67" y="57"/>
                  <a:pt x="85" y="40"/>
                  <a:pt x="106" y="40"/>
                </a:cubicBezTo>
                <a:cubicBezTo>
                  <a:pt x="107" y="40"/>
                  <a:pt x="108" y="40"/>
                  <a:pt x="108" y="40"/>
                </a:cubicBezTo>
                <a:cubicBezTo>
                  <a:pt x="108" y="40"/>
                  <a:pt x="109" y="40"/>
                  <a:pt x="109" y="40"/>
                </a:cubicBezTo>
                <a:cubicBezTo>
                  <a:pt x="131" y="40"/>
                  <a:pt x="148" y="57"/>
                  <a:pt x="148" y="79"/>
                </a:cubicBezTo>
                <a:lnTo>
                  <a:pt x="148" y="126"/>
                </a:lnTo>
                <a:close/>
              </a:path>
            </a:pathLst>
          </a:custGeom>
          <a:noFill/>
          <a:ln w="9525">
            <a:solidFill>
              <a:srgbClr val="3D735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solidFill>
                <a:srgbClr val="3D7351"/>
              </a:solidFill>
            </a:endParaRPr>
          </a:p>
        </p:txBody>
      </p:sp>
      <p:sp>
        <p:nvSpPr>
          <p:cNvPr id="61" name="Freeform 93"/>
          <p:cNvSpPr>
            <a:spLocks noEditPoints="1"/>
          </p:cNvSpPr>
          <p:nvPr/>
        </p:nvSpPr>
        <p:spPr bwMode="auto">
          <a:xfrm>
            <a:off x="6418260" y="5450876"/>
            <a:ext cx="193675" cy="260350"/>
          </a:xfrm>
          <a:custGeom>
            <a:avLst/>
            <a:gdLst>
              <a:gd name="T0" fmla="*/ 188 w 216"/>
              <a:gd name="T1" fmla="*/ 126 h 288"/>
              <a:gd name="T2" fmla="*/ 188 w 216"/>
              <a:gd name="T3" fmla="*/ 79 h 288"/>
              <a:gd name="T4" fmla="*/ 109 w 216"/>
              <a:gd name="T5" fmla="*/ 0 h 288"/>
              <a:gd name="T6" fmla="*/ 108 w 216"/>
              <a:gd name="T7" fmla="*/ 0 h 288"/>
              <a:gd name="T8" fmla="*/ 106 w 216"/>
              <a:gd name="T9" fmla="*/ 0 h 288"/>
              <a:gd name="T10" fmla="*/ 28 w 216"/>
              <a:gd name="T11" fmla="*/ 79 h 288"/>
              <a:gd name="T12" fmla="*/ 28 w 216"/>
              <a:gd name="T13" fmla="*/ 126 h 288"/>
              <a:gd name="T14" fmla="*/ 0 w 216"/>
              <a:gd name="T15" fmla="*/ 126 h 288"/>
              <a:gd name="T16" fmla="*/ 0 w 216"/>
              <a:gd name="T17" fmla="*/ 288 h 288"/>
              <a:gd name="T18" fmla="*/ 216 w 216"/>
              <a:gd name="T19" fmla="*/ 288 h 288"/>
              <a:gd name="T20" fmla="*/ 216 w 216"/>
              <a:gd name="T21" fmla="*/ 126 h 288"/>
              <a:gd name="T22" fmla="*/ 188 w 216"/>
              <a:gd name="T23" fmla="*/ 126 h 288"/>
              <a:gd name="T24" fmla="*/ 133 w 216"/>
              <a:gd name="T25" fmla="*/ 259 h 288"/>
              <a:gd name="T26" fmla="*/ 84 w 216"/>
              <a:gd name="T27" fmla="*/ 259 h 288"/>
              <a:gd name="T28" fmla="*/ 96 w 216"/>
              <a:gd name="T29" fmla="*/ 206 h 288"/>
              <a:gd name="T30" fmla="*/ 84 w 216"/>
              <a:gd name="T31" fmla="*/ 185 h 288"/>
              <a:gd name="T32" fmla="*/ 108 w 216"/>
              <a:gd name="T33" fmla="*/ 161 h 288"/>
              <a:gd name="T34" fmla="*/ 133 w 216"/>
              <a:gd name="T35" fmla="*/ 185 h 288"/>
              <a:gd name="T36" fmla="*/ 120 w 216"/>
              <a:gd name="T37" fmla="*/ 206 h 288"/>
              <a:gd name="T38" fmla="*/ 133 w 216"/>
              <a:gd name="T39" fmla="*/ 259 h 288"/>
              <a:gd name="T40" fmla="*/ 148 w 216"/>
              <a:gd name="T41" fmla="*/ 126 h 288"/>
              <a:gd name="T42" fmla="*/ 67 w 216"/>
              <a:gd name="T43" fmla="*/ 126 h 288"/>
              <a:gd name="T44" fmla="*/ 67 w 216"/>
              <a:gd name="T45" fmla="*/ 79 h 288"/>
              <a:gd name="T46" fmla="*/ 106 w 216"/>
              <a:gd name="T47" fmla="*/ 40 h 288"/>
              <a:gd name="T48" fmla="*/ 108 w 216"/>
              <a:gd name="T49" fmla="*/ 40 h 288"/>
              <a:gd name="T50" fmla="*/ 109 w 216"/>
              <a:gd name="T51" fmla="*/ 40 h 288"/>
              <a:gd name="T52" fmla="*/ 148 w 216"/>
              <a:gd name="T53" fmla="*/ 79 h 288"/>
              <a:gd name="T54" fmla="*/ 148 w 216"/>
              <a:gd name="T55" fmla="*/ 126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16" h="288">
                <a:moveTo>
                  <a:pt x="188" y="126"/>
                </a:moveTo>
                <a:cubicBezTo>
                  <a:pt x="188" y="79"/>
                  <a:pt x="188" y="79"/>
                  <a:pt x="188" y="79"/>
                </a:cubicBezTo>
                <a:cubicBezTo>
                  <a:pt x="188" y="36"/>
                  <a:pt x="152" y="0"/>
                  <a:pt x="109" y="0"/>
                </a:cubicBezTo>
                <a:cubicBezTo>
                  <a:pt x="109" y="0"/>
                  <a:pt x="108" y="0"/>
                  <a:pt x="108" y="0"/>
                </a:cubicBezTo>
                <a:cubicBezTo>
                  <a:pt x="107" y="0"/>
                  <a:pt x="107" y="0"/>
                  <a:pt x="106" y="0"/>
                </a:cubicBezTo>
                <a:cubicBezTo>
                  <a:pt x="63" y="0"/>
                  <a:pt x="28" y="36"/>
                  <a:pt x="28" y="79"/>
                </a:cubicBezTo>
                <a:cubicBezTo>
                  <a:pt x="28" y="126"/>
                  <a:pt x="28" y="126"/>
                  <a:pt x="28" y="126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288"/>
                  <a:pt x="0" y="288"/>
                  <a:pt x="0" y="288"/>
                </a:cubicBezTo>
                <a:cubicBezTo>
                  <a:pt x="216" y="288"/>
                  <a:pt x="216" y="288"/>
                  <a:pt x="216" y="288"/>
                </a:cubicBezTo>
                <a:cubicBezTo>
                  <a:pt x="216" y="126"/>
                  <a:pt x="216" y="126"/>
                  <a:pt x="216" y="126"/>
                </a:cubicBezTo>
                <a:lnTo>
                  <a:pt x="188" y="126"/>
                </a:lnTo>
                <a:close/>
                <a:moveTo>
                  <a:pt x="133" y="259"/>
                </a:moveTo>
                <a:cubicBezTo>
                  <a:pt x="84" y="259"/>
                  <a:pt x="84" y="259"/>
                  <a:pt x="84" y="259"/>
                </a:cubicBezTo>
                <a:cubicBezTo>
                  <a:pt x="96" y="206"/>
                  <a:pt x="96" y="206"/>
                  <a:pt x="96" y="206"/>
                </a:cubicBezTo>
                <a:cubicBezTo>
                  <a:pt x="88" y="202"/>
                  <a:pt x="84" y="194"/>
                  <a:pt x="84" y="185"/>
                </a:cubicBezTo>
                <a:cubicBezTo>
                  <a:pt x="84" y="172"/>
                  <a:pt x="95" y="161"/>
                  <a:pt x="108" y="161"/>
                </a:cubicBezTo>
                <a:cubicBezTo>
                  <a:pt x="122" y="161"/>
                  <a:pt x="133" y="172"/>
                  <a:pt x="133" y="185"/>
                </a:cubicBezTo>
                <a:cubicBezTo>
                  <a:pt x="133" y="194"/>
                  <a:pt x="128" y="202"/>
                  <a:pt x="120" y="206"/>
                </a:cubicBezTo>
                <a:lnTo>
                  <a:pt x="133" y="259"/>
                </a:lnTo>
                <a:close/>
                <a:moveTo>
                  <a:pt x="148" y="126"/>
                </a:moveTo>
                <a:cubicBezTo>
                  <a:pt x="67" y="126"/>
                  <a:pt x="67" y="126"/>
                  <a:pt x="67" y="126"/>
                </a:cubicBezTo>
                <a:cubicBezTo>
                  <a:pt x="67" y="79"/>
                  <a:pt x="67" y="79"/>
                  <a:pt x="67" y="79"/>
                </a:cubicBezTo>
                <a:cubicBezTo>
                  <a:pt x="67" y="57"/>
                  <a:pt x="85" y="40"/>
                  <a:pt x="106" y="40"/>
                </a:cubicBezTo>
                <a:cubicBezTo>
                  <a:pt x="107" y="40"/>
                  <a:pt x="108" y="40"/>
                  <a:pt x="108" y="40"/>
                </a:cubicBezTo>
                <a:cubicBezTo>
                  <a:pt x="108" y="40"/>
                  <a:pt x="109" y="40"/>
                  <a:pt x="109" y="40"/>
                </a:cubicBezTo>
                <a:cubicBezTo>
                  <a:pt x="131" y="40"/>
                  <a:pt x="148" y="57"/>
                  <a:pt x="148" y="79"/>
                </a:cubicBezTo>
                <a:lnTo>
                  <a:pt x="148" y="126"/>
                </a:lnTo>
                <a:close/>
              </a:path>
            </a:pathLst>
          </a:custGeom>
          <a:noFill/>
          <a:ln w="9525">
            <a:solidFill>
              <a:srgbClr val="3D735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solidFill>
                <a:srgbClr val="3D735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62A6339-BBC4-4F7D-F3D6-D05865F30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970" y="212725"/>
            <a:ext cx="2339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操作系统的作用</a:t>
            </a:r>
          </a:p>
        </p:txBody>
      </p:sp>
    </p:spTree>
    <p:extLst>
      <p:ext uri="{BB962C8B-B14F-4D97-AF65-F5344CB8AC3E}">
        <p14:creationId xmlns:p14="http://schemas.microsoft.com/office/powerpoint/2010/main" val="28026784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组合 3"/>
          <p:cNvGrpSpPr>
            <a:grpSpLocks/>
          </p:cNvGrpSpPr>
          <p:nvPr/>
        </p:nvGrpSpPr>
        <p:grpSpPr bwMode="auto">
          <a:xfrm>
            <a:off x="6399639" y="1715800"/>
            <a:ext cx="4957762" cy="3954462"/>
            <a:chOff x="5208649" y="1158221"/>
            <a:chExt cx="6264214" cy="4996068"/>
          </a:xfrm>
        </p:grpSpPr>
        <p:pic>
          <p:nvPicPr>
            <p:cNvPr id="12297" name="图片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8649" y="2398385"/>
              <a:ext cx="4106801" cy="2740303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298" name="图片 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29738" y="3781153"/>
              <a:ext cx="1357312" cy="1131093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299" name="图片 6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29738" y="2401854"/>
              <a:ext cx="2143125" cy="1379299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300" name="图片 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5237" y="5168451"/>
              <a:ext cx="1700213" cy="985838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301" name="图片 8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8649" y="1158221"/>
              <a:ext cx="1892239" cy="1234592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295" name="文本框 10"/>
          <p:cNvSpPr txBox="1">
            <a:spLocks noChangeArrowheads="1"/>
          </p:cNvSpPr>
          <p:nvPr/>
        </p:nvSpPr>
        <p:spPr bwMode="auto">
          <a:xfrm>
            <a:off x="809625" y="1344383"/>
            <a:ext cx="5277276" cy="4745915"/>
          </a:xfrm>
          <a:prstGeom prst="rect">
            <a:avLst/>
          </a:prstGeom>
          <a:solidFill>
            <a:srgbClr val="3D735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buNone/>
            </a:pP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操作系统（</a:t>
            </a:r>
            <a:r>
              <a:rPr lang="en-US" altLang="zh-CN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，简称</a:t>
            </a:r>
            <a:r>
              <a:rPr lang="en-US" altLang="zh-CN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OS</a:t>
            </a: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是计算机系统中的一个系统软件，管理和控制计算机系统中硬件和软件资源，合理地组织计算机的工作流程，以便有效利用这些资源为用户提供一个功能强大、使用方便的工作环境，从而在计算机与用户之间起到接口的作用。</a:t>
            </a:r>
          </a:p>
        </p:txBody>
      </p:sp>
      <p:sp>
        <p:nvSpPr>
          <p:cNvPr id="22" name="矩形 21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4" name="矩形 23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6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2339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操作系统的定义</a:t>
            </a:r>
          </a:p>
        </p:txBody>
      </p:sp>
      <p:sp>
        <p:nvSpPr>
          <p:cNvPr id="17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10531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 cstate="print"/>
          <a:srcRect r="42146" b="48018"/>
          <a:stretch/>
        </p:blipFill>
        <p:spPr>
          <a:xfrm>
            <a:off x="7346063" y="2511276"/>
            <a:ext cx="4845938" cy="4346724"/>
          </a:xfrm>
          <a:prstGeom prst="rect">
            <a:avLst/>
          </a:prstGeom>
        </p:spPr>
      </p:pic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439936" y="1137130"/>
            <a:ext cx="7246275" cy="1733178"/>
          </a:xfrm>
          <a:prstGeom prst="rect">
            <a:avLst/>
          </a:prstGeom>
          <a:noFill/>
          <a:ln w="38100" cap="flat">
            <a:solidFill>
              <a:srgbClr val="3D735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1938" y1="46310" x2="41938" y2="46310"/>
                        <a14:foregroundMark x1="26672" y1="41021" x2="26672" y2="41021"/>
                        <a14:foregroundMark x1="31389" y1="39422" x2="31389" y2="39422"/>
                        <a14:backgroundMark x1="70755" y1="56581" x2="70755" y2="56581"/>
                        <a14:backgroundMark x1="68696" y1="52583" x2="65266" y2="51415"/>
                        <a14:backgroundMark x1="49914" y1="48032" x2="49314" y2="47909"/>
                        <a14:backgroundMark x1="49314" y1="54674" x2="48714" y2="54674"/>
                        <a14:backgroundMark x1="47513" y1="54490" x2="50772" y2="56827"/>
                        <a14:backgroundMark x1="67067" y1="62116" x2="67667" y2="61501"/>
                        <a14:backgroundMark x1="68525" y1="56396" x2="68525" y2="55351"/>
                        <a14:backgroundMark x1="70154" y1="50861" x2="70154" y2="50861"/>
                        <a14:backgroundMark x1="71184" y1="50431" x2="71184" y2="50431"/>
                        <a14:backgroundMark x1="38508" y1="41451" x2="38508" y2="41451"/>
                        <a14:backgroundMark x1="44254" y1="36470" x2="44254" y2="36470"/>
                        <a14:backgroundMark x1="42796" y1="43235" x2="42796" y2="43235"/>
                        <a14:backgroundMark x1="67067" y1="42927" x2="67067" y2="42927"/>
                        <a14:backgroundMark x1="58062" y1="45449" x2="57461" y2="45572"/>
                        <a14:backgroundMark x1="59091" y1="52768" x2="59520" y2="53321"/>
                        <a14:backgroundMark x1="59520" y1="54182" x2="59777" y2="55843"/>
                        <a14:backgroundMark x1="59777" y1="59164" x2="59777" y2="59164"/>
                        <a14:backgroundMark x1="78902" y1="35609" x2="78902" y2="35609"/>
                        <a14:backgroundMark x1="26415" y1="39729" x2="26415" y2="39729"/>
                        <a14:backgroundMark x1="25472" y1="42189" x2="25472" y2="42189"/>
                        <a14:backgroundMark x1="25214" y1="41636" x2="25214" y2="41636"/>
                        <a14:backgroundMark x1="46055" y1="56704" x2="46055" y2="56704"/>
                        <a14:backgroundMark x1="56690" y1="49508" x2="56690" y2="49508"/>
                        <a14:backgroundMark x1="56861" y1="49262" x2="60720" y2="48770"/>
                        <a14:backgroundMark x1="66295" y1="47601" x2="66895" y2="47601"/>
                        <a14:backgroundMark x1="71184" y1="46617" x2="76672" y2="45449"/>
                        <a14:backgroundMark x1="81389" y1="43973" x2="81389" y2="43973"/>
                      </a14:backgroundRemoval>
                    </a14:imgEffect>
                  </a14:imgLayer>
                </a14:imgProps>
              </a:ext>
            </a:extLst>
          </a:blip>
          <a:srcRect l="17878" t="35012" b="43146"/>
          <a:stretch/>
        </p:blipFill>
        <p:spPr>
          <a:xfrm>
            <a:off x="0" y="0"/>
            <a:ext cx="5837731" cy="2166151"/>
          </a:xfrm>
          <a:prstGeom prst="rect">
            <a:avLst/>
          </a:prstGeom>
        </p:spPr>
      </p:pic>
      <p:grpSp>
        <p:nvGrpSpPr>
          <p:cNvPr id="30" name="组合 29"/>
          <p:cNvGrpSpPr/>
          <p:nvPr/>
        </p:nvGrpSpPr>
        <p:grpSpPr>
          <a:xfrm>
            <a:off x="2729551" y="1483991"/>
            <a:ext cx="6989586" cy="1104503"/>
            <a:chOff x="3621789" y="2876749"/>
            <a:chExt cx="5471412" cy="1104503"/>
          </a:xfrm>
        </p:grpSpPr>
        <p:sp>
          <p:nvSpPr>
            <p:cNvPr id="31" name="矩形 30"/>
            <p:cNvSpPr/>
            <p:nvPr/>
          </p:nvSpPr>
          <p:spPr bwMode="auto">
            <a:xfrm>
              <a:off x="4971853" y="3707291"/>
              <a:ext cx="123825" cy="123825"/>
            </a:xfrm>
            <a:prstGeom prst="rect">
              <a:avLst/>
            </a:prstGeom>
            <a:solidFill>
              <a:srgbClr val="708265"/>
            </a:solidFill>
            <a:ln>
              <a:solidFill>
                <a:srgbClr val="70826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rgbClr val="595959"/>
                </a:solidFill>
              </a:endParaRPr>
            </a:p>
          </p:txBody>
        </p:sp>
        <p:sp>
          <p:nvSpPr>
            <p:cNvPr id="32" name="文本框 13"/>
            <p:cNvSpPr txBox="1">
              <a:spLocks noChangeArrowheads="1"/>
            </p:cNvSpPr>
            <p:nvPr/>
          </p:nvSpPr>
          <p:spPr bwMode="auto">
            <a:xfrm>
              <a:off x="5095677" y="3596166"/>
              <a:ext cx="137784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矩形 32"/>
            <p:cNvSpPr/>
            <p:nvPr/>
          </p:nvSpPr>
          <p:spPr bwMode="auto">
            <a:xfrm>
              <a:off x="7136457" y="3705704"/>
              <a:ext cx="123825" cy="125413"/>
            </a:xfrm>
            <a:prstGeom prst="rect">
              <a:avLst/>
            </a:prstGeom>
            <a:solidFill>
              <a:srgbClr val="708265"/>
            </a:solidFill>
            <a:ln>
              <a:solidFill>
                <a:srgbClr val="70826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rgbClr val="595959"/>
                </a:solidFill>
              </a:endParaRPr>
            </a:p>
          </p:txBody>
        </p:sp>
        <p:sp>
          <p:nvSpPr>
            <p:cNvPr id="34" name="文本框 13"/>
            <p:cNvSpPr txBox="1">
              <a:spLocks noChangeArrowheads="1"/>
            </p:cNvSpPr>
            <p:nvPr/>
          </p:nvSpPr>
          <p:spPr bwMode="auto">
            <a:xfrm>
              <a:off x="7260281" y="3596167"/>
              <a:ext cx="129951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文本框 13"/>
            <p:cNvSpPr txBox="1">
              <a:spLocks noChangeArrowheads="1"/>
            </p:cNvSpPr>
            <p:nvPr/>
          </p:nvSpPr>
          <p:spPr bwMode="auto">
            <a:xfrm>
              <a:off x="4813114" y="2890068"/>
              <a:ext cx="4280087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zh-CN" altLang="en-US" sz="4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操作系统运行环境</a:t>
              </a: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3655926" y="3396477"/>
              <a:ext cx="127415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rgbClr val="708265"/>
                  </a:solidFill>
                  <a:latin typeface="Impact" panose="020B0806030902050204" pitchFamily="34" charset="0"/>
                  <a:ea typeface="微软雅黑 Light" panose="020B0502040204020203" pitchFamily="34" charset="-122"/>
                </a:rPr>
                <a:t>PART</a:t>
              </a:r>
              <a:endParaRPr lang="zh-CN" altLang="en-US" sz="3200" dirty="0">
                <a:solidFill>
                  <a:srgbClr val="708265"/>
                </a:solidFill>
                <a:latin typeface="Impact" panose="020B0806030902050204" pitchFamily="34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3621789" y="2876749"/>
              <a:ext cx="134243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dirty="0">
                  <a:solidFill>
                    <a:srgbClr val="70826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1.2</a:t>
              </a:r>
              <a:endParaRPr lang="zh-CN" altLang="en-US" sz="4000" dirty="0">
                <a:solidFill>
                  <a:srgbClr val="70826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8" name="组合 37"/>
            <p:cNvGrpSpPr/>
            <p:nvPr/>
          </p:nvGrpSpPr>
          <p:grpSpPr>
            <a:xfrm>
              <a:off x="4293004" y="3250218"/>
              <a:ext cx="207440" cy="104457"/>
              <a:chOff x="4093098" y="3134123"/>
              <a:chExt cx="107723" cy="54244"/>
            </a:xfrm>
          </p:grpSpPr>
          <p:sp>
            <p:nvSpPr>
              <p:cNvPr id="39" name="L 形 38"/>
              <p:cNvSpPr/>
              <p:nvPr/>
            </p:nvSpPr>
            <p:spPr>
              <a:xfrm rot="2493705" flipH="1" flipV="1">
                <a:off x="4093098" y="3134123"/>
                <a:ext cx="54243" cy="54244"/>
              </a:xfrm>
              <a:prstGeom prst="corner">
                <a:avLst>
                  <a:gd name="adj1" fmla="val 15149"/>
                  <a:gd name="adj2" fmla="val 17140"/>
                </a:avLst>
              </a:prstGeom>
              <a:solidFill>
                <a:srgbClr val="6F8163"/>
              </a:solidFill>
              <a:ln>
                <a:solidFill>
                  <a:srgbClr val="70826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200">
                  <a:solidFill>
                    <a:srgbClr val="708265"/>
                  </a:solidFill>
                </a:endParaRPr>
              </a:p>
            </p:txBody>
          </p:sp>
          <p:sp>
            <p:nvSpPr>
              <p:cNvPr id="40" name="L 形 39"/>
              <p:cNvSpPr/>
              <p:nvPr/>
            </p:nvSpPr>
            <p:spPr>
              <a:xfrm rot="2493705" flipH="1" flipV="1">
                <a:off x="4146578" y="3134123"/>
                <a:ext cx="54243" cy="54244"/>
              </a:xfrm>
              <a:prstGeom prst="corner">
                <a:avLst>
                  <a:gd name="adj1" fmla="val 15149"/>
                  <a:gd name="adj2" fmla="val 17140"/>
                </a:avLst>
              </a:prstGeom>
              <a:solidFill>
                <a:srgbClr val="6F8163"/>
              </a:solidFill>
              <a:ln>
                <a:solidFill>
                  <a:srgbClr val="70826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200">
                  <a:solidFill>
                    <a:srgbClr val="708265"/>
                  </a:solidFill>
                </a:endParaRPr>
              </a:p>
            </p:txBody>
          </p:sp>
        </p:grpSp>
      </p:grpSp>
      <p:sp>
        <p:nvSpPr>
          <p:cNvPr id="16" name="文本框 21"/>
          <p:cNvSpPr txBox="1">
            <a:spLocks noChangeArrowheads="1"/>
          </p:cNvSpPr>
          <p:nvPr/>
        </p:nvSpPr>
        <p:spPr bwMode="auto">
          <a:xfrm>
            <a:off x="2439935" y="3299725"/>
            <a:ext cx="7279201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/>
              <a:t>         操作系统的目标与应用环境有关。例如在查询系统中所用的操作系统，希望能提供良好的人</a:t>
            </a:r>
            <a:r>
              <a:rPr lang="en-US" altLang="zh-CN" sz="2400" dirty="0"/>
              <a:t>—</a:t>
            </a:r>
            <a:r>
              <a:rPr lang="zh-CN" altLang="en-US" sz="2400" dirty="0"/>
              <a:t>机交互性；对于应用于工业控制、武器控制以及多媒体环境下的操作系统，要求其具有实时性；而对于微机上配置的操作系统，则更看重的是其使用的方便性。</a:t>
            </a:r>
            <a:endParaRPr lang="zh-CN" altLang="en-US" sz="2400" dirty="0">
              <a:solidFill>
                <a:srgbClr val="505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1769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706151" y="1973067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8614201" y="1973067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7116" name="文本框 52"/>
          <p:cNvSpPr txBox="1">
            <a:spLocks noChangeArrowheads="1"/>
          </p:cNvSpPr>
          <p:nvPr/>
        </p:nvSpPr>
        <p:spPr bwMode="auto">
          <a:xfrm>
            <a:off x="7936230" y="2176267"/>
            <a:ext cx="3352800" cy="2342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数据寄存器、地址寄存器</a:t>
            </a:r>
            <a:endParaRPr lang="en-US" altLang="zh-CN" sz="2000" b="1" dirty="0">
              <a:solidFill>
                <a:srgbClr val="505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程序计数器</a:t>
            </a:r>
            <a:r>
              <a:rPr lang="en-US" altLang="zh-CN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、指令寄存器</a:t>
            </a:r>
            <a:r>
              <a:rPr lang="en-US" altLang="zh-CN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IR</a:t>
            </a:r>
            <a:r>
              <a:rPr lang="zh-CN" altLang="en-US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、程序状态字</a:t>
            </a:r>
            <a:r>
              <a:rPr lang="en-US" altLang="zh-CN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PSW</a:t>
            </a:r>
            <a:r>
              <a:rPr lang="zh-CN" altLang="en-US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、中断现场保护寄存器、过程调用用堆栈</a:t>
            </a:r>
            <a:endParaRPr lang="en-US" altLang="zh-CN" sz="2000" b="1" dirty="0">
              <a:solidFill>
                <a:srgbClr val="505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119" name="文本框 55"/>
          <p:cNvSpPr txBox="1">
            <a:spLocks noChangeArrowheads="1"/>
          </p:cNvSpPr>
          <p:nvPr/>
        </p:nvSpPr>
        <p:spPr bwMode="auto">
          <a:xfrm>
            <a:off x="7560101" y="1439667"/>
            <a:ext cx="1920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主要寄存器</a:t>
            </a:r>
          </a:p>
        </p:txBody>
      </p:sp>
      <p:sp>
        <p:nvSpPr>
          <p:cNvPr id="27" name="矩形 26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9" name="矩形 28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31" name="文本框 25"/>
          <p:cNvSpPr txBox="1">
            <a:spLocks noChangeArrowheads="1"/>
          </p:cNvSpPr>
          <p:nvPr/>
        </p:nvSpPr>
        <p:spPr bwMode="auto">
          <a:xfrm>
            <a:off x="902970" y="933430"/>
            <a:ext cx="38779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操作系统与各层之间的关系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Freeform 93"/>
          <p:cNvSpPr>
            <a:spLocks noEditPoints="1"/>
          </p:cNvSpPr>
          <p:nvPr/>
        </p:nvSpPr>
        <p:spPr bwMode="auto">
          <a:xfrm>
            <a:off x="7706151" y="2373697"/>
            <a:ext cx="193675" cy="260350"/>
          </a:xfrm>
          <a:custGeom>
            <a:avLst/>
            <a:gdLst>
              <a:gd name="T0" fmla="*/ 188 w 216"/>
              <a:gd name="T1" fmla="*/ 126 h 288"/>
              <a:gd name="T2" fmla="*/ 188 w 216"/>
              <a:gd name="T3" fmla="*/ 79 h 288"/>
              <a:gd name="T4" fmla="*/ 109 w 216"/>
              <a:gd name="T5" fmla="*/ 0 h 288"/>
              <a:gd name="T6" fmla="*/ 108 w 216"/>
              <a:gd name="T7" fmla="*/ 0 h 288"/>
              <a:gd name="T8" fmla="*/ 106 w 216"/>
              <a:gd name="T9" fmla="*/ 0 h 288"/>
              <a:gd name="T10" fmla="*/ 28 w 216"/>
              <a:gd name="T11" fmla="*/ 79 h 288"/>
              <a:gd name="T12" fmla="*/ 28 w 216"/>
              <a:gd name="T13" fmla="*/ 126 h 288"/>
              <a:gd name="T14" fmla="*/ 0 w 216"/>
              <a:gd name="T15" fmla="*/ 126 h 288"/>
              <a:gd name="T16" fmla="*/ 0 w 216"/>
              <a:gd name="T17" fmla="*/ 288 h 288"/>
              <a:gd name="T18" fmla="*/ 216 w 216"/>
              <a:gd name="T19" fmla="*/ 288 h 288"/>
              <a:gd name="T20" fmla="*/ 216 w 216"/>
              <a:gd name="T21" fmla="*/ 126 h 288"/>
              <a:gd name="T22" fmla="*/ 188 w 216"/>
              <a:gd name="T23" fmla="*/ 126 h 288"/>
              <a:gd name="T24" fmla="*/ 133 w 216"/>
              <a:gd name="T25" fmla="*/ 259 h 288"/>
              <a:gd name="T26" fmla="*/ 84 w 216"/>
              <a:gd name="T27" fmla="*/ 259 h 288"/>
              <a:gd name="T28" fmla="*/ 96 w 216"/>
              <a:gd name="T29" fmla="*/ 206 h 288"/>
              <a:gd name="T30" fmla="*/ 84 w 216"/>
              <a:gd name="T31" fmla="*/ 185 h 288"/>
              <a:gd name="T32" fmla="*/ 108 w 216"/>
              <a:gd name="T33" fmla="*/ 161 h 288"/>
              <a:gd name="T34" fmla="*/ 133 w 216"/>
              <a:gd name="T35" fmla="*/ 185 h 288"/>
              <a:gd name="T36" fmla="*/ 120 w 216"/>
              <a:gd name="T37" fmla="*/ 206 h 288"/>
              <a:gd name="T38" fmla="*/ 133 w 216"/>
              <a:gd name="T39" fmla="*/ 259 h 288"/>
              <a:gd name="T40" fmla="*/ 148 w 216"/>
              <a:gd name="T41" fmla="*/ 126 h 288"/>
              <a:gd name="T42" fmla="*/ 67 w 216"/>
              <a:gd name="T43" fmla="*/ 126 h 288"/>
              <a:gd name="T44" fmla="*/ 67 w 216"/>
              <a:gd name="T45" fmla="*/ 79 h 288"/>
              <a:gd name="T46" fmla="*/ 106 w 216"/>
              <a:gd name="T47" fmla="*/ 40 h 288"/>
              <a:gd name="T48" fmla="*/ 108 w 216"/>
              <a:gd name="T49" fmla="*/ 40 h 288"/>
              <a:gd name="T50" fmla="*/ 109 w 216"/>
              <a:gd name="T51" fmla="*/ 40 h 288"/>
              <a:gd name="T52" fmla="*/ 148 w 216"/>
              <a:gd name="T53" fmla="*/ 79 h 288"/>
              <a:gd name="T54" fmla="*/ 148 w 216"/>
              <a:gd name="T55" fmla="*/ 126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16" h="288">
                <a:moveTo>
                  <a:pt x="188" y="126"/>
                </a:moveTo>
                <a:cubicBezTo>
                  <a:pt x="188" y="79"/>
                  <a:pt x="188" y="79"/>
                  <a:pt x="188" y="79"/>
                </a:cubicBezTo>
                <a:cubicBezTo>
                  <a:pt x="188" y="36"/>
                  <a:pt x="152" y="0"/>
                  <a:pt x="109" y="0"/>
                </a:cubicBezTo>
                <a:cubicBezTo>
                  <a:pt x="109" y="0"/>
                  <a:pt x="108" y="0"/>
                  <a:pt x="108" y="0"/>
                </a:cubicBezTo>
                <a:cubicBezTo>
                  <a:pt x="107" y="0"/>
                  <a:pt x="107" y="0"/>
                  <a:pt x="106" y="0"/>
                </a:cubicBezTo>
                <a:cubicBezTo>
                  <a:pt x="63" y="0"/>
                  <a:pt x="28" y="36"/>
                  <a:pt x="28" y="79"/>
                </a:cubicBezTo>
                <a:cubicBezTo>
                  <a:pt x="28" y="126"/>
                  <a:pt x="28" y="126"/>
                  <a:pt x="28" y="126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288"/>
                  <a:pt x="0" y="288"/>
                  <a:pt x="0" y="288"/>
                </a:cubicBezTo>
                <a:cubicBezTo>
                  <a:pt x="216" y="288"/>
                  <a:pt x="216" y="288"/>
                  <a:pt x="216" y="288"/>
                </a:cubicBezTo>
                <a:cubicBezTo>
                  <a:pt x="216" y="126"/>
                  <a:pt x="216" y="126"/>
                  <a:pt x="216" y="126"/>
                </a:cubicBezTo>
                <a:lnTo>
                  <a:pt x="188" y="126"/>
                </a:lnTo>
                <a:close/>
                <a:moveTo>
                  <a:pt x="133" y="259"/>
                </a:moveTo>
                <a:cubicBezTo>
                  <a:pt x="84" y="259"/>
                  <a:pt x="84" y="259"/>
                  <a:pt x="84" y="259"/>
                </a:cubicBezTo>
                <a:cubicBezTo>
                  <a:pt x="96" y="206"/>
                  <a:pt x="96" y="206"/>
                  <a:pt x="96" y="206"/>
                </a:cubicBezTo>
                <a:cubicBezTo>
                  <a:pt x="88" y="202"/>
                  <a:pt x="84" y="194"/>
                  <a:pt x="84" y="185"/>
                </a:cubicBezTo>
                <a:cubicBezTo>
                  <a:pt x="84" y="172"/>
                  <a:pt x="95" y="161"/>
                  <a:pt x="108" y="161"/>
                </a:cubicBezTo>
                <a:cubicBezTo>
                  <a:pt x="122" y="161"/>
                  <a:pt x="133" y="172"/>
                  <a:pt x="133" y="185"/>
                </a:cubicBezTo>
                <a:cubicBezTo>
                  <a:pt x="133" y="194"/>
                  <a:pt x="128" y="202"/>
                  <a:pt x="120" y="206"/>
                </a:cubicBezTo>
                <a:lnTo>
                  <a:pt x="133" y="259"/>
                </a:lnTo>
                <a:close/>
                <a:moveTo>
                  <a:pt x="148" y="126"/>
                </a:moveTo>
                <a:cubicBezTo>
                  <a:pt x="67" y="126"/>
                  <a:pt x="67" y="126"/>
                  <a:pt x="67" y="126"/>
                </a:cubicBezTo>
                <a:cubicBezTo>
                  <a:pt x="67" y="79"/>
                  <a:pt x="67" y="79"/>
                  <a:pt x="67" y="79"/>
                </a:cubicBezTo>
                <a:cubicBezTo>
                  <a:pt x="67" y="57"/>
                  <a:pt x="85" y="40"/>
                  <a:pt x="106" y="40"/>
                </a:cubicBezTo>
                <a:cubicBezTo>
                  <a:pt x="107" y="40"/>
                  <a:pt x="108" y="40"/>
                  <a:pt x="108" y="40"/>
                </a:cubicBezTo>
                <a:cubicBezTo>
                  <a:pt x="108" y="40"/>
                  <a:pt x="109" y="40"/>
                  <a:pt x="109" y="40"/>
                </a:cubicBezTo>
                <a:cubicBezTo>
                  <a:pt x="131" y="40"/>
                  <a:pt x="148" y="57"/>
                  <a:pt x="148" y="79"/>
                </a:cubicBezTo>
                <a:lnTo>
                  <a:pt x="148" y="126"/>
                </a:lnTo>
                <a:close/>
              </a:path>
            </a:pathLst>
          </a:custGeom>
          <a:noFill/>
          <a:ln w="9525">
            <a:solidFill>
              <a:srgbClr val="3D735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solidFill>
                <a:srgbClr val="3D7351"/>
              </a:solidFill>
            </a:endParaRPr>
          </a:p>
        </p:txBody>
      </p:sp>
      <p:sp>
        <p:nvSpPr>
          <p:cNvPr id="57" name="Freeform 93"/>
          <p:cNvSpPr>
            <a:spLocks noEditPoints="1"/>
          </p:cNvSpPr>
          <p:nvPr/>
        </p:nvSpPr>
        <p:spPr bwMode="auto">
          <a:xfrm>
            <a:off x="7706150" y="2826707"/>
            <a:ext cx="193675" cy="260350"/>
          </a:xfrm>
          <a:custGeom>
            <a:avLst/>
            <a:gdLst>
              <a:gd name="T0" fmla="*/ 188 w 216"/>
              <a:gd name="T1" fmla="*/ 126 h 288"/>
              <a:gd name="T2" fmla="*/ 188 w 216"/>
              <a:gd name="T3" fmla="*/ 79 h 288"/>
              <a:gd name="T4" fmla="*/ 109 w 216"/>
              <a:gd name="T5" fmla="*/ 0 h 288"/>
              <a:gd name="T6" fmla="*/ 108 w 216"/>
              <a:gd name="T7" fmla="*/ 0 h 288"/>
              <a:gd name="T8" fmla="*/ 106 w 216"/>
              <a:gd name="T9" fmla="*/ 0 h 288"/>
              <a:gd name="T10" fmla="*/ 28 w 216"/>
              <a:gd name="T11" fmla="*/ 79 h 288"/>
              <a:gd name="T12" fmla="*/ 28 w 216"/>
              <a:gd name="T13" fmla="*/ 126 h 288"/>
              <a:gd name="T14" fmla="*/ 0 w 216"/>
              <a:gd name="T15" fmla="*/ 126 h 288"/>
              <a:gd name="T16" fmla="*/ 0 w 216"/>
              <a:gd name="T17" fmla="*/ 288 h 288"/>
              <a:gd name="T18" fmla="*/ 216 w 216"/>
              <a:gd name="T19" fmla="*/ 288 h 288"/>
              <a:gd name="T20" fmla="*/ 216 w 216"/>
              <a:gd name="T21" fmla="*/ 126 h 288"/>
              <a:gd name="T22" fmla="*/ 188 w 216"/>
              <a:gd name="T23" fmla="*/ 126 h 288"/>
              <a:gd name="T24" fmla="*/ 133 w 216"/>
              <a:gd name="T25" fmla="*/ 259 h 288"/>
              <a:gd name="T26" fmla="*/ 84 w 216"/>
              <a:gd name="T27" fmla="*/ 259 h 288"/>
              <a:gd name="T28" fmla="*/ 96 w 216"/>
              <a:gd name="T29" fmla="*/ 206 h 288"/>
              <a:gd name="T30" fmla="*/ 84 w 216"/>
              <a:gd name="T31" fmla="*/ 185 h 288"/>
              <a:gd name="T32" fmla="*/ 108 w 216"/>
              <a:gd name="T33" fmla="*/ 161 h 288"/>
              <a:gd name="T34" fmla="*/ 133 w 216"/>
              <a:gd name="T35" fmla="*/ 185 h 288"/>
              <a:gd name="T36" fmla="*/ 120 w 216"/>
              <a:gd name="T37" fmla="*/ 206 h 288"/>
              <a:gd name="T38" fmla="*/ 133 w 216"/>
              <a:gd name="T39" fmla="*/ 259 h 288"/>
              <a:gd name="T40" fmla="*/ 148 w 216"/>
              <a:gd name="T41" fmla="*/ 126 h 288"/>
              <a:gd name="T42" fmla="*/ 67 w 216"/>
              <a:gd name="T43" fmla="*/ 126 h 288"/>
              <a:gd name="T44" fmla="*/ 67 w 216"/>
              <a:gd name="T45" fmla="*/ 79 h 288"/>
              <a:gd name="T46" fmla="*/ 106 w 216"/>
              <a:gd name="T47" fmla="*/ 40 h 288"/>
              <a:gd name="T48" fmla="*/ 108 w 216"/>
              <a:gd name="T49" fmla="*/ 40 h 288"/>
              <a:gd name="T50" fmla="*/ 109 w 216"/>
              <a:gd name="T51" fmla="*/ 40 h 288"/>
              <a:gd name="T52" fmla="*/ 148 w 216"/>
              <a:gd name="T53" fmla="*/ 79 h 288"/>
              <a:gd name="T54" fmla="*/ 148 w 216"/>
              <a:gd name="T55" fmla="*/ 126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16" h="288">
                <a:moveTo>
                  <a:pt x="188" y="126"/>
                </a:moveTo>
                <a:cubicBezTo>
                  <a:pt x="188" y="79"/>
                  <a:pt x="188" y="79"/>
                  <a:pt x="188" y="79"/>
                </a:cubicBezTo>
                <a:cubicBezTo>
                  <a:pt x="188" y="36"/>
                  <a:pt x="152" y="0"/>
                  <a:pt x="109" y="0"/>
                </a:cubicBezTo>
                <a:cubicBezTo>
                  <a:pt x="109" y="0"/>
                  <a:pt x="108" y="0"/>
                  <a:pt x="108" y="0"/>
                </a:cubicBezTo>
                <a:cubicBezTo>
                  <a:pt x="107" y="0"/>
                  <a:pt x="107" y="0"/>
                  <a:pt x="106" y="0"/>
                </a:cubicBezTo>
                <a:cubicBezTo>
                  <a:pt x="63" y="0"/>
                  <a:pt x="28" y="36"/>
                  <a:pt x="28" y="79"/>
                </a:cubicBezTo>
                <a:cubicBezTo>
                  <a:pt x="28" y="126"/>
                  <a:pt x="28" y="126"/>
                  <a:pt x="28" y="126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288"/>
                  <a:pt x="0" y="288"/>
                  <a:pt x="0" y="288"/>
                </a:cubicBezTo>
                <a:cubicBezTo>
                  <a:pt x="216" y="288"/>
                  <a:pt x="216" y="288"/>
                  <a:pt x="216" y="288"/>
                </a:cubicBezTo>
                <a:cubicBezTo>
                  <a:pt x="216" y="126"/>
                  <a:pt x="216" y="126"/>
                  <a:pt x="216" y="126"/>
                </a:cubicBezTo>
                <a:lnTo>
                  <a:pt x="188" y="126"/>
                </a:lnTo>
                <a:close/>
                <a:moveTo>
                  <a:pt x="133" y="259"/>
                </a:moveTo>
                <a:cubicBezTo>
                  <a:pt x="84" y="259"/>
                  <a:pt x="84" y="259"/>
                  <a:pt x="84" y="259"/>
                </a:cubicBezTo>
                <a:cubicBezTo>
                  <a:pt x="96" y="206"/>
                  <a:pt x="96" y="206"/>
                  <a:pt x="96" y="206"/>
                </a:cubicBezTo>
                <a:cubicBezTo>
                  <a:pt x="88" y="202"/>
                  <a:pt x="84" y="194"/>
                  <a:pt x="84" y="185"/>
                </a:cubicBezTo>
                <a:cubicBezTo>
                  <a:pt x="84" y="172"/>
                  <a:pt x="95" y="161"/>
                  <a:pt x="108" y="161"/>
                </a:cubicBezTo>
                <a:cubicBezTo>
                  <a:pt x="122" y="161"/>
                  <a:pt x="133" y="172"/>
                  <a:pt x="133" y="185"/>
                </a:cubicBezTo>
                <a:cubicBezTo>
                  <a:pt x="133" y="194"/>
                  <a:pt x="128" y="202"/>
                  <a:pt x="120" y="206"/>
                </a:cubicBezTo>
                <a:lnTo>
                  <a:pt x="133" y="259"/>
                </a:lnTo>
                <a:close/>
                <a:moveTo>
                  <a:pt x="148" y="126"/>
                </a:moveTo>
                <a:cubicBezTo>
                  <a:pt x="67" y="126"/>
                  <a:pt x="67" y="126"/>
                  <a:pt x="67" y="126"/>
                </a:cubicBezTo>
                <a:cubicBezTo>
                  <a:pt x="67" y="79"/>
                  <a:pt x="67" y="79"/>
                  <a:pt x="67" y="79"/>
                </a:cubicBezTo>
                <a:cubicBezTo>
                  <a:pt x="67" y="57"/>
                  <a:pt x="85" y="40"/>
                  <a:pt x="106" y="40"/>
                </a:cubicBezTo>
                <a:cubicBezTo>
                  <a:pt x="107" y="40"/>
                  <a:pt x="108" y="40"/>
                  <a:pt x="108" y="40"/>
                </a:cubicBezTo>
                <a:cubicBezTo>
                  <a:pt x="108" y="40"/>
                  <a:pt x="109" y="40"/>
                  <a:pt x="109" y="40"/>
                </a:cubicBezTo>
                <a:cubicBezTo>
                  <a:pt x="131" y="40"/>
                  <a:pt x="148" y="57"/>
                  <a:pt x="148" y="79"/>
                </a:cubicBezTo>
                <a:lnTo>
                  <a:pt x="148" y="126"/>
                </a:lnTo>
                <a:close/>
              </a:path>
            </a:pathLst>
          </a:custGeom>
          <a:noFill/>
          <a:ln w="9525">
            <a:solidFill>
              <a:srgbClr val="3D735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solidFill>
                <a:srgbClr val="3D7351"/>
              </a:solidFill>
            </a:endParaRPr>
          </a:p>
        </p:txBody>
      </p:sp>
      <p:sp>
        <p:nvSpPr>
          <p:cNvPr id="58" name="Freeform 93"/>
          <p:cNvSpPr>
            <a:spLocks noEditPoints="1"/>
          </p:cNvSpPr>
          <p:nvPr/>
        </p:nvSpPr>
        <p:spPr bwMode="auto">
          <a:xfrm>
            <a:off x="7706151" y="3302162"/>
            <a:ext cx="193675" cy="260350"/>
          </a:xfrm>
          <a:custGeom>
            <a:avLst/>
            <a:gdLst>
              <a:gd name="T0" fmla="*/ 188 w 216"/>
              <a:gd name="T1" fmla="*/ 126 h 288"/>
              <a:gd name="T2" fmla="*/ 188 w 216"/>
              <a:gd name="T3" fmla="*/ 79 h 288"/>
              <a:gd name="T4" fmla="*/ 109 w 216"/>
              <a:gd name="T5" fmla="*/ 0 h 288"/>
              <a:gd name="T6" fmla="*/ 108 w 216"/>
              <a:gd name="T7" fmla="*/ 0 h 288"/>
              <a:gd name="T8" fmla="*/ 106 w 216"/>
              <a:gd name="T9" fmla="*/ 0 h 288"/>
              <a:gd name="T10" fmla="*/ 28 w 216"/>
              <a:gd name="T11" fmla="*/ 79 h 288"/>
              <a:gd name="T12" fmla="*/ 28 w 216"/>
              <a:gd name="T13" fmla="*/ 126 h 288"/>
              <a:gd name="T14" fmla="*/ 0 w 216"/>
              <a:gd name="T15" fmla="*/ 126 h 288"/>
              <a:gd name="T16" fmla="*/ 0 w 216"/>
              <a:gd name="T17" fmla="*/ 288 h 288"/>
              <a:gd name="T18" fmla="*/ 216 w 216"/>
              <a:gd name="T19" fmla="*/ 288 h 288"/>
              <a:gd name="T20" fmla="*/ 216 w 216"/>
              <a:gd name="T21" fmla="*/ 126 h 288"/>
              <a:gd name="T22" fmla="*/ 188 w 216"/>
              <a:gd name="T23" fmla="*/ 126 h 288"/>
              <a:gd name="T24" fmla="*/ 133 w 216"/>
              <a:gd name="T25" fmla="*/ 259 h 288"/>
              <a:gd name="T26" fmla="*/ 84 w 216"/>
              <a:gd name="T27" fmla="*/ 259 h 288"/>
              <a:gd name="T28" fmla="*/ 96 w 216"/>
              <a:gd name="T29" fmla="*/ 206 h 288"/>
              <a:gd name="T30" fmla="*/ 84 w 216"/>
              <a:gd name="T31" fmla="*/ 185 h 288"/>
              <a:gd name="T32" fmla="*/ 108 w 216"/>
              <a:gd name="T33" fmla="*/ 161 h 288"/>
              <a:gd name="T34" fmla="*/ 133 w 216"/>
              <a:gd name="T35" fmla="*/ 185 h 288"/>
              <a:gd name="T36" fmla="*/ 120 w 216"/>
              <a:gd name="T37" fmla="*/ 206 h 288"/>
              <a:gd name="T38" fmla="*/ 133 w 216"/>
              <a:gd name="T39" fmla="*/ 259 h 288"/>
              <a:gd name="T40" fmla="*/ 148 w 216"/>
              <a:gd name="T41" fmla="*/ 126 h 288"/>
              <a:gd name="T42" fmla="*/ 67 w 216"/>
              <a:gd name="T43" fmla="*/ 126 h 288"/>
              <a:gd name="T44" fmla="*/ 67 w 216"/>
              <a:gd name="T45" fmla="*/ 79 h 288"/>
              <a:gd name="T46" fmla="*/ 106 w 216"/>
              <a:gd name="T47" fmla="*/ 40 h 288"/>
              <a:gd name="T48" fmla="*/ 108 w 216"/>
              <a:gd name="T49" fmla="*/ 40 h 288"/>
              <a:gd name="T50" fmla="*/ 109 w 216"/>
              <a:gd name="T51" fmla="*/ 40 h 288"/>
              <a:gd name="T52" fmla="*/ 148 w 216"/>
              <a:gd name="T53" fmla="*/ 79 h 288"/>
              <a:gd name="T54" fmla="*/ 148 w 216"/>
              <a:gd name="T55" fmla="*/ 126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16" h="288">
                <a:moveTo>
                  <a:pt x="188" y="126"/>
                </a:moveTo>
                <a:cubicBezTo>
                  <a:pt x="188" y="79"/>
                  <a:pt x="188" y="79"/>
                  <a:pt x="188" y="79"/>
                </a:cubicBezTo>
                <a:cubicBezTo>
                  <a:pt x="188" y="36"/>
                  <a:pt x="152" y="0"/>
                  <a:pt x="109" y="0"/>
                </a:cubicBezTo>
                <a:cubicBezTo>
                  <a:pt x="109" y="0"/>
                  <a:pt x="108" y="0"/>
                  <a:pt x="108" y="0"/>
                </a:cubicBezTo>
                <a:cubicBezTo>
                  <a:pt x="107" y="0"/>
                  <a:pt x="107" y="0"/>
                  <a:pt x="106" y="0"/>
                </a:cubicBezTo>
                <a:cubicBezTo>
                  <a:pt x="63" y="0"/>
                  <a:pt x="28" y="36"/>
                  <a:pt x="28" y="79"/>
                </a:cubicBezTo>
                <a:cubicBezTo>
                  <a:pt x="28" y="126"/>
                  <a:pt x="28" y="126"/>
                  <a:pt x="28" y="126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288"/>
                  <a:pt x="0" y="288"/>
                  <a:pt x="0" y="288"/>
                </a:cubicBezTo>
                <a:cubicBezTo>
                  <a:pt x="216" y="288"/>
                  <a:pt x="216" y="288"/>
                  <a:pt x="216" y="288"/>
                </a:cubicBezTo>
                <a:cubicBezTo>
                  <a:pt x="216" y="126"/>
                  <a:pt x="216" y="126"/>
                  <a:pt x="216" y="126"/>
                </a:cubicBezTo>
                <a:lnTo>
                  <a:pt x="188" y="126"/>
                </a:lnTo>
                <a:close/>
                <a:moveTo>
                  <a:pt x="133" y="259"/>
                </a:moveTo>
                <a:cubicBezTo>
                  <a:pt x="84" y="259"/>
                  <a:pt x="84" y="259"/>
                  <a:pt x="84" y="259"/>
                </a:cubicBezTo>
                <a:cubicBezTo>
                  <a:pt x="96" y="206"/>
                  <a:pt x="96" y="206"/>
                  <a:pt x="96" y="206"/>
                </a:cubicBezTo>
                <a:cubicBezTo>
                  <a:pt x="88" y="202"/>
                  <a:pt x="84" y="194"/>
                  <a:pt x="84" y="185"/>
                </a:cubicBezTo>
                <a:cubicBezTo>
                  <a:pt x="84" y="172"/>
                  <a:pt x="95" y="161"/>
                  <a:pt x="108" y="161"/>
                </a:cubicBezTo>
                <a:cubicBezTo>
                  <a:pt x="122" y="161"/>
                  <a:pt x="133" y="172"/>
                  <a:pt x="133" y="185"/>
                </a:cubicBezTo>
                <a:cubicBezTo>
                  <a:pt x="133" y="194"/>
                  <a:pt x="128" y="202"/>
                  <a:pt x="120" y="206"/>
                </a:cubicBezTo>
                <a:lnTo>
                  <a:pt x="133" y="259"/>
                </a:lnTo>
                <a:close/>
                <a:moveTo>
                  <a:pt x="148" y="126"/>
                </a:moveTo>
                <a:cubicBezTo>
                  <a:pt x="67" y="126"/>
                  <a:pt x="67" y="126"/>
                  <a:pt x="67" y="126"/>
                </a:cubicBezTo>
                <a:cubicBezTo>
                  <a:pt x="67" y="79"/>
                  <a:pt x="67" y="79"/>
                  <a:pt x="67" y="79"/>
                </a:cubicBezTo>
                <a:cubicBezTo>
                  <a:pt x="67" y="57"/>
                  <a:pt x="85" y="40"/>
                  <a:pt x="106" y="40"/>
                </a:cubicBezTo>
                <a:cubicBezTo>
                  <a:pt x="107" y="40"/>
                  <a:pt x="108" y="40"/>
                  <a:pt x="108" y="40"/>
                </a:cubicBezTo>
                <a:cubicBezTo>
                  <a:pt x="108" y="40"/>
                  <a:pt x="109" y="40"/>
                  <a:pt x="109" y="40"/>
                </a:cubicBezTo>
                <a:cubicBezTo>
                  <a:pt x="131" y="40"/>
                  <a:pt x="148" y="57"/>
                  <a:pt x="148" y="79"/>
                </a:cubicBezTo>
                <a:lnTo>
                  <a:pt x="148" y="126"/>
                </a:lnTo>
                <a:close/>
              </a:path>
            </a:pathLst>
          </a:custGeom>
          <a:noFill/>
          <a:ln w="9525">
            <a:solidFill>
              <a:srgbClr val="3D735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solidFill>
                <a:srgbClr val="3D735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D9CA527-E295-9421-E382-E1D0960B6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970" y="212725"/>
            <a:ext cx="35397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计算机的基本硬件元素</a:t>
            </a:r>
          </a:p>
        </p:txBody>
      </p:sp>
      <p:pic>
        <p:nvPicPr>
          <p:cNvPr id="4" name="图片 2">
            <a:extLst>
              <a:ext uri="{FF2B5EF4-FFF2-40B4-BE49-F238E27FC236}">
                <a16:creationId xmlns:a16="http://schemas.microsoft.com/office/drawing/2014/main" id="{1477AF77-C5AA-A85A-7342-3FC5857CDC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970" y="1629131"/>
            <a:ext cx="6587415" cy="4933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60746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706151" y="1973067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8614201" y="1973067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7116" name="文本框 52"/>
          <p:cNvSpPr txBox="1">
            <a:spLocks noChangeArrowheads="1"/>
          </p:cNvSpPr>
          <p:nvPr/>
        </p:nvSpPr>
        <p:spPr bwMode="auto">
          <a:xfrm>
            <a:off x="7936230" y="2176267"/>
            <a:ext cx="3352800" cy="961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从内存读入指令的过程</a:t>
            </a:r>
            <a:endParaRPr lang="en-US" altLang="zh-CN" sz="2000" b="1" dirty="0">
              <a:solidFill>
                <a:srgbClr val="505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执行的过程</a:t>
            </a:r>
            <a:endParaRPr lang="en-US" altLang="zh-CN" sz="2000" b="1" dirty="0">
              <a:solidFill>
                <a:srgbClr val="505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119" name="文本框 55"/>
          <p:cNvSpPr txBox="1">
            <a:spLocks noChangeArrowheads="1"/>
          </p:cNvSpPr>
          <p:nvPr/>
        </p:nvSpPr>
        <p:spPr bwMode="auto">
          <a:xfrm>
            <a:off x="7560101" y="1439667"/>
            <a:ext cx="310360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指令执行周期</a:t>
            </a:r>
          </a:p>
        </p:txBody>
      </p:sp>
      <p:sp>
        <p:nvSpPr>
          <p:cNvPr id="27" name="矩形 26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9" name="矩形 28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32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Freeform 93"/>
          <p:cNvSpPr>
            <a:spLocks noEditPoints="1"/>
          </p:cNvSpPr>
          <p:nvPr/>
        </p:nvSpPr>
        <p:spPr bwMode="auto">
          <a:xfrm>
            <a:off x="7706151" y="2373697"/>
            <a:ext cx="193675" cy="260350"/>
          </a:xfrm>
          <a:custGeom>
            <a:avLst/>
            <a:gdLst>
              <a:gd name="T0" fmla="*/ 188 w 216"/>
              <a:gd name="T1" fmla="*/ 126 h 288"/>
              <a:gd name="T2" fmla="*/ 188 w 216"/>
              <a:gd name="T3" fmla="*/ 79 h 288"/>
              <a:gd name="T4" fmla="*/ 109 w 216"/>
              <a:gd name="T5" fmla="*/ 0 h 288"/>
              <a:gd name="T6" fmla="*/ 108 w 216"/>
              <a:gd name="T7" fmla="*/ 0 h 288"/>
              <a:gd name="T8" fmla="*/ 106 w 216"/>
              <a:gd name="T9" fmla="*/ 0 h 288"/>
              <a:gd name="T10" fmla="*/ 28 w 216"/>
              <a:gd name="T11" fmla="*/ 79 h 288"/>
              <a:gd name="T12" fmla="*/ 28 w 216"/>
              <a:gd name="T13" fmla="*/ 126 h 288"/>
              <a:gd name="T14" fmla="*/ 0 w 216"/>
              <a:gd name="T15" fmla="*/ 126 h 288"/>
              <a:gd name="T16" fmla="*/ 0 w 216"/>
              <a:gd name="T17" fmla="*/ 288 h 288"/>
              <a:gd name="T18" fmla="*/ 216 w 216"/>
              <a:gd name="T19" fmla="*/ 288 h 288"/>
              <a:gd name="T20" fmla="*/ 216 w 216"/>
              <a:gd name="T21" fmla="*/ 126 h 288"/>
              <a:gd name="T22" fmla="*/ 188 w 216"/>
              <a:gd name="T23" fmla="*/ 126 h 288"/>
              <a:gd name="T24" fmla="*/ 133 w 216"/>
              <a:gd name="T25" fmla="*/ 259 h 288"/>
              <a:gd name="T26" fmla="*/ 84 w 216"/>
              <a:gd name="T27" fmla="*/ 259 h 288"/>
              <a:gd name="T28" fmla="*/ 96 w 216"/>
              <a:gd name="T29" fmla="*/ 206 h 288"/>
              <a:gd name="T30" fmla="*/ 84 w 216"/>
              <a:gd name="T31" fmla="*/ 185 h 288"/>
              <a:gd name="T32" fmla="*/ 108 w 216"/>
              <a:gd name="T33" fmla="*/ 161 h 288"/>
              <a:gd name="T34" fmla="*/ 133 w 216"/>
              <a:gd name="T35" fmla="*/ 185 h 288"/>
              <a:gd name="T36" fmla="*/ 120 w 216"/>
              <a:gd name="T37" fmla="*/ 206 h 288"/>
              <a:gd name="T38" fmla="*/ 133 w 216"/>
              <a:gd name="T39" fmla="*/ 259 h 288"/>
              <a:gd name="T40" fmla="*/ 148 w 216"/>
              <a:gd name="T41" fmla="*/ 126 h 288"/>
              <a:gd name="T42" fmla="*/ 67 w 216"/>
              <a:gd name="T43" fmla="*/ 126 h 288"/>
              <a:gd name="T44" fmla="*/ 67 w 216"/>
              <a:gd name="T45" fmla="*/ 79 h 288"/>
              <a:gd name="T46" fmla="*/ 106 w 216"/>
              <a:gd name="T47" fmla="*/ 40 h 288"/>
              <a:gd name="T48" fmla="*/ 108 w 216"/>
              <a:gd name="T49" fmla="*/ 40 h 288"/>
              <a:gd name="T50" fmla="*/ 109 w 216"/>
              <a:gd name="T51" fmla="*/ 40 h 288"/>
              <a:gd name="T52" fmla="*/ 148 w 216"/>
              <a:gd name="T53" fmla="*/ 79 h 288"/>
              <a:gd name="T54" fmla="*/ 148 w 216"/>
              <a:gd name="T55" fmla="*/ 126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16" h="288">
                <a:moveTo>
                  <a:pt x="188" y="126"/>
                </a:moveTo>
                <a:cubicBezTo>
                  <a:pt x="188" y="79"/>
                  <a:pt x="188" y="79"/>
                  <a:pt x="188" y="79"/>
                </a:cubicBezTo>
                <a:cubicBezTo>
                  <a:pt x="188" y="36"/>
                  <a:pt x="152" y="0"/>
                  <a:pt x="109" y="0"/>
                </a:cubicBezTo>
                <a:cubicBezTo>
                  <a:pt x="109" y="0"/>
                  <a:pt x="108" y="0"/>
                  <a:pt x="108" y="0"/>
                </a:cubicBezTo>
                <a:cubicBezTo>
                  <a:pt x="107" y="0"/>
                  <a:pt x="107" y="0"/>
                  <a:pt x="106" y="0"/>
                </a:cubicBezTo>
                <a:cubicBezTo>
                  <a:pt x="63" y="0"/>
                  <a:pt x="28" y="36"/>
                  <a:pt x="28" y="79"/>
                </a:cubicBezTo>
                <a:cubicBezTo>
                  <a:pt x="28" y="126"/>
                  <a:pt x="28" y="126"/>
                  <a:pt x="28" y="126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288"/>
                  <a:pt x="0" y="288"/>
                  <a:pt x="0" y="288"/>
                </a:cubicBezTo>
                <a:cubicBezTo>
                  <a:pt x="216" y="288"/>
                  <a:pt x="216" y="288"/>
                  <a:pt x="216" y="288"/>
                </a:cubicBezTo>
                <a:cubicBezTo>
                  <a:pt x="216" y="126"/>
                  <a:pt x="216" y="126"/>
                  <a:pt x="216" y="126"/>
                </a:cubicBezTo>
                <a:lnTo>
                  <a:pt x="188" y="126"/>
                </a:lnTo>
                <a:close/>
                <a:moveTo>
                  <a:pt x="133" y="259"/>
                </a:moveTo>
                <a:cubicBezTo>
                  <a:pt x="84" y="259"/>
                  <a:pt x="84" y="259"/>
                  <a:pt x="84" y="259"/>
                </a:cubicBezTo>
                <a:cubicBezTo>
                  <a:pt x="96" y="206"/>
                  <a:pt x="96" y="206"/>
                  <a:pt x="96" y="206"/>
                </a:cubicBezTo>
                <a:cubicBezTo>
                  <a:pt x="88" y="202"/>
                  <a:pt x="84" y="194"/>
                  <a:pt x="84" y="185"/>
                </a:cubicBezTo>
                <a:cubicBezTo>
                  <a:pt x="84" y="172"/>
                  <a:pt x="95" y="161"/>
                  <a:pt x="108" y="161"/>
                </a:cubicBezTo>
                <a:cubicBezTo>
                  <a:pt x="122" y="161"/>
                  <a:pt x="133" y="172"/>
                  <a:pt x="133" y="185"/>
                </a:cubicBezTo>
                <a:cubicBezTo>
                  <a:pt x="133" y="194"/>
                  <a:pt x="128" y="202"/>
                  <a:pt x="120" y="206"/>
                </a:cubicBezTo>
                <a:lnTo>
                  <a:pt x="133" y="259"/>
                </a:lnTo>
                <a:close/>
                <a:moveTo>
                  <a:pt x="148" y="126"/>
                </a:moveTo>
                <a:cubicBezTo>
                  <a:pt x="67" y="126"/>
                  <a:pt x="67" y="126"/>
                  <a:pt x="67" y="126"/>
                </a:cubicBezTo>
                <a:cubicBezTo>
                  <a:pt x="67" y="79"/>
                  <a:pt x="67" y="79"/>
                  <a:pt x="67" y="79"/>
                </a:cubicBezTo>
                <a:cubicBezTo>
                  <a:pt x="67" y="57"/>
                  <a:pt x="85" y="40"/>
                  <a:pt x="106" y="40"/>
                </a:cubicBezTo>
                <a:cubicBezTo>
                  <a:pt x="107" y="40"/>
                  <a:pt x="108" y="40"/>
                  <a:pt x="108" y="40"/>
                </a:cubicBezTo>
                <a:cubicBezTo>
                  <a:pt x="108" y="40"/>
                  <a:pt x="109" y="40"/>
                  <a:pt x="109" y="40"/>
                </a:cubicBezTo>
                <a:cubicBezTo>
                  <a:pt x="131" y="40"/>
                  <a:pt x="148" y="57"/>
                  <a:pt x="148" y="79"/>
                </a:cubicBezTo>
                <a:lnTo>
                  <a:pt x="148" y="126"/>
                </a:lnTo>
                <a:close/>
              </a:path>
            </a:pathLst>
          </a:custGeom>
          <a:noFill/>
          <a:ln w="9525">
            <a:solidFill>
              <a:srgbClr val="3D735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solidFill>
                <a:srgbClr val="3D7351"/>
              </a:solidFill>
            </a:endParaRPr>
          </a:p>
        </p:txBody>
      </p:sp>
      <p:sp>
        <p:nvSpPr>
          <p:cNvPr id="57" name="Freeform 93"/>
          <p:cNvSpPr>
            <a:spLocks noEditPoints="1"/>
          </p:cNvSpPr>
          <p:nvPr/>
        </p:nvSpPr>
        <p:spPr bwMode="auto">
          <a:xfrm>
            <a:off x="7706150" y="2826707"/>
            <a:ext cx="193675" cy="260350"/>
          </a:xfrm>
          <a:custGeom>
            <a:avLst/>
            <a:gdLst>
              <a:gd name="T0" fmla="*/ 188 w 216"/>
              <a:gd name="T1" fmla="*/ 126 h 288"/>
              <a:gd name="T2" fmla="*/ 188 w 216"/>
              <a:gd name="T3" fmla="*/ 79 h 288"/>
              <a:gd name="T4" fmla="*/ 109 w 216"/>
              <a:gd name="T5" fmla="*/ 0 h 288"/>
              <a:gd name="T6" fmla="*/ 108 w 216"/>
              <a:gd name="T7" fmla="*/ 0 h 288"/>
              <a:gd name="T8" fmla="*/ 106 w 216"/>
              <a:gd name="T9" fmla="*/ 0 h 288"/>
              <a:gd name="T10" fmla="*/ 28 w 216"/>
              <a:gd name="T11" fmla="*/ 79 h 288"/>
              <a:gd name="T12" fmla="*/ 28 w 216"/>
              <a:gd name="T13" fmla="*/ 126 h 288"/>
              <a:gd name="T14" fmla="*/ 0 w 216"/>
              <a:gd name="T15" fmla="*/ 126 h 288"/>
              <a:gd name="T16" fmla="*/ 0 w 216"/>
              <a:gd name="T17" fmla="*/ 288 h 288"/>
              <a:gd name="T18" fmla="*/ 216 w 216"/>
              <a:gd name="T19" fmla="*/ 288 h 288"/>
              <a:gd name="T20" fmla="*/ 216 w 216"/>
              <a:gd name="T21" fmla="*/ 126 h 288"/>
              <a:gd name="T22" fmla="*/ 188 w 216"/>
              <a:gd name="T23" fmla="*/ 126 h 288"/>
              <a:gd name="T24" fmla="*/ 133 w 216"/>
              <a:gd name="T25" fmla="*/ 259 h 288"/>
              <a:gd name="T26" fmla="*/ 84 w 216"/>
              <a:gd name="T27" fmla="*/ 259 h 288"/>
              <a:gd name="T28" fmla="*/ 96 w 216"/>
              <a:gd name="T29" fmla="*/ 206 h 288"/>
              <a:gd name="T30" fmla="*/ 84 w 216"/>
              <a:gd name="T31" fmla="*/ 185 h 288"/>
              <a:gd name="T32" fmla="*/ 108 w 216"/>
              <a:gd name="T33" fmla="*/ 161 h 288"/>
              <a:gd name="T34" fmla="*/ 133 w 216"/>
              <a:gd name="T35" fmla="*/ 185 h 288"/>
              <a:gd name="T36" fmla="*/ 120 w 216"/>
              <a:gd name="T37" fmla="*/ 206 h 288"/>
              <a:gd name="T38" fmla="*/ 133 w 216"/>
              <a:gd name="T39" fmla="*/ 259 h 288"/>
              <a:gd name="T40" fmla="*/ 148 w 216"/>
              <a:gd name="T41" fmla="*/ 126 h 288"/>
              <a:gd name="T42" fmla="*/ 67 w 216"/>
              <a:gd name="T43" fmla="*/ 126 h 288"/>
              <a:gd name="T44" fmla="*/ 67 w 216"/>
              <a:gd name="T45" fmla="*/ 79 h 288"/>
              <a:gd name="T46" fmla="*/ 106 w 216"/>
              <a:gd name="T47" fmla="*/ 40 h 288"/>
              <a:gd name="T48" fmla="*/ 108 w 216"/>
              <a:gd name="T49" fmla="*/ 40 h 288"/>
              <a:gd name="T50" fmla="*/ 109 w 216"/>
              <a:gd name="T51" fmla="*/ 40 h 288"/>
              <a:gd name="T52" fmla="*/ 148 w 216"/>
              <a:gd name="T53" fmla="*/ 79 h 288"/>
              <a:gd name="T54" fmla="*/ 148 w 216"/>
              <a:gd name="T55" fmla="*/ 126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16" h="288">
                <a:moveTo>
                  <a:pt x="188" y="126"/>
                </a:moveTo>
                <a:cubicBezTo>
                  <a:pt x="188" y="79"/>
                  <a:pt x="188" y="79"/>
                  <a:pt x="188" y="79"/>
                </a:cubicBezTo>
                <a:cubicBezTo>
                  <a:pt x="188" y="36"/>
                  <a:pt x="152" y="0"/>
                  <a:pt x="109" y="0"/>
                </a:cubicBezTo>
                <a:cubicBezTo>
                  <a:pt x="109" y="0"/>
                  <a:pt x="108" y="0"/>
                  <a:pt x="108" y="0"/>
                </a:cubicBezTo>
                <a:cubicBezTo>
                  <a:pt x="107" y="0"/>
                  <a:pt x="107" y="0"/>
                  <a:pt x="106" y="0"/>
                </a:cubicBezTo>
                <a:cubicBezTo>
                  <a:pt x="63" y="0"/>
                  <a:pt x="28" y="36"/>
                  <a:pt x="28" y="79"/>
                </a:cubicBezTo>
                <a:cubicBezTo>
                  <a:pt x="28" y="126"/>
                  <a:pt x="28" y="126"/>
                  <a:pt x="28" y="126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288"/>
                  <a:pt x="0" y="288"/>
                  <a:pt x="0" y="288"/>
                </a:cubicBezTo>
                <a:cubicBezTo>
                  <a:pt x="216" y="288"/>
                  <a:pt x="216" y="288"/>
                  <a:pt x="216" y="288"/>
                </a:cubicBezTo>
                <a:cubicBezTo>
                  <a:pt x="216" y="126"/>
                  <a:pt x="216" y="126"/>
                  <a:pt x="216" y="126"/>
                </a:cubicBezTo>
                <a:lnTo>
                  <a:pt x="188" y="126"/>
                </a:lnTo>
                <a:close/>
                <a:moveTo>
                  <a:pt x="133" y="259"/>
                </a:moveTo>
                <a:cubicBezTo>
                  <a:pt x="84" y="259"/>
                  <a:pt x="84" y="259"/>
                  <a:pt x="84" y="259"/>
                </a:cubicBezTo>
                <a:cubicBezTo>
                  <a:pt x="96" y="206"/>
                  <a:pt x="96" y="206"/>
                  <a:pt x="96" y="206"/>
                </a:cubicBezTo>
                <a:cubicBezTo>
                  <a:pt x="88" y="202"/>
                  <a:pt x="84" y="194"/>
                  <a:pt x="84" y="185"/>
                </a:cubicBezTo>
                <a:cubicBezTo>
                  <a:pt x="84" y="172"/>
                  <a:pt x="95" y="161"/>
                  <a:pt x="108" y="161"/>
                </a:cubicBezTo>
                <a:cubicBezTo>
                  <a:pt x="122" y="161"/>
                  <a:pt x="133" y="172"/>
                  <a:pt x="133" y="185"/>
                </a:cubicBezTo>
                <a:cubicBezTo>
                  <a:pt x="133" y="194"/>
                  <a:pt x="128" y="202"/>
                  <a:pt x="120" y="206"/>
                </a:cubicBezTo>
                <a:lnTo>
                  <a:pt x="133" y="259"/>
                </a:lnTo>
                <a:close/>
                <a:moveTo>
                  <a:pt x="148" y="126"/>
                </a:moveTo>
                <a:cubicBezTo>
                  <a:pt x="67" y="126"/>
                  <a:pt x="67" y="126"/>
                  <a:pt x="67" y="126"/>
                </a:cubicBezTo>
                <a:cubicBezTo>
                  <a:pt x="67" y="79"/>
                  <a:pt x="67" y="79"/>
                  <a:pt x="67" y="79"/>
                </a:cubicBezTo>
                <a:cubicBezTo>
                  <a:pt x="67" y="57"/>
                  <a:pt x="85" y="40"/>
                  <a:pt x="106" y="40"/>
                </a:cubicBezTo>
                <a:cubicBezTo>
                  <a:pt x="107" y="40"/>
                  <a:pt x="108" y="40"/>
                  <a:pt x="108" y="40"/>
                </a:cubicBezTo>
                <a:cubicBezTo>
                  <a:pt x="108" y="40"/>
                  <a:pt x="109" y="40"/>
                  <a:pt x="109" y="40"/>
                </a:cubicBezTo>
                <a:cubicBezTo>
                  <a:pt x="131" y="40"/>
                  <a:pt x="148" y="57"/>
                  <a:pt x="148" y="79"/>
                </a:cubicBezTo>
                <a:lnTo>
                  <a:pt x="148" y="126"/>
                </a:lnTo>
                <a:close/>
              </a:path>
            </a:pathLst>
          </a:custGeom>
          <a:noFill/>
          <a:ln w="9525">
            <a:solidFill>
              <a:srgbClr val="3D735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solidFill>
                <a:srgbClr val="3D735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D9CA527-E295-9421-E382-E1D0960B6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970" y="212725"/>
            <a:ext cx="20008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指令的执行</a:t>
            </a:r>
          </a:p>
        </p:txBody>
      </p:sp>
      <p:pic>
        <p:nvPicPr>
          <p:cNvPr id="5" name="图片 6">
            <a:extLst>
              <a:ext uri="{FF2B5EF4-FFF2-40B4-BE49-F238E27FC236}">
                <a16:creationId xmlns:a16="http://schemas.microsoft.com/office/drawing/2014/main" id="{88519ABF-5590-1A5F-5D97-81FA3DC5BE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25" y="1578812"/>
            <a:ext cx="6388136" cy="1768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72013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706151" y="1973067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8614201" y="1973067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7116" name="文本框 52"/>
          <p:cNvSpPr txBox="1">
            <a:spLocks noChangeArrowheads="1"/>
          </p:cNvSpPr>
          <p:nvPr/>
        </p:nvSpPr>
        <p:spPr bwMode="auto">
          <a:xfrm>
            <a:off x="7936230" y="2176267"/>
            <a:ext cx="3352800" cy="3275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 dirty="0">
                <a:latin typeface="+mn-ea"/>
                <a:ea typeface="+mn-ea"/>
              </a:rPr>
              <a:t>是指某个事件（例如，电源掉电、浮点运算溢出、外部设备传输完成或出错等）发生时，系统中止现运行程序的执行，引出处理事件程序对相应事件进行处理，处理完毕后返回断点继续执行</a:t>
            </a:r>
            <a:endParaRPr lang="en-US" altLang="zh-CN" sz="2000" b="1" dirty="0">
              <a:solidFill>
                <a:srgbClr val="505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119" name="文本框 55"/>
          <p:cNvSpPr txBox="1">
            <a:spLocks noChangeArrowheads="1"/>
          </p:cNvSpPr>
          <p:nvPr/>
        </p:nvSpPr>
        <p:spPr bwMode="auto">
          <a:xfrm>
            <a:off x="7560101" y="1439667"/>
            <a:ext cx="310360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中断的概念</a:t>
            </a:r>
          </a:p>
        </p:txBody>
      </p:sp>
      <p:sp>
        <p:nvSpPr>
          <p:cNvPr id="27" name="矩形 26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9" name="矩形 28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32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Freeform 93"/>
          <p:cNvSpPr>
            <a:spLocks noEditPoints="1"/>
          </p:cNvSpPr>
          <p:nvPr/>
        </p:nvSpPr>
        <p:spPr bwMode="auto">
          <a:xfrm>
            <a:off x="7706151" y="2373697"/>
            <a:ext cx="193675" cy="260350"/>
          </a:xfrm>
          <a:custGeom>
            <a:avLst/>
            <a:gdLst>
              <a:gd name="T0" fmla="*/ 188 w 216"/>
              <a:gd name="T1" fmla="*/ 126 h 288"/>
              <a:gd name="T2" fmla="*/ 188 w 216"/>
              <a:gd name="T3" fmla="*/ 79 h 288"/>
              <a:gd name="T4" fmla="*/ 109 w 216"/>
              <a:gd name="T5" fmla="*/ 0 h 288"/>
              <a:gd name="T6" fmla="*/ 108 w 216"/>
              <a:gd name="T7" fmla="*/ 0 h 288"/>
              <a:gd name="T8" fmla="*/ 106 w 216"/>
              <a:gd name="T9" fmla="*/ 0 h 288"/>
              <a:gd name="T10" fmla="*/ 28 w 216"/>
              <a:gd name="T11" fmla="*/ 79 h 288"/>
              <a:gd name="T12" fmla="*/ 28 w 216"/>
              <a:gd name="T13" fmla="*/ 126 h 288"/>
              <a:gd name="T14" fmla="*/ 0 w 216"/>
              <a:gd name="T15" fmla="*/ 126 h 288"/>
              <a:gd name="T16" fmla="*/ 0 w 216"/>
              <a:gd name="T17" fmla="*/ 288 h 288"/>
              <a:gd name="T18" fmla="*/ 216 w 216"/>
              <a:gd name="T19" fmla="*/ 288 h 288"/>
              <a:gd name="T20" fmla="*/ 216 w 216"/>
              <a:gd name="T21" fmla="*/ 126 h 288"/>
              <a:gd name="T22" fmla="*/ 188 w 216"/>
              <a:gd name="T23" fmla="*/ 126 h 288"/>
              <a:gd name="T24" fmla="*/ 133 w 216"/>
              <a:gd name="T25" fmla="*/ 259 h 288"/>
              <a:gd name="T26" fmla="*/ 84 w 216"/>
              <a:gd name="T27" fmla="*/ 259 h 288"/>
              <a:gd name="T28" fmla="*/ 96 w 216"/>
              <a:gd name="T29" fmla="*/ 206 h 288"/>
              <a:gd name="T30" fmla="*/ 84 w 216"/>
              <a:gd name="T31" fmla="*/ 185 h 288"/>
              <a:gd name="T32" fmla="*/ 108 w 216"/>
              <a:gd name="T33" fmla="*/ 161 h 288"/>
              <a:gd name="T34" fmla="*/ 133 w 216"/>
              <a:gd name="T35" fmla="*/ 185 h 288"/>
              <a:gd name="T36" fmla="*/ 120 w 216"/>
              <a:gd name="T37" fmla="*/ 206 h 288"/>
              <a:gd name="T38" fmla="*/ 133 w 216"/>
              <a:gd name="T39" fmla="*/ 259 h 288"/>
              <a:gd name="T40" fmla="*/ 148 w 216"/>
              <a:gd name="T41" fmla="*/ 126 h 288"/>
              <a:gd name="T42" fmla="*/ 67 w 216"/>
              <a:gd name="T43" fmla="*/ 126 h 288"/>
              <a:gd name="T44" fmla="*/ 67 w 216"/>
              <a:gd name="T45" fmla="*/ 79 h 288"/>
              <a:gd name="T46" fmla="*/ 106 w 216"/>
              <a:gd name="T47" fmla="*/ 40 h 288"/>
              <a:gd name="T48" fmla="*/ 108 w 216"/>
              <a:gd name="T49" fmla="*/ 40 h 288"/>
              <a:gd name="T50" fmla="*/ 109 w 216"/>
              <a:gd name="T51" fmla="*/ 40 h 288"/>
              <a:gd name="T52" fmla="*/ 148 w 216"/>
              <a:gd name="T53" fmla="*/ 79 h 288"/>
              <a:gd name="T54" fmla="*/ 148 w 216"/>
              <a:gd name="T55" fmla="*/ 126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16" h="288">
                <a:moveTo>
                  <a:pt x="188" y="126"/>
                </a:moveTo>
                <a:cubicBezTo>
                  <a:pt x="188" y="79"/>
                  <a:pt x="188" y="79"/>
                  <a:pt x="188" y="79"/>
                </a:cubicBezTo>
                <a:cubicBezTo>
                  <a:pt x="188" y="36"/>
                  <a:pt x="152" y="0"/>
                  <a:pt x="109" y="0"/>
                </a:cubicBezTo>
                <a:cubicBezTo>
                  <a:pt x="109" y="0"/>
                  <a:pt x="108" y="0"/>
                  <a:pt x="108" y="0"/>
                </a:cubicBezTo>
                <a:cubicBezTo>
                  <a:pt x="107" y="0"/>
                  <a:pt x="107" y="0"/>
                  <a:pt x="106" y="0"/>
                </a:cubicBezTo>
                <a:cubicBezTo>
                  <a:pt x="63" y="0"/>
                  <a:pt x="28" y="36"/>
                  <a:pt x="28" y="79"/>
                </a:cubicBezTo>
                <a:cubicBezTo>
                  <a:pt x="28" y="126"/>
                  <a:pt x="28" y="126"/>
                  <a:pt x="28" y="126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288"/>
                  <a:pt x="0" y="288"/>
                  <a:pt x="0" y="288"/>
                </a:cubicBezTo>
                <a:cubicBezTo>
                  <a:pt x="216" y="288"/>
                  <a:pt x="216" y="288"/>
                  <a:pt x="216" y="288"/>
                </a:cubicBezTo>
                <a:cubicBezTo>
                  <a:pt x="216" y="126"/>
                  <a:pt x="216" y="126"/>
                  <a:pt x="216" y="126"/>
                </a:cubicBezTo>
                <a:lnTo>
                  <a:pt x="188" y="126"/>
                </a:lnTo>
                <a:close/>
                <a:moveTo>
                  <a:pt x="133" y="259"/>
                </a:moveTo>
                <a:cubicBezTo>
                  <a:pt x="84" y="259"/>
                  <a:pt x="84" y="259"/>
                  <a:pt x="84" y="259"/>
                </a:cubicBezTo>
                <a:cubicBezTo>
                  <a:pt x="96" y="206"/>
                  <a:pt x="96" y="206"/>
                  <a:pt x="96" y="206"/>
                </a:cubicBezTo>
                <a:cubicBezTo>
                  <a:pt x="88" y="202"/>
                  <a:pt x="84" y="194"/>
                  <a:pt x="84" y="185"/>
                </a:cubicBezTo>
                <a:cubicBezTo>
                  <a:pt x="84" y="172"/>
                  <a:pt x="95" y="161"/>
                  <a:pt x="108" y="161"/>
                </a:cubicBezTo>
                <a:cubicBezTo>
                  <a:pt x="122" y="161"/>
                  <a:pt x="133" y="172"/>
                  <a:pt x="133" y="185"/>
                </a:cubicBezTo>
                <a:cubicBezTo>
                  <a:pt x="133" y="194"/>
                  <a:pt x="128" y="202"/>
                  <a:pt x="120" y="206"/>
                </a:cubicBezTo>
                <a:lnTo>
                  <a:pt x="133" y="259"/>
                </a:lnTo>
                <a:close/>
                <a:moveTo>
                  <a:pt x="148" y="126"/>
                </a:moveTo>
                <a:cubicBezTo>
                  <a:pt x="67" y="126"/>
                  <a:pt x="67" y="126"/>
                  <a:pt x="67" y="126"/>
                </a:cubicBezTo>
                <a:cubicBezTo>
                  <a:pt x="67" y="79"/>
                  <a:pt x="67" y="79"/>
                  <a:pt x="67" y="79"/>
                </a:cubicBezTo>
                <a:cubicBezTo>
                  <a:pt x="67" y="57"/>
                  <a:pt x="85" y="40"/>
                  <a:pt x="106" y="40"/>
                </a:cubicBezTo>
                <a:cubicBezTo>
                  <a:pt x="107" y="40"/>
                  <a:pt x="108" y="40"/>
                  <a:pt x="108" y="40"/>
                </a:cubicBezTo>
                <a:cubicBezTo>
                  <a:pt x="108" y="40"/>
                  <a:pt x="109" y="40"/>
                  <a:pt x="109" y="40"/>
                </a:cubicBezTo>
                <a:cubicBezTo>
                  <a:pt x="131" y="40"/>
                  <a:pt x="148" y="57"/>
                  <a:pt x="148" y="79"/>
                </a:cubicBezTo>
                <a:lnTo>
                  <a:pt x="148" y="126"/>
                </a:lnTo>
                <a:close/>
              </a:path>
            </a:pathLst>
          </a:custGeom>
          <a:noFill/>
          <a:ln w="9525">
            <a:solidFill>
              <a:srgbClr val="3D735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solidFill>
                <a:srgbClr val="3D7351"/>
              </a:solidFill>
            </a:endParaRPr>
          </a:p>
        </p:txBody>
      </p:sp>
      <p:sp>
        <p:nvSpPr>
          <p:cNvPr id="57" name="Freeform 93"/>
          <p:cNvSpPr>
            <a:spLocks noEditPoints="1"/>
          </p:cNvSpPr>
          <p:nvPr/>
        </p:nvSpPr>
        <p:spPr bwMode="auto">
          <a:xfrm>
            <a:off x="7706150" y="2826707"/>
            <a:ext cx="193675" cy="260350"/>
          </a:xfrm>
          <a:custGeom>
            <a:avLst/>
            <a:gdLst>
              <a:gd name="T0" fmla="*/ 188 w 216"/>
              <a:gd name="T1" fmla="*/ 126 h 288"/>
              <a:gd name="T2" fmla="*/ 188 w 216"/>
              <a:gd name="T3" fmla="*/ 79 h 288"/>
              <a:gd name="T4" fmla="*/ 109 w 216"/>
              <a:gd name="T5" fmla="*/ 0 h 288"/>
              <a:gd name="T6" fmla="*/ 108 w 216"/>
              <a:gd name="T7" fmla="*/ 0 h 288"/>
              <a:gd name="T8" fmla="*/ 106 w 216"/>
              <a:gd name="T9" fmla="*/ 0 h 288"/>
              <a:gd name="T10" fmla="*/ 28 w 216"/>
              <a:gd name="T11" fmla="*/ 79 h 288"/>
              <a:gd name="T12" fmla="*/ 28 w 216"/>
              <a:gd name="T13" fmla="*/ 126 h 288"/>
              <a:gd name="T14" fmla="*/ 0 w 216"/>
              <a:gd name="T15" fmla="*/ 126 h 288"/>
              <a:gd name="T16" fmla="*/ 0 w 216"/>
              <a:gd name="T17" fmla="*/ 288 h 288"/>
              <a:gd name="T18" fmla="*/ 216 w 216"/>
              <a:gd name="T19" fmla="*/ 288 h 288"/>
              <a:gd name="T20" fmla="*/ 216 w 216"/>
              <a:gd name="T21" fmla="*/ 126 h 288"/>
              <a:gd name="T22" fmla="*/ 188 w 216"/>
              <a:gd name="T23" fmla="*/ 126 h 288"/>
              <a:gd name="T24" fmla="*/ 133 w 216"/>
              <a:gd name="T25" fmla="*/ 259 h 288"/>
              <a:gd name="T26" fmla="*/ 84 w 216"/>
              <a:gd name="T27" fmla="*/ 259 h 288"/>
              <a:gd name="T28" fmla="*/ 96 w 216"/>
              <a:gd name="T29" fmla="*/ 206 h 288"/>
              <a:gd name="T30" fmla="*/ 84 w 216"/>
              <a:gd name="T31" fmla="*/ 185 h 288"/>
              <a:gd name="T32" fmla="*/ 108 w 216"/>
              <a:gd name="T33" fmla="*/ 161 h 288"/>
              <a:gd name="T34" fmla="*/ 133 w 216"/>
              <a:gd name="T35" fmla="*/ 185 h 288"/>
              <a:gd name="T36" fmla="*/ 120 w 216"/>
              <a:gd name="T37" fmla="*/ 206 h 288"/>
              <a:gd name="T38" fmla="*/ 133 w 216"/>
              <a:gd name="T39" fmla="*/ 259 h 288"/>
              <a:gd name="T40" fmla="*/ 148 w 216"/>
              <a:gd name="T41" fmla="*/ 126 h 288"/>
              <a:gd name="T42" fmla="*/ 67 w 216"/>
              <a:gd name="T43" fmla="*/ 126 h 288"/>
              <a:gd name="T44" fmla="*/ 67 w 216"/>
              <a:gd name="T45" fmla="*/ 79 h 288"/>
              <a:gd name="T46" fmla="*/ 106 w 216"/>
              <a:gd name="T47" fmla="*/ 40 h 288"/>
              <a:gd name="T48" fmla="*/ 108 w 216"/>
              <a:gd name="T49" fmla="*/ 40 h 288"/>
              <a:gd name="T50" fmla="*/ 109 w 216"/>
              <a:gd name="T51" fmla="*/ 40 h 288"/>
              <a:gd name="T52" fmla="*/ 148 w 216"/>
              <a:gd name="T53" fmla="*/ 79 h 288"/>
              <a:gd name="T54" fmla="*/ 148 w 216"/>
              <a:gd name="T55" fmla="*/ 126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16" h="288">
                <a:moveTo>
                  <a:pt x="188" y="126"/>
                </a:moveTo>
                <a:cubicBezTo>
                  <a:pt x="188" y="79"/>
                  <a:pt x="188" y="79"/>
                  <a:pt x="188" y="79"/>
                </a:cubicBezTo>
                <a:cubicBezTo>
                  <a:pt x="188" y="36"/>
                  <a:pt x="152" y="0"/>
                  <a:pt x="109" y="0"/>
                </a:cubicBezTo>
                <a:cubicBezTo>
                  <a:pt x="109" y="0"/>
                  <a:pt x="108" y="0"/>
                  <a:pt x="108" y="0"/>
                </a:cubicBezTo>
                <a:cubicBezTo>
                  <a:pt x="107" y="0"/>
                  <a:pt x="107" y="0"/>
                  <a:pt x="106" y="0"/>
                </a:cubicBezTo>
                <a:cubicBezTo>
                  <a:pt x="63" y="0"/>
                  <a:pt x="28" y="36"/>
                  <a:pt x="28" y="79"/>
                </a:cubicBezTo>
                <a:cubicBezTo>
                  <a:pt x="28" y="126"/>
                  <a:pt x="28" y="126"/>
                  <a:pt x="28" y="126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288"/>
                  <a:pt x="0" y="288"/>
                  <a:pt x="0" y="288"/>
                </a:cubicBezTo>
                <a:cubicBezTo>
                  <a:pt x="216" y="288"/>
                  <a:pt x="216" y="288"/>
                  <a:pt x="216" y="288"/>
                </a:cubicBezTo>
                <a:cubicBezTo>
                  <a:pt x="216" y="126"/>
                  <a:pt x="216" y="126"/>
                  <a:pt x="216" y="126"/>
                </a:cubicBezTo>
                <a:lnTo>
                  <a:pt x="188" y="126"/>
                </a:lnTo>
                <a:close/>
                <a:moveTo>
                  <a:pt x="133" y="259"/>
                </a:moveTo>
                <a:cubicBezTo>
                  <a:pt x="84" y="259"/>
                  <a:pt x="84" y="259"/>
                  <a:pt x="84" y="259"/>
                </a:cubicBezTo>
                <a:cubicBezTo>
                  <a:pt x="96" y="206"/>
                  <a:pt x="96" y="206"/>
                  <a:pt x="96" y="206"/>
                </a:cubicBezTo>
                <a:cubicBezTo>
                  <a:pt x="88" y="202"/>
                  <a:pt x="84" y="194"/>
                  <a:pt x="84" y="185"/>
                </a:cubicBezTo>
                <a:cubicBezTo>
                  <a:pt x="84" y="172"/>
                  <a:pt x="95" y="161"/>
                  <a:pt x="108" y="161"/>
                </a:cubicBezTo>
                <a:cubicBezTo>
                  <a:pt x="122" y="161"/>
                  <a:pt x="133" y="172"/>
                  <a:pt x="133" y="185"/>
                </a:cubicBezTo>
                <a:cubicBezTo>
                  <a:pt x="133" y="194"/>
                  <a:pt x="128" y="202"/>
                  <a:pt x="120" y="206"/>
                </a:cubicBezTo>
                <a:lnTo>
                  <a:pt x="133" y="259"/>
                </a:lnTo>
                <a:close/>
                <a:moveTo>
                  <a:pt x="148" y="126"/>
                </a:moveTo>
                <a:cubicBezTo>
                  <a:pt x="67" y="126"/>
                  <a:pt x="67" y="126"/>
                  <a:pt x="67" y="126"/>
                </a:cubicBezTo>
                <a:cubicBezTo>
                  <a:pt x="67" y="79"/>
                  <a:pt x="67" y="79"/>
                  <a:pt x="67" y="79"/>
                </a:cubicBezTo>
                <a:cubicBezTo>
                  <a:pt x="67" y="57"/>
                  <a:pt x="85" y="40"/>
                  <a:pt x="106" y="40"/>
                </a:cubicBezTo>
                <a:cubicBezTo>
                  <a:pt x="107" y="40"/>
                  <a:pt x="108" y="40"/>
                  <a:pt x="108" y="40"/>
                </a:cubicBezTo>
                <a:cubicBezTo>
                  <a:pt x="108" y="40"/>
                  <a:pt x="109" y="40"/>
                  <a:pt x="109" y="40"/>
                </a:cubicBezTo>
                <a:cubicBezTo>
                  <a:pt x="131" y="40"/>
                  <a:pt x="148" y="57"/>
                  <a:pt x="148" y="79"/>
                </a:cubicBezTo>
                <a:lnTo>
                  <a:pt x="148" y="126"/>
                </a:lnTo>
                <a:close/>
              </a:path>
            </a:pathLst>
          </a:custGeom>
          <a:noFill/>
          <a:ln w="9525">
            <a:solidFill>
              <a:srgbClr val="3D735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solidFill>
                <a:srgbClr val="3D735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D9CA527-E295-9421-E382-E1D0960B6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970" y="212725"/>
            <a:ext cx="10775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8D63BE1-1643-87EB-6F40-E89172E1B3FB}"/>
              </a:ext>
            </a:extLst>
          </p:cNvPr>
          <p:cNvGrpSpPr>
            <a:grpSpLocks/>
          </p:cNvGrpSpPr>
          <p:nvPr/>
        </p:nvGrpSpPr>
        <p:grpSpPr bwMode="auto">
          <a:xfrm>
            <a:off x="1080661" y="1349604"/>
            <a:ext cx="4444375" cy="3750429"/>
            <a:chOff x="2492375" y="3462647"/>
            <a:chExt cx="3551238" cy="2614316"/>
          </a:xfrm>
        </p:grpSpPr>
        <p:pic>
          <p:nvPicPr>
            <p:cNvPr id="6" name="图片 2">
              <a:extLst>
                <a:ext uri="{FF2B5EF4-FFF2-40B4-BE49-F238E27FC236}">
                  <a16:creationId xmlns:a16="http://schemas.microsoft.com/office/drawing/2014/main" id="{55C2B96C-61B7-4B23-9D70-64A4C9A5C6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92375" y="3462647"/>
              <a:ext cx="3551238" cy="1985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矩形 9">
              <a:extLst>
                <a:ext uri="{FF2B5EF4-FFF2-40B4-BE49-F238E27FC236}">
                  <a16:creationId xmlns:a16="http://schemas.microsoft.com/office/drawing/2014/main" id="{81D99F04-FD41-B695-99DB-D3E30D5912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3213" y="5676900"/>
              <a:ext cx="1980029" cy="400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000"/>
                <a:t>中断的执行过程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30152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 cstate="print"/>
          <a:srcRect r="42146" b="48018"/>
          <a:stretch/>
        </p:blipFill>
        <p:spPr>
          <a:xfrm>
            <a:off x="7346063" y="2511276"/>
            <a:ext cx="4845938" cy="4346724"/>
          </a:xfrm>
          <a:prstGeom prst="rect">
            <a:avLst/>
          </a:prstGeom>
        </p:spPr>
      </p:pic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439936" y="1137130"/>
            <a:ext cx="7246275" cy="1733178"/>
          </a:xfrm>
          <a:prstGeom prst="rect">
            <a:avLst/>
          </a:prstGeom>
          <a:noFill/>
          <a:ln w="38100" cap="flat">
            <a:solidFill>
              <a:srgbClr val="3D735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1938" y1="46310" x2="41938" y2="46310"/>
                        <a14:foregroundMark x1="26672" y1="41021" x2="26672" y2="41021"/>
                        <a14:foregroundMark x1="31389" y1="39422" x2="31389" y2="39422"/>
                        <a14:backgroundMark x1="70755" y1="56581" x2="70755" y2="56581"/>
                        <a14:backgroundMark x1="68696" y1="52583" x2="65266" y2="51415"/>
                        <a14:backgroundMark x1="49914" y1="48032" x2="49314" y2="47909"/>
                        <a14:backgroundMark x1="49314" y1="54674" x2="48714" y2="54674"/>
                        <a14:backgroundMark x1="47513" y1="54490" x2="50772" y2="56827"/>
                        <a14:backgroundMark x1="67067" y1="62116" x2="67667" y2="61501"/>
                        <a14:backgroundMark x1="68525" y1="56396" x2="68525" y2="55351"/>
                        <a14:backgroundMark x1="70154" y1="50861" x2="70154" y2="50861"/>
                        <a14:backgroundMark x1="71184" y1="50431" x2="71184" y2="50431"/>
                        <a14:backgroundMark x1="38508" y1="41451" x2="38508" y2="41451"/>
                        <a14:backgroundMark x1="44254" y1="36470" x2="44254" y2="36470"/>
                        <a14:backgroundMark x1="42796" y1="43235" x2="42796" y2="43235"/>
                        <a14:backgroundMark x1="67067" y1="42927" x2="67067" y2="42927"/>
                        <a14:backgroundMark x1="58062" y1="45449" x2="57461" y2="45572"/>
                        <a14:backgroundMark x1="59091" y1="52768" x2="59520" y2="53321"/>
                        <a14:backgroundMark x1="59520" y1="54182" x2="59777" y2="55843"/>
                        <a14:backgroundMark x1="59777" y1="59164" x2="59777" y2="59164"/>
                        <a14:backgroundMark x1="78902" y1="35609" x2="78902" y2="35609"/>
                        <a14:backgroundMark x1="26415" y1="39729" x2="26415" y2="39729"/>
                        <a14:backgroundMark x1="25472" y1="42189" x2="25472" y2="42189"/>
                        <a14:backgroundMark x1="25214" y1="41636" x2="25214" y2="41636"/>
                        <a14:backgroundMark x1="46055" y1="56704" x2="46055" y2="56704"/>
                        <a14:backgroundMark x1="56690" y1="49508" x2="56690" y2="49508"/>
                        <a14:backgroundMark x1="56861" y1="49262" x2="60720" y2="48770"/>
                        <a14:backgroundMark x1="66295" y1="47601" x2="66895" y2="47601"/>
                        <a14:backgroundMark x1="71184" y1="46617" x2="76672" y2="45449"/>
                        <a14:backgroundMark x1="81389" y1="43973" x2="81389" y2="43973"/>
                      </a14:backgroundRemoval>
                    </a14:imgEffect>
                  </a14:imgLayer>
                </a14:imgProps>
              </a:ext>
            </a:extLst>
          </a:blip>
          <a:srcRect l="17878" t="35012" b="43146"/>
          <a:stretch/>
        </p:blipFill>
        <p:spPr>
          <a:xfrm>
            <a:off x="0" y="0"/>
            <a:ext cx="5837731" cy="2166151"/>
          </a:xfrm>
          <a:prstGeom prst="rect">
            <a:avLst/>
          </a:prstGeom>
        </p:spPr>
      </p:pic>
      <p:grpSp>
        <p:nvGrpSpPr>
          <p:cNvPr id="30" name="组合 29"/>
          <p:cNvGrpSpPr/>
          <p:nvPr/>
        </p:nvGrpSpPr>
        <p:grpSpPr>
          <a:xfrm>
            <a:off x="2729551" y="1483991"/>
            <a:ext cx="6989586" cy="1336758"/>
            <a:chOff x="3621789" y="2876749"/>
            <a:chExt cx="5471412" cy="1336758"/>
          </a:xfrm>
        </p:grpSpPr>
        <p:sp>
          <p:nvSpPr>
            <p:cNvPr id="31" name="矩形 30"/>
            <p:cNvSpPr/>
            <p:nvPr/>
          </p:nvSpPr>
          <p:spPr bwMode="auto">
            <a:xfrm>
              <a:off x="4971853" y="3707291"/>
              <a:ext cx="123825" cy="123825"/>
            </a:xfrm>
            <a:prstGeom prst="rect">
              <a:avLst/>
            </a:prstGeom>
            <a:solidFill>
              <a:srgbClr val="708265"/>
            </a:solidFill>
            <a:ln>
              <a:solidFill>
                <a:srgbClr val="70826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rgbClr val="595959"/>
                </a:solidFill>
              </a:endParaRPr>
            </a:p>
          </p:txBody>
        </p:sp>
        <p:sp>
          <p:nvSpPr>
            <p:cNvPr id="32" name="文本框 13"/>
            <p:cNvSpPr txBox="1">
              <a:spLocks noChangeArrowheads="1"/>
            </p:cNvSpPr>
            <p:nvPr/>
          </p:nvSpPr>
          <p:spPr bwMode="auto">
            <a:xfrm>
              <a:off x="5095677" y="3596166"/>
              <a:ext cx="137784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矩形 32"/>
            <p:cNvSpPr/>
            <p:nvPr/>
          </p:nvSpPr>
          <p:spPr bwMode="auto">
            <a:xfrm>
              <a:off x="7136457" y="3705704"/>
              <a:ext cx="123825" cy="125413"/>
            </a:xfrm>
            <a:prstGeom prst="rect">
              <a:avLst/>
            </a:prstGeom>
            <a:solidFill>
              <a:srgbClr val="708265"/>
            </a:solidFill>
            <a:ln>
              <a:solidFill>
                <a:srgbClr val="70826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rgbClr val="595959"/>
                </a:solidFill>
              </a:endParaRPr>
            </a:p>
          </p:txBody>
        </p:sp>
        <p:sp>
          <p:nvSpPr>
            <p:cNvPr id="34" name="文本框 13"/>
            <p:cNvSpPr txBox="1">
              <a:spLocks noChangeArrowheads="1"/>
            </p:cNvSpPr>
            <p:nvPr/>
          </p:nvSpPr>
          <p:spPr bwMode="auto">
            <a:xfrm>
              <a:off x="7260281" y="3596167"/>
              <a:ext cx="129951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文本框 13"/>
            <p:cNvSpPr txBox="1">
              <a:spLocks noChangeArrowheads="1"/>
            </p:cNvSpPr>
            <p:nvPr/>
          </p:nvSpPr>
          <p:spPr bwMode="auto">
            <a:xfrm>
              <a:off x="4813114" y="2890068"/>
              <a:ext cx="4280087" cy="1323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zh-CN" altLang="en-US" sz="4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操作系统的目标和作用</a:t>
              </a: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3655926" y="3396477"/>
              <a:ext cx="127415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rgbClr val="708265"/>
                  </a:solidFill>
                  <a:latin typeface="Impact" panose="020B0806030902050204" pitchFamily="34" charset="0"/>
                  <a:ea typeface="微软雅黑 Light" panose="020B0502040204020203" pitchFamily="34" charset="-122"/>
                </a:rPr>
                <a:t>PART</a:t>
              </a:r>
              <a:endParaRPr lang="zh-CN" altLang="en-US" sz="3200" dirty="0">
                <a:solidFill>
                  <a:srgbClr val="708265"/>
                </a:solidFill>
                <a:latin typeface="Impact" panose="020B0806030902050204" pitchFamily="34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3621789" y="2876749"/>
              <a:ext cx="134243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4000" dirty="0">
                <a:solidFill>
                  <a:srgbClr val="70826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8" name="组合 37"/>
            <p:cNvGrpSpPr/>
            <p:nvPr/>
          </p:nvGrpSpPr>
          <p:grpSpPr>
            <a:xfrm>
              <a:off x="4293004" y="3250218"/>
              <a:ext cx="207440" cy="104457"/>
              <a:chOff x="4093098" y="3134123"/>
              <a:chExt cx="107723" cy="54244"/>
            </a:xfrm>
          </p:grpSpPr>
          <p:sp>
            <p:nvSpPr>
              <p:cNvPr id="39" name="L 形 38"/>
              <p:cNvSpPr/>
              <p:nvPr/>
            </p:nvSpPr>
            <p:spPr>
              <a:xfrm rot="2493705" flipH="1" flipV="1">
                <a:off x="4093098" y="3134123"/>
                <a:ext cx="54243" cy="54244"/>
              </a:xfrm>
              <a:prstGeom prst="corner">
                <a:avLst>
                  <a:gd name="adj1" fmla="val 15149"/>
                  <a:gd name="adj2" fmla="val 17140"/>
                </a:avLst>
              </a:prstGeom>
              <a:solidFill>
                <a:srgbClr val="6F8163"/>
              </a:solidFill>
              <a:ln>
                <a:solidFill>
                  <a:srgbClr val="70826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200">
                  <a:solidFill>
                    <a:srgbClr val="708265"/>
                  </a:solidFill>
                </a:endParaRPr>
              </a:p>
            </p:txBody>
          </p:sp>
          <p:sp>
            <p:nvSpPr>
              <p:cNvPr id="40" name="L 形 39"/>
              <p:cNvSpPr/>
              <p:nvPr/>
            </p:nvSpPr>
            <p:spPr>
              <a:xfrm rot="2493705" flipH="1" flipV="1">
                <a:off x="4146578" y="3134123"/>
                <a:ext cx="54243" cy="54244"/>
              </a:xfrm>
              <a:prstGeom prst="corner">
                <a:avLst>
                  <a:gd name="adj1" fmla="val 15149"/>
                  <a:gd name="adj2" fmla="val 17140"/>
                </a:avLst>
              </a:prstGeom>
              <a:solidFill>
                <a:srgbClr val="6F8163"/>
              </a:solidFill>
              <a:ln>
                <a:solidFill>
                  <a:srgbClr val="70826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200">
                  <a:solidFill>
                    <a:srgbClr val="708265"/>
                  </a:solidFill>
                </a:endParaRPr>
              </a:p>
            </p:txBody>
          </p:sp>
        </p:grpSp>
      </p:grpSp>
      <p:sp>
        <p:nvSpPr>
          <p:cNvPr id="16" name="文本框 21"/>
          <p:cNvSpPr txBox="1">
            <a:spLocks noChangeArrowheads="1"/>
          </p:cNvSpPr>
          <p:nvPr/>
        </p:nvSpPr>
        <p:spPr bwMode="auto">
          <a:xfrm>
            <a:off x="2439935" y="3299725"/>
            <a:ext cx="7279201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/>
              <a:t>         操作系统的目标与应用环境有关。例如在查询系统中所用的操作系统，希望能提供良好的人</a:t>
            </a:r>
            <a:r>
              <a:rPr lang="en-US" altLang="zh-CN" sz="2400" dirty="0"/>
              <a:t>—</a:t>
            </a:r>
            <a:r>
              <a:rPr lang="zh-CN" altLang="en-US" sz="2400" dirty="0"/>
              <a:t>机交互性；对于应用于工业控制、武器控制以及多媒体环境下的操作系统，要求其具有实时性；而对于微机上配置的操作系统，则更看重的是其使用的方便性。</a:t>
            </a:r>
            <a:endParaRPr lang="zh-CN" altLang="en-US" sz="2400" dirty="0">
              <a:solidFill>
                <a:srgbClr val="505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5623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1901372" y="1433580"/>
            <a:ext cx="882372" cy="781051"/>
          </a:xfrm>
          <a:prstGeom prst="round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609258" y="1433579"/>
            <a:ext cx="892232" cy="781051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4" name="等腰三角形 3"/>
          <p:cNvSpPr/>
          <p:nvPr/>
        </p:nvSpPr>
        <p:spPr>
          <a:xfrm rot="5400000">
            <a:off x="3250964" y="1700774"/>
            <a:ext cx="769145" cy="258567"/>
          </a:xfrm>
          <a:prstGeom prst="triangle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1" name="圆角矩形 60"/>
          <p:cNvSpPr/>
          <p:nvPr/>
        </p:nvSpPr>
        <p:spPr>
          <a:xfrm>
            <a:off x="1901372" y="2563817"/>
            <a:ext cx="882372" cy="781051"/>
          </a:xfrm>
          <a:prstGeom prst="round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2609258" y="2563816"/>
            <a:ext cx="892232" cy="781051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5" name="等腰三角形 64"/>
          <p:cNvSpPr/>
          <p:nvPr/>
        </p:nvSpPr>
        <p:spPr>
          <a:xfrm rot="5400000">
            <a:off x="3250964" y="2831011"/>
            <a:ext cx="769145" cy="258567"/>
          </a:xfrm>
          <a:prstGeom prst="triangle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6" name="圆角矩形 65"/>
          <p:cNvSpPr/>
          <p:nvPr/>
        </p:nvSpPr>
        <p:spPr>
          <a:xfrm>
            <a:off x="1901372" y="3705960"/>
            <a:ext cx="882372" cy="781051"/>
          </a:xfrm>
          <a:prstGeom prst="round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2609258" y="3705959"/>
            <a:ext cx="892232" cy="781051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8" name="等腰三角形 67"/>
          <p:cNvSpPr/>
          <p:nvPr/>
        </p:nvSpPr>
        <p:spPr>
          <a:xfrm rot="5400000">
            <a:off x="3250964" y="3973154"/>
            <a:ext cx="769145" cy="258567"/>
          </a:xfrm>
          <a:prstGeom prst="triangle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9" name="圆角矩形 68"/>
          <p:cNvSpPr/>
          <p:nvPr/>
        </p:nvSpPr>
        <p:spPr>
          <a:xfrm>
            <a:off x="1901372" y="4836197"/>
            <a:ext cx="882372" cy="781051"/>
          </a:xfrm>
          <a:prstGeom prst="round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2609258" y="4836196"/>
            <a:ext cx="892232" cy="781051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71" name="等腰三角形 70"/>
          <p:cNvSpPr/>
          <p:nvPr/>
        </p:nvSpPr>
        <p:spPr>
          <a:xfrm rot="5400000">
            <a:off x="3250964" y="5103391"/>
            <a:ext cx="769145" cy="258567"/>
          </a:xfrm>
          <a:prstGeom prst="triangle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20487" name="文本框 5"/>
          <p:cNvSpPr txBox="1">
            <a:spLocks noChangeArrowheads="1"/>
          </p:cNvSpPr>
          <p:nvPr/>
        </p:nvSpPr>
        <p:spPr bwMode="auto">
          <a:xfrm>
            <a:off x="1958975" y="1532005"/>
            <a:ext cx="5921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</a:rPr>
              <a:t>01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20488" name="文本框 71"/>
          <p:cNvSpPr txBox="1">
            <a:spLocks noChangeArrowheads="1"/>
          </p:cNvSpPr>
          <p:nvPr/>
        </p:nvSpPr>
        <p:spPr bwMode="auto">
          <a:xfrm>
            <a:off x="1958975" y="2662305"/>
            <a:ext cx="646113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chemeClr val="bg1"/>
                </a:solidFill>
                <a:latin typeface="Impact" panose="020B0806030902050204" pitchFamily="34" charset="0"/>
              </a:rPr>
              <a:t>02</a:t>
            </a:r>
            <a:endParaRPr lang="zh-CN" altLang="en-US" sz="32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20489" name="文本框 87"/>
          <p:cNvSpPr txBox="1">
            <a:spLocks noChangeArrowheads="1"/>
          </p:cNvSpPr>
          <p:nvPr/>
        </p:nvSpPr>
        <p:spPr bwMode="auto">
          <a:xfrm>
            <a:off x="1958975" y="3803718"/>
            <a:ext cx="64611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</a:rPr>
              <a:t>03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20490" name="文本框 88"/>
          <p:cNvSpPr txBox="1">
            <a:spLocks noChangeArrowheads="1"/>
          </p:cNvSpPr>
          <p:nvPr/>
        </p:nvSpPr>
        <p:spPr bwMode="auto">
          <a:xfrm>
            <a:off x="1958975" y="4934018"/>
            <a:ext cx="64611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chemeClr val="bg1"/>
                </a:solidFill>
                <a:latin typeface="Impact" panose="020B0806030902050204" pitchFamily="34" charset="0"/>
              </a:rPr>
              <a:t>04</a:t>
            </a:r>
            <a:endParaRPr lang="zh-CN" altLang="en-US" sz="32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90" name="AutoShape 115"/>
          <p:cNvSpPr>
            <a:spLocks/>
          </p:cNvSpPr>
          <p:nvPr/>
        </p:nvSpPr>
        <p:spPr bwMode="auto">
          <a:xfrm>
            <a:off x="2857500" y="1603443"/>
            <a:ext cx="401638" cy="44132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1357" y="18801"/>
                </a:moveTo>
                <a:cubicBezTo>
                  <a:pt x="21518" y="18965"/>
                  <a:pt x="21599" y="19177"/>
                  <a:pt x="21599" y="19436"/>
                </a:cubicBezTo>
                <a:cubicBezTo>
                  <a:pt x="21599" y="19580"/>
                  <a:pt x="21518" y="19775"/>
                  <a:pt x="21357" y="20018"/>
                </a:cubicBezTo>
                <a:cubicBezTo>
                  <a:pt x="21193" y="20261"/>
                  <a:pt x="20989" y="20504"/>
                  <a:pt x="20746" y="20741"/>
                </a:cubicBezTo>
                <a:cubicBezTo>
                  <a:pt x="20503" y="20978"/>
                  <a:pt x="20260" y="21184"/>
                  <a:pt x="20023" y="21348"/>
                </a:cubicBezTo>
                <a:cubicBezTo>
                  <a:pt x="19783" y="21518"/>
                  <a:pt x="19593" y="21599"/>
                  <a:pt x="19447" y="21599"/>
                </a:cubicBezTo>
                <a:cubicBezTo>
                  <a:pt x="19189" y="21599"/>
                  <a:pt x="18975" y="21515"/>
                  <a:pt x="18811" y="21343"/>
                </a:cubicBezTo>
                <a:lnTo>
                  <a:pt x="13957" y="16502"/>
                </a:lnTo>
                <a:cubicBezTo>
                  <a:pt x="13217" y="16980"/>
                  <a:pt x="12428" y="17350"/>
                  <a:pt x="11589" y="17604"/>
                </a:cubicBezTo>
                <a:cubicBezTo>
                  <a:pt x="10750" y="17864"/>
                  <a:pt x="9891" y="17991"/>
                  <a:pt x="9007" y="17991"/>
                </a:cubicBezTo>
                <a:cubicBezTo>
                  <a:pt x="7769" y="17991"/>
                  <a:pt x="6608" y="17759"/>
                  <a:pt x="5517" y="17290"/>
                </a:cubicBezTo>
                <a:cubicBezTo>
                  <a:pt x="4427" y="16822"/>
                  <a:pt x="3469" y="16175"/>
                  <a:pt x="2644" y="15353"/>
                </a:cubicBezTo>
                <a:cubicBezTo>
                  <a:pt x="1816" y="14534"/>
                  <a:pt x="1172" y="13580"/>
                  <a:pt x="700" y="12487"/>
                </a:cubicBezTo>
                <a:cubicBezTo>
                  <a:pt x="231" y="11400"/>
                  <a:pt x="0" y="10236"/>
                  <a:pt x="0" y="8999"/>
                </a:cubicBezTo>
                <a:cubicBezTo>
                  <a:pt x="0" y="7768"/>
                  <a:pt x="231" y="6602"/>
                  <a:pt x="700" y="5515"/>
                </a:cubicBezTo>
                <a:cubicBezTo>
                  <a:pt x="1169" y="4422"/>
                  <a:pt x="1816" y="3467"/>
                  <a:pt x="2644" y="2645"/>
                </a:cubicBezTo>
                <a:cubicBezTo>
                  <a:pt x="3469" y="1827"/>
                  <a:pt x="4424" y="1180"/>
                  <a:pt x="5512" y="708"/>
                </a:cubicBezTo>
                <a:cubicBezTo>
                  <a:pt x="6600" y="237"/>
                  <a:pt x="7764" y="0"/>
                  <a:pt x="9007" y="0"/>
                </a:cubicBezTo>
                <a:cubicBezTo>
                  <a:pt x="10244" y="0"/>
                  <a:pt x="11403" y="237"/>
                  <a:pt x="12488" y="708"/>
                </a:cubicBezTo>
                <a:cubicBezTo>
                  <a:pt x="13573" y="1180"/>
                  <a:pt x="14530" y="1827"/>
                  <a:pt x="15358" y="2645"/>
                </a:cubicBezTo>
                <a:cubicBezTo>
                  <a:pt x="16183" y="3467"/>
                  <a:pt x="16830" y="4422"/>
                  <a:pt x="17299" y="5515"/>
                </a:cubicBezTo>
                <a:cubicBezTo>
                  <a:pt x="17768" y="6602"/>
                  <a:pt x="18003" y="7768"/>
                  <a:pt x="18003" y="8999"/>
                </a:cubicBezTo>
                <a:cubicBezTo>
                  <a:pt x="18003" y="9886"/>
                  <a:pt x="17873" y="10747"/>
                  <a:pt x="17616" y="11589"/>
                </a:cubicBezTo>
                <a:cubicBezTo>
                  <a:pt x="17359" y="12433"/>
                  <a:pt x="16991" y="13218"/>
                  <a:pt x="16514" y="13947"/>
                </a:cubicBezTo>
                <a:lnTo>
                  <a:pt x="21357" y="18801"/>
                </a:lnTo>
                <a:close/>
                <a:moveTo>
                  <a:pt x="3596" y="8999"/>
                </a:moveTo>
                <a:cubicBezTo>
                  <a:pt x="3596" y="9759"/>
                  <a:pt x="3740" y="10465"/>
                  <a:pt x="4028" y="11117"/>
                </a:cubicBezTo>
                <a:cubicBezTo>
                  <a:pt x="4317" y="11770"/>
                  <a:pt x="4707" y="12337"/>
                  <a:pt x="5193" y="12820"/>
                </a:cubicBezTo>
                <a:cubicBezTo>
                  <a:pt x="5679" y="13300"/>
                  <a:pt x="6252" y="13684"/>
                  <a:pt x="6908" y="13969"/>
                </a:cubicBezTo>
                <a:cubicBezTo>
                  <a:pt x="7566" y="14252"/>
                  <a:pt x="8264" y="14393"/>
                  <a:pt x="9004" y="14393"/>
                </a:cubicBezTo>
                <a:cubicBezTo>
                  <a:pt x="9744" y="14393"/>
                  <a:pt x="10439" y="14252"/>
                  <a:pt x="11092" y="13969"/>
                </a:cubicBezTo>
                <a:cubicBezTo>
                  <a:pt x="11745" y="13684"/>
                  <a:pt x="12318" y="13300"/>
                  <a:pt x="12801" y="12820"/>
                </a:cubicBezTo>
                <a:cubicBezTo>
                  <a:pt x="13290" y="12337"/>
                  <a:pt x="13677" y="11770"/>
                  <a:pt x="13965" y="11117"/>
                </a:cubicBezTo>
                <a:cubicBezTo>
                  <a:pt x="14254" y="10465"/>
                  <a:pt x="14398" y="9759"/>
                  <a:pt x="14398" y="8999"/>
                </a:cubicBezTo>
                <a:cubicBezTo>
                  <a:pt x="14398" y="8259"/>
                  <a:pt x="14254" y="7565"/>
                  <a:pt x="13965" y="6912"/>
                </a:cubicBezTo>
                <a:cubicBezTo>
                  <a:pt x="13674" y="6257"/>
                  <a:pt x="13290" y="5684"/>
                  <a:pt x="12801" y="5192"/>
                </a:cubicBezTo>
                <a:cubicBezTo>
                  <a:pt x="12315" y="4704"/>
                  <a:pt x="11745" y="4317"/>
                  <a:pt x="11092" y="4032"/>
                </a:cubicBezTo>
                <a:cubicBezTo>
                  <a:pt x="10439" y="3749"/>
                  <a:pt x="9741" y="3605"/>
                  <a:pt x="9004" y="3605"/>
                </a:cubicBezTo>
                <a:cubicBezTo>
                  <a:pt x="8267" y="3605"/>
                  <a:pt x="7566" y="3749"/>
                  <a:pt x="6908" y="4032"/>
                </a:cubicBezTo>
                <a:cubicBezTo>
                  <a:pt x="6252" y="4317"/>
                  <a:pt x="5676" y="4704"/>
                  <a:pt x="5193" y="5192"/>
                </a:cubicBezTo>
                <a:cubicBezTo>
                  <a:pt x="4707" y="5684"/>
                  <a:pt x="4317" y="6257"/>
                  <a:pt x="4028" y="6912"/>
                </a:cubicBezTo>
                <a:cubicBezTo>
                  <a:pt x="3740" y="7565"/>
                  <a:pt x="3596" y="8256"/>
                  <a:pt x="3596" y="8999"/>
                </a:cubicBezTo>
                <a:moveTo>
                  <a:pt x="9007" y="5591"/>
                </a:moveTo>
                <a:cubicBezTo>
                  <a:pt x="9185" y="5591"/>
                  <a:pt x="9343" y="5656"/>
                  <a:pt x="9473" y="5785"/>
                </a:cubicBezTo>
                <a:cubicBezTo>
                  <a:pt x="9603" y="5918"/>
                  <a:pt x="9668" y="6082"/>
                  <a:pt x="9668" y="6279"/>
                </a:cubicBezTo>
                <a:cubicBezTo>
                  <a:pt x="9668" y="6460"/>
                  <a:pt x="9603" y="6616"/>
                  <a:pt x="9473" y="6745"/>
                </a:cubicBezTo>
                <a:cubicBezTo>
                  <a:pt x="9343" y="6878"/>
                  <a:pt x="9185" y="6943"/>
                  <a:pt x="9007" y="6943"/>
                </a:cubicBezTo>
                <a:cubicBezTo>
                  <a:pt x="8439" y="6943"/>
                  <a:pt x="7953" y="7144"/>
                  <a:pt x="7552" y="7536"/>
                </a:cubicBezTo>
                <a:cubicBezTo>
                  <a:pt x="7151" y="7934"/>
                  <a:pt x="6950" y="8423"/>
                  <a:pt x="6950" y="8996"/>
                </a:cubicBezTo>
                <a:cubicBezTo>
                  <a:pt x="6950" y="9180"/>
                  <a:pt x="6885" y="9332"/>
                  <a:pt x="6755" y="9465"/>
                </a:cubicBezTo>
                <a:cubicBezTo>
                  <a:pt x="6622" y="9595"/>
                  <a:pt x="6467" y="9657"/>
                  <a:pt x="6289" y="9657"/>
                </a:cubicBezTo>
                <a:cubicBezTo>
                  <a:pt x="6080" y="9657"/>
                  <a:pt x="5913" y="9595"/>
                  <a:pt x="5786" y="9465"/>
                </a:cubicBezTo>
                <a:cubicBezTo>
                  <a:pt x="5659" y="9332"/>
                  <a:pt x="5599" y="9180"/>
                  <a:pt x="5599" y="8996"/>
                </a:cubicBezTo>
                <a:cubicBezTo>
                  <a:pt x="5599" y="8539"/>
                  <a:pt x="5684" y="8104"/>
                  <a:pt x="5862" y="7686"/>
                </a:cubicBezTo>
                <a:cubicBezTo>
                  <a:pt x="6037" y="7271"/>
                  <a:pt x="6280" y="6907"/>
                  <a:pt x="6597" y="6590"/>
                </a:cubicBezTo>
                <a:cubicBezTo>
                  <a:pt x="6905" y="6277"/>
                  <a:pt x="7264" y="6028"/>
                  <a:pt x="7676" y="5856"/>
                </a:cubicBezTo>
                <a:cubicBezTo>
                  <a:pt x="8086" y="5681"/>
                  <a:pt x="8529" y="5591"/>
                  <a:pt x="9007" y="5591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101578" tIns="101578" rIns="101578" bIns="101578" anchor="ctr"/>
          <a:lstStyle/>
          <a:p>
            <a:pPr defTabSz="91419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5800" dirty="0">
              <a:solidFill>
                <a:srgbClr val="44CEB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" charset="0"/>
              <a:ea typeface="+mn-ea"/>
              <a:cs typeface="Gill Sans" charset="0"/>
              <a:sym typeface="Gill Sans" charset="0"/>
            </a:endParaRPr>
          </a:p>
        </p:txBody>
      </p:sp>
      <p:sp>
        <p:nvSpPr>
          <p:cNvPr id="91" name="AutoShape 29"/>
          <p:cNvSpPr>
            <a:spLocks/>
          </p:cNvSpPr>
          <p:nvPr/>
        </p:nvSpPr>
        <p:spPr bwMode="auto">
          <a:xfrm>
            <a:off x="2857500" y="2738505"/>
            <a:ext cx="430213" cy="4318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3598" y="2167"/>
                </a:moveTo>
                <a:cubicBezTo>
                  <a:pt x="3598" y="2549"/>
                  <a:pt x="3517" y="2902"/>
                  <a:pt x="3358" y="3213"/>
                </a:cubicBezTo>
                <a:cubicBezTo>
                  <a:pt x="3197" y="3525"/>
                  <a:pt x="2981" y="3792"/>
                  <a:pt x="2707" y="4006"/>
                </a:cubicBezTo>
                <a:lnTo>
                  <a:pt x="2707" y="21050"/>
                </a:lnTo>
                <a:cubicBezTo>
                  <a:pt x="2707" y="21203"/>
                  <a:pt x="2663" y="21329"/>
                  <a:pt x="2580" y="21438"/>
                </a:cubicBezTo>
                <a:cubicBezTo>
                  <a:pt x="2492" y="21547"/>
                  <a:pt x="2386" y="21599"/>
                  <a:pt x="2262" y="21599"/>
                </a:cubicBezTo>
                <a:lnTo>
                  <a:pt x="1348" y="21599"/>
                </a:lnTo>
                <a:cubicBezTo>
                  <a:pt x="1221" y="21599"/>
                  <a:pt x="1118" y="21544"/>
                  <a:pt x="1038" y="21438"/>
                </a:cubicBezTo>
                <a:cubicBezTo>
                  <a:pt x="954" y="21329"/>
                  <a:pt x="913" y="21203"/>
                  <a:pt x="913" y="21050"/>
                </a:cubicBezTo>
                <a:lnTo>
                  <a:pt x="913" y="4006"/>
                </a:lnTo>
                <a:cubicBezTo>
                  <a:pt x="641" y="3792"/>
                  <a:pt x="421" y="3525"/>
                  <a:pt x="252" y="3213"/>
                </a:cubicBezTo>
                <a:cubicBezTo>
                  <a:pt x="83" y="2902"/>
                  <a:pt x="0" y="2549"/>
                  <a:pt x="0" y="2167"/>
                </a:cubicBezTo>
                <a:cubicBezTo>
                  <a:pt x="0" y="1574"/>
                  <a:pt x="176" y="1069"/>
                  <a:pt x="528" y="640"/>
                </a:cubicBezTo>
                <a:cubicBezTo>
                  <a:pt x="878" y="211"/>
                  <a:pt x="1304" y="0"/>
                  <a:pt x="1804" y="0"/>
                </a:cubicBezTo>
                <a:cubicBezTo>
                  <a:pt x="2296" y="0"/>
                  <a:pt x="2719" y="211"/>
                  <a:pt x="3069" y="640"/>
                </a:cubicBezTo>
                <a:cubicBezTo>
                  <a:pt x="3422" y="1069"/>
                  <a:pt x="3598" y="1571"/>
                  <a:pt x="3598" y="2167"/>
                </a:cubicBezTo>
                <a:moveTo>
                  <a:pt x="20838" y="2476"/>
                </a:moveTo>
                <a:cubicBezTo>
                  <a:pt x="21063" y="2323"/>
                  <a:pt x="21247" y="2297"/>
                  <a:pt x="21389" y="2391"/>
                </a:cubicBezTo>
                <a:cubicBezTo>
                  <a:pt x="21529" y="2485"/>
                  <a:pt x="21599" y="2684"/>
                  <a:pt x="21599" y="2996"/>
                </a:cubicBezTo>
                <a:lnTo>
                  <a:pt x="21599" y="13515"/>
                </a:lnTo>
                <a:cubicBezTo>
                  <a:pt x="21599" y="13803"/>
                  <a:pt x="21526" y="14106"/>
                  <a:pt x="21382" y="14420"/>
                </a:cubicBezTo>
                <a:cubicBezTo>
                  <a:pt x="21237" y="14737"/>
                  <a:pt x="21056" y="14966"/>
                  <a:pt x="20838" y="15119"/>
                </a:cubicBezTo>
                <a:cubicBezTo>
                  <a:pt x="19954" y="15757"/>
                  <a:pt x="19146" y="16165"/>
                  <a:pt x="18412" y="16350"/>
                </a:cubicBezTo>
                <a:cubicBezTo>
                  <a:pt x="17678" y="16529"/>
                  <a:pt x="17036" y="16606"/>
                  <a:pt x="16490" y="16567"/>
                </a:cubicBezTo>
                <a:cubicBezTo>
                  <a:pt x="15849" y="16526"/>
                  <a:pt x="15281" y="16371"/>
                  <a:pt x="14791" y="16103"/>
                </a:cubicBezTo>
                <a:cubicBezTo>
                  <a:pt x="14392" y="15851"/>
                  <a:pt x="14003" y="15607"/>
                  <a:pt x="13623" y="15378"/>
                </a:cubicBezTo>
                <a:cubicBezTo>
                  <a:pt x="13244" y="15146"/>
                  <a:pt x="12857" y="14946"/>
                  <a:pt x="12458" y="14773"/>
                </a:cubicBezTo>
                <a:cubicBezTo>
                  <a:pt x="12059" y="14599"/>
                  <a:pt x="11640" y="14461"/>
                  <a:pt x="11197" y="14358"/>
                </a:cubicBezTo>
                <a:cubicBezTo>
                  <a:pt x="10757" y="14256"/>
                  <a:pt x="10269" y="14203"/>
                  <a:pt x="9738" y="14203"/>
                </a:cubicBezTo>
                <a:cubicBezTo>
                  <a:pt x="9310" y="14220"/>
                  <a:pt x="8825" y="14306"/>
                  <a:pt x="8286" y="14455"/>
                </a:cubicBezTo>
                <a:cubicBezTo>
                  <a:pt x="7824" y="14588"/>
                  <a:pt x="7266" y="14799"/>
                  <a:pt x="6605" y="15090"/>
                </a:cubicBezTo>
                <a:cubicBezTo>
                  <a:pt x="5944" y="15381"/>
                  <a:pt x="5207" y="15792"/>
                  <a:pt x="4394" y="16327"/>
                </a:cubicBezTo>
                <a:cubicBezTo>
                  <a:pt x="4169" y="16476"/>
                  <a:pt x="3978" y="16494"/>
                  <a:pt x="3826" y="16382"/>
                </a:cubicBezTo>
                <a:cubicBezTo>
                  <a:pt x="3674" y="16268"/>
                  <a:pt x="3598" y="16059"/>
                  <a:pt x="3598" y="15751"/>
                </a:cubicBezTo>
                <a:lnTo>
                  <a:pt x="3598" y="5273"/>
                </a:lnTo>
                <a:cubicBezTo>
                  <a:pt x="3598" y="4964"/>
                  <a:pt x="3674" y="4653"/>
                  <a:pt x="3826" y="4347"/>
                </a:cubicBezTo>
                <a:cubicBezTo>
                  <a:pt x="3978" y="4036"/>
                  <a:pt x="4169" y="3807"/>
                  <a:pt x="4394" y="3654"/>
                </a:cubicBezTo>
                <a:cubicBezTo>
                  <a:pt x="5207" y="3143"/>
                  <a:pt x="5941" y="2737"/>
                  <a:pt x="6597" y="2447"/>
                </a:cubicBezTo>
                <a:cubicBezTo>
                  <a:pt x="7253" y="2156"/>
                  <a:pt x="7816" y="1944"/>
                  <a:pt x="8286" y="1812"/>
                </a:cubicBezTo>
                <a:cubicBezTo>
                  <a:pt x="8832" y="1665"/>
                  <a:pt x="9317" y="1580"/>
                  <a:pt x="9738" y="1559"/>
                </a:cubicBezTo>
                <a:cubicBezTo>
                  <a:pt x="10269" y="1559"/>
                  <a:pt x="10757" y="1612"/>
                  <a:pt x="11197" y="1715"/>
                </a:cubicBezTo>
                <a:cubicBezTo>
                  <a:pt x="11640" y="1818"/>
                  <a:pt x="12059" y="1956"/>
                  <a:pt x="12458" y="2135"/>
                </a:cubicBezTo>
                <a:cubicBezTo>
                  <a:pt x="12857" y="2306"/>
                  <a:pt x="13242" y="2508"/>
                  <a:pt x="13619" y="2737"/>
                </a:cubicBezTo>
                <a:cubicBezTo>
                  <a:pt x="13993" y="2967"/>
                  <a:pt x="14385" y="3207"/>
                  <a:pt x="14791" y="3463"/>
                </a:cubicBezTo>
                <a:cubicBezTo>
                  <a:pt x="15281" y="3736"/>
                  <a:pt x="15849" y="3889"/>
                  <a:pt x="16490" y="3924"/>
                </a:cubicBezTo>
                <a:cubicBezTo>
                  <a:pt x="17036" y="3965"/>
                  <a:pt x="17678" y="3889"/>
                  <a:pt x="18412" y="3707"/>
                </a:cubicBezTo>
                <a:cubicBezTo>
                  <a:pt x="19146" y="3522"/>
                  <a:pt x="19957" y="3113"/>
                  <a:pt x="20838" y="2476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101578" tIns="101578" rIns="101578" bIns="101578" anchor="ctr"/>
          <a:lstStyle/>
          <a:p>
            <a:pPr defTabSz="91419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5800" dirty="0">
              <a:solidFill>
                <a:srgbClr val="44CEB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" charset="0"/>
              <a:ea typeface="+mn-ea"/>
              <a:cs typeface="Gill Sans" charset="0"/>
              <a:sym typeface="Gill Sans" charset="0"/>
            </a:endParaRPr>
          </a:p>
        </p:txBody>
      </p:sp>
      <p:grpSp>
        <p:nvGrpSpPr>
          <p:cNvPr id="92" name="Group 2"/>
          <p:cNvGrpSpPr>
            <a:grpSpLocks/>
          </p:cNvGrpSpPr>
          <p:nvPr/>
        </p:nvGrpSpPr>
        <p:grpSpPr bwMode="auto">
          <a:xfrm>
            <a:off x="2857096" y="3879607"/>
            <a:ext cx="413920" cy="409944"/>
            <a:chOff x="1569458" y="688424"/>
            <a:chExt cx="334962" cy="331788"/>
          </a:xfrm>
          <a:solidFill>
            <a:srgbClr val="FFFFFF"/>
          </a:solidFill>
        </p:grpSpPr>
        <p:sp>
          <p:nvSpPr>
            <p:cNvPr id="93" name="Freeform 11"/>
            <p:cNvSpPr>
              <a:spLocks noChangeArrowheads="1"/>
            </p:cNvSpPr>
            <p:nvPr/>
          </p:nvSpPr>
          <p:spPr bwMode="auto">
            <a:xfrm>
              <a:off x="1587500" y="901699"/>
              <a:ext cx="42863" cy="77788"/>
            </a:xfrm>
            <a:custGeom>
              <a:avLst/>
              <a:gdLst>
                <a:gd name="T0" fmla="*/ 0 w 118"/>
                <a:gd name="T1" fmla="*/ 183 h 218"/>
                <a:gd name="T2" fmla="*/ 25 w 118"/>
                <a:gd name="T3" fmla="*/ 217 h 218"/>
                <a:gd name="T4" fmla="*/ 84 w 118"/>
                <a:gd name="T5" fmla="*/ 217 h 218"/>
                <a:gd name="T6" fmla="*/ 117 w 118"/>
                <a:gd name="T7" fmla="*/ 183 h 218"/>
                <a:gd name="T8" fmla="*/ 117 w 118"/>
                <a:gd name="T9" fmla="*/ 0 h 218"/>
                <a:gd name="T10" fmla="*/ 17 w 118"/>
                <a:gd name="T11" fmla="*/ 91 h 218"/>
                <a:gd name="T12" fmla="*/ 0 w 118"/>
                <a:gd name="T13" fmla="*/ 75 h 218"/>
                <a:gd name="T14" fmla="*/ 0 w 118"/>
                <a:gd name="T15" fmla="*/ 183 h 218"/>
                <a:gd name="T16" fmla="*/ 0 w 118"/>
                <a:gd name="T17" fmla="*/ 183 h 218"/>
                <a:gd name="T18" fmla="*/ 0 w 118"/>
                <a:gd name="T19" fmla="*/ 18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8" h="218">
                  <a:moveTo>
                    <a:pt x="0" y="183"/>
                  </a:moveTo>
                  <a:cubicBezTo>
                    <a:pt x="0" y="200"/>
                    <a:pt x="8" y="217"/>
                    <a:pt x="25" y="217"/>
                  </a:cubicBezTo>
                  <a:cubicBezTo>
                    <a:pt x="84" y="217"/>
                    <a:pt x="84" y="217"/>
                    <a:pt x="84" y="217"/>
                  </a:cubicBezTo>
                  <a:cubicBezTo>
                    <a:pt x="100" y="217"/>
                    <a:pt x="117" y="200"/>
                    <a:pt x="117" y="183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" y="91"/>
                    <a:pt x="17" y="91"/>
                    <a:pt x="17" y="91"/>
                  </a:cubicBezTo>
                  <a:cubicBezTo>
                    <a:pt x="0" y="75"/>
                    <a:pt x="0" y="75"/>
                    <a:pt x="0" y="75"/>
                  </a:cubicBezTo>
                  <a:lnTo>
                    <a:pt x="0" y="183"/>
                  </a:lnTo>
                  <a:close/>
                  <a:moveTo>
                    <a:pt x="0" y="183"/>
                  </a:moveTo>
                  <a:lnTo>
                    <a:pt x="0" y="183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94" name="Freeform 12"/>
            <p:cNvSpPr>
              <a:spLocks noChangeArrowheads="1"/>
            </p:cNvSpPr>
            <p:nvPr/>
          </p:nvSpPr>
          <p:spPr bwMode="auto">
            <a:xfrm>
              <a:off x="1657350" y="858837"/>
              <a:ext cx="42863" cy="120650"/>
            </a:xfrm>
            <a:custGeom>
              <a:avLst/>
              <a:gdLst>
                <a:gd name="T0" fmla="*/ 0 w 118"/>
                <a:gd name="T1" fmla="*/ 301 h 336"/>
                <a:gd name="T2" fmla="*/ 34 w 118"/>
                <a:gd name="T3" fmla="*/ 335 h 336"/>
                <a:gd name="T4" fmla="*/ 84 w 118"/>
                <a:gd name="T5" fmla="*/ 335 h 336"/>
                <a:gd name="T6" fmla="*/ 117 w 118"/>
                <a:gd name="T7" fmla="*/ 301 h 336"/>
                <a:gd name="T8" fmla="*/ 117 w 118"/>
                <a:gd name="T9" fmla="*/ 76 h 336"/>
                <a:gd name="T10" fmla="*/ 42 w 118"/>
                <a:gd name="T11" fmla="*/ 0 h 336"/>
                <a:gd name="T12" fmla="*/ 0 w 118"/>
                <a:gd name="T13" fmla="*/ 42 h 336"/>
                <a:gd name="T14" fmla="*/ 0 w 118"/>
                <a:gd name="T15" fmla="*/ 301 h 336"/>
                <a:gd name="T16" fmla="*/ 0 w 118"/>
                <a:gd name="T17" fmla="*/ 301 h 336"/>
                <a:gd name="T18" fmla="*/ 0 w 118"/>
                <a:gd name="T19" fmla="*/ 301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8" h="336">
                  <a:moveTo>
                    <a:pt x="0" y="301"/>
                  </a:moveTo>
                  <a:cubicBezTo>
                    <a:pt x="0" y="318"/>
                    <a:pt x="17" y="335"/>
                    <a:pt x="34" y="335"/>
                  </a:cubicBezTo>
                  <a:cubicBezTo>
                    <a:pt x="84" y="335"/>
                    <a:pt x="84" y="335"/>
                    <a:pt x="84" y="335"/>
                  </a:cubicBezTo>
                  <a:cubicBezTo>
                    <a:pt x="101" y="335"/>
                    <a:pt x="117" y="318"/>
                    <a:pt x="117" y="301"/>
                  </a:cubicBezTo>
                  <a:cubicBezTo>
                    <a:pt x="117" y="76"/>
                    <a:pt x="117" y="76"/>
                    <a:pt x="117" y="76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0" y="301"/>
                  </a:lnTo>
                  <a:close/>
                  <a:moveTo>
                    <a:pt x="0" y="301"/>
                  </a:moveTo>
                  <a:lnTo>
                    <a:pt x="0" y="301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95" name="Freeform 13"/>
            <p:cNvSpPr>
              <a:spLocks noChangeArrowheads="1"/>
            </p:cNvSpPr>
            <p:nvPr/>
          </p:nvSpPr>
          <p:spPr bwMode="auto">
            <a:xfrm>
              <a:off x="1727200" y="858837"/>
              <a:ext cx="42863" cy="120650"/>
            </a:xfrm>
            <a:custGeom>
              <a:avLst/>
              <a:gdLst>
                <a:gd name="T0" fmla="*/ 92 w 118"/>
                <a:gd name="T1" fmla="*/ 335 h 336"/>
                <a:gd name="T2" fmla="*/ 117 w 118"/>
                <a:gd name="T3" fmla="*/ 301 h 336"/>
                <a:gd name="T4" fmla="*/ 117 w 118"/>
                <a:gd name="T5" fmla="*/ 0 h 336"/>
                <a:gd name="T6" fmla="*/ 0 w 118"/>
                <a:gd name="T7" fmla="*/ 118 h 336"/>
                <a:gd name="T8" fmla="*/ 0 w 118"/>
                <a:gd name="T9" fmla="*/ 301 h 336"/>
                <a:gd name="T10" fmla="*/ 33 w 118"/>
                <a:gd name="T11" fmla="*/ 335 h 336"/>
                <a:gd name="T12" fmla="*/ 92 w 118"/>
                <a:gd name="T13" fmla="*/ 335 h 336"/>
                <a:gd name="T14" fmla="*/ 92 w 118"/>
                <a:gd name="T15" fmla="*/ 335 h 336"/>
                <a:gd name="T16" fmla="*/ 92 w 118"/>
                <a:gd name="T17" fmla="*/ 335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8" h="336">
                  <a:moveTo>
                    <a:pt x="92" y="335"/>
                  </a:moveTo>
                  <a:cubicBezTo>
                    <a:pt x="108" y="335"/>
                    <a:pt x="117" y="318"/>
                    <a:pt x="117" y="301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01"/>
                    <a:pt x="0" y="301"/>
                    <a:pt x="0" y="301"/>
                  </a:cubicBezTo>
                  <a:cubicBezTo>
                    <a:pt x="0" y="318"/>
                    <a:pt x="16" y="335"/>
                    <a:pt x="33" y="335"/>
                  </a:cubicBezTo>
                  <a:lnTo>
                    <a:pt x="92" y="335"/>
                  </a:lnTo>
                  <a:close/>
                  <a:moveTo>
                    <a:pt x="92" y="335"/>
                  </a:moveTo>
                  <a:lnTo>
                    <a:pt x="92" y="335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96" name="Freeform 14"/>
            <p:cNvSpPr>
              <a:spLocks noChangeArrowheads="1"/>
            </p:cNvSpPr>
            <p:nvPr/>
          </p:nvSpPr>
          <p:spPr bwMode="auto">
            <a:xfrm>
              <a:off x="1795463" y="817562"/>
              <a:ext cx="46037" cy="163512"/>
            </a:xfrm>
            <a:custGeom>
              <a:avLst/>
              <a:gdLst>
                <a:gd name="T0" fmla="*/ 0 w 126"/>
                <a:gd name="T1" fmla="*/ 41 h 452"/>
                <a:gd name="T2" fmla="*/ 0 w 126"/>
                <a:gd name="T3" fmla="*/ 417 h 452"/>
                <a:gd name="T4" fmla="*/ 33 w 126"/>
                <a:gd name="T5" fmla="*/ 451 h 452"/>
                <a:gd name="T6" fmla="*/ 92 w 126"/>
                <a:gd name="T7" fmla="*/ 451 h 452"/>
                <a:gd name="T8" fmla="*/ 125 w 126"/>
                <a:gd name="T9" fmla="*/ 417 h 452"/>
                <a:gd name="T10" fmla="*/ 125 w 126"/>
                <a:gd name="T11" fmla="*/ 66 h 452"/>
                <a:gd name="T12" fmla="*/ 50 w 126"/>
                <a:gd name="T13" fmla="*/ 0 h 452"/>
                <a:gd name="T14" fmla="*/ 0 w 126"/>
                <a:gd name="T15" fmla="*/ 41 h 452"/>
                <a:gd name="T16" fmla="*/ 0 w 126"/>
                <a:gd name="T17" fmla="*/ 41 h 452"/>
                <a:gd name="T18" fmla="*/ 0 w 126"/>
                <a:gd name="T19" fmla="*/ 41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6" h="452">
                  <a:moveTo>
                    <a:pt x="0" y="41"/>
                  </a:moveTo>
                  <a:cubicBezTo>
                    <a:pt x="0" y="417"/>
                    <a:pt x="0" y="417"/>
                    <a:pt x="0" y="417"/>
                  </a:cubicBezTo>
                  <a:cubicBezTo>
                    <a:pt x="0" y="434"/>
                    <a:pt x="17" y="451"/>
                    <a:pt x="33" y="451"/>
                  </a:cubicBezTo>
                  <a:cubicBezTo>
                    <a:pt x="92" y="451"/>
                    <a:pt x="92" y="451"/>
                    <a:pt x="92" y="451"/>
                  </a:cubicBezTo>
                  <a:cubicBezTo>
                    <a:pt x="109" y="451"/>
                    <a:pt x="125" y="434"/>
                    <a:pt x="125" y="417"/>
                  </a:cubicBezTo>
                  <a:cubicBezTo>
                    <a:pt x="125" y="66"/>
                    <a:pt x="125" y="66"/>
                    <a:pt x="125" y="66"/>
                  </a:cubicBezTo>
                  <a:cubicBezTo>
                    <a:pt x="50" y="0"/>
                    <a:pt x="50" y="0"/>
                    <a:pt x="50" y="0"/>
                  </a:cubicBezTo>
                  <a:lnTo>
                    <a:pt x="0" y="41"/>
                  </a:lnTo>
                  <a:close/>
                  <a:moveTo>
                    <a:pt x="0" y="41"/>
                  </a:moveTo>
                  <a:lnTo>
                    <a:pt x="0" y="41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97" name="Freeform 15"/>
            <p:cNvSpPr>
              <a:spLocks noChangeArrowheads="1"/>
            </p:cNvSpPr>
            <p:nvPr/>
          </p:nvSpPr>
          <p:spPr bwMode="auto">
            <a:xfrm>
              <a:off x="1576388" y="744537"/>
              <a:ext cx="261937" cy="163512"/>
            </a:xfrm>
            <a:custGeom>
              <a:avLst/>
              <a:gdLst>
                <a:gd name="T0" fmla="*/ 234 w 728"/>
                <a:gd name="T1" fmla="*/ 284 h 452"/>
                <a:gd name="T2" fmla="*/ 292 w 728"/>
                <a:gd name="T3" fmla="*/ 284 h 452"/>
                <a:gd name="T4" fmla="*/ 359 w 728"/>
                <a:gd name="T5" fmla="*/ 351 h 452"/>
                <a:gd name="T6" fmla="*/ 401 w 728"/>
                <a:gd name="T7" fmla="*/ 368 h 452"/>
                <a:gd name="T8" fmla="*/ 434 w 728"/>
                <a:gd name="T9" fmla="*/ 351 h 452"/>
                <a:gd name="T10" fmla="*/ 660 w 728"/>
                <a:gd name="T11" fmla="*/ 134 h 452"/>
                <a:gd name="T12" fmla="*/ 694 w 728"/>
                <a:gd name="T13" fmla="*/ 167 h 452"/>
                <a:gd name="T14" fmla="*/ 710 w 728"/>
                <a:gd name="T15" fmla="*/ 175 h 452"/>
                <a:gd name="T16" fmla="*/ 727 w 728"/>
                <a:gd name="T17" fmla="*/ 159 h 452"/>
                <a:gd name="T18" fmla="*/ 727 w 728"/>
                <a:gd name="T19" fmla="*/ 33 h 452"/>
                <a:gd name="T20" fmla="*/ 719 w 728"/>
                <a:gd name="T21" fmla="*/ 8 h 452"/>
                <a:gd name="T22" fmla="*/ 694 w 728"/>
                <a:gd name="T23" fmla="*/ 0 h 452"/>
                <a:gd name="T24" fmla="*/ 568 w 728"/>
                <a:gd name="T25" fmla="*/ 0 h 452"/>
                <a:gd name="T26" fmla="*/ 551 w 728"/>
                <a:gd name="T27" fmla="*/ 8 h 452"/>
                <a:gd name="T28" fmla="*/ 551 w 728"/>
                <a:gd name="T29" fmla="*/ 33 h 452"/>
                <a:gd name="T30" fmla="*/ 585 w 728"/>
                <a:gd name="T31" fmla="*/ 58 h 452"/>
                <a:gd name="T32" fmla="*/ 426 w 728"/>
                <a:gd name="T33" fmla="*/ 217 h 452"/>
                <a:gd name="T34" fmla="*/ 401 w 728"/>
                <a:gd name="T35" fmla="*/ 225 h 452"/>
                <a:gd name="T36" fmla="*/ 368 w 728"/>
                <a:gd name="T37" fmla="*/ 217 h 452"/>
                <a:gd name="T38" fmla="*/ 292 w 728"/>
                <a:gd name="T39" fmla="*/ 142 h 452"/>
                <a:gd name="T40" fmla="*/ 234 w 728"/>
                <a:gd name="T41" fmla="*/ 142 h 452"/>
                <a:gd name="T42" fmla="*/ 8 w 728"/>
                <a:gd name="T43" fmla="*/ 359 h 452"/>
                <a:gd name="T44" fmla="*/ 0 w 728"/>
                <a:gd name="T45" fmla="*/ 393 h 452"/>
                <a:gd name="T46" fmla="*/ 8 w 728"/>
                <a:gd name="T47" fmla="*/ 426 h 452"/>
                <a:gd name="T48" fmla="*/ 25 w 728"/>
                <a:gd name="T49" fmla="*/ 435 h 452"/>
                <a:gd name="T50" fmla="*/ 83 w 728"/>
                <a:gd name="T51" fmla="*/ 435 h 452"/>
                <a:gd name="T52" fmla="*/ 234 w 728"/>
                <a:gd name="T53" fmla="*/ 284 h 452"/>
                <a:gd name="T54" fmla="*/ 234 w 728"/>
                <a:gd name="T55" fmla="*/ 284 h 452"/>
                <a:gd name="T56" fmla="*/ 234 w 728"/>
                <a:gd name="T57" fmla="*/ 284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728" h="452">
                  <a:moveTo>
                    <a:pt x="234" y="284"/>
                  </a:moveTo>
                  <a:cubicBezTo>
                    <a:pt x="250" y="267"/>
                    <a:pt x="276" y="267"/>
                    <a:pt x="292" y="284"/>
                  </a:cubicBezTo>
                  <a:cubicBezTo>
                    <a:pt x="359" y="351"/>
                    <a:pt x="359" y="351"/>
                    <a:pt x="359" y="351"/>
                  </a:cubicBezTo>
                  <a:cubicBezTo>
                    <a:pt x="376" y="368"/>
                    <a:pt x="384" y="368"/>
                    <a:pt x="401" y="368"/>
                  </a:cubicBezTo>
                  <a:cubicBezTo>
                    <a:pt x="418" y="368"/>
                    <a:pt x="426" y="368"/>
                    <a:pt x="434" y="351"/>
                  </a:cubicBezTo>
                  <a:cubicBezTo>
                    <a:pt x="660" y="134"/>
                    <a:pt x="660" y="134"/>
                    <a:pt x="660" y="134"/>
                  </a:cubicBezTo>
                  <a:cubicBezTo>
                    <a:pt x="694" y="167"/>
                    <a:pt x="694" y="167"/>
                    <a:pt x="694" y="167"/>
                  </a:cubicBezTo>
                  <a:cubicBezTo>
                    <a:pt x="702" y="175"/>
                    <a:pt x="710" y="175"/>
                    <a:pt x="710" y="175"/>
                  </a:cubicBezTo>
                  <a:cubicBezTo>
                    <a:pt x="719" y="175"/>
                    <a:pt x="727" y="167"/>
                    <a:pt x="727" y="159"/>
                  </a:cubicBezTo>
                  <a:cubicBezTo>
                    <a:pt x="727" y="33"/>
                    <a:pt x="727" y="33"/>
                    <a:pt x="727" y="33"/>
                  </a:cubicBezTo>
                  <a:cubicBezTo>
                    <a:pt x="727" y="25"/>
                    <a:pt x="727" y="16"/>
                    <a:pt x="719" y="8"/>
                  </a:cubicBezTo>
                  <a:cubicBezTo>
                    <a:pt x="710" y="0"/>
                    <a:pt x="702" y="0"/>
                    <a:pt x="694" y="0"/>
                  </a:cubicBezTo>
                  <a:cubicBezTo>
                    <a:pt x="568" y="0"/>
                    <a:pt x="568" y="0"/>
                    <a:pt x="568" y="0"/>
                  </a:cubicBezTo>
                  <a:cubicBezTo>
                    <a:pt x="560" y="0"/>
                    <a:pt x="551" y="0"/>
                    <a:pt x="551" y="8"/>
                  </a:cubicBezTo>
                  <a:cubicBezTo>
                    <a:pt x="543" y="16"/>
                    <a:pt x="551" y="25"/>
                    <a:pt x="551" y="33"/>
                  </a:cubicBezTo>
                  <a:cubicBezTo>
                    <a:pt x="585" y="58"/>
                    <a:pt x="585" y="58"/>
                    <a:pt x="585" y="58"/>
                  </a:cubicBezTo>
                  <a:cubicBezTo>
                    <a:pt x="426" y="217"/>
                    <a:pt x="426" y="217"/>
                    <a:pt x="426" y="217"/>
                  </a:cubicBezTo>
                  <a:cubicBezTo>
                    <a:pt x="426" y="225"/>
                    <a:pt x="409" y="225"/>
                    <a:pt x="401" y="225"/>
                  </a:cubicBezTo>
                  <a:cubicBezTo>
                    <a:pt x="393" y="225"/>
                    <a:pt x="376" y="225"/>
                    <a:pt x="368" y="217"/>
                  </a:cubicBezTo>
                  <a:cubicBezTo>
                    <a:pt x="292" y="142"/>
                    <a:pt x="292" y="142"/>
                    <a:pt x="292" y="142"/>
                  </a:cubicBezTo>
                  <a:cubicBezTo>
                    <a:pt x="276" y="125"/>
                    <a:pt x="250" y="125"/>
                    <a:pt x="234" y="142"/>
                  </a:cubicBezTo>
                  <a:cubicBezTo>
                    <a:pt x="8" y="359"/>
                    <a:pt x="8" y="359"/>
                    <a:pt x="8" y="359"/>
                  </a:cubicBezTo>
                  <a:cubicBezTo>
                    <a:pt x="0" y="368"/>
                    <a:pt x="0" y="384"/>
                    <a:pt x="0" y="393"/>
                  </a:cubicBezTo>
                  <a:cubicBezTo>
                    <a:pt x="0" y="410"/>
                    <a:pt x="0" y="418"/>
                    <a:pt x="8" y="426"/>
                  </a:cubicBezTo>
                  <a:cubicBezTo>
                    <a:pt x="25" y="435"/>
                    <a:pt x="25" y="435"/>
                    <a:pt x="25" y="435"/>
                  </a:cubicBezTo>
                  <a:cubicBezTo>
                    <a:pt x="41" y="451"/>
                    <a:pt x="67" y="451"/>
                    <a:pt x="83" y="435"/>
                  </a:cubicBezTo>
                  <a:lnTo>
                    <a:pt x="234" y="284"/>
                  </a:lnTo>
                  <a:close/>
                  <a:moveTo>
                    <a:pt x="234" y="284"/>
                  </a:moveTo>
                  <a:lnTo>
                    <a:pt x="234" y="284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98" name="Freeform 16"/>
            <p:cNvSpPr>
              <a:spLocks noChangeArrowheads="1"/>
            </p:cNvSpPr>
            <p:nvPr/>
          </p:nvSpPr>
          <p:spPr bwMode="auto">
            <a:xfrm>
              <a:off x="1569458" y="688424"/>
              <a:ext cx="334962" cy="331788"/>
            </a:xfrm>
            <a:custGeom>
              <a:avLst/>
              <a:gdLst>
                <a:gd name="T0" fmla="*/ 887 w 929"/>
                <a:gd name="T1" fmla="*/ 0 h 921"/>
                <a:gd name="T2" fmla="*/ 836 w 929"/>
                <a:gd name="T3" fmla="*/ 50 h 921"/>
                <a:gd name="T4" fmla="*/ 836 w 929"/>
                <a:gd name="T5" fmla="*/ 837 h 921"/>
                <a:gd name="T6" fmla="*/ 51 w 929"/>
                <a:gd name="T7" fmla="*/ 837 h 921"/>
                <a:gd name="T8" fmla="*/ 0 w 929"/>
                <a:gd name="T9" fmla="*/ 878 h 921"/>
                <a:gd name="T10" fmla="*/ 51 w 929"/>
                <a:gd name="T11" fmla="*/ 920 h 921"/>
                <a:gd name="T12" fmla="*/ 887 w 929"/>
                <a:gd name="T13" fmla="*/ 920 h 921"/>
                <a:gd name="T14" fmla="*/ 928 w 929"/>
                <a:gd name="T15" fmla="*/ 878 h 921"/>
                <a:gd name="T16" fmla="*/ 928 w 929"/>
                <a:gd name="T17" fmla="*/ 50 h 921"/>
                <a:gd name="T18" fmla="*/ 887 w 929"/>
                <a:gd name="T19" fmla="*/ 0 h 921"/>
                <a:gd name="T20" fmla="*/ 887 w 929"/>
                <a:gd name="T21" fmla="*/ 0 h 921"/>
                <a:gd name="T22" fmla="*/ 887 w 929"/>
                <a:gd name="T23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29" h="921">
                  <a:moveTo>
                    <a:pt x="887" y="0"/>
                  </a:moveTo>
                  <a:cubicBezTo>
                    <a:pt x="862" y="0"/>
                    <a:pt x="836" y="26"/>
                    <a:pt x="836" y="50"/>
                  </a:cubicBezTo>
                  <a:cubicBezTo>
                    <a:pt x="836" y="837"/>
                    <a:pt x="836" y="837"/>
                    <a:pt x="836" y="837"/>
                  </a:cubicBezTo>
                  <a:cubicBezTo>
                    <a:pt x="51" y="837"/>
                    <a:pt x="51" y="837"/>
                    <a:pt x="51" y="837"/>
                  </a:cubicBezTo>
                  <a:cubicBezTo>
                    <a:pt x="26" y="837"/>
                    <a:pt x="0" y="853"/>
                    <a:pt x="0" y="878"/>
                  </a:cubicBezTo>
                  <a:cubicBezTo>
                    <a:pt x="0" y="903"/>
                    <a:pt x="26" y="920"/>
                    <a:pt x="51" y="920"/>
                  </a:cubicBezTo>
                  <a:cubicBezTo>
                    <a:pt x="887" y="920"/>
                    <a:pt x="887" y="920"/>
                    <a:pt x="887" y="920"/>
                  </a:cubicBezTo>
                  <a:cubicBezTo>
                    <a:pt x="912" y="920"/>
                    <a:pt x="928" y="903"/>
                    <a:pt x="928" y="878"/>
                  </a:cubicBezTo>
                  <a:cubicBezTo>
                    <a:pt x="928" y="50"/>
                    <a:pt x="928" y="50"/>
                    <a:pt x="928" y="50"/>
                  </a:cubicBezTo>
                  <a:cubicBezTo>
                    <a:pt x="928" y="26"/>
                    <a:pt x="903" y="0"/>
                    <a:pt x="887" y="0"/>
                  </a:cubicBezTo>
                  <a:close/>
                  <a:moveTo>
                    <a:pt x="887" y="0"/>
                  </a:moveTo>
                  <a:lnTo>
                    <a:pt x="887" y="0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</p:grpSp>
      <p:grpSp>
        <p:nvGrpSpPr>
          <p:cNvPr id="99" name="Group 587"/>
          <p:cNvGrpSpPr>
            <a:grpSpLocks/>
          </p:cNvGrpSpPr>
          <p:nvPr/>
        </p:nvGrpSpPr>
        <p:grpSpPr bwMode="auto">
          <a:xfrm>
            <a:off x="2847545" y="5057245"/>
            <a:ext cx="522416" cy="461865"/>
            <a:chOff x="1530350" y="5719762"/>
            <a:chExt cx="452438" cy="400050"/>
          </a:xfrm>
          <a:solidFill>
            <a:srgbClr val="FFFFFF"/>
          </a:solidFill>
        </p:grpSpPr>
        <p:sp>
          <p:nvSpPr>
            <p:cNvPr id="100" name="Freeform 533"/>
            <p:cNvSpPr>
              <a:spLocks noChangeArrowheads="1"/>
            </p:cNvSpPr>
            <p:nvPr/>
          </p:nvSpPr>
          <p:spPr bwMode="auto">
            <a:xfrm>
              <a:off x="1593850" y="5921374"/>
              <a:ext cx="42863" cy="39688"/>
            </a:xfrm>
            <a:custGeom>
              <a:avLst/>
              <a:gdLst>
                <a:gd name="T0" fmla="*/ 0 w 118"/>
                <a:gd name="T1" fmla="*/ 0 h 110"/>
                <a:gd name="T2" fmla="*/ 117 w 118"/>
                <a:gd name="T3" fmla="*/ 0 h 110"/>
                <a:gd name="T4" fmla="*/ 117 w 118"/>
                <a:gd name="T5" fmla="*/ 109 h 110"/>
                <a:gd name="T6" fmla="*/ 0 w 118"/>
                <a:gd name="T7" fmla="*/ 109 h 110"/>
                <a:gd name="T8" fmla="*/ 0 w 118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110">
                  <a:moveTo>
                    <a:pt x="0" y="0"/>
                  </a:moveTo>
                  <a:lnTo>
                    <a:pt x="117" y="0"/>
                  </a:lnTo>
                  <a:lnTo>
                    <a:pt x="117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01" name="Freeform 534"/>
            <p:cNvSpPr>
              <a:spLocks noChangeArrowheads="1"/>
            </p:cNvSpPr>
            <p:nvPr/>
          </p:nvSpPr>
          <p:spPr bwMode="auto">
            <a:xfrm>
              <a:off x="1593850" y="5984874"/>
              <a:ext cx="42863" cy="39688"/>
            </a:xfrm>
            <a:custGeom>
              <a:avLst/>
              <a:gdLst>
                <a:gd name="T0" fmla="*/ 0 w 118"/>
                <a:gd name="T1" fmla="*/ 0 h 110"/>
                <a:gd name="T2" fmla="*/ 117 w 118"/>
                <a:gd name="T3" fmla="*/ 0 h 110"/>
                <a:gd name="T4" fmla="*/ 117 w 118"/>
                <a:gd name="T5" fmla="*/ 109 h 110"/>
                <a:gd name="T6" fmla="*/ 0 w 118"/>
                <a:gd name="T7" fmla="*/ 109 h 110"/>
                <a:gd name="T8" fmla="*/ 0 w 118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110">
                  <a:moveTo>
                    <a:pt x="0" y="0"/>
                  </a:moveTo>
                  <a:lnTo>
                    <a:pt x="117" y="0"/>
                  </a:lnTo>
                  <a:lnTo>
                    <a:pt x="117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02" name="Freeform 535"/>
            <p:cNvSpPr>
              <a:spLocks noChangeArrowheads="1"/>
            </p:cNvSpPr>
            <p:nvPr/>
          </p:nvSpPr>
          <p:spPr bwMode="auto">
            <a:xfrm>
              <a:off x="1663700" y="5857874"/>
              <a:ext cx="39688" cy="39688"/>
            </a:xfrm>
            <a:custGeom>
              <a:avLst/>
              <a:gdLst>
                <a:gd name="T0" fmla="*/ 0 w 110"/>
                <a:gd name="T1" fmla="*/ 0 h 110"/>
                <a:gd name="T2" fmla="*/ 109 w 110"/>
                <a:gd name="T3" fmla="*/ 0 h 110"/>
                <a:gd name="T4" fmla="*/ 109 w 110"/>
                <a:gd name="T5" fmla="*/ 109 h 110"/>
                <a:gd name="T6" fmla="*/ 0 w 110"/>
                <a:gd name="T7" fmla="*/ 109 h 110"/>
                <a:gd name="T8" fmla="*/ 0 w 110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110">
                  <a:moveTo>
                    <a:pt x="0" y="0"/>
                  </a:moveTo>
                  <a:lnTo>
                    <a:pt x="109" y="0"/>
                  </a:lnTo>
                  <a:lnTo>
                    <a:pt x="109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03" name="Freeform 536"/>
            <p:cNvSpPr>
              <a:spLocks noChangeArrowheads="1"/>
            </p:cNvSpPr>
            <p:nvPr/>
          </p:nvSpPr>
          <p:spPr bwMode="auto">
            <a:xfrm>
              <a:off x="1663700" y="5921374"/>
              <a:ext cx="39688" cy="39688"/>
            </a:xfrm>
            <a:custGeom>
              <a:avLst/>
              <a:gdLst>
                <a:gd name="T0" fmla="*/ 0 w 110"/>
                <a:gd name="T1" fmla="*/ 0 h 110"/>
                <a:gd name="T2" fmla="*/ 109 w 110"/>
                <a:gd name="T3" fmla="*/ 0 h 110"/>
                <a:gd name="T4" fmla="*/ 109 w 110"/>
                <a:gd name="T5" fmla="*/ 109 h 110"/>
                <a:gd name="T6" fmla="*/ 0 w 110"/>
                <a:gd name="T7" fmla="*/ 109 h 110"/>
                <a:gd name="T8" fmla="*/ 0 w 110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110">
                  <a:moveTo>
                    <a:pt x="0" y="0"/>
                  </a:moveTo>
                  <a:lnTo>
                    <a:pt x="109" y="0"/>
                  </a:lnTo>
                  <a:lnTo>
                    <a:pt x="109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04" name="Freeform 537"/>
            <p:cNvSpPr>
              <a:spLocks noChangeArrowheads="1"/>
            </p:cNvSpPr>
            <p:nvPr/>
          </p:nvSpPr>
          <p:spPr bwMode="auto">
            <a:xfrm>
              <a:off x="1663700" y="5984874"/>
              <a:ext cx="39688" cy="39688"/>
            </a:xfrm>
            <a:custGeom>
              <a:avLst/>
              <a:gdLst>
                <a:gd name="T0" fmla="*/ 0 w 110"/>
                <a:gd name="T1" fmla="*/ 0 h 110"/>
                <a:gd name="T2" fmla="*/ 109 w 110"/>
                <a:gd name="T3" fmla="*/ 0 h 110"/>
                <a:gd name="T4" fmla="*/ 109 w 110"/>
                <a:gd name="T5" fmla="*/ 109 h 110"/>
                <a:gd name="T6" fmla="*/ 0 w 110"/>
                <a:gd name="T7" fmla="*/ 109 h 110"/>
                <a:gd name="T8" fmla="*/ 0 w 110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110">
                  <a:moveTo>
                    <a:pt x="0" y="0"/>
                  </a:moveTo>
                  <a:lnTo>
                    <a:pt x="109" y="0"/>
                  </a:lnTo>
                  <a:lnTo>
                    <a:pt x="109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05" name="Freeform 538"/>
            <p:cNvSpPr>
              <a:spLocks noChangeArrowheads="1"/>
            </p:cNvSpPr>
            <p:nvPr/>
          </p:nvSpPr>
          <p:spPr bwMode="auto">
            <a:xfrm>
              <a:off x="1530350" y="5719762"/>
              <a:ext cx="452438" cy="400050"/>
            </a:xfrm>
            <a:custGeom>
              <a:avLst/>
              <a:gdLst>
                <a:gd name="T0" fmla="*/ 1029 w 1255"/>
                <a:gd name="T1" fmla="*/ 75 h 1113"/>
                <a:gd name="T2" fmla="*/ 75 w 1255"/>
                <a:gd name="T3" fmla="*/ 0 h 1113"/>
                <a:gd name="T4" fmla="*/ 0 w 1255"/>
                <a:gd name="T5" fmla="*/ 953 h 1113"/>
                <a:gd name="T6" fmla="*/ 644 w 1255"/>
                <a:gd name="T7" fmla="*/ 1029 h 1113"/>
                <a:gd name="T8" fmla="*/ 1254 w 1255"/>
                <a:gd name="T9" fmla="*/ 736 h 1113"/>
                <a:gd name="T10" fmla="*/ 335 w 1255"/>
                <a:gd name="T11" fmla="*/ 75 h 1113"/>
                <a:gd name="T12" fmla="*/ 694 w 1255"/>
                <a:gd name="T13" fmla="*/ 167 h 1113"/>
                <a:gd name="T14" fmla="*/ 335 w 1255"/>
                <a:gd name="T15" fmla="*/ 75 h 1113"/>
                <a:gd name="T16" fmla="*/ 937 w 1255"/>
                <a:gd name="T17" fmla="*/ 251 h 1113"/>
                <a:gd name="T18" fmla="*/ 878 w 1255"/>
                <a:gd name="T19" fmla="*/ 368 h 1113"/>
                <a:gd name="T20" fmla="*/ 661 w 1255"/>
                <a:gd name="T21" fmla="*/ 385 h 1113"/>
                <a:gd name="T22" fmla="*/ 552 w 1255"/>
                <a:gd name="T23" fmla="*/ 494 h 1113"/>
                <a:gd name="T24" fmla="*/ 510 w 1255"/>
                <a:gd name="T25" fmla="*/ 736 h 1113"/>
                <a:gd name="T26" fmla="*/ 92 w 1255"/>
                <a:gd name="T27" fmla="*/ 920 h 1113"/>
                <a:gd name="T28" fmla="*/ 845 w 1255"/>
                <a:gd name="T29" fmla="*/ 435 h 1113"/>
                <a:gd name="T30" fmla="*/ 911 w 1255"/>
                <a:gd name="T31" fmla="*/ 435 h 1113"/>
                <a:gd name="T32" fmla="*/ 845 w 1255"/>
                <a:gd name="T33" fmla="*/ 435 h 1113"/>
                <a:gd name="T34" fmla="*/ 577 w 1255"/>
                <a:gd name="T35" fmla="*/ 769 h 1113"/>
                <a:gd name="T36" fmla="*/ 577 w 1255"/>
                <a:gd name="T37" fmla="*/ 703 h 1113"/>
                <a:gd name="T38" fmla="*/ 878 w 1255"/>
                <a:gd name="T39" fmla="*/ 1079 h 1113"/>
                <a:gd name="T40" fmla="*/ 878 w 1255"/>
                <a:gd name="T41" fmla="*/ 1004 h 1113"/>
                <a:gd name="T42" fmla="*/ 878 w 1255"/>
                <a:gd name="T43" fmla="*/ 1079 h 1113"/>
                <a:gd name="T44" fmla="*/ 945 w 1255"/>
                <a:gd name="T45" fmla="*/ 728 h 1113"/>
                <a:gd name="T46" fmla="*/ 878 w 1255"/>
                <a:gd name="T47" fmla="*/ 803 h 1113"/>
                <a:gd name="T48" fmla="*/ 661 w 1255"/>
                <a:gd name="T49" fmla="*/ 627 h 1113"/>
                <a:gd name="T50" fmla="*/ 694 w 1255"/>
                <a:gd name="T51" fmla="*/ 585 h 1113"/>
                <a:gd name="T52" fmla="*/ 878 w 1255"/>
                <a:gd name="T53" fmla="*/ 669 h 1113"/>
                <a:gd name="T54" fmla="*/ 1045 w 1255"/>
                <a:gd name="T55" fmla="*/ 544 h 1113"/>
                <a:gd name="T56" fmla="*/ 1087 w 1255"/>
                <a:gd name="T57" fmla="*/ 585 h 1113"/>
                <a:gd name="T58" fmla="*/ 1146 w 1255"/>
                <a:gd name="T59" fmla="*/ 736 h 1113"/>
                <a:gd name="T60" fmla="*/ 1221 w 1255"/>
                <a:gd name="T61" fmla="*/ 736 h 1113"/>
                <a:gd name="T62" fmla="*/ 1179 w 1255"/>
                <a:gd name="T63" fmla="*/ 769 h 1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55" h="1113">
                  <a:moveTo>
                    <a:pt x="1029" y="402"/>
                  </a:moveTo>
                  <a:cubicBezTo>
                    <a:pt x="1029" y="75"/>
                    <a:pt x="1029" y="75"/>
                    <a:pt x="1029" y="75"/>
                  </a:cubicBezTo>
                  <a:cubicBezTo>
                    <a:pt x="1029" y="34"/>
                    <a:pt x="995" y="0"/>
                    <a:pt x="953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34" y="0"/>
                    <a:pt x="0" y="34"/>
                    <a:pt x="0" y="75"/>
                  </a:cubicBezTo>
                  <a:cubicBezTo>
                    <a:pt x="0" y="953"/>
                    <a:pt x="0" y="953"/>
                    <a:pt x="0" y="953"/>
                  </a:cubicBezTo>
                  <a:cubicBezTo>
                    <a:pt x="0" y="995"/>
                    <a:pt x="34" y="1029"/>
                    <a:pt x="75" y="1029"/>
                  </a:cubicBezTo>
                  <a:cubicBezTo>
                    <a:pt x="644" y="1029"/>
                    <a:pt x="644" y="1029"/>
                    <a:pt x="644" y="1029"/>
                  </a:cubicBezTo>
                  <a:cubicBezTo>
                    <a:pt x="711" y="1079"/>
                    <a:pt x="795" y="1112"/>
                    <a:pt x="878" y="1112"/>
                  </a:cubicBezTo>
                  <a:cubicBezTo>
                    <a:pt x="1087" y="1112"/>
                    <a:pt x="1254" y="945"/>
                    <a:pt x="1254" y="736"/>
                  </a:cubicBezTo>
                  <a:cubicBezTo>
                    <a:pt x="1254" y="585"/>
                    <a:pt x="1162" y="460"/>
                    <a:pt x="1029" y="402"/>
                  </a:cubicBezTo>
                  <a:close/>
                  <a:moveTo>
                    <a:pt x="335" y="75"/>
                  </a:moveTo>
                  <a:cubicBezTo>
                    <a:pt x="694" y="75"/>
                    <a:pt x="694" y="75"/>
                    <a:pt x="694" y="75"/>
                  </a:cubicBezTo>
                  <a:cubicBezTo>
                    <a:pt x="694" y="167"/>
                    <a:pt x="694" y="167"/>
                    <a:pt x="694" y="167"/>
                  </a:cubicBezTo>
                  <a:cubicBezTo>
                    <a:pt x="335" y="167"/>
                    <a:pt x="335" y="167"/>
                    <a:pt x="335" y="167"/>
                  </a:cubicBezTo>
                  <a:lnTo>
                    <a:pt x="335" y="75"/>
                  </a:lnTo>
                  <a:close/>
                  <a:moveTo>
                    <a:pt x="92" y="251"/>
                  </a:moveTo>
                  <a:cubicBezTo>
                    <a:pt x="937" y="251"/>
                    <a:pt x="937" y="251"/>
                    <a:pt x="937" y="251"/>
                  </a:cubicBezTo>
                  <a:cubicBezTo>
                    <a:pt x="937" y="368"/>
                    <a:pt x="937" y="368"/>
                    <a:pt x="937" y="368"/>
                  </a:cubicBezTo>
                  <a:cubicBezTo>
                    <a:pt x="920" y="368"/>
                    <a:pt x="895" y="368"/>
                    <a:pt x="878" y="368"/>
                  </a:cubicBezTo>
                  <a:cubicBezTo>
                    <a:pt x="795" y="368"/>
                    <a:pt x="719" y="393"/>
                    <a:pt x="661" y="435"/>
                  </a:cubicBezTo>
                  <a:cubicBezTo>
                    <a:pt x="661" y="385"/>
                    <a:pt x="661" y="385"/>
                    <a:pt x="661" y="385"/>
                  </a:cubicBezTo>
                  <a:cubicBezTo>
                    <a:pt x="552" y="385"/>
                    <a:pt x="552" y="385"/>
                    <a:pt x="552" y="385"/>
                  </a:cubicBezTo>
                  <a:cubicBezTo>
                    <a:pt x="552" y="494"/>
                    <a:pt x="552" y="494"/>
                    <a:pt x="552" y="494"/>
                  </a:cubicBezTo>
                  <a:cubicBezTo>
                    <a:pt x="602" y="494"/>
                    <a:pt x="602" y="494"/>
                    <a:pt x="602" y="494"/>
                  </a:cubicBezTo>
                  <a:cubicBezTo>
                    <a:pt x="544" y="560"/>
                    <a:pt x="510" y="644"/>
                    <a:pt x="510" y="736"/>
                  </a:cubicBezTo>
                  <a:cubicBezTo>
                    <a:pt x="510" y="803"/>
                    <a:pt x="527" y="870"/>
                    <a:pt x="560" y="920"/>
                  </a:cubicBezTo>
                  <a:cubicBezTo>
                    <a:pt x="92" y="920"/>
                    <a:pt x="92" y="920"/>
                    <a:pt x="92" y="920"/>
                  </a:cubicBezTo>
                  <a:lnTo>
                    <a:pt x="92" y="251"/>
                  </a:lnTo>
                  <a:close/>
                  <a:moveTo>
                    <a:pt x="845" y="435"/>
                  </a:moveTo>
                  <a:cubicBezTo>
                    <a:pt x="845" y="418"/>
                    <a:pt x="861" y="402"/>
                    <a:pt x="878" y="402"/>
                  </a:cubicBezTo>
                  <a:cubicBezTo>
                    <a:pt x="895" y="402"/>
                    <a:pt x="911" y="418"/>
                    <a:pt x="911" y="435"/>
                  </a:cubicBezTo>
                  <a:cubicBezTo>
                    <a:pt x="911" y="452"/>
                    <a:pt x="895" y="468"/>
                    <a:pt x="878" y="468"/>
                  </a:cubicBezTo>
                  <a:cubicBezTo>
                    <a:pt x="861" y="468"/>
                    <a:pt x="845" y="452"/>
                    <a:pt x="845" y="435"/>
                  </a:cubicBezTo>
                  <a:close/>
                  <a:moveTo>
                    <a:pt x="610" y="736"/>
                  </a:moveTo>
                  <a:cubicBezTo>
                    <a:pt x="610" y="761"/>
                    <a:pt x="594" y="769"/>
                    <a:pt x="577" y="769"/>
                  </a:cubicBezTo>
                  <a:cubicBezTo>
                    <a:pt x="560" y="769"/>
                    <a:pt x="544" y="761"/>
                    <a:pt x="544" y="736"/>
                  </a:cubicBezTo>
                  <a:cubicBezTo>
                    <a:pt x="544" y="719"/>
                    <a:pt x="560" y="703"/>
                    <a:pt x="577" y="703"/>
                  </a:cubicBezTo>
                  <a:cubicBezTo>
                    <a:pt x="594" y="703"/>
                    <a:pt x="610" y="719"/>
                    <a:pt x="610" y="736"/>
                  </a:cubicBezTo>
                  <a:close/>
                  <a:moveTo>
                    <a:pt x="878" y="1079"/>
                  </a:moveTo>
                  <a:cubicBezTo>
                    <a:pt x="861" y="1079"/>
                    <a:pt x="845" y="1062"/>
                    <a:pt x="845" y="1045"/>
                  </a:cubicBezTo>
                  <a:cubicBezTo>
                    <a:pt x="845" y="1020"/>
                    <a:pt x="861" y="1004"/>
                    <a:pt x="878" y="1004"/>
                  </a:cubicBezTo>
                  <a:cubicBezTo>
                    <a:pt x="895" y="1004"/>
                    <a:pt x="911" y="1020"/>
                    <a:pt x="911" y="1045"/>
                  </a:cubicBezTo>
                  <a:cubicBezTo>
                    <a:pt x="911" y="1062"/>
                    <a:pt x="895" y="1079"/>
                    <a:pt x="878" y="1079"/>
                  </a:cubicBezTo>
                  <a:close/>
                  <a:moveTo>
                    <a:pt x="1087" y="585"/>
                  </a:moveTo>
                  <a:cubicBezTo>
                    <a:pt x="945" y="728"/>
                    <a:pt x="945" y="728"/>
                    <a:pt x="945" y="728"/>
                  </a:cubicBezTo>
                  <a:lnTo>
                    <a:pt x="945" y="736"/>
                  </a:lnTo>
                  <a:cubicBezTo>
                    <a:pt x="945" y="778"/>
                    <a:pt x="920" y="803"/>
                    <a:pt x="878" y="803"/>
                  </a:cubicBezTo>
                  <a:cubicBezTo>
                    <a:pt x="845" y="803"/>
                    <a:pt x="811" y="778"/>
                    <a:pt x="811" y="744"/>
                  </a:cubicBezTo>
                  <a:cubicBezTo>
                    <a:pt x="661" y="627"/>
                    <a:pt x="661" y="627"/>
                    <a:pt x="661" y="627"/>
                  </a:cubicBezTo>
                  <a:cubicBezTo>
                    <a:pt x="652" y="619"/>
                    <a:pt x="644" y="594"/>
                    <a:pt x="652" y="585"/>
                  </a:cubicBezTo>
                  <a:cubicBezTo>
                    <a:pt x="661" y="577"/>
                    <a:pt x="686" y="569"/>
                    <a:pt x="694" y="585"/>
                  </a:cubicBezTo>
                  <a:cubicBezTo>
                    <a:pt x="836" y="686"/>
                    <a:pt x="836" y="686"/>
                    <a:pt x="836" y="686"/>
                  </a:cubicBezTo>
                  <a:cubicBezTo>
                    <a:pt x="845" y="677"/>
                    <a:pt x="861" y="669"/>
                    <a:pt x="878" y="669"/>
                  </a:cubicBezTo>
                  <a:cubicBezTo>
                    <a:pt x="895" y="669"/>
                    <a:pt x="903" y="677"/>
                    <a:pt x="911" y="677"/>
                  </a:cubicBezTo>
                  <a:cubicBezTo>
                    <a:pt x="1045" y="544"/>
                    <a:pt x="1045" y="544"/>
                    <a:pt x="1045" y="544"/>
                  </a:cubicBezTo>
                  <a:cubicBezTo>
                    <a:pt x="1062" y="535"/>
                    <a:pt x="1079" y="535"/>
                    <a:pt x="1087" y="544"/>
                  </a:cubicBezTo>
                  <a:cubicBezTo>
                    <a:pt x="1104" y="552"/>
                    <a:pt x="1096" y="569"/>
                    <a:pt x="1087" y="585"/>
                  </a:cubicBezTo>
                  <a:close/>
                  <a:moveTo>
                    <a:pt x="1179" y="769"/>
                  </a:moveTo>
                  <a:cubicBezTo>
                    <a:pt x="1162" y="769"/>
                    <a:pt x="1146" y="761"/>
                    <a:pt x="1146" y="736"/>
                  </a:cubicBezTo>
                  <a:cubicBezTo>
                    <a:pt x="1146" y="719"/>
                    <a:pt x="1162" y="703"/>
                    <a:pt x="1179" y="703"/>
                  </a:cubicBezTo>
                  <a:cubicBezTo>
                    <a:pt x="1204" y="703"/>
                    <a:pt x="1221" y="719"/>
                    <a:pt x="1221" y="736"/>
                  </a:cubicBezTo>
                  <a:cubicBezTo>
                    <a:pt x="1221" y="761"/>
                    <a:pt x="1204" y="769"/>
                    <a:pt x="1179" y="769"/>
                  </a:cubicBezTo>
                  <a:close/>
                  <a:moveTo>
                    <a:pt x="1179" y="769"/>
                  </a:moveTo>
                  <a:lnTo>
                    <a:pt x="1179" y="769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</p:grpSp>
      <p:cxnSp>
        <p:nvCxnSpPr>
          <p:cNvPr id="8" name="直接连接符 7"/>
          <p:cNvCxnSpPr>
            <a:stCxn id="4" idx="0"/>
          </p:cNvCxnSpPr>
          <p:nvPr/>
        </p:nvCxnSpPr>
        <p:spPr>
          <a:xfrm flipV="1">
            <a:off x="3765550" y="1824105"/>
            <a:ext cx="908050" cy="635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V="1">
            <a:off x="3765550" y="2951230"/>
            <a:ext cx="908050" cy="635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 flipV="1">
            <a:off x="3765550" y="4084705"/>
            <a:ext cx="908050" cy="4763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 flipV="1">
            <a:off x="3765550" y="5211830"/>
            <a:ext cx="908050" cy="635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/>
          <p:cNvSpPr/>
          <p:nvPr/>
        </p:nvSpPr>
        <p:spPr>
          <a:xfrm>
            <a:off x="4570413" y="1771718"/>
            <a:ext cx="106362" cy="10477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4570413" y="2886143"/>
            <a:ext cx="106362" cy="10636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4570413" y="4030730"/>
            <a:ext cx="106362" cy="106363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4570413" y="5146743"/>
            <a:ext cx="106362" cy="10636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53" name="文本框 52"/>
          <p:cNvSpPr txBox="1">
            <a:spLocks noChangeArrowheads="1"/>
          </p:cNvSpPr>
          <p:nvPr/>
        </p:nvSpPr>
        <p:spPr bwMode="auto">
          <a:xfrm>
            <a:off x="4673601" y="2585589"/>
            <a:ext cx="16466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有效性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4673600" y="3051899"/>
            <a:ext cx="56724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改善资源利用率，提高系统吞吐量</a:t>
            </a:r>
          </a:p>
        </p:txBody>
      </p:sp>
      <p:sp>
        <p:nvSpPr>
          <p:cNvPr id="55" name="文本框 54"/>
          <p:cNvSpPr txBox="1">
            <a:spLocks noChangeArrowheads="1"/>
          </p:cNvSpPr>
          <p:nvPr/>
        </p:nvSpPr>
        <p:spPr bwMode="auto">
          <a:xfrm>
            <a:off x="4673601" y="1476443"/>
            <a:ext cx="16443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方便性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4673600" y="1956005"/>
            <a:ext cx="56702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使计算机系统使用起来更方便</a:t>
            </a:r>
          </a:p>
        </p:txBody>
      </p:sp>
      <p:sp>
        <p:nvSpPr>
          <p:cNvPr id="57" name="文本框 56"/>
          <p:cNvSpPr txBox="1">
            <a:spLocks noChangeArrowheads="1"/>
          </p:cNvSpPr>
          <p:nvPr/>
        </p:nvSpPr>
        <p:spPr bwMode="auto">
          <a:xfrm>
            <a:off x="4645002" y="3802063"/>
            <a:ext cx="19567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可扩充性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4673600" y="4268373"/>
            <a:ext cx="56975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能够不断适应发展的要求</a:t>
            </a:r>
          </a:p>
        </p:txBody>
      </p:sp>
      <p:sp>
        <p:nvSpPr>
          <p:cNvPr id="59" name="文本框 58"/>
          <p:cNvSpPr txBox="1">
            <a:spLocks noChangeArrowheads="1"/>
          </p:cNvSpPr>
          <p:nvPr/>
        </p:nvSpPr>
        <p:spPr bwMode="auto">
          <a:xfrm>
            <a:off x="4673404" y="4951413"/>
            <a:ext cx="16718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开放性</a:t>
            </a:r>
          </a:p>
        </p:txBody>
      </p:sp>
      <p:sp>
        <p:nvSpPr>
          <p:cNvPr id="60" name="文本框 59"/>
          <p:cNvSpPr txBox="1"/>
          <p:nvPr/>
        </p:nvSpPr>
        <p:spPr>
          <a:xfrm>
            <a:off x="4673403" y="5444227"/>
            <a:ext cx="665720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使来自不同厂家的计算机和设备能够有效地协同工作，实现应用的可移植性和互操作性</a:t>
            </a:r>
          </a:p>
        </p:txBody>
      </p:sp>
      <p:sp>
        <p:nvSpPr>
          <p:cNvPr id="62" name="矩形 61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77" name="组合 76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78" name="矩形 77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79" name="椭圆 78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80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26164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操作系统的目标</a:t>
            </a:r>
          </a:p>
        </p:txBody>
      </p:sp>
      <p:sp>
        <p:nvSpPr>
          <p:cNvPr id="63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5034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" name="组合 27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9" name="矩形 28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31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26164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操作系统的作用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3" cstate="print"/>
          <a:srcRect t="49695"/>
          <a:stretch/>
        </p:blipFill>
        <p:spPr>
          <a:xfrm>
            <a:off x="2060492" y="854779"/>
            <a:ext cx="8035224" cy="1797169"/>
          </a:xfrm>
          <a:prstGeom prst="rect">
            <a:avLst/>
          </a:prstGeom>
        </p:spPr>
      </p:pic>
      <p:sp>
        <p:nvSpPr>
          <p:cNvPr id="24" name="椭圆 23"/>
          <p:cNvSpPr/>
          <p:nvPr/>
        </p:nvSpPr>
        <p:spPr>
          <a:xfrm>
            <a:off x="2172041" y="1097896"/>
            <a:ext cx="1367744" cy="1367744"/>
          </a:xfrm>
          <a:prstGeom prst="ellipse">
            <a:avLst/>
          </a:prstGeom>
          <a:gradFill flip="none" rotWithShape="1">
            <a:gsLst>
              <a:gs pos="0">
                <a:srgbClr val="EF8592"/>
              </a:gs>
              <a:gs pos="100000">
                <a:srgbClr val="E53B51"/>
              </a:gs>
            </a:gsLst>
            <a:lin ang="13500000" scaled="1"/>
            <a:tileRect/>
          </a:gradFill>
          <a:ln w="44450">
            <a:gradFill flip="none" rotWithShape="1">
              <a:gsLst>
                <a:gs pos="0">
                  <a:srgbClr val="EF8592"/>
                </a:gs>
                <a:gs pos="100000">
                  <a:srgbClr val="E53B51"/>
                </a:gs>
              </a:gsLst>
              <a:lin ang="2700000" scaled="1"/>
              <a:tileRect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5393872" y="1959794"/>
            <a:ext cx="1367744" cy="1367744"/>
          </a:xfrm>
          <a:prstGeom prst="ellipse">
            <a:avLst/>
          </a:prstGeom>
          <a:gradFill flip="none" rotWithShape="1">
            <a:gsLst>
              <a:gs pos="100000">
                <a:srgbClr val="FCD920"/>
              </a:gs>
              <a:gs pos="0">
                <a:srgbClr val="FDE673"/>
              </a:gs>
            </a:gsLst>
            <a:lin ang="13500000" scaled="1"/>
            <a:tileRect/>
          </a:gradFill>
          <a:ln w="44450">
            <a:gradFill flip="none" rotWithShape="1">
              <a:gsLst>
                <a:gs pos="0">
                  <a:srgbClr val="FDE673"/>
                </a:gs>
                <a:gs pos="100000">
                  <a:srgbClr val="FCD920"/>
                </a:gs>
              </a:gsLst>
              <a:lin ang="2700000" scaled="1"/>
              <a:tileRect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8615703" y="1097896"/>
            <a:ext cx="1367744" cy="1367744"/>
          </a:xfrm>
          <a:prstGeom prst="ellipse">
            <a:avLst/>
          </a:prstGeom>
          <a:gradFill flip="none" rotWithShape="1">
            <a:gsLst>
              <a:gs pos="0">
                <a:srgbClr val="97DFDD"/>
              </a:gs>
              <a:gs pos="100000">
                <a:srgbClr val="3CB5B5"/>
              </a:gs>
            </a:gsLst>
            <a:lin ang="13500000" scaled="1"/>
            <a:tileRect/>
          </a:gradFill>
          <a:ln w="44450">
            <a:gradFill flip="none" rotWithShape="1">
              <a:gsLst>
                <a:gs pos="0">
                  <a:srgbClr val="97DFDD"/>
                </a:gs>
                <a:gs pos="100000">
                  <a:srgbClr val="3CB5B5"/>
                </a:gs>
              </a:gsLst>
              <a:lin ang="2700000" scaled="1"/>
              <a:tileRect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27"/>
          <p:cNvSpPr txBox="1"/>
          <p:nvPr/>
        </p:nvSpPr>
        <p:spPr>
          <a:xfrm>
            <a:off x="552152" y="2052382"/>
            <a:ext cx="3273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用户观点</a:t>
            </a:r>
          </a:p>
        </p:txBody>
      </p:sp>
      <p:sp>
        <p:nvSpPr>
          <p:cNvPr id="34" name="文本框 28"/>
          <p:cNvSpPr txBox="1"/>
          <p:nvPr/>
        </p:nvSpPr>
        <p:spPr>
          <a:xfrm>
            <a:off x="8370102" y="2654830"/>
            <a:ext cx="3273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虚拟机观点</a:t>
            </a:r>
          </a:p>
        </p:txBody>
      </p:sp>
      <p:sp>
        <p:nvSpPr>
          <p:cNvPr id="35" name="文本框 29"/>
          <p:cNvSpPr txBox="1"/>
          <p:nvPr/>
        </p:nvSpPr>
        <p:spPr>
          <a:xfrm>
            <a:off x="4440979" y="3595593"/>
            <a:ext cx="3273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资源管理的观点</a:t>
            </a:r>
          </a:p>
        </p:txBody>
      </p:sp>
      <p:sp>
        <p:nvSpPr>
          <p:cNvPr id="36" name="文本框 30"/>
          <p:cNvSpPr txBox="1"/>
          <p:nvPr/>
        </p:nvSpPr>
        <p:spPr>
          <a:xfrm>
            <a:off x="500814" y="2489591"/>
            <a:ext cx="3049210" cy="201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是用户与计算机硬件系统之间的接口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操作系统提供如下接口。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30000"/>
              </a:lnSpc>
              <a:buBlip>
                <a:blip r:embed="rId4"/>
              </a:buBlip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命令方式（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30000"/>
              </a:lnSpc>
              <a:buBlip>
                <a:blip r:embed="rId4"/>
              </a:buBlip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系统调用方式（简称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30000"/>
              </a:lnSpc>
              <a:buBlip>
                <a:blip r:embed="rId4"/>
              </a:buBlip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图标窗口方式（</a:t>
            </a:r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GUI，图形用户接口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37" name="文本框 31"/>
          <p:cNvSpPr txBox="1"/>
          <p:nvPr/>
        </p:nvSpPr>
        <p:spPr>
          <a:xfrm>
            <a:off x="8370102" y="3145829"/>
            <a:ext cx="3273529" cy="701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实现了对计算机资源的抽象，隐藏了对硬件操作的细节。</a:t>
            </a:r>
          </a:p>
        </p:txBody>
      </p:sp>
      <p:sp>
        <p:nvSpPr>
          <p:cNvPr id="38" name="文本框 32"/>
          <p:cNvSpPr txBox="1"/>
          <p:nvPr/>
        </p:nvSpPr>
        <p:spPr>
          <a:xfrm>
            <a:off x="4415310" y="4103693"/>
            <a:ext cx="3728229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是计算机系统资源的管理者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，它负责分配、回收以及控制系统中的各种软硬件资源。</a:t>
            </a:r>
            <a:endParaRPr lang="en-US" altLang="zh-CN" sz="1600" dirty="0" err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buBlip>
                <a:blip r:embed="rId4"/>
              </a:buBlip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硬件资源：处理器、存储器、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buBlip>
                <a:blip r:embed="rId4"/>
              </a:buBlip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信息资源：程序和数据</a:t>
            </a:r>
          </a:p>
          <a:p>
            <a:pPr>
              <a:lnSpc>
                <a:spcPct val="120000"/>
              </a:lnSpc>
            </a:pPr>
            <a:endParaRPr lang="en-US" altLang="zh-CN" sz="1600" dirty="0" err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3"/>
          <p:cNvSpPr txBox="1"/>
          <p:nvPr/>
        </p:nvSpPr>
        <p:spPr>
          <a:xfrm>
            <a:off x="2588623" y="1308693"/>
            <a:ext cx="5345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>
                <a:solidFill>
                  <a:schemeClr val="bg1"/>
                </a:solidFill>
                <a:latin typeface="汉真广标" panose="02010609000101010101" pitchFamily="49" charset="-122"/>
                <a:ea typeface="汉真广标" panose="02010609000101010101" pitchFamily="49" charset="-122"/>
              </a:rPr>
              <a:t>1</a:t>
            </a:r>
            <a:endParaRPr lang="zh-CN" altLang="en-US" dirty="0">
              <a:solidFill>
                <a:schemeClr val="bg1"/>
              </a:solidFill>
              <a:latin typeface="汉真广标" panose="02010609000101010101" pitchFamily="49" charset="-122"/>
              <a:ea typeface="汉真广标" panose="02010609000101010101" pitchFamily="49" charset="-122"/>
            </a:endParaRPr>
          </a:p>
        </p:txBody>
      </p:sp>
      <p:sp>
        <p:nvSpPr>
          <p:cNvPr id="40" name="文本框 34"/>
          <p:cNvSpPr txBox="1"/>
          <p:nvPr/>
        </p:nvSpPr>
        <p:spPr>
          <a:xfrm>
            <a:off x="5785169" y="2135835"/>
            <a:ext cx="5345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>
                <a:solidFill>
                  <a:schemeClr val="bg1"/>
                </a:solidFill>
                <a:latin typeface="汉真广标" panose="02010609000101010101" pitchFamily="49" charset="-122"/>
                <a:ea typeface="汉真广标" panose="02010609000101010101" pitchFamily="49" charset="-122"/>
              </a:rPr>
              <a:t>2</a:t>
            </a:r>
            <a:endParaRPr lang="zh-CN" altLang="en-US" dirty="0">
              <a:solidFill>
                <a:schemeClr val="bg1"/>
              </a:solidFill>
              <a:latin typeface="汉真广标" panose="02010609000101010101" pitchFamily="49" charset="-122"/>
              <a:ea typeface="汉真广标" panose="02010609000101010101" pitchFamily="49" charset="-122"/>
            </a:endParaRPr>
          </a:p>
        </p:txBody>
      </p:sp>
      <p:sp>
        <p:nvSpPr>
          <p:cNvPr id="41" name="文本框 35"/>
          <p:cNvSpPr txBox="1"/>
          <p:nvPr/>
        </p:nvSpPr>
        <p:spPr>
          <a:xfrm>
            <a:off x="9032285" y="1282662"/>
            <a:ext cx="5345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>
                <a:solidFill>
                  <a:schemeClr val="bg1"/>
                </a:solidFill>
                <a:latin typeface="汉真广标" panose="02010609000101010101" pitchFamily="49" charset="-122"/>
                <a:ea typeface="汉真广标" panose="02010609000101010101" pitchFamily="49" charset="-122"/>
              </a:rPr>
              <a:t>3</a:t>
            </a:r>
            <a:endParaRPr lang="zh-CN" altLang="en-US" dirty="0">
              <a:solidFill>
                <a:schemeClr val="bg1"/>
              </a:solidFill>
              <a:latin typeface="汉真广标" panose="02010609000101010101" pitchFamily="49" charset="-122"/>
              <a:ea typeface="汉真广标" panose="02010609000101010101" pitchFamily="49" charset="-122"/>
            </a:endParaRPr>
          </a:p>
        </p:txBody>
      </p:sp>
      <p:sp>
        <p:nvSpPr>
          <p:cNvPr id="42" name="椭圆 41"/>
          <p:cNvSpPr/>
          <p:nvPr/>
        </p:nvSpPr>
        <p:spPr>
          <a:xfrm>
            <a:off x="1315004" y="1887677"/>
            <a:ext cx="1835277" cy="217363"/>
          </a:xfrm>
          <a:prstGeom prst="ellipse">
            <a:avLst/>
          </a:prstGeom>
          <a:gradFill flip="none" rotWithShape="1">
            <a:gsLst>
              <a:gs pos="100000">
                <a:schemeClr val="tx1">
                  <a:alpha val="0"/>
                </a:schemeClr>
              </a:gs>
              <a:gs pos="0">
                <a:schemeClr val="tx1">
                  <a:alpha val="2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椭圆 42"/>
          <p:cNvSpPr/>
          <p:nvPr/>
        </p:nvSpPr>
        <p:spPr>
          <a:xfrm>
            <a:off x="8481373" y="2504679"/>
            <a:ext cx="1835277" cy="217363"/>
          </a:xfrm>
          <a:prstGeom prst="ellipse">
            <a:avLst/>
          </a:prstGeom>
          <a:gradFill flip="none" rotWithShape="1">
            <a:gsLst>
              <a:gs pos="100000">
                <a:schemeClr val="tx1">
                  <a:alpha val="0"/>
                </a:schemeClr>
              </a:gs>
              <a:gs pos="0">
                <a:schemeClr val="tx1">
                  <a:alpha val="2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椭圆 43"/>
          <p:cNvSpPr/>
          <p:nvPr/>
        </p:nvSpPr>
        <p:spPr>
          <a:xfrm>
            <a:off x="5178361" y="3350801"/>
            <a:ext cx="1835277" cy="217363"/>
          </a:xfrm>
          <a:prstGeom prst="ellipse">
            <a:avLst/>
          </a:prstGeom>
          <a:gradFill flip="none" rotWithShape="1">
            <a:gsLst>
              <a:gs pos="100000">
                <a:schemeClr val="tx1">
                  <a:alpha val="0"/>
                </a:schemeClr>
              </a:gs>
              <a:gs pos="0">
                <a:schemeClr val="tx1">
                  <a:alpha val="2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组合 49"/>
          <p:cNvGrpSpPr/>
          <p:nvPr/>
        </p:nvGrpSpPr>
        <p:grpSpPr>
          <a:xfrm>
            <a:off x="5011475" y="354999"/>
            <a:ext cx="2769889" cy="1846505"/>
            <a:chOff x="4538139" y="4668815"/>
            <a:chExt cx="2769889" cy="1846505"/>
          </a:xfrm>
        </p:grpSpPr>
        <p:pic>
          <p:nvPicPr>
            <p:cNvPr id="28" name="Picture 5" descr="3D_07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702289" y="4937759"/>
              <a:ext cx="956396" cy="6924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5" name="Picture 6" descr="3D_26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846666" y="5604730"/>
              <a:ext cx="964249" cy="7131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6" name="Picture 7" descr="3D_25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6519134" y="4694247"/>
              <a:ext cx="788894" cy="4299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7" name="Picture 8" descr="191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4983898" y="4668815"/>
              <a:ext cx="616559" cy="3349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8" name="Picture 9" descr="074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4538139" y="5723065"/>
              <a:ext cx="901142" cy="7922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9" name="Picture 10" descr="144"/>
            <p:cNvPicPr>
              <a:picLocks noChangeAspect="1" noChangeArrowheads="1"/>
            </p:cNvPicPr>
            <p:nvPr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4558591" y="5002301"/>
              <a:ext cx="687293" cy="419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51" name="组合 50"/>
          <p:cNvGrpSpPr/>
          <p:nvPr/>
        </p:nvGrpSpPr>
        <p:grpSpPr>
          <a:xfrm>
            <a:off x="286554" y="4313819"/>
            <a:ext cx="4479084" cy="2055682"/>
            <a:chOff x="792163" y="3644900"/>
            <a:chExt cx="6948487" cy="2305050"/>
          </a:xfrm>
        </p:grpSpPr>
        <p:sp>
          <p:nvSpPr>
            <p:cNvPr id="52" name="Rectangle 5"/>
            <p:cNvSpPr>
              <a:spLocks noChangeArrowheads="1"/>
            </p:cNvSpPr>
            <p:nvPr/>
          </p:nvSpPr>
          <p:spPr bwMode="auto">
            <a:xfrm>
              <a:off x="2843213" y="3644900"/>
              <a:ext cx="3816350" cy="5762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zh-CN" altLang="en-US" sz="1400" dirty="0"/>
                <a:t>用户</a:t>
              </a:r>
            </a:p>
          </p:txBody>
        </p:sp>
        <p:sp>
          <p:nvSpPr>
            <p:cNvPr id="53" name="Rectangle 6"/>
            <p:cNvSpPr>
              <a:spLocks noChangeArrowheads="1"/>
            </p:cNvSpPr>
            <p:nvPr/>
          </p:nvSpPr>
          <p:spPr bwMode="auto">
            <a:xfrm>
              <a:off x="1619250" y="4221163"/>
              <a:ext cx="1944688" cy="576262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zh-CN" altLang="en-US" sz="1400" dirty="0"/>
                <a:t>应用程序</a:t>
              </a:r>
            </a:p>
          </p:txBody>
        </p:sp>
        <p:sp>
          <p:nvSpPr>
            <p:cNvPr id="54" name="Rectangle 7"/>
            <p:cNvSpPr>
              <a:spLocks noChangeArrowheads="1"/>
            </p:cNvSpPr>
            <p:nvPr/>
          </p:nvSpPr>
          <p:spPr bwMode="auto">
            <a:xfrm>
              <a:off x="1187450" y="4797425"/>
              <a:ext cx="6048375" cy="576263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zh-CN" altLang="en-US" sz="1400" dirty="0"/>
                <a:t>系统调用 命令 图标、窗口</a:t>
              </a:r>
            </a:p>
            <a:p>
              <a:r>
                <a:rPr lang="zh-CN" altLang="en-US" sz="1400" dirty="0"/>
                <a:t>操作系统</a:t>
              </a:r>
            </a:p>
          </p:txBody>
        </p:sp>
        <p:sp>
          <p:nvSpPr>
            <p:cNvPr id="55" name="Rectangle 8"/>
            <p:cNvSpPr>
              <a:spLocks noChangeArrowheads="1"/>
            </p:cNvSpPr>
            <p:nvPr/>
          </p:nvSpPr>
          <p:spPr bwMode="auto">
            <a:xfrm>
              <a:off x="792163" y="5373688"/>
              <a:ext cx="6948487" cy="576262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zh-CN" altLang="en-US" sz="1400" dirty="0"/>
                <a:t>计算机硬件</a:t>
              </a:r>
            </a:p>
          </p:txBody>
        </p:sp>
        <p:sp>
          <p:nvSpPr>
            <p:cNvPr id="56" name="Line 9"/>
            <p:cNvSpPr>
              <a:spLocks noChangeShapeType="1"/>
            </p:cNvSpPr>
            <p:nvPr/>
          </p:nvSpPr>
          <p:spPr bwMode="auto">
            <a:xfrm>
              <a:off x="4356100" y="4221163"/>
              <a:ext cx="0" cy="576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lg"/>
              <a:tailEnd type="triangle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10"/>
            <p:cNvSpPr>
              <a:spLocks noChangeShapeType="1"/>
            </p:cNvSpPr>
            <p:nvPr/>
          </p:nvSpPr>
          <p:spPr bwMode="auto">
            <a:xfrm>
              <a:off x="5508625" y="4221163"/>
              <a:ext cx="0" cy="576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lg"/>
              <a:tailEnd type="triangle" w="med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7" name="组合 86"/>
          <p:cNvGrpSpPr/>
          <p:nvPr/>
        </p:nvGrpSpPr>
        <p:grpSpPr>
          <a:xfrm>
            <a:off x="8007752" y="4249713"/>
            <a:ext cx="1223963" cy="2093651"/>
            <a:chOff x="8298218" y="4249713"/>
            <a:chExt cx="1223963" cy="2093651"/>
          </a:xfrm>
        </p:grpSpPr>
        <p:sp>
          <p:nvSpPr>
            <p:cNvPr id="58" name="Oval 5"/>
            <p:cNvSpPr>
              <a:spLocks noChangeArrowheads="1"/>
            </p:cNvSpPr>
            <p:nvPr/>
          </p:nvSpPr>
          <p:spPr bwMode="auto">
            <a:xfrm>
              <a:off x="8527158" y="4249713"/>
              <a:ext cx="659876" cy="601993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zh-CN" altLang="en-US" sz="1400" dirty="0"/>
                <a:t>用户</a:t>
              </a:r>
            </a:p>
          </p:txBody>
        </p:sp>
        <p:sp>
          <p:nvSpPr>
            <p:cNvPr id="59" name="Rectangle 6"/>
            <p:cNvSpPr>
              <a:spLocks noChangeArrowheads="1"/>
            </p:cNvSpPr>
            <p:nvPr/>
          </p:nvSpPr>
          <p:spPr bwMode="auto">
            <a:xfrm>
              <a:off x="8298218" y="5190839"/>
              <a:ext cx="1223963" cy="431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zh-CN" altLang="en-US" sz="1400" dirty="0"/>
                <a:t>物理接口</a:t>
              </a:r>
            </a:p>
          </p:txBody>
        </p:sp>
        <p:sp>
          <p:nvSpPr>
            <p:cNvPr id="60" name="Rectangle 7"/>
            <p:cNvSpPr>
              <a:spLocks noChangeArrowheads="1"/>
            </p:cNvSpPr>
            <p:nvPr/>
          </p:nvSpPr>
          <p:spPr bwMode="auto">
            <a:xfrm>
              <a:off x="8298218" y="5622639"/>
              <a:ext cx="1223963" cy="720725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zh-CN" altLang="en-US" sz="1400" dirty="0"/>
                <a:t>硬件</a:t>
              </a:r>
            </a:p>
          </p:txBody>
        </p:sp>
        <p:sp>
          <p:nvSpPr>
            <p:cNvPr id="61" name="Line 16"/>
            <p:cNvSpPr>
              <a:spLocks noChangeShapeType="1"/>
            </p:cNvSpPr>
            <p:nvPr/>
          </p:nvSpPr>
          <p:spPr bwMode="auto">
            <a:xfrm>
              <a:off x="8864300" y="4862456"/>
              <a:ext cx="1" cy="33349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2" name="AutoShape 22"/>
          <p:cNvSpPr>
            <a:spLocks noChangeArrowheads="1"/>
          </p:cNvSpPr>
          <p:nvPr/>
        </p:nvSpPr>
        <p:spPr bwMode="auto">
          <a:xfrm>
            <a:off x="6572921" y="5066862"/>
            <a:ext cx="1331913" cy="1355464"/>
          </a:xfrm>
          <a:prstGeom prst="wedgeRoundRectCallout">
            <a:avLst>
              <a:gd name="adj1" fmla="val 79180"/>
              <a:gd name="adj2" fmla="val -75881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zh-CN" altLang="en-US" sz="1600" dirty="0">
                <a:ea typeface="华文楷体" pitchFamily="2" charset="-122"/>
              </a:rPr>
              <a:t>用户需了解物理接口的实现细节；</a:t>
            </a:r>
          </a:p>
          <a:p>
            <a:pPr algn="l"/>
            <a:r>
              <a:rPr lang="zh-CN" altLang="en-US" sz="1600" dirty="0">
                <a:ea typeface="华文楷体" pitchFamily="2" charset="-122"/>
              </a:rPr>
              <a:t>利用机器指令进行编程</a:t>
            </a:r>
          </a:p>
        </p:txBody>
      </p:sp>
      <p:grpSp>
        <p:nvGrpSpPr>
          <p:cNvPr id="88" name="组合 87"/>
          <p:cNvGrpSpPr/>
          <p:nvPr/>
        </p:nvGrpSpPr>
        <p:grpSpPr>
          <a:xfrm>
            <a:off x="9063942" y="3659811"/>
            <a:ext cx="2798339" cy="3039647"/>
            <a:chOff x="9063942" y="3659811"/>
            <a:chExt cx="2798339" cy="3039647"/>
          </a:xfrm>
        </p:grpSpPr>
        <p:sp>
          <p:nvSpPr>
            <p:cNvPr id="76" name="Oval 9"/>
            <p:cNvSpPr>
              <a:spLocks noChangeArrowheads="1"/>
            </p:cNvSpPr>
            <p:nvPr/>
          </p:nvSpPr>
          <p:spPr bwMode="auto">
            <a:xfrm>
              <a:off x="9269596" y="4365263"/>
              <a:ext cx="2592685" cy="2334195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en-US"/>
            </a:p>
          </p:txBody>
        </p:sp>
        <p:sp>
          <p:nvSpPr>
            <p:cNvPr id="77" name="Rectangle 10"/>
            <p:cNvSpPr>
              <a:spLocks noChangeArrowheads="1"/>
            </p:cNvSpPr>
            <p:nvPr/>
          </p:nvSpPr>
          <p:spPr bwMode="auto">
            <a:xfrm>
              <a:off x="9917669" y="4553704"/>
              <a:ext cx="1296144" cy="432048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400" dirty="0"/>
                <a:t>I/O</a:t>
              </a:r>
              <a:r>
                <a:rPr lang="zh-CN" altLang="en-US" sz="1400" dirty="0"/>
                <a:t>软件</a:t>
              </a:r>
            </a:p>
          </p:txBody>
        </p:sp>
        <p:sp>
          <p:nvSpPr>
            <p:cNvPr id="78" name="Rectangle 12"/>
            <p:cNvSpPr>
              <a:spLocks noChangeArrowheads="1"/>
            </p:cNvSpPr>
            <p:nvPr/>
          </p:nvSpPr>
          <p:spPr bwMode="auto">
            <a:xfrm>
              <a:off x="9989849" y="5201776"/>
              <a:ext cx="1223963" cy="431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zh-CN" altLang="en-US" sz="1400" dirty="0"/>
                <a:t>物理接口</a:t>
              </a:r>
            </a:p>
          </p:txBody>
        </p:sp>
        <p:sp>
          <p:nvSpPr>
            <p:cNvPr id="79" name="Rectangle 13"/>
            <p:cNvSpPr>
              <a:spLocks noChangeArrowheads="1"/>
            </p:cNvSpPr>
            <p:nvPr/>
          </p:nvSpPr>
          <p:spPr bwMode="auto">
            <a:xfrm>
              <a:off x="9989849" y="5633576"/>
              <a:ext cx="1223963" cy="720725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zh-CN" altLang="en-US" sz="1400" dirty="0"/>
                <a:t>硬件</a:t>
              </a:r>
            </a:p>
          </p:txBody>
        </p:sp>
        <p:sp>
          <p:nvSpPr>
            <p:cNvPr id="80" name="AutoShape 14"/>
            <p:cNvSpPr>
              <a:spLocks noChangeArrowheads="1"/>
            </p:cNvSpPr>
            <p:nvPr/>
          </p:nvSpPr>
          <p:spPr bwMode="auto">
            <a:xfrm>
              <a:off x="10421030" y="4985753"/>
              <a:ext cx="216718" cy="216023"/>
            </a:xfrm>
            <a:prstGeom prst="downArrow">
              <a:avLst>
                <a:gd name="adj1" fmla="val 50000"/>
                <a:gd name="adj2" fmla="val 25138"/>
              </a:avLst>
            </a:prstGeom>
            <a:solidFill>
              <a:srgbClr val="FF9966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en-US"/>
            </a:p>
          </p:txBody>
        </p:sp>
        <p:sp>
          <p:nvSpPr>
            <p:cNvPr id="81" name="Line 15"/>
            <p:cNvSpPr>
              <a:spLocks noChangeShapeType="1"/>
            </p:cNvSpPr>
            <p:nvPr/>
          </p:nvSpPr>
          <p:spPr bwMode="auto">
            <a:xfrm>
              <a:off x="10565492" y="4193541"/>
              <a:ext cx="248" cy="3601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Text Box 17"/>
            <p:cNvSpPr txBox="1">
              <a:spLocks noChangeArrowheads="1"/>
            </p:cNvSpPr>
            <p:nvPr/>
          </p:nvSpPr>
          <p:spPr bwMode="auto">
            <a:xfrm>
              <a:off x="9063942" y="3994770"/>
              <a:ext cx="1327946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1400" dirty="0"/>
                <a:t>I/O</a:t>
              </a:r>
              <a:r>
                <a:rPr lang="zh-CN" altLang="en-US" sz="1400" dirty="0"/>
                <a:t>操作命令（</a:t>
              </a:r>
              <a:r>
                <a:rPr lang="en-US" altLang="zh-CN" sz="1400" dirty="0" err="1"/>
                <a:t>Read,Write</a:t>
              </a:r>
              <a:r>
                <a:rPr lang="zh-CN" altLang="en-US" sz="1400" b="1" dirty="0"/>
                <a:t>）</a:t>
              </a:r>
            </a:p>
          </p:txBody>
        </p:sp>
        <p:sp>
          <p:nvSpPr>
            <p:cNvPr id="83" name="Text Box 18"/>
            <p:cNvSpPr txBox="1">
              <a:spLocks noChangeArrowheads="1"/>
            </p:cNvSpPr>
            <p:nvPr/>
          </p:nvSpPr>
          <p:spPr bwMode="auto">
            <a:xfrm>
              <a:off x="9989677" y="6353904"/>
              <a:ext cx="1224136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400" dirty="0"/>
                <a:t>虚机器</a:t>
              </a:r>
            </a:p>
          </p:txBody>
        </p:sp>
        <p:sp>
          <p:nvSpPr>
            <p:cNvPr id="84" name="Oval 5"/>
            <p:cNvSpPr>
              <a:spLocks noChangeArrowheads="1"/>
            </p:cNvSpPr>
            <p:nvPr/>
          </p:nvSpPr>
          <p:spPr bwMode="auto">
            <a:xfrm>
              <a:off x="10217952" y="3659811"/>
              <a:ext cx="659876" cy="601993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zh-CN" altLang="en-US" sz="1400" dirty="0"/>
                <a:t>用户</a:t>
              </a:r>
            </a:p>
          </p:txBody>
        </p:sp>
      </p:grpSp>
      <p:sp>
        <p:nvSpPr>
          <p:cNvPr id="89" name="AutoShape 23"/>
          <p:cNvSpPr>
            <a:spLocks noChangeArrowheads="1"/>
          </p:cNvSpPr>
          <p:nvPr/>
        </p:nvSpPr>
        <p:spPr bwMode="auto">
          <a:xfrm>
            <a:off x="10406506" y="4713643"/>
            <a:ext cx="1584871" cy="1009425"/>
          </a:xfrm>
          <a:prstGeom prst="wedgeRoundRectCallout">
            <a:avLst>
              <a:gd name="adj1" fmla="val -26572"/>
              <a:gd name="adj2" fmla="val -104963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zh-CN" altLang="en-US" sz="1400" dirty="0">
                <a:ea typeface="华文楷体" pitchFamily="2" charset="-122"/>
              </a:rPr>
              <a:t>用户无需了解物理接口的实现细节；在窗口环境下使用计算机</a:t>
            </a:r>
          </a:p>
        </p:txBody>
      </p:sp>
    </p:spTree>
    <p:extLst>
      <p:ext uri="{BB962C8B-B14F-4D97-AF65-F5344CB8AC3E}">
        <p14:creationId xmlns:p14="http://schemas.microsoft.com/office/powerpoint/2010/main" val="1454166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8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/>
        </p:nvSpPr>
        <p:spPr>
          <a:xfrm>
            <a:off x="2242517" y="2946258"/>
            <a:ext cx="596900" cy="656791"/>
          </a:xfrm>
          <a:custGeom>
            <a:avLst/>
            <a:gdLst>
              <a:gd name="connsiteX0" fmla="*/ 0 w 561975"/>
              <a:gd name="connsiteY0" fmla="*/ 0 h 547688"/>
              <a:gd name="connsiteX1" fmla="*/ 552450 w 561975"/>
              <a:gd name="connsiteY1" fmla="*/ 547688 h 547688"/>
              <a:gd name="connsiteX2" fmla="*/ 561975 w 561975"/>
              <a:gd name="connsiteY2" fmla="*/ 0 h 547688"/>
              <a:gd name="connsiteX3" fmla="*/ 0 w 561975"/>
              <a:gd name="connsiteY3" fmla="*/ 0 h 547688"/>
              <a:gd name="connsiteX0" fmla="*/ 0 w 576263"/>
              <a:gd name="connsiteY0" fmla="*/ 0 h 547688"/>
              <a:gd name="connsiteX1" fmla="*/ 566738 w 576263"/>
              <a:gd name="connsiteY1" fmla="*/ 547688 h 547688"/>
              <a:gd name="connsiteX2" fmla="*/ 576263 w 576263"/>
              <a:gd name="connsiteY2" fmla="*/ 0 h 547688"/>
              <a:gd name="connsiteX3" fmla="*/ 0 w 576263"/>
              <a:gd name="connsiteY3" fmla="*/ 0 h 547688"/>
              <a:gd name="connsiteX0" fmla="*/ 0 w 576263"/>
              <a:gd name="connsiteY0" fmla="*/ 0 h 571500"/>
              <a:gd name="connsiteX1" fmla="*/ 566738 w 576263"/>
              <a:gd name="connsiteY1" fmla="*/ 571500 h 571500"/>
              <a:gd name="connsiteX2" fmla="*/ 576263 w 576263"/>
              <a:gd name="connsiteY2" fmla="*/ 0 h 571500"/>
              <a:gd name="connsiteX3" fmla="*/ 0 w 576263"/>
              <a:gd name="connsiteY3" fmla="*/ 0 h 571500"/>
              <a:gd name="connsiteX0" fmla="*/ 0 w 576263"/>
              <a:gd name="connsiteY0" fmla="*/ 0 h 576263"/>
              <a:gd name="connsiteX1" fmla="*/ 571335 w 576263"/>
              <a:gd name="connsiteY1" fmla="*/ 576263 h 576263"/>
              <a:gd name="connsiteX2" fmla="*/ 576263 w 576263"/>
              <a:gd name="connsiteY2" fmla="*/ 0 h 576263"/>
              <a:gd name="connsiteX3" fmla="*/ 0 w 576263"/>
              <a:gd name="connsiteY3" fmla="*/ 0 h 576263"/>
              <a:gd name="connsiteX0" fmla="*/ 0 w 576448"/>
              <a:gd name="connsiteY0" fmla="*/ 0 h 576263"/>
              <a:gd name="connsiteX1" fmla="*/ 575933 w 576448"/>
              <a:gd name="connsiteY1" fmla="*/ 576263 h 576263"/>
              <a:gd name="connsiteX2" fmla="*/ 576263 w 576448"/>
              <a:gd name="connsiteY2" fmla="*/ 0 h 576263"/>
              <a:gd name="connsiteX3" fmla="*/ 0 w 576448"/>
              <a:gd name="connsiteY3" fmla="*/ 0 h 576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6448" h="576263">
                <a:moveTo>
                  <a:pt x="0" y="0"/>
                </a:moveTo>
                <a:lnTo>
                  <a:pt x="575933" y="576263"/>
                </a:lnTo>
                <a:cubicBezTo>
                  <a:pt x="577576" y="384175"/>
                  <a:pt x="574620" y="192088"/>
                  <a:pt x="576263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6194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2832100" y="2949865"/>
            <a:ext cx="9359900" cy="65722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180000" bIns="0" anchor="ctr"/>
          <a:lstStyle/>
          <a:p>
            <a:pPr algn="ctr">
              <a:defRPr/>
            </a:pPr>
            <a:r>
              <a:rPr lang="zh-CN" altLang="en-US" sz="28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eiryo" panose="020B0604030504040204" pitchFamily="34" charset="-128"/>
              </a:rPr>
              <a:t>谢谢收看！</a:t>
            </a:r>
            <a:endParaRPr lang="zh-CN" altLang="en-US" sz="2800" dirty="0">
              <a:solidFill>
                <a:srgbClr val="CEEAB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eiryo" panose="020B0604030504040204" pitchFamily="34" charset="-128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" y="2182092"/>
            <a:ext cx="9312276" cy="7752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zh-CN" altLang="en-US" sz="3200" spc="200" dirty="0">
                <a:solidFill>
                  <a:srgbClr val="FFFFFF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</a:t>
            </a:r>
            <a:r>
              <a:rPr lang="zh-CN" altLang="en-US" sz="2800" spc="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本节结束！</a:t>
            </a:r>
          </a:p>
        </p:txBody>
      </p:sp>
      <p:sp>
        <p:nvSpPr>
          <p:cNvPr id="6" name="直角三角形 5"/>
          <p:cNvSpPr/>
          <p:nvPr/>
        </p:nvSpPr>
        <p:spPr>
          <a:xfrm>
            <a:off x="9312275" y="2178052"/>
            <a:ext cx="853701" cy="779317"/>
          </a:xfrm>
          <a:prstGeom prst="rtTriangle">
            <a:avLst/>
          </a:prstGeom>
          <a:solidFill>
            <a:srgbClr val="007C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581830" y="3921022"/>
            <a:ext cx="6906409" cy="169277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7890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1738</TotalTime>
  <Words>1277</Words>
  <Application>Microsoft Office PowerPoint</Application>
  <PresentationFormat>宽屏</PresentationFormat>
  <Paragraphs>257</Paragraphs>
  <Slides>24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8" baseType="lpstr">
      <vt:lpstr>Gill Sans</vt:lpstr>
      <vt:lpstr>等线</vt:lpstr>
      <vt:lpstr>等线 Light</vt:lpstr>
      <vt:lpstr>方正清刻本悦宋简体</vt:lpstr>
      <vt:lpstr>汉真广标</vt:lpstr>
      <vt:lpstr>宋体</vt:lpstr>
      <vt:lpstr>微软雅黑</vt:lpstr>
      <vt:lpstr>微软雅黑 Light</vt:lpstr>
      <vt:lpstr>Arial</vt:lpstr>
      <vt:lpstr>Calibri</vt:lpstr>
      <vt:lpstr>Impact</vt:lpstr>
      <vt:lpstr>Open Sans Light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麦 子</cp:lastModifiedBy>
  <cp:revision>105</cp:revision>
  <dcterms:created xsi:type="dcterms:W3CDTF">2016-05-18T19:05:46Z</dcterms:created>
  <dcterms:modified xsi:type="dcterms:W3CDTF">2023-09-14T01:56:16Z</dcterms:modified>
</cp:coreProperties>
</file>