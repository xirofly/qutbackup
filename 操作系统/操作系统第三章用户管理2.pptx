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notesMasterIdLst>
    <p:notesMasterId r:id="rId16"/>
  </p:notesMasterIdLst>
  <p:handoutMasterIdLst>
    <p:handoutMasterId r:id="rId17"/>
  </p:handoutMasterIdLst>
  <p:sldIdLst>
    <p:sldId id="289" r:id="rId4"/>
    <p:sldId id="260" r:id="rId5"/>
    <p:sldId id="344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290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07" autoAdjust="0"/>
    <p:restoredTop sz="94660"/>
  </p:normalViewPr>
  <p:slideViewPr>
    <p:cSldViewPr snapToGrid="0">
      <p:cViewPr varScale="1">
        <p:scale>
          <a:sx n="74" d="100"/>
          <a:sy n="74" d="100"/>
        </p:scale>
        <p:origin x="546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36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CB84B-6A00-4441-A8E6-9FCA71C6ADFF}" type="datetimeFigureOut">
              <a:rPr lang="zh-CN" altLang="en-US" smtClean="0"/>
              <a:t>2023-10-07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28514-98A0-40EF-8E2B-A346CE837D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677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93AD-7C06-486F-9754-D5B73F7C37DE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DE87-FC43-4F0C-9C51-E666AB0AC5F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44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A553631-FEE4-4B2E-AE53-F2F88C36C22F}" type="slidenum">
              <a:rPr lang="zh-CN" altLang="en-US">
                <a:latin typeface="等线" panose="02010600030101010101" pitchFamily="2" charset="-122"/>
                <a:ea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1221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dirty="0"/>
              <a:t>模板来自于 </a:t>
            </a:r>
            <a:r>
              <a:rPr lang="en-US" altLang="zh-CN"/>
              <a:t>http://www.ypppt.com</a:t>
            </a:r>
            <a:endParaRPr lang="zh-CN" altLang="en-US" dirty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5ED1824-6DB2-4029-B0DF-1D3CDCF11CDA}" type="slidenum">
              <a:rPr lang="zh-CN" altLang="en-US" smtClean="0">
                <a:solidFill>
                  <a:prstClr val="black"/>
                </a:solidFill>
                <a:latin typeface="Calibri" panose="020F050202020403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>
              <a:solidFill>
                <a:prstClr val="black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372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79587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 txBox="1">
            <a:spLocks/>
          </p:cNvSpPr>
          <p:nvPr userDrawn="1"/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D735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085715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1909627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085715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1909627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315586" y="545879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790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2328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4813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2027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437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2035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9715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646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2479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051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3502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38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3.gif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5" cstate="print"/>
          <a:srcRect r="42146" b="48018"/>
          <a:stretch/>
        </p:blipFill>
        <p:spPr>
          <a:xfrm>
            <a:off x="7346062" y="2511276"/>
            <a:ext cx="4845938" cy="434672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10000" r="90000">
                        <a14:foregroundMark x1="41938" y1="46310" x2="41938" y2="46310"/>
                        <a14:foregroundMark x1="26672" y1="41021" x2="26672" y2="41021"/>
                        <a14:foregroundMark x1="31389" y1="39422" x2="31389" y2="39422"/>
                        <a14:backgroundMark x1="70755" y1="56581" x2="70755" y2="56581"/>
                        <a14:backgroundMark x1="68696" y1="52583" x2="65266" y2="51415"/>
                        <a14:backgroundMark x1="49914" y1="48032" x2="49314" y2="47909"/>
                        <a14:backgroundMark x1="49314" y1="54674" x2="48714" y2="54674"/>
                        <a14:backgroundMark x1="47513" y1="54490" x2="50772" y2="56827"/>
                        <a14:backgroundMark x1="67067" y1="62116" x2="67667" y2="61501"/>
                        <a14:backgroundMark x1="68525" y1="56396" x2="68525" y2="55351"/>
                        <a14:backgroundMark x1="70154" y1="50861" x2="70154" y2="50861"/>
                        <a14:backgroundMark x1="71184" y1="50431" x2="71184" y2="50431"/>
                        <a14:backgroundMark x1="38508" y1="41451" x2="38508" y2="41451"/>
                        <a14:backgroundMark x1="44254" y1="36470" x2="44254" y2="36470"/>
                        <a14:backgroundMark x1="42796" y1="43235" x2="42796" y2="43235"/>
                        <a14:backgroundMark x1="67067" y1="42927" x2="67067" y2="42927"/>
                        <a14:backgroundMark x1="58062" y1="45449" x2="57461" y2="45572"/>
                        <a14:backgroundMark x1="59091" y1="52768" x2="59520" y2="53321"/>
                        <a14:backgroundMark x1="59520" y1="54182" x2="59777" y2="55843"/>
                        <a14:backgroundMark x1="59777" y1="59164" x2="59777" y2="59164"/>
                        <a14:backgroundMark x1="78902" y1="35609" x2="78902" y2="35609"/>
                        <a14:backgroundMark x1="26415" y1="39729" x2="26415" y2="39729"/>
                        <a14:backgroundMark x1="25472" y1="42189" x2="25472" y2="42189"/>
                        <a14:backgroundMark x1="25214" y1="41636" x2="25214" y2="41636"/>
                        <a14:backgroundMark x1="46055" y1="56704" x2="46055" y2="56704"/>
                        <a14:backgroundMark x1="56690" y1="49508" x2="56690" y2="49508"/>
                        <a14:backgroundMark x1="56861" y1="49262" x2="60720" y2="48770"/>
                        <a14:backgroundMark x1="66295" y1="47601" x2="66895" y2="47601"/>
                        <a14:backgroundMark x1="71184" y1="46617" x2="76672" y2="45449"/>
                        <a14:backgroundMark x1="81389" y1="43973" x2="81389" y2="43973"/>
                      </a14:backgroundRemoval>
                    </a14:imgEffect>
                  </a14:imgLayer>
                </a14:imgProps>
              </a:ext>
            </a:extLst>
          </a:blip>
          <a:srcRect l="17878" t="35012" b="43146"/>
          <a:stretch/>
        </p:blipFill>
        <p:spPr>
          <a:xfrm>
            <a:off x="-1" y="0"/>
            <a:ext cx="5837731" cy="2166151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9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00E00-5D83-46E2-B18B-6027595511CC}" type="datetimeFigureOut">
              <a:rPr lang="zh-CN" altLang="en-US" smtClean="0"/>
              <a:pPr/>
              <a:t>2023-10-07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288FD-FF8E-4205-8603-C8BB8BCBCB2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8833" y="202028"/>
            <a:ext cx="3967716" cy="4571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988828"/>
            <a:ext cx="10515600" cy="518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11" name="矩形 10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文本框 31"/>
          <p:cNvSpPr txBox="1"/>
          <p:nvPr userDrawn="1"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400" b="1" kern="1200" dirty="0">
          <a:solidFill>
            <a:srgbClr val="3D735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3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43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2048669"/>
            <a:ext cx="7246275" cy="2760663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595747" y="2251341"/>
            <a:ext cx="310997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5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操作系统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939822" y="3912068"/>
            <a:ext cx="4417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200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32"/>
          <p:cNvSpPr txBox="1">
            <a:spLocks noChangeArrowheads="1"/>
          </p:cNvSpPr>
          <p:nvPr/>
        </p:nvSpPr>
        <p:spPr bwMode="auto">
          <a:xfrm>
            <a:off x="5512250" y="4270955"/>
            <a:ext cx="13838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200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主讲人：房斐斐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4143375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896100" y="4409454"/>
            <a:ext cx="1299913" cy="0"/>
          </a:xfrm>
          <a:prstGeom prst="line">
            <a:avLst/>
          </a:prstGeom>
          <a:ln>
            <a:solidFill>
              <a:srgbClr val="3D735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6"/>
          <p:cNvSpPr txBox="1"/>
          <p:nvPr/>
        </p:nvSpPr>
        <p:spPr>
          <a:xfrm>
            <a:off x="4550638" y="3187225"/>
            <a:ext cx="3155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3D735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第三章 进程管理</a:t>
            </a:r>
          </a:p>
        </p:txBody>
      </p:sp>
    </p:spTree>
    <p:extLst>
      <p:ext uri="{BB962C8B-B14F-4D97-AF65-F5344CB8AC3E}">
        <p14:creationId xmlns:p14="http://schemas.microsoft.com/office/powerpoint/2010/main" val="264625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72862" y="1930331"/>
            <a:ext cx="7246275" cy="3663642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3152633" y="2191302"/>
            <a:ext cx="5887815" cy="2109625"/>
            <a:chOff x="4806642" y="2317346"/>
            <a:chExt cx="5065904" cy="2109625"/>
          </a:xfrm>
        </p:grpSpPr>
        <p:sp>
          <p:nvSpPr>
            <p:cNvPr id="15" name="文本框 13"/>
            <p:cNvSpPr txBox="1">
              <a:spLocks noChangeArrowheads="1"/>
            </p:cNvSpPr>
            <p:nvPr/>
          </p:nvSpPr>
          <p:spPr bwMode="auto">
            <a:xfrm>
              <a:off x="7948242" y="2340801"/>
              <a:ext cx="192430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前驱图和程序执行</a:t>
              </a:r>
            </a:p>
          </p:txBody>
        </p:sp>
        <p:sp>
          <p:nvSpPr>
            <p:cNvPr id="16" name="文本框 14"/>
            <p:cNvSpPr txBox="1">
              <a:spLocks noChangeArrowheads="1"/>
            </p:cNvSpPr>
            <p:nvPr/>
          </p:nvSpPr>
          <p:spPr bwMode="auto">
            <a:xfrm>
              <a:off x="7948242" y="2890121"/>
              <a:ext cx="1262272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进程的描述</a:t>
              </a:r>
            </a:p>
          </p:txBody>
        </p:sp>
        <p:sp>
          <p:nvSpPr>
            <p:cNvPr id="18" name="文本框 15"/>
            <p:cNvSpPr txBox="1">
              <a:spLocks noChangeArrowheads="1"/>
            </p:cNvSpPr>
            <p:nvPr/>
          </p:nvSpPr>
          <p:spPr bwMode="auto">
            <a:xfrm>
              <a:off x="7948242" y="3439441"/>
              <a:ext cx="10415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进程控制</a:t>
              </a:r>
            </a:p>
          </p:txBody>
        </p:sp>
        <p:sp>
          <p:nvSpPr>
            <p:cNvPr id="19" name="文本框 16"/>
            <p:cNvSpPr txBox="1">
              <a:spLocks noChangeArrowheads="1"/>
            </p:cNvSpPr>
            <p:nvPr/>
          </p:nvSpPr>
          <p:spPr bwMode="auto">
            <a:xfrm>
              <a:off x="7948241" y="3988761"/>
              <a:ext cx="104159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进程同步</a:t>
              </a: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496132" y="2317346"/>
              <a:ext cx="6062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96133" y="2866666"/>
              <a:ext cx="64643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496132" y="3415986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496132" y="3965306"/>
              <a:ext cx="64642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708265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</a:t>
              </a:r>
              <a:endParaRPr lang="zh-CN" altLang="en-US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806642" y="2938055"/>
              <a:ext cx="2088107" cy="992892"/>
              <a:chOff x="2995095" y="2938055"/>
              <a:chExt cx="2088107" cy="992892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2995095" y="2938055"/>
                <a:ext cx="2088107" cy="992892"/>
                <a:chOff x="3053227" y="2938055"/>
                <a:chExt cx="2088107" cy="992892"/>
              </a:xfrm>
            </p:grpSpPr>
            <p:sp>
              <p:nvSpPr>
                <p:cNvPr id="28" name="文本框 27"/>
                <p:cNvSpPr txBox="1"/>
                <p:nvPr/>
              </p:nvSpPr>
              <p:spPr>
                <a:xfrm>
                  <a:off x="3630124" y="3469282"/>
                  <a:ext cx="127415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400" dirty="0">
                      <a:solidFill>
                        <a:srgbClr val="708265"/>
                      </a:solidFill>
                      <a:latin typeface="Impact" panose="020B0806030902050204" pitchFamily="34" charset="0"/>
                      <a:ea typeface="微软雅黑 Light" panose="020B0502040204020203" pitchFamily="34" charset="-122"/>
                    </a:rPr>
                    <a:t>CHAPTER</a:t>
                  </a:r>
                  <a:endParaRPr lang="zh-CN" altLang="en-US" sz="2400" dirty="0">
                    <a:solidFill>
                      <a:srgbClr val="708265"/>
                    </a:solidFill>
                    <a:latin typeface="Impact" panose="020B0806030902050204" pitchFamily="34" charset="0"/>
                    <a:ea typeface="微软雅黑 Light" panose="020B0502040204020203" pitchFamily="34" charset="-122"/>
                  </a:endParaRPr>
                </a:p>
              </p:txBody>
            </p:sp>
            <p:sp>
              <p:nvSpPr>
                <p:cNvPr id="29" name="文本框 28"/>
                <p:cNvSpPr txBox="1"/>
                <p:nvPr/>
              </p:nvSpPr>
              <p:spPr>
                <a:xfrm>
                  <a:off x="3053227" y="2938055"/>
                  <a:ext cx="2088107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3600" dirty="0">
                      <a:solidFill>
                        <a:srgbClr val="708265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</a:rPr>
                    <a:t>第三章</a:t>
                  </a:r>
                </a:p>
              </p:txBody>
            </p:sp>
          </p:grpSp>
          <p:sp>
            <p:nvSpPr>
              <p:cNvPr id="26" name="L 形 25"/>
              <p:cNvSpPr/>
              <p:nvPr/>
            </p:nvSpPr>
            <p:spPr>
              <a:xfrm rot="2493705" flipH="1" flipV="1">
                <a:off x="4575036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7" name="L 形 26"/>
              <p:cNvSpPr/>
              <p:nvPr/>
            </p:nvSpPr>
            <p:spPr>
              <a:xfrm rot="2493705" flipH="1" flipV="1">
                <a:off x="4649233" y="3364836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708265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0" name="文本框 16"/>
          <p:cNvSpPr txBox="1">
            <a:spLocks noChangeArrowheads="1"/>
          </p:cNvSpPr>
          <p:nvPr/>
        </p:nvSpPr>
        <p:spPr bwMode="auto">
          <a:xfrm>
            <a:off x="6799945" y="4327099"/>
            <a:ext cx="24929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经典进程的同步问题</a:t>
            </a:r>
          </a:p>
        </p:txBody>
      </p:sp>
      <p:sp>
        <p:nvSpPr>
          <p:cNvPr id="31" name="文本框 22"/>
          <p:cNvSpPr txBox="1"/>
          <p:nvPr/>
        </p:nvSpPr>
        <p:spPr>
          <a:xfrm>
            <a:off x="6274484" y="4303644"/>
            <a:ext cx="75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5</a:t>
            </a:r>
            <a:endParaRPr lang="zh-CN" altLang="en-US" sz="2400" dirty="0">
              <a:solidFill>
                <a:srgbClr val="708265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2" name="文本框 16"/>
          <p:cNvSpPr txBox="1">
            <a:spLocks noChangeArrowheads="1"/>
          </p:cNvSpPr>
          <p:nvPr/>
        </p:nvSpPr>
        <p:spPr bwMode="auto">
          <a:xfrm>
            <a:off x="6789187" y="4800451"/>
            <a:ext cx="12105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进程通信</a:t>
            </a:r>
          </a:p>
        </p:txBody>
      </p:sp>
      <p:sp>
        <p:nvSpPr>
          <p:cNvPr id="33" name="文本框 22"/>
          <p:cNvSpPr txBox="1"/>
          <p:nvPr/>
        </p:nvSpPr>
        <p:spPr>
          <a:xfrm>
            <a:off x="6263726" y="4776996"/>
            <a:ext cx="751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708265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6</a:t>
            </a:r>
            <a:endParaRPr lang="zh-CN" altLang="en-US" sz="2400" dirty="0">
              <a:solidFill>
                <a:srgbClr val="708265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6907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439936" y="1137130"/>
            <a:ext cx="7246275" cy="1733178"/>
          </a:xfrm>
          <a:prstGeom prst="rect">
            <a:avLst/>
          </a:prstGeom>
          <a:noFill/>
          <a:ln w="38100" cap="flat">
            <a:solidFill>
              <a:srgbClr val="3D735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2729551" y="1483991"/>
            <a:ext cx="6989586" cy="1104503"/>
            <a:chOff x="3621789" y="2876749"/>
            <a:chExt cx="5471412" cy="1104503"/>
          </a:xfrm>
        </p:grpSpPr>
        <p:sp>
          <p:nvSpPr>
            <p:cNvPr id="31" name="矩形 30"/>
            <p:cNvSpPr/>
            <p:nvPr/>
          </p:nvSpPr>
          <p:spPr bwMode="auto">
            <a:xfrm>
              <a:off x="4971853" y="3707291"/>
              <a:ext cx="123825" cy="123825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2" name="文本框 13"/>
            <p:cNvSpPr txBox="1">
              <a:spLocks noChangeArrowheads="1"/>
            </p:cNvSpPr>
            <p:nvPr/>
          </p:nvSpPr>
          <p:spPr bwMode="auto">
            <a:xfrm>
              <a:off x="5095677" y="3596166"/>
              <a:ext cx="13778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7136457" y="3705704"/>
              <a:ext cx="123825" cy="125413"/>
            </a:xfrm>
            <a:prstGeom prst="rect">
              <a:avLst/>
            </a:prstGeom>
            <a:solidFill>
              <a:srgbClr val="708265"/>
            </a:solidFill>
            <a:ln>
              <a:solidFill>
                <a:srgbClr val="70826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rgbClr val="595959"/>
                </a:solidFill>
              </a:endParaRPr>
            </a:p>
          </p:txBody>
        </p:sp>
        <p:sp>
          <p:nvSpPr>
            <p:cNvPr id="34" name="文本框 13"/>
            <p:cNvSpPr txBox="1">
              <a:spLocks noChangeArrowheads="1"/>
            </p:cNvSpPr>
            <p:nvPr/>
          </p:nvSpPr>
          <p:spPr bwMode="auto">
            <a:xfrm>
              <a:off x="7260281" y="3596167"/>
              <a:ext cx="129951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13"/>
            <p:cNvSpPr txBox="1">
              <a:spLocks noChangeArrowheads="1"/>
            </p:cNvSpPr>
            <p:nvPr/>
          </p:nvSpPr>
          <p:spPr bwMode="auto">
            <a:xfrm>
              <a:off x="4813114" y="2890068"/>
              <a:ext cx="428008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None/>
              </a:pPr>
              <a:r>
                <a:rPr lang="zh-CN" altLang="en-US" sz="4000" b="1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进程控制</a:t>
              </a: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3655926" y="3396477"/>
              <a:ext cx="12741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rgbClr val="708265"/>
                  </a:solidFill>
                  <a:latin typeface="Impact" panose="020B0806030902050204" pitchFamily="34" charset="0"/>
                  <a:ea typeface="微软雅黑 Light" panose="020B0502040204020203" pitchFamily="34" charset="-122"/>
                </a:rPr>
                <a:t>PART</a:t>
              </a:r>
              <a:endParaRPr lang="zh-CN" altLang="en-US" sz="3200" dirty="0">
                <a:solidFill>
                  <a:srgbClr val="708265"/>
                </a:solidFill>
                <a:latin typeface="Impact" panose="020B0806030902050204" pitchFamily="34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3621789" y="2876749"/>
              <a:ext cx="134243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rgbClr val="70826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4000" dirty="0">
                <a:solidFill>
                  <a:srgbClr val="70826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4293004" y="3250218"/>
              <a:ext cx="207440" cy="104457"/>
              <a:chOff x="4093098" y="3134123"/>
              <a:chExt cx="107723" cy="54244"/>
            </a:xfrm>
          </p:grpSpPr>
          <p:sp>
            <p:nvSpPr>
              <p:cNvPr id="39" name="L 形 38"/>
              <p:cNvSpPr/>
              <p:nvPr/>
            </p:nvSpPr>
            <p:spPr>
              <a:xfrm rot="2493705" flipH="1" flipV="1">
                <a:off x="409309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2493705" flipH="1" flipV="1">
                <a:off x="4146578" y="3134123"/>
                <a:ext cx="54243" cy="54244"/>
              </a:xfrm>
              <a:prstGeom prst="corner">
                <a:avLst>
                  <a:gd name="adj1" fmla="val 15149"/>
                  <a:gd name="adj2" fmla="val 17140"/>
                </a:avLst>
              </a:prstGeom>
              <a:solidFill>
                <a:srgbClr val="6F8163"/>
              </a:solidFill>
              <a:ln>
                <a:solidFill>
                  <a:srgbClr val="70826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200">
                  <a:solidFill>
                    <a:srgbClr val="708265"/>
                  </a:solidFill>
                </a:endParaRPr>
              </a:p>
            </p:txBody>
          </p:sp>
        </p:grpSp>
      </p:grpSp>
      <p:sp>
        <p:nvSpPr>
          <p:cNvPr id="21" name="文本框 21"/>
          <p:cNvSpPr txBox="1">
            <a:spLocks noChangeArrowheads="1"/>
          </p:cNvSpPr>
          <p:nvPr/>
        </p:nvSpPr>
        <p:spPr bwMode="auto">
          <a:xfrm>
            <a:off x="2439935" y="3258781"/>
            <a:ext cx="7279201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进程控制是进程管理中最基本的功能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342900" indent="-342900">
              <a:buBlip>
                <a:blip r:embed="rId2"/>
              </a:buBlip>
            </a:pPr>
            <a:r>
              <a:rPr lang="zh-CN" altLang="en-US" sz="2000" kern="0" dirty="0"/>
              <a:t>创建和撤消进程</a:t>
            </a:r>
            <a:endParaRPr lang="en-US" altLang="zh-CN" sz="2000" kern="0" dirty="0"/>
          </a:p>
          <a:p>
            <a:pPr marL="342900" indent="-342900">
              <a:buBlip>
                <a:blip r:embed="rId2"/>
              </a:buBlip>
            </a:pPr>
            <a:r>
              <a:rPr lang="zh-CN" altLang="en-US" sz="2000" kern="0" dirty="0"/>
              <a:t>对进程在整个生命期中各种状态之间的转换进行有效控制。</a:t>
            </a: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2439936" y="4448406"/>
            <a:ext cx="7279201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dirty="0"/>
              <a:t>通过进程控制，可以达到多进程高效率并发执行，同时也能很好地协调并发进程之间的推进速度，实现资源共享。</a:t>
            </a:r>
          </a:p>
        </p:txBody>
      </p:sp>
      <p:sp>
        <p:nvSpPr>
          <p:cNvPr id="23" name="文本框 52"/>
          <p:cNvSpPr txBox="1">
            <a:spLocks noChangeArrowheads="1"/>
          </p:cNvSpPr>
          <p:nvPr/>
        </p:nvSpPr>
        <p:spPr bwMode="auto">
          <a:xfrm>
            <a:off x="2439936" y="5710116"/>
            <a:ext cx="72792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zh-CN" sz="2400" dirty="0"/>
              <a:t>进程控制由OS的</a:t>
            </a:r>
            <a:r>
              <a:rPr lang="zh-CN" altLang="zh-CN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zh-CN" altLang="zh-CN" sz="2400" dirty="0"/>
              <a:t>来实现。OS中是通过</a:t>
            </a:r>
            <a:r>
              <a:rPr lang="zh-CN" altLang="zh-CN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原语</a:t>
            </a:r>
            <a:r>
              <a:rPr lang="zh-CN" altLang="zh-CN" sz="2400" dirty="0"/>
              <a:t>来完成对进程控制的。</a:t>
            </a:r>
          </a:p>
        </p:txBody>
      </p:sp>
    </p:spTree>
    <p:extLst>
      <p:ext uri="{BB962C8B-B14F-4D97-AF65-F5344CB8AC3E}">
        <p14:creationId xmlns:p14="http://schemas.microsoft.com/office/powerpoint/2010/main" val="429200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50228" y="1656846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2058278" y="1656846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7119" name="文本框 55"/>
          <p:cNvSpPr txBox="1">
            <a:spLocks noChangeArrowheads="1"/>
          </p:cNvSpPr>
          <p:nvPr/>
        </p:nvSpPr>
        <p:spPr bwMode="auto">
          <a:xfrm>
            <a:off x="1004178" y="1123446"/>
            <a:ext cx="52874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）系统态（管态、内核态）</a:t>
            </a:r>
          </a:p>
        </p:txBody>
      </p:sp>
      <p:sp>
        <p:nvSpPr>
          <p:cNvPr id="27" name="矩形 26"/>
          <p:cNvSpPr/>
          <p:nvPr/>
        </p:nvSpPr>
        <p:spPr>
          <a:xfrm>
            <a:off x="0" y="212725"/>
            <a:ext cx="152400" cy="565150"/>
          </a:xfrm>
          <a:prstGeom prst="rect">
            <a:avLst/>
          </a:prstGeom>
          <a:solidFill>
            <a:srgbClr val="3D7351"/>
          </a:solidFill>
          <a:ln>
            <a:solidFill>
              <a:srgbClr val="3D73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245745" y="213360"/>
            <a:ext cx="563880" cy="563880"/>
            <a:chOff x="276225" y="213360"/>
            <a:chExt cx="563880" cy="563880"/>
          </a:xfrm>
          <a:solidFill>
            <a:srgbClr val="3D7351"/>
          </a:solidFill>
        </p:grpSpPr>
        <p:sp>
          <p:nvSpPr>
            <p:cNvPr id="29" name="矩形 28"/>
            <p:cNvSpPr/>
            <p:nvPr/>
          </p:nvSpPr>
          <p:spPr>
            <a:xfrm>
              <a:off x="276225" y="213360"/>
              <a:ext cx="250031" cy="563880"/>
            </a:xfrm>
            <a:prstGeom prst="rect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76225" y="213360"/>
              <a:ext cx="563880" cy="563880"/>
            </a:xfrm>
            <a:prstGeom prst="ellipse">
              <a:avLst/>
            </a:prstGeom>
            <a:grpFill/>
            <a:ln>
              <a:solidFill>
                <a:srgbClr val="3D73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文本框 25"/>
          <p:cNvSpPr txBox="1">
            <a:spLocks noChangeArrowheads="1"/>
          </p:cNvSpPr>
          <p:nvPr/>
        </p:nvSpPr>
        <p:spPr bwMode="auto">
          <a:xfrm>
            <a:off x="902970" y="212725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处理机的执行状态</a:t>
            </a:r>
          </a:p>
        </p:txBody>
      </p:sp>
      <p:sp>
        <p:nvSpPr>
          <p:cNvPr id="21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9"/>
          <p:cNvSpPr txBox="1">
            <a:spLocks noChangeArrowheads="1"/>
          </p:cNvSpPr>
          <p:nvPr/>
        </p:nvSpPr>
        <p:spPr bwMode="auto">
          <a:xfrm>
            <a:off x="1150228" y="1885665"/>
            <a:ext cx="761163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具有较高的特权，能执行一切指令，访问所有寄存器和存储区，传统</a:t>
            </a:r>
            <a:r>
              <a:rPr lang="en-US" altLang="zh-CN" sz="2400" dirty="0" err="1"/>
              <a:t>os</a:t>
            </a:r>
            <a:r>
              <a:rPr lang="zh-CN" altLang="en-US" sz="2400" dirty="0"/>
              <a:t>都在系统态运行。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通常操作系统内核就运行在系统状态。</a:t>
            </a:r>
          </a:p>
        </p:txBody>
      </p:sp>
      <p:sp>
        <p:nvSpPr>
          <p:cNvPr id="17" name="矩形 16"/>
          <p:cNvSpPr/>
          <p:nvPr/>
        </p:nvSpPr>
        <p:spPr>
          <a:xfrm>
            <a:off x="1156578" y="3801287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064628" y="3801287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0" name="文本框 55"/>
          <p:cNvSpPr txBox="1">
            <a:spLocks noChangeArrowheads="1"/>
          </p:cNvSpPr>
          <p:nvPr/>
        </p:nvSpPr>
        <p:spPr bwMode="auto">
          <a:xfrm>
            <a:off x="1010528" y="3267887"/>
            <a:ext cx="26124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）用户态（目态）</a:t>
            </a:r>
          </a:p>
        </p:txBody>
      </p:sp>
      <p:sp>
        <p:nvSpPr>
          <p:cNvPr id="22" name="文本框 19"/>
          <p:cNvSpPr txBox="1">
            <a:spLocks noChangeArrowheads="1"/>
          </p:cNvSpPr>
          <p:nvPr/>
        </p:nvSpPr>
        <p:spPr bwMode="auto">
          <a:xfrm>
            <a:off x="1156578" y="4030106"/>
            <a:ext cx="760528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具有较低特权，仅能执行规定的指令，访问指定的寄存器和存储区。一般情况下，应用程序只能在用户态运行，不能去执行</a:t>
            </a:r>
            <a:r>
              <a:rPr lang="en-US" altLang="zh-CN" sz="2400" dirty="0" err="1"/>
              <a:t>os</a:t>
            </a:r>
            <a:r>
              <a:rPr lang="zh-CN" altLang="en-US" sz="2400" dirty="0"/>
              <a:t>指令及访问</a:t>
            </a:r>
            <a:r>
              <a:rPr lang="en-US" altLang="zh-CN" sz="2400" dirty="0" err="1"/>
              <a:t>os</a:t>
            </a:r>
            <a:r>
              <a:rPr lang="zh-CN" altLang="en-US" sz="2400" dirty="0"/>
              <a:t>区域。</a:t>
            </a:r>
            <a:endParaRPr lang="en-US" altLang="zh-CN" sz="2400" dirty="0"/>
          </a:p>
          <a:p>
            <a:pPr marL="0" lvl="2" indent="0">
              <a:buBlip>
                <a:blip r:embed="rId3"/>
              </a:buBlip>
            </a:pPr>
            <a:r>
              <a:rPr lang="zh-CN" altLang="en-US" sz="2400" dirty="0"/>
              <a:t>通常用户程序都是运行在用户态。</a:t>
            </a:r>
          </a:p>
        </p:txBody>
      </p:sp>
    </p:spTree>
    <p:extLst>
      <p:ext uri="{BB962C8B-B14F-4D97-AF65-F5344CB8AC3E}">
        <p14:creationId xmlns:p14="http://schemas.microsoft.com/office/powerpoint/2010/main" val="178090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进程的创建</a:t>
            </a:r>
          </a:p>
        </p:txBody>
      </p:sp>
      <p:sp>
        <p:nvSpPr>
          <p:cNvPr id="3" name="矩形 2"/>
          <p:cNvSpPr/>
          <p:nvPr/>
        </p:nvSpPr>
        <p:spPr>
          <a:xfrm>
            <a:off x="1150228" y="1547662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058278" y="1547662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文本框 55"/>
          <p:cNvSpPr txBox="1">
            <a:spLocks noChangeArrowheads="1"/>
          </p:cNvSpPr>
          <p:nvPr/>
        </p:nvSpPr>
        <p:spPr bwMode="auto">
          <a:xfrm>
            <a:off x="1004178" y="1014262"/>
            <a:ext cx="302191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）进程的层次结构</a:t>
            </a:r>
          </a:p>
        </p:txBody>
      </p:sp>
      <p:sp>
        <p:nvSpPr>
          <p:cNvPr id="13" name="文本框 31"/>
          <p:cNvSpPr txBox="1"/>
          <p:nvPr/>
        </p:nvSpPr>
        <p:spPr>
          <a:xfrm>
            <a:off x="902970" y="579858"/>
            <a:ext cx="134363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000" b="1" dirty="0">
                <a:solidFill>
                  <a:srgbClr val="3D73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Operating System</a:t>
            </a:r>
            <a:endParaRPr lang="zh-CN" altLang="en-US" sz="1000" b="1" dirty="0">
              <a:solidFill>
                <a:srgbClr val="3D735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6776000" y="1722727"/>
            <a:ext cx="4716463" cy="3241675"/>
            <a:chOff x="4248150" y="1973263"/>
            <a:chExt cx="4716463" cy="3241675"/>
          </a:xfrm>
        </p:grpSpPr>
        <p:sp>
          <p:nvSpPr>
            <p:cNvPr id="48" name="Oval 8"/>
            <p:cNvSpPr>
              <a:spLocks noChangeArrowheads="1"/>
            </p:cNvSpPr>
            <p:nvPr/>
          </p:nvSpPr>
          <p:spPr bwMode="auto">
            <a:xfrm>
              <a:off x="6191250" y="1973263"/>
              <a:ext cx="649288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A</a:t>
              </a:r>
            </a:p>
          </p:txBody>
        </p:sp>
        <p:sp>
          <p:nvSpPr>
            <p:cNvPr id="49" name="Oval 9"/>
            <p:cNvSpPr>
              <a:spLocks noChangeArrowheads="1"/>
            </p:cNvSpPr>
            <p:nvPr/>
          </p:nvSpPr>
          <p:spPr bwMode="auto">
            <a:xfrm>
              <a:off x="5400675" y="2622550"/>
              <a:ext cx="649288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B</a:t>
              </a:r>
            </a:p>
          </p:txBody>
        </p:sp>
        <p:sp>
          <p:nvSpPr>
            <p:cNvPr id="50" name="Oval 10"/>
            <p:cNvSpPr>
              <a:spLocks noChangeArrowheads="1"/>
            </p:cNvSpPr>
            <p:nvPr/>
          </p:nvSpPr>
          <p:spPr bwMode="auto">
            <a:xfrm>
              <a:off x="7127875" y="2622550"/>
              <a:ext cx="649288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C</a:t>
              </a:r>
            </a:p>
          </p:txBody>
        </p:sp>
        <p:sp>
          <p:nvSpPr>
            <p:cNvPr id="81" name="Oval 11"/>
            <p:cNvSpPr>
              <a:spLocks noChangeArrowheads="1"/>
            </p:cNvSpPr>
            <p:nvPr/>
          </p:nvSpPr>
          <p:spPr bwMode="auto">
            <a:xfrm>
              <a:off x="4824413" y="3630613"/>
              <a:ext cx="649287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D</a:t>
              </a:r>
            </a:p>
          </p:txBody>
        </p:sp>
        <p:sp>
          <p:nvSpPr>
            <p:cNvPr id="82" name="Oval 12"/>
            <p:cNvSpPr>
              <a:spLocks noChangeArrowheads="1"/>
            </p:cNvSpPr>
            <p:nvPr/>
          </p:nvSpPr>
          <p:spPr bwMode="auto">
            <a:xfrm>
              <a:off x="5905500" y="3630613"/>
              <a:ext cx="649288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E</a:t>
              </a:r>
            </a:p>
          </p:txBody>
        </p:sp>
        <p:sp>
          <p:nvSpPr>
            <p:cNvPr id="83" name="Oval 13"/>
            <p:cNvSpPr>
              <a:spLocks noChangeArrowheads="1"/>
            </p:cNvSpPr>
            <p:nvPr/>
          </p:nvSpPr>
          <p:spPr bwMode="auto">
            <a:xfrm>
              <a:off x="6696075" y="3630613"/>
              <a:ext cx="649288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F</a:t>
              </a:r>
            </a:p>
          </p:txBody>
        </p:sp>
        <p:sp>
          <p:nvSpPr>
            <p:cNvPr id="84" name="Oval 14"/>
            <p:cNvSpPr>
              <a:spLocks noChangeArrowheads="1"/>
            </p:cNvSpPr>
            <p:nvPr/>
          </p:nvSpPr>
          <p:spPr bwMode="auto">
            <a:xfrm>
              <a:off x="7488238" y="3630613"/>
              <a:ext cx="649287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G</a:t>
              </a:r>
            </a:p>
          </p:txBody>
        </p:sp>
        <p:sp>
          <p:nvSpPr>
            <p:cNvPr id="85" name="Oval 15"/>
            <p:cNvSpPr>
              <a:spLocks noChangeArrowheads="1"/>
            </p:cNvSpPr>
            <p:nvPr/>
          </p:nvSpPr>
          <p:spPr bwMode="auto">
            <a:xfrm>
              <a:off x="8315325" y="3630613"/>
              <a:ext cx="649288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H</a:t>
              </a:r>
            </a:p>
          </p:txBody>
        </p:sp>
        <p:sp>
          <p:nvSpPr>
            <p:cNvPr id="91" name="Oval 16"/>
            <p:cNvSpPr>
              <a:spLocks noChangeArrowheads="1"/>
            </p:cNvSpPr>
            <p:nvPr/>
          </p:nvSpPr>
          <p:spPr bwMode="auto">
            <a:xfrm>
              <a:off x="4248150" y="4710113"/>
              <a:ext cx="649288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I</a:t>
              </a:r>
            </a:p>
          </p:txBody>
        </p:sp>
        <p:sp>
          <p:nvSpPr>
            <p:cNvPr id="92" name="Oval 17"/>
            <p:cNvSpPr>
              <a:spLocks noChangeArrowheads="1"/>
            </p:cNvSpPr>
            <p:nvPr/>
          </p:nvSpPr>
          <p:spPr bwMode="auto">
            <a:xfrm>
              <a:off x="5256213" y="4710113"/>
              <a:ext cx="649287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J</a:t>
              </a:r>
            </a:p>
          </p:txBody>
        </p:sp>
        <p:sp>
          <p:nvSpPr>
            <p:cNvPr id="93" name="Oval 18"/>
            <p:cNvSpPr>
              <a:spLocks noChangeArrowheads="1"/>
            </p:cNvSpPr>
            <p:nvPr/>
          </p:nvSpPr>
          <p:spPr bwMode="auto">
            <a:xfrm>
              <a:off x="6264275" y="4710113"/>
              <a:ext cx="649288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K</a:t>
              </a:r>
            </a:p>
          </p:txBody>
        </p:sp>
        <p:sp>
          <p:nvSpPr>
            <p:cNvPr id="94" name="Oval 19"/>
            <p:cNvSpPr>
              <a:spLocks noChangeArrowheads="1"/>
            </p:cNvSpPr>
            <p:nvPr/>
          </p:nvSpPr>
          <p:spPr bwMode="auto">
            <a:xfrm>
              <a:off x="7056438" y="4710113"/>
              <a:ext cx="649287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L</a:t>
              </a:r>
            </a:p>
          </p:txBody>
        </p:sp>
        <p:sp>
          <p:nvSpPr>
            <p:cNvPr id="95" name="Oval 20"/>
            <p:cNvSpPr>
              <a:spLocks noChangeArrowheads="1"/>
            </p:cNvSpPr>
            <p:nvPr/>
          </p:nvSpPr>
          <p:spPr bwMode="auto">
            <a:xfrm>
              <a:off x="8064500" y="4710113"/>
              <a:ext cx="649288" cy="504825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en-US" altLang="zh-CN"/>
                <a:t>M</a:t>
              </a:r>
            </a:p>
          </p:txBody>
        </p:sp>
        <p:cxnSp>
          <p:nvCxnSpPr>
            <p:cNvPr id="96" name="AutoShape 21"/>
            <p:cNvCxnSpPr>
              <a:cxnSpLocks noChangeShapeType="1"/>
              <a:stCxn id="48" idx="3"/>
              <a:endCxn id="49" idx="7"/>
            </p:cNvCxnSpPr>
            <p:nvPr/>
          </p:nvCxnSpPr>
          <p:spPr bwMode="auto">
            <a:xfrm flipH="1">
              <a:off x="5954713" y="2403475"/>
              <a:ext cx="331787" cy="2936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7" name="AutoShape 22"/>
            <p:cNvCxnSpPr>
              <a:cxnSpLocks noChangeShapeType="1"/>
              <a:stCxn id="48" idx="5"/>
              <a:endCxn id="50" idx="1"/>
            </p:cNvCxnSpPr>
            <p:nvPr/>
          </p:nvCxnSpPr>
          <p:spPr bwMode="auto">
            <a:xfrm>
              <a:off x="6745288" y="2403475"/>
              <a:ext cx="477837" cy="2936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AutoShape 23"/>
            <p:cNvCxnSpPr>
              <a:cxnSpLocks noChangeShapeType="1"/>
              <a:stCxn id="49" idx="3"/>
              <a:endCxn id="81" idx="0"/>
            </p:cNvCxnSpPr>
            <p:nvPr/>
          </p:nvCxnSpPr>
          <p:spPr bwMode="auto">
            <a:xfrm flipH="1">
              <a:off x="5149850" y="3052763"/>
              <a:ext cx="346075" cy="5778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9" name="AutoShape 24"/>
            <p:cNvCxnSpPr>
              <a:cxnSpLocks noChangeShapeType="1"/>
              <a:stCxn id="49" idx="5"/>
              <a:endCxn id="82" idx="0"/>
            </p:cNvCxnSpPr>
            <p:nvPr/>
          </p:nvCxnSpPr>
          <p:spPr bwMode="auto">
            <a:xfrm>
              <a:off x="5954713" y="3052763"/>
              <a:ext cx="276225" cy="5778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0" name="AutoShape 25"/>
            <p:cNvCxnSpPr>
              <a:cxnSpLocks noChangeShapeType="1"/>
              <a:stCxn id="50" idx="3"/>
              <a:endCxn id="83" idx="0"/>
            </p:cNvCxnSpPr>
            <p:nvPr/>
          </p:nvCxnSpPr>
          <p:spPr bwMode="auto">
            <a:xfrm flipH="1">
              <a:off x="7021513" y="3052763"/>
              <a:ext cx="201612" cy="5778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1" name="AutoShape 26"/>
            <p:cNvCxnSpPr>
              <a:cxnSpLocks noChangeShapeType="1"/>
              <a:stCxn id="50" idx="4"/>
              <a:endCxn id="84" idx="0"/>
            </p:cNvCxnSpPr>
            <p:nvPr/>
          </p:nvCxnSpPr>
          <p:spPr bwMode="auto">
            <a:xfrm>
              <a:off x="7453313" y="3127375"/>
              <a:ext cx="360362" cy="5032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" name="AutoShape 27"/>
            <p:cNvCxnSpPr>
              <a:cxnSpLocks noChangeShapeType="1"/>
              <a:stCxn id="50" idx="5"/>
              <a:endCxn id="85" idx="0"/>
            </p:cNvCxnSpPr>
            <p:nvPr/>
          </p:nvCxnSpPr>
          <p:spPr bwMode="auto">
            <a:xfrm>
              <a:off x="7681913" y="3052763"/>
              <a:ext cx="958850" cy="5778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3" name="AutoShape 28"/>
            <p:cNvCxnSpPr>
              <a:cxnSpLocks noChangeShapeType="1"/>
              <a:stCxn id="81" idx="3"/>
              <a:endCxn id="91" idx="0"/>
            </p:cNvCxnSpPr>
            <p:nvPr/>
          </p:nvCxnSpPr>
          <p:spPr bwMode="auto">
            <a:xfrm flipH="1">
              <a:off x="4573588" y="4060825"/>
              <a:ext cx="346075" cy="649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4" name="AutoShape 29"/>
            <p:cNvCxnSpPr>
              <a:cxnSpLocks noChangeShapeType="1"/>
              <a:stCxn id="81" idx="5"/>
              <a:endCxn id="92" idx="0"/>
            </p:cNvCxnSpPr>
            <p:nvPr/>
          </p:nvCxnSpPr>
          <p:spPr bwMode="auto">
            <a:xfrm>
              <a:off x="5378450" y="4060825"/>
              <a:ext cx="203200" cy="649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5" name="AutoShape 30"/>
            <p:cNvCxnSpPr>
              <a:cxnSpLocks noChangeShapeType="1"/>
              <a:stCxn id="82" idx="4"/>
              <a:endCxn id="93" idx="0"/>
            </p:cNvCxnSpPr>
            <p:nvPr/>
          </p:nvCxnSpPr>
          <p:spPr bwMode="auto">
            <a:xfrm>
              <a:off x="6230938" y="4135438"/>
              <a:ext cx="358775" cy="5746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6" name="AutoShape 31"/>
            <p:cNvCxnSpPr>
              <a:cxnSpLocks noChangeShapeType="1"/>
              <a:stCxn id="84" idx="3"/>
              <a:endCxn id="94" idx="0"/>
            </p:cNvCxnSpPr>
            <p:nvPr/>
          </p:nvCxnSpPr>
          <p:spPr bwMode="auto">
            <a:xfrm flipH="1">
              <a:off x="7381875" y="4060825"/>
              <a:ext cx="201613" cy="649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7" name="AutoShape 32"/>
            <p:cNvCxnSpPr>
              <a:cxnSpLocks noChangeShapeType="1"/>
              <a:stCxn id="84" idx="5"/>
              <a:endCxn id="95" idx="0"/>
            </p:cNvCxnSpPr>
            <p:nvPr/>
          </p:nvCxnSpPr>
          <p:spPr bwMode="auto">
            <a:xfrm>
              <a:off x="8042275" y="4060825"/>
              <a:ext cx="347663" cy="6492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8" name="文本框 19"/>
          <p:cNvSpPr txBox="1">
            <a:spLocks noChangeArrowheads="1"/>
          </p:cNvSpPr>
          <p:nvPr/>
        </p:nvSpPr>
        <p:spPr bwMode="auto">
          <a:xfrm>
            <a:off x="1150228" y="1808444"/>
            <a:ext cx="5823778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en-US" altLang="zh-CN" sz="2400" dirty="0" err="1"/>
              <a:t>os</a:t>
            </a:r>
            <a:r>
              <a:rPr lang="zh-CN" altLang="en-US" sz="2400" dirty="0"/>
              <a:t>允许一个进程创建另一个进程，通常把创建进程的进程称为父进程，被创建的进程称为子进程。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en-US" altLang="zh-CN" sz="2400" dirty="0"/>
              <a:t>Unix</a:t>
            </a:r>
            <a:r>
              <a:rPr lang="zh-CN" altLang="en-US" sz="2400" dirty="0"/>
              <a:t>中，进程与其子孙进程共同组成一个进程家族</a:t>
            </a:r>
            <a:r>
              <a:rPr lang="en-US" altLang="zh-CN" sz="2400" dirty="0"/>
              <a:t>.</a:t>
            </a:r>
          </a:p>
          <a:p>
            <a:pPr marL="0" lvl="2" indent="0">
              <a:buBlip>
                <a:blip r:embed="rId2"/>
              </a:buBlip>
            </a:pPr>
            <a:r>
              <a:rPr lang="en-US" altLang="zh-CN" sz="2400" dirty="0"/>
              <a:t>Windows</a:t>
            </a:r>
            <a:r>
              <a:rPr lang="zh-CN" altLang="en-US" sz="2400" dirty="0"/>
              <a:t>中不存在进程层次结构概念，进程间的关系是获得句柄与否、控制与被控制的简单关系。</a:t>
            </a:r>
          </a:p>
          <a:p>
            <a:pPr marL="0" lvl="2" indent="0">
              <a:buBlip>
                <a:blip r:embed="rId2"/>
              </a:buBlip>
            </a:pPr>
            <a:endParaRPr lang="en-US" altLang="zh-CN" sz="2400" dirty="0"/>
          </a:p>
        </p:txBody>
      </p:sp>
      <p:sp>
        <p:nvSpPr>
          <p:cNvPr id="109" name="矩形 108"/>
          <p:cNvSpPr/>
          <p:nvPr/>
        </p:nvSpPr>
        <p:spPr>
          <a:xfrm>
            <a:off x="1150227" y="5441560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0" name="矩形 109"/>
          <p:cNvSpPr/>
          <p:nvPr/>
        </p:nvSpPr>
        <p:spPr>
          <a:xfrm>
            <a:off x="2058277" y="5441560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1" name="文本框 55"/>
          <p:cNvSpPr txBox="1">
            <a:spLocks noChangeArrowheads="1"/>
          </p:cNvSpPr>
          <p:nvPr/>
        </p:nvSpPr>
        <p:spPr bwMode="auto">
          <a:xfrm>
            <a:off x="1004177" y="4908160"/>
            <a:ext cx="1920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）进程图</a:t>
            </a:r>
          </a:p>
        </p:txBody>
      </p:sp>
      <p:sp>
        <p:nvSpPr>
          <p:cNvPr id="112" name="文本框 19"/>
          <p:cNvSpPr txBox="1">
            <a:spLocks noChangeArrowheads="1"/>
          </p:cNvSpPr>
          <p:nvPr/>
        </p:nvSpPr>
        <p:spPr bwMode="auto">
          <a:xfrm>
            <a:off x="1150227" y="5647750"/>
            <a:ext cx="652747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用于描述一个进程的家庭关系的有向树</a:t>
            </a:r>
            <a:endParaRPr lang="en-US" altLang="zh-CN" sz="2400" dirty="0"/>
          </a:p>
          <a:p>
            <a:pPr marL="0" lvl="2" indent="0">
              <a:buBlip>
                <a:blip r:embed="rId2"/>
              </a:buBlip>
            </a:pPr>
            <a:r>
              <a:rPr lang="zh-CN" altLang="en-US" sz="2400" dirty="0"/>
              <a:t>子进程可以拥有父进程的资源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466101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进程的创建</a:t>
            </a:r>
          </a:p>
        </p:txBody>
      </p:sp>
      <p:sp>
        <p:nvSpPr>
          <p:cNvPr id="3" name="文本1"/>
          <p:cNvSpPr>
            <a:spLocks noChangeArrowheads="1"/>
          </p:cNvSpPr>
          <p:nvPr/>
        </p:nvSpPr>
        <p:spPr bwMode="auto">
          <a:xfrm>
            <a:off x="2101759" y="2108540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>
              <a:lnSpc>
                <a:spcPct val="150000"/>
              </a:lnSpc>
              <a:defRPr/>
            </a:pPr>
            <a:endParaRPr lang="en-US" altLang="zh-CN" sz="16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文本2"/>
          <p:cNvSpPr>
            <a:spLocks noChangeArrowheads="1"/>
          </p:cNvSpPr>
          <p:nvPr/>
        </p:nvSpPr>
        <p:spPr bwMode="auto">
          <a:xfrm>
            <a:off x="5846576" y="2108540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zh-CN" sz="12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4"/>
          <p:cNvSpPr>
            <a:spLocks noChangeArrowheads="1"/>
          </p:cNvSpPr>
          <p:nvPr/>
        </p:nvSpPr>
        <p:spPr bwMode="auto">
          <a:xfrm>
            <a:off x="5846576" y="4196103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zh-CN" sz="12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文本3"/>
          <p:cNvSpPr>
            <a:spLocks noChangeArrowheads="1"/>
          </p:cNvSpPr>
          <p:nvPr/>
        </p:nvSpPr>
        <p:spPr bwMode="auto">
          <a:xfrm>
            <a:off x="2101759" y="4196103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zh-CN" sz="12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灰色"/>
          <p:cNvSpPr/>
          <p:nvPr/>
        </p:nvSpPr>
        <p:spPr>
          <a:xfrm>
            <a:off x="5054168" y="3540144"/>
            <a:ext cx="1440000" cy="1440000"/>
          </a:xfrm>
          <a:prstGeom prst="ellipse">
            <a:avLst/>
          </a:prstGeom>
          <a:gradFill>
            <a:gsLst>
              <a:gs pos="33000">
                <a:srgbClr val="6DAA2D">
                  <a:lumMod val="60000"/>
                  <a:lumOff val="40000"/>
                </a:srgbClr>
              </a:gs>
              <a:gs pos="100000">
                <a:srgbClr val="6DAA2D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</a:pPr>
            <a:endParaRPr lang="zh-CN" altLang="en-US" sz="1200" kern="0" dirty="0">
              <a:solidFill>
                <a:srgbClr val="F9F9F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11"/>
          <p:cNvSpPr txBox="1">
            <a:spLocks noChangeArrowheads="1"/>
          </p:cNvSpPr>
          <p:nvPr/>
        </p:nvSpPr>
        <p:spPr bwMode="auto">
          <a:xfrm>
            <a:off x="5061225" y="4075478"/>
            <a:ext cx="14329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</a:p>
        </p:txBody>
      </p:sp>
      <p:sp>
        <p:nvSpPr>
          <p:cNvPr id="9" name="TextBox 1"/>
          <p:cNvSpPr txBox="1"/>
          <p:nvPr/>
        </p:nvSpPr>
        <p:spPr>
          <a:xfrm>
            <a:off x="2240394" y="2165258"/>
            <a:ext cx="3389759" cy="961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用户登录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分时系统中用户在终端登录</a:t>
            </a:r>
          </a:p>
        </p:txBody>
      </p:sp>
      <p:sp>
        <p:nvSpPr>
          <p:cNvPr id="10" name="TextBox 1"/>
          <p:cNvSpPr txBox="1"/>
          <p:nvPr/>
        </p:nvSpPr>
        <p:spPr>
          <a:xfrm>
            <a:off x="5984810" y="2165258"/>
            <a:ext cx="3389759" cy="134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启动程序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交互命令中用户输入可执行程序</a:t>
            </a:r>
            <a:endParaRPr lang="en-US" altLang="zh-CN" dirty="0"/>
          </a:p>
          <a:p>
            <a:pPr>
              <a:lnSpc>
                <a:spcPct val="140000"/>
              </a:lnSpc>
            </a:pPr>
            <a:r>
              <a:rPr lang="zh-CN" altLang="en-US" dirty="0"/>
              <a:t>批处理中作业调度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2240394" y="4491371"/>
            <a:ext cx="3389759" cy="961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提供服务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文件打印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5951696" y="4746481"/>
            <a:ext cx="3389759" cy="961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应用请求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应用程序为并发执行请求多进程</a:t>
            </a:r>
          </a:p>
        </p:txBody>
      </p:sp>
      <p:sp>
        <p:nvSpPr>
          <p:cNvPr id="13" name="矩形 12"/>
          <p:cNvSpPr/>
          <p:nvPr/>
        </p:nvSpPr>
        <p:spPr>
          <a:xfrm>
            <a:off x="986454" y="1661130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894504" y="1661130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5" name="文本框 55"/>
          <p:cNvSpPr txBox="1">
            <a:spLocks noChangeArrowheads="1"/>
          </p:cNvSpPr>
          <p:nvPr/>
        </p:nvSpPr>
        <p:spPr bwMode="auto">
          <a:xfrm>
            <a:off x="840404" y="1127730"/>
            <a:ext cx="39636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）引起进程创建的事件</a:t>
            </a:r>
          </a:p>
        </p:txBody>
      </p:sp>
    </p:spTree>
    <p:extLst>
      <p:ext uri="{BB962C8B-B14F-4D97-AF65-F5344CB8AC3E}">
        <p14:creationId xmlns:p14="http://schemas.microsoft.com/office/powerpoint/2010/main" val="218479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50"/>
                            </p:stCondLst>
                            <p:childTnLst>
                              <p:par>
                                <p:cTn id="3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3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3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3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9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进程的创建</a:t>
            </a:r>
          </a:p>
        </p:txBody>
      </p:sp>
      <p:sp>
        <p:nvSpPr>
          <p:cNvPr id="3" name="矩形 2"/>
          <p:cNvSpPr/>
          <p:nvPr/>
        </p:nvSpPr>
        <p:spPr>
          <a:xfrm>
            <a:off x="986454" y="1661130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94504" y="1661130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文本框 55"/>
          <p:cNvSpPr txBox="1">
            <a:spLocks noChangeArrowheads="1"/>
          </p:cNvSpPr>
          <p:nvPr/>
        </p:nvSpPr>
        <p:spPr bwMode="auto">
          <a:xfrm>
            <a:off x="840404" y="1127730"/>
            <a:ext cx="39636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）进程的创建过程</a:t>
            </a:r>
          </a:p>
        </p:txBody>
      </p:sp>
      <p:sp>
        <p:nvSpPr>
          <p:cNvPr id="7" name="Shape 2204"/>
          <p:cNvSpPr/>
          <p:nvPr/>
        </p:nvSpPr>
        <p:spPr>
          <a:xfrm>
            <a:off x="7606426" y="2924297"/>
            <a:ext cx="2617616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8" name="Shape 2205"/>
          <p:cNvSpPr/>
          <p:nvPr/>
        </p:nvSpPr>
        <p:spPr>
          <a:xfrm>
            <a:off x="5413574" y="2924297"/>
            <a:ext cx="2617615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9" name="Shape 2206"/>
          <p:cNvSpPr/>
          <p:nvPr/>
        </p:nvSpPr>
        <p:spPr>
          <a:xfrm>
            <a:off x="3179307" y="2924297"/>
            <a:ext cx="2617615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0" name="Shape 2207"/>
          <p:cNvSpPr/>
          <p:nvPr/>
        </p:nvSpPr>
        <p:spPr>
          <a:xfrm>
            <a:off x="986454" y="2924297"/>
            <a:ext cx="2617616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grpSp>
        <p:nvGrpSpPr>
          <p:cNvPr id="11" name="Group 2"/>
          <p:cNvGrpSpPr/>
          <p:nvPr/>
        </p:nvGrpSpPr>
        <p:grpSpPr>
          <a:xfrm>
            <a:off x="3192806" y="3209246"/>
            <a:ext cx="521998" cy="521999"/>
            <a:chOff x="3712472" y="2651901"/>
            <a:chExt cx="521998" cy="521999"/>
          </a:xfrm>
        </p:grpSpPr>
        <p:sp>
          <p:nvSpPr>
            <p:cNvPr id="25" name="Shape 2214"/>
            <p:cNvSpPr/>
            <p:nvPr/>
          </p:nvSpPr>
          <p:spPr>
            <a:xfrm>
              <a:off x="3712472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grpSp>
          <p:nvGrpSpPr>
            <p:cNvPr id="26" name="Group 2217"/>
            <p:cNvGrpSpPr/>
            <p:nvPr/>
          </p:nvGrpSpPr>
          <p:grpSpPr>
            <a:xfrm>
              <a:off x="3878843" y="2769409"/>
              <a:ext cx="188787" cy="265098"/>
              <a:chOff x="0" y="0"/>
              <a:chExt cx="390413" cy="548221"/>
            </a:xfrm>
          </p:grpSpPr>
          <p:sp>
            <p:nvSpPr>
              <p:cNvPr id="27" name="Shape 2215"/>
              <p:cNvSpPr/>
              <p:nvPr/>
            </p:nvSpPr>
            <p:spPr>
              <a:xfrm>
                <a:off x="0" y="46251"/>
                <a:ext cx="390413" cy="5019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0"/>
                    </a:moveTo>
                    <a:lnTo>
                      <a:pt x="17589" y="3600"/>
                    </a:lnTo>
                    <a:lnTo>
                      <a:pt x="4011" y="3600"/>
                    </a:lnTo>
                    <a:lnTo>
                      <a:pt x="2159" y="0"/>
                    </a:lnTo>
                    <a:cubicBezTo>
                      <a:pt x="972" y="0"/>
                      <a:pt x="0" y="756"/>
                      <a:pt x="0" y="1679"/>
                    </a:cubicBezTo>
                    <a:lnTo>
                      <a:pt x="0" y="19921"/>
                    </a:lnTo>
                    <a:cubicBezTo>
                      <a:pt x="0" y="20844"/>
                      <a:pt x="972" y="21600"/>
                      <a:pt x="2159" y="21600"/>
                    </a:cubicBezTo>
                    <a:lnTo>
                      <a:pt x="19441" y="21600"/>
                    </a:lnTo>
                    <a:cubicBezTo>
                      <a:pt x="20628" y="21600"/>
                      <a:pt x="21600" y="20844"/>
                      <a:pt x="21600" y="19921"/>
                    </a:cubicBezTo>
                    <a:lnTo>
                      <a:pt x="21600" y="1679"/>
                    </a:lnTo>
                    <a:cubicBezTo>
                      <a:pt x="21600" y="756"/>
                      <a:pt x="20628" y="0"/>
                      <a:pt x="19441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28" name="Shape 2216"/>
              <p:cNvSpPr/>
              <p:nvPr/>
            </p:nvSpPr>
            <p:spPr>
              <a:xfrm>
                <a:off x="68773" y="0"/>
                <a:ext cx="250985" cy="1115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21600"/>
                    </a:moveTo>
                    <a:lnTo>
                      <a:pt x="21600" y="10800"/>
                    </a:lnTo>
                    <a:lnTo>
                      <a:pt x="16369" y="10800"/>
                    </a:lnTo>
                    <a:lnTo>
                      <a:pt x="14641" y="0"/>
                    </a:lnTo>
                    <a:lnTo>
                      <a:pt x="6959" y="0"/>
                    </a:lnTo>
                    <a:lnTo>
                      <a:pt x="5231" y="10800"/>
                    </a:lnTo>
                    <a:lnTo>
                      <a:pt x="0" y="10800"/>
                    </a:lnTo>
                    <a:lnTo>
                      <a:pt x="2159" y="21600"/>
                    </a:lnTo>
                    <a:cubicBezTo>
                      <a:pt x="2159" y="21600"/>
                      <a:pt x="19441" y="21600"/>
                      <a:pt x="19441" y="2160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</p:grpSp>
      <p:grpSp>
        <p:nvGrpSpPr>
          <p:cNvPr id="12" name="Group 1"/>
          <p:cNvGrpSpPr/>
          <p:nvPr/>
        </p:nvGrpSpPr>
        <p:grpSpPr>
          <a:xfrm>
            <a:off x="986923" y="3198303"/>
            <a:ext cx="521998" cy="521999"/>
            <a:chOff x="1506589" y="2640958"/>
            <a:chExt cx="521998" cy="521999"/>
          </a:xfrm>
        </p:grpSpPr>
        <p:sp>
          <p:nvSpPr>
            <p:cNvPr id="23" name="Shape 2220"/>
            <p:cNvSpPr/>
            <p:nvPr/>
          </p:nvSpPr>
          <p:spPr>
            <a:xfrm>
              <a:off x="1506589" y="2640958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24" name="Shape 2221"/>
            <p:cNvSpPr/>
            <p:nvPr/>
          </p:nvSpPr>
          <p:spPr>
            <a:xfrm>
              <a:off x="1633470" y="2769409"/>
              <a:ext cx="276863" cy="265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grpSp>
        <p:nvGrpSpPr>
          <p:cNvPr id="13" name="Group 3"/>
          <p:cNvGrpSpPr/>
          <p:nvPr/>
        </p:nvGrpSpPr>
        <p:grpSpPr>
          <a:xfrm>
            <a:off x="5398221" y="3209246"/>
            <a:ext cx="521998" cy="521999"/>
            <a:chOff x="5917887" y="2651901"/>
            <a:chExt cx="521998" cy="521999"/>
          </a:xfrm>
        </p:grpSpPr>
        <p:sp>
          <p:nvSpPr>
            <p:cNvPr id="21" name="Shape 2224"/>
            <p:cNvSpPr/>
            <p:nvPr/>
          </p:nvSpPr>
          <p:spPr>
            <a:xfrm>
              <a:off x="5917887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22" name="Shape 2225"/>
            <p:cNvSpPr/>
            <p:nvPr/>
          </p:nvSpPr>
          <p:spPr>
            <a:xfrm>
              <a:off x="6067226" y="2798035"/>
              <a:ext cx="223320" cy="223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4" h="20814" extrusionOk="0">
                  <a:moveTo>
                    <a:pt x="16063" y="4751"/>
                  </a:moveTo>
                  <a:cubicBezTo>
                    <a:pt x="14562" y="3251"/>
                    <a:pt x="14186" y="1270"/>
                    <a:pt x="14318" y="1137"/>
                  </a:cubicBezTo>
                  <a:cubicBezTo>
                    <a:pt x="14452" y="1003"/>
                    <a:pt x="16354" y="1458"/>
                    <a:pt x="17856" y="2959"/>
                  </a:cubicBezTo>
                  <a:cubicBezTo>
                    <a:pt x="19356" y="4460"/>
                    <a:pt x="19807" y="6366"/>
                    <a:pt x="19677" y="6496"/>
                  </a:cubicBezTo>
                  <a:cubicBezTo>
                    <a:pt x="19548" y="6625"/>
                    <a:pt x="17564" y="6252"/>
                    <a:pt x="16063" y="4751"/>
                  </a:cubicBezTo>
                  <a:close/>
                  <a:moveTo>
                    <a:pt x="8257" y="11610"/>
                  </a:moveTo>
                  <a:cubicBezTo>
                    <a:pt x="7827" y="11179"/>
                    <a:pt x="7967" y="10342"/>
                    <a:pt x="8569" y="9739"/>
                  </a:cubicBezTo>
                  <a:cubicBezTo>
                    <a:pt x="9172" y="9137"/>
                    <a:pt x="10009" y="8997"/>
                    <a:pt x="10440" y="9428"/>
                  </a:cubicBezTo>
                  <a:cubicBezTo>
                    <a:pt x="10869" y="9858"/>
                    <a:pt x="10730" y="10696"/>
                    <a:pt x="10128" y="11298"/>
                  </a:cubicBezTo>
                  <a:cubicBezTo>
                    <a:pt x="9526" y="11900"/>
                    <a:pt x="8687" y="12040"/>
                    <a:pt x="8257" y="11610"/>
                  </a:cubicBezTo>
                  <a:close/>
                  <a:moveTo>
                    <a:pt x="18634" y="2180"/>
                  </a:moveTo>
                  <a:cubicBezTo>
                    <a:pt x="16698" y="243"/>
                    <a:pt x="14265" y="-466"/>
                    <a:pt x="13491" y="308"/>
                  </a:cubicBezTo>
                  <a:lnTo>
                    <a:pt x="10372" y="3426"/>
                  </a:lnTo>
                  <a:cubicBezTo>
                    <a:pt x="9900" y="3899"/>
                    <a:pt x="9488" y="5482"/>
                    <a:pt x="9676" y="7085"/>
                  </a:cubicBezTo>
                  <a:lnTo>
                    <a:pt x="240" y="16521"/>
                  </a:lnTo>
                  <a:cubicBezTo>
                    <a:pt x="-320" y="17081"/>
                    <a:pt x="134" y="18442"/>
                    <a:pt x="1253" y="19561"/>
                  </a:cubicBezTo>
                  <a:cubicBezTo>
                    <a:pt x="2373" y="20681"/>
                    <a:pt x="3733" y="21134"/>
                    <a:pt x="4293" y="20574"/>
                  </a:cubicBezTo>
                  <a:lnTo>
                    <a:pt x="13729" y="11138"/>
                  </a:lnTo>
                  <a:cubicBezTo>
                    <a:pt x="15332" y="11327"/>
                    <a:pt x="16915" y="10914"/>
                    <a:pt x="17388" y="10442"/>
                  </a:cubicBezTo>
                  <a:lnTo>
                    <a:pt x="20506" y="7324"/>
                  </a:lnTo>
                  <a:cubicBezTo>
                    <a:pt x="21280" y="6549"/>
                    <a:pt x="20573" y="4116"/>
                    <a:pt x="18634" y="2180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grpSp>
        <p:nvGrpSpPr>
          <p:cNvPr id="14" name="Group 4"/>
          <p:cNvGrpSpPr/>
          <p:nvPr/>
        </p:nvGrpSpPr>
        <p:grpSpPr>
          <a:xfrm>
            <a:off x="7619926" y="3209246"/>
            <a:ext cx="521998" cy="521999"/>
            <a:chOff x="8139592" y="2651901"/>
            <a:chExt cx="521998" cy="521999"/>
          </a:xfrm>
        </p:grpSpPr>
        <p:sp>
          <p:nvSpPr>
            <p:cNvPr id="19" name="Shape 2228"/>
            <p:cNvSpPr/>
            <p:nvPr/>
          </p:nvSpPr>
          <p:spPr>
            <a:xfrm>
              <a:off x="8139592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20" name="Shape 2229"/>
            <p:cNvSpPr/>
            <p:nvPr/>
          </p:nvSpPr>
          <p:spPr>
            <a:xfrm>
              <a:off x="8286417" y="2801240"/>
              <a:ext cx="223305" cy="223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8" h="21320" extrusionOk="0">
                  <a:moveTo>
                    <a:pt x="6122" y="19157"/>
                  </a:moveTo>
                  <a:lnTo>
                    <a:pt x="3902" y="19634"/>
                  </a:lnTo>
                  <a:cubicBezTo>
                    <a:pt x="3688" y="19233"/>
                    <a:pt x="3431" y="18833"/>
                    <a:pt x="2957" y="18361"/>
                  </a:cubicBezTo>
                  <a:cubicBezTo>
                    <a:pt x="2486" y="17889"/>
                    <a:pt x="2085" y="17631"/>
                    <a:pt x="1685" y="17417"/>
                  </a:cubicBezTo>
                  <a:lnTo>
                    <a:pt x="2162" y="15198"/>
                  </a:lnTo>
                  <a:lnTo>
                    <a:pt x="2804" y="14556"/>
                  </a:lnTo>
                  <a:cubicBezTo>
                    <a:pt x="2804" y="14556"/>
                    <a:pt x="4012" y="14580"/>
                    <a:pt x="5374" y="15944"/>
                  </a:cubicBezTo>
                  <a:cubicBezTo>
                    <a:pt x="6737" y="17307"/>
                    <a:pt x="6762" y="18516"/>
                    <a:pt x="6762" y="18516"/>
                  </a:cubicBezTo>
                  <a:cubicBezTo>
                    <a:pt x="6762" y="18516"/>
                    <a:pt x="6122" y="19157"/>
                    <a:pt x="6122" y="19157"/>
                  </a:cubicBezTo>
                  <a:close/>
                  <a:moveTo>
                    <a:pt x="19625" y="1692"/>
                  </a:moveTo>
                  <a:cubicBezTo>
                    <a:pt x="17654" y="-280"/>
                    <a:pt x="16174" y="15"/>
                    <a:pt x="16174" y="15"/>
                  </a:cubicBezTo>
                  <a:lnTo>
                    <a:pt x="9270" y="6920"/>
                  </a:lnTo>
                  <a:lnTo>
                    <a:pt x="1379" y="14810"/>
                  </a:lnTo>
                  <a:lnTo>
                    <a:pt x="0" y="21320"/>
                  </a:lnTo>
                  <a:lnTo>
                    <a:pt x="6508" y="19939"/>
                  </a:lnTo>
                  <a:lnTo>
                    <a:pt x="14399" y="12048"/>
                  </a:lnTo>
                  <a:lnTo>
                    <a:pt x="21302" y="5145"/>
                  </a:lnTo>
                  <a:cubicBezTo>
                    <a:pt x="21302" y="5145"/>
                    <a:pt x="21600" y="3665"/>
                    <a:pt x="19625" y="169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sp>
        <p:nvSpPr>
          <p:cNvPr id="15" name="TextBox 45"/>
          <p:cNvSpPr txBox="1"/>
          <p:nvPr/>
        </p:nvSpPr>
        <p:spPr>
          <a:xfrm>
            <a:off x="1508409" y="3310339"/>
            <a:ext cx="1698481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申请空白</a:t>
            </a:r>
            <a:r>
              <a:rPr lang="en-US" alt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PCB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46"/>
          <p:cNvSpPr txBox="1"/>
          <p:nvPr/>
        </p:nvSpPr>
        <p:spPr>
          <a:xfrm>
            <a:off x="3848666" y="3308175"/>
            <a:ext cx="1412750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分配资源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47"/>
          <p:cNvSpPr txBox="1"/>
          <p:nvPr/>
        </p:nvSpPr>
        <p:spPr>
          <a:xfrm>
            <a:off x="5950421" y="3291853"/>
            <a:ext cx="1530300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初始化</a:t>
            </a:r>
            <a:r>
              <a:rPr lang="en-US" alt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PCB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48"/>
          <p:cNvSpPr txBox="1"/>
          <p:nvPr/>
        </p:nvSpPr>
        <p:spPr>
          <a:xfrm>
            <a:off x="8164318" y="3305500"/>
            <a:ext cx="1698481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插入就绪队列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29" name="AutoShape 22"/>
          <p:cNvSpPr>
            <a:spLocks noChangeArrowheads="1"/>
          </p:cNvSpPr>
          <p:nvPr/>
        </p:nvSpPr>
        <p:spPr bwMode="auto">
          <a:xfrm>
            <a:off x="5049672" y="4176229"/>
            <a:ext cx="3480179" cy="1392071"/>
          </a:xfrm>
          <a:prstGeom prst="wedgeRoundRectCallout">
            <a:avLst>
              <a:gd name="adj1" fmla="val -3963"/>
              <a:gd name="adj2" fmla="val -64630"/>
              <a:gd name="adj3" fmla="val 16667"/>
            </a:avLst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l"/>
            <a:r>
              <a:rPr lang="zh-CN" altLang="en-US" sz="2400" dirty="0">
                <a:ea typeface="华文楷体" pitchFamily="2" charset="-122"/>
              </a:rPr>
              <a:t>初始化标识信息</a:t>
            </a:r>
            <a:endParaRPr lang="en-US" altLang="zh-CN" sz="2400" dirty="0">
              <a:ea typeface="华文楷体" pitchFamily="2" charset="-122"/>
            </a:endParaRPr>
          </a:p>
          <a:p>
            <a:pPr algn="l"/>
            <a:r>
              <a:rPr lang="zh-CN" altLang="en-US" sz="2400" dirty="0">
                <a:ea typeface="华文楷体" pitchFamily="2" charset="-122"/>
              </a:rPr>
              <a:t>初始化处理机状态信息</a:t>
            </a:r>
            <a:endParaRPr lang="en-US" altLang="zh-CN" sz="2400" dirty="0">
              <a:ea typeface="华文楷体" pitchFamily="2" charset="-122"/>
            </a:endParaRPr>
          </a:p>
          <a:p>
            <a:pPr algn="l"/>
            <a:r>
              <a:rPr lang="zh-CN" altLang="en-US" sz="2400" dirty="0">
                <a:ea typeface="华文楷体" pitchFamily="2" charset="-122"/>
              </a:rPr>
              <a:t>初始化处理机控制信息</a:t>
            </a:r>
            <a:endParaRPr lang="en-US" altLang="zh-CN" sz="2400" dirty="0">
              <a:ea typeface="华文楷体" pitchFamily="2" charset="-122"/>
            </a:endParaRPr>
          </a:p>
        </p:txBody>
      </p:sp>
      <p:sp>
        <p:nvSpPr>
          <p:cNvPr id="30" name="文本框 21"/>
          <p:cNvSpPr txBox="1">
            <a:spLocks noChangeArrowheads="1"/>
          </p:cNvSpPr>
          <p:nvPr/>
        </p:nvSpPr>
        <p:spPr bwMode="auto">
          <a:xfrm>
            <a:off x="986923" y="2010855"/>
            <a:ext cx="7279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由进程创建原语</a:t>
            </a:r>
            <a:r>
              <a:rPr lang="en-US" altLang="zh-CN" sz="2400" b="1" dirty="0" err="1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</a:t>
            </a:r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4517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进程的撤销</a:t>
            </a:r>
          </a:p>
        </p:txBody>
      </p:sp>
      <p:sp>
        <p:nvSpPr>
          <p:cNvPr id="3" name="矩形 2"/>
          <p:cNvSpPr/>
          <p:nvPr/>
        </p:nvSpPr>
        <p:spPr>
          <a:xfrm>
            <a:off x="986454" y="1661130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94504" y="1661130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文本框 55"/>
          <p:cNvSpPr txBox="1">
            <a:spLocks noChangeArrowheads="1"/>
          </p:cNvSpPr>
          <p:nvPr/>
        </p:nvSpPr>
        <p:spPr bwMode="auto">
          <a:xfrm>
            <a:off x="840404" y="1127730"/>
            <a:ext cx="39636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）引起进程终止的事件</a:t>
            </a:r>
          </a:p>
        </p:txBody>
      </p:sp>
      <p:sp>
        <p:nvSpPr>
          <p:cNvPr id="30" name="文本1"/>
          <p:cNvSpPr>
            <a:spLocks noChangeArrowheads="1"/>
          </p:cNvSpPr>
          <p:nvPr/>
        </p:nvSpPr>
        <p:spPr bwMode="auto">
          <a:xfrm>
            <a:off x="2101759" y="2108540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>
              <a:lnSpc>
                <a:spcPct val="150000"/>
              </a:lnSpc>
              <a:defRPr/>
            </a:pPr>
            <a:endParaRPr lang="en-US" altLang="zh-CN" sz="16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文本2"/>
          <p:cNvSpPr>
            <a:spLocks noChangeArrowheads="1"/>
          </p:cNvSpPr>
          <p:nvPr/>
        </p:nvSpPr>
        <p:spPr bwMode="auto">
          <a:xfrm>
            <a:off x="5846576" y="2108540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zh-CN" sz="12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文本4"/>
          <p:cNvSpPr>
            <a:spLocks noChangeArrowheads="1"/>
          </p:cNvSpPr>
          <p:nvPr/>
        </p:nvSpPr>
        <p:spPr bwMode="auto">
          <a:xfrm>
            <a:off x="5846576" y="4196103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zh-CN" sz="12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文本3"/>
          <p:cNvSpPr>
            <a:spLocks noChangeArrowheads="1"/>
          </p:cNvSpPr>
          <p:nvPr/>
        </p:nvSpPr>
        <p:spPr bwMode="auto">
          <a:xfrm>
            <a:off x="2101759" y="4196103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zh-CN" sz="12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灰色"/>
          <p:cNvSpPr/>
          <p:nvPr/>
        </p:nvSpPr>
        <p:spPr>
          <a:xfrm>
            <a:off x="5054168" y="3540144"/>
            <a:ext cx="1440000" cy="1440000"/>
          </a:xfrm>
          <a:prstGeom prst="ellipse">
            <a:avLst/>
          </a:prstGeom>
          <a:gradFill>
            <a:gsLst>
              <a:gs pos="33000">
                <a:srgbClr val="6DAA2D">
                  <a:lumMod val="60000"/>
                  <a:lumOff val="40000"/>
                </a:srgbClr>
              </a:gs>
              <a:gs pos="100000">
                <a:srgbClr val="6DAA2D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</a:pPr>
            <a:endParaRPr lang="zh-CN" altLang="en-US" sz="1200" kern="0" dirty="0">
              <a:solidFill>
                <a:srgbClr val="F9F9F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Box 11"/>
          <p:cNvSpPr txBox="1">
            <a:spLocks noChangeArrowheads="1"/>
          </p:cNvSpPr>
          <p:nvPr/>
        </p:nvSpPr>
        <p:spPr bwMode="auto">
          <a:xfrm>
            <a:off x="5061225" y="4075478"/>
            <a:ext cx="14329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</a:p>
        </p:txBody>
      </p:sp>
      <p:sp>
        <p:nvSpPr>
          <p:cNvPr id="36" name="TextBox 1"/>
          <p:cNvSpPr txBox="1"/>
          <p:nvPr/>
        </p:nvSpPr>
        <p:spPr>
          <a:xfrm>
            <a:off x="2240394" y="2165258"/>
            <a:ext cx="3389759" cy="961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正常结束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进程已经运行完成</a:t>
            </a:r>
          </a:p>
        </p:txBody>
      </p:sp>
      <p:sp>
        <p:nvSpPr>
          <p:cNvPr id="37" name="TextBox 1"/>
          <p:cNvSpPr txBox="1"/>
          <p:nvPr/>
        </p:nvSpPr>
        <p:spPr>
          <a:xfrm>
            <a:off x="5984810" y="2158424"/>
            <a:ext cx="1694879" cy="182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异常结束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spcBef>
                <a:spcPct val="10000"/>
              </a:spcBef>
              <a:buFontTx/>
              <a:buChar char="•"/>
            </a:pPr>
            <a:r>
              <a:rPr lang="zh-CN" altLang="en-US" dirty="0"/>
              <a:t>越界错误</a:t>
            </a:r>
          </a:p>
          <a:p>
            <a:pPr algn="just">
              <a:spcBef>
                <a:spcPct val="10000"/>
              </a:spcBef>
              <a:buFontTx/>
              <a:buChar char="•"/>
            </a:pPr>
            <a:r>
              <a:rPr lang="zh-CN" altLang="en-US" dirty="0"/>
              <a:t>保护错</a:t>
            </a:r>
          </a:p>
          <a:p>
            <a:pPr algn="just">
              <a:spcBef>
                <a:spcPct val="10000"/>
              </a:spcBef>
              <a:buFontTx/>
              <a:buChar char="•"/>
            </a:pPr>
            <a:r>
              <a:rPr lang="zh-CN" altLang="en-US" dirty="0"/>
              <a:t>非法指令</a:t>
            </a:r>
          </a:p>
          <a:p>
            <a:pPr algn="just">
              <a:spcBef>
                <a:spcPct val="10000"/>
              </a:spcBef>
              <a:buFontTx/>
              <a:buChar char="•"/>
            </a:pPr>
            <a:r>
              <a:rPr lang="zh-CN" altLang="en-US" dirty="0"/>
              <a:t>特权指令错</a:t>
            </a:r>
          </a:p>
        </p:txBody>
      </p:sp>
      <p:sp>
        <p:nvSpPr>
          <p:cNvPr id="38" name="TextBox 1"/>
          <p:cNvSpPr txBox="1"/>
          <p:nvPr/>
        </p:nvSpPr>
        <p:spPr>
          <a:xfrm>
            <a:off x="2240394" y="4259374"/>
            <a:ext cx="3389759" cy="1495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外界干预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spcBef>
                <a:spcPct val="10000"/>
              </a:spcBef>
              <a:buFontTx/>
              <a:buChar char="•"/>
            </a:pPr>
            <a:r>
              <a:rPr lang="zh-CN" altLang="en-US" dirty="0"/>
              <a:t>操作员或操作系统干预</a:t>
            </a:r>
          </a:p>
          <a:p>
            <a:pPr algn="just">
              <a:spcBef>
                <a:spcPct val="10000"/>
              </a:spcBef>
              <a:buFontTx/>
              <a:buChar char="•"/>
            </a:pPr>
            <a:r>
              <a:rPr lang="zh-CN" altLang="en-US" dirty="0"/>
              <a:t>父进程请求</a:t>
            </a:r>
          </a:p>
          <a:p>
            <a:pPr>
              <a:buFontTx/>
              <a:buChar char="•"/>
            </a:pPr>
            <a:r>
              <a:rPr lang="zh-CN" altLang="en-US" dirty="0"/>
              <a:t>父进程终止</a:t>
            </a:r>
          </a:p>
        </p:txBody>
      </p:sp>
      <p:sp>
        <p:nvSpPr>
          <p:cNvPr id="39" name="TextBox 1"/>
          <p:cNvSpPr txBox="1"/>
          <p:nvPr/>
        </p:nvSpPr>
        <p:spPr>
          <a:xfrm>
            <a:off x="5984810" y="4900713"/>
            <a:ext cx="3389759" cy="55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" name="TextBox 1"/>
          <p:cNvSpPr txBox="1"/>
          <p:nvPr/>
        </p:nvSpPr>
        <p:spPr>
          <a:xfrm>
            <a:off x="7751696" y="2668046"/>
            <a:ext cx="1474191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ct val="10000"/>
              </a:spcBef>
              <a:buFontTx/>
              <a:buChar char="•"/>
            </a:pPr>
            <a:r>
              <a:rPr lang="zh-CN" altLang="en-US" dirty="0"/>
              <a:t>运行超时</a:t>
            </a:r>
          </a:p>
          <a:p>
            <a:pPr algn="just">
              <a:spcBef>
                <a:spcPct val="10000"/>
              </a:spcBef>
              <a:buFontTx/>
              <a:buChar char="•"/>
            </a:pPr>
            <a:r>
              <a:rPr lang="zh-CN" altLang="en-US" dirty="0"/>
              <a:t>等待超时</a:t>
            </a:r>
          </a:p>
          <a:p>
            <a:pPr algn="just">
              <a:spcBef>
                <a:spcPct val="10000"/>
              </a:spcBef>
              <a:buFontTx/>
              <a:buChar char="•"/>
            </a:pPr>
            <a:r>
              <a:rPr lang="zh-CN" altLang="en-US" dirty="0"/>
              <a:t>算术运算错</a:t>
            </a:r>
          </a:p>
          <a:p>
            <a:pPr algn="just">
              <a:spcBef>
                <a:spcPct val="10000"/>
              </a:spcBef>
              <a:buFontTx/>
              <a:buChar char="•"/>
            </a:pPr>
            <a:r>
              <a:rPr lang="en-US" altLang="zh-CN" dirty="0"/>
              <a:t>I/O</a:t>
            </a:r>
            <a:r>
              <a:rPr lang="zh-CN" altLang="en-US" dirty="0"/>
              <a:t>故障</a:t>
            </a:r>
          </a:p>
        </p:txBody>
      </p:sp>
    </p:spTree>
    <p:extLst>
      <p:ext uri="{BB962C8B-B14F-4D97-AF65-F5344CB8AC3E}">
        <p14:creationId xmlns:p14="http://schemas.microsoft.com/office/powerpoint/2010/main" val="11520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50"/>
                            </p:stCondLst>
                            <p:childTnLst>
                              <p:par>
                                <p:cTn id="3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3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3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36" fill="hold" grpId="0" nodeType="withEffect" nodePh="1">
                                  <p:stCondLst>
                                    <p:cond delay="45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3" presetClass="entr" presetSubtype="3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6" grpId="0"/>
      <p:bldP spid="37" grpId="0"/>
      <p:bldP spid="38" grpId="0"/>
      <p:bldP spid="39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进程的撤销</a:t>
            </a:r>
          </a:p>
        </p:txBody>
      </p:sp>
      <p:sp>
        <p:nvSpPr>
          <p:cNvPr id="3" name="矩形 2"/>
          <p:cNvSpPr/>
          <p:nvPr/>
        </p:nvSpPr>
        <p:spPr>
          <a:xfrm>
            <a:off x="986454" y="1661130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94504" y="1661130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文本框 55"/>
          <p:cNvSpPr txBox="1">
            <a:spLocks noChangeArrowheads="1"/>
          </p:cNvSpPr>
          <p:nvPr/>
        </p:nvSpPr>
        <p:spPr bwMode="auto">
          <a:xfrm>
            <a:off x="840404" y="1127730"/>
            <a:ext cx="39636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）进程的撤销过程</a:t>
            </a:r>
          </a:p>
        </p:txBody>
      </p:sp>
      <p:sp>
        <p:nvSpPr>
          <p:cNvPr id="7" name="Shape 2204"/>
          <p:cNvSpPr/>
          <p:nvPr/>
        </p:nvSpPr>
        <p:spPr>
          <a:xfrm>
            <a:off x="7606426" y="2924297"/>
            <a:ext cx="2617616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8" name="Shape 2205"/>
          <p:cNvSpPr/>
          <p:nvPr/>
        </p:nvSpPr>
        <p:spPr>
          <a:xfrm>
            <a:off x="5413574" y="2924297"/>
            <a:ext cx="2617615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9" name="Shape 2206"/>
          <p:cNvSpPr/>
          <p:nvPr/>
        </p:nvSpPr>
        <p:spPr>
          <a:xfrm>
            <a:off x="3179307" y="2924297"/>
            <a:ext cx="2617615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0" name="Shape 2207"/>
          <p:cNvSpPr/>
          <p:nvPr/>
        </p:nvSpPr>
        <p:spPr>
          <a:xfrm>
            <a:off x="986454" y="2924297"/>
            <a:ext cx="2617616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grpSp>
        <p:nvGrpSpPr>
          <p:cNvPr id="11" name="Group 2"/>
          <p:cNvGrpSpPr/>
          <p:nvPr/>
        </p:nvGrpSpPr>
        <p:grpSpPr>
          <a:xfrm>
            <a:off x="3192806" y="3209246"/>
            <a:ext cx="521998" cy="521999"/>
            <a:chOff x="3712472" y="2651901"/>
            <a:chExt cx="521998" cy="521999"/>
          </a:xfrm>
        </p:grpSpPr>
        <p:sp>
          <p:nvSpPr>
            <p:cNvPr id="25" name="Shape 2214"/>
            <p:cNvSpPr/>
            <p:nvPr/>
          </p:nvSpPr>
          <p:spPr>
            <a:xfrm>
              <a:off x="3712472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grpSp>
          <p:nvGrpSpPr>
            <p:cNvPr id="26" name="Group 2217"/>
            <p:cNvGrpSpPr/>
            <p:nvPr/>
          </p:nvGrpSpPr>
          <p:grpSpPr>
            <a:xfrm>
              <a:off x="3878843" y="2769409"/>
              <a:ext cx="188787" cy="265098"/>
              <a:chOff x="0" y="0"/>
              <a:chExt cx="390413" cy="548221"/>
            </a:xfrm>
          </p:grpSpPr>
          <p:sp>
            <p:nvSpPr>
              <p:cNvPr id="27" name="Shape 2215"/>
              <p:cNvSpPr/>
              <p:nvPr/>
            </p:nvSpPr>
            <p:spPr>
              <a:xfrm>
                <a:off x="0" y="46251"/>
                <a:ext cx="390413" cy="5019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0"/>
                    </a:moveTo>
                    <a:lnTo>
                      <a:pt x="17589" y="3600"/>
                    </a:lnTo>
                    <a:lnTo>
                      <a:pt x="4011" y="3600"/>
                    </a:lnTo>
                    <a:lnTo>
                      <a:pt x="2159" y="0"/>
                    </a:lnTo>
                    <a:cubicBezTo>
                      <a:pt x="972" y="0"/>
                      <a:pt x="0" y="756"/>
                      <a:pt x="0" y="1679"/>
                    </a:cubicBezTo>
                    <a:lnTo>
                      <a:pt x="0" y="19921"/>
                    </a:lnTo>
                    <a:cubicBezTo>
                      <a:pt x="0" y="20844"/>
                      <a:pt x="972" y="21600"/>
                      <a:pt x="2159" y="21600"/>
                    </a:cubicBezTo>
                    <a:lnTo>
                      <a:pt x="19441" y="21600"/>
                    </a:lnTo>
                    <a:cubicBezTo>
                      <a:pt x="20628" y="21600"/>
                      <a:pt x="21600" y="20844"/>
                      <a:pt x="21600" y="19921"/>
                    </a:cubicBezTo>
                    <a:lnTo>
                      <a:pt x="21600" y="1679"/>
                    </a:lnTo>
                    <a:cubicBezTo>
                      <a:pt x="21600" y="756"/>
                      <a:pt x="20628" y="0"/>
                      <a:pt x="19441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28" name="Shape 2216"/>
              <p:cNvSpPr/>
              <p:nvPr/>
            </p:nvSpPr>
            <p:spPr>
              <a:xfrm>
                <a:off x="68773" y="0"/>
                <a:ext cx="250985" cy="1115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21600"/>
                    </a:moveTo>
                    <a:lnTo>
                      <a:pt x="21600" y="10800"/>
                    </a:lnTo>
                    <a:lnTo>
                      <a:pt x="16369" y="10800"/>
                    </a:lnTo>
                    <a:lnTo>
                      <a:pt x="14641" y="0"/>
                    </a:lnTo>
                    <a:lnTo>
                      <a:pt x="6959" y="0"/>
                    </a:lnTo>
                    <a:lnTo>
                      <a:pt x="5231" y="10800"/>
                    </a:lnTo>
                    <a:lnTo>
                      <a:pt x="0" y="10800"/>
                    </a:lnTo>
                    <a:lnTo>
                      <a:pt x="2159" y="21600"/>
                    </a:lnTo>
                    <a:cubicBezTo>
                      <a:pt x="2159" y="21600"/>
                      <a:pt x="19441" y="21600"/>
                      <a:pt x="19441" y="2160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</p:grpSp>
      <p:grpSp>
        <p:nvGrpSpPr>
          <p:cNvPr id="12" name="Group 1"/>
          <p:cNvGrpSpPr/>
          <p:nvPr/>
        </p:nvGrpSpPr>
        <p:grpSpPr>
          <a:xfrm>
            <a:off x="986923" y="3198303"/>
            <a:ext cx="521998" cy="521999"/>
            <a:chOff x="1506589" y="2640958"/>
            <a:chExt cx="521998" cy="521999"/>
          </a:xfrm>
        </p:grpSpPr>
        <p:sp>
          <p:nvSpPr>
            <p:cNvPr id="23" name="Shape 2220"/>
            <p:cNvSpPr/>
            <p:nvPr/>
          </p:nvSpPr>
          <p:spPr>
            <a:xfrm>
              <a:off x="1506589" y="2640958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24" name="Shape 2221"/>
            <p:cNvSpPr/>
            <p:nvPr/>
          </p:nvSpPr>
          <p:spPr>
            <a:xfrm>
              <a:off x="1633470" y="2769409"/>
              <a:ext cx="276863" cy="265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grpSp>
        <p:nvGrpSpPr>
          <p:cNvPr id="13" name="Group 3"/>
          <p:cNvGrpSpPr/>
          <p:nvPr/>
        </p:nvGrpSpPr>
        <p:grpSpPr>
          <a:xfrm>
            <a:off x="5398221" y="3209246"/>
            <a:ext cx="521998" cy="521999"/>
            <a:chOff x="5917887" y="2651901"/>
            <a:chExt cx="521998" cy="521999"/>
          </a:xfrm>
        </p:grpSpPr>
        <p:sp>
          <p:nvSpPr>
            <p:cNvPr id="21" name="Shape 2224"/>
            <p:cNvSpPr/>
            <p:nvPr/>
          </p:nvSpPr>
          <p:spPr>
            <a:xfrm>
              <a:off x="5917887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22" name="Shape 2225"/>
            <p:cNvSpPr/>
            <p:nvPr/>
          </p:nvSpPr>
          <p:spPr>
            <a:xfrm>
              <a:off x="6067226" y="2798035"/>
              <a:ext cx="223320" cy="223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4" h="20814" extrusionOk="0">
                  <a:moveTo>
                    <a:pt x="16063" y="4751"/>
                  </a:moveTo>
                  <a:cubicBezTo>
                    <a:pt x="14562" y="3251"/>
                    <a:pt x="14186" y="1270"/>
                    <a:pt x="14318" y="1137"/>
                  </a:cubicBezTo>
                  <a:cubicBezTo>
                    <a:pt x="14452" y="1003"/>
                    <a:pt x="16354" y="1458"/>
                    <a:pt x="17856" y="2959"/>
                  </a:cubicBezTo>
                  <a:cubicBezTo>
                    <a:pt x="19356" y="4460"/>
                    <a:pt x="19807" y="6366"/>
                    <a:pt x="19677" y="6496"/>
                  </a:cubicBezTo>
                  <a:cubicBezTo>
                    <a:pt x="19548" y="6625"/>
                    <a:pt x="17564" y="6252"/>
                    <a:pt x="16063" y="4751"/>
                  </a:cubicBezTo>
                  <a:close/>
                  <a:moveTo>
                    <a:pt x="8257" y="11610"/>
                  </a:moveTo>
                  <a:cubicBezTo>
                    <a:pt x="7827" y="11179"/>
                    <a:pt x="7967" y="10342"/>
                    <a:pt x="8569" y="9739"/>
                  </a:cubicBezTo>
                  <a:cubicBezTo>
                    <a:pt x="9172" y="9137"/>
                    <a:pt x="10009" y="8997"/>
                    <a:pt x="10440" y="9428"/>
                  </a:cubicBezTo>
                  <a:cubicBezTo>
                    <a:pt x="10869" y="9858"/>
                    <a:pt x="10730" y="10696"/>
                    <a:pt x="10128" y="11298"/>
                  </a:cubicBezTo>
                  <a:cubicBezTo>
                    <a:pt x="9526" y="11900"/>
                    <a:pt x="8687" y="12040"/>
                    <a:pt x="8257" y="11610"/>
                  </a:cubicBezTo>
                  <a:close/>
                  <a:moveTo>
                    <a:pt x="18634" y="2180"/>
                  </a:moveTo>
                  <a:cubicBezTo>
                    <a:pt x="16698" y="243"/>
                    <a:pt x="14265" y="-466"/>
                    <a:pt x="13491" y="308"/>
                  </a:cubicBezTo>
                  <a:lnTo>
                    <a:pt x="10372" y="3426"/>
                  </a:lnTo>
                  <a:cubicBezTo>
                    <a:pt x="9900" y="3899"/>
                    <a:pt x="9488" y="5482"/>
                    <a:pt x="9676" y="7085"/>
                  </a:cubicBezTo>
                  <a:lnTo>
                    <a:pt x="240" y="16521"/>
                  </a:lnTo>
                  <a:cubicBezTo>
                    <a:pt x="-320" y="17081"/>
                    <a:pt x="134" y="18442"/>
                    <a:pt x="1253" y="19561"/>
                  </a:cubicBezTo>
                  <a:cubicBezTo>
                    <a:pt x="2373" y="20681"/>
                    <a:pt x="3733" y="21134"/>
                    <a:pt x="4293" y="20574"/>
                  </a:cubicBezTo>
                  <a:lnTo>
                    <a:pt x="13729" y="11138"/>
                  </a:lnTo>
                  <a:cubicBezTo>
                    <a:pt x="15332" y="11327"/>
                    <a:pt x="16915" y="10914"/>
                    <a:pt x="17388" y="10442"/>
                  </a:cubicBezTo>
                  <a:lnTo>
                    <a:pt x="20506" y="7324"/>
                  </a:lnTo>
                  <a:cubicBezTo>
                    <a:pt x="21280" y="6549"/>
                    <a:pt x="20573" y="4116"/>
                    <a:pt x="18634" y="2180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grpSp>
        <p:nvGrpSpPr>
          <p:cNvPr id="14" name="Group 4"/>
          <p:cNvGrpSpPr/>
          <p:nvPr/>
        </p:nvGrpSpPr>
        <p:grpSpPr>
          <a:xfrm>
            <a:off x="7619926" y="3209246"/>
            <a:ext cx="521998" cy="521999"/>
            <a:chOff x="8139592" y="2651901"/>
            <a:chExt cx="521998" cy="521999"/>
          </a:xfrm>
        </p:grpSpPr>
        <p:sp>
          <p:nvSpPr>
            <p:cNvPr id="19" name="Shape 2228"/>
            <p:cNvSpPr/>
            <p:nvPr/>
          </p:nvSpPr>
          <p:spPr>
            <a:xfrm>
              <a:off x="8139592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20" name="Shape 2229"/>
            <p:cNvSpPr/>
            <p:nvPr/>
          </p:nvSpPr>
          <p:spPr>
            <a:xfrm>
              <a:off x="8286417" y="2801240"/>
              <a:ext cx="223305" cy="223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8" h="21320" extrusionOk="0">
                  <a:moveTo>
                    <a:pt x="6122" y="19157"/>
                  </a:moveTo>
                  <a:lnTo>
                    <a:pt x="3902" y="19634"/>
                  </a:lnTo>
                  <a:cubicBezTo>
                    <a:pt x="3688" y="19233"/>
                    <a:pt x="3431" y="18833"/>
                    <a:pt x="2957" y="18361"/>
                  </a:cubicBezTo>
                  <a:cubicBezTo>
                    <a:pt x="2486" y="17889"/>
                    <a:pt x="2085" y="17631"/>
                    <a:pt x="1685" y="17417"/>
                  </a:cubicBezTo>
                  <a:lnTo>
                    <a:pt x="2162" y="15198"/>
                  </a:lnTo>
                  <a:lnTo>
                    <a:pt x="2804" y="14556"/>
                  </a:lnTo>
                  <a:cubicBezTo>
                    <a:pt x="2804" y="14556"/>
                    <a:pt x="4012" y="14580"/>
                    <a:pt x="5374" y="15944"/>
                  </a:cubicBezTo>
                  <a:cubicBezTo>
                    <a:pt x="6737" y="17307"/>
                    <a:pt x="6762" y="18516"/>
                    <a:pt x="6762" y="18516"/>
                  </a:cubicBezTo>
                  <a:cubicBezTo>
                    <a:pt x="6762" y="18516"/>
                    <a:pt x="6122" y="19157"/>
                    <a:pt x="6122" y="19157"/>
                  </a:cubicBezTo>
                  <a:close/>
                  <a:moveTo>
                    <a:pt x="19625" y="1692"/>
                  </a:moveTo>
                  <a:cubicBezTo>
                    <a:pt x="17654" y="-280"/>
                    <a:pt x="16174" y="15"/>
                    <a:pt x="16174" y="15"/>
                  </a:cubicBezTo>
                  <a:lnTo>
                    <a:pt x="9270" y="6920"/>
                  </a:lnTo>
                  <a:lnTo>
                    <a:pt x="1379" y="14810"/>
                  </a:lnTo>
                  <a:lnTo>
                    <a:pt x="0" y="21320"/>
                  </a:lnTo>
                  <a:lnTo>
                    <a:pt x="6508" y="19939"/>
                  </a:lnTo>
                  <a:lnTo>
                    <a:pt x="14399" y="12048"/>
                  </a:lnTo>
                  <a:lnTo>
                    <a:pt x="21302" y="5145"/>
                  </a:lnTo>
                  <a:cubicBezTo>
                    <a:pt x="21302" y="5145"/>
                    <a:pt x="21600" y="3665"/>
                    <a:pt x="19625" y="169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sp>
        <p:nvSpPr>
          <p:cNvPr id="15" name="TextBox 45"/>
          <p:cNvSpPr txBox="1"/>
          <p:nvPr/>
        </p:nvSpPr>
        <p:spPr>
          <a:xfrm>
            <a:off x="1508409" y="3310339"/>
            <a:ext cx="1698481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检索</a:t>
            </a:r>
            <a:r>
              <a:rPr lang="en-US" alt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PCB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46"/>
          <p:cNvSpPr txBox="1"/>
          <p:nvPr/>
        </p:nvSpPr>
        <p:spPr>
          <a:xfrm>
            <a:off x="3739482" y="3171695"/>
            <a:ext cx="1412750" cy="6155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置重新调度标志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47"/>
          <p:cNvSpPr txBox="1"/>
          <p:nvPr/>
        </p:nvSpPr>
        <p:spPr>
          <a:xfrm>
            <a:off x="5950421" y="3291853"/>
            <a:ext cx="1530300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终止子孙进程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48"/>
          <p:cNvSpPr txBox="1"/>
          <p:nvPr/>
        </p:nvSpPr>
        <p:spPr>
          <a:xfrm>
            <a:off x="8164318" y="3305500"/>
            <a:ext cx="1698481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释放资源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30" name="Shape 2200"/>
          <p:cNvSpPr/>
          <p:nvPr/>
        </p:nvSpPr>
        <p:spPr>
          <a:xfrm rot="5400000">
            <a:off x="9153854" y="3810668"/>
            <a:ext cx="694517" cy="614115"/>
          </a:xfrm>
          <a:prstGeom prst="rightArrow">
            <a:avLst>
              <a:gd name="adj1" fmla="val 32000"/>
              <a:gd name="adj2" fmla="val 64000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31" name="Shape 2211"/>
          <p:cNvSpPr/>
          <p:nvPr/>
        </p:nvSpPr>
        <p:spPr>
          <a:xfrm rot="10800000">
            <a:off x="7149611" y="4319737"/>
            <a:ext cx="2617615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grpSp>
        <p:nvGrpSpPr>
          <p:cNvPr id="32" name="Group 5"/>
          <p:cNvGrpSpPr/>
          <p:nvPr/>
        </p:nvGrpSpPr>
        <p:grpSpPr>
          <a:xfrm>
            <a:off x="9245228" y="4593743"/>
            <a:ext cx="521998" cy="521999"/>
            <a:chOff x="10221709" y="4052785"/>
            <a:chExt cx="521998" cy="521999"/>
          </a:xfrm>
        </p:grpSpPr>
        <p:sp>
          <p:nvSpPr>
            <p:cNvPr id="38" name="Shape 2232"/>
            <p:cNvSpPr/>
            <p:nvPr/>
          </p:nvSpPr>
          <p:spPr>
            <a:xfrm>
              <a:off x="10221709" y="4052785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39" name="Shape 2233"/>
            <p:cNvSpPr/>
            <p:nvPr/>
          </p:nvSpPr>
          <p:spPr>
            <a:xfrm>
              <a:off x="10388587" y="4179325"/>
              <a:ext cx="188243" cy="26891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7" h="21276" extrusionOk="0">
                  <a:moveTo>
                    <a:pt x="1877" y="21023"/>
                  </a:moveTo>
                  <a:cubicBezTo>
                    <a:pt x="2335" y="19958"/>
                    <a:pt x="3030" y="18458"/>
                    <a:pt x="3960" y="16288"/>
                  </a:cubicBezTo>
                  <a:cubicBezTo>
                    <a:pt x="8011" y="15823"/>
                    <a:pt x="9689" y="16658"/>
                    <a:pt x="12261" y="13325"/>
                  </a:cubicBezTo>
                  <a:cubicBezTo>
                    <a:pt x="10172" y="13789"/>
                    <a:pt x="7654" y="12465"/>
                    <a:pt x="7789" y="11892"/>
                  </a:cubicBezTo>
                  <a:cubicBezTo>
                    <a:pt x="7924" y="11318"/>
                    <a:pt x="13647" y="12306"/>
                    <a:pt x="17393" y="8447"/>
                  </a:cubicBezTo>
                  <a:cubicBezTo>
                    <a:pt x="12670" y="9202"/>
                    <a:pt x="11160" y="7540"/>
                    <a:pt x="11769" y="7289"/>
                  </a:cubicBezTo>
                  <a:cubicBezTo>
                    <a:pt x="13175" y="6708"/>
                    <a:pt x="17348" y="7048"/>
                    <a:pt x="19572" y="5477"/>
                  </a:cubicBezTo>
                  <a:cubicBezTo>
                    <a:pt x="20719" y="4669"/>
                    <a:pt x="21256" y="2702"/>
                    <a:pt x="20789" y="2000"/>
                  </a:cubicBezTo>
                  <a:cubicBezTo>
                    <a:pt x="20229" y="1153"/>
                    <a:pt x="16813" y="-111"/>
                    <a:pt x="14931" y="7"/>
                  </a:cubicBezTo>
                  <a:cubicBezTo>
                    <a:pt x="13047" y="126"/>
                    <a:pt x="10093" y="5208"/>
                    <a:pt x="9217" y="5168"/>
                  </a:cubicBezTo>
                  <a:cubicBezTo>
                    <a:pt x="8341" y="5128"/>
                    <a:pt x="8166" y="2892"/>
                    <a:pt x="9694" y="813"/>
                  </a:cubicBezTo>
                  <a:cubicBezTo>
                    <a:pt x="8081" y="1330"/>
                    <a:pt x="5127" y="2940"/>
                    <a:pt x="4200" y="4315"/>
                  </a:cubicBezTo>
                  <a:cubicBezTo>
                    <a:pt x="2475" y="6874"/>
                    <a:pt x="4362" y="12744"/>
                    <a:pt x="3757" y="12953"/>
                  </a:cubicBezTo>
                  <a:cubicBezTo>
                    <a:pt x="3151" y="13163"/>
                    <a:pt x="1114" y="10259"/>
                    <a:pt x="505" y="8944"/>
                  </a:cubicBezTo>
                  <a:cubicBezTo>
                    <a:pt x="-324" y="10961"/>
                    <a:pt x="-344" y="12982"/>
                    <a:pt x="2082" y="15667"/>
                  </a:cubicBezTo>
                  <a:cubicBezTo>
                    <a:pt x="1167" y="17429"/>
                    <a:pt x="667" y="19457"/>
                    <a:pt x="592" y="20487"/>
                  </a:cubicBezTo>
                  <a:cubicBezTo>
                    <a:pt x="557" y="21312"/>
                    <a:pt x="1675" y="21489"/>
                    <a:pt x="1877" y="21023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grpSp>
        <p:nvGrpSpPr>
          <p:cNvPr id="33" name="Group 6"/>
          <p:cNvGrpSpPr/>
          <p:nvPr/>
        </p:nvGrpSpPr>
        <p:grpSpPr>
          <a:xfrm>
            <a:off x="7039345" y="4593743"/>
            <a:ext cx="521998" cy="521999"/>
            <a:chOff x="8015826" y="4052785"/>
            <a:chExt cx="521998" cy="521999"/>
          </a:xfrm>
        </p:grpSpPr>
        <p:sp>
          <p:nvSpPr>
            <p:cNvPr id="36" name="Shape 2236"/>
            <p:cNvSpPr/>
            <p:nvPr/>
          </p:nvSpPr>
          <p:spPr>
            <a:xfrm>
              <a:off x="8015826" y="4052785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37" name="Shape 2237"/>
            <p:cNvSpPr/>
            <p:nvPr/>
          </p:nvSpPr>
          <p:spPr>
            <a:xfrm>
              <a:off x="8155776" y="4192637"/>
              <a:ext cx="242294" cy="2422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95" h="21474" extrusionOk="0">
                  <a:moveTo>
                    <a:pt x="2578" y="8409"/>
                  </a:moveTo>
                  <a:cubicBezTo>
                    <a:pt x="2578" y="5193"/>
                    <a:pt x="5174" y="2587"/>
                    <a:pt x="8376" y="2587"/>
                  </a:cubicBezTo>
                  <a:cubicBezTo>
                    <a:pt x="11580" y="2587"/>
                    <a:pt x="14435" y="5451"/>
                    <a:pt x="14435" y="8666"/>
                  </a:cubicBezTo>
                  <a:cubicBezTo>
                    <a:pt x="14435" y="11882"/>
                    <a:pt x="11838" y="14488"/>
                    <a:pt x="8635" y="14488"/>
                  </a:cubicBezTo>
                  <a:cubicBezTo>
                    <a:pt x="5431" y="14488"/>
                    <a:pt x="2578" y="11624"/>
                    <a:pt x="2578" y="8409"/>
                  </a:cubicBezTo>
                  <a:close/>
                  <a:moveTo>
                    <a:pt x="20914" y="18167"/>
                  </a:moveTo>
                  <a:lnTo>
                    <a:pt x="15797" y="13032"/>
                  </a:lnTo>
                  <a:cubicBezTo>
                    <a:pt x="16568" y="11759"/>
                    <a:pt x="17013" y="10265"/>
                    <a:pt x="17013" y="8666"/>
                  </a:cubicBezTo>
                  <a:cubicBezTo>
                    <a:pt x="17013" y="4023"/>
                    <a:pt x="13004" y="0"/>
                    <a:pt x="8376" y="0"/>
                  </a:cubicBezTo>
                  <a:cubicBezTo>
                    <a:pt x="3750" y="0"/>
                    <a:pt x="0" y="3765"/>
                    <a:pt x="0" y="8409"/>
                  </a:cubicBezTo>
                  <a:cubicBezTo>
                    <a:pt x="0" y="13052"/>
                    <a:pt x="4008" y="17075"/>
                    <a:pt x="8635" y="17075"/>
                  </a:cubicBezTo>
                  <a:cubicBezTo>
                    <a:pt x="10173" y="17075"/>
                    <a:pt x="11614" y="16657"/>
                    <a:pt x="12852" y="15931"/>
                  </a:cubicBezTo>
                  <a:lnTo>
                    <a:pt x="17996" y="21094"/>
                  </a:lnTo>
                  <a:cubicBezTo>
                    <a:pt x="18500" y="21600"/>
                    <a:pt x="19317" y="21600"/>
                    <a:pt x="19819" y="21094"/>
                  </a:cubicBezTo>
                  <a:lnTo>
                    <a:pt x="21096" y="19815"/>
                  </a:lnTo>
                  <a:cubicBezTo>
                    <a:pt x="21600" y="19309"/>
                    <a:pt x="21417" y="18672"/>
                    <a:pt x="20914" y="18167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sp>
        <p:nvSpPr>
          <p:cNvPr id="35" name="TextBox 52"/>
          <p:cNvSpPr txBox="1"/>
          <p:nvPr/>
        </p:nvSpPr>
        <p:spPr>
          <a:xfrm>
            <a:off x="7533947" y="4708580"/>
            <a:ext cx="1698481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收回</a:t>
            </a:r>
            <a:r>
              <a:rPr lang="en-US" alt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PCB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41" name="文本框 21"/>
          <p:cNvSpPr txBox="1">
            <a:spLocks noChangeArrowheads="1"/>
          </p:cNvSpPr>
          <p:nvPr/>
        </p:nvSpPr>
        <p:spPr bwMode="auto">
          <a:xfrm>
            <a:off x="986923" y="2010855"/>
            <a:ext cx="7279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由进程撤销原语实现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89787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进程的阻塞和唤醒</a:t>
            </a:r>
          </a:p>
        </p:txBody>
      </p:sp>
      <p:sp>
        <p:nvSpPr>
          <p:cNvPr id="3" name="矩形 2"/>
          <p:cNvSpPr/>
          <p:nvPr/>
        </p:nvSpPr>
        <p:spPr>
          <a:xfrm>
            <a:off x="986454" y="1661130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94504" y="1661130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文本框 55"/>
          <p:cNvSpPr txBox="1">
            <a:spLocks noChangeArrowheads="1"/>
          </p:cNvSpPr>
          <p:nvPr/>
        </p:nvSpPr>
        <p:spPr bwMode="auto">
          <a:xfrm>
            <a:off x="840403" y="1127730"/>
            <a:ext cx="48613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）引起进程阻塞和唤醒的事件</a:t>
            </a:r>
          </a:p>
        </p:txBody>
      </p:sp>
      <p:sp>
        <p:nvSpPr>
          <p:cNvPr id="30" name="文本1"/>
          <p:cNvSpPr>
            <a:spLocks noChangeArrowheads="1"/>
          </p:cNvSpPr>
          <p:nvPr/>
        </p:nvSpPr>
        <p:spPr bwMode="auto">
          <a:xfrm>
            <a:off x="2101759" y="2108540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lvl="0">
              <a:lnSpc>
                <a:spcPct val="150000"/>
              </a:lnSpc>
              <a:defRPr/>
            </a:pPr>
            <a:endParaRPr lang="en-US" altLang="zh-CN" sz="16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1" name="文本2"/>
          <p:cNvSpPr>
            <a:spLocks noChangeArrowheads="1"/>
          </p:cNvSpPr>
          <p:nvPr/>
        </p:nvSpPr>
        <p:spPr bwMode="auto">
          <a:xfrm>
            <a:off x="5846576" y="2108540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zh-CN" sz="12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" name="文本4"/>
          <p:cNvSpPr>
            <a:spLocks noChangeArrowheads="1"/>
          </p:cNvSpPr>
          <p:nvPr/>
        </p:nvSpPr>
        <p:spPr bwMode="auto">
          <a:xfrm>
            <a:off x="5846576" y="4196103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zh-CN" sz="12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文本3"/>
          <p:cNvSpPr>
            <a:spLocks noChangeArrowheads="1"/>
          </p:cNvSpPr>
          <p:nvPr/>
        </p:nvSpPr>
        <p:spPr bwMode="auto">
          <a:xfrm>
            <a:off x="2101759" y="4196103"/>
            <a:ext cx="3600000" cy="1943100"/>
          </a:xfrm>
          <a:prstGeom prst="rect">
            <a:avLst/>
          </a:prstGeom>
          <a:gradFill>
            <a:gsLst>
              <a:gs pos="33000">
                <a:srgbClr val="F9F9F9"/>
              </a:gs>
              <a:gs pos="100000">
                <a:srgbClr val="D7D7D7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lnSpc>
                <a:spcPct val="150000"/>
              </a:lnSpc>
              <a:defRPr/>
            </a:pPr>
            <a:endParaRPr lang="en-US" altLang="zh-CN" sz="1200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灰色"/>
          <p:cNvSpPr/>
          <p:nvPr/>
        </p:nvSpPr>
        <p:spPr>
          <a:xfrm>
            <a:off x="5054168" y="3540144"/>
            <a:ext cx="1440000" cy="1440000"/>
          </a:xfrm>
          <a:prstGeom prst="ellipse">
            <a:avLst/>
          </a:prstGeom>
          <a:gradFill>
            <a:gsLst>
              <a:gs pos="33000">
                <a:srgbClr val="6DAA2D">
                  <a:lumMod val="60000"/>
                  <a:lumOff val="40000"/>
                </a:srgbClr>
              </a:gs>
              <a:gs pos="100000">
                <a:srgbClr val="6DAA2D"/>
              </a:gs>
            </a:gsLst>
            <a:lin ang="5400000" scaled="0"/>
          </a:gradFill>
          <a:ln w="3175" cap="flat" cmpd="sng" algn="ctr">
            <a:solidFill>
              <a:srgbClr val="D7D7D7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>
              <a:lnSpc>
                <a:spcPct val="120000"/>
              </a:lnSpc>
            </a:pPr>
            <a:endParaRPr lang="zh-CN" altLang="en-US" sz="1200" kern="0" dirty="0">
              <a:solidFill>
                <a:srgbClr val="F9F9F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TextBox 11"/>
          <p:cNvSpPr txBox="1">
            <a:spLocks noChangeArrowheads="1"/>
          </p:cNvSpPr>
          <p:nvPr/>
        </p:nvSpPr>
        <p:spPr bwMode="auto">
          <a:xfrm>
            <a:off x="5061225" y="4075478"/>
            <a:ext cx="143294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</a:p>
        </p:txBody>
      </p:sp>
      <p:sp>
        <p:nvSpPr>
          <p:cNvPr id="36" name="TextBox 1"/>
          <p:cNvSpPr txBox="1"/>
          <p:nvPr/>
        </p:nvSpPr>
        <p:spPr>
          <a:xfrm>
            <a:off x="2240394" y="2165258"/>
            <a:ext cx="3389759" cy="1349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请求系统服务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进程请求操作系统提供服务，但操作系统不能满足要求</a:t>
            </a:r>
          </a:p>
        </p:txBody>
      </p:sp>
      <p:sp>
        <p:nvSpPr>
          <p:cNvPr id="37" name="TextBox 1"/>
          <p:cNvSpPr txBox="1"/>
          <p:nvPr/>
        </p:nvSpPr>
        <p:spPr>
          <a:xfrm>
            <a:off x="5984810" y="2158424"/>
            <a:ext cx="2954474" cy="961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等待某种操作的完成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40000"/>
              </a:lnSpc>
            </a:pPr>
            <a:r>
              <a:rPr lang="zh-CN" altLang="en-US" dirty="0"/>
              <a:t>例如进程启动了</a:t>
            </a:r>
            <a:r>
              <a:rPr lang="en-US" altLang="zh-CN" dirty="0"/>
              <a:t>IO</a:t>
            </a:r>
            <a:r>
              <a:rPr lang="zh-CN" altLang="en-US" dirty="0"/>
              <a:t>设备</a:t>
            </a:r>
            <a:endParaRPr lang="en-US" altLang="zh-CN" dirty="0"/>
          </a:p>
        </p:txBody>
      </p:sp>
      <p:sp>
        <p:nvSpPr>
          <p:cNvPr id="38" name="TextBox 1"/>
          <p:cNvSpPr txBox="1"/>
          <p:nvPr/>
        </p:nvSpPr>
        <p:spPr>
          <a:xfrm>
            <a:off x="2312000" y="4604496"/>
            <a:ext cx="3389759" cy="55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新数据尚未到达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9" name="TextBox 1"/>
          <p:cNvSpPr txBox="1"/>
          <p:nvPr/>
        </p:nvSpPr>
        <p:spPr>
          <a:xfrm>
            <a:off x="5984810" y="4900713"/>
            <a:ext cx="3389759" cy="55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itchFamily="34" charset="-122"/>
                <a:ea typeface="微软雅黑" pitchFamily="34" charset="-122"/>
              </a:rPr>
              <a:t>无新工作可做</a:t>
            </a:r>
          </a:p>
        </p:txBody>
      </p:sp>
    </p:spTree>
    <p:extLst>
      <p:ext uri="{BB962C8B-B14F-4D97-AF65-F5344CB8AC3E}">
        <p14:creationId xmlns:p14="http://schemas.microsoft.com/office/powerpoint/2010/main" val="3136969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50"/>
                            </p:stCondLst>
                            <p:childTnLst>
                              <p:par>
                                <p:cTn id="3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250"/>
                            </p:stCondLst>
                            <p:childTnLst>
                              <p:par>
                                <p:cTn id="41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3" presetClass="entr" presetSubtype="3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3" presetClass="entr" presetSubtype="3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3" presetClass="entr" presetSubtype="3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6" grpId="0"/>
      <p:bldP spid="37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进程的阻塞和唤醒</a:t>
            </a:r>
          </a:p>
        </p:txBody>
      </p:sp>
      <p:sp>
        <p:nvSpPr>
          <p:cNvPr id="3" name="矩形 2"/>
          <p:cNvSpPr/>
          <p:nvPr/>
        </p:nvSpPr>
        <p:spPr>
          <a:xfrm>
            <a:off x="986454" y="1661130"/>
            <a:ext cx="776287" cy="131762"/>
          </a:xfrm>
          <a:prstGeom prst="rect">
            <a:avLst/>
          </a:prstGeom>
          <a:solidFill>
            <a:srgbClr val="4C7E51"/>
          </a:solidFill>
          <a:ln>
            <a:solidFill>
              <a:srgbClr val="4C7E5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894504" y="1661130"/>
            <a:ext cx="3352800" cy="131762"/>
          </a:xfrm>
          <a:prstGeom prst="rect">
            <a:avLst/>
          </a:prstGeom>
          <a:solidFill>
            <a:srgbClr val="8EB453"/>
          </a:solidFill>
          <a:ln>
            <a:solidFill>
              <a:srgbClr val="8EB4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文本框 55"/>
          <p:cNvSpPr txBox="1">
            <a:spLocks noChangeArrowheads="1"/>
          </p:cNvSpPr>
          <p:nvPr/>
        </p:nvSpPr>
        <p:spPr bwMode="auto">
          <a:xfrm>
            <a:off x="840404" y="1127730"/>
            <a:ext cx="39636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4C7E5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）进程的阻塞过程</a:t>
            </a:r>
          </a:p>
        </p:txBody>
      </p:sp>
      <p:sp>
        <p:nvSpPr>
          <p:cNvPr id="7" name="Shape 2204"/>
          <p:cNvSpPr/>
          <p:nvPr/>
        </p:nvSpPr>
        <p:spPr>
          <a:xfrm>
            <a:off x="8246899" y="2441653"/>
            <a:ext cx="2617616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8" name="Shape 2205"/>
          <p:cNvSpPr/>
          <p:nvPr/>
        </p:nvSpPr>
        <p:spPr>
          <a:xfrm>
            <a:off x="5782070" y="2446617"/>
            <a:ext cx="2848459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9" name="Shape 2206"/>
          <p:cNvSpPr/>
          <p:nvPr/>
        </p:nvSpPr>
        <p:spPr>
          <a:xfrm>
            <a:off x="3547803" y="2446617"/>
            <a:ext cx="2617615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0" name="Shape 2207"/>
          <p:cNvSpPr/>
          <p:nvPr/>
        </p:nvSpPr>
        <p:spPr>
          <a:xfrm>
            <a:off x="955350" y="2446617"/>
            <a:ext cx="3017216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grpSp>
        <p:nvGrpSpPr>
          <p:cNvPr id="11" name="Group 2"/>
          <p:cNvGrpSpPr/>
          <p:nvPr/>
        </p:nvGrpSpPr>
        <p:grpSpPr>
          <a:xfrm>
            <a:off x="3561302" y="2731566"/>
            <a:ext cx="521998" cy="521999"/>
            <a:chOff x="3712472" y="2651901"/>
            <a:chExt cx="521998" cy="521999"/>
          </a:xfrm>
        </p:grpSpPr>
        <p:sp>
          <p:nvSpPr>
            <p:cNvPr id="25" name="Shape 2214"/>
            <p:cNvSpPr/>
            <p:nvPr/>
          </p:nvSpPr>
          <p:spPr>
            <a:xfrm>
              <a:off x="3712472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grpSp>
          <p:nvGrpSpPr>
            <p:cNvPr id="26" name="Group 2217"/>
            <p:cNvGrpSpPr/>
            <p:nvPr/>
          </p:nvGrpSpPr>
          <p:grpSpPr>
            <a:xfrm>
              <a:off x="3878843" y="2769409"/>
              <a:ext cx="188787" cy="265098"/>
              <a:chOff x="0" y="0"/>
              <a:chExt cx="390413" cy="548221"/>
            </a:xfrm>
          </p:grpSpPr>
          <p:sp>
            <p:nvSpPr>
              <p:cNvPr id="27" name="Shape 2215"/>
              <p:cNvSpPr/>
              <p:nvPr/>
            </p:nvSpPr>
            <p:spPr>
              <a:xfrm>
                <a:off x="0" y="46251"/>
                <a:ext cx="390413" cy="5019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0"/>
                    </a:moveTo>
                    <a:lnTo>
                      <a:pt x="17589" y="3600"/>
                    </a:lnTo>
                    <a:lnTo>
                      <a:pt x="4011" y="3600"/>
                    </a:lnTo>
                    <a:lnTo>
                      <a:pt x="2159" y="0"/>
                    </a:lnTo>
                    <a:cubicBezTo>
                      <a:pt x="972" y="0"/>
                      <a:pt x="0" y="756"/>
                      <a:pt x="0" y="1679"/>
                    </a:cubicBezTo>
                    <a:lnTo>
                      <a:pt x="0" y="19921"/>
                    </a:lnTo>
                    <a:cubicBezTo>
                      <a:pt x="0" y="20844"/>
                      <a:pt x="972" y="21600"/>
                      <a:pt x="2159" y="21600"/>
                    </a:cubicBezTo>
                    <a:lnTo>
                      <a:pt x="19441" y="21600"/>
                    </a:lnTo>
                    <a:cubicBezTo>
                      <a:pt x="20628" y="21600"/>
                      <a:pt x="21600" y="20844"/>
                      <a:pt x="21600" y="19921"/>
                    </a:cubicBezTo>
                    <a:lnTo>
                      <a:pt x="21600" y="1679"/>
                    </a:lnTo>
                    <a:cubicBezTo>
                      <a:pt x="21600" y="756"/>
                      <a:pt x="20628" y="0"/>
                      <a:pt x="19441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28" name="Shape 2216"/>
              <p:cNvSpPr/>
              <p:nvPr/>
            </p:nvSpPr>
            <p:spPr>
              <a:xfrm>
                <a:off x="68773" y="0"/>
                <a:ext cx="250985" cy="1115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21600"/>
                    </a:moveTo>
                    <a:lnTo>
                      <a:pt x="21600" y="10800"/>
                    </a:lnTo>
                    <a:lnTo>
                      <a:pt x="16369" y="10800"/>
                    </a:lnTo>
                    <a:lnTo>
                      <a:pt x="14641" y="0"/>
                    </a:lnTo>
                    <a:lnTo>
                      <a:pt x="6959" y="0"/>
                    </a:lnTo>
                    <a:lnTo>
                      <a:pt x="5231" y="10800"/>
                    </a:lnTo>
                    <a:lnTo>
                      <a:pt x="0" y="10800"/>
                    </a:lnTo>
                    <a:lnTo>
                      <a:pt x="2159" y="21600"/>
                    </a:lnTo>
                    <a:cubicBezTo>
                      <a:pt x="2159" y="21600"/>
                      <a:pt x="19441" y="21600"/>
                      <a:pt x="19441" y="2160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</p:grpSp>
      <p:grpSp>
        <p:nvGrpSpPr>
          <p:cNvPr id="12" name="Group 1"/>
          <p:cNvGrpSpPr/>
          <p:nvPr/>
        </p:nvGrpSpPr>
        <p:grpSpPr>
          <a:xfrm>
            <a:off x="1068811" y="2720623"/>
            <a:ext cx="521998" cy="521999"/>
            <a:chOff x="1506589" y="2640958"/>
            <a:chExt cx="521998" cy="521999"/>
          </a:xfrm>
        </p:grpSpPr>
        <p:sp>
          <p:nvSpPr>
            <p:cNvPr id="23" name="Shape 2220"/>
            <p:cNvSpPr/>
            <p:nvPr/>
          </p:nvSpPr>
          <p:spPr>
            <a:xfrm>
              <a:off x="1506589" y="2640958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24" name="Shape 2221"/>
            <p:cNvSpPr/>
            <p:nvPr/>
          </p:nvSpPr>
          <p:spPr>
            <a:xfrm>
              <a:off x="1633470" y="2769409"/>
              <a:ext cx="276863" cy="265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grpSp>
        <p:nvGrpSpPr>
          <p:cNvPr id="13" name="Group 3"/>
          <p:cNvGrpSpPr/>
          <p:nvPr/>
        </p:nvGrpSpPr>
        <p:grpSpPr>
          <a:xfrm>
            <a:off x="5766717" y="2731566"/>
            <a:ext cx="521998" cy="521999"/>
            <a:chOff x="5917887" y="2651901"/>
            <a:chExt cx="521998" cy="521999"/>
          </a:xfrm>
        </p:grpSpPr>
        <p:sp>
          <p:nvSpPr>
            <p:cNvPr id="21" name="Shape 2224"/>
            <p:cNvSpPr/>
            <p:nvPr/>
          </p:nvSpPr>
          <p:spPr>
            <a:xfrm>
              <a:off x="5917887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22" name="Shape 2225"/>
            <p:cNvSpPr/>
            <p:nvPr/>
          </p:nvSpPr>
          <p:spPr>
            <a:xfrm>
              <a:off x="6067226" y="2798035"/>
              <a:ext cx="223320" cy="223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4" h="20814" extrusionOk="0">
                  <a:moveTo>
                    <a:pt x="16063" y="4751"/>
                  </a:moveTo>
                  <a:cubicBezTo>
                    <a:pt x="14562" y="3251"/>
                    <a:pt x="14186" y="1270"/>
                    <a:pt x="14318" y="1137"/>
                  </a:cubicBezTo>
                  <a:cubicBezTo>
                    <a:pt x="14452" y="1003"/>
                    <a:pt x="16354" y="1458"/>
                    <a:pt x="17856" y="2959"/>
                  </a:cubicBezTo>
                  <a:cubicBezTo>
                    <a:pt x="19356" y="4460"/>
                    <a:pt x="19807" y="6366"/>
                    <a:pt x="19677" y="6496"/>
                  </a:cubicBezTo>
                  <a:cubicBezTo>
                    <a:pt x="19548" y="6625"/>
                    <a:pt x="17564" y="6252"/>
                    <a:pt x="16063" y="4751"/>
                  </a:cubicBezTo>
                  <a:close/>
                  <a:moveTo>
                    <a:pt x="8257" y="11610"/>
                  </a:moveTo>
                  <a:cubicBezTo>
                    <a:pt x="7827" y="11179"/>
                    <a:pt x="7967" y="10342"/>
                    <a:pt x="8569" y="9739"/>
                  </a:cubicBezTo>
                  <a:cubicBezTo>
                    <a:pt x="9172" y="9137"/>
                    <a:pt x="10009" y="8997"/>
                    <a:pt x="10440" y="9428"/>
                  </a:cubicBezTo>
                  <a:cubicBezTo>
                    <a:pt x="10869" y="9858"/>
                    <a:pt x="10730" y="10696"/>
                    <a:pt x="10128" y="11298"/>
                  </a:cubicBezTo>
                  <a:cubicBezTo>
                    <a:pt x="9526" y="11900"/>
                    <a:pt x="8687" y="12040"/>
                    <a:pt x="8257" y="11610"/>
                  </a:cubicBezTo>
                  <a:close/>
                  <a:moveTo>
                    <a:pt x="18634" y="2180"/>
                  </a:moveTo>
                  <a:cubicBezTo>
                    <a:pt x="16698" y="243"/>
                    <a:pt x="14265" y="-466"/>
                    <a:pt x="13491" y="308"/>
                  </a:cubicBezTo>
                  <a:lnTo>
                    <a:pt x="10372" y="3426"/>
                  </a:lnTo>
                  <a:cubicBezTo>
                    <a:pt x="9900" y="3899"/>
                    <a:pt x="9488" y="5482"/>
                    <a:pt x="9676" y="7085"/>
                  </a:cubicBezTo>
                  <a:lnTo>
                    <a:pt x="240" y="16521"/>
                  </a:lnTo>
                  <a:cubicBezTo>
                    <a:pt x="-320" y="17081"/>
                    <a:pt x="134" y="18442"/>
                    <a:pt x="1253" y="19561"/>
                  </a:cubicBezTo>
                  <a:cubicBezTo>
                    <a:pt x="2373" y="20681"/>
                    <a:pt x="3733" y="21134"/>
                    <a:pt x="4293" y="20574"/>
                  </a:cubicBezTo>
                  <a:lnTo>
                    <a:pt x="13729" y="11138"/>
                  </a:lnTo>
                  <a:cubicBezTo>
                    <a:pt x="15332" y="11327"/>
                    <a:pt x="16915" y="10914"/>
                    <a:pt x="17388" y="10442"/>
                  </a:cubicBezTo>
                  <a:lnTo>
                    <a:pt x="20506" y="7324"/>
                  </a:lnTo>
                  <a:cubicBezTo>
                    <a:pt x="21280" y="6549"/>
                    <a:pt x="20573" y="4116"/>
                    <a:pt x="18634" y="2180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grpSp>
        <p:nvGrpSpPr>
          <p:cNvPr id="14" name="Group 4"/>
          <p:cNvGrpSpPr/>
          <p:nvPr/>
        </p:nvGrpSpPr>
        <p:grpSpPr>
          <a:xfrm>
            <a:off x="8260399" y="2726602"/>
            <a:ext cx="521998" cy="521999"/>
            <a:chOff x="8139592" y="2651901"/>
            <a:chExt cx="521998" cy="521999"/>
          </a:xfrm>
        </p:grpSpPr>
        <p:sp>
          <p:nvSpPr>
            <p:cNvPr id="19" name="Shape 2228"/>
            <p:cNvSpPr/>
            <p:nvPr/>
          </p:nvSpPr>
          <p:spPr>
            <a:xfrm>
              <a:off x="8139592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20" name="Shape 2229"/>
            <p:cNvSpPr/>
            <p:nvPr/>
          </p:nvSpPr>
          <p:spPr>
            <a:xfrm>
              <a:off x="8286417" y="2801240"/>
              <a:ext cx="223305" cy="223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8" h="21320" extrusionOk="0">
                  <a:moveTo>
                    <a:pt x="6122" y="19157"/>
                  </a:moveTo>
                  <a:lnTo>
                    <a:pt x="3902" y="19634"/>
                  </a:lnTo>
                  <a:cubicBezTo>
                    <a:pt x="3688" y="19233"/>
                    <a:pt x="3431" y="18833"/>
                    <a:pt x="2957" y="18361"/>
                  </a:cubicBezTo>
                  <a:cubicBezTo>
                    <a:pt x="2486" y="17889"/>
                    <a:pt x="2085" y="17631"/>
                    <a:pt x="1685" y="17417"/>
                  </a:cubicBezTo>
                  <a:lnTo>
                    <a:pt x="2162" y="15198"/>
                  </a:lnTo>
                  <a:lnTo>
                    <a:pt x="2804" y="14556"/>
                  </a:lnTo>
                  <a:cubicBezTo>
                    <a:pt x="2804" y="14556"/>
                    <a:pt x="4012" y="14580"/>
                    <a:pt x="5374" y="15944"/>
                  </a:cubicBezTo>
                  <a:cubicBezTo>
                    <a:pt x="6737" y="17307"/>
                    <a:pt x="6762" y="18516"/>
                    <a:pt x="6762" y="18516"/>
                  </a:cubicBezTo>
                  <a:cubicBezTo>
                    <a:pt x="6762" y="18516"/>
                    <a:pt x="6122" y="19157"/>
                    <a:pt x="6122" y="19157"/>
                  </a:cubicBezTo>
                  <a:close/>
                  <a:moveTo>
                    <a:pt x="19625" y="1692"/>
                  </a:moveTo>
                  <a:cubicBezTo>
                    <a:pt x="17654" y="-280"/>
                    <a:pt x="16174" y="15"/>
                    <a:pt x="16174" y="15"/>
                  </a:cubicBezTo>
                  <a:lnTo>
                    <a:pt x="9270" y="6920"/>
                  </a:lnTo>
                  <a:lnTo>
                    <a:pt x="1379" y="14810"/>
                  </a:lnTo>
                  <a:lnTo>
                    <a:pt x="0" y="21320"/>
                  </a:lnTo>
                  <a:lnTo>
                    <a:pt x="6508" y="19939"/>
                  </a:lnTo>
                  <a:lnTo>
                    <a:pt x="14399" y="12048"/>
                  </a:lnTo>
                  <a:lnTo>
                    <a:pt x="21302" y="5145"/>
                  </a:lnTo>
                  <a:cubicBezTo>
                    <a:pt x="21302" y="5145"/>
                    <a:pt x="21600" y="3665"/>
                    <a:pt x="19625" y="169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sp>
        <p:nvSpPr>
          <p:cNvPr id="15" name="TextBox 45"/>
          <p:cNvSpPr txBox="1"/>
          <p:nvPr/>
        </p:nvSpPr>
        <p:spPr>
          <a:xfrm>
            <a:off x="1563001" y="2668883"/>
            <a:ext cx="1698481" cy="6155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将</a:t>
            </a:r>
            <a:r>
              <a:rPr lang="en-US" alt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CPU</a:t>
            </a:r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当前状态存入</a:t>
            </a:r>
            <a:r>
              <a:rPr lang="en-US" alt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PCB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46"/>
          <p:cNvSpPr txBox="1"/>
          <p:nvPr/>
        </p:nvSpPr>
        <p:spPr>
          <a:xfrm>
            <a:off x="4107978" y="2694015"/>
            <a:ext cx="1412750" cy="6155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设置为阻塞状态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47"/>
          <p:cNvSpPr txBox="1"/>
          <p:nvPr/>
        </p:nvSpPr>
        <p:spPr>
          <a:xfrm>
            <a:off x="6318917" y="2691341"/>
            <a:ext cx="1530300" cy="6155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将</a:t>
            </a:r>
            <a:r>
              <a:rPr lang="en-US" alt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PCB</a:t>
            </a:r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置入阻塞队列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48"/>
          <p:cNvSpPr txBox="1"/>
          <p:nvPr/>
        </p:nvSpPr>
        <p:spPr>
          <a:xfrm>
            <a:off x="8804791" y="2822856"/>
            <a:ext cx="1698481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转处理机调度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40403" y="3779253"/>
            <a:ext cx="4406900" cy="665162"/>
            <a:chOff x="840403" y="3997621"/>
            <a:chExt cx="4406900" cy="665162"/>
          </a:xfrm>
        </p:grpSpPr>
        <p:sp>
          <p:nvSpPr>
            <p:cNvPr id="40" name="矩形 39"/>
            <p:cNvSpPr/>
            <p:nvPr/>
          </p:nvSpPr>
          <p:spPr>
            <a:xfrm>
              <a:off x="986453" y="4531021"/>
              <a:ext cx="776287" cy="131762"/>
            </a:xfrm>
            <a:prstGeom prst="rect">
              <a:avLst/>
            </a:prstGeom>
            <a:solidFill>
              <a:srgbClr val="4C7E51"/>
            </a:solidFill>
            <a:ln>
              <a:solidFill>
                <a:srgbClr val="4C7E5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1894503" y="4531021"/>
              <a:ext cx="3352800" cy="131762"/>
            </a:xfrm>
            <a:prstGeom prst="rect">
              <a:avLst/>
            </a:prstGeom>
            <a:solidFill>
              <a:srgbClr val="8EB453"/>
            </a:solidFill>
            <a:ln>
              <a:solidFill>
                <a:srgbClr val="8EB4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文本框 55"/>
            <p:cNvSpPr txBox="1">
              <a:spLocks noChangeArrowheads="1"/>
            </p:cNvSpPr>
            <p:nvPr/>
          </p:nvSpPr>
          <p:spPr bwMode="auto">
            <a:xfrm>
              <a:off x="840403" y="3997621"/>
              <a:ext cx="39636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400" b="1" dirty="0">
                  <a:solidFill>
                    <a:srgbClr val="4C7E5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）进程的唤醒过程</a:t>
              </a:r>
            </a:p>
          </p:txBody>
        </p:sp>
      </p:grpSp>
      <p:sp>
        <p:nvSpPr>
          <p:cNvPr id="43" name="Shape 2204"/>
          <p:cNvSpPr/>
          <p:nvPr/>
        </p:nvSpPr>
        <p:spPr>
          <a:xfrm>
            <a:off x="8246898" y="5134120"/>
            <a:ext cx="2617616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4" name="Shape 2205"/>
          <p:cNvSpPr/>
          <p:nvPr/>
        </p:nvSpPr>
        <p:spPr>
          <a:xfrm>
            <a:off x="5782069" y="5139084"/>
            <a:ext cx="2848459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5" name="Shape 2206"/>
          <p:cNvSpPr/>
          <p:nvPr/>
        </p:nvSpPr>
        <p:spPr>
          <a:xfrm>
            <a:off x="3547802" y="5139084"/>
            <a:ext cx="2617615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46" name="Shape 2207"/>
          <p:cNvSpPr/>
          <p:nvPr/>
        </p:nvSpPr>
        <p:spPr>
          <a:xfrm>
            <a:off x="955349" y="5139084"/>
            <a:ext cx="3017216" cy="10700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3240"/>
                </a:moveTo>
                <a:lnTo>
                  <a:pt x="12159" y="3240"/>
                </a:lnTo>
                <a:lnTo>
                  <a:pt x="12159" y="0"/>
                </a:lnTo>
                <a:lnTo>
                  <a:pt x="21600" y="10800"/>
                </a:lnTo>
                <a:lnTo>
                  <a:pt x="12159" y="21600"/>
                </a:lnTo>
                <a:lnTo>
                  <a:pt x="12159" y="18360"/>
                </a:lnTo>
                <a:lnTo>
                  <a:pt x="0" y="18360"/>
                </a:lnTo>
                <a:cubicBezTo>
                  <a:pt x="0" y="18360"/>
                  <a:pt x="0" y="3240"/>
                  <a:pt x="0" y="3240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38100" tIns="38100" rIns="38100" bIns="3810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200" kern="0">
              <a:solidFill>
                <a:srgbClr val="FFFFFF"/>
              </a:solidFill>
              <a:latin typeface="微软雅黑"/>
              <a:ea typeface="Helvetica Light"/>
              <a:cs typeface="Helvetica Light"/>
              <a:sym typeface="Helvetica Light"/>
            </a:endParaRPr>
          </a:p>
        </p:txBody>
      </p:sp>
      <p:grpSp>
        <p:nvGrpSpPr>
          <p:cNvPr id="47" name="Group 2"/>
          <p:cNvGrpSpPr/>
          <p:nvPr/>
        </p:nvGrpSpPr>
        <p:grpSpPr>
          <a:xfrm>
            <a:off x="3561301" y="5424033"/>
            <a:ext cx="521998" cy="521999"/>
            <a:chOff x="3712472" y="2651901"/>
            <a:chExt cx="521998" cy="521999"/>
          </a:xfrm>
        </p:grpSpPr>
        <p:sp>
          <p:nvSpPr>
            <p:cNvPr id="48" name="Shape 2214"/>
            <p:cNvSpPr/>
            <p:nvPr/>
          </p:nvSpPr>
          <p:spPr>
            <a:xfrm>
              <a:off x="3712472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grpSp>
          <p:nvGrpSpPr>
            <p:cNvPr id="49" name="Group 2217"/>
            <p:cNvGrpSpPr/>
            <p:nvPr/>
          </p:nvGrpSpPr>
          <p:grpSpPr>
            <a:xfrm>
              <a:off x="3878843" y="2769409"/>
              <a:ext cx="188787" cy="265098"/>
              <a:chOff x="0" y="0"/>
              <a:chExt cx="390413" cy="548221"/>
            </a:xfrm>
          </p:grpSpPr>
          <p:sp>
            <p:nvSpPr>
              <p:cNvPr id="50" name="Shape 2215"/>
              <p:cNvSpPr/>
              <p:nvPr/>
            </p:nvSpPr>
            <p:spPr>
              <a:xfrm>
                <a:off x="0" y="46251"/>
                <a:ext cx="390413" cy="5019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0"/>
                    </a:moveTo>
                    <a:lnTo>
                      <a:pt x="17589" y="3600"/>
                    </a:lnTo>
                    <a:lnTo>
                      <a:pt x="4011" y="3600"/>
                    </a:lnTo>
                    <a:lnTo>
                      <a:pt x="2159" y="0"/>
                    </a:lnTo>
                    <a:cubicBezTo>
                      <a:pt x="972" y="0"/>
                      <a:pt x="0" y="756"/>
                      <a:pt x="0" y="1679"/>
                    </a:cubicBezTo>
                    <a:lnTo>
                      <a:pt x="0" y="19921"/>
                    </a:lnTo>
                    <a:cubicBezTo>
                      <a:pt x="0" y="20844"/>
                      <a:pt x="972" y="21600"/>
                      <a:pt x="2159" y="21600"/>
                    </a:cubicBezTo>
                    <a:lnTo>
                      <a:pt x="19441" y="21600"/>
                    </a:lnTo>
                    <a:cubicBezTo>
                      <a:pt x="20628" y="21600"/>
                      <a:pt x="21600" y="20844"/>
                      <a:pt x="21600" y="19921"/>
                    </a:cubicBezTo>
                    <a:lnTo>
                      <a:pt x="21600" y="1679"/>
                    </a:lnTo>
                    <a:cubicBezTo>
                      <a:pt x="21600" y="756"/>
                      <a:pt x="20628" y="0"/>
                      <a:pt x="19441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  <p:sp>
            <p:nvSpPr>
              <p:cNvPr id="51" name="Shape 2216"/>
              <p:cNvSpPr/>
              <p:nvPr/>
            </p:nvSpPr>
            <p:spPr>
              <a:xfrm>
                <a:off x="68773" y="0"/>
                <a:ext cx="250985" cy="1115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41" y="21600"/>
                    </a:moveTo>
                    <a:lnTo>
                      <a:pt x="21600" y="10800"/>
                    </a:lnTo>
                    <a:lnTo>
                      <a:pt x="16369" y="10800"/>
                    </a:lnTo>
                    <a:lnTo>
                      <a:pt x="14641" y="0"/>
                    </a:lnTo>
                    <a:lnTo>
                      <a:pt x="6959" y="0"/>
                    </a:lnTo>
                    <a:lnTo>
                      <a:pt x="5231" y="10800"/>
                    </a:lnTo>
                    <a:lnTo>
                      <a:pt x="0" y="10800"/>
                    </a:lnTo>
                    <a:lnTo>
                      <a:pt x="2159" y="21600"/>
                    </a:lnTo>
                    <a:cubicBezTo>
                      <a:pt x="2159" y="21600"/>
                      <a:pt x="19441" y="21600"/>
                      <a:pt x="19441" y="2160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38100" tIns="38100" rIns="38100" bIns="38100" numCol="1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320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3200" kern="0">
                  <a:solidFill>
                    <a:srgbClr val="FFFFFF"/>
                  </a:solidFill>
                  <a:latin typeface="微软雅黑"/>
                  <a:ea typeface="Helvetica Light"/>
                  <a:cs typeface="Helvetica Light"/>
                  <a:sym typeface="Helvetica Light"/>
                </a:endParaRPr>
              </a:p>
            </p:txBody>
          </p:sp>
        </p:grpSp>
      </p:grpSp>
      <p:grpSp>
        <p:nvGrpSpPr>
          <p:cNvPr id="52" name="Group 1"/>
          <p:cNvGrpSpPr/>
          <p:nvPr/>
        </p:nvGrpSpPr>
        <p:grpSpPr>
          <a:xfrm>
            <a:off x="1068810" y="5413090"/>
            <a:ext cx="521998" cy="521999"/>
            <a:chOff x="1506589" y="2640958"/>
            <a:chExt cx="521998" cy="521999"/>
          </a:xfrm>
        </p:grpSpPr>
        <p:sp>
          <p:nvSpPr>
            <p:cNvPr id="53" name="Shape 2220"/>
            <p:cNvSpPr/>
            <p:nvPr/>
          </p:nvSpPr>
          <p:spPr>
            <a:xfrm>
              <a:off x="1506589" y="2640958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54" name="Shape 2221"/>
            <p:cNvSpPr/>
            <p:nvPr/>
          </p:nvSpPr>
          <p:spPr>
            <a:xfrm>
              <a:off x="1633470" y="2769409"/>
              <a:ext cx="276863" cy="2650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913" y="16137"/>
                  </a:moveTo>
                  <a:cubicBezTo>
                    <a:pt x="14080" y="15059"/>
                    <a:pt x="13176" y="14150"/>
                    <a:pt x="13176" y="12203"/>
                  </a:cubicBezTo>
                  <a:cubicBezTo>
                    <a:pt x="13176" y="11034"/>
                    <a:pt x="14040" y="11415"/>
                    <a:pt x="14419" y="9274"/>
                  </a:cubicBezTo>
                  <a:cubicBezTo>
                    <a:pt x="14577" y="8387"/>
                    <a:pt x="15341" y="9261"/>
                    <a:pt x="15487" y="7233"/>
                  </a:cubicBezTo>
                  <a:cubicBezTo>
                    <a:pt x="15487" y="6425"/>
                    <a:pt x="15071" y="6224"/>
                    <a:pt x="15071" y="6224"/>
                  </a:cubicBezTo>
                  <a:cubicBezTo>
                    <a:pt x="15071" y="6224"/>
                    <a:pt x="15283" y="5028"/>
                    <a:pt x="15366" y="4109"/>
                  </a:cubicBezTo>
                  <a:cubicBezTo>
                    <a:pt x="15468" y="2962"/>
                    <a:pt x="14731" y="0"/>
                    <a:pt x="10800" y="0"/>
                  </a:cubicBezTo>
                  <a:cubicBezTo>
                    <a:pt x="6869" y="0"/>
                    <a:pt x="6131" y="2962"/>
                    <a:pt x="6234" y="4109"/>
                  </a:cubicBezTo>
                  <a:cubicBezTo>
                    <a:pt x="6317" y="5028"/>
                    <a:pt x="6529" y="6224"/>
                    <a:pt x="6529" y="6224"/>
                  </a:cubicBezTo>
                  <a:cubicBezTo>
                    <a:pt x="6529" y="6224"/>
                    <a:pt x="6113" y="6425"/>
                    <a:pt x="6113" y="7233"/>
                  </a:cubicBezTo>
                  <a:cubicBezTo>
                    <a:pt x="6258" y="9261"/>
                    <a:pt x="7022" y="8387"/>
                    <a:pt x="7179" y="9274"/>
                  </a:cubicBezTo>
                  <a:cubicBezTo>
                    <a:pt x="7560" y="11415"/>
                    <a:pt x="8424" y="11034"/>
                    <a:pt x="8424" y="12203"/>
                  </a:cubicBezTo>
                  <a:cubicBezTo>
                    <a:pt x="8424" y="14150"/>
                    <a:pt x="7520" y="15059"/>
                    <a:pt x="4687" y="16137"/>
                  </a:cubicBezTo>
                  <a:cubicBezTo>
                    <a:pt x="1846" y="17219"/>
                    <a:pt x="0" y="18321"/>
                    <a:pt x="0" y="19073"/>
                  </a:cubicBezTo>
                  <a:cubicBezTo>
                    <a:pt x="0" y="19825"/>
                    <a:pt x="0" y="21600"/>
                    <a:pt x="0" y="21600"/>
                  </a:cubicBezTo>
                  <a:lnTo>
                    <a:pt x="10800" y="21600"/>
                  </a:lnTo>
                  <a:lnTo>
                    <a:pt x="21600" y="21600"/>
                  </a:lnTo>
                  <a:cubicBezTo>
                    <a:pt x="21600" y="21600"/>
                    <a:pt x="21600" y="19825"/>
                    <a:pt x="21600" y="19073"/>
                  </a:cubicBezTo>
                  <a:cubicBezTo>
                    <a:pt x="21600" y="18321"/>
                    <a:pt x="19754" y="17219"/>
                    <a:pt x="16913" y="16137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grpSp>
        <p:nvGrpSpPr>
          <p:cNvPr id="55" name="Group 3"/>
          <p:cNvGrpSpPr/>
          <p:nvPr/>
        </p:nvGrpSpPr>
        <p:grpSpPr>
          <a:xfrm>
            <a:off x="5766716" y="5424033"/>
            <a:ext cx="521998" cy="521999"/>
            <a:chOff x="5917887" y="2651901"/>
            <a:chExt cx="521998" cy="521999"/>
          </a:xfrm>
        </p:grpSpPr>
        <p:sp>
          <p:nvSpPr>
            <p:cNvPr id="56" name="Shape 2224"/>
            <p:cNvSpPr/>
            <p:nvPr/>
          </p:nvSpPr>
          <p:spPr>
            <a:xfrm>
              <a:off x="5917887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57" name="Shape 2225"/>
            <p:cNvSpPr/>
            <p:nvPr/>
          </p:nvSpPr>
          <p:spPr>
            <a:xfrm>
              <a:off x="6067226" y="2798035"/>
              <a:ext cx="223320" cy="223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14" h="20814" extrusionOk="0">
                  <a:moveTo>
                    <a:pt x="16063" y="4751"/>
                  </a:moveTo>
                  <a:cubicBezTo>
                    <a:pt x="14562" y="3251"/>
                    <a:pt x="14186" y="1270"/>
                    <a:pt x="14318" y="1137"/>
                  </a:cubicBezTo>
                  <a:cubicBezTo>
                    <a:pt x="14452" y="1003"/>
                    <a:pt x="16354" y="1458"/>
                    <a:pt x="17856" y="2959"/>
                  </a:cubicBezTo>
                  <a:cubicBezTo>
                    <a:pt x="19356" y="4460"/>
                    <a:pt x="19807" y="6366"/>
                    <a:pt x="19677" y="6496"/>
                  </a:cubicBezTo>
                  <a:cubicBezTo>
                    <a:pt x="19548" y="6625"/>
                    <a:pt x="17564" y="6252"/>
                    <a:pt x="16063" y="4751"/>
                  </a:cubicBezTo>
                  <a:close/>
                  <a:moveTo>
                    <a:pt x="8257" y="11610"/>
                  </a:moveTo>
                  <a:cubicBezTo>
                    <a:pt x="7827" y="11179"/>
                    <a:pt x="7967" y="10342"/>
                    <a:pt x="8569" y="9739"/>
                  </a:cubicBezTo>
                  <a:cubicBezTo>
                    <a:pt x="9172" y="9137"/>
                    <a:pt x="10009" y="8997"/>
                    <a:pt x="10440" y="9428"/>
                  </a:cubicBezTo>
                  <a:cubicBezTo>
                    <a:pt x="10869" y="9858"/>
                    <a:pt x="10730" y="10696"/>
                    <a:pt x="10128" y="11298"/>
                  </a:cubicBezTo>
                  <a:cubicBezTo>
                    <a:pt x="9526" y="11900"/>
                    <a:pt x="8687" y="12040"/>
                    <a:pt x="8257" y="11610"/>
                  </a:cubicBezTo>
                  <a:close/>
                  <a:moveTo>
                    <a:pt x="18634" y="2180"/>
                  </a:moveTo>
                  <a:cubicBezTo>
                    <a:pt x="16698" y="243"/>
                    <a:pt x="14265" y="-466"/>
                    <a:pt x="13491" y="308"/>
                  </a:cubicBezTo>
                  <a:lnTo>
                    <a:pt x="10372" y="3426"/>
                  </a:lnTo>
                  <a:cubicBezTo>
                    <a:pt x="9900" y="3899"/>
                    <a:pt x="9488" y="5482"/>
                    <a:pt x="9676" y="7085"/>
                  </a:cubicBezTo>
                  <a:lnTo>
                    <a:pt x="240" y="16521"/>
                  </a:lnTo>
                  <a:cubicBezTo>
                    <a:pt x="-320" y="17081"/>
                    <a:pt x="134" y="18442"/>
                    <a:pt x="1253" y="19561"/>
                  </a:cubicBezTo>
                  <a:cubicBezTo>
                    <a:pt x="2373" y="20681"/>
                    <a:pt x="3733" y="21134"/>
                    <a:pt x="4293" y="20574"/>
                  </a:cubicBezTo>
                  <a:lnTo>
                    <a:pt x="13729" y="11138"/>
                  </a:lnTo>
                  <a:cubicBezTo>
                    <a:pt x="15332" y="11327"/>
                    <a:pt x="16915" y="10914"/>
                    <a:pt x="17388" y="10442"/>
                  </a:cubicBezTo>
                  <a:lnTo>
                    <a:pt x="20506" y="7324"/>
                  </a:lnTo>
                  <a:cubicBezTo>
                    <a:pt x="21280" y="6549"/>
                    <a:pt x="20573" y="4116"/>
                    <a:pt x="18634" y="2180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grpSp>
        <p:nvGrpSpPr>
          <p:cNvPr id="58" name="Group 4"/>
          <p:cNvGrpSpPr/>
          <p:nvPr/>
        </p:nvGrpSpPr>
        <p:grpSpPr>
          <a:xfrm>
            <a:off x="8260398" y="5419069"/>
            <a:ext cx="521998" cy="521999"/>
            <a:chOff x="8139592" y="2651901"/>
            <a:chExt cx="521998" cy="521999"/>
          </a:xfrm>
        </p:grpSpPr>
        <p:sp>
          <p:nvSpPr>
            <p:cNvPr id="59" name="Shape 2228"/>
            <p:cNvSpPr/>
            <p:nvPr/>
          </p:nvSpPr>
          <p:spPr>
            <a:xfrm>
              <a:off x="8139592" y="2651901"/>
              <a:ext cx="521998" cy="5219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50800" tIns="50800" rIns="50800" bIns="508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3100" b="1" kern="0">
                <a:solidFill>
                  <a:prstClr val="black"/>
                </a:solidFill>
                <a:latin typeface="微软雅黑"/>
                <a:ea typeface="Kontrapunkt Bob Bold"/>
                <a:cs typeface="Kontrapunkt Bob Bold"/>
                <a:sym typeface="Kontrapunkt Bob Bold"/>
              </a:endParaRPr>
            </a:p>
          </p:txBody>
        </p:sp>
        <p:sp>
          <p:nvSpPr>
            <p:cNvPr id="60" name="Shape 2229"/>
            <p:cNvSpPr/>
            <p:nvPr/>
          </p:nvSpPr>
          <p:spPr>
            <a:xfrm>
              <a:off x="8286417" y="2801240"/>
              <a:ext cx="223305" cy="22332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318" h="21320" extrusionOk="0">
                  <a:moveTo>
                    <a:pt x="6122" y="19157"/>
                  </a:moveTo>
                  <a:lnTo>
                    <a:pt x="3902" y="19634"/>
                  </a:lnTo>
                  <a:cubicBezTo>
                    <a:pt x="3688" y="19233"/>
                    <a:pt x="3431" y="18833"/>
                    <a:pt x="2957" y="18361"/>
                  </a:cubicBezTo>
                  <a:cubicBezTo>
                    <a:pt x="2486" y="17889"/>
                    <a:pt x="2085" y="17631"/>
                    <a:pt x="1685" y="17417"/>
                  </a:cubicBezTo>
                  <a:lnTo>
                    <a:pt x="2162" y="15198"/>
                  </a:lnTo>
                  <a:lnTo>
                    <a:pt x="2804" y="14556"/>
                  </a:lnTo>
                  <a:cubicBezTo>
                    <a:pt x="2804" y="14556"/>
                    <a:pt x="4012" y="14580"/>
                    <a:pt x="5374" y="15944"/>
                  </a:cubicBezTo>
                  <a:cubicBezTo>
                    <a:pt x="6737" y="17307"/>
                    <a:pt x="6762" y="18516"/>
                    <a:pt x="6762" y="18516"/>
                  </a:cubicBezTo>
                  <a:cubicBezTo>
                    <a:pt x="6762" y="18516"/>
                    <a:pt x="6122" y="19157"/>
                    <a:pt x="6122" y="19157"/>
                  </a:cubicBezTo>
                  <a:close/>
                  <a:moveTo>
                    <a:pt x="19625" y="1692"/>
                  </a:moveTo>
                  <a:cubicBezTo>
                    <a:pt x="17654" y="-280"/>
                    <a:pt x="16174" y="15"/>
                    <a:pt x="16174" y="15"/>
                  </a:cubicBezTo>
                  <a:lnTo>
                    <a:pt x="9270" y="6920"/>
                  </a:lnTo>
                  <a:lnTo>
                    <a:pt x="1379" y="14810"/>
                  </a:lnTo>
                  <a:lnTo>
                    <a:pt x="0" y="21320"/>
                  </a:lnTo>
                  <a:lnTo>
                    <a:pt x="6508" y="19939"/>
                  </a:lnTo>
                  <a:lnTo>
                    <a:pt x="14399" y="12048"/>
                  </a:lnTo>
                  <a:lnTo>
                    <a:pt x="21302" y="5145"/>
                  </a:lnTo>
                  <a:cubicBezTo>
                    <a:pt x="21302" y="5145"/>
                    <a:pt x="21600" y="3665"/>
                    <a:pt x="19625" y="1692"/>
                  </a:cubicBezTo>
                  <a:close/>
                </a:path>
              </a:pathLst>
            </a:cu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38100" tIns="38100" rIns="38100" bIns="38100" numCol="1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 kern="0">
                <a:solidFill>
                  <a:srgbClr val="FFFFFF"/>
                </a:solidFill>
                <a:latin typeface="微软雅黑"/>
                <a:ea typeface="Helvetica Light"/>
                <a:cs typeface="Helvetica Light"/>
                <a:sym typeface="Helvetica Light"/>
              </a:endParaRPr>
            </a:p>
          </p:txBody>
        </p:sp>
      </p:grpSp>
      <p:sp>
        <p:nvSpPr>
          <p:cNvPr id="61" name="TextBox 45"/>
          <p:cNvSpPr txBox="1"/>
          <p:nvPr/>
        </p:nvSpPr>
        <p:spPr>
          <a:xfrm>
            <a:off x="1563000" y="5361350"/>
            <a:ext cx="1698481" cy="6155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从阻塞队列删除该</a:t>
            </a:r>
            <a:r>
              <a:rPr lang="en-US" alt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PCB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2" name="TextBox 46"/>
          <p:cNvSpPr txBox="1"/>
          <p:nvPr/>
        </p:nvSpPr>
        <p:spPr>
          <a:xfrm>
            <a:off x="4107977" y="5386482"/>
            <a:ext cx="1412750" cy="6155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设置为就绪状态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3" name="TextBox 47"/>
          <p:cNvSpPr txBox="1"/>
          <p:nvPr/>
        </p:nvSpPr>
        <p:spPr>
          <a:xfrm>
            <a:off x="6318916" y="5383808"/>
            <a:ext cx="1530300" cy="615553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将</a:t>
            </a:r>
            <a:r>
              <a:rPr lang="en-US" altLang="zh-CN" sz="2000" dirty="0">
                <a:solidFill>
                  <a:srgbClr val="FFFFFF"/>
                </a:solidFill>
                <a:latin typeface="微软雅黑"/>
                <a:ea typeface="微软雅黑"/>
              </a:rPr>
              <a:t>PCB</a:t>
            </a:r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置入就绪队列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4" name="TextBox 48"/>
          <p:cNvSpPr txBox="1"/>
          <p:nvPr/>
        </p:nvSpPr>
        <p:spPr>
          <a:xfrm>
            <a:off x="8804790" y="5515323"/>
            <a:ext cx="1698481" cy="30777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176924"/>
            <a:r>
              <a:rPr lang="zh-CN" altLang="en-US" sz="2000" dirty="0">
                <a:solidFill>
                  <a:srgbClr val="FFFFFF"/>
                </a:solidFill>
                <a:latin typeface="微软雅黑"/>
                <a:ea typeface="微软雅黑"/>
              </a:rPr>
              <a:t>结束</a:t>
            </a:r>
            <a:endParaRPr lang="en-GB" altLang="zh-CN" sz="200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65" name="文本框 21"/>
          <p:cNvSpPr txBox="1">
            <a:spLocks noChangeArrowheads="1"/>
          </p:cNvSpPr>
          <p:nvPr/>
        </p:nvSpPr>
        <p:spPr bwMode="auto">
          <a:xfrm>
            <a:off x="986923" y="1969911"/>
            <a:ext cx="7279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由进程阻塞原语</a:t>
            </a:r>
            <a:r>
              <a:rPr lang="en-US" altLang="zh-CN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en-US" altLang="zh-CN" sz="2400" dirty="0"/>
          </a:p>
        </p:txBody>
      </p:sp>
      <p:sp>
        <p:nvSpPr>
          <p:cNvPr id="66" name="文本框 21"/>
          <p:cNvSpPr txBox="1">
            <a:spLocks noChangeArrowheads="1"/>
          </p:cNvSpPr>
          <p:nvPr/>
        </p:nvSpPr>
        <p:spPr bwMode="auto">
          <a:xfrm>
            <a:off x="968681" y="4609179"/>
            <a:ext cx="72792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由进程唤醒原语</a:t>
            </a:r>
            <a:r>
              <a:rPr lang="en-US" altLang="zh-CN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Wakeup</a:t>
            </a:r>
            <a:r>
              <a:rPr lang="zh-CN" altLang="en-US" sz="2400" b="1" dirty="0">
                <a:solidFill>
                  <a:srgbClr val="505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72662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18" grpId="0" animBg="1"/>
      <p:bldP spid="43" grpId="0" animBg="1"/>
      <p:bldP spid="44" grpId="0" animBg="1"/>
      <p:bldP spid="45" grpId="0" animBg="1"/>
      <p:bldP spid="46" grpId="0" animBg="1"/>
      <p:bldP spid="61" grpId="0" animBg="1"/>
      <p:bldP spid="62" grpId="0" animBg="1"/>
      <p:bldP spid="63" grpId="0" animBg="1"/>
      <p:bldP spid="64" grpId="0" animBg="1"/>
      <p:bldP spid="65" grpId="0"/>
      <p:bldP spid="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/>
        </p:nvSpPr>
        <p:spPr>
          <a:xfrm>
            <a:off x="2242517" y="2946258"/>
            <a:ext cx="596900" cy="656791"/>
          </a:xfrm>
          <a:custGeom>
            <a:avLst/>
            <a:gdLst>
              <a:gd name="connsiteX0" fmla="*/ 0 w 561975"/>
              <a:gd name="connsiteY0" fmla="*/ 0 h 547688"/>
              <a:gd name="connsiteX1" fmla="*/ 552450 w 561975"/>
              <a:gd name="connsiteY1" fmla="*/ 547688 h 547688"/>
              <a:gd name="connsiteX2" fmla="*/ 561975 w 561975"/>
              <a:gd name="connsiteY2" fmla="*/ 0 h 547688"/>
              <a:gd name="connsiteX3" fmla="*/ 0 w 561975"/>
              <a:gd name="connsiteY3" fmla="*/ 0 h 547688"/>
              <a:gd name="connsiteX0" fmla="*/ 0 w 576263"/>
              <a:gd name="connsiteY0" fmla="*/ 0 h 547688"/>
              <a:gd name="connsiteX1" fmla="*/ 566738 w 576263"/>
              <a:gd name="connsiteY1" fmla="*/ 547688 h 547688"/>
              <a:gd name="connsiteX2" fmla="*/ 576263 w 576263"/>
              <a:gd name="connsiteY2" fmla="*/ 0 h 547688"/>
              <a:gd name="connsiteX3" fmla="*/ 0 w 576263"/>
              <a:gd name="connsiteY3" fmla="*/ 0 h 547688"/>
              <a:gd name="connsiteX0" fmla="*/ 0 w 576263"/>
              <a:gd name="connsiteY0" fmla="*/ 0 h 571500"/>
              <a:gd name="connsiteX1" fmla="*/ 566738 w 576263"/>
              <a:gd name="connsiteY1" fmla="*/ 571500 h 571500"/>
              <a:gd name="connsiteX2" fmla="*/ 576263 w 576263"/>
              <a:gd name="connsiteY2" fmla="*/ 0 h 571500"/>
              <a:gd name="connsiteX3" fmla="*/ 0 w 576263"/>
              <a:gd name="connsiteY3" fmla="*/ 0 h 571500"/>
              <a:gd name="connsiteX0" fmla="*/ 0 w 576263"/>
              <a:gd name="connsiteY0" fmla="*/ 0 h 576263"/>
              <a:gd name="connsiteX1" fmla="*/ 571335 w 576263"/>
              <a:gd name="connsiteY1" fmla="*/ 576263 h 576263"/>
              <a:gd name="connsiteX2" fmla="*/ 576263 w 576263"/>
              <a:gd name="connsiteY2" fmla="*/ 0 h 576263"/>
              <a:gd name="connsiteX3" fmla="*/ 0 w 576263"/>
              <a:gd name="connsiteY3" fmla="*/ 0 h 576263"/>
              <a:gd name="connsiteX0" fmla="*/ 0 w 576448"/>
              <a:gd name="connsiteY0" fmla="*/ 0 h 576263"/>
              <a:gd name="connsiteX1" fmla="*/ 575933 w 576448"/>
              <a:gd name="connsiteY1" fmla="*/ 576263 h 576263"/>
              <a:gd name="connsiteX2" fmla="*/ 576263 w 576448"/>
              <a:gd name="connsiteY2" fmla="*/ 0 h 576263"/>
              <a:gd name="connsiteX3" fmla="*/ 0 w 576448"/>
              <a:gd name="connsiteY3" fmla="*/ 0 h 576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6448" h="576263">
                <a:moveTo>
                  <a:pt x="0" y="0"/>
                </a:moveTo>
                <a:lnTo>
                  <a:pt x="575933" y="576263"/>
                </a:lnTo>
                <a:cubicBezTo>
                  <a:pt x="577576" y="384175"/>
                  <a:pt x="574620" y="192088"/>
                  <a:pt x="57626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619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32100" y="2949865"/>
            <a:ext cx="9359900" cy="65722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0" rIns="180000" bIns="0" anchor="ctr"/>
          <a:lstStyle/>
          <a:p>
            <a:pPr algn="ctr">
              <a:defRPr/>
            </a:pPr>
            <a:r>
              <a:rPr lang="zh-CN" altLang="en-US" sz="2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eiryo" panose="020B0604030504040204" pitchFamily="34" charset="-128"/>
              </a:rPr>
              <a:t>谢谢收看！</a:t>
            </a:r>
            <a:endParaRPr lang="zh-CN" altLang="en-US" sz="2800" dirty="0">
              <a:solidFill>
                <a:srgbClr val="CEEAB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eiryo" panose="020B0604030504040204" pitchFamily="34" charset="-128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2182092"/>
            <a:ext cx="9312276" cy="77527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r>
              <a:rPr lang="zh-CN" altLang="en-US" sz="3200" spc="200" dirty="0">
                <a:solidFill>
                  <a:srgbClr val="FFFFFF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</a:t>
            </a:r>
            <a:r>
              <a:rPr lang="zh-CN" altLang="en-US" sz="2800" spc="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本节结束！</a:t>
            </a:r>
          </a:p>
        </p:txBody>
      </p:sp>
      <p:sp>
        <p:nvSpPr>
          <p:cNvPr id="6" name="直角三角形 5"/>
          <p:cNvSpPr/>
          <p:nvPr/>
        </p:nvSpPr>
        <p:spPr>
          <a:xfrm>
            <a:off x="9312275" y="2178052"/>
            <a:ext cx="853701" cy="779317"/>
          </a:xfrm>
          <a:prstGeom prst="rtTriangle">
            <a:avLst/>
          </a:prstGeom>
          <a:solidFill>
            <a:srgbClr val="007C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581830" y="3921022"/>
            <a:ext cx="6906409" cy="169277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>
              <a:lnSpc>
                <a:spcPts val="2400"/>
              </a:lnSpc>
            </a:pPr>
            <a:r>
              <a:rPr lang="en-US" altLang="zh-CN" sz="1200" kern="0" dirty="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134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6599</TotalTime>
  <Words>638</Words>
  <Application>Microsoft Office PowerPoint</Application>
  <PresentationFormat>宽屏</PresentationFormat>
  <Paragraphs>132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等线</vt:lpstr>
      <vt:lpstr>等线 Light</vt:lpstr>
      <vt:lpstr>方正清刻本悦宋简体</vt:lpstr>
      <vt:lpstr>微软雅黑</vt:lpstr>
      <vt:lpstr>微软雅黑 Light</vt:lpstr>
      <vt:lpstr>Arial</vt:lpstr>
      <vt:lpstr>Calibri</vt:lpstr>
      <vt:lpstr>Impact</vt:lpstr>
      <vt:lpstr>Times New Roman</vt:lpstr>
      <vt:lpstr>Office 主题​​</vt:lpstr>
      <vt:lpstr>1_Office 主题​​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2.进程的创建</vt:lpstr>
      <vt:lpstr>2.进程的创建</vt:lpstr>
      <vt:lpstr>2.进程的创建</vt:lpstr>
      <vt:lpstr>3.进程的撤销</vt:lpstr>
      <vt:lpstr>3.进程的撤销</vt:lpstr>
      <vt:lpstr>4.进程的阻塞和唤醒</vt:lpstr>
      <vt:lpstr>4.进程的阻塞和唤醒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子 麦</cp:lastModifiedBy>
  <cp:revision>173</cp:revision>
  <dcterms:created xsi:type="dcterms:W3CDTF">2016-05-18T19:05:46Z</dcterms:created>
  <dcterms:modified xsi:type="dcterms:W3CDTF">2023-10-07T01:35:00Z</dcterms:modified>
</cp:coreProperties>
</file>