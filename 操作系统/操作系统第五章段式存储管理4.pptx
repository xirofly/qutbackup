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audio2.wav" ContentType="audio/x-wav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19"/>
  </p:notesMasterIdLst>
  <p:handoutMasterIdLst>
    <p:handoutMasterId r:id="rId20"/>
  </p:handoutMasterIdLst>
  <p:sldIdLst>
    <p:sldId id="289" r:id="rId4"/>
    <p:sldId id="375" r:id="rId5"/>
    <p:sldId id="377" r:id="rId6"/>
    <p:sldId id="378" r:id="rId7"/>
    <p:sldId id="379" r:id="rId8"/>
    <p:sldId id="380" r:id="rId9"/>
    <p:sldId id="386" r:id="rId10"/>
    <p:sldId id="381" r:id="rId11"/>
    <p:sldId id="387" r:id="rId12"/>
    <p:sldId id="388" r:id="rId13"/>
    <p:sldId id="384" r:id="rId14"/>
    <p:sldId id="385" r:id="rId15"/>
    <p:sldId id="389" r:id="rId16"/>
    <p:sldId id="390" r:id="rId17"/>
    <p:sldId id="29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7" autoAdjust="0"/>
    <p:restoredTop sz="94757" autoAdjust="0"/>
  </p:normalViewPr>
  <p:slideViewPr>
    <p:cSldViewPr snapToGrid="0">
      <p:cViewPr varScale="1">
        <p:scale>
          <a:sx n="69" d="100"/>
          <a:sy n="69" d="100"/>
        </p:scale>
        <p:origin x="750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CB84B-6A00-4441-A8E6-9FCA71C6ADFF}" type="datetimeFigureOut">
              <a:rPr lang="zh-CN" altLang="en-US" smtClean="0"/>
              <a:t>2023-11-01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28514-98A0-40EF-8E2B-A346CE837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77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0188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3991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4229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3045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4452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73060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06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6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98" r:id="rId13"/>
    <p:sldLayoutId id="214748370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2023-11-01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3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382256" y="3187225"/>
            <a:ext cx="4279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第五章 存储器管理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535085" y="4148182"/>
            <a:ext cx="2617616" cy="1070011"/>
            <a:chOff x="634754" y="4626482"/>
            <a:chExt cx="2617616" cy="1070011"/>
          </a:xfrm>
        </p:grpSpPr>
        <p:sp>
          <p:nvSpPr>
            <p:cNvPr id="56" name="Shape 2207"/>
            <p:cNvSpPr/>
            <p:nvPr/>
          </p:nvSpPr>
          <p:spPr>
            <a:xfrm>
              <a:off x="634754" y="4626482"/>
              <a:ext cx="2617616" cy="1070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240"/>
                  </a:moveTo>
                  <a:lnTo>
                    <a:pt x="12159" y="3240"/>
                  </a:lnTo>
                  <a:lnTo>
                    <a:pt x="12159" y="0"/>
                  </a:lnTo>
                  <a:lnTo>
                    <a:pt x="21600" y="10800"/>
                  </a:lnTo>
                  <a:lnTo>
                    <a:pt x="12159" y="21600"/>
                  </a:lnTo>
                  <a:lnTo>
                    <a:pt x="12159" y="18360"/>
                  </a:lnTo>
                  <a:lnTo>
                    <a:pt x="0" y="18360"/>
                  </a:lnTo>
                  <a:cubicBezTo>
                    <a:pt x="0" y="18360"/>
                    <a:pt x="0" y="3240"/>
                    <a:pt x="0" y="324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8100" tIns="38100" rIns="38100" bIns="381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  <p:grpSp>
          <p:nvGrpSpPr>
            <p:cNvPr id="62" name="Group 1"/>
            <p:cNvGrpSpPr/>
            <p:nvPr/>
          </p:nvGrpSpPr>
          <p:grpSpPr>
            <a:xfrm>
              <a:off x="635223" y="4900488"/>
              <a:ext cx="521998" cy="521999"/>
              <a:chOff x="1506589" y="2640958"/>
              <a:chExt cx="521998" cy="521999"/>
            </a:xfrm>
          </p:grpSpPr>
          <p:sp>
            <p:nvSpPr>
              <p:cNvPr id="63" name="Shape 2220"/>
              <p:cNvSpPr/>
              <p:nvPr/>
            </p:nvSpPr>
            <p:spPr>
              <a:xfrm>
                <a:off x="1506589" y="2640958"/>
                <a:ext cx="521998" cy="5219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50800" tIns="50800" rIns="50800" bIns="508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100" b="1">
                    <a:latin typeface="Kontrapunkt Bob Bold"/>
                    <a:ea typeface="Kontrapunkt Bob Bold"/>
                    <a:cs typeface="Kontrapunkt Bob Bold"/>
                    <a:sym typeface="Kontrapunkt Bob Bold"/>
                  </a:defRPr>
                </a:pPr>
                <a:endParaRPr sz="3100" b="1" kern="0">
                  <a:solidFill>
                    <a:prstClr val="black"/>
                  </a:solidFill>
                  <a:latin typeface="微软雅黑"/>
                  <a:ea typeface="Kontrapunkt Bob Bold"/>
                  <a:cs typeface="Kontrapunkt Bob Bold"/>
                  <a:sym typeface="Kontrapunkt Bob Bold"/>
                </a:endParaRPr>
              </a:p>
            </p:txBody>
          </p:sp>
          <p:sp>
            <p:nvSpPr>
              <p:cNvPr id="64" name="Shape 2221"/>
              <p:cNvSpPr/>
              <p:nvPr/>
            </p:nvSpPr>
            <p:spPr>
              <a:xfrm>
                <a:off x="1633470" y="2769409"/>
                <a:ext cx="276863" cy="2650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913" y="16137"/>
                    </a:moveTo>
                    <a:cubicBezTo>
                      <a:pt x="14080" y="15059"/>
                      <a:pt x="13176" y="14150"/>
                      <a:pt x="13176" y="12203"/>
                    </a:cubicBezTo>
                    <a:cubicBezTo>
                      <a:pt x="13176" y="11034"/>
                      <a:pt x="14040" y="11415"/>
                      <a:pt x="14419" y="9274"/>
                    </a:cubicBezTo>
                    <a:cubicBezTo>
                      <a:pt x="14577" y="8387"/>
                      <a:pt x="15341" y="9261"/>
                      <a:pt x="15487" y="7233"/>
                    </a:cubicBezTo>
                    <a:cubicBezTo>
                      <a:pt x="15487" y="6425"/>
                      <a:pt x="15071" y="6224"/>
                      <a:pt x="15071" y="6224"/>
                    </a:cubicBezTo>
                    <a:cubicBezTo>
                      <a:pt x="15071" y="6224"/>
                      <a:pt x="15283" y="5028"/>
                      <a:pt x="15366" y="4109"/>
                    </a:cubicBezTo>
                    <a:cubicBezTo>
                      <a:pt x="15468" y="2962"/>
                      <a:pt x="14731" y="0"/>
                      <a:pt x="10800" y="0"/>
                    </a:cubicBezTo>
                    <a:cubicBezTo>
                      <a:pt x="6869" y="0"/>
                      <a:pt x="6131" y="2962"/>
                      <a:pt x="6234" y="4109"/>
                    </a:cubicBezTo>
                    <a:cubicBezTo>
                      <a:pt x="6317" y="5028"/>
                      <a:pt x="6529" y="6224"/>
                      <a:pt x="6529" y="6224"/>
                    </a:cubicBezTo>
                    <a:cubicBezTo>
                      <a:pt x="6529" y="6224"/>
                      <a:pt x="6113" y="6425"/>
                      <a:pt x="6113" y="7233"/>
                    </a:cubicBezTo>
                    <a:cubicBezTo>
                      <a:pt x="6258" y="9261"/>
                      <a:pt x="7022" y="8387"/>
                      <a:pt x="7179" y="9274"/>
                    </a:cubicBezTo>
                    <a:cubicBezTo>
                      <a:pt x="7560" y="11415"/>
                      <a:pt x="8424" y="11034"/>
                      <a:pt x="8424" y="12203"/>
                    </a:cubicBezTo>
                    <a:cubicBezTo>
                      <a:pt x="8424" y="14150"/>
                      <a:pt x="7520" y="15059"/>
                      <a:pt x="4687" y="16137"/>
                    </a:cubicBezTo>
                    <a:cubicBezTo>
                      <a:pt x="1846" y="17219"/>
                      <a:pt x="0" y="18321"/>
                      <a:pt x="0" y="19073"/>
                    </a:cubicBezTo>
                    <a:cubicBezTo>
                      <a:pt x="0" y="19825"/>
                      <a:pt x="0" y="21600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600" y="21600"/>
                      <a:pt x="21600" y="19825"/>
                      <a:pt x="21600" y="19073"/>
                    </a:cubicBezTo>
                    <a:cubicBezTo>
                      <a:pt x="21600" y="18321"/>
                      <a:pt x="19754" y="17219"/>
                      <a:pt x="16913" y="16137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71" name="TextBox 45"/>
            <p:cNvSpPr txBox="1"/>
            <p:nvPr/>
          </p:nvSpPr>
          <p:spPr>
            <a:xfrm>
              <a:off x="1156709" y="5012524"/>
              <a:ext cx="1698481" cy="307777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176924"/>
              <a:r>
                <a:rPr lang="zh-CN" altLang="en-US" sz="2000" dirty="0">
                  <a:solidFill>
                    <a:srgbClr val="FFFFFF"/>
                  </a:solidFill>
                  <a:latin typeface="微软雅黑"/>
                  <a:ea typeface="微软雅黑"/>
                </a:rPr>
                <a:t>单一连续分配</a:t>
              </a:r>
              <a:endParaRPr lang="en-GB" altLang="zh-CN" sz="2000" dirty="0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段式存储管理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5.6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3087211"/>
            <a:ext cx="72792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存储管理方式随着</a:t>
            </a:r>
            <a:r>
              <a:rPr lang="en-US" altLang="zh-CN" sz="2400" dirty="0"/>
              <a:t>OS</a:t>
            </a:r>
            <a:r>
              <a:rPr lang="zh-CN" altLang="en-US" sz="2400" dirty="0"/>
              <a:t>的发展也在不断地发展。</a:t>
            </a:r>
          </a:p>
          <a:p>
            <a:endParaRPr lang="en-US" altLang="zh-CN" sz="2400" dirty="0"/>
          </a:p>
        </p:txBody>
      </p:sp>
      <p:sp>
        <p:nvSpPr>
          <p:cNvPr id="54" name="Shape 2205"/>
          <p:cNvSpPr/>
          <p:nvPr/>
        </p:nvSpPr>
        <p:spPr>
          <a:xfrm>
            <a:off x="5962205" y="4148182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5" name="Shape 2206"/>
          <p:cNvSpPr/>
          <p:nvPr/>
        </p:nvSpPr>
        <p:spPr>
          <a:xfrm>
            <a:off x="3727938" y="4148182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57" name="Group 2"/>
          <p:cNvGrpSpPr/>
          <p:nvPr/>
        </p:nvGrpSpPr>
        <p:grpSpPr>
          <a:xfrm>
            <a:off x="3741437" y="4433131"/>
            <a:ext cx="521998" cy="521999"/>
            <a:chOff x="3712472" y="2651901"/>
            <a:chExt cx="521998" cy="521999"/>
          </a:xfrm>
        </p:grpSpPr>
        <p:sp>
          <p:nvSpPr>
            <p:cNvPr id="58" name="Shape 2214"/>
            <p:cNvSpPr/>
            <p:nvPr/>
          </p:nvSpPr>
          <p:spPr>
            <a:xfrm>
              <a:off x="371247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grpSp>
          <p:nvGrpSpPr>
            <p:cNvPr id="59" name="Group 2217"/>
            <p:cNvGrpSpPr/>
            <p:nvPr/>
          </p:nvGrpSpPr>
          <p:grpSpPr>
            <a:xfrm>
              <a:off x="3878843" y="2769409"/>
              <a:ext cx="188787" cy="265098"/>
              <a:chOff x="0" y="0"/>
              <a:chExt cx="390413" cy="548221"/>
            </a:xfrm>
          </p:grpSpPr>
          <p:sp>
            <p:nvSpPr>
              <p:cNvPr id="60" name="Shape 2215"/>
              <p:cNvSpPr/>
              <p:nvPr/>
            </p:nvSpPr>
            <p:spPr>
              <a:xfrm>
                <a:off x="0" y="46251"/>
                <a:ext cx="390413" cy="501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0"/>
                    </a:moveTo>
                    <a:lnTo>
                      <a:pt x="17589" y="3600"/>
                    </a:lnTo>
                    <a:lnTo>
                      <a:pt x="4011" y="3600"/>
                    </a:lnTo>
                    <a:lnTo>
                      <a:pt x="2159" y="0"/>
                    </a:lnTo>
                    <a:cubicBezTo>
                      <a:pt x="972" y="0"/>
                      <a:pt x="0" y="756"/>
                      <a:pt x="0" y="1679"/>
                    </a:cubicBezTo>
                    <a:lnTo>
                      <a:pt x="0" y="19921"/>
                    </a:lnTo>
                    <a:cubicBezTo>
                      <a:pt x="0" y="20844"/>
                      <a:pt x="972" y="21600"/>
                      <a:pt x="2159" y="21600"/>
                    </a:cubicBezTo>
                    <a:lnTo>
                      <a:pt x="19441" y="21600"/>
                    </a:lnTo>
                    <a:cubicBezTo>
                      <a:pt x="20628" y="21600"/>
                      <a:pt x="21600" y="20844"/>
                      <a:pt x="21600" y="19921"/>
                    </a:cubicBezTo>
                    <a:lnTo>
                      <a:pt x="21600" y="1679"/>
                    </a:lnTo>
                    <a:cubicBezTo>
                      <a:pt x="21600" y="756"/>
                      <a:pt x="20628" y="0"/>
                      <a:pt x="19441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61" name="Shape 2216"/>
              <p:cNvSpPr/>
              <p:nvPr/>
            </p:nvSpPr>
            <p:spPr>
              <a:xfrm>
                <a:off x="68773" y="0"/>
                <a:ext cx="250985" cy="111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21600"/>
                    </a:moveTo>
                    <a:lnTo>
                      <a:pt x="21600" y="10800"/>
                    </a:lnTo>
                    <a:lnTo>
                      <a:pt x="16369" y="10800"/>
                    </a:lnTo>
                    <a:lnTo>
                      <a:pt x="14641" y="0"/>
                    </a:lnTo>
                    <a:lnTo>
                      <a:pt x="6959" y="0"/>
                    </a:lnTo>
                    <a:lnTo>
                      <a:pt x="5231" y="10800"/>
                    </a:lnTo>
                    <a:lnTo>
                      <a:pt x="0" y="10800"/>
                    </a:lnTo>
                    <a:lnTo>
                      <a:pt x="2159" y="21600"/>
                    </a:lnTo>
                    <a:cubicBezTo>
                      <a:pt x="2159" y="21600"/>
                      <a:pt x="19441" y="21600"/>
                      <a:pt x="19441" y="2160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</p:grpSp>
      <p:grpSp>
        <p:nvGrpSpPr>
          <p:cNvPr id="65" name="Group 3"/>
          <p:cNvGrpSpPr/>
          <p:nvPr/>
        </p:nvGrpSpPr>
        <p:grpSpPr>
          <a:xfrm>
            <a:off x="5946852" y="4433131"/>
            <a:ext cx="521998" cy="521999"/>
            <a:chOff x="5917887" y="2651901"/>
            <a:chExt cx="521998" cy="521999"/>
          </a:xfrm>
        </p:grpSpPr>
        <p:sp>
          <p:nvSpPr>
            <p:cNvPr id="66" name="Shape 2224"/>
            <p:cNvSpPr/>
            <p:nvPr/>
          </p:nvSpPr>
          <p:spPr>
            <a:xfrm>
              <a:off x="5917887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67" name="Shape 2225"/>
            <p:cNvSpPr/>
            <p:nvPr/>
          </p:nvSpPr>
          <p:spPr>
            <a:xfrm>
              <a:off x="6067226" y="2798035"/>
              <a:ext cx="223320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14" extrusionOk="0">
                  <a:moveTo>
                    <a:pt x="16063" y="4751"/>
                  </a:moveTo>
                  <a:cubicBezTo>
                    <a:pt x="14562" y="3251"/>
                    <a:pt x="14186" y="1270"/>
                    <a:pt x="14318" y="1137"/>
                  </a:cubicBezTo>
                  <a:cubicBezTo>
                    <a:pt x="14452" y="1003"/>
                    <a:pt x="16354" y="1458"/>
                    <a:pt x="17856" y="2959"/>
                  </a:cubicBezTo>
                  <a:cubicBezTo>
                    <a:pt x="19356" y="4460"/>
                    <a:pt x="19807" y="6366"/>
                    <a:pt x="19677" y="6496"/>
                  </a:cubicBezTo>
                  <a:cubicBezTo>
                    <a:pt x="19548" y="6625"/>
                    <a:pt x="17564" y="6252"/>
                    <a:pt x="16063" y="4751"/>
                  </a:cubicBezTo>
                  <a:close/>
                  <a:moveTo>
                    <a:pt x="8257" y="11610"/>
                  </a:moveTo>
                  <a:cubicBezTo>
                    <a:pt x="7827" y="11179"/>
                    <a:pt x="7967" y="10342"/>
                    <a:pt x="8569" y="9739"/>
                  </a:cubicBezTo>
                  <a:cubicBezTo>
                    <a:pt x="9172" y="9137"/>
                    <a:pt x="10009" y="8997"/>
                    <a:pt x="10440" y="9428"/>
                  </a:cubicBezTo>
                  <a:cubicBezTo>
                    <a:pt x="10869" y="9858"/>
                    <a:pt x="10730" y="10696"/>
                    <a:pt x="10128" y="11298"/>
                  </a:cubicBezTo>
                  <a:cubicBezTo>
                    <a:pt x="9526" y="11900"/>
                    <a:pt x="8687" y="12040"/>
                    <a:pt x="8257" y="11610"/>
                  </a:cubicBezTo>
                  <a:close/>
                  <a:moveTo>
                    <a:pt x="18634" y="2180"/>
                  </a:moveTo>
                  <a:cubicBezTo>
                    <a:pt x="16698" y="243"/>
                    <a:pt x="14265" y="-466"/>
                    <a:pt x="13491" y="308"/>
                  </a:cubicBezTo>
                  <a:lnTo>
                    <a:pt x="10372" y="3426"/>
                  </a:lnTo>
                  <a:cubicBezTo>
                    <a:pt x="9900" y="3899"/>
                    <a:pt x="9488" y="5482"/>
                    <a:pt x="9676" y="7085"/>
                  </a:cubicBezTo>
                  <a:lnTo>
                    <a:pt x="240" y="16521"/>
                  </a:lnTo>
                  <a:cubicBezTo>
                    <a:pt x="-320" y="17081"/>
                    <a:pt x="134" y="18442"/>
                    <a:pt x="1253" y="19561"/>
                  </a:cubicBezTo>
                  <a:cubicBezTo>
                    <a:pt x="2373" y="20681"/>
                    <a:pt x="3733" y="21134"/>
                    <a:pt x="4293" y="20574"/>
                  </a:cubicBezTo>
                  <a:lnTo>
                    <a:pt x="13729" y="11138"/>
                  </a:lnTo>
                  <a:cubicBezTo>
                    <a:pt x="15332" y="11327"/>
                    <a:pt x="16915" y="10914"/>
                    <a:pt x="17388" y="10442"/>
                  </a:cubicBezTo>
                  <a:lnTo>
                    <a:pt x="20506" y="7324"/>
                  </a:lnTo>
                  <a:cubicBezTo>
                    <a:pt x="21280" y="6549"/>
                    <a:pt x="20573" y="4116"/>
                    <a:pt x="18634" y="218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72" name="TextBox 46"/>
          <p:cNvSpPr txBox="1"/>
          <p:nvPr/>
        </p:nvSpPr>
        <p:spPr>
          <a:xfrm>
            <a:off x="4293636" y="4532060"/>
            <a:ext cx="1653215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固定分区分配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47"/>
          <p:cNvSpPr txBox="1"/>
          <p:nvPr/>
        </p:nvSpPr>
        <p:spPr>
          <a:xfrm>
            <a:off x="6499052" y="4515738"/>
            <a:ext cx="1530300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动态分区分配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277961" y="3812368"/>
            <a:ext cx="2617616" cy="1070011"/>
            <a:chOff x="7254726" y="4626482"/>
            <a:chExt cx="2617616" cy="1070011"/>
          </a:xfrm>
        </p:grpSpPr>
        <p:sp>
          <p:nvSpPr>
            <p:cNvPr id="53" name="Shape 2204"/>
            <p:cNvSpPr/>
            <p:nvPr/>
          </p:nvSpPr>
          <p:spPr>
            <a:xfrm>
              <a:off x="7254726" y="4626482"/>
              <a:ext cx="2617616" cy="1070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240"/>
                  </a:moveTo>
                  <a:lnTo>
                    <a:pt x="12159" y="3240"/>
                  </a:lnTo>
                  <a:lnTo>
                    <a:pt x="12159" y="0"/>
                  </a:lnTo>
                  <a:lnTo>
                    <a:pt x="21600" y="10800"/>
                  </a:lnTo>
                  <a:lnTo>
                    <a:pt x="12159" y="21600"/>
                  </a:lnTo>
                  <a:lnTo>
                    <a:pt x="12159" y="18360"/>
                  </a:lnTo>
                  <a:lnTo>
                    <a:pt x="0" y="18360"/>
                  </a:lnTo>
                  <a:cubicBezTo>
                    <a:pt x="0" y="18360"/>
                    <a:pt x="0" y="3240"/>
                    <a:pt x="0" y="324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8100" tIns="38100" rIns="38100" bIns="381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  <p:grpSp>
          <p:nvGrpSpPr>
            <p:cNvPr id="68" name="Group 4"/>
            <p:cNvGrpSpPr/>
            <p:nvPr/>
          </p:nvGrpSpPr>
          <p:grpSpPr>
            <a:xfrm>
              <a:off x="7268226" y="4911431"/>
              <a:ext cx="521998" cy="521999"/>
              <a:chOff x="8139592" y="2651901"/>
              <a:chExt cx="521998" cy="521999"/>
            </a:xfrm>
          </p:grpSpPr>
          <p:sp>
            <p:nvSpPr>
              <p:cNvPr id="69" name="Shape 2228"/>
              <p:cNvSpPr/>
              <p:nvPr/>
            </p:nvSpPr>
            <p:spPr>
              <a:xfrm>
                <a:off x="8139592" y="2651901"/>
                <a:ext cx="521998" cy="5219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50800" tIns="50800" rIns="50800" bIns="508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100" b="1">
                    <a:latin typeface="Kontrapunkt Bob Bold"/>
                    <a:ea typeface="Kontrapunkt Bob Bold"/>
                    <a:cs typeface="Kontrapunkt Bob Bold"/>
                    <a:sym typeface="Kontrapunkt Bob Bold"/>
                  </a:defRPr>
                </a:pPr>
                <a:endParaRPr sz="3100" b="1" kern="0">
                  <a:solidFill>
                    <a:prstClr val="black"/>
                  </a:solidFill>
                  <a:latin typeface="微软雅黑"/>
                  <a:ea typeface="Kontrapunkt Bob Bold"/>
                  <a:cs typeface="Kontrapunkt Bob Bold"/>
                  <a:sym typeface="Kontrapunkt Bob Bold"/>
                </a:endParaRPr>
              </a:p>
            </p:txBody>
          </p:sp>
          <p:sp>
            <p:nvSpPr>
              <p:cNvPr id="70" name="Shape 2229"/>
              <p:cNvSpPr/>
              <p:nvPr/>
            </p:nvSpPr>
            <p:spPr>
              <a:xfrm>
                <a:off x="8286417" y="2801240"/>
                <a:ext cx="223305" cy="223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8" h="21320" extrusionOk="0">
                    <a:moveTo>
                      <a:pt x="6122" y="19157"/>
                    </a:moveTo>
                    <a:lnTo>
                      <a:pt x="3902" y="19634"/>
                    </a:lnTo>
                    <a:cubicBezTo>
                      <a:pt x="3688" y="19233"/>
                      <a:pt x="3431" y="18833"/>
                      <a:pt x="2957" y="18361"/>
                    </a:cubicBezTo>
                    <a:cubicBezTo>
                      <a:pt x="2486" y="17889"/>
                      <a:pt x="2085" y="17631"/>
                      <a:pt x="1685" y="17417"/>
                    </a:cubicBezTo>
                    <a:lnTo>
                      <a:pt x="2162" y="15198"/>
                    </a:lnTo>
                    <a:lnTo>
                      <a:pt x="2804" y="14556"/>
                    </a:lnTo>
                    <a:cubicBezTo>
                      <a:pt x="2804" y="14556"/>
                      <a:pt x="4012" y="14580"/>
                      <a:pt x="5374" y="15944"/>
                    </a:cubicBezTo>
                    <a:cubicBezTo>
                      <a:pt x="6737" y="17307"/>
                      <a:pt x="6762" y="18516"/>
                      <a:pt x="6762" y="18516"/>
                    </a:cubicBezTo>
                    <a:cubicBezTo>
                      <a:pt x="6762" y="18516"/>
                      <a:pt x="6122" y="19157"/>
                      <a:pt x="6122" y="19157"/>
                    </a:cubicBezTo>
                    <a:close/>
                    <a:moveTo>
                      <a:pt x="19625" y="1692"/>
                    </a:moveTo>
                    <a:cubicBezTo>
                      <a:pt x="17654" y="-280"/>
                      <a:pt x="16174" y="15"/>
                      <a:pt x="16174" y="15"/>
                    </a:cubicBezTo>
                    <a:lnTo>
                      <a:pt x="9270" y="6920"/>
                    </a:lnTo>
                    <a:lnTo>
                      <a:pt x="1379" y="14810"/>
                    </a:lnTo>
                    <a:lnTo>
                      <a:pt x="0" y="21320"/>
                    </a:lnTo>
                    <a:lnTo>
                      <a:pt x="6508" y="19939"/>
                    </a:lnTo>
                    <a:lnTo>
                      <a:pt x="14399" y="12048"/>
                    </a:lnTo>
                    <a:lnTo>
                      <a:pt x="21302" y="5145"/>
                    </a:lnTo>
                    <a:cubicBezTo>
                      <a:pt x="21302" y="5145"/>
                      <a:pt x="21600" y="3665"/>
                      <a:pt x="19625" y="1692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74" name="TextBox 48"/>
            <p:cNvSpPr txBox="1"/>
            <p:nvPr/>
          </p:nvSpPr>
          <p:spPr>
            <a:xfrm>
              <a:off x="7812618" y="5007685"/>
              <a:ext cx="1698481" cy="307777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176924"/>
              <a:r>
                <a:rPr lang="zh-CN" altLang="en-US" sz="2000" dirty="0">
                  <a:solidFill>
                    <a:srgbClr val="FFFFFF"/>
                  </a:solidFill>
                  <a:latin typeface="微软雅黑"/>
                  <a:ea typeface="微软雅黑"/>
                </a:rPr>
                <a:t>分页存储管理</a:t>
              </a:r>
              <a:endParaRPr lang="en-GB" altLang="zh-CN" sz="2000" dirty="0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268394" y="4584687"/>
            <a:ext cx="2627183" cy="1070011"/>
            <a:chOff x="9573036" y="4656871"/>
            <a:chExt cx="2627183" cy="1070011"/>
          </a:xfrm>
        </p:grpSpPr>
        <p:sp>
          <p:nvSpPr>
            <p:cNvPr id="75" name="Shape 2207"/>
            <p:cNvSpPr/>
            <p:nvPr/>
          </p:nvSpPr>
          <p:spPr>
            <a:xfrm>
              <a:off x="9582603" y="4656871"/>
              <a:ext cx="2617616" cy="1070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240"/>
                  </a:moveTo>
                  <a:lnTo>
                    <a:pt x="12159" y="3240"/>
                  </a:lnTo>
                  <a:lnTo>
                    <a:pt x="12159" y="0"/>
                  </a:lnTo>
                  <a:lnTo>
                    <a:pt x="21600" y="10800"/>
                  </a:lnTo>
                  <a:lnTo>
                    <a:pt x="12159" y="21600"/>
                  </a:lnTo>
                  <a:lnTo>
                    <a:pt x="12159" y="18360"/>
                  </a:lnTo>
                  <a:lnTo>
                    <a:pt x="0" y="18360"/>
                  </a:lnTo>
                  <a:cubicBezTo>
                    <a:pt x="0" y="18360"/>
                    <a:pt x="0" y="3240"/>
                    <a:pt x="0" y="324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8100" tIns="38100" rIns="38100" bIns="381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  <p:grpSp>
          <p:nvGrpSpPr>
            <p:cNvPr id="76" name="Group 1"/>
            <p:cNvGrpSpPr/>
            <p:nvPr/>
          </p:nvGrpSpPr>
          <p:grpSpPr>
            <a:xfrm>
              <a:off x="9573036" y="4900488"/>
              <a:ext cx="521998" cy="521999"/>
              <a:chOff x="1506589" y="2640958"/>
              <a:chExt cx="521998" cy="521999"/>
            </a:xfrm>
          </p:grpSpPr>
          <p:sp>
            <p:nvSpPr>
              <p:cNvPr id="77" name="Shape 2220"/>
              <p:cNvSpPr/>
              <p:nvPr/>
            </p:nvSpPr>
            <p:spPr>
              <a:xfrm>
                <a:off x="1506589" y="2640958"/>
                <a:ext cx="521998" cy="5219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50800" tIns="50800" rIns="50800" bIns="508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100" b="1">
                    <a:latin typeface="Kontrapunkt Bob Bold"/>
                    <a:ea typeface="Kontrapunkt Bob Bold"/>
                    <a:cs typeface="Kontrapunkt Bob Bold"/>
                    <a:sym typeface="Kontrapunkt Bob Bold"/>
                  </a:defRPr>
                </a:pPr>
                <a:endParaRPr sz="3100" b="1" kern="0">
                  <a:solidFill>
                    <a:prstClr val="black"/>
                  </a:solidFill>
                  <a:latin typeface="微软雅黑"/>
                  <a:ea typeface="Kontrapunkt Bob Bold"/>
                  <a:cs typeface="Kontrapunkt Bob Bold"/>
                  <a:sym typeface="Kontrapunkt Bob Bold"/>
                </a:endParaRPr>
              </a:p>
            </p:txBody>
          </p:sp>
          <p:sp>
            <p:nvSpPr>
              <p:cNvPr id="78" name="Shape 2221"/>
              <p:cNvSpPr/>
              <p:nvPr/>
            </p:nvSpPr>
            <p:spPr>
              <a:xfrm>
                <a:off x="1633470" y="2769409"/>
                <a:ext cx="276863" cy="2650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913" y="16137"/>
                    </a:moveTo>
                    <a:cubicBezTo>
                      <a:pt x="14080" y="15059"/>
                      <a:pt x="13176" y="14150"/>
                      <a:pt x="13176" y="12203"/>
                    </a:cubicBezTo>
                    <a:cubicBezTo>
                      <a:pt x="13176" y="11034"/>
                      <a:pt x="14040" y="11415"/>
                      <a:pt x="14419" y="9274"/>
                    </a:cubicBezTo>
                    <a:cubicBezTo>
                      <a:pt x="14577" y="8387"/>
                      <a:pt x="15341" y="9261"/>
                      <a:pt x="15487" y="7233"/>
                    </a:cubicBezTo>
                    <a:cubicBezTo>
                      <a:pt x="15487" y="6425"/>
                      <a:pt x="15071" y="6224"/>
                      <a:pt x="15071" y="6224"/>
                    </a:cubicBezTo>
                    <a:cubicBezTo>
                      <a:pt x="15071" y="6224"/>
                      <a:pt x="15283" y="5028"/>
                      <a:pt x="15366" y="4109"/>
                    </a:cubicBezTo>
                    <a:cubicBezTo>
                      <a:pt x="15468" y="2962"/>
                      <a:pt x="14731" y="0"/>
                      <a:pt x="10800" y="0"/>
                    </a:cubicBezTo>
                    <a:cubicBezTo>
                      <a:pt x="6869" y="0"/>
                      <a:pt x="6131" y="2962"/>
                      <a:pt x="6234" y="4109"/>
                    </a:cubicBezTo>
                    <a:cubicBezTo>
                      <a:pt x="6317" y="5028"/>
                      <a:pt x="6529" y="6224"/>
                      <a:pt x="6529" y="6224"/>
                    </a:cubicBezTo>
                    <a:cubicBezTo>
                      <a:pt x="6529" y="6224"/>
                      <a:pt x="6113" y="6425"/>
                      <a:pt x="6113" y="7233"/>
                    </a:cubicBezTo>
                    <a:cubicBezTo>
                      <a:pt x="6258" y="9261"/>
                      <a:pt x="7022" y="8387"/>
                      <a:pt x="7179" y="9274"/>
                    </a:cubicBezTo>
                    <a:cubicBezTo>
                      <a:pt x="7560" y="11415"/>
                      <a:pt x="8424" y="11034"/>
                      <a:pt x="8424" y="12203"/>
                    </a:cubicBezTo>
                    <a:cubicBezTo>
                      <a:pt x="8424" y="14150"/>
                      <a:pt x="7520" y="15059"/>
                      <a:pt x="4687" y="16137"/>
                    </a:cubicBezTo>
                    <a:cubicBezTo>
                      <a:pt x="1846" y="17219"/>
                      <a:pt x="0" y="18321"/>
                      <a:pt x="0" y="19073"/>
                    </a:cubicBezTo>
                    <a:cubicBezTo>
                      <a:pt x="0" y="19825"/>
                      <a:pt x="0" y="21600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600" y="21600"/>
                      <a:pt x="21600" y="19825"/>
                      <a:pt x="21600" y="19073"/>
                    </a:cubicBezTo>
                    <a:cubicBezTo>
                      <a:pt x="21600" y="18321"/>
                      <a:pt x="19754" y="17219"/>
                      <a:pt x="16913" y="16137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79" name="TextBox 45"/>
            <p:cNvSpPr txBox="1"/>
            <p:nvPr/>
          </p:nvSpPr>
          <p:spPr>
            <a:xfrm>
              <a:off x="10103830" y="5010186"/>
              <a:ext cx="1698481" cy="307777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176924"/>
              <a:r>
                <a:rPr lang="zh-CN" altLang="en-US" sz="2000" dirty="0">
                  <a:solidFill>
                    <a:srgbClr val="FFFFFF"/>
                  </a:solidFill>
                  <a:latin typeface="微软雅黑"/>
                  <a:ea typeface="微软雅黑"/>
                </a:rPr>
                <a:t>分段存储管理</a:t>
              </a:r>
              <a:endParaRPr lang="en-GB" altLang="zh-CN" sz="2000" dirty="0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80" name="AutoShape 22"/>
          <p:cNvSpPr>
            <a:spLocks noChangeArrowheads="1"/>
          </p:cNvSpPr>
          <p:nvPr/>
        </p:nvSpPr>
        <p:spPr bwMode="auto">
          <a:xfrm>
            <a:off x="2288553" y="5382929"/>
            <a:ext cx="2481641" cy="543538"/>
          </a:xfrm>
          <a:prstGeom prst="wedgeRoundRectCallout">
            <a:avLst>
              <a:gd name="adj1" fmla="val -729"/>
              <a:gd name="adj2" fmla="val -113805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zh-CN" altLang="en-US" sz="2400" dirty="0">
                <a:ea typeface="华文楷体" pitchFamily="2" charset="-122"/>
              </a:rPr>
              <a:t>单道向多道发展</a:t>
            </a:r>
            <a:endParaRPr lang="en-US" altLang="zh-CN" sz="2400" dirty="0">
              <a:ea typeface="华文楷体" pitchFamily="2" charset="-122"/>
            </a:endParaRPr>
          </a:p>
        </p:txBody>
      </p:sp>
      <p:sp>
        <p:nvSpPr>
          <p:cNvPr id="81" name="AutoShape 22"/>
          <p:cNvSpPr>
            <a:spLocks noChangeArrowheads="1"/>
          </p:cNvSpPr>
          <p:nvPr/>
        </p:nvSpPr>
        <p:spPr bwMode="auto">
          <a:xfrm>
            <a:off x="4895989" y="5602071"/>
            <a:ext cx="2481641" cy="863238"/>
          </a:xfrm>
          <a:prstGeom prst="wedgeRoundRectCallout">
            <a:avLst>
              <a:gd name="adj1" fmla="val -9799"/>
              <a:gd name="adj2" fmla="val -134510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zh-CN" altLang="en-US" sz="2400" dirty="0">
                <a:ea typeface="华文楷体" pitchFamily="2" charset="-122"/>
              </a:rPr>
              <a:t>适应不同大小的用户程序要求</a:t>
            </a:r>
            <a:endParaRPr lang="en-US" altLang="zh-CN" sz="2400" dirty="0">
              <a:ea typeface="华文楷体" pitchFamily="2" charset="-122"/>
            </a:endParaRPr>
          </a:p>
        </p:txBody>
      </p:sp>
      <p:sp>
        <p:nvSpPr>
          <p:cNvPr id="82" name="AutoShape 22"/>
          <p:cNvSpPr>
            <a:spLocks noChangeArrowheads="1"/>
          </p:cNvSpPr>
          <p:nvPr/>
        </p:nvSpPr>
        <p:spPr bwMode="auto">
          <a:xfrm>
            <a:off x="7503425" y="5662846"/>
            <a:ext cx="3030909" cy="802463"/>
          </a:xfrm>
          <a:prstGeom prst="wedgeRoundRectCallout">
            <a:avLst>
              <a:gd name="adj1" fmla="val 7084"/>
              <a:gd name="adj2" fmla="val -61522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zh-CN" altLang="en-US" sz="2400" dirty="0">
                <a:ea typeface="华文楷体" pitchFamily="2" charset="-122"/>
              </a:rPr>
              <a:t>满足用户在编程和使用上的多方面要求</a:t>
            </a:r>
            <a:endParaRPr lang="en-US" altLang="zh-CN" sz="2400" dirty="0">
              <a:ea typeface="华文楷体" pitchFamily="2" charset="-122"/>
            </a:endParaRPr>
          </a:p>
        </p:txBody>
      </p:sp>
      <p:sp>
        <p:nvSpPr>
          <p:cNvPr id="83" name="AutoShape 22"/>
          <p:cNvSpPr>
            <a:spLocks noChangeArrowheads="1"/>
          </p:cNvSpPr>
          <p:nvPr/>
        </p:nvSpPr>
        <p:spPr bwMode="auto">
          <a:xfrm>
            <a:off x="9239731" y="3025427"/>
            <a:ext cx="2515876" cy="529580"/>
          </a:xfrm>
          <a:prstGeom prst="wedgeRoundRectCallout">
            <a:avLst>
              <a:gd name="adj1" fmla="val -49950"/>
              <a:gd name="adj2" fmla="val 110492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zh-CN" altLang="en-US" sz="2400" dirty="0">
                <a:ea typeface="华文楷体" pitchFamily="2" charset="-122"/>
              </a:rPr>
              <a:t>提高内存利用率</a:t>
            </a:r>
            <a:endParaRPr lang="en-US" altLang="zh-CN" sz="2400" dirty="0"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629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0" grpId="0" animBg="1"/>
      <p:bldP spid="81" grpId="0" animBg="1"/>
      <p:bldP spid="82" grpId="0" animBg="1"/>
      <p:bldP spid="8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4576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为了满足用户和程序员下列要求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847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分段存储管理方式的引入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1014252" y="1903072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22138" y="1903071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3" name="等腰三角形 32"/>
          <p:cNvSpPr/>
          <p:nvPr/>
        </p:nvSpPr>
        <p:spPr>
          <a:xfrm rot="5400000">
            <a:off x="2363844" y="2170266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1014252" y="2883181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722138" y="2883180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6" name="等腰三角形 35"/>
          <p:cNvSpPr/>
          <p:nvPr/>
        </p:nvSpPr>
        <p:spPr>
          <a:xfrm rot="5400000">
            <a:off x="2363844" y="3150375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014252" y="3834252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722138" y="3834251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 rot="5400000">
            <a:off x="2363844" y="4101446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1014252" y="4814361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722138" y="4814360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2" name="等腰三角形 41"/>
          <p:cNvSpPr/>
          <p:nvPr/>
        </p:nvSpPr>
        <p:spPr>
          <a:xfrm rot="5400000">
            <a:off x="2363844" y="5081555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3" name="文本框 5"/>
          <p:cNvSpPr txBox="1">
            <a:spLocks noChangeArrowheads="1"/>
          </p:cNvSpPr>
          <p:nvPr/>
        </p:nvSpPr>
        <p:spPr bwMode="auto">
          <a:xfrm>
            <a:off x="1071855" y="2001497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4" name="文本框 71"/>
          <p:cNvSpPr txBox="1">
            <a:spLocks noChangeArrowheads="1"/>
          </p:cNvSpPr>
          <p:nvPr/>
        </p:nvSpPr>
        <p:spPr bwMode="auto">
          <a:xfrm>
            <a:off x="1071855" y="2981669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5" name="文本框 87"/>
          <p:cNvSpPr txBox="1">
            <a:spLocks noChangeArrowheads="1"/>
          </p:cNvSpPr>
          <p:nvPr/>
        </p:nvSpPr>
        <p:spPr bwMode="auto">
          <a:xfrm>
            <a:off x="1071855" y="3932010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6" name="文本框 88"/>
          <p:cNvSpPr txBox="1">
            <a:spLocks noChangeArrowheads="1"/>
          </p:cNvSpPr>
          <p:nvPr/>
        </p:nvSpPr>
        <p:spPr bwMode="auto">
          <a:xfrm>
            <a:off x="1071855" y="4912182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8" name="AutoShape 115"/>
          <p:cNvSpPr>
            <a:spLocks/>
          </p:cNvSpPr>
          <p:nvPr/>
        </p:nvSpPr>
        <p:spPr bwMode="auto">
          <a:xfrm>
            <a:off x="1970380" y="2072935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50" name="AutoShape 29"/>
          <p:cNvSpPr>
            <a:spLocks/>
          </p:cNvSpPr>
          <p:nvPr/>
        </p:nvSpPr>
        <p:spPr bwMode="auto">
          <a:xfrm>
            <a:off x="1970380" y="3057869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51" name="Group 2"/>
          <p:cNvGrpSpPr>
            <a:grpSpLocks/>
          </p:cNvGrpSpPr>
          <p:nvPr/>
        </p:nvGrpSpPr>
        <p:grpSpPr bwMode="auto">
          <a:xfrm>
            <a:off x="1969976" y="4007899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52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53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54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55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56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57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58" name="Group 587"/>
          <p:cNvGrpSpPr>
            <a:grpSpLocks/>
          </p:cNvGrpSpPr>
          <p:nvPr/>
        </p:nvGrpSpPr>
        <p:grpSpPr bwMode="auto">
          <a:xfrm>
            <a:off x="1960425" y="5035409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59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60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61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62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63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64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65" name="直接连接符 64"/>
          <p:cNvCxnSpPr>
            <a:stCxn id="33" idx="0"/>
          </p:cNvCxnSpPr>
          <p:nvPr/>
        </p:nvCxnSpPr>
        <p:spPr>
          <a:xfrm flipV="1">
            <a:off x="2878430" y="2293597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2878430" y="3270594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2878430" y="4212997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2878430" y="5189994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3683293" y="2241210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683293" y="3205507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3683293" y="4159022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3683293" y="5124907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3" name="文本框 72"/>
          <p:cNvSpPr txBox="1">
            <a:spLocks noChangeArrowheads="1"/>
          </p:cNvSpPr>
          <p:nvPr/>
        </p:nvSpPr>
        <p:spPr bwMode="auto">
          <a:xfrm>
            <a:off x="4018414" y="2065946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75"/>
              </a:spcBef>
              <a:defRPr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方便编程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>
            <a:spLocks noChangeArrowheads="1"/>
          </p:cNvSpPr>
          <p:nvPr/>
        </p:nvSpPr>
        <p:spPr bwMode="auto">
          <a:xfrm>
            <a:off x="4039998" y="297115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75"/>
              </a:spcBef>
              <a:defRPr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>
            <a:spLocks noChangeArrowheads="1"/>
          </p:cNvSpPr>
          <p:nvPr/>
        </p:nvSpPr>
        <p:spPr bwMode="auto">
          <a:xfrm>
            <a:off x="4026350" y="395765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信息保护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>
            <a:spLocks noChangeArrowheads="1"/>
          </p:cNvSpPr>
          <p:nvPr/>
        </p:nvSpPr>
        <p:spPr bwMode="auto">
          <a:xfrm>
            <a:off x="4053646" y="497052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动态增长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057468" y="578818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1765354" y="578818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9" name="等腰三角形 78"/>
          <p:cNvSpPr/>
          <p:nvPr/>
        </p:nvSpPr>
        <p:spPr>
          <a:xfrm rot="5400000">
            <a:off x="2407060" y="605538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80" name="文本框 87"/>
          <p:cNvSpPr txBox="1">
            <a:spLocks noChangeArrowheads="1"/>
          </p:cNvSpPr>
          <p:nvPr/>
        </p:nvSpPr>
        <p:spPr bwMode="auto">
          <a:xfrm>
            <a:off x="1115071" y="5885946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81" name="Group 2"/>
          <p:cNvGrpSpPr>
            <a:grpSpLocks/>
          </p:cNvGrpSpPr>
          <p:nvPr/>
        </p:nvGrpSpPr>
        <p:grpSpPr bwMode="auto">
          <a:xfrm>
            <a:off x="2013192" y="5961835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3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4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5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6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7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8" name="直接连接符 87"/>
          <p:cNvCxnSpPr/>
          <p:nvPr/>
        </p:nvCxnSpPr>
        <p:spPr>
          <a:xfrm flipV="1">
            <a:off x="2921646" y="6166933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/>
          <p:cNvSpPr/>
          <p:nvPr/>
        </p:nvSpPr>
        <p:spPr>
          <a:xfrm>
            <a:off x="3726509" y="6112958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90" name="文本框 56"/>
          <p:cNvSpPr txBox="1">
            <a:spLocks noChangeArrowheads="1"/>
          </p:cNvSpPr>
          <p:nvPr/>
        </p:nvSpPr>
        <p:spPr bwMode="auto">
          <a:xfrm>
            <a:off x="4096862" y="595253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75"/>
              </a:spcBef>
              <a:defRPr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动态链接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57"/>
          <p:cNvSpPr txBox="1"/>
          <p:nvPr/>
        </p:nvSpPr>
        <p:spPr>
          <a:xfrm>
            <a:off x="4026349" y="2445607"/>
            <a:ext cx="8001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400" dirty="0">
                <a:latin typeface="Tahoma" pitchFamily="34" charset="0"/>
                <a:ea typeface="宋体" pitchFamily="2" charset="-122"/>
              </a:rPr>
              <a:t>程序员访问的逻辑地址是由段名和段内偏移量决定的</a:t>
            </a:r>
            <a:endParaRPr kumimoji="1" lang="en-US" altLang="zh-CN" sz="24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" name="文本框 57"/>
          <p:cNvSpPr txBox="1"/>
          <p:nvPr/>
        </p:nvSpPr>
        <p:spPr>
          <a:xfrm>
            <a:off x="4026522" y="5334245"/>
            <a:ext cx="7233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400" dirty="0">
                <a:latin typeface="Tahoma" pitchFamily="34" charset="0"/>
                <a:ea typeface="宋体" pitchFamily="2" charset="-122"/>
              </a:rPr>
              <a:t>使用过程中，数据量不断增加，数据段动态增长。</a:t>
            </a:r>
            <a:endParaRPr kumimoji="1" lang="en-US" altLang="zh-CN" sz="24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3" name="文本框 57"/>
          <p:cNvSpPr txBox="1"/>
          <p:nvPr/>
        </p:nvSpPr>
        <p:spPr>
          <a:xfrm>
            <a:off x="4018414" y="4435909"/>
            <a:ext cx="7233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400" dirty="0">
                <a:latin typeface="Tahoma" pitchFamily="34" charset="0"/>
                <a:ea typeface="宋体" pitchFamily="2" charset="-122"/>
              </a:rPr>
              <a:t>为段设置保护属性</a:t>
            </a:r>
            <a:endParaRPr kumimoji="1" lang="en-US" altLang="zh-CN" sz="2400" dirty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4" name="文本框 57"/>
          <p:cNvSpPr txBox="1"/>
          <p:nvPr/>
        </p:nvSpPr>
        <p:spPr>
          <a:xfrm>
            <a:off x="4040418" y="6311610"/>
            <a:ext cx="7233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75"/>
              </a:spcBef>
              <a:defRPr/>
            </a:pPr>
            <a:r>
              <a:rPr kumimoji="1" lang="zh-CN" altLang="en-US" sz="2400" dirty="0">
                <a:latin typeface="Tahoma" pitchFamily="34" charset="0"/>
                <a:ea typeface="宋体" pitchFamily="2" charset="-122"/>
              </a:rPr>
              <a:t>程序运行时将所需段调入内存并进行链接</a:t>
            </a:r>
          </a:p>
        </p:txBody>
      </p:sp>
      <p:sp>
        <p:nvSpPr>
          <p:cNvPr id="95" name="文本框 57"/>
          <p:cNvSpPr txBox="1"/>
          <p:nvPr/>
        </p:nvSpPr>
        <p:spPr>
          <a:xfrm>
            <a:off x="4018414" y="3344906"/>
            <a:ext cx="7233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Tahoma" pitchFamily="34" charset="0"/>
                <a:ea typeface="宋体" pitchFamily="2" charset="-122"/>
              </a:rPr>
              <a:t>为共享过程建立一个独立的段</a:t>
            </a:r>
            <a:endParaRPr kumimoji="1" lang="en-US" altLang="zh-CN" sz="2400" dirty="0"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254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/>
      <p:bldP spid="75" grpId="0"/>
      <p:bldP spid="76" grpId="0"/>
      <p:bldP spid="90" grpId="0"/>
      <p:bldP spid="91" grpId="0"/>
      <p:bldP spid="92" grpId="0"/>
      <p:bldP spid="93" grpId="0"/>
      <p:bldP spid="94" grpId="0"/>
      <p:bldP spid="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）分段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分段系统的基本原理</a:t>
            </a:r>
          </a:p>
        </p:txBody>
      </p: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1126144" y="1936583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按程序自身的逻辑关系划分为若干个程序段，每个程序段都有段名。</a:t>
            </a:r>
          </a:p>
        </p:txBody>
      </p:sp>
      <p:sp>
        <p:nvSpPr>
          <p:cNvPr id="25" name="文本框 19"/>
          <p:cNvSpPr txBox="1">
            <a:spLocks noChangeArrowheads="1"/>
          </p:cNvSpPr>
          <p:nvPr/>
        </p:nvSpPr>
        <p:spPr bwMode="auto">
          <a:xfrm>
            <a:off x="1137864" y="2468811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段号从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开始编址，每一段也从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开始编址，段内地址是连续的；</a:t>
            </a:r>
          </a:p>
        </p:txBody>
      </p:sp>
      <p:sp>
        <p:nvSpPr>
          <p:cNvPr id="34" name="文本框 19"/>
          <p:cNvSpPr txBox="1">
            <a:spLocks noChangeArrowheads="1"/>
          </p:cNvSpPr>
          <p:nvPr/>
        </p:nvSpPr>
        <p:spPr bwMode="auto">
          <a:xfrm>
            <a:off x="1137864" y="3028243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每个段分得一个连续的可变分区，每段长度不同。</a:t>
            </a:r>
          </a:p>
        </p:txBody>
      </p:sp>
      <p:sp>
        <p:nvSpPr>
          <p:cNvPr id="36" name="文本框 19"/>
          <p:cNvSpPr txBox="1">
            <a:spLocks noChangeArrowheads="1"/>
          </p:cNvSpPr>
          <p:nvPr/>
        </p:nvSpPr>
        <p:spPr bwMode="auto">
          <a:xfrm>
            <a:off x="1126144" y="3588899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分段方式已得到编译程序的支持，根据源程序自动产生段。</a:t>
            </a:r>
          </a:p>
        </p:txBody>
      </p:sp>
      <p:graphicFrame>
        <p:nvGraphicFramePr>
          <p:cNvPr id="40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390037"/>
              </p:ext>
            </p:extLst>
          </p:nvPr>
        </p:nvGraphicFramePr>
        <p:xfrm>
          <a:off x="1831975" y="5313170"/>
          <a:ext cx="6096000" cy="458787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段号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段内地址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Text Box 12"/>
          <p:cNvSpPr txBox="1">
            <a:spLocks noChangeArrowheads="1"/>
          </p:cNvSpPr>
          <p:nvPr/>
        </p:nvSpPr>
        <p:spPr bwMode="auto">
          <a:xfrm>
            <a:off x="1763713" y="4882957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31                               16  15                                0</a:t>
            </a:r>
          </a:p>
        </p:txBody>
      </p:sp>
      <p:sp>
        <p:nvSpPr>
          <p:cNvPr id="42" name="AutoShape 15"/>
          <p:cNvSpPr>
            <a:spLocks/>
          </p:cNvSpPr>
          <p:nvPr/>
        </p:nvSpPr>
        <p:spPr bwMode="auto">
          <a:xfrm rot="16160490" flipV="1">
            <a:off x="3193257" y="4483701"/>
            <a:ext cx="303212" cy="3022600"/>
          </a:xfrm>
          <a:prstGeom prst="leftBrace">
            <a:avLst>
              <a:gd name="adj1" fmla="val 8307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" name="AutoShape 16"/>
          <p:cNvSpPr>
            <a:spLocks/>
          </p:cNvSpPr>
          <p:nvPr/>
        </p:nvSpPr>
        <p:spPr bwMode="auto">
          <a:xfrm rot="16160490" flipV="1">
            <a:off x="6248400" y="4452745"/>
            <a:ext cx="287337" cy="3068638"/>
          </a:xfrm>
          <a:prstGeom prst="leftBrace">
            <a:avLst>
              <a:gd name="adj1" fmla="val 88996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2933700" y="6045007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16</a:t>
            </a:r>
            <a:r>
              <a:rPr lang="zh-CN" altLang="en-US"/>
              <a:t>位</a:t>
            </a: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5957888" y="6033895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16</a:t>
            </a:r>
            <a:r>
              <a:rPr lang="zh-CN" altLang="en-US"/>
              <a:t>位</a:t>
            </a:r>
          </a:p>
        </p:txBody>
      </p:sp>
      <p:sp>
        <p:nvSpPr>
          <p:cNvPr id="46" name="文本框 19"/>
          <p:cNvSpPr txBox="1">
            <a:spLocks noChangeArrowheads="1"/>
          </p:cNvSpPr>
          <p:nvPr/>
        </p:nvSpPr>
        <p:spPr bwMode="auto">
          <a:xfrm>
            <a:off x="1137869" y="4121125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逻辑地址：</a:t>
            </a:r>
          </a:p>
        </p:txBody>
      </p:sp>
    </p:spTree>
    <p:extLst>
      <p:ext uri="{BB962C8B-B14F-4D97-AF65-F5344CB8AC3E}">
        <p14:creationId xmlns:p14="http://schemas.microsoft.com/office/powerpoint/2010/main" val="363238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4" grpId="0"/>
      <p:bldP spid="36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8" y="1866031"/>
            <a:ext cx="381655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用于实现从逻辑段到物理内存区的映射。</a:t>
            </a:r>
            <a:endParaRPr lang="zh-CN" altLang="en-US" sz="16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段表中存放着段号、段长和基址。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系统为每个进程建立的一张映射表。</a:t>
            </a:r>
          </a:p>
        </p:txBody>
      </p:sp>
      <p:sp>
        <p:nvSpPr>
          <p:cNvPr id="121" name="Rectangle 3"/>
          <p:cNvSpPr>
            <a:spLocks noChangeArrowheads="1"/>
          </p:cNvSpPr>
          <p:nvPr/>
        </p:nvSpPr>
        <p:spPr bwMode="auto">
          <a:xfrm>
            <a:off x="4903765" y="1794420"/>
            <a:ext cx="7212169" cy="457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2" name="Group 4"/>
          <p:cNvGrpSpPr>
            <a:grpSpLocks/>
          </p:cNvGrpSpPr>
          <p:nvPr/>
        </p:nvGrpSpPr>
        <p:grpSpPr bwMode="auto">
          <a:xfrm>
            <a:off x="10864410" y="1945782"/>
            <a:ext cx="990600" cy="4343400"/>
            <a:chOff x="0" y="0"/>
            <a:chExt cx="624" cy="2736"/>
          </a:xfrm>
        </p:grpSpPr>
        <p:grpSp>
          <p:nvGrpSpPr>
            <p:cNvPr id="123" name="Group 5"/>
            <p:cNvGrpSpPr>
              <a:grpSpLocks/>
            </p:cNvGrpSpPr>
            <p:nvPr/>
          </p:nvGrpSpPr>
          <p:grpSpPr bwMode="auto">
            <a:xfrm>
              <a:off x="0" y="240"/>
              <a:ext cx="624" cy="2496"/>
              <a:chOff x="0" y="0"/>
              <a:chExt cx="624" cy="2496"/>
            </a:xfrm>
          </p:grpSpPr>
          <p:sp>
            <p:nvSpPr>
              <p:cNvPr id="125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2496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Line 7"/>
              <p:cNvSpPr>
                <a:spLocks noChangeShapeType="1"/>
              </p:cNvSpPr>
              <p:nvPr/>
            </p:nvSpPr>
            <p:spPr bwMode="auto">
              <a:xfrm>
                <a:off x="0" y="249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4" name="Text Box 8"/>
            <p:cNvSpPr txBox="1">
              <a:spLocks noChangeArrowheads="1"/>
            </p:cNvSpPr>
            <p:nvPr/>
          </p:nvSpPr>
          <p:spPr bwMode="auto">
            <a:xfrm>
              <a:off x="66" y="0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内存</a:t>
              </a:r>
            </a:p>
          </p:txBody>
        </p:sp>
      </p:grpSp>
      <p:grpSp>
        <p:nvGrpSpPr>
          <p:cNvPr id="127" name="Group 9"/>
          <p:cNvGrpSpPr>
            <a:grpSpLocks/>
          </p:cNvGrpSpPr>
          <p:nvPr/>
        </p:nvGrpSpPr>
        <p:grpSpPr bwMode="auto">
          <a:xfrm>
            <a:off x="5295460" y="1945782"/>
            <a:ext cx="1416050" cy="3581400"/>
            <a:chOff x="-100" y="0"/>
            <a:chExt cx="892" cy="2256"/>
          </a:xfrm>
        </p:grpSpPr>
        <p:grpSp>
          <p:nvGrpSpPr>
            <p:cNvPr id="128" name="Group 10"/>
            <p:cNvGrpSpPr>
              <a:grpSpLocks/>
            </p:cNvGrpSpPr>
            <p:nvPr/>
          </p:nvGrpSpPr>
          <p:grpSpPr bwMode="auto">
            <a:xfrm>
              <a:off x="48" y="432"/>
              <a:ext cx="624" cy="1824"/>
              <a:chOff x="0" y="0"/>
              <a:chExt cx="624" cy="1824"/>
            </a:xfrm>
          </p:grpSpPr>
          <p:sp>
            <p:nvSpPr>
              <p:cNvPr id="130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528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rgbClr val="FF33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第0段</a:t>
                </a:r>
              </a:p>
            </p:txBody>
          </p:sp>
          <p:sp>
            <p:nvSpPr>
              <p:cNvPr id="131" name="Rectangle 12"/>
              <p:cNvSpPr>
                <a:spLocks noChangeArrowheads="1"/>
              </p:cNvSpPr>
              <p:nvPr/>
            </p:nvSpPr>
            <p:spPr bwMode="auto">
              <a:xfrm>
                <a:off x="0" y="672"/>
                <a:ext cx="624" cy="288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rgbClr val="FF33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第1段</a:t>
                </a:r>
              </a:p>
            </p:txBody>
          </p:sp>
          <p:sp>
            <p:nvSpPr>
              <p:cNvPr id="132" name="Rectangle 13"/>
              <p:cNvSpPr>
                <a:spLocks noChangeArrowheads="1"/>
              </p:cNvSpPr>
              <p:nvPr/>
            </p:nvSpPr>
            <p:spPr bwMode="auto">
              <a:xfrm>
                <a:off x="0" y="1104"/>
                <a:ext cx="624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rgbClr val="FF33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第2段</a:t>
                </a:r>
              </a:p>
            </p:txBody>
          </p:sp>
          <p:sp>
            <p:nvSpPr>
              <p:cNvPr id="133" name="Rectangle 14"/>
              <p:cNvSpPr>
                <a:spLocks noChangeArrowheads="1"/>
              </p:cNvSpPr>
              <p:nvPr/>
            </p:nvSpPr>
            <p:spPr bwMode="auto">
              <a:xfrm>
                <a:off x="0" y="1440"/>
                <a:ext cx="624" cy="384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rgbClr val="FF33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第3段</a:t>
                </a:r>
              </a:p>
            </p:txBody>
          </p:sp>
        </p:grpSp>
        <p:sp>
          <p:nvSpPr>
            <p:cNvPr id="129" name="Text Box 15"/>
            <p:cNvSpPr txBox="1">
              <a:spLocks noChangeArrowheads="1"/>
            </p:cNvSpPr>
            <p:nvPr/>
          </p:nvSpPr>
          <p:spPr bwMode="auto">
            <a:xfrm>
              <a:off x="-100" y="0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用户作业</a:t>
              </a:r>
            </a:p>
          </p:txBody>
        </p:sp>
      </p:grpSp>
      <p:grpSp>
        <p:nvGrpSpPr>
          <p:cNvPr id="134" name="Group 16"/>
          <p:cNvGrpSpPr>
            <a:grpSpLocks/>
          </p:cNvGrpSpPr>
          <p:nvPr/>
        </p:nvGrpSpPr>
        <p:grpSpPr bwMode="auto">
          <a:xfrm>
            <a:off x="7122375" y="2199783"/>
            <a:ext cx="2225675" cy="2522538"/>
            <a:chOff x="-58" y="147"/>
            <a:chExt cx="1402" cy="1589"/>
          </a:xfrm>
        </p:grpSpPr>
        <p:sp>
          <p:nvSpPr>
            <p:cNvPr id="135" name="Text Box 17"/>
            <p:cNvSpPr txBox="1">
              <a:spLocks noChangeArrowheads="1"/>
            </p:cNvSpPr>
            <p:nvPr/>
          </p:nvSpPr>
          <p:spPr bwMode="auto">
            <a:xfrm>
              <a:off x="498" y="147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</a:t>
              </a:r>
            </a:p>
          </p:txBody>
        </p:sp>
        <p:grpSp>
          <p:nvGrpSpPr>
            <p:cNvPr id="136" name="Group 18"/>
            <p:cNvGrpSpPr>
              <a:grpSpLocks/>
            </p:cNvGrpSpPr>
            <p:nvPr/>
          </p:nvGrpSpPr>
          <p:grpSpPr bwMode="auto">
            <a:xfrm>
              <a:off x="-58" y="576"/>
              <a:ext cx="1402" cy="1160"/>
              <a:chOff x="-58" y="0"/>
              <a:chExt cx="1402" cy="1160"/>
            </a:xfrm>
          </p:grpSpPr>
          <p:sp>
            <p:nvSpPr>
              <p:cNvPr id="137" name="Rectangle 19"/>
              <p:cNvSpPr>
                <a:spLocks noChangeArrowheads="1"/>
              </p:cNvSpPr>
              <p:nvPr/>
            </p:nvSpPr>
            <p:spPr bwMode="auto">
              <a:xfrm>
                <a:off x="863" y="1"/>
                <a:ext cx="481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基址</a:t>
                </a:r>
              </a:p>
            </p:txBody>
          </p:sp>
          <p:sp>
            <p:nvSpPr>
              <p:cNvPr id="138" name="Rectangle 20"/>
              <p:cNvSpPr>
                <a:spLocks noChangeArrowheads="1"/>
              </p:cNvSpPr>
              <p:nvPr/>
            </p:nvSpPr>
            <p:spPr bwMode="auto">
              <a:xfrm>
                <a:off x="367" y="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段长</a:t>
                </a:r>
              </a:p>
            </p:txBody>
          </p:sp>
          <p:sp>
            <p:nvSpPr>
              <p:cNvPr id="139" name="Rectangle 21"/>
              <p:cNvSpPr>
                <a:spLocks noChangeArrowheads="1"/>
              </p:cNvSpPr>
              <p:nvPr/>
            </p:nvSpPr>
            <p:spPr bwMode="auto">
              <a:xfrm>
                <a:off x="864" y="921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150K</a:t>
                </a:r>
              </a:p>
            </p:txBody>
          </p:sp>
          <p:sp>
            <p:nvSpPr>
              <p:cNvPr id="140" name="Rectangle 22"/>
              <p:cNvSpPr>
                <a:spLocks noChangeArrowheads="1"/>
              </p:cNvSpPr>
              <p:nvPr/>
            </p:nvSpPr>
            <p:spPr bwMode="auto">
              <a:xfrm>
                <a:off x="360" y="92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35K</a:t>
                </a:r>
              </a:p>
            </p:txBody>
          </p:sp>
          <p:sp>
            <p:nvSpPr>
              <p:cNvPr id="141" name="Rectangle 23"/>
              <p:cNvSpPr>
                <a:spLocks noChangeArrowheads="1"/>
              </p:cNvSpPr>
              <p:nvPr/>
            </p:nvSpPr>
            <p:spPr bwMode="auto">
              <a:xfrm>
                <a:off x="864" y="691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500K</a:t>
                </a:r>
              </a:p>
            </p:txBody>
          </p:sp>
          <p:sp>
            <p:nvSpPr>
              <p:cNvPr id="142" name="Rectangle 24"/>
              <p:cNvSpPr>
                <a:spLocks noChangeArrowheads="1"/>
              </p:cNvSpPr>
              <p:nvPr/>
            </p:nvSpPr>
            <p:spPr bwMode="auto">
              <a:xfrm>
                <a:off x="360" y="69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9K</a:t>
                </a:r>
              </a:p>
            </p:txBody>
          </p:sp>
          <p:sp>
            <p:nvSpPr>
              <p:cNvPr id="143" name="Rectangle 25"/>
              <p:cNvSpPr>
                <a:spLocks noChangeArrowheads="1"/>
              </p:cNvSpPr>
              <p:nvPr/>
            </p:nvSpPr>
            <p:spPr bwMode="auto">
              <a:xfrm>
                <a:off x="864" y="461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300K</a:t>
                </a:r>
              </a:p>
            </p:txBody>
          </p:sp>
          <p:sp>
            <p:nvSpPr>
              <p:cNvPr id="144" name="Rectangle 26"/>
              <p:cNvSpPr>
                <a:spLocks noChangeArrowheads="1"/>
              </p:cNvSpPr>
              <p:nvPr/>
            </p:nvSpPr>
            <p:spPr bwMode="auto">
              <a:xfrm>
                <a:off x="360" y="46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20K</a:t>
                </a:r>
              </a:p>
            </p:txBody>
          </p:sp>
          <p:sp>
            <p:nvSpPr>
              <p:cNvPr id="145" name="Rectangle 27"/>
              <p:cNvSpPr>
                <a:spLocks noChangeArrowheads="1"/>
              </p:cNvSpPr>
              <p:nvPr/>
            </p:nvSpPr>
            <p:spPr bwMode="auto">
              <a:xfrm>
                <a:off x="864" y="231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100K</a:t>
                </a:r>
              </a:p>
            </p:txBody>
          </p:sp>
          <p:sp>
            <p:nvSpPr>
              <p:cNvPr id="146" name="Rectangle 28"/>
              <p:cNvSpPr>
                <a:spLocks noChangeArrowheads="1"/>
              </p:cNvSpPr>
              <p:nvPr/>
            </p:nvSpPr>
            <p:spPr bwMode="auto">
              <a:xfrm>
                <a:off x="360" y="23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42K</a:t>
                </a:r>
              </a:p>
            </p:txBody>
          </p:sp>
          <p:sp>
            <p:nvSpPr>
              <p:cNvPr id="147" name="Line 29"/>
              <p:cNvSpPr>
                <a:spLocks noChangeShapeType="1"/>
              </p:cNvSpPr>
              <p:nvPr/>
            </p:nvSpPr>
            <p:spPr bwMode="auto">
              <a:xfrm>
                <a:off x="144" y="46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Line 30"/>
              <p:cNvSpPr>
                <a:spLocks noChangeShapeType="1"/>
              </p:cNvSpPr>
              <p:nvPr/>
            </p:nvSpPr>
            <p:spPr bwMode="auto">
              <a:xfrm>
                <a:off x="144" y="69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31"/>
              <p:cNvSpPr>
                <a:spLocks noChangeShapeType="1"/>
              </p:cNvSpPr>
              <p:nvPr/>
            </p:nvSpPr>
            <p:spPr bwMode="auto">
              <a:xfrm>
                <a:off x="144" y="92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144" y="1152"/>
                <a:ext cx="1200" cy="0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Line 33"/>
              <p:cNvSpPr>
                <a:spLocks noChangeShapeType="1"/>
              </p:cNvSpPr>
              <p:nvPr/>
            </p:nvSpPr>
            <p:spPr bwMode="auto">
              <a:xfrm>
                <a:off x="144" y="23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34"/>
              <p:cNvSpPr>
                <a:spLocks noChangeShapeType="1"/>
              </p:cNvSpPr>
              <p:nvPr/>
            </p:nvSpPr>
            <p:spPr bwMode="auto">
              <a:xfrm>
                <a:off x="816" y="231"/>
                <a:ext cx="0" cy="921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35"/>
              <p:cNvSpPr>
                <a:spLocks noChangeShapeType="1"/>
              </p:cNvSpPr>
              <p:nvPr/>
            </p:nvSpPr>
            <p:spPr bwMode="auto">
              <a:xfrm>
                <a:off x="1344" y="231"/>
                <a:ext cx="0" cy="921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Rectangle 36"/>
              <p:cNvSpPr>
                <a:spLocks noChangeArrowheads="1"/>
              </p:cNvSpPr>
              <p:nvPr/>
            </p:nvSpPr>
            <p:spPr bwMode="auto">
              <a:xfrm>
                <a:off x="48" y="93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5" name="Rectangle 37"/>
              <p:cNvSpPr>
                <a:spLocks noChangeArrowheads="1"/>
              </p:cNvSpPr>
              <p:nvPr/>
            </p:nvSpPr>
            <p:spPr bwMode="auto">
              <a:xfrm>
                <a:off x="48" y="70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6" name="Rectangle 38"/>
              <p:cNvSpPr>
                <a:spLocks noChangeArrowheads="1"/>
              </p:cNvSpPr>
              <p:nvPr/>
            </p:nvSpPr>
            <p:spPr bwMode="auto">
              <a:xfrm>
                <a:off x="48" y="47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7" name="Rectangle 39"/>
              <p:cNvSpPr>
                <a:spLocks noChangeArrowheads="1"/>
              </p:cNvSpPr>
              <p:nvPr/>
            </p:nvSpPr>
            <p:spPr bwMode="auto">
              <a:xfrm>
                <a:off x="48" y="24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1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58" name="Line 40"/>
              <p:cNvSpPr>
                <a:spLocks noChangeShapeType="1"/>
              </p:cNvSpPr>
              <p:nvPr/>
            </p:nvSpPr>
            <p:spPr bwMode="auto">
              <a:xfrm>
                <a:off x="336" y="240"/>
                <a:ext cx="0" cy="912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Rectangle 41"/>
              <p:cNvSpPr>
                <a:spLocks noChangeArrowheads="1"/>
              </p:cNvSpPr>
              <p:nvPr/>
            </p:nvSpPr>
            <p:spPr bwMode="auto">
              <a:xfrm>
                <a:off x="-58" y="0"/>
                <a:ext cx="44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段号</a:t>
                </a:r>
              </a:p>
            </p:txBody>
          </p:sp>
        </p:grpSp>
      </p:grpSp>
      <p:grpSp>
        <p:nvGrpSpPr>
          <p:cNvPr id="160" name="Group 42"/>
          <p:cNvGrpSpPr>
            <a:grpSpLocks/>
          </p:cNvGrpSpPr>
          <p:nvPr/>
        </p:nvGrpSpPr>
        <p:grpSpPr bwMode="auto">
          <a:xfrm>
            <a:off x="10864410" y="2631582"/>
            <a:ext cx="990600" cy="3200400"/>
            <a:chOff x="0" y="0"/>
            <a:chExt cx="624" cy="2016"/>
          </a:xfrm>
        </p:grpSpPr>
        <p:sp>
          <p:nvSpPr>
            <p:cNvPr id="161" name="Rectangle 43"/>
            <p:cNvSpPr>
              <a:spLocks noChangeArrowheads="1"/>
            </p:cNvSpPr>
            <p:nvPr/>
          </p:nvSpPr>
          <p:spPr bwMode="auto">
            <a:xfrm>
              <a:off x="0" y="0"/>
              <a:ext cx="624" cy="52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第0段</a:t>
              </a:r>
            </a:p>
          </p:txBody>
        </p:sp>
        <p:sp>
          <p:nvSpPr>
            <p:cNvPr id="162" name="Rectangle 44"/>
            <p:cNvSpPr>
              <a:spLocks noChangeArrowheads="1"/>
            </p:cNvSpPr>
            <p:nvPr/>
          </p:nvSpPr>
          <p:spPr bwMode="auto">
            <a:xfrm>
              <a:off x="0" y="1152"/>
              <a:ext cx="624" cy="28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第1段</a:t>
              </a:r>
            </a:p>
          </p:txBody>
        </p:sp>
        <p:sp>
          <p:nvSpPr>
            <p:cNvPr id="163" name="Rectangle 45"/>
            <p:cNvSpPr>
              <a:spLocks noChangeArrowheads="1"/>
            </p:cNvSpPr>
            <p:nvPr/>
          </p:nvSpPr>
          <p:spPr bwMode="auto">
            <a:xfrm>
              <a:off x="0" y="1713"/>
              <a:ext cx="624" cy="30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第2段</a:t>
              </a:r>
            </a:p>
          </p:txBody>
        </p:sp>
        <p:sp>
          <p:nvSpPr>
            <p:cNvPr id="164" name="Rectangle 46"/>
            <p:cNvSpPr>
              <a:spLocks noChangeArrowheads="1"/>
            </p:cNvSpPr>
            <p:nvPr/>
          </p:nvSpPr>
          <p:spPr bwMode="auto">
            <a:xfrm>
              <a:off x="0" y="576"/>
              <a:ext cx="624" cy="38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第3段</a:t>
              </a:r>
            </a:p>
          </p:txBody>
        </p:sp>
      </p:grpSp>
      <p:grpSp>
        <p:nvGrpSpPr>
          <p:cNvPr id="165" name="Group 47"/>
          <p:cNvGrpSpPr>
            <a:grpSpLocks/>
          </p:cNvGrpSpPr>
          <p:nvPr/>
        </p:nvGrpSpPr>
        <p:grpSpPr bwMode="auto">
          <a:xfrm>
            <a:off x="6521010" y="2936382"/>
            <a:ext cx="838200" cy="2133600"/>
            <a:chOff x="0" y="0"/>
            <a:chExt cx="528" cy="1344"/>
          </a:xfrm>
        </p:grpSpPr>
        <p:sp>
          <p:nvSpPr>
            <p:cNvPr id="166" name="Line 48"/>
            <p:cNvSpPr>
              <a:spLocks noChangeShapeType="1"/>
            </p:cNvSpPr>
            <p:nvPr/>
          </p:nvSpPr>
          <p:spPr bwMode="auto">
            <a:xfrm>
              <a:off x="0" y="0"/>
              <a:ext cx="528" cy="288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49"/>
            <p:cNvSpPr>
              <a:spLocks noChangeShapeType="1"/>
            </p:cNvSpPr>
            <p:nvPr/>
          </p:nvSpPr>
          <p:spPr bwMode="auto">
            <a:xfrm flipV="1">
              <a:off x="0" y="528"/>
              <a:ext cx="528" cy="96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50"/>
            <p:cNvSpPr>
              <a:spLocks noChangeShapeType="1"/>
            </p:cNvSpPr>
            <p:nvPr/>
          </p:nvSpPr>
          <p:spPr bwMode="auto">
            <a:xfrm flipV="1">
              <a:off x="0" y="768"/>
              <a:ext cx="528" cy="192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51"/>
            <p:cNvSpPr>
              <a:spLocks noChangeShapeType="1"/>
            </p:cNvSpPr>
            <p:nvPr/>
          </p:nvSpPr>
          <p:spPr bwMode="auto">
            <a:xfrm flipV="1">
              <a:off x="0" y="1008"/>
              <a:ext cx="528" cy="336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0" name="Group 52"/>
          <p:cNvGrpSpPr>
            <a:grpSpLocks/>
          </p:cNvGrpSpPr>
          <p:nvPr/>
        </p:nvGrpSpPr>
        <p:grpSpPr bwMode="auto">
          <a:xfrm>
            <a:off x="9340410" y="2631582"/>
            <a:ext cx="1524000" cy="2895600"/>
            <a:chOff x="0" y="0"/>
            <a:chExt cx="960" cy="1824"/>
          </a:xfrm>
        </p:grpSpPr>
        <p:sp>
          <p:nvSpPr>
            <p:cNvPr id="171" name="Line 53"/>
            <p:cNvSpPr>
              <a:spLocks noChangeShapeType="1"/>
            </p:cNvSpPr>
            <p:nvPr/>
          </p:nvSpPr>
          <p:spPr bwMode="auto">
            <a:xfrm flipV="1">
              <a:off x="0" y="0"/>
              <a:ext cx="960" cy="432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54"/>
            <p:cNvSpPr>
              <a:spLocks noChangeShapeType="1"/>
            </p:cNvSpPr>
            <p:nvPr/>
          </p:nvSpPr>
          <p:spPr bwMode="auto">
            <a:xfrm>
              <a:off x="0" y="672"/>
              <a:ext cx="960" cy="480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55"/>
            <p:cNvSpPr>
              <a:spLocks noChangeShapeType="1"/>
            </p:cNvSpPr>
            <p:nvPr/>
          </p:nvSpPr>
          <p:spPr bwMode="auto">
            <a:xfrm>
              <a:off x="0" y="912"/>
              <a:ext cx="960" cy="912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56"/>
            <p:cNvSpPr>
              <a:spLocks noChangeShapeType="1"/>
            </p:cNvSpPr>
            <p:nvPr/>
          </p:nvSpPr>
          <p:spPr bwMode="auto">
            <a:xfrm flipV="1">
              <a:off x="0" y="576"/>
              <a:ext cx="960" cy="528"/>
            </a:xfrm>
            <a:prstGeom prst="lin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）段表</a:t>
            </a:r>
          </a:p>
        </p:txBody>
      </p:sp>
      <p:sp>
        <p:nvSpPr>
          <p:cNvPr id="17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分段系统的基本原理</a:t>
            </a:r>
          </a:p>
        </p:txBody>
      </p:sp>
    </p:spTree>
    <p:extLst>
      <p:ext uri="{BB962C8B-B14F-4D97-AF65-F5344CB8AC3E}">
        <p14:creationId xmlns:p14="http://schemas.microsoft.com/office/powerpoint/2010/main" val="6827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9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65227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）地址变换机构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8" y="1866031"/>
            <a:ext cx="286138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越界访问控制</a:t>
            </a:r>
            <a:endParaRPr lang="en-US" altLang="zh-CN" sz="2400" dirty="0"/>
          </a:p>
          <a:p>
            <a:pPr marL="0" lvl="2" indent="0"/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）逻辑地址的段号与段表长度比较；</a:t>
            </a:r>
            <a:endParaRPr lang="en-US" altLang="zh-CN" sz="2400" dirty="0"/>
          </a:p>
          <a:p>
            <a:pPr marL="0" lvl="2" indent="0"/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）段内地址与段表中保存的段长比较；</a:t>
            </a:r>
          </a:p>
          <a:p>
            <a:pPr marL="0" lvl="2" indent="0">
              <a:buBlip>
                <a:blip r:embed="rId4"/>
              </a:buBlip>
            </a:pPr>
            <a:endParaRPr lang="zh-CN" altLang="en-US" sz="2400" dirty="0"/>
          </a:p>
        </p:txBody>
      </p:sp>
      <p:grpSp>
        <p:nvGrpSpPr>
          <p:cNvPr id="82" name="Group 3"/>
          <p:cNvGrpSpPr>
            <a:grpSpLocks/>
          </p:cNvGrpSpPr>
          <p:nvPr/>
        </p:nvGrpSpPr>
        <p:grpSpPr bwMode="auto">
          <a:xfrm>
            <a:off x="4408848" y="2144597"/>
            <a:ext cx="7485063" cy="4203701"/>
            <a:chOff x="-77" y="-104"/>
            <a:chExt cx="4715" cy="2648"/>
          </a:xfrm>
        </p:grpSpPr>
        <p:grpSp>
          <p:nvGrpSpPr>
            <p:cNvPr id="83" name="Group 4"/>
            <p:cNvGrpSpPr>
              <a:grpSpLocks/>
            </p:cNvGrpSpPr>
            <p:nvPr/>
          </p:nvGrpSpPr>
          <p:grpSpPr bwMode="auto">
            <a:xfrm>
              <a:off x="-77" y="65"/>
              <a:ext cx="1709" cy="520"/>
              <a:chOff x="-77" y="-40"/>
              <a:chExt cx="1709" cy="520"/>
            </a:xfrm>
          </p:grpSpPr>
          <p:sp>
            <p:nvSpPr>
              <p:cNvPr id="136" name="Rectangle 5"/>
              <p:cNvSpPr>
                <a:spLocks noChangeArrowheads="1"/>
              </p:cNvSpPr>
              <p:nvPr/>
            </p:nvSpPr>
            <p:spPr bwMode="auto">
              <a:xfrm>
                <a:off x="-77" y="240"/>
                <a:ext cx="797" cy="24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段表始址</a:t>
                </a:r>
              </a:p>
            </p:txBody>
          </p:sp>
          <p:sp>
            <p:nvSpPr>
              <p:cNvPr id="137" name="Rectangle 6"/>
              <p:cNvSpPr>
                <a:spLocks noChangeArrowheads="1"/>
              </p:cNvSpPr>
              <p:nvPr/>
            </p:nvSpPr>
            <p:spPr bwMode="auto">
              <a:xfrm>
                <a:off x="720" y="240"/>
                <a:ext cx="912" cy="24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段表长度</a:t>
                </a:r>
              </a:p>
            </p:txBody>
          </p:sp>
          <p:sp>
            <p:nvSpPr>
              <p:cNvPr id="138" name="Text Box 7"/>
              <p:cNvSpPr txBox="1">
                <a:spLocks noChangeArrowheads="1"/>
              </p:cNvSpPr>
              <p:nvPr/>
            </p:nvSpPr>
            <p:spPr bwMode="auto">
              <a:xfrm>
                <a:off x="259" y="-40"/>
                <a:ext cx="108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段表寄存器</a:t>
                </a:r>
              </a:p>
            </p:txBody>
          </p:sp>
        </p:grpSp>
        <p:sp>
          <p:nvSpPr>
            <p:cNvPr id="84" name="Oval 8"/>
            <p:cNvSpPr>
              <a:spLocks noChangeArrowheads="1"/>
            </p:cNvSpPr>
            <p:nvPr/>
          </p:nvSpPr>
          <p:spPr bwMode="auto">
            <a:xfrm>
              <a:off x="1872" y="345"/>
              <a:ext cx="288" cy="279"/>
            </a:xfrm>
            <a:prstGeom prst="ellips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﹥</a:t>
              </a:r>
            </a:p>
          </p:txBody>
        </p:sp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3360" y="1392"/>
              <a:ext cx="72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153705</a:t>
              </a:r>
            </a:p>
          </p:txBody>
        </p:sp>
        <p:sp>
          <p:nvSpPr>
            <p:cNvPr id="86" name="Text Box 10"/>
            <p:cNvSpPr txBox="1">
              <a:spLocks noChangeArrowheads="1"/>
            </p:cNvSpPr>
            <p:nvPr/>
          </p:nvSpPr>
          <p:spPr bwMode="auto">
            <a:xfrm>
              <a:off x="3746" y="1109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物理地址</a:t>
              </a:r>
            </a:p>
          </p:txBody>
        </p:sp>
        <p:grpSp>
          <p:nvGrpSpPr>
            <p:cNvPr id="87" name="Group 11"/>
            <p:cNvGrpSpPr>
              <a:grpSpLocks/>
            </p:cNvGrpSpPr>
            <p:nvPr/>
          </p:nvGrpSpPr>
          <p:grpSpPr bwMode="auto">
            <a:xfrm>
              <a:off x="2688" y="41"/>
              <a:ext cx="1392" cy="544"/>
              <a:chOff x="0" y="-64"/>
              <a:chExt cx="1392" cy="544"/>
            </a:xfrm>
          </p:grpSpPr>
          <p:sp>
            <p:nvSpPr>
              <p:cNvPr id="133" name="Rectangle 12"/>
              <p:cNvSpPr>
                <a:spLocks noChangeArrowheads="1"/>
              </p:cNvSpPr>
              <p:nvPr/>
            </p:nvSpPr>
            <p:spPr bwMode="auto">
              <a:xfrm>
                <a:off x="0" y="240"/>
                <a:ext cx="672" cy="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段号  3</a:t>
                </a:r>
              </a:p>
            </p:txBody>
          </p:sp>
          <p:sp>
            <p:nvSpPr>
              <p:cNvPr id="134" name="Rectangle 13"/>
              <p:cNvSpPr>
                <a:spLocks noChangeArrowheads="1"/>
              </p:cNvSpPr>
              <p:nvPr/>
            </p:nvSpPr>
            <p:spPr bwMode="auto">
              <a:xfrm>
                <a:off x="672" y="240"/>
                <a:ext cx="720" cy="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105</a:t>
                </a:r>
              </a:p>
            </p:txBody>
          </p:sp>
          <p:sp>
            <p:nvSpPr>
              <p:cNvPr id="135" name="Text Box 14"/>
              <p:cNvSpPr txBox="1">
                <a:spLocks noChangeArrowheads="1"/>
              </p:cNvSpPr>
              <p:nvPr/>
            </p:nvSpPr>
            <p:spPr bwMode="auto">
              <a:xfrm>
                <a:off x="236" y="-64"/>
                <a:ext cx="89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逻辑地址</a:t>
                </a:r>
              </a:p>
            </p:txBody>
          </p:sp>
        </p:grpSp>
        <p:sp>
          <p:nvSpPr>
            <p:cNvPr id="88" name="未知"/>
            <p:cNvSpPr>
              <a:spLocks/>
            </p:cNvSpPr>
            <p:nvPr/>
          </p:nvSpPr>
          <p:spPr bwMode="auto">
            <a:xfrm>
              <a:off x="336" y="960"/>
              <a:ext cx="864" cy="1056"/>
            </a:xfrm>
            <a:custGeom>
              <a:avLst/>
              <a:gdLst>
                <a:gd name="T0" fmla="*/ 0 w 1248"/>
                <a:gd name="T1" fmla="*/ 0 h 1392"/>
                <a:gd name="T2" fmla="*/ 0 w 1248"/>
                <a:gd name="T3" fmla="*/ 350 h 1392"/>
                <a:gd name="T4" fmla="*/ 199 w 1248"/>
                <a:gd name="T5" fmla="*/ 350 h 1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8" h="1392">
                  <a:moveTo>
                    <a:pt x="0" y="0"/>
                  </a:moveTo>
                  <a:lnTo>
                    <a:pt x="0" y="1392"/>
                  </a:lnTo>
                  <a:lnTo>
                    <a:pt x="1248" y="1392"/>
                  </a:lnTo>
                </a:path>
              </a:pathLst>
            </a:custGeom>
            <a:noFill/>
            <a:ln w="9525" cap="flat" cmpd="sng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16"/>
            <p:cNvSpPr>
              <a:spLocks noChangeShapeType="1"/>
            </p:cNvSpPr>
            <p:nvPr/>
          </p:nvSpPr>
          <p:spPr bwMode="auto">
            <a:xfrm rot="5400000" flipV="1">
              <a:off x="3600" y="1296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7"/>
            <p:cNvSpPr>
              <a:spLocks noChangeShapeType="1"/>
            </p:cNvSpPr>
            <p:nvPr/>
          </p:nvSpPr>
          <p:spPr bwMode="auto">
            <a:xfrm>
              <a:off x="3696" y="585"/>
              <a:ext cx="0" cy="42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8"/>
            <p:cNvSpPr>
              <a:spLocks noChangeShapeType="1"/>
            </p:cNvSpPr>
            <p:nvPr/>
          </p:nvSpPr>
          <p:spPr bwMode="auto">
            <a:xfrm flipV="1">
              <a:off x="2016" y="153"/>
              <a:ext cx="0" cy="19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AutoShape 19"/>
            <p:cNvSpPr>
              <a:spLocks noChangeArrowheads="1"/>
            </p:cNvSpPr>
            <p:nvPr/>
          </p:nvSpPr>
          <p:spPr bwMode="auto">
            <a:xfrm>
              <a:off x="240" y="768"/>
              <a:ext cx="192" cy="192"/>
            </a:xfrm>
            <a:prstGeom prst="flowChartOr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20"/>
            <p:cNvSpPr>
              <a:spLocks noChangeShapeType="1"/>
            </p:cNvSpPr>
            <p:nvPr/>
          </p:nvSpPr>
          <p:spPr bwMode="auto">
            <a:xfrm>
              <a:off x="336" y="576"/>
              <a:ext cx="0" cy="19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432" y="576"/>
              <a:ext cx="2592" cy="288"/>
            </a:xfrm>
            <a:custGeom>
              <a:avLst/>
              <a:gdLst>
                <a:gd name="T0" fmla="*/ 2592 w 2592"/>
                <a:gd name="T1" fmla="*/ 0 h 192"/>
                <a:gd name="T2" fmla="*/ 2592 w 2592"/>
                <a:gd name="T3" fmla="*/ 1458 h 192"/>
                <a:gd name="T4" fmla="*/ 0 w 2592"/>
                <a:gd name="T5" fmla="*/ 1458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2" h="192">
                  <a:moveTo>
                    <a:pt x="2592" y="0"/>
                  </a:moveTo>
                  <a:lnTo>
                    <a:pt x="2592" y="192"/>
                  </a:lnTo>
                  <a:lnTo>
                    <a:pt x="0" y="192"/>
                  </a:lnTo>
                </a:path>
              </a:pathLst>
            </a:custGeom>
            <a:noFill/>
            <a:ln w="9525" cap="flat" cmpd="sng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22"/>
            <p:cNvSpPr>
              <a:spLocks noChangeShapeType="1"/>
            </p:cNvSpPr>
            <p:nvPr/>
          </p:nvSpPr>
          <p:spPr bwMode="auto">
            <a:xfrm flipV="1">
              <a:off x="2016" y="624"/>
              <a:ext cx="0" cy="24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 Box 23"/>
            <p:cNvSpPr txBox="1">
              <a:spLocks noChangeArrowheads="1"/>
            </p:cNvSpPr>
            <p:nvPr/>
          </p:nvSpPr>
          <p:spPr bwMode="auto">
            <a:xfrm>
              <a:off x="1580" y="-104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越界中断</a:t>
              </a:r>
            </a:p>
          </p:txBody>
        </p:sp>
        <p:sp>
          <p:nvSpPr>
            <p:cNvPr id="97" name="Line 24"/>
            <p:cNvSpPr>
              <a:spLocks noChangeShapeType="1"/>
            </p:cNvSpPr>
            <p:nvPr/>
          </p:nvSpPr>
          <p:spPr bwMode="auto">
            <a:xfrm>
              <a:off x="1536" y="480"/>
              <a:ext cx="33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" name="Group 25"/>
            <p:cNvGrpSpPr>
              <a:grpSpLocks/>
            </p:cNvGrpSpPr>
            <p:nvPr/>
          </p:nvGrpSpPr>
          <p:grpSpPr bwMode="auto">
            <a:xfrm>
              <a:off x="1008" y="1008"/>
              <a:ext cx="1442" cy="1491"/>
              <a:chOff x="-48" y="0"/>
              <a:chExt cx="1442" cy="1491"/>
            </a:xfrm>
          </p:grpSpPr>
          <p:sp>
            <p:nvSpPr>
              <p:cNvPr id="108" name="Text Box 26"/>
              <p:cNvSpPr txBox="1">
                <a:spLocks noChangeArrowheads="1"/>
              </p:cNvSpPr>
              <p:nvPr/>
            </p:nvSpPr>
            <p:spPr bwMode="auto">
              <a:xfrm>
                <a:off x="478" y="1200"/>
                <a:ext cx="5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段表</a:t>
                </a:r>
              </a:p>
            </p:txBody>
          </p:sp>
          <p:grpSp>
            <p:nvGrpSpPr>
              <p:cNvPr id="109" name="Group 27"/>
              <p:cNvGrpSpPr>
                <a:grpSpLocks/>
              </p:cNvGrpSpPr>
              <p:nvPr/>
            </p:nvGrpSpPr>
            <p:grpSpPr bwMode="auto">
              <a:xfrm>
                <a:off x="-48" y="0"/>
                <a:ext cx="1442" cy="1160"/>
                <a:chOff x="-48" y="0"/>
                <a:chExt cx="1442" cy="1160"/>
              </a:xfrm>
            </p:grpSpPr>
            <p:sp>
              <p:nvSpPr>
                <p:cNvPr id="110" name="Rectangle 28"/>
                <p:cNvSpPr>
                  <a:spLocks noChangeArrowheads="1"/>
                </p:cNvSpPr>
                <p:nvPr/>
              </p:nvSpPr>
              <p:spPr bwMode="auto">
                <a:xfrm>
                  <a:off x="840" y="1"/>
                  <a:ext cx="554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2000" b="1" dirty="0">
                      <a:solidFill>
                        <a:schemeClr val="tx1"/>
                      </a:solidFill>
                    </a:rPr>
                    <a:t>基址</a:t>
                  </a:r>
                </a:p>
              </p:txBody>
            </p:sp>
            <p:sp>
              <p:nvSpPr>
                <p:cNvPr id="111" name="Rectangle 29"/>
                <p:cNvSpPr>
                  <a:spLocks noChangeArrowheads="1"/>
                </p:cNvSpPr>
                <p:nvPr/>
              </p:nvSpPr>
              <p:spPr bwMode="auto">
                <a:xfrm>
                  <a:off x="384" y="1"/>
                  <a:ext cx="526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2000" b="1" dirty="0">
                      <a:solidFill>
                        <a:schemeClr val="tx1"/>
                      </a:solidFill>
                    </a:rPr>
                    <a:t>段长</a:t>
                  </a:r>
                </a:p>
              </p:txBody>
            </p:sp>
            <p:sp>
              <p:nvSpPr>
                <p:cNvPr id="112" name="Rectangle 30"/>
                <p:cNvSpPr>
                  <a:spLocks noChangeArrowheads="1"/>
                </p:cNvSpPr>
                <p:nvPr/>
              </p:nvSpPr>
              <p:spPr bwMode="auto">
                <a:xfrm>
                  <a:off x="864" y="921"/>
                  <a:ext cx="48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150K</a:t>
                  </a:r>
                </a:p>
              </p:txBody>
            </p:sp>
            <p:sp>
              <p:nvSpPr>
                <p:cNvPr id="113" name="Rectangle 31"/>
                <p:cNvSpPr>
                  <a:spLocks noChangeArrowheads="1"/>
                </p:cNvSpPr>
                <p:nvPr/>
              </p:nvSpPr>
              <p:spPr bwMode="auto">
                <a:xfrm>
                  <a:off x="360" y="921"/>
                  <a:ext cx="456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35K</a:t>
                  </a:r>
                </a:p>
              </p:txBody>
            </p:sp>
            <p:sp>
              <p:nvSpPr>
                <p:cNvPr id="114" name="Rectangle 32"/>
                <p:cNvSpPr>
                  <a:spLocks noChangeArrowheads="1"/>
                </p:cNvSpPr>
                <p:nvPr/>
              </p:nvSpPr>
              <p:spPr bwMode="auto">
                <a:xfrm>
                  <a:off x="864" y="691"/>
                  <a:ext cx="48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500K</a:t>
                  </a:r>
                </a:p>
              </p:txBody>
            </p:sp>
            <p:sp>
              <p:nvSpPr>
                <p:cNvPr id="115" name="Rectangle 33"/>
                <p:cNvSpPr>
                  <a:spLocks noChangeArrowheads="1"/>
                </p:cNvSpPr>
                <p:nvPr/>
              </p:nvSpPr>
              <p:spPr bwMode="auto">
                <a:xfrm>
                  <a:off x="360" y="691"/>
                  <a:ext cx="456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9K</a:t>
                  </a:r>
                </a:p>
              </p:txBody>
            </p:sp>
            <p:sp>
              <p:nvSpPr>
                <p:cNvPr id="116" name="Rectangle 34"/>
                <p:cNvSpPr>
                  <a:spLocks noChangeArrowheads="1"/>
                </p:cNvSpPr>
                <p:nvPr/>
              </p:nvSpPr>
              <p:spPr bwMode="auto">
                <a:xfrm>
                  <a:off x="864" y="461"/>
                  <a:ext cx="48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300K</a:t>
                  </a:r>
                </a:p>
              </p:txBody>
            </p:sp>
            <p:sp>
              <p:nvSpPr>
                <p:cNvPr id="117" name="Rectangle 35"/>
                <p:cNvSpPr>
                  <a:spLocks noChangeArrowheads="1"/>
                </p:cNvSpPr>
                <p:nvPr/>
              </p:nvSpPr>
              <p:spPr bwMode="auto">
                <a:xfrm>
                  <a:off x="360" y="461"/>
                  <a:ext cx="456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20K</a:t>
                  </a:r>
                </a:p>
              </p:txBody>
            </p:sp>
            <p:sp>
              <p:nvSpPr>
                <p:cNvPr id="118" name="Rectangle 36"/>
                <p:cNvSpPr>
                  <a:spLocks noChangeArrowheads="1"/>
                </p:cNvSpPr>
                <p:nvPr/>
              </p:nvSpPr>
              <p:spPr bwMode="auto">
                <a:xfrm>
                  <a:off x="864" y="231"/>
                  <a:ext cx="48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100K</a:t>
                  </a:r>
                </a:p>
              </p:txBody>
            </p:sp>
            <p:sp>
              <p:nvSpPr>
                <p:cNvPr id="119" name="Rectangle 37"/>
                <p:cNvSpPr>
                  <a:spLocks noChangeArrowheads="1"/>
                </p:cNvSpPr>
                <p:nvPr/>
              </p:nvSpPr>
              <p:spPr bwMode="auto">
                <a:xfrm>
                  <a:off x="360" y="231"/>
                  <a:ext cx="456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42K</a:t>
                  </a:r>
                </a:p>
              </p:txBody>
            </p:sp>
            <p:sp>
              <p:nvSpPr>
                <p:cNvPr id="120" name="Line 38"/>
                <p:cNvSpPr>
                  <a:spLocks noChangeShapeType="1"/>
                </p:cNvSpPr>
                <p:nvPr/>
              </p:nvSpPr>
              <p:spPr bwMode="auto">
                <a:xfrm>
                  <a:off x="144" y="461"/>
                  <a:ext cx="12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Line 39"/>
                <p:cNvSpPr>
                  <a:spLocks noChangeShapeType="1"/>
                </p:cNvSpPr>
                <p:nvPr/>
              </p:nvSpPr>
              <p:spPr bwMode="auto">
                <a:xfrm>
                  <a:off x="144" y="691"/>
                  <a:ext cx="12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Line 40"/>
                <p:cNvSpPr>
                  <a:spLocks noChangeShapeType="1"/>
                </p:cNvSpPr>
                <p:nvPr/>
              </p:nvSpPr>
              <p:spPr bwMode="auto">
                <a:xfrm>
                  <a:off x="144" y="921"/>
                  <a:ext cx="12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Line 41"/>
                <p:cNvSpPr>
                  <a:spLocks noChangeShapeType="1"/>
                </p:cNvSpPr>
                <p:nvPr/>
              </p:nvSpPr>
              <p:spPr bwMode="auto">
                <a:xfrm>
                  <a:off x="144" y="1152"/>
                  <a:ext cx="1200" cy="0"/>
                </a:xfrm>
                <a:prstGeom prst="line">
                  <a:avLst/>
                </a:prstGeom>
                <a:noFill/>
                <a:ln w="28575" cap="sq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" name="Line 42"/>
                <p:cNvSpPr>
                  <a:spLocks noChangeShapeType="1"/>
                </p:cNvSpPr>
                <p:nvPr/>
              </p:nvSpPr>
              <p:spPr bwMode="auto">
                <a:xfrm>
                  <a:off x="144" y="231"/>
                  <a:ext cx="12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" name="Line 43"/>
                <p:cNvSpPr>
                  <a:spLocks noChangeShapeType="1"/>
                </p:cNvSpPr>
                <p:nvPr/>
              </p:nvSpPr>
              <p:spPr bwMode="auto">
                <a:xfrm>
                  <a:off x="816" y="231"/>
                  <a:ext cx="0" cy="921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Line 44"/>
                <p:cNvSpPr>
                  <a:spLocks noChangeShapeType="1"/>
                </p:cNvSpPr>
                <p:nvPr/>
              </p:nvSpPr>
              <p:spPr bwMode="auto">
                <a:xfrm>
                  <a:off x="1344" y="231"/>
                  <a:ext cx="0" cy="921"/>
                </a:xfrm>
                <a:prstGeom prst="line">
                  <a:avLst/>
                </a:prstGeom>
                <a:noFill/>
                <a:ln w="28575" cap="sq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Rectangle 45"/>
                <p:cNvSpPr>
                  <a:spLocks noChangeArrowheads="1"/>
                </p:cNvSpPr>
                <p:nvPr/>
              </p:nvSpPr>
              <p:spPr bwMode="auto">
                <a:xfrm>
                  <a:off x="48" y="930"/>
                  <a:ext cx="24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28" name="Rectangle 46"/>
                <p:cNvSpPr>
                  <a:spLocks noChangeArrowheads="1"/>
                </p:cNvSpPr>
                <p:nvPr/>
              </p:nvSpPr>
              <p:spPr bwMode="auto">
                <a:xfrm>
                  <a:off x="48" y="700"/>
                  <a:ext cx="24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29" name="Rectangle 47"/>
                <p:cNvSpPr>
                  <a:spLocks noChangeArrowheads="1"/>
                </p:cNvSpPr>
                <p:nvPr/>
              </p:nvSpPr>
              <p:spPr bwMode="auto">
                <a:xfrm>
                  <a:off x="48" y="470"/>
                  <a:ext cx="24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30" name="Rectangle 48"/>
                <p:cNvSpPr>
                  <a:spLocks noChangeArrowheads="1"/>
                </p:cNvSpPr>
                <p:nvPr/>
              </p:nvSpPr>
              <p:spPr bwMode="auto">
                <a:xfrm>
                  <a:off x="48" y="240"/>
                  <a:ext cx="24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1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131" name="Line 49"/>
                <p:cNvSpPr>
                  <a:spLocks noChangeShapeType="1"/>
                </p:cNvSpPr>
                <p:nvPr/>
              </p:nvSpPr>
              <p:spPr bwMode="auto">
                <a:xfrm>
                  <a:off x="336" y="240"/>
                  <a:ext cx="0" cy="912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" name="Rectangle 50"/>
                <p:cNvSpPr>
                  <a:spLocks noChangeArrowheads="1"/>
                </p:cNvSpPr>
                <p:nvPr/>
              </p:nvSpPr>
              <p:spPr bwMode="auto">
                <a:xfrm>
                  <a:off x="-48" y="0"/>
                  <a:ext cx="526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zh-CN" altLang="zh-CN" sz="2000" b="1" dirty="0">
                      <a:solidFill>
                        <a:schemeClr val="tx1"/>
                      </a:solidFill>
                    </a:rPr>
                    <a:t>段号</a:t>
                  </a:r>
                </a:p>
              </p:txBody>
            </p:sp>
          </p:grpSp>
        </p:grpSp>
        <p:sp>
          <p:nvSpPr>
            <p:cNvPr id="99" name="AutoShape 51"/>
            <p:cNvSpPr>
              <a:spLocks noChangeArrowheads="1"/>
            </p:cNvSpPr>
            <p:nvPr/>
          </p:nvSpPr>
          <p:spPr bwMode="auto">
            <a:xfrm>
              <a:off x="3600" y="1008"/>
              <a:ext cx="192" cy="192"/>
            </a:xfrm>
            <a:prstGeom prst="flowChartOr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0" name="Group 52"/>
            <p:cNvGrpSpPr>
              <a:grpSpLocks/>
            </p:cNvGrpSpPr>
            <p:nvPr/>
          </p:nvGrpSpPr>
          <p:grpSpPr bwMode="auto">
            <a:xfrm>
              <a:off x="2784" y="1465"/>
              <a:ext cx="672" cy="1079"/>
              <a:chOff x="0" y="-311"/>
              <a:chExt cx="672" cy="1079"/>
            </a:xfrm>
          </p:grpSpPr>
          <p:sp>
            <p:nvSpPr>
              <p:cNvPr id="103" name="Rectangle 5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72" cy="9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Rectangle 54"/>
              <p:cNvSpPr>
                <a:spLocks noChangeArrowheads="1"/>
              </p:cNvSpPr>
              <p:nvPr/>
            </p:nvSpPr>
            <p:spPr bwMode="auto">
              <a:xfrm>
                <a:off x="0" y="9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Rectangle 55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672" cy="96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Rectangle 56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672" cy="384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Text Box 57"/>
              <p:cNvSpPr txBox="1">
                <a:spLocks noChangeArrowheads="1"/>
              </p:cNvSpPr>
              <p:nvPr/>
            </p:nvSpPr>
            <p:spPr bwMode="auto">
              <a:xfrm>
                <a:off x="24" y="-311"/>
                <a:ext cx="5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内存</a:t>
                </a:r>
              </a:p>
            </p:txBody>
          </p:sp>
        </p:grpSp>
        <p:sp>
          <p:nvSpPr>
            <p:cNvPr id="101" name="未知"/>
            <p:cNvSpPr>
              <a:spLocks/>
            </p:cNvSpPr>
            <p:nvPr/>
          </p:nvSpPr>
          <p:spPr bwMode="auto">
            <a:xfrm>
              <a:off x="2400" y="1104"/>
              <a:ext cx="1200" cy="912"/>
            </a:xfrm>
            <a:custGeom>
              <a:avLst/>
              <a:gdLst>
                <a:gd name="T0" fmla="*/ 0 w 1200"/>
                <a:gd name="T1" fmla="*/ 11888 h 480"/>
                <a:gd name="T2" fmla="*/ 192 w 1200"/>
                <a:gd name="T3" fmla="*/ 11888 h 480"/>
                <a:gd name="T4" fmla="*/ 192 w 1200"/>
                <a:gd name="T5" fmla="*/ 0 h 480"/>
                <a:gd name="T6" fmla="*/ 1200 w 1200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0" h="480">
                  <a:moveTo>
                    <a:pt x="0" y="480"/>
                  </a:moveTo>
                  <a:lnTo>
                    <a:pt x="192" y="480"/>
                  </a:lnTo>
                  <a:lnTo>
                    <a:pt x="192" y="0"/>
                  </a:lnTo>
                  <a:lnTo>
                    <a:pt x="1200" y="0"/>
                  </a:lnTo>
                </a:path>
              </a:pathLst>
            </a:custGeom>
            <a:noFill/>
            <a:ln w="9525" cap="flat" cmpd="sng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456" y="1632"/>
              <a:ext cx="240" cy="432"/>
            </a:xfrm>
            <a:custGeom>
              <a:avLst/>
              <a:gdLst>
                <a:gd name="T0" fmla="*/ 240 w 240"/>
                <a:gd name="T1" fmla="*/ 0 h 480"/>
                <a:gd name="T2" fmla="*/ 240 w 240"/>
                <a:gd name="T3" fmla="*/ 284 h 480"/>
                <a:gd name="T4" fmla="*/ 0 w 240"/>
                <a:gd name="T5" fmla="*/ 284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480">
                  <a:moveTo>
                    <a:pt x="240" y="0"/>
                  </a:moveTo>
                  <a:lnTo>
                    <a:pt x="240" y="48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分段系统的基本原理</a:t>
            </a:r>
          </a:p>
        </p:txBody>
      </p:sp>
    </p:spTree>
    <p:extLst>
      <p:ext uri="{BB962C8B-B14F-4D97-AF65-F5344CB8AC3E}">
        <p14:creationId xmlns:p14="http://schemas.microsoft.com/office/powerpoint/2010/main" val="29332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41714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）分页和分段的主要区别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1126144" y="1936583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400" dirty="0"/>
              <a:t>页是信息的物理单位，段是信息的逻辑单位</a:t>
            </a:r>
            <a:endParaRPr lang="zh-CN" altLang="en-US" sz="2400" dirty="0"/>
          </a:p>
        </p:txBody>
      </p:sp>
      <p:sp>
        <p:nvSpPr>
          <p:cNvPr id="25" name="文本框 19"/>
          <p:cNvSpPr txBox="1">
            <a:spLocks noChangeArrowheads="1"/>
          </p:cNvSpPr>
          <p:nvPr/>
        </p:nvSpPr>
        <p:spPr bwMode="auto">
          <a:xfrm>
            <a:off x="1137864" y="2468811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400" dirty="0"/>
              <a:t>页的大小固定，段的大小动态变化；</a:t>
            </a:r>
          </a:p>
        </p:txBody>
      </p:sp>
      <p:sp>
        <p:nvSpPr>
          <p:cNvPr id="34" name="文本框 19"/>
          <p:cNvSpPr txBox="1">
            <a:spLocks noChangeArrowheads="1"/>
          </p:cNvSpPr>
          <p:nvPr/>
        </p:nvSpPr>
        <p:spPr bwMode="auto">
          <a:xfrm>
            <a:off x="1137864" y="3028243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400" dirty="0"/>
              <a:t>分页系统中的逻辑地址空间是一维的，分段系统中的是二维的。</a:t>
            </a:r>
          </a:p>
        </p:txBody>
      </p:sp>
      <p:sp>
        <p:nvSpPr>
          <p:cNvPr id="23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分段系统的基本原理</a:t>
            </a:r>
          </a:p>
        </p:txBody>
      </p:sp>
    </p:spTree>
    <p:extLst>
      <p:ext uri="{BB962C8B-B14F-4D97-AF65-F5344CB8AC3E}">
        <p14:creationId xmlns:p14="http://schemas.microsoft.com/office/powerpoint/2010/main" val="10809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212629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212629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）分页系统中对程序和数据</a:t>
            </a:r>
            <a:endParaRPr lang="en-US" altLang="zh-CN" sz="2400" b="1" dirty="0">
              <a:solidFill>
                <a:srgbClr val="4C7E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的共享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8" y="2355431"/>
            <a:ext cx="3687794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分页共享</a:t>
            </a:r>
            <a:r>
              <a:rPr lang="zh-CN" altLang="en-US" sz="2400" dirty="0"/>
              <a:t>：每个进程为共享程序和数据设页表项，不同进程共享页的页表项指向相同的物理块，共享程序和数据在内存中只留一个副本。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</a:t>
            </a:r>
          </a:p>
        </p:txBody>
      </p:sp>
      <p:graphicFrame>
        <p:nvGraphicFramePr>
          <p:cNvPr id="9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556848"/>
              </p:ext>
            </p:extLst>
          </p:nvPr>
        </p:nvGraphicFramePr>
        <p:xfrm>
          <a:off x="4907925" y="579858"/>
          <a:ext cx="7467600" cy="618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29022" imgH="2261162" progId="Visio.Drawing.11">
                  <p:embed/>
                </p:oleObj>
              </mc:Choice>
              <mc:Fallback>
                <p:oleObj name="Visio" r:id="rId4" imgW="2729022" imgH="2261162" progId="Visio.Drawing.11">
                  <p:embed/>
                  <p:pic>
                    <p:nvPicPr>
                      <p:cNvPr id="174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925" y="579858"/>
                        <a:ext cx="7467600" cy="618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76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）分段系统中对程序和数据的共享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</a:t>
            </a:r>
          </a:p>
        </p:txBody>
      </p:sp>
      <p:sp>
        <p:nvSpPr>
          <p:cNvPr id="14" name="文本框 19"/>
          <p:cNvSpPr txBox="1">
            <a:spLocks noChangeArrowheads="1"/>
          </p:cNvSpPr>
          <p:nvPr/>
        </p:nvSpPr>
        <p:spPr bwMode="auto">
          <a:xfrm>
            <a:off x="1034282" y="1955617"/>
            <a:ext cx="376992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4"/>
              </a:buBlip>
            </a:pPr>
            <a:r>
              <a:rPr lang="zh-CN" altLang="en-US" sz="2400" b="1" dirty="0"/>
              <a:t>分段共享</a:t>
            </a:r>
            <a:r>
              <a:rPr lang="zh-CN" altLang="en-US" sz="2400" dirty="0"/>
              <a:t>：每个进程中，为每个共享段设一段表项，段表中共享段的物理地址相同。</a:t>
            </a:r>
          </a:p>
        </p:txBody>
      </p:sp>
      <p:grpSp>
        <p:nvGrpSpPr>
          <p:cNvPr id="15" name="Group 3"/>
          <p:cNvGrpSpPr>
            <a:grpSpLocks/>
          </p:cNvGrpSpPr>
          <p:nvPr/>
        </p:nvGrpSpPr>
        <p:grpSpPr bwMode="auto">
          <a:xfrm>
            <a:off x="4715300" y="1662658"/>
            <a:ext cx="7772400" cy="4572000"/>
            <a:chOff x="0" y="0"/>
            <a:chExt cx="4896" cy="2880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4896" cy="2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8" name="Group 5"/>
            <p:cNvGrpSpPr>
              <a:grpSpLocks/>
            </p:cNvGrpSpPr>
            <p:nvPr/>
          </p:nvGrpSpPr>
          <p:grpSpPr bwMode="auto">
            <a:xfrm>
              <a:off x="3792" y="53"/>
              <a:ext cx="672" cy="2731"/>
              <a:chOff x="-48" y="-12"/>
              <a:chExt cx="672" cy="2731"/>
            </a:xfrm>
          </p:grpSpPr>
          <p:grpSp>
            <p:nvGrpSpPr>
              <p:cNvPr id="89" name="Group 6"/>
              <p:cNvGrpSpPr>
                <a:grpSpLocks/>
              </p:cNvGrpSpPr>
              <p:nvPr/>
            </p:nvGrpSpPr>
            <p:grpSpPr bwMode="auto">
              <a:xfrm>
                <a:off x="-48" y="223"/>
                <a:ext cx="672" cy="2496"/>
                <a:chOff x="-48" y="0"/>
                <a:chExt cx="672" cy="2496"/>
              </a:xfrm>
            </p:grpSpPr>
            <p:sp>
              <p:nvSpPr>
                <p:cNvPr id="91" name="Rectangle 7"/>
                <p:cNvSpPr>
                  <a:spLocks noChangeArrowheads="1"/>
                </p:cNvSpPr>
                <p:nvPr/>
              </p:nvSpPr>
              <p:spPr bwMode="auto">
                <a:xfrm>
                  <a:off x="-48" y="0"/>
                  <a:ext cx="672" cy="2496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solidFill>
                    <a:srgbClr val="FF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anose="05000000000000000000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anose="020B0604020202020204" pitchFamily="34" charset="0"/>
                      <a:ea typeface="楷体_GB2312" pitchFamily="1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Line 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0" name="Text Box 9"/>
              <p:cNvSpPr txBox="1">
                <a:spLocks noChangeArrowheads="1"/>
              </p:cNvSpPr>
              <p:nvPr/>
            </p:nvSpPr>
            <p:spPr bwMode="auto">
              <a:xfrm>
                <a:off x="92" y="-12"/>
                <a:ext cx="43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内存</a:t>
                </a:r>
              </a:p>
            </p:txBody>
          </p:sp>
        </p:grp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2030" y="192"/>
              <a:ext cx="65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</a:t>
              </a:r>
            </a:p>
          </p:txBody>
        </p:sp>
        <p:grpSp>
          <p:nvGrpSpPr>
            <p:cNvPr id="20" name="Group 11"/>
            <p:cNvGrpSpPr>
              <a:grpSpLocks/>
            </p:cNvGrpSpPr>
            <p:nvPr/>
          </p:nvGrpSpPr>
          <p:grpSpPr bwMode="auto">
            <a:xfrm>
              <a:off x="1536" y="432"/>
              <a:ext cx="1532" cy="930"/>
              <a:chOff x="-96" y="0"/>
              <a:chExt cx="1532" cy="930"/>
            </a:xfrm>
          </p:grpSpPr>
          <p:sp>
            <p:nvSpPr>
              <p:cNvPr id="69" name="Rectangle 12"/>
              <p:cNvSpPr>
                <a:spLocks noChangeArrowheads="1"/>
              </p:cNvSpPr>
              <p:nvPr/>
            </p:nvSpPr>
            <p:spPr bwMode="auto">
              <a:xfrm>
                <a:off x="819" y="1"/>
                <a:ext cx="617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基址</a:t>
                </a:r>
              </a:p>
            </p:txBody>
          </p:sp>
          <p:sp>
            <p:nvSpPr>
              <p:cNvPr id="70" name="Rectangle 13"/>
              <p:cNvSpPr>
                <a:spLocks noChangeArrowheads="1"/>
              </p:cNvSpPr>
              <p:nvPr/>
            </p:nvSpPr>
            <p:spPr bwMode="auto">
              <a:xfrm>
                <a:off x="360" y="1"/>
                <a:ext cx="50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段长</a:t>
                </a:r>
              </a:p>
            </p:txBody>
          </p:sp>
          <p:sp>
            <p:nvSpPr>
              <p:cNvPr id="71" name="Rectangle 14"/>
              <p:cNvSpPr>
                <a:spLocks noChangeArrowheads="1"/>
              </p:cNvSpPr>
              <p:nvPr/>
            </p:nvSpPr>
            <p:spPr bwMode="auto">
              <a:xfrm>
                <a:off x="693" y="691"/>
                <a:ext cx="72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180K</a:t>
                </a:r>
              </a:p>
            </p:txBody>
          </p:sp>
          <p:sp>
            <p:nvSpPr>
              <p:cNvPr id="72" name="Rectangle 15"/>
              <p:cNvSpPr>
                <a:spLocks noChangeArrowheads="1"/>
              </p:cNvSpPr>
              <p:nvPr/>
            </p:nvSpPr>
            <p:spPr bwMode="auto">
              <a:xfrm>
                <a:off x="315" y="691"/>
                <a:ext cx="55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100K</a:t>
                </a:r>
              </a:p>
            </p:txBody>
          </p:sp>
          <p:sp>
            <p:nvSpPr>
              <p:cNvPr id="73" name="Rectangle 16"/>
              <p:cNvSpPr>
                <a:spLocks noChangeArrowheads="1"/>
              </p:cNvSpPr>
              <p:nvPr/>
            </p:nvSpPr>
            <p:spPr bwMode="auto">
              <a:xfrm>
                <a:off x="776" y="461"/>
                <a:ext cx="631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300K</a:t>
                </a:r>
              </a:p>
            </p:txBody>
          </p:sp>
          <p:sp>
            <p:nvSpPr>
              <p:cNvPr id="74" name="Rectangle 17"/>
              <p:cNvSpPr>
                <a:spLocks noChangeArrowheads="1"/>
              </p:cNvSpPr>
              <p:nvPr/>
            </p:nvSpPr>
            <p:spPr bwMode="auto">
              <a:xfrm>
                <a:off x="360" y="46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20K</a:t>
                </a:r>
              </a:p>
            </p:txBody>
          </p:sp>
          <p:sp>
            <p:nvSpPr>
              <p:cNvPr id="75" name="Rectangle 18"/>
              <p:cNvSpPr>
                <a:spLocks noChangeArrowheads="1"/>
              </p:cNvSpPr>
              <p:nvPr/>
            </p:nvSpPr>
            <p:spPr bwMode="auto">
              <a:xfrm>
                <a:off x="774" y="231"/>
                <a:ext cx="63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100K</a:t>
                </a:r>
              </a:p>
            </p:txBody>
          </p:sp>
          <p:sp>
            <p:nvSpPr>
              <p:cNvPr id="76" name="Rectangle 19"/>
              <p:cNvSpPr>
                <a:spLocks noChangeArrowheads="1"/>
              </p:cNvSpPr>
              <p:nvPr/>
            </p:nvSpPr>
            <p:spPr bwMode="auto">
              <a:xfrm>
                <a:off x="360" y="23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42K</a:t>
                </a:r>
              </a:p>
            </p:txBody>
          </p:sp>
          <p:sp>
            <p:nvSpPr>
              <p:cNvPr id="77" name="Line 20"/>
              <p:cNvSpPr>
                <a:spLocks noChangeShapeType="1"/>
              </p:cNvSpPr>
              <p:nvPr/>
            </p:nvSpPr>
            <p:spPr bwMode="auto">
              <a:xfrm>
                <a:off x="144" y="46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21"/>
              <p:cNvSpPr>
                <a:spLocks noChangeShapeType="1"/>
              </p:cNvSpPr>
              <p:nvPr/>
            </p:nvSpPr>
            <p:spPr bwMode="auto">
              <a:xfrm>
                <a:off x="144" y="69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22"/>
              <p:cNvSpPr>
                <a:spLocks noChangeShapeType="1"/>
              </p:cNvSpPr>
              <p:nvPr/>
            </p:nvSpPr>
            <p:spPr bwMode="auto">
              <a:xfrm>
                <a:off x="144" y="912"/>
                <a:ext cx="1200" cy="0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Line 23"/>
              <p:cNvSpPr>
                <a:spLocks noChangeShapeType="1"/>
              </p:cNvSpPr>
              <p:nvPr/>
            </p:nvSpPr>
            <p:spPr bwMode="auto">
              <a:xfrm>
                <a:off x="144" y="23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24"/>
              <p:cNvSpPr>
                <a:spLocks noChangeShapeType="1"/>
              </p:cNvSpPr>
              <p:nvPr/>
            </p:nvSpPr>
            <p:spPr bwMode="auto">
              <a:xfrm>
                <a:off x="816" y="231"/>
                <a:ext cx="0" cy="681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25"/>
              <p:cNvSpPr>
                <a:spLocks noChangeShapeType="1"/>
              </p:cNvSpPr>
              <p:nvPr/>
            </p:nvSpPr>
            <p:spPr bwMode="auto">
              <a:xfrm>
                <a:off x="1344" y="231"/>
                <a:ext cx="0" cy="681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Rectangle 26"/>
              <p:cNvSpPr>
                <a:spLocks noChangeArrowheads="1"/>
              </p:cNvSpPr>
              <p:nvPr/>
            </p:nvSpPr>
            <p:spPr bwMode="auto">
              <a:xfrm>
                <a:off x="48" y="70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2</a:t>
                </a:r>
              </a:p>
            </p:txBody>
          </p:sp>
          <p:sp>
            <p:nvSpPr>
              <p:cNvPr id="85" name="Rectangle 27"/>
              <p:cNvSpPr>
                <a:spLocks noChangeArrowheads="1"/>
              </p:cNvSpPr>
              <p:nvPr/>
            </p:nvSpPr>
            <p:spPr bwMode="auto">
              <a:xfrm>
                <a:off x="48" y="47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1</a:t>
                </a:r>
              </a:p>
            </p:txBody>
          </p:sp>
          <p:sp>
            <p:nvSpPr>
              <p:cNvPr id="86" name="Rectangle 28"/>
              <p:cNvSpPr>
                <a:spLocks noChangeArrowheads="1"/>
              </p:cNvSpPr>
              <p:nvPr/>
            </p:nvSpPr>
            <p:spPr bwMode="auto">
              <a:xfrm>
                <a:off x="48" y="24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0</a:t>
                </a:r>
              </a:p>
            </p:txBody>
          </p:sp>
          <p:sp>
            <p:nvSpPr>
              <p:cNvPr id="87" name="Line 29"/>
              <p:cNvSpPr>
                <a:spLocks noChangeShapeType="1"/>
              </p:cNvSpPr>
              <p:nvPr/>
            </p:nvSpPr>
            <p:spPr bwMode="auto">
              <a:xfrm>
                <a:off x="336" y="240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Rectangle 30"/>
              <p:cNvSpPr>
                <a:spLocks noChangeArrowheads="1"/>
              </p:cNvSpPr>
              <p:nvPr/>
            </p:nvSpPr>
            <p:spPr bwMode="auto">
              <a:xfrm>
                <a:off x="-96" y="0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段号</a:t>
                </a:r>
              </a:p>
            </p:txBody>
          </p:sp>
        </p:grpSp>
        <p:grpSp>
          <p:nvGrpSpPr>
            <p:cNvPr id="22" name="Group 31"/>
            <p:cNvGrpSpPr>
              <a:grpSpLocks/>
            </p:cNvGrpSpPr>
            <p:nvPr/>
          </p:nvGrpSpPr>
          <p:grpSpPr bwMode="auto">
            <a:xfrm>
              <a:off x="195" y="268"/>
              <a:ext cx="1166" cy="1124"/>
              <a:chOff x="-109" y="0"/>
              <a:chExt cx="1166" cy="1124"/>
            </a:xfrm>
          </p:grpSpPr>
          <p:sp>
            <p:nvSpPr>
              <p:cNvPr id="65" name="Rectangle 32"/>
              <p:cNvSpPr>
                <a:spLocks noChangeArrowheads="1"/>
              </p:cNvSpPr>
              <p:nvPr/>
            </p:nvSpPr>
            <p:spPr bwMode="auto">
              <a:xfrm>
                <a:off x="114" y="260"/>
                <a:ext cx="686" cy="240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第0段</a:t>
                </a:r>
              </a:p>
            </p:txBody>
          </p:sp>
          <p:sp>
            <p:nvSpPr>
              <p:cNvPr id="66" name="Rectangle 33"/>
              <p:cNvSpPr>
                <a:spLocks noChangeArrowheads="1"/>
              </p:cNvSpPr>
              <p:nvPr/>
            </p:nvSpPr>
            <p:spPr bwMode="auto">
              <a:xfrm>
                <a:off x="105" y="836"/>
                <a:ext cx="695" cy="288"/>
              </a:xfrm>
              <a:prstGeom prst="rect">
                <a:avLst/>
              </a:prstGeom>
              <a:solidFill>
                <a:srgbClr val="CCFFFF"/>
              </a:solidFill>
              <a:ln w="9525" cmpd="sng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zh-CN" sz="2000" b="1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Job1数据</a:t>
                </a:r>
              </a:p>
            </p:txBody>
          </p:sp>
          <p:sp>
            <p:nvSpPr>
              <p:cNvPr id="67" name="Text Box 34"/>
              <p:cNvSpPr txBox="1">
                <a:spLocks noChangeArrowheads="1"/>
              </p:cNvSpPr>
              <p:nvPr/>
            </p:nvSpPr>
            <p:spPr bwMode="auto">
              <a:xfrm>
                <a:off x="-109" y="0"/>
                <a:ext cx="1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用户1编辑进程</a:t>
                </a:r>
              </a:p>
            </p:txBody>
          </p:sp>
          <p:sp>
            <p:nvSpPr>
              <p:cNvPr id="68" name="Rectangle 35"/>
              <p:cNvSpPr>
                <a:spLocks noChangeArrowheads="1"/>
              </p:cNvSpPr>
              <p:nvPr/>
            </p:nvSpPr>
            <p:spPr bwMode="auto">
              <a:xfrm>
                <a:off x="105" y="520"/>
                <a:ext cx="695" cy="220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rgbClr val="66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……</a:t>
                </a:r>
              </a:p>
            </p:txBody>
          </p:sp>
        </p:grpSp>
        <p:grpSp>
          <p:nvGrpSpPr>
            <p:cNvPr id="23" name="Group 36"/>
            <p:cNvGrpSpPr>
              <a:grpSpLocks/>
            </p:cNvGrpSpPr>
            <p:nvPr/>
          </p:nvGrpSpPr>
          <p:grpSpPr bwMode="auto">
            <a:xfrm>
              <a:off x="179" y="1471"/>
              <a:ext cx="1166" cy="1169"/>
              <a:chOff x="-109" y="-45"/>
              <a:chExt cx="1166" cy="1169"/>
            </a:xfrm>
          </p:grpSpPr>
          <p:sp>
            <p:nvSpPr>
              <p:cNvPr id="61" name="Rectangle 37"/>
              <p:cNvSpPr>
                <a:spLocks noChangeArrowheads="1"/>
              </p:cNvSpPr>
              <p:nvPr/>
            </p:nvSpPr>
            <p:spPr bwMode="auto">
              <a:xfrm>
                <a:off x="121" y="212"/>
                <a:ext cx="679" cy="288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第0段</a:t>
                </a:r>
              </a:p>
            </p:txBody>
          </p:sp>
          <p:sp>
            <p:nvSpPr>
              <p:cNvPr id="62" name="Rectangle 38"/>
              <p:cNvSpPr>
                <a:spLocks noChangeArrowheads="1"/>
              </p:cNvSpPr>
              <p:nvPr/>
            </p:nvSpPr>
            <p:spPr bwMode="auto">
              <a:xfrm>
                <a:off x="121" y="836"/>
                <a:ext cx="679" cy="288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zh-CN" sz="2000" b="1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Job2数据</a:t>
                </a:r>
              </a:p>
            </p:txBody>
          </p:sp>
          <p:sp>
            <p:nvSpPr>
              <p:cNvPr id="63" name="Text Box 39"/>
              <p:cNvSpPr txBox="1">
                <a:spLocks noChangeArrowheads="1"/>
              </p:cNvSpPr>
              <p:nvPr/>
            </p:nvSpPr>
            <p:spPr bwMode="auto">
              <a:xfrm>
                <a:off x="-109" y="-45"/>
                <a:ext cx="1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用户2编辑进程</a:t>
                </a:r>
              </a:p>
            </p:txBody>
          </p:sp>
          <p:sp>
            <p:nvSpPr>
              <p:cNvPr id="64" name="Rectangle 40"/>
              <p:cNvSpPr>
                <a:spLocks noChangeArrowheads="1"/>
              </p:cNvSpPr>
              <p:nvPr/>
            </p:nvSpPr>
            <p:spPr bwMode="auto">
              <a:xfrm>
                <a:off x="121" y="545"/>
                <a:ext cx="679" cy="205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rgbClr val="66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……</a:t>
                </a:r>
              </a:p>
            </p:txBody>
          </p:sp>
        </p:grpSp>
        <p:grpSp>
          <p:nvGrpSpPr>
            <p:cNvPr id="24" name="Group 41"/>
            <p:cNvGrpSpPr>
              <a:grpSpLocks/>
            </p:cNvGrpSpPr>
            <p:nvPr/>
          </p:nvGrpSpPr>
          <p:grpSpPr bwMode="auto">
            <a:xfrm>
              <a:off x="1536" y="1566"/>
              <a:ext cx="1501" cy="930"/>
              <a:chOff x="-96" y="0"/>
              <a:chExt cx="1501" cy="930"/>
            </a:xfrm>
          </p:grpSpPr>
          <p:sp>
            <p:nvSpPr>
              <p:cNvPr id="40" name="Rectangle 42"/>
              <p:cNvSpPr>
                <a:spLocks noChangeArrowheads="1"/>
              </p:cNvSpPr>
              <p:nvPr/>
            </p:nvSpPr>
            <p:spPr bwMode="auto">
              <a:xfrm>
                <a:off x="840" y="1"/>
                <a:ext cx="50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基址</a:t>
                </a:r>
              </a:p>
            </p:txBody>
          </p:sp>
          <p:sp>
            <p:nvSpPr>
              <p:cNvPr id="41" name="Rectangle 43"/>
              <p:cNvSpPr>
                <a:spLocks noChangeArrowheads="1"/>
              </p:cNvSpPr>
              <p:nvPr/>
            </p:nvSpPr>
            <p:spPr bwMode="auto">
              <a:xfrm>
                <a:off x="360" y="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段长</a:t>
                </a:r>
              </a:p>
            </p:txBody>
          </p:sp>
          <p:sp>
            <p:nvSpPr>
              <p:cNvPr id="42" name="Rectangle 44"/>
              <p:cNvSpPr>
                <a:spLocks noChangeArrowheads="1"/>
              </p:cNvSpPr>
              <p:nvPr/>
            </p:nvSpPr>
            <p:spPr bwMode="auto">
              <a:xfrm>
                <a:off x="774" y="691"/>
                <a:ext cx="631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380K</a:t>
                </a:r>
              </a:p>
            </p:txBody>
          </p:sp>
          <p:sp>
            <p:nvSpPr>
              <p:cNvPr id="43" name="Rectangle 45"/>
              <p:cNvSpPr>
                <a:spLocks noChangeArrowheads="1"/>
              </p:cNvSpPr>
              <p:nvPr/>
            </p:nvSpPr>
            <p:spPr bwMode="auto">
              <a:xfrm>
                <a:off x="360" y="69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30K</a:t>
                </a:r>
              </a:p>
            </p:txBody>
          </p:sp>
          <p:sp>
            <p:nvSpPr>
              <p:cNvPr id="44" name="Rectangle 46"/>
              <p:cNvSpPr>
                <a:spLocks noChangeArrowheads="1"/>
              </p:cNvSpPr>
              <p:nvPr/>
            </p:nvSpPr>
            <p:spPr bwMode="auto">
              <a:xfrm>
                <a:off x="774" y="461"/>
                <a:ext cx="631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300K</a:t>
                </a:r>
              </a:p>
            </p:txBody>
          </p:sp>
          <p:sp>
            <p:nvSpPr>
              <p:cNvPr id="45" name="Rectangle 47"/>
              <p:cNvSpPr>
                <a:spLocks noChangeArrowheads="1"/>
              </p:cNvSpPr>
              <p:nvPr/>
            </p:nvSpPr>
            <p:spPr bwMode="auto">
              <a:xfrm>
                <a:off x="360" y="46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20K</a:t>
                </a:r>
              </a:p>
            </p:txBody>
          </p:sp>
          <p:sp>
            <p:nvSpPr>
              <p:cNvPr id="46" name="Rectangle 48"/>
              <p:cNvSpPr>
                <a:spLocks noChangeArrowheads="1"/>
              </p:cNvSpPr>
              <p:nvPr/>
            </p:nvSpPr>
            <p:spPr bwMode="auto">
              <a:xfrm>
                <a:off x="792" y="231"/>
                <a:ext cx="583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100K</a:t>
                </a:r>
              </a:p>
            </p:txBody>
          </p:sp>
          <p:sp>
            <p:nvSpPr>
              <p:cNvPr id="48" name="Rectangle 49"/>
              <p:cNvSpPr>
                <a:spLocks noChangeArrowheads="1"/>
              </p:cNvSpPr>
              <p:nvPr/>
            </p:nvSpPr>
            <p:spPr bwMode="auto">
              <a:xfrm>
                <a:off x="360" y="23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42K</a:t>
                </a:r>
              </a:p>
            </p:txBody>
          </p:sp>
          <p:sp>
            <p:nvSpPr>
              <p:cNvPr id="50" name="Line 50"/>
              <p:cNvSpPr>
                <a:spLocks noChangeShapeType="1"/>
              </p:cNvSpPr>
              <p:nvPr/>
            </p:nvSpPr>
            <p:spPr bwMode="auto">
              <a:xfrm>
                <a:off x="144" y="46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51"/>
              <p:cNvSpPr>
                <a:spLocks noChangeShapeType="1"/>
              </p:cNvSpPr>
              <p:nvPr/>
            </p:nvSpPr>
            <p:spPr bwMode="auto">
              <a:xfrm>
                <a:off x="144" y="69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52"/>
              <p:cNvSpPr>
                <a:spLocks noChangeShapeType="1"/>
              </p:cNvSpPr>
              <p:nvPr/>
            </p:nvSpPr>
            <p:spPr bwMode="auto">
              <a:xfrm>
                <a:off x="144" y="912"/>
                <a:ext cx="1200" cy="0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53"/>
              <p:cNvSpPr>
                <a:spLocks noChangeShapeType="1"/>
              </p:cNvSpPr>
              <p:nvPr/>
            </p:nvSpPr>
            <p:spPr bwMode="auto">
              <a:xfrm>
                <a:off x="144" y="23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54"/>
              <p:cNvSpPr>
                <a:spLocks noChangeShapeType="1"/>
              </p:cNvSpPr>
              <p:nvPr/>
            </p:nvSpPr>
            <p:spPr bwMode="auto">
              <a:xfrm>
                <a:off x="816" y="231"/>
                <a:ext cx="0" cy="681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55"/>
              <p:cNvSpPr>
                <a:spLocks noChangeShapeType="1"/>
              </p:cNvSpPr>
              <p:nvPr/>
            </p:nvSpPr>
            <p:spPr bwMode="auto">
              <a:xfrm>
                <a:off x="1344" y="231"/>
                <a:ext cx="0" cy="681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Rectangle 56"/>
              <p:cNvSpPr>
                <a:spLocks noChangeArrowheads="1"/>
              </p:cNvSpPr>
              <p:nvPr/>
            </p:nvSpPr>
            <p:spPr bwMode="auto">
              <a:xfrm>
                <a:off x="48" y="70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2</a:t>
                </a:r>
              </a:p>
            </p:txBody>
          </p:sp>
          <p:sp>
            <p:nvSpPr>
              <p:cNvPr id="57" name="Rectangle 57"/>
              <p:cNvSpPr>
                <a:spLocks noChangeArrowheads="1"/>
              </p:cNvSpPr>
              <p:nvPr/>
            </p:nvSpPr>
            <p:spPr bwMode="auto">
              <a:xfrm>
                <a:off x="48" y="47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1</a:t>
                </a:r>
              </a:p>
            </p:txBody>
          </p:sp>
          <p:sp>
            <p:nvSpPr>
              <p:cNvPr id="58" name="Rectangle 58"/>
              <p:cNvSpPr>
                <a:spLocks noChangeArrowheads="1"/>
              </p:cNvSpPr>
              <p:nvPr/>
            </p:nvSpPr>
            <p:spPr bwMode="auto">
              <a:xfrm>
                <a:off x="48" y="24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</a:rPr>
                  <a:t>0</a:t>
                </a:r>
              </a:p>
            </p:txBody>
          </p:sp>
          <p:sp>
            <p:nvSpPr>
              <p:cNvPr id="59" name="Line 59"/>
              <p:cNvSpPr>
                <a:spLocks noChangeShapeType="1"/>
              </p:cNvSpPr>
              <p:nvPr/>
            </p:nvSpPr>
            <p:spPr bwMode="auto">
              <a:xfrm>
                <a:off x="336" y="240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Rectangle 60"/>
              <p:cNvSpPr>
                <a:spLocks noChangeArrowheads="1"/>
              </p:cNvSpPr>
              <p:nvPr/>
            </p:nvSpPr>
            <p:spPr bwMode="auto">
              <a:xfrm>
                <a:off x="-96" y="0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段号</a:t>
                </a:r>
              </a:p>
            </p:txBody>
          </p:sp>
        </p:grpSp>
        <p:grpSp>
          <p:nvGrpSpPr>
            <p:cNvPr id="25" name="Group 61"/>
            <p:cNvGrpSpPr>
              <a:grpSpLocks/>
            </p:cNvGrpSpPr>
            <p:nvPr/>
          </p:nvGrpSpPr>
          <p:grpSpPr bwMode="auto">
            <a:xfrm>
              <a:off x="2928" y="624"/>
              <a:ext cx="1536" cy="1758"/>
              <a:chOff x="0" y="0"/>
              <a:chExt cx="1536" cy="1758"/>
            </a:xfrm>
          </p:grpSpPr>
          <p:sp>
            <p:nvSpPr>
              <p:cNvPr id="26" name="Rectangle 62"/>
              <p:cNvSpPr>
                <a:spLocks noChangeArrowheads="1"/>
              </p:cNvSpPr>
              <p:nvPr/>
            </p:nvSpPr>
            <p:spPr bwMode="auto">
              <a:xfrm>
                <a:off x="860" y="0"/>
                <a:ext cx="676" cy="240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dirty="0">
                    <a:solidFill>
                      <a:srgbClr val="66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第0段</a:t>
                </a:r>
              </a:p>
            </p:txBody>
          </p:sp>
          <p:sp>
            <p:nvSpPr>
              <p:cNvPr id="31" name="Rectangle 63"/>
              <p:cNvSpPr>
                <a:spLocks noChangeArrowheads="1"/>
              </p:cNvSpPr>
              <p:nvPr/>
            </p:nvSpPr>
            <p:spPr bwMode="auto">
              <a:xfrm>
                <a:off x="860" y="336"/>
                <a:ext cx="676" cy="288"/>
              </a:xfrm>
              <a:prstGeom prst="rect">
                <a:avLst/>
              </a:prstGeom>
              <a:solidFill>
                <a:srgbClr val="CCFFFF"/>
              </a:solidFill>
              <a:ln w="9525" cmpd="sng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zh-CN" sz="2000" b="1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Job1数据</a:t>
                </a:r>
              </a:p>
            </p:txBody>
          </p:sp>
          <p:sp>
            <p:nvSpPr>
              <p:cNvPr id="32" name="Rectangle 64"/>
              <p:cNvSpPr>
                <a:spLocks noChangeArrowheads="1"/>
              </p:cNvSpPr>
              <p:nvPr/>
            </p:nvSpPr>
            <p:spPr bwMode="auto">
              <a:xfrm>
                <a:off x="864" y="912"/>
                <a:ext cx="672" cy="183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zh-CN" sz="2000" b="1" dirty="0">
                    <a:solidFill>
                      <a:srgbClr val="66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……</a:t>
                </a:r>
              </a:p>
            </p:txBody>
          </p:sp>
          <p:sp>
            <p:nvSpPr>
              <p:cNvPr id="33" name="Rectangle 65"/>
              <p:cNvSpPr>
                <a:spLocks noChangeArrowheads="1"/>
              </p:cNvSpPr>
              <p:nvPr/>
            </p:nvSpPr>
            <p:spPr bwMode="auto">
              <a:xfrm>
                <a:off x="864" y="1248"/>
                <a:ext cx="672" cy="288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zh-CN" sz="2000" b="1" dirty="0">
                    <a:solidFill>
                      <a:srgbClr val="6600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Job2数据</a:t>
                </a:r>
              </a:p>
            </p:txBody>
          </p:sp>
          <p:sp>
            <p:nvSpPr>
              <p:cNvPr id="34" name="Line 66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144"/>
              </a:xfrm>
              <a:prstGeom prst="line">
                <a:avLst/>
              </a:prstGeom>
              <a:noFill/>
              <a:ln w="952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67"/>
              <p:cNvSpPr>
                <a:spLocks noChangeShapeType="1"/>
              </p:cNvSpPr>
              <p:nvPr/>
            </p:nvSpPr>
            <p:spPr bwMode="auto">
              <a:xfrm>
                <a:off x="0" y="384"/>
                <a:ext cx="912" cy="528"/>
              </a:xfrm>
              <a:prstGeom prst="line">
                <a:avLst/>
              </a:prstGeom>
              <a:noFill/>
              <a:ln w="952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68"/>
              <p:cNvSpPr>
                <a:spLocks noChangeShapeType="1"/>
              </p:cNvSpPr>
              <p:nvPr/>
            </p:nvSpPr>
            <p:spPr bwMode="auto">
              <a:xfrm flipV="1">
                <a:off x="0" y="336"/>
                <a:ext cx="912" cy="240"/>
              </a:xfrm>
              <a:prstGeom prst="line">
                <a:avLst/>
              </a:prstGeom>
              <a:noFill/>
              <a:ln w="952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69"/>
              <p:cNvSpPr>
                <a:spLocks noChangeShapeType="1"/>
              </p:cNvSpPr>
              <p:nvPr/>
            </p:nvSpPr>
            <p:spPr bwMode="auto">
              <a:xfrm flipV="1">
                <a:off x="64" y="48"/>
                <a:ext cx="800" cy="1200"/>
              </a:xfrm>
              <a:prstGeom prst="line">
                <a:avLst/>
              </a:prstGeom>
              <a:noFill/>
              <a:ln w="9525" cmpd="sng">
                <a:solidFill>
                  <a:schemeClr val="accent2">
                    <a:lumMod val="50000"/>
                  </a:schemeClr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70"/>
              <p:cNvSpPr>
                <a:spLocks noChangeShapeType="1"/>
              </p:cNvSpPr>
              <p:nvPr/>
            </p:nvSpPr>
            <p:spPr bwMode="auto">
              <a:xfrm flipV="1">
                <a:off x="48" y="912"/>
                <a:ext cx="864" cy="597"/>
              </a:xfrm>
              <a:prstGeom prst="line">
                <a:avLst/>
              </a:prstGeom>
              <a:noFill/>
              <a:ln w="9525">
                <a:solidFill>
                  <a:schemeClr val="accent2">
                    <a:lumMod val="50000"/>
                  </a:schemeClr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71"/>
              <p:cNvSpPr>
                <a:spLocks noChangeShapeType="1"/>
              </p:cNvSpPr>
              <p:nvPr/>
            </p:nvSpPr>
            <p:spPr bwMode="auto">
              <a:xfrm flipV="1">
                <a:off x="48" y="1248"/>
                <a:ext cx="864" cy="510"/>
              </a:xfrm>
              <a:prstGeom prst="line">
                <a:avLst/>
              </a:prstGeom>
              <a:noFill/>
              <a:ln w="9525">
                <a:solidFill>
                  <a:schemeClr val="accent2">
                    <a:lumMod val="50000"/>
                  </a:schemeClr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062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6286175" y="2367448"/>
            <a:ext cx="4470450" cy="3965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78290" y="1120021"/>
            <a:ext cx="6377004" cy="830997"/>
            <a:chOff x="978290" y="1120021"/>
            <a:chExt cx="6377004" cy="830997"/>
          </a:xfrm>
        </p:grpSpPr>
        <p:sp>
          <p:nvSpPr>
            <p:cNvPr id="2" name="矩形 1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119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分段的优缺点</a:t>
              </a:r>
            </a:p>
            <a:p>
              <a:pPr eaLnBrk="1" hangingPunct="1"/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24342" y="2367448"/>
            <a:ext cx="4470450" cy="3965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AutoShape 12"/>
          <p:cNvSpPr>
            <a:spLocks noChangeArrowheads="1"/>
          </p:cNvSpPr>
          <p:nvPr/>
        </p:nvSpPr>
        <p:spPr bwMode="auto">
          <a:xfrm>
            <a:off x="1124342" y="1972299"/>
            <a:ext cx="4470449" cy="790298"/>
          </a:xfrm>
          <a:prstGeom prst="homePlate">
            <a:avLst>
              <a:gd name="adj" fmla="val 63872"/>
            </a:avLst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lIns="91472" tIns="45736" rIns="91472" bIns="45736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优点</a:t>
            </a:r>
          </a:p>
        </p:txBody>
      </p:sp>
      <p:sp>
        <p:nvSpPr>
          <p:cNvPr id="19" name="AutoShape 12"/>
          <p:cNvSpPr>
            <a:spLocks noChangeArrowheads="1"/>
          </p:cNvSpPr>
          <p:nvPr/>
        </p:nvSpPr>
        <p:spPr bwMode="auto">
          <a:xfrm flipH="1">
            <a:off x="6286175" y="1972299"/>
            <a:ext cx="4470450" cy="790298"/>
          </a:xfrm>
          <a:prstGeom prst="homePlate">
            <a:avLst>
              <a:gd name="adj" fmla="val 63872"/>
            </a:avLst>
          </a:prstGeom>
          <a:solidFill>
            <a:schemeClr val="accent2"/>
          </a:solidFill>
          <a:ln w="9525">
            <a:noFill/>
            <a:miter lim="800000"/>
          </a:ln>
        </p:spPr>
        <p:txBody>
          <a:bodyPr wrap="none" lIns="91472" tIns="45736" rIns="91472" bIns="45736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缺点</a:t>
            </a:r>
          </a:p>
        </p:txBody>
      </p:sp>
      <p:sp>
        <p:nvSpPr>
          <p:cNvPr id="14" name="文本框 19"/>
          <p:cNvSpPr txBox="1">
            <a:spLocks noChangeArrowheads="1"/>
          </p:cNvSpPr>
          <p:nvPr/>
        </p:nvSpPr>
        <p:spPr bwMode="auto">
          <a:xfrm>
            <a:off x="1124341" y="2909557"/>
            <a:ext cx="4009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便于处理变化的数据结构</a:t>
            </a:r>
          </a:p>
        </p:txBody>
      </p:sp>
      <p:sp>
        <p:nvSpPr>
          <p:cNvPr id="18" name="文本框 19"/>
          <p:cNvSpPr txBox="1">
            <a:spLocks noChangeArrowheads="1"/>
          </p:cNvSpPr>
          <p:nvPr/>
        </p:nvSpPr>
        <p:spPr bwMode="auto">
          <a:xfrm>
            <a:off x="1124340" y="3505131"/>
            <a:ext cx="4009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便于共享</a:t>
            </a:r>
          </a:p>
        </p:txBody>
      </p: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124340" y="4119135"/>
            <a:ext cx="4009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提供了虚拟存储功能</a:t>
            </a:r>
          </a:p>
        </p:txBody>
      </p:sp>
      <p:sp>
        <p:nvSpPr>
          <p:cNvPr id="24" name="文本框 19"/>
          <p:cNvSpPr txBox="1">
            <a:spLocks noChangeArrowheads="1"/>
          </p:cNvSpPr>
          <p:nvPr/>
        </p:nvSpPr>
        <p:spPr bwMode="auto">
          <a:xfrm>
            <a:off x="1124340" y="4745116"/>
            <a:ext cx="4009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提供了动态连接的便利</a:t>
            </a:r>
          </a:p>
        </p:txBody>
      </p:sp>
      <p:sp>
        <p:nvSpPr>
          <p:cNvPr id="25" name="文本框 19"/>
          <p:cNvSpPr txBox="1">
            <a:spLocks noChangeArrowheads="1"/>
          </p:cNvSpPr>
          <p:nvPr/>
        </p:nvSpPr>
        <p:spPr bwMode="auto">
          <a:xfrm>
            <a:off x="1124340" y="5398846"/>
            <a:ext cx="4009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便于控制存取访问</a:t>
            </a:r>
          </a:p>
        </p:txBody>
      </p:sp>
      <p:sp>
        <p:nvSpPr>
          <p:cNvPr id="26" name="文本框 19"/>
          <p:cNvSpPr txBox="1">
            <a:spLocks noChangeArrowheads="1"/>
          </p:cNvSpPr>
          <p:nvPr/>
        </p:nvSpPr>
        <p:spPr bwMode="auto">
          <a:xfrm>
            <a:off x="6286175" y="2909556"/>
            <a:ext cx="44704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要产生外部碎片，为存储紧缩付出处理机的代价</a:t>
            </a:r>
          </a:p>
        </p:txBody>
      </p:sp>
      <p:sp>
        <p:nvSpPr>
          <p:cNvPr id="27" name="文本框 19"/>
          <p:cNvSpPr txBox="1">
            <a:spLocks noChangeArrowheads="1"/>
          </p:cNvSpPr>
          <p:nvPr/>
        </p:nvSpPr>
        <p:spPr bwMode="auto">
          <a:xfrm>
            <a:off x="6286175" y="3827732"/>
            <a:ext cx="44704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分段的最大尺寸受到主存大小的限制</a:t>
            </a:r>
          </a:p>
        </p:txBody>
      </p:sp>
      <p:sp>
        <p:nvSpPr>
          <p:cNvPr id="28" name="文本框 19"/>
          <p:cNvSpPr txBox="1">
            <a:spLocks noChangeArrowheads="1"/>
          </p:cNvSpPr>
          <p:nvPr/>
        </p:nvSpPr>
        <p:spPr bwMode="auto">
          <a:xfrm>
            <a:off x="6286175" y="4745116"/>
            <a:ext cx="44704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在外存中管理可变尺寸的分段比较困难</a:t>
            </a:r>
          </a:p>
          <a:p>
            <a:pPr marL="0" lvl="2" indent="0">
              <a:buBlip>
                <a:blip r:embed="rId3"/>
              </a:buBlip>
            </a:pPr>
            <a:endParaRPr lang="zh-CN" altLang="en-US" sz="2400" dirty="0"/>
          </a:p>
        </p:txBody>
      </p:sp>
      <p:sp>
        <p:nvSpPr>
          <p:cNvPr id="29" name="文本框 19"/>
          <p:cNvSpPr txBox="1">
            <a:spLocks noChangeArrowheads="1"/>
          </p:cNvSpPr>
          <p:nvPr/>
        </p:nvSpPr>
        <p:spPr bwMode="auto">
          <a:xfrm>
            <a:off x="6286174" y="5516295"/>
            <a:ext cx="44704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与分页一样，提高了硬件成本</a:t>
            </a:r>
          </a:p>
        </p:txBody>
      </p:sp>
    </p:spTree>
    <p:extLst>
      <p:ext uri="{BB962C8B-B14F-4D97-AF65-F5344CB8AC3E}">
        <p14:creationId xmlns:p14="http://schemas.microsoft.com/office/powerpoint/2010/main" val="102312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5" grpId="0" animBg="1"/>
      <p:bldP spid="16" grpId="0" animBg="1"/>
      <p:bldP spid="19" grpId="0" animBg="1"/>
      <p:bldP spid="14" grpId="0"/>
      <p:bldP spid="18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）基本思想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1938601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结合分页和分段技术</a:t>
            </a:r>
            <a:endParaRPr lang="zh-CN" altLang="en-US" sz="2000" b="1" dirty="0"/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段页式存储管理方式</a:t>
            </a:r>
          </a:p>
        </p:txBody>
      </p:sp>
      <p:sp>
        <p:nvSpPr>
          <p:cNvPr id="83" name="文本框 19"/>
          <p:cNvSpPr txBox="1">
            <a:spLocks noChangeArrowheads="1"/>
          </p:cNvSpPr>
          <p:nvPr/>
        </p:nvSpPr>
        <p:spPr bwMode="auto">
          <a:xfrm>
            <a:off x="1095570" y="2479388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发挥出分页和分段管理方式各自的优点</a:t>
            </a:r>
          </a:p>
        </p:txBody>
      </p:sp>
      <p:sp>
        <p:nvSpPr>
          <p:cNvPr id="13" name="文本框 19"/>
          <p:cNvSpPr txBox="1">
            <a:spLocks noChangeArrowheads="1"/>
          </p:cNvSpPr>
          <p:nvPr/>
        </p:nvSpPr>
        <p:spPr bwMode="auto">
          <a:xfrm>
            <a:off x="1106301" y="3018151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对内存进行分页（物理块/页架）</a:t>
            </a:r>
          </a:p>
        </p:txBody>
      </p:sp>
      <p:sp>
        <p:nvSpPr>
          <p:cNvPr id="14" name="文本框 19"/>
          <p:cNvSpPr txBox="1">
            <a:spLocks noChangeArrowheads="1"/>
          </p:cNvSpPr>
          <p:nvPr/>
        </p:nvSpPr>
        <p:spPr bwMode="auto">
          <a:xfrm>
            <a:off x="1106301" y="3556914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对用户作业先分段，各段再分页。</a:t>
            </a: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25064"/>
              </p:ext>
            </p:extLst>
          </p:nvPr>
        </p:nvGraphicFramePr>
        <p:xfrm>
          <a:off x="495776" y="4095677"/>
          <a:ext cx="9144000" cy="428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055767" imgH="1433256" progId="Visio.Drawing.11">
                  <p:embed/>
                </p:oleObj>
              </mc:Choice>
              <mc:Fallback>
                <p:oleObj name="Visio" r:id="rId4" imgW="3055767" imgH="1433256" progId="Visio.Drawing.11">
                  <p:embed/>
                  <p:pic>
                    <p:nvPicPr>
                      <p:cNvPr id="194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" y="4095677"/>
                        <a:ext cx="9144000" cy="428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39" y="1129258"/>
            <a:ext cx="1474692" cy="52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3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）地址变换机构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1938601"/>
            <a:ext cx="10158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逻辑地址</a:t>
            </a:r>
            <a:r>
              <a:rPr lang="en-US" altLang="zh-CN" sz="2400" dirty="0"/>
              <a:t>=</a:t>
            </a:r>
            <a:r>
              <a:rPr lang="zh-CN" altLang="en-US" sz="2400" dirty="0"/>
              <a:t>段号</a:t>
            </a:r>
            <a:r>
              <a:rPr lang="en-US" altLang="zh-CN" sz="2400" dirty="0"/>
              <a:t>+</a:t>
            </a:r>
            <a:r>
              <a:rPr lang="zh-CN" altLang="en-US" sz="2400" dirty="0"/>
              <a:t>段内页号</a:t>
            </a:r>
            <a:r>
              <a:rPr lang="en-US" altLang="zh-CN" sz="2400" dirty="0"/>
              <a:t>+</a:t>
            </a:r>
            <a:r>
              <a:rPr lang="zh-CN" altLang="en-US" sz="2400" dirty="0"/>
              <a:t>页内地址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段页式存储管理方式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327" y="207459"/>
            <a:ext cx="5614613" cy="12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3544434" y="2381795"/>
            <a:ext cx="2438400" cy="762000"/>
            <a:chOff x="0" y="0"/>
            <a:chExt cx="1536" cy="480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0" y="240"/>
              <a:ext cx="720" cy="24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段表大小</a:t>
              </a:r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720" y="240"/>
              <a:ext cx="816" cy="24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段表始址</a:t>
              </a:r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259" y="0"/>
              <a:ext cx="10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段表寄存器</a:t>
              </a:r>
            </a:p>
          </p:txBody>
        </p:sp>
      </p:grpSp>
      <p:grpSp>
        <p:nvGrpSpPr>
          <p:cNvPr id="19" name="Group 6"/>
          <p:cNvGrpSpPr>
            <a:grpSpLocks/>
          </p:cNvGrpSpPr>
          <p:nvPr/>
        </p:nvGrpSpPr>
        <p:grpSpPr bwMode="auto">
          <a:xfrm>
            <a:off x="3436484" y="3883570"/>
            <a:ext cx="3671887" cy="2160587"/>
            <a:chOff x="0" y="0"/>
            <a:chExt cx="2313" cy="1361"/>
          </a:xfrm>
        </p:grpSpPr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2313" cy="1361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段号  状态  页表大小  页表始址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0         1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1         1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2         1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3         0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4         1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20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8"/>
            <p:cNvSpPr>
              <a:spLocks noChangeShapeType="1"/>
            </p:cNvSpPr>
            <p:nvPr/>
          </p:nvSpPr>
          <p:spPr bwMode="auto">
            <a:xfrm>
              <a:off x="0" y="199"/>
              <a:ext cx="231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9"/>
            <p:cNvSpPr>
              <a:spLocks noChangeShapeType="1"/>
            </p:cNvSpPr>
            <p:nvPr/>
          </p:nvSpPr>
          <p:spPr bwMode="auto">
            <a:xfrm>
              <a:off x="0" y="398"/>
              <a:ext cx="231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auto">
            <a:xfrm>
              <a:off x="0" y="589"/>
              <a:ext cx="231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0" y="771"/>
              <a:ext cx="231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>
              <a:off x="0" y="952"/>
              <a:ext cx="231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3"/>
            <p:cNvSpPr>
              <a:spLocks noChangeShapeType="1"/>
            </p:cNvSpPr>
            <p:nvPr/>
          </p:nvSpPr>
          <p:spPr bwMode="auto">
            <a:xfrm>
              <a:off x="0" y="1170"/>
              <a:ext cx="231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408" y="0"/>
              <a:ext cx="0" cy="136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5"/>
            <p:cNvSpPr>
              <a:spLocks noChangeShapeType="1"/>
            </p:cNvSpPr>
            <p:nvPr/>
          </p:nvSpPr>
          <p:spPr bwMode="auto">
            <a:xfrm>
              <a:off x="817" y="0"/>
              <a:ext cx="0" cy="136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>
              <a:off x="1542" y="0"/>
              <a:ext cx="0" cy="136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5" name="AutoShape 17"/>
          <p:cNvCxnSpPr>
            <a:cxnSpLocks noChangeShapeType="1"/>
            <a:stCxn id="17" idx="3"/>
            <a:endCxn id="36" idx="0"/>
          </p:cNvCxnSpPr>
          <p:nvPr/>
        </p:nvCxnSpPr>
        <p:spPr bwMode="auto">
          <a:xfrm flipH="1">
            <a:off x="3831771" y="2953295"/>
            <a:ext cx="2151063" cy="930275"/>
          </a:xfrm>
          <a:prstGeom prst="bentConnector4">
            <a:avLst>
              <a:gd name="adj1" fmla="val -10625"/>
              <a:gd name="adj2" fmla="val 60241"/>
            </a:avLst>
          </a:prstGeom>
          <a:noFill/>
          <a:ln w="9525">
            <a:solidFill>
              <a:schemeClr val="hlink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3292021" y="3883570"/>
            <a:ext cx="107950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7" name="Group 19"/>
          <p:cNvGrpSpPr>
            <a:grpSpLocks/>
          </p:cNvGrpSpPr>
          <p:nvPr/>
        </p:nvGrpSpPr>
        <p:grpSpPr bwMode="auto">
          <a:xfrm>
            <a:off x="7684634" y="2010320"/>
            <a:ext cx="2303462" cy="1800225"/>
            <a:chOff x="0" y="0"/>
            <a:chExt cx="1451" cy="1134"/>
          </a:xfrm>
        </p:grpSpPr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0" y="0"/>
              <a:ext cx="1451" cy="113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页号  状态  存储块#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0         1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1         1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2         1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3         0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4         1</a:t>
              </a:r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>
              <a:off x="0" y="182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0" y="363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0" y="545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>
              <a:off x="0" y="771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>
              <a:off x="0" y="953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6"/>
            <p:cNvSpPr>
              <a:spLocks noChangeShapeType="1"/>
            </p:cNvSpPr>
            <p:nvPr/>
          </p:nvSpPr>
          <p:spPr bwMode="auto">
            <a:xfrm>
              <a:off x="408" y="0"/>
              <a:ext cx="0" cy="113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auto">
            <a:xfrm>
              <a:off x="816" y="0"/>
              <a:ext cx="0" cy="113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Group 28"/>
          <p:cNvGrpSpPr>
            <a:grpSpLocks/>
          </p:cNvGrpSpPr>
          <p:nvPr/>
        </p:nvGrpSpPr>
        <p:grpSpPr bwMode="auto">
          <a:xfrm>
            <a:off x="7900534" y="4459832"/>
            <a:ext cx="2303462" cy="1800225"/>
            <a:chOff x="0" y="0"/>
            <a:chExt cx="1451" cy="1134"/>
          </a:xfrm>
        </p:grpSpPr>
        <p:sp>
          <p:nvSpPr>
            <p:cNvPr id="48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451" cy="113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页号  状态  存储块#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20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20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20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20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20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0" y="182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1"/>
            <p:cNvSpPr>
              <a:spLocks noChangeShapeType="1"/>
            </p:cNvSpPr>
            <p:nvPr/>
          </p:nvSpPr>
          <p:spPr bwMode="auto">
            <a:xfrm>
              <a:off x="0" y="363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2"/>
            <p:cNvSpPr>
              <a:spLocks noChangeShapeType="1"/>
            </p:cNvSpPr>
            <p:nvPr/>
          </p:nvSpPr>
          <p:spPr bwMode="auto">
            <a:xfrm>
              <a:off x="0" y="545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3"/>
            <p:cNvSpPr>
              <a:spLocks noChangeShapeType="1"/>
            </p:cNvSpPr>
            <p:nvPr/>
          </p:nvSpPr>
          <p:spPr bwMode="auto">
            <a:xfrm>
              <a:off x="0" y="771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4"/>
            <p:cNvSpPr>
              <a:spLocks noChangeShapeType="1"/>
            </p:cNvSpPr>
            <p:nvPr/>
          </p:nvSpPr>
          <p:spPr bwMode="auto">
            <a:xfrm>
              <a:off x="0" y="953"/>
              <a:ext cx="145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5"/>
            <p:cNvSpPr>
              <a:spLocks noChangeShapeType="1"/>
            </p:cNvSpPr>
            <p:nvPr/>
          </p:nvSpPr>
          <p:spPr bwMode="auto">
            <a:xfrm>
              <a:off x="408" y="0"/>
              <a:ext cx="0" cy="113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6"/>
            <p:cNvSpPr>
              <a:spLocks noChangeShapeType="1"/>
            </p:cNvSpPr>
            <p:nvPr/>
          </p:nvSpPr>
          <p:spPr bwMode="auto">
            <a:xfrm>
              <a:off x="816" y="0"/>
              <a:ext cx="0" cy="113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" name="Group 37"/>
          <p:cNvGrpSpPr>
            <a:grpSpLocks/>
          </p:cNvGrpSpPr>
          <p:nvPr/>
        </p:nvGrpSpPr>
        <p:grpSpPr bwMode="auto">
          <a:xfrm>
            <a:off x="10635796" y="1794420"/>
            <a:ext cx="1225550" cy="4897437"/>
            <a:chOff x="0" y="0"/>
            <a:chExt cx="772" cy="3085"/>
          </a:xfrm>
        </p:grpSpPr>
        <p:sp>
          <p:nvSpPr>
            <p:cNvPr id="58" name="Rectangle 38"/>
            <p:cNvSpPr>
              <a:spLocks noChangeArrowheads="1"/>
            </p:cNvSpPr>
            <p:nvPr/>
          </p:nvSpPr>
          <p:spPr bwMode="auto">
            <a:xfrm>
              <a:off x="0" y="0"/>
              <a:ext cx="772" cy="3085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39"/>
            <p:cNvSpPr>
              <a:spLocks noChangeShapeType="1"/>
            </p:cNvSpPr>
            <p:nvPr/>
          </p:nvSpPr>
          <p:spPr bwMode="auto">
            <a:xfrm>
              <a:off x="0" y="182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0" y="363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>
              <a:off x="0" y="545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42"/>
            <p:cNvSpPr>
              <a:spLocks noChangeShapeType="1"/>
            </p:cNvSpPr>
            <p:nvPr/>
          </p:nvSpPr>
          <p:spPr bwMode="auto">
            <a:xfrm>
              <a:off x="0" y="726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43"/>
            <p:cNvSpPr>
              <a:spLocks noChangeShapeType="1"/>
            </p:cNvSpPr>
            <p:nvPr/>
          </p:nvSpPr>
          <p:spPr bwMode="auto">
            <a:xfrm>
              <a:off x="0" y="907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44"/>
            <p:cNvSpPr>
              <a:spLocks noChangeShapeType="1"/>
            </p:cNvSpPr>
            <p:nvPr/>
          </p:nvSpPr>
          <p:spPr bwMode="auto">
            <a:xfrm>
              <a:off x="0" y="1089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45"/>
            <p:cNvSpPr>
              <a:spLocks noChangeShapeType="1"/>
            </p:cNvSpPr>
            <p:nvPr/>
          </p:nvSpPr>
          <p:spPr bwMode="auto">
            <a:xfrm>
              <a:off x="0" y="1270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46"/>
            <p:cNvSpPr>
              <a:spLocks noChangeShapeType="1"/>
            </p:cNvSpPr>
            <p:nvPr/>
          </p:nvSpPr>
          <p:spPr bwMode="auto">
            <a:xfrm>
              <a:off x="0" y="1452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47"/>
            <p:cNvSpPr>
              <a:spLocks noChangeShapeType="1"/>
            </p:cNvSpPr>
            <p:nvPr/>
          </p:nvSpPr>
          <p:spPr bwMode="auto">
            <a:xfrm>
              <a:off x="0" y="1633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48"/>
            <p:cNvSpPr>
              <a:spLocks noChangeShapeType="1"/>
            </p:cNvSpPr>
            <p:nvPr/>
          </p:nvSpPr>
          <p:spPr bwMode="auto">
            <a:xfrm>
              <a:off x="0" y="1815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49"/>
            <p:cNvSpPr>
              <a:spLocks noChangeShapeType="1"/>
            </p:cNvSpPr>
            <p:nvPr/>
          </p:nvSpPr>
          <p:spPr bwMode="auto">
            <a:xfrm>
              <a:off x="0" y="1996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50"/>
            <p:cNvSpPr>
              <a:spLocks noChangeShapeType="1"/>
            </p:cNvSpPr>
            <p:nvPr/>
          </p:nvSpPr>
          <p:spPr bwMode="auto">
            <a:xfrm>
              <a:off x="0" y="2178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1"/>
            <p:cNvSpPr>
              <a:spLocks noChangeShapeType="1"/>
            </p:cNvSpPr>
            <p:nvPr/>
          </p:nvSpPr>
          <p:spPr bwMode="auto">
            <a:xfrm>
              <a:off x="0" y="2359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52"/>
            <p:cNvSpPr>
              <a:spLocks noChangeShapeType="1"/>
            </p:cNvSpPr>
            <p:nvPr/>
          </p:nvSpPr>
          <p:spPr bwMode="auto">
            <a:xfrm>
              <a:off x="0" y="2540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53"/>
            <p:cNvSpPr>
              <a:spLocks noChangeShapeType="1"/>
            </p:cNvSpPr>
            <p:nvPr/>
          </p:nvSpPr>
          <p:spPr bwMode="auto">
            <a:xfrm>
              <a:off x="0" y="2722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54"/>
            <p:cNvSpPr>
              <a:spLocks noChangeShapeType="1"/>
            </p:cNvSpPr>
            <p:nvPr/>
          </p:nvSpPr>
          <p:spPr bwMode="auto">
            <a:xfrm>
              <a:off x="0" y="2903"/>
              <a:ext cx="772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" name="Line 55"/>
          <p:cNvSpPr>
            <a:spLocks noChangeShapeType="1"/>
          </p:cNvSpPr>
          <p:nvPr/>
        </p:nvSpPr>
        <p:spPr bwMode="auto">
          <a:xfrm flipV="1">
            <a:off x="6892471" y="2010320"/>
            <a:ext cx="792163" cy="23764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56"/>
          <p:cNvSpPr>
            <a:spLocks noChangeShapeType="1"/>
          </p:cNvSpPr>
          <p:nvPr/>
        </p:nvSpPr>
        <p:spPr bwMode="auto">
          <a:xfrm flipV="1">
            <a:off x="6819446" y="4459832"/>
            <a:ext cx="1081088" cy="2159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57"/>
          <p:cNvSpPr>
            <a:spLocks noChangeShapeType="1"/>
          </p:cNvSpPr>
          <p:nvPr/>
        </p:nvSpPr>
        <p:spPr bwMode="auto">
          <a:xfrm flipV="1">
            <a:off x="9845221" y="2226220"/>
            <a:ext cx="863600" cy="217487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58"/>
          <p:cNvSpPr>
            <a:spLocks noChangeShapeType="1"/>
          </p:cNvSpPr>
          <p:nvPr/>
        </p:nvSpPr>
        <p:spPr bwMode="auto">
          <a:xfrm flipV="1">
            <a:off x="9845221" y="2731045"/>
            <a:ext cx="863600" cy="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59"/>
          <p:cNvSpPr>
            <a:spLocks noChangeShapeType="1"/>
          </p:cNvSpPr>
          <p:nvPr/>
        </p:nvSpPr>
        <p:spPr bwMode="auto">
          <a:xfrm>
            <a:off x="9845221" y="3019970"/>
            <a:ext cx="935038" cy="71437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60"/>
          <p:cNvSpPr>
            <a:spLocks noChangeShapeType="1"/>
          </p:cNvSpPr>
          <p:nvPr/>
        </p:nvSpPr>
        <p:spPr bwMode="auto">
          <a:xfrm flipV="1">
            <a:off x="9845221" y="3451770"/>
            <a:ext cx="863600" cy="217487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61"/>
          <p:cNvSpPr>
            <a:spLocks noChangeShapeType="1"/>
          </p:cNvSpPr>
          <p:nvPr/>
        </p:nvSpPr>
        <p:spPr bwMode="auto">
          <a:xfrm flipV="1">
            <a:off x="10061121" y="4818607"/>
            <a:ext cx="792163" cy="74613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62"/>
          <p:cNvSpPr>
            <a:spLocks noChangeShapeType="1"/>
          </p:cNvSpPr>
          <p:nvPr/>
        </p:nvSpPr>
        <p:spPr bwMode="auto">
          <a:xfrm flipV="1">
            <a:off x="10061121" y="4243932"/>
            <a:ext cx="719138" cy="1296988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63"/>
          <p:cNvSpPr>
            <a:spLocks noChangeShapeType="1"/>
          </p:cNvSpPr>
          <p:nvPr/>
        </p:nvSpPr>
        <p:spPr bwMode="auto">
          <a:xfrm>
            <a:off x="10061121" y="6044157"/>
            <a:ext cx="863600" cy="142875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6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）地址变换机构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段页式存储管理方式</a:t>
            </a:r>
          </a:p>
        </p:txBody>
      </p:sp>
      <p:sp>
        <p:nvSpPr>
          <p:cNvPr id="83" name="Rectangle 2"/>
          <p:cNvSpPr>
            <a:spLocks noChangeArrowheads="1"/>
          </p:cNvSpPr>
          <p:nvPr/>
        </p:nvSpPr>
        <p:spPr bwMode="auto">
          <a:xfrm>
            <a:off x="7894480" y="2732851"/>
            <a:ext cx="1008063" cy="377825"/>
          </a:xfrm>
          <a:prstGeom prst="rect">
            <a:avLst/>
          </a:prstGeom>
          <a:solidFill>
            <a:schemeClr val="accent2"/>
          </a:solidFill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页内地址</a:t>
            </a:r>
          </a:p>
        </p:txBody>
      </p:sp>
      <p:grpSp>
        <p:nvGrpSpPr>
          <p:cNvPr id="85" name="Group 4"/>
          <p:cNvGrpSpPr>
            <a:grpSpLocks/>
          </p:cNvGrpSpPr>
          <p:nvPr/>
        </p:nvGrpSpPr>
        <p:grpSpPr bwMode="auto">
          <a:xfrm>
            <a:off x="1412718" y="2355026"/>
            <a:ext cx="2438400" cy="762000"/>
            <a:chOff x="0" y="0"/>
            <a:chExt cx="1536" cy="480"/>
          </a:xfrm>
        </p:grpSpPr>
        <p:sp>
          <p:nvSpPr>
            <p:cNvPr id="86" name="Rectangle 5"/>
            <p:cNvSpPr>
              <a:spLocks noChangeArrowheads="1"/>
            </p:cNvSpPr>
            <p:nvPr/>
          </p:nvSpPr>
          <p:spPr bwMode="auto">
            <a:xfrm>
              <a:off x="0" y="240"/>
              <a:ext cx="720" cy="24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段表始址</a:t>
              </a:r>
            </a:p>
          </p:txBody>
        </p:sp>
        <p:sp>
          <p:nvSpPr>
            <p:cNvPr id="87" name="Rectangle 6"/>
            <p:cNvSpPr>
              <a:spLocks noChangeArrowheads="1"/>
            </p:cNvSpPr>
            <p:nvPr/>
          </p:nvSpPr>
          <p:spPr bwMode="auto">
            <a:xfrm>
              <a:off x="720" y="240"/>
              <a:ext cx="816" cy="24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段表长度</a:t>
              </a:r>
            </a:p>
          </p:txBody>
        </p:sp>
        <p:sp>
          <p:nvSpPr>
            <p:cNvPr id="88" name="Text Box 7"/>
            <p:cNvSpPr txBox="1">
              <a:spLocks noChangeArrowheads="1"/>
            </p:cNvSpPr>
            <p:nvPr/>
          </p:nvSpPr>
          <p:spPr bwMode="auto">
            <a:xfrm>
              <a:off x="340" y="0"/>
              <a:ext cx="9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段表寄存器</a:t>
              </a:r>
            </a:p>
          </p:txBody>
        </p:sp>
      </p:grpSp>
      <p:sp>
        <p:nvSpPr>
          <p:cNvPr id="89" name="Oval 8"/>
          <p:cNvSpPr>
            <a:spLocks noChangeArrowheads="1"/>
          </p:cNvSpPr>
          <p:nvPr/>
        </p:nvSpPr>
        <p:spPr bwMode="auto">
          <a:xfrm>
            <a:off x="4384518" y="2736026"/>
            <a:ext cx="457200" cy="442912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﹥</a:t>
            </a:r>
          </a:p>
        </p:txBody>
      </p:sp>
      <p:grpSp>
        <p:nvGrpSpPr>
          <p:cNvPr id="90" name="Group 9"/>
          <p:cNvGrpSpPr>
            <a:grpSpLocks/>
          </p:cNvGrpSpPr>
          <p:nvPr/>
        </p:nvGrpSpPr>
        <p:grpSpPr bwMode="auto">
          <a:xfrm>
            <a:off x="5679918" y="2355026"/>
            <a:ext cx="2209800" cy="762000"/>
            <a:chOff x="0" y="0"/>
            <a:chExt cx="1392" cy="480"/>
          </a:xfrm>
        </p:grpSpPr>
        <p:sp>
          <p:nvSpPr>
            <p:cNvPr id="91" name="Rectangle 10"/>
            <p:cNvSpPr>
              <a:spLocks noChangeArrowheads="1"/>
            </p:cNvSpPr>
            <p:nvPr/>
          </p:nvSpPr>
          <p:spPr bwMode="auto">
            <a:xfrm>
              <a:off x="0" y="240"/>
              <a:ext cx="672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段号  s</a:t>
              </a:r>
            </a:p>
          </p:txBody>
        </p:sp>
        <p:sp>
          <p:nvSpPr>
            <p:cNvPr id="92" name="Rectangle 11"/>
            <p:cNvSpPr>
              <a:spLocks noChangeArrowheads="1"/>
            </p:cNvSpPr>
            <p:nvPr/>
          </p:nvSpPr>
          <p:spPr bwMode="auto">
            <a:xfrm>
              <a:off x="672" y="240"/>
              <a:ext cx="72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页号P</a:t>
              </a:r>
            </a:p>
          </p:txBody>
        </p:sp>
        <p:sp>
          <p:nvSpPr>
            <p:cNvPr id="93" name="Text Box 12"/>
            <p:cNvSpPr txBox="1">
              <a:spLocks noChangeArrowheads="1"/>
            </p:cNvSpPr>
            <p:nvPr/>
          </p:nvSpPr>
          <p:spPr bwMode="auto">
            <a:xfrm>
              <a:off x="301" y="0"/>
              <a:ext cx="76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逻辑地址</a:t>
              </a:r>
            </a:p>
          </p:txBody>
        </p:sp>
      </p:grpSp>
      <p:sp>
        <p:nvSpPr>
          <p:cNvPr id="94" name="未知"/>
          <p:cNvSpPr>
            <a:spLocks/>
          </p:cNvSpPr>
          <p:nvPr/>
        </p:nvSpPr>
        <p:spPr bwMode="auto">
          <a:xfrm>
            <a:off x="1946119" y="3712337"/>
            <a:ext cx="773112" cy="1800225"/>
          </a:xfrm>
          <a:custGeom>
            <a:avLst/>
            <a:gdLst>
              <a:gd name="T0" fmla="*/ 0 w 1248"/>
              <a:gd name="T1" fmla="*/ 0 h 1392"/>
              <a:gd name="T2" fmla="*/ 0 w 1248"/>
              <a:gd name="T3" fmla="*/ 2147483647 h 1392"/>
              <a:gd name="T4" fmla="*/ 2147483647 w 1248"/>
              <a:gd name="T5" fmla="*/ 2147483647 h 13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8" h="1392">
                <a:moveTo>
                  <a:pt x="0" y="0"/>
                </a:moveTo>
                <a:lnTo>
                  <a:pt x="0" y="1392"/>
                </a:lnTo>
                <a:lnTo>
                  <a:pt x="1248" y="13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14"/>
          <p:cNvSpPr>
            <a:spLocks noChangeShapeType="1"/>
          </p:cNvSpPr>
          <p:nvPr/>
        </p:nvSpPr>
        <p:spPr bwMode="auto">
          <a:xfrm flipV="1">
            <a:off x="4613118" y="2431226"/>
            <a:ext cx="0" cy="304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AutoShape 15"/>
          <p:cNvSpPr>
            <a:spLocks noChangeArrowheads="1"/>
          </p:cNvSpPr>
          <p:nvPr/>
        </p:nvSpPr>
        <p:spPr bwMode="auto">
          <a:xfrm>
            <a:off x="1793718" y="3407538"/>
            <a:ext cx="304800" cy="304800"/>
          </a:xfrm>
          <a:prstGeom prst="flowChartOr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Line 16"/>
          <p:cNvSpPr>
            <a:spLocks noChangeShapeType="1"/>
          </p:cNvSpPr>
          <p:nvPr/>
        </p:nvSpPr>
        <p:spPr bwMode="auto">
          <a:xfrm>
            <a:off x="1946118" y="3102738"/>
            <a:ext cx="0" cy="304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未知"/>
          <p:cNvSpPr>
            <a:spLocks/>
          </p:cNvSpPr>
          <p:nvPr/>
        </p:nvSpPr>
        <p:spPr bwMode="auto">
          <a:xfrm>
            <a:off x="2098518" y="3102738"/>
            <a:ext cx="4114800" cy="457200"/>
          </a:xfrm>
          <a:custGeom>
            <a:avLst/>
            <a:gdLst>
              <a:gd name="T0" fmla="*/ 2147483647 w 2592"/>
              <a:gd name="T1" fmla="*/ 0 h 192"/>
              <a:gd name="T2" fmla="*/ 2147483647 w 2592"/>
              <a:gd name="T3" fmla="*/ 2147483647 h 192"/>
              <a:gd name="T4" fmla="*/ 0 w 2592"/>
              <a:gd name="T5" fmla="*/ 2147483647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92" h="192">
                <a:moveTo>
                  <a:pt x="2592" y="0"/>
                </a:moveTo>
                <a:lnTo>
                  <a:pt x="2592" y="192"/>
                </a:lnTo>
                <a:lnTo>
                  <a:pt x="0" y="1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18"/>
          <p:cNvSpPr>
            <a:spLocks noChangeShapeType="1"/>
          </p:cNvSpPr>
          <p:nvPr/>
        </p:nvSpPr>
        <p:spPr bwMode="auto">
          <a:xfrm flipV="1">
            <a:off x="4613118" y="3178938"/>
            <a:ext cx="0" cy="3810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Box 19"/>
          <p:cNvSpPr txBox="1">
            <a:spLocks noChangeArrowheads="1"/>
          </p:cNvSpPr>
          <p:nvPr/>
        </p:nvSpPr>
        <p:spPr bwMode="auto">
          <a:xfrm>
            <a:off x="4023699" y="2188338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越界中断</a:t>
            </a:r>
          </a:p>
        </p:txBody>
      </p:sp>
      <p:sp>
        <p:nvSpPr>
          <p:cNvPr id="101" name="Line 20"/>
          <p:cNvSpPr>
            <a:spLocks noChangeShapeType="1"/>
          </p:cNvSpPr>
          <p:nvPr/>
        </p:nvSpPr>
        <p:spPr bwMode="auto">
          <a:xfrm>
            <a:off x="3851118" y="2950338"/>
            <a:ext cx="533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" name="Group 21"/>
          <p:cNvGrpSpPr>
            <a:grpSpLocks/>
          </p:cNvGrpSpPr>
          <p:nvPr/>
        </p:nvGrpSpPr>
        <p:grpSpPr bwMode="auto">
          <a:xfrm>
            <a:off x="2601755" y="3888551"/>
            <a:ext cx="2328863" cy="2305049"/>
            <a:chOff x="0" y="0"/>
            <a:chExt cx="1467" cy="1452"/>
          </a:xfrm>
        </p:grpSpPr>
        <p:sp>
          <p:nvSpPr>
            <p:cNvPr id="103" name="Text Box 22"/>
            <p:cNvSpPr txBox="1">
              <a:spLocks noChangeArrowheads="1"/>
            </p:cNvSpPr>
            <p:nvPr/>
          </p:nvSpPr>
          <p:spPr bwMode="auto">
            <a:xfrm>
              <a:off x="510" y="1200"/>
              <a:ext cx="4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段表</a:t>
              </a:r>
            </a:p>
          </p:txBody>
        </p:sp>
        <p:grpSp>
          <p:nvGrpSpPr>
            <p:cNvPr id="104" name="Group 23"/>
            <p:cNvGrpSpPr>
              <a:grpSpLocks/>
            </p:cNvGrpSpPr>
            <p:nvPr/>
          </p:nvGrpSpPr>
          <p:grpSpPr bwMode="auto">
            <a:xfrm>
              <a:off x="0" y="0"/>
              <a:ext cx="1467" cy="1160"/>
              <a:chOff x="0" y="0"/>
              <a:chExt cx="1467" cy="1160"/>
            </a:xfrm>
          </p:grpSpPr>
          <p:sp>
            <p:nvSpPr>
              <p:cNvPr id="105" name="Rectangle 24"/>
              <p:cNvSpPr>
                <a:spLocks noChangeArrowheads="1"/>
              </p:cNvSpPr>
              <p:nvPr/>
            </p:nvSpPr>
            <p:spPr bwMode="auto">
              <a:xfrm>
                <a:off x="912" y="1"/>
                <a:ext cx="48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基址</a:t>
                </a:r>
              </a:p>
            </p:txBody>
          </p:sp>
          <p:sp>
            <p:nvSpPr>
              <p:cNvPr id="106" name="Rectangle 25"/>
              <p:cNvSpPr>
                <a:spLocks noChangeArrowheads="1"/>
              </p:cNvSpPr>
              <p:nvPr/>
            </p:nvSpPr>
            <p:spPr bwMode="auto">
              <a:xfrm>
                <a:off x="432" y="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段长</a:t>
                </a:r>
              </a:p>
            </p:txBody>
          </p:sp>
          <p:sp>
            <p:nvSpPr>
              <p:cNvPr id="107" name="Rectangle 26"/>
              <p:cNvSpPr>
                <a:spLocks noChangeArrowheads="1"/>
              </p:cNvSpPr>
              <p:nvPr/>
            </p:nvSpPr>
            <p:spPr bwMode="auto">
              <a:xfrm>
                <a:off x="864" y="921"/>
                <a:ext cx="52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chemeClr val="tx1"/>
                    </a:solidFill>
                  </a:rPr>
                  <a:t>150K</a:t>
                </a:r>
              </a:p>
            </p:txBody>
          </p:sp>
          <p:sp>
            <p:nvSpPr>
              <p:cNvPr id="108" name="Rectangle 27"/>
              <p:cNvSpPr>
                <a:spLocks noChangeArrowheads="1"/>
              </p:cNvSpPr>
              <p:nvPr/>
            </p:nvSpPr>
            <p:spPr bwMode="auto">
              <a:xfrm>
                <a:off x="360" y="92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chemeClr val="tx1"/>
                    </a:solidFill>
                  </a:rPr>
                  <a:t>35K</a:t>
                </a:r>
              </a:p>
            </p:txBody>
          </p:sp>
          <p:sp>
            <p:nvSpPr>
              <p:cNvPr id="109" name="Rectangle 28"/>
              <p:cNvSpPr>
                <a:spLocks noChangeArrowheads="1"/>
              </p:cNvSpPr>
              <p:nvPr/>
            </p:nvSpPr>
            <p:spPr bwMode="auto">
              <a:xfrm>
                <a:off x="864" y="691"/>
                <a:ext cx="603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500K</a:t>
                </a:r>
              </a:p>
            </p:txBody>
          </p:sp>
          <p:sp>
            <p:nvSpPr>
              <p:cNvPr id="110" name="Rectangle 29"/>
              <p:cNvSpPr>
                <a:spLocks noChangeArrowheads="1"/>
              </p:cNvSpPr>
              <p:nvPr/>
            </p:nvSpPr>
            <p:spPr bwMode="auto">
              <a:xfrm>
                <a:off x="360" y="69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chemeClr val="tx1"/>
                    </a:solidFill>
                  </a:rPr>
                  <a:t>9K</a:t>
                </a:r>
              </a:p>
            </p:txBody>
          </p:sp>
          <p:sp>
            <p:nvSpPr>
              <p:cNvPr id="111" name="Rectangle 30"/>
              <p:cNvSpPr>
                <a:spLocks noChangeArrowheads="1"/>
              </p:cNvSpPr>
              <p:nvPr/>
            </p:nvSpPr>
            <p:spPr bwMode="auto">
              <a:xfrm>
                <a:off x="864" y="461"/>
                <a:ext cx="57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300</a:t>
                </a:r>
                <a:r>
                  <a:rPr lang="zh-CN" altLang="zh-CN" sz="2000" dirty="0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112" name="Rectangle 31"/>
              <p:cNvSpPr>
                <a:spLocks noChangeArrowheads="1"/>
              </p:cNvSpPr>
              <p:nvPr/>
            </p:nvSpPr>
            <p:spPr bwMode="auto">
              <a:xfrm>
                <a:off x="360" y="46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chemeClr val="tx1"/>
                    </a:solidFill>
                  </a:rPr>
                  <a:t>20K</a:t>
                </a:r>
              </a:p>
            </p:txBody>
          </p:sp>
          <p:sp>
            <p:nvSpPr>
              <p:cNvPr id="113" name="Rectangle 32"/>
              <p:cNvSpPr>
                <a:spLocks noChangeArrowheads="1"/>
              </p:cNvSpPr>
              <p:nvPr/>
            </p:nvSpPr>
            <p:spPr bwMode="auto">
              <a:xfrm>
                <a:off x="864" y="231"/>
                <a:ext cx="52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dirty="0">
                    <a:solidFill>
                      <a:schemeClr val="tx1"/>
                    </a:solidFill>
                  </a:rPr>
                  <a:t>100K</a:t>
                </a:r>
              </a:p>
            </p:txBody>
          </p:sp>
          <p:sp>
            <p:nvSpPr>
              <p:cNvPr id="114" name="Rectangle 33"/>
              <p:cNvSpPr>
                <a:spLocks noChangeArrowheads="1"/>
              </p:cNvSpPr>
              <p:nvPr/>
            </p:nvSpPr>
            <p:spPr bwMode="auto">
              <a:xfrm>
                <a:off x="360" y="231"/>
                <a:ext cx="45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dirty="0">
                    <a:solidFill>
                      <a:schemeClr val="tx1"/>
                    </a:solidFill>
                  </a:rPr>
                  <a:t>42K</a:t>
                </a:r>
              </a:p>
            </p:txBody>
          </p:sp>
          <p:sp>
            <p:nvSpPr>
              <p:cNvPr id="115" name="Line 34"/>
              <p:cNvSpPr>
                <a:spLocks noChangeShapeType="1"/>
              </p:cNvSpPr>
              <p:nvPr/>
            </p:nvSpPr>
            <p:spPr bwMode="auto">
              <a:xfrm>
                <a:off x="144" y="46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35"/>
              <p:cNvSpPr>
                <a:spLocks noChangeShapeType="1"/>
              </p:cNvSpPr>
              <p:nvPr/>
            </p:nvSpPr>
            <p:spPr bwMode="auto">
              <a:xfrm>
                <a:off x="144" y="69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36"/>
              <p:cNvSpPr>
                <a:spLocks noChangeShapeType="1"/>
              </p:cNvSpPr>
              <p:nvPr/>
            </p:nvSpPr>
            <p:spPr bwMode="auto">
              <a:xfrm>
                <a:off x="144" y="92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37"/>
              <p:cNvSpPr>
                <a:spLocks noChangeShapeType="1"/>
              </p:cNvSpPr>
              <p:nvPr/>
            </p:nvSpPr>
            <p:spPr bwMode="auto">
              <a:xfrm>
                <a:off x="144" y="1152"/>
                <a:ext cx="1200" cy="0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38"/>
              <p:cNvSpPr>
                <a:spLocks noChangeShapeType="1"/>
              </p:cNvSpPr>
              <p:nvPr/>
            </p:nvSpPr>
            <p:spPr bwMode="auto">
              <a:xfrm>
                <a:off x="144" y="231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39"/>
              <p:cNvSpPr>
                <a:spLocks noChangeShapeType="1"/>
              </p:cNvSpPr>
              <p:nvPr/>
            </p:nvSpPr>
            <p:spPr bwMode="auto">
              <a:xfrm>
                <a:off x="816" y="231"/>
                <a:ext cx="0" cy="921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40"/>
              <p:cNvSpPr>
                <a:spLocks noChangeShapeType="1"/>
              </p:cNvSpPr>
              <p:nvPr/>
            </p:nvSpPr>
            <p:spPr bwMode="auto">
              <a:xfrm>
                <a:off x="1344" y="231"/>
                <a:ext cx="0" cy="921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Rectangle 41"/>
              <p:cNvSpPr>
                <a:spLocks noChangeArrowheads="1"/>
              </p:cNvSpPr>
              <p:nvPr/>
            </p:nvSpPr>
            <p:spPr bwMode="auto">
              <a:xfrm>
                <a:off x="48" y="93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23" name="Rectangle 42"/>
              <p:cNvSpPr>
                <a:spLocks noChangeArrowheads="1"/>
              </p:cNvSpPr>
              <p:nvPr/>
            </p:nvSpPr>
            <p:spPr bwMode="auto">
              <a:xfrm>
                <a:off x="48" y="70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24" name="Rectangle 43"/>
              <p:cNvSpPr>
                <a:spLocks noChangeArrowheads="1"/>
              </p:cNvSpPr>
              <p:nvPr/>
            </p:nvSpPr>
            <p:spPr bwMode="auto">
              <a:xfrm>
                <a:off x="48" y="47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5" name="Rectangle 44"/>
              <p:cNvSpPr>
                <a:spLocks noChangeArrowheads="1"/>
              </p:cNvSpPr>
              <p:nvPr/>
            </p:nvSpPr>
            <p:spPr bwMode="auto">
              <a:xfrm>
                <a:off x="48" y="24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26" name="Line 45"/>
              <p:cNvSpPr>
                <a:spLocks noChangeShapeType="1"/>
              </p:cNvSpPr>
              <p:nvPr/>
            </p:nvSpPr>
            <p:spPr bwMode="auto">
              <a:xfrm>
                <a:off x="336" y="240"/>
                <a:ext cx="0" cy="912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Rectangle 4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8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°"/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±"/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²"/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anose="05000000000000000000" pitchFamily="2" charset="2"/>
                  <a:buChar char="l"/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zh-CN" sz="2000" b="1" dirty="0">
                    <a:solidFill>
                      <a:schemeClr val="tx1"/>
                    </a:solidFill>
                  </a:rPr>
                  <a:t>段号</a:t>
                </a:r>
              </a:p>
            </p:txBody>
          </p:sp>
        </p:grpSp>
      </p:grpSp>
      <p:sp>
        <p:nvSpPr>
          <p:cNvPr id="128" name="AutoShape 47"/>
          <p:cNvSpPr>
            <a:spLocks noChangeArrowheads="1"/>
          </p:cNvSpPr>
          <p:nvPr/>
        </p:nvSpPr>
        <p:spPr bwMode="auto">
          <a:xfrm>
            <a:off x="5265580" y="5007738"/>
            <a:ext cx="304800" cy="304800"/>
          </a:xfrm>
          <a:prstGeom prst="flowChartOr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°"/>
              <a:defRPr sz="32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±"/>
              <a:defRPr sz="28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²"/>
              <a:defRPr sz="24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l"/>
              <a:defRPr sz="2000">
                <a:solidFill>
                  <a:schemeClr val="bg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9" name="Group 48"/>
          <p:cNvGrpSpPr>
            <a:grpSpLocks/>
          </p:cNvGrpSpPr>
          <p:nvPr/>
        </p:nvGrpSpPr>
        <p:grpSpPr bwMode="auto">
          <a:xfrm>
            <a:off x="8973980" y="4648963"/>
            <a:ext cx="1606550" cy="1327150"/>
            <a:chOff x="0" y="0"/>
            <a:chExt cx="1012" cy="836"/>
          </a:xfrm>
        </p:grpSpPr>
        <p:sp>
          <p:nvSpPr>
            <p:cNvPr id="130" name="Rectangle 49"/>
            <p:cNvSpPr>
              <a:spLocks noChangeArrowheads="1"/>
            </p:cNvSpPr>
            <p:nvPr/>
          </p:nvSpPr>
          <p:spPr bwMode="auto">
            <a:xfrm>
              <a:off x="0" y="0"/>
              <a:ext cx="672" cy="9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" name="Rectangle 50"/>
            <p:cNvSpPr>
              <a:spLocks noChangeArrowheads="1"/>
            </p:cNvSpPr>
            <p:nvPr/>
          </p:nvSpPr>
          <p:spPr bwMode="auto">
            <a:xfrm>
              <a:off x="0" y="96"/>
              <a:ext cx="67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2" name="Rectangle 51"/>
            <p:cNvSpPr>
              <a:spLocks noChangeArrowheads="1"/>
            </p:cNvSpPr>
            <p:nvPr/>
          </p:nvSpPr>
          <p:spPr bwMode="auto">
            <a:xfrm>
              <a:off x="0" y="288"/>
              <a:ext cx="672" cy="9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" name="Rectangle 52"/>
            <p:cNvSpPr>
              <a:spLocks noChangeArrowheads="1"/>
            </p:cNvSpPr>
            <p:nvPr/>
          </p:nvSpPr>
          <p:spPr bwMode="auto">
            <a:xfrm>
              <a:off x="0" y="384"/>
              <a:ext cx="672" cy="38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Text Box 53"/>
            <p:cNvSpPr txBox="1">
              <a:spLocks noChangeArrowheads="1"/>
            </p:cNvSpPr>
            <p:nvPr/>
          </p:nvSpPr>
          <p:spPr bwMode="auto">
            <a:xfrm>
              <a:off x="896" y="624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35" name="AutoShape 54"/>
          <p:cNvCxnSpPr>
            <a:cxnSpLocks noChangeShapeType="1"/>
            <a:stCxn id="92" idx="2"/>
            <a:endCxn id="128" idx="0"/>
          </p:cNvCxnSpPr>
          <p:nvPr/>
        </p:nvCxnSpPr>
        <p:spPr bwMode="auto">
          <a:xfrm rot="5400000">
            <a:off x="5422743" y="3112263"/>
            <a:ext cx="1890712" cy="1900238"/>
          </a:xfrm>
          <a:prstGeom prst="bentConnector3">
            <a:avLst>
              <a:gd name="adj1" fmla="val 49958"/>
            </a:avLst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6" name="Line 55"/>
          <p:cNvSpPr>
            <a:spLocks noChangeShapeType="1"/>
          </p:cNvSpPr>
          <p:nvPr/>
        </p:nvSpPr>
        <p:spPr bwMode="auto">
          <a:xfrm flipV="1">
            <a:off x="4617880" y="5152201"/>
            <a:ext cx="647700" cy="3603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7" name="Group 56"/>
          <p:cNvGrpSpPr>
            <a:grpSpLocks/>
          </p:cNvGrpSpPr>
          <p:nvPr/>
        </p:nvGrpSpPr>
        <p:grpSpPr bwMode="auto">
          <a:xfrm>
            <a:off x="5925197" y="4269551"/>
            <a:ext cx="1713696" cy="1884580"/>
            <a:chOff x="0" y="-108"/>
            <a:chExt cx="862" cy="1197"/>
          </a:xfrm>
        </p:grpSpPr>
        <p:sp>
          <p:nvSpPr>
            <p:cNvPr id="138" name="Rectangle 57"/>
            <p:cNvSpPr>
              <a:spLocks noChangeArrowheads="1"/>
            </p:cNvSpPr>
            <p:nvPr/>
          </p:nvSpPr>
          <p:spPr bwMode="auto">
            <a:xfrm>
              <a:off x="0" y="-108"/>
              <a:ext cx="862" cy="1197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2550" indent="-825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页号 物理块号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      b   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            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                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000" dirty="0">
                  <a:solidFill>
                    <a:srgbClr val="66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                 </a:t>
              </a:r>
            </a:p>
          </p:txBody>
        </p:sp>
        <p:sp>
          <p:nvSpPr>
            <p:cNvPr id="139" name="Line 58"/>
            <p:cNvSpPr>
              <a:spLocks noChangeShapeType="1"/>
            </p:cNvSpPr>
            <p:nvPr/>
          </p:nvSpPr>
          <p:spPr bwMode="auto">
            <a:xfrm>
              <a:off x="0" y="181"/>
              <a:ext cx="86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59"/>
            <p:cNvSpPr>
              <a:spLocks noChangeShapeType="1"/>
            </p:cNvSpPr>
            <p:nvPr/>
          </p:nvSpPr>
          <p:spPr bwMode="auto">
            <a:xfrm>
              <a:off x="0" y="363"/>
              <a:ext cx="86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60"/>
            <p:cNvSpPr>
              <a:spLocks noChangeShapeType="1"/>
            </p:cNvSpPr>
            <p:nvPr/>
          </p:nvSpPr>
          <p:spPr bwMode="auto">
            <a:xfrm>
              <a:off x="0" y="544"/>
              <a:ext cx="86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61"/>
            <p:cNvSpPr>
              <a:spLocks noChangeShapeType="1"/>
            </p:cNvSpPr>
            <p:nvPr/>
          </p:nvSpPr>
          <p:spPr bwMode="auto">
            <a:xfrm>
              <a:off x="0" y="726"/>
              <a:ext cx="86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62"/>
            <p:cNvSpPr>
              <a:spLocks noChangeShapeType="1"/>
            </p:cNvSpPr>
            <p:nvPr/>
          </p:nvSpPr>
          <p:spPr bwMode="auto">
            <a:xfrm>
              <a:off x="0" y="907"/>
              <a:ext cx="86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63"/>
            <p:cNvSpPr>
              <a:spLocks noChangeShapeType="1"/>
            </p:cNvSpPr>
            <p:nvPr/>
          </p:nvSpPr>
          <p:spPr bwMode="auto">
            <a:xfrm>
              <a:off x="272" y="0"/>
              <a:ext cx="0" cy="1089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5" name="Line 64"/>
          <p:cNvSpPr>
            <a:spLocks noChangeShapeType="1"/>
          </p:cNvSpPr>
          <p:nvPr/>
        </p:nvSpPr>
        <p:spPr bwMode="auto">
          <a:xfrm>
            <a:off x="5552918" y="5152201"/>
            <a:ext cx="360362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6" name="Group 65"/>
          <p:cNvGrpSpPr>
            <a:grpSpLocks/>
          </p:cNvGrpSpPr>
          <p:nvPr/>
        </p:nvGrpSpPr>
        <p:grpSpPr bwMode="auto">
          <a:xfrm>
            <a:off x="7461093" y="6088826"/>
            <a:ext cx="1871662" cy="360362"/>
            <a:chOff x="0" y="0"/>
            <a:chExt cx="1179" cy="227"/>
          </a:xfrm>
        </p:grpSpPr>
        <p:sp>
          <p:nvSpPr>
            <p:cNvPr id="147" name="Rectangle 66"/>
            <p:cNvSpPr>
              <a:spLocks noChangeArrowheads="1"/>
            </p:cNvSpPr>
            <p:nvPr/>
          </p:nvSpPr>
          <p:spPr bwMode="auto">
            <a:xfrm>
              <a:off x="0" y="0"/>
              <a:ext cx="1179" cy="227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°"/>
                <a:defRPr sz="32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±"/>
                <a:defRPr sz="28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²"/>
                <a:defRPr sz="24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anose="05000000000000000000" pitchFamily="2" charset="2"/>
                <a:buChar char="l"/>
                <a:defRPr sz="2000">
                  <a:solidFill>
                    <a:schemeClr val="bg2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2400">
                  <a:solidFill>
                    <a:srgbClr val="660066"/>
                  </a:solidFill>
                  <a:latin typeface="楷体_GB2312" pitchFamily="1" charset="-122"/>
                </a:rPr>
                <a:t> b 块内地址</a:t>
              </a:r>
            </a:p>
          </p:txBody>
        </p:sp>
        <p:sp>
          <p:nvSpPr>
            <p:cNvPr id="148" name="Line 67"/>
            <p:cNvSpPr>
              <a:spLocks noChangeShapeType="1"/>
            </p:cNvSpPr>
            <p:nvPr/>
          </p:nvSpPr>
          <p:spPr bwMode="auto">
            <a:xfrm>
              <a:off x="318" y="0"/>
              <a:ext cx="0" cy="227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9" name="Line 68"/>
          <p:cNvSpPr>
            <a:spLocks noChangeShapeType="1"/>
          </p:cNvSpPr>
          <p:nvPr/>
        </p:nvSpPr>
        <p:spPr bwMode="auto">
          <a:xfrm>
            <a:off x="7165817" y="5258563"/>
            <a:ext cx="523876" cy="8302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diamond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" name="Line 69"/>
          <p:cNvSpPr>
            <a:spLocks noChangeShapeType="1"/>
          </p:cNvSpPr>
          <p:nvPr/>
        </p:nvSpPr>
        <p:spPr bwMode="auto">
          <a:xfrm>
            <a:off x="8397718" y="2991613"/>
            <a:ext cx="25400" cy="309721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51" name="AutoShape 70"/>
          <p:cNvCxnSpPr>
            <a:cxnSpLocks noChangeShapeType="1"/>
            <a:stCxn id="147" idx="3"/>
            <a:endCxn id="132" idx="1"/>
          </p:cNvCxnSpPr>
          <p:nvPr/>
        </p:nvCxnSpPr>
        <p:spPr bwMode="auto">
          <a:xfrm flipH="1" flipV="1">
            <a:off x="8973980" y="5182363"/>
            <a:ext cx="358775" cy="1087438"/>
          </a:xfrm>
          <a:prstGeom prst="bentConnector5">
            <a:avLst>
              <a:gd name="adj1" fmla="val -63718"/>
              <a:gd name="adj2" fmla="val 27153"/>
              <a:gd name="adj3" fmla="val 163718"/>
            </a:avLst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7743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）优缺点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段页式存储管理方式</a:t>
            </a:r>
          </a:p>
        </p:txBody>
      </p:sp>
      <p:sp>
        <p:nvSpPr>
          <p:cNvPr id="79" name="文本框 19"/>
          <p:cNvSpPr txBox="1">
            <a:spLocks noChangeArrowheads="1"/>
          </p:cNvSpPr>
          <p:nvPr/>
        </p:nvSpPr>
        <p:spPr bwMode="auto">
          <a:xfrm>
            <a:off x="1090267" y="1938601"/>
            <a:ext cx="1015830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800" dirty="0"/>
              <a:t>同时具备分段和分页管理的优点：分散存储，内存利用率较高；便于代码或数据共享，支持动态链接等。</a:t>
            </a:r>
          </a:p>
        </p:txBody>
      </p:sp>
      <p:sp>
        <p:nvSpPr>
          <p:cNvPr id="80" name="文本框 19"/>
          <p:cNvSpPr txBox="1">
            <a:spLocks noChangeArrowheads="1"/>
          </p:cNvSpPr>
          <p:nvPr/>
        </p:nvSpPr>
        <p:spPr bwMode="auto">
          <a:xfrm>
            <a:off x="1126144" y="2928128"/>
            <a:ext cx="101583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zh-CN" sz="2800" dirty="0"/>
              <a:t>访问效率下降：三次访问</a:t>
            </a:r>
            <a:r>
              <a:rPr lang="zh-CN" altLang="en-US" sz="2800" dirty="0"/>
              <a:t>内存</a:t>
            </a:r>
          </a:p>
        </p:txBody>
      </p:sp>
    </p:spTree>
    <p:extLst>
      <p:ext uri="{BB962C8B-B14F-4D97-AF65-F5344CB8AC3E}">
        <p14:creationId xmlns:p14="http://schemas.microsoft.com/office/powerpoint/2010/main" val="251840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34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10168</TotalTime>
  <Words>1009</Words>
  <Application>Microsoft Office PowerPoint</Application>
  <PresentationFormat>宽屏</PresentationFormat>
  <Paragraphs>266</Paragraphs>
  <Slides>15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Gill Sans</vt:lpstr>
      <vt:lpstr>等线</vt:lpstr>
      <vt:lpstr>等线 Light</vt:lpstr>
      <vt:lpstr>方正清刻本悦宋简体</vt:lpstr>
      <vt:lpstr>楷体_GB2312</vt:lpstr>
      <vt:lpstr>微软雅黑</vt:lpstr>
      <vt:lpstr>Arial</vt:lpstr>
      <vt:lpstr>Calibri</vt:lpstr>
      <vt:lpstr>Impact</vt:lpstr>
      <vt:lpstr>Open Sans Light</vt:lpstr>
      <vt:lpstr>Tahoma</vt:lpstr>
      <vt:lpstr>Times New Roman</vt:lpstr>
      <vt:lpstr>Wingdings</vt:lpstr>
      <vt:lpstr>Office 主题​​</vt:lpstr>
      <vt:lpstr>1_Office 主题​​</vt:lpstr>
      <vt:lpstr>2_Office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264</cp:revision>
  <dcterms:created xsi:type="dcterms:W3CDTF">2016-05-18T19:05:46Z</dcterms:created>
  <dcterms:modified xsi:type="dcterms:W3CDTF">2023-11-01T08:03:58Z</dcterms:modified>
</cp:coreProperties>
</file>