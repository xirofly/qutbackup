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328" r:id="rId2"/>
    <p:sldId id="308" r:id="rId3"/>
    <p:sldId id="305" r:id="rId4"/>
    <p:sldId id="306" r:id="rId5"/>
    <p:sldId id="307" r:id="rId6"/>
    <p:sldId id="309" r:id="rId7"/>
    <p:sldId id="310" r:id="rId8"/>
    <p:sldId id="311" r:id="rId9"/>
    <p:sldId id="312" r:id="rId10"/>
    <p:sldId id="313" r:id="rId11"/>
    <p:sldId id="315" r:id="rId12"/>
    <p:sldId id="317" r:id="rId13"/>
    <p:sldId id="316" r:id="rId14"/>
    <p:sldId id="318" r:id="rId15"/>
    <p:sldId id="319" r:id="rId16"/>
    <p:sldId id="320" r:id="rId17"/>
    <p:sldId id="330" r:id="rId18"/>
    <p:sldId id="321" r:id="rId19"/>
    <p:sldId id="331" r:id="rId20"/>
    <p:sldId id="332" r:id="rId21"/>
    <p:sldId id="333" r:id="rId22"/>
    <p:sldId id="329"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4" d="100"/>
          <a:sy n="74" d="100"/>
        </p:scale>
        <p:origin x="540" y="54"/>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B093AD-7C06-486F-9754-D5B73F7C37DE}" type="datetimeFigureOut">
              <a:rPr lang="zh-CN" altLang="en-US" smtClean="0"/>
              <a:pPr/>
              <a:t>2023-09-14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3EDE87-FC43-4F0C-9C51-E666AB0AC5F3}" type="slidenum">
              <a:rPr lang="zh-CN" altLang="en-US" smtClean="0"/>
              <a:pPr/>
              <a:t>‹#›</a:t>
            </a:fld>
            <a:endParaRPr lang="zh-CN" altLang="en-US"/>
          </a:p>
        </p:txBody>
      </p:sp>
    </p:spTree>
    <p:extLst>
      <p:ext uri="{BB962C8B-B14F-4D97-AF65-F5344CB8AC3E}">
        <p14:creationId xmlns:p14="http://schemas.microsoft.com/office/powerpoint/2010/main" val="1640440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zh-CN"/>
              <a:t>Bradley Hand ITC</a:t>
            </a:r>
            <a:endParaRPr lang="zh-CN" altLang="en-US"/>
          </a:p>
        </p:txBody>
      </p:sp>
      <p:sp>
        <p:nvSpPr>
          <p:cNvPr id="215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7A22D08D-015A-4468-8FD6-8EC1A3ED6E35}" type="slidenum">
              <a:rPr lang="zh-CN" altLang="en-US">
                <a:latin typeface="等线" panose="02010600030101010101" pitchFamily="2" charset="-122"/>
                <a:ea typeface="等线" panose="02010600030101010101" pitchFamily="2" charset="-122"/>
              </a:rPr>
              <a:pPr fontAlgn="base">
                <a:spcBef>
                  <a:spcPct val="0"/>
                </a:spcBef>
                <a:spcAft>
                  <a:spcPct val="0"/>
                </a:spcAft>
              </a:pPr>
              <a:t>3</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11992623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zh-CN"/>
              <a:t>Bradley Hand ITC</a:t>
            </a:r>
            <a:endParaRPr lang="zh-CN" altLang="en-US"/>
          </a:p>
        </p:txBody>
      </p:sp>
      <p:sp>
        <p:nvSpPr>
          <p:cNvPr id="1741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5AA28E8A-D0A8-466C-B898-4C3B2CED2983}" type="slidenum">
              <a:rPr lang="zh-CN" altLang="en-US">
                <a:latin typeface="等线" panose="02010600030101010101" pitchFamily="2" charset="-122"/>
                <a:ea typeface="等线" panose="02010600030101010101" pitchFamily="2" charset="-122"/>
              </a:rPr>
              <a:pPr fontAlgn="base">
                <a:spcBef>
                  <a:spcPct val="0"/>
                </a:spcBef>
                <a:spcAft>
                  <a:spcPct val="0"/>
                </a:spcAft>
              </a:pPr>
              <a:t>4</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523561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zh-CN"/>
              <a:t>Bradley Hand ITC</a:t>
            </a:r>
            <a:endParaRPr lang="zh-CN" altLang="en-US"/>
          </a:p>
        </p:txBody>
      </p:sp>
      <p:sp>
        <p:nvSpPr>
          <p:cNvPr id="1741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5AA28E8A-D0A8-466C-B898-4C3B2CED2983}" type="slidenum">
              <a:rPr lang="zh-CN" altLang="en-US">
                <a:latin typeface="等线" panose="02010600030101010101" pitchFamily="2" charset="-122"/>
                <a:ea typeface="等线" panose="02010600030101010101" pitchFamily="2" charset="-122"/>
              </a:rPr>
              <a:pPr fontAlgn="base">
                <a:spcBef>
                  <a:spcPct val="0"/>
                </a:spcBef>
                <a:spcAft>
                  <a:spcPct val="0"/>
                </a:spcAft>
              </a:pPr>
              <a:t>5</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5235617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6</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7</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8</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9</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zh-CN"/>
              <a:t>Bradley Hand ITC</a:t>
            </a:r>
            <a:endParaRPr lang="zh-CN" altLang="en-US"/>
          </a:p>
        </p:txBody>
      </p:sp>
      <p:sp>
        <p:nvSpPr>
          <p:cNvPr id="4198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096A42E5-3499-406E-AB3C-E4664DB81CFE}" type="slidenum">
              <a:rPr lang="zh-CN" altLang="en-US">
                <a:latin typeface="等线" panose="02010600030101010101" pitchFamily="2" charset="-122"/>
                <a:ea typeface="等线" panose="02010600030101010101" pitchFamily="2" charset="-122"/>
              </a:rPr>
              <a:pPr fontAlgn="base">
                <a:spcBef>
                  <a:spcPct val="0"/>
                </a:spcBef>
                <a:spcAft>
                  <a:spcPct val="0"/>
                </a:spcAft>
              </a:pPr>
              <a:t>10</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482206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11</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14</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12214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363D4AD-47D3-4916-8A19-F3E2250E6173}" type="slidenum">
              <a:rPr lang="zh-CN" altLang="en-US" smtClean="0"/>
              <a:pPr/>
              <a:t>15</a:t>
            </a:fld>
            <a:endParaRPr lang="zh-CN" altLang="en-US"/>
          </a:p>
        </p:txBody>
      </p:sp>
    </p:spTree>
    <p:extLst>
      <p:ext uri="{BB962C8B-B14F-4D97-AF65-F5344CB8AC3E}">
        <p14:creationId xmlns:p14="http://schemas.microsoft.com/office/powerpoint/2010/main" val="36724410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363D4AD-47D3-4916-8A19-F3E2250E6173}" type="slidenum">
              <a:rPr lang="zh-CN" altLang="en-US" smtClean="0"/>
              <a:pPr/>
              <a:t>16</a:t>
            </a:fld>
            <a:endParaRPr lang="zh-CN" altLang="en-US"/>
          </a:p>
        </p:txBody>
      </p:sp>
    </p:spTree>
    <p:extLst>
      <p:ext uri="{BB962C8B-B14F-4D97-AF65-F5344CB8AC3E}">
        <p14:creationId xmlns:p14="http://schemas.microsoft.com/office/powerpoint/2010/main" val="3672441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17</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42535838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19</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13361179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20</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3967450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zh-CN" altLang="en-US"/>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FA553631-FEE4-4B2E-AE53-F2F88C36C22F}" type="slidenum">
              <a:rPr lang="zh-CN" altLang="en-US">
                <a:latin typeface="等线" panose="02010600030101010101" pitchFamily="2" charset="-122"/>
                <a:ea typeface="等线" panose="02010600030101010101" pitchFamily="2" charset="-122"/>
              </a:rPr>
              <a:pPr fontAlgn="base">
                <a:spcBef>
                  <a:spcPct val="0"/>
                </a:spcBef>
                <a:spcAft>
                  <a:spcPct val="0"/>
                </a:spcAft>
              </a:pPr>
              <a:t>21</a:t>
            </a:fld>
            <a:endParaRPr lang="zh-CN" altLang="en-US">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9007306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模板来自于 </a:t>
            </a:r>
            <a:r>
              <a:rPr lang="en-US" altLang="zh-CN"/>
              <a:t>http://www.ypppt.com</a:t>
            </a:r>
            <a:endParaRPr lang="zh-CN" altLang="en-US" dirty="0"/>
          </a:p>
        </p:txBody>
      </p:sp>
      <p:sp>
        <p:nvSpPr>
          <p:cNvPr id="61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fontAlgn="base">
              <a:spcBef>
                <a:spcPct val="0"/>
              </a:spcBef>
              <a:spcAft>
                <a:spcPct val="0"/>
              </a:spcAft>
            </a:pPr>
            <a:fld id="{E5ED1824-6DB2-4029-B0DF-1D3CDCF11CDA}" type="slidenum">
              <a:rPr lang="zh-CN" altLang="en-US" smtClean="0">
                <a:solidFill>
                  <a:prstClr val="black"/>
                </a:solidFill>
                <a:latin typeface="Calibri" panose="020F0502020204030204" pitchFamily="34" charset="0"/>
                <a:ea typeface="宋体" panose="02010600030101010101" pitchFamily="2" charset="-122"/>
              </a:rPr>
              <a:pPr fontAlgn="base">
                <a:spcBef>
                  <a:spcPct val="0"/>
                </a:spcBef>
                <a:spcAft>
                  <a:spcPct val="0"/>
                </a:spcAft>
              </a:pPr>
              <a:t>22</a:t>
            </a:fld>
            <a:endParaRPr lang="zh-CN" altLang="en-US">
              <a:solidFill>
                <a:prstClr val="black"/>
              </a:solidFill>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563724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2023-09-14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336232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2023-09-14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147481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2023-09-14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000202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2023-09-14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431143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400E00-5D83-46E2-B18B-6027595511CC}" type="datetimeFigureOut">
              <a:rPr lang="zh-CN" altLang="en-US" smtClean="0"/>
              <a:pPr/>
              <a:t>2023-09-14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886203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400E00-5D83-46E2-B18B-6027595511CC}" type="datetimeFigureOut">
              <a:rPr lang="zh-CN" altLang="en-US" smtClean="0"/>
              <a:pPr/>
              <a:t>2023-09-14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83971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C400E00-5D83-46E2-B18B-6027595511CC}" type="datetimeFigureOut">
              <a:rPr lang="zh-CN" altLang="en-US" smtClean="0"/>
              <a:pPr/>
              <a:t>2023-09-14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02064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2023-09-14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093247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2023-09-14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25305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2023-09-14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201350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2023-09-14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0953898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spTree>
    <p:extLst>
      <p:ext uri="{BB962C8B-B14F-4D97-AF65-F5344CB8AC3E}">
        <p14:creationId xmlns:p14="http://schemas.microsoft.com/office/powerpoint/2010/main" val="2876168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AEA"/>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400E00-5D83-46E2-B18B-6027595511CC}" type="datetimeFigureOut">
              <a:rPr lang="zh-CN" altLang="en-US" smtClean="0"/>
              <a:pPr/>
              <a:t>2023-09-14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8795437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gif"/><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news.mydrivers.com/img/20080409/06061349.jpg" TargetMode="External"/><Relationship Id="rId5" Type="http://schemas.openxmlformats.org/officeDocument/2006/relationships/image" Target="../media/image5.emf"/><Relationship Id="rId4" Type="http://schemas.openxmlformats.org/officeDocument/2006/relationships/image" Target="../media/image4.jpe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13.emf"/><Relationship Id="rId18" Type="http://schemas.openxmlformats.org/officeDocument/2006/relationships/oleObject" Target="../embeddings/oleObject9.bin"/><Relationship Id="rId3" Type="http://schemas.openxmlformats.org/officeDocument/2006/relationships/image" Target="../media/image3.gif"/><Relationship Id="rId7" Type="http://schemas.openxmlformats.org/officeDocument/2006/relationships/image" Target="../media/image10.emf"/><Relationship Id="rId12" Type="http://schemas.openxmlformats.org/officeDocument/2006/relationships/oleObject" Target="../embeddings/oleObject5.bin"/><Relationship Id="rId17" Type="http://schemas.openxmlformats.org/officeDocument/2006/relationships/oleObject" Target="../embeddings/oleObject8.bin"/><Relationship Id="rId2" Type="http://schemas.openxmlformats.org/officeDocument/2006/relationships/notesSlide" Target="../notesSlides/notesSlide3.xml"/><Relationship Id="rId16"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oleObject" Target="../embeddings/oleObject2.bin"/><Relationship Id="rId11" Type="http://schemas.openxmlformats.org/officeDocument/2006/relationships/image" Target="../media/image12.emf"/><Relationship Id="rId5" Type="http://schemas.openxmlformats.org/officeDocument/2006/relationships/image" Target="../media/image9.emf"/><Relationship Id="rId15" Type="http://schemas.openxmlformats.org/officeDocument/2006/relationships/image" Target="../media/image14.e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11.emf"/><Relationship Id="rId14"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gif"/></Relationships>
</file>

<file path=ppt/slides/_rels/slide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images.google.cn/imgres?imgurl=http://www.kzeng.info/files/windows_vista_002-ig%5b4%5d.jpg&amp;imgrefurl=http://www.kzeng.info/blog/kzeng?page=8&amp;h=474&amp;w=640&amp;sz=64&amp;hl=zh-CN&amp;start=3&amp;usg=__00kkkf8-PoIdUIwt6Ihizr8qsgg=&amp;tbnid=SogAbFmlL-09rM:&amp;tbnh=101&amp;tbnw=137&amp;prev=/images?q=windows&amp;gbv=2&amp;hl=zh-CN&amp;newwindow=1" TargetMode="External"/><Relationship Id="rId3" Type="http://schemas.openxmlformats.org/officeDocument/2006/relationships/image" Target="../media/image16.png"/><Relationship Id="rId7" Type="http://schemas.openxmlformats.org/officeDocument/2006/relationships/image" Target="../media/image18.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image.baidu.com/i?ct=503316480&amp;z=0&amp;tn=baiduimagedetail&amp;word=%C6%BB%B9%FB+logo&amp;in=22173&amp;cl=2&amp;cm=1&amp;sc=0&amp;lm=-1&amp;pn=13&amp;rn=1&amp;di=3091540908&amp;ln=2000&amp;fr=" TargetMode="External"/><Relationship Id="rId11" Type="http://schemas.openxmlformats.org/officeDocument/2006/relationships/image" Target="../media/image20.jpeg"/><Relationship Id="rId5" Type="http://schemas.openxmlformats.org/officeDocument/2006/relationships/image" Target="../media/image17.jpeg"/><Relationship Id="rId10" Type="http://schemas.openxmlformats.org/officeDocument/2006/relationships/hyperlink" Target="http://images.google.cn/imgres?imgurl=http://www.apcmag.com/site/wp-content/uploads/2006/07/suse-logo.jpg&amp;imgrefurl=http://apcmag.com/ultimate_desktop_search_suse_linux_enterprise_desktop_10_and_beagle.htm&amp;h=116&amp;w=120&amp;sz=4&amp;hl=zh-CN&amp;start=3&amp;usg=__-hwySQ0jHgfQe9xYkIvitEhH_xs=&amp;tbnid=vMMtRow_GEQE_M:&amp;tbnh=85&amp;tbnw=88&amp;prev=/images?q=suse+logo&amp;gbv=2&amp;hl=zh-CN&amp;newwindow=1" TargetMode="External"/><Relationship Id="rId4" Type="http://schemas.openxmlformats.org/officeDocument/2006/relationships/hyperlink" Target="http://images.google.cn/imgres?imgurl=http://blogs.zdnet.com/security/images/red_hat_logo_big.jpg&amp;imgrefurl=http://blogs.zdnet.com/security/?p=1784&amp;h=396&amp;w=360&amp;sz=63&amp;hl=zh-CN&amp;start=1&amp;usg=__D4weMyCSw7RjR2CGOqPz3E6cd-E=&amp;tbnid=mw3P22rAAis9PM:&amp;tbnh=124&amp;tbnw=113&amp;prev=/images?q=red+hat&amp;gbv=2&amp;hl=zh-CN&amp;newwindow=1" TargetMode="External"/><Relationship Id="rId9" Type="http://schemas.openxmlformats.org/officeDocument/2006/relationships/image" Target="../media/image19.jpeg"/></Relationships>
</file>

<file path=ppt/slides/_rels/slide1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4.jpg"/></Relationships>
</file>

<file path=ppt/slides/_rels/slide18.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image" Target="../media/image26.jpeg"/><Relationship Id="rId7" Type="http://schemas.openxmlformats.org/officeDocument/2006/relationships/image" Target="../media/image30.jpeg"/><Relationship Id="rId12" Type="http://schemas.openxmlformats.org/officeDocument/2006/relationships/image" Target="../media/image35.jpeg"/><Relationship Id="rId2" Type="http://schemas.openxmlformats.org/officeDocument/2006/relationships/image" Target="../media/image25.jpeg"/><Relationship Id="rId1" Type="http://schemas.openxmlformats.org/officeDocument/2006/relationships/slideLayout" Target="../slideLayouts/slideLayout7.xml"/><Relationship Id="rId6" Type="http://schemas.openxmlformats.org/officeDocument/2006/relationships/image" Target="../media/image29.jpeg"/><Relationship Id="rId11" Type="http://schemas.openxmlformats.org/officeDocument/2006/relationships/image" Target="../media/image34.jpeg"/><Relationship Id="rId5" Type="http://schemas.openxmlformats.org/officeDocument/2006/relationships/image" Target="../media/image28.jpeg"/><Relationship Id="rId10" Type="http://schemas.openxmlformats.org/officeDocument/2006/relationships/image" Target="../media/image33.jpeg"/><Relationship Id="rId4" Type="http://schemas.openxmlformats.org/officeDocument/2006/relationships/image" Target="../media/image27.jpeg"/><Relationship Id="rId9" Type="http://schemas.openxmlformats.org/officeDocument/2006/relationships/image" Target="../media/image32.jpe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rotWithShape="1">
          <a:blip r:embed="rId2" cstate="print"/>
          <a:srcRect r="42146" b="48018"/>
          <a:stretch/>
        </p:blipFill>
        <p:spPr>
          <a:xfrm>
            <a:off x="7346062" y="2511276"/>
            <a:ext cx="4845938" cy="4346724"/>
          </a:xfrm>
          <a:prstGeom prst="rect">
            <a:avLst/>
          </a:prstGeom>
        </p:spPr>
      </p:pic>
      <p:sp>
        <p:nvSpPr>
          <p:cNvPr id="13" name="Rectangle 5"/>
          <p:cNvSpPr>
            <a:spLocks noChangeArrowheads="1"/>
          </p:cNvSpPr>
          <p:nvPr/>
        </p:nvSpPr>
        <p:spPr bwMode="auto">
          <a:xfrm>
            <a:off x="2472862" y="2048669"/>
            <a:ext cx="7246275" cy="2760663"/>
          </a:xfrm>
          <a:prstGeom prst="rect">
            <a:avLst/>
          </a:prstGeom>
          <a:noFill/>
          <a:ln w="38100" cap="flat">
            <a:solidFill>
              <a:srgbClr val="3D735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7" name="图片 16"/>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sp>
        <p:nvSpPr>
          <p:cNvPr id="6" name="文本框 5"/>
          <p:cNvSpPr txBox="1"/>
          <p:nvPr/>
        </p:nvSpPr>
        <p:spPr>
          <a:xfrm>
            <a:off x="4595747" y="2251341"/>
            <a:ext cx="3109978" cy="938719"/>
          </a:xfrm>
          <a:prstGeom prst="rect">
            <a:avLst/>
          </a:prstGeom>
          <a:noFill/>
        </p:spPr>
        <p:txBody>
          <a:bodyPr wrap="square" rtlCol="0">
            <a:spAutoFit/>
          </a:bodyPr>
          <a:lstStyle/>
          <a:p>
            <a:r>
              <a:rPr lang="zh-CN" altLang="en-US" sz="5500" dirty="0">
                <a:solidFill>
                  <a:srgbClr val="3D7351"/>
                </a:solidFill>
                <a:latin typeface="方正清刻本悦宋简体" panose="02000000000000000000" pitchFamily="2" charset="-122"/>
                <a:ea typeface="方正清刻本悦宋简体" panose="02000000000000000000" pitchFamily="2" charset="-122"/>
              </a:rPr>
              <a:t>操作系统</a:t>
            </a:r>
          </a:p>
        </p:txBody>
      </p:sp>
      <p:sp>
        <p:nvSpPr>
          <p:cNvPr id="8" name="文本框 7"/>
          <p:cNvSpPr txBox="1"/>
          <p:nvPr/>
        </p:nvSpPr>
        <p:spPr>
          <a:xfrm>
            <a:off x="3939822" y="3912068"/>
            <a:ext cx="4417602" cy="276999"/>
          </a:xfrm>
          <a:prstGeom prst="rect">
            <a:avLst/>
          </a:prstGeom>
          <a:noFill/>
        </p:spPr>
        <p:txBody>
          <a:bodyPr wrap="square" rtlCol="0">
            <a:spAutoFit/>
          </a:bodyPr>
          <a:lstStyle/>
          <a:p>
            <a:pPr algn="dist"/>
            <a:r>
              <a:rPr lang="en-US" altLang="zh-CN" sz="1200" dirty="0">
                <a:solidFill>
                  <a:srgbClr val="3D7351"/>
                </a:solidFill>
                <a:latin typeface="微软雅黑" panose="020B0503020204020204" pitchFamily="34" charset="-122"/>
                <a:ea typeface="微软雅黑" panose="020B0503020204020204" pitchFamily="34" charset="-122"/>
              </a:rPr>
              <a:t>OPERATING SYSTEM</a:t>
            </a:r>
            <a:endParaRPr lang="zh-CN" altLang="en-US" sz="1200" dirty="0">
              <a:solidFill>
                <a:srgbClr val="3D7351"/>
              </a:solidFill>
              <a:latin typeface="微软雅黑" panose="020B0503020204020204" pitchFamily="34" charset="-122"/>
              <a:ea typeface="微软雅黑" panose="020B0503020204020204" pitchFamily="34" charset="-122"/>
            </a:endParaRPr>
          </a:p>
        </p:txBody>
      </p:sp>
      <p:sp>
        <p:nvSpPr>
          <p:cNvPr id="9" name="文本框 32"/>
          <p:cNvSpPr txBox="1">
            <a:spLocks noChangeArrowheads="1"/>
          </p:cNvSpPr>
          <p:nvPr/>
        </p:nvSpPr>
        <p:spPr bwMode="auto">
          <a:xfrm>
            <a:off x="5512250" y="4270955"/>
            <a:ext cx="1383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1200" dirty="0">
                <a:solidFill>
                  <a:srgbClr val="3D735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主讲人：房斐斐</a:t>
            </a:r>
          </a:p>
        </p:txBody>
      </p:sp>
      <p:cxnSp>
        <p:nvCxnSpPr>
          <p:cNvPr id="11" name="直接连接符 10"/>
          <p:cNvCxnSpPr/>
          <p:nvPr/>
        </p:nvCxnSpPr>
        <p:spPr>
          <a:xfrm>
            <a:off x="4143375" y="4409454"/>
            <a:ext cx="1299913" cy="0"/>
          </a:xfrm>
          <a:prstGeom prst="line">
            <a:avLst/>
          </a:prstGeom>
          <a:ln>
            <a:solidFill>
              <a:srgbClr val="3D735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896100" y="4409454"/>
            <a:ext cx="1299913" cy="0"/>
          </a:xfrm>
          <a:prstGeom prst="line">
            <a:avLst/>
          </a:prstGeom>
          <a:ln>
            <a:solidFill>
              <a:srgbClr val="3D7351"/>
            </a:solidFill>
          </a:ln>
        </p:spPr>
        <p:style>
          <a:lnRef idx="1">
            <a:schemeClr val="accent1"/>
          </a:lnRef>
          <a:fillRef idx="0">
            <a:schemeClr val="accent1"/>
          </a:fillRef>
          <a:effectRef idx="0">
            <a:schemeClr val="accent1"/>
          </a:effectRef>
          <a:fontRef idx="minor">
            <a:schemeClr val="tx1"/>
          </a:fontRef>
        </p:style>
      </p:cxnSp>
      <p:sp>
        <p:nvSpPr>
          <p:cNvPr id="14" name="文本框 6"/>
          <p:cNvSpPr txBox="1"/>
          <p:nvPr/>
        </p:nvSpPr>
        <p:spPr>
          <a:xfrm>
            <a:off x="4130959" y="3187225"/>
            <a:ext cx="4571997" cy="584775"/>
          </a:xfrm>
          <a:prstGeom prst="rect">
            <a:avLst/>
          </a:prstGeom>
          <a:noFill/>
        </p:spPr>
        <p:txBody>
          <a:bodyPr wrap="square" rtlCol="0">
            <a:spAutoFit/>
          </a:bodyPr>
          <a:lstStyle/>
          <a:p>
            <a:r>
              <a:rPr lang="zh-CN" altLang="en-US" sz="3200" dirty="0">
                <a:solidFill>
                  <a:srgbClr val="3D7351"/>
                </a:solidFill>
                <a:latin typeface="方正清刻本悦宋简体" panose="02000000000000000000" pitchFamily="2" charset="-122"/>
                <a:ea typeface="方正清刻本悦宋简体" panose="02000000000000000000" pitchFamily="2" charset="-122"/>
              </a:rPr>
              <a:t>第一章 操作系统引论</a:t>
            </a:r>
          </a:p>
        </p:txBody>
      </p:sp>
    </p:spTree>
    <p:extLst>
      <p:ext uri="{BB962C8B-B14F-4D97-AF65-F5344CB8AC3E}">
        <p14:creationId xmlns:p14="http://schemas.microsoft.com/office/powerpoint/2010/main" val="2646257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rotWithShape="1">
          <a:blip r:embed="rId2" cstate="print"/>
          <a:srcRect r="42146" b="48018"/>
          <a:stretch/>
        </p:blipFill>
        <p:spPr>
          <a:xfrm>
            <a:off x="7346063" y="2511276"/>
            <a:ext cx="4845938" cy="4346724"/>
          </a:xfrm>
          <a:prstGeom prst="rect">
            <a:avLst/>
          </a:prstGeom>
        </p:spPr>
      </p:pic>
      <p:sp>
        <p:nvSpPr>
          <p:cNvPr id="13" name="Rectangle 5"/>
          <p:cNvSpPr>
            <a:spLocks noChangeArrowheads="1"/>
          </p:cNvSpPr>
          <p:nvPr/>
        </p:nvSpPr>
        <p:spPr bwMode="auto">
          <a:xfrm>
            <a:off x="2439936" y="1137130"/>
            <a:ext cx="7246275" cy="1733178"/>
          </a:xfrm>
          <a:prstGeom prst="rect">
            <a:avLst/>
          </a:prstGeom>
          <a:noFill/>
          <a:ln w="38100" cap="flat">
            <a:solidFill>
              <a:srgbClr val="3D735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7" name="图片 16"/>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0" y="0"/>
            <a:ext cx="5837731" cy="2166151"/>
          </a:xfrm>
          <a:prstGeom prst="rect">
            <a:avLst/>
          </a:prstGeom>
        </p:spPr>
      </p:pic>
      <p:grpSp>
        <p:nvGrpSpPr>
          <p:cNvPr id="30" name="组合 29"/>
          <p:cNvGrpSpPr/>
          <p:nvPr/>
        </p:nvGrpSpPr>
        <p:grpSpPr>
          <a:xfrm>
            <a:off x="2729551" y="1483991"/>
            <a:ext cx="6989586" cy="1104503"/>
            <a:chOff x="3621789" y="2876749"/>
            <a:chExt cx="5471412" cy="1104503"/>
          </a:xfrm>
        </p:grpSpPr>
        <p:sp>
          <p:nvSpPr>
            <p:cNvPr id="31" name="矩形 30"/>
            <p:cNvSpPr/>
            <p:nvPr/>
          </p:nvSpPr>
          <p:spPr bwMode="auto">
            <a:xfrm>
              <a:off x="4971853" y="3707291"/>
              <a:ext cx="123825" cy="123825"/>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2" name="文本框 13"/>
            <p:cNvSpPr txBox="1">
              <a:spLocks noChangeArrowheads="1"/>
            </p:cNvSpPr>
            <p:nvPr/>
          </p:nvSpPr>
          <p:spPr bwMode="auto">
            <a:xfrm>
              <a:off x="5095677" y="3596166"/>
              <a:ext cx="13778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3" name="矩形 32"/>
            <p:cNvSpPr/>
            <p:nvPr/>
          </p:nvSpPr>
          <p:spPr bwMode="auto">
            <a:xfrm>
              <a:off x="7136457" y="3705704"/>
              <a:ext cx="123825" cy="125413"/>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4" name="文本框 13"/>
            <p:cNvSpPr txBox="1">
              <a:spLocks noChangeArrowheads="1"/>
            </p:cNvSpPr>
            <p:nvPr/>
          </p:nvSpPr>
          <p:spPr bwMode="auto">
            <a:xfrm>
              <a:off x="7260281" y="3596167"/>
              <a:ext cx="12995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5" name="文本框 13"/>
            <p:cNvSpPr txBox="1">
              <a:spLocks noChangeArrowheads="1"/>
            </p:cNvSpPr>
            <p:nvPr/>
          </p:nvSpPr>
          <p:spPr bwMode="auto">
            <a:xfrm>
              <a:off x="4813114" y="2890068"/>
              <a:ext cx="428008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4000" b="1" dirty="0">
                  <a:solidFill>
                    <a:srgbClr val="595959"/>
                  </a:solidFill>
                  <a:latin typeface="微软雅黑" panose="020B0503020204020204" pitchFamily="34" charset="-122"/>
                  <a:ea typeface="微软雅黑" panose="020B0503020204020204" pitchFamily="34" charset="-122"/>
                </a:rPr>
                <a:t>操作系统的形成与发展</a:t>
              </a:r>
            </a:p>
          </p:txBody>
        </p:sp>
        <p:sp>
          <p:nvSpPr>
            <p:cNvPr id="36" name="文本框 35"/>
            <p:cNvSpPr txBox="1"/>
            <p:nvPr/>
          </p:nvSpPr>
          <p:spPr>
            <a:xfrm>
              <a:off x="3655926" y="3396477"/>
              <a:ext cx="1274156" cy="584775"/>
            </a:xfrm>
            <a:prstGeom prst="rect">
              <a:avLst/>
            </a:prstGeom>
            <a:noFill/>
          </p:spPr>
          <p:txBody>
            <a:bodyPr wrap="square" rtlCol="0">
              <a:spAutoFit/>
            </a:bodyPr>
            <a:lstStyle/>
            <a:p>
              <a:r>
                <a:rPr lang="en-US" altLang="zh-CN" sz="3200" dirty="0">
                  <a:solidFill>
                    <a:srgbClr val="708265"/>
                  </a:solidFill>
                  <a:latin typeface="Impact" panose="020B0806030902050204" pitchFamily="34" charset="0"/>
                  <a:ea typeface="微软雅黑 Light" panose="020B0502040204020203" pitchFamily="34" charset="-122"/>
                </a:rPr>
                <a:t>PART</a:t>
              </a:r>
              <a:endParaRPr lang="zh-CN" altLang="en-US" sz="3200" dirty="0">
                <a:solidFill>
                  <a:srgbClr val="708265"/>
                </a:solidFill>
                <a:latin typeface="Impact" panose="020B0806030902050204" pitchFamily="34" charset="0"/>
                <a:ea typeface="微软雅黑 Light" panose="020B0502040204020203" pitchFamily="34" charset="-122"/>
              </a:endParaRPr>
            </a:p>
          </p:txBody>
        </p:sp>
        <p:sp>
          <p:nvSpPr>
            <p:cNvPr id="37" name="文本框 36"/>
            <p:cNvSpPr txBox="1"/>
            <p:nvPr/>
          </p:nvSpPr>
          <p:spPr>
            <a:xfrm>
              <a:off x="3621789" y="2876749"/>
              <a:ext cx="1342430" cy="707886"/>
            </a:xfrm>
            <a:prstGeom prst="rect">
              <a:avLst/>
            </a:prstGeom>
            <a:noFill/>
          </p:spPr>
          <p:txBody>
            <a:bodyPr wrap="square" rtlCol="0">
              <a:spAutoFit/>
            </a:bodyPr>
            <a:lstStyle/>
            <a:p>
              <a:r>
                <a:rPr lang="en-US" altLang="zh-CN" sz="4000" dirty="0">
                  <a:solidFill>
                    <a:srgbClr val="708265"/>
                  </a:solidFill>
                  <a:latin typeface="微软雅黑" panose="020B0503020204020204" pitchFamily="34" charset="-122"/>
                  <a:ea typeface="微软雅黑" panose="020B0503020204020204" pitchFamily="34" charset="-122"/>
                </a:rPr>
                <a:t>1.3</a:t>
              </a:r>
              <a:endParaRPr lang="zh-CN" altLang="en-US" sz="4000" dirty="0">
                <a:solidFill>
                  <a:srgbClr val="708265"/>
                </a:solidFill>
                <a:latin typeface="微软雅黑" panose="020B0503020204020204" pitchFamily="34" charset="-122"/>
                <a:ea typeface="微软雅黑" panose="020B0503020204020204" pitchFamily="34" charset="-122"/>
              </a:endParaRPr>
            </a:p>
          </p:txBody>
        </p:sp>
        <p:grpSp>
          <p:nvGrpSpPr>
            <p:cNvPr id="38" name="组合 37"/>
            <p:cNvGrpSpPr/>
            <p:nvPr/>
          </p:nvGrpSpPr>
          <p:grpSpPr>
            <a:xfrm>
              <a:off x="4293004" y="3250218"/>
              <a:ext cx="207440" cy="104457"/>
              <a:chOff x="4093098" y="3134123"/>
              <a:chExt cx="107723" cy="54244"/>
            </a:xfrm>
          </p:grpSpPr>
          <p:sp>
            <p:nvSpPr>
              <p:cNvPr id="39" name="L 形 38"/>
              <p:cNvSpPr/>
              <p:nvPr/>
            </p:nvSpPr>
            <p:spPr>
              <a:xfrm rot="2493705" flipH="1" flipV="1">
                <a:off x="409309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sp>
            <p:nvSpPr>
              <p:cNvPr id="40" name="L 形 39"/>
              <p:cNvSpPr/>
              <p:nvPr/>
            </p:nvSpPr>
            <p:spPr>
              <a:xfrm rot="2493705" flipH="1" flipV="1">
                <a:off x="414657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grpSp>
      </p:grpSp>
      <p:sp>
        <p:nvSpPr>
          <p:cNvPr id="83" name="下箭头 82"/>
          <p:cNvSpPr/>
          <p:nvPr/>
        </p:nvSpPr>
        <p:spPr>
          <a:xfrm rot="16200000">
            <a:off x="1947987" y="4296853"/>
            <a:ext cx="576064" cy="679828"/>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835" algn="l" defTabSz="1219200" rtl="0" eaLnBrk="1" latinLnBrk="0" hangingPunct="1">
              <a:defRPr sz="2400" kern="1200">
                <a:solidFill>
                  <a:schemeClr val="lt1"/>
                </a:solidFill>
                <a:latin typeface="+mn-lt"/>
                <a:ea typeface="+mn-ea"/>
                <a:cs typeface="+mn-cs"/>
              </a:defRPr>
            </a:lvl3pPr>
            <a:lvl4pPr marL="1829435" algn="l" defTabSz="1219200" rtl="0" eaLnBrk="1" latinLnBrk="0" hangingPunct="1">
              <a:defRPr sz="2400" kern="1200">
                <a:solidFill>
                  <a:schemeClr val="lt1"/>
                </a:solidFill>
                <a:latin typeface="+mn-lt"/>
                <a:ea typeface="+mn-ea"/>
                <a:cs typeface="+mn-cs"/>
              </a:defRPr>
            </a:lvl4pPr>
            <a:lvl5pPr marL="2439035" algn="l" defTabSz="1219200" rtl="0" eaLnBrk="1" latinLnBrk="0" hangingPunct="1">
              <a:defRPr sz="2400" kern="1200">
                <a:solidFill>
                  <a:schemeClr val="lt1"/>
                </a:solidFill>
                <a:latin typeface="+mn-lt"/>
                <a:ea typeface="+mn-ea"/>
                <a:cs typeface="+mn-cs"/>
              </a:defRPr>
            </a:lvl5pPr>
            <a:lvl6pPr marL="3049270" algn="l" defTabSz="1219200" rtl="0" eaLnBrk="1" latinLnBrk="0" hangingPunct="1">
              <a:defRPr sz="2400" kern="1200">
                <a:solidFill>
                  <a:schemeClr val="lt1"/>
                </a:solidFill>
                <a:latin typeface="+mn-lt"/>
                <a:ea typeface="+mn-ea"/>
                <a:cs typeface="+mn-cs"/>
              </a:defRPr>
            </a:lvl6pPr>
            <a:lvl7pPr marL="3658870" algn="l" defTabSz="1219200" rtl="0" eaLnBrk="1" latinLnBrk="0" hangingPunct="1">
              <a:defRPr sz="2400" kern="1200">
                <a:solidFill>
                  <a:schemeClr val="lt1"/>
                </a:solidFill>
                <a:latin typeface="+mn-lt"/>
                <a:ea typeface="+mn-ea"/>
                <a:cs typeface="+mn-cs"/>
              </a:defRPr>
            </a:lvl7pPr>
            <a:lvl8pPr marL="4268470" algn="l" defTabSz="1219200" rtl="0" eaLnBrk="1" latinLnBrk="0" hangingPunct="1">
              <a:defRPr sz="2400" kern="1200">
                <a:solidFill>
                  <a:schemeClr val="lt1"/>
                </a:solidFill>
                <a:latin typeface="+mn-lt"/>
                <a:ea typeface="+mn-ea"/>
                <a:cs typeface="+mn-cs"/>
              </a:defRPr>
            </a:lvl8pPr>
            <a:lvl9pPr marL="4878705"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84" name="文本框 25"/>
          <p:cNvSpPr txBox="1">
            <a:spLocks noChangeArrowheads="1"/>
          </p:cNvSpPr>
          <p:nvPr/>
        </p:nvSpPr>
        <p:spPr bwMode="auto">
          <a:xfrm>
            <a:off x="1146413" y="2687355"/>
            <a:ext cx="679829" cy="378565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latin typeface="微软雅黑" panose="020B0503020204020204" pitchFamily="34" charset="-122"/>
                <a:ea typeface="微软雅黑" panose="020B0503020204020204" pitchFamily="34" charset="-122"/>
              </a:rPr>
              <a:t>无操作系统的手工操作</a:t>
            </a:r>
          </a:p>
        </p:txBody>
      </p:sp>
      <p:sp>
        <p:nvSpPr>
          <p:cNvPr id="85" name="下箭头 84"/>
          <p:cNvSpPr/>
          <p:nvPr/>
        </p:nvSpPr>
        <p:spPr>
          <a:xfrm rot="16200000">
            <a:off x="5858356" y="4282020"/>
            <a:ext cx="576064" cy="679828"/>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835" algn="l" defTabSz="1219200" rtl="0" eaLnBrk="1" latinLnBrk="0" hangingPunct="1">
              <a:defRPr sz="2400" kern="1200">
                <a:solidFill>
                  <a:schemeClr val="lt1"/>
                </a:solidFill>
                <a:latin typeface="+mn-lt"/>
                <a:ea typeface="+mn-ea"/>
                <a:cs typeface="+mn-cs"/>
              </a:defRPr>
            </a:lvl3pPr>
            <a:lvl4pPr marL="1829435" algn="l" defTabSz="1219200" rtl="0" eaLnBrk="1" latinLnBrk="0" hangingPunct="1">
              <a:defRPr sz="2400" kern="1200">
                <a:solidFill>
                  <a:schemeClr val="lt1"/>
                </a:solidFill>
                <a:latin typeface="+mn-lt"/>
                <a:ea typeface="+mn-ea"/>
                <a:cs typeface="+mn-cs"/>
              </a:defRPr>
            </a:lvl4pPr>
            <a:lvl5pPr marL="2439035" algn="l" defTabSz="1219200" rtl="0" eaLnBrk="1" latinLnBrk="0" hangingPunct="1">
              <a:defRPr sz="2400" kern="1200">
                <a:solidFill>
                  <a:schemeClr val="lt1"/>
                </a:solidFill>
                <a:latin typeface="+mn-lt"/>
                <a:ea typeface="+mn-ea"/>
                <a:cs typeface="+mn-cs"/>
              </a:defRPr>
            </a:lvl5pPr>
            <a:lvl6pPr marL="3049270" algn="l" defTabSz="1219200" rtl="0" eaLnBrk="1" latinLnBrk="0" hangingPunct="1">
              <a:defRPr sz="2400" kern="1200">
                <a:solidFill>
                  <a:schemeClr val="lt1"/>
                </a:solidFill>
                <a:latin typeface="+mn-lt"/>
                <a:ea typeface="+mn-ea"/>
                <a:cs typeface="+mn-cs"/>
              </a:defRPr>
            </a:lvl6pPr>
            <a:lvl7pPr marL="3658870" algn="l" defTabSz="1219200" rtl="0" eaLnBrk="1" latinLnBrk="0" hangingPunct="1">
              <a:defRPr sz="2400" kern="1200">
                <a:solidFill>
                  <a:schemeClr val="lt1"/>
                </a:solidFill>
                <a:latin typeface="+mn-lt"/>
                <a:ea typeface="+mn-ea"/>
                <a:cs typeface="+mn-cs"/>
              </a:defRPr>
            </a:lvl7pPr>
            <a:lvl8pPr marL="4268470" algn="l" defTabSz="1219200" rtl="0" eaLnBrk="1" latinLnBrk="0" hangingPunct="1">
              <a:defRPr sz="2400" kern="1200">
                <a:solidFill>
                  <a:schemeClr val="lt1"/>
                </a:solidFill>
                <a:latin typeface="+mn-lt"/>
                <a:ea typeface="+mn-ea"/>
                <a:cs typeface="+mn-cs"/>
              </a:defRPr>
            </a:lvl8pPr>
            <a:lvl9pPr marL="4878705"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86" name="文本框 25"/>
          <p:cNvSpPr txBox="1">
            <a:spLocks noChangeArrowheads="1"/>
          </p:cNvSpPr>
          <p:nvPr/>
        </p:nvSpPr>
        <p:spPr bwMode="auto">
          <a:xfrm>
            <a:off x="2605531" y="3652438"/>
            <a:ext cx="499096" cy="193899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latin typeface="微软雅黑" panose="020B0503020204020204" pitchFamily="34" charset="-122"/>
                <a:ea typeface="微软雅黑" panose="020B0503020204020204" pitchFamily="34" charset="-122"/>
              </a:rPr>
              <a:t>批处理系统</a:t>
            </a:r>
            <a:endParaRPr lang="en-US" altLang="zh-CN" sz="2400" b="1" dirty="0">
              <a:latin typeface="微软雅黑" panose="020B0503020204020204" pitchFamily="34" charset="-122"/>
              <a:ea typeface="微软雅黑" panose="020B0503020204020204" pitchFamily="34" charset="-122"/>
            </a:endParaRPr>
          </a:p>
        </p:txBody>
      </p:sp>
      <p:sp>
        <p:nvSpPr>
          <p:cNvPr id="87" name="下箭头 86"/>
          <p:cNvSpPr/>
          <p:nvPr/>
        </p:nvSpPr>
        <p:spPr>
          <a:xfrm rot="16200000">
            <a:off x="4146284" y="4282019"/>
            <a:ext cx="576064" cy="679828"/>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835" algn="l" defTabSz="1219200" rtl="0" eaLnBrk="1" latinLnBrk="0" hangingPunct="1">
              <a:defRPr sz="2400" kern="1200">
                <a:solidFill>
                  <a:schemeClr val="lt1"/>
                </a:solidFill>
                <a:latin typeface="+mn-lt"/>
                <a:ea typeface="+mn-ea"/>
                <a:cs typeface="+mn-cs"/>
              </a:defRPr>
            </a:lvl3pPr>
            <a:lvl4pPr marL="1829435" algn="l" defTabSz="1219200" rtl="0" eaLnBrk="1" latinLnBrk="0" hangingPunct="1">
              <a:defRPr sz="2400" kern="1200">
                <a:solidFill>
                  <a:schemeClr val="lt1"/>
                </a:solidFill>
                <a:latin typeface="+mn-lt"/>
                <a:ea typeface="+mn-ea"/>
                <a:cs typeface="+mn-cs"/>
              </a:defRPr>
            </a:lvl4pPr>
            <a:lvl5pPr marL="2439035" algn="l" defTabSz="1219200" rtl="0" eaLnBrk="1" latinLnBrk="0" hangingPunct="1">
              <a:defRPr sz="2400" kern="1200">
                <a:solidFill>
                  <a:schemeClr val="lt1"/>
                </a:solidFill>
                <a:latin typeface="+mn-lt"/>
                <a:ea typeface="+mn-ea"/>
                <a:cs typeface="+mn-cs"/>
              </a:defRPr>
            </a:lvl5pPr>
            <a:lvl6pPr marL="3049270" algn="l" defTabSz="1219200" rtl="0" eaLnBrk="1" latinLnBrk="0" hangingPunct="1">
              <a:defRPr sz="2400" kern="1200">
                <a:solidFill>
                  <a:schemeClr val="lt1"/>
                </a:solidFill>
                <a:latin typeface="+mn-lt"/>
                <a:ea typeface="+mn-ea"/>
                <a:cs typeface="+mn-cs"/>
              </a:defRPr>
            </a:lvl6pPr>
            <a:lvl7pPr marL="3658870" algn="l" defTabSz="1219200" rtl="0" eaLnBrk="1" latinLnBrk="0" hangingPunct="1">
              <a:defRPr sz="2400" kern="1200">
                <a:solidFill>
                  <a:schemeClr val="lt1"/>
                </a:solidFill>
                <a:latin typeface="+mn-lt"/>
                <a:ea typeface="+mn-ea"/>
                <a:cs typeface="+mn-cs"/>
              </a:defRPr>
            </a:lvl7pPr>
            <a:lvl8pPr marL="4268470" algn="l" defTabSz="1219200" rtl="0" eaLnBrk="1" latinLnBrk="0" hangingPunct="1">
              <a:defRPr sz="2400" kern="1200">
                <a:solidFill>
                  <a:schemeClr val="lt1"/>
                </a:solidFill>
                <a:latin typeface="+mn-lt"/>
                <a:ea typeface="+mn-ea"/>
                <a:cs typeface="+mn-cs"/>
              </a:defRPr>
            </a:lvl8pPr>
            <a:lvl9pPr marL="4878705"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88" name="文本框 25"/>
          <p:cNvSpPr txBox="1">
            <a:spLocks noChangeArrowheads="1"/>
          </p:cNvSpPr>
          <p:nvPr/>
        </p:nvSpPr>
        <p:spPr bwMode="auto">
          <a:xfrm>
            <a:off x="3090420" y="4395882"/>
            <a:ext cx="2687792" cy="46166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latin typeface="微软雅黑" panose="020B0503020204020204" pitchFamily="34" charset="-122"/>
                <a:ea typeface="微软雅黑" panose="020B0503020204020204" pitchFamily="34" charset="-122"/>
              </a:rPr>
              <a:t>单道批       多道批</a:t>
            </a:r>
          </a:p>
        </p:txBody>
      </p:sp>
      <p:sp>
        <p:nvSpPr>
          <p:cNvPr id="89" name="下箭头 88"/>
          <p:cNvSpPr/>
          <p:nvPr/>
        </p:nvSpPr>
        <p:spPr>
          <a:xfrm rot="16200000">
            <a:off x="7076218" y="4320454"/>
            <a:ext cx="576064" cy="679828"/>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835" algn="l" defTabSz="1219200" rtl="0" eaLnBrk="1" latinLnBrk="0" hangingPunct="1">
              <a:defRPr sz="2400" kern="1200">
                <a:solidFill>
                  <a:schemeClr val="lt1"/>
                </a:solidFill>
                <a:latin typeface="+mn-lt"/>
                <a:ea typeface="+mn-ea"/>
                <a:cs typeface="+mn-cs"/>
              </a:defRPr>
            </a:lvl3pPr>
            <a:lvl4pPr marL="1829435" algn="l" defTabSz="1219200" rtl="0" eaLnBrk="1" latinLnBrk="0" hangingPunct="1">
              <a:defRPr sz="2400" kern="1200">
                <a:solidFill>
                  <a:schemeClr val="lt1"/>
                </a:solidFill>
                <a:latin typeface="+mn-lt"/>
                <a:ea typeface="+mn-ea"/>
                <a:cs typeface="+mn-cs"/>
              </a:defRPr>
            </a:lvl4pPr>
            <a:lvl5pPr marL="2439035" algn="l" defTabSz="1219200" rtl="0" eaLnBrk="1" latinLnBrk="0" hangingPunct="1">
              <a:defRPr sz="2400" kern="1200">
                <a:solidFill>
                  <a:schemeClr val="lt1"/>
                </a:solidFill>
                <a:latin typeface="+mn-lt"/>
                <a:ea typeface="+mn-ea"/>
                <a:cs typeface="+mn-cs"/>
              </a:defRPr>
            </a:lvl5pPr>
            <a:lvl6pPr marL="3049270" algn="l" defTabSz="1219200" rtl="0" eaLnBrk="1" latinLnBrk="0" hangingPunct="1">
              <a:defRPr sz="2400" kern="1200">
                <a:solidFill>
                  <a:schemeClr val="lt1"/>
                </a:solidFill>
                <a:latin typeface="+mn-lt"/>
                <a:ea typeface="+mn-ea"/>
                <a:cs typeface="+mn-cs"/>
              </a:defRPr>
            </a:lvl6pPr>
            <a:lvl7pPr marL="3658870" algn="l" defTabSz="1219200" rtl="0" eaLnBrk="1" latinLnBrk="0" hangingPunct="1">
              <a:defRPr sz="2400" kern="1200">
                <a:solidFill>
                  <a:schemeClr val="lt1"/>
                </a:solidFill>
                <a:latin typeface="+mn-lt"/>
                <a:ea typeface="+mn-ea"/>
                <a:cs typeface="+mn-cs"/>
              </a:defRPr>
            </a:lvl7pPr>
            <a:lvl8pPr marL="4268470" algn="l" defTabSz="1219200" rtl="0" eaLnBrk="1" latinLnBrk="0" hangingPunct="1">
              <a:defRPr sz="2400" kern="1200">
                <a:solidFill>
                  <a:schemeClr val="lt1"/>
                </a:solidFill>
                <a:latin typeface="+mn-lt"/>
                <a:ea typeface="+mn-ea"/>
                <a:cs typeface="+mn-cs"/>
              </a:defRPr>
            </a:lvl8pPr>
            <a:lvl9pPr marL="4878705"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90" name="文本框 25"/>
          <p:cNvSpPr txBox="1">
            <a:spLocks noChangeArrowheads="1"/>
          </p:cNvSpPr>
          <p:nvPr/>
        </p:nvSpPr>
        <p:spPr bwMode="auto">
          <a:xfrm>
            <a:off x="6514564" y="3899084"/>
            <a:ext cx="499096" cy="15696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latin typeface="微软雅黑" panose="020B0503020204020204" pitchFamily="34" charset="-122"/>
                <a:ea typeface="微软雅黑" panose="020B0503020204020204" pitchFamily="34" charset="-122"/>
              </a:rPr>
              <a:t>分时系统</a:t>
            </a:r>
          </a:p>
        </p:txBody>
      </p:sp>
      <p:sp>
        <p:nvSpPr>
          <p:cNvPr id="91" name="文本框 25"/>
          <p:cNvSpPr txBox="1">
            <a:spLocks noChangeArrowheads="1"/>
          </p:cNvSpPr>
          <p:nvPr/>
        </p:nvSpPr>
        <p:spPr bwMode="auto">
          <a:xfrm>
            <a:off x="7730157" y="3899084"/>
            <a:ext cx="533733" cy="15696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latin typeface="微软雅黑" panose="020B0503020204020204" pitchFamily="34" charset="-122"/>
                <a:ea typeface="微软雅黑" panose="020B0503020204020204" pitchFamily="34" charset="-122"/>
              </a:rPr>
              <a:t>实时系统</a:t>
            </a:r>
          </a:p>
        </p:txBody>
      </p:sp>
      <p:sp>
        <p:nvSpPr>
          <p:cNvPr id="3" name="下箭头 88">
            <a:extLst>
              <a:ext uri="{FF2B5EF4-FFF2-40B4-BE49-F238E27FC236}">
                <a16:creationId xmlns:a16="http://schemas.microsoft.com/office/drawing/2014/main" id="{CC094423-886F-5EAB-73BD-7E0E253ED716}"/>
              </a:ext>
            </a:extLst>
          </p:cNvPr>
          <p:cNvSpPr/>
          <p:nvPr/>
        </p:nvSpPr>
        <p:spPr>
          <a:xfrm rot="16200000">
            <a:off x="8319600" y="4324823"/>
            <a:ext cx="576064" cy="679828"/>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835" algn="l" defTabSz="1219200" rtl="0" eaLnBrk="1" latinLnBrk="0" hangingPunct="1">
              <a:defRPr sz="2400" kern="1200">
                <a:solidFill>
                  <a:schemeClr val="lt1"/>
                </a:solidFill>
                <a:latin typeface="+mn-lt"/>
                <a:ea typeface="+mn-ea"/>
                <a:cs typeface="+mn-cs"/>
              </a:defRPr>
            </a:lvl3pPr>
            <a:lvl4pPr marL="1829435" algn="l" defTabSz="1219200" rtl="0" eaLnBrk="1" latinLnBrk="0" hangingPunct="1">
              <a:defRPr sz="2400" kern="1200">
                <a:solidFill>
                  <a:schemeClr val="lt1"/>
                </a:solidFill>
                <a:latin typeface="+mn-lt"/>
                <a:ea typeface="+mn-ea"/>
                <a:cs typeface="+mn-cs"/>
              </a:defRPr>
            </a:lvl4pPr>
            <a:lvl5pPr marL="2439035" algn="l" defTabSz="1219200" rtl="0" eaLnBrk="1" latinLnBrk="0" hangingPunct="1">
              <a:defRPr sz="2400" kern="1200">
                <a:solidFill>
                  <a:schemeClr val="lt1"/>
                </a:solidFill>
                <a:latin typeface="+mn-lt"/>
                <a:ea typeface="+mn-ea"/>
                <a:cs typeface="+mn-cs"/>
              </a:defRPr>
            </a:lvl5pPr>
            <a:lvl6pPr marL="3049270" algn="l" defTabSz="1219200" rtl="0" eaLnBrk="1" latinLnBrk="0" hangingPunct="1">
              <a:defRPr sz="2400" kern="1200">
                <a:solidFill>
                  <a:schemeClr val="lt1"/>
                </a:solidFill>
                <a:latin typeface="+mn-lt"/>
                <a:ea typeface="+mn-ea"/>
                <a:cs typeface="+mn-cs"/>
              </a:defRPr>
            </a:lvl6pPr>
            <a:lvl7pPr marL="3658870" algn="l" defTabSz="1219200" rtl="0" eaLnBrk="1" latinLnBrk="0" hangingPunct="1">
              <a:defRPr sz="2400" kern="1200">
                <a:solidFill>
                  <a:schemeClr val="lt1"/>
                </a:solidFill>
                <a:latin typeface="+mn-lt"/>
                <a:ea typeface="+mn-ea"/>
                <a:cs typeface="+mn-cs"/>
              </a:defRPr>
            </a:lvl7pPr>
            <a:lvl8pPr marL="4268470" algn="l" defTabSz="1219200" rtl="0" eaLnBrk="1" latinLnBrk="0" hangingPunct="1">
              <a:defRPr sz="2400" kern="1200">
                <a:solidFill>
                  <a:schemeClr val="lt1"/>
                </a:solidFill>
                <a:latin typeface="+mn-lt"/>
                <a:ea typeface="+mn-ea"/>
                <a:cs typeface="+mn-cs"/>
              </a:defRPr>
            </a:lvl8pPr>
            <a:lvl9pPr marL="4878705"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4" name="文本框 25">
            <a:extLst>
              <a:ext uri="{FF2B5EF4-FFF2-40B4-BE49-F238E27FC236}">
                <a16:creationId xmlns:a16="http://schemas.microsoft.com/office/drawing/2014/main" id="{DEF793F1-F49E-A003-0758-DA10367BE46C}"/>
              </a:ext>
            </a:extLst>
          </p:cNvPr>
          <p:cNvSpPr txBox="1">
            <a:spLocks noChangeArrowheads="1"/>
          </p:cNvSpPr>
          <p:nvPr/>
        </p:nvSpPr>
        <p:spPr bwMode="auto">
          <a:xfrm>
            <a:off x="8937845" y="3529753"/>
            <a:ext cx="533733" cy="230832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latin typeface="微软雅黑" panose="020B0503020204020204" pitchFamily="34" charset="-122"/>
                <a:ea typeface="微软雅黑" panose="020B0503020204020204" pitchFamily="34" charset="-122"/>
              </a:rPr>
              <a:t>个人操作系统</a:t>
            </a:r>
          </a:p>
        </p:txBody>
      </p:sp>
      <p:sp>
        <p:nvSpPr>
          <p:cNvPr id="5" name="下箭头 88">
            <a:extLst>
              <a:ext uri="{FF2B5EF4-FFF2-40B4-BE49-F238E27FC236}">
                <a16:creationId xmlns:a16="http://schemas.microsoft.com/office/drawing/2014/main" id="{F78D30A2-905C-4244-8831-784D10CC1745}"/>
              </a:ext>
            </a:extLst>
          </p:cNvPr>
          <p:cNvSpPr/>
          <p:nvPr/>
        </p:nvSpPr>
        <p:spPr>
          <a:xfrm rot="16200000">
            <a:off x="9527288" y="4296853"/>
            <a:ext cx="576064" cy="679828"/>
          </a:xfrm>
          <a:prstGeom prst="downArrow">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defPPr>
              <a:defRPr lang="zh-CN"/>
            </a:defPPr>
            <a:lvl1pPr marL="0" algn="l" defTabSz="1219200" rtl="0" eaLnBrk="1" latinLnBrk="0" hangingPunct="1">
              <a:defRPr sz="2400" kern="1200">
                <a:solidFill>
                  <a:schemeClr val="lt1"/>
                </a:solidFill>
                <a:latin typeface="+mn-lt"/>
                <a:ea typeface="+mn-ea"/>
                <a:cs typeface="+mn-cs"/>
              </a:defRPr>
            </a:lvl1pPr>
            <a:lvl2pPr marL="609600" algn="l" defTabSz="1219200" rtl="0" eaLnBrk="1" latinLnBrk="0" hangingPunct="1">
              <a:defRPr sz="2400" kern="1200">
                <a:solidFill>
                  <a:schemeClr val="lt1"/>
                </a:solidFill>
                <a:latin typeface="+mn-lt"/>
                <a:ea typeface="+mn-ea"/>
                <a:cs typeface="+mn-cs"/>
              </a:defRPr>
            </a:lvl2pPr>
            <a:lvl3pPr marL="1219835" algn="l" defTabSz="1219200" rtl="0" eaLnBrk="1" latinLnBrk="0" hangingPunct="1">
              <a:defRPr sz="2400" kern="1200">
                <a:solidFill>
                  <a:schemeClr val="lt1"/>
                </a:solidFill>
                <a:latin typeface="+mn-lt"/>
                <a:ea typeface="+mn-ea"/>
                <a:cs typeface="+mn-cs"/>
              </a:defRPr>
            </a:lvl3pPr>
            <a:lvl4pPr marL="1829435" algn="l" defTabSz="1219200" rtl="0" eaLnBrk="1" latinLnBrk="0" hangingPunct="1">
              <a:defRPr sz="2400" kern="1200">
                <a:solidFill>
                  <a:schemeClr val="lt1"/>
                </a:solidFill>
                <a:latin typeface="+mn-lt"/>
                <a:ea typeface="+mn-ea"/>
                <a:cs typeface="+mn-cs"/>
              </a:defRPr>
            </a:lvl4pPr>
            <a:lvl5pPr marL="2439035" algn="l" defTabSz="1219200" rtl="0" eaLnBrk="1" latinLnBrk="0" hangingPunct="1">
              <a:defRPr sz="2400" kern="1200">
                <a:solidFill>
                  <a:schemeClr val="lt1"/>
                </a:solidFill>
                <a:latin typeface="+mn-lt"/>
                <a:ea typeface="+mn-ea"/>
                <a:cs typeface="+mn-cs"/>
              </a:defRPr>
            </a:lvl5pPr>
            <a:lvl6pPr marL="3049270" algn="l" defTabSz="1219200" rtl="0" eaLnBrk="1" latinLnBrk="0" hangingPunct="1">
              <a:defRPr sz="2400" kern="1200">
                <a:solidFill>
                  <a:schemeClr val="lt1"/>
                </a:solidFill>
                <a:latin typeface="+mn-lt"/>
                <a:ea typeface="+mn-ea"/>
                <a:cs typeface="+mn-cs"/>
              </a:defRPr>
            </a:lvl6pPr>
            <a:lvl7pPr marL="3658870" algn="l" defTabSz="1219200" rtl="0" eaLnBrk="1" latinLnBrk="0" hangingPunct="1">
              <a:defRPr sz="2400" kern="1200">
                <a:solidFill>
                  <a:schemeClr val="lt1"/>
                </a:solidFill>
                <a:latin typeface="+mn-lt"/>
                <a:ea typeface="+mn-ea"/>
                <a:cs typeface="+mn-cs"/>
              </a:defRPr>
            </a:lvl7pPr>
            <a:lvl8pPr marL="4268470" algn="l" defTabSz="1219200" rtl="0" eaLnBrk="1" latinLnBrk="0" hangingPunct="1">
              <a:defRPr sz="2400" kern="1200">
                <a:solidFill>
                  <a:schemeClr val="lt1"/>
                </a:solidFill>
                <a:latin typeface="+mn-lt"/>
                <a:ea typeface="+mn-ea"/>
                <a:cs typeface="+mn-cs"/>
              </a:defRPr>
            </a:lvl8pPr>
            <a:lvl9pPr marL="4878705" algn="l" defTabSz="1219200" rtl="0" eaLnBrk="1" latinLnBrk="0" hangingPunct="1">
              <a:defRPr sz="2400" kern="1200">
                <a:solidFill>
                  <a:schemeClr val="lt1"/>
                </a:solidFill>
                <a:latin typeface="+mn-lt"/>
                <a:ea typeface="+mn-ea"/>
                <a:cs typeface="+mn-cs"/>
              </a:defRPr>
            </a:lvl9pPr>
          </a:lstStyle>
          <a:p>
            <a:pPr algn="ctr"/>
            <a:endParaRPr lang="zh-CN" altLang="en-US">
              <a:cs typeface="+mn-ea"/>
              <a:sym typeface="+mn-lt"/>
            </a:endParaRPr>
          </a:p>
        </p:txBody>
      </p:sp>
      <p:sp>
        <p:nvSpPr>
          <p:cNvPr id="6" name="文本框 25">
            <a:extLst>
              <a:ext uri="{FF2B5EF4-FFF2-40B4-BE49-F238E27FC236}">
                <a16:creationId xmlns:a16="http://schemas.microsoft.com/office/drawing/2014/main" id="{6629900B-CBD9-8DA8-D2B7-92F81AB382D2}"/>
              </a:ext>
            </a:extLst>
          </p:cNvPr>
          <p:cNvSpPr txBox="1">
            <a:spLocks noChangeArrowheads="1"/>
          </p:cNvSpPr>
          <p:nvPr/>
        </p:nvSpPr>
        <p:spPr bwMode="auto">
          <a:xfrm>
            <a:off x="10210095" y="3506205"/>
            <a:ext cx="533733" cy="230832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latin typeface="微软雅黑" panose="020B0503020204020204" pitchFamily="34" charset="-122"/>
                <a:ea typeface="微软雅黑" panose="020B0503020204020204" pitchFamily="34" charset="-122"/>
              </a:rPr>
              <a:t>现代操作系统</a:t>
            </a:r>
          </a:p>
        </p:txBody>
      </p:sp>
    </p:spTree>
    <p:extLst>
      <p:ext uri="{BB962C8B-B14F-4D97-AF65-F5344CB8AC3E}">
        <p14:creationId xmlns:p14="http://schemas.microsoft.com/office/powerpoint/2010/main" val="850017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1901372" y="886656"/>
            <a:ext cx="882372" cy="781051"/>
          </a:xfrm>
          <a:prstGeom prst="round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3" name="矩形 2"/>
          <p:cNvSpPr/>
          <p:nvPr/>
        </p:nvSpPr>
        <p:spPr>
          <a:xfrm>
            <a:off x="2609258" y="886655"/>
            <a:ext cx="892232" cy="781051"/>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4" name="等腰三角形 3"/>
          <p:cNvSpPr/>
          <p:nvPr/>
        </p:nvSpPr>
        <p:spPr>
          <a:xfrm rot="5400000">
            <a:off x="3250964" y="1153850"/>
            <a:ext cx="769145" cy="258567"/>
          </a:xfrm>
          <a:prstGeom prst="triangle">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61" name="圆角矩形 60"/>
          <p:cNvSpPr/>
          <p:nvPr/>
        </p:nvSpPr>
        <p:spPr>
          <a:xfrm>
            <a:off x="1901372" y="2016893"/>
            <a:ext cx="882372" cy="781051"/>
          </a:xfrm>
          <a:prstGeom prst="round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64" name="矩形 63"/>
          <p:cNvSpPr/>
          <p:nvPr/>
        </p:nvSpPr>
        <p:spPr>
          <a:xfrm>
            <a:off x="2609258" y="2016892"/>
            <a:ext cx="892232" cy="781051"/>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65" name="等腰三角形 64"/>
          <p:cNvSpPr/>
          <p:nvPr/>
        </p:nvSpPr>
        <p:spPr>
          <a:xfrm rot="5400000">
            <a:off x="3250964" y="2284087"/>
            <a:ext cx="769145" cy="258567"/>
          </a:xfrm>
          <a:prstGeom prst="triangle">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66" name="圆角矩形 65"/>
          <p:cNvSpPr/>
          <p:nvPr/>
        </p:nvSpPr>
        <p:spPr>
          <a:xfrm>
            <a:off x="1901372" y="3159036"/>
            <a:ext cx="882372" cy="781051"/>
          </a:xfrm>
          <a:prstGeom prst="round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67" name="矩形 66"/>
          <p:cNvSpPr/>
          <p:nvPr/>
        </p:nvSpPr>
        <p:spPr>
          <a:xfrm>
            <a:off x="2609258" y="3159035"/>
            <a:ext cx="892232" cy="781051"/>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68" name="等腰三角形 67"/>
          <p:cNvSpPr/>
          <p:nvPr/>
        </p:nvSpPr>
        <p:spPr>
          <a:xfrm rot="5400000">
            <a:off x="3250964" y="3426230"/>
            <a:ext cx="769145" cy="258567"/>
          </a:xfrm>
          <a:prstGeom prst="triangle">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69" name="圆角矩形 68"/>
          <p:cNvSpPr/>
          <p:nvPr/>
        </p:nvSpPr>
        <p:spPr>
          <a:xfrm>
            <a:off x="1901372" y="4289273"/>
            <a:ext cx="882372" cy="781051"/>
          </a:xfrm>
          <a:prstGeom prst="round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70" name="矩形 69"/>
          <p:cNvSpPr/>
          <p:nvPr/>
        </p:nvSpPr>
        <p:spPr>
          <a:xfrm>
            <a:off x="2609258" y="4289272"/>
            <a:ext cx="892232" cy="781051"/>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71" name="等腰三角形 70"/>
          <p:cNvSpPr/>
          <p:nvPr/>
        </p:nvSpPr>
        <p:spPr>
          <a:xfrm rot="5400000">
            <a:off x="3250964" y="4556467"/>
            <a:ext cx="769145" cy="258567"/>
          </a:xfrm>
          <a:prstGeom prst="triangle">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20487" name="文本框 5"/>
          <p:cNvSpPr txBox="1">
            <a:spLocks noChangeArrowheads="1"/>
          </p:cNvSpPr>
          <p:nvPr/>
        </p:nvSpPr>
        <p:spPr bwMode="auto">
          <a:xfrm>
            <a:off x="1958975" y="985081"/>
            <a:ext cx="5921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a:solidFill>
                  <a:schemeClr val="bg1"/>
                </a:solidFill>
                <a:latin typeface="Impact" panose="020B0806030902050204" pitchFamily="34" charset="0"/>
              </a:rPr>
              <a:t>01</a:t>
            </a:r>
            <a:endParaRPr lang="zh-CN" altLang="en-US" sz="3200">
              <a:solidFill>
                <a:schemeClr val="bg1"/>
              </a:solidFill>
              <a:latin typeface="Impact" panose="020B0806030902050204" pitchFamily="34" charset="0"/>
            </a:endParaRPr>
          </a:p>
        </p:txBody>
      </p:sp>
      <p:sp>
        <p:nvSpPr>
          <p:cNvPr id="20488" name="文本框 71"/>
          <p:cNvSpPr txBox="1">
            <a:spLocks noChangeArrowheads="1"/>
          </p:cNvSpPr>
          <p:nvPr/>
        </p:nvSpPr>
        <p:spPr bwMode="auto">
          <a:xfrm>
            <a:off x="1958975" y="2115381"/>
            <a:ext cx="646113" cy="584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a:solidFill>
                  <a:schemeClr val="bg1"/>
                </a:solidFill>
                <a:latin typeface="Impact" panose="020B0806030902050204" pitchFamily="34" charset="0"/>
              </a:rPr>
              <a:t>02</a:t>
            </a:r>
            <a:endParaRPr lang="zh-CN" altLang="en-US" sz="3200">
              <a:solidFill>
                <a:schemeClr val="bg1"/>
              </a:solidFill>
              <a:latin typeface="Impact" panose="020B0806030902050204" pitchFamily="34" charset="0"/>
            </a:endParaRPr>
          </a:p>
        </p:txBody>
      </p:sp>
      <p:sp>
        <p:nvSpPr>
          <p:cNvPr id="20489" name="文本框 87"/>
          <p:cNvSpPr txBox="1">
            <a:spLocks noChangeArrowheads="1"/>
          </p:cNvSpPr>
          <p:nvPr/>
        </p:nvSpPr>
        <p:spPr bwMode="auto">
          <a:xfrm>
            <a:off x="1958975" y="3256794"/>
            <a:ext cx="64611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dirty="0">
                <a:solidFill>
                  <a:schemeClr val="bg1"/>
                </a:solidFill>
                <a:latin typeface="Impact" panose="020B0806030902050204" pitchFamily="34" charset="0"/>
              </a:rPr>
              <a:t>03</a:t>
            </a:r>
            <a:endParaRPr lang="zh-CN" altLang="en-US" sz="3200" dirty="0">
              <a:solidFill>
                <a:schemeClr val="bg1"/>
              </a:solidFill>
              <a:latin typeface="Impact" panose="020B0806030902050204" pitchFamily="34" charset="0"/>
            </a:endParaRPr>
          </a:p>
        </p:txBody>
      </p:sp>
      <p:sp>
        <p:nvSpPr>
          <p:cNvPr id="20490" name="文本框 88"/>
          <p:cNvSpPr txBox="1">
            <a:spLocks noChangeArrowheads="1"/>
          </p:cNvSpPr>
          <p:nvPr/>
        </p:nvSpPr>
        <p:spPr bwMode="auto">
          <a:xfrm>
            <a:off x="1958975" y="4387094"/>
            <a:ext cx="64611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a:solidFill>
                  <a:schemeClr val="bg1"/>
                </a:solidFill>
                <a:latin typeface="Impact" panose="020B0806030902050204" pitchFamily="34" charset="0"/>
              </a:rPr>
              <a:t>04</a:t>
            </a:r>
            <a:endParaRPr lang="zh-CN" altLang="en-US" sz="3200">
              <a:solidFill>
                <a:schemeClr val="bg1"/>
              </a:solidFill>
              <a:latin typeface="Impact" panose="020B0806030902050204" pitchFamily="34" charset="0"/>
            </a:endParaRPr>
          </a:p>
        </p:txBody>
      </p:sp>
      <p:sp>
        <p:nvSpPr>
          <p:cNvPr id="90" name="AutoShape 115"/>
          <p:cNvSpPr>
            <a:spLocks/>
          </p:cNvSpPr>
          <p:nvPr/>
        </p:nvSpPr>
        <p:spPr bwMode="auto">
          <a:xfrm>
            <a:off x="2857500" y="1056519"/>
            <a:ext cx="401638" cy="441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357" y="18801"/>
                </a:moveTo>
                <a:cubicBezTo>
                  <a:pt x="21518" y="18965"/>
                  <a:pt x="21599" y="19177"/>
                  <a:pt x="21599" y="19436"/>
                </a:cubicBezTo>
                <a:cubicBezTo>
                  <a:pt x="21599" y="19580"/>
                  <a:pt x="21518" y="19775"/>
                  <a:pt x="21357" y="20018"/>
                </a:cubicBezTo>
                <a:cubicBezTo>
                  <a:pt x="21193" y="20261"/>
                  <a:pt x="20989" y="20504"/>
                  <a:pt x="20746" y="20741"/>
                </a:cubicBezTo>
                <a:cubicBezTo>
                  <a:pt x="20503" y="20978"/>
                  <a:pt x="20260" y="21184"/>
                  <a:pt x="20023" y="21348"/>
                </a:cubicBezTo>
                <a:cubicBezTo>
                  <a:pt x="19783" y="21518"/>
                  <a:pt x="19593" y="21599"/>
                  <a:pt x="19447" y="21599"/>
                </a:cubicBezTo>
                <a:cubicBezTo>
                  <a:pt x="19189" y="21599"/>
                  <a:pt x="18975" y="21515"/>
                  <a:pt x="18811" y="21343"/>
                </a:cubicBezTo>
                <a:lnTo>
                  <a:pt x="13957" y="16502"/>
                </a:lnTo>
                <a:cubicBezTo>
                  <a:pt x="13217" y="16980"/>
                  <a:pt x="12428" y="17350"/>
                  <a:pt x="11589" y="17604"/>
                </a:cubicBezTo>
                <a:cubicBezTo>
                  <a:pt x="10750" y="17864"/>
                  <a:pt x="9891" y="17991"/>
                  <a:pt x="9007" y="17991"/>
                </a:cubicBezTo>
                <a:cubicBezTo>
                  <a:pt x="7769" y="17991"/>
                  <a:pt x="6608" y="17759"/>
                  <a:pt x="5517" y="17290"/>
                </a:cubicBezTo>
                <a:cubicBezTo>
                  <a:pt x="4427" y="16822"/>
                  <a:pt x="3469" y="16175"/>
                  <a:pt x="2644" y="15353"/>
                </a:cubicBezTo>
                <a:cubicBezTo>
                  <a:pt x="1816" y="14534"/>
                  <a:pt x="1172" y="13580"/>
                  <a:pt x="700" y="12487"/>
                </a:cubicBezTo>
                <a:cubicBezTo>
                  <a:pt x="231" y="11400"/>
                  <a:pt x="0" y="10236"/>
                  <a:pt x="0" y="8999"/>
                </a:cubicBezTo>
                <a:cubicBezTo>
                  <a:pt x="0" y="7768"/>
                  <a:pt x="231" y="6602"/>
                  <a:pt x="700" y="5515"/>
                </a:cubicBezTo>
                <a:cubicBezTo>
                  <a:pt x="1169" y="4422"/>
                  <a:pt x="1816" y="3467"/>
                  <a:pt x="2644" y="2645"/>
                </a:cubicBezTo>
                <a:cubicBezTo>
                  <a:pt x="3469" y="1827"/>
                  <a:pt x="4424" y="1180"/>
                  <a:pt x="5512" y="708"/>
                </a:cubicBezTo>
                <a:cubicBezTo>
                  <a:pt x="6600" y="237"/>
                  <a:pt x="7764" y="0"/>
                  <a:pt x="9007" y="0"/>
                </a:cubicBezTo>
                <a:cubicBezTo>
                  <a:pt x="10244" y="0"/>
                  <a:pt x="11403" y="237"/>
                  <a:pt x="12488" y="708"/>
                </a:cubicBezTo>
                <a:cubicBezTo>
                  <a:pt x="13573" y="1180"/>
                  <a:pt x="14530" y="1827"/>
                  <a:pt x="15358" y="2645"/>
                </a:cubicBezTo>
                <a:cubicBezTo>
                  <a:pt x="16183" y="3467"/>
                  <a:pt x="16830" y="4422"/>
                  <a:pt x="17299" y="5515"/>
                </a:cubicBezTo>
                <a:cubicBezTo>
                  <a:pt x="17768" y="6602"/>
                  <a:pt x="18003" y="7768"/>
                  <a:pt x="18003" y="8999"/>
                </a:cubicBezTo>
                <a:cubicBezTo>
                  <a:pt x="18003" y="9886"/>
                  <a:pt x="17873" y="10747"/>
                  <a:pt x="17616" y="11589"/>
                </a:cubicBezTo>
                <a:cubicBezTo>
                  <a:pt x="17359" y="12433"/>
                  <a:pt x="16991" y="13218"/>
                  <a:pt x="16514" y="13947"/>
                </a:cubicBezTo>
                <a:lnTo>
                  <a:pt x="21357" y="18801"/>
                </a:lnTo>
                <a:close/>
                <a:moveTo>
                  <a:pt x="3596" y="8999"/>
                </a:moveTo>
                <a:cubicBezTo>
                  <a:pt x="3596" y="9759"/>
                  <a:pt x="3740" y="10465"/>
                  <a:pt x="4028" y="11117"/>
                </a:cubicBezTo>
                <a:cubicBezTo>
                  <a:pt x="4317" y="11770"/>
                  <a:pt x="4707" y="12337"/>
                  <a:pt x="5193" y="12820"/>
                </a:cubicBezTo>
                <a:cubicBezTo>
                  <a:pt x="5679" y="13300"/>
                  <a:pt x="6252" y="13684"/>
                  <a:pt x="6908" y="13969"/>
                </a:cubicBezTo>
                <a:cubicBezTo>
                  <a:pt x="7566" y="14252"/>
                  <a:pt x="8264" y="14393"/>
                  <a:pt x="9004" y="14393"/>
                </a:cubicBezTo>
                <a:cubicBezTo>
                  <a:pt x="9744" y="14393"/>
                  <a:pt x="10439" y="14252"/>
                  <a:pt x="11092" y="13969"/>
                </a:cubicBezTo>
                <a:cubicBezTo>
                  <a:pt x="11745" y="13684"/>
                  <a:pt x="12318" y="13300"/>
                  <a:pt x="12801" y="12820"/>
                </a:cubicBezTo>
                <a:cubicBezTo>
                  <a:pt x="13290" y="12337"/>
                  <a:pt x="13677" y="11770"/>
                  <a:pt x="13965" y="11117"/>
                </a:cubicBezTo>
                <a:cubicBezTo>
                  <a:pt x="14254" y="10465"/>
                  <a:pt x="14398" y="9759"/>
                  <a:pt x="14398" y="8999"/>
                </a:cubicBezTo>
                <a:cubicBezTo>
                  <a:pt x="14398" y="8259"/>
                  <a:pt x="14254" y="7565"/>
                  <a:pt x="13965" y="6912"/>
                </a:cubicBezTo>
                <a:cubicBezTo>
                  <a:pt x="13674" y="6257"/>
                  <a:pt x="13290" y="5684"/>
                  <a:pt x="12801" y="5192"/>
                </a:cubicBezTo>
                <a:cubicBezTo>
                  <a:pt x="12315" y="4704"/>
                  <a:pt x="11745" y="4317"/>
                  <a:pt x="11092" y="4032"/>
                </a:cubicBezTo>
                <a:cubicBezTo>
                  <a:pt x="10439" y="3749"/>
                  <a:pt x="9741" y="3605"/>
                  <a:pt x="9004" y="3605"/>
                </a:cubicBezTo>
                <a:cubicBezTo>
                  <a:pt x="8267" y="3605"/>
                  <a:pt x="7566" y="3749"/>
                  <a:pt x="6908" y="4032"/>
                </a:cubicBezTo>
                <a:cubicBezTo>
                  <a:pt x="6252" y="4317"/>
                  <a:pt x="5676" y="4704"/>
                  <a:pt x="5193" y="5192"/>
                </a:cubicBezTo>
                <a:cubicBezTo>
                  <a:pt x="4707" y="5684"/>
                  <a:pt x="4317" y="6257"/>
                  <a:pt x="4028" y="6912"/>
                </a:cubicBezTo>
                <a:cubicBezTo>
                  <a:pt x="3740" y="7565"/>
                  <a:pt x="3596" y="8256"/>
                  <a:pt x="3596" y="8999"/>
                </a:cubicBezTo>
                <a:moveTo>
                  <a:pt x="9007" y="5591"/>
                </a:moveTo>
                <a:cubicBezTo>
                  <a:pt x="9185" y="5591"/>
                  <a:pt x="9343" y="5656"/>
                  <a:pt x="9473" y="5785"/>
                </a:cubicBezTo>
                <a:cubicBezTo>
                  <a:pt x="9603" y="5918"/>
                  <a:pt x="9668" y="6082"/>
                  <a:pt x="9668" y="6279"/>
                </a:cubicBezTo>
                <a:cubicBezTo>
                  <a:pt x="9668" y="6460"/>
                  <a:pt x="9603" y="6616"/>
                  <a:pt x="9473" y="6745"/>
                </a:cubicBezTo>
                <a:cubicBezTo>
                  <a:pt x="9343" y="6878"/>
                  <a:pt x="9185" y="6943"/>
                  <a:pt x="9007" y="6943"/>
                </a:cubicBezTo>
                <a:cubicBezTo>
                  <a:pt x="8439" y="6943"/>
                  <a:pt x="7953" y="7144"/>
                  <a:pt x="7552" y="7536"/>
                </a:cubicBezTo>
                <a:cubicBezTo>
                  <a:pt x="7151" y="7934"/>
                  <a:pt x="6950" y="8423"/>
                  <a:pt x="6950" y="8996"/>
                </a:cubicBezTo>
                <a:cubicBezTo>
                  <a:pt x="6950" y="9180"/>
                  <a:pt x="6885" y="9332"/>
                  <a:pt x="6755" y="9465"/>
                </a:cubicBezTo>
                <a:cubicBezTo>
                  <a:pt x="6622" y="9595"/>
                  <a:pt x="6467" y="9657"/>
                  <a:pt x="6289" y="9657"/>
                </a:cubicBezTo>
                <a:cubicBezTo>
                  <a:pt x="6080" y="9657"/>
                  <a:pt x="5913" y="9595"/>
                  <a:pt x="5786" y="9465"/>
                </a:cubicBezTo>
                <a:cubicBezTo>
                  <a:pt x="5659" y="9332"/>
                  <a:pt x="5599" y="9180"/>
                  <a:pt x="5599" y="8996"/>
                </a:cubicBezTo>
                <a:cubicBezTo>
                  <a:pt x="5599" y="8539"/>
                  <a:pt x="5684" y="8104"/>
                  <a:pt x="5862" y="7686"/>
                </a:cubicBezTo>
                <a:cubicBezTo>
                  <a:pt x="6037" y="7271"/>
                  <a:pt x="6280" y="6907"/>
                  <a:pt x="6597" y="6590"/>
                </a:cubicBezTo>
                <a:cubicBezTo>
                  <a:pt x="6905" y="6277"/>
                  <a:pt x="7264" y="6028"/>
                  <a:pt x="7676" y="5856"/>
                </a:cubicBezTo>
                <a:cubicBezTo>
                  <a:pt x="8086" y="5681"/>
                  <a:pt x="8529" y="5591"/>
                  <a:pt x="9007" y="5591"/>
                </a:cubicBezTo>
              </a:path>
            </a:pathLst>
          </a:custGeom>
          <a:solidFill>
            <a:schemeClr val="bg1"/>
          </a:solidFill>
          <a:ln>
            <a:noFill/>
          </a:ln>
          <a:effectLst/>
        </p:spPr>
        <p:txBody>
          <a:bodyPr lIns="101578" tIns="101578" rIns="101578" bIns="101578" anchor="ctr"/>
          <a:lstStyle/>
          <a:p>
            <a:pPr defTabSz="914195" eaLnBrk="1" fontAlgn="auto" hangingPunct="1">
              <a:spcBef>
                <a:spcPts val="0"/>
              </a:spcBef>
              <a:spcAft>
                <a:spcPts val="0"/>
              </a:spcAft>
              <a:defRPr/>
            </a:pPr>
            <a:endParaRPr lang="es-ES" sz="5800" dirty="0">
              <a:solidFill>
                <a:srgbClr val="44CEB9"/>
              </a:solidFill>
              <a:effectLst>
                <a:outerShdw blurRad="38100" dist="38100" dir="2700000" algn="tl">
                  <a:srgbClr val="000000"/>
                </a:outerShdw>
              </a:effectLst>
              <a:latin typeface="Gill Sans" charset="0"/>
              <a:ea typeface="+mn-ea"/>
              <a:cs typeface="Gill Sans" charset="0"/>
              <a:sym typeface="Gill Sans" charset="0"/>
            </a:endParaRPr>
          </a:p>
        </p:txBody>
      </p:sp>
      <p:sp>
        <p:nvSpPr>
          <p:cNvPr id="91" name="AutoShape 29"/>
          <p:cNvSpPr>
            <a:spLocks/>
          </p:cNvSpPr>
          <p:nvPr/>
        </p:nvSpPr>
        <p:spPr bwMode="auto">
          <a:xfrm>
            <a:off x="2857500" y="2191581"/>
            <a:ext cx="430213" cy="4318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3598" y="2167"/>
                </a:moveTo>
                <a:cubicBezTo>
                  <a:pt x="3598" y="2549"/>
                  <a:pt x="3517" y="2902"/>
                  <a:pt x="3358" y="3213"/>
                </a:cubicBezTo>
                <a:cubicBezTo>
                  <a:pt x="3197" y="3525"/>
                  <a:pt x="2981" y="3792"/>
                  <a:pt x="2707" y="4006"/>
                </a:cubicBezTo>
                <a:lnTo>
                  <a:pt x="2707" y="21050"/>
                </a:lnTo>
                <a:cubicBezTo>
                  <a:pt x="2707" y="21203"/>
                  <a:pt x="2663" y="21329"/>
                  <a:pt x="2580" y="21438"/>
                </a:cubicBezTo>
                <a:cubicBezTo>
                  <a:pt x="2492" y="21547"/>
                  <a:pt x="2386" y="21599"/>
                  <a:pt x="2262" y="21599"/>
                </a:cubicBezTo>
                <a:lnTo>
                  <a:pt x="1348" y="21599"/>
                </a:lnTo>
                <a:cubicBezTo>
                  <a:pt x="1221" y="21599"/>
                  <a:pt x="1118" y="21544"/>
                  <a:pt x="1038" y="21438"/>
                </a:cubicBezTo>
                <a:cubicBezTo>
                  <a:pt x="954" y="21329"/>
                  <a:pt x="913" y="21203"/>
                  <a:pt x="913" y="21050"/>
                </a:cubicBezTo>
                <a:lnTo>
                  <a:pt x="913" y="4006"/>
                </a:lnTo>
                <a:cubicBezTo>
                  <a:pt x="641" y="3792"/>
                  <a:pt x="421" y="3525"/>
                  <a:pt x="252" y="3213"/>
                </a:cubicBezTo>
                <a:cubicBezTo>
                  <a:pt x="83" y="2902"/>
                  <a:pt x="0" y="2549"/>
                  <a:pt x="0" y="2167"/>
                </a:cubicBezTo>
                <a:cubicBezTo>
                  <a:pt x="0" y="1574"/>
                  <a:pt x="176" y="1069"/>
                  <a:pt x="528" y="640"/>
                </a:cubicBezTo>
                <a:cubicBezTo>
                  <a:pt x="878" y="211"/>
                  <a:pt x="1304" y="0"/>
                  <a:pt x="1804" y="0"/>
                </a:cubicBezTo>
                <a:cubicBezTo>
                  <a:pt x="2296" y="0"/>
                  <a:pt x="2719" y="211"/>
                  <a:pt x="3069" y="640"/>
                </a:cubicBezTo>
                <a:cubicBezTo>
                  <a:pt x="3422" y="1069"/>
                  <a:pt x="3598" y="1571"/>
                  <a:pt x="3598" y="2167"/>
                </a:cubicBezTo>
                <a:moveTo>
                  <a:pt x="20838" y="2476"/>
                </a:moveTo>
                <a:cubicBezTo>
                  <a:pt x="21063" y="2323"/>
                  <a:pt x="21247" y="2297"/>
                  <a:pt x="21389" y="2391"/>
                </a:cubicBezTo>
                <a:cubicBezTo>
                  <a:pt x="21529" y="2485"/>
                  <a:pt x="21599" y="2684"/>
                  <a:pt x="21599" y="2996"/>
                </a:cubicBezTo>
                <a:lnTo>
                  <a:pt x="21599" y="13515"/>
                </a:lnTo>
                <a:cubicBezTo>
                  <a:pt x="21599" y="13803"/>
                  <a:pt x="21526" y="14106"/>
                  <a:pt x="21382" y="14420"/>
                </a:cubicBezTo>
                <a:cubicBezTo>
                  <a:pt x="21237" y="14737"/>
                  <a:pt x="21056" y="14966"/>
                  <a:pt x="20838" y="15119"/>
                </a:cubicBezTo>
                <a:cubicBezTo>
                  <a:pt x="19954" y="15757"/>
                  <a:pt x="19146" y="16165"/>
                  <a:pt x="18412" y="16350"/>
                </a:cubicBezTo>
                <a:cubicBezTo>
                  <a:pt x="17678" y="16529"/>
                  <a:pt x="17036" y="16606"/>
                  <a:pt x="16490" y="16567"/>
                </a:cubicBezTo>
                <a:cubicBezTo>
                  <a:pt x="15849" y="16526"/>
                  <a:pt x="15281" y="16371"/>
                  <a:pt x="14791" y="16103"/>
                </a:cubicBezTo>
                <a:cubicBezTo>
                  <a:pt x="14392" y="15851"/>
                  <a:pt x="14003" y="15607"/>
                  <a:pt x="13623" y="15378"/>
                </a:cubicBezTo>
                <a:cubicBezTo>
                  <a:pt x="13244" y="15146"/>
                  <a:pt x="12857" y="14946"/>
                  <a:pt x="12458" y="14773"/>
                </a:cubicBezTo>
                <a:cubicBezTo>
                  <a:pt x="12059" y="14599"/>
                  <a:pt x="11640" y="14461"/>
                  <a:pt x="11197" y="14358"/>
                </a:cubicBezTo>
                <a:cubicBezTo>
                  <a:pt x="10757" y="14256"/>
                  <a:pt x="10269" y="14203"/>
                  <a:pt x="9738" y="14203"/>
                </a:cubicBezTo>
                <a:cubicBezTo>
                  <a:pt x="9310" y="14220"/>
                  <a:pt x="8825" y="14306"/>
                  <a:pt x="8286" y="14455"/>
                </a:cubicBezTo>
                <a:cubicBezTo>
                  <a:pt x="7824" y="14588"/>
                  <a:pt x="7266" y="14799"/>
                  <a:pt x="6605" y="15090"/>
                </a:cubicBezTo>
                <a:cubicBezTo>
                  <a:pt x="5944" y="15381"/>
                  <a:pt x="5207" y="15792"/>
                  <a:pt x="4394" y="16327"/>
                </a:cubicBezTo>
                <a:cubicBezTo>
                  <a:pt x="4169" y="16476"/>
                  <a:pt x="3978" y="16494"/>
                  <a:pt x="3826" y="16382"/>
                </a:cubicBezTo>
                <a:cubicBezTo>
                  <a:pt x="3674" y="16268"/>
                  <a:pt x="3598" y="16059"/>
                  <a:pt x="3598" y="15751"/>
                </a:cubicBezTo>
                <a:lnTo>
                  <a:pt x="3598" y="5273"/>
                </a:lnTo>
                <a:cubicBezTo>
                  <a:pt x="3598" y="4964"/>
                  <a:pt x="3674" y="4653"/>
                  <a:pt x="3826" y="4347"/>
                </a:cubicBezTo>
                <a:cubicBezTo>
                  <a:pt x="3978" y="4036"/>
                  <a:pt x="4169" y="3807"/>
                  <a:pt x="4394" y="3654"/>
                </a:cubicBezTo>
                <a:cubicBezTo>
                  <a:pt x="5207" y="3143"/>
                  <a:pt x="5941" y="2737"/>
                  <a:pt x="6597" y="2447"/>
                </a:cubicBezTo>
                <a:cubicBezTo>
                  <a:pt x="7253" y="2156"/>
                  <a:pt x="7816" y="1944"/>
                  <a:pt x="8286" y="1812"/>
                </a:cubicBezTo>
                <a:cubicBezTo>
                  <a:pt x="8832" y="1665"/>
                  <a:pt x="9317" y="1580"/>
                  <a:pt x="9738" y="1559"/>
                </a:cubicBezTo>
                <a:cubicBezTo>
                  <a:pt x="10269" y="1559"/>
                  <a:pt x="10757" y="1612"/>
                  <a:pt x="11197" y="1715"/>
                </a:cubicBezTo>
                <a:cubicBezTo>
                  <a:pt x="11640" y="1818"/>
                  <a:pt x="12059" y="1956"/>
                  <a:pt x="12458" y="2135"/>
                </a:cubicBezTo>
                <a:cubicBezTo>
                  <a:pt x="12857" y="2306"/>
                  <a:pt x="13242" y="2508"/>
                  <a:pt x="13619" y="2737"/>
                </a:cubicBezTo>
                <a:cubicBezTo>
                  <a:pt x="13993" y="2967"/>
                  <a:pt x="14385" y="3207"/>
                  <a:pt x="14791" y="3463"/>
                </a:cubicBezTo>
                <a:cubicBezTo>
                  <a:pt x="15281" y="3736"/>
                  <a:pt x="15849" y="3889"/>
                  <a:pt x="16490" y="3924"/>
                </a:cubicBezTo>
                <a:cubicBezTo>
                  <a:pt x="17036" y="3965"/>
                  <a:pt x="17678" y="3889"/>
                  <a:pt x="18412" y="3707"/>
                </a:cubicBezTo>
                <a:cubicBezTo>
                  <a:pt x="19146" y="3522"/>
                  <a:pt x="19957" y="3113"/>
                  <a:pt x="20838" y="2476"/>
                </a:cubicBezTo>
              </a:path>
            </a:pathLst>
          </a:custGeom>
          <a:solidFill>
            <a:schemeClr val="bg1"/>
          </a:solidFill>
          <a:ln>
            <a:noFill/>
          </a:ln>
          <a:effectLst/>
        </p:spPr>
        <p:txBody>
          <a:bodyPr lIns="101578" tIns="101578" rIns="101578" bIns="101578" anchor="ctr"/>
          <a:lstStyle/>
          <a:p>
            <a:pPr defTabSz="914195" eaLnBrk="1" fontAlgn="auto" hangingPunct="1">
              <a:spcBef>
                <a:spcPts val="0"/>
              </a:spcBef>
              <a:spcAft>
                <a:spcPts val="0"/>
              </a:spcAft>
              <a:defRPr/>
            </a:pPr>
            <a:endParaRPr lang="es-ES" sz="5800" dirty="0">
              <a:solidFill>
                <a:srgbClr val="44CEB9"/>
              </a:solidFill>
              <a:effectLst>
                <a:outerShdw blurRad="38100" dist="38100" dir="2700000" algn="tl">
                  <a:srgbClr val="000000"/>
                </a:outerShdw>
              </a:effectLst>
              <a:latin typeface="Gill Sans" charset="0"/>
              <a:ea typeface="+mn-ea"/>
              <a:cs typeface="Gill Sans" charset="0"/>
              <a:sym typeface="Gill Sans" charset="0"/>
            </a:endParaRPr>
          </a:p>
        </p:txBody>
      </p:sp>
      <p:grpSp>
        <p:nvGrpSpPr>
          <p:cNvPr id="92" name="Group 2"/>
          <p:cNvGrpSpPr>
            <a:grpSpLocks/>
          </p:cNvGrpSpPr>
          <p:nvPr/>
        </p:nvGrpSpPr>
        <p:grpSpPr bwMode="auto">
          <a:xfrm>
            <a:off x="2857096" y="3332683"/>
            <a:ext cx="413920" cy="409944"/>
            <a:chOff x="1569458" y="688424"/>
            <a:chExt cx="334962" cy="331788"/>
          </a:xfrm>
          <a:solidFill>
            <a:srgbClr val="FFFFFF"/>
          </a:solidFill>
        </p:grpSpPr>
        <p:sp>
          <p:nvSpPr>
            <p:cNvPr id="93" name="Freeform 11"/>
            <p:cNvSpPr>
              <a:spLocks noChangeArrowheads="1"/>
            </p:cNvSpPr>
            <p:nvPr/>
          </p:nvSpPr>
          <p:spPr bwMode="auto">
            <a:xfrm>
              <a:off x="1587500" y="901699"/>
              <a:ext cx="42863" cy="77788"/>
            </a:xfrm>
            <a:custGeom>
              <a:avLst/>
              <a:gdLst>
                <a:gd name="T0" fmla="*/ 0 w 118"/>
                <a:gd name="T1" fmla="*/ 183 h 218"/>
                <a:gd name="T2" fmla="*/ 25 w 118"/>
                <a:gd name="T3" fmla="*/ 217 h 218"/>
                <a:gd name="T4" fmla="*/ 84 w 118"/>
                <a:gd name="T5" fmla="*/ 217 h 218"/>
                <a:gd name="T6" fmla="*/ 117 w 118"/>
                <a:gd name="T7" fmla="*/ 183 h 218"/>
                <a:gd name="T8" fmla="*/ 117 w 118"/>
                <a:gd name="T9" fmla="*/ 0 h 218"/>
                <a:gd name="T10" fmla="*/ 17 w 118"/>
                <a:gd name="T11" fmla="*/ 91 h 218"/>
                <a:gd name="T12" fmla="*/ 0 w 118"/>
                <a:gd name="T13" fmla="*/ 75 h 218"/>
                <a:gd name="T14" fmla="*/ 0 w 118"/>
                <a:gd name="T15" fmla="*/ 183 h 218"/>
                <a:gd name="T16" fmla="*/ 0 w 118"/>
                <a:gd name="T17" fmla="*/ 183 h 218"/>
                <a:gd name="T18" fmla="*/ 0 w 118"/>
                <a:gd name="T19" fmla="*/ 18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218">
                  <a:moveTo>
                    <a:pt x="0" y="183"/>
                  </a:moveTo>
                  <a:cubicBezTo>
                    <a:pt x="0" y="200"/>
                    <a:pt x="8" y="217"/>
                    <a:pt x="25" y="217"/>
                  </a:cubicBezTo>
                  <a:cubicBezTo>
                    <a:pt x="84" y="217"/>
                    <a:pt x="84" y="217"/>
                    <a:pt x="84" y="217"/>
                  </a:cubicBezTo>
                  <a:cubicBezTo>
                    <a:pt x="100" y="217"/>
                    <a:pt x="117" y="200"/>
                    <a:pt x="117" y="183"/>
                  </a:cubicBezTo>
                  <a:cubicBezTo>
                    <a:pt x="117" y="0"/>
                    <a:pt x="117" y="0"/>
                    <a:pt x="117" y="0"/>
                  </a:cubicBezTo>
                  <a:cubicBezTo>
                    <a:pt x="17" y="91"/>
                    <a:pt x="17" y="91"/>
                    <a:pt x="17" y="91"/>
                  </a:cubicBezTo>
                  <a:cubicBezTo>
                    <a:pt x="0" y="75"/>
                    <a:pt x="0" y="75"/>
                    <a:pt x="0" y="75"/>
                  </a:cubicBezTo>
                  <a:lnTo>
                    <a:pt x="0" y="183"/>
                  </a:lnTo>
                  <a:close/>
                  <a:moveTo>
                    <a:pt x="0" y="183"/>
                  </a:moveTo>
                  <a:lnTo>
                    <a:pt x="0" y="183"/>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94" name="Freeform 12"/>
            <p:cNvSpPr>
              <a:spLocks noChangeArrowheads="1"/>
            </p:cNvSpPr>
            <p:nvPr/>
          </p:nvSpPr>
          <p:spPr bwMode="auto">
            <a:xfrm>
              <a:off x="1657350" y="858837"/>
              <a:ext cx="42863" cy="120650"/>
            </a:xfrm>
            <a:custGeom>
              <a:avLst/>
              <a:gdLst>
                <a:gd name="T0" fmla="*/ 0 w 118"/>
                <a:gd name="T1" fmla="*/ 301 h 336"/>
                <a:gd name="T2" fmla="*/ 34 w 118"/>
                <a:gd name="T3" fmla="*/ 335 h 336"/>
                <a:gd name="T4" fmla="*/ 84 w 118"/>
                <a:gd name="T5" fmla="*/ 335 h 336"/>
                <a:gd name="T6" fmla="*/ 117 w 118"/>
                <a:gd name="T7" fmla="*/ 301 h 336"/>
                <a:gd name="T8" fmla="*/ 117 w 118"/>
                <a:gd name="T9" fmla="*/ 76 h 336"/>
                <a:gd name="T10" fmla="*/ 42 w 118"/>
                <a:gd name="T11" fmla="*/ 0 h 336"/>
                <a:gd name="T12" fmla="*/ 0 w 118"/>
                <a:gd name="T13" fmla="*/ 42 h 336"/>
                <a:gd name="T14" fmla="*/ 0 w 118"/>
                <a:gd name="T15" fmla="*/ 301 h 336"/>
                <a:gd name="T16" fmla="*/ 0 w 118"/>
                <a:gd name="T17" fmla="*/ 301 h 336"/>
                <a:gd name="T18" fmla="*/ 0 w 118"/>
                <a:gd name="T19" fmla="*/ 301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336">
                  <a:moveTo>
                    <a:pt x="0" y="301"/>
                  </a:moveTo>
                  <a:cubicBezTo>
                    <a:pt x="0" y="318"/>
                    <a:pt x="17" y="335"/>
                    <a:pt x="34" y="335"/>
                  </a:cubicBezTo>
                  <a:cubicBezTo>
                    <a:pt x="84" y="335"/>
                    <a:pt x="84" y="335"/>
                    <a:pt x="84" y="335"/>
                  </a:cubicBezTo>
                  <a:cubicBezTo>
                    <a:pt x="101" y="335"/>
                    <a:pt x="117" y="318"/>
                    <a:pt x="117" y="301"/>
                  </a:cubicBezTo>
                  <a:cubicBezTo>
                    <a:pt x="117" y="76"/>
                    <a:pt x="117" y="76"/>
                    <a:pt x="117" y="76"/>
                  </a:cubicBezTo>
                  <a:cubicBezTo>
                    <a:pt x="42" y="0"/>
                    <a:pt x="42" y="0"/>
                    <a:pt x="42" y="0"/>
                  </a:cubicBezTo>
                  <a:cubicBezTo>
                    <a:pt x="0" y="42"/>
                    <a:pt x="0" y="42"/>
                    <a:pt x="0" y="42"/>
                  </a:cubicBezTo>
                  <a:lnTo>
                    <a:pt x="0" y="301"/>
                  </a:lnTo>
                  <a:close/>
                  <a:moveTo>
                    <a:pt x="0" y="301"/>
                  </a:moveTo>
                  <a:lnTo>
                    <a:pt x="0" y="301"/>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95" name="Freeform 13"/>
            <p:cNvSpPr>
              <a:spLocks noChangeArrowheads="1"/>
            </p:cNvSpPr>
            <p:nvPr/>
          </p:nvSpPr>
          <p:spPr bwMode="auto">
            <a:xfrm>
              <a:off x="1727200" y="858837"/>
              <a:ext cx="42863" cy="120650"/>
            </a:xfrm>
            <a:custGeom>
              <a:avLst/>
              <a:gdLst>
                <a:gd name="T0" fmla="*/ 92 w 118"/>
                <a:gd name="T1" fmla="*/ 335 h 336"/>
                <a:gd name="T2" fmla="*/ 117 w 118"/>
                <a:gd name="T3" fmla="*/ 301 h 336"/>
                <a:gd name="T4" fmla="*/ 117 w 118"/>
                <a:gd name="T5" fmla="*/ 0 h 336"/>
                <a:gd name="T6" fmla="*/ 0 w 118"/>
                <a:gd name="T7" fmla="*/ 118 h 336"/>
                <a:gd name="T8" fmla="*/ 0 w 118"/>
                <a:gd name="T9" fmla="*/ 301 h 336"/>
                <a:gd name="T10" fmla="*/ 33 w 118"/>
                <a:gd name="T11" fmla="*/ 335 h 336"/>
                <a:gd name="T12" fmla="*/ 92 w 118"/>
                <a:gd name="T13" fmla="*/ 335 h 336"/>
                <a:gd name="T14" fmla="*/ 92 w 118"/>
                <a:gd name="T15" fmla="*/ 335 h 336"/>
                <a:gd name="T16" fmla="*/ 92 w 118"/>
                <a:gd name="T17" fmla="*/ 335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336">
                  <a:moveTo>
                    <a:pt x="92" y="335"/>
                  </a:moveTo>
                  <a:cubicBezTo>
                    <a:pt x="108" y="335"/>
                    <a:pt x="117" y="318"/>
                    <a:pt x="117" y="301"/>
                  </a:cubicBezTo>
                  <a:cubicBezTo>
                    <a:pt x="117" y="0"/>
                    <a:pt x="117" y="0"/>
                    <a:pt x="117" y="0"/>
                  </a:cubicBezTo>
                  <a:cubicBezTo>
                    <a:pt x="0" y="118"/>
                    <a:pt x="0" y="118"/>
                    <a:pt x="0" y="118"/>
                  </a:cubicBezTo>
                  <a:cubicBezTo>
                    <a:pt x="0" y="301"/>
                    <a:pt x="0" y="301"/>
                    <a:pt x="0" y="301"/>
                  </a:cubicBezTo>
                  <a:cubicBezTo>
                    <a:pt x="0" y="318"/>
                    <a:pt x="16" y="335"/>
                    <a:pt x="33" y="335"/>
                  </a:cubicBezTo>
                  <a:lnTo>
                    <a:pt x="92" y="335"/>
                  </a:lnTo>
                  <a:close/>
                  <a:moveTo>
                    <a:pt x="92" y="335"/>
                  </a:moveTo>
                  <a:lnTo>
                    <a:pt x="92" y="335"/>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96" name="Freeform 14"/>
            <p:cNvSpPr>
              <a:spLocks noChangeArrowheads="1"/>
            </p:cNvSpPr>
            <p:nvPr/>
          </p:nvSpPr>
          <p:spPr bwMode="auto">
            <a:xfrm>
              <a:off x="1795463" y="817562"/>
              <a:ext cx="46037" cy="163512"/>
            </a:xfrm>
            <a:custGeom>
              <a:avLst/>
              <a:gdLst>
                <a:gd name="T0" fmla="*/ 0 w 126"/>
                <a:gd name="T1" fmla="*/ 41 h 452"/>
                <a:gd name="T2" fmla="*/ 0 w 126"/>
                <a:gd name="T3" fmla="*/ 417 h 452"/>
                <a:gd name="T4" fmla="*/ 33 w 126"/>
                <a:gd name="T5" fmla="*/ 451 h 452"/>
                <a:gd name="T6" fmla="*/ 92 w 126"/>
                <a:gd name="T7" fmla="*/ 451 h 452"/>
                <a:gd name="T8" fmla="*/ 125 w 126"/>
                <a:gd name="T9" fmla="*/ 417 h 452"/>
                <a:gd name="T10" fmla="*/ 125 w 126"/>
                <a:gd name="T11" fmla="*/ 66 h 452"/>
                <a:gd name="T12" fmla="*/ 50 w 126"/>
                <a:gd name="T13" fmla="*/ 0 h 452"/>
                <a:gd name="T14" fmla="*/ 0 w 126"/>
                <a:gd name="T15" fmla="*/ 41 h 452"/>
                <a:gd name="T16" fmla="*/ 0 w 126"/>
                <a:gd name="T17" fmla="*/ 41 h 452"/>
                <a:gd name="T18" fmla="*/ 0 w 126"/>
                <a:gd name="T19" fmla="*/ 41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6" h="452">
                  <a:moveTo>
                    <a:pt x="0" y="41"/>
                  </a:moveTo>
                  <a:cubicBezTo>
                    <a:pt x="0" y="417"/>
                    <a:pt x="0" y="417"/>
                    <a:pt x="0" y="417"/>
                  </a:cubicBezTo>
                  <a:cubicBezTo>
                    <a:pt x="0" y="434"/>
                    <a:pt x="17" y="451"/>
                    <a:pt x="33" y="451"/>
                  </a:cubicBezTo>
                  <a:cubicBezTo>
                    <a:pt x="92" y="451"/>
                    <a:pt x="92" y="451"/>
                    <a:pt x="92" y="451"/>
                  </a:cubicBezTo>
                  <a:cubicBezTo>
                    <a:pt x="109" y="451"/>
                    <a:pt x="125" y="434"/>
                    <a:pt x="125" y="417"/>
                  </a:cubicBezTo>
                  <a:cubicBezTo>
                    <a:pt x="125" y="66"/>
                    <a:pt x="125" y="66"/>
                    <a:pt x="125" y="66"/>
                  </a:cubicBezTo>
                  <a:cubicBezTo>
                    <a:pt x="50" y="0"/>
                    <a:pt x="50" y="0"/>
                    <a:pt x="50" y="0"/>
                  </a:cubicBezTo>
                  <a:lnTo>
                    <a:pt x="0" y="41"/>
                  </a:lnTo>
                  <a:close/>
                  <a:moveTo>
                    <a:pt x="0" y="41"/>
                  </a:moveTo>
                  <a:lnTo>
                    <a:pt x="0" y="41"/>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97" name="Freeform 15"/>
            <p:cNvSpPr>
              <a:spLocks noChangeArrowheads="1"/>
            </p:cNvSpPr>
            <p:nvPr/>
          </p:nvSpPr>
          <p:spPr bwMode="auto">
            <a:xfrm>
              <a:off x="1576388" y="744537"/>
              <a:ext cx="261937" cy="163512"/>
            </a:xfrm>
            <a:custGeom>
              <a:avLst/>
              <a:gdLst>
                <a:gd name="T0" fmla="*/ 234 w 728"/>
                <a:gd name="T1" fmla="*/ 284 h 452"/>
                <a:gd name="T2" fmla="*/ 292 w 728"/>
                <a:gd name="T3" fmla="*/ 284 h 452"/>
                <a:gd name="T4" fmla="*/ 359 w 728"/>
                <a:gd name="T5" fmla="*/ 351 h 452"/>
                <a:gd name="T6" fmla="*/ 401 w 728"/>
                <a:gd name="T7" fmla="*/ 368 h 452"/>
                <a:gd name="T8" fmla="*/ 434 w 728"/>
                <a:gd name="T9" fmla="*/ 351 h 452"/>
                <a:gd name="T10" fmla="*/ 660 w 728"/>
                <a:gd name="T11" fmla="*/ 134 h 452"/>
                <a:gd name="T12" fmla="*/ 694 w 728"/>
                <a:gd name="T13" fmla="*/ 167 h 452"/>
                <a:gd name="T14" fmla="*/ 710 w 728"/>
                <a:gd name="T15" fmla="*/ 175 h 452"/>
                <a:gd name="T16" fmla="*/ 727 w 728"/>
                <a:gd name="T17" fmla="*/ 159 h 452"/>
                <a:gd name="T18" fmla="*/ 727 w 728"/>
                <a:gd name="T19" fmla="*/ 33 h 452"/>
                <a:gd name="T20" fmla="*/ 719 w 728"/>
                <a:gd name="T21" fmla="*/ 8 h 452"/>
                <a:gd name="T22" fmla="*/ 694 w 728"/>
                <a:gd name="T23" fmla="*/ 0 h 452"/>
                <a:gd name="T24" fmla="*/ 568 w 728"/>
                <a:gd name="T25" fmla="*/ 0 h 452"/>
                <a:gd name="T26" fmla="*/ 551 w 728"/>
                <a:gd name="T27" fmla="*/ 8 h 452"/>
                <a:gd name="T28" fmla="*/ 551 w 728"/>
                <a:gd name="T29" fmla="*/ 33 h 452"/>
                <a:gd name="T30" fmla="*/ 585 w 728"/>
                <a:gd name="T31" fmla="*/ 58 h 452"/>
                <a:gd name="T32" fmla="*/ 426 w 728"/>
                <a:gd name="T33" fmla="*/ 217 h 452"/>
                <a:gd name="T34" fmla="*/ 401 w 728"/>
                <a:gd name="T35" fmla="*/ 225 h 452"/>
                <a:gd name="T36" fmla="*/ 368 w 728"/>
                <a:gd name="T37" fmla="*/ 217 h 452"/>
                <a:gd name="T38" fmla="*/ 292 w 728"/>
                <a:gd name="T39" fmla="*/ 142 h 452"/>
                <a:gd name="T40" fmla="*/ 234 w 728"/>
                <a:gd name="T41" fmla="*/ 142 h 452"/>
                <a:gd name="T42" fmla="*/ 8 w 728"/>
                <a:gd name="T43" fmla="*/ 359 h 452"/>
                <a:gd name="T44" fmla="*/ 0 w 728"/>
                <a:gd name="T45" fmla="*/ 393 h 452"/>
                <a:gd name="T46" fmla="*/ 8 w 728"/>
                <a:gd name="T47" fmla="*/ 426 h 452"/>
                <a:gd name="T48" fmla="*/ 25 w 728"/>
                <a:gd name="T49" fmla="*/ 435 h 452"/>
                <a:gd name="T50" fmla="*/ 83 w 728"/>
                <a:gd name="T51" fmla="*/ 435 h 452"/>
                <a:gd name="T52" fmla="*/ 234 w 728"/>
                <a:gd name="T53" fmla="*/ 284 h 452"/>
                <a:gd name="T54" fmla="*/ 234 w 728"/>
                <a:gd name="T55" fmla="*/ 284 h 452"/>
                <a:gd name="T56" fmla="*/ 234 w 728"/>
                <a:gd name="T57" fmla="*/ 284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28" h="452">
                  <a:moveTo>
                    <a:pt x="234" y="284"/>
                  </a:moveTo>
                  <a:cubicBezTo>
                    <a:pt x="250" y="267"/>
                    <a:pt x="276" y="267"/>
                    <a:pt x="292" y="284"/>
                  </a:cubicBezTo>
                  <a:cubicBezTo>
                    <a:pt x="359" y="351"/>
                    <a:pt x="359" y="351"/>
                    <a:pt x="359" y="351"/>
                  </a:cubicBezTo>
                  <a:cubicBezTo>
                    <a:pt x="376" y="368"/>
                    <a:pt x="384" y="368"/>
                    <a:pt x="401" y="368"/>
                  </a:cubicBezTo>
                  <a:cubicBezTo>
                    <a:pt x="418" y="368"/>
                    <a:pt x="426" y="368"/>
                    <a:pt x="434" y="351"/>
                  </a:cubicBezTo>
                  <a:cubicBezTo>
                    <a:pt x="660" y="134"/>
                    <a:pt x="660" y="134"/>
                    <a:pt x="660" y="134"/>
                  </a:cubicBezTo>
                  <a:cubicBezTo>
                    <a:pt x="694" y="167"/>
                    <a:pt x="694" y="167"/>
                    <a:pt x="694" y="167"/>
                  </a:cubicBezTo>
                  <a:cubicBezTo>
                    <a:pt x="702" y="175"/>
                    <a:pt x="710" y="175"/>
                    <a:pt x="710" y="175"/>
                  </a:cubicBezTo>
                  <a:cubicBezTo>
                    <a:pt x="719" y="175"/>
                    <a:pt x="727" y="167"/>
                    <a:pt x="727" y="159"/>
                  </a:cubicBezTo>
                  <a:cubicBezTo>
                    <a:pt x="727" y="33"/>
                    <a:pt x="727" y="33"/>
                    <a:pt x="727" y="33"/>
                  </a:cubicBezTo>
                  <a:cubicBezTo>
                    <a:pt x="727" y="25"/>
                    <a:pt x="727" y="16"/>
                    <a:pt x="719" y="8"/>
                  </a:cubicBezTo>
                  <a:cubicBezTo>
                    <a:pt x="710" y="0"/>
                    <a:pt x="702" y="0"/>
                    <a:pt x="694" y="0"/>
                  </a:cubicBezTo>
                  <a:cubicBezTo>
                    <a:pt x="568" y="0"/>
                    <a:pt x="568" y="0"/>
                    <a:pt x="568" y="0"/>
                  </a:cubicBezTo>
                  <a:cubicBezTo>
                    <a:pt x="560" y="0"/>
                    <a:pt x="551" y="0"/>
                    <a:pt x="551" y="8"/>
                  </a:cubicBezTo>
                  <a:cubicBezTo>
                    <a:pt x="543" y="16"/>
                    <a:pt x="551" y="25"/>
                    <a:pt x="551" y="33"/>
                  </a:cubicBezTo>
                  <a:cubicBezTo>
                    <a:pt x="585" y="58"/>
                    <a:pt x="585" y="58"/>
                    <a:pt x="585" y="58"/>
                  </a:cubicBezTo>
                  <a:cubicBezTo>
                    <a:pt x="426" y="217"/>
                    <a:pt x="426" y="217"/>
                    <a:pt x="426" y="217"/>
                  </a:cubicBezTo>
                  <a:cubicBezTo>
                    <a:pt x="426" y="225"/>
                    <a:pt x="409" y="225"/>
                    <a:pt x="401" y="225"/>
                  </a:cubicBezTo>
                  <a:cubicBezTo>
                    <a:pt x="393" y="225"/>
                    <a:pt x="376" y="225"/>
                    <a:pt x="368" y="217"/>
                  </a:cubicBezTo>
                  <a:cubicBezTo>
                    <a:pt x="292" y="142"/>
                    <a:pt x="292" y="142"/>
                    <a:pt x="292" y="142"/>
                  </a:cubicBezTo>
                  <a:cubicBezTo>
                    <a:pt x="276" y="125"/>
                    <a:pt x="250" y="125"/>
                    <a:pt x="234" y="142"/>
                  </a:cubicBezTo>
                  <a:cubicBezTo>
                    <a:pt x="8" y="359"/>
                    <a:pt x="8" y="359"/>
                    <a:pt x="8" y="359"/>
                  </a:cubicBezTo>
                  <a:cubicBezTo>
                    <a:pt x="0" y="368"/>
                    <a:pt x="0" y="384"/>
                    <a:pt x="0" y="393"/>
                  </a:cubicBezTo>
                  <a:cubicBezTo>
                    <a:pt x="0" y="410"/>
                    <a:pt x="0" y="418"/>
                    <a:pt x="8" y="426"/>
                  </a:cubicBezTo>
                  <a:cubicBezTo>
                    <a:pt x="25" y="435"/>
                    <a:pt x="25" y="435"/>
                    <a:pt x="25" y="435"/>
                  </a:cubicBezTo>
                  <a:cubicBezTo>
                    <a:pt x="41" y="451"/>
                    <a:pt x="67" y="451"/>
                    <a:pt x="83" y="435"/>
                  </a:cubicBezTo>
                  <a:lnTo>
                    <a:pt x="234" y="284"/>
                  </a:lnTo>
                  <a:close/>
                  <a:moveTo>
                    <a:pt x="234" y="284"/>
                  </a:moveTo>
                  <a:lnTo>
                    <a:pt x="234" y="284"/>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98" name="Freeform 16"/>
            <p:cNvSpPr>
              <a:spLocks noChangeArrowheads="1"/>
            </p:cNvSpPr>
            <p:nvPr/>
          </p:nvSpPr>
          <p:spPr bwMode="auto">
            <a:xfrm>
              <a:off x="1569458" y="688424"/>
              <a:ext cx="334962" cy="331788"/>
            </a:xfrm>
            <a:custGeom>
              <a:avLst/>
              <a:gdLst>
                <a:gd name="T0" fmla="*/ 887 w 929"/>
                <a:gd name="T1" fmla="*/ 0 h 921"/>
                <a:gd name="T2" fmla="*/ 836 w 929"/>
                <a:gd name="T3" fmla="*/ 50 h 921"/>
                <a:gd name="T4" fmla="*/ 836 w 929"/>
                <a:gd name="T5" fmla="*/ 837 h 921"/>
                <a:gd name="T6" fmla="*/ 51 w 929"/>
                <a:gd name="T7" fmla="*/ 837 h 921"/>
                <a:gd name="T8" fmla="*/ 0 w 929"/>
                <a:gd name="T9" fmla="*/ 878 h 921"/>
                <a:gd name="T10" fmla="*/ 51 w 929"/>
                <a:gd name="T11" fmla="*/ 920 h 921"/>
                <a:gd name="T12" fmla="*/ 887 w 929"/>
                <a:gd name="T13" fmla="*/ 920 h 921"/>
                <a:gd name="T14" fmla="*/ 928 w 929"/>
                <a:gd name="T15" fmla="*/ 878 h 921"/>
                <a:gd name="T16" fmla="*/ 928 w 929"/>
                <a:gd name="T17" fmla="*/ 50 h 921"/>
                <a:gd name="T18" fmla="*/ 887 w 929"/>
                <a:gd name="T19" fmla="*/ 0 h 921"/>
                <a:gd name="T20" fmla="*/ 887 w 929"/>
                <a:gd name="T21" fmla="*/ 0 h 921"/>
                <a:gd name="T22" fmla="*/ 887 w 929"/>
                <a:gd name="T23" fmla="*/ 0 h 9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29" h="921">
                  <a:moveTo>
                    <a:pt x="887" y="0"/>
                  </a:moveTo>
                  <a:cubicBezTo>
                    <a:pt x="862" y="0"/>
                    <a:pt x="836" y="26"/>
                    <a:pt x="836" y="50"/>
                  </a:cubicBezTo>
                  <a:cubicBezTo>
                    <a:pt x="836" y="837"/>
                    <a:pt x="836" y="837"/>
                    <a:pt x="836" y="837"/>
                  </a:cubicBezTo>
                  <a:cubicBezTo>
                    <a:pt x="51" y="837"/>
                    <a:pt x="51" y="837"/>
                    <a:pt x="51" y="837"/>
                  </a:cubicBezTo>
                  <a:cubicBezTo>
                    <a:pt x="26" y="837"/>
                    <a:pt x="0" y="853"/>
                    <a:pt x="0" y="878"/>
                  </a:cubicBezTo>
                  <a:cubicBezTo>
                    <a:pt x="0" y="903"/>
                    <a:pt x="26" y="920"/>
                    <a:pt x="51" y="920"/>
                  </a:cubicBezTo>
                  <a:cubicBezTo>
                    <a:pt x="887" y="920"/>
                    <a:pt x="887" y="920"/>
                    <a:pt x="887" y="920"/>
                  </a:cubicBezTo>
                  <a:cubicBezTo>
                    <a:pt x="912" y="920"/>
                    <a:pt x="928" y="903"/>
                    <a:pt x="928" y="878"/>
                  </a:cubicBezTo>
                  <a:cubicBezTo>
                    <a:pt x="928" y="50"/>
                    <a:pt x="928" y="50"/>
                    <a:pt x="928" y="50"/>
                  </a:cubicBezTo>
                  <a:cubicBezTo>
                    <a:pt x="928" y="26"/>
                    <a:pt x="903" y="0"/>
                    <a:pt x="887" y="0"/>
                  </a:cubicBezTo>
                  <a:close/>
                  <a:moveTo>
                    <a:pt x="887" y="0"/>
                  </a:moveTo>
                  <a:lnTo>
                    <a:pt x="887" y="0"/>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grpSp>
      <p:grpSp>
        <p:nvGrpSpPr>
          <p:cNvPr id="99" name="Group 587"/>
          <p:cNvGrpSpPr>
            <a:grpSpLocks/>
          </p:cNvGrpSpPr>
          <p:nvPr/>
        </p:nvGrpSpPr>
        <p:grpSpPr bwMode="auto">
          <a:xfrm>
            <a:off x="2847545" y="4510321"/>
            <a:ext cx="522416" cy="461865"/>
            <a:chOff x="1530350" y="5719762"/>
            <a:chExt cx="452438" cy="400050"/>
          </a:xfrm>
          <a:solidFill>
            <a:srgbClr val="FFFFFF"/>
          </a:solidFill>
        </p:grpSpPr>
        <p:sp>
          <p:nvSpPr>
            <p:cNvPr id="100" name="Freeform 533"/>
            <p:cNvSpPr>
              <a:spLocks noChangeArrowheads="1"/>
            </p:cNvSpPr>
            <p:nvPr/>
          </p:nvSpPr>
          <p:spPr bwMode="auto">
            <a:xfrm>
              <a:off x="1593850" y="5921374"/>
              <a:ext cx="42863" cy="39688"/>
            </a:xfrm>
            <a:custGeom>
              <a:avLst/>
              <a:gdLst>
                <a:gd name="T0" fmla="*/ 0 w 118"/>
                <a:gd name="T1" fmla="*/ 0 h 110"/>
                <a:gd name="T2" fmla="*/ 117 w 118"/>
                <a:gd name="T3" fmla="*/ 0 h 110"/>
                <a:gd name="T4" fmla="*/ 117 w 118"/>
                <a:gd name="T5" fmla="*/ 109 h 110"/>
                <a:gd name="T6" fmla="*/ 0 w 118"/>
                <a:gd name="T7" fmla="*/ 109 h 110"/>
                <a:gd name="T8" fmla="*/ 0 w 118"/>
                <a:gd name="T9" fmla="*/ 0 h 110"/>
              </a:gdLst>
              <a:ahLst/>
              <a:cxnLst>
                <a:cxn ang="0">
                  <a:pos x="T0" y="T1"/>
                </a:cxn>
                <a:cxn ang="0">
                  <a:pos x="T2" y="T3"/>
                </a:cxn>
                <a:cxn ang="0">
                  <a:pos x="T4" y="T5"/>
                </a:cxn>
                <a:cxn ang="0">
                  <a:pos x="T6" y="T7"/>
                </a:cxn>
                <a:cxn ang="0">
                  <a:pos x="T8" y="T9"/>
                </a:cxn>
              </a:cxnLst>
              <a:rect l="0" t="0" r="r" b="b"/>
              <a:pathLst>
                <a:path w="118" h="110">
                  <a:moveTo>
                    <a:pt x="0" y="0"/>
                  </a:moveTo>
                  <a:lnTo>
                    <a:pt x="117" y="0"/>
                  </a:lnTo>
                  <a:lnTo>
                    <a:pt x="117" y="109"/>
                  </a:lnTo>
                  <a:lnTo>
                    <a:pt x="0" y="109"/>
                  </a:lnTo>
                  <a:lnTo>
                    <a:pt x="0" y="0"/>
                  </a:lnTo>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101" name="Freeform 534"/>
            <p:cNvSpPr>
              <a:spLocks noChangeArrowheads="1"/>
            </p:cNvSpPr>
            <p:nvPr/>
          </p:nvSpPr>
          <p:spPr bwMode="auto">
            <a:xfrm>
              <a:off x="1593850" y="5984874"/>
              <a:ext cx="42863" cy="39688"/>
            </a:xfrm>
            <a:custGeom>
              <a:avLst/>
              <a:gdLst>
                <a:gd name="T0" fmla="*/ 0 w 118"/>
                <a:gd name="T1" fmla="*/ 0 h 110"/>
                <a:gd name="T2" fmla="*/ 117 w 118"/>
                <a:gd name="T3" fmla="*/ 0 h 110"/>
                <a:gd name="T4" fmla="*/ 117 w 118"/>
                <a:gd name="T5" fmla="*/ 109 h 110"/>
                <a:gd name="T6" fmla="*/ 0 w 118"/>
                <a:gd name="T7" fmla="*/ 109 h 110"/>
                <a:gd name="T8" fmla="*/ 0 w 118"/>
                <a:gd name="T9" fmla="*/ 0 h 110"/>
              </a:gdLst>
              <a:ahLst/>
              <a:cxnLst>
                <a:cxn ang="0">
                  <a:pos x="T0" y="T1"/>
                </a:cxn>
                <a:cxn ang="0">
                  <a:pos x="T2" y="T3"/>
                </a:cxn>
                <a:cxn ang="0">
                  <a:pos x="T4" y="T5"/>
                </a:cxn>
                <a:cxn ang="0">
                  <a:pos x="T6" y="T7"/>
                </a:cxn>
                <a:cxn ang="0">
                  <a:pos x="T8" y="T9"/>
                </a:cxn>
              </a:cxnLst>
              <a:rect l="0" t="0" r="r" b="b"/>
              <a:pathLst>
                <a:path w="118" h="110">
                  <a:moveTo>
                    <a:pt x="0" y="0"/>
                  </a:moveTo>
                  <a:lnTo>
                    <a:pt x="117" y="0"/>
                  </a:lnTo>
                  <a:lnTo>
                    <a:pt x="117" y="109"/>
                  </a:lnTo>
                  <a:lnTo>
                    <a:pt x="0" y="109"/>
                  </a:lnTo>
                  <a:lnTo>
                    <a:pt x="0" y="0"/>
                  </a:lnTo>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102" name="Freeform 535"/>
            <p:cNvSpPr>
              <a:spLocks noChangeArrowheads="1"/>
            </p:cNvSpPr>
            <p:nvPr/>
          </p:nvSpPr>
          <p:spPr bwMode="auto">
            <a:xfrm>
              <a:off x="1663700" y="5857874"/>
              <a:ext cx="39688" cy="39688"/>
            </a:xfrm>
            <a:custGeom>
              <a:avLst/>
              <a:gdLst>
                <a:gd name="T0" fmla="*/ 0 w 110"/>
                <a:gd name="T1" fmla="*/ 0 h 110"/>
                <a:gd name="T2" fmla="*/ 109 w 110"/>
                <a:gd name="T3" fmla="*/ 0 h 110"/>
                <a:gd name="T4" fmla="*/ 109 w 110"/>
                <a:gd name="T5" fmla="*/ 109 h 110"/>
                <a:gd name="T6" fmla="*/ 0 w 110"/>
                <a:gd name="T7" fmla="*/ 109 h 110"/>
                <a:gd name="T8" fmla="*/ 0 w 110"/>
                <a:gd name="T9" fmla="*/ 0 h 110"/>
              </a:gdLst>
              <a:ahLst/>
              <a:cxnLst>
                <a:cxn ang="0">
                  <a:pos x="T0" y="T1"/>
                </a:cxn>
                <a:cxn ang="0">
                  <a:pos x="T2" y="T3"/>
                </a:cxn>
                <a:cxn ang="0">
                  <a:pos x="T4" y="T5"/>
                </a:cxn>
                <a:cxn ang="0">
                  <a:pos x="T6" y="T7"/>
                </a:cxn>
                <a:cxn ang="0">
                  <a:pos x="T8" y="T9"/>
                </a:cxn>
              </a:cxnLst>
              <a:rect l="0" t="0" r="r" b="b"/>
              <a:pathLst>
                <a:path w="110" h="110">
                  <a:moveTo>
                    <a:pt x="0" y="0"/>
                  </a:moveTo>
                  <a:lnTo>
                    <a:pt x="109" y="0"/>
                  </a:lnTo>
                  <a:lnTo>
                    <a:pt x="109" y="109"/>
                  </a:lnTo>
                  <a:lnTo>
                    <a:pt x="0" y="109"/>
                  </a:lnTo>
                  <a:lnTo>
                    <a:pt x="0" y="0"/>
                  </a:lnTo>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103" name="Freeform 536"/>
            <p:cNvSpPr>
              <a:spLocks noChangeArrowheads="1"/>
            </p:cNvSpPr>
            <p:nvPr/>
          </p:nvSpPr>
          <p:spPr bwMode="auto">
            <a:xfrm>
              <a:off x="1663700" y="5921374"/>
              <a:ext cx="39688" cy="39688"/>
            </a:xfrm>
            <a:custGeom>
              <a:avLst/>
              <a:gdLst>
                <a:gd name="T0" fmla="*/ 0 w 110"/>
                <a:gd name="T1" fmla="*/ 0 h 110"/>
                <a:gd name="T2" fmla="*/ 109 w 110"/>
                <a:gd name="T3" fmla="*/ 0 h 110"/>
                <a:gd name="T4" fmla="*/ 109 w 110"/>
                <a:gd name="T5" fmla="*/ 109 h 110"/>
                <a:gd name="T6" fmla="*/ 0 w 110"/>
                <a:gd name="T7" fmla="*/ 109 h 110"/>
                <a:gd name="T8" fmla="*/ 0 w 110"/>
                <a:gd name="T9" fmla="*/ 0 h 110"/>
              </a:gdLst>
              <a:ahLst/>
              <a:cxnLst>
                <a:cxn ang="0">
                  <a:pos x="T0" y="T1"/>
                </a:cxn>
                <a:cxn ang="0">
                  <a:pos x="T2" y="T3"/>
                </a:cxn>
                <a:cxn ang="0">
                  <a:pos x="T4" y="T5"/>
                </a:cxn>
                <a:cxn ang="0">
                  <a:pos x="T6" y="T7"/>
                </a:cxn>
                <a:cxn ang="0">
                  <a:pos x="T8" y="T9"/>
                </a:cxn>
              </a:cxnLst>
              <a:rect l="0" t="0" r="r" b="b"/>
              <a:pathLst>
                <a:path w="110" h="110">
                  <a:moveTo>
                    <a:pt x="0" y="0"/>
                  </a:moveTo>
                  <a:lnTo>
                    <a:pt x="109" y="0"/>
                  </a:lnTo>
                  <a:lnTo>
                    <a:pt x="109" y="109"/>
                  </a:lnTo>
                  <a:lnTo>
                    <a:pt x="0" y="109"/>
                  </a:lnTo>
                  <a:lnTo>
                    <a:pt x="0" y="0"/>
                  </a:lnTo>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104" name="Freeform 537"/>
            <p:cNvSpPr>
              <a:spLocks noChangeArrowheads="1"/>
            </p:cNvSpPr>
            <p:nvPr/>
          </p:nvSpPr>
          <p:spPr bwMode="auto">
            <a:xfrm>
              <a:off x="1663700" y="5984874"/>
              <a:ext cx="39688" cy="39688"/>
            </a:xfrm>
            <a:custGeom>
              <a:avLst/>
              <a:gdLst>
                <a:gd name="T0" fmla="*/ 0 w 110"/>
                <a:gd name="T1" fmla="*/ 0 h 110"/>
                <a:gd name="T2" fmla="*/ 109 w 110"/>
                <a:gd name="T3" fmla="*/ 0 h 110"/>
                <a:gd name="T4" fmla="*/ 109 w 110"/>
                <a:gd name="T5" fmla="*/ 109 h 110"/>
                <a:gd name="T6" fmla="*/ 0 w 110"/>
                <a:gd name="T7" fmla="*/ 109 h 110"/>
                <a:gd name="T8" fmla="*/ 0 w 110"/>
                <a:gd name="T9" fmla="*/ 0 h 110"/>
              </a:gdLst>
              <a:ahLst/>
              <a:cxnLst>
                <a:cxn ang="0">
                  <a:pos x="T0" y="T1"/>
                </a:cxn>
                <a:cxn ang="0">
                  <a:pos x="T2" y="T3"/>
                </a:cxn>
                <a:cxn ang="0">
                  <a:pos x="T4" y="T5"/>
                </a:cxn>
                <a:cxn ang="0">
                  <a:pos x="T6" y="T7"/>
                </a:cxn>
                <a:cxn ang="0">
                  <a:pos x="T8" y="T9"/>
                </a:cxn>
              </a:cxnLst>
              <a:rect l="0" t="0" r="r" b="b"/>
              <a:pathLst>
                <a:path w="110" h="110">
                  <a:moveTo>
                    <a:pt x="0" y="0"/>
                  </a:moveTo>
                  <a:lnTo>
                    <a:pt x="109" y="0"/>
                  </a:lnTo>
                  <a:lnTo>
                    <a:pt x="109" y="109"/>
                  </a:lnTo>
                  <a:lnTo>
                    <a:pt x="0" y="109"/>
                  </a:lnTo>
                  <a:lnTo>
                    <a:pt x="0" y="0"/>
                  </a:lnTo>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105" name="Freeform 538"/>
            <p:cNvSpPr>
              <a:spLocks noChangeArrowheads="1"/>
            </p:cNvSpPr>
            <p:nvPr/>
          </p:nvSpPr>
          <p:spPr bwMode="auto">
            <a:xfrm>
              <a:off x="1530350" y="5719762"/>
              <a:ext cx="452438" cy="400050"/>
            </a:xfrm>
            <a:custGeom>
              <a:avLst/>
              <a:gdLst>
                <a:gd name="T0" fmla="*/ 1029 w 1255"/>
                <a:gd name="T1" fmla="*/ 75 h 1113"/>
                <a:gd name="T2" fmla="*/ 75 w 1255"/>
                <a:gd name="T3" fmla="*/ 0 h 1113"/>
                <a:gd name="T4" fmla="*/ 0 w 1255"/>
                <a:gd name="T5" fmla="*/ 953 h 1113"/>
                <a:gd name="T6" fmla="*/ 644 w 1255"/>
                <a:gd name="T7" fmla="*/ 1029 h 1113"/>
                <a:gd name="T8" fmla="*/ 1254 w 1255"/>
                <a:gd name="T9" fmla="*/ 736 h 1113"/>
                <a:gd name="T10" fmla="*/ 335 w 1255"/>
                <a:gd name="T11" fmla="*/ 75 h 1113"/>
                <a:gd name="T12" fmla="*/ 694 w 1255"/>
                <a:gd name="T13" fmla="*/ 167 h 1113"/>
                <a:gd name="T14" fmla="*/ 335 w 1255"/>
                <a:gd name="T15" fmla="*/ 75 h 1113"/>
                <a:gd name="T16" fmla="*/ 937 w 1255"/>
                <a:gd name="T17" fmla="*/ 251 h 1113"/>
                <a:gd name="T18" fmla="*/ 878 w 1255"/>
                <a:gd name="T19" fmla="*/ 368 h 1113"/>
                <a:gd name="T20" fmla="*/ 661 w 1255"/>
                <a:gd name="T21" fmla="*/ 385 h 1113"/>
                <a:gd name="T22" fmla="*/ 552 w 1255"/>
                <a:gd name="T23" fmla="*/ 494 h 1113"/>
                <a:gd name="T24" fmla="*/ 510 w 1255"/>
                <a:gd name="T25" fmla="*/ 736 h 1113"/>
                <a:gd name="T26" fmla="*/ 92 w 1255"/>
                <a:gd name="T27" fmla="*/ 920 h 1113"/>
                <a:gd name="T28" fmla="*/ 845 w 1255"/>
                <a:gd name="T29" fmla="*/ 435 h 1113"/>
                <a:gd name="T30" fmla="*/ 911 w 1255"/>
                <a:gd name="T31" fmla="*/ 435 h 1113"/>
                <a:gd name="T32" fmla="*/ 845 w 1255"/>
                <a:gd name="T33" fmla="*/ 435 h 1113"/>
                <a:gd name="T34" fmla="*/ 577 w 1255"/>
                <a:gd name="T35" fmla="*/ 769 h 1113"/>
                <a:gd name="T36" fmla="*/ 577 w 1255"/>
                <a:gd name="T37" fmla="*/ 703 h 1113"/>
                <a:gd name="T38" fmla="*/ 878 w 1255"/>
                <a:gd name="T39" fmla="*/ 1079 h 1113"/>
                <a:gd name="T40" fmla="*/ 878 w 1255"/>
                <a:gd name="T41" fmla="*/ 1004 h 1113"/>
                <a:gd name="T42" fmla="*/ 878 w 1255"/>
                <a:gd name="T43" fmla="*/ 1079 h 1113"/>
                <a:gd name="T44" fmla="*/ 945 w 1255"/>
                <a:gd name="T45" fmla="*/ 728 h 1113"/>
                <a:gd name="T46" fmla="*/ 878 w 1255"/>
                <a:gd name="T47" fmla="*/ 803 h 1113"/>
                <a:gd name="T48" fmla="*/ 661 w 1255"/>
                <a:gd name="T49" fmla="*/ 627 h 1113"/>
                <a:gd name="T50" fmla="*/ 694 w 1255"/>
                <a:gd name="T51" fmla="*/ 585 h 1113"/>
                <a:gd name="T52" fmla="*/ 878 w 1255"/>
                <a:gd name="T53" fmla="*/ 669 h 1113"/>
                <a:gd name="T54" fmla="*/ 1045 w 1255"/>
                <a:gd name="T55" fmla="*/ 544 h 1113"/>
                <a:gd name="T56" fmla="*/ 1087 w 1255"/>
                <a:gd name="T57" fmla="*/ 585 h 1113"/>
                <a:gd name="T58" fmla="*/ 1146 w 1255"/>
                <a:gd name="T59" fmla="*/ 736 h 1113"/>
                <a:gd name="T60" fmla="*/ 1221 w 1255"/>
                <a:gd name="T61" fmla="*/ 736 h 1113"/>
                <a:gd name="T62" fmla="*/ 1179 w 1255"/>
                <a:gd name="T63" fmla="*/ 769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55" h="1113">
                  <a:moveTo>
                    <a:pt x="1029" y="402"/>
                  </a:moveTo>
                  <a:cubicBezTo>
                    <a:pt x="1029" y="75"/>
                    <a:pt x="1029" y="75"/>
                    <a:pt x="1029" y="75"/>
                  </a:cubicBezTo>
                  <a:cubicBezTo>
                    <a:pt x="1029" y="34"/>
                    <a:pt x="995" y="0"/>
                    <a:pt x="953" y="0"/>
                  </a:cubicBezTo>
                  <a:cubicBezTo>
                    <a:pt x="75" y="0"/>
                    <a:pt x="75" y="0"/>
                    <a:pt x="75" y="0"/>
                  </a:cubicBezTo>
                  <a:cubicBezTo>
                    <a:pt x="34" y="0"/>
                    <a:pt x="0" y="34"/>
                    <a:pt x="0" y="75"/>
                  </a:cubicBezTo>
                  <a:cubicBezTo>
                    <a:pt x="0" y="953"/>
                    <a:pt x="0" y="953"/>
                    <a:pt x="0" y="953"/>
                  </a:cubicBezTo>
                  <a:cubicBezTo>
                    <a:pt x="0" y="995"/>
                    <a:pt x="34" y="1029"/>
                    <a:pt x="75" y="1029"/>
                  </a:cubicBezTo>
                  <a:cubicBezTo>
                    <a:pt x="644" y="1029"/>
                    <a:pt x="644" y="1029"/>
                    <a:pt x="644" y="1029"/>
                  </a:cubicBezTo>
                  <a:cubicBezTo>
                    <a:pt x="711" y="1079"/>
                    <a:pt x="795" y="1112"/>
                    <a:pt x="878" y="1112"/>
                  </a:cubicBezTo>
                  <a:cubicBezTo>
                    <a:pt x="1087" y="1112"/>
                    <a:pt x="1254" y="945"/>
                    <a:pt x="1254" y="736"/>
                  </a:cubicBezTo>
                  <a:cubicBezTo>
                    <a:pt x="1254" y="585"/>
                    <a:pt x="1162" y="460"/>
                    <a:pt x="1029" y="402"/>
                  </a:cubicBezTo>
                  <a:close/>
                  <a:moveTo>
                    <a:pt x="335" y="75"/>
                  </a:moveTo>
                  <a:cubicBezTo>
                    <a:pt x="694" y="75"/>
                    <a:pt x="694" y="75"/>
                    <a:pt x="694" y="75"/>
                  </a:cubicBezTo>
                  <a:cubicBezTo>
                    <a:pt x="694" y="167"/>
                    <a:pt x="694" y="167"/>
                    <a:pt x="694" y="167"/>
                  </a:cubicBezTo>
                  <a:cubicBezTo>
                    <a:pt x="335" y="167"/>
                    <a:pt x="335" y="167"/>
                    <a:pt x="335" y="167"/>
                  </a:cubicBezTo>
                  <a:lnTo>
                    <a:pt x="335" y="75"/>
                  </a:lnTo>
                  <a:close/>
                  <a:moveTo>
                    <a:pt x="92" y="251"/>
                  </a:moveTo>
                  <a:cubicBezTo>
                    <a:pt x="937" y="251"/>
                    <a:pt x="937" y="251"/>
                    <a:pt x="937" y="251"/>
                  </a:cubicBezTo>
                  <a:cubicBezTo>
                    <a:pt x="937" y="368"/>
                    <a:pt x="937" y="368"/>
                    <a:pt x="937" y="368"/>
                  </a:cubicBezTo>
                  <a:cubicBezTo>
                    <a:pt x="920" y="368"/>
                    <a:pt x="895" y="368"/>
                    <a:pt x="878" y="368"/>
                  </a:cubicBezTo>
                  <a:cubicBezTo>
                    <a:pt x="795" y="368"/>
                    <a:pt x="719" y="393"/>
                    <a:pt x="661" y="435"/>
                  </a:cubicBezTo>
                  <a:cubicBezTo>
                    <a:pt x="661" y="385"/>
                    <a:pt x="661" y="385"/>
                    <a:pt x="661" y="385"/>
                  </a:cubicBezTo>
                  <a:cubicBezTo>
                    <a:pt x="552" y="385"/>
                    <a:pt x="552" y="385"/>
                    <a:pt x="552" y="385"/>
                  </a:cubicBezTo>
                  <a:cubicBezTo>
                    <a:pt x="552" y="494"/>
                    <a:pt x="552" y="494"/>
                    <a:pt x="552" y="494"/>
                  </a:cubicBezTo>
                  <a:cubicBezTo>
                    <a:pt x="602" y="494"/>
                    <a:pt x="602" y="494"/>
                    <a:pt x="602" y="494"/>
                  </a:cubicBezTo>
                  <a:cubicBezTo>
                    <a:pt x="544" y="560"/>
                    <a:pt x="510" y="644"/>
                    <a:pt x="510" y="736"/>
                  </a:cubicBezTo>
                  <a:cubicBezTo>
                    <a:pt x="510" y="803"/>
                    <a:pt x="527" y="870"/>
                    <a:pt x="560" y="920"/>
                  </a:cubicBezTo>
                  <a:cubicBezTo>
                    <a:pt x="92" y="920"/>
                    <a:pt x="92" y="920"/>
                    <a:pt x="92" y="920"/>
                  </a:cubicBezTo>
                  <a:lnTo>
                    <a:pt x="92" y="251"/>
                  </a:lnTo>
                  <a:close/>
                  <a:moveTo>
                    <a:pt x="845" y="435"/>
                  </a:moveTo>
                  <a:cubicBezTo>
                    <a:pt x="845" y="418"/>
                    <a:pt x="861" y="402"/>
                    <a:pt x="878" y="402"/>
                  </a:cubicBezTo>
                  <a:cubicBezTo>
                    <a:pt x="895" y="402"/>
                    <a:pt x="911" y="418"/>
                    <a:pt x="911" y="435"/>
                  </a:cubicBezTo>
                  <a:cubicBezTo>
                    <a:pt x="911" y="452"/>
                    <a:pt x="895" y="468"/>
                    <a:pt x="878" y="468"/>
                  </a:cubicBezTo>
                  <a:cubicBezTo>
                    <a:pt x="861" y="468"/>
                    <a:pt x="845" y="452"/>
                    <a:pt x="845" y="435"/>
                  </a:cubicBezTo>
                  <a:close/>
                  <a:moveTo>
                    <a:pt x="610" y="736"/>
                  </a:moveTo>
                  <a:cubicBezTo>
                    <a:pt x="610" y="761"/>
                    <a:pt x="594" y="769"/>
                    <a:pt x="577" y="769"/>
                  </a:cubicBezTo>
                  <a:cubicBezTo>
                    <a:pt x="560" y="769"/>
                    <a:pt x="544" y="761"/>
                    <a:pt x="544" y="736"/>
                  </a:cubicBezTo>
                  <a:cubicBezTo>
                    <a:pt x="544" y="719"/>
                    <a:pt x="560" y="703"/>
                    <a:pt x="577" y="703"/>
                  </a:cubicBezTo>
                  <a:cubicBezTo>
                    <a:pt x="594" y="703"/>
                    <a:pt x="610" y="719"/>
                    <a:pt x="610" y="736"/>
                  </a:cubicBezTo>
                  <a:close/>
                  <a:moveTo>
                    <a:pt x="878" y="1079"/>
                  </a:moveTo>
                  <a:cubicBezTo>
                    <a:pt x="861" y="1079"/>
                    <a:pt x="845" y="1062"/>
                    <a:pt x="845" y="1045"/>
                  </a:cubicBezTo>
                  <a:cubicBezTo>
                    <a:pt x="845" y="1020"/>
                    <a:pt x="861" y="1004"/>
                    <a:pt x="878" y="1004"/>
                  </a:cubicBezTo>
                  <a:cubicBezTo>
                    <a:pt x="895" y="1004"/>
                    <a:pt x="911" y="1020"/>
                    <a:pt x="911" y="1045"/>
                  </a:cubicBezTo>
                  <a:cubicBezTo>
                    <a:pt x="911" y="1062"/>
                    <a:pt x="895" y="1079"/>
                    <a:pt x="878" y="1079"/>
                  </a:cubicBezTo>
                  <a:close/>
                  <a:moveTo>
                    <a:pt x="1087" y="585"/>
                  </a:moveTo>
                  <a:cubicBezTo>
                    <a:pt x="945" y="728"/>
                    <a:pt x="945" y="728"/>
                    <a:pt x="945" y="728"/>
                  </a:cubicBezTo>
                  <a:lnTo>
                    <a:pt x="945" y="736"/>
                  </a:lnTo>
                  <a:cubicBezTo>
                    <a:pt x="945" y="778"/>
                    <a:pt x="920" y="803"/>
                    <a:pt x="878" y="803"/>
                  </a:cubicBezTo>
                  <a:cubicBezTo>
                    <a:pt x="845" y="803"/>
                    <a:pt x="811" y="778"/>
                    <a:pt x="811" y="744"/>
                  </a:cubicBezTo>
                  <a:cubicBezTo>
                    <a:pt x="661" y="627"/>
                    <a:pt x="661" y="627"/>
                    <a:pt x="661" y="627"/>
                  </a:cubicBezTo>
                  <a:cubicBezTo>
                    <a:pt x="652" y="619"/>
                    <a:pt x="644" y="594"/>
                    <a:pt x="652" y="585"/>
                  </a:cubicBezTo>
                  <a:cubicBezTo>
                    <a:pt x="661" y="577"/>
                    <a:pt x="686" y="569"/>
                    <a:pt x="694" y="585"/>
                  </a:cubicBezTo>
                  <a:cubicBezTo>
                    <a:pt x="836" y="686"/>
                    <a:pt x="836" y="686"/>
                    <a:pt x="836" y="686"/>
                  </a:cubicBezTo>
                  <a:cubicBezTo>
                    <a:pt x="845" y="677"/>
                    <a:pt x="861" y="669"/>
                    <a:pt x="878" y="669"/>
                  </a:cubicBezTo>
                  <a:cubicBezTo>
                    <a:pt x="895" y="669"/>
                    <a:pt x="903" y="677"/>
                    <a:pt x="911" y="677"/>
                  </a:cubicBezTo>
                  <a:cubicBezTo>
                    <a:pt x="1045" y="544"/>
                    <a:pt x="1045" y="544"/>
                    <a:pt x="1045" y="544"/>
                  </a:cubicBezTo>
                  <a:cubicBezTo>
                    <a:pt x="1062" y="535"/>
                    <a:pt x="1079" y="535"/>
                    <a:pt x="1087" y="544"/>
                  </a:cubicBezTo>
                  <a:cubicBezTo>
                    <a:pt x="1104" y="552"/>
                    <a:pt x="1096" y="569"/>
                    <a:pt x="1087" y="585"/>
                  </a:cubicBezTo>
                  <a:close/>
                  <a:moveTo>
                    <a:pt x="1179" y="769"/>
                  </a:moveTo>
                  <a:cubicBezTo>
                    <a:pt x="1162" y="769"/>
                    <a:pt x="1146" y="761"/>
                    <a:pt x="1146" y="736"/>
                  </a:cubicBezTo>
                  <a:cubicBezTo>
                    <a:pt x="1146" y="719"/>
                    <a:pt x="1162" y="703"/>
                    <a:pt x="1179" y="703"/>
                  </a:cubicBezTo>
                  <a:cubicBezTo>
                    <a:pt x="1204" y="703"/>
                    <a:pt x="1221" y="719"/>
                    <a:pt x="1221" y="736"/>
                  </a:cubicBezTo>
                  <a:cubicBezTo>
                    <a:pt x="1221" y="761"/>
                    <a:pt x="1204" y="769"/>
                    <a:pt x="1179" y="769"/>
                  </a:cubicBezTo>
                  <a:close/>
                  <a:moveTo>
                    <a:pt x="1179" y="769"/>
                  </a:moveTo>
                  <a:lnTo>
                    <a:pt x="1179" y="769"/>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grpSp>
      <p:cxnSp>
        <p:nvCxnSpPr>
          <p:cNvPr id="8" name="直接连接符 7"/>
          <p:cNvCxnSpPr>
            <a:stCxn id="4" idx="0"/>
          </p:cNvCxnSpPr>
          <p:nvPr/>
        </p:nvCxnSpPr>
        <p:spPr>
          <a:xfrm flipV="1">
            <a:off x="3765550" y="1277181"/>
            <a:ext cx="908050" cy="6350"/>
          </a:xfrm>
          <a:prstGeom prst="line">
            <a:avLst/>
          </a:prstGeom>
          <a:ln>
            <a:solidFill>
              <a:schemeClr val="tx1">
                <a:lumMod val="75000"/>
                <a:lumOff val="2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V="1">
            <a:off x="3765550" y="2404306"/>
            <a:ext cx="908050" cy="6350"/>
          </a:xfrm>
          <a:prstGeom prst="line">
            <a:avLst/>
          </a:prstGeom>
          <a:ln>
            <a:solidFill>
              <a:schemeClr val="tx1">
                <a:lumMod val="75000"/>
                <a:lumOff val="2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V="1">
            <a:off x="3765550" y="3537781"/>
            <a:ext cx="908050" cy="4763"/>
          </a:xfrm>
          <a:prstGeom prst="line">
            <a:avLst/>
          </a:prstGeom>
          <a:ln>
            <a:solidFill>
              <a:schemeClr val="tx1">
                <a:lumMod val="75000"/>
                <a:lumOff val="2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V="1">
            <a:off x="3765550" y="4664906"/>
            <a:ext cx="908050" cy="6350"/>
          </a:xfrm>
          <a:prstGeom prst="line">
            <a:avLst/>
          </a:prstGeom>
          <a:ln>
            <a:solidFill>
              <a:schemeClr val="tx1">
                <a:lumMod val="75000"/>
                <a:lumOff val="2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4570413" y="1238046"/>
            <a:ext cx="106362" cy="104775"/>
          </a:xfrm>
          <a:prstGeom prst="ellipse">
            <a:avLst/>
          </a:prstGeom>
          <a:solidFill>
            <a:srgbClr val="FFFFFF"/>
          </a:solid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595959"/>
              </a:solidFill>
            </a:endParaRPr>
          </a:p>
        </p:txBody>
      </p:sp>
      <p:sp>
        <p:nvSpPr>
          <p:cNvPr id="50" name="椭圆 49"/>
          <p:cNvSpPr/>
          <p:nvPr/>
        </p:nvSpPr>
        <p:spPr>
          <a:xfrm>
            <a:off x="4570413" y="2339219"/>
            <a:ext cx="106362" cy="106362"/>
          </a:xfrm>
          <a:prstGeom prst="ellipse">
            <a:avLst/>
          </a:prstGeom>
          <a:solidFill>
            <a:srgbClr val="FFFFFF"/>
          </a:solid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595959"/>
              </a:solidFill>
            </a:endParaRPr>
          </a:p>
        </p:txBody>
      </p:sp>
      <p:sp>
        <p:nvSpPr>
          <p:cNvPr id="51" name="椭圆 50"/>
          <p:cNvSpPr/>
          <p:nvPr/>
        </p:nvSpPr>
        <p:spPr>
          <a:xfrm>
            <a:off x="4570413" y="3497058"/>
            <a:ext cx="106362" cy="106363"/>
          </a:xfrm>
          <a:prstGeom prst="ellipse">
            <a:avLst/>
          </a:prstGeom>
          <a:solidFill>
            <a:srgbClr val="FFFFFF"/>
          </a:solid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595959"/>
              </a:solidFill>
            </a:endParaRPr>
          </a:p>
        </p:txBody>
      </p:sp>
      <p:sp>
        <p:nvSpPr>
          <p:cNvPr id="52" name="椭圆 51"/>
          <p:cNvSpPr/>
          <p:nvPr/>
        </p:nvSpPr>
        <p:spPr>
          <a:xfrm>
            <a:off x="4570413" y="4613064"/>
            <a:ext cx="106362" cy="106362"/>
          </a:xfrm>
          <a:prstGeom prst="ellipse">
            <a:avLst/>
          </a:prstGeom>
          <a:solidFill>
            <a:srgbClr val="FFFFFF"/>
          </a:solid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595959"/>
              </a:solidFill>
            </a:endParaRPr>
          </a:p>
        </p:txBody>
      </p:sp>
      <p:sp>
        <p:nvSpPr>
          <p:cNvPr id="53" name="文本框 52"/>
          <p:cNvSpPr txBox="1">
            <a:spLocks noChangeArrowheads="1"/>
          </p:cNvSpPr>
          <p:nvPr/>
        </p:nvSpPr>
        <p:spPr bwMode="auto">
          <a:xfrm>
            <a:off x="4896282" y="855732"/>
            <a:ext cx="32624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不断提高计算机资源利用率</a:t>
            </a:r>
          </a:p>
        </p:txBody>
      </p:sp>
      <p:sp>
        <p:nvSpPr>
          <p:cNvPr id="54" name="文本框 53"/>
          <p:cNvSpPr txBox="1"/>
          <p:nvPr/>
        </p:nvSpPr>
        <p:spPr>
          <a:xfrm>
            <a:off x="4896281" y="1255782"/>
            <a:ext cx="6678947" cy="1015663"/>
          </a:xfrm>
          <a:prstGeom prst="rect">
            <a:avLst/>
          </a:prstGeom>
          <a:noFill/>
        </p:spPr>
        <p:txBody>
          <a:bodyPr wrap="square">
            <a:spAutoFit/>
          </a:bodyPr>
          <a:lstStyle/>
          <a:p>
            <a:pPr>
              <a:defRPr/>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计算机价格昂贵，从单个作业到批处理作业，从单道程序到多道程序，以及</a:t>
            </a:r>
            <a:r>
              <a:rPr lang="en-US" altLang="zh-CN" sz="2000" dirty="0" err="1">
                <a:solidFill>
                  <a:schemeClr val="tx1">
                    <a:lumMod val="85000"/>
                    <a:lumOff val="15000"/>
                  </a:schemeClr>
                </a:solidFill>
                <a:latin typeface="微软雅黑" panose="020B0503020204020204" pitchFamily="34" charset="-122"/>
                <a:ea typeface="微软雅黑" panose="020B0503020204020204" pitchFamily="34" charset="-122"/>
              </a:rPr>
              <a:t>SPOOLing</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，虚拟存储器和网络环境下允许所有网络用户访问文件系统和数据库系统。</a:t>
            </a:r>
          </a:p>
        </p:txBody>
      </p:sp>
      <p:sp>
        <p:nvSpPr>
          <p:cNvPr id="55" name="文本框 54"/>
          <p:cNvSpPr txBox="1">
            <a:spLocks noChangeArrowheads="1"/>
          </p:cNvSpPr>
          <p:nvPr/>
        </p:nvSpPr>
        <p:spPr bwMode="auto">
          <a:xfrm>
            <a:off x="4896282" y="2154307"/>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方便用户</a:t>
            </a:r>
          </a:p>
        </p:txBody>
      </p:sp>
      <p:sp>
        <p:nvSpPr>
          <p:cNvPr id="56" name="文本框 55"/>
          <p:cNvSpPr txBox="1"/>
          <p:nvPr/>
        </p:nvSpPr>
        <p:spPr>
          <a:xfrm>
            <a:off x="4896281" y="2554357"/>
            <a:ext cx="6765007" cy="707886"/>
          </a:xfrm>
          <a:prstGeom prst="rect">
            <a:avLst/>
          </a:prstGeom>
          <a:noFill/>
        </p:spPr>
        <p:txBody>
          <a:bodyPr wrap="square">
            <a:spAutoFit/>
          </a:bodyPr>
          <a:lstStyle/>
          <a:p>
            <a:pPr>
              <a:defRPr/>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改善用户上机、调试程序时的环境，分时系统→图形用户界面</a:t>
            </a:r>
          </a:p>
        </p:txBody>
      </p:sp>
      <p:sp>
        <p:nvSpPr>
          <p:cNvPr id="57" name="文本框 56"/>
          <p:cNvSpPr txBox="1">
            <a:spLocks noChangeArrowheads="1"/>
          </p:cNvSpPr>
          <p:nvPr/>
        </p:nvSpPr>
        <p:spPr bwMode="auto">
          <a:xfrm>
            <a:off x="4896282" y="3222695"/>
            <a:ext cx="24929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器件的不断更新换代</a:t>
            </a:r>
          </a:p>
        </p:txBody>
      </p:sp>
      <p:sp>
        <p:nvSpPr>
          <p:cNvPr id="58" name="文本框 57"/>
          <p:cNvSpPr txBox="1"/>
          <p:nvPr/>
        </p:nvSpPr>
        <p:spPr>
          <a:xfrm>
            <a:off x="4896280" y="3622745"/>
            <a:ext cx="6711221" cy="1015663"/>
          </a:xfrm>
          <a:prstGeom prst="rect">
            <a:avLst/>
          </a:prstGeom>
          <a:noFill/>
        </p:spPr>
        <p:txBody>
          <a:bodyPr wrap="square">
            <a:spAutoFit/>
          </a:bodyPr>
          <a:lstStyle/>
          <a:p>
            <a:pPr>
              <a:defRPr/>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微电子技术的迅猛发展，推动着计算机器件的更新换代。如芯片从</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rPr>
              <a:t>8</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位→</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位  →</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rPr>
              <a:t>32</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位→</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rPr>
              <a:t>64</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位。存储设备从磁盘→移动硬盘→闪存盘→扫描仪等</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a:t>
            </a:r>
          </a:p>
        </p:txBody>
      </p:sp>
      <p:sp>
        <p:nvSpPr>
          <p:cNvPr id="59" name="文本框 58"/>
          <p:cNvSpPr txBox="1">
            <a:spLocks noChangeArrowheads="1"/>
          </p:cNvSpPr>
          <p:nvPr/>
        </p:nvSpPr>
        <p:spPr bwMode="auto">
          <a:xfrm>
            <a:off x="4896282" y="4676841"/>
            <a:ext cx="32624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计算机体系结构的不断发展</a:t>
            </a:r>
          </a:p>
        </p:txBody>
      </p:sp>
      <p:sp>
        <p:nvSpPr>
          <p:cNvPr id="60" name="文本框 59"/>
          <p:cNvSpPr txBox="1"/>
          <p:nvPr/>
        </p:nvSpPr>
        <p:spPr>
          <a:xfrm>
            <a:off x="4896281" y="5076891"/>
            <a:ext cx="6721977" cy="338554"/>
          </a:xfrm>
          <a:prstGeom prst="rect">
            <a:avLst/>
          </a:prstGeom>
          <a:noFill/>
        </p:spPr>
        <p:txBody>
          <a:bodyPr wrap="square">
            <a:spAutoFit/>
          </a:bodyPr>
          <a:lstStyle/>
          <a:p>
            <a:pPr indent="-242888">
              <a:lnSpc>
                <a:spcPct val="80000"/>
              </a:lnSpc>
              <a:defRPr/>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单处理机系统→多处理系统→分布式系统→网络操作系统</a:t>
            </a:r>
          </a:p>
        </p:txBody>
      </p:sp>
      <p:sp>
        <p:nvSpPr>
          <p:cNvPr id="62" name="矩形 61"/>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77" name="组合 76"/>
          <p:cNvGrpSpPr/>
          <p:nvPr/>
        </p:nvGrpSpPr>
        <p:grpSpPr>
          <a:xfrm>
            <a:off x="245745" y="213360"/>
            <a:ext cx="563880" cy="563880"/>
            <a:chOff x="276225" y="213360"/>
            <a:chExt cx="563880" cy="563880"/>
          </a:xfrm>
          <a:solidFill>
            <a:srgbClr val="3D7351"/>
          </a:solidFill>
        </p:grpSpPr>
        <p:sp>
          <p:nvSpPr>
            <p:cNvPr id="78" name="矩形 77"/>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79" name="椭圆 78"/>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80" name="文本框 25"/>
          <p:cNvSpPr txBox="1">
            <a:spLocks noChangeArrowheads="1"/>
          </p:cNvSpPr>
          <p:nvPr/>
        </p:nvSpPr>
        <p:spPr bwMode="auto">
          <a:xfrm>
            <a:off x="902970" y="212725"/>
            <a:ext cx="2954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3D7351"/>
                </a:solidFill>
                <a:latin typeface="微软雅黑" panose="020B0503020204020204" pitchFamily="34" charset="-122"/>
                <a:ea typeface="微软雅黑" panose="020B0503020204020204" pitchFamily="34" charset="-122"/>
              </a:rPr>
              <a:t>操作系统的发展基础</a:t>
            </a:r>
          </a:p>
        </p:txBody>
      </p:sp>
      <p:sp>
        <p:nvSpPr>
          <p:cNvPr id="63"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72" name="圆角矩形 71"/>
          <p:cNvSpPr/>
          <p:nvPr/>
        </p:nvSpPr>
        <p:spPr>
          <a:xfrm>
            <a:off x="1892402" y="5420004"/>
            <a:ext cx="882372" cy="781051"/>
          </a:xfrm>
          <a:prstGeom prst="round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73" name="矩形 72"/>
          <p:cNvSpPr/>
          <p:nvPr/>
        </p:nvSpPr>
        <p:spPr>
          <a:xfrm>
            <a:off x="2600288" y="5420003"/>
            <a:ext cx="892232" cy="781051"/>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74" name="等腰三角形 73"/>
          <p:cNvSpPr/>
          <p:nvPr/>
        </p:nvSpPr>
        <p:spPr>
          <a:xfrm rot="5400000">
            <a:off x="3241994" y="5687198"/>
            <a:ext cx="769145" cy="258567"/>
          </a:xfrm>
          <a:prstGeom prst="triangle">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75" name="文本框 87"/>
          <p:cNvSpPr txBox="1">
            <a:spLocks noChangeArrowheads="1"/>
          </p:cNvSpPr>
          <p:nvPr/>
        </p:nvSpPr>
        <p:spPr bwMode="auto">
          <a:xfrm>
            <a:off x="1950005" y="5517762"/>
            <a:ext cx="64611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dirty="0">
                <a:solidFill>
                  <a:schemeClr val="bg1"/>
                </a:solidFill>
                <a:latin typeface="Impact" panose="020B0806030902050204" pitchFamily="34" charset="0"/>
              </a:rPr>
              <a:t>05</a:t>
            </a:r>
            <a:endParaRPr lang="zh-CN" altLang="en-US" sz="3200" dirty="0">
              <a:solidFill>
                <a:schemeClr val="bg1"/>
              </a:solidFill>
              <a:latin typeface="Impact" panose="020B0806030902050204" pitchFamily="34" charset="0"/>
            </a:endParaRPr>
          </a:p>
        </p:txBody>
      </p:sp>
      <p:grpSp>
        <p:nvGrpSpPr>
          <p:cNvPr id="76" name="Group 2"/>
          <p:cNvGrpSpPr>
            <a:grpSpLocks/>
          </p:cNvGrpSpPr>
          <p:nvPr/>
        </p:nvGrpSpPr>
        <p:grpSpPr bwMode="auto">
          <a:xfrm>
            <a:off x="2848126" y="5593651"/>
            <a:ext cx="413920" cy="409944"/>
            <a:chOff x="1569458" y="688424"/>
            <a:chExt cx="334962" cy="331788"/>
          </a:xfrm>
          <a:solidFill>
            <a:srgbClr val="FFFFFF"/>
          </a:solidFill>
        </p:grpSpPr>
        <p:sp>
          <p:nvSpPr>
            <p:cNvPr id="82" name="Freeform 11"/>
            <p:cNvSpPr>
              <a:spLocks noChangeArrowheads="1"/>
            </p:cNvSpPr>
            <p:nvPr/>
          </p:nvSpPr>
          <p:spPr bwMode="auto">
            <a:xfrm>
              <a:off x="1587500" y="901699"/>
              <a:ext cx="42863" cy="77788"/>
            </a:xfrm>
            <a:custGeom>
              <a:avLst/>
              <a:gdLst>
                <a:gd name="T0" fmla="*/ 0 w 118"/>
                <a:gd name="T1" fmla="*/ 183 h 218"/>
                <a:gd name="T2" fmla="*/ 25 w 118"/>
                <a:gd name="T3" fmla="*/ 217 h 218"/>
                <a:gd name="T4" fmla="*/ 84 w 118"/>
                <a:gd name="T5" fmla="*/ 217 h 218"/>
                <a:gd name="T6" fmla="*/ 117 w 118"/>
                <a:gd name="T7" fmla="*/ 183 h 218"/>
                <a:gd name="T8" fmla="*/ 117 w 118"/>
                <a:gd name="T9" fmla="*/ 0 h 218"/>
                <a:gd name="T10" fmla="*/ 17 w 118"/>
                <a:gd name="T11" fmla="*/ 91 h 218"/>
                <a:gd name="T12" fmla="*/ 0 w 118"/>
                <a:gd name="T13" fmla="*/ 75 h 218"/>
                <a:gd name="T14" fmla="*/ 0 w 118"/>
                <a:gd name="T15" fmla="*/ 183 h 218"/>
                <a:gd name="T16" fmla="*/ 0 w 118"/>
                <a:gd name="T17" fmla="*/ 183 h 218"/>
                <a:gd name="T18" fmla="*/ 0 w 118"/>
                <a:gd name="T19" fmla="*/ 18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218">
                  <a:moveTo>
                    <a:pt x="0" y="183"/>
                  </a:moveTo>
                  <a:cubicBezTo>
                    <a:pt x="0" y="200"/>
                    <a:pt x="8" y="217"/>
                    <a:pt x="25" y="217"/>
                  </a:cubicBezTo>
                  <a:cubicBezTo>
                    <a:pt x="84" y="217"/>
                    <a:pt x="84" y="217"/>
                    <a:pt x="84" y="217"/>
                  </a:cubicBezTo>
                  <a:cubicBezTo>
                    <a:pt x="100" y="217"/>
                    <a:pt x="117" y="200"/>
                    <a:pt x="117" y="183"/>
                  </a:cubicBezTo>
                  <a:cubicBezTo>
                    <a:pt x="117" y="0"/>
                    <a:pt x="117" y="0"/>
                    <a:pt x="117" y="0"/>
                  </a:cubicBezTo>
                  <a:cubicBezTo>
                    <a:pt x="17" y="91"/>
                    <a:pt x="17" y="91"/>
                    <a:pt x="17" y="91"/>
                  </a:cubicBezTo>
                  <a:cubicBezTo>
                    <a:pt x="0" y="75"/>
                    <a:pt x="0" y="75"/>
                    <a:pt x="0" y="75"/>
                  </a:cubicBezTo>
                  <a:lnTo>
                    <a:pt x="0" y="183"/>
                  </a:lnTo>
                  <a:close/>
                  <a:moveTo>
                    <a:pt x="0" y="183"/>
                  </a:moveTo>
                  <a:lnTo>
                    <a:pt x="0" y="183"/>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83" name="Freeform 12"/>
            <p:cNvSpPr>
              <a:spLocks noChangeArrowheads="1"/>
            </p:cNvSpPr>
            <p:nvPr/>
          </p:nvSpPr>
          <p:spPr bwMode="auto">
            <a:xfrm>
              <a:off x="1657350" y="858837"/>
              <a:ext cx="42863" cy="120650"/>
            </a:xfrm>
            <a:custGeom>
              <a:avLst/>
              <a:gdLst>
                <a:gd name="T0" fmla="*/ 0 w 118"/>
                <a:gd name="T1" fmla="*/ 301 h 336"/>
                <a:gd name="T2" fmla="*/ 34 w 118"/>
                <a:gd name="T3" fmla="*/ 335 h 336"/>
                <a:gd name="T4" fmla="*/ 84 w 118"/>
                <a:gd name="T5" fmla="*/ 335 h 336"/>
                <a:gd name="T6" fmla="*/ 117 w 118"/>
                <a:gd name="T7" fmla="*/ 301 h 336"/>
                <a:gd name="T8" fmla="*/ 117 w 118"/>
                <a:gd name="T9" fmla="*/ 76 h 336"/>
                <a:gd name="T10" fmla="*/ 42 w 118"/>
                <a:gd name="T11" fmla="*/ 0 h 336"/>
                <a:gd name="T12" fmla="*/ 0 w 118"/>
                <a:gd name="T13" fmla="*/ 42 h 336"/>
                <a:gd name="T14" fmla="*/ 0 w 118"/>
                <a:gd name="T15" fmla="*/ 301 h 336"/>
                <a:gd name="T16" fmla="*/ 0 w 118"/>
                <a:gd name="T17" fmla="*/ 301 h 336"/>
                <a:gd name="T18" fmla="*/ 0 w 118"/>
                <a:gd name="T19" fmla="*/ 301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336">
                  <a:moveTo>
                    <a:pt x="0" y="301"/>
                  </a:moveTo>
                  <a:cubicBezTo>
                    <a:pt x="0" y="318"/>
                    <a:pt x="17" y="335"/>
                    <a:pt x="34" y="335"/>
                  </a:cubicBezTo>
                  <a:cubicBezTo>
                    <a:pt x="84" y="335"/>
                    <a:pt x="84" y="335"/>
                    <a:pt x="84" y="335"/>
                  </a:cubicBezTo>
                  <a:cubicBezTo>
                    <a:pt x="101" y="335"/>
                    <a:pt x="117" y="318"/>
                    <a:pt x="117" y="301"/>
                  </a:cubicBezTo>
                  <a:cubicBezTo>
                    <a:pt x="117" y="76"/>
                    <a:pt x="117" y="76"/>
                    <a:pt x="117" y="76"/>
                  </a:cubicBezTo>
                  <a:cubicBezTo>
                    <a:pt x="42" y="0"/>
                    <a:pt x="42" y="0"/>
                    <a:pt x="42" y="0"/>
                  </a:cubicBezTo>
                  <a:cubicBezTo>
                    <a:pt x="0" y="42"/>
                    <a:pt x="0" y="42"/>
                    <a:pt x="0" y="42"/>
                  </a:cubicBezTo>
                  <a:lnTo>
                    <a:pt x="0" y="301"/>
                  </a:lnTo>
                  <a:close/>
                  <a:moveTo>
                    <a:pt x="0" y="301"/>
                  </a:moveTo>
                  <a:lnTo>
                    <a:pt x="0" y="301"/>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84" name="Freeform 13"/>
            <p:cNvSpPr>
              <a:spLocks noChangeArrowheads="1"/>
            </p:cNvSpPr>
            <p:nvPr/>
          </p:nvSpPr>
          <p:spPr bwMode="auto">
            <a:xfrm>
              <a:off x="1727200" y="858837"/>
              <a:ext cx="42863" cy="120650"/>
            </a:xfrm>
            <a:custGeom>
              <a:avLst/>
              <a:gdLst>
                <a:gd name="T0" fmla="*/ 92 w 118"/>
                <a:gd name="T1" fmla="*/ 335 h 336"/>
                <a:gd name="T2" fmla="*/ 117 w 118"/>
                <a:gd name="T3" fmla="*/ 301 h 336"/>
                <a:gd name="T4" fmla="*/ 117 w 118"/>
                <a:gd name="T5" fmla="*/ 0 h 336"/>
                <a:gd name="T6" fmla="*/ 0 w 118"/>
                <a:gd name="T7" fmla="*/ 118 h 336"/>
                <a:gd name="T8" fmla="*/ 0 w 118"/>
                <a:gd name="T9" fmla="*/ 301 h 336"/>
                <a:gd name="T10" fmla="*/ 33 w 118"/>
                <a:gd name="T11" fmla="*/ 335 h 336"/>
                <a:gd name="T12" fmla="*/ 92 w 118"/>
                <a:gd name="T13" fmla="*/ 335 h 336"/>
                <a:gd name="T14" fmla="*/ 92 w 118"/>
                <a:gd name="T15" fmla="*/ 335 h 336"/>
                <a:gd name="T16" fmla="*/ 92 w 118"/>
                <a:gd name="T17" fmla="*/ 335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336">
                  <a:moveTo>
                    <a:pt x="92" y="335"/>
                  </a:moveTo>
                  <a:cubicBezTo>
                    <a:pt x="108" y="335"/>
                    <a:pt x="117" y="318"/>
                    <a:pt x="117" y="301"/>
                  </a:cubicBezTo>
                  <a:cubicBezTo>
                    <a:pt x="117" y="0"/>
                    <a:pt x="117" y="0"/>
                    <a:pt x="117" y="0"/>
                  </a:cubicBezTo>
                  <a:cubicBezTo>
                    <a:pt x="0" y="118"/>
                    <a:pt x="0" y="118"/>
                    <a:pt x="0" y="118"/>
                  </a:cubicBezTo>
                  <a:cubicBezTo>
                    <a:pt x="0" y="301"/>
                    <a:pt x="0" y="301"/>
                    <a:pt x="0" y="301"/>
                  </a:cubicBezTo>
                  <a:cubicBezTo>
                    <a:pt x="0" y="318"/>
                    <a:pt x="16" y="335"/>
                    <a:pt x="33" y="335"/>
                  </a:cubicBezTo>
                  <a:lnTo>
                    <a:pt x="92" y="335"/>
                  </a:lnTo>
                  <a:close/>
                  <a:moveTo>
                    <a:pt x="92" y="335"/>
                  </a:moveTo>
                  <a:lnTo>
                    <a:pt x="92" y="335"/>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85" name="Freeform 14"/>
            <p:cNvSpPr>
              <a:spLocks noChangeArrowheads="1"/>
            </p:cNvSpPr>
            <p:nvPr/>
          </p:nvSpPr>
          <p:spPr bwMode="auto">
            <a:xfrm>
              <a:off x="1795463" y="817562"/>
              <a:ext cx="46037" cy="163512"/>
            </a:xfrm>
            <a:custGeom>
              <a:avLst/>
              <a:gdLst>
                <a:gd name="T0" fmla="*/ 0 w 126"/>
                <a:gd name="T1" fmla="*/ 41 h 452"/>
                <a:gd name="T2" fmla="*/ 0 w 126"/>
                <a:gd name="T3" fmla="*/ 417 h 452"/>
                <a:gd name="T4" fmla="*/ 33 w 126"/>
                <a:gd name="T5" fmla="*/ 451 h 452"/>
                <a:gd name="T6" fmla="*/ 92 w 126"/>
                <a:gd name="T7" fmla="*/ 451 h 452"/>
                <a:gd name="T8" fmla="*/ 125 w 126"/>
                <a:gd name="T9" fmla="*/ 417 h 452"/>
                <a:gd name="T10" fmla="*/ 125 w 126"/>
                <a:gd name="T11" fmla="*/ 66 h 452"/>
                <a:gd name="T12" fmla="*/ 50 w 126"/>
                <a:gd name="T13" fmla="*/ 0 h 452"/>
                <a:gd name="T14" fmla="*/ 0 w 126"/>
                <a:gd name="T15" fmla="*/ 41 h 452"/>
                <a:gd name="T16" fmla="*/ 0 w 126"/>
                <a:gd name="T17" fmla="*/ 41 h 452"/>
                <a:gd name="T18" fmla="*/ 0 w 126"/>
                <a:gd name="T19" fmla="*/ 41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6" h="452">
                  <a:moveTo>
                    <a:pt x="0" y="41"/>
                  </a:moveTo>
                  <a:cubicBezTo>
                    <a:pt x="0" y="417"/>
                    <a:pt x="0" y="417"/>
                    <a:pt x="0" y="417"/>
                  </a:cubicBezTo>
                  <a:cubicBezTo>
                    <a:pt x="0" y="434"/>
                    <a:pt x="17" y="451"/>
                    <a:pt x="33" y="451"/>
                  </a:cubicBezTo>
                  <a:cubicBezTo>
                    <a:pt x="92" y="451"/>
                    <a:pt x="92" y="451"/>
                    <a:pt x="92" y="451"/>
                  </a:cubicBezTo>
                  <a:cubicBezTo>
                    <a:pt x="109" y="451"/>
                    <a:pt x="125" y="434"/>
                    <a:pt x="125" y="417"/>
                  </a:cubicBezTo>
                  <a:cubicBezTo>
                    <a:pt x="125" y="66"/>
                    <a:pt x="125" y="66"/>
                    <a:pt x="125" y="66"/>
                  </a:cubicBezTo>
                  <a:cubicBezTo>
                    <a:pt x="50" y="0"/>
                    <a:pt x="50" y="0"/>
                    <a:pt x="50" y="0"/>
                  </a:cubicBezTo>
                  <a:lnTo>
                    <a:pt x="0" y="41"/>
                  </a:lnTo>
                  <a:close/>
                  <a:moveTo>
                    <a:pt x="0" y="41"/>
                  </a:moveTo>
                  <a:lnTo>
                    <a:pt x="0" y="41"/>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86" name="Freeform 15"/>
            <p:cNvSpPr>
              <a:spLocks noChangeArrowheads="1"/>
            </p:cNvSpPr>
            <p:nvPr/>
          </p:nvSpPr>
          <p:spPr bwMode="auto">
            <a:xfrm>
              <a:off x="1576388" y="744537"/>
              <a:ext cx="261937" cy="163512"/>
            </a:xfrm>
            <a:custGeom>
              <a:avLst/>
              <a:gdLst>
                <a:gd name="T0" fmla="*/ 234 w 728"/>
                <a:gd name="T1" fmla="*/ 284 h 452"/>
                <a:gd name="T2" fmla="*/ 292 w 728"/>
                <a:gd name="T3" fmla="*/ 284 h 452"/>
                <a:gd name="T4" fmla="*/ 359 w 728"/>
                <a:gd name="T5" fmla="*/ 351 h 452"/>
                <a:gd name="T6" fmla="*/ 401 w 728"/>
                <a:gd name="T7" fmla="*/ 368 h 452"/>
                <a:gd name="T8" fmla="*/ 434 w 728"/>
                <a:gd name="T9" fmla="*/ 351 h 452"/>
                <a:gd name="T10" fmla="*/ 660 w 728"/>
                <a:gd name="T11" fmla="*/ 134 h 452"/>
                <a:gd name="T12" fmla="*/ 694 w 728"/>
                <a:gd name="T13" fmla="*/ 167 h 452"/>
                <a:gd name="T14" fmla="*/ 710 w 728"/>
                <a:gd name="T15" fmla="*/ 175 h 452"/>
                <a:gd name="T16" fmla="*/ 727 w 728"/>
                <a:gd name="T17" fmla="*/ 159 h 452"/>
                <a:gd name="T18" fmla="*/ 727 w 728"/>
                <a:gd name="T19" fmla="*/ 33 h 452"/>
                <a:gd name="T20" fmla="*/ 719 w 728"/>
                <a:gd name="T21" fmla="*/ 8 h 452"/>
                <a:gd name="T22" fmla="*/ 694 w 728"/>
                <a:gd name="T23" fmla="*/ 0 h 452"/>
                <a:gd name="T24" fmla="*/ 568 w 728"/>
                <a:gd name="T25" fmla="*/ 0 h 452"/>
                <a:gd name="T26" fmla="*/ 551 w 728"/>
                <a:gd name="T27" fmla="*/ 8 h 452"/>
                <a:gd name="T28" fmla="*/ 551 w 728"/>
                <a:gd name="T29" fmla="*/ 33 h 452"/>
                <a:gd name="T30" fmla="*/ 585 w 728"/>
                <a:gd name="T31" fmla="*/ 58 h 452"/>
                <a:gd name="T32" fmla="*/ 426 w 728"/>
                <a:gd name="T33" fmla="*/ 217 h 452"/>
                <a:gd name="T34" fmla="*/ 401 w 728"/>
                <a:gd name="T35" fmla="*/ 225 h 452"/>
                <a:gd name="T36" fmla="*/ 368 w 728"/>
                <a:gd name="T37" fmla="*/ 217 h 452"/>
                <a:gd name="T38" fmla="*/ 292 w 728"/>
                <a:gd name="T39" fmla="*/ 142 h 452"/>
                <a:gd name="T40" fmla="*/ 234 w 728"/>
                <a:gd name="T41" fmla="*/ 142 h 452"/>
                <a:gd name="T42" fmla="*/ 8 w 728"/>
                <a:gd name="T43" fmla="*/ 359 h 452"/>
                <a:gd name="T44" fmla="*/ 0 w 728"/>
                <a:gd name="T45" fmla="*/ 393 h 452"/>
                <a:gd name="T46" fmla="*/ 8 w 728"/>
                <a:gd name="T47" fmla="*/ 426 h 452"/>
                <a:gd name="T48" fmla="*/ 25 w 728"/>
                <a:gd name="T49" fmla="*/ 435 h 452"/>
                <a:gd name="T50" fmla="*/ 83 w 728"/>
                <a:gd name="T51" fmla="*/ 435 h 452"/>
                <a:gd name="T52" fmla="*/ 234 w 728"/>
                <a:gd name="T53" fmla="*/ 284 h 452"/>
                <a:gd name="T54" fmla="*/ 234 w 728"/>
                <a:gd name="T55" fmla="*/ 284 h 452"/>
                <a:gd name="T56" fmla="*/ 234 w 728"/>
                <a:gd name="T57" fmla="*/ 284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28" h="452">
                  <a:moveTo>
                    <a:pt x="234" y="284"/>
                  </a:moveTo>
                  <a:cubicBezTo>
                    <a:pt x="250" y="267"/>
                    <a:pt x="276" y="267"/>
                    <a:pt x="292" y="284"/>
                  </a:cubicBezTo>
                  <a:cubicBezTo>
                    <a:pt x="359" y="351"/>
                    <a:pt x="359" y="351"/>
                    <a:pt x="359" y="351"/>
                  </a:cubicBezTo>
                  <a:cubicBezTo>
                    <a:pt x="376" y="368"/>
                    <a:pt x="384" y="368"/>
                    <a:pt x="401" y="368"/>
                  </a:cubicBezTo>
                  <a:cubicBezTo>
                    <a:pt x="418" y="368"/>
                    <a:pt x="426" y="368"/>
                    <a:pt x="434" y="351"/>
                  </a:cubicBezTo>
                  <a:cubicBezTo>
                    <a:pt x="660" y="134"/>
                    <a:pt x="660" y="134"/>
                    <a:pt x="660" y="134"/>
                  </a:cubicBezTo>
                  <a:cubicBezTo>
                    <a:pt x="694" y="167"/>
                    <a:pt x="694" y="167"/>
                    <a:pt x="694" y="167"/>
                  </a:cubicBezTo>
                  <a:cubicBezTo>
                    <a:pt x="702" y="175"/>
                    <a:pt x="710" y="175"/>
                    <a:pt x="710" y="175"/>
                  </a:cubicBezTo>
                  <a:cubicBezTo>
                    <a:pt x="719" y="175"/>
                    <a:pt x="727" y="167"/>
                    <a:pt x="727" y="159"/>
                  </a:cubicBezTo>
                  <a:cubicBezTo>
                    <a:pt x="727" y="33"/>
                    <a:pt x="727" y="33"/>
                    <a:pt x="727" y="33"/>
                  </a:cubicBezTo>
                  <a:cubicBezTo>
                    <a:pt x="727" y="25"/>
                    <a:pt x="727" y="16"/>
                    <a:pt x="719" y="8"/>
                  </a:cubicBezTo>
                  <a:cubicBezTo>
                    <a:pt x="710" y="0"/>
                    <a:pt x="702" y="0"/>
                    <a:pt x="694" y="0"/>
                  </a:cubicBezTo>
                  <a:cubicBezTo>
                    <a:pt x="568" y="0"/>
                    <a:pt x="568" y="0"/>
                    <a:pt x="568" y="0"/>
                  </a:cubicBezTo>
                  <a:cubicBezTo>
                    <a:pt x="560" y="0"/>
                    <a:pt x="551" y="0"/>
                    <a:pt x="551" y="8"/>
                  </a:cubicBezTo>
                  <a:cubicBezTo>
                    <a:pt x="543" y="16"/>
                    <a:pt x="551" y="25"/>
                    <a:pt x="551" y="33"/>
                  </a:cubicBezTo>
                  <a:cubicBezTo>
                    <a:pt x="585" y="58"/>
                    <a:pt x="585" y="58"/>
                    <a:pt x="585" y="58"/>
                  </a:cubicBezTo>
                  <a:cubicBezTo>
                    <a:pt x="426" y="217"/>
                    <a:pt x="426" y="217"/>
                    <a:pt x="426" y="217"/>
                  </a:cubicBezTo>
                  <a:cubicBezTo>
                    <a:pt x="426" y="225"/>
                    <a:pt x="409" y="225"/>
                    <a:pt x="401" y="225"/>
                  </a:cubicBezTo>
                  <a:cubicBezTo>
                    <a:pt x="393" y="225"/>
                    <a:pt x="376" y="225"/>
                    <a:pt x="368" y="217"/>
                  </a:cubicBezTo>
                  <a:cubicBezTo>
                    <a:pt x="292" y="142"/>
                    <a:pt x="292" y="142"/>
                    <a:pt x="292" y="142"/>
                  </a:cubicBezTo>
                  <a:cubicBezTo>
                    <a:pt x="276" y="125"/>
                    <a:pt x="250" y="125"/>
                    <a:pt x="234" y="142"/>
                  </a:cubicBezTo>
                  <a:cubicBezTo>
                    <a:pt x="8" y="359"/>
                    <a:pt x="8" y="359"/>
                    <a:pt x="8" y="359"/>
                  </a:cubicBezTo>
                  <a:cubicBezTo>
                    <a:pt x="0" y="368"/>
                    <a:pt x="0" y="384"/>
                    <a:pt x="0" y="393"/>
                  </a:cubicBezTo>
                  <a:cubicBezTo>
                    <a:pt x="0" y="410"/>
                    <a:pt x="0" y="418"/>
                    <a:pt x="8" y="426"/>
                  </a:cubicBezTo>
                  <a:cubicBezTo>
                    <a:pt x="25" y="435"/>
                    <a:pt x="25" y="435"/>
                    <a:pt x="25" y="435"/>
                  </a:cubicBezTo>
                  <a:cubicBezTo>
                    <a:pt x="41" y="451"/>
                    <a:pt x="67" y="451"/>
                    <a:pt x="83" y="435"/>
                  </a:cubicBezTo>
                  <a:lnTo>
                    <a:pt x="234" y="284"/>
                  </a:lnTo>
                  <a:close/>
                  <a:moveTo>
                    <a:pt x="234" y="284"/>
                  </a:moveTo>
                  <a:lnTo>
                    <a:pt x="234" y="284"/>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87" name="Freeform 16"/>
            <p:cNvSpPr>
              <a:spLocks noChangeArrowheads="1"/>
            </p:cNvSpPr>
            <p:nvPr/>
          </p:nvSpPr>
          <p:spPr bwMode="auto">
            <a:xfrm>
              <a:off x="1569458" y="688424"/>
              <a:ext cx="334962" cy="331788"/>
            </a:xfrm>
            <a:custGeom>
              <a:avLst/>
              <a:gdLst>
                <a:gd name="T0" fmla="*/ 887 w 929"/>
                <a:gd name="T1" fmla="*/ 0 h 921"/>
                <a:gd name="T2" fmla="*/ 836 w 929"/>
                <a:gd name="T3" fmla="*/ 50 h 921"/>
                <a:gd name="T4" fmla="*/ 836 w 929"/>
                <a:gd name="T5" fmla="*/ 837 h 921"/>
                <a:gd name="T6" fmla="*/ 51 w 929"/>
                <a:gd name="T7" fmla="*/ 837 h 921"/>
                <a:gd name="T8" fmla="*/ 0 w 929"/>
                <a:gd name="T9" fmla="*/ 878 h 921"/>
                <a:gd name="T10" fmla="*/ 51 w 929"/>
                <a:gd name="T11" fmla="*/ 920 h 921"/>
                <a:gd name="T12" fmla="*/ 887 w 929"/>
                <a:gd name="T13" fmla="*/ 920 h 921"/>
                <a:gd name="T14" fmla="*/ 928 w 929"/>
                <a:gd name="T15" fmla="*/ 878 h 921"/>
                <a:gd name="T16" fmla="*/ 928 w 929"/>
                <a:gd name="T17" fmla="*/ 50 h 921"/>
                <a:gd name="T18" fmla="*/ 887 w 929"/>
                <a:gd name="T19" fmla="*/ 0 h 921"/>
                <a:gd name="T20" fmla="*/ 887 w 929"/>
                <a:gd name="T21" fmla="*/ 0 h 921"/>
                <a:gd name="T22" fmla="*/ 887 w 929"/>
                <a:gd name="T23" fmla="*/ 0 h 9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29" h="921">
                  <a:moveTo>
                    <a:pt x="887" y="0"/>
                  </a:moveTo>
                  <a:cubicBezTo>
                    <a:pt x="862" y="0"/>
                    <a:pt x="836" y="26"/>
                    <a:pt x="836" y="50"/>
                  </a:cubicBezTo>
                  <a:cubicBezTo>
                    <a:pt x="836" y="837"/>
                    <a:pt x="836" y="837"/>
                    <a:pt x="836" y="837"/>
                  </a:cubicBezTo>
                  <a:cubicBezTo>
                    <a:pt x="51" y="837"/>
                    <a:pt x="51" y="837"/>
                    <a:pt x="51" y="837"/>
                  </a:cubicBezTo>
                  <a:cubicBezTo>
                    <a:pt x="26" y="837"/>
                    <a:pt x="0" y="853"/>
                    <a:pt x="0" y="878"/>
                  </a:cubicBezTo>
                  <a:cubicBezTo>
                    <a:pt x="0" y="903"/>
                    <a:pt x="26" y="920"/>
                    <a:pt x="51" y="920"/>
                  </a:cubicBezTo>
                  <a:cubicBezTo>
                    <a:pt x="887" y="920"/>
                    <a:pt x="887" y="920"/>
                    <a:pt x="887" y="920"/>
                  </a:cubicBezTo>
                  <a:cubicBezTo>
                    <a:pt x="912" y="920"/>
                    <a:pt x="928" y="903"/>
                    <a:pt x="928" y="878"/>
                  </a:cubicBezTo>
                  <a:cubicBezTo>
                    <a:pt x="928" y="50"/>
                    <a:pt x="928" y="50"/>
                    <a:pt x="928" y="50"/>
                  </a:cubicBezTo>
                  <a:cubicBezTo>
                    <a:pt x="928" y="26"/>
                    <a:pt x="903" y="0"/>
                    <a:pt x="887" y="0"/>
                  </a:cubicBezTo>
                  <a:close/>
                  <a:moveTo>
                    <a:pt x="887" y="0"/>
                  </a:moveTo>
                  <a:lnTo>
                    <a:pt x="887" y="0"/>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grpSp>
      <p:cxnSp>
        <p:nvCxnSpPr>
          <p:cNvPr id="88" name="直接连接符 87"/>
          <p:cNvCxnSpPr/>
          <p:nvPr/>
        </p:nvCxnSpPr>
        <p:spPr>
          <a:xfrm flipV="1">
            <a:off x="3756580" y="5798749"/>
            <a:ext cx="908050" cy="4763"/>
          </a:xfrm>
          <a:prstGeom prst="line">
            <a:avLst/>
          </a:prstGeom>
          <a:ln>
            <a:solidFill>
              <a:schemeClr val="tx1">
                <a:lumMod val="75000"/>
                <a:lumOff val="25000"/>
              </a:schemeClr>
            </a:solidFill>
            <a:prstDash val="lgDash"/>
          </a:ln>
        </p:spPr>
        <p:style>
          <a:lnRef idx="1">
            <a:schemeClr val="accent1"/>
          </a:lnRef>
          <a:fillRef idx="0">
            <a:schemeClr val="accent1"/>
          </a:fillRef>
          <a:effectRef idx="0">
            <a:schemeClr val="accent1"/>
          </a:effectRef>
          <a:fontRef idx="minor">
            <a:schemeClr val="tx1"/>
          </a:fontRef>
        </p:style>
      </p:cxnSp>
      <p:sp>
        <p:nvSpPr>
          <p:cNvPr id="89" name="椭圆 88"/>
          <p:cNvSpPr/>
          <p:nvPr/>
        </p:nvSpPr>
        <p:spPr>
          <a:xfrm>
            <a:off x="4561443" y="5758026"/>
            <a:ext cx="106362" cy="106363"/>
          </a:xfrm>
          <a:prstGeom prst="ellipse">
            <a:avLst/>
          </a:prstGeom>
          <a:solidFill>
            <a:srgbClr val="FFFFFF"/>
          </a:solid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595959"/>
              </a:solidFill>
            </a:endParaRPr>
          </a:p>
        </p:txBody>
      </p:sp>
      <p:sp>
        <p:nvSpPr>
          <p:cNvPr id="110" name="文本框 58"/>
          <p:cNvSpPr txBox="1">
            <a:spLocks noChangeArrowheads="1"/>
          </p:cNvSpPr>
          <p:nvPr/>
        </p:nvSpPr>
        <p:spPr bwMode="auto">
          <a:xfrm>
            <a:off x="4887312" y="5481907"/>
            <a:ext cx="274947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不断提出新的应用需求</a:t>
            </a:r>
          </a:p>
        </p:txBody>
      </p:sp>
      <p:sp>
        <p:nvSpPr>
          <p:cNvPr id="111" name="文本框 59"/>
          <p:cNvSpPr txBox="1"/>
          <p:nvPr/>
        </p:nvSpPr>
        <p:spPr>
          <a:xfrm>
            <a:off x="4887311" y="5815697"/>
            <a:ext cx="6721977" cy="1015663"/>
          </a:xfrm>
          <a:prstGeom prst="rect">
            <a:avLst/>
          </a:prstGeom>
          <a:noFill/>
        </p:spPr>
        <p:txBody>
          <a:bodyPr wrap="square">
            <a:spAutoFit/>
          </a:bodyPr>
          <a:lstStyle/>
          <a:p>
            <a:pPr indent="-242888">
              <a:defRPr/>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工业控制的需求促进了实时操作系统，听音乐、看电影、玩游戏的需求操作系统出现了多媒体功能，智能设备出现嵌入式操作系统发展起来。</a:t>
            </a:r>
          </a:p>
        </p:txBody>
      </p:sp>
    </p:spTree>
    <p:extLst>
      <p:ext uri="{BB962C8B-B14F-4D97-AF65-F5344CB8AC3E}">
        <p14:creationId xmlns:p14="http://schemas.microsoft.com/office/powerpoint/2010/main" val="9709272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53"/>
                                        </p:tgtEl>
                                        <p:attrNameLst>
                                          <p:attrName>style.visibility</p:attrName>
                                        </p:attrNameLst>
                                      </p:cBhvr>
                                      <p:to>
                                        <p:strVal val="visible"/>
                                      </p:to>
                                    </p:set>
                                    <p:anim calcmode="lin" valueType="num">
                                      <p:cBhvr>
                                        <p:cTn id="7" dur="500" fill="hold"/>
                                        <p:tgtEl>
                                          <p:spTgt spid="53"/>
                                        </p:tgtEl>
                                        <p:attrNameLst>
                                          <p:attrName>ppt_w</p:attrName>
                                        </p:attrNameLst>
                                      </p:cBhvr>
                                      <p:tavLst>
                                        <p:tav tm="0">
                                          <p:val>
                                            <p:strVal val="#ppt_w+.3"/>
                                          </p:val>
                                        </p:tav>
                                        <p:tav tm="100000">
                                          <p:val>
                                            <p:strVal val="#ppt_w"/>
                                          </p:val>
                                        </p:tav>
                                      </p:tavLst>
                                    </p:anim>
                                    <p:anim calcmode="lin" valueType="num">
                                      <p:cBhvr>
                                        <p:cTn id="8" dur="500" fill="hold"/>
                                        <p:tgtEl>
                                          <p:spTgt spid="53"/>
                                        </p:tgtEl>
                                        <p:attrNameLst>
                                          <p:attrName>ppt_h</p:attrName>
                                        </p:attrNameLst>
                                      </p:cBhvr>
                                      <p:tavLst>
                                        <p:tav tm="0">
                                          <p:val>
                                            <p:strVal val="#ppt_h"/>
                                          </p:val>
                                        </p:tav>
                                        <p:tav tm="100000">
                                          <p:val>
                                            <p:strVal val="#ppt_h"/>
                                          </p:val>
                                        </p:tav>
                                      </p:tavLst>
                                    </p:anim>
                                    <p:animEffect transition="in" filter="fade">
                                      <p:cBhvr>
                                        <p:cTn id="9" dur="500"/>
                                        <p:tgtEl>
                                          <p:spTgt spid="53"/>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1000"/>
                                        <p:tgtEl>
                                          <p:spTgt spid="54"/>
                                        </p:tgtEl>
                                      </p:cBhvr>
                                    </p:animEffect>
                                    <p:anim calcmode="lin" valueType="num">
                                      <p:cBhvr>
                                        <p:cTn id="13" dur="1000" fill="hold"/>
                                        <p:tgtEl>
                                          <p:spTgt spid="54"/>
                                        </p:tgtEl>
                                        <p:attrNameLst>
                                          <p:attrName>ppt_x</p:attrName>
                                        </p:attrNameLst>
                                      </p:cBhvr>
                                      <p:tavLst>
                                        <p:tav tm="0">
                                          <p:val>
                                            <p:strVal val="#ppt_x"/>
                                          </p:val>
                                        </p:tav>
                                        <p:tav tm="100000">
                                          <p:val>
                                            <p:strVal val="#ppt_x"/>
                                          </p:val>
                                        </p:tav>
                                      </p:tavLst>
                                    </p:anim>
                                    <p:anim calcmode="lin" valueType="num">
                                      <p:cBhvr>
                                        <p:cTn id="14"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50" presetClass="entr" presetSubtype="0" decel="100000" fill="hold" grpId="0" nodeType="clickEffect">
                                  <p:stCondLst>
                                    <p:cond delay="0"/>
                                  </p:stCondLst>
                                  <p:iterate type="lt">
                                    <p:tmPct val="5000"/>
                                  </p:iterate>
                                  <p:childTnLst>
                                    <p:set>
                                      <p:cBhvr>
                                        <p:cTn id="18" dur="1" fill="hold">
                                          <p:stCondLst>
                                            <p:cond delay="0"/>
                                          </p:stCondLst>
                                        </p:cTn>
                                        <p:tgtEl>
                                          <p:spTgt spid="55"/>
                                        </p:tgtEl>
                                        <p:attrNameLst>
                                          <p:attrName>style.visibility</p:attrName>
                                        </p:attrNameLst>
                                      </p:cBhvr>
                                      <p:to>
                                        <p:strVal val="visible"/>
                                      </p:to>
                                    </p:set>
                                    <p:anim calcmode="lin" valueType="num">
                                      <p:cBhvr>
                                        <p:cTn id="19" dur="500" fill="hold"/>
                                        <p:tgtEl>
                                          <p:spTgt spid="55"/>
                                        </p:tgtEl>
                                        <p:attrNameLst>
                                          <p:attrName>ppt_w</p:attrName>
                                        </p:attrNameLst>
                                      </p:cBhvr>
                                      <p:tavLst>
                                        <p:tav tm="0">
                                          <p:val>
                                            <p:strVal val="#ppt_w+.3"/>
                                          </p:val>
                                        </p:tav>
                                        <p:tav tm="100000">
                                          <p:val>
                                            <p:strVal val="#ppt_w"/>
                                          </p:val>
                                        </p:tav>
                                      </p:tavLst>
                                    </p:anim>
                                    <p:anim calcmode="lin" valueType="num">
                                      <p:cBhvr>
                                        <p:cTn id="20" dur="500" fill="hold"/>
                                        <p:tgtEl>
                                          <p:spTgt spid="55"/>
                                        </p:tgtEl>
                                        <p:attrNameLst>
                                          <p:attrName>ppt_h</p:attrName>
                                        </p:attrNameLst>
                                      </p:cBhvr>
                                      <p:tavLst>
                                        <p:tav tm="0">
                                          <p:val>
                                            <p:strVal val="#ppt_h"/>
                                          </p:val>
                                        </p:tav>
                                        <p:tav tm="100000">
                                          <p:val>
                                            <p:strVal val="#ppt_h"/>
                                          </p:val>
                                        </p:tav>
                                      </p:tavLst>
                                    </p:anim>
                                    <p:animEffect transition="in" filter="fade">
                                      <p:cBhvr>
                                        <p:cTn id="21" dur="500"/>
                                        <p:tgtEl>
                                          <p:spTgt spid="55"/>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56"/>
                                        </p:tgtEl>
                                        <p:attrNameLst>
                                          <p:attrName>style.visibility</p:attrName>
                                        </p:attrNameLst>
                                      </p:cBhvr>
                                      <p:to>
                                        <p:strVal val="visible"/>
                                      </p:to>
                                    </p:set>
                                    <p:animEffect transition="in" filter="fade">
                                      <p:cBhvr>
                                        <p:cTn id="24" dur="1000"/>
                                        <p:tgtEl>
                                          <p:spTgt spid="56"/>
                                        </p:tgtEl>
                                      </p:cBhvr>
                                    </p:animEffect>
                                    <p:anim calcmode="lin" valueType="num">
                                      <p:cBhvr>
                                        <p:cTn id="25" dur="1000" fill="hold"/>
                                        <p:tgtEl>
                                          <p:spTgt spid="56"/>
                                        </p:tgtEl>
                                        <p:attrNameLst>
                                          <p:attrName>ppt_x</p:attrName>
                                        </p:attrNameLst>
                                      </p:cBhvr>
                                      <p:tavLst>
                                        <p:tav tm="0">
                                          <p:val>
                                            <p:strVal val="#ppt_x"/>
                                          </p:val>
                                        </p:tav>
                                        <p:tav tm="100000">
                                          <p:val>
                                            <p:strVal val="#ppt_x"/>
                                          </p:val>
                                        </p:tav>
                                      </p:tavLst>
                                    </p:anim>
                                    <p:anim calcmode="lin" valueType="num">
                                      <p:cBhvr>
                                        <p:cTn id="26"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50" presetClass="entr" presetSubtype="0" decel="100000" fill="hold" grpId="0" nodeType="clickEffect">
                                  <p:stCondLst>
                                    <p:cond delay="0"/>
                                  </p:stCondLst>
                                  <p:iterate type="lt">
                                    <p:tmPct val="5000"/>
                                  </p:iterate>
                                  <p:childTnLst>
                                    <p:set>
                                      <p:cBhvr>
                                        <p:cTn id="30" dur="1" fill="hold">
                                          <p:stCondLst>
                                            <p:cond delay="0"/>
                                          </p:stCondLst>
                                        </p:cTn>
                                        <p:tgtEl>
                                          <p:spTgt spid="57"/>
                                        </p:tgtEl>
                                        <p:attrNameLst>
                                          <p:attrName>style.visibility</p:attrName>
                                        </p:attrNameLst>
                                      </p:cBhvr>
                                      <p:to>
                                        <p:strVal val="visible"/>
                                      </p:to>
                                    </p:set>
                                    <p:anim calcmode="lin" valueType="num">
                                      <p:cBhvr>
                                        <p:cTn id="31" dur="500" fill="hold"/>
                                        <p:tgtEl>
                                          <p:spTgt spid="57"/>
                                        </p:tgtEl>
                                        <p:attrNameLst>
                                          <p:attrName>ppt_w</p:attrName>
                                        </p:attrNameLst>
                                      </p:cBhvr>
                                      <p:tavLst>
                                        <p:tav tm="0">
                                          <p:val>
                                            <p:strVal val="#ppt_w+.3"/>
                                          </p:val>
                                        </p:tav>
                                        <p:tav tm="100000">
                                          <p:val>
                                            <p:strVal val="#ppt_w"/>
                                          </p:val>
                                        </p:tav>
                                      </p:tavLst>
                                    </p:anim>
                                    <p:anim calcmode="lin" valueType="num">
                                      <p:cBhvr>
                                        <p:cTn id="32" dur="500" fill="hold"/>
                                        <p:tgtEl>
                                          <p:spTgt spid="57"/>
                                        </p:tgtEl>
                                        <p:attrNameLst>
                                          <p:attrName>ppt_h</p:attrName>
                                        </p:attrNameLst>
                                      </p:cBhvr>
                                      <p:tavLst>
                                        <p:tav tm="0">
                                          <p:val>
                                            <p:strVal val="#ppt_h"/>
                                          </p:val>
                                        </p:tav>
                                        <p:tav tm="100000">
                                          <p:val>
                                            <p:strVal val="#ppt_h"/>
                                          </p:val>
                                        </p:tav>
                                      </p:tavLst>
                                    </p:anim>
                                    <p:animEffect transition="in" filter="fade">
                                      <p:cBhvr>
                                        <p:cTn id="33" dur="500"/>
                                        <p:tgtEl>
                                          <p:spTgt spid="57"/>
                                        </p:tgtEl>
                                      </p:cBhvr>
                                    </p:animEffect>
                                  </p:childTnLst>
                                </p:cTn>
                              </p:par>
                              <p:par>
                                <p:cTn id="34" presetID="42" presetClass="entr" presetSubtype="0" fill="hold" grpId="0" nodeType="withEffect">
                                  <p:stCondLst>
                                    <p:cond delay="0"/>
                                  </p:stCondLst>
                                  <p:childTnLst>
                                    <p:set>
                                      <p:cBhvr>
                                        <p:cTn id="35" dur="1" fill="hold">
                                          <p:stCondLst>
                                            <p:cond delay="0"/>
                                          </p:stCondLst>
                                        </p:cTn>
                                        <p:tgtEl>
                                          <p:spTgt spid="58"/>
                                        </p:tgtEl>
                                        <p:attrNameLst>
                                          <p:attrName>style.visibility</p:attrName>
                                        </p:attrNameLst>
                                      </p:cBhvr>
                                      <p:to>
                                        <p:strVal val="visible"/>
                                      </p:to>
                                    </p:set>
                                    <p:animEffect transition="in" filter="fade">
                                      <p:cBhvr>
                                        <p:cTn id="36" dur="1000"/>
                                        <p:tgtEl>
                                          <p:spTgt spid="58"/>
                                        </p:tgtEl>
                                      </p:cBhvr>
                                    </p:animEffect>
                                    <p:anim calcmode="lin" valueType="num">
                                      <p:cBhvr>
                                        <p:cTn id="37" dur="1000" fill="hold"/>
                                        <p:tgtEl>
                                          <p:spTgt spid="58"/>
                                        </p:tgtEl>
                                        <p:attrNameLst>
                                          <p:attrName>ppt_x</p:attrName>
                                        </p:attrNameLst>
                                      </p:cBhvr>
                                      <p:tavLst>
                                        <p:tav tm="0">
                                          <p:val>
                                            <p:strVal val="#ppt_x"/>
                                          </p:val>
                                        </p:tav>
                                        <p:tav tm="100000">
                                          <p:val>
                                            <p:strVal val="#ppt_x"/>
                                          </p:val>
                                        </p:tav>
                                      </p:tavLst>
                                    </p:anim>
                                    <p:anim calcmode="lin" valueType="num">
                                      <p:cBhvr>
                                        <p:cTn id="38"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50" presetClass="entr" presetSubtype="0" decel="100000" fill="hold" grpId="0" nodeType="clickEffect">
                                  <p:stCondLst>
                                    <p:cond delay="0"/>
                                  </p:stCondLst>
                                  <p:iterate type="lt">
                                    <p:tmPct val="5000"/>
                                  </p:iterate>
                                  <p:childTnLst>
                                    <p:set>
                                      <p:cBhvr>
                                        <p:cTn id="42" dur="1" fill="hold">
                                          <p:stCondLst>
                                            <p:cond delay="0"/>
                                          </p:stCondLst>
                                        </p:cTn>
                                        <p:tgtEl>
                                          <p:spTgt spid="59"/>
                                        </p:tgtEl>
                                        <p:attrNameLst>
                                          <p:attrName>style.visibility</p:attrName>
                                        </p:attrNameLst>
                                      </p:cBhvr>
                                      <p:to>
                                        <p:strVal val="visible"/>
                                      </p:to>
                                    </p:set>
                                    <p:anim calcmode="lin" valueType="num">
                                      <p:cBhvr>
                                        <p:cTn id="43" dur="500" fill="hold"/>
                                        <p:tgtEl>
                                          <p:spTgt spid="59"/>
                                        </p:tgtEl>
                                        <p:attrNameLst>
                                          <p:attrName>ppt_w</p:attrName>
                                        </p:attrNameLst>
                                      </p:cBhvr>
                                      <p:tavLst>
                                        <p:tav tm="0">
                                          <p:val>
                                            <p:strVal val="#ppt_w+.3"/>
                                          </p:val>
                                        </p:tav>
                                        <p:tav tm="100000">
                                          <p:val>
                                            <p:strVal val="#ppt_w"/>
                                          </p:val>
                                        </p:tav>
                                      </p:tavLst>
                                    </p:anim>
                                    <p:anim calcmode="lin" valueType="num">
                                      <p:cBhvr>
                                        <p:cTn id="44" dur="500" fill="hold"/>
                                        <p:tgtEl>
                                          <p:spTgt spid="59"/>
                                        </p:tgtEl>
                                        <p:attrNameLst>
                                          <p:attrName>ppt_h</p:attrName>
                                        </p:attrNameLst>
                                      </p:cBhvr>
                                      <p:tavLst>
                                        <p:tav tm="0">
                                          <p:val>
                                            <p:strVal val="#ppt_h"/>
                                          </p:val>
                                        </p:tav>
                                        <p:tav tm="100000">
                                          <p:val>
                                            <p:strVal val="#ppt_h"/>
                                          </p:val>
                                        </p:tav>
                                      </p:tavLst>
                                    </p:anim>
                                    <p:animEffect transition="in" filter="fade">
                                      <p:cBhvr>
                                        <p:cTn id="45" dur="500"/>
                                        <p:tgtEl>
                                          <p:spTgt spid="59"/>
                                        </p:tgtEl>
                                      </p:cBhvr>
                                    </p:animEffect>
                                  </p:childTnLst>
                                </p:cTn>
                              </p:par>
                              <p:par>
                                <p:cTn id="46" presetID="42" presetClass="entr" presetSubtype="0" fill="hold" grpId="0" nodeType="withEffect">
                                  <p:stCondLst>
                                    <p:cond delay="0"/>
                                  </p:stCondLst>
                                  <p:childTnLst>
                                    <p:set>
                                      <p:cBhvr>
                                        <p:cTn id="47" dur="1" fill="hold">
                                          <p:stCondLst>
                                            <p:cond delay="0"/>
                                          </p:stCondLst>
                                        </p:cTn>
                                        <p:tgtEl>
                                          <p:spTgt spid="60"/>
                                        </p:tgtEl>
                                        <p:attrNameLst>
                                          <p:attrName>style.visibility</p:attrName>
                                        </p:attrNameLst>
                                      </p:cBhvr>
                                      <p:to>
                                        <p:strVal val="visible"/>
                                      </p:to>
                                    </p:set>
                                    <p:animEffect transition="in" filter="fade">
                                      <p:cBhvr>
                                        <p:cTn id="48" dur="1000"/>
                                        <p:tgtEl>
                                          <p:spTgt spid="60"/>
                                        </p:tgtEl>
                                      </p:cBhvr>
                                    </p:animEffect>
                                    <p:anim calcmode="lin" valueType="num">
                                      <p:cBhvr>
                                        <p:cTn id="49" dur="1000" fill="hold"/>
                                        <p:tgtEl>
                                          <p:spTgt spid="60"/>
                                        </p:tgtEl>
                                        <p:attrNameLst>
                                          <p:attrName>ppt_x</p:attrName>
                                        </p:attrNameLst>
                                      </p:cBhvr>
                                      <p:tavLst>
                                        <p:tav tm="0">
                                          <p:val>
                                            <p:strVal val="#ppt_x"/>
                                          </p:val>
                                        </p:tav>
                                        <p:tav tm="100000">
                                          <p:val>
                                            <p:strVal val="#ppt_x"/>
                                          </p:val>
                                        </p:tav>
                                      </p:tavLst>
                                    </p:anim>
                                    <p:anim calcmode="lin" valueType="num">
                                      <p:cBhvr>
                                        <p:cTn id="50"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50" presetClass="entr" presetSubtype="0" decel="100000" fill="hold" grpId="0" nodeType="clickEffect">
                                  <p:stCondLst>
                                    <p:cond delay="0"/>
                                  </p:stCondLst>
                                  <p:iterate type="lt">
                                    <p:tmPct val="5000"/>
                                  </p:iterate>
                                  <p:childTnLst>
                                    <p:set>
                                      <p:cBhvr>
                                        <p:cTn id="54" dur="1" fill="hold">
                                          <p:stCondLst>
                                            <p:cond delay="0"/>
                                          </p:stCondLst>
                                        </p:cTn>
                                        <p:tgtEl>
                                          <p:spTgt spid="110"/>
                                        </p:tgtEl>
                                        <p:attrNameLst>
                                          <p:attrName>style.visibility</p:attrName>
                                        </p:attrNameLst>
                                      </p:cBhvr>
                                      <p:to>
                                        <p:strVal val="visible"/>
                                      </p:to>
                                    </p:set>
                                    <p:anim calcmode="lin" valueType="num">
                                      <p:cBhvr>
                                        <p:cTn id="55" dur="500" fill="hold"/>
                                        <p:tgtEl>
                                          <p:spTgt spid="110"/>
                                        </p:tgtEl>
                                        <p:attrNameLst>
                                          <p:attrName>ppt_w</p:attrName>
                                        </p:attrNameLst>
                                      </p:cBhvr>
                                      <p:tavLst>
                                        <p:tav tm="0">
                                          <p:val>
                                            <p:strVal val="#ppt_w+.3"/>
                                          </p:val>
                                        </p:tav>
                                        <p:tav tm="100000">
                                          <p:val>
                                            <p:strVal val="#ppt_w"/>
                                          </p:val>
                                        </p:tav>
                                      </p:tavLst>
                                    </p:anim>
                                    <p:anim calcmode="lin" valueType="num">
                                      <p:cBhvr>
                                        <p:cTn id="56" dur="500" fill="hold"/>
                                        <p:tgtEl>
                                          <p:spTgt spid="110"/>
                                        </p:tgtEl>
                                        <p:attrNameLst>
                                          <p:attrName>ppt_h</p:attrName>
                                        </p:attrNameLst>
                                      </p:cBhvr>
                                      <p:tavLst>
                                        <p:tav tm="0">
                                          <p:val>
                                            <p:strVal val="#ppt_h"/>
                                          </p:val>
                                        </p:tav>
                                        <p:tav tm="100000">
                                          <p:val>
                                            <p:strVal val="#ppt_h"/>
                                          </p:val>
                                        </p:tav>
                                      </p:tavLst>
                                    </p:anim>
                                    <p:animEffect transition="in" filter="fade">
                                      <p:cBhvr>
                                        <p:cTn id="57" dur="500"/>
                                        <p:tgtEl>
                                          <p:spTgt spid="110"/>
                                        </p:tgtEl>
                                      </p:cBhvr>
                                    </p:animEffect>
                                  </p:childTnLst>
                                </p:cTn>
                              </p:par>
                              <p:par>
                                <p:cTn id="58" presetID="42" presetClass="entr" presetSubtype="0" fill="hold" grpId="0" nodeType="withEffect">
                                  <p:stCondLst>
                                    <p:cond delay="0"/>
                                  </p:stCondLst>
                                  <p:childTnLst>
                                    <p:set>
                                      <p:cBhvr>
                                        <p:cTn id="59" dur="1" fill="hold">
                                          <p:stCondLst>
                                            <p:cond delay="0"/>
                                          </p:stCondLst>
                                        </p:cTn>
                                        <p:tgtEl>
                                          <p:spTgt spid="111"/>
                                        </p:tgtEl>
                                        <p:attrNameLst>
                                          <p:attrName>style.visibility</p:attrName>
                                        </p:attrNameLst>
                                      </p:cBhvr>
                                      <p:to>
                                        <p:strVal val="visible"/>
                                      </p:to>
                                    </p:set>
                                    <p:animEffect transition="in" filter="fade">
                                      <p:cBhvr>
                                        <p:cTn id="60" dur="1000"/>
                                        <p:tgtEl>
                                          <p:spTgt spid="111"/>
                                        </p:tgtEl>
                                      </p:cBhvr>
                                    </p:animEffect>
                                    <p:anim calcmode="lin" valueType="num">
                                      <p:cBhvr>
                                        <p:cTn id="61" dur="1000" fill="hold"/>
                                        <p:tgtEl>
                                          <p:spTgt spid="111"/>
                                        </p:tgtEl>
                                        <p:attrNameLst>
                                          <p:attrName>ppt_x</p:attrName>
                                        </p:attrNameLst>
                                      </p:cBhvr>
                                      <p:tavLst>
                                        <p:tav tm="0">
                                          <p:val>
                                            <p:strVal val="#ppt_x"/>
                                          </p:val>
                                        </p:tav>
                                        <p:tav tm="100000">
                                          <p:val>
                                            <p:strVal val="#ppt_x"/>
                                          </p:val>
                                        </p:tav>
                                      </p:tavLst>
                                    </p:anim>
                                    <p:anim calcmode="lin" valueType="num">
                                      <p:cBhvr>
                                        <p:cTn id="62" dur="1000" fill="hold"/>
                                        <p:tgtEl>
                                          <p:spTgt spid="1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4" grpId="0"/>
      <p:bldP spid="55" grpId="0"/>
      <p:bldP spid="56" grpId="0"/>
      <p:bldP spid="57" grpId="0"/>
      <p:bldP spid="58" grpId="0"/>
      <p:bldP spid="59" grpId="0"/>
      <p:bldP spid="60" grpId="0"/>
      <p:bldP spid="110" grpId="0"/>
      <p:bldP spid="1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6096000" y="2000250"/>
            <a:ext cx="4724400"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9391650" y="1468438"/>
            <a:ext cx="0" cy="1063625"/>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a:spLocks noChangeArrowheads="1"/>
          </p:cNvSpPr>
          <p:nvPr/>
        </p:nvSpPr>
        <p:spPr bwMode="auto">
          <a:xfrm>
            <a:off x="6749303" y="3014075"/>
            <a:ext cx="3278188"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Blip>
                <a:blip r:embed="rId3"/>
              </a:buBlip>
            </a:pPr>
            <a:r>
              <a:rPr lang="zh-CN" altLang="en-US" sz="1600" dirty="0">
                <a:solidFill>
                  <a:srgbClr val="090911"/>
                </a:solidFill>
                <a:latin typeface="微软雅黑" panose="020B0503020204020204" pitchFamily="34" charset="-122"/>
                <a:ea typeface="微软雅黑" panose="020B0503020204020204" pitchFamily="34" charset="-122"/>
              </a:rPr>
              <a:t>硬件昂贵，人工便宜</a:t>
            </a:r>
            <a:endParaRPr lang="en-US" altLang="zh-CN" sz="1600" dirty="0">
              <a:solidFill>
                <a:srgbClr val="090911"/>
              </a:solidFill>
              <a:latin typeface="微软雅黑" panose="020B0503020204020204" pitchFamily="34" charset="-122"/>
              <a:ea typeface="微软雅黑" panose="020B0503020204020204" pitchFamily="34" charset="-122"/>
            </a:endParaRPr>
          </a:p>
          <a:p>
            <a:pPr eaLnBrk="1" hangingPunct="1">
              <a:buBlip>
                <a:blip r:embed="rId3"/>
              </a:buBlip>
            </a:pPr>
            <a:r>
              <a:rPr lang="zh-CN" altLang="en-US" sz="1600" dirty="0">
                <a:solidFill>
                  <a:srgbClr val="090911"/>
                </a:solidFill>
                <a:latin typeface="微软雅黑" panose="020B0503020204020204" pitchFamily="34" charset="-122"/>
                <a:ea typeface="微软雅黑" panose="020B0503020204020204" pitchFamily="34" charset="-122"/>
              </a:rPr>
              <a:t>操作和编程完全由手工进行，且编辑只能用机器语言（二进制代码）</a:t>
            </a:r>
            <a:endParaRPr lang="en-US" altLang="zh-CN" sz="1600" dirty="0">
              <a:solidFill>
                <a:srgbClr val="090911"/>
              </a:solidFill>
              <a:latin typeface="微软雅黑" panose="020B0503020204020204" pitchFamily="34" charset="-122"/>
              <a:ea typeface="微软雅黑" panose="020B0503020204020204" pitchFamily="34" charset="-122"/>
            </a:endParaRPr>
          </a:p>
          <a:p>
            <a:pPr eaLnBrk="1" hangingPunct="1">
              <a:buBlip>
                <a:blip r:embed="rId3"/>
              </a:buBlip>
            </a:pPr>
            <a:r>
              <a:rPr lang="zh-CN" altLang="en-US" sz="1600" dirty="0">
                <a:solidFill>
                  <a:srgbClr val="090911"/>
                </a:solidFill>
                <a:latin typeface="微软雅黑" panose="020B0503020204020204" pitchFamily="34" charset="-122"/>
                <a:ea typeface="微软雅黑" panose="020B0503020204020204" pitchFamily="34" charset="-122"/>
              </a:rPr>
              <a:t>在穿孔卡片上输入程序</a:t>
            </a:r>
          </a:p>
        </p:txBody>
      </p:sp>
      <p:sp>
        <p:nvSpPr>
          <p:cNvPr id="19" name="矩形 18"/>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3" name="组合 23"/>
          <p:cNvGrpSpPr/>
          <p:nvPr/>
        </p:nvGrpSpPr>
        <p:grpSpPr>
          <a:xfrm>
            <a:off x="245745" y="213360"/>
            <a:ext cx="563880" cy="563880"/>
            <a:chOff x="276225" y="213360"/>
            <a:chExt cx="563880" cy="563880"/>
          </a:xfrm>
          <a:solidFill>
            <a:srgbClr val="3D7351"/>
          </a:solidFill>
        </p:grpSpPr>
        <p:sp>
          <p:nvSpPr>
            <p:cNvPr id="25" name="矩形 24"/>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26" name="椭圆 25"/>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7" name="文本框 25"/>
          <p:cNvSpPr txBox="1">
            <a:spLocks noChangeArrowheads="1"/>
          </p:cNvSpPr>
          <p:nvPr/>
        </p:nvSpPr>
        <p:spPr bwMode="auto">
          <a:xfrm>
            <a:off x="902970" y="212725"/>
            <a:ext cx="79111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1.</a:t>
            </a:r>
            <a:r>
              <a:rPr lang="zh-CN" altLang="en-US" sz="2400" b="1" dirty="0">
                <a:solidFill>
                  <a:srgbClr val="3D7351"/>
                </a:solidFill>
                <a:latin typeface="微软雅黑" panose="020B0503020204020204" pitchFamily="34" charset="-122"/>
                <a:ea typeface="微软雅黑" panose="020B0503020204020204" pitchFamily="34" charset="-122"/>
              </a:rPr>
              <a:t>手工操作</a:t>
            </a:r>
            <a:r>
              <a:rPr lang="en-US" altLang="zh-CN" sz="2400" b="1" dirty="0">
                <a:solidFill>
                  <a:srgbClr val="3D7351"/>
                </a:solidFill>
                <a:latin typeface="微软雅黑" panose="020B0503020204020204" pitchFamily="34" charset="-122"/>
                <a:ea typeface="微软雅黑" panose="020B0503020204020204" pitchFamily="34" charset="-122"/>
              </a:rPr>
              <a:t>—1945</a:t>
            </a:r>
            <a:r>
              <a:rPr lang="zh-CN" altLang="en-US" sz="2400" b="1" dirty="0">
                <a:solidFill>
                  <a:srgbClr val="3D7351"/>
                </a:solidFill>
                <a:latin typeface="微软雅黑" panose="020B0503020204020204" pitchFamily="34" charset="-122"/>
                <a:ea typeface="微软雅黑" panose="020B0503020204020204" pitchFamily="34" charset="-122"/>
              </a:rPr>
              <a:t>年</a:t>
            </a:r>
            <a:r>
              <a:rPr lang="en-US" altLang="zh-CN" sz="2400" b="1" dirty="0">
                <a:solidFill>
                  <a:srgbClr val="3D7351"/>
                </a:solidFill>
                <a:latin typeface="微软雅黑" panose="020B0503020204020204" pitchFamily="34" charset="-122"/>
                <a:ea typeface="微软雅黑" panose="020B0503020204020204" pitchFamily="34" charset="-122"/>
              </a:rPr>
              <a:t>-50</a:t>
            </a:r>
            <a:r>
              <a:rPr lang="zh-CN" altLang="en-US" sz="2400" b="1" dirty="0">
                <a:solidFill>
                  <a:srgbClr val="3D7351"/>
                </a:solidFill>
                <a:latin typeface="微软雅黑" panose="020B0503020204020204" pitchFamily="34" charset="-122"/>
                <a:ea typeface="微软雅黑" panose="020B0503020204020204" pitchFamily="34" charset="-122"/>
              </a:rPr>
              <a:t>年代中期，第一代电子管计算机</a:t>
            </a:r>
          </a:p>
        </p:txBody>
      </p:sp>
      <p:sp>
        <p:nvSpPr>
          <p:cNvPr id="22"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pic>
        <p:nvPicPr>
          <p:cNvPr id="24" name="Picture 5" descr="1946_eniac"/>
          <p:cNvPicPr>
            <a:picLocks noChangeAspect="1" noChangeArrowheads="1"/>
          </p:cNvPicPr>
          <p:nvPr/>
        </p:nvPicPr>
        <p:blipFill>
          <a:blip r:embed="rId4" cstate="print"/>
          <a:srcRect b="5173"/>
          <a:stretch>
            <a:fillRect/>
          </a:stretch>
        </p:blipFill>
        <p:spPr bwMode="auto">
          <a:xfrm>
            <a:off x="494814" y="3370206"/>
            <a:ext cx="3352800" cy="3092450"/>
          </a:xfrm>
          <a:prstGeom prst="rect">
            <a:avLst/>
          </a:prstGeom>
          <a:noFill/>
          <a:ln w="9525">
            <a:noFill/>
            <a:miter lim="800000"/>
            <a:headEnd/>
            <a:tailEnd/>
          </a:ln>
        </p:spPr>
      </p:pic>
      <p:pic>
        <p:nvPicPr>
          <p:cNvPr id="29" name="Picture 2"/>
          <p:cNvPicPr>
            <a:picLocks noChangeAspect="1" noChangeArrowheads="1"/>
          </p:cNvPicPr>
          <p:nvPr/>
        </p:nvPicPr>
        <p:blipFill>
          <a:blip r:embed="rId5" cstate="print"/>
          <a:srcRect/>
          <a:stretch>
            <a:fillRect/>
          </a:stretch>
        </p:blipFill>
        <p:spPr bwMode="auto">
          <a:xfrm>
            <a:off x="515191" y="1042987"/>
            <a:ext cx="2987675" cy="2214562"/>
          </a:xfrm>
          <a:prstGeom prst="rect">
            <a:avLst/>
          </a:prstGeom>
          <a:noFill/>
          <a:ln w="9525">
            <a:noFill/>
            <a:miter lim="800000"/>
            <a:headEnd/>
            <a:tailEnd/>
          </a:ln>
        </p:spPr>
      </p:pic>
      <p:sp>
        <p:nvSpPr>
          <p:cNvPr id="30" name="TextBox 29"/>
          <p:cNvSpPr txBox="1"/>
          <p:nvPr/>
        </p:nvSpPr>
        <p:spPr>
          <a:xfrm>
            <a:off x="7412038" y="1516828"/>
            <a:ext cx="1850316" cy="400110"/>
          </a:xfrm>
          <a:prstGeom prst="rect">
            <a:avLst/>
          </a:prstGeom>
          <a:noFill/>
        </p:spPr>
        <p:txBody>
          <a:bodyPr wrap="square" rtlCol="0">
            <a:spAutoFit/>
          </a:bodyPr>
          <a:lstStyle/>
          <a:p>
            <a:r>
              <a:rPr lang="zh-CN" altLang="en-US" sz="2000" b="1" dirty="0">
                <a:solidFill>
                  <a:srgbClr val="4C7E51"/>
                </a:solidFill>
                <a:latin typeface="微软雅黑" panose="020B0503020204020204" pitchFamily="34" charset="-122"/>
                <a:ea typeface="微软雅黑" panose="020B0503020204020204" pitchFamily="34" charset="-122"/>
              </a:rPr>
              <a:t>人工操作</a:t>
            </a:r>
            <a:r>
              <a:rPr lang="zh-CN" altLang="en-US" sz="2000" b="1" dirty="0">
                <a:latin typeface="微软雅黑" panose="020B0503020204020204" pitchFamily="34" charset="-122"/>
                <a:ea typeface="微软雅黑" panose="020B0503020204020204" pitchFamily="34" charset="-122"/>
              </a:rPr>
              <a:t>方式</a:t>
            </a:r>
          </a:p>
        </p:txBody>
      </p:sp>
      <p:pic>
        <p:nvPicPr>
          <p:cNvPr id="31" name="Picture 8" descr="图说计算机存储设备">
            <a:hlinkClick r:id="rId6"/>
          </p:cNvPr>
          <p:cNvPicPr>
            <a:picLocks noChangeAspect="1" noChangeArrowheads="1"/>
          </p:cNvPicPr>
          <p:nvPr/>
        </p:nvPicPr>
        <p:blipFill>
          <a:blip r:embed="rId7" cstate="print"/>
          <a:srcRect t="7037"/>
          <a:stretch>
            <a:fillRect/>
          </a:stretch>
        </p:blipFill>
        <p:spPr bwMode="auto">
          <a:xfrm>
            <a:off x="2592593" y="4846021"/>
            <a:ext cx="3625327" cy="1684266"/>
          </a:xfrm>
          <a:prstGeom prst="rect">
            <a:avLst/>
          </a:prstGeom>
          <a:noFill/>
        </p:spPr>
      </p:pic>
      <p:pic>
        <p:nvPicPr>
          <p:cNvPr id="2050" name="Picture 2" descr="C:\Users\lenovo\AppData\Roaming\Tencent\Users\21481383\TIM\WinTemp\RichOle\30EZUTRH$L{UA_]9VSHB2QW.png"/>
          <p:cNvPicPr>
            <a:picLocks noChangeAspect="1" noChangeArrowheads="1"/>
          </p:cNvPicPr>
          <p:nvPr/>
        </p:nvPicPr>
        <p:blipFill>
          <a:blip r:embed="rId8" cstate="print"/>
          <a:srcRect/>
          <a:stretch>
            <a:fillRect/>
          </a:stretch>
        </p:blipFill>
        <p:spPr bwMode="auto">
          <a:xfrm>
            <a:off x="3969571" y="2549563"/>
            <a:ext cx="1958085" cy="2216076"/>
          </a:xfrm>
          <a:prstGeom prst="rect">
            <a:avLst/>
          </a:prstGeom>
          <a:noFill/>
        </p:spPr>
      </p:pic>
      <p:pic>
        <p:nvPicPr>
          <p:cNvPr id="2049" name="Picture 1" descr="C:\Users\lenovo\AppData\Roaming\Tencent\Users\21481383\TIM\WinTemp\RichOle\6]2EAZMSCJ{])SH13(62O{2.png"/>
          <p:cNvPicPr>
            <a:picLocks noChangeAspect="1" noChangeArrowheads="1"/>
          </p:cNvPicPr>
          <p:nvPr/>
        </p:nvPicPr>
        <p:blipFill>
          <a:blip r:embed="rId9" cstate="print"/>
          <a:srcRect/>
          <a:stretch>
            <a:fillRect/>
          </a:stretch>
        </p:blipFill>
        <p:spPr bwMode="auto">
          <a:xfrm>
            <a:off x="3367144" y="1054253"/>
            <a:ext cx="2592592" cy="2182898"/>
          </a:xfrm>
          <a:prstGeom prst="rect">
            <a:avLst/>
          </a:prstGeom>
          <a:noFill/>
        </p:spPr>
      </p:pic>
      <p:sp>
        <p:nvSpPr>
          <p:cNvPr id="33" name="文本框 124"/>
          <p:cNvSpPr txBox="1">
            <a:spLocks noChangeArrowheads="1"/>
          </p:cNvSpPr>
          <p:nvPr/>
        </p:nvSpPr>
        <p:spPr bwMode="auto">
          <a:xfrm>
            <a:off x="6668640" y="2518391"/>
            <a:ext cx="1920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05050"/>
                </a:solidFill>
                <a:latin typeface="微软雅黑" panose="020B0503020204020204" pitchFamily="34" charset="-122"/>
                <a:ea typeface="微软雅黑" panose="020B0503020204020204" pitchFamily="34" charset="-122"/>
              </a:rPr>
              <a:t>背景</a:t>
            </a:r>
          </a:p>
        </p:txBody>
      </p:sp>
      <p:sp>
        <p:nvSpPr>
          <p:cNvPr id="34" name="文本框 19"/>
          <p:cNvSpPr txBox="1">
            <a:spLocks noChangeArrowheads="1"/>
          </p:cNvSpPr>
          <p:nvPr/>
        </p:nvSpPr>
        <p:spPr bwMode="auto">
          <a:xfrm>
            <a:off x="6751091" y="4597289"/>
            <a:ext cx="32781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Blip>
                <a:blip r:embed="rId3"/>
              </a:buBlip>
            </a:pPr>
            <a:r>
              <a:rPr lang="zh-CN" altLang="en-US" sz="1600" dirty="0">
                <a:solidFill>
                  <a:srgbClr val="090911"/>
                </a:solidFill>
                <a:latin typeface="微软雅黑" panose="020B0503020204020204" pitchFamily="34" charset="-122"/>
                <a:ea typeface="微软雅黑" panose="020B0503020204020204" pitchFamily="34" charset="-122"/>
              </a:rPr>
              <a:t>用户独占全机</a:t>
            </a:r>
            <a:endParaRPr lang="en-US" altLang="zh-CN" sz="1600" dirty="0">
              <a:solidFill>
                <a:srgbClr val="090911"/>
              </a:solidFill>
              <a:latin typeface="微软雅黑" panose="020B0503020204020204" pitchFamily="34" charset="-122"/>
              <a:ea typeface="微软雅黑" panose="020B0503020204020204" pitchFamily="34" charset="-122"/>
            </a:endParaRPr>
          </a:p>
          <a:p>
            <a:pPr eaLnBrk="1" hangingPunct="1">
              <a:buBlip>
                <a:blip r:embed="rId3"/>
              </a:buBlip>
            </a:pPr>
            <a:r>
              <a:rPr lang="en-US" altLang="zh-CN" sz="1600" dirty="0">
                <a:solidFill>
                  <a:srgbClr val="090911"/>
                </a:solidFill>
                <a:latin typeface="微软雅黑" panose="020B0503020204020204" pitchFamily="34" charset="-122"/>
                <a:ea typeface="微软雅黑" panose="020B0503020204020204" pitchFamily="34" charset="-122"/>
              </a:rPr>
              <a:t>CPU</a:t>
            </a:r>
            <a:r>
              <a:rPr lang="zh-CN" altLang="en-US" sz="1600" dirty="0">
                <a:solidFill>
                  <a:srgbClr val="090911"/>
                </a:solidFill>
                <a:latin typeface="微软雅黑" panose="020B0503020204020204" pitchFamily="34" charset="-122"/>
                <a:ea typeface="微软雅黑" panose="020B0503020204020204" pitchFamily="34" charset="-122"/>
              </a:rPr>
              <a:t>等待人工操作</a:t>
            </a:r>
            <a:endParaRPr lang="en-US" altLang="zh-CN" sz="1600" dirty="0">
              <a:solidFill>
                <a:srgbClr val="090911"/>
              </a:solidFill>
              <a:latin typeface="微软雅黑" panose="020B0503020204020204" pitchFamily="34" charset="-122"/>
              <a:ea typeface="微软雅黑" panose="020B0503020204020204" pitchFamily="34" charset="-122"/>
            </a:endParaRPr>
          </a:p>
        </p:txBody>
      </p:sp>
      <p:sp>
        <p:nvSpPr>
          <p:cNvPr id="35" name="文本框 124"/>
          <p:cNvSpPr txBox="1">
            <a:spLocks noChangeArrowheads="1"/>
          </p:cNvSpPr>
          <p:nvPr/>
        </p:nvSpPr>
        <p:spPr bwMode="auto">
          <a:xfrm>
            <a:off x="6670428" y="4101605"/>
            <a:ext cx="1920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05050"/>
                </a:solidFill>
                <a:latin typeface="微软雅黑" panose="020B0503020204020204" pitchFamily="34" charset="-122"/>
                <a:ea typeface="微软雅黑" panose="020B0503020204020204" pitchFamily="34" charset="-122"/>
              </a:rPr>
              <a:t>缺点</a:t>
            </a:r>
          </a:p>
        </p:txBody>
      </p:sp>
      <p:sp>
        <p:nvSpPr>
          <p:cNvPr id="36" name="文本框 19"/>
          <p:cNvSpPr txBox="1">
            <a:spLocks noChangeArrowheads="1"/>
          </p:cNvSpPr>
          <p:nvPr/>
        </p:nvSpPr>
        <p:spPr bwMode="auto">
          <a:xfrm>
            <a:off x="6752879" y="5717909"/>
            <a:ext cx="32781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Blip>
                <a:blip r:embed="rId3"/>
              </a:buBlip>
            </a:pPr>
            <a:r>
              <a:rPr lang="zh-CN" altLang="en-US" sz="1600" dirty="0">
                <a:solidFill>
                  <a:srgbClr val="090911"/>
                </a:solidFill>
                <a:latin typeface="微软雅黑" panose="020B0503020204020204" pitchFamily="34" charset="-122"/>
                <a:ea typeface="微软雅黑" panose="020B0503020204020204" pitchFamily="34" charset="-122"/>
              </a:rPr>
              <a:t>人</a:t>
            </a:r>
            <a:r>
              <a:rPr lang="en-US" altLang="zh-CN" sz="1600" dirty="0">
                <a:solidFill>
                  <a:srgbClr val="090911"/>
                </a:solidFill>
                <a:latin typeface="微软雅黑" panose="020B0503020204020204" pitchFamily="34" charset="-122"/>
                <a:ea typeface="微软雅黑" panose="020B0503020204020204" pitchFamily="34" charset="-122"/>
              </a:rPr>
              <a:t>-</a:t>
            </a:r>
            <a:r>
              <a:rPr lang="zh-CN" altLang="en-US" sz="1600" dirty="0">
                <a:solidFill>
                  <a:srgbClr val="090911"/>
                </a:solidFill>
                <a:latin typeface="微软雅黑" panose="020B0503020204020204" pitchFamily="34" charset="-122"/>
                <a:ea typeface="微软雅黑" panose="020B0503020204020204" pitchFamily="34" charset="-122"/>
              </a:rPr>
              <a:t>机矛盾</a:t>
            </a:r>
            <a:endParaRPr lang="en-US" altLang="zh-CN" sz="1600" dirty="0">
              <a:solidFill>
                <a:srgbClr val="090911"/>
              </a:solidFill>
              <a:latin typeface="微软雅黑" panose="020B0503020204020204" pitchFamily="34" charset="-122"/>
              <a:ea typeface="微软雅黑" panose="020B0503020204020204" pitchFamily="34" charset="-122"/>
            </a:endParaRPr>
          </a:p>
          <a:p>
            <a:pPr eaLnBrk="1" hangingPunct="1">
              <a:buBlip>
                <a:blip r:embed="rId3"/>
              </a:buBlip>
            </a:pPr>
            <a:r>
              <a:rPr lang="en-US" altLang="zh-CN" sz="1600" dirty="0">
                <a:solidFill>
                  <a:srgbClr val="090911"/>
                </a:solidFill>
                <a:latin typeface="微软雅黑" panose="020B0503020204020204" pitchFamily="34" charset="-122"/>
                <a:ea typeface="微软雅黑" panose="020B0503020204020204" pitchFamily="34" charset="-122"/>
              </a:rPr>
              <a:t>CPU</a:t>
            </a:r>
            <a:r>
              <a:rPr lang="zh-CN" altLang="en-US" sz="1600" dirty="0">
                <a:solidFill>
                  <a:srgbClr val="090911"/>
                </a:solidFill>
                <a:latin typeface="微软雅黑" panose="020B0503020204020204" pitchFamily="34" charset="-122"/>
                <a:ea typeface="微软雅黑" panose="020B0503020204020204" pitchFamily="34" charset="-122"/>
              </a:rPr>
              <a:t>与</a:t>
            </a:r>
            <a:r>
              <a:rPr lang="en-US" altLang="zh-CN" sz="1600" dirty="0">
                <a:solidFill>
                  <a:srgbClr val="090911"/>
                </a:solidFill>
                <a:latin typeface="微软雅黑" panose="020B0503020204020204" pitchFamily="34" charset="-122"/>
                <a:ea typeface="微软雅黑" panose="020B0503020204020204" pitchFamily="34" charset="-122"/>
              </a:rPr>
              <a:t>I/O</a:t>
            </a:r>
            <a:r>
              <a:rPr lang="zh-CN" altLang="en-US" sz="1600" dirty="0">
                <a:solidFill>
                  <a:srgbClr val="090911"/>
                </a:solidFill>
                <a:latin typeface="微软雅黑" panose="020B0503020204020204" pitchFamily="34" charset="-122"/>
                <a:ea typeface="微软雅黑" panose="020B0503020204020204" pitchFamily="34" charset="-122"/>
              </a:rPr>
              <a:t>速度不匹配</a:t>
            </a:r>
            <a:endParaRPr lang="en-US" altLang="zh-CN" sz="1600" dirty="0">
              <a:solidFill>
                <a:srgbClr val="090911"/>
              </a:solidFill>
              <a:latin typeface="微软雅黑" panose="020B0503020204020204" pitchFamily="34" charset="-122"/>
              <a:ea typeface="微软雅黑" panose="020B0503020204020204" pitchFamily="34" charset="-122"/>
            </a:endParaRPr>
          </a:p>
        </p:txBody>
      </p:sp>
      <p:sp>
        <p:nvSpPr>
          <p:cNvPr id="37" name="文本框 124"/>
          <p:cNvSpPr txBox="1">
            <a:spLocks noChangeArrowheads="1"/>
          </p:cNvSpPr>
          <p:nvPr/>
        </p:nvSpPr>
        <p:spPr bwMode="auto">
          <a:xfrm>
            <a:off x="6672216" y="5222225"/>
            <a:ext cx="1920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05050"/>
                </a:solidFill>
                <a:latin typeface="微软雅黑" panose="020B0503020204020204" pitchFamily="34" charset="-122"/>
                <a:ea typeface="微软雅黑" panose="020B0503020204020204" pitchFamily="34" charset="-122"/>
              </a:rPr>
              <a:t>问题</a:t>
            </a:r>
          </a:p>
        </p:txBody>
      </p:sp>
    </p:spTree>
    <p:extLst>
      <p:ext uri="{BB962C8B-B14F-4D97-AF65-F5344CB8AC3E}">
        <p14:creationId xmlns:p14="http://schemas.microsoft.com/office/powerpoint/2010/main" val="16708748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0" presetClass="entr" presetSubtype="0" decel="100000" fill="hold" grpId="0" nodeType="withEffect">
                                  <p:stCondLst>
                                    <p:cond delay="0"/>
                                  </p:stCondLst>
                                  <p:iterate type="lt">
                                    <p:tmPct val="10000"/>
                                  </p:iterate>
                                  <p:childTnLst>
                                    <p:set>
                                      <p:cBhvr>
                                        <p:cTn id="6" dur="1" fill="hold">
                                          <p:stCondLst>
                                            <p:cond delay="0"/>
                                          </p:stCondLst>
                                        </p:cTn>
                                        <p:tgtEl>
                                          <p:spTgt spid="20"/>
                                        </p:tgtEl>
                                        <p:attrNameLst>
                                          <p:attrName>style.visibility</p:attrName>
                                        </p:attrNameLst>
                                      </p:cBhvr>
                                      <p:to>
                                        <p:strVal val="visible"/>
                                      </p:to>
                                    </p:set>
                                    <p:anim calcmode="lin" valueType="num">
                                      <p:cBhvr>
                                        <p:cTn id="7" dur="1000" fill="hold"/>
                                        <p:tgtEl>
                                          <p:spTgt spid="20"/>
                                        </p:tgtEl>
                                        <p:attrNameLst>
                                          <p:attrName>ppt_w</p:attrName>
                                        </p:attrNameLst>
                                      </p:cBhvr>
                                      <p:tavLst>
                                        <p:tav tm="0">
                                          <p:val>
                                            <p:strVal val="#ppt_w+.3"/>
                                          </p:val>
                                        </p:tav>
                                        <p:tav tm="100000">
                                          <p:val>
                                            <p:strVal val="#ppt_w"/>
                                          </p:val>
                                        </p:tav>
                                      </p:tavLst>
                                    </p:anim>
                                    <p:anim calcmode="lin" valueType="num">
                                      <p:cBhvr>
                                        <p:cTn id="8" dur="1000" fill="hold"/>
                                        <p:tgtEl>
                                          <p:spTgt spid="20"/>
                                        </p:tgtEl>
                                        <p:attrNameLst>
                                          <p:attrName>ppt_h</p:attrName>
                                        </p:attrNameLst>
                                      </p:cBhvr>
                                      <p:tavLst>
                                        <p:tav tm="0">
                                          <p:val>
                                            <p:strVal val="#ppt_h"/>
                                          </p:val>
                                        </p:tav>
                                        <p:tav tm="100000">
                                          <p:val>
                                            <p:strVal val="#ppt_h"/>
                                          </p:val>
                                        </p:tav>
                                      </p:tavLst>
                                    </p:anim>
                                    <p:animEffect transition="in" filter="fade">
                                      <p:cBhvr>
                                        <p:cTn id="9" dur="1000"/>
                                        <p:tgtEl>
                                          <p:spTgt spid="20"/>
                                        </p:tgtEl>
                                      </p:cBhvr>
                                    </p:animEffect>
                                  </p:childTnLst>
                                </p:cTn>
                              </p:par>
                              <p:par>
                                <p:cTn id="10" presetID="50" presetClass="entr" presetSubtype="0" decel="100000" fill="hold" grpId="0" nodeType="withEffect">
                                  <p:stCondLst>
                                    <p:cond delay="0"/>
                                  </p:stCondLst>
                                  <p:iterate type="lt">
                                    <p:tmPct val="10000"/>
                                  </p:iterate>
                                  <p:childTnLst>
                                    <p:set>
                                      <p:cBhvr>
                                        <p:cTn id="11" dur="1" fill="hold">
                                          <p:stCondLst>
                                            <p:cond delay="0"/>
                                          </p:stCondLst>
                                        </p:cTn>
                                        <p:tgtEl>
                                          <p:spTgt spid="34"/>
                                        </p:tgtEl>
                                        <p:attrNameLst>
                                          <p:attrName>style.visibility</p:attrName>
                                        </p:attrNameLst>
                                      </p:cBhvr>
                                      <p:to>
                                        <p:strVal val="visible"/>
                                      </p:to>
                                    </p:set>
                                    <p:anim calcmode="lin" valueType="num">
                                      <p:cBhvr>
                                        <p:cTn id="12" dur="1000" fill="hold"/>
                                        <p:tgtEl>
                                          <p:spTgt spid="34"/>
                                        </p:tgtEl>
                                        <p:attrNameLst>
                                          <p:attrName>ppt_w</p:attrName>
                                        </p:attrNameLst>
                                      </p:cBhvr>
                                      <p:tavLst>
                                        <p:tav tm="0">
                                          <p:val>
                                            <p:strVal val="#ppt_w+.3"/>
                                          </p:val>
                                        </p:tav>
                                        <p:tav tm="100000">
                                          <p:val>
                                            <p:strVal val="#ppt_w"/>
                                          </p:val>
                                        </p:tav>
                                      </p:tavLst>
                                    </p:anim>
                                    <p:anim calcmode="lin" valueType="num">
                                      <p:cBhvr>
                                        <p:cTn id="13" dur="1000" fill="hold"/>
                                        <p:tgtEl>
                                          <p:spTgt spid="34"/>
                                        </p:tgtEl>
                                        <p:attrNameLst>
                                          <p:attrName>ppt_h</p:attrName>
                                        </p:attrNameLst>
                                      </p:cBhvr>
                                      <p:tavLst>
                                        <p:tav tm="0">
                                          <p:val>
                                            <p:strVal val="#ppt_h"/>
                                          </p:val>
                                        </p:tav>
                                        <p:tav tm="100000">
                                          <p:val>
                                            <p:strVal val="#ppt_h"/>
                                          </p:val>
                                        </p:tav>
                                      </p:tavLst>
                                    </p:anim>
                                    <p:animEffect transition="in" filter="fade">
                                      <p:cBhvr>
                                        <p:cTn id="14" dur="1000"/>
                                        <p:tgtEl>
                                          <p:spTgt spid="34"/>
                                        </p:tgtEl>
                                      </p:cBhvr>
                                    </p:animEffect>
                                  </p:childTnLst>
                                </p:cTn>
                              </p:par>
                              <p:par>
                                <p:cTn id="15" presetID="50" presetClass="entr" presetSubtype="0" decel="100000" fill="hold" grpId="0" nodeType="withEffect">
                                  <p:stCondLst>
                                    <p:cond delay="0"/>
                                  </p:stCondLst>
                                  <p:iterate type="lt">
                                    <p:tmPct val="10000"/>
                                  </p:iterate>
                                  <p:childTnLst>
                                    <p:set>
                                      <p:cBhvr>
                                        <p:cTn id="16" dur="1" fill="hold">
                                          <p:stCondLst>
                                            <p:cond delay="0"/>
                                          </p:stCondLst>
                                        </p:cTn>
                                        <p:tgtEl>
                                          <p:spTgt spid="36"/>
                                        </p:tgtEl>
                                        <p:attrNameLst>
                                          <p:attrName>style.visibility</p:attrName>
                                        </p:attrNameLst>
                                      </p:cBhvr>
                                      <p:to>
                                        <p:strVal val="visible"/>
                                      </p:to>
                                    </p:set>
                                    <p:anim calcmode="lin" valueType="num">
                                      <p:cBhvr>
                                        <p:cTn id="17" dur="1000" fill="hold"/>
                                        <p:tgtEl>
                                          <p:spTgt spid="36"/>
                                        </p:tgtEl>
                                        <p:attrNameLst>
                                          <p:attrName>ppt_w</p:attrName>
                                        </p:attrNameLst>
                                      </p:cBhvr>
                                      <p:tavLst>
                                        <p:tav tm="0">
                                          <p:val>
                                            <p:strVal val="#ppt_w+.3"/>
                                          </p:val>
                                        </p:tav>
                                        <p:tav tm="100000">
                                          <p:val>
                                            <p:strVal val="#ppt_w"/>
                                          </p:val>
                                        </p:tav>
                                      </p:tavLst>
                                    </p:anim>
                                    <p:anim calcmode="lin" valueType="num">
                                      <p:cBhvr>
                                        <p:cTn id="18" dur="1000" fill="hold"/>
                                        <p:tgtEl>
                                          <p:spTgt spid="36"/>
                                        </p:tgtEl>
                                        <p:attrNameLst>
                                          <p:attrName>ppt_h</p:attrName>
                                        </p:attrNameLst>
                                      </p:cBhvr>
                                      <p:tavLst>
                                        <p:tav tm="0">
                                          <p:val>
                                            <p:strVal val="#ppt_h"/>
                                          </p:val>
                                        </p:tav>
                                        <p:tav tm="100000">
                                          <p:val>
                                            <p:strVal val="#ppt_h"/>
                                          </p:val>
                                        </p:tav>
                                      </p:tavLst>
                                    </p:anim>
                                    <p:animEffect transition="in" filter="fade">
                                      <p:cBhvr>
                                        <p:cTn id="19"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4" grpId="0"/>
      <p:bldP spid="3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6096000" y="2000250"/>
            <a:ext cx="4724400"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9391650" y="1468438"/>
            <a:ext cx="0" cy="1063625"/>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a:spLocks noChangeArrowheads="1"/>
          </p:cNvSpPr>
          <p:nvPr/>
        </p:nvSpPr>
        <p:spPr bwMode="auto">
          <a:xfrm>
            <a:off x="6749303" y="3014075"/>
            <a:ext cx="32781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Blip>
                <a:blip r:embed="rId3"/>
              </a:buBlip>
            </a:pPr>
            <a:r>
              <a:rPr lang="zh-CN" altLang="en-US" sz="1600" dirty="0">
                <a:solidFill>
                  <a:srgbClr val="090911"/>
                </a:solidFill>
                <a:latin typeface="微软雅黑" panose="020B0503020204020204" pitchFamily="34" charset="-122"/>
                <a:ea typeface="微软雅黑" panose="020B0503020204020204" pitchFamily="34" charset="-122"/>
              </a:rPr>
              <a:t>减少了</a:t>
            </a:r>
            <a:r>
              <a:rPr lang="en-US" altLang="zh-CN" sz="1600" dirty="0">
                <a:solidFill>
                  <a:srgbClr val="090911"/>
                </a:solidFill>
                <a:latin typeface="微软雅黑" panose="020B0503020204020204" pitchFamily="34" charset="-122"/>
                <a:ea typeface="微软雅黑" panose="020B0503020204020204" pitchFamily="34" charset="-122"/>
              </a:rPr>
              <a:t>CPU</a:t>
            </a:r>
            <a:r>
              <a:rPr lang="zh-CN" altLang="en-US" sz="1600" dirty="0">
                <a:solidFill>
                  <a:srgbClr val="090911"/>
                </a:solidFill>
                <a:latin typeface="微软雅黑" panose="020B0503020204020204" pitchFamily="34" charset="-122"/>
                <a:ea typeface="微软雅黑" panose="020B0503020204020204" pitchFamily="34" charset="-122"/>
              </a:rPr>
              <a:t>空闲时间</a:t>
            </a:r>
            <a:endParaRPr lang="en-US" altLang="zh-CN" sz="1600" dirty="0">
              <a:solidFill>
                <a:srgbClr val="090911"/>
              </a:solidFill>
              <a:latin typeface="微软雅黑" panose="020B0503020204020204" pitchFamily="34" charset="-122"/>
              <a:ea typeface="微软雅黑" panose="020B0503020204020204" pitchFamily="34" charset="-122"/>
            </a:endParaRPr>
          </a:p>
          <a:p>
            <a:pPr eaLnBrk="1" hangingPunct="1">
              <a:buBlip>
                <a:blip r:embed="rId3"/>
              </a:buBlip>
            </a:pPr>
            <a:r>
              <a:rPr lang="zh-CN" altLang="en-US" sz="1600" dirty="0">
                <a:solidFill>
                  <a:srgbClr val="090911"/>
                </a:solidFill>
                <a:latin typeface="微软雅黑" panose="020B0503020204020204" pitchFamily="34" charset="-122"/>
                <a:ea typeface="微软雅黑" panose="020B0503020204020204" pitchFamily="34" charset="-122"/>
              </a:rPr>
              <a:t>提高</a:t>
            </a:r>
            <a:r>
              <a:rPr lang="en-US" altLang="zh-CN" sz="1600" dirty="0">
                <a:solidFill>
                  <a:srgbClr val="090911"/>
                </a:solidFill>
                <a:latin typeface="微软雅黑" panose="020B0503020204020204" pitchFamily="34" charset="-122"/>
                <a:ea typeface="微软雅黑" panose="020B0503020204020204" pitchFamily="34" charset="-122"/>
              </a:rPr>
              <a:t>I/O </a:t>
            </a:r>
            <a:r>
              <a:rPr lang="zh-CN" altLang="en-US" sz="1600" dirty="0">
                <a:solidFill>
                  <a:srgbClr val="090911"/>
                </a:solidFill>
                <a:latin typeface="微软雅黑" panose="020B0503020204020204" pitchFamily="34" charset="-122"/>
                <a:ea typeface="微软雅黑" panose="020B0503020204020204" pitchFamily="34" charset="-122"/>
              </a:rPr>
              <a:t>速度</a:t>
            </a:r>
            <a:endParaRPr lang="en-US" altLang="zh-CN" sz="1600" dirty="0">
              <a:solidFill>
                <a:srgbClr val="090911"/>
              </a:solidFill>
              <a:latin typeface="微软雅黑" panose="020B0503020204020204" pitchFamily="34" charset="-122"/>
              <a:ea typeface="微软雅黑" panose="020B0503020204020204" pitchFamily="34" charset="-122"/>
            </a:endParaRPr>
          </a:p>
        </p:txBody>
      </p:sp>
      <p:sp>
        <p:nvSpPr>
          <p:cNvPr id="19" name="矩形 18"/>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 name="组合 23"/>
          <p:cNvGrpSpPr/>
          <p:nvPr/>
        </p:nvGrpSpPr>
        <p:grpSpPr>
          <a:xfrm>
            <a:off x="245745" y="213360"/>
            <a:ext cx="563880" cy="563880"/>
            <a:chOff x="276225" y="213360"/>
            <a:chExt cx="563880" cy="563880"/>
          </a:xfrm>
          <a:solidFill>
            <a:srgbClr val="3D7351"/>
          </a:solidFill>
        </p:grpSpPr>
        <p:sp>
          <p:nvSpPr>
            <p:cNvPr id="25" name="矩形 24"/>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26" name="椭圆 25"/>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7" name="文本框 25"/>
          <p:cNvSpPr txBox="1">
            <a:spLocks noChangeArrowheads="1"/>
          </p:cNvSpPr>
          <p:nvPr/>
        </p:nvSpPr>
        <p:spPr bwMode="auto">
          <a:xfrm>
            <a:off x="902970" y="212725"/>
            <a:ext cx="79111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1.</a:t>
            </a:r>
            <a:r>
              <a:rPr lang="zh-CN" altLang="en-US" sz="2400" b="1" dirty="0">
                <a:solidFill>
                  <a:srgbClr val="3D7351"/>
                </a:solidFill>
                <a:latin typeface="微软雅黑" panose="020B0503020204020204" pitchFamily="34" charset="-122"/>
                <a:ea typeface="微软雅黑" panose="020B0503020204020204" pitchFamily="34" charset="-122"/>
              </a:rPr>
              <a:t>手工操作</a:t>
            </a:r>
            <a:r>
              <a:rPr lang="en-US" altLang="zh-CN" sz="2400" b="1" dirty="0">
                <a:solidFill>
                  <a:srgbClr val="3D7351"/>
                </a:solidFill>
                <a:latin typeface="微软雅黑" panose="020B0503020204020204" pitchFamily="34" charset="-122"/>
                <a:ea typeface="微软雅黑" panose="020B0503020204020204" pitchFamily="34" charset="-122"/>
              </a:rPr>
              <a:t>—1945</a:t>
            </a:r>
            <a:r>
              <a:rPr lang="zh-CN" altLang="en-US" sz="2400" b="1" dirty="0">
                <a:solidFill>
                  <a:srgbClr val="3D7351"/>
                </a:solidFill>
                <a:latin typeface="微软雅黑" panose="020B0503020204020204" pitchFamily="34" charset="-122"/>
                <a:ea typeface="微软雅黑" panose="020B0503020204020204" pitchFamily="34" charset="-122"/>
              </a:rPr>
              <a:t>年</a:t>
            </a:r>
            <a:r>
              <a:rPr lang="en-US" altLang="zh-CN" sz="2400" b="1" dirty="0">
                <a:solidFill>
                  <a:srgbClr val="3D7351"/>
                </a:solidFill>
                <a:latin typeface="微软雅黑" panose="020B0503020204020204" pitchFamily="34" charset="-122"/>
                <a:ea typeface="微软雅黑" panose="020B0503020204020204" pitchFamily="34" charset="-122"/>
              </a:rPr>
              <a:t>-50</a:t>
            </a:r>
            <a:r>
              <a:rPr lang="zh-CN" altLang="en-US" sz="2400" b="1" dirty="0">
                <a:solidFill>
                  <a:srgbClr val="3D7351"/>
                </a:solidFill>
                <a:latin typeface="微软雅黑" panose="020B0503020204020204" pitchFamily="34" charset="-122"/>
                <a:ea typeface="微软雅黑" panose="020B0503020204020204" pitchFamily="34" charset="-122"/>
              </a:rPr>
              <a:t>年代中期，第一代电子管计算机</a:t>
            </a:r>
          </a:p>
        </p:txBody>
      </p:sp>
      <p:sp>
        <p:nvSpPr>
          <p:cNvPr id="22"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30" name="TextBox 29"/>
          <p:cNvSpPr txBox="1"/>
          <p:nvPr/>
        </p:nvSpPr>
        <p:spPr>
          <a:xfrm>
            <a:off x="6906409" y="1516828"/>
            <a:ext cx="2355945" cy="400110"/>
          </a:xfrm>
          <a:prstGeom prst="rect">
            <a:avLst/>
          </a:prstGeom>
          <a:noFill/>
        </p:spPr>
        <p:txBody>
          <a:bodyPr wrap="square" rtlCol="0">
            <a:spAutoFit/>
          </a:bodyPr>
          <a:lstStyle/>
          <a:p>
            <a:r>
              <a:rPr lang="zh-CN" altLang="en-US" sz="2000" b="1" dirty="0">
                <a:solidFill>
                  <a:srgbClr val="4C7E51"/>
                </a:solidFill>
                <a:latin typeface="微软雅黑" panose="020B0503020204020204" pitchFamily="34" charset="-122"/>
                <a:ea typeface="微软雅黑" panose="020B0503020204020204" pitchFamily="34" charset="-122"/>
              </a:rPr>
              <a:t>脱机输入</a:t>
            </a:r>
            <a:r>
              <a:rPr lang="en-US" altLang="zh-CN" sz="2000" b="1" dirty="0">
                <a:solidFill>
                  <a:srgbClr val="4C7E51"/>
                </a:solidFill>
                <a:latin typeface="微软雅黑" panose="020B0503020204020204" pitchFamily="34" charset="-122"/>
                <a:ea typeface="微软雅黑" panose="020B0503020204020204" pitchFamily="34" charset="-122"/>
              </a:rPr>
              <a:t>/</a:t>
            </a:r>
            <a:r>
              <a:rPr lang="zh-CN" altLang="en-US" sz="2000" b="1" dirty="0">
                <a:solidFill>
                  <a:srgbClr val="4C7E51"/>
                </a:solidFill>
                <a:latin typeface="微软雅黑" panose="020B0503020204020204" pitchFamily="34" charset="-122"/>
                <a:ea typeface="微软雅黑" panose="020B0503020204020204" pitchFamily="34" charset="-122"/>
              </a:rPr>
              <a:t>输出</a:t>
            </a:r>
            <a:r>
              <a:rPr lang="zh-CN" altLang="en-US" sz="2000" b="1" dirty="0">
                <a:latin typeface="微软雅黑" panose="020B0503020204020204" pitchFamily="34" charset="-122"/>
                <a:ea typeface="微软雅黑" panose="020B0503020204020204" pitchFamily="34" charset="-122"/>
              </a:rPr>
              <a:t>方式</a:t>
            </a:r>
          </a:p>
        </p:txBody>
      </p:sp>
      <p:sp>
        <p:nvSpPr>
          <p:cNvPr id="33" name="文本框 124"/>
          <p:cNvSpPr txBox="1">
            <a:spLocks noChangeArrowheads="1"/>
          </p:cNvSpPr>
          <p:nvPr/>
        </p:nvSpPr>
        <p:spPr bwMode="auto">
          <a:xfrm>
            <a:off x="6668640" y="2518391"/>
            <a:ext cx="1920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05050"/>
                </a:solidFill>
                <a:latin typeface="微软雅黑" panose="020B0503020204020204" pitchFamily="34" charset="-122"/>
                <a:ea typeface="微软雅黑" panose="020B0503020204020204" pitchFamily="34" charset="-122"/>
              </a:rPr>
              <a:t>优点</a:t>
            </a:r>
          </a:p>
        </p:txBody>
      </p:sp>
      <p:sp>
        <p:nvSpPr>
          <p:cNvPr id="23" name="文本框 16"/>
          <p:cNvSpPr txBox="1"/>
          <p:nvPr/>
        </p:nvSpPr>
        <p:spPr>
          <a:xfrm>
            <a:off x="9501188" y="2132013"/>
            <a:ext cx="1731371" cy="400110"/>
          </a:xfrm>
          <a:prstGeom prst="rect">
            <a:avLst/>
          </a:prstGeom>
          <a:noFill/>
        </p:spPr>
        <p:txBody>
          <a:bodyPr wrap="none">
            <a:spAutoFit/>
          </a:bodyPr>
          <a:lstStyle/>
          <a:p>
            <a:pPr eaLnBrk="1" fontAlgn="auto" hangingPunct="1">
              <a:spcBef>
                <a:spcPts val="0"/>
              </a:spcBef>
              <a:spcAft>
                <a:spcPts val="0"/>
              </a:spcAft>
              <a:defRPr/>
            </a:pPr>
            <a:r>
              <a:rPr lang="en-US" altLang="zh-CN" sz="2000" b="1" dirty="0">
                <a:solidFill>
                  <a:srgbClr val="4C7E51"/>
                </a:solidFill>
                <a:latin typeface="微软雅黑" panose="020B0503020204020204" pitchFamily="34" charset="-122"/>
                <a:ea typeface="微软雅黑" panose="020B0503020204020204" pitchFamily="34" charset="-122"/>
              </a:rPr>
              <a:t>Off-Line I/O</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aphicFrame>
        <p:nvGraphicFramePr>
          <p:cNvPr id="28" name="Object 4"/>
          <p:cNvGraphicFramePr>
            <a:graphicFrameLocks noChangeAspect="1"/>
          </p:cNvGraphicFramePr>
          <p:nvPr/>
        </p:nvGraphicFramePr>
        <p:xfrm>
          <a:off x="971550" y="1866069"/>
          <a:ext cx="1368425" cy="820738"/>
        </p:xfrm>
        <a:graphic>
          <a:graphicData uri="http://schemas.openxmlformats.org/presentationml/2006/ole">
            <mc:AlternateContent xmlns:mc="http://schemas.openxmlformats.org/markup-compatibility/2006">
              <mc:Choice xmlns:v="urn:schemas-microsoft-com:vml" Requires="v">
                <p:oleObj r:id="rId4" imgW="541782" imgH="325755" progId="">
                  <p:embed/>
                </p:oleObj>
              </mc:Choice>
              <mc:Fallback>
                <p:oleObj r:id="rId4" imgW="541782" imgH="325755" progId="">
                  <p:embed/>
                  <p:pic>
                    <p:nvPicPr>
                      <p:cNvPr id="0" name="Picture 18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550" y="1866069"/>
                        <a:ext cx="1368425" cy="820738"/>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 name="Object 5"/>
          <p:cNvGraphicFramePr>
            <a:graphicFrameLocks noChangeAspect="1"/>
          </p:cNvGraphicFramePr>
          <p:nvPr/>
        </p:nvGraphicFramePr>
        <p:xfrm>
          <a:off x="2987675" y="1937507"/>
          <a:ext cx="1081088" cy="749300"/>
        </p:xfrm>
        <a:graphic>
          <a:graphicData uri="http://schemas.openxmlformats.org/presentationml/2006/ole">
            <mc:AlternateContent xmlns:mc="http://schemas.openxmlformats.org/markup-compatibility/2006">
              <mc:Choice xmlns:v="urn:schemas-microsoft-com:vml" Requires="v">
                <p:oleObj r:id="rId6" imgW="469773" imgH="325755" progId="">
                  <p:embed/>
                </p:oleObj>
              </mc:Choice>
              <mc:Fallback>
                <p:oleObj r:id="rId6" imgW="469773" imgH="325755" progId="">
                  <p:embed/>
                  <p:pic>
                    <p:nvPicPr>
                      <p:cNvPr id="0" name="Picture 18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87675" y="1937507"/>
                        <a:ext cx="1081088" cy="7493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 name="Object 6"/>
          <p:cNvGraphicFramePr>
            <a:graphicFrameLocks noChangeAspect="1"/>
          </p:cNvGraphicFramePr>
          <p:nvPr/>
        </p:nvGraphicFramePr>
        <p:xfrm>
          <a:off x="1116013" y="2945569"/>
          <a:ext cx="838200" cy="935038"/>
        </p:xfrm>
        <a:graphic>
          <a:graphicData uri="http://schemas.openxmlformats.org/presentationml/2006/ole">
            <mc:AlternateContent xmlns:mc="http://schemas.openxmlformats.org/markup-compatibility/2006">
              <mc:Choice xmlns:v="urn:schemas-microsoft-com:vml" Requires="v">
                <p:oleObj r:id="rId8" imgW="469773" imgH="523875" progId="">
                  <p:embed/>
                </p:oleObj>
              </mc:Choice>
              <mc:Fallback>
                <p:oleObj r:id="rId8" imgW="469773" imgH="523875" progId="">
                  <p:embed/>
                  <p:pic>
                    <p:nvPicPr>
                      <p:cNvPr id="0" name="Picture 18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6013" y="2945569"/>
                        <a:ext cx="838200" cy="935038"/>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 name="Object 7"/>
          <p:cNvGraphicFramePr>
            <a:graphicFrameLocks noChangeAspect="1"/>
          </p:cNvGraphicFramePr>
          <p:nvPr/>
        </p:nvGraphicFramePr>
        <p:xfrm>
          <a:off x="4746625" y="1794632"/>
          <a:ext cx="904875" cy="1008062"/>
        </p:xfrm>
        <a:graphic>
          <a:graphicData uri="http://schemas.openxmlformats.org/presentationml/2006/ole">
            <mc:AlternateContent xmlns:mc="http://schemas.openxmlformats.org/markup-compatibility/2006">
              <mc:Choice xmlns:v="urn:schemas-microsoft-com:vml" Requires="v">
                <p:oleObj r:id="rId10" imgW="469773" imgH="523875" progId="">
                  <p:embed/>
                </p:oleObj>
              </mc:Choice>
              <mc:Fallback>
                <p:oleObj r:id="rId10" imgW="469773" imgH="523875" progId="">
                  <p:embed/>
                  <p:pic>
                    <p:nvPicPr>
                      <p:cNvPr id="0" name="Picture 18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46625" y="1794632"/>
                        <a:ext cx="904875" cy="1008062"/>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 name="Object 8"/>
          <p:cNvGraphicFramePr>
            <a:graphicFrameLocks noChangeAspect="1"/>
          </p:cNvGraphicFramePr>
          <p:nvPr/>
        </p:nvGraphicFramePr>
        <p:xfrm>
          <a:off x="2627313" y="3018594"/>
          <a:ext cx="1081087" cy="749300"/>
        </p:xfrm>
        <a:graphic>
          <a:graphicData uri="http://schemas.openxmlformats.org/presentationml/2006/ole">
            <mc:AlternateContent xmlns:mc="http://schemas.openxmlformats.org/markup-compatibility/2006">
              <mc:Choice xmlns:v="urn:schemas-microsoft-com:vml" Requires="v">
                <p:oleObj r:id="rId12" imgW="469773" imgH="325755" progId="">
                  <p:embed/>
                </p:oleObj>
              </mc:Choice>
              <mc:Fallback>
                <p:oleObj r:id="rId12" imgW="469773" imgH="325755" progId="">
                  <p:embed/>
                  <p:pic>
                    <p:nvPicPr>
                      <p:cNvPr id="0" name="Picture 18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27313" y="3018594"/>
                        <a:ext cx="1081087" cy="7493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 name="Object 9"/>
          <p:cNvGraphicFramePr>
            <a:graphicFrameLocks noChangeAspect="1"/>
          </p:cNvGraphicFramePr>
          <p:nvPr/>
        </p:nvGraphicFramePr>
        <p:xfrm>
          <a:off x="4500563" y="4171119"/>
          <a:ext cx="1150937" cy="846138"/>
        </p:xfrm>
        <a:graphic>
          <a:graphicData uri="http://schemas.openxmlformats.org/presentationml/2006/ole">
            <mc:AlternateContent xmlns:mc="http://schemas.openxmlformats.org/markup-compatibility/2006">
              <mc:Choice xmlns:v="urn:schemas-microsoft-com:vml" Requires="v">
                <p:oleObj r:id="rId14" imgW="541782" imgH="397764" progId="">
                  <p:embed/>
                </p:oleObj>
              </mc:Choice>
              <mc:Fallback>
                <p:oleObj r:id="rId14" imgW="541782" imgH="397764" progId="">
                  <p:embed/>
                  <p:pic>
                    <p:nvPicPr>
                      <p:cNvPr id="0" name="Picture 18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00563" y="4171119"/>
                        <a:ext cx="1150937" cy="846138"/>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2" name="Line 10"/>
          <p:cNvSpPr>
            <a:spLocks noChangeShapeType="1"/>
          </p:cNvSpPr>
          <p:nvPr/>
        </p:nvSpPr>
        <p:spPr bwMode="auto">
          <a:xfrm>
            <a:off x="2266950" y="2226432"/>
            <a:ext cx="792163" cy="0"/>
          </a:xfrm>
          <a:prstGeom prst="line">
            <a:avLst/>
          </a:prstGeom>
          <a:noFill/>
          <a:ln w="28575">
            <a:solidFill>
              <a:schemeClr val="tx1"/>
            </a:solidFill>
            <a:round/>
            <a:headEnd/>
            <a:tailEnd type="arrow" w="med" len="med"/>
          </a:ln>
          <a:effectLst/>
        </p:spPr>
        <p:txBody>
          <a:bodyPr/>
          <a:lstStyle/>
          <a:p>
            <a:endParaRPr lang="zh-CN" altLang="en-US"/>
          </a:p>
        </p:txBody>
      </p:sp>
      <p:sp>
        <p:nvSpPr>
          <p:cNvPr id="43" name="Line 11"/>
          <p:cNvSpPr>
            <a:spLocks noChangeShapeType="1"/>
          </p:cNvSpPr>
          <p:nvPr/>
        </p:nvSpPr>
        <p:spPr bwMode="auto">
          <a:xfrm>
            <a:off x="3995738" y="2226432"/>
            <a:ext cx="792162" cy="0"/>
          </a:xfrm>
          <a:prstGeom prst="line">
            <a:avLst/>
          </a:prstGeom>
          <a:noFill/>
          <a:ln w="28575">
            <a:solidFill>
              <a:schemeClr val="tx1"/>
            </a:solidFill>
            <a:round/>
            <a:headEnd/>
            <a:tailEnd type="arrow" w="med" len="med"/>
          </a:ln>
          <a:effectLst/>
        </p:spPr>
        <p:txBody>
          <a:bodyPr/>
          <a:lstStyle/>
          <a:p>
            <a:endParaRPr lang="zh-CN" altLang="en-US"/>
          </a:p>
        </p:txBody>
      </p:sp>
      <p:sp>
        <p:nvSpPr>
          <p:cNvPr id="44" name="Line 12"/>
          <p:cNvSpPr>
            <a:spLocks noChangeShapeType="1"/>
          </p:cNvSpPr>
          <p:nvPr/>
        </p:nvSpPr>
        <p:spPr bwMode="auto">
          <a:xfrm>
            <a:off x="1908175" y="3378957"/>
            <a:ext cx="792163" cy="0"/>
          </a:xfrm>
          <a:prstGeom prst="line">
            <a:avLst/>
          </a:prstGeom>
          <a:noFill/>
          <a:ln w="28575">
            <a:solidFill>
              <a:schemeClr val="tx1"/>
            </a:solidFill>
            <a:round/>
            <a:headEnd/>
            <a:tailEnd type="arrow" w="med" len="med"/>
          </a:ln>
          <a:effectLst/>
        </p:spPr>
        <p:txBody>
          <a:bodyPr/>
          <a:lstStyle/>
          <a:p>
            <a:endParaRPr lang="zh-CN" altLang="en-US"/>
          </a:p>
        </p:txBody>
      </p:sp>
      <p:sp>
        <p:nvSpPr>
          <p:cNvPr id="45" name="Line 13"/>
          <p:cNvSpPr>
            <a:spLocks noChangeShapeType="1"/>
          </p:cNvSpPr>
          <p:nvPr/>
        </p:nvSpPr>
        <p:spPr bwMode="auto">
          <a:xfrm>
            <a:off x="3708400" y="3378957"/>
            <a:ext cx="792163" cy="0"/>
          </a:xfrm>
          <a:prstGeom prst="line">
            <a:avLst/>
          </a:prstGeom>
          <a:noFill/>
          <a:ln w="28575">
            <a:solidFill>
              <a:schemeClr val="tx1"/>
            </a:solidFill>
            <a:round/>
            <a:headEnd/>
            <a:tailEnd type="arrow" w="med" len="med"/>
          </a:ln>
          <a:effectLst/>
        </p:spPr>
        <p:txBody>
          <a:bodyPr/>
          <a:lstStyle/>
          <a:p>
            <a:endParaRPr lang="zh-CN" altLang="en-US"/>
          </a:p>
        </p:txBody>
      </p:sp>
      <p:graphicFrame>
        <p:nvGraphicFramePr>
          <p:cNvPr id="46" name="Object 14"/>
          <p:cNvGraphicFramePr>
            <a:graphicFrameLocks noChangeAspect="1"/>
          </p:cNvGraphicFramePr>
          <p:nvPr/>
        </p:nvGraphicFramePr>
        <p:xfrm>
          <a:off x="4500563" y="2945569"/>
          <a:ext cx="838200" cy="935038"/>
        </p:xfrm>
        <a:graphic>
          <a:graphicData uri="http://schemas.openxmlformats.org/presentationml/2006/ole">
            <mc:AlternateContent xmlns:mc="http://schemas.openxmlformats.org/markup-compatibility/2006">
              <mc:Choice xmlns:v="urn:schemas-microsoft-com:vml" Requires="v">
                <p:oleObj r:id="rId16" imgW="469773" imgH="523875" progId="">
                  <p:embed/>
                </p:oleObj>
              </mc:Choice>
              <mc:Fallback>
                <p:oleObj r:id="rId16" imgW="469773" imgH="523875" progId="">
                  <p:embed/>
                  <p:pic>
                    <p:nvPicPr>
                      <p:cNvPr id="0" name="Picture 18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00563" y="2945569"/>
                        <a:ext cx="838200" cy="935038"/>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 name="Object 15"/>
          <p:cNvGraphicFramePr>
            <a:graphicFrameLocks noChangeAspect="1"/>
          </p:cNvGraphicFramePr>
          <p:nvPr/>
        </p:nvGraphicFramePr>
        <p:xfrm>
          <a:off x="1116013" y="4098094"/>
          <a:ext cx="838200" cy="935038"/>
        </p:xfrm>
        <a:graphic>
          <a:graphicData uri="http://schemas.openxmlformats.org/presentationml/2006/ole">
            <mc:AlternateContent xmlns:mc="http://schemas.openxmlformats.org/markup-compatibility/2006">
              <mc:Choice xmlns:v="urn:schemas-microsoft-com:vml" Requires="v">
                <p:oleObj r:id="rId17" imgW="469773" imgH="523875" progId="">
                  <p:embed/>
                </p:oleObj>
              </mc:Choice>
              <mc:Fallback>
                <p:oleObj r:id="rId17" imgW="469773" imgH="523875" progId="">
                  <p:embed/>
                  <p:pic>
                    <p:nvPicPr>
                      <p:cNvPr id="0" name="Picture 18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6013" y="4098094"/>
                        <a:ext cx="838200" cy="935038"/>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 name="Line 16"/>
          <p:cNvSpPr>
            <a:spLocks noChangeShapeType="1"/>
          </p:cNvSpPr>
          <p:nvPr/>
        </p:nvSpPr>
        <p:spPr bwMode="auto">
          <a:xfrm>
            <a:off x="1908175" y="4529894"/>
            <a:ext cx="792163" cy="0"/>
          </a:xfrm>
          <a:prstGeom prst="line">
            <a:avLst/>
          </a:prstGeom>
          <a:noFill/>
          <a:ln w="28575">
            <a:solidFill>
              <a:schemeClr val="tx1"/>
            </a:solidFill>
            <a:round/>
            <a:headEnd/>
            <a:tailEnd type="arrow" w="med" len="med"/>
          </a:ln>
          <a:effectLst/>
        </p:spPr>
        <p:txBody>
          <a:bodyPr/>
          <a:lstStyle/>
          <a:p>
            <a:endParaRPr lang="zh-CN" altLang="en-US"/>
          </a:p>
        </p:txBody>
      </p:sp>
      <p:sp>
        <p:nvSpPr>
          <p:cNvPr id="49" name="Line 17"/>
          <p:cNvSpPr>
            <a:spLocks noChangeShapeType="1"/>
          </p:cNvSpPr>
          <p:nvPr/>
        </p:nvSpPr>
        <p:spPr bwMode="auto">
          <a:xfrm>
            <a:off x="3708400" y="4529894"/>
            <a:ext cx="792163" cy="0"/>
          </a:xfrm>
          <a:prstGeom prst="line">
            <a:avLst/>
          </a:prstGeom>
          <a:noFill/>
          <a:ln w="28575">
            <a:solidFill>
              <a:schemeClr val="tx1"/>
            </a:solidFill>
            <a:round/>
            <a:headEnd/>
            <a:tailEnd type="arrow" w="med" len="med"/>
          </a:ln>
          <a:effectLst/>
        </p:spPr>
        <p:txBody>
          <a:bodyPr/>
          <a:lstStyle/>
          <a:p>
            <a:endParaRPr lang="zh-CN" altLang="en-US"/>
          </a:p>
        </p:txBody>
      </p:sp>
      <p:graphicFrame>
        <p:nvGraphicFramePr>
          <p:cNvPr id="50" name="Object 18"/>
          <p:cNvGraphicFramePr>
            <a:graphicFrameLocks noChangeAspect="1"/>
          </p:cNvGraphicFramePr>
          <p:nvPr/>
        </p:nvGraphicFramePr>
        <p:xfrm>
          <a:off x="2700338" y="4171119"/>
          <a:ext cx="1081087" cy="749300"/>
        </p:xfrm>
        <a:graphic>
          <a:graphicData uri="http://schemas.openxmlformats.org/presentationml/2006/ole">
            <mc:AlternateContent xmlns:mc="http://schemas.openxmlformats.org/markup-compatibility/2006">
              <mc:Choice xmlns:v="urn:schemas-microsoft-com:vml" Requires="v">
                <p:oleObj r:id="rId18" imgW="469773" imgH="325755" progId="">
                  <p:embed/>
                </p:oleObj>
              </mc:Choice>
              <mc:Fallback>
                <p:oleObj r:id="rId18" imgW="469773" imgH="325755" progId="">
                  <p:embed/>
                  <p:pic>
                    <p:nvPicPr>
                      <p:cNvPr id="0" name="Picture 19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00338" y="4171119"/>
                        <a:ext cx="1081087" cy="7493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3267662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0" presetClass="entr" presetSubtype="0" decel="100000" fill="hold" grpId="0" nodeType="withEffect">
                                  <p:stCondLst>
                                    <p:cond delay="0"/>
                                  </p:stCondLst>
                                  <p:iterate type="lt">
                                    <p:tmPct val="10000"/>
                                  </p:iterate>
                                  <p:childTnLst>
                                    <p:set>
                                      <p:cBhvr>
                                        <p:cTn id="6" dur="1" fill="hold">
                                          <p:stCondLst>
                                            <p:cond delay="0"/>
                                          </p:stCondLst>
                                        </p:cTn>
                                        <p:tgtEl>
                                          <p:spTgt spid="20"/>
                                        </p:tgtEl>
                                        <p:attrNameLst>
                                          <p:attrName>style.visibility</p:attrName>
                                        </p:attrNameLst>
                                      </p:cBhvr>
                                      <p:to>
                                        <p:strVal val="visible"/>
                                      </p:to>
                                    </p:set>
                                    <p:anim calcmode="lin" valueType="num">
                                      <p:cBhvr>
                                        <p:cTn id="7" dur="1000" fill="hold"/>
                                        <p:tgtEl>
                                          <p:spTgt spid="20"/>
                                        </p:tgtEl>
                                        <p:attrNameLst>
                                          <p:attrName>ppt_w</p:attrName>
                                        </p:attrNameLst>
                                      </p:cBhvr>
                                      <p:tavLst>
                                        <p:tav tm="0">
                                          <p:val>
                                            <p:strVal val="#ppt_w+.3"/>
                                          </p:val>
                                        </p:tav>
                                        <p:tav tm="100000">
                                          <p:val>
                                            <p:strVal val="#ppt_w"/>
                                          </p:val>
                                        </p:tav>
                                      </p:tavLst>
                                    </p:anim>
                                    <p:anim calcmode="lin" valueType="num">
                                      <p:cBhvr>
                                        <p:cTn id="8" dur="1000" fill="hold"/>
                                        <p:tgtEl>
                                          <p:spTgt spid="20"/>
                                        </p:tgtEl>
                                        <p:attrNameLst>
                                          <p:attrName>ppt_h</p:attrName>
                                        </p:attrNameLst>
                                      </p:cBhvr>
                                      <p:tavLst>
                                        <p:tav tm="0">
                                          <p:val>
                                            <p:strVal val="#ppt_h"/>
                                          </p:val>
                                        </p:tav>
                                        <p:tav tm="100000">
                                          <p:val>
                                            <p:strVal val="#ppt_h"/>
                                          </p:val>
                                        </p:tav>
                                      </p:tavLst>
                                    </p:anim>
                                    <p:animEffect transition="in" filter="fade">
                                      <p:cBhvr>
                                        <p:cTn id="9" dur="1000"/>
                                        <p:tgtEl>
                                          <p:spTgt spid="20"/>
                                        </p:tgtEl>
                                      </p:cBhvr>
                                    </p:animEffect>
                                  </p:childTnLst>
                                </p:cTn>
                              </p:par>
                            </p:childTnLst>
                          </p:cTn>
                        </p:par>
                      </p:childTnLst>
                    </p:cTn>
                  </p:par>
                  <p:par>
                    <p:cTn id="10" fill="hold">
                      <p:stCondLst>
                        <p:cond delay="indefinite"/>
                      </p:stCondLst>
                      <p:childTnLst>
                        <p:par>
                          <p:cTn id="11" fill="hold">
                            <p:stCondLst>
                              <p:cond delay="0"/>
                            </p:stCondLst>
                            <p:childTnLst>
                              <p:par>
                                <p:cTn id="12" presetID="5" presetClass="entr" presetSubtype="10" fill="hold" nodeType="click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checkerboard(across)">
                                      <p:cBhvr>
                                        <p:cTn id="14" dur="500"/>
                                        <p:tgtEl>
                                          <p:spTgt spid="28"/>
                                        </p:tgtEl>
                                      </p:cBhvr>
                                    </p:animEffect>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checkerboard(across)">
                                      <p:cBhvr>
                                        <p:cTn id="19" dur="500"/>
                                        <p:tgtEl>
                                          <p:spTgt spid="42"/>
                                        </p:tgtEl>
                                      </p:cBhvr>
                                    </p:animEffect>
                                  </p:childTnLst>
                                </p:cTn>
                              </p:par>
                              <p:par>
                                <p:cTn id="20" presetID="5" presetClass="entr" presetSubtype="10" fill="hold"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checkerboard(across)">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checkerboard(across)">
                                      <p:cBhvr>
                                        <p:cTn id="27" dur="500"/>
                                        <p:tgtEl>
                                          <p:spTgt spid="43"/>
                                        </p:tgtEl>
                                      </p:cBhvr>
                                    </p:animEffect>
                                  </p:childTnLst>
                                </p:cTn>
                              </p:par>
                              <p:par>
                                <p:cTn id="28" presetID="5" presetClass="entr" presetSubtype="10" fill="hold" nodeType="with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checkerboard(across)">
                                      <p:cBhvr>
                                        <p:cTn id="30" dur="500"/>
                                        <p:tgtEl>
                                          <p:spTgt spid="39"/>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nodeType="click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checkerboard(across)">
                                      <p:cBhvr>
                                        <p:cTn id="35" dur="500"/>
                                        <p:tgtEl>
                                          <p:spTgt spid="38"/>
                                        </p:tgtEl>
                                      </p:cBhvr>
                                    </p:animEffect>
                                  </p:childTnLst>
                                </p:cTn>
                              </p:par>
                            </p:childTnLst>
                          </p:cTn>
                        </p:par>
                      </p:childTnLst>
                    </p:cTn>
                  </p:par>
                  <p:par>
                    <p:cTn id="36" fill="hold">
                      <p:stCondLst>
                        <p:cond delay="indefinite"/>
                      </p:stCondLst>
                      <p:childTnLst>
                        <p:par>
                          <p:cTn id="37" fill="hold">
                            <p:stCondLst>
                              <p:cond delay="0"/>
                            </p:stCondLst>
                            <p:childTnLst>
                              <p:par>
                                <p:cTn id="38" presetID="5" presetClass="entr" presetSubtype="10" fill="hold" grpId="0" nodeType="click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checkerboard(across)">
                                      <p:cBhvr>
                                        <p:cTn id="40" dur="500"/>
                                        <p:tgtEl>
                                          <p:spTgt spid="44"/>
                                        </p:tgtEl>
                                      </p:cBhvr>
                                    </p:animEffect>
                                  </p:childTnLst>
                                </p:cTn>
                              </p:par>
                              <p:par>
                                <p:cTn id="41" presetID="5" presetClass="entr" presetSubtype="10" fill="hold" nodeType="with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checkerboard(across)">
                                      <p:cBhvr>
                                        <p:cTn id="43" dur="500"/>
                                        <p:tgtEl>
                                          <p:spTgt spid="40"/>
                                        </p:tgtEl>
                                      </p:cBhvr>
                                    </p:animEffect>
                                  </p:childTnLst>
                                </p:cTn>
                              </p:par>
                            </p:childTnLst>
                          </p:cTn>
                        </p:par>
                      </p:childTnLst>
                    </p:cTn>
                  </p:par>
                  <p:par>
                    <p:cTn id="44" fill="hold">
                      <p:stCondLst>
                        <p:cond delay="indefinite"/>
                      </p:stCondLst>
                      <p:childTnLst>
                        <p:par>
                          <p:cTn id="45" fill="hold">
                            <p:stCondLst>
                              <p:cond delay="0"/>
                            </p:stCondLst>
                            <p:childTnLst>
                              <p:par>
                                <p:cTn id="46" presetID="5" presetClass="entr" presetSubtype="10" fill="hold" grpId="0" nodeType="clickEffect">
                                  <p:stCondLst>
                                    <p:cond delay="0"/>
                                  </p:stCondLst>
                                  <p:childTnLst>
                                    <p:set>
                                      <p:cBhvr>
                                        <p:cTn id="47" dur="1" fill="hold">
                                          <p:stCondLst>
                                            <p:cond delay="0"/>
                                          </p:stCondLst>
                                        </p:cTn>
                                        <p:tgtEl>
                                          <p:spTgt spid="45"/>
                                        </p:tgtEl>
                                        <p:attrNameLst>
                                          <p:attrName>style.visibility</p:attrName>
                                        </p:attrNameLst>
                                      </p:cBhvr>
                                      <p:to>
                                        <p:strVal val="visible"/>
                                      </p:to>
                                    </p:set>
                                    <p:animEffect transition="in" filter="checkerboard(across)">
                                      <p:cBhvr>
                                        <p:cTn id="48" dur="500"/>
                                        <p:tgtEl>
                                          <p:spTgt spid="45"/>
                                        </p:tgtEl>
                                      </p:cBhvr>
                                    </p:animEffect>
                                  </p:childTnLst>
                                </p:cTn>
                              </p:par>
                              <p:par>
                                <p:cTn id="49" presetID="5" presetClass="entr" presetSubtype="10" fill="hold" nodeType="withEffect">
                                  <p:stCondLst>
                                    <p:cond delay="0"/>
                                  </p:stCondLst>
                                  <p:childTnLst>
                                    <p:set>
                                      <p:cBhvr>
                                        <p:cTn id="50" dur="1" fill="hold">
                                          <p:stCondLst>
                                            <p:cond delay="0"/>
                                          </p:stCondLst>
                                        </p:cTn>
                                        <p:tgtEl>
                                          <p:spTgt spid="46"/>
                                        </p:tgtEl>
                                        <p:attrNameLst>
                                          <p:attrName>style.visibility</p:attrName>
                                        </p:attrNameLst>
                                      </p:cBhvr>
                                      <p:to>
                                        <p:strVal val="visible"/>
                                      </p:to>
                                    </p:set>
                                    <p:animEffect transition="in" filter="checkerboard(across)">
                                      <p:cBhvr>
                                        <p:cTn id="51" dur="500"/>
                                        <p:tgtEl>
                                          <p:spTgt spid="46"/>
                                        </p:tgtEl>
                                      </p:cBhvr>
                                    </p:animEffect>
                                  </p:childTnLst>
                                </p:cTn>
                              </p:par>
                            </p:childTnLst>
                          </p:cTn>
                        </p:par>
                      </p:childTnLst>
                    </p:cTn>
                  </p:par>
                  <p:par>
                    <p:cTn id="52" fill="hold">
                      <p:stCondLst>
                        <p:cond delay="indefinite"/>
                      </p:stCondLst>
                      <p:childTnLst>
                        <p:par>
                          <p:cTn id="53" fill="hold">
                            <p:stCondLst>
                              <p:cond delay="0"/>
                            </p:stCondLst>
                            <p:childTnLst>
                              <p:par>
                                <p:cTn id="54" presetID="5" presetClass="entr" presetSubtype="10" fill="hold" nodeType="clickEffect">
                                  <p:stCondLst>
                                    <p:cond delay="0"/>
                                  </p:stCondLst>
                                  <p:childTnLst>
                                    <p:set>
                                      <p:cBhvr>
                                        <p:cTn id="55" dur="1" fill="hold">
                                          <p:stCondLst>
                                            <p:cond delay="0"/>
                                          </p:stCondLst>
                                        </p:cTn>
                                        <p:tgtEl>
                                          <p:spTgt spid="47"/>
                                        </p:tgtEl>
                                        <p:attrNameLst>
                                          <p:attrName>style.visibility</p:attrName>
                                        </p:attrNameLst>
                                      </p:cBhvr>
                                      <p:to>
                                        <p:strVal val="visible"/>
                                      </p:to>
                                    </p:set>
                                    <p:animEffect transition="in" filter="checkerboard(across)">
                                      <p:cBhvr>
                                        <p:cTn id="56" dur="500"/>
                                        <p:tgtEl>
                                          <p:spTgt spid="47"/>
                                        </p:tgtEl>
                                      </p:cBhvr>
                                    </p:animEffect>
                                  </p:childTnLst>
                                </p:cTn>
                              </p:par>
                            </p:childTnLst>
                          </p:cTn>
                        </p:par>
                      </p:childTnLst>
                    </p:cTn>
                  </p:par>
                  <p:par>
                    <p:cTn id="57" fill="hold">
                      <p:stCondLst>
                        <p:cond delay="indefinite"/>
                      </p:stCondLst>
                      <p:childTnLst>
                        <p:par>
                          <p:cTn id="58" fill="hold">
                            <p:stCondLst>
                              <p:cond delay="0"/>
                            </p:stCondLst>
                            <p:childTnLst>
                              <p:par>
                                <p:cTn id="59" presetID="5" presetClass="entr" presetSubtype="10" fill="hold" grpId="0" nodeType="clickEffect">
                                  <p:stCondLst>
                                    <p:cond delay="0"/>
                                  </p:stCondLst>
                                  <p:childTnLst>
                                    <p:set>
                                      <p:cBhvr>
                                        <p:cTn id="60" dur="1" fill="hold">
                                          <p:stCondLst>
                                            <p:cond delay="0"/>
                                          </p:stCondLst>
                                        </p:cTn>
                                        <p:tgtEl>
                                          <p:spTgt spid="48"/>
                                        </p:tgtEl>
                                        <p:attrNameLst>
                                          <p:attrName>style.visibility</p:attrName>
                                        </p:attrNameLst>
                                      </p:cBhvr>
                                      <p:to>
                                        <p:strVal val="visible"/>
                                      </p:to>
                                    </p:set>
                                    <p:animEffect transition="in" filter="checkerboard(across)">
                                      <p:cBhvr>
                                        <p:cTn id="61" dur="500"/>
                                        <p:tgtEl>
                                          <p:spTgt spid="48"/>
                                        </p:tgtEl>
                                      </p:cBhvr>
                                    </p:animEffect>
                                  </p:childTnLst>
                                </p:cTn>
                              </p:par>
                              <p:par>
                                <p:cTn id="62" presetID="5" presetClass="entr" presetSubtype="10" fill="hold" nodeType="withEffect">
                                  <p:stCondLst>
                                    <p:cond delay="0"/>
                                  </p:stCondLst>
                                  <p:childTnLst>
                                    <p:set>
                                      <p:cBhvr>
                                        <p:cTn id="63" dur="1" fill="hold">
                                          <p:stCondLst>
                                            <p:cond delay="0"/>
                                          </p:stCondLst>
                                        </p:cTn>
                                        <p:tgtEl>
                                          <p:spTgt spid="50"/>
                                        </p:tgtEl>
                                        <p:attrNameLst>
                                          <p:attrName>style.visibility</p:attrName>
                                        </p:attrNameLst>
                                      </p:cBhvr>
                                      <p:to>
                                        <p:strVal val="visible"/>
                                      </p:to>
                                    </p:set>
                                    <p:animEffect transition="in" filter="checkerboard(across)">
                                      <p:cBhvr>
                                        <p:cTn id="64" dur="500"/>
                                        <p:tgtEl>
                                          <p:spTgt spid="50"/>
                                        </p:tgtEl>
                                      </p:cBhvr>
                                    </p:animEffect>
                                  </p:childTnLst>
                                </p:cTn>
                              </p:par>
                            </p:childTnLst>
                          </p:cTn>
                        </p:par>
                      </p:childTnLst>
                    </p:cTn>
                  </p:par>
                  <p:par>
                    <p:cTn id="65" fill="hold">
                      <p:stCondLst>
                        <p:cond delay="indefinite"/>
                      </p:stCondLst>
                      <p:childTnLst>
                        <p:par>
                          <p:cTn id="66" fill="hold">
                            <p:stCondLst>
                              <p:cond delay="0"/>
                            </p:stCondLst>
                            <p:childTnLst>
                              <p:par>
                                <p:cTn id="67" presetID="5" presetClass="entr" presetSubtype="10" fill="hold" grpId="0" nodeType="clickEffect">
                                  <p:stCondLst>
                                    <p:cond delay="0"/>
                                  </p:stCondLst>
                                  <p:childTnLst>
                                    <p:set>
                                      <p:cBhvr>
                                        <p:cTn id="68" dur="1" fill="hold">
                                          <p:stCondLst>
                                            <p:cond delay="0"/>
                                          </p:stCondLst>
                                        </p:cTn>
                                        <p:tgtEl>
                                          <p:spTgt spid="49"/>
                                        </p:tgtEl>
                                        <p:attrNameLst>
                                          <p:attrName>style.visibility</p:attrName>
                                        </p:attrNameLst>
                                      </p:cBhvr>
                                      <p:to>
                                        <p:strVal val="visible"/>
                                      </p:to>
                                    </p:set>
                                    <p:animEffect transition="in" filter="checkerboard(across)">
                                      <p:cBhvr>
                                        <p:cTn id="69" dur="500"/>
                                        <p:tgtEl>
                                          <p:spTgt spid="49"/>
                                        </p:tgtEl>
                                      </p:cBhvr>
                                    </p:animEffect>
                                  </p:childTnLst>
                                </p:cTn>
                              </p:par>
                              <p:par>
                                <p:cTn id="70" presetID="5" presetClass="entr" presetSubtype="10" fill="hold" nodeType="with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checkerboard(across)">
                                      <p:cBhvr>
                                        <p:cTn id="7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42" grpId="0" animBg="1"/>
      <p:bldP spid="43" grpId="0" animBg="1"/>
      <p:bldP spid="44" grpId="0" animBg="1"/>
      <p:bldP spid="45" grpId="0" animBg="1"/>
      <p:bldP spid="48" grpId="0" animBg="1"/>
      <p:bldP spid="4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45520" y="4121091"/>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253570" y="412109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0" name="矩形 49"/>
          <p:cNvSpPr/>
          <p:nvPr/>
        </p:nvSpPr>
        <p:spPr>
          <a:xfrm>
            <a:off x="6418263" y="406984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1" name="矩形 50"/>
          <p:cNvSpPr/>
          <p:nvPr/>
        </p:nvSpPr>
        <p:spPr>
          <a:xfrm>
            <a:off x="7326313" y="406984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1199470" y="3587691"/>
            <a:ext cx="31035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监督程序</a:t>
            </a:r>
            <a:r>
              <a:rPr lang="en-US" altLang="zh-CN" sz="2400" b="1" dirty="0">
                <a:solidFill>
                  <a:srgbClr val="4C7E51"/>
                </a:solidFill>
                <a:latin typeface="微软雅黑" panose="020B0503020204020204" pitchFamily="34" charset="-122"/>
                <a:ea typeface="微软雅黑" panose="020B0503020204020204" pitchFamily="34" charset="-122"/>
              </a:rPr>
              <a:t>Monitor</a:t>
            </a:r>
            <a:endParaRPr lang="zh-CN" altLang="en-US" sz="2400" b="1" dirty="0">
              <a:solidFill>
                <a:srgbClr val="4C7E51"/>
              </a:solidFill>
              <a:latin typeface="微软雅黑" panose="020B0503020204020204" pitchFamily="34" charset="-122"/>
              <a:ea typeface="微软雅黑" panose="020B0503020204020204" pitchFamily="34" charset="-122"/>
            </a:endParaRPr>
          </a:p>
        </p:txBody>
      </p:sp>
      <p:sp>
        <p:nvSpPr>
          <p:cNvPr id="47120" name="文本框 56"/>
          <p:cNvSpPr txBox="1">
            <a:spLocks noChangeArrowheads="1"/>
          </p:cNvSpPr>
          <p:nvPr/>
        </p:nvSpPr>
        <p:spPr bwMode="auto">
          <a:xfrm>
            <a:off x="6272213" y="3523740"/>
            <a:ext cx="1920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操作步骤</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4"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2" name="文本框 25"/>
          <p:cNvSpPr txBox="1">
            <a:spLocks noChangeArrowheads="1"/>
          </p:cNvSpPr>
          <p:nvPr/>
        </p:nvSpPr>
        <p:spPr bwMode="auto">
          <a:xfrm>
            <a:off x="902970" y="212725"/>
            <a:ext cx="88344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单道批处理系统</a:t>
            </a:r>
            <a:r>
              <a:rPr lang="en-US" altLang="zh-CN" sz="2400" b="1" dirty="0">
                <a:solidFill>
                  <a:srgbClr val="3D7351"/>
                </a:solidFill>
                <a:latin typeface="微软雅黑" panose="020B0503020204020204" pitchFamily="34" charset="-122"/>
                <a:ea typeface="微软雅黑" panose="020B0503020204020204" pitchFamily="34" charset="-122"/>
              </a:rPr>
              <a:t>—1958</a:t>
            </a:r>
            <a:r>
              <a:rPr lang="zh-CN" altLang="en-US" sz="2400" b="1" dirty="0">
                <a:solidFill>
                  <a:srgbClr val="3D7351"/>
                </a:solidFill>
                <a:latin typeface="微软雅黑" panose="020B0503020204020204" pitchFamily="34" charset="-122"/>
                <a:ea typeface="微软雅黑" panose="020B0503020204020204" pitchFamily="34" charset="-122"/>
              </a:rPr>
              <a:t>年</a:t>
            </a:r>
            <a:r>
              <a:rPr lang="en-US" altLang="zh-CN" sz="2400" b="1" dirty="0">
                <a:solidFill>
                  <a:srgbClr val="3D7351"/>
                </a:solidFill>
                <a:latin typeface="微软雅黑" panose="020B0503020204020204" pitchFamily="34" charset="-122"/>
                <a:ea typeface="微软雅黑" panose="020B0503020204020204" pitchFamily="34" charset="-122"/>
              </a:rPr>
              <a:t>-60</a:t>
            </a:r>
            <a:r>
              <a:rPr lang="zh-CN" altLang="en-US" sz="2400" b="1" dirty="0">
                <a:solidFill>
                  <a:srgbClr val="3D7351"/>
                </a:solidFill>
                <a:latin typeface="微软雅黑" panose="020B0503020204020204" pitchFamily="34" charset="-122"/>
                <a:ea typeface="微软雅黑" panose="020B0503020204020204" pitchFamily="34" charset="-122"/>
              </a:rPr>
              <a:t>年代中期，第二代晶体管计算机</a:t>
            </a:r>
          </a:p>
        </p:txBody>
      </p:sp>
      <p:pic>
        <p:nvPicPr>
          <p:cNvPr id="23" name="Picture 4"/>
          <p:cNvPicPr>
            <a:picLocks noChangeAspect="1" noChangeArrowheads="1"/>
          </p:cNvPicPr>
          <p:nvPr/>
        </p:nvPicPr>
        <p:blipFill>
          <a:blip r:embed="rId3" cstate="print"/>
          <a:srcRect b="4039"/>
          <a:stretch>
            <a:fillRect/>
          </a:stretch>
        </p:blipFill>
        <p:spPr bwMode="auto">
          <a:xfrm>
            <a:off x="1314335" y="873373"/>
            <a:ext cx="8496300" cy="2520950"/>
          </a:xfrm>
          <a:prstGeom prst="rect">
            <a:avLst/>
          </a:prstGeom>
          <a:noFill/>
          <a:ln w="9525">
            <a:noFill/>
            <a:miter lim="800000"/>
            <a:headEnd/>
            <a:tailEnd/>
          </a:ln>
        </p:spPr>
      </p:pic>
      <p:sp>
        <p:nvSpPr>
          <p:cNvPr id="24" name="文本框 19"/>
          <p:cNvSpPr txBox="1">
            <a:spLocks noChangeArrowheads="1"/>
          </p:cNvSpPr>
          <p:nvPr/>
        </p:nvSpPr>
        <p:spPr bwMode="auto">
          <a:xfrm>
            <a:off x="1327448" y="4382860"/>
            <a:ext cx="4288043"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b="1" dirty="0"/>
              <a:t>又</a:t>
            </a:r>
            <a:r>
              <a:rPr lang="zh-CN" altLang="en-US" sz="2400" dirty="0">
                <a:solidFill>
                  <a:srgbClr val="090911"/>
                </a:solidFill>
                <a:latin typeface="微软雅黑" panose="020B0503020204020204" pitchFamily="34" charset="-122"/>
                <a:ea typeface="微软雅黑" panose="020B0503020204020204" pitchFamily="34" charset="-122"/>
              </a:rPr>
              <a:t>称为批处理程序，或管理程序。管理作业连续处理的程序。</a:t>
            </a:r>
            <a:endParaRPr lang="en-US" altLang="zh-CN" sz="2400" dirty="0">
              <a:solidFill>
                <a:srgbClr val="090911"/>
              </a:solidFill>
              <a:latin typeface="微软雅黑" panose="020B0503020204020204" pitchFamily="34" charset="-122"/>
              <a:ea typeface="微软雅黑" panose="020B0503020204020204" pitchFamily="34" charset="-122"/>
            </a:endParaRPr>
          </a:p>
          <a:p>
            <a:pPr eaLnBrk="1" hangingPunct="1">
              <a:buBlip>
                <a:blip r:embed="rId4"/>
              </a:buBlip>
            </a:pPr>
            <a:r>
              <a:rPr lang="zh-CN" altLang="en-US" sz="2400" dirty="0">
                <a:solidFill>
                  <a:srgbClr val="090911"/>
                </a:solidFill>
                <a:latin typeface="微软雅黑" panose="020B0503020204020204" pitchFamily="34" charset="-122"/>
                <a:ea typeface="微软雅黑" panose="020B0503020204020204" pitchFamily="34" charset="-122"/>
              </a:rPr>
              <a:t>解决人机矛盾，提高系统资源的利用率。</a:t>
            </a:r>
            <a:endParaRPr lang="en-US" altLang="zh-CN" sz="2400" dirty="0">
              <a:solidFill>
                <a:srgbClr val="090911"/>
              </a:solidFill>
              <a:latin typeface="微软雅黑" panose="020B0503020204020204" pitchFamily="34" charset="-122"/>
              <a:ea typeface="微软雅黑" panose="020B0503020204020204" pitchFamily="34" charset="-122"/>
            </a:endParaRPr>
          </a:p>
          <a:p>
            <a:pPr eaLnBrk="1" hangingPunct="1">
              <a:buBlip>
                <a:blip r:embed="rId4"/>
              </a:buBlip>
            </a:pPr>
            <a:r>
              <a:rPr lang="zh-CN" altLang="en-US" sz="2400" dirty="0">
                <a:solidFill>
                  <a:srgbClr val="090911"/>
                </a:solidFill>
                <a:latin typeface="微软雅黑" panose="020B0503020204020204" pitchFamily="34" charset="-122"/>
                <a:ea typeface="微软雅黑" panose="020B0503020204020204" pitchFamily="34" charset="-122"/>
              </a:rPr>
              <a:t>解决</a:t>
            </a:r>
            <a:r>
              <a:rPr lang="en-US" altLang="zh-CN" sz="2400" dirty="0">
                <a:solidFill>
                  <a:srgbClr val="090911"/>
                </a:solidFill>
                <a:latin typeface="微软雅黑" panose="020B0503020204020204" pitchFamily="34" charset="-122"/>
                <a:ea typeface="微软雅黑" panose="020B0503020204020204" pitchFamily="34" charset="-122"/>
              </a:rPr>
              <a:t>CPU</a:t>
            </a:r>
            <a:r>
              <a:rPr lang="zh-CN" altLang="en-US" sz="2400" dirty="0">
                <a:solidFill>
                  <a:srgbClr val="090911"/>
                </a:solidFill>
                <a:latin typeface="微软雅黑" panose="020B0503020204020204" pitchFamily="34" charset="-122"/>
                <a:ea typeface="微软雅黑" panose="020B0503020204020204" pitchFamily="34" charset="-122"/>
              </a:rPr>
              <a:t>与</a:t>
            </a:r>
            <a:r>
              <a:rPr lang="en-US" altLang="zh-CN" sz="2400" dirty="0">
                <a:solidFill>
                  <a:srgbClr val="090911"/>
                </a:solidFill>
                <a:latin typeface="微软雅黑" panose="020B0503020204020204" pitchFamily="34" charset="-122"/>
                <a:ea typeface="微软雅黑" panose="020B0503020204020204" pitchFamily="34" charset="-122"/>
              </a:rPr>
              <a:t>I/O</a:t>
            </a:r>
            <a:r>
              <a:rPr lang="zh-CN" altLang="en-US" sz="2400" dirty="0">
                <a:solidFill>
                  <a:srgbClr val="090911"/>
                </a:solidFill>
                <a:latin typeface="微软雅黑" panose="020B0503020204020204" pitchFamily="34" charset="-122"/>
                <a:ea typeface="微软雅黑" panose="020B0503020204020204" pitchFamily="34" charset="-122"/>
              </a:rPr>
              <a:t>设备速度不匹配的矛盾，提高系统吞吐量。</a:t>
            </a:r>
          </a:p>
        </p:txBody>
      </p:sp>
      <p:sp>
        <p:nvSpPr>
          <p:cNvPr id="25" name="文本框 19"/>
          <p:cNvSpPr txBox="1">
            <a:spLocks noChangeArrowheads="1"/>
          </p:cNvSpPr>
          <p:nvPr/>
        </p:nvSpPr>
        <p:spPr bwMode="auto">
          <a:xfrm>
            <a:off x="6385350" y="4283740"/>
            <a:ext cx="5205636"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1" indent="0">
              <a:buBlip>
                <a:blip r:embed="rId4"/>
              </a:buBlip>
            </a:pPr>
            <a:r>
              <a:rPr lang="zh-CN" altLang="en-US" sz="2000" dirty="0">
                <a:solidFill>
                  <a:srgbClr val="090911"/>
                </a:solidFill>
                <a:latin typeface="微软雅黑" panose="020B0503020204020204" pitchFamily="34" charset="-122"/>
                <a:ea typeface="微软雅黑" panose="020B0503020204020204" pitchFamily="34" charset="-122"/>
              </a:rPr>
              <a:t>收集一批作业（卡），用专用</a:t>
            </a:r>
            <a:r>
              <a:rPr lang="en-US" altLang="zh-CN" sz="2000" dirty="0">
                <a:solidFill>
                  <a:srgbClr val="090911"/>
                </a:solidFill>
                <a:latin typeface="微软雅黑" panose="020B0503020204020204" pitchFamily="34" charset="-122"/>
                <a:ea typeface="微软雅黑" panose="020B0503020204020204" pitchFamily="34" charset="-122"/>
              </a:rPr>
              <a:t>I/O</a:t>
            </a:r>
            <a:r>
              <a:rPr lang="zh-CN" altLang="en-US" sz="2000" dirty="0">
                <a:solidFill>
                  <a:srgbClr val="090911"/>
                </a:solidFill>
                <a:latin typeface="微软雅黑" panose="020B0503020204020204" pitchFamily="34" charset="-122"/>
                <a:ea typeface="微软雅黑" panose="020B0503020204020204" pitchFamily="34" charset="-122"/>
              </a:rPr>
              <a:t>计算机将作业逐个读到磁带上保存起来。</a:t>
            </a:r>
          </a:p>
          <a:p>
            <a:pPr marL="0" lvl="1" indent="0">
              <a:buBlip>
                <a:blip r:embed="rId4"/>
              </a:buBlip>
            </a:pPr>
            <a:r>
              <a:rPr lang="zh-CN" altLang="en-US" sz="2000" dirty="0">
                <a:solidFill>
                  <a:srgbClr val="090911"/>
                </a:solidFill>
                <a:latin typeface="微软雅黑" panose="020B0503020204020204" pitchFamily="34" charset="-122"/>
                <a:ea typeface="微软雅黑" panose="020B0503020204020204" pitchFamily="34" charset="-122"/>
              </a:rPr>
              <a:t>将磁带上的第一个作业读入计算机，运算结束后将结果输出到输出磁带上。</a:t>
            </a:r>
          </a:p>
          <a:p>
            <a:pPr marL="0" lvl="1" indent="0">
              <a:buBlip>
                <a:blip r:embed="rId4"/>
              </a:buBlip>
            </a:pPr>
            <a:r>
              <a:rPr lang="zh-CN" altLang="en-US" sz="2000" dirty="0">
                <a:solidFill>
                  <a:srgbClr val="090911"/>
                </a:solidFill>
                <a:latin typeface="微软雅黑" panose="020B0503020204020204" pitchFamily="34" charset="-122"/>
                <a:ea typeface="微软雅黑" panose="020B0503020204020204" pitchFamily="34" charset="-122"/>
              </a:rPr>
              <a:t>自动读入下一个作业，并运行。</a:t>
            </a:r>
            <a:endParaRPr lang="en-US" altLang="zh-CN" sz="2000" dirty="0">
              <a:solidFill>
                <a:srgbClr val="090911"/>
              </a:solidFill>
              <a:latin typeface="微软雅黑" panose="020B0503020204020204" pitchFamily="34" charset="-122"/>
              <a:ea typeface="微软雅黑" panose="020B0503020204020204" pitchFamily="34" charset="-122"/>
            </a:endParaRPr>
          </a:p>
          <a:p>
            <a:pPr marL="0" lvl="1" indent="0">
              <a:buBlip>
                <a:blip r:embed="rId4"/>
              </a:buBlip>
            </a:pPr>
            <a:r>
              <a:rPr lang="zh-CN" altLang="en-US" sz="2000" dirty="0">
                <a:solidFill>
                  <a:srgbClr val="090911"/>
                </a:solidFill>
                <a:latin typeface="微软雅黑" panose="020B0503020204020204" pitchFamily="34" charset="-122"/>
                <a:ea typeface="微软雅黑" panose="020B0503020204020204" pitchFamily="34" charset="-122"/>
              </a:rPr>
              <a:t>当一批作业全部执行结束后，取下输入</a:t>
            </a:r>
            <a:r>
              <a:rPr lang="en-US" altLang="zh-CN" sz="2000" dirty="0">
                <a:solidFill>
                  <a:srgbClr val="090911"/>
                </a:solidFill>
                <a:latin typeface="微软雅黑" panose="020B0503020204020204" pitchFamily="34" charset="-122"/>
                <a:ea typeface="微软雅黑" panose="020B0503020204020204" pitchFamily="34" charset="-122"/>
              </a:rPr>
              <a:t>/</a:t>
            </a:r>
            <a:r>
              <a:rPr lang="zh-CN" altLang="en-US" sz="2000" dirty="0">
                <a:solidFill>
                  <a:srgbClr val="090911"/>
                </a:solidFill>
                <a:latin typeface="微软雅黑" panose="020B0503020204020204" pitchFamily="34" charset="-122"/>
                <a:ea typeface="微软雅黑" panose="020B0503020204020204" pitchFamily="34" charset="-122"/>
              </a:rPr>
              <a:t>输出磁带，用输入磁带录下一批作业，将输出磁带送到专用输出计算机，进行脱机打印。</a:t>
            </a:r>
          </a:p>
        </p:txBody>
      </p:sp>
    </p:spTree>
    <p:extLst>
      <p:ext uri="{BB962C8B-B14F-4D97-AF65-F5344CB8AC3E}">
        <p14:creationId xmlns:p14="http://schemas.microsoft.com/office/powerpoint/2010/main" val="21971037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0" presetClass="entr" presetSubtype="0" decel="100000" fill="hold" grpId="0" nodeType="withEffect">
                                  <p:stCondLst>
                                    <p:cond delay="0"/>
                                  </p:stCondLst>
                                  <p:iterate type="lt">
                                    <p:tmPct val="10000"/>
                                  </p:iterate>
                                  <p:childTnLst>
                                    <p:set>
                                      <p:cBhvr>
                                        <p:cTn id="6" dur="1" fill="hold">
                                          <p:stCondLst>
                                            <p:cond delay="0"/>
                                          </p:stCondLst>
                                        </p:cTn>
                                        <p:tgtEl>
                                          <p:spTgt spid="24"/>
                                        </p:tgtEl>
                                        <p:attrNameLst>
                                          <p:attrName>style.visibility</p:attrName>
                                        </p:attrNameLst>
                                      </p:cBhvr>
                                      <p:to>
                                        <p:strVal val="visible"/>
                                      </p:to>
                                    </p:set>
                                    <p:anim calcmode="lin" valueType="num">
                                      <p:cBhvr>
                                        <p:cTn id="7" dur="1000" fill="hold"/>
                                        <p:tgtEl>
                                          <p:spTgt spid="24"/>
                                        </p:tgtEl>
                                        <p:attrNameLst>
                                          <p:attrName>ppt_w</p:attrName>
                                        </p:attrNameLst>
                                      </p:cBhvr>
                                      <p:tavLst>
                                        <p:tav tm="0">
                                          <p:val>
                                            <p:strVal val="#ppt_w+.3"/>
                                          </p:val>
                                        </p:tav>
                                        <p:tav tm="100000">
                                          <p:val>
                                            <p:strVal val="#ppt_w"/>
                                          </p:val>
                                        </p:tav>
                                      </p:tavLst>
                                    </p:anim>
                                    <p:anim calcmode="lin" valueType="num">
                                      <p:cBhvr>
                                        <p:cTn id="8" dur="1000" fill="hold"/>
                                        <p:tgtEl>
                                          <p:spTgt spid="24"/>
                                        </p:tgtEl>
                                        <p:attrNameLst>
                                          <p:attrName>ppt_h</p:attrName>
                                        </p:attrNameLst>
                                      </p:cBhvr>
                                      <p:tavLst>
                                        <p:tav tm="0">
                                          <p:val>
                                            <p:strVal val="#ppt_h"/>
                                          </p:val>
                                        </p:tav>
                                        <p:tav tm="100000">
                                          <p:val>
                                            <p:strVal val="#ppt_h"/>
                                          </p:val>
                                        </p:tav>
                                      </p:tavLst>
                                    </p:anim>
                                    <p:animEffect transition="in" filter="fade">
                                      <p:cBhvr>
                                        <p:cTn id="9" dur="1000"/>
                                        <p:tgtEl>
                                          <p:spTgt spid="24"/>
                                        </p:tgtEl>
                                      </p:cBhvr>
                                    </p:animEffect>
                                  </p:childTnLst>
                                </p:cTn>
                              </p:par>
                              <p:par>
                                <p:cTn id="10" presetID="50" presetClass="entr" presetSubtype="0" decel="100000" fill="hold" grpId="0" nodeType="withEffect">
                                  <p:stCondLst>
                                    <p:cond delay="0"/>
                                  </p:stCondLst>
                                  <p:iterate type="lt">
                                    <p:tmPct val="10000"/>
                                  </p:iterate>
                                  <p:childTnLst>
                                    <p:set>
                                      <p:cBhvr>
                                        <p:cTn id="11" dur="1" fill="hold">
                                          <p:stCondLst>
                                            <p:cond delay="0"/>
                                          </p:stCondLst>
                                        </p:cTn>
                                        <p:tgtEl>
                                          <p:spTgt spid="25"/>
                                        </p:tgtEl>
                                        <p:attrNameLst>
                                          <p:attrName>style.visibility</p:attrName>
                                        </p:attrNameLst>
                                      </p:cBhvr>
                                      <p:to>
                                        <p:strVal val="visible"/>
                                      </p:to>
                                    </p:set>
                                    <p:anim calcmode="lin" valueType="num">
                                      <p:cBhvr>
                                        <p:cTn id="12" dur="1000" fill="hold"/>
                                        <p:tgtEl>
                                          <p:spTgt spid="25"/>
                                        </p:tgtEl>
                                        <p:attrNameLst>
                                          <p:attrName>ppt_w</p:attrName>
                                        </p:attrNameLst>
                                      </p:cBhvr>
                                      <p:tavLst>
                                        <p:tav tm="0">
                                          <p:val>
                                            <p:strVal val="#ppt_w+.3"/>
                                          </p:val>
                                        </p:tav>
                                        <p:tav tm="100000">
                                          <p:val>
                                            <p:strVal val="#ppt_w"/>
                                          </p:val>
                                        </p:tav>
                                      </p:tavLst>
                                    </p:anim>
                                    <p:anim calcmode="lin" valueType="num">
                                      <p:cBhvr>
                                        <p:cTn id="13" dur="1000" fill="hold"/>
                                        <p:tgtEl>
                                          <p:spTgt spid="25"/>
                                        </p:tgtEl>
                                        <p:attrNameLst>
                                          <p:attrName>ppt_h</p:attrName>
                                        </p:attrNameLst>
                                      </p:cBhvr>
                                      <p:tavLst>
                                        <p:tav tm="0">
                                          <p:val>
                                            <p:strVal val="#ppt_h"/>
                                          </p:val>
                                        </p:tav>
                                        <p:tav tm="100000">
                                          <p:val>
                                            <p:strVal val="#ppt_h"/>
                                          </p:val>
                                        </p:tav>
                                      </p:tavLst>
                                    </p:anim>
                                    <p:animEffect transition="in" filter="fade">
                                      <p:cBhvr>
                                        <p:cTn id="14"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75348" y="5280694"/>
            <a:ext cx="714057" cy="138946"/>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83398" y="528787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0" name="矩形 49"/>
          <p:cNvSpPr/>
          <p:nvPr/>
        </p:nvSpPr>
        <p:spPr>
          <a:xfrm>
            <a:off x="7192848" y="531178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1" name="矩形 50"/>
          <p:cNvSpPr/>
          <p:nvPr/>
        </p:nvSpPr>
        <p:spPr>
          <a:xfrm>
            <a:off x="8079383" y="530103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1179905" y="4743720"/>
            <a:ext cx="1920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特征</a:t>
            </a:r>
          </a:p>
        </p:txBody>
      </p:sp>
      <p:sp>
        <p:nvSpPr>
          <p:cNvPr id="47120" name="文本框 56"/>
          <p:cNvSpPr txBox="1">
            <a:spLocks noChangeArrowheads="1"/>
          </p:cNvSpPr>
          <p:nvPr/>
        </p:nvSpPr>
        <p:spPr bwMode="auto">
          <a:xfrm>
            <a:off x="7143620" y="4711900"/>
            <a:ext cx="1920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缺点</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4"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2" name="文本框 25"/>
          <p:cNvSpPr txBox="1">
            <a:spLocks noChangeArrowheads="1"/>
          </p:cNvSpPr>
          <p:nvPr/>
        </p:nvSpPr>
        <p:spPr bwMode="auto">
          <a:xfrm>
            <a:off x="902970" y="212725"/>
            <a:ext cx="88344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2.</a:t>
            </a:r>
            <a:r>
              <a:rPr lang="zh-CN" altLang="en-US" sz="2400" b="1" dirty="0">
                <a:solidFill>
                  <a:srgbClr val="3D7351"/>
                </a:solidFill>
                <a:latin typeface="微软雅黑" panose="020B0503020204020204" pitchFamily="34" charset="-122"/>
                <a:ea typeface="微软雅黑" panose="020B0503020204020204" pitchFamily="34" charset="-122"/>
              </a:rPr>
              <a:t>单道批处理系统</a:t>
            </a:r>
            <a:r>
              <a:rPr lang="en-US" altLang="zh-CN" sz="2400" b="1" dirty="0">
                <a:solidFill>
                  <a:srgbClr val="3D7351"/>
                </a:solidFill>
                <a:latin typeface="微软雅黑" panose="020B0503020204020204" pitchFamily="34" charset="-122"/>
                <a:ea typeface="微软雅黑" panose="020B0503020204020204" pitchFamily="34" charset="-122"/>
              </a:rPr>
              <a:t>—1958</a:t>
            </a:r>
            <a:r>
              <a:rPr lang="zh-CN" altLang="en-US" sz="2400" b="1" dirty="0">
                <a:solidFill>
                  <a:srgbClr val="3D7351"/>
                </a:solidFill>
                <a:latin typeface="微软雅黑" panose="020B0503020204020204" pitchFamily="34" charset="-122"/>
                <a:ea typeface="微软雅黑" panose="020B0503020204020204" pitchFamily="34" charset="-122"/>
              </a:rPr>
              <a:t>年</a:t>
            </a:r>
            <a:r>
              <a:rPr lang="en-US" altLang="zh-CN" sz="2400" b="1" dirty="0">
                <a:solidFill>
                  <a:srgbClr val="3D7351"/>
                </a:solidFill>
                <a:latin typeface="微软雅黑" panose="020B0503020204020204" pitchFamily="34" charset="-122"/>
                <a:ea typeface="微软雅黑" panose="020B0503020204020204" pitchFamily="34" charset="-122"/>
              </a:rPr>
              <a:t>-60</a:t>
            </a:r>
            <a:r>
              <a:rPr lang="zh-CN" altLang="en-US" sz="2400" b="1" dirty="0">
                <a:solidFill>
                  <a:srgbClr val="3D7351"/>
                </a:solidFill>
                <a:latin typeface="微软雅黑" panose="020B0503020204020204" pitchFamily="34" charset="-122"/>
                <a:ea typeface="微软雅黑" panose="020B0503020204020204" pitchFamily="34" charset="-122"/>
              </a:rPr>
              <a:t>年代中期，第二代晶体管计算机</a:t>
            </a:r>
          </a:p>
        </p:txBody>
      </p:sp>
      <p:grpSp>
        <p:nvGrpSpPr>
          <p:cNvPr id="23" name="Group 5"/>
          <p:cNvGrpSpPr>
            <a:grpSpLocks/>
          </p:cNvGrpSpPr>
          <p:nvPr/>
        </p:nvGrpSpPr>
        <p:grpSpPr bwMode="auto">
          <a:xfrm>
            <a:off x="382233" y="1736868"/>
            <a:ext cx="5136440" cy="3061051"/>
            <a:chOff x="1008" y="1056"/>
            <a:chExt cx="3888" cy="3020"/>
          </a:xfrm>
        </p:grpSpPr>
        <p:sp>
          <p:nvSpPr>
            <p:cNvPr id="24" name="AutoShape 6"/>
            <p:cNvSpPr>
              <a:spLocks noChangeAspect="1" noChangeArrowheads="1" noTextEdit="1"/>
            </p:cNvSpPr>
            <p:nvPr/>
          </p:nvSpPr>
          <p:spPr bwMode="auto">
            <a:xfrm>
              <a:off x="1008" y="1056"/>
              <a:ext cx="3888" cy="3020"/>
            </a:xfrm>
            <a:prstGeom prst="rect">
              <a:avLst/>
            </a:prstGeom>
            <a:noFill/>
            <a:ln w="9525">
              <a:noFill/>
              <a:miter lim="800000"/>
              <a:headEnd/>
              <a:tailEnd/>
            </a:ln>
          </p:spPr>
          <p:txBody>
            <a:bodyPr/>
            <a:lstStyle/>
            <a:p>
              <a:endParaRPr lang="zh-CN" altLang="en-US"/>
            </a:p>
          </p:txBody>
        </p:sp>
        <p:sp>
          <p:nvSpPr>
            <p:cNvPr id="25" name="Rectangle 7"/>
            <p:cNvSpPr>
              <a:spLocks noChangeArrowheads="1"/>
            </p:cNvSpPr>
            <p:nvPr/>
          </p:nvSpPr>
          <p:spPr bwMode="auto">
            <a:xfrm>
              <a:off x="3650" y="1102"/>
              <a:ext cx="1189" cy="652"/>
            </a:xfrm>
            <a:prstGeom prst="rect">
              <a:avLst/>
            </a:prstGeom>
            <a:solidFill>
              <a:srgbClr val="FFFFFF"/>
            </a:solidFill>
            <a:ln w="17463">
              <a:solidFill>
                <a:srgbClr val="000000"/>
              </a:solidFill>
              <a:miter lim="800000"/>
              <a:headEnd/>
              <a:tailEnd/>
            </a:ln>
          </p:spPr>
          <p:txBody>
            <a:bodyPr/>
            <a:lstStyle/>
            <a:p>
              <a:endParaRPr lang="zh-CN" altLang="en-US"/>
            </a:p>
          </p:txBody>
        </p:sp>
        <p:sp>
          <p:nvSpPr>
            <p:cNvPr id="26" name="Rectangle 8"/>
            <p:cNvSpPr>
              <a:spLocks noChangeArrowheads="1"/>
            </p:cNvSpPr>
            <p:nvPr/>
          </p:nvSpPr>
          <p:spPr bwMode="auto">
            <a:xfrm>
              <a:off x="3650" y="1170"/>
              <a:ext cx="1025" cy="164"/>
            </a:xfrm>
            <a:prstGeom prst="rect">
              <a:avLst/>
            </a:prstGeom>
            <a:noFill/>
            <a:ln w="9525">
              <a:noFill/>
              <a:miter lim="800000"/>
              <a:headEnd/>
              <a:tailEnd/>
            </a:ln>
          </p:spPr>
          <p:txBody>
            <a:bodyPr wrap="none" lIns="0" tIns="0" rIns="0" bIns="0">
              <a:spAutoFit/>
            </a:bodyPr>
            <a:lstStyle/>
            <a:p>
              <a:r>
                <a:rPr lang="zh-CN" altLang="en-US" sz="1400" dirty="0">
                  <a:solidFill>
                    <a:srgbClr val="000000"/>
                  </a:solidFill>
                  <a:latin typeface="宋体" pitchFamily="2" charset="-122"/>
                </a:rPr>
                <a:t>把下一个作业的源</a:t>
              </a:r>
              <a:endParaRPr lang="zh-CN" altLang="en-US" sz="1400" dirty="0"/>
            </a:p>
          </p:txBody>
        </p:sp>
        <p:sp>
          <p:nvSpPr>
            <p:cNvPr id="28" name="Rectangle 9"/>
            <p:cNvSpPr>
              <a:spLocks noChangeArrowheads="1"/>
            </p:cNvSpPr>
            <p:nvPr/>
          </p:nvSpPr>
          <p:spPr bwMode="auto">
            <a:xfrm>
              <a:off x="3650" y="1352"/>
              <a:ext cx="1025" cy="164"/>
            </a:xfrm>
            <a:prstGeom prst="rect">
              <a:avLst/>
            </a:prstGeom>
            <a:noFill/>
            <a:ln w="9525">
              <a:noFill/>
              <a:miter lim="800000"/>
              <a:headEnd/>
              <a:tailEnd/>
            </a:ln>
          </p:spPr>
          <p:txBody>
            <a:bodyPr wrap="none" lIns="0" tIns="0" rIns="0" bIns="0">
              <a:spAutoFit/>
            </a:bodyPr>
            <a:lstStyle/>
            <a:p>
              <a:r>
                <a:rPr lang="zh-CN" altLang="en-US" sz="1400" dirty="0">
                  <a:solidFill>
                    <a:srgbClr val="000000"/>
                  </a:solidFill>
                  <a:latin typeface="宋体" pitchFamily="2" charset="-122"/>
                </a:rPr>
                <a:t>程序转换为目标程</a:t>
              </a:r>
              <a:endParaRPr lang="zh-CN" altLang="en-US" sz="1400" dirty="0"/>
            </a:p>
          </p:txBody>
        </p:sp>
        <p:sp>
          <p:nvSpPr>
            <p:cNvPr id="32" name="Rectangle 10"/>
            <p:cNvSpPr>
              <a:spLocks noChangeArrowheads="1"/>
            </p:cNvSpPr>
            <p:nvPr/>
          </p:nvSpPr>
          <p:spPr bwMode="auto">
            <a:xfrm>
              <a:off x="4176" y="1536"/>
              <a:ext cx="128" cy="164"/>
            </a:xfrm>
            <a:prstGeom prst="rect">
              <a:avLst/>
            </a:prstGeom>
            <a:noFill/>
            <a:ln w="9525">
              <a:noFill/>
              <a:miter lim="800000"/>
              <a:headEnd/>
              <a:tailEnd/>
            </a:ln>
          </p:spPr>
          <p:txBody>
            <a:bodyPr wrap="none" lIns="0" tIns="0" rIns="0" bIns="0">
              <a:spAutoFit/>
            </a:bodyPr>
            <a:lstStyle/>
            <a:p>
              <a:r>
                <a:rPr lang="zh-CN" altLang="en-US" sz="1400" dirty="0">
                  <a:solidFill>
                    <a:srgbClr val="000000"/>
                  </a:solidFill>
                  <a:latin typeface="宋体" pitchFamily="2" charset="-122"/>
                </a:rPr>
                <a:t>序</a:t>
              </a:r>
              <a:endParaRPr lang="zh-CN" altLang="en-US" sz="1400" dirty="0"/>
            </a:p>
          </p:txBody>
        </p:sp>
        <p:sp>
          <p:nvSpPr>
            <p:cNvPr id="33" name="Line 11"/>
            <p:cNvSpPr>
              <a:spLocks noChangeShapeType="1"/>
            </p:cNvSpPr>
            <p:nvPr/>
          </p:nvSpPr>
          <p:spPr bwMode="auto">
            <a:xfrm>
              <a:off x="4244" y="1754"/>
              <a:ext cx="1" cy="537"/>
            </a:xfrm>
            <a:prstGeom prst="line">
              <a:avLst/>
            </a:prstGeom>
            <a:noFill/>
            <a:ln w="17463">
              <a:solidFill>
                <a:srgbClr val="000000"/>
              </a:solidFill>
              <a:round/>
              <a:headEnd/>
              <a:tailEnd/>
            </a:ln>
          </p:spPr>
          <p:txBody>
            <a:bodyPr/>
            <a:lstStyle/>
            <a:p>
              <a:endParaRPr lang="zh-CN" altLang="en-US"/>
            </a:p>
          </p:txBody>
        </p:sp>
        <p:sp>
          <p:nvSpPr>
            <p:cNvPr id="34" name="Freeform 12"/>
            <p:cNvSpPr>
              <a:spLocks/>
            </p:cNvSpPr>
            <p:nvPr/>
          </p:nvSpPr>
          <p:spPr bwMode="auto">
            <a:xfrm>
              <a:off x="4221" y="2154"/>
              <a:ext cx="57" cy="137"/>
            </a:xfrm>
            <a:custGeom>
              <a:avLst/>
              <a:gdLst>
                <a:gd name="T0" fmla="*/ 57 w 57"/>
                <a:gd name="T1" fmla="*/ 0 h 137"/>
                <a:gd name="T2" fmla="*/ 23 w 57"/>
                <a:gd name="T3" fmla="*/ 23 h 137"/>
                <a:gd name="T4" fmla="*/ 0 w 57"/>
                <a:gd name="T5" fmla="*/ 0 h 137"/>
                <a:gd name="T6" fmla="*/ 23 w 57"/>
                <a:gd name="T7" fmla="*/ 137 h 137"/>
                <a:gd name="T8" fmla="*/ 57 w 57"/>
                <a:gd name="T9" fmla="*/ 0 h 137"/>
                <a:gd name="T10" fmla="*/ 0 60000 65536"/>
                <a:gd name="T11" fmla="*/ 0 60000 65536"/>
                <a:gd name="T12" fmla="*/ 0 60000 65536"/>
                <a:gd name="T13" fmla="*/ 0 60000 65536"/>
                <a:gd name="T14" fmla="*/ 0 60000 65536"/>
                <a:gd name="T15" fmla="*/ 0 w 57"/>
                <a:gd name="T16" fmla="*/ 0 h 137"/>
                <a:gd name="T17" fmla="*/ 57 w 57"/>
                <a:gd name="T18" fmla="*/ 137 h 137"/>
              </a:gdLst>
              <a:ahLst/>
              <a:cxnLst>
                <a:cxn ang="T10">
                  <a:pos x="T0" y="T1"/>
                </a:cxn>
                <a:cxn ang="T11">
                  <a:pos x="T2" y="T3"/>
                </a:cxn>
                <a:cxn ang="T12">
                  <a:pos x="T4" y="T5"/>
                </a:cxn>
                <a:cxn ang="T13">
                  <a:pos x="T6" y="T7"/>
                </a:cxn>
                <a:cxn ang="T14">
                  <a:pos x="T8" y="T9"/>
                </a:cxn>
              </a:cxnLst>
              <a:rect l="T15" t="T16" r="T17" b="T18"/>
              <a:pathLst>
                <a:path w="57" h="137">
                  <a:moveTo>
                    <a:pt x="57" y="0"/>
                  </a:moveTo>
                  <a:lnTo>
                    <a:pt x="23" y="23"/>
                  </a:lnTo>
                  <a:lnTo>
                    <a:pt x="0" y="0"/>
                  </a:lnTo>
                  <a:lnTo>
                    <a:pt x="23" y="137"/>
                  </a:lnTo>
                  <a:lnTo>
                    <a:pt x="57" y="0"/>
                  </a:lnTo>
                  <a:close/>
                </a:path>
              </a:pathLst>
            </a:custGeom>
            <a:solidFill>
              <a:srgbClr val="000000"/>
            </a:solidFill>
            <a:ln w="17463">
              <a:solidFill>
                <a:srgbClr val="000000"/>
              </a:solidFill>
              <a:round/>
              <a:headEnd/>
              <a:tailEnd/>
            </a:ln>
          </p:spPr>
          <p:txBody>
            <a:bodyPr/>
            <a:lstStyle/>
            <a:p>
              <a:endParaRPr lang="zh-CN" altLang="en-US"/>
            </a:p>
          </p:txBody>
        </p:sp>
        <p:sp>
          <p:nvSpPr>
            <p:cNvPr id="35" name="Freeform 13"/>
            <p:cNvSpPr>
              <a:spLocks/>
            </p:cNvSpPr>
            <p:nvPr/>
          </p:nvSpPr>
          <p:spPr bwMode="auto">
            <a:xfrm>
              <a:off x="3650" y="2291"/>
              <a:ext cx="1189" cy="653"/>
            </a:xfrm>
            <a:custGeom>
              <a:avLst/>
              <a:gdLst>
                <a:gd name="T0" fmla="*/ 0 w 1189"/>
                <a:gd name="T1" fmla="*/ 332 h 653"/>
                <a:gd name="T2" fmla="*/ 594 w 1189"/>
                <a:gd name="T3" fmla="*/ 0 h 653"/>
                <a:gd name="T4" fmla="*/ 1189 w 1189"/>
                <a:gd name="T5" fmla="*/ 332 h 653"/>
                <a:gd name="T6" fmla="*/ 594 w 1189"/>
                <a:gd name="T7" fmla="*/ 653 h 653"/>
                <a:gd name="T8" fmla="*/ 0 w 1189"/>
                <a:gd name="T9" fmla="*/ 332 h 653"/>
                <a:gd name="T10" fmla="*/ 0 60000 65536"/>
                <a:gd name="T11" fmla="*/ 0 60000 65536"/>
                <a:gd name="T12" fmla="*/ 0 60000 65536"/>
                <a:gd name="T13" fmla="*/ 0 60000 65536"/>
                <a:gd name="T14" fmla="*/ 0 60000 65536"/>
                <a:gd name="T15" fmla="*/ 0 w 1189"/>
                <a:gd name="T16" fmla="*/ 0 h 653"/>
                <a:gd name="T17" fmla="*/ 1189 w 1189"/>
                <a:gd name="T18" fmla="*/ 653 h 653"/>
              </a:gdLst>
              <a:ahLst/>
              <a:cxnLst>
                <a:cxn ang="T10">
                  <a:pos x="T0" y="T1"/>
                </a:cxn>
                <a:cxn ang="T11">
                  <a:pos x="T2" y="T3"/>
                </a:cxn>
                <a:cxn ang="T12">
                  <a:pos x="T4" y="T5"/>
                </a:cxn>
                <a:cxn ang="T13">
                  <a:pos x="T6" y="T7"/>
                </a:cxn>
                <a:cxn ang="T14">
                  <a:pos x="T8" y="T9"/>
                </a:cxn>
              </a:cxnLst>
              <a:rect l="T15" t="T16" r="T17" b="T18"/>
              <a:pathLst>
                <a:path w="1189" h="653">
                  <a:moveTo>
                    <a:pt x="0" y="332"/>
                  </a:moveTo>
                  <a:lnTo>
                    <a:pt x="594" y="0"/>
                  </a:lnTo>
                  <a:lnTo>
                    <a:pt x="1189" y="332"/>
                  </a:lnTo>
                  <a:lnTo>
                    <a:pt x="594" y="653"/>
                  </a:lnTo>
                  <a:lnTo>
                    <a:pt x="0" y="332"/>
                  </a:lnTo>
                  <a:close/>
                </a:path>
              </a:pathLst>
            </a:custGeom>
            <a:solidFill>
              <a:srgbClr val="FFFFFF"/>
            </a:solidFill>
            <a:ln w="17463">
              <a:solidFill>
                <a:srgbClr val="000000"/>
              </a:solidFill>
              <a:round/>
              <a:headEnd/>
              <a:tailEnd/>
            </a:ln>
          </p:spPr>
          <p:txBody>
            <a:bodyPr/>
            <a:lstStyle/>
            <a:p>
              <a:endParaRPr lang="zh-CN" altLang="en-US"/>
            </a:p>
          </p:txBody>
        </p:sp>
        <p:sp>
          <p:nvSpPr>
            <p:cNvPr id="36" name="Rectangle 14"/>
            <p:cNvSpPr>
              <a:spLocks noChangeArrowheads="1"/>
            </p:cNvSpPr>
            <p:nvPr/>
          </p:nvSpPr>
          <p:spPr bwMode="auto">
            <a:xfrm>
              <a:off x="4027" y="2451"/>
              <a:ext cx="384" cy="164"/>
            </a:xfrm>
            <a:prstGeom prst="rect">
              <a:avLst/>
            </a:prstGeom>
            <a:noFill/>
            <a:ln w="9525">
              <a:noFill/>
              <a:miter lim="800000"/>
              <a:headEnd/>
              <a:tailEnd/>
            </a:ln>
          </p:spPr>
          <p:txBody>
            <a:bodyPr wrap="none" lIns="0" tIns="0" rIns="0" bIns="0">
              <a:spAutoFit/>
            </a:bodyPr>
            <a:lstStyle/>
            <a:p>
              <a:r>
                <a:rPr lang="zh-CN" altLang="en-US" sz="1400" dirty="0">
                  <a:solidFill>
                    <a:srgbClr val="000000"/>
                  </a:solidFill>
                  <a:latin typeface="宋体" pitchFamily="2" charset="-122"/>
                </a:rPr>
                <a:t>源程序</a:t>
              </a:r>
            </a:p>
          </p:txBody>
        </p:sp>
        <p:sp>
          <p:nvSpPr>
            <p:cNvPr id="37" name="Rectangle 15"/>
            <p:cNvSpPr>
              <a:spLocks noChangeArrowheads="1"/>
            </p:cNvSpPr>
            <p:nvPr/>
          </p:nvSpPr>
          <p:spPr bwMode="auto">
            <a:xfrm>
              <a:off x="3947" y="2634"/>
              <a:ext cx="512" cy="164"/>
            </a:xfrm>
            <a:prstGeom prst="rect">
              <a:avLst/>
            </a:prstGeom>
            <a:noFill/>
            <a:ln w="9525">
              <a:noFill/>
              <a:miter lim="800000"/>
              <a:headEnd/>
              <a:tailEnd/>
            </a:ln>
          </p:spPr>
          <p:txBody>
            <a:bodyPr wrap="none" lIns="0" tIns="0" rIns="0" bIns="0">
              <a:spAutoFit/>
            </a:bodyPr>
            <a:lstStyle/>
            <a:p>
              <a:r>
                <a:rPr lang="zh-CN" altLang="en-US" sz="1400" dirty="0">
                  <a:solidFill>
                    <a:srgbClr val="000000"/>
                  </a:solidFill>
                  <a:latin typeface="宋体" pitchFamily="2" charset="-122"/>
                </a:rPr>
                <a:t>有错吗？</a:t>
              </a:r>
            </a:p>
          </p:txBody>
        </p:sp>
        <p:sp>
          <p:nvSpPr>
            <p:cNvPr id="38" name="Line 16"/>
            <p:cNvSpPr>
              <a:spLocks noChangeShapeType="1"/>
            </p:cNvSpPr>
            <p:nvPr/>
          </p:nvSpPr>
          <p:spPr bwMode="auto">
            <a:xfrm>
              <a:off x="4244" y="2944"/>
              <a:ext cx="1" cy="537"/>
            </a:xfrm>
            <a:prstGeom prst="line">
              <a:avLst/>
            </a:prstGeom>
            <a:noFill/>
            <a:ln w="17463">
              <a:solidFill>
                <a:srgbClr val="000000"/>
              </a:solidFill>
              <a:round/>
              <a:headEnd/>
              <a:tailEnd/>
            </a:ln>
          </p:spPr>
          <p:txBody>
            <a:bodyPr/>
            <a:lstStyle/>
            <a:p>
              <a:endParaRPr lang="zh-CN" altLang="en-US"/>
            </a:p>
          </p:txBody>
        </p:sp>
        <p:sp>
          <p:nvSpPr>
            <p:cNvPr id="39" name="Freeform 17"/>
            <p:cNvSpPr>
              <a:spLocks/>
            </p:cNvSpPr>
            <p:nvPr/>
          </p:nvSpPr>
          <p:spPr bwMode="auto">
            <a:xfrm>
              <a:off x="4221" y="3344"/>
              <a:ext cx="57" cy="137"/>
            </a:xfrm>
            <a:custGeom>
              <a:avLst/>
              <a:gdLst>
                <a:gd name="T0" fmla="*/ 57 w 57"/>
                <a:gd name="T1" fmla="*/ 0 h 137"/>
                <a:gd name="T2" fmla="*/ 23 w 57"/>
                <a:gd name="T3" fmla="*/ 23 h 137"/>
                <a:gd name="T4" fmla="*/ 0 w 57"/>
                <a:gd name="T5" fmla="*/ 0 h 137"/>
                <a:gd name="T6" fmla="*/ 23 w 57"/>
                <a:gd name="T7" fmla="*/ 137 h 137"/>
                <a:gd name="T8" fmla="*/ 57 w 57"/>
                <a:gd name="T9" fmla="*/ 0 h 137"/>
                <a:gd name="T10" fmla="*/ 0 60000 65536"/>
                <a:gd name="T11" fmla="*/ 0 60000 65536"/>
                <a:gd name="T12" fmla="*/ 0 60000 65536"/>
                <a:gd name="T13" fmla="*/ 0 60000 65536"/>
                <a:gd name="T14" fmla="*/ 0 60000 65536"/>
                <a:gd name="T15" fmla="*/ 0 w 57"/>
                <a:gd name="T16" fmla="*/ 0 h 137"/>
                <a:gd name="T17" fmla="*/ 57 w 57"/>
                <a:gd name="T18" fmla="*/ 137 h 137"/>
              </a:gdLst>
              <a:ahLst/>
              <a:cxnLst>
                <a:cxn ang="T10">
                  <a:pos x="T0" y="T1"/>
                </a:cxn>
                <a:cxn ang="T11">
                  <a:pos x="T2" y="T3"/>
                </a:cxn>
                <a:cxn ang="T12">
                  <a:pos x="T4" y="T5"/>
                </a:cxn>
                <a:cxn ang="T13">
                  <a:pos x="T6" y="T7"/>
                </a:cxn>
                <a:cxn ang="T14">
                  <a:pos x="T8" y="T9"/>
                </a:cxn>
              </a:cxnLst>
              <a:rect l="T15" t="T16" r="T17" b="T18"/>
              <a:pathLst>
                <a:path w="57" h="137">
                  <a:moveTo>
                    <a:pt x="57" y="0"/>
                  </a:moveTo>
                  <a:lnTo>
                    <a:pt x="23" y="23"/>
                  </a:lnTo>
                  <a:lnTo>
                    <a:pt x="0" y="0"/>
                  </a:lnTo>
                  <a:lnTo>
                    <a:pt x="23" y="137"/>
                  </a:lnTo>
                  <a:lnTo>
                    <a:pt x="57" y="0"/>
                  </a:lnTo>
                  <a:close/>
                </a:path>
              </a:pathLst>
            </a:custGeom>
            <a:solidFill>
              <a:srgbClr val="000000"/>
            </a:solidFill>
            <a:ln w="17463">
              <a:solidFill>
                <a:srgbClr val="000000"/>
              </a:solidFill>
              <a:round/>
              <a:headEnd/>
              <a:tailEnd/>
            </a:ln>
          </p:spPr>
          <p:txBody>
            <a:bodyPr/>
            <a:lstStyle/>
            <a:p>
              <a:endParaRPr lang="zh-CN" altLang="en-US"/>
            </a:p>
          </p:txBody>
        </p:sp>
        <p:sp>
          <p:nvSpPr>
            <p:cNvPr id="40" name="Rectangle 18"/>
            <p:cNvSpPr>
              <a:spLocks noChangeArrowheads="1"/>
            </p:cNvSpPr>
            <p:nvPr/>
          </p:nvSpPr>
          <p:spPr bwMode="auto">
            <a:xfrm>
              <a:off x="4015" y="3103"/>
              <a:ext cx="128" cy="164"/>
            </a:xfrm>
            <a:prstGeom prst="rect">
              <a:avLst/>
            </a:prstGeom>
            <a:noFill/>
            <a:ln w="9525">
              <a:noFill/>
              <a:miter lim="800000"/>
              <a:headEnd/>
              <a:tailEnd/>
            </a:ln>
          </p:spPr>
          <p:txBody>
            <a:bodyPr wrap="none" lIns="0" tIns="0" rIns="0" bIns="0">
              <a:spAutoFit/>
            </a:bodyPr>
            <a:lstStyle/>
            <a:p>
              <a:r>
                <a:rPr lang="zh-CN" altLang="en-US" sz="1400" dirty="0">
                  <a:solidFill>
                    <a:srgbClr val="000000"/>
                  </a:solidFill>
                  <a:latin typeface="宋体" pitchFamily="2" charset="-122"/>
                </a:rPr>
                <a:t>否</a:t>
              </a:r>
            </a:p>
          </p:txBody>
        </p:sp>
        <p:sp>
          <p:nvSpPr>
            <p:cNvPr id="41" name="Rectangle 19"/>
            <p:cNvSpPr>
              <a:spLocks noChangeArrowheads="1"/>
            </p:cNvSpPr>
            <p:nvPr/>
          </p:nvSpPr>
          <p:spPr bwMode="auto">
            <a:xfrm>
              <a:off x="3650" y="3481"/>
              <a:ext cx="1189" cy="538"/>
            </a:xfrm>
            <a:prstGeom prst="rect">
              <a:avLst/>
            </a:prstGeom>
            <a:solidFill>
              <a:srgbClr val="FFFFFF"/>
            </a:solidFill>
            <a:ln w="17463">
              <a:solidFill>
                <a:srgbClr val="000000"/>
              </a:solidFill>
              <a:miter lim="800000"/>
              <a:headEnd/>
              <a:tailEnd/>
            </a:ln>
          </p:spPr>
          <p:txBody>
            <a:bodyPr/>
            <a:lstStyle/>
            <a:p>
              <a:endParaRPr lang="zh-CN" altLang="en-US"/>
            </a:p>
          </p:txBody>
        </p:sp>
        <p:sp>
          <p:nvSpPr>
            <p:cNvPr id="42" name="Rectangle 20"/>
            <p:cNvSpPr>
              <a:spLocks noChangeArrowheads="1"/>
            </p:cNvSpPr>
            <p:nvPr/>
          </p:nvSpPr>
          <p:spPr bwMode="auto">
            <a:xfrm>
              <a:off x="3981" y="3585"/>
              <a:ext cx="448" cy="164"/>
            </a:xfrm>
            <a:prstGeom prst="rect">
              <a:avLst/>
            </a:prstGeom>
            <a:noFill/>
            <a:ln w="9525">
              <a:noFill/>
              <a:miter lim="800000"/>
              <a:headEnd/>
              <a:tailEnd/>
            </a:ln>
          </p:spPr>
          <p:txBody>
            <a:bodyPr wrap="none" lIns="0" tIns="0" rIns="0" bIns="0">
              <a:spAutoFit/>
            </a:bodyPr>
            <a:lstStyle/>
            <a:p>
              <a:r>
                <a:rPr lang="zh-CN" altLang="en-US" sz="1400" dirty="0">
                  <a:solidFill>
                    <a:srgbClr val="000000"/>
                  </a:solidFill>
                  <a:latin typeface="宋体" pitchFamily="2" charset="-122"/>
                </a:rPr>
                <a:t>装   配</a:t>
              </a:r>
            </a:p>
          </p:txBody>
        </p:sp>
        <p:sp>
          <p:nvSpPr>
            <p:cNvPr id="43" name="Rectangle 21"/>
            <p:cNvSpPr>
              <a:spLocks noChangeArrowheads="1"/>
            </p:cNvSpPr>
            <p:nvPr/>
          </p:nvSpPr>
          <p:spPr bwMode="auto">
            <a:xfrm>
              <a:off x="3947" y="3766"/>
              <a:ext cx="512" cy="164"/>
            </a:xfrm>
            <a:prstGeom prst="rect">
              <a:avLst/>
            </a:prstGeom>
            <a:noFill/>
            <a:ln w="9525">
              <a:noFill/>
              <a:miter lim="800000"/>
              <a:headEnd/>
              <a:tailEnd/>
            </a:ln>
          </p:spPr>
          <p:txBody>
            <a:bodyPr wrap="none" lIns="0" tIns="0" rIns="0" bIns="0">
              <a:spAutoFit/>
            </a:bodyPr>
            <a:lstStyle/>
            <a:p>
              <a:r>
                <a:rPr lang="zh-CN" altLang="en-US" sz="1400" dirty="0">
                  <a:solidFill>
                    <a:srgbClr val="000000"/>
                  </a:solidFill>
                  <a:latin typeface="宋体" pitchFamily="2" charset="-122"/>
                </a:rPr>
                <a:t>目标程序</a:t>
              </a:r>
            </a:p>
          </p:txBody>
        </p:sp>
        <p:sp>
          <p:nvSpPr>
            <p:cNvPr id="44" name="Line 22"/>
            <p:cNvSpPr>
              <a:spLocks noChangeShapeType="1"/>
            </p:cNvSpPr>
            <p:nvPr/>
          </p:nvSpPr>
          <p:spPr bwMode="auto">
            <a:xfrm>
              <a:off x="3226" y="1434"/>
              <a:ext cx="424" cy="1"/>
            </a:xfrm>
            <a:prstGeom prst="line">
              <a:avLst/>
            </a:prstGeom>
            <a:noFill/>
            <a:ln w="17463">
              <a:solidFill>
                <a:srgbClr val="000000"/>
              </a:solidFill>
              <a:round/>
              <a:headEnd/>
              <a:tailEnd/>
            </a:ln>
          </p:spPr>
          <p:txBody>
            <a:bodyPr/>
            <a:lstStyle/>
            <a:p>
              <a:endParaRPr lang="zh-CN" altLang="en-US"/>
            </a:p>
          </p:txBody>
        </p:sp>
        <p:sp>
          <p:nvSpPr>
            <p:cNvPr id="45" name="Freeform 23"/>
            <p:cNvSpPr>
              <a:spLocks/>
            </p:cNvSpPr>
            <p:nvPr/>
          </p:nvSpPr>
          <p:spPr bwMode="auto">
            <a:xfrm>
              <a:off x="2037" y="1102"/>
              <a:ext cx="1189" cy="652"/>
            </a:xfrm>
            <a:custGeom>
              <a:avLst/>
              <a:gdLst>
                <a:gd name="T0" fmla="*/ 0 w 1189"/>
                <a:gd name="T1" fmla="*/ 332 h 652"/>
                <a:gd name="T2" fmla="*/ 595 w 1189"/>
                <a:gd name="T3" fmla="*/ 0 h 652"/>
                <a:gd name="T4" fmla="*/ 1189 w 1189"/>
                <a:gd name="T5" fmla="*/ 332 h 652"/>
                <a:gd name="T6" fmla="*/ 595 w 1189"/>
                <a:gd name="T7" fmla="*/ 652 h 652"/>
                <a:gd name="T8" fmla="*/ 0 w 1189"/>
                <a:gd name="T9" fmla="*/ 332 h 652"/>
                <a:gd name="T10" fmla="*/ 0 60000 65536"/>
                <a:gd name="T11" fmla="*/ 0 60000 65536"/>
                <a:gd name="T12" fmla="*/ 0 60000 65536"/>
                <a:gd name="T13" fmla="*/ 0 60000 65536"/>
                <a:gd name="T14" fmla="*/ 0 60000 65536"/>
                <a:gd name="T15" fmla="*/ 0 w 1189"/>
                <a:gd name="T16" fmla="*/ 0 h 652"/>
                <a:gd name="T17" fmla="*/ 1189 w 1189"/>
                <a:gd name="T18" fmla="*/ 652 h 652"/>
              </a:gdLst>
              <a:ahLst/>
              <a:cxnLst>
                <a:cxn ang="T10">
                  <a:pos x="T0" y="T1"/>
                </a:cxn>
                <a:cxn ang="T11">
                  <a:pos x="T2" y="T3"/>
                </a:cxn>
                <a:cxn ang="T12">
                  <a:pos x="T4" y="T5"/>
                </a:cxn>
                <a:cxn ang="T13">
                  <a:pos x="T6" y="T7"/>
                </a:cxn>
                <a:cxn ang="T14">
                  <a:pos x="T8" y="T9"/>
                </a:cxn>
              </a:cxnLst>
              <a:rect l="T15" t="T16" r="T17" b="T18"/>
              <a:pathLst>
                <a:path w="1189" h="652">
                  <a:moveTo>
                    <a:pt x="0" y="332"/>
                  </a:moveTo>
                  <a:lnTo>
                    <a:pt x="595" y="0"/>
                  </a:lnTo>
                  <a:lnTo>
                    <a:pt x="1189" y="332"/>
                  </a:lnTo>
                  <a:lnTo>
                    <a:pt x="595" y="652"/>
                  </a:lnTo>
                  <a:lnTo>
                    <a:pt x="0" y="332"/>
                  </a:lnTo>
                  <a:close/>
                </a:path>
              </a:pathLst>
            </a:custGeom>
            <a:solidFill>
              <a:srgbClr val="FFFFFF"/>
            </a:solidFill>
            <a:ln w="17463">
              <a:solidFill>
                <a:srgbClr val="000000"/>
              </a:solidFill>
              <a:round/>
              <a:headEnd/>
              <a:tailEnd/>
            </a:ln>
          </p:spPr>
          <p:txBody>
            <a:bodyPr/>
            <a:lstStyle/>
            <a:p>
              <a:endParaRPr lang="zh-CN" altLang="en-US"/>
            </a:p>
          </p:txBody>
        </p:sp>
        <p:sp>
          <p:nvSpPr>
            <p:cNvPr id="46" name="Rectangle 24"/>
            <p:cNvSpPr>
              <a:spLocks noChangeArrowheads="1"/>
            </p:cNvSpPr>
            <p:nvPr/>
          </p:nvSpPr>
          <p:spPr bwMode="auto">
            <a:xfrm>
              <a:off x="2403" y="1262"/>
              <a:ext cx="339" cy="151"/>
            </a:xfrm>
            <a:prstGeom prst="rect">
              <a:avLst/>
            </a:prstGeom>
            <a:noFill/>
            <a:ln w="9525">
              <a:noFill/>
              <a:miter lim="800000"/>
              <a:headEnd/>
              <a:tailEnd/>
            </a:ln>
          </p:spPr>
          <p:txBody>
            <a:bodyPr wrap="none" lIns="0" tIns="0" rIns="0" bIns="0">
              <a:spAutoFit/>
            </a:bodyPr>
            <a:lstStyle/>
            <a:p>
              <a:r>
                <a:rPr lang="zh-CN" altLang="en-US" sz="1400" dirty="0">
                  <a:solidFill>
                    <a:srgbClr val="000000"/>
                  </a:solidFill>
                  <a:latin typeface="宋体" pitchFamily="2" charset="-122"/>
                </a:rPr>
                <a:t>还有下</a:t>
              </a:r>
              <a:endParaRPr lang="zh-CN" altLang="en-US" sz="1400" dirty="0"/>
            </a:p>
          </p:txBody>
        </p:sp>
        <p:sp>
          <p:nvSpPr>
            <p:cNvPr id="47" name="Rectangle 25"/>
            <p:cNvSpPr>
              <a:spLocks noChangeArrowheads="1"/>
            </p:cNvSpPr>
            <p:nvPr/>
          </p:nvSpPr>
          <p:spPr bwMode="auto">
            <a:xfrm>
              <a:off x="2254" y="1445"/>
              <a:ext cx="565" cy="151"/>
            </a:xfrm>
            <a:prstGeom prst="rect">
              <a:avLst/>
            </a:prstGeom>
            <a:noFill/>
            <a:ln w="9525">
              <a:noFill/>
              <a:miter lim="800000"/>
              <a:headEnd/>
              <a:tailEnd/>
            </a:ln>
          </p:spPr>
          <p:txBody>
            <a:bodyPr wrap="none" lIns="0" tIns="0" rIns="0" bIns="0">
              <a:spAutoFit/>
            </a:bodyPr>
            <a:lstStyle/>
            <a:p>
              <a:r>
                <a:rPr lang="zh-CN" altLang="en-US" sz="1400" dirty="0">
                  <a:solidFill>
                    <a:srgbClr val="000000"/>
                  </a:solidFill>
                  <a:latin typeface="宋体" pitchFamily="2" charset="-122"/>
                </a:rPr>
                <a:t>一个作业？</a:t>
              </a:r>
              <a:endParaRPr lang="zh-CN" altLang="en-US" sz="1400" dirty="0"/>
            </a:p>
          </p:txBody>
        </p:sp>
        <p:sp>
          <p:nvSpPr>
            <p:cNvPr id="48" name="Freeform 26"/>
            <p:cNvSpPr>
              <a:spLocks/>
            </p:cNvSpPr>
            <p:nvPr/>
          </p:nvSpPr>
          <p:spPr bwMode="auto">
            <a:xfrm>
              <a:off x="3512" y="1399"/>
              <a:ext cx="138" cy="57"/>
            </a:xfrm>
            <a:custGeom>
              <a:avLst/>
              <a:gdLst>
                <a:gd name="T0" fmla="*/ 0 w 138"/>
                <a:gd name="T1" fmla="*/ 0 h 57"/>
                <a:gd name="T2" fmla="*/ 23 w 138"/>
                <a:gd name="T3" fmla="*/ 35 h 57"/>
                <a:gd name="T4" fmla="*/ 0 w 138"/>
                <a:gd name="T5" fmla="*/ 57 h 57"/>
                <a:gd name="T6" fmla="*/ 138 w 138"/>
                <a:gd name="T7" fmla="*/ 35 h 57"/>
                <a:gd name="T8" fmla="*/ 0 w 138"/>
                <a:gd name="T9" fmla="*/ 0 h 57"/>
                <a:gd name="T10" fmla="*/ 0 60000 65536"/>
                <a:gd name="T11" fmla="*/ 0 60000 65536"/>
                <a:gd name="T12" fmla="*/ 0 60000 65536"/>
                <a:gd name="T13" fmla="*/ 0 60000 65536"/>
                <a:gd name="T14" fmla="*/ 0 60000 65536"/>
                <a:gd name="T15" fmla="*/ 0 w 138"/>
                <a:gd name="T16" fmla="*/ 0 h 57"/>
                <a:gd name="T17" fmla="*/ 138 w 138"/>
                <a:gd name="T18" fmla="*/ 57 h 57"/>
              </a:gdLst>
              <a:ahLst/>
              <a:cxnLst>
                <a:cxn ang="T10">
                  <a:pos x="T0" y="T1"/>
                </a:cxn>
                <a:cxn ang="T11">
                  <a:pos x="T2" y="T3"/>
                </a:cxn>
                <a:cxn ang="T12">
                  <a:pos x="T4" y="T5"/>
                </a:cxn>
                <a:cxn ang="T13">
                  <a:pos x="T6" y="T7"/>
                </a:cxn>
                <a:cxn ang="T14">
                  <a:pos x="T8" y="T9"/>
                </a:cxn>
              </a:cxnLst>
              <a:rect l="T15" t="T16" r="T17" b="T18"/>
              <a:pathLst>
                <a:path w="138" h="57">
                  <a:moveTo>
                    <a:pt x="0" y="0"/>
                  </a:moveTo>
                  <a:lnTo>
                    <a:pt x="23" y="35"/>
                  </a:lnTo>
                  <a:lnTo>
                    <a:pt x="0" y="57"/>
                  </a:lnTo>
                  <a:lnTo>
                    <a:pt x="138" y="35"/>
                  </a:lnTo>
                  <a:lnTo>
                    <a:pt x="0" y="0"/>
                  </a:lnTo>
                  <a:close/>
                </a:path>
              </a:pathLst>
            </a:custGeom>
            <a:solidFill>
              <a:srgbClr val="000000"/>
            </a:solidFill>
            <a:ln w="17463">
              <a:solidFill>
                <a:srgbClr val="000000"/>
              </a:solidFill>
              <a:round/>
              <a:headEnd/>
              <a:tailEnd/>
            </a:ln>
          </p:spPr>
          <p:txBody>
            <a:bodyPr/>
            <a:lstStyle/>
            <a:p>
              <a:endParaRPr lang="zh-CN" altLang="en-US"/>
            </a:p>
          </p:txBody>
        </p:sp>
        <p:sp>
          <p:nvSpPr>
            <p:cNvPr id="53" name="Line 27"/>
            <p:cNvSpPr>
              <a:spLocks noChangeShapeType="1"/>
            </p:cNvSpPr>
            <p:nvPr/>
          </p:nvSpPr>
          <p:spPr bwMode="auto">
            <a:xfrm>
              <a:off x="2632" y="1754"/>
              <a:ext cx="1" cy="320"/>
            </a:xfrm>
            <a:prstGeom prst="line">
              <a:avLst/>
            </a:prstGeom>
            <a:noFill/>
            <a:ln w="17463">
              <a:solidFill>
                <a:srgbClr val="000000"/>
              </a:solidFill>
              <a:round/>
              <a:headEnd/>
              <a:tailEnd/>
            </a:ln>
          </p:spPr>
          <p:txBody>
            <a:bodyPr/>
            <a:lstStyle/>
            <a:p>
              <a:endParaRPr lang="zh-CN" altLang="en-US"/>
            </a:p>
          </p:txBody>
        </p:sp>
        <p:sp>
          <p:nvSpPr>
            <p:cNvPr id="55" name="Freeform 28"/>
            <p:cNvSpPr>
              <a:spLocks/>
            </p:cNvSpPr>
            <p:nvPr/>
          </p:nvSpPr>
          <p:spPr bwMode="auto">
            <a:xfrm>
              <a:off x="2598" y="1937"/>
              <a:ext cx="57" cy="137"/>
            </a:xfrm>
            <a:custGeom>
              <a:avLst/>
              <a:gdLst>
                <a:gd name="T0" fmla="*/ 57 w 57"/>
                <a:gd name="T1" fmla="*/ 0 h 137"/>
                <a:gd name="T2" fmla="*/ 34 w 57"/>
                <a:gd name="T3" fmla="*/ 23 h 137"/>
                <a:gd name="T4" fmla="*/ 0 w 57"/>
                <a:gd name="T5" fmla="*/ 0 h 137"/>
                <a:gd name="T6" fmla="*/ 34 w 57"/>
                <a:gd name="T7" fmla="*/ 137 h 137"/>
                <a:gd name="T8" fmla="*/ 57 w 57"/>
                <a:gd name="T9" fmla="*/ 0 h 137"/>
                <a:gd name="T10" fmla="*/ 0 60000 65536"/>
                <a:gd name="T11" fmla="*/ 0 60000 65536"/>
                <a:gd name="T12" fmla="*/ 0 60000 65536"/>
                <a:gd name="T13" fmla="*/ 0 60000 65536"/>
                <a:gd name="T14" fmla="*/ 0 60000 65536"/>
                <a:gd name="T15" fmla="*/ 0 w 57"/>
                <a:gd name="T16" fmla="*/ 0 h 137"/>
                <a:gd name="T17" fmla="*/ 57 w 57"/>
                <a:gd name="T18" fmla="*/ 137 h 137"/>
              </a:gdLst>
              <a:ahLst/>
              <a:cxnLst>
                <a:cxn ang="T10">
                  <a:pos x="T0" y="T1"/>
                </a:cxn>
                <a:cxn ang="T11">
                  <a:pos x="T2" y="T3"/>
                </a:cxn>
                <a:cxn ang="T12">
                  <a:pos x="T4" y="T5"/>
                </a:cxn>
                <a:cxn ang="T13">
                  <a:pos x="T6" y="T7"/>
                </a:cxn>
                <a:cxn ang="T14">
                  <a:pos x="T8" y="T9"/>
                </a:cxn>
              </a:cxnLst>
              <a:rect l="T15" t="T16" r="T17" b="T18"/>
              <a:pathLst>
                <a:path w="57" h="137">
                  <a:moveTo>
                    <a:pt x="57" y="0"/>
                  </a:moveTo>
                  <a:lnTo>
                    <a:pt x="34" y="23"/>
                  </a:lnTo>
                  <a:lnTo>
                    <a:pt x="0" y="0"/>
                  </a:lnTo>
                  <a:lnTo>
                    <a:pt x="34" y="137"/>
                  </a:lnTo>
                  <a:lnTo>
                    <a:pt x="57" y="0"/>
                  </a:lnTo>
                  <a:close/>
                </a:path>
              </a:pathLst>
            </a:custGeom>
            <a:solidFill>
              <a:srgbClr val="000000"/>
            </a:solidFill>
            <a:ln w="17463">
              <a:solidFill>
                <a:srgbClr val="000000"/>
              </a:solidFill>
              <a:round/>
              <a:headEnd/>
              <a:tailEnd/>
            </a:ln>
          </p:spPr>
          <p:txBody>
            <a:bodyPr/>
            <a:lstStyle/>
            <a:p>
              <a:endParaRPr lang="zh-CN" altLang="en-US"/>
            </a:p>
          </p:txBody>
        </p:sp>
        <p:sp>
          <p:nvSpPr>
            <p:cNvPr id="56" name="Rectangle 29"/>
            <p:cNvSpPr>
              <a:spLocks noChangeArrowheads="1"/>
            </p:cNvSpPr>
            <p:nvPr/>
          </p:nvSpPr>
          <p:spPr bwMode="auto">
            <a:xfrm>
              <a:off x="3306" y="1216"/>
              <a:ext cx="128" cy="164"/>
            </a:xfrm>
            <a:prstGeom prst="rect">
              <a:avLst/>
            </a:prstGeom>
            <a:noFill/>
            <a:ln w="9525">
              <a:noFill/>
              <a:miter lim="800000"/>
              <a:headEnd/>
              <a:tailEnd/>
            </a:ln>
          </p:spPr>
          <p:txBody>
            <a:bodyPr wrap="none" lIns="0" tIns="0" rIns="0" bIns="0">
              <a:spAutoFit/>
            </a:bodyPr>
            <a:lstStyle/>
            <a:p>
              <a:r>
                <a:rPr lang="zh-CN" altLang="en-US" sz="1400" dirty="0">
                  <a:solidFill>
                    <a:srgbClr val="000000"/>
                  </a:solidFill>
                  <a:latin typeface="宋体" pitchFamily="2" charset="-122"/>
                </a:rPr>
                <a:t>是</a:t>
              </a:r>
            </a:p>
          </p:txBody>
        </p:sp>
        <p:sp>
          <p:nvSpPr>
            <p:cNvPr id="57" name="Rectangle 30"/>
            <p:cNvSpPr>
              <a:spLocks noChangeArrowheads="1"/>
            </p:cNvSpPr>
            <p:nvPr/>
          </p:nvSpPr>
          <p:spPr bwMode="auto">
            <a:xfrm>
              <a:off x="2357" y="1812"/>
              <a:ext cx="128" cy="164"/>
            </a:xfrm>
            <a:prstGeom prst="rect">
              <a:avLst/>
            </a:prstGeom>
            <a:noFill/>
            <a:ln w="9525">
              <a:noFill/>
              <a:miter lim="800000"/>
              <a:headEnd/>
              <a:tailEnd/>
            </a:ln>
          </p:spPr>
          <p:txBody>
            <a:bodyPr wrap="none" lIns="0" tIns="0" rIns="0" bIns="0">
              <a:spAutoFit/>
            </a:bodyPr>
            <a:lstStyle/>
            <a:p>
              <a:r>
                <a:rPr lang="zh-CN" altLang="en-US" sz="1400" dirty="0">
                  <a:solidFill>
                    <a:srgbClr val="000000"/>
                  </a:solidFill>
                  <a:latin typeface="宋体" pitchFamily="2" charset="-122"/>
                </a:rPr>
                <a:t>否</a:t>
              </a:r>
            </a:p>
          </p:txBody>
        </p:sp>
        <p:sp>
          <p:nvSpPr>
            <p:cNvPr id="58" name="Rectangle 31"/>
            <p:cNvSpPr>
              <a:spLocks noChangeArrowheads="1"/>
            </p:cNvSpPr>
            <p:nvPr/>
          </p:nvSpPr>
          <p:spPr bwMode="auto">
            <a:xfrm>
              <a:off x="2472" y="2154"/>
              <a:ext cx="256" cy="164"/>
            </a:xfrm>
            <a:prstGeom prst="rect">
              <a:avLst/>
            </a:prstGeom>
            <a:noFill/>
            <a:ln w="9525">
              <a:noFill/>
              <a:miter lim="800000"/>
              <a:headEnd/>
              <a:tailEnd/>
            </a:ln>
          </p:spPr>
          <p:txBody>
            <a:bodyPr wrap="none" lIns="0" tIns="0" rIns="0" bIns="0">
              <a:spAutoFit/>
            </a:bodyPr>
            <a:lstStyle/>
            <a:p>
              <a:r>
                <a:rPr lang="zh-CN" altLang="en-US" sz="1400" dirty="0">
                  <a:solidFill>
                    <a:srgbClr val="000000"/>
                  </a:solidFill>
                  <a:latin typeface="宋体" pitchFamily="2" charset="-122"/>
                </a:rPr>
                <a:t>停止</a:t>
              </a:r>
            </a:p>
          </p:txBody>
        </p:sp>
        <p:sp>
          <p:nvSpPr>
            <p:cNvPr id="59" name="Line 32"/>
            <p:cNvSpPr>
              <a:spLocks noChangeShapeType="1"/>
            </p:cNvSpPr>
            <p:nvPr/>
          </p:nvSpPr>
          <p:spPr bwMode="auto">
            <a:xfrm>
              <a:off x="1385" y="1434"/>
              <a:ext cx="652" cy="1"/>
            </a:xfrm>
            <a:prstGeom prst="line">
              <a:avLst/>
            </a:prstGeom>
            <a:noFill/>
            <a:ln w="17463">
              <a:solidFill>
                <a:srgbClr val="000000"/>
              </a:solidFill>
              <a:round/>
              <a:headEnd/>
              <a:tailEnd/>
            </a:ln>
          </p:spPr>
          <p:txBody>
            <a:bodyPr/>
            <a:lstStyle/>
            <a:p>
              <a:endParaRPr lang="zh-CN" altLang="en-US"/>
            </a:p>
          </p:txBody>
        </p:sp>
        <p:sp>
          <p:nvSpPr>
            <p:cNvPr id="60" name="Line 33"/>
            <p:cNvSpPr>
              <a:spLocks noChangeShapeType="1"/>
            </p:cNvSpPr>
            <p:nvPr/>
          </p:nvSpPr>
          <p:spPr bwMode="auto">
            <a:xfrm>
              <a:off x="3226" y="3756"/>
              <a:ext cx="424" cy="1"/>
            </a:xfrm>
            <a:prstGeom prst="line">
              <a:avLst/>
            </a:prstGeom>
            <a:noFill/>
            <a:ln w="17463">
              <a:solidFill>
                <a:srgbClr val="000000"/>
              </a:solidFill>
              <a:round/>
              <a:headEnd/>
              <a:tailEnd/>
            </a:ln>
          </p:spPr>
          <p:txBody>
            <a:bodyPr/>
            <a:lstStyle/>
            <a:p>
              <a:endParaRPr lang="zh-CN" altLang="en-US"/>
            </a:p>
          </p:txBody>
        </p:sp>
        <p:sp>
          <p:nvSpPr>
            <p:cNvPr id="61" name="Freeform 34"/>
            <p:cNvSpPr>
              <a:spLocks/>
            </p:cNvSpPr>
            <p:nvPr/>
          </p:nvSpPr>
          <p:spPr bwMode="auto">
            <a:xfrm>
              <a:off x="3226" y="3721"/>
              <a:ext cx="138" cy="58"/>
            </a:xfrm>
            <a:custGeom>
              <a:avLst/>
              <a:gdLst>
                <a:gd name="T0" fmla="*/ 138 w 138"/>
                <a:gd name="T1" fmla="*/ 0 h 58"/>
                <a:gd name="T2" fmla="*/ 115 w 138"/>
                <a:gd name="T3" fmla="*/ 35 h 58"/>
                <a:gd name="T4" fmla="*/ 138 w 138"/>
                <a:gd name="T5" fmla="*/ 58 h 58"/>
                <a:gd name="T6" fmla="*/ 0 w 138"/>
                <a:gd name="T7" fmla="*/ 35 h 58"/>
                <a:gd name="T8" fmla="*/ 138 w 138"/>
                <a:gd name="T9" fmla="*/ 0 h 58"/>
                <a:gd name="T10" fmla="*/ 0 60000 65536"/>
                <a:gd name="T11" fmla="*/ 0 60000 65536"/>
                <a:gd name="T12" fmla="*/ 0 60000 65536"/>
                <a:gd name="T13" fmla="*/ 0 60000 65536"/>
                <a:gd name="T14" fmla="*/ 0 60000 65536"/>
                <a:gd name="T15" fmla="*/ 0 w 138"/>
                <a:gd name="T16" fmla="*/ 0 h 58"/>
                <a:gd name="T17" fmla="*/ 138 w 138"/>
                <a:gd name="T18" fmla="*/ 58 h 58"/>
              </a:gdLst>
              <a:ahLst/>
              <a:cxnLst>
                <a:cxn ang="T10">
                  <a:pos x="T0" y="T1"/>
                </a:cxn>
                <a:cxn ang="T11">
                  <a:pos x="T2" y="T3"/>
                </a:cxn>
                <a:cxn ang="T12">
                  <a:pos x="T4" y="T5"/>
                </a:cxn>
                <a:cxn ang="T13">
                  <a:pos x="T6" y="T7"/>
                </a:cxn>
                <a:cxn ang="T14">
                  <a:pos x="T8" y="T9"/>
                </a:cxn>
              </a:cxnLst>
              <a:rect l="T15" t="T16" r="T17" b="T18"/>
              <a:pathLst>
                <a:path w="138" h="58">
                  <a:moveTo>
                    <a:pt x="138" y="0"/>
                  </a:moveTo>
                  <a:lnTo>
                    <a:pt x="115" y="35"/>
                  </a:lnTo>
                  <a:lnTo>
                    <a:pt x="138" y="58"/>
                  </a:lnTo>
                  <a:lnTo>
                    <a:pt x="0" y="35"/>
                  </a:lnTo>
                  <a:lnTo>
                    <a:pt x="138" y="0"/>
                  </a:lnTo>
                  <a:close/>
                </a:path>
              </a:pathLst>
            </a:custGeom>
            <a:solidFill>
              <a:srgbClr val="000000"/>
            </a:solidFill>
            <a:ln w="17463">
              <a:solidFill>
                <a:srgbClr val="000000"/>
              </a:solidFill>
              <a:round/>
              <a:headEnd/>
              <a:tailEnd/>
            </a:ln>
          </p:spPr>
          <p:txBody>
            <a:bodyPr/>
            <a:lstStyle/>
            <a:p>
              <a:endParaRPr lang="zh-CN" altLang="en-US"/>
            </a:p>
          </p:txBody>
        </p:sp>
        <p:sp>
          <p:nvSpPr>
            <p:cNvPr id="62" name="Rectangle 35"/>
            <p:cNvSpPr>
              <a:spLocks noChangeArrowheads="1"/>
            </p:cNvSpPr>
            <p:nvPr/>
          </p:nvSpPr>
          <p:spPr bwMode="auto">
            <a:xfrm>
              <a:off x="2037" y="3481"/>
              <a:ext cx="1189" cy="538"/>
            </a:xfrm>
            <a:prstGeom prst="rect">
              <a:avLst/>
            </a:prstGeom>
            <a:solidFill>
              <a:srgbClr val="FFFFFF"/>
            </a:solidFill>
            <a:ln w="17463">
              <a:solidFill>
                <a:srgbClr val="000000"/>
              </a:solidFill>
              <a:miter lim="800000"/>
              <a:headEnd/>
              <a:tailEnd/>
            </a:ln>
          </p:spPr>
          <p:txBody>
            <a:bodyPr/>
            <a:lstStyle/>
            <a:p>
              <a:endParaRPr lang="zh-CN" altLang="en-US"/>
            </a:p>
          </p:txBody>
        </p:sp>
        <p:sp>
          <p:nvSpPr>
            <p:cNvPr id="63" name="Rectangle 36"/>
            <p:cNvSpPr>
              <a:spLocks noChangeArrowheads="1"/>
            </p:cNvSpPr>
            <p:nvPr/>
          </p:nvSpPr>
          <p:spPr bwMode="auto">
            <a:xfrm>
              <a:off x="2357" y="3585"/>
              <a:ext cx="448" cy="164"/>
            </a:xfrm>
            <a:prstGeom prst="rect">
              <a:avLst/>
            </a:prstGeom>
            <a:noFill/>
            <a:ln w="9525">
              <a:noFill/>
              <a:miter lim="800000"/>
              <a:headEnd/>
              <a:tailEnd/>
            </a:ln>
          </p:spPr>
          <p:txBody>
            <a:bodyPr wrap="none" lIns="0" tIns="0" rIns="0" bIns="0">
              <a:spAutoFit/>
            </a:bodyPr>
            <a:lstStyle/>
            <a:p>
              <a:r>
                <a:rPr lang="zh-CN" altLang="en-US" sz="1400" dirty="0">
                  <a:solidFill>
                    <a:srgbClr val="000000"/>
                  </a:solidFill>
                  <a:latin typeface="宋体" pitchFamily="2" charset="-122"/>
                </a:rPr>
                <a:t>运   行</a:t>
              </a:r>
            </a:p>
          </p:txBody>
        </p:sp>
        <p:sp>
          <p:nvSpPr>
            <p:cNvPr id="64" name="Rectangle 37"/>
            <p:cNvSpPr>
              <a:spLocks noChangeArrowheads="1"/>
            </p:cNvSpPr>
            <p:nvPr/>
          </p:nvSpPr>
          <p:spPr bwMode="auto">
            <a:xfrm>
              <a:off x="2334" y="3766"/>
              <a:ext cx="512" cy="164"/>
            </a:xfrm>
            <a:prstGeom prst="rect">
              <a:avLst/>
            </a:prstGeom>
            <a:noFill/>
            <a:ln w="9525">
              <a:noFill/>
              <a:miter lim="800000"/>
              <a:headEnd/>
              <a:tailEnd/>
            </a:ln>
          </p:spPr>
          <p:txBody>
            <a:bodyPr wrap="none" lIns="0" tIns="0" rIns="0" bIns="0">
              <a:spAutoFit/>
            </a:bodyPr>
            <a:lstStyle/>
            <a:p>
              <a:r>
                <a:rPr lang="zh-CN" altLang="en-US" sz="1400" dirty="0">
                  <a:solidFill>
                    <a:srgbClr val="000000"/>
                  </a:solidFill>
                  <a:latin typeface="宋体" pitchFamily="2" charset="-122"/>
                </a:rPr>
                <a:t>目标程序</a:t>
              </a:r>
            </a:p>
          </p:txBody>
        </p:sp>
        <p:sp>
          <p:nvSpPr>
            <p:cNvPr id="65" name="Line 38"/>
            <p:cNvSpPr>
              <a:spLocks noChangeShapeType="1"/>
            </p:cNvSpPr>
            <p:nvPr/>
          </p:nvSpPr>
          <p:spPr bwMode="auto">
            <a:xfrm>
              <a:off x="1603" y="3756"/>
              <a:ext cx="434" cy="1"/>
            </a:xfrm>
            <a:prstGeom prst="line">
              <a:avLst/>
            </a:prstGeom>
            <a:noFill/>
            <a:ln w="17463">
              <a:solidFill>
                <a:srgbClr val="000000"/>
              </a:solidFill>
              <a:round/>
              <a:headEnd/>
              <a:tailEnd/>
            </a:ln>
          </p:spPr>
          <p:txBody>
            <a:bodyPr/>
            <a:lstStyle/>
            <a:p>
              <a:endParaRPr lang="zh-CN" altLang="en-US"/>
            </a:p>
          </p:txBody>
        </p:sp>
        <p:sp>
          <p:nvSpPr>
            <p:cNvPr id="66" name="Freeform 39"/>
            <p:cNvSpPr>
              <a:spLocks/>
            </p:cNvSpPr>
            <p:nvPr/>
          </p:nvSpPr>
          <p:spPr bwMode="auto">
            <a:xfrm>
              <a:off x="1603" y="3721"/>
              <a:ext cx="137" cy="58"/>
            </a:xfrm>
            <a:custGeom>
              <a:avLst/>
              <a:gdLst>
                <a:gd name="T0" fmla="*/ 137 w 137"/>
                <a:gd name="T1" fmla="*/ 0 h 58"/>
                <a:gd name="T2" fmla="*/ 114 w 137"/>
                <a:gd name="T3" fmla="*/ 35 h 58"/>
                <a:gd name="T4" fmla="*/ 137 w 137"/>
                <a:gd name="T5" fmla="*/ 58 h 58"/>
                <a:gd name="T6" fmla="*/ 0 w 137"/>
                <a:gd name="T7" fmla="*/ 35 h 58"/>
                <a:gd name="T8" fmla="*/ 137 w 137"/>
                <a:gd name="T9" fmla="*/ 0 h 58"/>
                <a:gd name="T10" fmla="*/ 0 60000 65536"/>
                <a:gd name="T11" fmla="*/ 0 60000 65536"/>
                <a:gd name="T12" fmla="*/ 0 60000 65536"/>
                <a:gd name="T13" fmla="*/ 0 60000 65536"/>
                <a:gd name="T14" fmla="*/ 0 60000 65536"/>
                <a:gd name="T15" fmla="*/ 0 w 137"/>
                <a:gd name="T16" fmla="*/ 0 h 58"/>
                <a:gd name="T17" fmla="*/ 137 w 137"/>
                <a:gd name="T18" fmla="*/ 58 h 58"/>
              </a:gdLst>
              <a:ahLst/>
              <a:cxnLst>
                <a:cxn ang="T10">
                  <a:pos x="T0" y="T1"/>
                </a:cxn>
                <a:cxn ang="T11">
                  <a:pos x="T2" y="T3"/>
                </a:cxn>
                <a:cxn ang="T12">
                  <a:pos x="T4" y="T5"/>
                </a:cxn>
                <a:cxn ang="T13">
                  <a:pos x="T6" y="T7"/>
                </a:cxn>
                <a:cxn ang="T14">
                  <a:pos x="T8" y="T9"/>
                </a:cxn>
              </a:cxnLst>
              <a:rect l="T15" t="T16" r="T17" b="T18"/>
              <a:pathLst>
                <a:path w="137" h="58">
                  <a:moveTo>
                    <a:pt x="137" y="0"/>
                  </a:moveTo>
                  <a:lnTo>
                    <a:pt x="114" y="35"/>
                  </a:lnTo>
                  <a:lnTo>
                    <a:pt x="137" y="58"/>
                  </a:lnTo>
                  <a:lnTo>
                    <a:pt x="0" y="35"/>
                  </a:lnTo>
                  <a:lnTo>
                    <a:pt x="137" y="0"/>
                  </a:lnTo>
                  <a:close/>
                </a:path>
              </a:pathLst>
            </a:custGeom>
            <a:solidFill>
              <a:srgbClr val="000000"/>
            </a:solidFill>
            <a:ln w="17463">
              <a:solidFill>
                <a:srgbClr val="000000"/>
              </a:solidFill>
              <a:round/>
              <a:headEnd/>
              <a:tailEnd/>
            </a:ln>
          </p:spPr>
          <p:txBody>
            <a:bodyPr/>
            <a:lstStyle/>
            <a:p>
              <a:endParaRPr lang="zh-CN" altLang="en-US"/>
            </a:p>
          </p:txBody>
        </p:sp>
        <p:sp>
          <p:nvSpPr>
            <p:cNvPr id="67" name="Line 40"/>
            <p:cNvSpPr>
              <a:spLocks noChangeShapeType="1"/>
            </p:cNvSpPr>
            <p:nvPr/>
          </p:nvSpPr>
          <p:spPr bwMode="auto">
            <a:xfrm>
              <a:off x="1603" y="1434"/>
              <a:ext cx="1" cy="2322"/>
            </a:xfrm>
            <a:prstGeom prst="line">
              <a:avLst/>
            </a:prstGeom>
            <a:noFill/>
            <a:ln w="17463">
              <a:solidFill>
                <a:srgbClr val="000000"/>
              </a:solidFill>
              <a:round/>
              <a:headEnd/>
              <a:tailEnd/>
            </a:ln>
          </p:spPr>
          <p:txBody>
            <a:bodyPr/>
            <a:lstStyle/>
            <a:p>
              <a:endParaRPr lang="zh-CN" altLang="en-US"/>
            </a:p>
          </p:txBody>
        </p:sp>
        <p:sp>
          <p:nvSpPr>
            <p:cNvPr id="68" name="Freeform 41"/>
            <p:cNvSpPr>
              <a:spLocks/>
            </p:cNvSpPr>
            <p:nvPr/>
          </p:nvSpPr>
          <p:spPr bwMode="auto">
            <a:xfrm>
              <a:off x="1580" y="1411"/>
              <a:ext cx="46" cy="45"/>
            </a:xfrm>
            <a:custGeom>
              <a:avLst/>
              <a:gdLst>
                <a:gd name="T0" fmla="*/ 0 w 46"/>
                <a:gd name="T1" fmla="*/ 23 h 45"/>
                <a:gd name="T2" fmla="*/ 11 w 46"/>
                <a:gd name="T3" fmla="*/ 0 h 45"/>
                <a:gd name="T4" fmla="*/ 34 w 46"/>
                <a:gd name="T5" fmla="*/ 0 h 45"/>
                <a:gd name="T6" fmla="*/ 46 w 46"/>
                <a:gd name="T7" fmla="*/ 23 h 45"/>
                <a:gd name="T8" fmla="*/ 34 w 46"/>
                <a:gd name="T9" fmla="*/ 45 h 45"/>
                <a:gd name="T10" fmla="*/ 11 w 46"/>
                <a:gd name="T11" fmla="*/ 45 h 45"/>
                <a:gd name="T12" fmla="*/ 0 w 46"/>
                <a:gd name="T13" fmla="*/ 23 h 45"/>
                <a:gd name="T14" fmla="*/ 0 60000 65536"/>
                <a:gd name="T15" fmla="*/ 0 60000 65536"/>
                <a:gd name="T16" fmla="*/ 0 60000 65536"/>
                <a:gd name="T17" fmla="*/ 0 60000 65536"/>
                <a:gd name="T18" fmla="*/ 0 60000 65536"/>
                <a:gd name="T19" fmla="*/ 0 60000 65536"/>
                <a:gd name="T20" fmla="*/ 0 60000 65536"/>
                <a:gd name="T21" fmla="*/ 0 w 46"/>
                <a:gd name="T22" fmla="*/ 0 h 45"/>
                <a:gd name="T23" fmla="*/ 46 w 46"/>
                <a:gd name="T24" fmla="*/ 45 h 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6" h="45">
                  <a:moveTo>
                    <a:pt x="0" y="23"/>
                  </a:moveTo>
                  <a:lnTo>
                    <a:pt x="11" y="0"/>
                  </a:lnTo>
                  <a:lnTo>
                    <a:pt x="34" y="0"/>
                  </a:lnTo>
                  <a:lnTo>
                    <a:pt x="46" y="23"/>
                  </a:lnTo>
                  <a:lnTo>
                    <a:pt x="34" y="45"/>
                  </a:lnTo>
                  <a:lnTo>
                    <a:pt x="11" y="45"/>
                  </a:lnTo>
                  <a:lnTo>
                    <a:pt x="0" y="23"/>
                  </a:lnTo>
                  <a:close/>
                </a:path>
              </a:pathLst>
            </a:custGeom>
            <a:solidFill>
              <a:srgbClr val="000000"/>
            </a:solidFill>
            <a:ln w="17463">
              <a:solidFill>
                <a:srgbClr val="000000"/>
              </a:solidFill>
              <a:round/>
              <a:headEnd/>
              <a:tailEnd/>
            </a:ln>
          </p:spPr>
          <p:txBody>
            <a:bodyPr/>
            <a:lstStyle/>
            <a:p>
              <a:endParaRPr lang="zh-CN" altLang="en-US"/>
            </a:p>
          </p:txBody>
        </p:sp>
        <p:sp>
          <p:nvSpPr>
            <p:cNvPr id="69" name="Line 42"/>
            <p:cNvSpPr>
              <a:spLocks noChangeShapeType="1"/>
            </p:cNvSpPr>
            <p:nvPr/>
          </p:nvSpPr>
          <p:spPr bwMode="auto">
            <a:xfrm>
              <a:off x="1603" y="2623"/>
              <a:ext cx="2047" cy="1"/>
            </a:xfrm>
            <a:prstGeom prst="line">
              <a:avLst/>
            </a:prstGeom>
            <a:noFill/>
            <a:ln w="17463">
              <a:solidFill>
                <a:srgbClr val="000000"/>
              </a:solidFill>
              <a:round/>
              <a:headEnd/>
              <a:tailEnd/>
            </a:ln>
          </p:spPr>
          <p:txBody>
            <a:bodyPr/>
            <a:lstStyle/>
            <a:p>
              <a:endParaRPr lang="zh-CN" altLang="en-US"/>
            </a:p>
          </p:txBody>
        </p:sp>
        <p:sp>
          <p:nvSpPr>
            <p:cNvPr id="70" name="Freeform 43"/>
            <p:cNvSpPr>
              <a:spLocks/>
            </p:cNvSpPr>
            <p:nvPr/>
          </p:nvSpPr>
          <p:spPr bwMode="auto">
            <a:xfrm>
              <a:off x="1603" y="2589"/>
              <a:ext cx="137" cy="57"/>
            </a:xfrm>
            <a:custGeom>
              <a:avLst/>
              <a:gdLst>
                <a:gd name="T0" fmla="*/ 137 w 137"/>
                <a:gd name="T1" fmla="*/ 0 h 57"/>
                <a:gd name="T2" fmla="*/ 114 w 137"/>
                <a:gd name="T3" fmla="*/ 34 h 57"/>
                <a:gd name="T4" fmla="*/ 137 w 137"/>
                <a:gd name="T5" fmla="*/ 57 h 57"/>
                <a:gd name="T6" fmla="*/ 0 w 137"/>
                <a:gd name="T7" fmla="*/ 34 h 57"/>
                <a:gd name="T8" fmla="*/ 137 w 137"/>
                <a:gd name="T9" fmla="*/ 0 h 57"/>
                <a:gd name="T10" fmla="*/ 0 60000 65536"/>
                <a:gd name="T11" fmla="*/ 0 60000 65536"/>
                <a:gd name="T12" fmla="*/ 0 60000 65536"/>
                <a:gd name="T13" fmla="*/ 0 60000 65536"/>
                <a:gd name="T14" fmla="*/ 0 60000 65536"/>
                <a:gd name="T15" fmla="*/ 0 w 137"/>
                <a:gd name="T16" fmla="*/ 0 h 57"/>
                <a:gd name="T17" fmla="*/ 137 w 137"/>
                <a:gd name="T18" fmla="*/ 57 h 57"/>
              </a:gdLst>
              <a:ahLst/>
              <a:cxnLst>
                <a:cxn ang="T10">
                  <a:pos x="T0" y="T1"/>
                </a:cxn>
                <a:cxn ang="T11">
                  <a:pos x="T2" y="T3"/>
                </a:cxn>
                <a:cxn ang="T12">
                  <a:pos x="T4" y="T5"/>
                </a:cxn>
                <a:cxn ang="T13">
                  <a:pos x="T6" y="T7"/>
                </a:cxn>
                <a:cxn ang="T14">
                  <a:pos x="T8" y="T9"/>
                </a:cxn>
              </a:cxnLst>
              <a:rect l="T15" t="T16" r="T17" b="T18"/>
              <a:pathLst>
                <a:path w="137" h="57">
                  <a:moveTo>
                    <a:pt x="137" y="0"/>
                  </a:moveTo>
                  <a:lnTo>
                    <a:pt x="114" y="34"/>
                  </a:lnTo>
                  <a:lnTo>
                    <a:pt x="137" y="57"/>
                  </a:lnTo>
                  <a:lnTo>
                    <a:pt x="0" y="34"/>
                  </a:lnTo>
                  <a:lnTo>
                    <a:pt x="137" y="0"/>
                  </a:lnTo>
                  <a:close/>
                </a:path>
              </a:pathLst>
            </a:custGeom>
            <a:solidFill>
              <a:srgbClr val="000000"/>
            </a:solidFill>
            <a:ln w="17463">
              <a:solidFill>
                <a:srgbClr val="000000"/>
              </a:solidFill>
              <a:round/>
              <a:headEnd/>
              <a:tailEnd/>
            </a:ln>
          </p:spPr>
          <p:txBody>
            <a:bodyPr/>
            <a:lstStyle/>
            <a:p>
              <a:endParaRPr lang="zh-CN" altLang="en-US"/>
            </a:p>
          </p:txBody>
        </p:sp>
        <p:sp>
          <p:nvSpPr>
            <p:cNvPr id="71" name="Freeform 44"/>
            <p:cNvSpPr>
              <a:spLocks/>
            </p:cNvSpPr>
            <p:nvPr/>
          </p:nvSpPr>
          <p:spPr bwMode="auto">
            <a:xfrm>
              <a:off x="1580" y="2600"/>
              <a:ext cx="46" cy="46"/>
            </a:xfrm>
            <a:custGeom>
              <a:avLst/>
              <a:gdLst>
                <a:gd name="T0" fmla="*/ 0 w 46"/>
                <a:gd name="T1" fmla="*/ 23 h 46"/>
                <a:gd name="T2" fmla="*/ 11 w 46"/>
                <a:gd name="T3" fmla="*/ 0 h 46"/>
                <a:gd name="T4" fmla="*/ 34 w 46"/>
                <a:gd name="T5" fmla="*/ 0 h 46"/>
                <a:gd name="T6" fmla="*/ 46 w 46"/>
                <a:gd name="T7" fmla="*/ 23 h 46"/>
                <a:gd name="T8" fmla="*/ 34 w 46"/>
                <a:gd name="T9" fmla="*/ 46 h 46"/>
                <a:gd name="T10" fmla="*/ 11 w 46"/>
                <a:gd name="T11" fmla="*/ 46 h 46"/>
                <a:gd name="T12" fmla="*/ 0 w 46"/>
                <a:gd name="T13" fmla="*/ 23 h 46"/>
                <a:gd name="T14" fmla="*/ 0 60000 65536"/>
                <a:gd name="T15" fmla="*/ 0 60000 65536"/>
                <a:gd name="T16" fmla="*/ 0 60000 65536"/>
                <a:gd name="T17" fmla="*/ 0 60000 65536"/>
                <a:gd name="T18" fmla="*/ 0 60000 65536"/>
                <a:gd name="T19" fmla="*/ 0 60000 65536"/>
                <a:gd name="T20" fmla="*/ 0 60000 65536"/>
                <a:gd name="T21" fmla="*/ 0 w 46"/>
                <a:gd name="T22" fmla="*/ 0 h 46"/>
                <a:gd name="T23" fmla="*/ 46 w 46"/>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6" h="46">
                  <a:moveTo>
                    <a:pt x="0" y="23"/>
                  </a:moveTo>
                  <a:lnTo>
                    <a:pt x="11" y="0"/>
                  </a:lnTo>
                  <a:lnTo>
                    <a:pt x="34" y="0"/>
                  </a:lnTo>
                  <a:lnTo>
                    <a:pt x="46" y="23"/>
                  </a:lnTo>
                  <a:lnTo>
                    <a:pt x="34" y="46"/>
                  </a:lnTo>
                  <a:lnTo>
                    <a:pt x="11" y="46"/>
                  </a:lnTo>
                  <a:lnTo>
                    <a:pt x="0" y="23"/>
                  </a:lnTo>
                  <a:close/>
                </a:path>
              </a:pathLst>
            </a:custGeom>
            <a:solidFill>
              <a:srgbClr val="000000"/>
            </a:solidFill>
            <a:ln w="17463">
              <a:solidFill>
                <a:srgbClr val="000000"/>
              </a:solidFill>
              <a:round/>
              <a:headEnd/>
              <a:tailEnd/>
            </a:ln>
          </p:spPr>
          <p:txBody>
            <a:bodyPr/>
            <a:lstStyle/>
            <a:p>
              <a:endParaRPr lang="zh-CN" altLang="en-US"/>
            </a:p>
          </p:txBody>
        </p:sp>
        <p:sp>
          <p:nvSpPr>
            <p:cNvPr id="72" name="Rectangle 45"/>
            <p:cNvSpPr>
              <a:spLocks noChangeArrowheads="1"/>
            </p:cNvSpPr>
            <p:nvPr/>
          </p:nvSpPr>
          <p:spPr bwMode="auto">
            <a:xfrm>
              <a:off x="3364" y="2406"/>
              <a:ext cx="128" cy="164"/>
            </a:xfrm>
            <a:prstGeom prst="rect">
              <a:avLst/>
            </a:prstGeom>
            <a:noFill/>
            <a:ln w="9525">
              <a:noFill/>
              <a:miter lim="800000"/>
              <a:headEnd/>
              <a:tailEnd/>
            </a:ln>
          </p:spPr>
          <p:txBody>
            <a:bodyPr wrap="none" lIns="0" tIns="0" rIns="0" bIns="0">
              <a:spAutoFit/>
            </a:bodyPr>
            <a:lstStyle/>
            <a:p>
              <a:r>
                <a:rPr lang="zh-CN" altLang="en-US" sz="1400" dirty="0">
                  <a:solidFill>
                    <a:srgbClr val="000000"/>
                  </a:solidFill>
                  <a:latin typeface="宋体" pitchFamily="2" charset="-122"/>
                </a:rPr>
                <a:t>是</a:t>
              </a:r>
            </a:p>
          </p:txBody>
        </p:sp>
        <p:sp>
          <p:nvSpPr>
            <p:cNvPr id="73" name="Rectangle 46"/>
            <p:cNvSpPr>
              <a:spLocks noChangeArrowheads="1"/>
            </p:cNvSpPr>
            <p:nvPr/>
          </p:nvSpPr>
          <p:spPr bwMode="auto">
            <a:xfrm>
              <a:off x="1397" y="1216"/>
              <a:ext cx="256" cy="164"/>
            </a:xfrm>
            <a:prstGeom prst="rect">
              <a:avLst/>
            </a:prstGeom>
            <a:noFill/>
            <a:ln w="9525">
              <a:noFill/>
              <a:miter lim="800000"/>
              <a:headEnd/>
              <a:tailEnd/>
            </a:ln>
          </p:spPr>
          <p:txBody>
            <a:bodyPr wrap="none" lIns="0" tIns="0" rIns="0" bIns="0">
              <a:spAutoFit/>
            </a:bodyPr>
            <a:lstStyle/>
            <a:p>
              <a:r>
                <a:rPr lang="zh-CN" altLang="en-US" sz="1400" dirty="0">
                  <a:solidFill>
                    <a:srgbClr val="000000"/>
                  </a:solidFill>
                  <a:latin typeface="宋体" pitchFamily="2" charset="-122"/>
                </a:rPr>
                <a:t>开始</a:t>
              </a:r>
              <a:endParaRPr lang="zh-CN" altLang="en-US" sz="1400" dirty="0"/>
            </a:p>
          </p:txBody>
        </p:sp>
      </p:grpSp>
      <p:sp>
        <p:nvSpPr>
          <p:cNvPr id="74" name="文本框 19"/>
          <p:cNvSpPr txBox="1">
            <a:spLocks noChangeArrowheads="1"/>
          </p:cNvSpPr>
          <p:nvPr/>
        </p:nvSpPr>
        <p:spPr bwMode="auto">
          <a:xfrm>
            <a:off x="1097584" y="5530070"/>
            <a:ext cx="560443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Blip>
                <a:blip r:embed="rId3"/>
              </a:buBlip>
            </a:pPr>
            <a:r>
              <a:rPr lang="zh-CN" altLang="en-US" sz="2400" dirty="0"/>
              <a:t>自动性</a:t>
            </a:r>
            <a:endParaRPr lang="en-US" altLang="zh-CN" sz="2400" dirty="0"/>
          </a:p>
          <a:p>
            <a:pPr eaLnBrk="1" hangingPunct="1">
              <a:buBlip>
                <a:blip r:embed="rId3"/>
              </a:buBlip>
            </a:pPr>
            <a:r>
              <a:rPr lang="zh-CN" altLang="en-US" sz="2400" dirty="0"/>
              <a:t>顺序性</a:t>
            </a:r>
            <a:endParaRPr lang="en-US" altLang="zh-CN" sz="2400" dirty="0"/>
          </a:p>
          <a:p>
            <a:pPr eaLnBrk="1" hangingPunct="1">
              <a:buBlip>
                <a:blip r:embed="rId3"/>
              </a:buBlip>
            </a:pPr>
            <a:r>
              <a:rPr lang="zh-CN" altLang="en-US" sz="2400" dirty="0"/>
              <a:t>单道性</a:t>
            </a:r>
            <a:endParaRPr lang="en-US" altLang="zh-CN" sz="2400" dirty="0"/>
          </a:p>
        </p:txBody>
      </p:sp>
      <p:sp>
        <p:nvSpPr>
          <p:cNvPr id="75" name="Text Box 4"/>
          <p:cNvSpPr txBox="1">
            <a:spLocks noChangeArrowheads="1"/>
          </p:cNvSpPr>
          <p:nvPr/>
        </p:nvSpPr>
        <p:spPr bwMode="auto">
          <a:xfrm>
            <a:off x="5900489" y="2375643"/>
            <a:ext cx="902811" cy="307777"/>
          </a:xfrm>
          <a:prstGeom prst="rect">
            <a:avLst/>
          </a:prstGeom>
          <a:noFill/>
          <a:ln w="9525">
            <a:noFill/>
            <a:miter lim="800000"/>
            <a:headEnd/>
            <a:tailEnd/>
          </a:ln>
          <a:effectLst/>
        </p:spPr>
        <p:txBody>
          <a:bodyPr wrap="none">
            <a:spAutoFit/>
          </a:bodyPr>
          <a:lstStyle/>
          <a:p>
            <a:pPr algn="ctr" eaLnBrk="1" hangingPunct="1"/>
            <a:r>
              <a:rPr lang="zh-CN" altLang="zh-CN" sz="1400" b="1" dirty="0">
                <a:latin typeface="楷体_GB2312" pitchFamily="49" charset="-122"/>
                <a:ea typeface="楷体_GB2312" pitchFamily="49" charset="-122"/>
              </a:rPr>
              <a:t>用户程序</a:t>
            </a:r>
          </a:p>
        </p:txBody>
      </p:sp>
      <p:sp>
        <p:nvSpPr>
          <p:cNvPr id="76" name="Text Box 5"/>
          <p:cNvSpPr txBox="1">
            <a:spLocks noChangeArrowheads="1"/>
          </p:cNvSpPr>
          <p:nvPr/>
        </p:nvSpPr>
        <p:spPr bwMode="auto">
          <a:xfrm>
            <a:off x="5900489" y="2983332"/>
            <a:ext cx="902811" cy="307777"/>
          </a:xfrm>
          <a:prstGeom prst="rect">
            <a:avLst/>
          </a:prstGeom>
          <a:noFill/>
          <a:ln w="9525">
            <a:noFill/>
            <a:miter lim="800000"/>
            <a:headEnd/>
            <a:tailEnd/>
          </a:ln>
          <a:effectLst/>
        </p:spPr>
        <p:txBody>
          <a:bodyPr wrap="none">
            <a:spAutoFit/>
          </a:bodyPr>
          <a:lstStyle/>
          <a:p>
            <a:pPr algn="ctr"/>
            <a:r>
              <a:rPr lang="zh-CN" altLang="zh-CN" sz="1400" b="1" dirty="0">
                <a:latin typeface="楷体_GB2312" pitchFamily="49" charset="-122"/>
                <a:ea typeface="楷体_GB2312" pitchFamily="49" charset="-122"/>
              </a:rPr>
              <a:t>监督程序</a:t>
            </a:r>
          </a:p>
        </p:txBody>
      </p:sp>
      <p:sp>
        <p:nvSpPr>
          <p:cNvPr id="77" name="Text Box 6"/>
          <p:cNvSpPr txBox="1">
            <a:spLocks noChangeArrowheads="1"/>
          </p:cNvSpPr>
          <p:nvPr/>
        </p:nvSpPr>
        <p:spPr bwMode="auto">
          <a:xfrm>
            <a:off x="5954543" y="3495787"/>
            <a:ext cx="813043" cy="307777"/>
          </a:xfrm>
          <a:prstGeom prst="rect">
            <a:avLst/>
          </a:prstGeom>
          <a:noFill/>
          <a:ln w="9525">
            <a:noFill/>
            <a:miter lim="800000"/>
            <a:headEnd/>
            <a:tailEnd/>
          </a:ln>
          <a:effectLst/>
        </p:spPr>
        <p:txBody>
          <a:bodyPr wrap="none">
            <a:spAutoFit/>
          </a:bodyPr>
          <a:lstStyle/>
          <a:p>
            <a:pPr algn="ctr"/>
            <a:r>
              <a:rPr lang="zh-CN" altLang="zh-CN" sz="1400" b="1" dirty="0">
                <a:latin typeface="楷体_GB2312" pitchFamily="49" charset="-122"/>
                <a:ea typeface="楷体_GB2312" pitchFamily="49" charset="-122"/>
              </a:rPr>
              <a:t>I/O操作</a:t>
            </a:r>
          </a:p>
        </p:txBody>
      </p:sp>
      <p:sp>
        <p:nvSpPr>
          <p:cNvPr id="78" name="Line 7"/>
          <p:cNvSpPr>
            <a:spLocks noChangeShapeType="1"/>
          </p:cNvSpPr>
          <p:nvPr/>
        </p:nvSpPr>
        <p:spPr bwMode="auto">
          <a:xfrm>
            <a:off x="6775989" y="2505495"/>
            <a:ext cx="936625" cy="0"/>
          </a:xfrm>
          <a:prstGeom prst="line">
            <a:avLst/>
          </a:prstGeom>
          <a:noFill/>
          <a:ln w="76200">
            <a:solidFill>
              <a:srgbClr val="3399FF"/>
            </a:solidFill>
            <a:round/>
            <a:headEnd/>
            <a:tailEnd/>
          </a:ln>
          <a:effectLst/>
        </p:spPr>
        <p:txBody>
          <a:bodyPr/>
          <a:lstStyle/>
          <a:p>
            <a:endParaRPr lang="zh-CN" altLang="en-US"/>
          </a:p>
        </p:txBody>
      </p:sp>
      <p:sp>
        <p:nvSpPr>
          <p:cNvPr id="79" name="Line 8"/>
          <p:cNvSpPr>
            <a:spLocks noChangeShapeType="1"/>
          </p:cNvSpPr>
          <p:nvPr/>
        </p:nvSpPr>
        <p:spPr bwMode="auto">
          <a:xfrm>
            <a:off x="7711026" y="3136287"/>
            <a:ext cx="936625" cy="0"/>
          </a:xfrm>
          <a:prstGeom prst="line">
            <a:avLst/>
          </a:prstGeom>
          <a:noFill/>
          <a:ln w="76200">
            <a:solidFill>
              <a:srgbClr val="3399FF"/>
            </a:solidFill>
            <a:round/>
            <a:headEnd/>
            <a:tailEnd/>
          </a:ln>
          <a:effectLst/>
        </p:spPr>
        <p:txBody>
          <a:bodyPr/>
          <a:lstStyle/>
          <a:p>
            <a:endParaRPr lang="zh-CN" altLang="en-US"/>
          </a:p>
        </p:txBody>
      </p:sp>
      <p:sp>
        <p:nvSpPr>
          <p:cNvPr id="80" name="Line 9"/>
          <p:cNvSpPr>
            <a:spLocks noChangeShapeType="1"/>
          </p:cNvSpPr>
          <p:nvPr/>
        </p:nvSpPr>
        <p:spPr bwMode="auto">
          <a:xfrm>
            <a:off x="7711026" y="2505495"/>
            <a:ext cx="2204" cy="592734"/>
          </a:xfrm>
          <a:prstGeom prst="line">
            <a:avLst/>
          </a:prstGeom>
          <a:noFill/>
          <a:ln w="28575">
            <a:solidFill>
              <a:schemeClr val="tx1"/>
            </a:solidFill>
            <a:prstDash val="dash"/>
            <a:round/>
            <a:headEnd/>
            <a:tailEnd/>
          </a:ln>
          <a:effectLst/>
        </p:spPr>
        <p:txBody>
          <a:bodyPr/>
          <a:lstStyle/>
          <a:p>
            <a:endParaRPr lang="zh-CN" altLang="en-US"/>
          </a:p>
        </p:txBody>
      </p:sp>
      <p:sp>
        <p:nvSpPr>
          <p:cNvPr id="81" name="Line 10"/>
          <p:cNvSpPr>
            <a:spLocks noChangeShapeType="1"/>
          </p:cNvSpPr>
          <p:nvPr/>
        </p:nvSpPr>
        <p:spPr bwMode="auto">
          <a:xfrm>
            <a:off x="8647651" y="3125529"/>
            <a:ext cx="12252" cy="510583"/>
          </a:xfrm>
          <a:prstGeom prst="line">
            <a:avLst/>
          </a:prstGeom>
          <a:noFill/>
          <a:ln w="28575">
            <a:solidFill>
              <a:schemeClr val="tx1"/>
            </a:solidFill>
            <a:prstDash val="dash"/>
            <a:round/>
            <a:headEnd/>
            <a:tailEnd/>
          </a:ln>
          <a:effectLst/>
        </p:spPr>
        <p:txBody>
          <a:bodyPr/>
          <a:lstStyle/>
          <a:p>
            <a:endParaRPr lang="zh-CN" altLang="en-US"/>
          </a:p>
        </p:txBody>
      </p:sp>
      <p:sp>
        <p:nvSpPr>
          <p:cNvPr id="82" name="Line 11"/>
          <p:cNvSpPr>
            <a:spLocks noChangeShapeType="1"/>
          </p:cNvSpPr>
          <p:nvPr/>
        </p:nvSpPr>
        <p:spPr bwMode="auto">
          <a:xfrm>
            <a:off x="8647651" y="3684884"/>
            <a:ext cx="1295400" cy="0"/>
          </a:xfrm>
          <a:prstGeom prst="line">
            <a:avLst/>
          </a:prstGeom>
          <a:noFill/>
          <a:ln w="76200">
            <a:solidFill>
              <a:srgbClr val="3399FF"/>
            </a:solidFill>
            <a:round/>
            <a:headEnd/>
            <a:tailEnd/>
          </a:ln>
          <a:effectLst/>
        </p:spPr>
        <p:txBody>
          <a:bodyPr/>
          <a:lstStyle/>
          <a:p>
            <a:endParaRPr lang="zh-CN" altLang="en-US"/>
          </a:p>
        </p:txBody>
      </p:sp>
      <p:sp>
        <p:nvSpPr>
          <p:cNvPr id="83" name="Line 12"/>
          <p:cNvSpPr>
            <a:spLocks noChangeShapeType="1"/>
          </p:cNvSpPr>
          <p:nvPr/>
        </p:nvSpPr>
        <p:spPr bwMode="auto">
          <a:xfrm flipH="1">
            <a:off x="9940063" y="3147046"/>
            <a:ext cx="2988" cy="564370"/>
          </a:xfrm>
          <a:prstGeom prst="line">
            <a:avLst/>
          </a:prstGeom>
          <a:noFill/>
          <a:ln w="28575">
            <a:solidFill>
              <a:schemeClr val="tx1"/>
            </a:solidFill>
            <a:prstDash val="dash"/>
            <a:round/>
            <a:headEnd/>
            <a:tailEnd/>
          </a:ln>
          <a:effectLst/>
        </p:spPr>
        <p:txBody>
          <a:bodyPr/>
          <a:lstStyle/>
          <a:p>
            <a:endParaRPr lang="zh-CN" altLang="en-US"/>
          </a:p>
        </p:txBody>
      </p:sp>
      <p:sp>
        <p:nvSpPr>
          <p:cNvPr id="84" name="Line 13"/>
          <p:cNvSpPr>
            <a:spLocks noChangeShapeType="1"/>
          </p:cNvSpPr>
          <p:nvPr/>
        </p:nvSpPr>
        <p:spPr bwMode="auto">
          <a:xfrm>
            <a:off x="9943051" y="3136287"/>
            <a:ext cx="865188" cy="0"/>
          </a:xfrm>
          <a:prstGeom prst="line">
            <a:avLst/>
          </a:prstGeom>
          <a:noFill/>
          <a:ln w="76200">
            <a:solidFill>
              <a:srgbClr val="3399FF"/>
            </a:solidFill>
            <a:round/>
            <a:headEnd/>
            <a:tailEnd/>
          </a:ln>
          <a:effectLst/>
        </p:spPr>
        <p:txBody>
          <a:bodyPr/>
          <a:lstStyle/>
          <a:p>
            <a:endParaRPr lang="zh-CN" altLang="en-US"/>
          </a:p>
        </p:txBody>
      </p:sp>
      <p:sp>
        <p:nvSpPr>
          <p:cNvPr id="85" name="Line 14"/>
          <p:cNvSpPr>
            <a:spLocks noChangeShapeType="1"/>
          </p:cNvSpPr>
          <p:nvPr/>
        </p:nvSpPr>
        <p:spPr bwMode="auto">
          <a:xfrm>
            <a:off x="10808238" y="2505495"/>
            <a:ext cx="3193" cy="625007"/>
          </a:xfrm>
          <a:prstGeom prst="line">
            <a:avLst/>
          </a:prstGeom>
          <a:noFill/>
          <a:ln w="28575">
            <a:solidFill>
              <a:schemeClr val="tx1"/>
            </a:solidFill>
            <a:prstDash val="dash"/>
            <a:round/>
            <a:headEnd/>
            <a:tailEnd/>
          </a:ln>
          <a:effectLst/>
        </p:spPr>
        <p:txBody>
          <a:bodyPr/>
          <a:lstStyle/>
          <a:p>
            <a:endParaRPr lang="zh-CN" altLang="en-US"/>
          </a:p>
        </p:txBody>
      </p:sp>
      <p:sp>
        <p:nvSpPr>
          <p:cNvPr id="86" name="Line 15"/>
          <p:cNvSpPr>
            <a:spLocks noChangeShapeType="1"/>
          </p:cNvSpPr>
          <p:nvPr/>
        </p:nvSpPr>
        <p:spPr bwMode="auto">
          <a:xfrm>
            <a:off x="10808240" y="2537769"/>
            <a:ext cx="874562" cy="1063"/>
          </a:xfrm>
          <a:prstGeom prst="line">
            <a:avLst/>
          </a:prstGeom>
          <a:noFill/>
          <a:ln w="76200">
            <a:solidFill>
              <a:srgbClr val="3399FF"/>
            </a:solidFill>
            <a:round/>
            <a:headEnd/>
            <a:tailEnd/>
          </a:ln>
          <a:effectLst/>
        </p:spPr>
        <p:txBody>
          <a:bodyPr/>
          <a:lstStyle/>
          <a:p>
            <a:endParaRPr lang="zh-CN" altLang="en-US"/>
          </a:p>
        </p:txBody>
      </p:sp>
      <p:sp>
        <p:nvSpPr>
          <p:cNvPr id="87" name="Text Box 16"/>
          <p:cNvSpPr txBox="1">
            <a:spLocks noChangeArrowheads="1"/>
          </p:cNvSpPr>
          <p:nvPr/>
        </p:nvSpPr>
        <p:spPr bwMode="auto">
          <a:xfrm>
            <a:off x="6921632" y="2146165"/>
            <a:ext cx="543739" cy="307777"/>
          </a:xfrm>
          <a:prstGeom prst="rect">
            <a:avLst/>
          </a:prstGeom>
          <a:noFill/>
          <a:ln w="9525">
            <a:noFill/>
            <a:miter lim="800000"/>
            <a:headEnd/>
            <a:tailEnd/>
          </a:ln>
          <a:effectLst/>
        </p:spPr>
        <p:txBody>
          <a:bodyPr wrap="none">
            <a:spAutoFit/>
          </a:bodyPr>
          <a:lstStyle/>
          <a:p>
            <a:pPr algn="ctr" eaLnBrk="1" hangingPunct="1"/>
            <a:r>
              <a:rPr lang="zh-CN" altLang="zh-CN" sz="1400" dirty="0">
                <a:latin typeface="楷体_GB2312" pitchFamily="49" charset="-122"/>
                <a:ea typeface="楷体_GB2312" pitchFamily="49" charset="-122"/>
              </a:rPr>
              <a:t>计算</a:t>
            </a:r>
          </a:p>
        </p:txBody>
      </p:sp>
      <p:sp>
        <p:nvSpPr>
          <p:cNvPr id="88" name="Text Box 17"/>
          <p:cNvSpPr txBox="1">
            <a:spLocks noChangeArrowheads="1"/>
          </p:cNvSpPr>
          <p:nvPr/>
        </p:nvSpPr>
        <p:spPr bwMode="auto">
          <a:xfrm>
            <a:off x="7763941" y="2362566"/>
            <a:ext cx="902811" cy="307777"/>
          </a:xfrm>
          <a:prstGeom prst="rect">
            <a:avLst/>
          </a:prstGeom>
          <a:noFill/>
          <a:ln w="9525">
            <a:noFill/>
            <a:miter lim="800000"/>
            <a:headEnd/>
            <a:tailEnd/>
          </a:ln>
          <a:effectLst/>
        </p:spPr>
        <p:txBody>
          <a:bodyPr wrap="none">
            <a:spAutoFit/>
          </a:bodyPr>
          <a:lstStyle/>
          <a:p>
            <a:pPr algn="ctr" eaLnBrk="1" hangingPunct="1"/>
            <a:r>
              <a:rPr lang="zh-CN" altLang="zh-CN" sz="1400" dirty="0">
                <a:latin typeface="楷体_GB2312" pitchFamily="49" charset="-122"/>
                <a:ea typeface="楷体_GB2312" pitchFamily="49" charset="-122"/>
              </a:rPr>
              <a:t>请求输入</a:t>
            </a:r>
          </a:p>
        </p:txBody>
      </p:sp>
      <p:sp>
        <p:nvSpPr>
          <p:cNvPr id="89" name="Text Box 18"/>
          <p:cNvSpPr txBox="1">
            <a:spLocks noChangeArrowheads="1"/>
          </p:cNvSpPr>
          <p:nvPr/>
        </p:nvSpPr>
        <p:spPr bwMode="auto">
          <a:xfrm>
            <a:off x="7725562" y="2770438"/>
            <a:ext cx="813043" cy="307777"/>
          </a:xfrm>
          <a:prstGeom prst="rect">
            <a:avLst/>
          </a:prstGeom>
          <a:noFill/>
          <a:ln w="9525">
            <a:noFill/>
            <a:miter lim="800000"/>
            <a:headEnd/>
            <a:tailEnd/>
          </a:ln>
          <a:effectLst/>
        </p:spPr>
        <p:txBody>
          <a:bodyPr wrap="none">
            <a:spAutoFit/>
          </a:bodyPr>
          <a:lstStyle/>
          <a:p>
            <a:pPr algn="ctr" eaLnBrk="1" hangingPunct="1"/>
            <a:r>
              <a:rPr lang="zh-CN" altLang="zh-CN" sz="1400" dirty="0">
                <a:latin typeface="楷体_GB2312" pitchFamily="49" charset="-122"/>
                <a:ea typeface="楷体_GB2312" pitchFamily="49" charset="-122"/>
              </a:rPr>
              <a:t>启动I/O</a:t>
            </a:r>
          </a:p>
        </p:txBody>
      </p:sp>
      <p:sp>
        <p:nvSpPr>
          <p:cNvPr id="90" name="Text Box 19"/>
          <p:cNvSpPr txBox="1">
            <a:spLocks noChangeArrowheads="1"/>
          </p:cNvSpPr>
          <p:nvPr/>
        </p:nvSpPr>
        <p:spPr bwMode="auto">
          <a:xfrm>
            <a:off x="9963692" y="3452027"/>
            <a:ext cx="902811" cy="307777"/>
          </a:xfrm>
          <a:prstGeom prst="rect">
            <a:avLst/>
          </a:prstGeom>
          <a:noFill/>
          <a:ln w="9525">
            <a:noFill/>
            <a:miter lim="800000"/>
            <a:headEnd/>
            <a:tailEnd/>
          </a:ln>
          <a:effectLst/>
        </p:spPr>
        <p:txBody>
          <a:bodyPr wrap="none">
            <a:spAutoFit/>
          </a:bodyPr>
          <a:lstStyle/>
          <a:p>
            <a:pPr algn="ctr" eaLnBrk="1" hangingPunct="1"/>
            <a:r>
              <a:rPr lang="zh-CN" altLang="zh-CN" sz="1400" dirty="0">
                <a:latin typeface="楷体_GB2312" pitchFamily="49" charset="-122"/>
                <a:ea typeface="楷体_GB2312" pitchFamily="49" charset="-122"/>
              </a:rPr>
              <a:t>结束中断</a:t>
            </a:r>
          </a:p>
        </p:txBody>
      </p:sp>
      <p:sp>
        <p:nvSpPr>
          <p:cNvPr id="91" name="Text Box 20"/>
          <p:cNvSpPr txBox="1">
            <a:spLocks noChangeArrowheads="1"/>
          </p:cNvSpPr>
          <p:nvPr/>
        </p:nvSpPr>
        <p:spPr bwMode="auto">
          <a:xfrm>
            <a:off x="9976066" y="2813470"/>
            <a:ext cx="813043" cy="307777"/>
          </a:xfrm>
          <a:prstGeom prst="rect">
            <a:avLst/>
          </a:prstGeom>
          <a:noFill/>
          <a:ln w="9525">
            <a:noFill/>
            <a:miter lim="800000"/>
            <a:headEnd/>
            <a:tailEnd/>
          </a:ln>
          <a:effectLst/>
        </p:spPr>
        <p:txBody>
          <a:bodyPr wrap="none">
            <a:spAutoFit/>
          </a:bodyPr>
          <a:lstStyle/>
          <a:p>
            <a:pPr algn="ctr" eaLnBrk="1" hangingPunct="1"/>
            <a:r>
              <a:rPr lang="zh-CN" altLang="zh-CN" sz="1400" dirty="0">
                <a:latin typeface="楷体_GB2312" pitchFamily="49" charset="-122"/>
                <a:ea typeface="楷体_GB2312" pitchFamily="49" charset="-122"/>
              </a:rPr>
              <a:t>I/O完成</a:t>
            </a:r>
          </a:p>
        </p:txBody>
      </p:sp>
      <p:sp>
        <p:nvSpPr>
          <p:cNvPr id="92" name="Text Box 21"/>
          <p:cNvSpPr txBox="1">
            <a:spLocks noChangeArrowheads="1"/>
          </p:cNvSpPr>
          <p:nvPr/>
        </p:nvSpPr>
        <p:spPr bwMode="auto">
          <a:xfrm>
            <a:off x="10797834" y="2171915"/>
            <a:ext cx="902811" cy="307777"/>
          </a:xfrm>
          <a:prstGeom prst="rect">
            <a:avLst/>
          </a:prstGeom>
          <a:noFill/>
          <a:ln w="9525">
            <a:noFill/>
            <a:miter lim="800000"/>
            <a:headEnd/>
            <a:tailEnd/>
          </a:ln>
          <a:effectLst/>
        </p:spPr>
        <p:txBody>
          <a:bodyPr wrap="none">
            <a:spAutoFit/>
          </a:bodyPr>
          <a:lstStyle/>
          <a:p>
            <a:pPr algn="ctr" eaLnBrk="1" hangingPunct="1"/>
            <a:r>
              <a:rPr lang="zh-CN" altLang="zh-CN" sz="1400" dirty="0">
                <a:latin typeface="楷体_GB2312" pitchFamily="49" charset="-122"/>
                <a:ea typeface="楷体_GB2312" pitchFamily="49" charset="-122"/>
              </a:rPr>
              <a:t>继续计算</a:t>
            </a:r>
          </a:p>
        </p:txBody>
      </p:sp>
      <p:sp>
        <p:nvSpPr>
          <p:cNvPr id="93" name="文本框 56"/>
          <p:cNvSpPr txBox="1">
            <a:spLocks noChangeArrowheads="1"/>
          </p:cNvSpPr>
          <p:nvPr/>
        </p:nvSpPr>
        <p:spPr bwMode="auto">
          <a:xfrm>
            <a:off x="5940515" y="1169309"/>
            <a:ext cx="1920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运行情况</a:t>
            </a:r>
          </a:p>
        </p:txBody>
      </p:sp>
      <p:sp>
        <p:nvSpPr>
          <p:cNvPr id="94" name="文本框 19"/>
          <p:cNvSpPr txBox="1">
            <a:spLocks noChangeArrowheads="1"/>
          </p:cNvSpPr>
          <p:nvPr/>
        </p:nvSpPr>
        <p:spPr bwMode="auto">
          <a:xfrm>
            <a:off x="7127640" y="5581289"/>
            <a:ext cx="327818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Blip>
                <a:blip r:embed="rId3"/>
              </a:buBlip>
            </a:pPr>
            <a:r>
              <a:rPr lang="zh-CN" altLang="en-US" sz="2400" dirty="0"/>
              <a:t>单个作业独占处理器</a:t>
            </a:r>
            <a:endParaRPr lang="en-US" altLang="zh-CN" sz="2400" dirty="0"/>
          </a:p>
          <a:p>
            <a:pPr eaLnBrk="1" hangingPunct="1">
              <a:buBlip>
                <a:blip r:embed="rId3"/>
              </a:buBlip>
            </a:pPr>
            <a:r>
              <a:rPr lang="zh-CN" altLang="en-US" sz="2400" dirty="0"/>
              <a:t>对短作业不公平</a:t>
            </a:r>
            <a:endParaRPr lang="en-US" altLang="zh-CN" sz="2400" dirty="0"/>
          </a:p>
          <a:p>
            <a:pPr eaLnBrk="1" hangingPunct="1">
              <a:buBlip>
                <a:blip r:embed="rId3"/>
              </a:buBlip>
            </a:pPr>
            <a:r>
              <a:rPr lang="zh-CN" altLang="en-US" sz="2400" dirty="0"/>
              <a:t>交互性差</a:t>
            </a:r>
            <a:endParaRPr lang="en-US" altLang="zh-CN" sz="2400" dirty="0"/>
          </a:p>
        </p:txBody>
      </p:sp>
      <p:sp>
        <p:nvSpPr>
          <p:cNvPr id="95" name="文本框 56"/>
          <p:cNvSpPr txBox="1">
            <a:spLocks noChangeArrowheads="1"/>
          </p:cNvSpPr>
          <p:nvPr/>
        </p:nvSpPr>
        <p:spPr bwMode="auto">
          <a:xfrm>
            <a:off x="1015306" y="1149599"/>
            <a:ext cx="1920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处理流程</a:t>
            </a:r>
          </a:p>
        </p:txBody>
      </p:sp>
      <p:sp>
        <p:nvSpPr>
          <p:cNvPr id="97" name="矩形 96"/>
          <p:cNvSpPr/>
          <p:nvPr/>
        </p:nvSpPr>
        <p:spPr>
          <a:xfrm>
            <a:off x="1127294" y="1647713"/>
            <a:ext cx="1196358" cy="138056"/>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98" name="矩形 97"/>
          <p:cNvSpPr/>
          <p:nvPr/>
        </p:nvSpPr>
        <p:spPr>
          <a:xfrm>
            <a:off x="6034574" y="1649505"/>
            <a:ext cx="1196358" cy="138056"/>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99" name="Line 11"/>
          <p:cNvSpPr>
            <a:spLocks noChangeShapeType="1"/>
          </p:cNvSpPr>
          <p:nvPr/>
        </p:nvSpPr>
        <p:spPr bwMode="auto">
          <a:xfrm flipV="1">
            <a:off x="6831401" y="4389120"/>
            <a:ext cx="4840645" cy="29077"/>
          </a:xfrm>
          <a:prstGeom prst="line">
            <a:avLst/>
          </a:prstGeom>
          <a:noFill/>
          <a:ln w="76200">
            <a:solidFill>
              <a:srgbClr val="3399FF"/>
            </a:solidFill>
            <a:round/>
            <a:headEnd/>
            <a:tailEnd type="triangle"/>
          </a:ln>
          <a:effectLst/>
        </p:spPr>
        <p:txBody>
          <a:bodyPr/>
          <a:lstStyle/>
          <a:p>
            <a:endParaRPr lang="zh-CN" altLang="en-US"/>
          </a:p>
        </p:txBody>
      </p:sp>
      <p:sp>
        <p:nvSpPr>
          <p:cNvPr id="100" name="Text Box 19"/>
          <p:cNvSpPr txBox="1">
            <a:spLocks noChangeArrowheads="1"/>
          </p:cNvSpPr>
          <p:nvPr/>
        </p:nvSpPr>
        <p:spPr bwMode="auto">
          <a:xfrm>
            <a:off x="11032942" y="3916409"/>
            <a:ext cx="338555" cy="461665"/>
          </a:xfrm>
          <a:prstGeom prst="rect">
            <a:avLst/>
          </a:prstGeom>
          <a:noFill/>
          <a:ln w="9525">
            <a:noFill/>
            <a:miter lim="800000"/>
            <a:headEnd/>
            <a:tailEnd/>
          </a:ln>
          <a:effectLst/>
        </p:spPr>
        <p:txBody>
          <a:bodyPr wrap="none">
            <a:spAutoFit/>
          </a:bodyPr>
          <a:lstStyle/>
          <a:p>
            <a:pPr algn="ctr" eaLnBrk="1" hangingPunct="1"/>
            <a:r>
              <a:rPr lang="en-US" altLang="zh-CN" sz="2400" b="1" dirty="0">
                <a:latin typeface="楷体_GB2312" pitchFamily="49" charset="-122"/>
                <a:ea typeface="楷体_GB2312" pitchFamily="49" charset="-122"/>
              </a:rPr>
              <a:t>t</a:t>
            </a:r>
            <a:endParaRPr lang="zh-CN" altLang="zh-CN" sz="2400" b="1" dirty="0">
              <a:latin typeface="楷体_GB2312" pitchFamily="49" charset="-122"/>
              <a:ea typeface="楷体_GB2312" pitchFamily="49" charset="-122"/>
            </a:endParaRPr>
          </a:p>
        </p:txBody>
      </p:sp>
    </p:spTree>
    <p:extLst>
      <p:ext uri="{BB962C8B-B14F-4D97-AF65-F5344CB8AC3E}">
        <p14:creationId xmlns:p14="http://schemas.microsoft.com/office/powerpoint/2010/main" val="2197103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checkerboard(across)">
                                      <p:cBhvr>
                                        <p:cTn id="7" dur="500"/>
                                        <p:tgtEl>
                                          <p:spTgt spid="78"/>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87"/>
                                        </p:tgtEl>
                                        <p:attrNameLst>
                                          <p:attrName>style.visibility</p:attrName>
                                        </p:attrNameLst>
                                      </p:cBhvr>
                                      <p:to>
                                        <p:strVal val="visible"/>
                                      </p:to>
                                    </p:set>
                                    <p:animEffect transition="in" filter="checkerboard(across)">
                                      <p:cBhvr>
                                        <p:cTn id="10" dur="500"/>
                                        <p:tgtEl>
                                          <p:spTgt spid="87"/>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88"/>
                                        </p:tgtEl>
                                        <p:attrNameLst>
                                          <p:attrName>style.visibility</p:attrName>
                                        </p:attrNameLst>
                                      </p:cBhvr>
                                      <p:to>
                                        <p:strVal val="visible"/>
                                      </p:to>
                                    </p:set>
                                    <p:animEffect transition="in" filter="checkerboard(across)">
                                      <p:cBhvr>
                                        <p:cTn id="15" dur="500"/>
                                        <p:tgtEl>
                                          <p:spTgt spid="88"/>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79"/>
                                        </p:tgtEl>
                                        <p:attrNameLst>
                                          <p:attrName>style.visibility</p:attrName>
                                        </p:attrNameLst>
                                      </p:cBhvr>
                                      <p:to>
                                        <p:strVal val="visible"/>
                                      </p:to>
                                    </p:set>
                                    <p:animEffect transition="in" filter="checkerboard(across)">
                                      <p:cBhvr>
                                        <p:cTn id="20" dur="500"/>
                                        <p:tgtEl>
                                          <p:spTgt spid="79"/>
                                        </p:tgtEl>
                                      </p:cBhvr>
                                    </p:animEffect>
                                  </p:childTnLst>
                                </p:cTn>
                              </p:par>
                              <p:par>
                                <p:cTn id="21" presetID="5" presetClass="entr" presetSubtype="10" fill="hold" grpId="0" nodeType="withEffect">
                                  <p:stCondLst>
                                    <p:cond delay="0"/>
                                  </p:stCondLst>
                                  <p:childTnLst>
                                    <p:set>
                                      <p:cBhvr>
                                        <p:cTn id="22" dur="1" fill="hold">
                                          <p:stCondLst>
                                            <p:cond delay="0"/>
                                          </p:stCondLst>
                                        </p:cTn>
                                        <p:tgtEl>
                                          <p:spTgt spid="89"/>
                                        </p:tgtEl>
                                        <p:attrNameLst>
                                          <p:attrName>style.visibility</p:attrName>
                                        </p:attrNameLst>
                                      </p:cBhvr>
                                      <p:to>
                                        <p:strVal val="visible"/>
                                      </p:to>
                                    </p:set>
                                    <p:animEffect transition="in" filter="checkerboard(across)">
                                      <p:cBhvr>
                                        <p:cTn id="23" dur="500"/>
                                        <p:tgtEl>
                                          <p:spTgt spid="89"/>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80"/>
                                        </p:tgtEl>
                                        <p:attrNameLst>
                                          <p:attrName>style.visibility</p:attrName>
                                        </p:attrNameLst>
                                      </p:cBhvr>
                                      <p:to>
                                        <p:strVal val="visible"/>
                                      </p:to>
                                    </p:set>
                                    <p:animEffect transition="in" filter="checkerboard(across)">
                                      <p:cBhvr>
                                        <p:cTn id="26" dur="500"/>
                                        <p:tgtEl>
                                          <p:spTgt spid="80"/>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81"/>
                                        </p:tgtEl>
                                        <p:attrNameLst>
                                          <p:attrName>style.visibility</p:attrName>
                                        </p:attrNameLst>
                                      </p:cBhvr>
                                      <p:to>
                                        <p:strVal val="visible"/>
                                      </p:to>
                                    </p:set>
                                    <p:animEffect transition="in" filter="checkerboard(across)">
                                      <p:cBhvr>
                                        <p:cTn id="31" dur="500"/>
                                        <p:tgtEl>
                                          <p:spTgt spid="81"/>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82"/>
                                        </p:tgtEl>
                                        <p:attrNameLst>
                                          <p:attrName>style.visibility</p:attrName>
                                        </p:attrNameLst>
                                      </p:cBhvr>
                                      <p:to>
                                        <p:strVal val="visible"/>
                                      </p:to>
                                    </p:set>
                                    <p:animEffect transition="in" filter="checkerboard(across)">
                                      <p:cBhvr>
                                        <p:cTn id="34" dur="500"/>
                                        <p:tgtEl>
                                          <p:spTgt spid="82"/>
                                        </p:tgtEl>
                                      </p:cBhvr>
                                    </p:animEffect>
                                  </p:childTnLst>
                                </p:cTn>
                              </p:par>
                            </p:childTnLst>
                          </p:cTn>
                        </p:par>
                      </p:childTnLst>
                    </p:cTn>
                  </p:par>
                  <p:par>
                    <p:cTn id="35" fill="hold">
                      <p:stCondLst>
                        <p:cond delay="indefinite"/>
                      </p:stCondLst>
                      <p:childTnLst>
                        <p:par>
                          <p:cTn id="36" fill="hold">
                            <p:stCondLst>
                              <p:cond delay="0"/>
                            </p:stCondLst>
                            <p:childTnLst>
                              <p:par>
                                <p:cTn id="37" presetID="5" presetClass="entr" presetSubtype="10" fill="hold" grpId="0" nodeType="clickEffect">
                                  <p:stCondLst>
                                    <p:cond delay="0"/>
                                  </p:stCondLst>
                                  <p:childTnLst>
                                    <p:set>
                                      <p:cBhvr>
                                        <p:cTn id="38" dur="1" fill="hold">
                                          <p:stCondLst>
                                            <p:cond delay="0"/>
                                          </p:stCondLst>
                                        </p:cTn>
                                        <p:tgtEl>
                                          <p:spTgt spid="90"/>
                                        </p:tgtEl>
                                        <p:attrNameLst>
                                          <p:attrName>style.visibility</p:attrName>
                                        </p:attrNameLst>
                                      </p:cBhvr>
                                      <p:to>
                                        <p:strVal val="visible"/>
                                      </p:to>
                                    </p:set>
                                    <p:animEffect transition="in" filter="checkerboard(across)">
                                      <p:cBhvr>
                                        <p:cTn id="39" dur="500"/>
                                        <p:tgtEl>
                                          <p:spTgt spid="90"/>
                                        </p:tgtEl>
                                      </p:cBhvr>
                                    </p:animEffect>
                                  </p:childTnLst>
                                </p:cTn>
                              </p:par>
                            </p:childTnLst>
                          </p:cTn>
                        </p:par>
                      </p:childTnLst>
                    </p:cTn>
                  </p:par>
                  <p:par>
                    <p:cTn id="40" fill="hold">
                      <p:stCondLst>
                        <p:cond delay="indefinite"/>
                      </p:stCondLst>
                      <p:childTnLst>
                        <p:par>
                          <p:cTn id="41" fill="hold">
                            <p:stCondLst>
                              <p:cond delay="0"/>
                            </p:stCondLst>
                            <p:childTnLst>
                              <p:par>
                                <p:cTn id="42" presetID="5" presetClass="entr" presetSubtype="10" fill="hold" grpId="0" nodeType="clickEffect">
                                  <p:stCondLst>
                                    <p:cond delay="0"/>
                                  </p:stCondLst>
                                  <p:childTnLst>
                                    <p:set>
                                      <p:cBhvr>
                                        <p:cTn id="43" dur="1" fill="hold">
                                          <p:stCondLst>
                                            <p:cond delay="0"/>
                                          </p:stCondLst>
                                        </p:cTn>
                                        <p:tgtEl>
                                          <p:spTgt spid="84"/>
                                        </p:tgtEl>
                                        <p:attrNameLst>
                                          <p:attrName>style.visibility</p:attrName>
                                        </p:attrNameLst>
                                      </p:cBhvr>
                                      <p:to>
                                        <p:strVal val="visible"/>
                                      </p:to>
                                    </p:set>
                                    <p:animEffect transition="in" filter="checkerboard(across)">
                                      <p:cBhvr>
                                        <p:cTn id="44" dur="500"/>
                                        <p:tgtEl>
                                          <p:spTgt spid="84"/>
                                        </p:tgtEl>
                                      </p:cBhvr>
                                    </p:animEffect>
                                  </p:childTnLst>
                                </p:cTn>
                              </p:par>
                              <p:par>
                                <p:cTn id="45" presetID="5" presetClass="entr" presetSubtype="10" fill="hold" grpId="0" nodeType="withEffect">
                                  <p:stCondLst>
                                    <p:cond delay="0"/>
                                  </p:stCondLst>
                                  <p:childTnLst>
                                    <p:set>
                                      <p:cBhvr>
                                        <p:cTn id="46" dur="1" fill="hold">
                                          <p:stCondLst>
                                            <p:cond delay="0"/>
                                          </p:stCondLst>
                                        </p:cTn>
                                        <p:tgtEl>
                                          <p:spTgt spid="83"/>
                                        </p:tgtEl>
                                        <p:attrNameLst>
                                          <p:attrName>style.visibility</p:attrName>
                                        </p:attrNameLst>
                                      </p:cBhvr>
                                      <p:to>
                                        <p:strVal val="visible"/>
                                      </p:to>
                                    </p:set>
                                    <p:animEffect transition="in" filter="checkerboard(across)">
                                      <p:cBhvr>
                                        <p:cTn id="47" dur="500"/>
                                        <p:tgtEl>
                                          <p:spTgt spid="83"/>
                                        </p:tgtEl>
                                      </p:cBhvr>
                                    </p:animEffect>
                                  </p:childTnLst>
                                </p:cTn>
                              </p:par>
                              <p:par>
                                <p:cTn id="48" presetID="5" presetClass="entr" presetSubtype="10" fill="hold" grpId="0" nodeType="withEffect">
                                  <p:stCondLst>
                                    <p:cond delay="0"/>
                                  </p:stCondLst>
                                  <p:childTnLst>
                                    <p:set>
                                      <p:cBhvr>
                                        <p:cTn id="49" dur="1" fill="hold">
                                          <p:stCondLst>
                                            <p:cond delay="0"/>
                                          </p:stCondLst>
                                        </p:cTn>
                                        <p:tgtEl>
                                          <p:spTgt spid="91"/>
                                        </p:tgtEl>
                                        <p:attrNameLst>
                                          <p:attrName>style.visibility</p:attrName>
                                        </p:attrNameLst>
                                      </p:cBhvr>
                                      <p:to>
                                        <p:strVal val="visible"/>
                                      </p:to>
                                    </p:set>
                                    <p:animEffect transition="in" filter="checkerboard(across)">
                                      <p:cBhvr>
                                        <p:cTn id="50" dur="500"/>
                                        <p:tgtEl>
                                          <p:spTgt spid="91"/>
                                        </p:tgtEl>
                                      </p:cBhvr>
                                    </p:animEffect>
                                  </p:childTnLst>
                                </p:cTn>
                              </p:par>
                            </p:childTnLst>
                          </p:cTn>
                        </p:par>
                      </p:childTnLst>
                    </p:cTn>
                  </p:par>
                  <p:par>
                    <p:cTn id="51" fill="hold">
                      <p:stCondLst>
                        <p:cond delay="indefinite"/>
                      </p:stCondLst>
                      <p:childTnLst>
                        <p:par>
                          <p:cTn id="52" fill="hold">
                            <p:stCondLst>
                              <p:cond delay="0"/>
                            </p:stCondLst>
                            <p:childTnLst>
                              <p:par>
                                <p:cTn id="53" presetID="5" presetClass="entr" presetSubtype="10" fill="hold" grpId="0" nodeType="clickEffect">
                                  <p:stCondLst>
                                    <p:cond delay="0"/>
                                  </p:stCondLst>
                                  <p:childTnLst>
                                    <p:set>
                                      <p:cBhvr>
                                        <p:cTn id="54" dur="1" fill="hold">
                                          <p:stCondLst>
                                            <p:cond delay="0"/>
                                          </p:stCondLst>
                                        </p:cTn>
                                        <p:tgtEl>
                                          <p:spTgt spid="85"/>
                                        </p:tgtEl>
                                        <p:attrNameLst>
                                          <p:attrName>style.visibility</p:attrName>
                                        </p:attrNameLst>
                                      </p:cBhvr>
                                      <p:to>
                                        <p:strVal val="visible"/>
                                      </p:to>
                                    </p:set>
                                    <p:animEffect transition="in" filter="checkerboard(across)">
                                      <p:cBhvr>
                                        <p:cTn id="55" dur="500"/>
                                        <p:tgtEl>
                                          <p:spTgt spid="85"/>
                                        </p:tgtEl>
                                      </p:cBhvr>
                                    </p:animEffect>
                                  </p:childTnLst>
                                </p:cTn>
                              </p:par>
                              <p:par>
                                <p:cTn id="56" presetID="5" presetClass="entr" presetSubtype="10" fill="hold" grpId="0" nodeType="withEffect">
                                  <p:stCondLst>
                                    <p:cond delay="0"/>
                                  </p:stCondLst>
                                  <p:childTnLst>
                                    <p:set>
                                      <p:cBhvr>
                                        <p:cTn id="57" dur="1" fill="hold">
                                          <p:stCondLst>
                                            <p:cond delay="0"/>
                                          </p:stCondLst>
                                        </p:cTn>
                                        <p:tgtEl>
                                          <p:spTgt spid="86"/>
                                        </p:tgtEl>
                                        <p:attrNameLst>
                                          <p:attrName>style.visibility</p:attrName>
                                        </p:attrNameLst>
                                      </p:cBhvr>
                                      <p:to>
                                        <p:strVal val="visible"/>
                                      </p:to>
                                    </p:set>
                                    <p:animEffect transition="in" filter="checkerboard(across)">
                                      <p:cBhvr>
                                        <p:cTn id="58" dur="500"/>
                                        <p:tgtEl>
                                          <p:spTgt spid="86"/>
                                        </p:tgtEl>
                                      </p:cBhvr>
                                    </p:animEffect>
                                  </p:childTnLst>
                                </p:cTn>
                              </p:par>
                              <p:par>
                                <p:cTn id="59" presetID="5" presetClass="entr" presetSubtype="10" fill="hold" grpId="0" nodeType="withEffect">
                                  <p:stCondLst>
                                    <p:cond delay="0"/>
                                  </p:stCondLst>
                                  <p:childTnLst>
                                    <p:set>
                                      <p:cBhvr>
                                        <p:cTn id="60" dur="1" fill="hold">
                                          <p:stCondLst>
                                            <p:cond delay="0"/>
                                          </p:stCondLst>
                                        </p:cTn>
                                        <p:tgtEl>
                                          <p:spTgt spid="92"/>
                                        </p:tgtEl>
                                        <p:attrNameLst>
                                          <p:attrName>style.visibility</p:attrName>
                                        </p:attrNameLst>
                                      </p:cBhvr>
                                      <p:to>
                                        <p:strVal val="visible"/>
                                      </p:to>
                                    </p:set>
                                    <p:animEffect transition="in" filter="checkerboard(across)">
                                      <p:cBhvr>
                                        <p:cTn id="61" dur="500"/>
                                        <p:tgtEl>
                                          <p:spTgt spid="92"/>
                                        </p:tgtEl>
                                      </p:cBhvr>
                                    </p:animEffect>
                                  </p:childTnLst>
                                </p:cTn>
                              </p:par>
                            </p:childTnLst>
                          </p:cTn>
                        </p:par>
                      </p:childTnLst>
                    </p:cTn>
                  </p:par>
                  <p:par>
                    <p:cTn id="62" fill="hold">
                      <p:stCondLst>
                        <p:cond delay="indefinite"/>
                      </p:stCondLst>
                      <p:childTnLst>
                        <p:par>
                          <p:cTn id="63" fill="hold">
                            <p:stCondLst>
                              <p:cond delay="0"/>
                            </p:stCondLst>
                            <p:childTnLst>
                              <p:par>
                                <p:cTn id="64" presetID="35" presetClass="emph" presetSubtype="0" fill="hold" grpId="1" nodeType="clickEffect">
                                  <p:stCondLst>
                                    <p:cond delay="0"/>
                                  </p:stCondLst>
                                  <p:childTnLst>
                                    <p:anim calcmode="discrete" valueType="str">
                                      <p:cBhvr>
                                        <p:cTn id="65" dur="1000" fill="hold"/>
                                        <p:tgtEl>
                                          <p:spTgt spid="78"/>
                                        </p:tgtEl>
                                        <p:attrNameLst>
                                          <p:attrName>style.visibility</p:attrName>
                                        </p:attrNameLst>
                                      </p:cBhvr>
                                      <p:tavLst>
                                        <p:tav tm="0">
                                          <p:val>
                                            <p:strVal val="hidden"/>
                                          </p:val>
                                        </p:tav>
                                        <p:tav tm="50000">
                                          <p:val>
                                            <p:strVal val="visible"/>
                                          </p:val>
                                        </p:tav>
                                      </p:tavLst>
                                    </p:anim>
                                  </p:childTnLst>
                                </p:cTn>
                              </p:par>
                            </p:childTnLst>
                          </p:cTn>
                        </p:par>
                        <p:par>
                          <p:cTn id="66" fill="hold">
                            <p:stCondLst>
                              <p:cond delay="1000"/>
                            </p:stCondLst>
                            <p:childTnLst>
                              <p:par>
                                <p:cTn id="67" presetID="35" presetClass="emph" presetSubtype="0" fill="hold" grpId="1" nodeType="afterEffect">
                                  <p:stCondLst>
                                    <p:cond delay="0"/>
                                  </p:stCondLst>
                                  <p:childTnLst>
                                    <p:anim calcmode="discrete" valueType="str">
                                      <p:cBhvr>
                                        <p:cTn id="68" dur="1000" fill="hold"/>
                                        <p:tgtEl>
                                          <p:spTgt spid="79"/>
                                        </p:tgtEl>
                                        <p:attrNameLst>
                                          <p:attrName>style.visibility</p:attrName>
                                        </p:attrNameLst>
                                      </p:cBhvr>
                                      <p:tavLst>
                                        <p:tav tm="0">
                                          <p:val>
                                            <p:strVal val="hidden"/>
                                          </p:val>
                                        </p:tav>
                                        <p:tav tm="50000">
                                          <p:val>
                                            <p:strVal val="visible"/>
                                          </p:val>
                                        </p:tav>
                                      </p:tavLst>
                                    </p:anim>
                                  </p:childTnLst>
                                </p:cTn>
                              </p:par>
                            </p:childTnLst>
                          </p:cTn>
                        </p:par>
                        <p:par>
                          <p:cTn id="69" fill="hold">
                            <p:stCondLst>
                              <p:cond delay="2000"/>
                            </p:stCondLst>
                            <p:childTnLst>
                              <p:par>
                                <p:cTn id="70" presetID="35" presetClass="emph" presetSubtype="0" fill="hold" grpId="1" nodeType="afterEffect">
                                  <p:stCondLst>
                                    <p:cond delay="0"/>
                                  </p:stCondLst>
                                  <p:childTnLst>
                                    <p:anim calcmode="discrete" valueType="str">
                                      <p:cBhvr>
                                        <p:cTn id="71" dur="1000" fill="hold"/>
                                        <p:tgtEl>
                                          <p:spTgt spid="82"/>
                                        </p:tgtEl>
                                        <p:attrNameLst>
                                          <p:attrName>style.visibility</p:attrName>
                                        </p:attrNameLst>
                                      </p:cBhvr>
                                      <p:tavLst>
                                        <p:tav tm="0">
                                          <p:val>
                                            <p:strVal val="hidden"/>
                                          </p:val>
                                        </p:tav>
                                        <p:tav tm="50000">
                                          <p:val>
                                            <p:strVal val="visible"/>
                                          </p:val>
                                        </p:tav>
                                      </p:tavLst>
                                    </p:anim>
                                  </p:childTnLst>
                                </p:cTn>
                              </p:par>
                            </p:childTnLst>
                          </p:cTn>
                        </p:par>
                        <p:par>
                          <p:cTn id="72" fill="hold">
                            <p:stCondLst>
                              <p:cond delay="3000"/>
                            </p:stCondLst>
                            <p:childTnLst>
                              <p:par>
                                <p:cTn id="73" presetID="35" presetClass="emph" presetSubtype="0" fill="hold" grpId="1" nodeType="afterEffect">
                                  <p:stCondLst>
                                    <p:cond delay="0"/>
                                  </p:stCondLst>
                                  <p:childTnLst>
                                    <p:anim calcmode="discrete" valueType="str">
                                      <p:cBhvr>
                                        <p:cTn id="74" dur="1000" fill="hold"/>
                                        <p:tgtEl>
                                          <p:spTgt spid="84"/>
                                        </p:tgtEl>
                                        <p:attrNameLst>
                                          <p:attrName>style.visibility</p:attrName>
                                        </p:attrNameLst>
                                      </p:cBhvr>
                                      <p:tavLst>
                                        <p:tav tm="0">
                                          <p:val>
                                            <p:strVal val="hidden"/>
                                          </p:val>
                                        </p:tav>
                                        <p:tav tm="50000">
                                          <p:val>
                                            <p:strVal val="visible"/>
                                          </p:val>
                                        </p:tav>
                                      </p:tavLst>
                                    </p:anim>
                                  </p:childTnLst>
                                </p:cTn>
                              </p:par>
                            </p:childTnLst>
                          </p:cTn>
                        </p:par>
                        <p:par>
                          <p:cTn id="75" fill="hold">
                            <p:stCondLst>
                              <p:cond delay="4000"/>
                            </p:stCondLst>
                            <p:childTnLst>
                              <p:par>
                                <p:cTn id="76" presetID="35" presetClass="emph" presetSubtype="0" fill="hold" grpId="1" nodeType="afterEffect">
                                  <p:stCondLst>
                                    <p:cond delay="0"/>
                                  </p:stCondLst>
                                  <p:childTnLst>
                                    <p:anim calcmode="discrete" valueType="str">
                                      <p:cBhvr>
                                        <p:cTn id="77" dur="1000" fill="hold"/>
                                        <p:tgtEl>
                                          <p:spTgt spid="86"/>
                                        </p:tgtEl>
                                        <p:attrNameLst>
                                          <p:attrName>style.visibility</p:attrName>
                                        </p:attrNameLst>
                                      </p:cBhvr>
                                      <p:tavLst>
                                        <p:tav tm="0">
                                          <p:val>
                                            <p:strVal val="hidden"/>
                                          </p:val>
                                        </p:tav>
                                        <p:tav tm="50000">
                                          <p:val>
                                            <p:strVal val="visible"/>
                                          </p:val>
                                        </p:tav>
                                      </p:tavLst>
                                    </p:anim>
                                  </p:childTnLst>
                                </p:cTn>
                              </p:par>
                              <p:par>
                                <p:cTn id="78" presetID="5" presetClass="entr" presetSubtype="10" fill="hold" grpId="0" nodeType="withEffect">
                                  <p:stCondLst>
                                    <p:cond delay="0"/>
                                  </p:stCondLst>
                                  <p:childTnLst>
                                    <p:set>
                                      <p:cBhvr>
                                        <p:cTn id="79" dur="1" fill="hold">
                                          <p:stCondLst>
                                            <p:cond delay="0"/>
                                          </p:stCondLst>
                                        </p:cTn>
                                        <p:tgtEl>
                                          <p:spTgt spid="99"/>
                                        </p:tgtEl>
                                        <p:attrNameLst>
                                          <p:attrName>style.visibility</p:attrName>
                                        </p:attrNameLst>
                                      </p:cBhvr>
                                      <p:to>
                                        <p:strVal val="visible"/>
                                      </p:to>
                                    </p:set>
                                    <p:animEffect transition="in" filter="checkerboard(across)">
                                      <p:cBhvr>
                                        <p:cTn id="80" dur="500"/>
                                        <p:tgtEl>
                                          <p:spTgt spid="99"/>
                                        </p:tgtEl>
                                      </p:cBhvr>
                                    </p:animEffect>
                                  </p:childTnLst>
                                </p:cTn>
                              </p:par>
                            </p:childTnLst>
                          </p:cTn>
                        </p:par>
                        <p:par>
                          <p:cTn id="81" fill="hold">
                            <p:stCondLst>
                              <p:cond delay="5000"/>
                            </p:stCondLst>
                            <p:childTnLst>
                              <p:par>
                                <p:cTn id="82" presetID="35" presetClass="emph" presetSubtype="0" fill="hold" grpId="1" nodeType="afterEffect">
                                  <p:stCondLst>
                                    <p:cond delay="0"/>
                                  </p:stCondLst>
                                  <p:childTnLst>
                                    <p:anim calcmode="discrete" valueType="str">
                                      <p:cBhvr>
                                        <p:cTn id="83" dur="1000" fill="hold"/>
                                        <p:tgtEl>
                                          <p:spTgt spid="99"/>
                                        </p:tgtEl>
                                        <p:attrNameLst>
                                          <p:attrName>style.visibility</p:attrName>
                                        </p:attrNameLst>
                                      </p:cBhvr>
                                      <p:tavLst>
                                        <p:tav tm="0">
                                          <p:val>
                                            <p:strVal val="hidden"/>
                                          </p:val>
                                        </p:tav>
                                        <p:tav tm="50000">
                                          <p:val>
                                            <p:strVal val="visible"/>
                                          </p:val>
                                        </p:tav>
                                      </p:tavLst>
                                    </p:anim>
                                  </p:childTnLst>
                                </p:cTn>
                              </p:par>
                            </p:childTnLst>
                          </p:cTn>
                        </p:par>
                      </p:childTnLst>
                    </p:cTn>
                  </p:par>
                  <p:par>
                    <p:cTn id="84" fill="hold">
                      <p:stCondLst>
                        <p:cond delay="indefinite"/>
                      </p:stCondLst>
                      <p:childTnLst>
                        <p:par>
                          <p:cTn id="85" fill="hold">
                            <p:stCondLst>
                              <p:cond delay="0"/>
                            </p:stCondLst>
                            <p:childTnLst>
                              <p:par>
                                <p:cTn id="86" presetID="5" presetClass="entr" presetSubtype="10" fill="hold" grpId="0" nodeType="clickEffect">
                                  <p:stCondLst>
                                    <p:cond delay="0"/>
                                  </p:stCondLst>
                                  <p:childTnLst>
                                    <p:set>
                                      <p:cBhvr>
                                        <p:cTn id="87" dur="1" fill="hold">
                                          <p:stCondLst>
                                            <p:cond delay="0"/>
                                          </p:stCondLst>
                                        </p:cTn>
                                        <p:tgtEl>
                                          <p:spTgt spid="100"/>
                                        </p:tgtEl>
                                        <p:attrNameLst>
                                          <p:attrName>style.visibility</p:attrName>
                                        </p:attrNameLst>
                                      </p:cBhvr>
                                      <p:to>
                                        <p:strVal val="visible"/>
                                      </p:to>
                                    </p:set>
                                    <p:animEffect transition="in" filter="checkerboard(across)">
                                      <p:cBhvr>
                                        <p:cTn id="88" dur="500"/>
                                        <p:tgtEl>
                                          <p:spTgt spid="100"/>
                                        </p:tgtEl>
                                      </p:cBhvr>
                                    </p:animEffect>
                                  </p:childTnLst>
                                </p:cTn>
                              </p:par>
                            </p:childTnLst>
                          </p:cTn>
                        </p:par>
                      </p:childTnLst>
                    </p:cTn>
                  </p:par>
                  <p:par>
                    <p:cTn id="89" fill="hold">
                      <p:stCondLst>
                        <p:cond delay="indefinite"/>
                      </p:stCondLst>
                      <p:childTnLst>
                        <p:par>
                          <p:cTn id="90" fill="hold">
                            <p:stCondLst>
                              <p:cond delay="0"/>
                            </p:stCondLst>
                            <p:childTnLst>
                              <p:par>
                                <p:cTn id="91" presetID="18" presetClass="entr" presetSubtype="12" fill="hold" grpId="0" nodeType="clickEffect">
                                  <p:stCondLst>
                                    <p:cond delay="0"/>
                                  </p:stCondLst>
                                  <p:childTnLst>
                                    <p:set>
                                      <p:cBhvr>
                                        <p:cTn id="92" dur="1" fill="hold">
                                          <p:stCondLst>
                                            <p:cond delay="0"/>
                                          </p:stCondLst>
                                        </p:cTn>
                                        <p:tgtEl>
                                          <p:spTgt spid="74"/>
                                        </p:tgtEl>
                                        <p:attrNameLst>
                                          <p:attrName>style.visibility</p:attrName>
                                        </p:attrNameLst>
                                      </p:cBhvr>
                                      <p:to>
                                        <p:strVal val="visible"/>
                                      </p:to>
                                    </p:set>
                                    <p:animEffect transition="in" filter="strips(downLeft)">
                                      <p:cBhvr>
                                        <p:cTn id="93" dur="500"/>
                                        <p:tgtEl>
                                          <p:spTgt spid="74"/>
                                        </p:tgtEl>
                                      </p:cBhvr>
                                    </p:animEffect>
                                  </p:childTnLst>
                                </p:cTn>
                              </p:par>
                            </p:childTnLst>
                          </p:cTn>
                        </p:par>
                      </p:childTnLst>
                    </p:cTn>
                  </p:par>
                  <p:par>
                    <p:cTn id="94" fill="hold">
                      <p:stCondLst>
                        <p:cond delay="indefinite"/>
                      </p:stCondLst>
                      <p:childTnLst>
                        <p:par>
                          <p:cTn id="95" fill="hold">
                            <p:stCondLst>
                              <p:cond delay="0"/>
                            </p:stCondLst>
                            <p:childTnLst>
                              <p:par>
                                <p:cTn id="96" presetID="8" presetClass="entr" presetSubtype="16" fill="hold" grpId="0" nodeType="clickEffect">
                                  <p:stCondLst>
                                    <p:cond delay="0"/>
                                  </p:stCondLst>
                                  <p:childTnLst>
                                    <p:set>
                                      <p:cBhvr>
                                        <p:cTn id="97" dur="1" fill="hold">
                                          <p:stCondLst>
                                            <p:cond delay="0"/>
                                          </p:stCondLst>
                                        </p:cTn>
                                        <p:tgtEl>
                                          <p:spTgt spid="94"/>
                                        </p:tgtEl>
                                        <p:attrNameLst>
                                          <p:attrName>style.visibility</p:attrName>
                                        </p:attrNameLst>
                                      </p:cBhvr>
                                      <p:to>
                                        <p:strVal val="visible"/>
                                      </p:to>
                                    </p:set>
                                    <p:animEffect transition="in" filter="diamond(in)">
                                      <p:cBhvr>
                                        <p:cTn id="98" dur="20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8" grpId="0" animBg="1"/>
      <p:bldP spid="78" grpId="1" animBg="1"/>
      <p:bldP spid="79" grpId="0" animBg="1"/>
      <p:bldP spid="79" grpId="1" animBg="1"/>
      <p:bldP spid="80" grpId="0" animBg="1"/>
      <p:bldP spid="81" grpId="0" animBg="1"/>
      <p:bldP spid="82" grpId="0" animBg="1"/>
      <p:bldP spid="82" grpId="1" animBg="1"/>
      <p:bldP spid="83" grpId="0" animBg="1"/>
      <p:bldP spid="84" grpId="0" animBg="1"/>
      <p:bldP spid="84" grpId="1" animBg="1"/>
      <p:bldP spid="85" grpId="0" animBg="1"/>
      <p:bldP spid="86" grpId="0" animBg="1"/>
      <p:bldP spid="86" grpId="1" animBg="1"/>
      <p:bldP spid="87" grpId="0" autoUpdateAnimBg="0"/>
      <p:bldP spid="88" grpId="0" autoUpdateAnimBg="0"/>
      <p:bldP spid="89" grpId="0" autoUpdateAnimBg="0"/>
      <p:bldP spid="90" grpId="0" autoUpdateAnimBg="0"/>
      <p:bldP spid="91" grpId="0" autoUpdateAnimBg="0"/>
      <p:bldP spid="92" grpId="0" autoUpdateAnimBg="0"/>
      <p:bldP spid="94" grpId="0"/>
      <p:bldP spid="99" grpId="0" animBg="1"/>
      <p:bldP spid="99" grpId="1" animBg="1"/>
      <p:bldP spid="100"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75348" y="5056077"/>
            <a:ext cx="714057" cy="138946"/>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83398" y="506326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0" name="矩形 49"/>
          <p:cNvSpPr/>
          <p:nvPr/>
        </p:nvSpPr>
        <p:spPr>
          <a:xfrm>
            <a:off x="6041742" y="5037743"/>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1" name="矩形 50"/>
          <p:cNvSpPr/>
          <p:nvPr/>
        </p:nvSpPr>
        <p:spPr>
          <a:xfrm>
            <a:off x="6928277" y="5026985"/>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1179905" y="4519103"/>
            <a:ext cx="1920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多道</a:t>
            </a:r>
          </a:p>
        </p:txBody>
      </p:sp>
      <p:sp>
        <p:nvSpPr>
          <p:cNvPr id="47120" name="文本框 56"/>
          <p:cNvSpPr txBox="1">
            <a:spLocks noChangeArrowheads="1"/>
          </p:cNvSpPr>
          <p:nvPr/>
        </p:nvSpPr>
        <p:spPr bwMode="auto">
          <a:xfrm>
            <a:off x="5992514" y="4437855"/>
            <a:ext cx="1920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目的</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3"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2" name="文本框 25"/>
          <p:cNvSpPr txBox="1">
            <a:spLocks noChangeArrowheads="1"/>
          </p:cNvSpPr>
          <p:nvPr/>
        </p:nvSpPr>
        <p:spPr bwMode="auto">
          <a:xfrm>
            <a:off x="902970" y="212725"/>
            <a:ext cx="92448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3.</a:t>
            </a:r>
            <a:r>
              <a:rPr lang="zh-CN" altLang="en-US" sz="2400" b="1" dirty="0">
                <a:solidFill>
                  <a:srgbClr val="3D7351"/>
                </a:solidFill>
                <a:latin typeface="微软雅黑" panose="020B0503020204020204" pitchFamily="34" charset="-122"/>
                <a:ea typeface="微软雅黑" panose="020B0503020204020204" pitchFamily="34" charset="-122"/>
              </a:rPr>
              <a:t>多道批处理系统</a:t>
            </a:r>
            <a:r>
              <a:rPr lang="en-US" altLang="zh-CN" sz="2400" b="1" dirty="0">
                <a:solidFill>
                  <a:srgbClr val="3D7351"/>
                </a:solidFill>
                <a:latin typeface="微软雅黑" panose="020B0503020204020204" pitchFamily="34" charset="-122"/>
                <a:ea typeface="微软雅黑" panose="020B0503020204020204" pitchFamily="34" charset="-122"/>
              </a:rPr>
              <a:t>—20</a:t>
            </a:r>
            <a:r>
              <a:rPr lang="zh-CN" altLang="en-US" sz="2400" b="1" dirty="0">
                <a:solidFill>
                  <a:srgbClr val="3D7351"/>
                </a:solidFill>
                <a:latin typeface="微软雅黑" panose="020B0503020204020204" pitchFamily="34" charset="-122"/>
                <a:ea typeface="微软雅黑" panose="020B0503020204020204" pitchFamily="34" charset="-122"/>
              </a:rPr>
              <a:t>世纪</a:t>
            </a:r>
            <a:r>
              <a:rPr lang="en-US" altLang="zh-CN" sz="2400" b="1" dirty="0">
                <a:solidFill>
                  <a:srgbClr val="3D7351"/>
                </a:solidFill>
                <a:latin typeface="微软雅黑" panose="020B0503020204020204" pitchFamily="34" charset="-122"/>
                <a:ea typeface="微软雅黑" panose="020B0503020204020204" pitchFamily="34" charset="-122"/>
              </a:rPr>
              <a:t>60</a:t>
            </a:r>
            <a:r>
              <a:rPr lang="zh-CN" altLang="en-US" sz="2400" b="1" dirty="0">
                <a:solidFill>
                  <a:srgbClr val="3D7351"/>
                </a:solidFill>
                <a:latin typeface="微软雅黑" panose="020B0503020204020204" pitchFamily="34" charset="-122"/>
                <a:ea typeface="微软雅黑" panose="020B0503020204020204" pitchFamily="34" charset="-122"/>
              </a:rPr>
              <a:t>年代中期后，第三代小规模集成电路</a:t>
            </a:r>
          </a:p>
        </p:txBody>
      </p:sp>
      <p:sp>
        <p:nvSpPr>
          <p:cNvPr id="94" name="文本框 19"/>
          <p:cNvSpPr txBox="1">
            <a:spLocks noChangeArrowheads="1"/>
          </p:cNvSpPr>
          <p:nvPr/>
        </p:nvSpPr>
        <p:spPr bwMode="auto">
          <a:xfrm>
            <a:off x="5976534" y="5307244"/>
            <a:ext cx="476444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1" indent="0">
              <a:buBlip>
                <a:blip r:embed="rId3"/>
              </a:buBlip>
            </a:pPr>
            <a:r>
              <a:rPr lang="zh-CN" altLang="en-US" sz="2400" dirty="0">
                <a:solidFill>
                  <a:srgbClr val="090911"/>
                </a:solidFill>
                <a:latin typeface="微软雅黑" panose="020B0503020204020204" pitchFamily="34" charset="-122"/>
                <a:ea typeface="微软雅黑" panose="020B0503020204020204" pitchFamily="34" charset="-122"/>
              </a:rPr>
              <a:t>提高</a:t>
            </a:r>
            <a:r>
              <a:rPr lang="en-US" altLang="zh-CN" sz="2400" dirty="0" err="1">
                <a:solidFill>
                  <a:srgbClr val="090911"/>
                </a:solidFill>
                <a:latin typeface="微软雅黑" panose="020B0503020204020204" pitchFamily="34" charset="-122"/>
                <a:ea typeface="微软雅黑" panose="020B0503020204020204" pitchFamily="34" charset="-122"/>
              </a:rPr>
              <a:t>CPU的利用率</a:t>
            </a:r>
            <a:endParaRPr lang="en-US" altLang="zh-CN" sz="2400" dirty="0">
              <a:solidFill>
                <a:srgbClr val="090911"/>
              </a:solidFill>
              <a:latin typeface="微软雅黑" panose="020B0503020204020204" pitchFamily="34" charset="-122"/>
              <a:ea typeface="微软雅黑" panose="020B0503020204020204" pitchFamily="34" charset="-122"/>
            </a:endParaRPr>
          </a:p>
          <a:p>
            <a:pPr marL="0" lvl="1" indent="0">
              <a:buBlip>
                <a:blip r:embed="rId3"/>
              </a:buBlip>
            </a:pPr>
            <a:r>
              <a:rPr lang="zh-CN" altLang="en-US" sz="2400" dirty="0">
                <a:solidFill>
                  <a:srgbClr val="090911"/>
                </a:solidFill>
                <a:latin typeface="微软雅黑" panose="020B0503020204020204" pitchFamily="34" charset="-122"/>
                <a:ea typeface="微软雅黑" panose="020B0503020204020204" pitchFamily="34" charset="-122"/>
              </a:rPr>
              <a:t>提高内存和</a:t>
            </a:r>
            <a:r>
              <a:rPr lang="en-US" altLang="zh-CN" sz="2400" dirty="0">
                <a:solidFill>
                  <a:srgbClr val="090911"/>
                </a:solidFill>
                <a:latin typeface="微软雅黑" panose="020B0503020204020204" pitchFamily="34" charset="-122"/>
                <a:ea typeface="微软雅黑" panose="020B0503020204020204" pitchFamily="34" charset="-122"/>
              </a:rPr>
              <a:t>I/</a:t>
            </a:r>
            <a:r>
              <a:rPr lang="en-US" altLang="zh-CN" sz="2400" dirty="0" err="1">
                <a:solidFill>
                  <a:srgbClr val="090911"/>
                </a:solidFill>
                <a:latin typeface="微软雅黑" panose="020B0503020204020204" pitchFamily="34" charset="-122"/>
                <a:ea typeface="微软雅黑" panose="020B0503020204020204" pitchFamily="34" charset="-122"/>
              </a:rPr>
              <a:t>O设备利用率</a:t>
            </a:r>
            <a:endParaRPr lang="en-US" altLang="zh-CN" sz="2400" dirty="0">
              <a:solidFill>
                <a:srgbClr val="090911"/>
              </a:solidFill>
              <a:latin typeface="微软雅黑" panose="020B0503020204020204" pitchFamily="34" charset="-122"/>
              <a:ea typeface="微软雅黑" panose="020B0503020204020204" pitchFamily="34" charset="-122"/>
            </a:endParaRPr>
          </a:p>
          <a:p>
            <a:pPr marL="0" lvl="1" indent="0">
              <a:buBlip>
                <a:blip r:embed="rId3"/>
              </a:buBlip>
            </a:pPr>
            <a:r>
              <a:rPr lang="zh-CN" altLang="en-US" sz="2400" dirty="0">
                <a:solidFill>
                  <a:srgbClr val="090911"/>
                </a:solidFill>
                <a:latin typeface="微软雅黑" panose="020B0503020204020204" pitchFamily="34" charset="-122"/>
                <a:ea typeface="微软雅黑" panose="020B0503020204020204" pitchFamily="34" charset="-122"/>
              </a:rPr>
              <a:t>增加系统吞吐量</a:t>
            </a:r>
          </a:p>
        </p:txBody>
      </p:sp>
      <p:sp>
        <p:nvSpPr>
          <p:cNvPr id="96" name="Rectangle 4"/>
          <p:cNvSpPr>
            <a:spLocks noChangeArrowheads="1"/>
          </p:cNvSpPr>
          <p:nvPr/>
        </p:nvSpPr>
        <p:spPr bwMode="auto">
          <a:xfrm>
            <a:off x="1617030" y="1842165"/>
            <a:ext cx="1368425" cy="719137"/>
          </a:xfrm>
          <a:prstGeom prst="rect">
            <a:avLst/>
          </a:prstGeom>
          <a:solidFill>
            <a:srgbClr val="CCCCFF"/>
          </a:solidFill>
          <a:ln w="19050">
            <a:solidFill>
              <a:srgbClr val="3399FF"/>
            </a:solidFill>
            <a:miter lim="800000"/>
            <a:headEnd/>
            <a:tailEnd/>
          </a:ln>
          <a:effectLst/>
        </p:spPr>
        <p:txBody>
          <a:bodyPr wrap="none" anchor="ctr"/>
          <a:lstStyle/>
          <a:p>
            <a:pPr algn="ctr" eaLnBrk="1" hangingPunct="1"/>
            <a:r>
              <a:rPr lang="zh-CN" altLang="zh-CN" sz="2400">
                <a:ea typeface="楷体_GB2312" pitchFamily="49" charset="-122"/>
              </a:rPr>
              <a:t>提交状态</a:t>
            </a:r>
          </a:p>
        </p:txBody>
      </p:sp>
      <p:sp>
        <p:nvSpPr>
          <p:cNvPr id="101" name="Rectangle 5"/>
          <p:cNvSpPr>
            <a:spLocks noChangeArrowheads="1"/>
          </p:cNvSpPr>
          <p:nvPr/>
        </p:nvSpPr>
        <p:spPr bwMode="auto">
          <a:xfrm>
            <a:off x="3345818" y="1840577"/>
            <a:ext cx="1511300" cy="720725"/>
          </a:xfrm>
          <a:prstGeom prst="rect">
            <a:avLst/>
          </a:prstGeom>
          <a:solidFill>
            <a:srgbClr val="CCCCFF"/>
          </a:solidFill>
          <a:ln w="19050">
            <a:solidFill>
              <a:srgbClr val="3399FF"/>
            </a:solidFill>
            <a:miter lim="800000"/>
            <a:headEnd/>
            <a:tailEnd/>
          </a:ln>
          <a:effectLst/>
        </p:spPr>
        <p:txBody>
          <a:bodyPr wrap="none" anchor="ctr"/>
          <a:lstStyle/>
          <a:p>
            <a:pPr algn="ctr" eaLnBrk="1" hangingPunct="1"/>
            <a:r>
              <a:rPr lang="zh-CN" altLang="zh-CN" sz="2400">
                <a:ea typeface="楷体_GB2312" pitchFamily="49" charset="-122"/>
              </a:rPr>
              <a:t>后备状态</a:t>
            </a:r>
          </a:p>
        </p:txBody>
      </p:sp>
      <p:sp>
        <p:nvSpPr>
          <p:cNvPr id="102" name="Rectangle 6"/>
          <p:cNvSpPr>
            <a:spLocks noChangeArrowheads="1"/>
          </p:cNvSpPr>
          <p:nvPr/>
        </p:nvSpPr>
        <p:spPr bwMode="auto">
          <a:xfrm>
            <a:off x="5217480" y="1194465"/>
            <a:ext cx="2808288" cy="2663825"/>
          </a:xfrm>
          <a:prstGeom prst="rect">
            <a:avLst/>
          </a:prstGeom>
          <a:solidFill>
            <a:schemeClr val="bg1"/>
          </a:solidFill>
          <a:ln w="12700">
            <a:solidFill>
              <a:srgbClr val="3399FF"/>
            </a:solidFill>
            <a:prstDash val="dash"/>
            <a:miter lim="800000"/>
            <a:headEnd/>
            <a:tailEnd/>
          </a:ln>
          <a:effectLst/>
        </p:spPr>
        <p:txBody>
          <a:bodyPr wrap="none" anchor="b" anchorCtr="1"/>
          <a:lstStyle/>
          <a:p>
            <a:pPr algn="ctr" eaLnBrk="1" hangingPunct="1"/>
            <a:r>
              <a:rPr lang="zh-CN" altLang="zh-CN" sz="2400">
                <a:ea typeface="楷体_GB2312" pitchFamily="49" charset="-122"/>
              </a:rPr>
              <a:t>运行状态</a:t>
            </a:r>
          </a:p>
        </p:txBody>
      </p:sp>
      <p:sp>
        <p:nvSpPr>
          <p:cNvPr id="103" name="Rectangle 7"/>
          <p:cNvSpPr>
            <a:spLocks noChangeArrowheads="1"/>
          </p:cNvSpPr>
          <p:nvPr/>
        </p:nvSpPr>
        <p:spPr bwMode="auto">
          <a:xfrm>
            <a:off x="8313105" y="1538952"/>
            <a:ext cx="1403350" cy="547688"/>
          </a:xfrm>
          <a:prstGeom prst="rect">
            <a:avLst/>
          </a:prstGeom>
          <a:solidFill>
            <a:srgbClr val="CCCCFF"/>
          </a:solidFill>
          <a:ln w="19050">
            <a:solidFill>
              <a:srgbClr val="3399FF"/>
            </a:solidFill>
            <a:miter lim="800000"/>
            <a:headEnd/>
            <a:tailEnd/>
          </a:ln>
          <a:effectLst/>
        </p:spPr>
        <p:txBody>
          <a:bodyPr wrap="none" anchor="ctr"/>
          <a:lstStyle/>
          <a:p>
            <a:pPr algn="ctr" eaLnBrk="1" hangingPunct="1"/>
            <a:r>
              <a:rPr lang="zh-CN" altLang="zh-CN" sz="2400">
                <a:ea typeface="楷体_GB2312" pitchFamily="49" charset="-122"/>
              </a:rPr>
              <a:t>完成状态</a:t>
            </a:r>
          </a:p>
        </p:txBody>
      </p:sp>
      <p:sp>
        <p:nvSpPr>
          <p:cNvPr id="104" name="Rectangle 8"/>
          <p:cNvSpPr>
            <a:spLocks noChangeArrowheads="1"/>
          </p:cNvSpPr>
          <p:nvPr/>
        </p:nvSpPr>
        <p:spPr bwMode="auto">
          <a:xfrm>
            <a:off x="5433380" y="1438940"/>
            <a:ext cx="576263" cy="1512887"/>
          </a:xfrm>
          <a:prstGeom prst="rect">
            <a:avLst/>
          </a:prstGeom>
          <a:solidFill>
            <a:srgbClr val="CCCCFF"/>
          </a:solidFill>
          <a:ln w="19050">
            <a:solidFill>
              <a:srgbClr val="3399FF"/>
            </a:solidFill>
            <a:miter lim="800000"/>
            <a:headEnd/>
            <a:tailEnd/>
          </a:ln>
          <a:effectLst/>
        </p:spPr>
        <p:txBody>
          <a:bodyPr wrap="none" anchor="ctr"/>
          <a:lstStyle/>
          <a:p>
            <a:pPr algn="ctr" eaLnBrk="1" hangingPunct="1"/>
            <a:r>
              <a:rPr lang="zh-CN" altLang="zh-CN" sz="2400">
                <a:latin typeface="楷体_GB2312" pitchFamily="49" charset="-122"/>
                <a:ea typeface="楷体_GB2312" pitchFamily="49" charset="-122"/>
              </a:rPr>
              <a:t>P1</a:t>
            </a:r>
          </a:p>
          <a:p>
            <a:pPr algn="ctr" eaLnBrk="1" hangingPunct="1"/>
            <a:r>
              <a:rPr lang="zh-CN" altLang="zh-CN" sz="2400">
                <a:latin typeface="楷体_GB2312" pitchFamily="49" charset="-122"/>
                <a:ea typeface="楷体_GB2312" pitchFamily="49" charset="-122"/>
              </a:rPr>
              <a:t>P2</a:t>
            </a:r>
          </a:p>
          <a:p>
            <a:pPr algn="ctr" eaLnBrk="1" hangingPunct="1"/>
            <a:r>
              <a:rPr lang="zh-CN" altLang="zh-CN" sz="2400">
                <a:latin typeface="楷体_GB2312" pitchFamily="49" charset="-122"/>
                <a:ea typeface="楷体_GB2312" pitchFamily="49" charset="-122"/>
              </a:rPr>
              <a:t>P3</a:t>
            </a:r>
          </a:p>
          <a:p>
            <a:pPr algn="ctr" eaLnBrk="1" hangingPunct="1"/>
            <a:r>
              <a:rPr lang="zh-CN" altLang="zh-CN" sz="2400">
                <a:ea typeface="楷体_GB2312" pitchFamily="49" charset="-122"/>
              </a:rPr>
              <a:t>…</a:t>
            </a:r>
            <a:endParaRPr lang="zh-CN" altLang="zh-CN" sz="2400">
              <a:latin typeface="楷体_GB2312" pitchFamily="49" charset="-122"/>
              <a:ea typeface="楷体_GB2312" pitchFamily="49" charset="-122"/>
            </a:endParaRPr>
          </a:p>
        </p:txBody>
      </p:sp>
      <p:sp>
        <p:nvSpPr>
          <p:cNvPr id="105" name="Rectangle 9"/>
          <p:cNvSpPr>
            <a:spLocks noChangeArrowheads="1"/>
          </p:cNvSpPr>
          <p:nvPr/>
        </p:nvSpPr>
        <p:spPr bwMode="auto">
          <a:xfrm>
            <a:off x="6730368" y="1553240"/>
            <a:ext cx="1008062" cy="503237"/>
          </a:xfrm>
          <a:prstGeom prst="rect">
            <a:avLst/>
          </a:prstGeom>
          <a:solidFill>
            <a:srgbClr val="CCCCFF"/>
          </a:solidFill>
          <a:ln w="19050">
            <a:solidFill>
              <a:srgbClr val="3399FF"/>
            </a:solidFill>
            <a:miter lim="800000"/>
            <a:headEnd/>
            <a:tailEnd/>
          </a:ln>
          <a:effectLst/>
        </p:spPr>
        <p:txBody>
          <a:bodyPr wrap="none" anchor="ctr"/>
          <a:lstStyle/>
          <a:p>
            <a:pPr algn="ctr" eaLnBrk="1" hangingPunct="1"/>
            <a:r>
              <a:rPr lang="zh-CN" altLang="zh-CN" sz="2400">
                <a:latin typeface="楷体_GB2312" pitchFamily="49" charset="-122"/>
                <a:ea typeface="楷体_GB2312" pitchFamily="49" charset="-122"/>
              </a:rPr>
              <a:t>cpu</a:t>
            </a:r>
          </a:p>
        </p:txBody>
      </p:sp>
      <p:sp>
        <p:nvSpPr>
          <p:cNvPr id="106" name="Rectangle 10"/>
          <p:cNvSpPr>
            <a:spLocks noChangeArrowheads="1"/>
          </p:cNvSpPr>
          <p:nvPr/>
        </p:nvSpPr>
        <p:spPr bwMode="auto">
          <a:xfrm>
            <a:off x="6657343" y="2850227"/>
            <a:ext cx="1081087" cy="576263"/>
          </a:xfrm>
          <a:prstGeom prst="rect">
            <a:avLst/>
          </a:prstGeom>
          <a:solidFill>
            <a:srgbClr val="CCCCFF"/>
          </a:solidFill>
          <a:ln w="19050">
            <a:solidFill>
              <a:srgbClr val="3399FF"/>
            </a:solidFill>
            <a:miter lim="800000"/>
            <a:headEnd/>
            <a:tailEnd/>
          </a:ln>
          <a:effectLst/>
        </p:spPr>
        <p:txBody>
          <a:bodyPr wrap="none" anchor="ctr"/>
          <a:lstStyle/>
          <a:p>
            <a:pPr algn="ctr" eaLnBrk="1" hangingPunct="1"/>
            <a:r>
              <a:rPr lang="zh-CN" altLang="zh-CN" sz="2400">
                <a:latin typeface="楷体_GB2312" pitchFamily="49" charset="-122"/>
                <a:ea typeface="楷体_GB2312" pitchFamily="49" charset="-122"/>
              </a:rPr>
              <a:t>I/O</a:t>
            </a:r>
          </a:p>
        </p:txBody>
      </p:sp>
      <p:sp>
        <p:nvSpPr>
          <p:cNvPr id="107" name="Line 11"/>
          <p:cNvSpPr>
            <a:spLocks noChangeShapeType="1"/>
          </p:cNvSpPr>
          <p:nvPr/>
        </p:nvSpPr>
        <p:spPr bwMode="auto">
          <a:xfrm>
            <a:off x="1185230" y="2129502"/>
            <a:ext cx="431800" cy="0"/>
          </a:xfrm>
          <a:prstGeom prst="line">
            <a:avLst/>
          </a:prstGeom>
          <a:noFill/>
          <a:ln w="57150">
            <a:solidFill>
              <a:srgbClr val="3399FF"/>
            </a:solidFill>
            <a:round/>
            <a:headEnd/>
            <a:tailEnd type="triangle" w="med" len="med"/>
          </a:ln>
          <a:effectLst/>
        </p:spPr>
        <p:txBody>
          <a:bodyPr/>
          <a:lstStyle/>
          <a:p>
            <a:endParaRPr lang="zh-CN" altLang="en-US"/>
          </a:p>
        </p:txBody>
      </p:sp>
      <p:cxnSp>
        <p:nvCxnSpPr>
          <p:cNvPr id="108" name="AutoShape 12"/>
          <p:cNvCxnSpPr>
            <a:cxnSpLocks noChangeShapeType="1"/>
            <a:stCxn id="96" idx="3"/>
            <a:endCxn id="101" idx="1"/>
          </p:cNvCxnSpPr>
          <p:nvPr/>
        </p:nvCxnSpPr>
        <p:spPr bwMode="auto">
          <a:xfrm flipV="1">
            <a:off x="2994980" y="2200940"/>
            <a:ext cx="341313" cy="1587"/>
          </a:xfrm>
          <a:prstGeom prst="straightConnector1">
            <a:avLst/>
          </a:prstGeom>
          <a:noFill/>
          <a:ln w="57150">
            <a:solidFill>
              <a:srgbClr val="3399FF"/>
            </a:solidFill>
            <a:round/>
            <a:headEnd/>
            <a:tailEnd type="triangle" w="med" len="med"/>
          </a:ln>
          <a:effectLst/>
        </p:spPr>
      </p:cxnSp>
      <p:cxnSp>
        <p:nvCxnSpPr>
          <p:cNvPr id="109" name="AutoShape 13"/>
          <p:cNvCxnSpPr>
            <a:cxnSpLocks noChangeShapeType="1"/>
            <a:stCxn id="101" idx="3"/>
            <a:endCxn id="104" idx="1"/>
          </p:cNvCxnSpPr>
          <p:nvPr/>
        </p:nvCxnSpPr>
        <p:spPr bwMode="auto">
          <a:xfrm flipV="1">
            <a:off x="4866643" y="2196177"/>
            <a:ext cx="557212" cy="4763"/>
          </a:xfrm>
          <a:prstGeom prst="straightConnector1">
            <a:avLst/>
          </a:prstGeom>
          <a:noFill/>
          <a:ln w="57150">
            <a:solidFill>
              <a:srgbClr val="3399FF"/>
            </a:solidFill>
            <a:round/>
            <a:headEnd/>
            <a:tailEnd type="triangle" w="med" len="med"/>
          </a:ln>
          <a:effectLst/>
        </p:spPr>
      </p:cxnSp>
      <p:cxnSp>
        <p:nvCxnSpPr>
          <p:cNvPr id="110" name="AutoShape 14"/>
          <p:cNvCxnSpPr>
            <a:cxnSpLocks noChangeShapeType="1"/>
            <a:stCxn id="104" idx="3"/>
            <a:endCxn id="105" idx="1"/>
          </p:cNvCxnSpPr>
          <p:nvPr/>
        </p:nvCxnSpPr>
        <p:spPr bwMode="auto">
          <a:xfrm flipV="1">
            <a:off x="6019168" y="1805652"/>
            <a:ext cx="701675" cy="390525"/>
          </a:xfrm>
          <a:prstGeom prst="straightConnector1">
            <a:avLst/>
          </a:prstGeom>
          <a:noFill/>
          <a:ln w="57150">
            <a:solidFill>
              <a:srgbClr val="3399FF"/>
            </a:solidFill>
            <a:round/>
            <a:headEnd/>
            <a:tailEnd type="triangle" w="med" len="med"/>
          </a:ln>
          <a:effectLst/>
        </p:spPr>
      </p:cxnSp>
      <p:cxnSp>
        <p:nvCxnSpPr>
          <p:cNvPr id="111" name="AutoShape 15"/>
          <p:cNvCxnSpPr>
            <a:cxnSpLocks noChangeShapeType="1"/>
            <a:stCxn id="105" idx="2"/>
            <a:endCxn id="106" idx="0"/>
          </p:cNvCxnSpPr>
          <p:nvPr/>
        </p:nvCxnSpPr>
        <p:spPr bwMode="auto">
          <a:xfrm flipH="1">
            <a:off x="7198680" y="2066002"/>
            <a:ext cx="36513" cy="774700"/>
          </a:xfrm>
          <a:prstGeom prst="straightConnector1">
            <a:avLst/>
          </a:prstGeom>
          <a:noFill/>
          <a:ln w="57150">
            <a:solidFill>
              <a:srgbClr val="3399FF"/>
            </a:solidFill>
            <a:round/>
            <a:headEnd/>
            <a:tailEnd type="triangle" w="med" len="med"/>
          </a:ln>
          <a:effectLst/>
        </p:spPr>
      </p:cxnSp>
      <p:cxnSp>
        <p:nvCxnSpPr>
          <p:cNvPr id="112" name="AutoShape 16"/>
          <p:cNvCxnSpPr>
            <a:cxnSpLocks noChangeShapeType="1"/>
            <a:stCxn id="106" idx="1"/>
            <a:endCxn id="104" idx="2"/>
          </p:cNvCxnSpPr>
          <p:nvPr/>
        </p:nvCxnSpPr>
        <p:spPr bwMode="auto">
          <a:xfrm flipH="1" flipV="1">
            <a:off x="5722305" y="2961352"/>
            <a:ext cx="925513" cy="177800"/>
          </a:xfrm>
          <a:prstGeom prst="straightConnector1">
            <a:avLst/>
          </a:prstGeom>
          <a:noFill/>
          <a:ln w="57150">
            <a:solidFill>
              <a:srgbClr val="3399FF"/>
            </a:solidFill>
            <a:round/>
            <a:headEnd/>
            <a:tailEnd type="triangle" w="med" len="med"/>
          </a:ln>
          <a:effectLst/>
        </p:spPr>
      </p:cxnSp>
      <p:cxnSp>
        <p:nvCxnSpPr>
          <p:cNvPr id="113" name="AutoShape 17"/>
          <p:cNvCxnSpPr>
            <a:cxnSpLocks noChangeShapeType="1"/>
            <a:stCxn id="105" idx="3"/>
            <a:endCxn id="103" idx="1"/>
          </p:cNvCxnSpPr>
          <p:nvPr/>
        </p:nvCxnSpPr>
        <p:spPr bwMode="auto">
          <a:xfrm>
            <a:off x="7747955" y="1805652"/>
            <a:ext cx="555625" cy="7938"/>
          </a:xfrm>
          <a:prstGeom prst="straightConnector1">
            <a:avLst/>
          </a:prstGeom>
          <a:noFill/>
          <a:ln w="57150">
            <a:solidFill>
              <a:srgbClr val="3399FF"/>
            </a:solidFill>
            <a:round/>
            <a:headEnd/>
            <a:tailEnd type="triangle" w="med" len="med"/>
          </a:ln>
          <a:effectLst/>
        </p:spPr>
      </p:cxnSp>
      <p:sp>
        <p:nvSpPr>
          <p:cNvPr id="115" name="文本框 19"/>
          <p:cNvSpPr txBox="1">
            <a:spLocks noChangeArrowheads="1"/>
          </p:cNvSpPr>
          <p:nvPr/>
        </p:nvSpPr>
        <p:spPr bwMode="auto">
          <a:xfrm>
            <a:off x="1108340" y="5337717"/>
            <a:ext cx="433502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Blip>
                <a:blip r:embed="rId3"/>
              </a:buBlip>
            </a:pPr>
            <a:r>
              <a:rPr lang="zh-CN" altLang="en-US" sz="2400" dirty="0">
                <a:solidFill>
                  <a:srgbClr val="090911"/>
                </a:solidFill>
                <a:latin typeface="微软雅黑" panose="020B0503020204020204" pitchFamily="34" charset="-122"/>
                <a:ea typeface="微软雅黑" panose="020B0503020204020204" pitchFamily="34" charset="-122"/>
              </a:rPr>
              <a:t>允许多个程序同时存在于主存中，按照某种原则分派处理机，逐个执行这些程序。</a:t>
            </a:r>
            <a:endParaRPr lang="en-US" altLang="zh-CN" sz="2400" dirty="0">
              <a:solidFill>
                <a:srgbClr val="09091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97103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diamond(in)">
                                      <p:cBhvr>
                                        <p:cTn id="7" dur="2000"/>
                                        <p:tgtEl>
                                          <p:spTgt spid="9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15"/>
                                        </p:tgtEl>
                                        <p:attrNameLst>
                                          <p:attrName>style.visibility</p:attrName>
                                        </p:attrNameLst>
                                      </p:cBhvr>
                                      <p:to>
                                        <p:strVal val="visible"/>
                                      </p:to>
                                    </p:set>
                                    <p:animEffect transition="in" filter="strips(downLeft)">
                                      <p:cBhvr>
                                        <p:cTn id="12"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p:bldP spid="1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75348" y="5056077"/>
            <a:ext cx="714057" cy="138946"/>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2083398" y="5063261"/>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0" name="矩形 49"/>
          <p:cNvSpPr/>
          <p:nvPr/>
        </p:nvSpPr>
        <p:spPr>
          <a:xfrm>
            <a:off x="6041742" y="5037743"/>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1" name="矩形 50"/>
          <p:cNvSpPr/>
          <p:nvPr/>
        </p:nvSpPr>
        <p:spPr>
          <a:xfrm>
            <a:off x="6928277" y="5026985"/>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7119" name="文本框 55"/>
          <p:cNvSpPr txBox="1">
            <a:spLocks noChangeArrowheads="1"/>
          </p:cNvSpPr>
          <p:nvPr/>
        </p:nvSpPr>
        <p:spPr bwMode="auto">
          <a:xfrm>
            <a:off x="1179905" y="4519103"/>
            <a:ext cx="1920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特征</a:t>
            </a:r>
          </a:p>
        </p:txBody>
      </p:sp>
      <p:sp>
        <p:nvSpPr>
          <p:cNvPr id="47120" name="文本框 56"/>
          <p:cNvSpPr txBox="1">
            <a:spLocks noChangeArrowheads="1"/>
          </p:cNvSpPr>
          <p:nvPr/>
        </p:nvSpPr>
        <p:spPr bwMode="auto">
          <a:xfrm>
            <a:off x="5992514" y="4437855"/>
            <a:ext cx="1920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优缺点</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3"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2" name="文本框 25"/>
          <p:cNvSpPr txBox="1">
            <a:spLocks noChangeArrowheads="1"/>
          </p:cNvSpPr>
          <p:nvPr/>
        </p:nvSpPr>
        <p:spPr bwMode="auto">
          <a:xfrm>
            <a:off x="902970" y="212725"/>
            <a:ext cx="92448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3.</a:t>
            </a:r>
            <a:r>
              <a:rPr lang="zh-CN" altLang="en-US" sz="2400" b="1" dirty="0">
                <a:solidFill>
                  <a:srgbClr val="3D7351"/>
                </a:solidFill>
                <a:latin typeface="微软雅黑" panose="020B0503020204020204" pitchFamily="34" charset="-122"/>
                <a:ea typeface="微软雅黑" panose="020B0503020204020204" pitchFamily="34" charset="-122"/>
              </a:rPr>
              <a:t>多道批处理系统</a:t>
            </a:r>
            <a:r>
              <a:rPr lang="en-US" altLang="zh-CN" sz="2400" b="1" dirty="0">
                <a:solidFill>
                  <a:srgbClr val="3D7351"/>
                </a:solidFill>
                <a:latin typeface="微软雅黑" panose="020B0503020204020204" pitchFamily="34" charset="-122"/>
                <a:ea typeface="微软雅黑" panose="020B0503020204020204" pitchFamily="34" charset="-122"/>
              </a:rPr>
              <a:t>—20</a:t>
            </a:r>
            <a:r>
              <a:rPr lang="zh-CN" altLang="en-US" sz="2400" b="1" dirty="0">
                <a:solidFill>
                  <a:srgbClr val="3D7351"/>
                </a:solidFill>
                <a:latin typeface="微软雅黑" panose="020B0503020204020204" pitchFamily="34" charset="-122"/>
                <a:ea typeface="微软雅黑" panose="020B0503020204020204" pitchFamily="34" charset="-122"/>
              </a:rPr>
              <a:t>世纪</a:t>
            </a:r>
            <a:r>
              <a:rPr lang="en-US" altLang="zh-CN" sz="2400" b="1" dirty="0">
                <a:solidFill>
                  <a:srgbClr val="3D7351"/>
                </a:solidFill>
                <a:latin typeface="微软雅黑" panose="020B0503020204020204" pitchFamily="34" charset="-122"/>
                <a:ea typeface="微软雅黑" panose="020B0503020204020204" pitchFamily="34" charset="-122"/>
              </a:rPr>
              <a:t>60</a:t>
            </a:r>
            <a:r>
              <a:rPr lang="zh-CN" altLang="en-US" sz="2400" b="1" dirty="0">
                <a:solidFill>
                  <a:srgbClr val="3D7351"/>
                </a:solidFill>
                <a:latin typeface="微软雅黑" panose="020B0503020204020204" pitchFamily="34" charset="-122"/>
                <a:ea typeface="微软雅黑" panose="020B0503020204020204" pitchFamily="34" charset="-122"/>
              </a:rPr>
              <a:t>年代中期后，第三代小规模集成电路</a:t>
            </a:r>
          </a:p>
        </p:txBody>
      </p:sp>
      <p:sp>
        <p:nvSpPr>
          <p:cNvPr id="94" name="文本框 19"/>
          <p:cNvSpPr txBox="1">
            <a:spLocks noChangeArrowheads="1"/>
          </p:cNvSpPr>
          <p:nvPr/>
        </p:nvSpPr>
        <p:spPr bwMode="auto">
          <a:xfrm>
            <a:off x="5976534" y="5307244"/>
            <a:ext cx="327818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1" indent="0">
              <a:buBlip>
                <a:blip r:embed="rId3"/>
              </a:buBlip>
            </a:pPr>
            <a:r>
              <a:rPr lang="zh-CN" altLang="en-US" sz="1600" dirty="0">
                <a:solidFill>
                  <a:srgbClr val="090911"/>
                </a:solidFill>
                <a:latin typeface="微软雅黑" panose="020B0503020204020204" pitchFamily="34" charset="-122"/>
                <a:ea typeface="微软雅黑" panose="020B0503020204020204" pitchFamily="34" charset="-122"/>
              </a:rPr>
              <a:t>资源</a:t>
            </a:r>
            <a:r>
              <a:rPr lang="en-US" altLang="zh-CN" sz="1600" dirty="0" err="1">
                <a:solidFill>
                  <a:srgbClr val="090911"/>
                </a:solidFill>
                <a:latin typeface="微软雅黑" panose="020B0503020204020204" pitchFamily="34" charset="-122"/>
                <a:ea typeface="微软雅黑" panose="020B0503020204020204" pitchFamily="34" charset="-122"/>
              </a:rPr>
              <a:t>利用率</a:t>
            </a:r>
            <a:r>
              <a:rPr lang="zh-CN" altLang="en-US" sz="1600" dirty="0">
                <a:solidFill>
                  <a:srgbClr val="090911"/>
                </a:solidFill>
                <a:latin typeface="微软雅黑" panose="020B0503020204020204" pitchFamily="34" charset="-122"/>
                <a:ea typeface="微软雅黑" panose="020B0503020204020204" pitchFamily="34" charset="-122"/>
              </a:rPr>
              <a:t>高</a:t>
            </a:r>
            <a:endParaRPr lang="en-US" altLang="zh-CN" sz="1600" dirty="0">
              <a:solidFill>
                <a:srgbClr val="090911"/>
              </a:solidFill>
              <a:latin typeface="微软雅黑" panose="020B0503020204020204" pitchFamily="34" charset="-122"/>
              <a:ea typeface="微软雅黑" panose="020B0503020204020204" pitchFamily="34" charset="-122"/>
            </a:endParaRPr>
          </a:p>
          <a:p>
            <a:pPr marL="0" lvl="1" indent="0">
              <a:buBlip>
                <a:blip r:embed="rId3"/>
              </a:buBlip>
            </a:pPr>
            <a:r>
              <a:rPr lang="zh-CN" altLang="en-US" sz="1600" dirty="0">
                <a:solidFill>
                  <a:srgbClr val="090911"/>
                </a:solidFill>
                <a:latin typeface="微软雅黑" panose="020B0503020204020204" pitchFamily="34" charset="-122"/>
                <a:ea typeface="微软雅黑" panose="020B0503020204020204" pitchFamily="34" charset="-122"/>
              </a:rPr>
              <a:t>系统吞吐量大</a:t>
            </a:r>
            <a:endParaRPr lang="en-US" altLang="zh-CN" sz="1600" dirty="0">
              <a:solidFill>
                <a:srgbClr val="090911"/>
              </a:solidFill>
              <a:latin typeface="微软雅黑" panose="020B0503020204020204" pitchFamily="34" charset="-122"/>
              <a:ea typeface="微软雅黑" panose="020B0503020204020204" pitchFamily="34" charset="-122"/>
            </a:endParaRPr>
          </a:p>
          <a:p>
            <a:pPr marL="0" lvl="1" indent="0">
              <a:buBlip>
                <a:blip r:embed="rId3"/>
              </a:buBlip>
            </a:pPr>
            <a:r>
              <a:rPr lang="zh-CN" altLang="en-US" sz="1600" dirty="0">
                <a:solidFill>
                  <a:srgbClr val="090911"/>
                </a:solidFill>
                <a:latin typeface="微软雅黑" panose="020B0503020204020204" pitchFamily="34" charset="-122"/>
                <a:ea typeface="微软雅黑" panose="020B0503020204020204" pitchFamily="34" charset="-122"/>
              </a:rPr>
              <a:t>平均周转时间长</a:t>
            </a:r>
            <a:endParaRPr lang="en-US" altLang="zh-CN" sz="1600" dirty="0">
              <a:solidFill>
                <a:srgbClr val="090911"/>
              </a:solidFill>
              <a:latin typeface="微软雅黑" panose="020B0503020204020204" pitchFamily="34" charset="-122"/>
              <a:ea typeface="微软雅黑" panose="020B0503020204020204" pitchFamily="34" charset="-122"/>
            </a:endParaRPr>
          </a:p>
          <a:p>
            <a:pPr marL="0" lvl="1" indent="0">
              <a:buBlip>
                <a:blip r:embed="rId3"/>
              </a:buBlip>
            </a:pPr>
            <a:r>
              <a:rPr lang="zh-CN" altLang="en-US" sz="1600" dirty="0">
                <a:solidFill>
                  <a:srgbClr val="090911"/>
                </a:solidFill>
                <a:latin typeface="微软雅黑" panose="020B0503020204020204" pitchFamily="34" charset="-122"/>
                <a:ea typeface="微软雅黑" panose="020B0503020204020204" pitchFamily="34" charset="-122"/>
              </a:rPr>
              <a:t>无交互能力</a:t>
            </a:r>
            <a:endParaRPr lang="en-US" altLang="zh-CN" sz="1600" dirty="0">
              <a:solidFill>
                <a:srgbClr val="090911"/>
              </a:solidFill>
              <a:latin typeface="微软雅黑" panose="020B0503020204020204" pitchFamily="34" charset="-122"/>
              <a:ea typeface="微软雅黑" panose="020B0503020204020204" pitchFamily="34" charset="-122"/>
            </a:endParaRPr>
          </a:p>
          <a:p>
            <a:pPr marL="0" lvl="1" indent="0">
              <a:buBlip>
                <a:blip r:embed="rId3"/>
              </a:buBlip>
            </a:pPr>
            <a:r>
              <a:rPr lang="zh-CN" altLang="en-US" sz="1600" dirty="0">
                <a:solidFill>
                  <a:srgbClr val="090911"/>
                </a:solidFill>
                <a:latin typeface="微软雅黑" panose="020B0503020204020204" pitchFamily="34" charset="-122"/>
                <a:ea typeface="微软雅黑" panose="020B0503020204020204" pitchFamily="34" charset="-122"/>
              </a:rPr>
              <a:t>适合大型科学计算，数据处理</a:t>
            </a:r>
          </a:p>
        </p:txBody>
      </p:sp>
      <p:sp>
        <p:nvSpPr>
          <p:cNvPr id="31" name="Rectangle 4"/>
          <p:cNvSpPr>
            <a:spLocks noChangeArrowheads="1"/>
          </p:cNvSpPr>
          <p:nvPr/>
        </p:nvSpPr>
        <p:spPr bwMode="auto">
          <a:xfrm>
            <a:off x="2820217" y="1135712"/>
            <a:ext cx="792162" cy="431800"/>
          </a:xfrm>
          <a:prstGeom prst="rect">
            <a:avLst/>
          </a:prstGeom>
          <a:noFill/>
          <a:ln w="28575">
            <a:solidFill>
              <a:srgbClr val="3399FF"/>
            </a:solidFill>
            <a:miter lim="800000"/>
            <a:headEnd/>
            <a:tailEnd/>
          </a:ln>
          <a:effectLst/>
        </p:spPr>
        <p:txBody>
          <a:bodyPr wrap="none" anchor="ctr"/>
          <a:lstStyle/>
          <a:p>
            <a:pPr algn="ctr" eaLnBrk="1" hangingPunct="1"/>
            <a:r>
              <a:rPr lang="zh-CN" altLang="zh-CN" sz="2400">
                <a:latin typeface="楷体_GB2312" pitchFamily="49" charset="-122"/>
                <a:ea typeface="楷体_GB2312" pitchFamily="49" charset="-122"/>
              </a:rPr>
              <a:t>运行</a:t>
            </a:r>
          </a:p>
        </p:txBody>
      </p:sp>
      <p:sp>
        <p:nvSpPr>
          <p:cNvPr id="32" name="Text Box 5"/>
          <p:cNvSpPr txBox="1">
            <a:spLocks noChangeArrowheads="1"/>
          </p:cNvSpPr>
          <p:nvPr/>
        </p:nvSpPr>
        <p:spPr bwMode="auto">
          <a:xfrm>
            <a:off x="1770879" y="1073799"/>
            <a:ext cx="946150" cy="457200"/>
          </a:xfrm>
          <a:prstGeom prst="rect">
            <a:avLst/>
          </a:prstGeom>
          <a:noFill/>
          <a:ln w="9525">
            <a:noFill/>
            <a:miter lim="800000"/>
            <a:headEnd/>
            <a:tailEnd/>
          </a:ln>
          <a:effectLst/>
        </p:spPr>
        <p:txBody>
          <a:bodyPr wrap="none">
            <a:spAutoFit/>
          </a:bodyPr>
          <a:lstStyle/>
          <a:p>
            <a:pPr algn="ctr" eaLnBrk="1" hangingPunct="1"/>
            <a:r>
              <a:rPr lang="zh-CN" altLang="zh-CN" sz="2400">
                <a:latin typeface="楷体_GB2312" pitchFamily="49" charset="-122"/>
                <a:ea typeface="楷体_GB2312" pitchFamily="49" charset="-122"/>
              </a:rPr>
              <a:t>程序A</a:t>
            </a:r>
          </a:p>
        </p:txBody>
      </p:sp>
      <p:sp>
        <p:nvSpPr>
          <p:cNvPr id="33" name="Text Box 6"/>
          <p:cNvSpPr txBox="1">
            <a:spLocks noChangeArrowheads="1"/>
          </p:cNvSpPr>
          <p:nvPr/>
        </p:nvSpPr>
        <p:spPr bwMode="auto">
          <a:xfrm>
            <a:off x="1770879" y="1686574"/>
            <a:ext cx="946150" cy="457200"/>
          </a:xfrm>
          <a:prstGeom prst="rect">
            <a:avLst/>
          </a:prstGeom>
          <a:noFill/>
          <a:ln w="9525">
            <a:noFill/>
            <a:miter lim="800000"/>
            <a:headEnd/>
            <a:tailEnd/>
          </a:ln>
          <a:effectLst/>
        </p:spPr>
        <p:txBody>
          <a:bodyPr wrap="none">
            <a:spAutoFit/>
          </a:bodyPr>
          <a:lstStyle/>
          <a:p>
            <a:pPr algn="ctr" eaLnBrk="1" hangingPunct="1"/>
            <a:r>
              <a:rPr lang="zh-CN" altLang="zh-CN" sz="2400">
                <a:latin typeface="楷体_GB2312" pitchFamily="49" charset="-122"/>
                <a:ea typeface="楷体_GB2312" pitchFamily="49" charset="-122"/>
              </a:rPr>
              <a:t>程序B</a:t>
            </a:r>
          </a:p>
        </p:txBody>
      </p:sp>
      <p:sp>
        <p:nvSpPr>
          <p:cNvPr id="34" name="Text Box 7"/>
          <p:cNvSpPr txBox="1">
            <a:spLocks noChangeArrowheads="1"/>
          </p:cNvSpPr>
          <p:nvPr/>
        </p:nvSpPr>
        <p:spPr bwMode="auto">
          <a:xfrm>
            <a:off x="1770879" y="2191399"/>
            <a:ext cx="946150" cy="457200"/>
          </a:xfrm>
          <a:prstGeom prst="rect">
            <a:avLst/>
          </a:prstGeom>
          <a:noFill/>
          <a:ln w="9525">
            <a:noFill/>
            <a:miter lim="800000"/>
            <a:headEnd/>
            <a:tailEnd/>
          </a:ln>
          <a:effectLst/>
        </p:spPr>
        <p:txBody>
          <a:bodyPr wrap="none">
            <a:spAutoFit/>
          </a:bodyPr>
          <a:lstStyle/>
          <a:p>
            <a:pPr algn="ctr" eaLnBrk="1" hangingPunct="1"/>
            <a:r>
              <a:rPr lang="zh-CN" altLang="zh-CN" sz="2400">
                <a:latin typeface="楷体_GB2312" pitchFamily="49" charset="-122"/>
                <a:ea typeface="楷体_GB2312" pitchFamily="49" charset="-122"/>
              </a:rPr>
              <a:t>程序C</a:t>
            </a:r>
          </a:p>
        </p:txBody>
      </p:sp>
      <p:sp>
        <p:nvSpPr>
          <p:cNvPr id="35" name="Text Box 8"/>
          <p:cNvSpPr txBox="1">
            <a:spLocks noChangeArrowheads="1"/>
          </p:cNvSpPr>
          <p:nvPr/>
        </p:nvSpPr>
        <p:spPr bwMode="auto">
          <a:xfrm>
            <a:off x="1769292" y="2732737"/>
            <a:ext cx="946150" cy="457200"/>
          </a:xfrm>
          <a:prstGeom prst="rect">
            <a:avLst/>
          </a:prstGeom>
          <a:noFill/>
          <a:ln w="9525">
            <a:noFill/>
            <a:miter lim="800000"/>
            <a:headEnd/>
            <a:tailEnd/>
          </a:ln>
          <a:effectLst/>
        </p:spPr>
        <p:txBody>
          <a:bodyPr wrap="none">
            <a:spAutoFit/>
          </a:bodyPr>
          <a:lstStyle/>
          <a:p>
            <a:pPr algn="ctr" eaLnBrk="1" hangingPunct="1"/>
            <a:r>
              <a:rPr lang="zh-CN" altLang="zh-CN" sz="2400">
                <a:latin typeface="楷体_GB2312" pitchFamily="49" charset="-122"/>
                <a:ea typeface="楷体_GB2312" pitchFamily="49" charset="-122"/>
              </a:rPr>
              <a:t>程序D</a:t>
            </a:r>
          </a:p>
        </p:txBody>
      </p:sp>
      <p:sp>
        <p:nvSpPr>
          <p:cNvPr id="36" name="Line 9"/>
          <p:cNvSpPr>
            <a:spLocks noChangeShapeType="1"/>
          </p:cNvSpPr>
          <p:nvPr/>
        </p:nvSpPr>
        <p:spPr bwMode="auto">
          <a:xfrm>
            <a:off x="2748779" y="1567512"/>
            <a:ext cx="4968875" cy="0"/>
          </a:xfrm>
          <a:prstGeom prst="line">
            <a:avLst/>
          </a:prstGeom>
          <a:noFill/>
          <a:ln w="28575">
            <a:solidFill>
              <a:srgbClr val="3399FF"/>
            </a:solidFill>
            <a:round/>
            <a:headEnd/>
            <a:tailEnd/>
          </a:ln>
          <a:effectLst/>
        </p:spPr>
        <p:txBody>
          <a:bodyPr/>
          <a:lstStyle/>
          <a:p>
            <a:endParaRPr lang="zh-CN" altLang="en-US"/>
          </a:p>
        </p:txBody>
      </p:sp>
      <p:sp>
        <p:nvSpPr>
          <p:cNvPr id="37" name="Line 10"/>
          <p:cNvSpPr>
            <a:spLocks noChangeShapeType="1"/>
          </p:cNvSpPr>
          <p:nvPr/>
        </p:nvSpPr>
        <p:spPr bwMode="auto">
          <a:xfrm>
            <a:off x="2748779" y="2108849"/>
            <a:ext cx="4968875" cy="0"/>
          </a:xfrm>
          <a:prstGeom prst="line">
            <a:avLst/>
          </a:prstGeom>
          <a:noFill/>
          <a:ln w="28575">
            <a:solidFill>
              <a:srgbClr val="3399FF"/>
            </a:solidFill>
            <a:round/>
            <a:headEnd/>
            <a:tailEnd/>
          </a:ln>
          <a:effectLst/>
        </p:spPr>
        <p:txBody>
          <a:bodyPr/>
          <a:lstStyle/>
          <a:p>
            <a:endParaRPr lang="zh-CN" altLang="en-US"/>
          </a:p>
        </p:txBody>
      </p:sp>
      <p:sp>
        <p:nvSpPr>
          <p:cNvPr id="38" name="Line 11"/>
          <p:cNvSpPr>
            <a:spLocks noChangeShapeType="1"/>
          </p:cNvSpPr>
          <p:nvPr/>
        </p:nvSpPr>
        <p:spPr bwMode="auto">
          <a:xfrm>
            <a:off x="2748779" y="2685112"/>
            <a:ext cx="4968875" cy="0"/>
          </a:xfrm>
          <a:prstGeom prst="line">
            <a:avLst/>
          </a:prstGeom>
          <a:noFill/>
          <a:ln w="28575">
            <a:solidFill>
              <a:srgbClr val="3399FF"/>
            </a:solidFill>
            <a:round/>
            <a:headEnd/>
            <a:tailEnd/>
          </a:ln>
          <a:effectLst/>
        </p:spPr>
        <p:txBody>
          <a:bodyPr/>
          <a:lstStyle/>
          <a:p>
            <a:endParaRPr lang="zh-CN" altLang="en-US"/>
          </a:p>
        </p:txBody>
      </p:sp>
      <p:sp>
        <p:nvSpPr>
          <p:cNvPr id="39" name="Line 12"/>
          <p:cNvSpPr>
            <a:spLocks noChangeShapeType="1"/>
          </p:cNvSpPr>
          <p:nvPr/>
        </p:nvSpPr>
        <p:spPr bwMode="auto">
          <a:xfrm>
            <a:off x="2748779" y="3226449"/>
            <a:ext cx="4968875" cy="0"/>
          </a:xfrm>
          <a:prstGeom prst="line">
            <a:avLst/>
          </a:prstGeom>
          <a:noFill/>
          <a:ln w="28575">
            <a:solidFill>
              <a:srgbClr val="3399FF"/>
            </a:solidFill>
            <a:round/>
            <a:headEnd/>
            <a:tailEnd/>
          </a:ln>
          <a:effectLst/>
        </p:spPr>
        <p:txBody>
          <a:bodyPr/>
          <a:lstStyle/>
          <a:p>
            <a:endParaRPr lang="zh-CN" altLang="en-US"/>
          </a:p>
        </p:txBody>
      </p:sp>
      <p:sp>
        <p:nvSpPr>
          <p:cNvPr id="40" name="Text Box 13"/>
          <p:cNvSpPr txBox="1">
            <a:spLocks noChangeArrowheads="1"/>
          </p:cNvSpPr>
          <p:nvPr/>
        </p:nvSpPr>
        <p:spPr bwMode="auto">
          <a:xfrm>
            <a:off x="1019992" y="3307412"/>
            <a:ext cx="1800225" cy="457200"/>
          </a:xfrm>
          <a:prstGeom prst="rect">
            <a:avLst/>
          </a:prstGeom>
          <a:noFill/>
          <a:ln w="9525">
            <a:noFill/>
            <a:miter lim="800000"/>
            <a:headEnd/>
            <a:tailEnd/>
          </a:ln>
          <a:effectLst/>
        </p:spPr>
        <p:txBody>
          <a:bodyPr>
            <a:spAutoFit/>
          </a:bodyPr>
          <a:lstStyle/>
          <a:p>
            <a:pPr algn="ctr" eaLnBrk="1" hangingPunct="1"/>
            <a:r>
              <a:rPr lang="zh-CN" altLang="zh-CN" sz="2400">
                <a:latin typeface="楷体_GB2312" pitchFamily="49" charset="-122"/>
                <a:ea typeface="楷体_GB2312" pitchFamily="49" charset="-122"/>
              </a:rPr>
              <a:t>从处理器看</a:t>
            </a:r>
          </a:p>
        </p:txBody>
      </p:sp>
      <p:sp>
        <p:nvSpPr>
          <p:cNvPr id="41" name="Line 14"/>
          <p:cNvSpPr>
            <a:spLocks noChangeShapeType="1"/>
          </p:cNvSpPr>
          <p:nvPr/>
        </p:nvSpPr>
        <p:spPr bwMode="auto">
          <a:xfrm>
            <a:off x="2748779" y="3766199"/>
            <a:ext cx="4968875" cy="0"/>
          </a:xfrm>
          <a:prstGeom prst="line">
            <a:avLst/>
          </a:prstGeom>
          <a:noFill/>
          <a:ln w="28575">
            <a:solidFill>
              <a:srgbClr val="3399FF"/>
            </a:solidFill>
            <a:round/>
            <a:headEnd/>
            <a:tailEnd/>
          </a:ln>
          <a:effectLst/>
        </p:spPr>
        <p:txBody>
          <a:bodyPr/>
          <a:lstStyle/>
          <a:p>
            <a:endParaRPr lang="zh-CN" altLang="en-US"/>
          </a:p>
        </p:txBody>
      </p:sp>
      <p:sp>
        <p:nvSpPr>
          <p:cNvPr id="42" name="Rectangle 15"/>
          <p:cNvSpPr>
            <a:spLocks noChangeArrowheads="1"/>
          </p:cNvSpPr>
          <p:nvPr/>
        </p:nvSpPr>
        <p:spPr bwMode="auto">
          <a:xfrm>
            <a:off x="6781029" y="1135712"/>
            <a:ext cx="792163" cy="431800"/>
          </a:xfrm>
          <a:prstGeom prst="rect">
            <a:avLst/>
          </a:prstGeom>
          <a:noFill/>
          <a:ln w="28575">
            <a:solidFill>
              <a:srgbClr val="3399FF"/>
            </a:solidFill>
            <a:miter lim="800000"/>
            <a:headEnd/>
            <a:tailEnd/>
          </a:ln>
          <a:effectLst/>
        </p:spPr>
        <p:txBody>
          <a:bodyPr wrap="none" anchor="ctr"/>
          <a:lstStyle/>
          <a:p>
            <a:pPr algn="ctr" eaLnBrk="1" hangingPunct="1"/>
            <a:r>
              <a:rPr lang="zh-CN" altLang="zh-CN" sz="2400">
                <a:latin typeface="楷体_GB2312" pitchFamily="49" charset="-122"/>
                <a:ea typeface="楷体_GB2312" pitchFamily="49" charset="-122"/>
              </a:rPr>
              <a:t>运行</a:t>
            </a:r>
          </a:p>
        </p:txBody>
      </p:sp>
      <p:sp>
        <p:nvSpPr>
          <p:cNvPr id="43" name="Rectangle 16"/>
          <p:cNvSpPr>
            <a:spLocks noChangeArrowheads="1"/>
          </p:cNvSpPr>
          <p:nvPr/>
        </p:nvSpPr>
        <p:spPr bwMode="auto">
          <a:xfrm>
            <a:off x="2820217" y="3334399"/>
            <a:ext cx="792162" cy="431800"/>
          </a:xfrm>
          <a:prstGeom prst="rect">
            <a:avLst/>
          </a:prstGeom>
          <a:noFill/>
          <a:ln w="28575">
            <a:solidFill>
              <a:srgbClr val="3399FF"/>
            </a:solidFill>
            <a:miter lim="800000"/>
            <a:headEnd/>
            <a:tailEnd/>
          </a:ln>
          <a:effectLst/>
        </p:spPr>
        <p:txBody>
          <a:bodyPr wrap="none" anchor="ctr"/>
          <a:lstStyle/>
          <a:p>
            <a:pPr algn="ctr" eaLnBrk="1" hangingPunct="1"/>
            <a:r>
              <a:rPr lang="zh-CN" altLang="zh-CN" sz="2400">
                <a:latin typeface="楷体_GB2312" pitchFamily="49" charset="-122"/>
                <a:ea typeface="楷体_GB2312" pitchFamily="49" charset="-122"/>
              </a:rPr>
              <a:t>运行</a:t>
            </a:r>
          </a:p>
        </p:txBody>
      </p:sp>
      <p:sp>
        <p:nvSpPr>
          <p:cNvPr id="44" name="Rectangle 17"/>
          <p:cNvSpPr>
            <a:spLocks noChangeArrowheads="1"/>
          </p:cNvSpPr>
          <p:nvPr/>
        </p:nvSpPr>
        <p:spPr bwMode="auto">
          <a:xfrm>
            <a:off x="3612379" y="3334399"/>
            <a:ext cx="792163" cy="431800"/>
          </a:xfrm>
          <a:prstGeom prst="rect">
            <a:avLst/>
          </a:prstGeom>
          <a:noFill/>
          <a:ln w="28575">
            <a:solidFill>
              <a:srgbClr val="3399FF"/>
            </a:solidFill>
            <a:miter lim="800000"/>
            <a:headEnd/>
            <a:tailEnd/>
          </a:ln>
          <a:effectLst/>
        </p:spPr>
        <p:txBody>
          <a:bodyPr wrap="none" anchor="ctr"/>
          <a:lstStyle/>
          <a:p>
            <a:pPr algn="ctr" eaLnBrk="1" hangingPunct="1"/>
            <a:r>
              <a:rPr lang="zh-CN" altLang="zh-CN" sz="2400">
                <a:latin typeface="楷体_GB2312" pitchFamily="49" charset="-122"/>
                <a:ea typeface="楷体_GB2312" pitchFamily="49" charset="-122"/>
              </a:rPr>
              <a:t>运行</a:t>
            </a:r>
          </a:p>
        </p:txBody>
      </p:sp>
      <p:sp>
        <p:nvSpPr>
          <p:cNvPr id="45" name="Rectangle 18"/>
          <p:cNvSpPr>
            <a:spLocks noChangeArrowheads="1"/>
          </p:cNvSpPr>
          <p:nvPr/>
        </p:nvSpPr>
        <p:spPr bwMode="auto">
          <a:xfrm>
            <a:off x="4404542" y="3334399"/>
            <a:ext cx="792162" cy="431800"/>
          </a:xfrm>
          <a:prstGeom prst="rect">
            <a:avLst/>
          </a:prstGeom>
          <a:noFill/>
          <a:ln w="28575">
            <a:solidFill>
              <a:srgbClr val="3399FF"/>
            </a:solidFill>
            <a:miter lim="800000"/>
            <a:headEnd/>
            <a:tailEnd/>
          </a:ln>
          <a:effectLst/>
        </p:spPr>
        <p:txBody>
          <a:bodyPr wrap="none" anchor="ctr"/>
          <a:lstStyle/>
          <a:p>
            <a:pPr algn="ctr" eaLnBrk="1" hangingPunct="1"/>
            <a:r>
              <a:rPr lang="zh-CN" altLang="zh-CN" sz="2400">
                <a:latin typeface="楷体_GB2312" pitchFamily="49" charset="-122"/>
                <a:ea typeface="楷体_GB2312" pitchFamily="49" charset="-122"/>
              </a:rPr>
              <a:t>运行</a:t>
            </a:r>
          </a:p>
        </p:txBody>
      </p:sp>
      <p:sp>
        <p:nvSpPr>
          <p:cNvPr id="46" name="Rectangle 19"/>
          <p:cNvSpPr>
            <a:spLocks noChangeArrowheads="1"/>
          </p:cNvSpPr>
          <p:nvPr/>
        </p:nvSpPr>
        <p:spPr bwMode="auto">
          <a:xfrm>
            <a:off x="5196704" y="3334399"/>
            <a:ext cx="792163" cy="431800"/>
          </a:xfrm>
          <a:prstGeom prst="rect">
            <a:avLst/>
          </a:prstGeom>
          <a:noFill/>
          <a:ln w="28575">
            <a:solidFill>
              <a:srgbClr val="3399FF"/>
            </a:solidFill>
            <a:miter lim="800000"/>
            <a:headEnd/>
            <a:tailEnd/>
          </a:ln>
          <a:effectLst/>
        </p:spPr>
        <p:txBody>
          <a:bodyPr wrap="none" anchor="ctr"/>
          <a:lstStyle/>
          <a:p>
            <a:pPr algn="ctr" eaLnBrk="1" hangingPunct="1"/>
            <a:r>
              <a:rPr lang="zh-CN" altLang="zh-CN" sz="2400">
                <a:latin typeface="楷体_GB2312" pitchFamily="49" charset="-122"/>
                <a:ea typeface="楷体_GB2312" pitchFamily="49" charset="-122"/>
              </a:rPr>
              <a:t>运行</a:t>
            </a:r>
          </a:p>
        </p:txBody>
      </p:sp>
      <p:sp>
        <p:nvSpPr>
          <p:cNvPr id="47" name="Rectangle 20"/>
          <p:cNvSpPr>
            <a:spLocks noChangeArrowheads="1"/>
          </p:cNvSpPr>
          <p:nvPr/>
        </p:nvSpPr>
        <p:spPr bwMode="auto">
          <a:xfrm>
            <a:off x="5988867" y="3334399"/>
            <a:ext cx="792162" cy="431800"/>
          </a:xfrm>
          <a:prstGeom prst="rect">
            <a:avLst/>
          </a:prstGeom>
          <a:noFill/>
          <a:ln w="28575">
            <a:solidFill>
              <a:srgbClr val="3399FF"/>
            </a:solidFill>
            <a:miter lim="800000"/>
            <a:headEnd/>
            <a:tailEnd/>
          </a:ln>
          <a:effectLst/>
        </p:spPr>
        <p:txBody>
          <a:bodyPr wrap="none" anchor="ctr"/>
          <a:lstStyle/>
          <a:p>
            <a:pPr algn="ctr" eaLnBrk="1" hangingPunct="1"/>
            <a:r>
              <a:rPr lang="zh-CN" altLang="zh-CN" sz="2400">
                <a:latin typeface="楷体_GB2312" pitchFamily="49" charset="-122"/>
                <a:ea typeface="楷体_GB2312" pitchFamily="49" charset="-122"/>
              </a:rPr>
              <a:t>运行</a:t>
            </a:r>
          </a:p>
        </p:txBody>
      </p:sp>
      <p:sp>
        <p:nvSpPr>
          <p:cNvPr id="48" name="Rectangle 21"/>
          <p:cNvSpPr>
            <a:spLocks noChangeArrowheads="1"/>
          </p:cNvSpPr>
          <p:nvPr/>
        </p:nvSpPr>
        <p:spPr bwMode="auto">
          <a:xfrm>
            <a:off x="6781029" y="3334399"/>
            <a:ext cx="792163" cy="431800"/>
          </a:xfrm>
          <a:prstGeom prst="rect">
            <a:avLst/>
          </a:prstGeom>
          <a:noFill/>
          <a:ln w="28575">
            <a:solidFill>
              <a:srgbClr val="3399FF"/>
            </a:solidFill>
            <a:miter lim="800000"/>
            <a:headEnd/>
            <a:tailEnd/>
          </a:ln>
          <a:effectLst/>
        </p:spPr>
        <p:txBody>
          <a:bodyPr wrap="none" anchor="ctr"/>
          <a:lstStyle/>
          <a:p>
            <a:pPr algn="ctr" eaLnBrk="1" hangingPunct="1"/>
            <a:r>
              <a:rPr lang="zh-CN" altLang="zh-CN" sz="2400">
                <a:latin typeface="楷体_GB2312" pitchFamily="49" charset="-122"/>
                <a:ea typeface="楷体_GB2312" pitchFamily="49" charset="-122"/>
              </a:rPr>
              <a:t>运行</a:t>
            </a:r>
          </a:p>
        </p:txBody>
      </p:sp>
      <p:sp>
        <p:nvSpPr>
          <p:cNvPr id="52" name="Line 22"/>
          <p:cNvSpPr>
            <a:spLocks noChangeShapeType="1"/>
          </p:cNvSpPr>
          <p:nvPr/>
        </p:nvSpPr>
        <p:spPr bwMode="auto">
          <a:xfrm flipV="1">
            <a:off x="2807745" y="4216998"/>
            <a:ext cx="4894729" cy="21514"/>
          </a:xfrm>
          <a:prstGeom prst="line">
            <a:avLst/>
          </a:prstGeom>
          <a:noFill/>
          <a:ln w="28575">
            <a:solidFill>
              <a:srgbClr val="3399FF"/>
            </a:solidFill>
            <a:round/>
            <a:headEnd/>
            <a:tailEnd type="arrow" w="med" len="med"/>
          </a:ln>
          <a:effectLst/>
        </p:spPr>
        <p:txBody>
          <a:bodyPr/>
          <a:lstStyle/>
          <a:p>
            <a:endParaRPr lang="zh-CN" altLang="en-US"/>
          </a:p>
        </p:txBody>
      </p:sp>
      <p:sp>
        <p:nvSpPr>
          <p:cNvPr id="53" name="Text Box 23"/>
          <p:cNvSpPr txBox="1">
            <a:spLocks noChangeArrowheads="1"/>
          </p:cNvSpPr>
          <p:nvPr/>
        </p:nvSpPr>
        <p:spPr bwMode="auto">
          <a:xfrm>
            <a:off x="4045767" y="3802712"/>
            <a:ext cx="1008062" cy="457200"/>
          </a:xfrm>
          <a:prstGeom prst="rect">
            <a:avLst/>
          </a:prstGeom>
          <a:noFill/>
          <a:ln w="9525">
            <a:noFill/>
            <a:miter lim="800000"/>
            <a:headEnd/>
            <a:tailEnd/>
          </a:ln>
          <a:effectLst/>
        </p:spPr>
        <p:txBody>
          <a:bodyPr>
            <a:spAutoFit/>
          </a:bodyPr>
          <a:lstStyle/>
          <a:p>
            <a:pPr algn="ctr" eaLnBrk="1" hangingPunct="1"/>
            <a:r>
              <a:rPr lang="zh-CN" altLang="zh-CN" sz="2400" dirty="0">
                <a:latin typeface="楷体_GB2312" pitchFamily="49" charset="-122"/>
                <a:ea typeface="楷体_GB2312" pitchFamily="49" charset="-122"/>
              </a:rPr>
              <a:t>时间</a:t>
            </a:r>
          </a:p>
        </p:txBody>
      </p:sp>
      <p:grpSp>
        <p:nvGrpSpPr>
          <p:cNvPr id="54" name="Group 25"/>
          <p:cNvGrpSpPr>
            <a:grpSpLocks/>
          </p:cNvGrpSpPr>
          <p:nvPr/>
        </p:nvGrpSpPr>
        <p:grpSpPr bwMode="auto">
          <a:xfrm>
            <a:off x="3612379" y="1192862"/>
            <a:ext cx="1368425" cy="2033587"/>
            <a:chOff x="0" y="0"/>
            <a:chExt cx="862" cy="1281"/>
          </a:xfrm>
        </p:grpSpPr>
        <p:sp>
          <p:nvSpPr>
            <p:cNvPr id="55" name="Rectangle 26"/>
            <p:cNvSpPr>
              <a:spLocks noChangeArrowheads="1"/>
            </p:cNvSpPr>
            <p:nvPr/>
          </p:nvSpPr>
          <p:spPr bwMode="auto">
            <a:xfrm>
              <a:off x="0" y="1009"/>
              <a:ext cx="499" cy="272"/>
            </a:xfrm>
            <a:prstGeom prst="rect">
              <a:avLst/>
            </a:prstGeom>
            <a:noFill/>
            <a:ln w="28575">
              <a:solidFill>
                <a:srgbClr val="3399FF"/>
              </a:solidFill>
              <a:miter lim="800000"/>
              <a:headEnd/>
              <a:tailEnd/>
            </a:ln>
            <a:effectLst/>
          </p:spPr>
          <p:txBody>
            <a:bodyPr wrap="none" anchor="ctr"/>
            <a:lstStyle/>
            <a:p>
              <a:pPr algn="ctr" eaLnBrk="1" hangingPunct="1"/>
              <a:r>
                <a:rPr lang="zh-CN" altLang="zh-CN" sz="2400">
                  <a:latin typeface="楷体_GB2312" pitchFamily="49" charset="-122"/>
                  <a:ea typeface="楷体_GB2312" pitchFamily="49" charset="-122"/>
                </a:rPr>
                <a:t>运行</a:t>
              </a:r>
            </a:p>
          </p:txBody>
        </p:sp>
        <p:sp>
          <p:nvSpPr>
            <p:cNvPr id="56" name="Line 27"/>
            <p:cNvSpPr>
              <a:spLocks noChangeShapeType="1"/>
            </p:cNvSpPr>
            <p:nvPr/>
          </p:nvSpPr>
          <p:spPr bwMode="auto">
            <a:xfrm>
              <a:off x="0" y="243"/>
              <a:ext cx="499" cy="0"/>
            </a:xfrm>
            <a:prstGeom prst="line">
              <a:avLst/>
            </a:prstGeom>
            <a:noFill/>
            <a:ln w="38100">
              <a:solidFill>
                <a:srgbClr val="9900FF"/>
              </a:solidFill>
              <a:round/>
              <a:headEnd/>
              <a:tailEnd/>
            </a:ln>
            <a:effectLst/>
          </p:spPr>
          <p:txBody>
            <a:bodyPr/>
            <a:lstStyle/>
            <a:p>
              <a:endParaRPr lang="zh-CN" altLang="en-US"/>
            </a:p>
          </p:txBody>
        </p:sp>
        <p:sp>
          <p:nvSpPr>
            <p:cNvPr id="57" name="Text Box 28"/>
            <p:cNvSpPr txBox="1">
              <a:spLocks noChangeArrowheads="1"/>
            </p:cNvSpPr>
            <p:nvPr/>
          </p:nvSpPr>
          <p:spPr bwMode="auto">
            <a:xfrm>
              <a:off x="260" y="0"/>
              <a:ext cx="602" cy="288"/>
            </a:xfrm>
            <a:prstGeom prst="rect">
              <a:avLst/>
            </a:prstGeom>
            <a:noFill/>
            <a:ln w="9525">
              <a:noFill/>
              <a:miter lim="800000"/>
              <a:headEnd/>
              <a:tailEnd/>
            </a:ln>
            <a:effectLst/>
          </p:spPr>
          <p:txBody>
            <a:bodyPr>
              <a:spAutoFit/>
            </a:bodyPr>
            <a:lstStyle/>
            <a:p>
              <a:pPr eaLnBrk="1" hangingPunct="1"/>
              <a:r>
                <a:rPr lang="zh-CN" altLang="zh-CN" sz="2400">
                  <a:solidFill>
                    <a:srgbClr val="9900FF"/>
                  </a:solidFill>
                  <a:latin typeface="Times New Roman" pitchFamily="18" charset="0"/>
                </a:rPr>
                <a:t>I/O</a:t>
              </a:r>
            </a:p>
          </p:txBody>
        </p:sp>
      </p:grpSp>
      <p:grpSp>
        <p:nvGrpSpPr>
          <p:cNvPr id="58" name="Group 29"/>
          <p:cNvGrpSpPr>
            <a:grpSpLocks/>
          </p:cNvGrpSpPr>
          <p:nvPr/>
        </p:nvGrpSpPr>
        <p:grpSpPr bwMode="auto">
          <a:xfrm>
            <a:off x="4404542" y="1578624"/>
            <a:ext cx="792162" cy="530225"/>
            <a:chOff x="0" y="0"/>
            <a:chExt cx="499" cy="334"/>
          </a:xfrm>
        </p:grpSpPr>
        <p:sp>
          <p:nvSpPr>
            <p:cNvPr id="59" name="Rectangle 30"/>
            <p:cNvSpPr>
              <a:spLocks noChangeArrowheads="1"/>
            </p:cNvSpPr>
            <p:nvPr/>
          </p:nvSpPr>
          <p:spPr bwMode="auto">
            <a:xfrm>
              <a:off x="0" y="62"/>
              <a:ext cx="499" cy="272"/>
            </a:xfrm>
            <a:prstGeom prst="rect">
              <a:avLst/>
            </a:prstGeom>
            <a:noFill/>
            <a:ln w="28575">
              <a:solidFill>
                <a:srgbClr val="3399FF"/>
              </a:solidFill>
              <a:miter lim="800000"/>
              <a:headEnd/>
              <a:tailEnd/>
            </a:ln>
            <a:effectLst/>
          </p:spPr>
          <p:txBody>
            <a:bodyPr wrap="none" anchor="ctr"/>
            <a:lstStyle/>
            <a:p>
              <a:pPr algn="ctr" eaLnBrk="1" hangingPunct="1"/>
              <a:r>
                <a:rPr lang="zh-CN" altLang="zh-CN" sz="2400">
                  <a:latin typeface="楷体_GB2312" pitchFamily="49" charset="-122"/>
                  <a:ea typeface="楷体_GB2312" pitchFamily="49" charset="-122"/>
                </a:rPr>
                <a:t>运行</a:t>
              </a:r>
            </a:p>
          </p:txBody>
        </p:sp>
        <p:sp>
          <p:nvSpPr>
            <p:cNvPr id="60" name="Line 31"/>
            <p:cNvSpPr>
              <a:spLocks noChangeShapeType="1"/>
            </p:cNvSpPr>
            <p:nvPr/>
          </p:nvSpPr>
          <p:spPr bwMode="auto">
            <a:xfrm>
              <a:off x="0" y="0"/>
              <a:ext cx="499" cy="0"/>
            </a:xfrm>
            <a:prstGeom prst="line">
              <a:avLst/>
            </a:prstGeom>
            <a:noFill/>
            <a:ln w="38100">
              <a:solidFill>
                <a:srgbClr val="9900FF"/>
              </a:solidFill>
              <a:round/>
              <a:headEnd/>
              <a:tailEnd/>
            </a:ln>
            <a:effectLst/>
          </p:spPr>
          <p:txBody>
            <a:bodyPr/>
            <a:lstStyle/>
            <a:p>
              <a:endParaRPr lang="zh-CN" altLang="en-US"/>
            </a:p>
          </p:txBody>
        </p:sp>
      </p:grpSp>
      <p:grpSp>
        <p:nvGrpSpPr>
          <p:cNvPr id="61" name="Group 32"/>
          <p:cNvGrpSpPr>
            <a:grpSpLocks/>
          </p:cNvGrpSpPr>
          <p:nvPr/>
        </p:nvGrpSpPr>
        <p:grpSpPr bwMode="auto">
          <a:xfrm>
            <a:off x="5196704" y="1578624"/>
            <a:ext cx="1079500" cy="1106488"/>
            <a:chOff x="0" y="0"/>
            <a:chExt cx="680" cy="697"/>
          </a:xfrm>
        </p:grpSpPr>
        <p:sp>
          <p:nvSpPr>
            <p:cNvPr id="62" name="Rectangle 33"/>
            <p:cNvSpPr>
              <a:spLocks noChangeArrowheads="1"/>
            </p:cNvSpPr>
            <p:nvPr/>
          </p:nvSpPr>
          <p:spPr bwMode="auto">
            <a:xfrm>
              <a:off x="0" y="425"/>
              <a:ext cx="499" cy="272"/>
            </a:xfrm>
            <a:prstGeom prst="rect">
              <a:avLst/>
            </a:prstGeom>
            <a:noFill/>
            <a:ln w="28575">
              <a:solidFill>
                <a:srgbClr val="3399FF"/>
              </a:solidFill>
              <a:miter lim="800000"/>
              <a:headEnd/>
              <a:tailEnd/>
            </a:ln>
            <a:effectLst/>
          </p:spPr>
          <p:txBody>
            <a:bodyPr wrap="none" anchor="ctr"/>
            <a:lstStyle/>
            <a:p>
              <a:pPr algn="ctr" eaLnBrk="1" hangingPunct="1"/>
              <a:r>
                <a:rPr lang="zh-CN" altLang="zh-CN" sz="2400">
                  <a:latin typeface="楷体_GB2312" pitchFamily="49" charset="-122"/>
                  <a:ea typeface="楷体_GB2312" pitchFamily="49" charset="-122"/>
                </a:rPr>
                <a:t>运行</a:t>
              </a:r>
            </a:p>
          </p:txBody>
        </p:sp>
        <p:grpSp>
          <p:nvGrpSpPr>
            <p:cNvPr id="63" name="Group 34"/>
            <p:cNvGrpSpPr>
              <a:grpSpLocks/>
            </p:cNvGrpSpPr>
            <p:nvPr/>
          </p:nvGrpSpPr>
          <p:grpSpPr bwMode="auto">
            <a:xfrm>
              <a:off x="0" y="75"/>
              <a:ext cx="680" cy="288"/>
              <a:chOff x="0" y="0"/>
              <a:chExt cx="680" cy="288"/>
            </a:xfrm>
          </p:grpSpPr>
          <p:sp>
            <p:nvSpPr>
              <p:cNvPr id="65" name="Line 35"/>
              <p:cNvSpPr>
                <a:spLocks noChangeShapeType="1"/>
              </p:cNvSpPr>
              <p:nvPr/>
            </p:nvSpPr>
            <p:spPr bwMode="auto">
              <a:xfrm>
                <a:off x="0" y="243"/>
                <a:ext cx="499" cy="0"/>
              </a:xfrm>
              <a:prstGeom prst="line">
                <a:avLst/>
              </a:prstGeom>
              <a:noFill/>
              <a:ln w="38100">
                <a:solidFill>
                  <a:srgbClr val="9900FF"/>
                </a:solidFill>
                <a:round/>
                <a:headEnd/>
                <a:tailEnd/>
              </a:ln>
              <a:effectLst/>
            </p:spPr>
            <p:txBody>
              <a:bodyPr/>
              <a:lstStyle/>
              <a:p>
                <a:endParaRPr lang="zh-CN" altLang="en-US"/>
              </a:p>
            </p:txBody>
          </p:sp>
          <p:sp>
            <p:nvSpPr>
              <p:cNvPr id="66" name="Text Box 36"/>
              <p:cNvSpPr txBox="1">
                <a:spLocks noChangeArrowheads="1"/>
              </p:cNvSpPr>
              <p:nvPr/>
            </p:nvSpPr>
            <p:spPr bwMode="auto">
              <a:xfrm>
                <a:off x="78" y="0"/>
                <a:ext cx="602" cy="288"/>
              </a:xfrm>
              <a:prstGeom prst="rect">
                <a:avLst/>
              </a:prstGeom>
              <a:noFill/>
              <a:ln w="9525">
                <a:noFill/>
                <a:miter lim="800000"/>
                <a:headEnd/>
                <a:tailEnd/>
              </a:ln>
              <a:effectLst/>
            </p:spPr>
            <p:txBody>
              <a:bodyPr>
                <a:spAutoFit/>
              </a:bodyPr>
              <a:lstStyle/>
              <a:p>
                <a:pPr eaLnBrk="1" hangingPunct="1"/>
                <a:r>
                  <a:rPr lang="zh-CN" altLang="zh-CN" sz="2400">
                    <a:solidFill>
                      <a:srgbClr val="9900FF"/>
                    </a:solidFill>
                    <a:latin typeface="Times New Roman" pitchFamily="18" charset="0"/>
                  </a:rPr>
                  <a:t>I/O</a:t>
                </a:r>
              </a:p>
            </p:txBody>
          </p:sp>
        </p:grpSp>
        <p:sp>
          <p:nvSpPr>
            <p:cNvPr id="64" name="Line 37"/>
            <p:cNvSpPr>
              <a:spLocks noChangeShapeType="1"/>
            </p:cNvSpPr>
            <p:nvPr/>
          </p:nvSpPr>
          <p:spPr bwMode="auto">
            <a:xfrm>
              <a:off x="0" y="0"/>
              <a:ext cx="499" cy="0"/>
            </a:xfrm>
            <a:prstGeom prst="line">
              <a:avLst/>
            </a:prstGeom>
            <a:noFill/>
            <a:ln w="38100">
              <a:solidFill>
                <a:srgbClr val="9900FF"/>
              </a:solidFill>
              <a:round/>
              <a:headEnd/>
              <a:tailEnd/>
            </a:ln>
            <a:effectLst/>
          </p:spPr>
          <p:txBody>
            <a:bodyPr/>
            <a:lstStyle/>
            <a:p>
              <a:endParaRPr lang="zh-CN" altLang="en-US"/>
            </a:p>
          </p:txBody>
        </p:sp>
      </p:grpSp>
      <p:grpSp>
        <p:nvGrpSpPr>
          <p:cNvPr id="67" name="Group 38"/>
          <p:cNvGrpSpPr>
            <a:grpSpLocks/>
          </p:cNvGrpSpPr>
          <p:nvPr/>
        </p:nvGrpSpPr>
        <p:grpSpPr bwMode="auto">
          <a:xfrm>
            <a:off x="5988867" y="1578624"/>
            <a:ext cx="792162" cy="530225"/>
            <a:chOff x="0" y="0"/>
            <a:chExt cx="499" cy="334"/>
          </a:xfrm>
        </p:grpSpPr>
        <p:sp>
          <p:nvSpPr>
            <p:cNvPr id="68" name="Rectangle 39"/>
            <p:cNvSpPr>
              <a:spLocks noChangeArrowheads="1"/>
            </p:cNvSpPr>
            <p:nvPr/>
          </p:nvSpPr>
          <p:spPr bwMode="auto">
            <a:xfrm>
              <a:off x="0" y="62"/>
              <a:ext cx="499" cy="272"/>
            </a:xfrm>
            <a:prstGeom prst="rect">
              <a:avLst/>
            </a:prstGeom>
            <a:noFill/>
            <a:ln w="28575">
              <a:solidFill>
                <a:srgbClr val="3399FF"/>
              </a:solidFill>
              <a:miter lim="800000"/>
              <a:headEnd/>
              <a:tailEnd/>
            </a:ln>
            <a:effectLst/>
          </p:spPr>
          <p:txBody>
            <a:bodyPr wrap="none" anchor="ctr"/>
            <a:lstStyle/>
            <a:p>
              <a:pPr algn="ctr" eaLnBrk="1" hangingPunct="1"/>
              <a:r>
                <a:rPr lang="zh-CN" altLang="zh-CN" sz="2400">
                  <a:latin typeface="楷体_GB2312" pitchFamily="49" charset="-122"/>
                  <a:ea typeface="楷体_GB2312" pitchFamily="49" charset="-122"/>
                </a:rPr>
                <a:t>运行</a:t>
              </a:r>
            </a:p>
          </p:txBody>
        </p:sp>
        <p:sp>
          <p:nvSpPr>
            <p:cNvPr id="69" name="Line 40"/>
            <p:cNvSpPr>
              <a:spLocks noChangeShapeType="1"/>
            </p:cNvSpPr>
            <p:nvPr/>
          </p:nvSpPr>
          <p:spPr bwMode="auto">
            <a:xfrm>
              <a:off x="0" y="0"/>
              <a:ext cx="499" cy="0"/>
            </a:xfrm>
            <a:prstGeom prst="line">
              <a:avLst/>
            </a:prstGeom>
            <a:noFill/>
            <a:ln w="38100">
              <a:solidFill>
                <a:srgbClr val="9900FF"/>
              </a:solidFill>
              <a:round/>
              <a:headEnd/>
              <a:tailEnd/>
            </a:ln>
            <a:effectLst/>
          </p:spPr>
          <p:txBody>
            <a:bodyPr/>
            <a:lstStyle/>
            <a:p>
              <a:endParaRPr lang="zh-CN" altLang="en-US"/>
            </a:p>
          </p:txBody>
        </p:sp>
      </p:grpSp>
      <p:sp>
        <p:nvSpPr>
          <p:cNvPr id="70" name="Line 41"/>
          <p:cNvSpPr>
            <a:spLocks noChangeShapeType="1"/>
          </p:cNvSpPr>
          <p:nvPr/>
        </p:nvSpPr>
        <p:spPr bwMode="auto">
          <a:xfrm>
            <a:off x="6492104" y="1564337"/>
            <a:ext cx="288925" cy="0"/>
          </a:xfrm>
          <a:prstGeom prst="line">
            <a:avLst/>
          </a:prstGeom>
          <a:noFill/>
          <a:ln w="38100">
            <a:solidFill>
              <a:srgbClr val="3399FF"/>
            </a:solidFill>
            <a:round/>
            <a:headEnd/>
            <a:tailEnd/>
          </a:ln>
          <a:effectLst/>
        </p:spPr>
        <p:txBody>
          <a:bodyPr wrap="none" anchor="ctr"/>
          <a:lstStyle/>
          <a:p>
            <a:endParaRPr lang="zh-CN" altLang="en-US"/>
          </a:p>
        </p:txBody>
      </p:sp>
      <p:sp>
        <p:nvSpPr>
          <p:cNvPr id="71" name="文本框 19"/>
          <p:cNvSpPr txBox="1">
            <a:spLocks noChangeArrowheads="1"/>
          </p:cNvSpPr>
          <p:nvPr/>
        </p:nvSpPr>
        <p:spPr bwMode="auto">
          <a:xfrm>
            <a:off x="1097584" y="5370001"/>
            <a:ext cx="32781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Blip>
                <a:blip r:embed="rId3"/>
              </a:buBlip>
            </a:pPr>
            <a:r>
              <a:rPr lang="zh-CN" altLang="en-US" sz="1600" dirty="0">
                <a:solidFill>
                  <a:srgbClr val="090911"/>
                </a:solidFill>
                <a:latin typeface="微软雅黑" panose="020B0503020204020204" pitchFamily="34" charset="-122"/>
                <a:ea typeface="微软雅黑" panose="020B0503020204020204" pitchFamily="34" charset="-122"/>
              </a:rPr>
              <a:t>多道性</a:t>
            </a:r>
            <a:endParaRPr lang="en-US" altLang="zh-CN" sz="1600" dirty="0">
              <a:solidFill>
                <a:srgbClr val="090911"/>
              </a:solidFill>
              <a:latin typeface="微软雅黑" panose="020B0503020204020204" pitchFamily="34" charset="-122"/>
              <a:ea typeface="微软雅黑" panose="020B0503020204020204" pitchFamily="34" charset="-122"/>
            </a:endParaRPr>
          </a:p>
          <a:p>
            <a:pPr eaLnBrk="1" hangingPunct="1">
              <a:buBlip>
                <a:blip r:embed="rId3"/>
              </a:buBlip>
            </a:pPr>
            <a:r>
              <a:rPr lang="zh-CN" altLang="en-US" sz="1600" dirty="0">
                <a:solidFill>
                  <a:srgbClr val="090911"/>
                </a:solidFill>
                <a:latin typeface="微软雅黑" panose="020B0503020204020204" pitchFamily="34" charset="-122"/>
                <a:ea typeface="微软雅黑" panose="020B0503020204020204" pitchFamily="34" charset="-122"/>
              </a:rPr>
              <a:t>无序性</a:t>
            </a:r>
            <a:endParaRPr lang="en-US" altLang="zh-CN" sz="1600" dirty="0">
              <a:solidFill>
                <a:srgbClr val="090911"/>
              </a:solidFill>
              <a:latin typeface="微软雅黑" panose="020B0503020204020204" pitchFamily="34" charset="-122"/>
              <a:ea typeface="微软雅黑" panose="020B0503020204020204" pitchFamily="34" charset="-122"/>
            </a:endParaRPr>
          </a:p>
          <a:p>
            <a:pPr eaLnBrk="1" hangingPunct="1">
              <a:buBlip>
                <a:blip r:embed="rId3"/>
              </a:buBlip>
            </a:pPr>
            <a:r>
              <a:rPr lang="zh-CN" altLang="en-US" sz="1600" dirty="0">
                <a:solidFill>
                  <a:srgbClr val="090911"/>
                </a:solidFill>
                <a:latin typeface="微软雅黑" panose="020B0503020204020204" pitchFamily="34" charset="-122"/>
                <a:ea typeface="微软雅黑" panose="020B0503020204020204" pitchFamily="34" charset="-122"/>
              </a:rPr>
              <a:t>调度性</a:t>
            </a:r>
            <a:endParaRPr lang="en-US" altLang="zh-CN" sz="1600" dirty="0">
              <a:solidFill>
                <a:srgbClr val="09091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97103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checkerboard(across)">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strips(downRight)">
                                      <p:cBhvr>
                                        <p:cTn id="12" dur="500"/>
                                        <p:tgtEl>
                                          <p:spTgt spid="5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strips(downRight)">
                                      <p:cBhvr>
                                        <p:cTn id="17" dur="500"/>
                                        <p:tgtEl>
                                          <p:spTgt spid="58"/>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strips(downRight)">
                                      <p:cBhvr>
                                        <p:cTn id="22" dur="500"/>
                                        <p:tgtEl>
                                          <p:spTgt spid="61"/>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67"/>
                                        </p:tgtEl>
                                        <p:attrNameLst>
                                          <p:attrName>style.visibility</p:attrName>
                                        </p:attrNameLst>
                                      </p:cBhvr>
                                      <p:to>
                                        <p:strVal val="visible"/>
                                      </p:to>
                                    </p:set>
                                    <p:animEffect transition="in" filter="strips(downRight)">
                                      <p:cBhvr>
                                        <p:cTn id="27" dur="500"/>
                                        <p:tgtEl>
                                          <p:spTgt spid="67"/>
                                        </p:tgtEl>
                                      </p:cBhvr>
                                    </p:animEffect>
                                  </p:childTnLst>
                                </p:cTn>
                              </p:par>
                              <p:par>
                                <p:cTn id="28" presetID="5" presetClass="entr" presetSubtype="10" fill="hold" nodeType="withEffect">
                                  <p:stCondLst>
                                    <p:cond delay="5000"/>
                                  </p:stCondLst>
                                  <p:childTnLst>
                                    <p:set>
                                      <p:cBhvr>
                                        <p:cTn id="29" dur="1" fill="hold">
                                          <p:stCondLst>
                                            <p:cond delay="0"/>
                                          </p:stCondLst>
                                        </p:cTn>
                                        <p:tgtEl>
                                          <p:spTgt spid="42"/>
                                        </p:tgtEl>
                                        <p:attrNameLst>
                                          <p:attrName>style.visibility</p:attrName>
                                        </p:attrNameLst>
                                      </p:cBhvr>
                                      <p:to>
                                        <p:strVal val="visible"/>
                                      </p:to>
                                    </p:set>
                                    <p:animEffect transition="in" filter="checkerboard(across)">
                                      <p:cBhvr>
                                        <p:cTn id="30" dur="500"/>
                                        <p:tgtEl>
                                          <p:spTgt spid="42"/>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checkerboard(across)">
                                      <p:cBhvr>
                                        <p:cTn id="35" dur="500"/>
                                        <p:tgtEl>
                                          <p:spTgt spid="40"/>
                                        </p:tgtEl>
                                      </p:cBhvr>
                                    </p:animEffect>
                                  </p:childTnLst>
                                </p:cTn>
                              </p:par>
                              <p:par>
                                <p:cTn id="36" presetID="5" presetClass="entr" presetSubtype="10" fill="hold" grpId="0" nodeType="withEffect">
                                  <p:stCondLst>
                                    <p:cond delay="0"/>
                                  </p:stCondLst>
                                  <p:childTnLst>
                                    <p:set>
                                      <p:cBhvr>
                                        <p:cTn id="37" dur="1" fill="hold">
                                          <p:stCondLst>
                                            <p:cond delay="0"/>
                                          </p:stCondLst>
                                        </p:cTn>
                                        <p:tgtEl>
                                          <p:spTgt spid="41"/>
                                        </p:tgtEl>
                                        <p:attrNameLst>
                                          <p:attrName>style.visibility</p:attrName>
                                        </p:attrNameLst>
                                      </p:cBhvr>
                                      <p:to>
                                        <p:strVal val="visible"/>
                                      </p:to>
                                    </p:set>
                                    <p:animEffect transition="in" filter="checkerboard(across)">
                                      <p:cBhvr>
                                        <p:cTn id="38" dur="500"/>
                                        <p:tgtEl>
                                          <p:spTgt spid="41"/>
                                        </p:tgtEl>
                                      </p:cBhvr>
                                    </p:animEffect>
                                  </p:childTnLst>
                                </p:cTn>
                              </p:par>
                              <p:par>
                                <p:cTn id="39" presetID="5" presetClass="entr" presetSubtype="1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animEffect transition="in" filter="checkerboard(across)">
                                      <p:cBhvr>
                                        <p:cTn id="41" dur="500"/>
                                        <p:tgtEl>
                                          <p:spTgt spid="43"/>
                                        </p:tgtEl>
                                      </p:cBhvr>
                                    </p:animEffect>
                                  </p:childTnLst>
                                </p:cTn>
                              </p:par>
                              <p:par>
                                <p:cTn id="42" presetID="5" presetClass="entr" presetSubtype="10" fill="hold" grpId="0" nodeType="withEffect">
                                  <p:stCondLst>
                                    <p:cond delay="0"/>
                                  </p:stCondLst>
                                  <p:childTnLst>
                                    <p:set>
                                      <p:cBhvr>
                                        <p:cTn id="43" dur="1" fill="hold">
                                          <p:stCondLst>
                                            <p:cond delay="0"/>
                                          </p:stCondLst>
                                        </p:cTn>
                                        <p:tgtEl>
                                          <p:spTgt spid="44"/>
                                        </p:tgtEl>
                                        <p:attrNameLst>
                                          <p:attrName>style.visibility</p:attrName>
                                        </p:attrNameLst>
                                      </p:cBhvr>
                                      <p:to>
                                        <p:strVal val="visible"/>
                                      </p:to>
                                    </p:set>
                                    <p:animEffect transition="in" filter="checkerboard(across)">
                                      <p:cBhvr>
                                        <p:cTn id="44" dur="500"/>
                                        <p:tgtEl>
                                          <p:spTgt spid="44"/>
                                        </p:tgtEl>
                                      </p:cBhvr>
                                    </p:animEffect>
                                  </p:childTnLst>
                                </p:cTn>
                              </p:par>
                              <p:par>
                                <p:cTn id="45" presetID="5" presetClass="entr" presetSubtype="10"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checkerboard(across)">
                                      <p:cBhvr>
                                        <p:cTn id="47" dur="500"/>
                                        <p:tgtEl>
                                          <p:spTgt spid="45"/>
                                        </p:tgtEl>
                                      </p:cBhvr>
                                    </p:animEffect>
                                  </p:childTnLst>
                                </p:cTn>
                              </p:par>
                              <p:par>
                                <p:cTn id="48" presetID="5" presetClass="entr" presetSubtype="10" fill="hold" grpId="0" nodeType="withEffect">
                                  <p:stCondLst>
                                    <p:cond delay="0"/>
                                  </p:stCondLst>
                                  <p:childTnLst>
                                    <p:set>
                                      <p:cBhvr>
                                        <p:cTn id="49" dur="1" fill="hold">
                                          <p:stCondLst>
                                            <p:cond delay="0"/>
                                          </p:stCondLst>
                                        </p:cTn>
                                        <p:tgtEl>
                                          <p:spTgt spid="46"/>
                                        </p:tgtEl>
                                        <p:attrNameLst>
                                          <p:attrName>style.visibility</p:attrName>
                                        </p:attrNameLst>
                                      </p:cBhvr>
                                      <p:to>
                                        <p:strVal val="visible"/>
                                      </p:to>
                                    </p:set>
                                    <p:animEffect transition="in" filter="checkerboard(across)">
                                      <p:cBhvr>
                                        <p:cTn id="50" dur="500"/>
                                        <p:tgtEl>
                                          <p:spTgt spid="46"/>
                                        </p:tgtEl>
                                      </p:cBhvr>
                                    </p:animEffect>
                                  </p:childTnLst>
                                </p:cTn>
                              </p:par>
                              <p:par>
                                <p:cTn id="51" presetID="5" presetClass="entr" presetSubtype="10" fill="hold" grpId="0" nodeType="withEffect">
                                  <p:stCondLst>
                                    <p:cond delay="0"/>
                                  </p:stCondLst>
                                  <p:childTnLst>
                                    <p:set>
                                      <p:cBhvr>
                                        <p:cTn id="52" dur="1" fill="hold">
                                          <p:stCondLst>
                                            <p:cond delay="0"/>
                                          </p:stCondLst>
                                        </p:cTn>
                                        <p:tgtEl>
                                          <p:spTgt spid="47"/>
                                        </p:tgtEl>
                                        <p:attrNameLst>
                                          <p:attrName>style.visibility</p:attrName>
                                        </p:attrNameLst>
                                      </p:cBhvr>
                                      <p:to>
                                        <p:strVal val="visible"/>
                                      </p:to>
                                    </p:set>
                                    <p:animEffect transition="in" filter="checkerboard(across)">
                                      <p:cBhvr>
                                        <p:cTn id="53" dur="500"/>
                                        <p:tgtEl>
                                          <p:spTgt spid="47"/>
                                        </p:tgtEl>
                                      </p:cBhvr>
                                    </p:animEffect>
                                  </p:childTnLst>
                                </p:cTn>
                              </p:par>
                              <p:par>
                                <p:cTn id="54" presetID="5" presetClass="entr" presetSubtype="10" fill="hold" grpId="0" nodeType="withEffect">
                                  <p:stCondLst>
                                    <p:cond delay="0"/>
                                  </p:stCondLst>
                                  <p:childTnLst>
                                    <p:set>
                                      <p:cBhvr>
                                        <p:cTn id="55" dur="1" fill="hold">
                                          <p:stCondLst>
                                            <p:cond delay="0"/>
                                          </p:stCondLst>
                                        </p:cTn>
                                        <p:tgtEl>
                                          <p:spTgt spid="48"/>
                                        </p:tgtEl>
                                        <p:attrNameLst>
                                          <p:attrName>style.visibility</p:attrName>
                                        </p:attrNameLst>
                                      </p:cBhvr>
                                      <p:to>
                                        <p:strVal val="visible"/>
                                      </p:to>
                                    </p:set>
                                    <p:animEffect transition="in" filter="checkerboard(across)">
                                      <p:cBhvr>
                                        <p:cTn id="56" dur="500"/>
                                        <p:tgtEl>
                                          <p:spTgt spid="4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52"/>
                                        </p:tgtEl>
                                        <p:attrNameLst>
                                          <p:attrName>style.visibility</p:attrName>
                                        </p:attrNameLst>
                                      </p:cBhvr>
                                      <p:to>
                                        <p:strVal val="visible"/>
                                      </p:to>
                                    </p:set>
                                    <p:animEffect transition="in" filter="wipe(down)">
                                      <p:cBhvr>
                                        <p:cTn id="61" dur="500"/>
                                        <p:tgtEl>
                                          <p:spTgt spid="52"/>
                                        </p:tgtEl>
                                      </p:cBhvr>
                                    </p:animEffect>
                                  </p:childTnLst>
                                </p:cTn>
                              </p:par>
                            </p:childTnLst>
                          </p:cTn>
                        </p:par>
                      </p:childTnLst>
                    </p:cTn>
                  </p:par>
                  <p:par>
                    <p:cTn id="62" fill="hold">
                      <p:stCondLst>
                        <p:cond delay="indefinite"/>
                      </p:stCondLst>
                      <p:childTnLst>
                        <p:par>
                          <p:cTn id="63" fill="hold">
                            <p:stCondLst>
                              <p:cond delay="0"/>
                            </p:stCondLst>
                            <p:childTnLst>
                              <p:par>
                                <p:cTn id="64" presetID="4" presetClass="entr" presetSubtype="16" fill="hold" grpId="0" nodeType="clickEffect">
                                  <p:stCondLst>
                                    <p:cond delay="0"/>
                                  </p:stCondLst>
                                  <p:childTnLst>
                                    <p:set>
                                      <p:cBhvr>
                                        <p:cTn id="65" dur="1" fill="hold">
                                          <p:stCondLst>
                                            <p:cond delay="0"/>
                                          </p:stCondLst>
                                        </p:cTn>
                                        <p:tgtEl>
                                          <p:spTgt spid="53"/>
                                        </p:tgtEl>
                                        <p:attrNameLst>
                                          <p:attrName>style.visibility</p:attrName>
                                        </p:attrNameLst>
                                      </p:cBhvr>
                                      <p:to>
                                        <p:strVal val="visible"/>
                                      </p:to>
                                    </p:set>
                                    <p:animEffect transition="in" filter="box(in)">
                                      <p:cBhvr>
                                        <p:cTn id="66" dur="500"/>
                                        <p:tgtEl>
                                          <p:spTgt spid="53"/>
                                        </p:tgtEl>
                                      </p:cBhvr>
                                    </p:animEffect>
                                  </p:childTnLst>
                                </p:cTn>
                              </p:par>
                            </p:childTnLst>
                          </p:cTn>
                        </p:par>
                      </p:childTnLst>
                    </p:cTn>
                  </p:par>
                  <p:par>
                    <p:cTn id="67" fill="hold">
                      <p:stCondLst>
                        <p:cond delay="indefinite"/>
                      </p:stCondLst>
                      <p:childTnLst>
                        <p:par>
                          <p:cTn id="68" fill="hold">
                            <p:stCondLst>
                              <p:cond delay="0"/>
                            </p:stCondLst>
                            <p:childTnLst>
                              <p:par>
                                <p:cTn id="69" presetID="18" presetClass="entr" presetSubtype="12" fill="hold" grpId="0" nodeType="clickEffect">
                                  <p:stCondLst>
                                    <p:cond delay="0"/>
                                  </p:stCondLst>
                                  <p:childTnLst>
                                    <p:set>
                                      <p:cBhvr>
                                        <p:cTn id="70" dur="1" fill="hold">
                                          <p:stCondLst>
                                            <p:cond delay="0"/>
                                          </p:stCondLst>
                                        </p:cTn>
                                        <p:tgtEl>
                                          <p:spTgt spid="71"/>
                                        </p:tgtEl>
                                        <p:attrNameLst>
                                          <p:attrName>style.visibility</p:attrName>
                                        </p:attrNameLst>
                                      </p:cBhvr>
                                      <p:to>
                                        <p:strVal val="visible"/>
                                      </p:to>
                                    </p:set>
                                    <p:animEffect transition="in" filter="strips(downLeft)">
                                      <p:cBhvr>
                                        <p:cTn id="71" dur="500"/>
                                        <p:tgtEl>
                                          <p:spTgt spid="71"/>
                                        </p:tgtEl>
                                      </p:cBhvr>
                                    </p:animEffect>
                                  </p:childTnLst>
                                </p:cTn>
                              </p:par>
                            </p:childTnLst>
                          </p:cTn>
                        </p:par>
                      </p:childTnLst>
                    </p:cTn>
                  </p:par>
                  <p:par>
                    <p:cTn id="72" fill="hold">
                      <p:stCondLst>
                        <p:cond delay="indefinite"/>
                      </p:stCondLst>
                      <p:childTnLst>
                        <p:par>
                          <p:cTn id="73" fill="hold">
                            <p:stCondLst>
                              <p:cond delay="0"/>
                            </p:stCondLst>
                            <p:childTnLst>
                              <p:par>
                                <p:cTn id="74" presetID="8" presetClass="entr" presetSubtype="16" fill="hold" grpId="0" nodeType="clickEffect">
                                  <p:stCondLst>
                                    <p:cond delay="0"/>
                                  </p:stCondLst>
                                  <p:childTnLst>
                                    <p:set>
                                      <p:cBhvr>
                                        <p:cTn id="75" dur="1" fill="hold">
                                          <p:stCondLst>
                                            <p:cond delay="0"/>
                                          </p:stCondLst>
                                        </p:cTn>
                                        <p:tgtEl>
                                          <p:spTgt spid="94"/>
                                        </p:tgtEl>
                                        <p:attrNameLst>
                                          <p:attrName>style.visibility</p:attrName>
                                        </p:attrNameLst>
                                      </p:cBhvr>
                                      <p:to>
                                        <p:strVal val="visible"/>
                                      </p:to>
                                    </p:set>
                                    <p:animEffect transition="in" filter="diamond(in)">
                                      <p:cBhvr>
                                        <p:cTn id="76" dur="20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p:bldP spid="31" grpId="0" animBg="1" autoUpdateAnimBg="0"/>
      <p:bldP spid="40" grpId="0" autoUpdateAnimBg="0"/>
      <p:bldP spid="41" grpId="0" animBg="1"/>
      <p:bldP spid="43" grpId="0" animBg="1" autoUpdateAnimBg="0"/>
      <p:bldP spid="44" grpId="0" animBg="1" autoUpdateAnimBg="0"/>
      <p:bldP spid="45" grpId="0" animBg="1" autoUpdateAnimBg="0"/>
      <p:bldP spid="46" grpId="0" animBg="1" autoUpdateAnimBg="0"/>
      <p:bldP spid="47" grpId="0" animBg="1" autoUpdateAnimBg="0"/>
      <p:bldP spid="48" grpId="0" animBg="1" autoUpdateAnimBg="0"/>
      <p:bldP spid="52" grpId="0" animBg="1"/>
      <p:bldP spid="53" grpId="0"/>
      <p:bldP spid="7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文本框 48"/>
          <p:cNvSpPr txBox="1">
            <a:spLocks noChangeArrowheads="1"/>
          </p:cNvSpPr>
          <p:nvPr/>
        </p:nvSpPr>
        <p:spPr bwMode="auto">
          <a:xfrm>
            <a:off x="5838825" y="1891067"/>
            <a:ext cx="51498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05050"/>
                </a:solidFill>
                <a:latin typeface="微软雅黑" panose="020B0503020204020204" pitchFamily="34" charset="-122"/>
                <a:ea typeface="微软雅黑" panose="020B0503020204020204" pitchFamily="34" charset="-122"/>
              </a:rPr>
              <a:t>处理机管理问题</a:t>
            </a:r>
            <a:r>
              <a:rPr lang="en-US" altLang="zh-CN" sz="1600" dirty="0">
                <a:solidFill>
                  <a:srgbClr val="505050"/>
                </a:solidFill>
                <a:latin typeface="微软雅黑" panose="020B0503020204020204" pitchFamily="34" charset="-122"/>
                <a:ea typeface="微软雅黑" panose="020B0503020204020204" pitchFamily="34" charset="-122"/>
              </a:rPr>
              <a:t>—</a:t>
            </a:r>
            <a:r>
              <a:rPr lang="zh-CN" altLang="en-US" sz="1600" dirty="0">
                <a:solidFill>
                  <a:srgbClr val="505050"/>
                </a:solidFill>
                <a:latin typeface="微软雅黑" panose="020B0503020204020204" pitchFamily="34" charset="-122"/>
                <a:ea typeface="微软雅黑" panose="020B0503020204020204" pitchFamily="34" charset="-122"/>
              </a:rPr>
              <a:t>分配与回收、提高利用率</a:t>
            </a:r>
          </a:p>
        </p:txBody>
      </p:sp>
      <p:sp>
        <p:nvSpPr>
          <p:cNvPr id="50" name="文本框 49"/>
          <p:cNvSpPr txBox="1">
            <a:spLocks noChangeArrowheads="1"/>
          </p:cNvSpPr>
          <p:nvPr/>
        </p:nvSpPr>
        <p:spPr bwMode="auto">
          <a:xfrm>
            <a:off x="5838825" y="2585175"/>
            <a:ext cx="51498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05050"/>
                </a:solidFill>
                <a:latin typeface="微软雅黑" panose="020B0503020204020204" pitchFamily="34" charset="-122"/>
                <a:ea typeface="微软雅黑" panose="020B0503020204020204" pitchFamily="34" charset="-122"/>
              </a:rPr>
              <a:t>内存管理问题</a:t>
            </a:r>
            <a:r>
              <a:rPr lang="en-US" altLang="zh-CN" sz="1600" dirty="0">
                <a:solidFill>
                  <a:srgbClr val="505050"/>
                </a:solidFill>
                <a:latin typeface="微软雅黑" panose="020B0503020204020204" pitchFamily="34" charset="-122"/>
                <a:ea typeface="微软雅黑" panose="020B0503020204020204" pitchFamily="34" charset="-122"/>
              </a:rPr>
              <a:t>—</a:t>
            </a:r>
            <a:r>
              <a:rPr lang="zh-CN" altLang="en-US" sz="1600" dirty="0">
                <a:solidFill>
                  <a:srgbClr val="505050"/>
                </a:solidFill>
                <a:latin typeface="微软雅黑" panose="020B0503020204020204" pitchFamily="34" charset="-122"/>
                <a:ea typeface="微软雅黑" panose="020B0503020204020204" pitchFamily="34" charset="-122"/>
              </a:rPr>
              <a:t>分配与回收、信息保护</a:t>
            </a:r>
          </a:p>
        </p:txBody>
      </p:sp>
      <p:sp>
        <p:nvSpPr>
          <p:cNvPr id="56" name="矩形 55"/>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 name="组合 56"/>
          <p:cNvGrpSpPr/>
          <p:nvPr/>
        </p:nvGrpSpPr>
        <p:grpSpPr>
          <a:xfrm>
            <a:off x="245745" y="213360"/>
            <a:ext cx="563880" cy="563880"/>
            <a:chOff x="276225" y="213360"/>
            <a:chExt cx="563880" cy="563880"/>
          </a:xfrm>
          <a:solidFill>
            <a:srgbClr val="3D7351"/>
          </a:solidFill>
        </p:grpSpPr>
        <p:sp>
          <p:nvSpPr>
            <p:cNvPr id="58" name="矩形 57"/>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59" name="椭圆 58"/>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7"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38" name="文本框 25"/>
          <p:cNvSpPr txBox="1">
            <a:spLocks noChangeArrowheads="1"/>
          </p:cNvSpPr>
          <p:nvPr/>
        </p:nvSpPr>
        <p:spPr bwMode="auto">
          <a:xfrm>
            <a:off x="902970" y="212725"/>
            <a:ext cx="51026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3.</a:t>
            </a:r>
            <a:r>
              <a:rPr lang="zh-CN" altLang="en-US" sz="2400" b="1" dirty="0">
                <a:solidFill>
                  <a:srgbClr val="3D7351"/>
                </a:solidFill>
                <a:latin typeface="微软雅黑" panose="020B0503020204020204" pitchFamily="34" charset="-122"/>
                <a:ea typeface="微软雅黑" panose="020B0503020204020204" pitchFamily="34" charset="-122"/>
              </a:rPr>
              <a:t>多道批处理系统</a:t>
            </a:r>
            <a:r>
              <a:rPr lang="en-US" altLang="zh-CN" sz="2400" b="1" dirty="0">
                <a:solidFill>
                  <a:srgbClr val="3D7351"/>
                </a:solidFill>
                <a:latin typeface="微软雅黑" panose="020B0503020204020204" pitchFamily="34" charset="-122"/>
                <a:ea typeface="微软雅黑" panose="020B0503020204020204" pitchFamily="34" charset="-122"/>
              </a:rPr>
              <a:t>—</a:t>
            </a:r>
            <a:r>
              <a:rPr lang="zh-CN" altLang="en-US" sz="2400" b="1" dirty="0">
                <a:solidFill>
                  <a:srgbClr val="3D7351"/>
                </a:solidFill>
                <a:latin typeface="微软雅黑" panose="020B0503020204020204" pitchFamily="34" charset="-122"/>
                <a:ea typeface="微软雅黑" panose="020B0503020204020204" pitchFamily="34" charset="-122"/>
              </a:rPr>
              <a:t>需要解决的问题</a:t>
            </a:r>
          </a:p>
        </p:txBody>
      </p:sp>
      <p:sp>
        <p:nvSpPr>
          <p:cNvPr id="74" name="文本框 48"/>
          <p:cNvSpPr txBox="1">
            <a:spLocks noChangeArrowheads="1"/>
          </p:cNvSpPr>
          <p:nvPr/>
        </p:nvSpPr>
        <p:spPr bwMode="auto">
          <a:xfrm>
            <a:off x="5829855" y="3259121"/>
            <a:ext cx="51498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000" b="1" dirty="0">
                <a:solidFill>
                  <a:srgbClr val="505050"/>
                </a:solidFill>
                <a:latin typeface="微软雅黑" panose="020B0503020204020204" pitchFamily="34" charset="-122"/>
                <a:ea typeface="微软雅黑" panose="020B0503020204020204" pitchFamily="34" charset="-122"/>
              </a:rPr>
              <a:t>I/O</a:t>
            </a:r>
            <a:r>
              <a:rPr lang="zh-CN" altLang="en-US" sz="2000" b="1" dirty="0">
                <a:solidFill>
                  <a:srgbClr val="505050"/>
                </a:solidFill>
                <a:latin typeface="微软雅黑" panose="020B0503020204020204" pitchFamily="34" charset="-122"/>
                <a:ea typeface="微软雅黑" panose="020B0503020204020204" pitchFamily="34" charset="-122"/>
              </a:rPr>
              <a:t>设备管理问题</a:t>
            </a:r>
            <a:r>
              <a:rPr lang="en-US" altLang="zh-CN" sz="1600" dirty="0">
                <a:solidFill>
                  <a:srgbClr val="505050"/>
                </a:solidFill>
                <a:latin typeface="微软雅黑" panose="020B0503020204020204" pitchFamily="34" charset="-122"/>
                <a:ea typeface="微软雅黑" panose="020B0503020204020204" pitchFamily="34" charset="-122"/>
              </a:rPr>
              <a:t>—</a:t>
            </a:r>
            <a:r>
              <a:rPr lang="zh-CN" altLang="en-US" sz="1600" dirty="0">
                <a:solidFill>
                  <a:srgbClr val="505050"/>
                </a:solidFill>
                <a:latin typeface="微软雅黑" panose="020B0503020204020204" pitchFamily="34" charset="-122"/>
                <a:ea typeface="微软雅黑" panose="020B0503020204020204" pitchFamily="34" charset="-122"/>
              </a:rPr>
              <a:t>分配与回收、提高利用率</a:t>
            </a:r>
          </a:p>
        </p:txBody>
      </p:sp>
      <p:sp>
        <p:nvSpPr>
          <p:cNvPr id="75" name="文本框 49"/>
          <p:cNvSpPr txBox="1">
            <a:spLocks noChangeArrowheads="1"/>
          </p:cNvSpPr>
          <p:nvPr/>
        </p:nvSpPr>
        <p:spPr bwMode="auto">
          <a:xfrm>
            <a:off x="5829855" y="3953229"/>
            <a:ext cx="54656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b="1" dirty="0">
                <a:solidFill>
                  <a:srgbClr val="505050"/>
                </a:solidFill>
                <a:latin typeface="微软雅黑" panose="020B0503020204020204" pitchFamily="34" charset="-122"/>
                <a:ea typeface="微软雅黑" panose="020B0503020204020204" pitchFamily="34" charset="-122"/>
              </a:rPr>
              <a:t>文件管理问题</a:t>
            </a:r>
            <a:r>
              <a:rPr lang="en-US" altLang="zh-CN" sz="1600" dirty="0">
                <a:solidFill>
                  <a:srgbClr val="505050"/>
                </a:solidFill>
                <a:latin typeface="微软雅黑" panose="020B0503020204020204" pitchFamily="34" charset="-122"/>
                <a:ea typeface="微软雅黑" panose="020B0503020204020204" pitchFamily="34" charset="-122"/>
              </a:rPr>
              <a:t>—</a:t>
            </a:r>
            <a:r>
              <a:rPr lang="zh-CN" altLang="en-US" sz="1600" dirty="0">
                <a:solidFill>
                  <a:srgbClr val="505050"/>
                </a:solidFill>
                <a:latin typeface="微软雅黑" panose="020B0503020204020204" pitchFamily="34" charset="-122"/>
                <a:ea typeface="微软雅黑" panose="020B0503020204020204" pitchFamily="34" charset="-122"/>
              </a:rPr>
              <a:t>方便使用、保证数据的安全性和一致性</a:t>
            </a:r>
          </a:p>
        </p:txBody>
      </p:sp>
      <p:grpSp>
        <p:nvGrpSpPr>
          <p:cNvPr id="3" name="组合 2"/>
          <p:cNvGrpSpPr/>
          <p:nvPr/>
        </p:nvGrpSpPr>
        <p:grpSpPr>
          <a:xfrm>
            <a:off x="1022350" y="1807286"/>
            <a:ext cx="4646930" cy="3969948"/>
            <a:chOff x="1022350" y="1807286"/>
            <a:chExt cx="4646930" cy="3969948"/>
          </a:xfrm>
        </p:grpSpPr>
        <p:sp>
          <p:nvSpPr>
            <p:cNvPr id="18" name="矩形 17"/>
            <p:cNvSpPr/>
            <p:nvPr/>
          </p:nvSpPr>
          <p:spPr>
            <a:xfrm>
              <a:off x="3798888" y="1865313"/>
              <a:ext cx="1147762" cy="1149350"/>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4" name="矩形 23"/>
            <p:cNvSpPr/>
            <p:nvPr/>
          </p:nvSpPr>
          <p:spPr>
            <a:xfrm>
              <a:off x="1022350" y="1897063"/>
              <a:ext cx="1149350" cy="1149350"/>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4" name="矩形 33"/>
            <p:cNvSpPr/>
            <p:nvPr/>
          </p:nvSpPr>
          <p:spPr>
            <a:xfrm>
              <a:off x="3798888" y="4587875"/>
              <a:ext cx="1147762" cy="1149350"/>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5" name="矩形 34"/>
            <p:cNvSpPr/>
            <p:nvPr/>
          </p:nvSpPr>
          <p:spPr>
            <a:xfrm>
              <a:off x="1022350" y="4587875"/>
              <a:ext cx="1149350" cy="1149350"/>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6" name="直接连接符 5"/>
            <p:cNvCxnSpPr/>
            <p:nvPr/>
          </p:nvCxnSpPr>
          <p:spPr>
            <a:xfrm>
              <a:off x="4946650" y="2069237"/>
              <a:ext cx="719138" cy="0"/>
            </a:xfrm>
            <a:prstGeom prst="line">
              <a:avLst/>
            </a:prstGeom>
            <a:ln>
              <a:solidFill>
                <a:srgbClr val="505050"/>
              </a:solidFill>
              <a:prstDash val="lgDash"/>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4946650" y="2766165"/>
              <a:ext cx="719138" cy="0"/>
            </a:xfrm>
            <a:prstGeom prst="line">
              <a:avLst/>
            </a:prstGeom>
            <a:ln>
              <a:solidFill>
                <a:srgbClr val="505050"/>
              </a:solidFill>
              <a:prstDash val="lgDash"/>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5665788" y="1807286"/>
              <a:ext cx="3492" cy="517708"/>
            </a:xfrm>
            <a:prstGeom prst="line">
              <a:avLst/>
            </a:prstGeom>
            <a:ln>
              <a:solidFill>
                <a:srgbClr val="505050"/>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5665788" y="2506531"/>
              <a:ext cx="3492" cy="504109"/>
            </a:xfrm>
            <a:prstGeom prst="line">
              <a:avLst/>
            </a:prstGeom>
            <a:ln>
              <a:solidFill>
                <a:srgbClr val="505050"/>
              </a:solidFill>
            </a:ln>
          </p:spPr>
          <p:style>
            <a:lnRef idx="1">
              <a:schemeClr val="accent1"/>
            </a:lnRef>
            <a:fillRef idx="0">
              <a:schemeClr val="accent1"/>
            </a:fillRef>
            <a:effectRef idx="0">
              <a:schemeClr val="accent1"/>
            </a:effectRef>
            <a:fontRef idx="minor">
              <a:schemeClr val="tx1"/>
            </a:fontRef>
          </p:style>
        </p:cxnSp>
        <p:pic>
          <p:nvPicPr>
            <p:cNvPr id="39" name="Picture 5" descr="230"/>
            <p:cNvPicPr>
              <a:picLocks noChangeAspect="1" noChangeArrowheads="1"/>
            </p:cNvPicPr>
            <p:nvPr/>
          </p:nvPicPr>
          <p:blipFill>
            <a:blip r:embed="rId3" cstate="print"/>
            <a:srcRect/>
            <a:stretch>
              <a:fillRect/>
            </a:stretch>
          </p:blipFill>
          <p:spPr bwMode="auto">
            <a:xfrm>
              <a:off x="2424775" y="3291840"/>
              <a:ext cx="1224755" cy="1070384"/>
            </a:xfrm>
            <a:prstGeom prst="rect">
              <a:avLst/>
            </a:prstGeom>
            <a:noFill/>
            <a:ln w="9525">
              <a:noFill/>
              <a:miter lim="800000"/>
              <a:headEnd/>
              <a:tailEnd/>
            </a:ln>
          </p:spPr>
        </p:pic>
        <p:pic>
          <p:nvPicPr>
            <p:cNvPr id="40" name="Picture 15">
              <a:hlinkClick r:id="rId4"/>
            </p:cNvPr>
            <p:cNvPicPr>
              <a:picLocks noChangeAspect="1" noChangeArrowheads="1"/>
            </p:cNvPicPr>
            <p:nvPr/>
          </p:nvPicPr>
          <p:blipFill>
            <a:blip r:embed="rId5" cstate="print"/>
            <a:srcRect/>
            <a:stretch>
              <a:fillRect/>
            </a:stretch>
          </p:blipFill>
          <p:spPr bwMode="auto">
            <a:xfrm>
              <a:off x="3817508" y="3201597"/>
              <a:ext cx="1120252" cy="1228518"/>
            </a:xfrm>
            <a:prstGeom prst="rect">
              <a:avLst/>
            </a:prstGeom>
            <a:noFill/>
            <a:ln w="9525">
              <a:noFill/>
              <a:miter lim="800000"/>
              <a:headEnd/>
              <a:tailEnd/>
            </a:ln>
          </p:spPr>
        </p:pic>
        <p:pic>
          <p:nvPicPr>
            <p:cNvPr id="54" name="Picture 14" descr="u=4139596117,2314769543&amp;fm=0&amp;gp=-38">
              <a:hlinkClick r:id="rId6"/>
            </p:cNvPr>
            <p:cNvPicPr>
              <a:picLocks noChangeAspect="1" noChangeArrowheads="1"/>
            </p:cNvPicPr>
            <p:nvPr/>
          </p:nvPicPr>
          <p:blipFill>
            <a:blip r:embed="rId7" cstate="print"/>
            <a:srcRect/>
            <a:stretch>
              <a:fillRect/>
            </a:stretch>
          </p:blipFill>
          <p:spPr bwMode="auto">
            <a:xfrm>
              <a:off x="2438608" y="1906237"/>
              <a:ext cx="1084263" cy="1116013"/>
            </a:xfrm>
            <a:prstGeom prst="rect">
              <a:avLst/>
            </a:prstGeom>
            <a:noFill/>
            <a:ln w="9525">
              <a:noFill/>
              <a:miter lim="800000"/>
              <a:headEnd/>
              <a:tailEnd/>
            </a:ln>
          </p:spPr>
        </p:pic>
        <p:pic>
          <p:nvPicPr>
            <p:cNvPr id="55" name="Picture 4">
              <a:hlinkClick r:id="rId8"/>
            </p:cNvPr>
            <p:cNvPicPr>
              <a:picLocks noChangeAspect="1" noChangeArrowheads="1"/>
            </p:cNvPicPr>
            <p:nvPr/>
          </p:nvPicPr>
          <p:blipFill>
            <a:blip r:embed="rId9" cstate="print"/>
            <a:srcRect l="19221" t="7425" r="20073" b="17657"/>
            <a:stretch>
              <a:fillRect/>
            </a:stretch>
          </p:blipFill>
          <p:spPr bwMode="auto">
            <a:xfrm>
              <a:off x="1054252" y="3299240"/>
              <a:ext cx="1090071" cy="992222"/>
            </a:xfrm>
            <a:prstGeom prst="rect">
              <a:avLst/>
            </a:prstGeom>
            <a:noFill/>
            <a:ln w="9525">
              <a:noFill/>
              <a:miter lim="800000"/>
              <a:headEnd/>
              <a:tailEnd/>
            </a:ln>
          </p:spPr>
        </p:pic>
        <p:pic>
          <p:nvPicPr>
            <p:cNvPr id="57" name="Picture 8">
              <a:hlinkClick r:id="rId10"/>
            </p:cNvPr>
            <p:cNvPicPr>
              <a:picLocks noChangeAspect="1" noChangeArrowheads="1"/>
            </p:cNvPicPr>
            <p:nvPr/>
          </p:nvPicPr>
          <p:blipFill>
            <a:blip r:embed="rId11" cstate="print"/>
            <a:srcRect/>
            <a:stretch>
              <a:fillRect/>
            </a:stretch>
          </p:blipFill>
          <p:spPr bwMode="auto">
            <a:xfrm>
              <a:off x="2432816" y="4636061"/>
              <a:ext cx="1095692" cy="1057739"/>
            </a:xfrm>
            <a:prstGeom prst="rect">
              <a:avLst/>
            </a:prstGeom>
            <a:noFill/>
            <a:ln w="9525">
              <a:noFill/>
              <a:miter lim="800000"/>
              <a:headEnd/>
              <a:tailEnd/>
            </a:ln>
          </p:spPr>
        </p:pic>
        <p:cxnSp>
          <p:nvCxnSpPr>
            <p:cNvPr id="70" name="直接连接符 69"/>
            <p:cNvCxnSpPr/>
            <p:nvPr/>
          </p:nvCxnSpPr>
          <p:spPr>
            <a:xfrm>
              <a:off x="4937680" y="3437291"/>
              <a:ext cx="719138" cy="0"/>
            </a:xfrm>
            <a:prstGeom prst="line">
              <a:avLst/>
            </a:prstGeom>
            <a:ln>
              <a:solidFill>
                <a:srgbClr val="505050"/>
              </a:solidFill>
              <a:prstDash val="lgDash"/>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4937680" y="4134219"/>
              <a:ext cx="719138" cy="0"/>
            </a:xfrm>
            <a:prstGeom prst="line">
              <a:avLst/>
            </a:prstGeom>
            <a:ln>
              <a:solidFill>
                <a:srgbClr val="505050"/>
              </a:solidFill>
              <a:prstDash val="lgDash"/>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5656818" y="3175340"/>
              <a:ext cx="3492" cy="517708"/>
            </a:xfrm>
            <a:prstGeom prst="line">
              <a:avLst/>
            </a:prstGeom>
            <a:ln>
              <a:solidFill>
                <a:srgbClr val="505050"/>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5656818" y="3874585"/>
              <a:ext cx="3492" cy="504109"/>
            </a:xfrm>
            <a:prstGeom prst="line">
              <a:avLst/>
            </a:prstGeom>
            <a:ln>
              <a:solidFill>
                <a:srgbClr val="505050"/>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4937680" y="4835831"/>
              <a:ext cx="719138" cy="0"/>
            </a:xfrm>
            <a:prstGeom prst="line">
              <a:avLst/>
            </a:prstGeom>
            <a:ln>
              <a:solidFill>
                <a:srgbClr val="505050"/>
              </a:solidFill>
              <a:prstDash val="lgDash"/>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4937680" y="5532759"/>
              <a:ext cx="719138" cy="0"/>
            </a:xfrm>
            <a:prstGeom prst="line">
              <a:avLst/>
            </a:prstGeom>
            <a:ln>
              <a:solidFill>
                <a:srgbClr val="505050"/>
              </a:solidFill>
              <a:prstDash val="lgDash"/>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656818" y="4573880"/>
              <a:ext cx="3492" cy="517708"/>
            </a:xfrm>
            <a:prstGeom prst="line">
              <a:avLst/>
            </a:prstGeom>
            <a:ln>
              <a:solidFill>
                <a:srgbClr val="505050"/>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656818" y="5273125"/>
              <a:ext cx="3492" cy="504109"/>
            </a:xfrm>
            <a:prstGeom prst="line">
              <a:avLst/>
            </a:prstGeom>
            <a:ln>
              <a:solidFill>
                <a:srgbClr val="505050"/>
              </a:solidFill>
            </a:ln>
          </p:spPr>
          <p:style>
            <a:lnRef idx="1">
              <a:schemeClr val="accent1"/>
            </a:lnRef>
            <a:fillRef idx="0">
              <a:schemeClr val="accent1"/>
            </a:fillRef>
            <a:effectRef idx="0">
              <a:schemeClr val="accent1"/>
            </a:effectRef>
            <a:fontRef idx="minor">
              <a:schemeClr val="tx1"/>
            </a:fontRef>
          </p:style>
        </p:cxnSp>
      </p:grpSp>
      <p:sp>
        <p:nvSpPr>
          <p:cNvPr id="80" name="文本框 48"/>
          <p:cNvSpPr txBox="1">
            <a:spLocks noChangeArrowheads="1"/>
          </p:cNvSpPr>
          <p:nvPr/>
        </p:nvSpPr>
        <p:spPr bwMode="auto">
          <a:xfrm>
            <a:off x="5829855" y="4657661"/>
            <a:ext cx="51498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b="1" dirty="0">
                <a:solidFill>
                  <a:srgbClr val="505050"/>
                </a:solidFill>
                <a:latin typeface="微软雅黑" panose="020B0503020204020204" pitchFamily="34" charset="-122"/>
                <a:ea typeface="微软雅黑" panose="020B0503020204020204" pitchFamily="34" charset="-122"/>
              </a:rPr>
              <a:t>作业管理问题</a:t>
            </a:r>
            <a:r>
              <a:rPr lang="en-US" altLang="zh-CN" sz="1600" dirty="0">
                <a:solidFill>
                  <a:srgbClr val="505050"/>
                </a:solidFill>
                <a:latin typeface="微软雅黑" panose="020B0503020204020204" pitchFamily="34" charset="-122"/>
                <a:ea typeface="微软雅黑" panose="020B0503020204020204" pitchFamily="34" charset="-122"/>
              </a:rPr>
              <a:t>—</a:t>
            </a:r>
            <a:r>
              <a:rPr lang="zh-CN" altLang="en-US" sz="1600" dirty="0">
                <a:solidFill>
                  <a:srgbClr val="505050"/>
                </a:solidFill>
                <a:latin typeface="微软雅黑" panose="020B0503020204020204" pitchFamily="34" charset="-122"/>
                <a:ea typeface="微软雅黑" panose="020B0503020204020204" pitchFamily="34" charset="-122"/>
              </a:rPr>
              <a:t>根据作业类型进行作业组织</a:t>
            </a:r>
          </a:p>
        </p:txBody>
      </p:sp>
      <p:sp>
        <p:nvSpPr>
          <p:cNvPr id="81" name="文本框 49"/>
          <p:cNvSpPr txBox="1">
            <a:spLocks noChangeArrowheads="1"/>
          </p:cNvSpPr>
          <p:nvPr/>
        </p:nvSpPr>
        <p:spPr bwMode="auto">
          <a:xfrm>
            <a:off x="5829854" y="5351769"/>
            <a:ext cx="54549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05050"/>
                </a:solidFill>
                <a:latin typeface="微软雅黑" panose="020B0503020204020204" pitchFamily="34" charset="-122"/>
                <a:ea typeface="微软雅黑" panose="020B0503020204020204" pitchFamily="34" charset="-122"/>
              </a:rPr>
              <a:t>用户与系统接口问题</a:t>
            </a:r>
            <a:r>
              <a:rPr lang="en-US" altLang="zh-CN" sz="1600" dirty="0">
                <a:solidFill>
                  <a:srgbClr val="505050"/>
                </a:solidFill>
                <a:latin typeface="微软雅黑" panose="020B0503020204020204" pitchFamily="34" charset="-122"/>
                <a:ea typeface="微软雅黑" panose="020B0503020204020204" pitchFamily="34" charset="-122"/>
              </a:rPr>
              <a:t>—</a:t>
            </a:r>
            <a:r>
              <a:rPr lang="zh-CN" altLang="en-US" sz="1600" dirty="0">
                <a:solidFill>
                  <a:srgbClr val="505050"/>
                </a:solidFill>
                <a:latin typeface="微软雅黑" panose="020B0503020204020204" pitchFamily="34" charset="-122"/>
                <a:ea typeface="微软雅黑" panose="020B0503020204020204" pitchFamily="34" charset="-122"/>
              </a:rPr>
              <a:t>提供用户与操作系统间的接口</a:t>
            </a:r>
          </a:p>
        </p:txBody>
      </p:sp>
    </p:spTree>
    <p:extLst>
      <p:ext uri="{BB962C8B-B14F-4D97-AF65-F5344CB8AC3E}">
        <p14:creationId xmlns:p14="http://schemas.microsoft.com/office/powerpoint/2010/main" val="21428614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1000"/>
                                        <p:tgtEl>
                                          <p:spTgt spid="49"/>
                                        </p:tgtEl>
                                      </p:cBhvr>
                                    </p:animEffect>
                                    <p:anim calcmode="lin" valueType="num">
                                      <p:cBhvr>
                                        <p:cTn id="8" dur="1000" fill="hold"/>
                                        <p:tgtEl>
                                          <p:spTgt spid="49"/>
                                        </p:tgtEl>
                                        <p:attrNameLst>
                                          <p:attrName>ppt_x</p:attrName>
                                        </p:attrNameLst>
                                      </p:cBhvr>
                                      <p:tavLst>
                                        <p:tav tm="0">
                                          <p:val>
                                            <p:strVal val="#ppt_x"/>
                                          </p:val>
                                        </p:tav>
                                        <p:tav tm="100000">
                                          <p:val>
                                            <p:strVal val="#ppt_x"/>
                                          </p:val>
                                        </p:tav>
                                      </p:tavLst>
                                    </p:anim>
                                    <p:anim calcmode="lin" valueType="num">
                                      <p:cBhvr>
                                        <p:cTn id="9" dur="1000" fill="hold"/>
                                        <p:tgtEl>
                                          <p:spTgt spid="4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fade">
                                      <p:cBhvr>
                                        <p:cTn id="12" dur="1000"/>
                                        <p:tgtEl>
                                          <p:spTgt spid="50"/>
                                        </p:tgtEl>
                                      </p:cBhvr>
                                    </p:animEffect>
                                    <p:anim calcmode="lin" valueType="num">
                                      <p:cBhvr>
                                        <p:cTn id="13" dur="1000" fill="hold"/>
                                        <p:tgtEl>
                                          <p:spTgt spid="50"/>
                                        </p:tgtEl>
                                        <p:attrNameLst>
                                          <p:attrName>ppt_x</p:attrName>
                                        </p:attrNameLst>
                                      </p:cBhvr>
                                      <p:tavLst>
                                        <p:tav tm="0">
                                          <p:val>
                                            <p:strVal val="#ppt_x"/>
                                          </p:val>
                                        </p:tav>
                                        <p:tav tm="100000">
                                          <p:val>
                                            <p:strVal val="#ppt_x"/>
                                          </p:val>
                                        </p:tav>
                                      </p:tavLst>
                                    </p:anim>
                                    <p:anim calcmode="lin" valueType="num">
                                      <p:cBhvr>
                                        <p:cTn id="14" dur="1000" fill="hold"/>
                                        <p:tgtEl>
                                          <p:spTgt spid="5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4"/>
                                        </p:tgtEl>
                                        <p:attrNameLst>
                                          <p:attrName>style.visibility</p:attrName>
                                        </p:attrNameLst>
                                      </p:cBhvr>
                                      <p:to>
                                        <p:strVal val="visible"/>
                                      </p:to>
                                    </p:set>
                                    <p:animEffect transition="in" filter="fade">
                                      <p:cBhvr>
                                        <p:cTn id="17" dur="1000"/>
                                        <p:tgtEl>
                                          <p:spTgt spid="74"/>
                                        </p:tgtEl>
                                      </p:cBhvr>
                                    </p:animEffect>
                                    <p:anim calcmode="lin" valueType="num">
                                      <p:cBhvr>
                                        <p:cTn id="18" dur="1000" fill="hold"/>
                                        <p:tgtEl>
                                          <p:spTgt spid="74"/>
                                        </p:tgtEl>
                                        <p:attrNameLst>
                                          <p:attrName>ppt_x</p:attrName>
                                        </p:attrNameLst>
                                      </p:cBhvr>
                                      <p:tavLst>
                                        <p:tav tm="0">
                                          <p:val>
                                            <p:strVal val="#ppt_x"/>
                                          </p:val>
                                        </p:tav>
                                        <p:tav tm="100000">
                                          <p:val>
                                            <p:strVal val="#ppt_x"/>
                                          </p:val>
                                        </p:tav>
                                      </p:tavLst>
                                    </p:anim>
                                    <p:anim calcmode="lin" valueType="num">
                                      <p:cBhvr>
                                        <p:cTn id="19" dur="1000" fill="hold"/>
                                        <p:tgtEl>
                                          <p:spTgt spid="7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5"/>
                                        </p:tgtEl>
                                        <p:attrNameLst>
                                          <p:attrName>style.visibility</p:attrName>
                                        </p:attrNameLst>
                                      </p:cBhvr>
                                      <p:to>
                                        <p:strVal val="visible"/>
                                      </p:to>
                                    </p:set>
                                    <p:animEffect transition="in" filter="fade">
                                      <p:cBhvr>
                                        <p:cTn id="22" dur="1000"/>
                                        <p:tgtEl>
                                          <p:spTgt spid="75"/>
                                        </p:tgtEl>
                                      </p:cBhvr>
                                    </p:animEffect>
                                    <p:anim calcmode="lin" valueType="num">
                                      <p:cBhvr>
                                        <p:cTn id="23" dur="1000" fill="hold"/>
                                        <p:tgtEl>
                                          <p:spTgt spid="75"/>
                                        </p:tgtEl>
                                        <p:attrNameLst>
                                          <p:attrName>ppt_x</p:attrName>
                                        </p:attrNameLst>
                                      </p:cBhvr>
                                      <p:tavLst>
                                        <p:tav tm="0">
                                          <p:val>
                                            <p:strVal val="#ppt_x"/>
                                          </p:val>
                                        </p:tav>
                                        <p:tav tm="100000">
                                          <p:val>
                                            <p:strVal val="#ppt_x"/>
                                          </p:val>
                                        </p:tav>
                                      </p:tavLst>
                                    </p:anim>
                                    <p:anim calcmode="lin" valueType="num">
                                      <p:cBhvr>
                                        <p:cTn id="24" dur="1000" fill="hold"/>
                                        <p:tgtEl>
                                          <p:spTgt spid="7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0"/>
                                        </p:tgtEl>
                                        <p:attrNameLst>
                                          <p:attrName>style.visibility</p:attrName>
                                        </p:attrNameLst>
                                      </p:cBhvr>
                                      <p:to>
                                        <p:strVal val="visible"/>
                                      </p:to>
                                    </p:set>
                                    <p:animEffect transition="in" filter="fade">
                                      <p:cBhvr>
                                        <p:cTn id="27" dur="1000"/>
                                        <p:tgtEl>
                                          <p:spTgt spid="80"/>
                                        </p:tgtEl>
                                      </p:cBhvr>
                                    </p:animEffect>
                                    <p:anim calcmode="lin" valueType="num">
                                      <p:cBhvr>
                                        <p:cTn id="28" dur="1000" fill="hold"/>
                                        <p:tgtEl>
                                          <p:spTgt spid="80"/>
                                        </p:tgtEl>
                                        <p:attrNameLst>
                                          <p:attrName>ppt_x</p:attrName>
                                        </p:attrNameLst>
                                      </p:cBhvr>
                                      <p:tavLst>
                                        <p:tav tm="0">
                                          <p:val>
                                            <p:strVal val="#ppt_x"/>
                                          </p:val>
                                        </p:tav>
                                        <p:tav tm="100000">
                                          <p:val>
                                            <p:strVal val="#ppt_x"/>
                                          </p:val>
                                        </p:tav>
                                      </p:tavLst>
                                    </p:anim>
                                    <p:anim calcmode="lin" valueType="num">
                                      <p:cBhvr>
                                        <p:cTn id="29" dur="1000" fill="hold"/>
                                        <p:tgtEl>
                                          <p:spTgt spid="8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81"/>
                                        </p:tgtEl>
                                        <p:attrNameLst>
                                          <p:attrName>style.visibility</p:attrName>
                                        </p:attrNameLst>
                                      </p:cBhvr>
                                      <p:to>
                                        <p:strVal val="visible"/>
                                      </p:to>
                                    </p:set>
                                    <p:animEffect transition="in" filter="fade">
                                      <p:cBhvr>
                                        <p:cTn id="32" dur="1000"/>
                                        <p:tgtEl>
                                          <p:spTgt spid="81"/>
                                        </p:tgtEl>
                                      </p:cBhvr>
                                    </p:animEffect>
                                    <p:anim calcmode="lin" valueType="num">
                                      <p:cBhvr>
                                        <p:cTn id="33" dur="1000" fill="hold"/>
                                        <p:tgtEl>
                                          <p:spTgt spid="81"/>
                                        </p:tgtEl>
                                        <p:attrNameLst>
                                          <p:attrName>ppt_x</p:attrName>
                                        </p:attrNameLst>
                                      </p:cBhvr>
                                      <p:tavLst>
                                        <p:tav tm="0">
                                          <p:val>
                                            <p:strVal val="#ppt_x"/>
                                          </p:val>
                                        </p:tav>
                                        <p:tav tm="100000">
                                          <p:val>
                                            <p:strVal val="#ppt_x"/>
                                          </p:val>
                                        </p:tav>
                                      </p:tavLst>
                                    </p:anim>
                                    <p:anim calcmode="lin" valueType="num">
                                      <p:cBhvr>
                                        <p:cTn id="34" dur="1000" fill="hold"/>
                                        <p:tgtEl>
                                          <p:spTgt spid="8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P spid="74" grpId="0"/>
      <p:bldP spid="75" grpId="0"/>
      <p:bldP spid="80" grpId="0"/>
      <p:bldP spid="8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418263" y="1509035"/>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7326313" y="1509035"/>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0" name="矩形 49"/>
          <p:cNvSpPr/>
          <p:nvPr/>
        </p:nvSpPr>
        <p:spPr>
          <a:xfrm>
            <a:off x="6418263" y="4164434"/>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1" name="矩形 50"/>
          <p:cNvSpPr/>
          <p:nvPr/>
        </p:nvSpPr>
        <p:spPr>
          <a:xfrm>
            <a:off x="7326313" y="4164434"/>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2" name="文本框 51"/>
          <p:cNvSpPr txBox="1">
            <a:spLocks noChangeArrowheads="1"/>
          </p:cNvSpPr>
          <p:nvPr/>
        </p:nvSpPr>
        <p:spPr bwMode="auto">
          <a:xfrm>
            <a:off x="6272213" y="1707961"/>
            <a:ext cx="44704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dirty="0"/>
              <a:t>在一台主机上连接了多个带有显示器和键盘的终端，同时允许多个用户通过自己的终端，以交互方式使用计算机，共享主机中的资源。</a:t>
            </a:r>
          </a:p>
        </p:txBody>
      </p:sp>
      <p:sp>
        <p:nvSpPr>
          <p:cNvPr id="54" name="文本框 53"/>
          <p:cNvSpPr txBox="1">
            <a:spLocks noChangeArrowheads="1"/>
          </p:cNvSpPr>
          <p:nvPr/>
        </p:nvSpPr>
        <p:spPr bwMode="auto">
          <a:xfrm>
            <a:off x="6272213" y="4576610"/>
            <a:ext cx="44704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dirty="0"/>
              <a:t>为了改进响应时间和性能，提供交互式操作环境，导致了分时系统的出现。具体表现在：</a:t>
            </a:r>
            <a:endParaRPr lang="en-US" altLang="zh-CN" sz="2400" dirty="0"/>
          </a:p>
          <a:p>
            <a:pPr>
              <a:buBlip>
                <a:blip r:embed="rId3"/>
              </a:buBlip>
            </a:pPr>
            <a:r>
              <a:rPr lang="zh-CN" altLang="en-US" sz="2400" dirty="0"/>
              <a:t>人</a:t>
            </a:r>
            <a:r>
              <a:rPr lang="en-US" altLang="zh-CN" sz="2400" dirty="0"/>
              <a:t>-</a:t>
            </a:r>
            <a:r>
              <a:rPr lang="zh-CN" altLang="en-US" sz="2400" dirty="0"/>
              <a:t>机交互</a:t>
            </a:r>
            <a:endParaRPr lang="en-US" altLang="zh-CN" sz="2400" dirty="0"/>
          </a:p>
          <a:p>
            <a:pPr>
              <a:buBlip>
                <a:blip r:embed="rId3"/>
              </a:buBlip>
            </a:pPr>
            <a:r>
              <a:rPr lang="zh-CN" altLang="en-US" sz="2400" dirty="0"/>
              <a:t>共享主机</a:t>
            </a:r>
            <a:endParaRPr lang="en-US" altLang="zh-CN" sz="2400" dirty="0"/>
          </a:p>
        </p:txBody>
      </p:sp>
      <p:sp>
        <p:nvSpPr>
          <p:cNvPr id="47119" name="文本框 55"/>
          <p:cNvSpPr txBox="1">
            <a:spLocks noChangeArrowheads="1"/>
          </p:cNvSpPr>
          <p:nvPr/>
        </p:nvSpPr>
        <p:spPr bwMode="auto">
          <a:xfrm>
            <a:off x="6272213" y="975635"/>
            <a:ext cx="1920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分时系统</a:t>
            </a:r>
          </a:p>
        </p:txBody>
      </p:sp>
      <p:sp>
        <p:nvSpPr>
          <p:cNvPr id="47120" name="文本框 56"/>
          <p:cNvSpPr txBox="1">
            <a:spLocks noChangeArrowheads="1"/>
          </p:cNvSpPr>
          <p:nvPr/>
        </p:nvSpPr>
        <p:spPr bwMode="auto">
          <a:xfrm>
            <a:off x="6272213" y="3618334"/>
            <a:ext cx="1920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产生目的</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16930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4.</a:t>
            </a:r>
            <a:r>
              <a:rPr lang="zh-CN" altLang="en-US" sz="2400" b="1" dirty="0">
                <a:solidFill>
                  <a:srgbClr val="3D7351"/>
                </a:solidFill>
                <a:latin typeface="微软雅黑" panose="020B0503020204020204" pitchFamily="34" charset="-122"/>
                <a:ea typeface="微软雅黑" panose="020B0503020204020204" pitchFamily="34" charset="-122"/>
              </a:rPr>
              <a:t>分时系统</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pic>
        <p:nvPicPr>
          <p:cNvPr id="22" name="Picture 8" descr="1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2368" y="1908175"/>
            <a:ext cx="5494407" cy="4048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9474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1000"/>
                                        <p:tgtEl>
                                          <p:spTgt spid="52"/>
                                        </p:tgtEl>
                                      </p:cBhvr>
                                    </p:animEffect>
                                    <p:anim calcmode="lin" valueType="num">
                                      <p:cBhvr>
                                        <p:cTn id="8" dur="1000" fill="hold"/>
                                        <p:tgtEl>
                                          <p:spTgt spid="52"/>
                                        </p:tgtEl>
                                        <p:attrNameLst>
                                          <p:attrName>ppt_x</p:attrName>
                                        </p:attrNameLst>
                                      </p:cBhvr>
                                      <p:tavLst>
                                        <p:tav tm="0">
                                          <p:val>
                                            <p:strVal val="#ppt_x"/>
                                          </p:val>
                                        </p:tav>
                                        <p:tav tm="100000">
                                          <p:val>
                                            <p:strVal val="#ppt_x"/>
                                          </p:val>
                                        </p:tav>
                                      </p:tavLst>
                                    </p:anim>
                                    <p:anim calcmode="lin" valueType="num">
                                      <p:cBhvr>
                                        <p:cTn id="9" dur="1000" fill="hold"/>
                                        <p:tgtEl>
                                          <p:spTgt spid="5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1000"/>
                                        <p:tgtEl>
                                          <p:spTgt spid="54"/>
                                        </p:tgtEl>
                                      </p:cBhvr>
                                    </p:animEffect>
                                    <p:anim calcmode="lin" valueType="num">
                                      <p:cBhvr>
                                        <p:cTn id="13" dur="1000" fill="hold"/>
                                        <p:tgtEl>
                                          <p:spTgt spid="54"/>
                                        </p:tgtEl>
                                        <p:attrNameLst>
                                          <p:attrName>ppt_x</p:attrName>
                                        </p:attrNameLst>
                                      </p:cBhvr>
                                      <p:tavLst>
                                        <p:tav tm="0">
                                          <p:val>
                                            <p:strVal val="#ppt_x"/>
                                          </p:val>
                                        </p:tav>
                                        <p:tav tm="100000">
                                          <p:val>
                                            <p:strVal val="#ppt_x"/>
                                          </p:val>
                                        </p:tav>
                                      </p:tavLst>
                                    </p:anim>
                                    <p:anim calcmode="lin" valueType="num">
                                      <p:cBhvr>
                                        <p:cTn id="14"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3"/>
          <p:cNvSpPr/>
          <p:nvPr/>
        </p:nvSpPr>
        <p:spPr>
          <a:xfrm rot="17467525">
            <a:off x="1730375" y="1708150"/>
            <a:ext cx="2441575" cy="1825625"/>
          </a:xfrm>
          <a:custGeom>
            <a:avLst/>
            <a:gdLst>
              <a:gd name="connsiteX0" fmla="*/ 1295476 w 2211688"/>
              <a:gd name="connsiteY0" fmla="*/ 5537 h 1695217"/>
              <a:gd name="connsiteX1" fmla="*/ 2205351 w 2211688"/>
              <a:gd name="connsiteY1" fmla="*/ 755862 h 1695217"/>
              <a:gd name="connsiteX2" fmla="*/ 1579231 w 2211688"/>
              <a:gd name="connsiteY2" fmla="*/ 1684582 h 1695217"/>
              <a:gd name="connsiteX3" fmla="*/ 1517747 w 2211688"/>
              <a:gd name="connsiteY3" fmla="*/ 1695217 h 1695217"/>
              <a:gd name="connsiteX4" fmla="*/ 1548511 w 2211688"/>
              <a:gd name="connsiteY4" fmla="*/ 1613493 h 1695217"/>
              <a:gd name="connsiteX5" fmla="*/ 1572868 w 2211688"/>
              <a:gd name="connsiteY5" fmla="*/ 1276378 h 1695217"/>
              <a:gd name="connsiteX6" fmla="*/ 828102 w 2211688"/>
              <a:gd name="connsiteY6" fmla="*/ 523845 h 1695217"/>
              <a:gd name="connsiteX7" fmla="*/ 815901 w 2211688"/>
              <a:gd name="connsiteY7" fmla="*/ 523358 h 1695217"/>
              <a:gd name="connsiteX8" fmla="*/ 713356 w 2211688"/>
              <a:gd name="connsiteY8" fmla="*/ 527562 h 1695217"/>
              <a:gd name="connsiteX9" fmla="*/ 78128 w 2211688"/>
              <a:gd name="connsiteY9" fmla="*/ 772891 h 1695217"/>
              <a:gd name="connsiteX10" fmla="*/ 0 w 2211688"/>
              <a:gd name="connsiteY10" fmla="*/ 849769 h 1695217"/>
              <a:gd name="connsiteX11" fmla="*/ 6987 w 2211688"/>
              <a:gd name="connsiteY11" fmla="*/ 822596 h 1695217"/>
              <a:gd name="connsiteX12" fmla="*/ 820734 w 2211688"/>
              <a:gd name="connsiteY12" fmla="*/ 223916 h 1695217"/>
              <a:gd name="connsiteX13" fmla="*/ 838327 w 2211688"/>
              <a:gd name="connsiteY13" fmla="*/ 225358 h 1695217"/>
              <a:gd name="connsiteX14" fmla="*/ 845690 w 2211688"/>
              <a:gd name="connsiteY14" fmla="*/ 217488 h 1695217"/>
              <a:gd name="connsiteX15" fmla="*/ 1295476 w 2211688"/>
              <a:gd name="connsiteY15" fmla="*/ 5537 h 1695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11688" h="1695217">
                <a:moveTo>
                  <a:pt x="1295476" y="5537"/>
                </a:moveTo>
                <a:cubicBezTo>
                  <a:pt x="1742329" y="-47652"/>
                  <a:pt x="2149695" y="288280"/>
                  <a:pt x="2205351" y="755862"/>
                </a:cubicBezTo>
                <a:cubicBezTo>
                  <a:pt x="2257529" y="1194219"/>
                  <a:pt x="1982063" y="1592663"/>
                  <a:pt x="1579231" y="1684582"/>
                </a:cubicBezTo>
                <a:lnTo>
                  <a:pt x="1517747" y="1695217"/>
                </a:lnTo>
                <a:lnTo>
                  <a:pt x="1548511" y="1613493"/>
                </a:lnTo>
                <a:cubicBezTo>
                  <a:pt x="1577397" y="1507331"/>
                  <a:pt x="1586782" y="1393274"/>
                  <a:pt x="1572868" y="1276378"/>
                </a:cubicBezTo>
                <a:cubicBezTo>
                  <a:pt x="1524169" y="867244"/>
                  <a:pt x="1206192" y="558905"/>
                  <a:pt x="828102" y="523845"/>
                </a:cubicBezTo>
                <a:lnTo>
                  <a:pt x="815901" y="523358"/>
                </a:lnTo>
                <a:lnTo>
                  <a:pt x="713356" y="527562"/>
                </a:lnTo>
                <a:cubicBezTo>
                  <a:pt x="466223" y="547939"/>
                  <a:pt x="244421" y="637882"/>
                  <a:pt x="78128" y="772891"/>
                </a:cubicBezTo>
                <a:lnTo>
                  <a:pt x="0" y="849769"/>
                </a:lnTo>
                <a:lnTo>
                  <a:pt x="6987" y="822596"/>
                </a:lnTo>
                <a:cubicBezTo>
                  <a:pt x="114867" y="475751"/>
                  <a:pt x="438391" y="223916"/>
                  <a:pt x="820734" y="223916"/>
                </a:cubicBezTo>
                <a:lnTo>
                  <a:pt x="838327" y="225358"/>
                </a:lnTo>
                <a:lnTo>
                  <a:pt x="845690" y="217488"/>
                </a:lnTo>
                <a:cubicBezTo>
                  <a:pt x="966165" y="103393"/>
                  <a:pt x="1120924" y="26314"/>
                  <a:pt x="1295476" y="5537"/>
                </a:cubicBezTo>
                <a:close/>
              </a:path>
            </a:pathLst>
          </a:custGeom>
          <a:solidFill>
            <a:srgbClr val="8EB45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prstClr val="white"/>
              </a:solidFill>
            </a:endParaRPr>
          </a:p>
        </p:txBody>
      </p:sp>
      <p:sp>
        <p:nvSpPr>
          <p:cNvPr id="20483" name="文本框 4"/>
          <p:cNvSpPr txBox="1">
            <a:spLocks noChangeArrowheads="1"/>
          </p:cNvSpPr>
          <p:nvPr/>
        </p:nvSpPr>
        <p:spPr bwMode="auto">
          <a:xfrm>
            <a:off x="2670175" y="1549400"/>
            <a:ext cx="8143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zh-CN" altLang="en-US" sz="3600" b="1" dirty="0">
                <a:solidFill>
                  <a:srgbClr val="FFFFFF"/>
                </a:solidFill>
                <a:latin typeface="微软雅黑" panose="020B0503020204020204" pitchFamily="34" charset="-122"/>
                <a:ea typeface="微软雅黑" panose="020B0503020204020204" pitchFamily="34" charset="-122"/>
              </a:rPr>
              <a:t>实</a:t>
            </a:r>
          </a:p>
        </p:txBody>
      </p:sp>
      <p:grpSp>
        <p:nvGrpSpPr>
          <p:cNvPr id="6" name="组合 5"/>
          <p:cNvGrpSpPr/>
          <p:nvPr/>
        </p:nvGrpSpPr>
        <p:grpSpPr>
          <a:xfrm>
            <a:off x="2890098" y="2299013"/>
            <a:ext cx="2480371" cy="1826285"/>
            <a:chOff x="2890098" y="2299013"/>
            <a:chExt cx="2480371" cy="1826285"/>
          </a:xfrm>
          <a:solidFill>
            <a:srgbClr val="4C7E51"/>
          </a:solidFill>
        </p:grpSpPr>
        <p:sp>
          <p:nvSpPr>
            <p:cNvPr id="7" name="任意多边形 6"/>
            <p:cNvSpPr/>
            <p:nvPr/>
          </p:nvSpPr>
          <p:spPr>
            <a:xfrm rot="407279">
              <a:off x="2890098" y="2299013"/>
              <a:ext cx="2441778" cy="1826285"/>
            </a:xfrm>
            <a:custGeom>
              <a:avLst/>
              <a:gdLst>
                <a:gd name="connsiteX0" fmla="*/ 1295476 w 2211688"/>
                <a:gd name="connsiteY0" fmla="*/ 5537 h 1695217"/>
                <a:gd name="connsiteX1" fmla="*/ 2205351 w 2211688"/>
                <a:gd name="connsiteY1" fmla="*/ 755862 h 1695217"/>
                <a:gd name="connsiteX2" fmla="*/ 1579231 w 2211688"/>
                <a:gd name="connsiteY2" fmla="*/ 1684582 h 1695217"/>
                <a:gd name="connsiteX3" fmla="*/ 1517747 w 2211688"/>
                <a:gd name="connsiteY3" fmla="*/ 1695217 h 1695217"/>
                <a:gd name="connsiteX4" fmla="*/ 1548511 w 2211688"/>
                <a:gd name="connsiteY4" fmla="*/ 1613493 h 1695217"/>
                <a:gd name="connsiteX5" fmla="*/ 1572868 w 2211688"/>
                <a:gd name="connsiteY5" fmla="*/ 1276378 h 1695217"/>
                <a:gd name="connsiteX6" fmla="*/ 828102 w 2211688"/>
                <a:gd name="connsiteY6" fmla="*/ 523845 h 1695217"/>
                <a:gd name="connsiteX7" fmla="*/ 815901 w 2211688"/>
                <a:gd name="connsiteY7" fmla="*/ 523358 h 1695217"/>
                <a:gd name="connsiteX8" fmla="*/ 713356 w 2211688"/>
                <a:gd name="connsiteY8" fmla="*/ 527562 h 1695217"/>
                <a:gd name="connsiteX9" fmla="*/ 78128 w 2211688"/>
                <a:gd name="connsiteY9" fmla="*/ 772891 h 1695217"/>
                <a:gd name="connsiteX10" fmla="*/ 0 w 2211688"/>
                <a:gd name="connsiteY10" fmla="*/ 849769 h 1695217"/>
                <a:gd name="connsiteX11" fmla="*/ 6987 w 2211688"/>
                <a:gd name="connsiteY11" fmla="*/ 822596 h 1695217"/>
                <a:gd name="connsiteX12" fmla="*/ 820734 w 2211688"/>
                <a:gd name="connsiteY12" fmla="*/ 223916 h 1695217"/>
                <a:gd name="connsiteX13" fmla="*/ 838327 w 2211688"/>
                <a:gd name="connsiteY13" fmla="*/ 225358 h 1695217"/>
                <a:gd name="connsiteX14" fmla="*/ 845690 w 2211688"/>
                <a:gd name="connsiteY14" fmla="*/ 217488 h 1695217"/>
                <a:gd name="connsiteX15" fmla="*/ 1295476 w 2211688"/>
                <a:gd name="connsiteY15" fmla="*/ 5537 h 1695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11688" h="1695217">
                  <a:moveTo>
                    <a:pt x="1295476" y="5537"/>
                  </a:moveTo>
                  <a:cubicBezTo>
                    <a:pt x="1742329" y="-47652"/>
                    <a:pt x="2149695" y="288280"/>
                    <a:pt x="2205351" y="755862"/>
                  </a:cubicBezTo>
                  <a:cubicBezTo>
                    <a:pt x="2257529" y="1194219"/>
                    <a:pt x="1982063" y="1592663"/>
                    <a:pt x="1579231" y="1684582"/>
                  </a:cubicBezTo>
                  <a:lnTo>
                    <a:pt x="1517747" y="1695217"/>
                  </a:lnTo>
                  <a:lnTo>
                    <a:pt x="1548511" y="1613493"/>
                  </a:lnTo>
                  <a:cubicBezTo>
                    <a:pt x="1577397" y="1507331"/>
                    <a:pt x="1586782" y="1393274"/>
                    <a:pt x="1572868" y="1276378"/>
                  </a:cubicBezTo>
                  <a:cubicBezTo>
                    <a:pt x="1524169" y="867244"/>
                    <a:pt x="1206192" y="558905"/>
                    <a:pt x="828102" y="523845"/>
                  </a:cubicBezTo>
                  <a:lnTo>
                    <a:pt x="815901" y="523358"/>
                  </a:lnTo>
                  <a:lnTo>
                    <a:pt x="713356" y="527562"/>
                  </a:lnTo>
                  <a:cubicBezTo>
                    <a:pt x="466223" y="547939"/>
                    <a:pt x="244421" y="637882"/>
                    <a:pt x="78128" y="772891"/>
                  </a:cubicBezTo>
                  <a:lnTo>
                    <a:pt x="0" y="849769"/>
                  </a:lnTo>
                  <a:lnTo>
                    <a:pt x="6987" y="822596"/>
                  </a:lnTo>
                  <a:cubicBezTo>
                    <a:pt x="114867" y="475751"/>
                    <a:pt x="438391" y="223916"/>
                    <a:pt x="820734" y="223916"/>
                  </a:cubicBezTo>
                  <a:lnTo>
                    <a:pt x="838327" y="225358"/>
                  </a:lnTo>
                  <a:lnTo>
                    <a:pt x="845690" y="217488"/>
                  </a:lnTo>
                  <a:cubicBezTo>
                    <a:pt x="966165" y="103393"/>
                    <a:pt x="1120924" y="26314"/>
                    <a:pt x="1295476" y="5537"/>
                  </a:cubicBezTo>
                  <a:close/>
                </a:path>
              </a:pathLst>
            </a:custGeom>
            <a:grp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prstClr val="white"/>
                </a:solidFill>
              </a:endParaRPr>
            </a:p>
          </p:txBody>
        </p:sp>
        <p:sp>
          <p:nvSpPr>
            <p:cNvPr id="8" name="文本框 7"/>
            <p:cNvSpPr txBox="1"/>
            <p:nvPr/>
          </p:nvSpPr>
          <p:spPr>
            <a:xfrm>
              <a:off x="4556533" y="2871527"/>
              <a:ext cx="813936" cy="646331"/>
            </a:xfrm>
            <a:prstGeom prst="rect">
              <a:avLst/>
            </a:prstGeom>
            <a:noFill/>
            <a:ln>
              <a:noFill/>
            </a:ln>
          </p:spPr>
          <p:txBody>
            <a:bodyPr>
              <a:spAutoFit/>
            </a:bodyPr>
            <a:lstStyle/>
            <a:p>
              <a:pPr eaLnBrk="1" fontAlgn="auto" hangingPunct="1">
                <a:spcBef>
                  <a:spcPts val="0"/>
                </a:spcBef>
                <a:spcAft>
                  <a:spcPts val="0"/>
                </a:spcAft>
                <a:defRPr/>
              </a:pPr>
              <a:r>
                <a:rPr lang="zh-CN" altLang="en-US" sz="3600" b="1" dirty="0">
                  <a:solidFill>
                    <a:prstClr val="white"/>
                  </a:solidFill>
                  <a:latin typeface="微软雅黑" panose="020B0503020204020204" pitchFamily="34" charset="-122"/>
                  <a:ea typeface="微软雅黑" panose="020B0503020204020204" pitchFamily="34" charset="-122"/>
                </a:rPr>
                <a:t>现</a:t>
              </a:r>
            </a:p>
          </p:txBody>
        </p:sp>
      </p:grpSp>
      <p:grpSp>
        <p:nvGrpSpPr>
          <p:cNvPr id="9" name="组合 8"/>
          <p:cNvGrpSpPr/>
          <p:nvPr/>
        </p:nvGrpSpPr>
        <p:grpSpPr>
          <a:xfrm>
            <a:off x="2966864" y="3289067"/>
            <a:ext cx="1826285" cy="2441777"/>
            <a:chOff x="2966864" y="3289067"/>
            <a:chExt cx="1826285" cy="2441777"/>
          </a:xfrm>
          <a:solidFill>
            <a:srgbClr val="8EB453"/>
          </a:solidFill>
        </p:grpSpPr>
        <p:sp>
          <p:nvSpPr>
            <p:cNvPr id="10" name="任意多边形 9"/>
            <p:cNvSpPr/>
            <p:nvPr/>
          </p:nvSpPr>
          <p:spPr>
            <a:xfrm rot="5015132">
              <a:off x="2659118" y="3596813"/>
              <a:ext cx="2441777" cy="1826285"/>
            </a:xfrm>
            <a:custGeom>
              <a:avLst/>
              <a:gdLst>
                <a:gd name="connsiteX0" fmla="*/ 1295476 w 2211688"/>
                <a:gd name="connsiteY0" fmla="*/ 5537 h 1695217"/>
                <a:gd name="connsiteX1" fmla="*/ 2205351 w 2211688"/>
                <a:gd name="connsiteY1" fmla="*/ 755862 h 1695217"/>
                <a:gd name="connsiteX2" fmla="*/ 1579231 w 2211688"/>
                <a:gd name="connsiteY2" fmla="*/ 1684582 h 1695217"/>
                <a:gd name="connsiteX3" fmla="*/ 1517747 w 2211688"/>
                <a:gd name="connsiteY3" fmla="*/ 1695217 h 1695217"/>
                <a:gd name="connsiteX4" fmla="*/ 1548511 w 2211688"/>
                <a:gd name="connsiteY4" fmla="*/ 1613493 h 1695217"/>
                <a:gd name="connsiteX5" fmla="*/ 1572868 w 2211688"/>
                <a:gd name="connsiteY5" fmla="*/ 1276378 h 1695217"/>
                <a:gd name="connsiteX6" fmla="*/ 828102 w 2211688"/>
                <a:gd name="connsiteY6" fmla="*/ 523845 h 1695217"/>
                <a:gd name="connsiteX7" fmla="*/ 815901 w 2211688"/>
                <a:gd name="connsiteY7" fmla="*/ 523358 h 1695217"/>
                <a:gd name="connsiteX8" fmla="*/ 713356 w 2211688"/>
                <a:gd name="connsiteY8" fmla="*/ 527562 h 1695217"/>
                <a:gd name="connsiteX9" fmla="*/ 78128 w 2211688"/>
                <a:gd name="connsiteY9" fmla="*/ 772891 h 1695217"/>
                <a:gd name="connsiteX10" fmla="*/ 0 w 2211688"/>
                <a:gd name="connsiteY10" fmla="*/ 849769 h 1695217"/>
                <a:gd name="connsiteX11" fmla="*/ 6987 w 2211688"/>
                <a:gd name="connsiteY11" fmla="*/ 822596 h 1695217"/>
                <a:gd name="connsiteX12" fmla="*/ 820734 w 2211688"/>
                <a:gd name="connsiteY12" fmla="*/ 223916 h 1695217"/>
                <a:gd name="connsiteX13" fmla="*/ 838327 w 2211688"/>
                <a:gd name="connsiteY13" fmla="*/ 225358 h 1695217"/>
                <a:gd name="connsiteX14" fmla="*/ 845690 w 2211688"/>
                <a:gd name="connsiteY14" fmla="*/ 217488 h 1695217"/>
                <a:gd name="connsiteX15" fmla="*/ 1295476 w 2211688"/>
                <a:gd name="connsiteY15" fmla="*/ 5537 h 1695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11688" h="1695217">
                  <a:moveTo>
                    <a:pt x="1295476" y="5537"/>
                  </a:moveTo>
                  <a:cubicBezTo>
                    <a:pt x="1742329" y="-47652"/>
                    <a:pt x="2149695" y="288280"/>
                    <a:pt x="2205351" y="755862"/>
                  </a:cubicBezTo>
                  <a:cubicBezTo>
                    <a:pt x="2257529" y="1194219"/>
                    <a:pt x="1982063" y="1592663"/>
                    <a:pt x="1579231" y="1684582"/>
                  </a:cubicBezTo>
                  <a:lnTo>
                    <a:pt x="1517747" y="1695217"/>
                  </a:lnTo>
                  <a:lnTo>
                    <a:pt x="1548511" y="1613493"/>
                  </a:lnTo>
                  <a:cubicBezTo>
                    <a:pt x="1577397" y="1507331"/>
                    <a:pt x="1586782" y="1393274"/>
                    <a:pt x="1572868" y="1276378"/>
                  </a:cubicBezTo>
                  <a:cubicBezTo>
                    <a:pt x="1524169" y="867244"/>
                    <a:pt x="1206192" y="558905"/>
                    <a:pt x="828102" y="523845"/>
                  </a:cubicBezTo>
                  <a:lnTo>
                    <a:pt x="815901" y="523358"/>
                  </a:lnTo>
                  <a:lnTo>
                    <a:pt x="713356" y="527562"/>
                  </a:lnTo>
                  <a:cubicBezTo>
                    <a:pt x="466223" y="547939"/>
                    <a:pt x="244421" y="637882"/>
                    <a:pt x="78128" y="772891"/>
                  </a:cubicBezTo>
                  <a:lnTo>
                    <a:pt x="0" y="849769"/>
                  </a:lnTo>
                  <a:lnTo>
                    <a:pt x="6987" y="822596"/>
                  </a:lnTo>
                  <a:cubicBezTo>
                    <a:pt x="114867" y="475751"/>
                    <a:pt x="438391" y="223916"/>
                    <a:pt x="820734" y="223916"/>
                  </a:cubicBezTo>
                  <a:lnTo>
                    <a:pt x="838327" y="225358"/>
                  </a:lnTo>
                  <a:lnTo>
                    <a:pt x="845690" y="217488"/>
                  </a:lnTo>
                  <a:cubicBezTo>
                    <a:pt x="966165" y="103393"/>
                    <a:pt x="1120924" y="26314"/>
                    <a:pt x="1295476" y="553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prstClr val="white"/>
                </a:solidFill>
              </a:endParaRPr>
            </a:p>
          </p:txBody>
        </p:sp>
        <p:sp>
          <p:nvSpPr>
            <p:cNvPr id="11" name="文本框 10"/>
            <p:cNvSpPr txBox="1"/>
            <p:nvPr/>
          </p:nvSpPr>
          <p:spPr>
            <a:xfrm>
              <a:off x="3769819" y="4966306"/>
              <a:ext cx="813936" cy="646331"/>
            </a:xfrm>
            <a:prstGeom prst="rect">
              <a:avLst/>
            </a:prstGeom>
            <a:noFill/>
            <a:ln>
              <a:noFill/>
            </a:ln>
          </p:spPr>
          <p:txBody>
            <a:bodyPr>
              <a:spAutoFit/>
            </a:bodyPr>
            <a:lstStyle/>
            <a:p>
              <a:pPr eaLnBrk="1" fontAlgn="auto" hangingPunct="1">
                <a:spcBef>
                  <a:spcPts val="0"/>
                </a:spcBef>
                <a:spcAft>
                  <a:spcPts val="0"/>
                </a:spcAft>
                <a:defRPr/>
              </a:pPr>
              <a:r>
                <a:rPr lang="zh-CN" altLang="en-US" sz="3600" b="1" dirty="0">
                  <a:solidFill>
                    <a:prstClr val="white"/>
                  </a:solidFill>
                  <a:latin typeface="微软雅黑" panose="020B0503020204020204" pitchFamily="34" charset="-122"/>
                  <a:ea typeface="微软雅黑" panose="020B0503020204020204" pitchFamily="34" charset="-122"/>
                </a:rPr>
                <a:t>中</a:t>
              </a:r>
            </a:p>
          </p:txBody>
        </p:sp>
      </p:grpSp>
      <p:grpSp>
        <p:nvGrpSpPr>
          <p:cNvPr id="12" name="组合 11"/>
          <p:cNvGrpSpPr/>
          <p:nvPr/>
        </p:nvGrpSpPr>
        <p:grpSpPr>
          <a:xfrm>
            <a:off x="1372812" y="3792378"/>
            <a:ext cx="2441778" cy="1826285"/>
            <a:chOff x="1372812" y="3792378"/>
            <a:chExt cx="2441778" cy="1826285"/>
          </a:xfrm>
          <a:solidFill>
            <a:srgbClr val="4C7E51"/>
          </a:solidFill>
        </p:grpSpPr>
        <p:sp>
          <p:nvSpPr>
            <p:cNvPr id="13" name="任意多边形 12"/>
            <p:cNvSpPr/>
            <p:nvPr/>
          </p:nvSpPr>
          <p:spPr>
            <a:xfrm rot="8929173">
              <a:off x="1372812" y="3792378"/>
              <a:ext cx="2441778" cy="1826285"/>
            </a:xfrm>
            <a:custGeom>
              <a:avLst/>
              <a:gdLst>
                <a:gd name="connsiteX0" fmla="*/ 1295476 w 2211688"/>
                <a:gd name="connsiteY0" fmla="*/ 5537 h 1695217"/>
                <a:gd name="connsiteX1" fmla="*/ 2205351 w 2211688"/>
                <a:gd name="connsiteY1" fmla="*/ 755862 h 1695217"/>
                <a:gd name="connsiteX2" fmla="*/ 1579231 w 2211688"/>
                <a:gd name="connsiteY2" fmla="*/ 1684582 h 1695217"/>
                <a:gd name="connsiteX3" fmla="*/ 1517747 w 2211688"/>
                <a:gd name="connsiteY3" fmla="*/ 1695217 h 1695217"/>
                <a:gd name="connsiteX4" fmla="*/ 1548511 w 2211688"/>
                <a:gd name="connsiteY4" fmla="*/ 1613493 h 1695217"/>
                <a:gd name="connsiteX5" fmla="*/ 1572868 w 2211688"/>
                <a:gd name="connsiteY5" fmla="*/ 1276378 h 1695217"/>
                <a:gd name="connsiteX6" fmla="*/ 828102 w 2211688"/>
                <a:gd name="connsiteY6" fmla="*/ 523845 h 1695217"/>
                <a:gd name="connsiteX7" fmla="*/ 815901 w 2211688"/>
                <a:gd name="connsiteY7" fmla="*/ 523358 h 1695217"/>
                <a:gd name="connsiteX8" fmla="*/ 713356 w 2211688"/>
                <a:gd name="connsiteY8" fmla="*/ 527562 h 1695217"/>
                <a:gd name="connsiteX9" fmla="*/ 78128 w 2211688"/>
                <a:gd name="connsiteY9" fmla="*/ 772891 h 1695217"/>
                <a:gd name="connsiteX10" fmla="*/ 0 w 2211688"/>
                <a:gd name="connsiteY10" fmla="*/ 849769 h 1695217"/>
                <a:gd name="connsiteX11" fmla="*/ 6987 w 2211688"/>
                <a:gd name="connsiteY11" fmla="*/ 822596 h 1695217"/>
                <a:gd name="connsiteX12" fmla="*/ 820734 w 2211688"/>
                <a:gd name="connsiteY12" fmla="*/ 223916 h 1695217"/>
                <a:gd name="connsiteX13" fmla="*/ 838327 w 2211688"/>
                <a:gd name="connsiteY13" fmla="*/ 225358 h 1695217"/>
                <a:gd name="connsiteX14" fmla="*/ 845690 w 2211688"/>
                <a:gd name="connsiteY14" fmla="*/ 217488 h 1695217"/>
                <a:gd name="connsiteX15" fmla="*/ 1295476 w 2211688"/>
                <a:gd name="connsiteY15" fmla="*/ 5537 h 1695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11688" h="1695217">
                  <a:moveTo>
                    <a:pt x="1295476" y="5537"/>
                  </a:moveTo>
                  <a:cubicBezTo>
                    <a:pt x="1742329" y="-47652"/>
                    <a:pt x="2149695" y="288280"/>
                    <a:pt x="2205351" y="755862"/>
                  </a:cubicBezTo>
                  <a:cubicBezTo>
                    <a:pt x="2257529" y="1194219"/>
                    <a:pt x="1982063" y="1592663"/>
                    <a:pt x="1579231" y="1684582"/>
                  </a:cubicBezTo>
                  <a:lnTo>
                    <a:pt x="1517747" y="1695217"/>
                  </a:lnTo>
                  <a:lnTo>
                    <a:pt x="1548511" y="1613493"/>
                  </a:lnTo>
                  <a:cubicBezTo>
                    <a:pt x="1577397" y="1507331"/>
                    <a:pt x="1586782" y="1393274"/>
                    <a:pt x="1572868" y="1276378"/>
                  </a:cubicBezTo>
                  <a:cubicBezTo>
                    <a:pt x="1524169" y="867244"/>
                    <a:pt x="1206192" y="558905"/>
                    <a:pt x="828102" y="523845"/>
                  </a:cubicBezTo>
                  <a:lnTo>
                    <a:pt x="815901" y="523358"/>
                  </a:lnTo>
                  <a:lnTo>
                    <a:pt x="713356" y="527562"/>
                  </a:lnTo>
                  <a:cubicBezTo>
                    <a:pt x="466223" y="547939"/>
                    <a:pt x="244421" y="637882"/>
                    <a:pt x="78128" y="772891"/>
                  </a:cubicBezTo>
                  <a:lnTo>
                    <a:pt x="0" y="849769"/>
                  </a:lnTo>
                  <a:lnTo>
                    <a:pt x="6987" y="822596"/>
                  </a:lnTo>
                  <a:cubicBezTo>
                    <a:pt x="114867" y="475751"/>
                    <a:pt x="438391" y="223916"/>
                    <a:pt x="820734" y="223916"/>
                  </a:cubicBezTo>
                  <a:lnTo>
                    <a:pt x="838327" y="225358"/>
                  </a:lnTo>
                  <a:lnTo>
                    <a:pt x="845690" y="217488"/>
                  </a:lnTo>
                  <a:cubicBezTo>
                    <a:pt x="966165" y="103393"/>
                    <a:pt x="1120924" y="26314"/>
                    <a:pt x="1295476" y="5537"/>
                  </a:cubicBezTo>
                  <a:close/>
                </a:path>
              </a:pathLst>
            </a:custGeom>
            <a:grp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prstClr val="white"/>
                </a:solidFill>
              </a:endParaRPr>
            </a:p>
          </p:txBody>
        </p:sp>
        <p:sp>
          <p:nvSpPr>
            <p:cNvPr id="14" name="文本框 13"/>
            <p:cNvSpPr txBox="1"/>
            <p:nvPr/>
          </p:nvSpPr>
          <p:spPr>
            <a:xfrm>
              <a:off x="1820853" y="4966307"/>
              <a:ext cx="813936" cy="646331"/>
            </a:xfrm>
            <a:prstGeom prst="rect">
              <a:avLst/>
            </a:prstGeom>
            <a:grpFill/>
            <a:ln>
              <a:solidFill>
                <a:srgbClr val="4C7E51"/>
              </a:solidFill>
            </a:ln>
          </p:spPr>
          <p:txBody>
            <a:bodyPr>
              <a:spAutoFit/>
            </a:bodyPr>
            <a:lstStyle/>
            <a:p>
              <a:pPr eaLnBrk="1" fontAlgn="auto" hangingPunct="1">
                <a:spcBef>
                  <a:spcPts val="0"/>
                </a:spcBef>
                <a:spcAft>
                  <a:spcPts val="0"/>
                </a:spcAft>
                <a:defRPr/>
              </a:pPr>
              <a:r>
                <a:rPr lang="zh-CN" altLang="en-US" sz="3600" b="1" dirty="0">
                  <a:solidFill>
                    <a:prstClr val="white"/>
                  </a:solidFill>
                  <a:latin typeface="微软雅黑" panose="020B0503020204020204" pitchFamily="34" charset="-122"/>
                  <a:ea typeface="微软雅黑" panose="020B0503020204020204" pitchFamily="34" charset="-122"/>
                </a:rPr>
                <a:t>关</a:t>
              </a:r>
            </a:p>
          </p:txBody>
        </p:sp>
      </p:grpSp>
      <p:grpSp>
        <p:nvGrpSpPr>
          <p:cNvPr id="15" name="组合 14"/>
          <p:cNvGrpSpPr/>
          <p:nvPr/>
        </p:nvGrpSpPr>
        <p:grpSpPr>
          <a:xfrm>
            <a:off x="793795" y="2621841"/>
            <a:ext cx="2441778" cy="1826285"/>
            <a:chOff x="793795" y="2621841"/>
            <a:chExt cx="2441778" cy="1826285"/>
          </a:xfrm>
          <a:solidFill>
            <a:srgbClr val="4C7E51"/>
          </a:solidFill>
        </p:grpSpPr>
        <p:sp>
          <p:nvSpPr>
            <p:cNvPr id="16" name="任意多边形 15"/>
            <p:cNvSpPr/>
            <p:nvPr/>
          </p:nvSpPr>
          <p:spPr>
            <a:xfrm rot="13070320">
              <a:off x="793795" y="2621841"/>
              <a:ext cx="2441778" cy="1826285"/>
            </a:xfrm>
            <a:custGeom>
              <a:avLst/>
              <a:gdLst>
                <a:gd name="connsiteX0" fmla="*/ 1295476 w 2211688"/>
                <a:gd name="connsiteY0" fmla="*/ 5537 h 1695217"/>
                <a:gd name="connsiteX1" fmla="*/ 2205351 w 2211688"/>
                <a:gd name="connsiteY1" fmla="*/ 755862 h 1695217"/>
                <a:gd name="connsiteX2" fmla="*/ 1579231 w 2211688"/>
                <a:gd name="connsiteY2" fmla="*/ 1684582 h 1695217"/>
                <a:gd name="connsiteX3" fmla="*/ 1517747 w 2211688"/>
                <a:gd name="connsiteY3" fmla="*/ 1695217 h 1695217"/>
                <a:gd name="connsiteX4" fmla="*/ 1548511 w 2211688"/>
                <a:gd name="connsiteY4" fmla="*/ 1613493 h 1695217"/>
                <a:gd name="connsiteX5" fmla="*/ 1572868 w 2211688"/>
                <a:gd name="connsiteY5" fmla="*/ 1276378 h 1695217"/>
                <a:gd name="connsiteX6" fmla="*/ 828102 w 2211688"/>
                <a:gd name="connsiteY6" fmla="*/ 523845 h 1695217"/>
                <a:gd name="connsiteX7" fmla="*/ 815901 w 2211688"/>
                <a:gd name="connsiteY7" fmla="*/ 523358 h 1695217"/>
                <a:gd name="connsiteX8" fmla="*/ 713356 w 2211688"/>
                <a:gd name="connsiteY8" fmla="*/ 527562 h 1695217"/>
                <a:gd name="connsiteX9" fmla="*/ 78128 w 2211688"/>
                <a:gd name="connsiteY9" fmla="*/ 772891 h 1695217"/>
                <a:gd name="connsiteX10" fmla="*/ 0 w 2211688"/>
                <a:gd name="connsiteY10" fmla="*/ 849769 h 1695217"/>
                <a:gd name="connsiteX11" fmla="*/ 6987 w 2211688"/>
                <a:gd name="connsiteY11" fmla="*/ 822596 h 1695217"/>
                <a:gd name="connsiteX12" fmla="*/ 820734 w 2211688"/>
                <a:gd name="connsiteY12" fmla="*/ 223916 h 1695217"/>
                <a:gd name="connsiteX13" fmla="*/ 838327 w 2211688"/>
                <a:gd name="connsiteY13" fmla="*/ 225358 h 1695217"/>
                <a:gd name="connsiteX14" fmla="*/ 845690 w 2211688"/>
                <a:gd name="connsiteY14" fmla="*/ 217488 h 1695217"/>
                <a:gd name="connsiteX15" fmla="*/ 1295476 w 2211688"/>
                <a:gd name="connsiteY15" fmla="*/ 5537 h 1695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11688" h="1695217">
                  <a:moveTo>
                    <a:pt x="1295476" y="5537"/>
                  </a:moveTo>
                  <a:cubicBezTo>
                    <a:pt x="1742329" y="-47652"/>
                    <a:pt x="2149695" y="288280"/>
                    <a:pt x="2205351" y="755862"/>
                  </a:cubicBezTo>
                  <a:cubicBezTo>
                    <a:pt x="2257529" y="1194219"/>
                    <a:pt x="1982063" y="1592663"/>
                    <a:pt x="1579231" y="1684582"/>
                  </a:cubicBezTo>
                  <a:lnTo>
                    <a:pt x="1517747" y="1695217"/>
                  </a:lnTo>
                  <a:lnTo>
                    <a:pt x="1548511" y="1613493"/>
                  </a:lnTo>
                  <a:cubicBezTo>
                    <a:pt x="1577397" y="1507331"/>
                    <a:pt x="1586782" y="1393274"/>
                    <a:pt x="1572868" y="1276378"/>
                  </a:cubicBezTo>
                  <a:cubicBezTo>
                    <a:pt x="1524169" y="867244"/>
                    <a:pt x="1206192" y="558905"/>
                    <a:pt x="828102" y="523845"/>
                  </a:cubicBezTo>
                  <a:lnTo>
                    <a:pt x="815901" y="523358"/>
                  </a:lnTo>
                  <a:lnTo>
                    <a:pt x="713356" y="527562"/>
                  </a:lnTo>
                  <a:cubicBezTo>
                    <a:pt x="466223" y="547939"/>
                    <a:pt x="244421" y="637882"/>
                    <a:pt x="78128" y="772891"/>
                  </a:cubicBezTo>
                  <a:lnTo>
                    <a:pt x="0" y="849769"/>
                  </a:lnTo>
                  <a:lnTo>
                    <a:pt x="6987" y="822596"/>
                  </a:lnTo>
                  <a:cubicBezTo>
                    <a:pt x="114867" y="475751"/>
                    <a:pt x="438391" y="223916"/>
                    <a:pt x="820734" y="223916"/>
                  </a:cubicBezTo>
                  <a:lnTo>
                    <a:pt x="838327" y="225358"/>
                  </a:lnTo>
                  <a:lnTo>
                    <a:pt x="845690" y="217488"/>
                  </a:lnTo>
                  <a:cubicBezTo>
                    <a:pt x="966165" y="103393"/>
                    <a:pt x="1120924" y="26314"/>
                    <a:pt x="1295476" y="5537"/>
                  </a:cubicBezTo>
                  <a:close/>
                </a:path>
              </a:pathLst>
            </a:custGeom>
            <a:grp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prstClr val="white"/>
                </a:solidFill>
              </a:endParaRPr>
            </a:p>
          </p:txBody>
        </p:sp>
        <p:sp>
          <p:nvSpPr>
            <p:cNvPr id="17" name="文本框 16"/>
            <p:cNvSpPr txBox="1"/>
            <p:nvPr/>
          </p:nvSpPr>
          <p:spPr>
            <a:xfrm>
              <a:off x="948062" y="3051088"/>
              <a:ext cx="813936" cy="646331"/>
            </a:xfrm>
            <a:prstGeom prst="rect">
              <a:avLst/>
            </a:prstGeom>
            <a:grpFill/>
            <a:ln>
              <a:solidFill>
                <a:srgbClr val="4C7E51"/>
              </a:solidFill>
            </a:ln>
          </p:spPr>
          <p:txBody>
            <a:bodyPr>
              <a:spAutoFit/>
            </a:bodyPr>
            <a:lstStyle/>
            <a:p>
              <a:pPr eaLnBrk="1" fontAlgn="auto" hangingPunct="1">
                <a:spcBef>
                  <a:spcPts val="0"/>
                </a:spcBef>
                <a:spcAft>
                  <a:spcPts val="0"/>
                </a:spcAft>
                <a:defRPr/>
              </a:pPr>
              <a:r>
                <a:rPr lang="zh-CN" altLang="en-US" sz="3600" b="1" dirty="0">
                  <a:solidFill>
                    <a:prstClr val="white"/>
                  </a:solidFill>
                  <a:latin typeface="微软雅黑" panose="020B0503020204020204" pitchFamily="34" charset="-122"/>
                  <a:ea typeface="微软雅黑" panose="020B0503020204020204" pitchFamily="34" charset="-122"/>
                </a:rPr>
                <a:t>键</a:t>
              </a:r>
            </a:p>
          </p:txBody>
        </p:sp>
      </p:grpSp>
      <p:sp>
        <p:nvSpPr>
          <p:cNvPr id="20488" name="文本框 17"/>
          <p:cNvSpPr txBox="1">
            <a:spLocks noChangeArrowheads="1"/>
          </p:cNvSpPr>
          <p:nvPr/>
        </p:nvSpPr>
        <p:spPr bwMode="auto">
          <a:xfrm>
            <a:off x="2603500" y="3324225"/>
            <a:ext cx="14605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zh-CN" altLang="en-US" sz="3600" b="1" dirty="0">
                <a:solidFill>
                  <a:srgbClr val="000000"/>
                </a:solidFill>
                <a:latin typeface="微软雅黑" panose="020B0503020204020204" pitchFamily="34" charset="-122"/>
                <a:ea typeface="微软雅黑" panose="020B0503020204020204" pitchFamily="34" charset="-122"/>
              </a:rPr>
              <a:t>问题</a:t>
            </a:r>
          </a:p>
        </p:txBody>
      </p:sp>
      <p:sp>
        <p:nvSpPr>
          <p:cNvPr id="30" name="矩形 29"/>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33" name="组合 32"/>
          <p:cNvGrpSpPr/>
          <p:nvPr/>
        </p:nvGrpSpPr>
        <p:grpSpPr>
          <a:xfrm>
            <a:off x="245745" y="213360"/>
            <a:ext cx="563880" cy="563880"/>
            <a:chOff x="276225" y="213360"/>
            <a:chExt cx="563880" cy="563880"/>
          </a:xfrm>
          <a:solidFill>
            <a:srgbClr val="3D7351"/>
          </a:solidFill>
        </p:grpSpPr>
        <p:sp>
          <p:nvSpPr>
            <p:cNvPr id="37" name="矩形 36"/>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8" name="椭圆 37"/>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9" name="文本框 25"/>
          <p:cNvSpPr txBox="1">
            <a:spLocks noChangeArrowheads="1"/>
          </p:cNvSpPr>
          <p:nvPr/>
        </p:nvSpPr>
        <p:spPr bwMode="auto">
          <a:xfrm>
            <a:off x="902970" y="212725"/>
            <a:ext cx="16930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4.</a:t>
            </a:r>
            <a:r>
              <a:rPr lang="zh-CN" altLang="en-US" sz="2400" b="1" dirty="0">
                <a:solidFill>
                  <a:srgbClr val="3D7351"/>
                </a:solidFill>
                <a:latin typeface="微软雅黑" panose="020B0503020204020204" pitchFamily="34" charset="-122"/>
                <a:ea typeface="微软雅黑" panose="020B0503020204020204" pitchFamily="34" charset="-122"/>
              </a:rPr>
              <a:t>分时系统</a:t>
            </a:r>
          </a:p>
        </p:txBody>
      </p:sp>
      <p:sp>
        <p:nvSpPr>
          <p:cNvPr id="29"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31" name="矩形 30"/>
          <p:cNvSpPr/>
          <p:nvPr/>
        </p:nvSpPr>
        <p:spPr>
          <a:xfrm>
            <a:off x="6418263" y="1509035"/>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2" name="矩形 31"/>
          <p:cNvSpPr/>
          <p:nvPr/>
        </p:nvSpPr>
        <p:spPr>
          <a:xfrm>
            <a:off x="7326313" y="1509035"/>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4" name="矩形 33"/>
          <p:cNvSpPr/>
          <p:nvPr/>
        </p:nvSpPr>
        <p:spPr>
          <a:xfrm>
            <a:off x="6418263" y="4655762"/>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5" name="矩形 34"/>
          <p:cNvSpPr/>
          <p:nvPr/>
        </p:nvSpPr>
        <p:spPr>
          <a:xfrm>
            <a:off x="7326313" y="4655762"/>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6" name="文本框 51"/>
          <p:cNvSpPr txBox="1">
            <a:spLocks noChangeArrowheads="1"/>
          </p:cNvSpPr>
          <p:nvPr/>
        </p:nvSpPr>
        <p:spPr bwMode="auto">
          <a:xfrm>
            <a:off x="6395045" y="2114828"/>
            <a:ext cx="4470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1" indent="0"/>
            <a:r>
              <a:rPr lang="zh-CN" altLang="en-US" sz="2400" dirty="0"/>
              <a:t>使主机能同时接收各用户从终端上输入的数据。</a:t>
            </a:r>
            <a:endParaRPr lang="en-US" altLang="zh-CN" sz="2400" dirty="0"/>
          </a:p>
        </p:txBody>
      </p:sp>
      <p:sp>
        <p:nvSpPr>
          <p:cNvPr id="41" name="文本框 55"/>
          <p:cNvSpPr txBox="1">
            <a:spLocks noChangeArrowheads="1"/>
          </p:cNvSpPr>
          <p:nvPr/>
        </p:nvSpPr>
        <p:spPr bwMode="auto">
          <a:xfrm>
            <a:off x="6272213" y="975635"/>
            <a:ext cx="1920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及时接收</a:t>
            </a:r>
          </a:p>
        </p:txBody>
      </p:sp>
      <p:sp>
        <p:nvSpPr>
          <p:cNvPr id="42" name="文本框 56"/>
          <p:cNvSpPr txBox="1">
            <a:spLocks noChangeArrowheads="1"/>
          </p:cNvSpPr>
          <p:nvPr/>
        </p:nvSpPr>
        <p:spPr bwMode="auto">
          <a:xfrm>
            <a:off x="6272213" y="4109662"/>
            <a:ext cx="1920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及时处理</a:t>
            </a:r>
          </a:p>
        </p:txBody>
      </p:sp>
      <p:sp>
        <p:nvSpPr>
          <p:cNvPr id="43" name="文本框 80"/>
          <p:cNvSpPr txBox="1">
            <a:spLocks noChangeArrowheads="1"/>
          </p:cNvSpPr>
          <p:nvPr/>
        </p:nvSpPr>
        <p:spPr bwMode="auto">
          <a:xfrm>
            <a:off x="6418263" y="1761789"/>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多路卡</a:t>
            </a:r>
          </a:p>
        </p:txBody>
      </p:sp>
      <p:sp>
        <p:nvSpPr>
          <p:cNvPr id="44" name="文本框 51"/>
          <p:cNvSpPr txBox="1">
            <a:spLocks noChangeArrowheads="1"/>
          </p:cNvSpPr>
          <p:nvPr/>
        </p:nvSpPr>
        <p:spPr bwMode="auto">
          <a:xfrm>
            <a:off x="6424613" y="3400012"/>
            <a:ext cx="4470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1" indent="0"/>
            <a:r>
              <a:rPr lang="zh-CN" altLang="en-US" sz="2400" dirty="0"/>
              <a:t>暂存用户键入命令。</a:t>
            </a:r>
            <a:endParaRPr lang="en-US" altLang="zh-CN" sz="2400" dirty="0"/>
          </a:p>
        </p:txBody>
      </p:sp>
      <p:sp>
        <p:nvSpPr>
          <p:cNvPr id="45" name="文本框 80"/>
          <p:cNvSpPr txBox="1">
            <a:spLocks noChangeArrowheads="1"/>
          </p:cNvSpPr>
          <p:nvPr/>
        </p:nvSpPr>
        <p:spPr bwMode="auto">
          <a:xfrm>
            <a:off x="6406887" y="2992381"/>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缓冲区</a:t>
            </a:r>
          </a:p>
        </p:txBody>
      </p:sp>
      <p:sp>
        <p:nvSpPr>
          <p:cNvPr id="46" name="文本框 80"/>
          <p:cNvSpPr txBox="1">
            <a:spLocks noChangeArrowheads="1"/>
          </p:cNvSpPr>
          <p:nvPr/>
        </p:nvSpPr>
        <p:spPr bwMode="auto">
          <a:xfrm>
            <a:off x="6424613" y="4992725"/>
            <a:ext cx="2236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作业直接进入内存</a:t>
            </a:r>
          </a:p>
        </p:txBody>
      </p:sp>
      <p:sp>
        <p:nvSpPr>
          <p:cNvPr id="47" name="文本框 80"/>
          <p:cNvSpPr txBox="1">
            <a:spLocks noChangeArrowheads="1"/>
          </p:cNvSpPr>
          <p:nvPr/>
        </p:nvSpPr>
        <p:spPr bwMode="auto">
          <a:xfrm>
            <a:off x="6413237" y="5499973"/>
            <a:ext cx="2236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采用轮转运行方式</a:t>
            </a:r>
          </a:p>
        </p:txBody>
      </p:sp>
    </p:spTree>
    <p:extLst>
      <p:ext uri="{BB962C8B-B14F-4D97-AF65-F5344CB8AC3E}">
        <p14:creationId xmlns:p14="http://schemas.microsoft.com/office/powerpoint/2010/main" val="1795998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1000"/>
                                        <p:tgtEl>
                                          <p:spTgt spid="36"/>
                                        </p:tgtEl>
                                      </p:cBhvr>
                                    </p:animEffect>
                                    <p:anim calcmode="lin" valueType="num">
                                      <p:cBhvr>
                                        <p:cTn id="8" dur="1000" fill="hold"/>
                                        <p:tgtEl>
                                          <p:spTgt spid="36"/>
                                        </p:tgtEl>
                                        <p:attrNameLst>
                                          <p:attrName>ppt_x</p:attrName>
                                        </p:attrNameLst>
                                      </p:cBhvr>
                                      <p:tavLst>
                                        <p:tav tm="0">
                                          <p:val>
                                            <p:strVal val="#ppt_x"/>
                                          </p:val>
                                        </p:tav>
                                        <p:tav tm="100000">
                                          <p:val>
                                            <p:strVal val="#ppt_x"/>
                                          </p:val>
                                        </p:tav>
                                      </p:tavLst>
                                    </p:anim>
                                    <p:anim calcmode="lin" valueType="num">
                                      <p:cBhvr>
                                        <p:cTn id="9"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0" presetClass="entr" presetSubtype="0" decel="100000" fill="hold" grpId="0" nodeType="clickEffect">
                                  <p:stCondLst>
                                    <p:cond delay="0"/>
                                  </p:stCondLst>
                                  <p:iterate type="lt">
                                    <p:tmPct val="5000"/>
                                  </p:iterate>
                                  <p:childTnLst>
                                    <p:set>
                                      <p:cBhvr>
                                        <p:cTn id="13" dur="1" fill="hold">
                                          <p:stCondLst>
                                            <p:cond delay="0"/>
                                          </p:stCondLst>
                                        </p:cTn>
                                        <p:tgtEl>
                                          <p:spTgt spid="43"/>
                                        </p:tgtEl>
                                        <p:attrNameLst>
                                          <p:attrName>style.visibility</p:attrName>
                                        </p:attrNameLst>
                                      </p:cBhvr>
                                      <p:to>
                                        <p:strVal val="visible"/>
                                      </p:to>
                                    </p:set>
                                    <p:anim calcmode="lin" valueType="num">
                                      <p:cBhvr>
                                        <p:cTn id="14" dur="500" fill="hold"/>
                                        <p:tgtEl>
                                          <p:spTgt spid="43"/>
                                        </p:tgtEl>
                                        <p:attrNameLst>
                                          <p:attrName>ppt_w</p:attrName>
                                        </p:attrNameLst>
                                      </p:cBhvr>
                                      <p:tavLst>
                                        <p:tav tm="0">
                                          <p:val>
                                            <p:strVal val="#ppt_w+.3"/>
                                          </p:val>
                                        </p:tav>
                                        <p:tav tm="100000">
                                          <p:val>
                                            <p:strVal val="#ppt_w"/>
                                          </p:val>
                                        </p:tav>
                                      </p:tavLst>
                                    </p:anim>
                                    <p:anim calcmode="lin" valueType="num">
                                      <p:cBhvr>
                                        <p:cTn id="15" dur="500" fill="hold"/>
                                        <p:tgtEl>
                                          <p:spTgt spid="43"/>
                                        </p:tgtEl>
                                        <p:attrNameLst>
                                          <p:attrName>ppt_h</p:attrName>
                                        </p:attrNameLst>
                                      </p:cBhvr>
                                      <p:tavLst>
                                        <p:tav tm="0">
                                          <p:val>
                                            <p:strVal val="#ppt_h"/>
                                          </p:val>
                                        </p:tav>
                                        <p:tav tm="100000">
                                          <p:val>
                                            <p:strVal val="#ppt_h"/>
                                          </p:val>
                                        </p:tav>
                                      </p:tavLst>
                                    </p:anim>
                                    <p:animEffect transition="in" filter="fade">
                                      <p:cBhvr>
                                        <p:cTn id="16" dur="500"/>
                                        <p:tgtEl>
                                          <p:spTgt spid="43"/>
                                        </p:tgtEl>
                                      </p:cBhvr>
                                    </p:animEffect>
                                  </p:childTnLst>
                                </p:cTn>
                              </p:par>
                              <p:par>
                                <p:cTn id="17" presetID="42"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fade">
                                      <p:cBhvr>
                                        <p:cTn id="19" dur="1000"/>
                                        <p:tgtEl>
                                          <p:spTgt spid="44"/>
                                        </p:tgtEl>
                                      </p:cBhvr>
                                    </p:animEffect>
                                    <p:anim calcmode="lin" valueType="num">
                                      <p:cBhvr>
                                        <p:cTn id="20" dur="1000" fill="hold"/>
                                        <p:tgtEl>
                                          <p:spTgt spid="44"/>
                                        </p:tgtEl>
                                        <p:attrNameLst>
                                          <p:attrName>ppt_x</p:attrName>
                                        </p:attrNameLst>
                                      </p:cBhvr>
                                      <p:tavLst>
                                        <p:tav tm="0">
                                          <p:val>
                                            <p:strVal val="#ppt_x"/>
                                          </p:val>
                                        </p:tav>
                                        <p:tav tm="100000">
                                          <p:val>
                                            <p:strVal val="#ppt_x"/>
                                          </p:val>
                                        </p:tav>
                                      </p:tavLst>
                                    </p:anim>
                                    <p:anim calcmode="lin" valueType="num">
                                      <p:cBhvr>
                                        <p:cTn id="21"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50" presetClass="entr" presetSubtype="0" decel="100000" fill="hold" grpId="0" nodeType="clickEffect">
                                  <p:stCondLst>
                                    <p:cond delay="0"/>
                                  </p:stCondLst>
                                  <p:iterate type="lt">
                                    <p:tmPct val="5000"/>
                                  </p:iterate>
                                  <p:childTnLst>
                                    <p:set>
                                      <p:cBhvr>
                                        <p:cTn id="25" dur="1" fill="hold">
                                          <p:stCondLst>
                                            <p:cond delay="0"/>
                                          </p:stCondLst>
                                        </p:cTn>
                                        <p:tgtEl>
                                          <p:spTgt spid="45"/>
                                        </p:tgtEl>
                                        <p:attrNameLst>
                                          <p:attrName>style.visibility</p:attrName>
                                        </p:attrNameLst>
                                      </p:cBhvr>
                                      <p:to>
                                        <p:strVal val="visible"/>
                                      </p:to>
                                    </p:set>
                                    <p:anim calcmode="lin" valueType="num">
                                      <p:cBhvr>
                                        <p:cTn id="26" dur="500" fill="hold"/>
                                        <p:tgtEl>
                                          <p:spTgt spid="45"/>
                                        </p:tgtEl>
                                        <p:attrNameLst>
                                          <p:attrName>ppt_w</p:attrName>
                                        </p:attrNameLst>
                                      </p:cBhvr>
                                      <p:tavLst>
                                        <p:tav tm="0">
                                          <p:val>
                                            <p:strVal val="#ppt_w+.3"/>
                                          </p:val>
                                        </p:tav>
                                        <p:tav tm="100000">
                                          <p:val>
                                            <p:strVal val="#ppt_w"/>
                                          </p:val>
                                        </p:tav>
                                      </p:tavLst>
                                    </p:anim>
                                    <p:anim calcmode="lin" valueType="num">
                                      <p:cBhvr>
                                        <p:cTn id="27" dur="500" fill="hold"/>
                                        <p:tgtEl>
                                          <p:spTgt spid="45"/>
                                        </p:tgtEl>
                                        <p:attrNameLst>
                                          <p:attrName>ppt_h</p:attrName>
                                        </p:attrNameLst>
                                      </p:cBhvr>
                                      <p:tavLst>
                                        <p:tav tm="0">
                                          <p:val>
                                            <p:strVal val="#ppt_h"/>
                                          </p:val>
                                        </p:tav>
                                        <p:tav tm="100000">
                                          <p:val>
                                            <p:strVal val="#ppt_h"/>
                                          </p:val>
                                        </p:tav>
                                      </p:tavLst>
                                    </p:anim>
                                    <p:animEffect transition="in" filter="fade">
                                      <p:cBhvr>
                                        <p:cTn id="28" dur="500"/>
                                        <p:tgtEl>
                                          <p:spTgt spid="45"/>
                                        </p:tgtEl>
                                      </p:cBhvr>
                                    </p:animEffect>
                                  </p:childTnLst>
                                </p:cTn>
                              </p:par>
                            </p:childTnLst>
                          </p:cTn>
                        </p:par>
                      </p:childTnLst>
                    </p:cTn>
                  </p:par>
                  <p:par>
                    <p:cTn id="29" fill="hold">
                      <p:stCondLst>
                        <p:cond delay="indefinite"/>
                      </p:stCondLst>
                      <p:childTnLst>
                        <p:par>
                          <p:cTn id="30" fill="hold">
                            <p:stCondLst>
                              <p:cond delay="0"/>
                            </p:stCondLst>
                            <p:childTnLst>
                              <p:par>
                                <p:cTn id="31" presetID="50" presetClass="entr" presetSubtype="0" decel="100000" fill="hold" grpId="0" nodeType="clickEffect">
                                  <p:stCondLst>
                                    <p:cond delay="0"/>
                                  </p:stCondLst>
                                  <p:iterate type="lt">
                                    <p:tmPct val="5000"/>
                                  </p:iterate>
                                  <p:childTnLst>
                                    <p:set>
                                      <p:cBhvr>
                                        <p:cTn id="32" dur="1" fill="hold">
                                          <p:stCondLst>
                                            <p:cond delay="0"/>
                                          </p:stCondLst>
                                        </p:cTn>
                                        <p:tgtEl>
                                          <p:spTgt spid="46"/>
                                        </p:tgtEl>
                                        <p:attrNameLst>
                                          <p:attrName>style.visibility</p:attrName>
                                        </p:attrNameLst>
                                      </p:cBhvr>
                                      <p:to>
                                        <p:strVal val="visible"/>
                                      </p:to>
                                    </p:set>
                                    <p:anim calcmode="lin" valueType="num">
                                      <p:cBhvr>
                                        <p:cTn id="33" dur="500" fill="hold"/>
                                        <p:tgtEl>
                                          <p:spTgt spid="46"/>
                                        </p:tgtEl>
                                        <p:attrNameLst>
                                          <p:attrName>ppt_w</p:attrName>
                                        </p:attrNameLst>
                                      </p:cBhvr>
                                      <p:tavLst>
                                        <p:tav tm="0">
                                          <p:val>
                                            <p:strVal val="#ppt_w+.3"/>
                                          </p:val>
                                        </p:tav>
                                        <p:tav tm="100000">
                                          <p:val>
                                            <p:strVal val="#ppt_w"/>
                                          </p:val>
                                        </p:tav>
                                      </p:tavLst>
                                    </p:anim>
                                    <p:anim calcmode="lin" valueType="num">
                                      <p:cBhvr>
                                        <p:cTn id="34" dur="500" fill="hold"/>
                                        <p:tgtEl>
                                          <p:spTgt spid="46"/>
                                        </p:tgtEl>
                                        <p:attrNameLst>
                                          <p:attrName>ppt_h</p:attrName>
                                        </p:attrNameLst>
                                      </p:cBhvr>
                                      <p:tavLst>
                                        <p:tav tm="0">
                                          <p:val>
                                            <p:strVal val="#ppt_h"/>
                                          </p:val>
                                        </p:tav>
                                        <p:tav tm="100000">
                                          <p:val>
                                            <p:strVal val="#ppt_h"/>
                                          </p:val>
                                        </p:tav>
                                      </p:tavLst>
                                    </p:anim>
                                    <p:animEffect transition="in" filter="fade">
                                      <p:cBhvr>
                                        <p:cTn id="35" dur="500"/>
                                        <p:tgtEl>
                                          <p:spTgt spid="46"/>
                                        </p:tgtEl>
                                      </p:cBhvr>
                                    </p:animEffect>
                                  </p:childTnLst>
                                </p:cTn>
                              </p:par>
                            </p:childTnLst>
                          </p:cTn>
                        </p:par>
                      </p:childTnLst>
                    </p:cTn>
                  </p:par>
                  <p:par>
                    <p:cTn id="36" fill="hold">
                      <p:stCondLst>
                        <p:cond delay="indefinite"/>
                      </p:stCondLst>
                      <p:childTnLst>
                        <p:par>
                          <p:cTn id="37" fill="hold">
                            <p:stCondLst>
                              <p:cond delay="0"/>
                            </p:stCondLst>
                            <p:childTnLst>
                              <p:par>
                                <p:cTn id="38" presetID="50" presetClass="entr" presetSubtype="0" decel="100000" fill="hold" grpId="0" nodeType="clickEffect">
                                  <p:stCondLst>
                                    <p:cond delay="0"/>
                                  </p:stCondLst>
                                  <p:iterate type="lt">
                                    <p:tmPct val="5000"/>
                                  </p:iterate>
                                  <p:childTnLst>
                                    <p:set>
                                      <p:cBhvr>
                                        <p:cTn id="39" dur="1" fill="hold">
                                          <p:stCondLst>
                                            <p:cond delay="0"/>
                                          </p:stCondLst>
                                        </p:cTn>
                                        <p:tgtEl>
                                          <p:spTgt spid="47"/>
                                        </p:tgtEl>
                                        <p:attrNameLst>
                                          <p:attrName>style.visibility</p:attrName>
                                        </p:attrNameLst>
                                      </p:cBhvr>
                                      <p:to>
                                        <p:strVal val="visible"/>
                                      </p:to>
                                    </p:set>
                                    <p:anim calcmode="lin" valueType="num">
                                      <p:cBhvr>
                                        <p:cTn id="40" dur="500" fill="hold"/>
                                        <p:tgtEl>
                                          <p:spTgt spid="47"/>
                                        </p:tgtEl>
                                        <p:attrNameLst>
                                          <p:attrName>ppt_w</p:attrName>
                                        </p:attrNameLst>
                                      </p:cBhvr>
                                      <p:tavLst>
                                        <p:tav tm="0">
                                          <p:val>
                                            <p:strVal val="#ppt_w+.3"/>
                                          </p:val>
                                        </p:tav>
                                        <p:tav tm="100000">
                                          <p:val>
                                            <p:strVal val="#ppt_w"/>
                                          </p:val>
                                        </p:tav>
                                      </p:tavLst>
                                    </p:anim>
                                    <p:anim calcmode="lin" valueType="num">
                                      <p:cBhvr>
                                        <p:cTn id="41" dur="500" fill="hold"/>
                                        <p:tgtEl>
                                          <p:spTgt spid="47"/>
                                        </p:tgtEl>
                                        <p:attrNameLst>
                                          <p:attrName>ppt_h</p:attrName>
                                        </p:attrNameLst>
                                      </p:cBhvr>
                                      <p:tavLst>
                                        <p:tav tm="0">
                                          <p:val>
                                            <p:strVal val="#ppt_h"/>
                                          </p:val>
                                        </p:tav>
                                        <p:tav tm="100000">
                                          <p:val>
                                            <p:strVal val="#ppt_h"/>
                                          </p:val>
                                        </p:tav>
                                      </p:tavLst>
                                    </p:anim>
                                    <p:animEffect transition="in" filter="fade">
                                      <p:cBhvr>
                                        <p:cTn id="4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3" grpId="0"/>
      <p:bldP spid="44" grpId="0"/>
      <p:bldP spid="45" grpId="0"/>
      <p:bldP spid="46" grpId="0"/>
      <p:bldP spid="4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新月形 4"/>
          <p:cNvSpPr>
            <a:spLocks noChangeArrowheads="1"/>
          </p:cNvSpPr>
          <p:nvPr/>
        </p:nvSpPr>
        <p:spPr bwMode="auto">
          <a:xfrm rot="20751297">
            <a:off x="4364038" y="2060575"/>
            <a:ext cx="1589087" cy="3178175"/>
          </a:xfrm>
          <a:prstGeom prst="moon">
            <a:avLst>
              <a:gd name="adj" fmla="val 15190"/>
            </a:avLst>
          </a:prstGeom>
          <a:solidFill>
            <a:srgbClr val="8EB453"/>
          </a:solidFill>
          <a:ln w="3175" cmpd="sng">
            <a:solidFill>
              <a:srgbClr val="8EB453"/>
            </a:solidFill>
            <a:miter lim="800000"/>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auto" hangingPunct="1">
              <a:spcBef>
                <a:spcPts val="0"/>
              </a:spcBef>
              <a:spcAft>
                <a:spcPts val="0"/>
              </a:spcAft>
              <a:buFont typeface="Arial" panose="020B0604020202020204" pitchFamily="34" charset="0"/>
              <a:buNone/>
              <a:defRPr/>
            </a:pPr>
            <a:endParaRPr lang="zh-CN" altLang="en-US" kern="0">
              <a:solidFill>
                <a:srgbClr val="FFFFFF"/>
              </a:solidFill>
              <a:ea typeface="微软雅黑" panose="020B0503020204020204" pitchFamily="34" charset="-122"/>
              <a:cs typeface="+mn-ea"/>
              <a:sym typeface="Arial" panose="020B0604020202020204" pitchFamily="34" charset="0"/>
            </a:endParaRPr>
          </a:p>
        </p:txBody>
      </p:sp>
      <p:sp>
        <p:nvSpPr>
          <p:cNvPr id="39" name="新月形 5"/>
          <p:cNvSpPr>
            <a:spLocks noChangeArrowheads="1"/>
          </p:cNvSpPr>
          <p:nvPr/>
        </p:nvSpPr>
        <p:spPr bwMode="auto">
          <a:xfrm rot="4551297">
            <a:off x="5176838" y="1025525"/>
            <a:ext cx="1589088" cy="3176587"/>
          </a:xfrm>
          <a:prstGeom prst="moon">
            <a:avLst>
              <a:gd name="adj" fmla="val 15190"/>
            </a:avLst>
          </a:prstGeom>
          <a:solidFill>
            <a:srgbClr val="4C7E51"/>
          </a:solidFill>
          <a:ln w="3175" cmpd="sng">
            <a:solidFill>
              <a:srgbClr val="F8F8F8"/>
            </a:solidFill>
            <a:miter lim="800000"/>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auto" hangingPunct="1">
              <a:spcBef>
                <a:spcPts val="0"/>
              </a:spcBef>
              <a:spcAft>
                <a:spcPts val="0"/>
              </a:spcAft>
              <a:buFont typeface="Arial" panose="020B0604020202020204" pitchFamily="34" charset="0"/>
              <a:buNone/>
              <a:defRPr/>
            </a:pPr>
            <a:endParaRPr lang="zh-CN" altLang="en-US" kern="0">
              <a:solidFill>
                <a:srgbClr val="FFFFFF"/>
              </a:solidFill>
              <a:ea typeface="微软雅黑" panose="020B0503020204020204" pitchFamily="34" charset="-122"/>
              <a:cs typeface="+mn-ea"/>
              <a:sym typeface="Arial" panose="020B0604020202020204" pitchFamily="34" charset="0"/>
            </a:endParaRPr>
          </a:p>
        </p:txBody>
      </p:sp>
      <p:sp>
        <p:nvSpPr>
          <p:cNvPr id="40" name="新月形 6"/>
          <p:cNvSpPr>
            <a:spLocks noChangeArrowheads="1"/>
          </p:cNvSpPr>
          <p:nvPr/>
        </p:nvSpPr>
        <p:spPr bwMode="auto">
          <a:xfrm rot="9951297">
            <a:off x="6213475" y="1839913"/>
            <a:ext cx="1589088" cy="3178175"/>
          </a:xfrm>
          <a:prstGeom prst="moon">
            <a:avLst>
              <a:gd name="adj" fmla="val 15190"/>
            </a:avLst>
          </a:prstGeom>
          <a:solidFill>
            <a:srgbClr val="8EB453"/>
          </a:solidFill>
          <a:ln w="3175" cmpd="sng">
            <a:solidFill>
              <a:srgbClr val="8EB453"/>
            </a:solidFill>
            <a:miter lim="800000"/>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auto" hangingPunct="1">
              <a:spcBef>
                <a:spcPts val="0"/>
              </a:spcBef>
              <a:spcAft>
                <a:spcPts val="0"/>
              </a:spcAft>
              <a:buFont typeface="Arial" panose="020B0604020202020204" pitchFamily="34" charset="0"/>
              <a:buNone/>
              <a:defRPr/>
            </a:pPr>
            <a:endParaRPr lang="zh-CN" altLang="en-US" kern="0">
              <a:solidFill>
                <a:srgbClr val="FFFFFF"/>
              </a:solidFill>
              <a:ea typeface="微软雅黑" panose="020B0503020204020204" pitchFamily="34" charset="-122"/>
              <a:cs typeface="+mn-ea"/>
              <a:sym typeface="Arial" panose="020B0604020202020204" pitchFamily="34" charset="0"/>
            </a:endParaRPr>
          </a:p>
        </p:txBody>
      </p:sp>
      <p:sp>
        <p:nvSpPr>
          <p:cNvPr id="41" name="新月形 7"/>
          <p:cNvSpPr>
            <a:spLocks noChangeArrowheads="1"/>
          </p:cNvSpPr>
          <p:nvPr/>
        </p:nvSpPr>
        <p:spPr bwMode="auto">
          <a:xfrm rot="15351297">
            <a:off x="5413375" y="2863850"/>
            <a:ext cx="1589088" cy="3176588"/>
          </a:xfrm>
          <a:prstGeom prst="moon">
            <a:avLst>
              <a:gd name="adj" fmla="val 15190"/>
            </a:avLst>
          </a:prstGeom>
          <a:solidFill>
            <a:srgbClr val="4C7E51"/>
          </a:solidFill>
          <a:ln w="3175" cmpd="sng">
            <a:solidFill>
              <a:srgbClr val="F8F8F8"/>
            </a:solidFill>
            <a:miter lim="800000"/>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auto" hangingPunct="1">
              <a:spcBef>
                <a:spcPts val="0"/>
              </a:spcBef>
              <a:spcAft>
                <a:spcPts val="0"/>
              </a:spcAft>
              <a:buFont typeface="Arial" panose="020B0604020202020204" pitchFamily="34" charset="0"/>
              <a:buNone/>
              <a:defRPr/>
            </a:pPr>
            <a:endParaRPr lang="zh-CN" altLang="en-US" kern="0">
              <a:solidFill>
                <a:srgbClr val="FFFFFF"/>
              </a:solidFill>
              <a:ea typeface="微软雅黑" panose="020B0503020204020204" pitchFamily="34" charset="-122"/>
              <a:cs typeface="+mn-ea"/>
              <a:sym typeface="Arial" panose="020B0604020202020204" pitchFamily="34" charset="0"/>
            </a:endParaRPr>
          </a:p>
        </p:txBody>
      </p:sp>
      <p:sp>
        <p:nvSpPr>
          <p:cNvPr id="42" name="TextBox 11"/>
          <p:cNvSpPr>
            <a:spLocks noChangeArrowheads="1"/>
          </p:cNvSpPr>
          <p:nvPr/>
        </p:nvSpPr>
        <p:spPr bwMode="auto">
          <a:xfrm flipH="1">
            <a:off x="5076825" y="3236913"/>
            <a:ext cx="21113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auto" hangingPunct="1">
              <a:spcBef>
                <a:spcPts val="0"/>
              </a:spcBef>
              <a:spcAft>
                <a:spcPts val="0"/>
              </a:spcAft>
              <a:buFont typeface="Arial" panose="020B0604020202020204" pitchFamily="34" charset="0"/>
              <a:buNone/>
              <a:defRPr/>
            </a:pPr>
            <a:r>
              <a:rPr lang="zh-CN" altLang="en-US" sz="3200" b="1" dirty="0">
                <a:solidFill>
                  <a:srgbClr val="445469"/>
                </a:solidFill>
                <a:ea typeface="微软雅黑" panose="020B0503020204020204" pitchFamily="34" charset="-122"/>
                <a:cs typeface="+mn-ea"/>
                <a:sym typeface="Arial" panose="020B0604020202020204" pitchFamily="34" charset="0"/>
              </a:rPr>
              <a:t>特征</a:t>
            </a:r>
            <a:endParaRPr lang="en-US" sz="3200" b="1" dirty="0">
              <a:solidFill>
                <a:srgbClr val="445469"/>
              </a:solidFill>
              <a:ea typeface="微软雅黑" panose="020B0503020204020204" pitchFamily="34" charset="-122"/>
              <a:cs typeface="+mn-ea"/>
              <a:sym typeface="Arial" panose="020B0604020202020204" pitchFamily="34" charset="0"/>
            </a:endParaRPr>
          </a:p>
        </p:txBody>
      </p:sp>
      <p:sp>
        <p:nvSpPr>
          <p:cNvPr id="43" name="直接连接符 24"/>
          <p:cNvSpPr>
            <a:spLocks noChangeShapeType="1"/>
          </p:cNvSpPr>
          <p:nvPr/>
        </p:nvSpPr>
        <p:spPr bwMode="auto">
          <a:xfrm flipH="1">
            <a:off x="3465513" y="2903538"/>
            <a:ext cx="1049337" cy="0"/>
          </a:xfrm>
          <a:prstGeom prst="line">
            <a:avLst/>
          </a:prstGeom>
          <a:noFill/>
          <a:ln w="12700" cmpd="sng">
            <a:solidFill>
              <a:srgbClr val="ADBACA"/>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buFont typeface="Arial" panose="020B0604020202020204" pitchFamily="34" charset="0"/>
              <a:buNone/>
              <a:defRPr/>
            </a:pPr>
            <a:endParaRPr lang="zh-CN" altLang="en-US" kern="0">
              <a:solidFill>
                <a:srgbClr val="C0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4" name="直接连接符 24"/>
          <p:cNvSpPr>
            <a:spLocks noChangeShapeType="1"/>
          </p:cNvSpPr>
          <p:nvPr/>
        </p:nvSpPr>
        <p:spPr bwMode="auto">
          <a:xfrm flipH="1">
            <a:off x="4211638" y="5046663"/>
            <a:ext cx="1033462" cy="0"/>
          </a:xfrm>
          <a:prstGeom prst="line">
            <a:avLst/>
          </a:prstGeom>
          <a:noFill/>
          <a:ln w="12700" cmpd="sng">
            <a:solidFill>
              <a:srgbClr val="ADBACA"/>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buFont typeface="Arial" panose="020B0604020202020204" pitchFamily="34" charset="0"/>
              <a:buNone/>
              <a:defRPr/>
            </a:pPr>
            <a:endParaRPr lang="zh-CN" altLang="en-US" kern="0">
              <a:solidFill>
                <a:srgbClr val="C0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5" name="TextBox 13"/>
          <p:cNvSpPr txBox="1"/>
          <p:nvPr/>
        </p:nvSpPr>
        <p:spPr>
          <a:xfrm>
            <a:off x="1295400" y="2590800"/>
            <a:ext cx="1952625" cy="369332"/>
          </a:xfrm>
          <a:prstGeom prst="rect">
            <a:avLst/>
          </a:prstGeom>
          <a:noFill/>
        </p:spPr>
        <p:txBody>
          <a:bodyPr lIns="0" tIns="0" rIns="0" bIns="0">
            <a:spAutoFit/>
          </a:bodyPr>
          <a:lstStyle/>
          <a:p>
            <a:pPr algn="r" defTabSz="1216817" eaLnBrk="1" fontAlgn="auto" hangingPunct="1">
              <a:spcBef>
                <a:spcPct val="20000"/>
              </a:spcBef>
              <a:spcAft>
                <a:spcPts val="0"/>
              </a:spcAft>
              <a:defRPr/>
            </a:pPr>
            <a:r>
              <a:rPr lang="zh-CN" altLang="en-US" sz="2400" b="1" dirty="0">
                <a:solidFill>
                  <a:srgbClr val="445469"/>
                </a:solidFill>
                <a:latin typeface="Arial" panose="020B0604020202020204" pitchFamily="34" charset="0"/>
                <a:ea typeface="微软雅黑" panose="020B0503020204020204" pitchFamily="34" charset="-122"/>
                <a:cs typeface="+mn-ea"/>
                <a:sym typeface="Arial" panose="020B0604020202020204" pitchFamily="34" charset="0"/>
              </a:rPr>
              <a:t>多路性</a:t>
            </a:r>
            <a:endParaRPr lang="en-US" sz="2400" b="1" dirty="0">
              <a:solidFill>
                <a:srgbClr val="445469"/>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7" name="TextBox 13"/>
          <p:cNvSpPr txBox="1"/>
          <p:nvPr/>
        </p:nvSpPr>
        <p:spPr>
          <a:xfrm>
            <a:off x="7894638" y="1698625"/>
            <a:ext cx="1257300" cy="369332"/>
          </a:xfrm>
          <a:prstGeom prst="rect">
            <a:avLst/>
          </a:prstGeom>
          <a:noFill/>
        </p:spPr>
        <p:txBody>
          <a:bodyPr lIns="0" tIns="0" rIns="0" bIns="0">
            <a:spAutoFit/>
          </a:bodyPr>
          <a:lstStyle/>
          <a:p>
            <a:pPr defTabSz="1216817" eaLnBrk="1" fontAlgn="auto" hangingPunct="1">
              <a:spcBef>
                <a:spcPct val="20000"/>
              </a:spcBef>
              <a:spcAft>
                <a:spcPts val="0"/>
              </a:spcAft>
              <a:defRPr/>
            </a:pPr>
            <a:r>
              <a:rPr lang="zh-CN" altLang="en-US" sz="2400" b="1" dirty="0">
                <a:solidFill>
                  <a:srgbClr val="445469"/>
                </a:solidFill>
                <a:latin typeface="Arial" panose="020B0604020202020204" pitchFamily="34" charset="0"/>
                <a:ea typeface="微软雅黑" panose="020B0503020204020204" pitchFamily="34" charset="-122"/>
                <a:cs typeface="+mn-ea"/>
                <a:sym typeface="Arial" panose="020B0604020202020204" pitchFamily="34" charset="0"/>
              </a:rPr>
              <a:t>及时性</a:t>
            </a:r>
            <a:endParaRPr lang="en-US" sz="2400" b="1" dirty="0">
              <a:solidFill>
                <a:srgbClr val="445469"/>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9" name="TextBox 13"/>
          <p:cNvSpPr txBox="1"/>
          <p:nvPr/>
        </p:nvSpPr>
        <p:spPr>
          <a:xfrm>
            <a:off x="2046288" y="4800600"/>
            <a:ext cx="1952625" cy="369332"/>
          </a:xfrm>
          <a:prstGeom prst="rect">
            <a:avLst/>
          </a:prstGeom>
          <a:noFill/>
        </p:spPr>
        <p:txBody>
          <a:bodyPr lIns="0" tIns="0" rIns="0" bIns="0">
            <a:spAutoFit/>
          </a:bodyPr>
          <a:lstStyle/>
          <a:p>
            <a:pPr algn="r" defTabSz="1216817" eaLnBrk="1" fontAlgn="auto" hangingPunct="1">
              <a:spcBef>
                <a:spcPct val="20000"/>
              </a:spcBef>
              <a:spcAft>
                <a:spcPts val="0"/>
              </a:spcAft>
              <a:defRPr/>
            </a:pPr>
            <a:r>
              <a:rPr lang="zh-CN" altLang="en-US" sz="2400" b="1" dirty="0">
                <a:solidFill>
                  <a:srgbClr val="445469"/>
                </a:solidFill>
                <a:latin typeface="Arial" panose="020B0604020202020204" pitchFamily="34" charset="0"/>
                <a:ea typeface="微软雅黑" panose="020B0503020204020204" pitchFamily="34" charset="-122"/>
                <a:cs typeface="+mn-ea"/>
                <a:sym typeface="Arial" panose="020B0604020202020204" pitchFamily="34" charset="0"/>
              </a:rPr>
              <a:t>交互性</a:t>
            </a:r>
            <a:endParaRPr lang="en-US" sz="2400" b="1" dirty="0">
              <a:solidFill>
                <a:srgbClr val="445469"/>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1" name="TextBox 13"/>
          <p:cNvSpPr txBox="1"/>
          <p:nvPr/>
        </p:nvSpPr>
        <p:spPr>
          <a:xfrm>
            <a:off x="8828088" y="3944938"/>
            <a:ext cx="1952625" cy="369332"/>
          </a:xfrm>
          <a:prstGeom prst="rect">
            <a:avLst/>
          </a:prstGeom>
          <a:noFill/>
        </p:spPr>
        <p:txBody>
          <a:bodyPr lIns="0" tIns="0" rIns="0" bIns="0">
            <a:spAutoFit/>
          </a:bodyPr>
          <a:lstStyle/>
          <a:p>
            <a:pPr defTabSz="1216817" eaLnBrk="1" fontAlgn="auto" hangingPunct="1">
              <a:spcBef>
                <a:spcPct val="20000"/>
              </a:spcBef>
              <a:spcAft>
                <a:spcPts val="0"/>
              </a:spcAft>
              <a:defRPr/>
            </a:pPr>
            <a:r>
              <a:rPr lang="zh-CN" altLang="en-US" sz="2400" b="1" dirty="0">
                <a:solidFill>
                  <a:srgbClr val="445469"/>
                </a:solidFill>
                <a:latin typeface="Arial" panose="020B0604020202020204" pitchFamily="34" charset="0"/>
                <a:ea typeface="微软雅黑" panose="020B0503020204020204" pitchFamily="34" charset="-122"/>
                <a:cs typeface="+mn-ea"/>
                <a:sym typeface="Arial" panose="020B0604020202020204" pitchFamily="34" charset="0"/>
              </a:rPr>
              <a:t>独立性</a:t>
            </a:r>
            <a:endParaRPr lang="en-US" sz="2400" b="1" dirty="0">
              <a:solidFill>
                <a:srgbClr val="445469"/>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4" name="直接连接符 24"/>
          <p:cNvSpPr>
            <a:spLocks noChangeShapeType="1"/>
          </p:cNvSpPr>
          <p:nvPr/>
        </p:nvSpPr>
        <p:spPr bwMode="auto">
          <a:xfrm flipH="1">
            <a:off x="7600950" y="4264025"/>
            <a:ext cx="1033463" cy="0"/>
          </a:xfrm>
          <a:prstGeom prst="line">
            <a:avLst/>
          </a:prstGeom>
          <a:noFill/>
          <a:ln w="12700" cmpd="sng">
            <a:solidFill>
              <a:srgbClr val="ADBACA"/>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buFont typeface="Arial" panose="020B0604020202020204" pitchFamily="34" charset="0"/>
              <a:buNone/>
              <a:defRPr/>
            </a:pPr>
            <a:endParaRPr lang="zh-CN" altLang="en-US" kern="0">
              <a:solidFill>
                <a:srgbClr val="C0000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1" name="矩形 25"/>
          <p:cNvSpPr>
            <a:spLocks noChangeArrowheads="1"/>
          </p:cNvSpPr>
          <p:nvPr/>
        </p:nvSpPr>
        <p:spPr bwMode="auto">
          <a:xfrm>
            <a:off x="1193801" y="5384738"/>
            <a:ext cx="3017837" cy="842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宋体" panose="02010600030101010101" pitchFamily="2" charset="-122"/>
              </a:defRPr>
            </a:lvl1pPr>
            <a:lvl2pPr marL="742950" indent="-285750" defTabSz="1216025">
              <a:defRPr>
                <a:solidFill>
                  <a:schemeClr val="tx1"/>
                </a:solidFill>
                <a:latin typeface="Arial" panose="020B0604020202020204" pitchFamily="34" charset="0"/>
                <a:ea typeface="宋体" panose="02010600030101010101" pitchFamily="2" charset="-122"/>
              </a:defRPr>
            </a:lvl2pPr>
            <a:lvl3pPr marL="1143000" indent="-228600" defTabSz="1216025">
              <a:defRPr>
                <a:solidFill>
                  <a:schemeClr val="tx1"/>
                </a:solidFill>
                <a:latin typeface="Arial" panose="020B0604020202020204" pitchFamily="34" charset="0"/>
                <a:ea typeface="宋体" panose="02010600030101010101" pitchFamily="2" charset="-122"/>
              </a:defRPr>
            </a:lvl3pPr>
            <a:lvl4pPr marL="1600200" indent="-228600" defTabSz="1216025">
              <a:defRPr>
                <a:solidFill>
                  <a:schemeClr val="tx1"/>
                </a:solidFill>
                <a:latin typeface="Arial" panose="020B0604020202020204" pitchFamily="34" charset="0"/>
                <a:ea typeface="宋体" panose="02010600030101010101" pitchFamily="2" charset="-122"/>
              </a:defRPr>
            </a:lvl4pPr>
            <a:lvl5pPr marL="2057400" indent="-228600" defTabSz="1216025">
              <a:defRPr>
                <a:solidFill>
                  <a:schemeClr val="tx1"/>
                </a:solidFill>
                <a:latin typeface="Arial" panose="020B0604020202020204" pitchFamily="34" charset="0"/>
                <a:ea typeface="宋体" panose="02010600030101010101" pitchFamily="2"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sz="2400" dirty="0"/>
              <a:t>能进行广泛的人机交互</a:t>
            </a:r>
            <a:endParaRPr lang="en-US" altLang="zh-CN" sz="2400" dirty="0"/>
          </a:p>
        </p:txBody>
      </p:sp>
      <p:sp>
        <p:nvSpPr>
          <p:cNvPr id="62" name="矩形 25"/>
          <p:cNvSpPr>
            <a:spLocks noChangeArrowheads="1"/>
          </p:cNvSpPr>
          <p:nvPr/>
        </p:nvSpPr>
        <p:spPr bwMode="auto">
          <a:xfrm>
            <a:off x="7894638" y="2001838"/>
            <a:ext cx="3017837" cy="1329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宋体" panose="02010600030101010101" pitchFamily="2" charset="-122"/>
              </a:defRPr>
            </a:lvl1pPr>
            <a:lvl2pPr marL="742950" indent="-285750" defTabSz="1216025">
              <a:defRPr>
                <a:solidFill>
                  <a:schemeClr val="tx1"/>
                </a:solidFill>
                <a:latin typeface="Arial" panose="020B0604020202020204" pitchFamily="34" charset="0"/>
                <a:ea typeface="宋体" panose="02010600030101010101" pitchFamily="2" charset="-122"/>
              </a:defRPr>
            </a:lvl2pPr>
            <a:lvl3pPr marL="1143000" indent="-228600" defTabSz="1216025">
              <a:defRPr>
                <a:solidFill>
                  <a:schemeClr val="tx1"/>
                </a:solidFill>
                <a:latin typeface="Arial" panose="020B0604020202020204" pitchFamily="34" charset="0"/>
                <a:ea typeface="宋体" panose="02010600030101010101" pitchFamily="2" charset="-122"/>
              </a:defRPr>
            </a:lvl3pPr>
            <a:lvl4pPr marL="1600200" indent="-228600" defTabSz="1216025">
              <a:defRPr>
                <a:solidFill>
                  <a:schemeClr val="tx1"/>
                </a:solidFill>
                <a:latin typeface="Arial" panose="020B0604020202020204" pitchFamily="34" charset="0"/>
                <a:ea typeface="宋体" panose="02010600030101010101" pitchFamily="2" charset="-122"/>
              </a:defRPr>
            </a:lvl4pPr>
            <a:lvl5pPr marL="2057400" indent="-228600" defTabSz="1216025">
              <a:defRPr>
                <a:solidFill>
                  <a:schemeClr val="tx1"/>
                </a:solidFill>
                <a:latin typeface="Arial" panose="020B0604020202020204" pitchFamily="34" charset="0"/>
                <a:ea typeface="宋体" panose="02010600030101010101" pitchFamily="2"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spcBef>
                <a:spcPct val="20000"/>
              </a:spcBef>
              <a:defRPr/>
            </a:pPr>
            <a:r>
              <a:rPr lang="zh-CN" altLang="en-US" sz="2400" dirty="0"/>
              <a:t>系统按人们所能接受的等待时间及时响应用户请求</a:t>
            </a:r>
            <a:r>
              <a:rPr lang="zh-CN" altLang="en-US" sz="1400" dirty="0"/>
              <a:t>。</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3" name="矩形 25"/>
          <p:cNvSpPr>
            <a:spLocks noChangeArrowheads="1"/>
          </p:cNvSpPr>
          <p:nvPr/>
        </p:nvSpPr>
        <p:spPr bwMode="auto">
          <a:xfrm>
            <a:off x="829718" y="2988163"/>
            <a:ext cx="3017838" cy="886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宋体" panose="02010600030101010101" pitchFamily="2" charset="-122"/>
              </a:defRPr>
            </a:lvl1pPr>
            <a:lvl2pPr marL="742950" indent="-285750" defTabSz="1216025">
              <a:defRPr>
                <a:solidFill>
                  <a:schemeClr val="tx1"/>
                </a:solidFill>
                <a:latin typeface="Arial" panose="020B0604020202020204" pitchFamily="34" charset="0"/>
                <a:ea typeface="宋体" panose="02010600030101010101" pitchFamily="2" charset="-122"/>
              </a:defRPr>
            </a:lvl2pPr>
            <a:lvl3pPr marL="1143000" indent="-228600" defTabSz="1216025">
              <a:defRPr>
                <a:solidFill>
                  <a:schemeClr val="tx1"/>
                </a:solidFill>
                <a:latin typeface="Arial" panose="020B0604020202020204" pitchFamily="34" charset="0"/>
                <a:ea typeface="宋体" panose="02010600030101010101" pitchFamily="2" charset="-122"/>
              </a:defRPr>
            </a:lvl3pPr>
            <a:lvl4pPr marL="1600200" indent="-228600" defTabSz="1216025">
              <a:defRPr>
                <a:solidFill>
                  <a:schemeClr val="tx1"/>
                </a:solidFill>
                <a:latin typeface="Arial" panose="020B0604020202020204" pitchFamily="34" charset="0"/>
                <a:ea typeface="宋体" panose="02010600030101010101" pitchFamily="2" charset="-122"/>
              </a:defRPr>
            </a:lvl4pPr>
            <a:lvl5pPr marL="2057400" indent="-228600" defTabSz="1216025">
              <a:defRPr>
                <a:solidFill>
                  <a:schemeClr val="tx1"/>
                </a:solidFill>
                <a:latin typeface="Arial" panose="020B0604020202020204" pitchFamily="34" charset="0"/>
                <a:ea typeface="宋体" panose="02010600030101010101" pitchFamily="2"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sz="2400" dirty="0"/>
              <a:t>一台主机上同时连接多台终端。</a:t>
            </a:r>
          </a:p>
        </p:txBody>
      </p:sp>
      <p:sp>
        <p:nvSpPr>
          <p:cNvPr id="64" name="矩形 25"/>
          <p:cNvSpPr>
            <a:spLocks noChangeArrowheads="1"/>
          </p:cNvSpPr>
          <p:nvPr/>
        </p:nvSpPr>
        <p:spPr bwMode="auto">
          <a:xfrm>
            <a:off x="8634413" y="4452144"/>
            <a:ext cx="3017838"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宋体" panose="02010600030101010101" pitchFamily="2" charset="-122"/>
              </a:defRPr>
            </a:lvl1pPr>
            <a:lvl2pPr marL="742950" indent="-285750" defTabSz="1216025">
              <a:defRPr>
                <a:solidFill>
                  <a:schemeClr val="tx1"/>
                </a:solidFill>
                <a:latin typeface="Arial" panose="020B0604020202020204" pitchFamily="34" charset="0"/>
                <a:ea typeface="宋体" panose="02010600030101010101" pitchFamily="2" charset="-122"/>
              </a:defRPr>
            </a:lvl2pPr>
            <a:lvl3pPr marL="1143000" indent="-228600" defTabSz="1216025">
              <a:defRPr>
                <a:solidFill>
                  <a:schemeClr val="tx1"/>
                </a:solidFill>
                <a:latin typeface="Arial" panose="020B0604020202020204" pitchFamily="34" charset="0"/>
                <a:ea typeface="宋体" panose="02010600030101010101" pitchFamily="2" charset="-122"/>
              </a:defRPr>
            </a:lvl3pPr>
            <a:lvl4pPr marL="1600200" indent="-228600" defTabSz="1216025">
              <a:defRPr>
                <a:solidFill>
                  <a:schemeClr val="tx1"/>
                </a:solidFill>
                <a:latin typeface="Arial" panose="020B0604020202020204" pitchFamily="34" charset="0"/>
                <a:ea typeface="宋体" panose="02010600030101010101" pitchFamily="2" charset="-122"/>
              </a:defRPr>
            </a:lvl4pPr>
            <a:lvl5pPr marL="2057400" indent="-228600" defTabSz="1216025">
              <a:defRPr>
                <a:solidFill>
                  <a:schemeClr val="tx1"/>
                </a:solidFill>
                <a:latin typeface="Arial" panose="020B0604020202020204" pitchFamily="34" charset="0"/>
                <a:ea typeface="宋体" panose="02010600030101010101" pitchFamily="2"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sz="2400" dirty="0"/>
              <a:t>每个用户各自通过自己的终端进行输入</a:t>
            </a:r>
            <a:r>
              <a:rPr lang="en-US" altLang="zh-CN" sz="2400" dirty="0"/>
              <a:t>/</a:t>
            </a:r>
            <a:r>
              <a:rPr lang="zh-CN" altLang="en-US" sz="2400" dirty="0"/>
              <a:t>输出，互不干扰。用户感觉自己独占终端和主机资源</a:t>
            </a:r>
            <a:r>
              <a:rPr lang="zh-CN" altLang="en-US" sz="1400" dirty="0"/>
              <a:t>。</a:t>
            </a:r>
          </a:p>
        </p:txBody>
      </p:sp>
      <p:sp>
        <p:nvSpPr>
          <p:cNvPr id="24" name="矩形 23"/>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5" name="组合 24"/>
          <p:cNvGrpSpPr/>
          <p:nvPr/>
        </p:nvGrpSpPr>
        <p:grpSpPr>
          <a:xfrm>
            <a:off x="245745" y="213360"/>
            <a:ext cx="563880" cy="563880"/>
            <a:chOff x="276225" y="213360"/>
            <a:chExt cx="563880" cy="563880"/>
          </a:xfrm>
          <a:solidFill>
            <a:srgbClr val="3D7351"/>
          </a:solidFill>
        </p:grpSpPr>
        <p:sp>
          <p:nvSpPr>
            <p:cNvPr id="27" name="矩形 26"/>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3" name="椭圆 32"/>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4" name="文本框 25"/>
          <p:cNvSpPr txBox="1">
            <a:spLocks noChangeArrowheads="1"/>
          </p:cNvSpPr>
          <p:nvPr/>
        </p:nvSpPr>
        <p:spPr bwMode="auto">
          <a:xfrm>
            <a:off x="902970" y="212725"/>
            <a:ext cx="16930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4.</a:t>
            </a:r>
            <a:r>
              <a:rPr lang="zh-CN" altLang="en-US" sz="2400" b="1" dirty="0">
                <a:solidFill>
                  <a:srgbClr val="3D7351"/>
                </a:solidFill>
                <a:latin typeface="微软雅黑" panose="020B0503020204020204" pitchFamily="34" charset="-122"/>
                <a:ea typeface="微软雅黑" panose="020B0503020204020204" pitchFamily="34" charset="-122"/>
              </a:rPr>
              <a:t>分时系统</a:t>
            </a:r>
          </a:p>
        </p:txBody>
      </p:sp>
      <p:sp>
        <p:nvSpPr>
          <p:cNvPr id="26"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24483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285479" y="1304315"/>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6193529" y="1304315"/>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0" name="矩形 49"/>
          <p:cNvSpPr/>
          <p:nvPr/>
        </p:nvSpPr>
        <p:spPr>
          <a:xfrm>
            <a:off x="5285479" y="3290962"/>
            <a:ext cx="794556"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1" name="矩形 50"/>
          <p:cNvSpPr/>
          <p:nvPr/>
        </p:nvSpPr>
        <p:spPr>
          <a:xfrm>
            <a:off x="6193529" y="3290962"/>
            <a:ext cx="3431702"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2" name="文本框 51"/>
          <p:cNvSpPr txBox="1">
            <a:spLocks noChangeArrowheads="1"/>
          </p:cNvSpPr>
          <p:nvPr/>
        </p:nvSpPr>
        <p:spPr bwMode="auto">
          <a:xfrm>
            <a:off x="5139428" y="1503241"/>
            <a:ext cx="637927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dirty="0"/>
              <a:t>指系统能及时（或即时）响应外部事件的请求，在规定的时间内完成对该事件的处理，并控制所有实时任务协调一致地运行。</a:t>
            </a:r>
            <a:endParaRPr lang="en-US" altLang="zh-CN" sz="2400" dirty="0"/>
          </a:p>
        </p:txBody>
      </p:sp>
      <p:sp>
        <p:nvSpPr>
          <p:cNvPr id="47119" name="文本框 55"/>
          <p:cNvSpPr txBox="1">
            <a:spLocks noChangeArrowheads="1"/>
          </p:cNvSpPr>
          <p:nvPr/>
        </p:nvSpPr>
        <p:spPr bwMode="auto">
          <a:xfrm>
            <a:off x="5139429" y="770915"/>
            <a:ext cx="1920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实时系统</a:t>
            </a:r>
          </a:p>
        </p:txBody>
      </p:sp>
      <p:sp>
        <p:nvSpPr>
          <p:cNvPr id="47120" name="文本框 56"/>
          <p:cNvSpPr txBox="1">
            <a:spLocks noChangeArrowheads="1"/>
          </p:cNvSpPr>
          <p:nvPr/>
        </p:nvSpPr>
        <p:spPr bwMode="auto">
          <a:xfrm>
            <a:off x="5139429" y="2758510"/>
            <a:ext cx="1966079"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类型</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16930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5.</a:t>
            </a:r>
            <a:r>
              <a:rPr lang="zh-CN" altLang="en-US" sz="2400" b="1" dirty="0">
                <a:solidFill>
                  <a:srgbClr val="3D7351"/>
                </a:solidFill>
                <a:latin typeface="微软雅黑" panose="020B0503020204020204" pitchFamily="34" charset="-122"/>
                <a:ea typeface="微软雅黑" panose="020B0503020204020204" pitchFamily="34" charset="-122"/>
              </a:rPr>
              <a:t>实时系统</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pic>
        <p:nvPicPr>
          <p:cNvPr id="17" name="Picture 6" descr="200810221245062_2"/>
          <p:cNvPicPr>
            <a:picLocks noChangeAspect="1" noChangeArrowheads="1"/>
          </p:cNvPicPr>
          <p:nvPr/>
        </p:nvPicPr>
        <p:blipFill>
          <a:blip r:embed="rId3" cstate="print">
            <a:extLst>
              <a:ext uri="{28A0092B-C50C-407E-A947-70E740481C1C}">
                <a14:useLocalDpi xmlns:a14="http://schemas.microsoft.com/office/drawing/2010/main" val="0"/>
              </a:ext>
            </a:extLst>
          </a:blip>
          <a:srcRect l="18990" r="21951" b="9633"/>
          <a:stretch>
            <a:fillRect/>
          </a:stretch>
        </p:blipFill>
        <p:spPr bwMode="auto">
          <a:xfrm>
            <a:off x="809625" y="1629022"/>
            <a:ext cx="3451225" cy="41036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8" name="文本框 80"/>
          <p:cNvSpPr txBox="1">
            <a:spLocks noChangeArrowheads="1"/>
          </p:cNvSpPr>
          <p:nvPr/>
        </p:nvSpPr>
        <p:spPr bwMode="auto">
          <a:xfrm>
            <a:off x="5239421" y="3568658"/>
            <a:ext cx="123907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实时控制</a:t>
            </a:r>
          </a:p>
        </p:txBody>
      </p:sp>
      <p:sp>
        <p:nvSpPr>
          <p:cNvPr id="19" name="文本框 51"/>
          <p:cNvSpPr txBox="1">
            <a:spLocks noChangeArrowheads="1"/>
          </p:cNvSpPr>
          <p:nvPr/>
        </p:nvSpPr>
        <p:spPr bwMode="auto">
          <a:xfrm>
            <a:off x="5139427" y="4029533"/>
            <a:ext cx="652940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1" indent="0"/>
            <a:r>
              <a:rPr lang="zh-CN" altLang="en-US" sz="2400" dirty="0"/>
              <a:t>工业（武器）控制系统、火炮自动控制系统、飞机自动驾驶系统、导弹制导系统、炼钢</a:t>
            </a:r>
            <a:r>
              <a:rPr lang="en-US" altLang="zh-CN" sz="2400" dirty="0"/>
              <a:t>/</a:t>
            </a:r>
            <a:r>
              <a:rPr lang="zh-CN" altLang="en-US" sz="2400" dirty="0"/>
              <a:t>炼油控制系统。</a:t>
            </a:r>
            <a:endParaRPr lang="en-US" altLang="zh-CN" sz="2400" dirty="0"/>
          </a:p>
        </p:txBody>
      </p:sp>
      <p:sp>
        <p:nvSpPr>
          <p:cNvPr id="20" name="文本框 80"/>
          <p:cNvSpPr txBox="1">
            <a:spLocks noChangeArrowheads="1"/>
          </p:cNvSpPr>
          <p:nvPr/>
        </p:nvSpPr>
        <p:spPr bwMode="auto">
          <a:xfrm>
            <a:off x="5214397" y="5312491"/>
            <a:ext cx="20325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实时信息处理</a:t>
            </a:r>
          </a:p>
        </p:txBody>
      </p:sp>
      <p:sp>
        <p:nvSpPr>
          <p:cNvPr id="25" name="文本框 51"/>
          <p:cNvSpPr txBox="1">
            <a:spLocks noChangeArrowheads="1"/>
          </p:cNvSpPr>
          <p:nvPr/>
        </p:nvSpPr>
        <p:spPr bwMode="auto">
          <a:xfrm>
            <a:off x="7048307" y="5260975"/>
            <a:ext cx="4470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1" indent="0"/>
            <a:r>
              <a:rPr lang="zh-CN" altLang="en-US" sz="2400" dirty="0"/>
              <a:t>航空网络售票、情报检索系统、多媒体系统、嵌入式系统</a:t>
            </a:r>
            <a:endParaRPr lang="en-US" altLang="zh-CN" sz="2400" dirty="0"/>
          </a:p>
        </p:txBody>
      </p:sp>
    </p:spTree>
    <p:extLst>
      <p:ext uri="{BB962C8B-B14F-4D97-AF65-F5344CB8AC3E}">
        <p14:creationId xmlns:p14="http://schemas.microsoft.com/office/powerpoint/2010/main" val="27021857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1000"/>
                                        <p:tgtEl>
                                          <p:spTgt spid="52"/>
                                        </p:tgtEl>
                                      </p:cBhvr>
                                    </p:animEffect>
                                    <p:anim calcmode="lin" valueType="num">
                                      <p:cBhvr>
                                        <p:cTn id="8" dur="1000" fill="hold"/>
                                        <p:tgtEl>
                                          <p:spTgt spid="52"/>
                                        </p:tgtEl>
                                        <p:attrNameLst>
                                          <p:attrName>ppt_x</p:attrName>
                                        </p:attrNameLst>
                                      </p:cBhvr>
                                      <p:tavLst>
                                        <p:tav tm="0">
                                          <p:val>
                                            <p:strVal val="#ppt_x"/>
                                          </p:val>
                                        </p:tav>
                                        <p:tav tm="100000">
                                          <p:val>
                                            <p:strVal val="#ppt_x"/>
                                          </p:val>
                                        </p:tav>
                                      </p:tavLst>
                                    </p:anim>
                                    <p:anim calcmode="lin" valueType="num">
                                      <p:cBhvr>
                                        <p:cTn id="9"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blinds(horizontal)">
                                      <p:cBhvr>
                                        <p:cTn id="14" dur="500"/>
                                        <p:tgtEl>
                                          <p:spTgt spid="17"/>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iterate type="lt">
                                    <p:tmPct val="5000"/>
                                  </p:iterate>
                                  <p:childTnLst>
                                    <p:set>
                                      <p:cBhvr>
                                        <p:cTn id="18" dur="1" fill="hold">
                                          <p:stCondLst>
                                            <p:cond delay="0"/>
                                          </p:stCondLst>
                                        </p:cTn>
                                        <p:tgtEl>
                                          <p:spTgt spid="18"/>
                                        </p:tgtEl>
                                        <p:attrNameLst>
                                          <p:attrName>style.visibility</p:attrName>
                                        </p:attrNameLst>
                                      </p:cBhvr>
                                      <p:to>
                                        <p:strVal val="visible"/>
                                      </p:to>
                                    </p:set>
                                    <p:anim calcmode="lin" valueType="num">
                                      <p:cBhvr>
                                        <p:cTn id="19" dur="500" fill="hold"/>
                                        <p:tgtEl>
                                          <p:spTgt spid="18"/>
                                        </p:tgtEl>
                                        <p:attrNameLst>
                                          <p:attrName>ppt_w</p:attrName>
                                        </p:attrNameLst>
                                      </p:cBhvr>
                                      <p:tavLst>
                                        <p:tav tm="0">
                                          <p:val>
                                            <p:strVal val="#ppt_w+.3"/>
                                          </p:val>
                                        </p:tav>
                                        <p:tav tm="100000">
                                          <p:val>
                                            <p:strVal val="#ppt_w"/>
                                          </p:val>
                                        </p:tav>
                                      </p:tavLst>
                                    </p:anim>
                                    <p:anim calcmode="lin" valueType="num">
                                      <p:cBhvr>
                                        <p:cTn id="20" dur="500" fill="hold"/>
                                        <p:tgtEl>
                                          <p:spTgt spid="18"/>
                                        </p:tgtEl>
                                        <p:attrNameLst>
                                          <p:attrName>ppt_h</p:attrName>
                                        </p:attrNameLst>
                                      </p:cBhvr>
                                      <p:tavLst>
                                        <p:tav tm="0">
                                          <p:val>
                                            <p:strVal val="#ppt_h"/>
                                          </p:val>
                                        </p:tav>
                                        <p:tav tm="100000">
                                          <p:val>
                                            <p:strVal val="#ppt_h"/>
                                          </p:val>
                                        </p:tav>
                                      </p:tavLst>
                                    </p:anim>
                                    <p:animEffect transition="in" filter="fade">
                                      <p:cBhvr>
                                        <p:cTn id="21" dur="500"/>
                                        <p:tgtEl>
                                          <p:spTgt spid="18"/>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1000"/>
                                        <p:tgtEl>
                                          <p:spTgt spid="19"/>
                                        </p:tgtEl>
                                      </p:cBhvr>
                                    </p:animEffect>
                                    <p:anim calcmode="lin" valueType="num">
                                      <p:cBhvr>
                                        <p:cTn id="25" dur="1000" fill="hold"/>
                                        <p:tgtEl>
                                          <p:spTgt spid="19"/>
                                        </p:tgtEl>
                                        <p:attrNameLst>
                                          <p:attrName>ppt_x</p:attrName>
                                        </p:attrNameLst>
                                      </p:cBhvr>
                                      <p:tavLst>
                                        <p:tav tm="0">
                                          <p:val>
                                            <p:strVal val="#ppt_x"/>
                                          </p:val>
                                        </p:tav>
                                        <p:tav tm="100000">
                                          <p:val>
                                            <p:strVal val="#ppt_x"/>
                                          </p:val>
                                        </p:tav>
                                      </p:tavLst>
                                    </p:anim>
                                    <p:anim calcmode="lin" valueType="num">
                                      <p:cBhvr>
                                        <p:cTn id="2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0" presetClass="entr" presetSubtype="0" decel="100000" fill="hold" grpId="0" nodeType="clickEffect">
                                  <p:stCondLst>
                                    <p:cond delay="0"/>
                                  </p:stCondLst>
                                  <p:iterate type="lt">
                                    <p:tmPct val="5000"/>
                                  </p:iterate>
                                  <p:childTnLst>
                                    <p:set>
                                      <p:cBhvr>
                                        <p:cTn id="30" dur="1" fill="hold">
                                          <p:stCondLst>
                                            <p:cond delay="0"/>
                                          </p:stCondLst>
                                        </p:cTn>
                                        <p:tgtEl>
                                          <p:spTgt spid="20"/>
                                        </p:tgtEl>
                                        <p:attrNameLst>
                                          <p:attrName>style.visibility</p:attrName>
                                        </p:attrNameLst>
                                      </p:cBhvr>
                                      <p:to>
                                        <p:strVal val="visible"/>
                                      </p:to>
                                    </p:set>
                                    <p:anim calcmode="lin" valueType="num">
                                      <p:cBhvr>
                                        <p:cTn id="31" dur="500" fill="hold"/>
                                        <p:tgtEl>
                                          <p:spTgt spid="20"/>
                                        </p:tgtEl>
                                        <p:attrNameLst>
                                          <p:attrName>ppt_w</p:attrName>
                                        </p:attrNameLst>
                                      </p:cBhvr>
                                      <p:tavLst>
                                        <p:tav tm="0">
                                          <p:val>
                                            <p:strVal val="#ppt_w+.3"/>
                                          </p:val>
                                        </p:tav>
                                        <p:tav tm="100000">
                                          <p:val>
                                            <p:strVal val="#ppt_w"/>
                                          </p:val>
                                        </p:tav>
                                      </p:tavLst>
                                    </p:anim>
                                    <p:anim calcmode="lin" valueType="num">
                                      <p:cBhvr>
                                        <p:cTn id="32" dur="500" fill="hold"/>
                                        <p:tgtEl>
                                          <p:spTgt spid="20"/>
                                        </p:tgtEl>
                                        <p:attrNameLst>
                                          <p:attrName>ppt_h</p:attrName>
                                        </p:attrNameLst>
                                      </p:cBhvr>
                                      <p:tavLst>
                                        <p:tav tm="0">
                                          <p:val>
                                            <p:strVal val="#ppt_h"/>
                                          </p:val>
                                        </p:tav>
                                        <p:tav tm="100000">
                                          <p:val>
                                            <p:strVal val="#ppt_h"/>
                                          </p:val>
                                        </p:tav>
                                      </p:tavLst>
                                    </p:anim>
                                    <p:animEffect transition="in" filter="fade">
                                      <p:cBhvr>
                                        <p:cTn id="33" dur="500"/>
                                        <p:tgtEl>
                                          <p:spTgt spid="20"/>
                                        </p:tgtEl>
                                      </p:cBhvr>
                                    </p:animEffect>
                                  </p:childTnLst>
                                </p:cTn>
                              </p:par>
                              <p:par>
                                <p:cTn id="34" presetID="42" presetClass="entr" presetSubtype="0" fill="hold" grpId="0"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1000"/>
                                        <p:tgtEl>
                                          <p:spTgt spid="25"/>
                                        </p:tgtEl>
                                      </p:cBhvr>
                                    </p:animEffect>
                                    <p:anim calcmode="lin" valueType="num">
                                      <p:cBhvr>
                                        <p:cTn id="37" dur="1000" fill="hold"/>
                                        <p:tgtEl>
                                          <p:spTgt spid="25"/>
                                        </p:tgtEl>
                                        <p:attrNameLst>
                                          <p:attrName>ppt_x</p:attrName>
                                        </p:attrNameLst>
                                      </p:cBhvr>
                                      <p:tavLst>
                                        <p:tav tm="0">
                                          <p:val>
                                            <p:strVal val="#ppt_x"/>
                                          </p:val>
                                        </p:tav>
                                        <p:tav tm="100000">
                                          <p:val>
                                            <p:strVal val="#ppt_x"/>
                                          </p:val>
                                        </p:tav>
                                      </p:tavLst>
                                    </p:anim>
                                    <p:anim calcmode="lin" valueType="num">
                                      <p:cBhvr>
                                        <p:cTn id="38"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18" grpId="0"/>
      <p:bldP spid="19" grpId="0"/>
      <p:bldP spid="20" grpId="0"/>
      <p:bldP spid="2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16930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5.</a:t>
            </a:r>
            <a:r>
              <a:rPr lang="zh-CN" altLang="en-US" sz="2400" b="1" dirty="0">
                <a:solidFill>
                  <a:srgbClr val="3D7351"/>
                </a:solidFill>
                <a:latin typeface="微软雅黑" panose="020B0503020204020204" pitchFamily="34" charset="-122"/>
                <a:ea typeface="微软雅黑" panose="020B0503020204020204" pitchFamily="34" charset="-122"/>
              </a:rPr>
              <a:t>实时系统</a:t>
            </a:r>
          </a:p>
        </p:txBody>
      </p:sp>
      <p:sp>
        <p:nvSpPr>
          <p:cNvPr id="23"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7" name="弧形 26"/>
          <p:cNvSpPr/>
          <p:nvPr/>
        </p:nvSpPr>
        <p:spPr>
          <a:xfrm>
            <a:off x="704850" y="1262898"/>
            <a:ext cx="4248150" cy="4602162"/>
          </a:xfrm>
          <a:prstGeom prst="arc">
            <a:avLst>
              <a:gd name="adj1" fmla="val 17337751"/>
              <a:gd name="adj2" fmla="val 4126310"/>
            </a:avLst>
          </a:prstGeom>
          <a:ln w="66675">
            <a:solidFill>
              <a:srgbClr val="197519"/>
            </a:solidFill>
          </a:ln>
        </p:spPr>
        <p:style>
          <a:lnRef idx="1">
            <a:schemeClr val="accent1"/>
          </a:lnRef>
          <a:fillRef idx="0">
            <a:schemeClr val="accent1"/>
          </a:fillRef>
          <a:effectRef idx="0">
            <a:schemeClr val="accent1"/>
          </a:effectRef>
          <a:fontRef idx="minor">
            <a:schemeClr val="tx1"/>
          </a:fontRef>
        </p:style>
        <p:txBody>
          <a:bodyPr anchor="ctr"/>
          <a:lstStyle>
            <a:defPPr>
              <a:defRPr lang="zh-CN"/>
            </a:defPPr>
            <a:lvl1pPr algn="l" rtl="0" fontAlgn="base">
              <a:spcBef>
                <a:spcPct val="0"/>
              </a:spcBef>
              <a:spcAft>
                <a:spcPct val="0"/>
              </a:spcAft>
              <a:defRPr kern="1200">
                <a:solidFill>
                  <a:schemeClr val="tx1"/>
                </a:solidFill>
                <a:latin typeface="+mn-lt"/>
                <a:ea typeface="+mn-ea"/>
                <a:cs typeface="+mn-cs"/>
              </a:defRPr>
            </a:lvl1pPr>
            <a:lvl2pPr marL="457200" algn="l" rtl="0" fontAlgn="base">
              <a:spcBef>
                <a:spcPct val="0"/>
              </a:spcBef>
              <a:spcAft>
                <a:spcPct val="0"/>
              </a:spcAft>
              <a:defRPr kern="1200">
                <a:solidFill>
                  <a:schemeClr val="tx1"/>
                </a:solidFill>
                <a:latin typeface="+mn-lt"/>
                <a:ea typeface="+mn-ea"/>
                <a:cs typeface="+mn-cs"/>
              </a:defRPr>
            </a:lvl2pPr>
            <a:lvl3pPr marL="914400" algn="l" rtl="0" fontAlgn="base">
              <a:spcBef>
                <a:spcPct val="0"/>
              </a:spcBef>
              <a:spcAft>
                <a:spcPct val="0"/>
              </a:spcAft>
              <a:defRPr kern="1200">
                <a:solidFill>
                  <a:schemeClr val="tx1"/>
                </a:solidFill>
                <a:latin typeface="+mn-lt"/>
                <a:ea typeface="+mn-ea"/>
                <a:cs typeface="+mn-cs"/>
              </a:defRPr>
            </a:lvl3pPr>
            <a:lvl4pPr marL="1371600" algn="l" rtl="0" fontAlgn="base">
              <a:spcBef>
                <a:spcPct val="0"/>
              </a:spcBef>
              <a:spcAft>
                <a:spcPct val="0"/>
              </a:spcAft>
              <a:defRPr kern="1200">
                <a:solidFill>
                  <a:schemeClr val="tx1"/>
                </a:solidFill>
                <a:latin typeface="+mn-lt"/>
                <a:ea typeface="+mn-ea"/>
                <a:cs typeface="+mn-cs"/>
              </a:defRPr>
            </a:lvl4pPr>
            <a:lvl5pPr marL="1828800" algn="l" rtl="0" fontAlgn="base">
              <a:spcBef>
                <a:spcPct val="0"/>
              </a:spcBef>
              <a:spcAft>
                <a:spcPct val="0"/>
              </a:spcAft>
              <a:defRPr kern="1200">
                <a:solidFill>
                  <a:schemeClr val="tx1"/>
                </a:solidFill>
                <a:latin typeface="+mn-lt"/>
                <a:ea typeface="+mn-ea"/>
                <a:cs typeface="+mn-cs"/>
              </a:defRPr>
            </a:lvl5pPr>
            <a:lvl6pPr marL="2286000" algn="l" defTabSz="914400" rtl="0" eaLnBrk="1" latinLnBrk="0" hangingPunct="1">
              <a:defRPr kern="1200">
                <a:solidFill>
                  <a:schemeClr val="tx1"/>
                </a:solidFill>
                <a:latin typeface="+mn-lt"/>
                <a:ea typeface="+mn-ea"/>
                <a:cs typeface="+mn-cs"/>
              </a:defRPr>
            </a:lvl6pPr>
            <a:lvl7pPr marL="2743200" algn="l" defTabSz="914400" rtl="0" eaLnBrk="1" latinLnBrk="0" hangingPunct="1">
              <a:defRPr kern="1200">
                <a:solidFill>
                  <a:schemeClr val="tx1"/>
                </a:solidFill>
                <a:latin typeface="+mn-lt"/>
                <a:ea typeface="+mn-ea"/>
                <a:cs typeface="+mn-cs"/>
              </a:defRPr>
            </a:lvl7pPr>
            <a:lvl8pPr marL="3200400" algn="l" defTabSz="914400" rtl="0" eaLnBrk="1" latinLnBrk="0" hangingPunct="1">
              <a:defRPr kern="1200">
                <a:solidFill>
                  <a:schemeClr val="tx1"/>
                </a:solidFill>
                <a:latin typeface="+mn-lt"/>
                <a:ea typeface="+mn-ea"/>
                <a:cs typeface="+mn-cs"/>
              </a:defRPr>
            </a:lvl8pPr>
            <a:lvl9pPr marL="3657600" algn="l" defTabSz="914400" rtl="0" eaLnBrk="1" latinLnBrk="0" hangingPunct="1">
              <a:defRPr kern="1200">
                <a:solidFill>
                  <a:schemeClr val="tx1"/>
                </a:solidFill>
                <a:latin typeface="+mn-lt"/>
                <a:ea typeface="+mn-ea"/>
                <a:cs typeface="+mn-cs"/>
              </a:defRPr>
            </a:lvl9pPr>
          </a:lstStyle>
          <a:p>
            <a:pPr algn="ctr" fontAlgn="auto"/>
            <a:endParaRPr lang="zh-CN" altLang="en-US" noProof="1"/>
          </a:p>
        </p:txBody>
      </p:sp>
      <p:sp>
        <p:nvSpPr>
          <p:cNvPr id="32" name="Arc 3_1"/>
          <p:cNvSpPr/>
          <p:nvPr/>
        </p:nvSpPr>
        <p:spPr>
          <a:xfrm flipH="1">
            <a:off x="50800" y="1262898"/>
            <a:ext cx="4248150" cy="4602162"/>
          </a:xfrm>
          <a:prstGeom prst="arc">
            <a:avLst>
              <a:gd name="adj1" fmla="val 17337751"/>
              <a:gd name="adj2" fmla="val 4126310"/>
            </a:avLst>
          </a:prstGeom>
          <a:ln w="66675">
            <a:solidFill>
              <a:srgbClr val="197519"/>
            </a:solidFill>
          </a:ln>
        </p:spPr>
        <p:style>
          <a:lnRef idx="1">
            <a:schemeClr val="accent1"/>
          </a:lnRef>
          <a:fillRef idx="0">
            <a:schemeClr val="accent1"/>
          </a:fillRef>
          <a:effectRef idx="0">
            <a:schemeClr val="accent1"/>
          </a:effectRef>
          <a:fontRef idx="minor">
            <a:schemeClr val="tx1"/>
          </a:fontRef>
        </p:style>
        <p:txBody>
          <a:bodyPr anchor="ctr"/>
          <a:lstStyle>
            <a:defPPr>
              <a:defRPr lang="zh-CN"/>
            </a:defPPr>
            <a:lvl1pPr algn="l" rtl="0" fontAlgn="base">
              <a:spcBef>
                <a:spcPct val="0"/>
              </a:spcBef>
              <a:spcAft>
                <a:spcPct val="0"/>
              </a:spcAft>
              <a:defRPr kern="1200">
                <a:solidFill>
                  <a:schemeClr val="tx1"/>
                </a:solidFill>
                <a:latin typeface="+mn-lt"/>
                <a:ea typeface="+mn-ea"/>
                <a:cs typeface="+mn-cs"/>
              </a:defRPr>
            </a:lvl1pPr>
            <a:lvl2pPr marL="457200" algn="l" rtl="0" fontAlgn="base">
              <a:spcBef>
                <a:spcPct val="0"/>
              </a:spcBef>
              <a:spcAft>
                <a:spcPct val="0"/>
              </a:spcAft>
              <a:defRPr kern="1200">
                <a:solidFill>
                  <a:schemeClr val="tx1"/>
                </a:solidFill>
                <a:latin typeface="+mn-lt"/>
                <a:ea typeface="+mn-ea"/>
                <a:cs typeface="+mn-cs"/>
              </a:defRPr>
            </a:lvl2pPr>
            <a:lvl3pPr marL="914400" algn="l" rtl="0" fontAlgn="base">
              <a:spcBef>
                <a:spcPct val="0"/>
              </a:spcBef>
              <a:spcAft>
                <a:spcPct val="0"/>
              </a:spcAft>
              <a:defRPr kern="1200">
                <a:solidFill>
                  <a:schemeClr val="tx1"/>
                </a:solidFill>
                <a:latin typeface="+mn-lt"/>
                <a:ea typeface="+mn-ea"/>
                <a:cs typeface="+mn-cs"/>
              </a:defRPr>
            </a:lvl3pPr>
            <a:lvl4pPr marL="1371600" algn="l" rtl="0" fontAlgn="base">
              <a:spcBef>
                <a:spcPct val="0"/>
              </a:spcBef>
              <a:spcAft>
                <a:spcPct val="0"/>
              </a:spcAft>
              <a:defRPr kern="1200">
                <a:solidFill>
                  <a:schemeClr val="tx1"/>
                </a:solidFill>
                <a:latin typeface="+mn-lt"/>
                <a:ea typeface="+mn-ea"/>
                <a:cs typeface="+mn-cs"/>
              </a:defRPr>
            </a:lvl4pPr>
            <a:lvl5pPr marL="1828800" algn="l" rtl="0" fontAlgn="base">
              <a:spcBef>
                <a:spcPct val="0"/>
              </a:spcBef>
              <a:spcAft>
                <a:spcPct val="0"/>
              </a:spcAft>
              <a:defRPr kern="1200">
                <a:solidFill>
                  <a:schemeClr val="tx1"/>
                </a:solidFill>
                <a:latin typeface="+mn-lt"/>
                <a:ea typeface="+mn-ea"/>
                <a:cs typeface="+mn-cs"/>
              </a:defRPr>
            </a:lvl5pPr>
            <a:lvl6pPr marL="2286000" algn="l" defTabSz="914400" rtl="0" eaLnBrk="1" latinLnBrk="0" hangingPunct="1">
              <a:defRPr kern="1200">
                <a:solidFill>
                  <a:schemeClr val="tx1"/>
                </a:solidFill>
                <a:latin typeface="+mn-lt"/>
                <a:ea typeface="+mn-ea"/>
                <a:cs typeface="+mn-cs"/>
              </a:defRPr>
            </a:lvl6pPr>
            <a:lvl7pPr marL="2743200" algn="l" defTabSz="914400" rtl="0" eaLnBrk="1" latinLnBrk="0" hangingPunct="1">
              <a:defRPr kern="1200">
                <a:solidFill>
                  <a:schemeClr val="tx1"/>
                </a:solidFill>
                <a:latin typeface="+mn-lt"/>
                <a:ea typeface="+mn-ea"/>
                <a:cs typeface="+mn-cs"/>
              </a:defRPr>
            </a:lvl7pPr>
            <a:lvl8pPr marL="3200400" algn="l" defTabSz="914400" rtl="0" eaLnBrk="1" latinLnBrk="0" hangingPunct="1">
              <a:defRPr kern="1200">
                <a:solidFill>
                  <a:schemeClr val="tx1"/>
                </a:solidFill>
                <a:latin typeface="+mn-lt"/>
                <a:ea typeface="+mn-ea"/>
                <a:cs typeface="+mn-cs"/>
              </a:defRPr>
            </a:lvl8pPr>
            <a:lvl9pPr marL="3657600" algn="l" defTabSz="914400" rtl="0" eaLnBrk="1" latinLnBrk="0" hangingPunct="1">
              <a:defRPr kern="1200">
                <a:solidFill>
                  <a:schemeClr val="tx1"/>
                </a:solidFill>
                <a:latin typeface="+mn-lt"/>
                <a:ea typeface="+mn-ea"/>
                <a:cs typeface="+mn-cs"/>
              </a:defRPr>
            </a:lvl9pPr>
          </a:lstStyle>
          <a:p>
            <a:pPr algn="ctr" fontAlgn="auto"/>
            <a:endParaRPr lang="zh-CN" altLang="en-US" noProof="1"/>
          </a:p>
        </p:txBody>
      </p:sp>
      <p:sp>
        <p:nvSpPr>
          <p:cNvPr id="33" name="矩形 32"/>
          <p:cNvSpPr>
            <a:spLocks noChangeArrowheads="1"/>
          </p:cNvSpPr>
          <p:nvPr/>
        </p:nvSpPr>
        <p:spPr bwMode="auto">
          <a:xfrm>
            <a:off x="5710238" y="2302678"/>
            <a:ext cx="6096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marL="285750" indent="-285750">
              <a:spcBef>
                <a:spcPct val="20000"/>
              </a:spcBef>
              <a:buBlip>
                <a:blip r:embed="rId3"/>
              </a:buBlip>
              <a:defRPr/>
            </a:pPr>
            <a:r>
              <a:rPr lang="zh-CN" altLang="en-US" sz="2000" dirty="0"/>
              <a:t>开始截止时间</a:t>
            </a:r>
            <a:r>
              <a:rPr lang="en-US" altLang="zh-CN" sz="2000" dirty="0">
                <a:latin typeface="Courier New"/>
              </a:rPr>
              <a:t>——</a:t>
            </a:r>
            <a:r>
              <a:rPr lang="zh-CN" altLang="en-US" sz="2000" dirty="0"/>
              <a:t>任务在某时间以前必须开始执行；</a:t>
            </a:r>
            <a:endParaRPr lang="en-US" altLang="zh-CN" sz="2000" dirty="0"/>
          </a:p>
          <a:p>
            <a:pPr marL="285750" indent="-285750">
              <a:spcBef>
                <a:spcPct val="20000"/>
              </a:spcBef>
              <a:buBlip>
                <a:blip r:embed="rId3"/>
              </a:buBlip>
              <a:defRPr/>
            </a:pPr>
            <a:r>
              <a:rPr lang="zh-CN" altLang="en-US" sz="2000" dirty="0"/>
              <a:t>完成截止时间</a:t>
            </a:r>
            <a:r>
              <a:rPr lang="en-US" altLang="zh-CN" sz="2000" dirty="0"/>
              <a:t>——</a:t>
            </a:r>
            <a:r>
              <a:rPr lang="zh-CN" altLang="en-US" sz="2000" dirty="0"/>
              <a:t>任务在某时间以前必须完成</a:t>
            </a:r>
            <a:endParaRPr lang="zh-CN" altLang="en-US" sz="2000" dirty="0">
              <a:solidFill>
                <a:srgbClr val="404040"/>
              </a:solidFill>
            </a:endParaRPr>
          </a:p>
        </p:txBody>
      </p:sp>
      <p:sp>
        <p:nvSpPr>
          <p:cNvPr id="34" name="矩形 33"/>
          <p:cNvSpPr>
            <a:spLocks noChangeArrowheads="1"/>
          </p:cNvSpPr>
          <p:nvPr/>
        </p:nvSpPr>
        <p:spPr bwMode="auto">
          <a:xfrm>
            <a:off x="5976960" y="4123325"/>
            <a:ext cx="6096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spcBef>
                <a:spcPct val="20000"/>
              </a:spcBef>
              <a:defRPr/>
            </a:pPr>
            <a:r>
              <a:rPr lang="zh-CN" altLang="en-US" sz="2000" dirty="0"/>
              <a:t>系统必须满足任务对截止时间的要求，否则可能出现难以预测的结果</a:t>
            </a:r>
            <a:endParaRPr lang="en-US" altLang="zh-CN" sz="2000" dirty="0"/>
          </a:p>
        </p:txBody>
      </p:sp>
      <p:sp>
        <p:nvSpPr>
          <p:cNvPr id="36" name="椭圆 35"/>
          <p:cNvSpPr>
            <a:spLocks noChangeArrowheads="1"/>
          </p:cNvSpPr>
          <p:nvPr/>
        </p:nvSpPr>
        <p:spPr bwMode="auto">
          <a:xfrm>
            <a:off x="341313" y="1401010"/>
            <a:ext cx="4297362" cy="4298950"/>
          </a:xfrm>
          <a:prstGeom prst="ellipse">
            <a:avLst/>
          </a:prstGeom>
          <a:solidFill>
            <a:srgbClr val="197519"/>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gn="ctr"/>
            <a:endParaRPr lang="zh-CN" altLang="en-US"/>
          </a:p>
        </p:txBody>
      </p:sp>
      <p:sp>
        <p:nvSpPr>
          <p:cNvPr id="37" name="Freeform 5"/>
          <p:cNvSpPr>
            <a:spLocks noEditPoints="1" noChangeArrowheads="1"/>
          </p:cNvSpPr>
          <p:nvPr/>
        </p:nvSpPr>
        <p:spPr bwMode="auto">
          <a:xfrm>
            <a:off x="1671638" y="2502735"/>
            <a:ext cx="1636712" cy="1395413"/>
          </a:xfrm>
          <a:custGeom>
            <a:avLst/>
            <a:gdLst>
              <a:gd name="T0" fmla="*/ 20 w 86"/>
              <a:gd name="T1" fmla="*/ 2 h 70"/>
              <a:gd name="T2" fmla="*/ 60 w 86"/>
              <a:gd name="T3" fmla="*/ 2 h 70"/>
              <a:gd name="T4" fmla="*/ 80 w 86"/>
              <a:gd name="T5" fmla="*/ 6 h 70"/>
              <a:gd name="T6" fmla="*/ 74 w 86"/>
              <a:gd name="T7" fmla="*/ 26 h 70"/>
              <a:gd name="T8" fmla="*/ 59 w 86"/>
              <a:gd name="T9" fmla="*/ 8 h 70"/>
              <a:gd name="T10" fmla="*/ 43 w 86"/>
              <a:gd name="T11" fmla="*/ 54 h 70"/>
              <a:gd name="T12" fmla="*/ 49 w 86"/>
              <a:gd name="T13" fmla="*/ 58 h 70"/>
              <a:gd name="T14" fmla="*/ 50 w 86"/>
              <a:gd name="T15" fmla="*/ 59 h 70"/>
              <a:gd name="T16" fmla="*/ 40 w 86"/>
              <a:gd name="T17" fmla="*/ 60 h 70"/>
              <a:gd name="T18" fmla="*/ 22 w 86"/>
              <a:gd name="T19" fmla="*/ 60 h 70"/>
              <a:gd name="T20" fmla="*/ 0 w 86"/>
              <a:gd name="T21" fmla="*/ 58 h 70"/>
              <a:gd name="T22" fmla="*/ 3 w 86"/>
              <a:gd name="T23" fmla="*/ 3 h 70"/>
              <a:gd name="T24" fmla="*/ 59 w 86"/>
              <a:gd name="T25" fmla="*/ 37 h 70"/>
              <a:gd name="T26" fmla="*/ 57 w 86"/>
              <a:gd name="T27" fmla="*/ 51 h 70"/>
              <a:gd name="T28" fmla="*/ 72 w 86"/>
              <a:gd name="T29" fmla="*/ 53 h 70"/>
              <a:gd name="T30" fmla="*/ 74 w 86"/>
              <a:gd name="T31" fmla="*/ 39 h 70"/>
              <a:gd name="T32" fmla="*/ 56 w 86"/>
              <a:gd name="T33" fmla="*/ 33 h 70"/>
              <a:gd name="T34" fmla="*/ 53 w 86"/>
              <a:gd name="T35" fmla="*/ 55 h 70"/>
              <a:gd name="T36" fmla="*/ 73 w 86"/>
              <a:gd name="T37" fmla="*/ 59 h 70"/>
              <a:gd name="T38" fmla="*/ 79 w 86"/>
              <a:gd name="T39" fmla="*/ 68 h 70"/>
              <a:gd name="T40" fmla="*/ 84 w 86"/>
              <a:gd name="T41" fmla="*/ 69 h 70"/>
              <a:gd name="T42" fmla="*/ 80 w 86"/>
              <a:gd name="T43" fmla="*/ 57 h 70"/>
              <a:gd name="T44" fmla="*/ 81 w 86"/>
              <a:gd name="T45" fmla="*/ 47 h 70"/>
              <a:gd name="T46" fmla="*/ 67 w 86"/>
              <a:gd name="T47" fmla="*/ 29 h 70"/>
              <a:gd name="T48" fmla="*/ 58 w 86"/>
              <a:gd name="T49" fmla="*/ 46 h 70"/>
              <a:gd name="T50" fmla="*/ 58 w 86"/>
              <a:gd name="T51" fmla="*/ 46 h 70"/>
              <a:gd name="T52" fmla="*/ 47 w 86"/>
              <a:gd name="T53" fmla="*/ 19 h 70"/>
              <a:gd name="T54" fmla="*/ 71 w 86"/>
              <a:gd name="T55" fmla="*/ 24 h 70"/>
              <a:gd name="T56" fmla="*/ 71 w 86"/>
              <a:gd name="T57" fmla="*/ 15 h 70"/>
              <a:gd name="T58" fmla="*/ 47 w 86"/>
              <a:gd name="T59" fmla="*/ 14 h 70"/>
              <a:gd name="T60" fmla="*/ 71 w 86"/>
              <a:gd name="T61" fmla="*/ 15 h 70"/>
              <a:gd name="T62" fmla="*/ 10 w 86"/>
              <a:gd name="T63" fmla="*/ 51 h 70"/>
              <a:gd name="T64" fmla="*/ 34 w 86"/>
              <a:gd name="T65" fmla="*/ 46 h 70"/>
              <a:gd name="T66" fmla="*/ 10 w 86"/>
              <a:gd name="T67" fmla="*/ 41 h 70"/>
              <a:gd name="T68" fmla="*/ 34 w 86"/>
              <a:gd name="T69" fmla="*/ 41 h 70"/>
              <a:gd name="T70" fmla="*/ 10 w 86"/>
              <a:gd name="T71" fmla="*/ 41 h 70"/>
              <a:gd name="T72" fmla="*/ 10 w 86"/>
              <a:gd name="T73" fmla="*/ 37 h 70"/>
              <a:gd name="T74" fmla="*/ 34 w 86"/>
              <a:gd name="T75" fmla="*/ 32 h 70"/>
              <a:gd name="T76" fmla="*/ 22 w 86"/>
              <a:gd name="T77" fmla="*/ 25 h 70"/>
              <a:gd name="T78" fmla="*/ 34 w 86"/>
              <a:gd name="T79" fmla="*/ 27 h 70"/>
              <a:gd name="T80" fmla="*/ 22 w 86"/>
              <a:gd name="T81" fmla="*/ 25 h 70"/>
              <a:gd name="T82" fmla="*/ 22 w 86"/>
              <a:gd name="T83" fmla="*/ 21 h 70"/>
              <a:gd name="T84" fmla="*/ 34 w 86"/>
              <a:gd name="T85" fmla="*/ 18 h 70"/>
              <a:gd name="T86" fmla="*/ 22 w 86"/>
              <a:gd name="T87" fmla="*/ 14 h 70"/>
              <a:gd name="T88" fmla="*/ 34 w 86"/>
              <a:gd name="T89" fmla="*/ 15 h 70"/>
              <a:gd name="T90" fmla="*/ 22 w 86"/>
              <a:gd name="T91" fmla="*/ 14 h 70"/>
              <a:gd name="T92" fmla="*/ 9 w 86"/>
              <a:gd name="T93" fmla="*/ 31 h 70"/>
              <a:gd name="T94" fmla="*/ 19 w 86"/>
              <a:gd name="T95" fmla="*/ 13 h 70"/>
              <a:gd name="T96" fmla="*/ 21 w 86"/>
              <a:gd name="T97" fmla="*/ 8 h 70"/>
              <a:gd name="T98" fmla="*/ 5 w 86"/>
              <a:gd name="T99" fmla="*/ 56 h 70"/>
              <a:gd name="T100" fmla="*/ 37 w 86"/>
              <a:gd name="T101" fmla="*/ 54 h 70"/>
              <a:gd name="T102" fmla="*/ 21 w 86"/>
              <a:gd name="T103" fmla="*/ 8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6" h="70">
                <a:moveTo>
                  <a:pt x="3" y="3"/>
                </a:moveTo>
                <a:cubicBezTo>
                  <a:pt x="8" y="4"/>
                  <a:pt x="14" y="3"/>
                  <a:pt x="20" y="2"/>
                </a:cubicBezTo>
                <a:cubicBezTo>
                  <a:pt x="28" y="1"/>
                  <a:pt x="35" y="0"/>
                  <a:pt x="40" y="3"/>
                </a:cubicBezTo>
                <a:cubicBezTo>
                  <a:pt x="45" y="0"/>
                  <a:pt x="52" y="1"/>
                  <a:pt x="60" y="2"/>
                </a:cubicBezTo>
                <a:cubicBezTo>
                  <a:pt x="65" y="3"/>
                  <a:pt x="72" y="4"/>
                  <a:pt x="77" y="3"/>
                </a:cubicBezTo>
                <a:cubicBezTo>
                  <a:pt x="80" y="6"/>
                  <a:pt x="80" y="6"/>
                  <a:pt x="80" y="6"/>
                </a:cubicBezTo>
                <a:cubicBezTo>
                  <a:pt x="80" y="30"/>
                  <a:pt x="80" y="30"/>
                  <a:pt x="80" y="30"/>
                </a:cubicBezTo>
                <a:cubicBezTo>
                  <a:pt x="78" y="28"/>
                  <a:pt x="76" y="27"/>
                  <a:pt x="74" y="26"/>
                </a:cubicBezTo>
                <a:cubicBezTo>
                  <a:pt x="74" y="9"/>
                  <a:pt x="74" y="9"/>
                  <a:pt x="74" y="9"/>
                </a:cubicBezTo>
                <a:cubicBezTo>
                  <a:pt x="69" y="9"/>
                  <a:pt x="64" y="8"/>
                  <a:pt x="59" y="8"/>
                </a:cubicBezTo>
                <a:cubicBezTo>
                  <a:pt x="52" y="7"/>
                  <a:pt x="46" y="6"/>
                  <a:pt x="43" y="8"/>
                </a:cubicBezTo>
                <a:cubicBezTo>
                  <a:pt x="43" y="54"/>
                  <a:pt x="43" y="54"/>
                  <a:pt x="43" y="54"/>
                </a:cubicBezTo>
                <a:cubicBezTo>
                  <a:pt x="44" y="54"/>
                  <a:pt x="45" y="54"/>
                  <a:pt x="47" y="54"/>
                </a:cubicBezTo>
                <a:cubicBezTo>
                  <a:pt x="47" y="55"/>
                  <a:pt x="48" y="56"/>
                  <a:pt x="49" y="58"/>
                </a:cubicBezTo>
                <a:cubicBezTo>
                  <a:pt x="50" y="58"/>
                  <a:pt x="50" y="59"/>
                  <a:pt x="51" y="59"/>
                </a:cubicBezTo>
                <a:cubicBezTo>
                  <a:pt x="50" y="59"/>
                  <a:pt x="50" y="59"/>
                  <a:pt x="50" y="59"/>
                </a:cubicBezTo>
                <a:cubicBezTo>
                  <a:pt x="46" y="59"/>
                  <a:pt x="43" y="59"/>
                  <a:pt x="41" y="60"/>
                </a:cubicBezTo>
                <a:cubicBezTo>
                  <a:pt x="40" y="60"/>
                  <a:pt x="40" y="60"/>
                  <a:pt x="40" y="60"/>
                </a:cubicBezTo>
                <a:cubicBezTo>
                  <a:pt x="38" y="60"/>
                  <a:pt x="38" y="60"/>
                  <a:pt x="38" y="60"/>
                </a:cubicBezTo>
                <a:cubicBezTo>
                  <a:pt x="36" y="59"/>
                  <a:pt x="29" y="59"/>
                  <a:pt x="22" y="60"/>
                </a:cubicBezTo>
                <a:cubicBezTo>
                  <a:pt x="15" y="61"/>
                  <a:pt x="8" y="62"/>
                  <a:pt x="2" y="61"/>
                </a:cubicBezTo>
                <a:cubicBezTo>
                  <a:pt x="0" y="58"/>
                  <a:pt x="0" y="58"/>
                  <a:pt x="0" y="58"/>
                </a:cubicBezTo>
                <a:cubicBezTo>
                  <a:pt x="0" y="6"/>
                  <a:pt x="0" y="6"/>
                  <a:pt x="0" y="6"/>
                </a:cubicBezTo>
                <a:cubicBezTo>
                  <a:pt x="3" y="3"/>
                  <a:pt x="3" y="3"/>
                  <a:pt x="3" y="3"/>
                </a:cubicBezTo>
                <a:close/>
                <a:moveTo>
                  <a:pt x="67" y="35"/>
                </a:moveTo>
                <a:cubicBezTo>
                  <a:pt x="64" y="34"/>
                  <a:pt x="61" y="35"/>
                  <a:pt x="59" y="37"/>
                </a:cubicBezTo>
                <a:cubicBezTo>
                  <a:pt x="57" y="39"/>
                  <a:pt x="56" y="41"/>
                  <a:pt x="55" y="44"/>
                </a:cubicBezTo>
                <a:cubicBezTo>
                  <a:pt x="55" y="46"/>
                  <a:pt x="56" y="49"/>
                  <a:pt x="57" y="51"/>
                </a:cubicBezTo>
                <a:cubicBezTo>
                  <a:pt x="59" y="54"/>
                  <a:pt x="62" y="55"/>
                  <a:pt x="64" y="55"/>
                </a:cubicBezTo>
                <a:cubicBezTo>
                  <a:pt x="67" y="56"/>
                  <a:pt x="70" y="55"/>
                  <a:pt x="72" y="53"/>
                </a:cubicBezTo>
                <a:cubicBezTo>
                  <a:pt x="74" y="51"/>
                  <a:pt x="76" y="49"/>
                  <a:pt x="76" y="46"/>
                </a:cubicBezTo>
                <a:cubicBezTo>
                  <a:pt x="76" y="44"/>
                  <a:pt x="75" y="41"/>
                  <a:pt x="74" y="39"/>
                </a:cubicBezTo>
                <a:cubicBezTo>
                  <a:pt x="72" y="36"/>
                  <a:pt x="69" y="35"/>
                  <a:pt x="67" y="35"/>
                </a:cubicBezTo>
                <a:close/>
                <a:moveTo>
                  <a:pt x="56" y="33"/>
                </a:moveTo>
                <a:cubicBezTo>
                  <a:pt x="52" y="35"/>
                  <a:pt x="50" y="39"/>
                  <a:pt x="50" y="43"/>
                </a:cubicBezTo>
                <a:cubicBezTo>
                  <a:pt x="50" y="47"/>
                  <a:pt x="51" y="51"/>
                  <a:pt x="53" y="55"/>
                </a:cubicBezTo>
                <a:cubicBezTo>
                  <a:pt x="56" y="58"/>
                  <a:pt x="60" y="60"/>
                  <a:pt x="64" y="60"/>
                </a:cubicBezTo>
                <a:cubicBezTo>
                  <a:pt x="67" y="61"/>
                  <a:pt x="70" y="60"/>
                  <a:pt x="73" y="59"/>
                </a:cubicBezTo>
                <a:cubicBezTo>
                  <a:pt x="73" y="60"/>
                  <a:pt x="73" y="61"/>
                  <a:pt x="74" y="61"/>
                </a:cubicBezTo>
                <a:cubicBezTo>
                  <a:pt x="79" y="68"/>
                  <a:pt x="79" y="68"/>
                  <a:pt x="79" y="68"/>
                </a:cubicBezTo>
                <a:cubicBezTo>
                  <a:pt x="80" y="70"/>
                  <a:pt x="83" y="70"/>
                  <a:pt x="84" y="69"/>
                </a:cubicBezTo>
                <a:cubicBezTo>
                  <a:pt x="84" y="69"/>
                  <a:pt x="84" y="69"/>
                  <a:pt x="84" y="69"/>
                </a:cubicBezTo>
                <a:cubicBezTo>
                  <a:pt x="86" y="67"/>
                  <a:pt x="86" y="65"/>
                  <a:pt x="85" y="63"/>
                </a:cubicBezTo>
                <a:cubicBezTo>
                  <a:pt x="80" y="57"/>
                  <a:pt x="80" y="57"/>
                  <a:pt x="80" y="57"/>
                </a:cubicBezTo>
                <a:cubicBezTo>
                  <a:pt x="79" y="56"/>
                  <a:pt x="78" y="55"/>
                  <a:pt x="77" y="55"/>
                </a:cubicBezTo>
                <a:cubicBezTo>
                  <a:pt x="79" y="53"/>
                  <a:pt x="81" y="50"/>
                  <a:pt x="81" y="47"/>
                </a:cubicBezTo>
                <a:cubicBezTo>
                  <a:pt x="82" y="43"/>
                  <a:pt x="81" y="39"/>
                  <a:pt x="78" y="35"/>
                </a:cubicBezTo>
                <a:cubicBezTo>
                  <a:pt x="75" y="32"/>
                  <a:pt x="71" y="30"/>
                  <a:pt x="67" y="29"/>
                </a:cubicBezTo>
                <a:cubicBezTo>
                  <a:pt x="63" y="29"/>
                  <a:pt x="59" y="30"/>
                  <a:pt x="56" y="33"/>
                </a:cubicBezTo>
                <a:close/>
                <a:moveTo>
                  <a:pt x="58" y="46"/>
                </a:moveTo>
                <a:cubicBezTo>
                  <a:pt x="60" y="41"/>
                  <a:pt x="64" y="39"/>
                  <a:pt x="70" y="38"/>
                </a:cubicBezTo>
                <a:cubicBezTo>
                  <a:pt x="64" y="34"/>
                  <a:pt x="57" y="40"/>
                  <a:pt x="58" y="46"/>
                </a:cubicBezTo>
                <a:close/>
                <a:moveTo>
                  <a:pt x="71" y="21"/>
                </a:moveTo>
                <a:cubicBezTo>
                  <a:pt x="65" y="21"/>
                  <a:pt x="51" y="19"/>
                  <a:pt x="47" y="19"/>
                </a:cubicBezTo>
                <a:cubicBezTo>
                  <a:pt x="47" y="20"/>
                  <a:pt x="47" y="21"/>
                  <a:pt x="47" y="21"/>
                </a:cubicBezTo>
                <a:cubicBezTo>
                  <a:pt x="51" y="21"/>
                  <a:pt x="67" y="24"/>
                  <a:pt x="71" y="24"/>
                </a:cubicBezTo>
                <a:cubicBezTo>
                  <a:pt x="71" y="23"/>
                  <a:pt x="71" y="22"/>
                  <a:pt x="71" y="21"/>
                </a:cubicBezTo>
                <a:close/>
                <a:moveTo>
                  <a:pt x="71" y="15"/>
                </a:moveTo>
                <a:cubicBezTo>
                  <a:pt x="65" y="15"/>
                  <a:pt x="51" y="12"/>
                  <a:pt x="47" y="12"/>
                </a:cubicBezTo>
                <a:cubicBezTo>
                  <a:pt x="47" y="13"/>
                  <a:pt x="47" y="14"/>
                  <a:pt x="47" y="14"/>
                </a:cubicBezTo>
                <a:cubicBezTo>
                  <a:pt x="51" y="14"/>
                  <a:pt x="67" y="17"/>
                  <a:pt x="71" y="17"/>
                </a:cubicBezTo>
                <a:cubicBezTo>
                  <a:pt x="71" y="16"/>
                  <a:pt x="71" y="15"/>
                  <a:pt x="71" y="15"/>
                </a:cubicBezTo>
                <a:close/>
                <a:moveTo>
                  <a:pt x="10" y="49"/>
                </a:moveTo>
                <a:cubicBezTo>
                  <a:pt x="10" y="49"/>
                  <a:pt x="10" y="50"/>
                  <a:pt x="10" y="51"/>
                </a:cubicBezTo>
                <a:cubicBezTo>
                  <a:pt x="14" y="51"/>
                  <a:pt x="29" y="48"/>
                  <a:pt x="34" y="48"/>
                </a:cubicBezTo>
                <a:cubicBezTo>
                  <a:pt x="34" y="48"/>
                  <a:pt x="34" y="47"/>
                  <a:pt x="34" y="46"/>
                </a:cubicBezTo>
                <a:cubicBezTo>
                  <a:pt x="30" y="46"/>
                  <a:pt x="15" y="49"/>
                  <a:pt x="10" y="49"/>
                </a:cubicBezTo>
                <a:close/>
                <a:moveTo>
                  <a:pt x="10" y="41"/>
                </a:moveTo>
                <a:cubicBezTo>
                  <a:pt x="10" y="42"/>
                  <a:pt x="10" y="43"/>
                  <a:pt x="10" y="43"/>
                </a:cubicBezTo>
                <a:cubicBezTo>
                  <a:pt x="14" y="44"/>
                  <a:pt x="29" y="41"/>
                  <a:pt x="34" y="41"/>
                </a:cubicBezTo>
                <a:cubicBezTo>
                  <a:pt x="34" y="40"/>
                  <a:pt x="34" y="40"/>
                  <a:pt x="34" y="39"/>
                </a:cubicBezTo>
                <a:cubicBezTo>
                  <a:pt x="30" y="39"/>
                  <a:pt x="15" y="41"/>
                  <a:pt x="10" y="41"/>
                </a:cubicBezTo>
                <a:close/>
                <a:moveTo>
                  <a:pt x="10" y="34"/>
                </a:moveTo>
                <a:cubicBezTo>
                  <a:pt x="10" y="35"/>
                  <a:pt x="10" y="36"/>
                  <a:pt x="10" y="37"/>
                </a:cubicBezTo>
                <a:cubicBezTo>
                  <a:pt x="14" y="37"/>
                  <a:pt x="29" y="34"/>
                  <a:pt x="34" y="34"/>
                </a:cubicBezTo>
                <a:cubicBezTo>
                  <a:pt x="34" y="33"/>
                  <a:pt x="34" y="33"/>
                  <a:pt x="34" y="32"/>
                </a:cubicBezTo>
                <a:cubicBezTo>
                  <a:pt x="30" y="32"/>
                  <a:pt x="15" y="34"/>
                  <a:pt x="10" y="34"/>
                </a:cubicBezTo>
                <a:close/>
                <a:moveTo>
                  <a:pt x="22" y="25"/>
                </a:moveTo>
                <a:cubicBezTo>
                  <a:pt x="22" y="26"/>
                  <a:pt x="22" y="27"/>
                  <a:pt x="22" y="28"/>
                </a:cubicBezTo>
                <a:cubicBezTo>
                  <a:pt x="25" y="28"/>
                  <a:pt x="29" y="26"/>
                  <a:pt x="34" y="27"/>
                </a:cubicBezTo>
                <a:cubicBezTo>
                  <a:pt x="34" y="26"/>
                  <a:pt x="34" y="25"/>
                  <a:pt x="34" y="24"/>
                </a:cubicBezTo>
                <a:cubicBezTo>
                  <a:pt x="30" y="24"/>
                  <a:pt x="26" y="25"/>
                  <a:pt x="22" y="25"/>
                </a:cubicBezTo>
                <a:close/>
                <a:moveTo>
                  <a:pt x="22" y="19"/>
                </a:moveTo>
                <a:cubicBezTo>
                  <a:pt x="22" y="20"/>
                  <a:pt x="22" y="21"/>
                  <a:pt x="22" y="21"/>
                </a:cubicBezTo>
                <a:cubicBezTo>
                  <a:pt x="25" y="21"/>
                  <a:pt x="29" y="20"/>
                  <a:pt x="34" y="20"/>
                </a:cubicBezTo>
                <a:cubicBezTo>
                  <a:pt x="34" y="20"/>
                  <a:pt x="34" y="19"/>
                  <a:pt x="34" y="18"/>
                </a:cubicBezTo>
                <a:cubicBezTo>
                  <a:pt x="30" y="18"/>
                  <a:pt x="26" y="19"/>
                  <a:pt x="22" y="19"/>
                </a:cubicBezTo>
                <a:close/>
                <a:moveTo>
                  <a:pt x="22" y="14"/>
                </a:moveTo>
                <a:cubicBezTo>
                  <a:pt x="22" y="15"/>
                  <a:pt x="22" y="15"/>
                  <a:pt x="22" y="16"/>
                </a:cubicBezTo>
                <a:cubicBezTo>
                  <a:pt x="25" y="16"/>
                  <a:pt x="29" y="15"/>
                  <a:pt x="34" y="15"/>
                </a:cubicBezTo>
                <a:cubicBezTo>
                  <a:pt x="34" y="14"/>
                  <a:pt x="34" y="14"/>
                  <a:pt x="34" y="13"/>
                </a:cubicBezTo>
                <a:cubicBezTo>
                  <a:pt x="30" y="13"/>
                  <a:pt x="26" y="13"/>
                  <a:pt x="22" y="14"/>
                </a:cubicBezTo>
                <a:close/>
                <a:moveTo>
                  <a:pt x="9" y="14"/>
                </a:moveTo>
                <a:cubicBezTo>
                  <a:pt x="9" y="31"/>
                  <a:pt x="9" y="31"/>
                  <a:pt x="9" y="31"/>
                </a:cubicBezTo>
                <a:cubicBezTo>
                  <a:pt x="19" y="30"/>
                  <a:pt x="19" y="30"/>
                  <a:pt x="19" y="30"/>
                </a:cubicBezTo>
                <a:cubicBezTo>
                  <a:pt x="19" y="13"/>
                  <a:pt x="19" y="13"/>
                  <a:pt x="19" y="13"/>
                </a:cubicBezTo>
                <a:cubicBezTo>
                  <a:pt x="9" y="14"/>
                  <a:pt x="9" y="14"/>
                  <a:pt x="9" y="14"/>
                </a:cubicBezTo>
                <a:close/>
                <a:moveTo>
                  <a:pt x="21" y="8"/>
                </a:moveTo>
                <a:cubicBezTo>
                  <a:pt x="16" y="8"/>
                  <a:pt x="10" y="9"/>
                  <a:pt x="5" y="9"/>
                </a:cubicBezTo>
                <a:cubicBezTo>
                  <a:pt x="5" y="56"/>
                  <a:pt x="5" y="56"/>
                  <a:pt x="5" y="56"/>
                </a:cubicBezTo>
                <a:cubicBezTo>
                  <a:pt x="10" y="56"/>
                  <a:pt x="16" y="55"/>
                  <a:pt x="21" y="55"/>
                </a:cubicBezTo>
                <a:cubicBezTo>
                  <a:pt x="27" y="54"/>
                  <a:pt x="33" y="53"/>
                  <a:pt x="37" y="54"/>
                </a:cubicBezTo>
                <a:cubicBezTo>
                  <a:pt x="37" y="8"/>
                  <a:pt x="37" y="8"/>
                  <a:pt x="37" y="8"/>
                </a:cubicBezTo>
                <a:cubicBezTo>
                  <a:pt x="34" y="6"/>
                  <a:pt x="27" y="7"/>
                  <a:pt x="21" y="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38" name="文本框 34"/>
          <p:cNvSpPr txBox="1">
            <a:spLocks noChangeArrowheads="1"/>
          </p:cNvSpPr>
          <p:nvPr/>
        </p:nvSpPr>
        <p:spPr bwMode="auto">
          <a:xfrm>
            <a:off x="954088" y="4012448"/>
            <a:ext cx="30734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gn="ctr"/>
            <a:r>
              <a:rPr lang="zh-CN" altLang="en-US" sz="3200" dirty="0">
                <a:solidFill>
                  <a:schemeClr val="bg1"/>
                </a:solidFill>
              </a:rPr>
              <a:t>实时任务分类</a:t>
            </a:r>
          </a:p>
        </p:txBody>
      </p:sp>
      <p:sp>
        <p:nvSpPr>
          <p:cNvPr id="39" name="矩形 38"/>
          <p:cNvSpPr>
            <a:spLocks noChangeArrowheads="1"/>
          </p:cNvSpPr>
          <p:nvPr/>
        </p:nvSpPr>
        <p:spPr bwMode="auto">
          <a:xfrm>
            <a:off x="5710238" y="1285123"/>
            <a:ext cx="26148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r>
              <a:rPr lang="zh-CN" altLang="en-US" sz="2400" b="1" dirty="0">
                <a:solidFill>
                  <a:srgbClr val="197519"/>
                </a:solidFill>
              </a:rPr>
              <a:t>周期性实时任务</a:t>
            </a:r>
            <a:endParaRPr lang="zh-CN" altLang="en-US" sz="2400" b="1" dirty="0"/>
          </a:p>
        </p:txBody>
      </p:sp>
      <p:sp>
        <p:nvSpPr>
          <p:cNvPr id="40" name="矩形 39"/>
          <p:cNvSpPr>
            <a:spLocks noChangeArrowheads="1"/>
          </p:cNvSpPr>
          <p:nvPr/>
        </p:nvSpPr>
        <p:spPr bwMode="auto">
          <a:xfrm>
            <a:off x="5984898" y="3750263"/>
            <a:ext cx="183197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r>
              <a:rPr lang="zh-CN" altLang="en-US" sz="2100" b="1" dirty="0">
                <a:solidFill>
                  <a:srgbClr val="197519"/>
                </a:solidFill>
              </a:rPr>
              <a:t>硬实时任务</a:t>
            </a:r>
            <a:endParaRPr lang="zh-CN" altLang="en-US" sz="2100" b="1" dirty="0"/>
          </a:p>
        </p:txBody>
      </p:sp>
      <p:grpSp>
        <p:nvGrpSpPr>
          <p:cNvPr id="42" name="组合 41"/>
          <p:cNvGrpSpPr>
            <a:grpSpLocks/>
          </p:cNvGrpSpPr>
          <p:nvPr/>
        </p:nvGrpSpPr>
        <p:grpSpPr bwMode="auto">
          <a:xfrm>
            <a:off x="3813175" y="1402598"/>
            <a:ext cx="1733550" cy="1263650"/>
            <a:chOff x="3856882" y="1805041"/>
            <a:chExt cx="1734682" cy="1262903"/>
          </a:xfrm>
        </p:grpSpPr>
        <p:grpSp>
          <p:nvGrpSpPr>
            <p:cNvPr id="53" name="组合 52"/>
            <p:cNvGrpSpPr>
              <a:grpSpLocks/>
            </p:cNvGrpSpPr>
            <p:nvPr/>
          </p:nvGrpSpPr>
          <p:grpSpPr bwMode="auto">
            <a:xfrm>
              <a:off x="4635110" y="1805041"/>
              <a:ext cx="956454" cy="907419"/>
              <a:chOff x="4635110" y="1805041"/>
              <a:chExt cx="956454" cy="907419"/>
            </a:xfrm>
          </p:grpSpPr>
          <p:sp>
            <p:nvSpPr>
              <p:cNvPr id="55" name="等腰三角形 54"/>
              <p:cNvSpPr>
                <a:spLocks noChangeArrowheads="1"/>
              </p:cNvSpPr>
              <p:nvPr/>
            </p:nvSpPr>
            <p:spPr bwMode="auto">
              <a:xfrm>
                <a:off x="4635110" y="1805041"/>
                <a:ext cx="956454" cy="824528"/>
              </a:xfrm>
              <a:prstGeom prst="triangle">
                <a:avLst>
                  <a:gd name="adj" fmla="val 50000"/>
                </a:avLst>
              </a:prstGeom>
              <a:solidFill>
                <a:srgbClr val="19751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56" name="文本框 27"/>
              <p:cNvSpPr txBox="1">
                <a:spLocks noChangeArrowheads="1"/>
              </p:cNvSpPr>
              <p:nvPr/>
            </p:nvSpPr>
            <p:spPr bwMode="auto">
              <a:xfrm>
                <a:off x="4676256" y="2066129"/>
                <a:ext cx="9153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gn="ctr"/>
                <a:r>
                  <a:rPr lang="en-US" altLang="zh-CN" sz="3600">
                    <a:solidFill>
                      <a:schemeClr val="bg1"/>
                    </a:solidFill>
                  </a:rPr>
                  <a:t>01</a:t>
                </a:r>
                <a:endParaRPr lang="zh-CN" altLang="en-US" sz="3600">
                  <a:solidFill>
                    <a:schemeClr val="bg1"/>
                  </a:solidFill>
                  <a:ea typeface="方正粗倩简体" pitchFamily="65" charset="-122"/>
                </a:endParaRPr>
              </a:p>
            </p:txBody>
          </p:sp>
        </p:grpSp>
        <p:sp>
          <p:nvSpPr>
            <p:cNvPr id="54" name="矩形 53"/>
            <p:cNvSpPr/>
            <p:nvPr/>
          </p:nvSpPr>
          <p:spPr>
            <a:xfrm rot="19804025">
              <a:off x="3856882" y="2198508"/>
              <a:ext cx="1580594" cy="8694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endParaRPr lang="zh-CN" altLang="en-US" noProof="1"/>
            </a:p>
          </p:txBody>
        </p:sp>
      </p:grpSp>
      <p:grpSp>
        <p:nvGrpSpPr>
          <p:cNvPr id="43" name="组合 42"/>
          <p:cNvGrpSpPr>
            <a:grpSpLocks/>
          </p:cNvGrpSpPr>
          <p:nvPr/>
        </p:nvGrpSpPr>
        <p:grpSpPr bwMode="auto">
          <a:xfrm>
            <a:off x="4167210" y="3716925"/>
            <a:ext cx="1855788" cy="962025"/>
            <a:chOff x="4279404" y="3368896"/>
            <a:chExt cx="1855551" cy="962445"/>
          </a:xfrm>
        </p:grpSpPr>
        <p:grpSp>
          <p:nvGrpSpPr>
            <p:cNvPr id="49" name="组合 48"/>
            <p:cNvGrpSpPr>
              <a:grpSpLocks/>
            </p:cNvGrpSpPr>
            <p:nvPr/>
          </p:nvGrpSpPr>
          <p:grpSpPr bwMode="auto">
            <a:xfrm>
              <a:off x="5103518" y="3368896"/>
              <a:ext cx="1031437" cy="856513"/>
              <a:chOff x="5103518" y="3368896"/>
              <a:chExt cx="1031437" cy="856513"/>
            </a:xfrm>
          </p:grpSpPr>
          <p:sp>
            <p:nvSpPr>
              <p:cNvPr id="51" name="等腰三角形 50"/>
              <p:cNvSpPr>
                <a:spLocks noChangeArrowheads="1"/>
              </p:cNvSpPr>
              <p:nvPr/>
            </p:nvSpPr>
            <p:spPr bwMode="auto">
              <a:xfrm rot="1800000">
                <a:off x="5178501" y="3368896"/>
                <a:ext cx="956454" cy="824528"/>
              </a:xfrm>
              <a:prstGeom prst="triangle">
                <a:avLst>
                  <a:gd name="adj" fmla="val 50000"/>
                </a:avLst>
              </a:prstGeom>
              <a:solidFill>
                <a:srgbClr val="19751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endParaRPr lang="zh-CN" altLang="en-US"/>
              </a:p>
            </p:txBody>
          </p:sp>
          <p:sp>
            <p:nvSpPr>
              <p:cNvPr id="52" name="文本框 29"/>
              <p:cNvSpPr txBox="1">
                <a:spLocks noChangeArrowheads="1"/>
              </p:cNvSpPr>
              <p:nvPr/>
            </p:nvSpPr>
            <p:spPr bwMode="auto">
              <a:xfrm>
                <a:off x="5103518" y="3579078"/>
                <a:ext cx="9153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lgn="ctr"/>
                <a:r>
                  <a:rPr lang="en-US" altLang="zh-CN" sz="3600">
                    <a:solidFill>
                      <a:schemeClr val="bg1"/>
                    </a:solidFill>
                  </a:rPr>
                  <a:t>02</a:t>
                </a:r>
                <a:endParaRPr lang="zh-CN" altLang="en-US" sz="3600">
                  <a:solidFill>
                    <a:schemeClr val="bg1"/>
                  </a:solidFill>
                  <a:ea typeface="方正粗倩简体" pitchFamily="65" charset="-122"/>
                </a:endParaRPr>
              </a:p>
            </p:txBody>
          </p:sp>
        </p:grpSp>
        <p:sp>
          <p:nvSpPr>
            <p:cNvPr id="50" name="矩形 49"/>
            <p:cNvSpPr/>
            <p:nvPr/>
          </p:nvSpPr>
          <p:spPr>
            <a:xfrm>
              <a:off x="4279404" y="3462600"/>
              <a:ext cx="1580948" cy="8687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endParaRPr lang="zh-CN" altLang="en-US" noProof="1"/>
            </a:p>
          </p:txBody>
        </p:sp>
      </p:grpSp>
      <p:sp>
        <p:nvSpPr>
          <p:cNvPr id="57" name="矩形 56"/>
          <p:cNvSpPr>
            <a:spLocks noChangeArrowheads="1"/>
          </p:cNvSpPr>
          <p:nvPr/>
        </p:nvSpPr>
        <p:spPr bwMode="auto">
          <a:xfrm>
            <a:off x="5712510" y="1778723"/>
            <a:ext cx="30457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r>
              <a:rPr lang="zh-CN" altLang="en-US" sz="2400" b="1" dirty="0">
                <a:solidFill>
                  <a:srgbClr val="197519"/>
                </a:solidFill>
              </a:rPr>
              <a:t>非周期性实时任务</a:t>
            </a:r>
            <a:endParaRPr lang="zh-CN" altLang="en-US" sz="2400" b="1" dirty="0"/>
          </a:p>
        </p:txBody>
      </p:sp>
      <p:sp>
        <p:nvSpPr>
          <p:cNvPr id="58" name="矩形 57"/>
          <p:cNvSpPr>
            <a:spLocks noChangeArrowheads="1"/>
          </p:cNvSpPr>
          <p:nvPr/>
        </p:nvSpPr>
        <p:spPr bwMode="auto">
          <a:xfrm>
            <a:off x="6000464" y="5226666"/>
            <a:ext cx="6096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pPr>
              <a:spcBef>
                <a:spcPct val="20000"/>
              </a:spcBef>
              <a:defRPr/>
            </a:pPr>
            <a:r>
              <a:rPr lang="zh-CN" altLang="en-US" sz="2000" dirty="0"/>
              <a:t>系统对截止时间的要求并不严格</a:t>
            </a:r>
          </a:p>
        </p:txBody>
      </p:sp>
      <p:sp>
        <p:nvSpPr>
          <p:cNvPr id="64" name="矩形 63"/>
          <p:cNvSpPr>
            <a:spLocks noChangeArrowheads="1"/>
          </p:cNvSpPr>
          <p:nvPr/>
        </p:nvSpPr>
        <p:spPr bwMode="auto">
          <a:xfrm>
            <a:off x="6008402" y="4853604"/>
            <a:ext cx="183197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ern="1200">
                <a:solidFill>
                  <a:schemeClr val="tx1"/>
                </a:solidFill>
                <a:latin typeface="微软雅黑" pitchFamily="34" charset="-122"/>
                <a:ea typeface="微软雅黑" pitchFamily="34" charset="-122"/>
                <a:cs typeface="+mn-cs"/>
              </a:defRPr>
            </a:lvl1pPr>
            <a:lvl2pPr marL="457200" algn="l" rtl="0" fontAlgn="base">
              <a:spcBef>
                <a:spcPct val="0"/>
              </a:spcBef>
              <a:spcAft>
                <a:spcPct val="0"/>
              </a:spcAft>
              <a:defRPr kern="1200">
                <a:solidFill>
                  <a:schemeClr val="tx1"/>
                </a:solidFill>
                <a:latin typeface="微软雅黑" pitchFamily="34" charset="-122"/>
                <a:ea typeface="微软雅黑" pitchFamily="34" charset="-122"/>
                <a:cs typeface="+mn-cs"/>
              </a:defRPr>
            </a:lvl2pPr>
            <a:lvl3pPr marL="914400" algn="l" rtl="0" fontAlgn="base">
              <a:spcBef>
                <a:spcPct val="0"/>
              </a:spcBef>
              <a:spcAft>
                <a:spcPct val="0"/>
              </a:spcAft>
              <a:defRPr kern="1200">
                <a:solidFill>
                  <a:schemeClr val="tx1"/>
                </a:solidFill>
                <a:latin typeface="微软雅黑" pitchFamily="34" charset="-122"/>
                <a:ea typeface="微软雅黑" pitchFamily="34" charset="-122"/>
                <a:cs typeface="+mn-cs"/>
              </a:defRPr>
            </a:lvl3pPr>
            <a:lvl4pPr marL="1371600" algn="l" rtl="0" fontAlgn="base">
              <a:spcBef>
                <a:spcPct val="0"/>
              </a:spcBef>
              <a:spcAft>
                <a:spcPct val="0"/>
              </a:spcAft>
              <a:defRPr kern="1200">
                <a:solidFill>
                  <a:schemeClr val="tx1"/>
                </a:solidFill>
                <a:latin typeface="微软雅黑" pitchFamily="34" charset="-122"/>
                <a:ea typeface="微软雅黑" pitchFamily="34" charset="-122"/>
                <a:cs typeface="+mn-cs"/>
              </a:defRPr>
            </a:lvl4pPr>
            <a:lvl5pPr marL="1828800" algn="l" rtl="0" fontAlgn="base">
              <a:spcBef>
                <a:spcPct val="0"/>
              </a:spcBef>
              <a:spcAft>
                <a:spcPct val="0"/>
              </a:spcAft>
              <a:defRPr kern="1200">
                <a:solidFill>
                  <a:schemeClr val="tx1"/>
                </a:solidFill>
                <a:latin typeface="微软雅黑" pitchFamily="34" charset="-122"/>
                <a:ea typeface="微软雅黑" pitchFamily="34" charset="-122"/>
                <a:cs typeface="+mn-cs"/>
              </a:defRPr>
            </a:lvl5pPr>
            <a:lvl6pPr marL="2286000" algn="l" defTabSz="914400" rtl="0" eaLnBrk="1" latinLnBrk="0" hangingPunct="1">
              <a:defRPr kern="1200">
                <a:solidFill>
                  <a:schemeClr val="tx1"/>
                </a:solidFill>
                <a:latin typeface="微软雅黑" pitchFamily="34" charset="-122"/>
                <a:ea typeface="微软雅黑" pitchFamily="34" charset="-122"/>
                <a:cs typeface="+mn-cs"/>
              </a:defRPr>
            </a:lvl6pPr>
            <a:lvl7pPr marL="2743200" algn="l" defTabSz="914400" rtl="0" eaLnBrk="1" latinLnBrk="0" hangingPunct="1">
              <a:defRPr kern="1200">
                <a:solidFill>
                  <a:schemeClr val="tx1"/>
                </a:solidFill>
                <a:latin typeface="微软雅黑" pitchFamily="34" charset="-122"/>
                <a:ea typeface="微软雅黑" pitchFamily="34" charset="-122"/>
                <a:cs typeface="+mn-cs"/>
              </a:defRPr>
            </a:lvl7pPr>
            <a:lvl8pPr marL="3200400" algn="l" defTabSz="914400" rtl="0" eaLnBrk="1" latinLnBrk="0" hangingPunct="1">
              <a:defRPr kern="1200">
                <a:solidFill>
                  <a:schemeClr val="tx1"/>
                </a:solidFill>
                <a:latin typeface="微软雅黑" pitchFamily="34" charset="-122"/>
                <a:ea typeface="微软雅黑" pitchFamily="34" charset="-122"/>
                <a:cs typeface="+mn-cs"/>
              </a:defRPr>
            </a:lvl8pPr>
            <a:lvl9pPr marL="3657600" algn="l" defTabSz="914400" rtl="0" eaLnBrk="1" latinLnBrk="0" hangingPunct="1">
              <a:defRPr kern="1200">
                <a:solidFill>
                  <a:schemeClr val="tx1"/>
                </a:solidFill>
                <a:latin typeface="微软雅黑" pitchFamily="34" charset="-122"/>
                <a:ea typeface="微软雅黑" pitchFamily="34" charset="-122"/>
                <a:cs typeface="+mn-cs"/>
              </a:defRPr>
            </a:lvl9pPr>
          </a:lstStyle>
          <a:p>
            <a:r>
              <a:rPr lang="zh-CN" altLang="en-US" sz="2100" b="1" dirty="0">
                <a:solidFill>
                  <a:srgbClr val="197519"/>
                </a:solidFill>
              </a:rPr>
              <a:t>软实时任务</a:t>
            </a:r>
            <a:endParaRPr lang="zh-CN" altLang="en-US" sz="2100" b="1" dirty="0"/>
          </a:p>
        </p:txBody>
      </p:sp>
    </p:spTree>
    <p:extLst>
      <p:ext uri="{BB962C8B-B14F-4D97-AF65-F5344CB8AC3E}">
        <p14:creationId xmlns:p14="http://schemas.microsoft.com/office/powerpoint/2010/main" val="19788625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44935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3D7351"/>
                </a:solidFill>
                <a:latin typeface="微软雅黑" panose="020B0503020204020204" pitchFamily="34" charset="-122"/>
                <a:ea typeface="微软雅黑" panose="020B0503020204020204" pitchFamily="34" charset="-122"/>
              </a:rPr>
              <a:t>实时系统与分时系统特征的比较</a:t>
            </a:r>
          </a:p>
        </p:txBody>
      </p:sp>
      <p:sp>
        <p:nvSpPr>
          <p:cNvPr id="23"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grpSp>
        <p:nvGrpSpPr>
          <p:cNvPr id="71" name="深色1"/>
          <p:cNvGrpSpPr/>
          <p:nvPr/>
        </p:nvGrpSpPr>
        <p:grpSpPr>
          <a:xfrm>
            <a:off x="496711" y="1255749"/>
            <a:ext cx="3622922" cy="604800"/>
            <a:chOff x="1516381" y="1647128"/>
            <a:chExt cx="1886034" cy="604800"/>
          </a:xfrm>
        </p:grpSpPr>
        <p:grpSp>
          <p:nvGrpSpPr>
            <p:cNvPr id="94" name="组合 93"/>
            <p:cNvGrpSpPr/>
            <p:nvPr/>
          </p:nvGrpSpPr>
          <p:grpSpPr>
            <a:xfrm>
              <a:off x="1516381" y="1647128"/>
              <a:ext cx="1886034" cy="604800"/>
              <a:chOff x="1985713" y="1196752"/>
              <a:chExt cx="361172" cy="353896"/>
            </a:xfrm>
          </p:grpSpPr>
          <p:sp>
            <p:nvSpPr>
              <p:cNvPr id="96" name="Rectangle 22"/>
              <p:cNvSpPr>
                <a:spLocks noChangeArrowheads="1"/>
              </p:cNvSpPr>
              <p:nvPr/>
            </p:nvSpPr>
            <p:spPr bwMode="auto">
              <a:xfrm>
                <a:off x="1985713" y="1196752"/>
                <a:ext cx="361172" cy="353896"/>
              </a:xfrm>
              <a:prstGeom prst="round2SameRect">
                <a:avLst/>
              </a:prstGeom>
              <a:gradFill rotWithShape="1">
                <a:gsLst>
                  <a:gs pos="0">
                    <a:srgbClr val="6DAA2D"/>
                  </a:gs>
                  <a:gs pos="100000">
                    <a:srgbClr val="6DAA2D">
                      <a:lumMod val="60000"/>
                      <a:lumOff val="40000"/>
                    </a:srgbClr>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kern="0" dirty="0">
                  <a:solidFill>
                    <a:sysClr val="windowText" lastClr="000000"/>
                  </a:solidFill>
                  <a:ea typeface="微软雅黑" pitchFamily="34" charset="-122"/>
                </a:endParaRPr>
              </a:p>
            </p:txBody>
          </p:sp>
          <p:sp>
            <p:nvSpPr>
              <p:cNvPr id="97" name="AutoShape 10"/>
              <p:cNvSpPr>
                <a:spLocks noChangeArrowheads="1"/>
              </p:cNvSpPr>
              <p:nvPr/>
            </p:nvSpPr>
            <p:spPr bwMode="auto">
              <a:xfrm>
                <a:off x="1985713" y="1196752"/>
                <a:ext cx="353000" cy="18252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gradFill rotWithShape="1">
                <a:gsLst>
                  <a:gs pos="0">
                    <a:srgbClr val="6DAA2D">
                      <a:lumMod val="60000"/>
                      <a:lumOff val="40000"/>
                      <a:alpha val="40000"/>
                    </a:srgbClr>
                  </a:gs>
                  <a:gs pos="100000">
                    <a:srgbClr val="FFFFFF">
                      <a:alpha val="0"/>
                    </a:srgbClr>
                  </a:gs>
                </a:gsLst>
                <a:lin ang="5400000" scaled="1"/>
              </a:gradFill>
              <a:ln>
                <a:noFill/>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kern="0" dirty="0">
                  <a:solidFill>
                    <a:sysClr val="windowText" lastClr="000000"/>
                  </a:solidFill>
                  <a:ea typeface="微软雅黑" pitchFamily="34" charset="-122"/>
                </a:endParaRPr>
              </a:p>
            </p:txBody>
          </p:sp>
        </p:grpSp>
        <p:sp>
          <p:nvSpPr>
            <p:cNvPr id="95" name="TextBox 65"/>
            <p:cNvSpPr txBox="1"/>
            <p:nvPr/>
          </p:nvSpPr>
          <p:spPr>
            <a:xfrm>
              <a:off x="2149489" y="1750637"/>
              <a:ext cx="612688" cy="46166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zh-CN" altLang="en-US" sz="2400" b="1" kern="0" dirty="0">
                  <a:solidFill>
                    <a:sysClr val="window" lastClr="FFFFFF"/>
                  </a:solidFill>
                  <a:latin typeface="微软雅黑" pitchFamily="34" charset="-122"/>
                  <a:ea typeface="微软雅黑" pitchFamily="34" charset="-122"/>
                </a:rPr>
                <a:t>多路性</a:t>
              </a:r>
              <a:r>
                <a:rPr lang="zh-CN" altLang="en-US" b="1" kern="0" dirty="0">
                  <a:solidFill>
                    <a:sysClr val="window" lastClr="FFFFFF"/>
                  </a:solidFill>
                  <a:latin typeface="微软雅黑" pitchFamily="34" charset="-122"/>
                  <a:ea typeface="微软雅黑" pitchFamily="34" charset="-122"/>
                </a:rPr>
                <a:t> </a:t>
              </a:r>
            </a:p>
          </p:txBody>
        </p:sp>
      </p:grpSp>
      <p:grpSp>
        <p:nvGrpSpPr>
          <p:cNvPr id="72" name="文本1"/>
          <p:cNvGrpSpPr/>
          <p:nvPr/>
        </p:nvGrpSpPr>
        <p:grpSpPr>
          <a:xfrm>
            <a:off x="496708" y="1870073"/>
            <a:ext cx="3611261" cy="2900956"/>
            <a:chOff x="1504506" y="2261453"/>
            <a:chExt cx="1875514" cy="1843472"/>
          </a:xfrm>
        </p:grpSpPr>
        <p:sp>
          <p:nvSpPr>
            <p:cNvPr id="92" name="矩形 91"/>
            <p:cNvSpPr/>
            <p:nvPr/>
          </p:nvSpPr>
          <p:spPr>
            <a:xfrm>
              <a:off x="1515026" y="2261453"/>
              <a:ext cx="1864994" cy="1671603"/>
            </a:xfrm>
            <a:prstGeom prst="rect">
              <a:avLst/>
            </a:prstGeom>
            <a:gradFill rotWithShape="1">
              <a:gsLst>
                <a:gs pos="0">
                  <a:srgbClr val="F9F9F9"/>
                </a:gs>
                <a:gs pos="100000">
                  <a:srgbClr val="EAEAEA"/>
                </a:gs>
              </a:gsLst>
              <a:lin ang="5400000" scaled="1"/>
            </a:gradFill>
            <a:ln w="19050">
              <a:solidFill>
                <a:srgbClr val="EAEAEA"/>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6213" lvl="1" indent="-171450">
                <a:lnSpc>
                  <a:spcPct val="150000"/>
                </a:lnSpc>
                <a:buFont typeface="Arial" pitchFamily="34" charset="0"/>
                <a:buChar char="•"/>
              </a:pPr>
              <a:endParaRPr lang="zh-CN" altLang="en-US" sz="1400" dirty="0">
                <a:solidFill>
                  <a:srgbClr val="888888"/>
                </a:solidFill>
                <a:latin typeface="微软雅黑" pitchFamily="34" charset="-122"/>
                <a:ea typeface="微软雅黑" pitchFamily="34" charset="-122"/>
              </a:endParaRPr>
            </a:p>
          </p:txBody>
        </p:sp>
        <p:sp>
          <p:nvSpPr>
            <p:cNvPr id="93" name="AutoShape 20"/>
            <p:cNvSpPr>
              <a:spLocks noChangeArrowheads="1"/>
            </p:cNvSpPr>
            <p:nvPr/>
          </p:nvSpPr>
          <p:spPr bwMode="auto">
            <a:xfrm>
              <a:off x="1504506" y="3933056"/>
              <a:ext cx="1875514" cy="171869"/>
            </a:xfrm>
            <a:custGeom>
              <a:avLst/>
              <a:gdLst>
                <a:gd name="T0" fmla="*/ 856 w 21600"/>
                <a:gd name="T1" fmla="*/ 1 h 21600"/>
                <a:gd name="T2" fmla="*/ 439 w 21600"/>
                <a:gd name="T3" fmla="*/ 2 h 21600"/>
                <a:gd name="T4" fmla="*/ 22 w 21600"/>
                <a:gd name="T5" fmla="*/ 1 h 21600"/>
                <a:gd name="T6" fmla="*/ 439 w 21600"/>
                <a:gd name="T7" fmla="*/ 0 h 21600"/>
                <a:gd name="T8" fmla="*/ 0 60000 65536"/>
                <a:gd name="T9" fmla="*/ 0 60000 65536"/>
                <a:gd name="T10" fmla="*/ 0 60000 65536"/>
                <a:gd name="T11" fmla="*/ 0 60000 65536"/>
                <a:gd name="T12" fmla="*/ 2337 w 21600"/>
                <a:gd name="T13" fmla="*/ 2387 h 21600"/>
                <a:gd name="T14" fmla="*/ 19263 w 21600"/>
                <a:gd name="T15" fmla="*/ 19213 h 21600"/>
              </a:gdLst>
              <a:ahLst/>
              <a:cxnLst>
                <a:cxn ang="T8">
                  <a:pos x="T0" y="T1"/>
                </a:cxn>
                <a:cxn ang="T9">
                  <a:pos x="T2" y="T3"/>
                </a:cxn>
                <a:cxn ang="T10">
                  <a:pos x="T4" y="T5"/>
                </a:cxn>
                <a:cxn ang="T11">
                  <a:pos x="T6" y="T7"/>
                </a:cxn>
              </a:cxnLst>
              <a:rect l="T12" t="T13" r="T14" b="T15"/>
              <a:pathLst>
                <a:path w="21600" h="21600">
                  <a:moveTo>
                    <a:pt x="0" y="0"/>
                  </a:moveTo>
                  <a:lnTo>
                    <a:pt x="1072" y="21600"/>
                  </a:lnTo>
                  <a:lnTo>
                    <a:pt x="20528" y="21600"/>
                  </a:lnTo>
                  <a:lnTo>
                    <a:pt x="21600" y="0"/>
                  </a:lnTo>
                  <a:lnTo>
                    <a:pt x="0" y="0"/>
                  </a:lnTo>
                  <a:close/>
                </a:path>
              </a:pathLst>
            </a:custGeom>
            <a:gradFill rotWithShape="1">
              <a:gsLst>
                <a:gs pos="0">
                  <a:srgbClr val="DDDDDD"/>
                </a:gs>
                <a:gs pos="100000">
                  <a:srgbClr val="FFFFFF">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kern="0" dirty="0">
                <a:solidFill>
                  <a:sysClr val="windowText" lastClr="000000"/>
                </a:solidFill>
                <a:ea typeface="微软雅黑" pitchFamily="34" charset="-122"/>
              </a:endParaRPr>
            </a:p>
          </p:txBody>
        </p:sp>
      </p:grpSp>
      <p:sp>
        <p:nvSpPr>
          <p:cNvPr id="77" name="TextBox 1"/>
          <p:cNvSpPr txBox="1"/>
          <p:nvPr/>
        </p:nvSpPr>
        <p:spPr>
          <a:xfrm>
            <a:off x="530018" y="1898218"/>
            <a:ext cx="3544738" cy="24314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20000"/>
              </a:lnSpc>
              <a:spcBef>
                <a:spcPct val="20000"/>
              </a:spcBef>
              <a:buFontTx/>
              <a:buChar char="–"/>
              <a:defRPr/>
            </a:pPr>
            <a:r>
              <a:rPr lang="zh-CN" altLang="en-US" sz="2000" dirty="0"/>
              <a:t>都具有多路性。</a:t>
            </a:r>
            <a:endParaRPr lang="en-US" altLang="zh-CN" sz="2000" dirty="0"/>
          </a:p>
          <a:p>
            <a:pPr marL="285750" indent="-285750">
              <a:lnSpc>
                <a:spcPct val="120000"/>
              </a:lnSpc>
              <a:spcBef>
                <a:spcPct val="20000"/>
              </a:spcBef>
              <a:buFontTx/>
              <a:buChar char="–"/>
              <a:defRPr/>
            </a:pPr>
            <a:r>
              <a:rPr lang="zh-CN" altLang="en-US" sz="2000" dirty="0"/>
              <a:t>实时信息处理系统按分时原则为多个终端用户服务。</a:t>
            </a:r>
            <a:endParaRPr lang="en-US" altLang="zh-CN" sz="2000" dirty="0"/>
          </a:p>
          <a:p>
            <a:pPr marL="285750" indent="-285750">
              <a:lnSpc>
                <a:spcPct val="120000"/>
              </a:lnSpc>
              <a:spcBef>
                <a:spcPct val="20000"/>
              </a:spcBef>
              <a:buFontTx/>
              <a:buChar char="–"/>
              <a:defRPr/>
            </a:pPr>
            <a:r>
              <a:rPr lang="en-US" altLang="zh-CN" sz="2000" dirty="0" err="1"/>
              <a:t>实时控制系统对多路现场信息进行采集，对多个对象或多个执行机构进行控制</a:t>
            </a:r>
            <a:r>
              <a:rPr lang="en-US" altLang="zh-CN" sz="2000" dirty="0"/>
              <a:t>。</a:t>
            </a:r>
            <a:endParaRPr lang="zh-CN" altLang="en-US" sz="2000" dirty="0"/>
          </a:p>
        </p:txBody>
      </p:sp>
      <p:grpSp>
        <p:nvGrpSpPr>
          <p:cNvPr id="98" name="深色1"/>
          <p:cNvGrpSpPr/>
          <p:nvPr/>
        </p:nvGrpSpPr>
        <p:grpSpPr>
          <a:xfrm>
            <a:off x="4306775" y="1271669"/>
            <a:ext cx="3622922" cy="604800"/>
            <a:chOff x="1516381" y="1647128"/>
            <a:chExt cx="1886034" cy="604800"/>
          </a:xfrm>
        </p:grpSpPr>
        <p:grpSp>
          <p:nvGrpSpPr>
            <p:cNvPr id="99" name="组合 98"/>
            <p:cNvGrpSpPr/>
            <p:nvPr/>
          </p:nvGrpSpPr>
          <p:grpSpPr>
            <a:xfrm>
              <a:off x="1516381" y="1647128"/>
              <a:ext cx="1886034" cy="604800"/>
              <a:chOff x="1985713" y="1196752"/>
              <a:chExt cx="361172" cy="353896"/>
            </a:xfrm>
          </p:grpSpPr>
          <p:sp>
            <p:nvSpPr>
              <p:cNvPr id="101" name="Rectangle 22"/>
              <p:cNvSpPr>
                <a:spLocks noChangeArrowheads="1"/>
              </p:cNvSpPr>
              <p:nvPr/>
            </p:nvSpPr>
            <p:spPr bwMode="auto">
              <a:xfrm>
                <a:off x="1985713" y="1196752"/>
                <a:ext cx="361172" cy="353896"/>
              </a:xfrm>
              <a:prstGeom prst="round2SameRect">
                <a:avLst/>
              </a:prstGeom>
              <a:gradFill rotWithShape="1">
                <a:gsLst>
                  <a:gs pos="0">
                    <a:srgbClr val="6DAA2D"/>
                  </a:gs>
                  <a:gs pos="100000">
                    <a:srgbClr val="6DAA2D">
                      <a:lumMod val="60000"/>
                      <a:lumOff val="40000"/>
                    </a:srgbClr>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kern="0" dirty="0">
                  <a:solidFill>
                    <a:sysClr val="windowText" lastClr="000000"/>
                  </a:solidFill>
                  <a:ea typeface="微软雅黑" pitchFamily="34" charset="-122"/>
                </a:endParaRPr>
              </a:p>
            </p:txBody>
          </p:sp>
          <p:sp>
            <p:nvSpPr>
              <p:cNvPr id="102" name="AutoShape 10"/>
              <p:cNvSpPr>
                <a:spLocks noChangeArrowheads="1"/>
              </p:cNvSpPr>
              <p:nvPr/>
            </p:nvSpPr>
            <p:spPr bwMode="auto">
              <a:xfrm>
                <a:off x="1985713" y="1196752"/>
                <a:ext cx="353000" cy="18252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gradFill rotWithShape="1">
                <a:gsLst>
                  <a:gs pos="0">
                    <a:srgbClr val="6DAA2D">
                      <a:lumMod val="60000"/>
                      <a:lumOff val="40000"/>
                      <a:alpha val="40000"/>
                    </a:srgbClr>
                  </a:gs>
                  <a:gs pos="100000">
                    <a:srgbClr val="FFFFFF">
                      <a:alpha val="0"/>
                    </a:srgbClr>
                  </a:gs>
                </a:gsLst>
                <a:lin ang="5400000" scaled="1"/>
              </a:gradFill>
              <a:ln>
                <a:noFill/>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kern="0" dirty="0">
                  <a:solidFill>
                    <a:sysClr val="windowText" lastClr="000000"/>
                  </a:solidFill>
                  <a:ea typeface="微软雅黑" pitchFamily="34" charset="-122"/>
                </a:endParaRPr>
              </a:p>
            </p:txBody>
          </p:sp>
        </p:grpSp>
        <p:sp>
          <p:nvSpPr>
            <p:cNvPr id="100" name="TextBox 65"/>
            <p:cNvSpPr txBox="1"/>
            <p:nvPr/>
          </p:nvSpPr>
          <p:spPr>
            <a:xfrm>
              <a:off x="2149488" y="1750637"/>
              <a:ext cx="612688" cy="46166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zh-CN" altLang="en-US" sz="2400" b="1" kern="0" dirty="0">
                  <a:solidFill>
                    <a:sysClr val="window" lastClr="FFFFFF"/>
                  </a:solidFill>
                  <a:latin typeface="微软雅黑" pitchFamily="34" charset="-122"/>
                  <a:ea typeface="微软雅黑" pitchFamily="34" charset="-122"/>
                </a:rPr>
                <a:t>独立性</a:t>
              </a:r>
              <a:r>
                <a:rPr lang="zh-CN" altLang="en-US" b="1" kern="0" dirty="0">
                  <a:solidFill>
                    <a:sysClr val="window" lastClr="FFFFFF"/>
                  </a:solidFill>
                  <a:latin typeface="微软雅黑" pitchFamily="34" charset="-122"/>
                  <a:ea typeface="微软雅黑" pitchFamily="34" charset="-122"/>
                </a:rPr>
                <a:t> </a:t>
              </a:r>
            </a:p>
          </p:txBody>
        </p:sp>
      </p:grpSp>
      <p:grpSp>
        <p:nvGrpSpPr>
          <p:cNvPr id="103" name="文本1"/>
          <p:cNvGrpSpPr/>
          <p:nvPr/>
        </p:nvGrpSpPr>
        <p:grpSpPr>
          <a:xfrm>
            <a:off x="4306772" y="1885993"/>
            <a:ext cx="3611261" cy="2885036"/>
            <a:chOff x="1504506" y="2261453"/>
            <a:chExt cx="1875514" cy="1843472"/>
          </a:xfrm>
        </p:grpSpPr>
        <p:sp>
          <p:nvSpPr>
            <p:cNvPr id="104" name="矩形 103"/>
            <p:cNvSpPr/>
            <p:nvPr/>
          </p:nvSpPr>
          <p:spPr>
            <a:xfrm>
              <a:off x="1515026" y="2261453"/>
              <a:ext cx="1864994" cy="1671603"/>
            </a:xfrm>
            <a:prstGeom prst="rect">
              <a:avLst/>
            </a:prstGeom>
            <a:gradFill rotWithShape="1">
              <a:gsLst>
                <a:gs pos="0">
                  <a:srgbClr val="F9F9F9"/>
                </a:gs>
                <a:gs pos="100000">
                  <a:srgbClr val="EAEAEA"/>
                </a:gs>
              </a:gsLst>
              <a:lin ang="5400000" scaled="1"/>
            </a:gradFill>
            <a:ln w="19050">
              <a:solidFill>
                <a:srgbClr val="EAEAEA"/>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6213" lvl="1" indent="-171450">
                <a:lnSpc>
                  <a:spcPct val="150000"/>
                </a:lnSpc>
                <a:buFont typeface="Arial" pitchFamily="34" charset="0"/>
                <a:buChar char="•"/>
              </a:pPr>
              <a:endParaRPr lang="zh-CN" altLang="en-US" sz="1400" dirty="0">
                <a:solidFill>
                  <a:srgbClr val="888888"/>
                </a:solidFill>
                <a:latin typeface="微软雅黑" pitchFamily="34" charset="-122"/>
                <a:ea typeface="微软雅黑" pitchFamily="34" charset="-122"/>
              </a:endParaRPr>
            </a:p>
          </p:txBody>
        </p:sp>
        <p:sp>
          <p:nvSpPr>
            <p:cNvPr id="105" name="AutoShape 20"/>
            <p:cNvSpPr>
              <a:spLocks noChangeArrowheads="1"/>
            </p:cNvSpPr>
            <p:nvPr/>
          </p:nvSpPr>
          <p:spPr bwMode="auto">
            <a:xfrm>
              <a:off x="1504506" y="3933056"/>
              <a:ext cx="1875514" cy="171869"/>
            </a:xfrm>
            <a:custGeom>
              <a:avLst/>
              <a:gdLst>
                <a:gd name="T0" fmla="*/ 856 w 21600"/>
                <a:gd name="T1" fmla="*/ 1 h 21600"/>
                <a:gd name="T2" fmla="*/ 439 w 21600"/>
                <a:gd name="T3" fmla="*/ 2 h 21600"/>
                <a:gd name="T4" fmla="*/ 22 w 21600"/>
                <a:gd name="T5" fmla="*/ 1 h 21600"/>
                <a:gd name="T6" fmla="*/ 439 w 21600"/>
                <a:gd name="T7" fmla="*/ 0 h 21600"/>
                <a:gd name="T8" fmla="*/ 0 60000 65536"/>
                <a:gd name="T9" fmla="*/ 0 60000 65536"/>
                <a:gd name="T10" fmla="*/ 0 60000 65536"/>
                <a:gd name="T11" fmla="*/ 0 60000 65536"/>
                <a:gd name="T12" fmla="*/ 2337 w 21600"/>
                <a:gd name="T13" fmla="*/ 2387 h 21600"/>
                <a:gd name="T14" fmla="*/ 19263 w 21600"/>
                <a:gd name="T15" fmla="*/ 19213 h 21600"/>
              </a:gdLst>
              <a:ahLst/>
              <a:cxnLst>
                <a:cxn ang="T8">
                  <a:pos x="T0" y="T1"/>
                </a:cxn>
                <a:cxn ang="T9">
                  <a:pos x="T2" y="T3"/>
                </a:cxn>
                <a:cxn ang="T10">
                  <a:pos x="T4" y="T5"/>
                </a:cxn>
                <a:cxn ang="T11">
                  <a:pos x="T6" y="T7"/>
                </a:cxn>
              </a:cxnLst>
              <a:rect l="T12" t="T13" r="T14" b="T15"/>
              <a:pathLst>
                <a:path w="21600" h="21600">
                  <a:moveTo>
                    <a:pt x="0" y="0"/>
                  </a:moveTo>
                  <a:lnTo>
                    <a:pt x="1072" y="21600"/>
                  </a:lnTo>
                  <a:lnTo>
                    <a:pt x="20528" y="21600"/>
                  </a:lnTo>
                  <a:lnTo>
                    <a:pt x="21600" y="0"/>
                  </a:lnTo>
                  <a:lnTo>
                    <a:pt x="0" y="0"/>
                  </a:lnTo>
                  <a:close/>
                </a:path>
              </a:pathLst>
            </a:custGeom>
            <a:gradFill rotWithShape="1">
              <a:gsLst>
                <a:gs pos="0">
                  <a:srgbClr val="DDDDDD"/>
                </a:gs>
                <a:gs pos="100000">
                  <a:srgbClr val="FFFFFF">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kern="0" dirty="0">
                <a:solidFill>
                  <a:sysClr val="windowText" lastClr="000000"/>
                </a:solidFill>
                <a:ea typeface="微软雅黑" pitchFamily="34" charset="-122"/>
              </a:endParaRPr>
            </a:p>
          </p:txBody>
        </p:sp>
      </p:grpSp>
      <p:sp>
        <p:nvSpPr>
          <p:cNvPr id="106" name="TextBox 1"/>
          <p:cNvSpPr txBox="1"/>
          <p:nvPr/>
        </p:nvSpPr>
        <p:spPr>
          <a:xfrm>
            <a:off x="4350161" y="1860549"/>
            <a:ext cx="3544738" cy="280076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20000"/>
              </a:lnSpc>
              <a:spcBef>
                <a:spcPct val="20000"/>
              </a:spcBef>
              <a:buFontTx/>
              <a:buChar char="–"/>
              <a:defRPr/>
            </a:pPr>
            <a:r>
              <a:rPr lang="zh-CN" altLang="en-US" sz="2000" dirty="0"/>
              <a:t>都具有独立性。</a:t>
            </a:r>
            <a:endParaRPr lang="en-US" altLang="zh-CN" sz="2000" dirty="0"/>
          </a:p>
          <a:p>
            <a:pPr marL="285750" indent="-285750">
              <a:lnSpc>
                <a:spcPct val="120000"/>
              </a:lnSpc>
              <a:spcBef>
                <a:spcPct val="20000"/>
              </a:spcBef>
              <a:buFontTx/>
              <a:buChar char="–"/>
              <a:defRPr/>
            </a:pPr>
            <a:r>
              <a:rPr lang="zh-CN" altLang="en-US" sz="2000" dirty="0"/>
              <a:t>实时信息处理系统每个终端向实时系统提出请求时，是彼此独立操作，互不干扰。</a:t>
            </a:r>
            <a:endParaRPr lang="en-US" altLang="zh-CN" sz="2000" dirty="0"/>
          </a:p>
          <a:p>
            <a:pPr marL="285750" indent="-285750">
              <a:lnSpc>
                <a:spcPct val="120000"/>
              </a:lnSpc>
              <a:spcBef>
                <a:spcPct val="20000"/>
              </a:spcBef>
              <a:buFontTx/>
              <a:buChar char="–"/>
              <a:defRPr/>
            </a:pPr>
            <a:r>
              <a:rPr lang="en-US" altLang="zh-CN" sz="2000" dirty="0" err="1"/>
              <a:t>实时控制系统对信息的采集和对对象的控制，也都是彼此互不干扰</a:t>
            </a:r>
            <a:r>
              <a:rPr lang="en-US" altLang="zh-CN" sz="2000" dirty="0"/>
              <a:t>。</a:t>
            </a:r>
            <a:endParaRPr lang="zh-CN" altLang="en-US" sz="2000" b="1" dirty="0">
              <a:solidFill>
                <a:schemeClr val="accent2"/>
              </a:solidFill>
            </a:endParaRPr>
          </a:p>
        </p:txBody>
      </p:sp>
      <p:grpSp>
        <p:nvGrpSpPr>
          <p:cNvPr id="107" name="深色1"/>
          <p:cNvGrpSpPr/>
          <p:nvPr/>
        </p:nvGrpSpPr>
        <p:grpSpPr>
          <a:xfrm>
            <a:off x="8105046" y="1275933"/>
            <a:ext cx="3622922" cy="604800"/>
            <a:chOff x="1516381" y="1647128"/>
            <a:chExt cx="1886034" cy="604800"/>
          </a:xfrm>
        </p:grpSpPr>
        <p:grpSp>
          <p:nvGrpSpPr>
            <p:cNvPr id="108" name="组合 107"/>
            <p:cNvGrpSpPr/>
            <p:nvPr/>
          </p:nvGrpSpPr>
          <p:grpSpPr>
            <a:xfrm>
              <a:off x="1516381" y="1647128"/>
              <a:ext cx="1886034" cy="604800"/>
              <a:chOff x="1985713" y="1196752"/>
              <a:chExt cx="361172" cy="353896"/>
            </a:xfrm>
          </p:grpSpPr>
          <p:sp>
            <p:nvSpPr>
              <p:cNvPr id="110" name="Rectangle 22"/>
              <p:cNvSpPr>
                <a:spLocks noChangeArrowheads="1"/>
              </p:cNvSpPr>
              <p:nvPr/>
            </p:nvSpPr>
            <p:spPr bwMode="auto">
              <a:xfrm>
                <a:off x="1985713" y="1196752"/>
                <a:ext cx="361172" cy="353896"/>
              </a:xfrm>
              <a:prstGeom prst="round2SameRect">
                <a:avLst/>
              </a:prstGeom>
              <a:gradFill rotWithShape="1">
                <a:gsLst>
                  <a:gs pos="0">
                    <a:srgbClr val="6DAA2D"/>
                  </a:gs>
                  <a:gs pos="100000">
                    <a:srgbClr val="6DAA2D">
                      <a:lumMod val="60000"/>
                      <a:lumOff val="40000"/>
                    </a:srgbClr>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kern="0" dirty="0">
                  <a:solidFill>
                    <a:sysClr val="windowText" lastClr="000000"/>
                  </a:solidFill>
                  <a:ea typeface="微软雅黑" pitchFamily="34" charset="-122"/>
                </a:endParaRPr>
              </a:p>
            </p:txBody>
          </p:sp>
          <p:sp>
            <p:nvSpPr>
              <p:cNvPr id="111" name="AutoShape 10"/>
              <p:cNvSpPr>
                <a:spLocks noChangeArrowheads="1"/>
              </p:cNvSpPr>
              <p:nvPr/>
            </p:nvSpPr>
            <p:spPr bwMode="auto">
              <a:xfrm>
                <a:off x="1985713" y="1196752"/>
                <a:ext cx="353000" cy="18252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gradFill rotWithShape="1">
                <a:gsLst>
                  <a:gs pos="0">
                    <a:srgbClr val="6DAA2D">
                      <a:lumMod val="60000"/>
                      <a:lumOff val="40000"/>
                      <a:alpha val="40000"/>
                    </a:srgbClr>
                  </a:gs>
                  <a:gs pos="100000">
                    <a:srgbClr val="FFFFFF">
                      <a:alpha val="0"/>
                    </a:srgbClr>
                  </a:gs>
                </a:gsLst>
                <a:lin ang="5400000" scaled="1"/>
              </a:gradFill>
              <a:ln>
                <a:noFill/>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kern="0" dirty="0">
                  <a:solidFill>
                    <a:sysClr val="windowText" lastClr="000000"/>
                  </a:solidFill>
                  <a:ea typeface="微软雅黑" pitchFamily="34" charset="-122"/>
                </a:endParaRPr>
              </a:p>
            </p:txBody>
          </p:sp>
        </p:grpSp>
        <p:sp>
          <p:nvSpPr>
            <p:cNvPr id="109" name="TextBox 65"/>
            <p:cNvSpPr txBox="1"/>
            <p:nvPr/>
          </p:nvSpPr>
          <p:spPr>
            <a:xfrm>
              <a:off x="2149487" y="1750637"/>
              <a:ext cx="612688" cy="46166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zh-CN" altLang="en-US" sz="2400" b="1" kern="0" dirty="0">
                  <a:solidFill>
                    <a:sysClr val="window" lastClr="FFFFFF"/>
                  </a:solidFill>
                  <a:latin typeface="微软雅黑" pitchFamily="34" charset="-122"/>
                  <a:ea typeface="微软雅黑" pitchFamily="34" charset="-122"/>
                </a:rPr>
                <a:t>及时性</a:t>
              </a:r>
              <a:r>
                <a:rPr lang="zh-CN" altLang="en-US" b="1" kern="0" dirty="0">
                  <a:solidFill>
                    <a:sysClr val="window" lastClr="FFFFFF"/>
                  </a:solidFill>
                  <a:latin typeface="微软雅黑" pitchFamily="34" charset="-122"/>
                  <a:ea typeface="微软雅黑" pitchFamily="34" charset="-122"/>
                </a:rPr>
                <a:t> </a:t>
              </a:r>
            </a:p>
          </p:txBody>
        </p:sp>
      </p:grpSp>
      <p:grpSp>
        <p:nvGrpSpPr>
          <p:cNvPr id="112" name="文本1"/>
          <p:cNvGrpSpPr/>
          <p:nvPr/>
        </p:nvGrpSpPr>
        <p:grpSpPr>
          <a:xfrm>
            <a:off x="8105043" y="1890257"/>
            <a:ext cx="3611261" cy="2885036"/>
            <a:chOff x="1504506" y="2261453"/>
            <a:chExt cx="1875514" cy="1843472"/>
          </a:xfrm>
        </p:grpSpPr>
        <p:sp>
          <p:nvSpPr>
            <p:cNvPr id="113" name="矩形 112"/>
            <p:cNvSpPr/>
            <p:nvPr/>
          </p:nvSpPr>
          <p:spPr>
            <a:xfrm>
              <a:off x="1515026" y="2261453"/>
              <a:ext cx="1864994" cy="1671603"/>
            </a:xfrm>
            <a:prstGeom prst="rect">
              <a:avLst/>
            </a:prstGeom>
            <a:gradFill rotWithShape="1">
              <a:gsLst>
                <a:gs pos="0">
                  <a:srgbClr val="F9F9F9"/>
                </a:gs>
                <a:gs pos="100000">
                  <a:srgbClr val="EAEAEA"/>
                </a:gs>
              </a:gsLst>
              <a:lin ang="5400000" scaled="1"/>
            </a:gradFill>
            <a:ln w="19050">
              <a:solidFill>
                <a:srgbClr val="EAEAEA"/>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6213" lvl="1" indent="-171450">
                <a:lnSpc>
                  <a:spcPct val="150000"/>
                </a:lnSpc>
                <a:buFont typeface="Arial" pitchFamily="34" charset="0"/>
                <a:buChar char="•"/>
              </a:pPr>
              <a:endParaRPr lang="zh-CN" altLang="en-US" sz="1400" dirty="0">
                <a:solidFill>
                  <a:srgbClr val="888888"/>
                </a:solidFill>
                <a:latin typeface="微软雅黑" pitchFamily="34" charset="-122"/>
                <a:ea typeface="微软雅黑" pitchFamily="34" charset="-122"/>
              </a:endParaRPr>
            </a:p>
          </p:txBody>
        </p:sp>
        <p:sp>
          <p:nvSpPr>
            <p:cNvPr id="114" name="AutoShape 20"/>
            <p:cNvSpPr>
              <a:spLocks noChangeArrowheads="1"/>
            </p:cNvSpPr>
            <p:nvPr/>
          </p:nvSpPr>
          <p:spPr bwMode="auto">
            <a:xfrm>
              <a:off x="1504506" y="3933056"/>
              <a:ext cx="1875514" cy="171869"/>
            </a:xfrm>
            <a:custGeom>
              <a:avLst/>
              <a:gdLst>
                <a:gd name="T0" fmla="*/ 856 w 21600"/>
                <a:gd name="T1" fmla="*/ 1 h 21600"/>
                <a:gd name="T2" fmla="*/ 439 w 21600"/>
                <a:gd name="T3" fmla="*/ 2 h 21600"/>
                <a:gd name="T4" fmla="*/ 22 w 21600"/>
                <a:gd name="T5" fmla="*/ 1 h 21600"/>
                <a:gd name="T6" fmla="*/ 439 w 21600"/>
                <a:gd name="T7" fmla="*/ 0 h 21600"/>
                <a:gd name="T8" fmla="*/ 0 60000 65536"/>
                <a:gd name="T9" fmla="*/ 0 60000 65536"/>
                <a:gd name="T10" fmla="*/ 0 60000 65536"/>
                <a:gd name="T11" fmla="*/ 0 60000 65536"/>
                <a:gd name="T12" fmla="*/ 2337 w 21600"/>
                <a:gd name="T13" fmla="*/ 2387 h 21600"/>
                <a:gd name="T14" fmla="*/ 19263 w 21600"/>
                <a:gd name="T15" fmla="*/ 19213 h 21600"/>
              </a:gdLst>
              <a:ahLst/>
              <a:cxnLst>
                <a:cxn ang="T8">
                  <a:pos x="T0" y="T1"/>
                </a:cxn>
                <a:cxn ang="T9">
                  <a:pos x="T2" y="T3"/>
                </a:cxn>
                <a:cxn ang="T10">
                  <a:pos x="T4" y="T5"/>
                </a:cxn>
                <a:cxn ang="T11">
                  <a:pos x="T6" y="T7"/>
                </a:cxn>
              </a:cxnLst>
              <a:rect l="T12" t="T13" r="T14" b="T15"/>
              <a:pathLst>
                <a:path w="21600" h="21600">
                  <a:moveTo>
                    <a:pt x="0" y="0"/>
                  </a:moveTo>
                  <a:lnTo>
                    <a:pt x="1072" y="21600"/>
                  </a:lnTo>
                  <a:lnTo>
                    <a:pt x="20528" y="21600"/>
                  </a:lnTo>
                  <a:lnTo>
                    <a:pt x="21600" y="0"/>
                  </a:lnTo>
                  <a:lnTo>
                    <a:pt x="0" y="0"/>
                  </a:lnTo>
                  <a:close/>
                </a:path>
              </a:pathLst>
            </a:custGeom>
            <a:gradFill rotWithShape="1">
              <a:gsLst>
                <a:gs pos="0">
                  <a:srgbClr val="DDDDDD"/>
                </a:gs>
                <a:gs pos="100000">
                  <a:srgbClr val="FFFFFF">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kern="0" dirty="0">
                <a:solidFill>
                  <a:sysClr val="windowText" lastClr="000000"/>
                </a:solidFill>
                <a:ea typeface="微软雅黑" pitchFamily="34" charset="-122"/>
              </a:endParaRPr>
            </a:p>
          </p:txBody>
        </p:sp>
      </p:grpSp>
      <p:sp>
        <p:nvSpPr>
          <p:cNvPr id="115" name="TextBox 1"/>
          <p:cNvSpPr txBox="1"/>
          <p:nvPr/>
        </p:nvSpPr>
        <p:spPr>
          <a:xfrm>
            <a:off x="8035086" y="1906286"/>
            <a:ext cx="3692882" cy="261610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spcBef>
                <a:spcPct val="20000"/>
              </a:spcBef>
              <a:buFontTx/>
              <a:buChar char="–"/>
              <a:defRPr/>
            </a:pPr>
            <a:r>
              <a:rPr lang="zh-CN" altLang="en-US" sz="2000" dirty="0"/>
              <a:t>实时信息处理系统对实时性的要求与分时系统类似，是以人所能接受的等待时间来确定。</a:t>
            </a:r>
            <a:endParaRPr lang="en-US" altLang="zh-CN" sz="2000" dirty="0"/>
          </a:p>
          <a:p>
            <a:pPr marL="285750" indent="-285750">
              <a:spcBef>
                <a:spcPct val="20000"/>
              </a:spcBef>
              <a:buFontTx/>
              <a:buChar char="–"/>
              <a:defRPr/>
            </a:pPr>
            <a:r>
              <a:rPr lang="en-US" altLang="zh-CN" sz="2000" dirty="0" err="1"/>
              <a:t>实时控制系统是以控制对象所要求的开始截止时间或完成截止时间来确定，一般为秒级、百毫秒级、毫秒级</a:t>
            </a:r>
            <a:r>
              <a:rPr lang="en-US" altLang="zh-CN" sz="2000" dirty="0"/>
              <a:t>。</a:t>
            </a:r>
            <a:endParaRPr lang="zh-CN" altLang="en-US" sz="2000" b="1" dirty="0">
              <a:solidFill>
                <a:schemeClr val="accent2"/>
              </a:solidFill>
            </a:endParaRPr>
          </a:p>
        </p:txBody>
      </p:sp>
      <p:grpSp>
        <p:nvGrpSpPr>
          <p:cNvPr id="124" name="深色1"/>
          <p:cNvGrpSpPr/>
          <p:nvPr/>
        </p:nvGrpSpPr>
        <p:grpSpPr>
          <a:xfrm>
            <a:off x="527758" y="4741193"/>
            <a:ext cx="7367141" cy="604800"/>
            <a:chOff x="1516381" y="1647128"/>
            <a:chExt cx="1886034" cy="604800"/>
          </a:xfrm>
        </p:grpSpPr>
        <p:grpSp>
          <p:nvGrpSpPr>
            <p:cNvPr id="125" name="组合 124"/>
            <p:cNvGrpSpPr/>
            <p:nvPr/>
          </p:nvGrpSpPr>
          <p:grpSpPr>
            <a:xfrm>
              <a:off x="1516381" y="1647128"/>
              <a:ext cx="1886034" cy="604800"/>
              <a:chOff x="1985713" y="1196752"/>
              <a:chExt cx="361172" cy="353896"/>
            </a:xfrm>
          </p:grpSpPr>
          <p:sp>
            <p:nvSpPr>
              <p:cNvPr id="127" name="Rectangle 22"/>
              <p:cNvSpPr>
                <a:spLocks noChangeArrowheads="1"/>
              </p:cNvSpPr>
              <p:nvPr/>
            </p:nvSpPr>
            <p:spPr bwMode="auto">
              <a:xfrm>
                <a:off x="1985713" y="1196752"/>
                <a:ext cx="361172" cy="353896"/>
              </a:xfrm>
              <a:prstGeom prst="round2SameRect">
                <a:avLst/>
              </a:prstGeom>
              <a:gradFill rotWithShape="1">
                <a:gsLst>
                  <a:gs pos="0">
                    <a:srgbClr val="6DAA2D"/>
                  </a:gs>
                  <a:gs pos="100000">
                    <a:srgbClr val="6DAA2D">
                      <a:lumMod val="60000"/>
                      <a:lumOff val="40000"/>
                    </a:srgbClr>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kern="0" dirty="0">
                  <a:solidFill>
                    <a:sysClr val="windowText" lastClr="000000"/>
                  </a:solidFill>
                  <a:ea typeface="微软雅黑" pitchFamily="34" charset="-122"/>
                </a:endParaRPr>
              </a:p>
            </p:txBody>
          </p:sp>
          <p:sp>
            <p:nvSpPr>
              <p:cNvPr id="128" name="AutoShape 10"/>
              <p:cNvSpPr>
                <a:spLocks noChangeArrowheads="1"/>
              </p:cNvSpPr>
              <p:nvPr/>
            </p:nvSpPr>
            <p:spPr bwMode="auto">
              <a:xfrm>
                <a:off x="1985713" y="1196752"/>
                <a:ext cx="353000" cy="18252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gradFill rotWithShape="1">
                <a:gsLst>
                  <a:gs pos="0">
                    <a:srgbClr val="6DAA2D">
                      <a:lumMod val="60000"/>
                      <a:lumOff val="40000"/>
                      <a:alpha val="40000"/>
                    </a:srgbClr>
                  </a:gs>
                  <a:gs pos="100000">
                    <a:srgbClr val="FFFFFF">
                      <a:alpha val="0"/>
                    </a:srgbClr>
                  </a:gs>
                </a:gsLst>
                <a:lin ang="5400000" scaled="1"/>
              </a:gradFill>
              <a:ln>
                <a:noFill/>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kern="0" dirty="0">
                  <a:solidFill>
                    <a:sysClr val="windowText" lastClr="000000"/>
                  </a:solidFill>
                  <a:ea typeface="微软雅黑" pitchFamily="34" charset="-122"/>
                </a:endParaRPr>
              </a:p>
            </p:txBody>
          </p:sp>
        </p:grpSp>
        <p:sp>
          <p:nvSpPr>
            <p:cNvPr id="126" name="TextBox 65"/>
            <p:cNvSpPr txBox="1"/>
            <p:nvPr/>
          </p:nvSpPr>
          <p:spPr>
            <a:xfrm>
              <a:off x="2149487" y="1750637"/>
              <a:ext cx="612688" cy="46166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zh-CN" altLang="en-US" sz="2400" b="1" kern="0" dirty="0">
                  <a:solidFill>
                    <a:sysClr val="window" lastClr="FFFFFF"/>
                  </a:solidFill>
                  <a:latin typeface="微软雅黑" pitchFamily="34" charset="-122"/>
                  <a:ea typeface="微软雅黑" pitchFamily="34" charset="-122"/>
                </a:rPr>
                <a:t>交互性</a:t>
              </a:r>
              <a:r>
                <a:rPr lang="zh-CN" altLang="en-US" b="1" kern="0" dirty="0">
                  <a:solidFill>
                    <a:sysClr val="window" lastClr="FFFFFF"/>
                  </a:solidFill>
                  <a:latin typeface="微软雅黑" pitchFamily="34" charset="-122"/>
                  <a:ea typeface="微软雅黑" pitchFamily="34" charset="-122"/>
                </a:rPr>
                <a:t> </a:t>
              </a:r>
            </a:p>
          </p:txBody>
        </p:sp>
      </p:grpSp>
      <p:grpSp>
        <p:nvGrpSpPr>
          <p:cNvPr id="129" name="文本1"/>
          <p:cNvGrpSpPr/>
          <p:nvPr/>
        </p:nvGrpSpPr>
        <p:grpSpPr>
          <a:xfrm>
            <a:off x="527755" y="5355517"/>
            <a:ext cx="7367144" cy="1441095"/>
            <a:chOff x="1504506" y="2261453"/>
            <a:chExt cx="1875514" cy="1843472"/>
          </a:xfrm>
        </p:grpSpPr>
        <p:sp>
          <p:nvSpPr>
            <p:cNvPr id="130" name="矩形 129"/>
            <p:cNvSpPr/>
            <p:nvPr/>
          </p:nvSpPr>
          <p:spPr>
            <a:xfrm>
              <a:off x="1515026" y="2261453"/>
              <a:ext cx="1864994" cy="1671603"/>
            </a:xfrm>
            <a:prstGeom prst="rect">
              <a:avLst/>
            </a:prstGeom>
            <a:gradFill rotWithShape="1">
              <a:gsLst>
                <a:gs pos="0">
                  <a:srgbClr val="F9F9F9"/>
                </a:gs>
                <a:gs pos="100000">
                  <a:srgbClr val="EAEAEA"/>
                </a:gs>
              </a:gsLst>
              <a:lin ang="5400000" scaled="1"/>
            </a:gradFill>
            <a:ln w="19050">
              <a:solidFill>
                <a:srgbClr val="EAEAEA"/>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6213" lvl="1" indent="-171450">
                <a:lnSpc>
                  <a:spcPct val="150000"/>
                </a:lnSpc>
                <a:buFont typeface="Arial" pitchFamily="34" charset="0"/>
                <a:buChar char="•"/>
              </a:pPr>
              <a:endParaRPr lang="zh-CN" altLang="en-US" sz="1400" dirty="0">
                <a:solidFill>
                  <a:srgbClr val="888888"/>
                </a:solidFill>
                <a:latin typeface="微软雅黑" pitchFamily="34" charset="-122"/>
                <a:ea typeface="微软雅黑" pitchFamily="34" charset="-122"/>
              </a:endParaRPr>
            </a:p>
          </p:txBody>
        </p:sp>
        <p:sp>
          <p:nvSpPr>
            <p:cNvPr id="131" name="AutoShape 20"/>
            <p:cNvSpPr>
              <a:spLocks noChangeArrowheads="1"/>
            </p:cNvSpPr>
            <p:nvPr/>
          </p:nvSpPr>
          <p:spPr bwMode="auto">
            <a:xfrm>
              <a:off x="1504506" y="3933056"/>
              <a:ext cx="1875514" cy="171869"/>
            </a:xfrm>
            <a:custGeom>
              <a:avLst/>
              <a:gdLst>
                <a:gd name="T0" fmla="*/ 856 w 21600"/>
                <a:gd name="T1" fmla="*/ 1 h 21600"/>
                <a:gd name="T2" fmla="*/ 439 w 21600"/>
                <a:gd name="T3" fmla="*/ 2 h 21600"/>
                <a:gd name="T4" fmla="*/ 22 w 21600"/>
                <a:gd name="T5" fmla="*/ 1 h 21600"/>
                <a:gd name="T6" fmla="*/ 439 w 21600"/>
                <a:gd name="T7" fmla="*/ 0 h 21600"/>
                <a:gd name="T8" fmla="*/ 0 60000 65536"/>
                <a:gd name="T9" fmla="*/ 0 60000 65536"/>
                <a:gd name="T10" fmla="*/ 0 60000 65536"/>
                <a:gd name="T11" fmla="*/ 0 60000 65536"/>
                <a:gd name="T12" fmla="*/ 2337 w 21600"/>
                <a:gd name="T13" fmla="*/ 2387 h 21600"/>
                <a:gd name="T14" fmla="*/ 19263 w 21600"/>
                <a:gd name="T15" fmla="*/ 19213 h 21600"/>
              </a:gdLst>
              <a:ahLst/>
              <a:cxnLst>
                <a:cxn ang="T8">
                  <a:pos x="T0" y="T1"/>
                </a:cxn>
                <a:cxn ang="T9">
                  <a:pos x="T2" y="T3"/>
                </a:cxn>
                <a:cxn ang="T10">
                  <a:pos x="T4" y="T5"/>
                </a:cxn>
                <a:cxn ang="T11">
                  <a:pos x="T6" y="T7"/>
                </a:cxn>
              </a:cxnLst>
              <a:rect l="T12" t="T13" r="T14" b="T15"/>
              <a:pathLst>
                <a:path w="21600" h="21600">
                  <a:moveTo>
                    <a:pt x="0" y="0"/>
                  </a:moveTo>
                  <a:lnTo>
                    <a:pt x="1072" y="21600"/>
                  </a:lnTo>
                  <a:lnTo>
                    <a:pt x="20528" y="21600"/>
                  </a:lnTo>
                  <a:lnTo>
                    <a:pt x="21600" y="0"/>
                  </a:lnTo>
                  <a:lnTo>
                    <a:pt x="0" y="0"/>
                  </a:lnTo>
                  <a:close/>
                </a:path>
              </a:pathLst>
            </a:custGeom>
            <a:gradFill rotWithShape="1">
              <a:gsLst>
                <a:gs pos="0">
                  <a:srgbClr val="DDDDDD"/>
                </a:gs>
                <a:gs pos="100000">
                  <a:srgbClr val="FFFFFF">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kern="0" dirty="0">
                <a:solidFill>
                  <a:sysClr val="windowText" lastClr="000000"/>
                </a:solidFill>
                <a:ea typeface="微软雅黑" pitchFamily="34" charset="-122"/>
              </a:endParaRPr>
            </a:p>
          </p:txBody>
        </p:sp>
      </p:grpSp>
      <p:sp>
        <p:nvSpPr>
          <p:cNvPr id="132" name="TextBox 1"/>
          <p:cNvSpPr txBox="1"/>
          <p:nvPr/>
        </p:nvSpPr>
        <p:spPr>
          <a:xfrm>
            <a:off x="457797" y="5371546"/>
            <a:ext cx="7437102" cy="107721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spcBef>
                <a:spcPct val="20000"/>
              </a:spcBef>
              <a:buFontTx/>
              <a:buChar char="–"/>
              <a:defRPr/>
            </a:pPr>
            <a:r>
              <a:rPr lang="zh-CN" altLang="en-US" sz="2000" dirty="0"/>
              <a:t>实时信息处理的交互性仅限于访问系统中某些特定的专用服务程序。</a:t>
            </a:r>
            <a:endParaRPr lang="en-US" altLang="zh-CN" sz="2000" dirty="0"/>
          </a:p>
          <a:p>
            <a:pPr marL="285750" indent="-285750">
              <a:spcBef>
                <a:spcPct val="20000"/>
              </a:spcBef>
              <a:buFontTx/>
              <a:buChar char="–"/>
              <a:defRPr/>
            </a:pPr>
            <a:r>
              <a:rPr lang="en-US" altLang="zh-CN" sz="2000" dirty="0" err="1"/>
              <a:t>分时系统能向终端用户提供数据处理服务、资源共享等服务</a:t>
            </a:r>
            <a:r>
              <a:rPr lang="en-US" altLang="zh-CN" sz="2000" dirty="0"/>
              <a:t>。</a:t>
            </a:r>
            <a:endParaRPr lang="zh-CN" altLang="en-US" sz="2000" b="1" dirty="0">
              <a:solidFill>
                <a:schemeClr val="accent2"/>
              </a:solidFill>
            </a:endParaRPr>
          </a:p>
        </p:txBody>
      </p:sp>
      <p:grpSp>
        <p:nvGrpSpPr>
          <p:cNvPr id="133" name="深色1"/>
          <p:cNvGrpSpPr/>
          <p:nvPr/>
        </p:nvGrpSpPr>
        <p:grpSpPr>
          <a:xfrm>
            <a:off x="8127019" y="4715640"/>
            <a:ext cx="3622922" cy="604800"/>
            <a:chOff x="1516381" y="1647128"/>
            <a:chExt cx="1886034" cy="604800"/>
          </a:xfrm>
        </p:grpSpPr>
        <p:grpSp>
          <p:nvGrpSpPr>
            <p:cNvPr id="134" name="组合 133"/>
            <p:cNvGrpSpPr/>
            <p:nvPr/>
          </p:nvGrpSpPr>
          <p:grpSpPr>
            <a:xfrm>
              <a:off x="1516381" y="1647128"/>
              <a:ext cx="1886034" cy="604800"/>
              <a:chOff x="1985713" y="1196752"/>
              <a:chExt cx="361172" cy="353896"/>
            </a:xfrm>
          </p:grpSpPr>
          <p:sp>
            <p:nvSpPr>
              <p:cNvPr id="136" name="Rectangle 22"/>
              <p:cNvSpPr>
                <a:spLocks noChangeArrowheads="1"/>
              </p:cNvSpPr>
              <p:nvPr/>
            </p:nvSpPr>
            <p:spPr bwMode="auto">
              <a:xfrm>
                <a:off x="1985713" y="1196752"/>
                <a:ext cx="361172" cy="353896"/>
              </a:xfrm>
              <a:prstGeom prst="round2SameRect">
                <a:avLst/>
              </a:prstGeom>
              <a:gradFill rotWithShape="1">
                <a:gsLst>
                  <a:gs pos="0">
                    <a:srgbClr val="6DAA2D"/>
                  </a:gs>
                  <a:gs pos="100000">
                    <a:srgbClr val="6DAA2D">
                      <a:lumMod val="60000"/>
                      <a:lumOff val="40000"/>
                    </a:srgbClr>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kern="0" dirty="0">
                  <a:solidFill>
                    <a:sysClr val="windowText" lastClr="000000"/>
                  </a:solidFill>
                  <a:ea typeface="微软雅黑" pitchFamily="34" charset="-122"/>
                </a:endParaRPr>
              </a:p>
            </p:txBody>
          </p:sp>
          <p:sp>
            <p:nvSpPr>
              <p:cNvPr id="137" name="AutoShape 10"/>
              <p:cNvSpPr>
                <a:spLocks noChangeArrowheads="1"/>
              </p:cNvSpPr>
              <p:nvPr/>
            </p:nvSpPr>
            <p:spPr bwMode="auto">
              <a:xfrm>
                <a:off x="1985713" y="1196752"/>
                <a:ext cx="353000" cy="18252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gradFill rotWithShape="1">
                <a:gsLst>
                  <a:gs pos="0">
                    <a:srgbClr val="6DAA2D">
                      <a:lumMod val="60000"/>
                      <a:lumOff val="40000"/>
                      <a:alpha val="40000"/>
                    </a:srgbClr>
                  </a:gs>
                  <a:gs pos="100000">
                    <a:srgbClr val="FFFFFF">
                      <a:alpha val="0"/>
                    </a:srgbClr>
                  </a:gs>
                </a:gsLst>
                <a:lin ang="5400000" scaled="1"/>
              </a:gradFill>
              <a:ln>
                <a:noFill/>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kern="0" dirty="0">
                  <a:solidFill>
                    <a:sysClr val="windowText" lastClr="000000"/>
                  </a:solidFill>
                  <a:ea typeface="微软雅黑" pitchFamily="34" charset="-122"/>
                </a:endParaRPr>
              </a:p>
            </p:txBody>
          </p:sp>
        </p:grpSp>
        <p:sp>
          <p:nvSpPr>
            <p:cNvPr id="135" name="TextBox 65"/>
            <p:cNvSpPr txBox="1"/>
            <p:nvPr/>
          </p:nvSpPr>
          <p:spPr>
            <a:xfrm>
              <a:off x="2149488" y="1750637"/>
              <a:ext cx="612688" cy="46166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zh-CN" altLang="en-US" sz="2400" b="1" kern="0" dirty="0">
                  <a:solidFill>
                    <a:sysClr val="window" lastClr="FFFFFF"/>
                  </a:solidFill>
                  <a:latin typeface="微软雅黑" pitchFamily="34" charset="-122"/>
                  <a:ea typeface="微软雅黑" pitchFamily="34" charset="-122"/>
                </a:rPr>
                <a:t>可靠性</a:t>
              </a:r>
              <a:r>
                <a:rPr lang="zh-CN" altLang="en-US" b="1" kern="0" dirty="0">
                  <a:solidFill>
                    <a:sysClr val="window" lastClr="FFFFFF"/>
                  </a:solidFill>
                  <a:latin typeface="微软雅黑" pitchFamily="34" charset="-122"/>
                  <a:ea typeface="微软雅黑" pitchFamily="34" charset="-122"/>
                </a:rPr>
                <a:t> </a:t>
              </a:r>
            </a:p>
          </p:txBody>
        </p:sp>
      </p:grpSp>
      <p:grpSp>
        <p:nvGrpSpPr>
          <p:cNvPr id="138" name="文本1"/>
          <p:cNvGrpSpPr/>
          <p:nvPr/>
        </p:nvGrpSpPr>
        <p:grpSpPr>
          <a:xfrm>
            <a:off x="8127016" y="5329964"/>
            <a:ext cx="3611261" cy="1399470"/>
            <a:chOff x="1504506" y="2261453"/>
            <a:chExt cx="1875514" cy="1843472"/>
          </a:xfrm>
        </p:grpSpPr>
        <p:sp>
          <p:nvSpPr>
            <p:cNvPr id="139" name="矩形 138"/>
            <p:cNvSpPr/>
            <p:nvPr/>
          </p:nvSpPr>
          <p:spPr>
            <a:xfrm>
              <a:off x="1515026" y="2261453"/>
              <a:ext cx="1864994" cy="1671603"/>
            </a:xfrm>
            <a:prstGeom prst="rect">
              <a:avLst/>
            </a:prstGeom>
            <a:gradFill rotWithShape="1">
              <a:gsLst>
                <a:gs pos="0">
                  <a:srgbClr val="F9F9F9"/>
                </a:gs>
                <a:gs pos="100000">
                  <a:srgbClr val="EAEAEA"/>
                </a:gs>
              </a:gsLst>
              <a:lin ang="5400000" scaled="1"/>
            </a:gradFill>
            <a:ln w="19050">
              <a:solidFill>
                <a:srgbClr val="EAEAEA"/>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6213" lvl="1" indent="-171450">
                <a:lnSpc>
                  <a:spcPct val="150000"/>
                </a:lnSpc>
                <a:buFont typeface="Arial" pitchFamily="34" charset="0"/>
                <a:buChar char="•"/>
              </a:pPr>
              <a:endParaRPr lang="zh-CN" altLang="en-US" sz="1400" dirty="0">
                <a:solidFill>
                  <a:srgbClr val="888888"/>
                </a:solidFill>
                <a:latin typeface="微软雅黑" pitchFamily="34" charset="-122"/>
                <a:ea typeface="微软雅黑" pitchFamily="34" charset="-122"/>
              </a:endParaRPr>
            </a:p>
          </p:txBody>
        </p:sp>
        <p:sp>
          <p:nvSpPr>
            <p:cNvPr id="140" name="AutoShape 20"/>
            <p:cNvSpPr>
              <a:spLocks noChangeArrowheads="1"/>
            </p:cNvSpPr>
            <p:nvPr/>
          </p:nvSpPr>
          <p:spPr bwMode="auto">
            <a:xfrm>
              <a:off x="1504506" y="3933056"/>
              <a:ext cx="1875514" cy="171869"/>
            </a:xfrm>
            <a:custGeom>
              <a:avLst/>
              <a:gdLst>
                <a:gd name="T0" fmla="*/ 856 w 21600"/>
                <a:gd name="T1" fmla="*/ 1 h 21600"/>
                <a:gd name="T2" fmla="*/ 439 w 21600"/>
                <a:gd name="T3" fmla="*/ 2 h 21600"/>
                <a:gd name="T4" fmla="*/ 22 w 21600"/>
                <a:gd name="T5" fmla="*/ 1 h 21600"/>
                <a:gd name="T6" fmla="*/ 439 w 21600"/>
                <a:gd name="T7" fmla="*/ 0 h 21600"/>
                <a:gd name="T8" fmla="*/ 0 60000 65536"/>
                <a:gd name="T9" fmla="*/ 0 60000 65536"/>
                <a:gd name="T10" fmla="*/ 0 60000 65536"/>
                <a:gd name="T11" fmla="*/ 0 60000 65536"/>
                <a:gd name="T12" fmla="*/ 2337 w 21600"/>
                <a:gd name="T13" fmla="*/ 2387 h 21600"/>
                <a:gd name="T14" fmla="*/ 19263 w 21600"/>
                <a:gd name="T15" fmla="*/ 19213 h 21600"/>
              </a:gdLst>
              <a:ahLst/>
              <a:cxnLst>
                <a:cxn ang="T8">
                  <a:pos x="T0" y="T1"/>
                </a:cxn>
                <a:cxn ang="T9">
                  <a:pos x="T2" y="T3"/>
                </a:cxn>
                <a:cxn ang="T10">
                  <a:pos x="T4" y="T5"/>
                </a:cxn>
                <a:cxn ang="T11">
                  <a:pos x="T6" y="T7"/>
                </a:cxn>
              </a:cxnLst>
              <a:rect l="T12" t="T13" r="T14" b="T15"/>
              <a:pathLst>
                <a:path w="21600" h="21600">
                  <a:moveTo>
                    <a:pt x="0" y="0"/>
                  </a:moveTo>
                  <a:lnTo>
                    <a:pt x="1072" y="21600"/>
                  </a:lnTo>
                  <a:lnTo>
                    <a:pt x="20528" y="21600"/>
                  </a:lnTo>
                  <a:lnTo>
                    <a:pt x="21600" y="0"/>
                  </a:lnTo>
                  <a:lnTo>
                    <a:pt x="0" y="0"/>
                  </a:lnTo>
                  <a:close/>
                </a:path>
              </a:pathLst>
            </a:custGeom>
            <a:gradFill rotWithShape="1">
              <a:gsLst>
                <a:gs pos="0">
                  <a:srgbClr val="DDDDDD"/>
                </a:gs>
                <a:gs pos="100000">
                  <a:srgbClr val="FFFFFF">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kern="0" dirty="0">
                <a:solidFill>
                  <a:sysClr val="windowText" lastClr="000000"/>
                </a:solidFill>
                <a:ea typeface="微软雅黑" pitchFamily="34" charset="-122"/>
              </a:endParaRPr>
            </a:p>
          </p:txBody>
        </p:sp>
      </p:grpSp>
      <p:sp>
        <p:nvSpPr>
          <p:cNvPr id="141" name="TextBox 1"/>
          <p:cNvSpPr txBox="1"/>
          <p:nvPr/>
        </p:nvSpPr>
        <p:spPr>
          <a:xfrm>
            <a:off x="8057059" y="5345993"/>
            <a:ext cx="3692882"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spcBef>
                <a:spcPct val="20000"/>
              </a:spcBef>
              <a:buFontTx/>
              <a:buChar char="–"/>
              <a:defRPr/>
            </a:pPr>
            <a:r>
              <a:rPr lang="zh-CN" altLang="en-US" sz="2000" dirty="0"/>
              <a:t>实时系统要求系统高度可靠</a:t>
            </a:r>
            <a:endParaRPr lang="en-US" altLang="zh-CN" sz="2000" dirty="0"/>
          </a:p>
        </p:txBody>
      </p:sp>
    </p:spTree>
    <p:extLst>
      <p:ext uri="{BB962C8B-B14F-4D97-AF65-F5344CB8AC3E}">
        <p14:creationId xmlns:p14="http://schemas.microsoft.com/office/powerpoint/2010/main" val="9828953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285479" y="1304315"/>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6193529" y="1304315"/>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2" name="文本框 51"/>
          <p:cNvSpPr txBox="1">
            <a:spLocks noChangeArrowheads="1"/>
          </p:cNvSpPr>
          <p:nvPr/>
        </p:nvSpPr>
        <p:spPr bwMode="auto">
          <a:xfrm>
            <a:off x="5139428" y="1567636"/>
            <a:ext cx="6379279"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dirty="0">
                <a:solidFill>
                  <a:srgbClr val="010000"/>
                </a:solidFill>
                <a:latin typeface="Times New Roman" panose="02020603050405020304" pitchFamily="18" charset="0"/>
              </a:rPr>
              <a:t>个人计算机上的操作系统是一种联机的交互式的单用户操作系统。由于是个人专用，因此在多用户和分时所要求的对处理机调度、存储保护方面将会简单的多。然而，由于个人计算机的普及，对于提供更为方便友好的用户接口的要求会愈来愈迫切。随着多媒体技术的引入，要求计算机有一个具有高速数据处理能力的实时多任务操作系统。</a:t>
            </a:r>
            <a:endParaRPr lang="en-US" altLang="zh-CN" sz="2400" dirty="0"/>
          </a:p>
        </p:txBody>
      </p:sp>
      <p:sp>
        <p:nvSpPr>
          <p:cNvPr id="47119" name="文本框 55"/>
          <p:cNvSpPr txBox="1">
            <a:spLocks noChangeArrowheads="1"/>
          </p:cNvSpPr>
          <p:nvPr/>
        </p:nvSpPr>
        <p:spPr bwMode="auto">
          <a:xfrm>
            <a:off x="5139429" y="770915"/>
            <a:ext cx="1920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特点：</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2308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6.</a:t>
            </a:r>
            <a:r>
              <a:rPr lang="zh-CN" altLang="en-US" sz="2400" b="1" dirty="0">
                <a:solidFill>
                  <a:srgbClr val="3D7351"/>
                </a:solidFill>
                <a:latin typeface="微软雅黑" panose="020B0503020204020204" pitchFamily="34" charset="-122"/>
                <a:ea typeface="微软雅黑" panose="020B0503020204020204" pitchFamily="34" charset="-122"/>
              </a:rPr>
              <a:t>个人操作系统</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35D6BC0A-5DDB-ECA3-9325-4A2BA9F59F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9625" y="1370196"/>
            <a:ext cx="2246426" cy="1684820"/>
          </a:xfrm>
          <a:prstGeom prst="rect">
            <a:avLst/>
          </a:prstGeom>
        </p:spPr>
      </p:pic>
      <p:pic>
        <p:nvPicPr>
          <p:cNvPr id="6" name="图片 5">
            <a:extLst>
              <a:ext uri="{FF2B5EF4-FFF2-40B4-BE49-F238E27FC236}">
                <a16:creationId xmlns:a16="http://schemas.microsoft.com/office/drawing/2014/main" id="{800D1A14-C43D-F758-546A-984B27CFD4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40989" y="3091130"/>
            <a:ext cx="3141251" cy="3141251"/>
          </a:xfrm>
          <a:prstGeom prst="rect">
            <a:avLst/>
          </a:prstGeom>
        </p:spPr>
      </p:pic>
    </p:spTree>
    <p:extLst>
      <p:ext uri="{BB962C8B-B14F-4D97-AF65-F5344CB8AC3E}">
        <p14:creationId xmlns:p14="http://schemas.microsoft.com/office/powerpoint/2010/main" val="27816537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1000"/>
                                        <p:tgtEl>
                                          <p:spTgt spid="52"/>
                                        </p:tgtEl>
                                      </p:cBhvr>
                                    </p:animEffect>
                                    <p:anim calcmode="lin" valueType="num">
                                      <p:cBhvr>
                                        <p:cTn id="8" dur="1000" fill="hold"/>
                                        <p:tgtEl>
                                          <p:spTgt spid="52"/>
                                        </p:tgtEl>
                                        <p:attrNameLst>
                                          <p:attrName>ppt_x</p:attrName>
                                        </p:attrNameLst>
                                      </p:cBhvr>
                                      <p:tavLst>
                                        <p:tav tm="0">
                                          <p:val>
                                            <p:strVal val="#ppt_x"/>
                                          </p:val>
                                        </p:tav>
                                        <p:tav tm="100000">
                                          <p:val>
                                            <p:strVal val="#ppt_x"/>
                                          </p:val>
                                        </p:tav>
                                      </p:tavLst>
                                    </p:anim>
                                    <p:anim calcmode="lin" valueType="num">
                                      <p:cBhvr>
                                        <p:cTn id="9"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cxnSp>
        <p:nvCxnSpPr>
          <p:cNvPr id="5" name="直接连接符 4"/>
          <p:cNvCxnSpPr/>
          <p:nvPr/>
        </p:nvCxnSpPr>
        <p:spPr>
          <a:xfrm>
            <a:off x="0" y="2365269"/>
            <a:ext cx="12192000" cy="0"/>
          </a:xfrm>
          <a:prstGeom prst="line">
            <a:avLst/>
          </a:prstGeom>
          <a:ln w="107950">
            <a:solidFill>
              <a:srgbClr val="00913A"/>
            </a:solidFill>
          </a:ln>
        </p:spPr>
        <p:style>
          <a:lnRef idx="1">
            <a:schemeClr val="accent1"/>
          </a:lnRef>
          <a:fillRef idx="0">
            <a:schemeClr val="accent1"/>
          </a:fillRef>
          <a:effectRef idx="0">
            <a:schemeClr val="accent1"/>
          </a:effectRef>
          <a:fontRef idx="minor">
            <a:schemeClr val="tx1"/>
          </a:fontRef>
        </p:style>
      </p:cxnSp>
      <p:sp>
        <p:nvSpPr>
          <p:cNvPr id="6" name="Freeform 17"/>
          <p:cNvSpPr>
            <a:spLocks noEditPoints="1" noChangeArrowheads="1"/>
          </p:cNvSpPr>
          <p:nvPr/>
        </p:nvSpPr>
        <p:spPr bwMode="auto">
          <a:xfrm>
            <a:off x="1604963" y="1300057"/>
            <a:ext cx="769937" cy="1006475"/>
          </a:xfrm>
          <a:custGeom>
            <a:avLst/>
            <a:gdLst>
              <a:gd name="T0" fmla="*/ 31 w 62"/>
              <a:gd name="T1" fmla="*/ 0 h 90"/>
              <a:gd name="T2" fmla="*/ 53 w 62"/>
              <a:gd name="T3" fmla="*/ 9 h 90"/>
              <a:gd name="T4" fmla="*/ 62 w 62"/>
              <a:gd name="T5" fmla="*/ 30 h 90"/>
              <a:gd name="T6" fmla="*/ 53 w 62"/>
              <a:gd name="T7" fmla="*/ 52 h 90"/>
              <a:gd name="T8" fmla="*/ 32 w 62"/>
              <a:gd name="T9" fmla="*/ 90 h 90"/>
              <a:gd name="T10" fmla="*/ 9 w 62"/>
              <a:gd name="T11" fmla="*/ 52 h 90"/>
              <a:gd name="T12" fmla="*/ 0 w 62"/>
              <a:gd name="T13" fmla="*/ 30 h 90"/>
              <a:gd name="T14" fmla="*/ 9 w 62"/>
              <a:gd name="T15" fmla="*/ 9 h 90"/>
              <a:gd name="T16" fmla="*/ 31 w 62"/>
              <a:gd name="T17" fmla="*/ 0 h 90"/>
              <a:gd name="T18" fmla="*/ 44 w 62"/>
              <a:gd name="T19" fmla="*/ 18 h 90"/>
              <a:gd name="T20" fmla="*/ 31 w 62"/>
              <a:gd name="T21" fmla="*/ 12 h 90"/>
              <a:gd name="T22" fmla="*/ 18 w 62"/>
              <a:gd name="T23" fmla="*/ 18 h 90"/>
              <a:gd name="T24" fmla="*/ 13 w 62"/>
              <a:gd name="T25" fmla="*/ 30 h 90"/>
              <a:gd name="T26" fmla="*/ 18 w 62"/>
              <a:gd name="T27" fmla="*/ 43 h 90"/>
              <a:gd name="T28" fmla="*/ 31 w 62"/>
              <a:gd name="T29" fmla="*/ 49 h 90"/>
              <a:gd name="T30" fmla="*/ 44 w 62"/>
              <a:gd name="T31" fmla="*/ 43 h 90"/>
              <a:gd name="T32" fmla="*/ 49 w 62"/>
              <a:gd name="T33" fmla="*/ 30 h 90"/>
              <a:gd name="T34" fmla="*/ 44 w 62"/>
              <a:gd name="T35" fmla="*/ 1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 h="90">
                <a:moveTo>
                  <a:pt x="31" y="0"/>
                </a:moveTo>
                <a:cubicBezTo>
                  <a:pt x="39" y="0"/>
                  <a:pt x="47" y="3"/>
                  <a:pt x="53" y="9"/>
                </a:cubicBezTo>
                <a:cubicBezTo>
                  <a:pt x="58" y="14"/>
                  <a:pt x="62" y="22"/>
                  <a:pt x="62" y="30"/>
                </a:cubicBezTo>
                <a:cubicBezTo>
                  <a:pt x="62" y="39"/>
                  <a:pt x="58" y="47"/>
                  <a:pt x="53" y="52"/>
                </a:cubicBezTo>
                <a:cubicBezTo>
                  <a:pt x="32" y="90"/>
                  <a:pt x="32" y="90"/>
                  <a:pt x="32" y="90"/>
                </a:cubicBezTo>
                <a:cubicBezTo>
                  <a:pt x="32" y="90"/>
                  <a:pt x="15" y="62"/>
                  <a:pt x="9" y="52"/>
                </a:cubicBezTo>
                <a:cubicBezTo>
                  <a:pt x="3" y="46"/>
                  <a:pt x="0" y="39"/>
                  <a:pt x="0" y="30"/>
                </a:cubicBezTo>
                <a:cubicBezTo>
                  <a:pt x="0" y="22"/>
                  <a:pt x="4" y="14"/>
                  <a:pt x="9" y="9"/>
                </a:cubicBezTo>
                <a:cubicBezTo>
                  <a:pt x="15" y="3"/>
                  <a:pt x="22" y="0"/>
                  <a:pt x="31" y="0"/>
                </a:cubicBezTo>
                <a:close/>
                <a:moveTo>
                  <a:pt x="44" y="18"/>
                </a:moveTo>
                <a:cubicBezTo>
                  <a:pt x="40" y="14"/>
                  <a:pt x="36" y="12"/>
                  <a:pt x="31" y="12"/>
                </a:cubicBezTo>
                <a:cubicBezTo>
                  <a:pt x="26" y="12"/>
                  <a:pt x="21" y="14"/>
                  <a:pt x="18" y="18"/>
                </a:cubicBezTo>
                <a:cubicBezTo>
                  <a:pt x="15" y="21"/>
                  <a:pt x="13" y="25"/>
                  <a:pt x="13" y="30"/>
                </a:cubicBezTo>
                <a:cubicBezTo>
                  <a:pt x="13" y="35"/>
                  <a:pt x="15" y="40"/>
                  <a:pt x="18" y="43"/>
                </a:cubicBezTo>
                <a:cubicBezTo>
                  <a:pt x="21" y="47"/>
                  <a:pt x="26" y="49"/>
                  <a:pt x="31" y="49"/>
                </a:cubicBezTo>
                <a:cubicBezTo>
                  <a:pt x="36" y="49"/>
                  <a:pt x="40" y="47"/>
                  <a:pt x="44" y="43"/>
                </a:cubicBezTo>
                <a:cubicBezTo>
                  <a:pt x="47" y="40"/>
                  <a:pt x="49" y="35"/>
                  <a:pt x="49" y="30"/>
                </a:cubicBezTo>
                <a:cubicBezTo>
                  <a:pt x="49" y="25"/>
                  <a:pt x="47" y="21"/>
                  <a:pt x="44" y="18"/>
                </a:cubicBezTo>
                <a:close/>
              </a:path>
            </a:pathLst>
          </a:custGeom>
          <a:solidFill>
            <a:srgbClr val="19751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7"/>
          <p:cNvSpPr>
            <a:spLocks noEditPoints="1" noChangeArrowheads="1"/>
          </p:cNvSpPr>
          <p:nvPr/>
        </p:nvSpPr>
        <p:spPr bwMode="auto">
          <a:xfrm>
            <a:off x="4846638" y="1300057"/>
            <a:ext cx="771525" cy="1006475"/>
          </a:xfrm>
          <a:custGeom>
            <a:avLst/>
            <a:gdLst>
              <a:gd name="T0" fmla="*/ 31 w 62"/>
              <a:gd name="T1" fmla="*/ 0 h 90"/>
              <a:gd name="T2" fmla="*/ 53 w 62"/>
              <a:gd name="T3" fmla="*/ 9 h 90"/>
              <a:gd name="T4" fmla="*/ 62 w 62"/>
              <a:gd name="T5" fmla="*/ 30 h 90"/>
              <a:gd name="T6" fmla="*/ 53 w 62"/>
              <a:gd name="T7" fmla="*/ 52 h 90"/>
              <a:gd name="T8" fmla="*/ 32 w 62"/>
              <a:gd name="T9" fmla="*/ 90 h 90"/>
              <a:gd name="T10" fmla="*/ 9 w 62"/>
              <a:gd name="T11" fmla="*/ 52 h 90"/>
              <a:gd name="T12" fmla="*/ 0 w 62"/>
              <a:gd name="T13" fmla="*/ 30 h 90"/>
              <a:gd name="T14" fmla="*/ 9 w 62"/>
              <a:gd name="T15" fmla="*/ 9 h 90"/>
              <a:gd name="T16" fmla="*/ 31 w 62"/>
              <a:gd name="T17" fmla="*/ 0 h 90"/>
              <a:gd name="T18" fmla="*/ 44 w 62"/>
              <a:gd name="T19" fmla="*/ 18 h 90"/>
              <a:gd name="T20" fmla="*/ 31 w 62"/>
              <a:gd name="T21" fmla="*/ 12 h 90"/>
              <a:gd name="T22" fmla="*/ 18 w 62"/>
              <a:gd name="T23" fmla="*/ 18 h 90"/>
              <a:gd name="T24" fmla="*/ 13 w 62"/>
              <a:gd name="T25" fmla="*/ 30 h 90"/>
              <a:gd name="T26" fmla="*/ 18 w 62"/>
              <a:gd name="T27" fmla="*/ 43 h 90"/>
              <a:gd name="T28" fmla="*/ 31 w 62"/>
              <a:gd name="T29" fmla="*/ 49 h 90"/>
              <a:gd name="T30" fmla="*/ 44 w 62"/>
              <a:gd name="T31" fmla="*/ 43 h 90"/>
              <a:gd name="T32" fmla="*/ 49 w 62"/>
              <a:gd name="T33" fmla="*/ 30 h 90"/>
              <a:gd name="T34" fmla="*/ 44 w 62"/>
              <a:gd name="T35" fmla="*/ 1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 h="90">
                <a:moveTo>
                  <a:pt x="31" y="0"/>
                </a:moveTo>
                <a:cubicBezTo>
                  <a:pt x="39" y="0"/>
                  <a:pt x="47" y="3"/>
                  <a:pt x="53" y="9"/>
                </a:cubicBezTo>
                <a:cubicBezTo>
                  <a:pt x="58" y="14"/>
                  <a:pt x="62" y="22"/>
                  <a:pt x="62" y="30"/>
                </a:cubicBezTo>
                <a:cubicBezTo>
                  <a:pt x="62" y="39"/>
                  <a:pt x="58" y="47"/>
                  <a:pt x="53" y="52"/>
                </a:cubicBezTo>
                <a:cubicBezTo>
                  <a:pt x="32" y="90"/>
                  <a:pt x="32" y="90"/>
                  <a:pt x="32" y="90"/>
                </a:cubicBezTo>
                <a:cubicBezTo>
                  <a:pt x="32" y="90"/>
                  <a:pt x="15" y="62"/>
                  <a:pt x="9" y="52"/>
                </a:cubicBezTo>
                <a:cubicBezTo>
                  <a:pt x="3" y="46"/>
                  <a:pt x="0" y="39"/>
                  <a:pt x="0" y="30"/>
                </a:cubicBezTo>
                <a:cubicBezTo>
                  <a:pt x="0" y="22"/>
                  <a:pt x="4" y="14"/>
                  <a:pt x="9" y="9"/>
                </a:cubicBezTo>
                <a:cubicBezTo>
                  <a:pt x="15" y="3"/>
                  <a:pt x="22" y="0"/>
                  <a:pt x="31" y="0"/>
                </a:cubicBezTo>
                <a:close/>
                <a:moveTo>
                  <a:pt x="44" y="18"/>
                </a:moveTo>
                <a:cubicBezTo>
                  <a:pt x="40" y="14"/>
                  <a:pt x="36" y="12"/>
                  <a:pt x="31" y="12"/>
                </a:cubicBezTo>
                <a:cubicBezTo>
                  <a:pt x="26" y="12"/>
                  <a:pt x="21" y="14"/>
                  <a:pt x="18" y="18"/>
                </a:cubicBezTo>
                <a:cubicBezTo>
                  <a:pt x="15" y="21"/>
                  <a:pt x="13" y="25"/>
                  <a:pt x="13" y="30"/>
                </a:cubicBezTo>
                <a:cubicBezTo>
                  <a:pt x="13" y="35"/>
                  <a:pt x="15" y="40"/>
                  <a:pt x="18" y="43"/>
                </a:cubicBezTo>
                <a:cubicBezTo>
                  <a:pt x="21" y="47"/>
                  <a:pt x="26" y="49"/>
                  <a:pt x="31" y="49"/>
                </a:cubicBezTo>
                <a:cubicBezTo>
                  <a:pt x="36" y="49"/>
                  <a:pt x="40" y="47"/>
                  <a:pt x="44" y="43"/>
                </a:cubicBezTo>
                <a:cubicBezTo>
                  <a:pt x="47" y="40"/>
                  <a:pt x="49" y="35"/>
                  <a:pt x="49" y="30"/>
                </a:cubicBezTo>
                <a:cubicBezTo>
                  <a:pt x="49" y="25"/>
                  <a:pt x="47" y="21"/>
                  <a:pt x="44" y="18"/>
                </a:cubicBezTo>
                <a:close/>
              </a:path>
            </a:pathLst>
          </a:custGeom>
          <a:solidFill>
            <a:srgbClr val="19751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7"/>
          <p:cNvSpPr>
            <a:spLocks noEditPoints="1" noChangeArrowheads="1"/>
          </p:cNvSpPr>
          <p:nvPr/>
        </p:nvSpPr>
        <p:spPr bwMode="auto">
          <a:xfrm>
            <a:off x="8089900" y="1300057"/>
            <a:ext cx="771525" cy="1006475"/>
          </a:xfrm>
          <a:custGeom>
            <a:avLst/>
            <a:gdLst>
              <a:gd name="T0" fmla="*/ 31 w 62"/>
              <a:gd name="T1" fmla="*/ 0 h 90"/>
              <a:gd name="T2" fmla="*/ 53 w 62"/>
              <a:gd name="T3" fmla="*/ 9 h 90"/>
              <a:gd name="T4" fmla="*/ 62 w 62"/>
              <a:gd name="T5" fmla="*/ 30 h 90"/>
              <a:gd name="T6" fmla="*/ 53 w 62"/>
              <a:gd name="T7" fmla="*/ 52 h 90"/>
              <a:gd name="T8" fmla="*/ 32 w 62"/>
              <a:gd name="T9" fmla="*/ 90 h 90"/>
              <a:gd name="T10" fmla="*/ 9 w 62"/>
              <a:gd name="T11" fmla="*/ 52 h 90"/>
              <a:gd name="T12" fmla="*/ 0 w 62"/>
              <a:gd name="T13" fmla="*/ 30 h 90"/>
              <a:gd name="T14" fmla="*/ 9 w 62"/>
              <a:gd name="T15" fmla="*/ 9 h 90"/>
              <a:gd name="T16" fmla="*/ 31 w 62"/>
              <a:gd name="T17" fmla="*/ 0 h 90"/>
              <a:gd name="T18" fmla="*/ 44 w 62"/>
              <a:gd name="T19" fmla="*/ 18 h 90"/>
              <a:gd name="T20" fmla="*/ 31 w 62"/>
              <a:gd name="T21" fmla="*/ 12 h 90"/>
              <a:gd name="T22" fmla="*/ 18 w 62"/>
              <a:gd name="T23" fmla="*/ 18 h 90"/>
              <a:gd name="T24" fmla="*/ 13 w 62"/>
              <a:gd name="T25" fmla="*/ 30 h 90"/>
              <a:gd name="T26" fmla="*/ 18 w 62"/>
              <a:gd name="T27" fmla="*/ 43 h 90"/>
              <a:gd name="T28" fmla="*/ 31 w 62"/>
              <a:gd name="T29" fmla="*/ 49 h 90"/>
              <a:gd name="T30" fmla="*/ 44 w 62"/>
              <a:gd name="T31" fmla="*/ 43 h 90"/>
              <a:gd name="T32" fmla="*/ 49 w 62"/>
              <a:gd name="T33" fmla="*/ 30 h 90"/>
              <a:gd name="T34" fmla="*/ 44 w 62"/>
              <a:gd name="T35" fmla="*/ 1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 h="90">
                <a:moveTo>
                  <a:pt x="31" y="0"/>
                </a:moveTo>
                <a:cubicBezTo>
                  <a:pt x="39" y="0"/>
                  <a:pt x="47" y="3"/>
                  <a:pt x="53" y="9"/>
                </a:cubicBezTo>
                <a:cubicBezTo>
                  <a:pt x="58" y="14"/>
                  <a:pt x="62" y="22"/>
                  <a:pt x="62" y="30"/>
                </a:cubicBezTo>
                <a:cubicBezTo>
                  <a:pt x="62" y="39"/>
                  <a:pt x="58" y="47"/>
                  <a:pt x="53" y="52"/>
                </a:cubicBezTo>
                <a:cubicBezTo>
                  <a:pt x="32" y="90"/>
                  <a:pt x="32" y="90"/>
                  <a:pt x="32" y="90"/>
                </a:cubicBezTo>
                <a:cubicBezTo>
                  <a:pt x="32" y="90"/>
                  <a:pt x="15" y="62"/>
                  <a:pt x="9" y="52"/>
                </a:cubicBezTo>
                <a:cubicBezTo>
                  <a:pt x="3" y="46"/>
                  <a:pt x="0" y="39"/>
                  <a:pt x="0" y="30"/>
                </a:cubicBezTo>
                <a:cubicBezTo>
                  <a:pt x="0" y="22"/>
                  <a:pt x="4" y="14"/>
                  <a:pt x="9" y="9"/>
                </a:cubicBezTo>
                <a:cubicBezTo>
                  <a:pt x="15" y="3"/>
                  <a:pt x="22" y="0"/>
                  <a:pt x="31" y="0"/>
                </a:cubicBezTo>
                <a:close/>
                <a:moveTo>
                  <a:pt x="44" y="18"/>
                </a:moveTo>
                <a:cubicBezTo>
                  <a:pt x="40" y="14"/>
                  <a:pt x="36" y="12"/>
                  <a:pt x="31" y="12"/>
                </a:cubicBezTo>
                <a:cubicBezTo>
                  <a:pt x="26" y="12"/>
                  <a:pt x="21" y="14"/>
                  <a:pt x="18" y="18"/>
                </a:cubicBezTo>
                <a:cubicBezTo>
                  <a:pt x="15" y="21"/>
                  <a:pt x="13" y="25"/>
                  <a:pt x="13" y="30"/>
                </a:cubicBezTo>
                <a:cubicBezTo>
                  <a:pt x="13" y="35"/>
                  <a:pt x="15" y="40"/>
                  <a:pt x="18" y="43"/>
                </a:cubicBezTo>
                <a:cubicBezTo>
                  <a:pt x="21" y="47"/>
                  <a:pt x="26" y="49"/>
                  <a:pt x="31" y="49"/>
                </a:cubicBezTo>
                <a:cubicBezTo>
                  <a:pt x="36" y="49"/>
                  <a:pt x="40" y="47"/>
                  <a:pt x="44" y="43"/>
                </a:cubicBezTo>
                <a:cubicBezTo>
                  <a:pt x="47" y="40"/>
                  <a:pt x="49" y="35"/>
                  <a:pt x="49" y="30"/>
                </a:cubicBezTo>
                <a:cubicBezTo>
                  <a:pt x="49" y="25"/>
                  <a:pt x="47" y="21"/>
                  <a:pt x="44" y="18"/>
                </a:cubicBezTo>
                <a:close/>
              </a:path>
            </a:pathLst>
          </a:custGeom>
          <a:solidFill>
            <a:srgbClr val="19751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六边形 26"/>
          <p:cNvSpPr>
            <a:spLocks noChangeArrowheads="1"/>
          </p:cNvSpPr>
          <p:nvPr/>
        </p:nvSpPr>
        <p:spPr bwMode="auto">
          <a:xfrm rot="5400000">
            <a:off x="3446463" y="2222394"/>
            <a:ext cx="330200" cy="285750"/>
          </a:xfrm>
          <a:prstGeom prst="hexagon">
            <a:avLst>
              <a:gd name="adj" fmla="val 24903"/>
              <a:gd name="vf" fmla="val 115470"/>
            </a:avLst>
          </a:prstGeom>
          <a:solidFill>
            <a:srgbClr val="19751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en-US"/>
          </a:p>
        </p:txBody>
      </p:sp>
      <p:sp>
        <p:nvSpPr>
          <p:cNvPr id="30" name="文本框 29"/>
          <p:cNvSpPr txBox="1">
            <a:spLocks noChangeArrowheads="1"/>
          </p:cNvSpPr>
          <p:nvPr/>
        </p:nvSpPr>
        <p:spPr bwMode="auto">
          <a:xfrm>
            <a:off x="2849563" y="1400069"/>
            <a:ext cx="15224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3600" b="1" i="1" dirty="0">
                <a:solidFill>
                  <a:srgbClr val="197519"/>
                </a:solidFill>
              </a:rPr>
              <a:t>1980</a:t>
            </a:r>
            <a:endParaRPr lang="zh-CN" altLang="en-US" sz="3600" b="1" i="1" dirty="0">
              <a:solidFill>
                <a:srgbClr val="197519"/>
              </a:solidFill>
              <a:ea typeface="方正粗倩简体" pitchFamily="65" charset="-122"/>
            </a:endParaRPr>
          </a:p>
        </p:txBody>
      </p:sp>
      <p:sp>
        <p:nvSpPr>
          <p:cNvPr id="28" name="六边形 27"/>
          <p:cNvSpPr>
            <a:spLocks noChangeArrowheads="1"/>
          </p:cNvSpPr>
          <p:nvPr/>
        </p:nvSpPr>
        <p:spPr bwMode="auto">
          <a:xfrm rot="5400000">
            <a:off x="6689725" y="2222394"/>
            <a:ext cx="330200" cy="285750"/>
          </a:xfrm>
          <a:prstGeom prst="hexagon">
            <a:avLst>
              <a:gd name="adj" fmla="val 24903"/>
              <a:gd name="vf" fmla="val 115470"/>
            </a:avLst>
          </a:prstGeom>
          <a:solidFill>
            <a:srgbClr val="19751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en-US"/>
          </a:p>
        </p:txBody>
      </p:sp>
      <p:sp>
        <p:nvSpPr>
          <p:cNvPr id="31" name="文本框 30"/>
          <p:cNvSpPr txBox="1">
            <a:spLocks noChangeArrowheads="1"/>
          </p:cNvSpPr>
          <p:nvPr/>
        </p:nvSpPr>
        <p:spPr bwMode="auto">
          <a:xfrm>
            <a:off x="6092825" y="1393719"/>
            <a:ext cx="15224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3600" b="1" i="1" dirty="0">
                <a:solidFill>
                  <a:srgbClr val="197519"/>
                </a:solidFill>
              </a:rPr>
              <a:t>1985</a:t>
            </a:r>
            <a:endParaRPr lang="zh-CN" altLang="en-US" sz="3600" b="1" i="1" dirty="0">
              <a:solidFill>
                <a:srgbClr val="197519"/>
              </a:solidFill>
              <a:ea typeface="方正粗倩简体" pitchFamily="65" charset="-122"/>
            </a:endParaRPr>
          </a:p>
        </p:txBody>
      </p:sp>
      <p:sp>
        <p:nvSpPr>
          <p:cNvPr id="29" name="六边形 28"/>
          <p:cNvSpPr>
            <a:spLocks noChangeArrowheads="1"/>
          </p:cNvSpPr>
          <p:nvPr/>
        </p:nvSpPr>
        <p:spPr bwMode="auto">
          <a:xfrm rot="5400000">
            <a:off x="9931400" y="2222394"/>
            <a:ext cx="330200" cy="285750"/>
          </a:xfrm>
          <a:prstGeom prst="hexagon">
            <a:avLst>
              <a:gd name="adj" fmla="val 24903"/>
              <a:gd name="vf" fmla="val 115470"/>
            </a:avLst>
          </a:prstGeom>
          <a:solidFill>
            <a:srgbClr val="19751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en-US"/>
          </a:p>
        </p:txBody>
      </p:sp>
      <p:sp>
        <p:nvSpPr>
          <p:cNvPr id="32" name="文本框 31"/>
          <p:cNvSpPr txBox="1">
            <a:spLocks noChangeArrowheads="1"/>
          </p:cNvSpPr>
          <p:nvPr/>
        </p:nvSpPr>
        <p:spPr bwMode="auto">
          <a:xfrm>
            <a:off x="9336088" y="1393719"/>
            <a:ext cx="15224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3600" b="1" i="1" dirty="0">
                <a:solidFill>
                  <a:srgbClr val="197519"/>
                </a:solidFill>
              </a:rPr>
              <a:t>1980</a:t>
            </a:r>
            <a:endParaRPr lang="zh-CN" altLang="en-US" sz="3600" b="1" i="1" dirty="0">
              <a:solidFill>
                <a:srgbClr val="197519"/>
              </a:solidFill>
              <a:ea typeface="方正粗倩简体" pitchFamily="65" charset="-122"/>
            </a:endParaRPr>
          </a:p>
        </p:txBody>
      </p:sp>
      <p:sp>
        <p:nvSpPr>
          <p:cNvPr id="62" name="矩形 61"/>
          <p:cNvSpPr>
            <a:spLocks noChangeArrowheads="1"/>
          </p:cNvSpPr>
          <p:nvPr/>
        </p:nvSpPr>
        <p:spPr bwMode="auto">
          <a:xfrm>
            <a:off x="2565400" y="3284974"/>
            <a:ext cx="26670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sz="2000" dirty="0">
                <a:solidFill>
                  <a:srgbClr val="404040"/>
                </a:solidFill>
              </a:rPr>
              <a:t>只允许一个用户上机，且只允许用户程序作为一个任务运行。最简单的微机操作系统：配置在</a:t>
            </a:r>
            <a:r>
              <a:rPr lang="en-US" altLang="zh-CN" sz="2000" dirty="0">
                <a:solidFill>
                  <a:srgbClr val="404040"/>
                </a:solidFill>
              </a:rPr>
              <a:t>8</a:t>
            </a:r>
            <a:r>
              <a:rPr lang="zh-CN" altLang="en-US" sz="2000" dirty="0">
                <a:solidFill>
                  <a:srgbClr val="404040"/>
                </a:solidFill>
              </a:rPr>
              <a:t>位与</a:t>
            </a:r>
            <a:r>
              <a:rPr lang="en-US" altLang="zh-CN" sz="2000" dirty="0">
                <a:solidFill>
                  <a:srgbClr val="404040"/>
                </a:solidFill>
              </a:rPr>
              <a:t>16</a:t>
            </a:r>
            <a:r>
              <a:rPr lang="zh-CN" altLang="en-US" sz="2000" dirty="0">
                <a:solidFill>
                  <a:srgbClr val="404040"/>
                </a:solidFill>
              </a:rPr>
              <a:t>位微机上</a:t>
            </a:r>
          </a:p>
        </p:txBody>
      </p:sp>
      <p:sp>
        <p:nvSpPr>
          <p:cNvPr id="72" name="矩形 71"/>
          <p:cNvSpPr>
            <a:spLocks noChangeArrowheads="1"/>
          </p:cNvSpPr>
          <p:nvPr/>
        </p:nvSpPr>
        <p:spPr bwMode="auto">
          <a:xfrm>
            <a:off x="8861426" y="3257678"/>
            <a:ext cx="2812256"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sz="2000" dirty="0"/>
              <a:t>允许多个用户通过各自的终端使用同一台机器，共享主机系统中的各种资源；每个用户程序又进程又可进一步分为几个任务并发执行。</a:t>
            </a:r>
          </a:p>
          <a:p>
            <a:pPr>
              <a:lnSpc>
                <a:spcPct val="120000"/>
              </a:lnSpc>
            </a:pPr>
            <a:r>
              <a:rPr lang="zh-CN" altLang="en-US" sz="2000" dirty="0"/>
              <a:t>配置在大、中和小型机上。</a:t>
            </a:r>
          </a:p>
        </p:txBody>
      </p:sp>
      <p:sp>
        <p:nvSpPr>
          <p:cNvPr id="3" name="矩形 2"/>
          <p:cNvSpPr>
            <a:spLocks noChangeArrowheads="1"/>
          </p:cNvSpPr>
          <p:nvPr/>
        </p:nvSpPr>
        <p:spPr bwMode="auto">
          <a:xfrm>
            <a:off x="2591091" y="2601101"/>
            <a:ext cx="204094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125000"/>
              </a:lnSpc>
            </a:pPr>
            <a:r>
              <a:rPr lang="zh-CN" altLang="en-US" sz="2400" b="1" dirty="0">
                <a:solidFill>
                  <a:srgbClr val="197519"/>
                </a:solidFill>
              </a:rPr>
              <a:t>单用户单任务</a:t>
            </a:r>
            <a:endParaRPr lang="en-US" altLang="zh-CN" sz="2400" b="1" dirty="0">
              <a:solidFill>
                <a:srgbClr val="197519"/>
              </a:solidFill>
            </a:endParaRPr>
          </a:p>
        </p:txBody>
      </p:sp>
      <p:sp>
        <p:nvSpPr>
          <p:cNvPr id="4" name="矩形 3"/>
          <p:cNvSpPr>
            <a:spLocks noChangeArrowheads="1"/>
          </p:cNvSpPr>
          <p:nvPr/>
        </p:nvSpPr>
        <p:spPr bwMode="auto">
          <a:xfrm>
            <a:off x="5860044" y="2601101"/>
            <a:ext cx="2040944" cy="490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125000"/>
              </a:lnSpc>
            </a:pPr>
            <a:r>
              <a:rPr lang="zh-CN" altLang="en-US" sz="2400" b="1" dirty="0">
                <a:solidFill>
                  <a:srgbClr val="197519"/>
                </a:solidFill>
              </a:rPr>
              <a:t>单用户多任务</a:t>
            </a:r>
            <a:endParaRPr lang="en-US" altLang="zh-CN" sz="2400" b="1" dirty="0">
              <a:solidFill>
                <a:srgbClr val="197519"/>
              </a:solidFill>
            </a:endParaRPr>
          </a:p>
        </p:txBody>
      </p:sp>
      <p:sp>
        <p:nvSpPr>
          <p:cNvPr id="7" name="矩形 6"/>
          <p:cNvSpPr>
            <a:spLocks noChangeArrowheads="1"/>
          </p:cNvSpPr>
          <p:nvPr/>
        </p:nvSpPr>
        <p:spPr bwMode="auto">
          <a:xfrm>
            <a:off x="9098391" y="2569044"/>
            <a:ext cx="204094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125000"/>
              </a:lnSpc>
            </a:pPr>
            <a:r>
              <a:rPr lang="zh-CN" altLang="en-US" sz="2400" b="1" dirty="0">
                <a:solidFill>
                  <a:srgbClr val="197519"/>
                </a:solidFill>
              </a:rPr>
              <a:t>多用户多任务</a:t>
            </a:r>
            <a:endParaRPr lang="en-US" altLang="zh-CN" sz="2400" b="1" dirty="0">
              <a:solidFill>
                <a:srgbClr val="197519"/>
              </a:solidFill>
            </a:endParaRPr>
          </a:p>
        </p:txBody>
      </p:sp>
      <p:sp>
        <p:nvSpPr>
          <p:cNvPr id="64" name="矩形 63"/>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65" name="组合 64"/>
          <p:cNvGrpSpPr/>
          <p:nvPr/>
        </p:nvGrpSpPr>
        <p:grpSpPr>
          <a:xfrm>
            <a:off x="245745" y="213360"/>
            <a:ext cx="563880" cy="563880"/>
            <a:chOff x="276225" y="213360"/>
            <a:chExt cx="563880" cy="563880"/>
          </a:xfrm>
          <a:solidFill>
            <a:srgbClr val="3D7351"/>
          </a:solidFill>
        </p:grpSpPr>
        <p:sp>
          <p:nvSpPr>
            <p:cNvPr id="66" name="矩形 65"/>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67" name="椭圆 66"/>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68" name="文本框 25"/>
          <p:cNvSpPr txBox="1">
            <a:spLocks noChangeArrowheads="1"/>
          </p:cNvSpPr>
          <p:nvPr/>
        </p:nvSpPr>
        <p:spPr bwMode="auto">
          <a:xfrm>
            <a:off x="902970" y="212725"/>
            <a:ext cx="2954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3D7351"/>
                </a:solidFill>
                <a:latin typeface="微软雅黑" panose="020B0503020204020204" pitchFamily="34" charset="-122"/>
                <a:ea typeface="微软雅黑" panose="020B0503020204020204" pitchFamily="34" charset="-122"/>
              </a:rPr>
              <a:t>个人操作系统的发展</a:t>
            </a:r>
          </a:p>
        </p:txBody>
      </p:sp>
      <p:sp>
        <p:nvSpPr>
          <p:cNvPr id="69"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pic>
        <p:nvPicPr>
          <p:cNvPr id="70" name="img-fit" descr="f35ea0094e85fa1b6a60fb02"/>
          <p:cNvPicPr>
            <a:picLocks noChangeAspect="1" noChangeArrowheads="1"/>
          </p:cNvPicPr>
          <p:nvPr/>
        </p:nvPicPr>
        <p:blipFill>
          <a:blip r:embed="rId2" cstate="print">
            <a:extLst>
              <a:ext uri="{28A0092B-C50C-407E-A947-70E740481C1C}">
                <a14:useLocalDpi xmlns:a14="http://schemas.microsoft.com/office/drawing/2010/main" val="0"/>
              </a:ext>
            </a:extLst>
          </a:blip>
          <a:srcRect l="12093" r="12093"/>
          <a:stretch>
            <a:fillRect/>
          </a:stretch>
        </p:blipFill>
        <p:spPr bwMode="auto">
          <a:xfrm>
            <a:off x="1312307" y="2447573"/>
            <a:ext cx="1253093" cy="12839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78" name="Picture 7" descr="5387673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905" y="4166601"/>
            <a:ext cx="2366557" cy="2358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 name="矩形 78"/>
          <p:cNvSpPr>
            <a:spLocks noChangeArrowheads="1"/>
          </p:cNvSpPr>
          <p:nvPr/>
        </p:nvSpPr>
        <p:spPr bwMode="auto">
          <a:xfrm>
            <a:off x="5422900" y="3273589"/>
            <a:ext cx="2667000" cy="1520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sz="2000" dirty="0"/>
              <a:t>只允许一个用户上机，但允许用户把程序分为若干个任务，使它们并发执行。</a:t>
            </a:r>
          </a:p>
        </p:txBody>
      </p:sp>
      <p:pic>
        <p:nvPicPr>
          <p:cNvPr id="104" name="Picture 7" descr="8c511fe9bb52c46fb80e2d8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4871" y="148642"/>
            <a:ext cx="1659493" cy="1245077"/>
          </a:xfrm>
          <a:prstGeom prst="rect">
            <a:avLst/>
          </a:prstGeom>
          <a:noFill/>
          <a:extLst>
            <a:ext uri="{909E8E84-426E-40DD-AFC4-6F175D3DCCD1}">
              <a14:hiddenFill xmlns:a14="http://schemas.microsoft.com/office/drawing/2010/main">
                <a:solidFill>
                  <a:srgbClr val="FFFFFF"/>
                </a:solidFill>
              </a14:hiddenFill>
            </a:ext>
          </a:extLst>
        </p:spPr>
      </p:pic>
      <p:grpSp>
        <p:nvGrpSpPr>
          <p:cNvPr id="105" name="Group 19"/>
          <p:cNvGrpSpPr>
            <a:grpSpLocks/>
          </p:cNvGrpSpPr>
          <p:nvPr/>
        </p:nvGrpSpPr>
        <p:grpSpPr bwMode="auto">
          <a:xfrm>
            <a:off x="2681579" y="2278547"/>
            <a:ext cx="8820150" cy="4321175"/>
            <a:chOff x="0" y="1155"/>
            <a:chExt cx="5556" cy="2722"/>
          </a:xfrm>
        </p:grpSpPr>
        <p:sp>
          <p:nvSpPr>
            <p:cNvPr id="106" name="AutoShape 4"/>
            <p:cNvSpPr>
              <a:spLocks noChangeArrowheads="1"/>
            </p:cNvSpPr>
            <p:nvPr/>
          </p:nvSpPr>
          <p:spPr bwMode="auto">
            <a:xfrm>
              <a:off x="0" y="1155"/>
              <a:ext cx="5534" cy="2722"/>
            </a:xfrm>
            <a:prstGeom prst="roundRect">
              <a:avLst>
                <a:gd name="adj" fmla="val 3968"/>
              </a:avLst>
            </a:prstGeom>
            <a:solidFill>
              <a:srgbClr val="FFCC99"/>
            </a:solidFill>
            <a:ln w="158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07" name="Picture 7" descr="从Windows 1.0到Vista启动画面回顾"/>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5" y="1267"/>
              <a:ext cx="1270" cy="8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08" name="Picture 8" descr="从Windows 1.0到Vista启动画面回顾"/>
            <p:cNvPicPr>
              <a:picLocks noChangeAspect="1" noChangeArrowheads="1"/>
            </p:cNvPicPr>
            <p:nvPr/>
          </p:nvPicPr>
          <p:blipFill>
            <a:blip r:embed="rId6" cstate="print">
              <a:extLst>
                <a:ext uri="{28A0092B-C50C-407E-A947-70E740481C1C}">
                  <a14:useLocalDpi xmlns:a14="http://schemas.microsoft.com/office/drawing/2010/main" val="0"/>
                </a:ext>
              </a:extLst>
            </a:blip>
            <a:srcRect b="6816"/>
            <a:stretch>
              <a:fillRect/>
            </a:stretch>
          </p:blipFill>
          <p:spPr bwMode="auto">
            <a:xfrm>
              <a:off x="1746" y="1288"/>
              <a:ext cx="1089" cy="8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09" name="Picture 9" descr="37316941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061" y="1306"/>
              <a:ext cx="1134" cy="85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10" name="Picture 10" descr="Windows-98"/>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377" y="1352"/>
              <a:ext cx="1111" cy="83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11" name="Picture 11" descr="S10080218"/>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95" y="2638"/>
              <a:ext cx="1225" cy="86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12" name="Picture 12" descr="从Windows 1.0到Vista启动画面回顾"/>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701" y="2614"/>
              <a:ext cx="1134" cy="851"/>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13" name="Picture 13" descr="200812291341428177801"/>
            <p:cNvPicPr>
              <a:picLocks noChangeAspect="1" noChangeArrowheads="1"/>
            </p:cNvPicPr>
            <p:nvPr/>
          </p:nvPicPr>
          <p:blipFill>
            <a:blip r:embed="rId11" cstate="print">
              <a:extLst>
                <a:ext uri="{28A0092B-C50C-407E-A947-70E740481C1C}">
                  <a14:useLocalDpi xmlns:a14="http://schemas.microsoft.com/office/drawing/2010/main" val="0"/>
                </a:ext>
              </a:extLst>
            </a:blip>
            <a:srcRect l="22670" t="22591" r="20715" b="19603"/>
            <a:stretch>
              <a:fillRect/>
            </a:stretch>
          </p:blipFill>
          <p:spPr bwMode="auto">
            <a:xfrm>
              <a:off x="3061" y="2611"/>
              <a:ext cx="1134" cy="87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14" name="Picture 14" descr="3392042_009269"/>
            <p:cNvPicPr>
              <a:picLocks noChangeAspect="1" noChangeArrowheads="1"/>
            </p:cNvPicPr>
            <p:nvPr/>
          </p:nvPicPr>
          <p:blipFill>
            <a:blip r:embed="rId12" cstate="print">
              <a:extLst>
                <a:ext uri="{28A0092B-C50C-407E-A947-70E740481C1C}">
                  <a14:useLocalDpi xmlns:a14="http://schemas.microsoft.com/office/drawing/2010/main" val="0"/>
                </a:ext>
              </a:extLst>
            </a:blip>
            <a:srcRect l="24200" t="24393" r="27444" b="25681"/>
            <a:stretch>
              <a:fillRect/>
            </a:stretch>
          </p:blipFill>
          <p:spPr bwMode="auto">
            <a:xfrm>
              <a:off x="4377" y="2583"/>
              <a:ext cx="1134" cy="877"/>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15" name="Text Box 15"/>
            <p:cNvSpPr txBox="1">
              <a:spLocks noChangeArrowheads="1"/>
            </p:cNvSpPr>
            <p:nvPr/>
          </p:nvSpPr>
          <p:spPr bwMode="auto">
            <a:xfrm>
              <a:off x="431" y="2230"/>
              <a:ext cx="503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dirty="0">
                  <a:solidFill>
                    <a:srgbClr val="660066"/>
                  </a:solidFill>
                  <a:latin typeface="Times New Roman" pitchFamily="18" charset="0"/>
                </a:rPr>
                <a:t>Window 1.0              Windows 3.1           Windows 95             Windows 98</a:t>
              </a:r>
            </a:p>
          </p:txBody>
        </p:sp>
        <p:sp>
          <p:nvSpPr>
            <p:cNvPr id="116" name="Text Box 16"/>
            <p:cNvSpPr txBox="1">
              <a:spLocks noChangeArrowheads="1"/>
            </p:cNvSpPr>
            <p:nvPr/>
          </p:nvSpPr>
          <p:spPr bwMode="auto">
            <a:xfrm>
              <a:off x="386" y="3521"/>
              <a:ext cx="517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000" b="1">
                  <a:solidFill>
                    <a:srgbClr val="660066"/>
                  </a:solidFill>
                  <a:latin typeface="Times New Roman" pitchFamily="18" charset="0"/>
                </a:rPr>
                <a:t>Window 2000           Windows XP          Windows Vista           Windows 7</a:t>
              </a:r>
            </a:p>
          </p:txBody>
        </p:sp>
      </p:grpSp>
    </p:spTree>
    <p:extLst>
      <p:ext uri="{BB962C8B-B14F-4D97-AF65-F5344CB8AC3E}">
        <p14:creationId xmlns:p14="http://schemas.microsoft.com/office/powerpoint/2010/main" val="89382553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500"/>
                                        <p:tgtEl>
                                          <p:spTgt spid="5"/>
                                        </p:tgtEl>
                                      </p:cBhvr>
                                    </p:animEffect>
                                  </p:childTnLst>
                                </p:cTn>
                              </p:par>
                              <p:par>
                                <p:cTn id="8" presetID="23" presetClass="entr" presetSubtype="16"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p:cTn id="10" dur="500" fill="hold"/>
                                        <p:tgtEl>
                                          <p:spTgt spid="6"/>
                                        </p:tgtEl>
                                        <p:attrNameLst>
                                          <p:attrName>ppt_w</p:attrName>
                                        </p:attrNameLst>
                                      </p:cBhvr>
                                      <p:tavLst>
                                        <p:tav tm="0">
                                          <p:val>
                                            <p:fltVal val="0"/>
                                          </p:val>
                                        </p:tav>
                                        <p:tav tm="100000">
                                          <p:val>
                                            <p:strVal val="#ppt_w"/>
                                          </p:val>
                                        </p:tav>
                                      </p:tavLst>
                                    </p:anim>
                                    <p:anim calcmode="lin" valueType="num">
                                      <p:cBhvr>
                                        <p:cTn id="11" dur="500" fill="hold"/>
                                        <p:tgtEl>
                                          <p:spTgt spid="6"/>
                                        </p:tgtEl>
                                        <p:attrNameLst>
                                          <p:attrName>ppt_h</p:attrName>
                                        </p:attrNameLst>
                                      </p:cBhvr>
                                      <p:tavLst>
                                        <p:tav tm="0">
                                          <p:val>
                                            <p:fltVal val="0"/>
                                          </p:val>
                                        </p:tav>
                                        <p:tav tm="100000">
                                          <p:val>
                                            <p:strVal val="#ppt_h"/>
                                          </p:val>
                                        </p:tav>
                                      </p:tavLst>
                                    </p:anim>
                                  </p:childTnLst>
                                </p:cTn>
                              </p:par>
                              <p:par>
                                <p:cTn id="12" presetID="23" presetClass="entr" presetSubtype="16" fill="hold" grpId="0" nodeType="withEffect">
                                  <p:stCondLst>
                                    <p:cond delay="500"/>
                                  </p:stCondLst>
                                  <p:childTnLst>
                                    <p:set>
                                      <p:cBhvr>
                                        <p:cTn id="13" dur="1" fill="hold">
                                          <p:stCondLst>
                                            <p:cond delay="0"/>
                                          </p:stCondLst>
                                        </p:cTn>
                                        <p:tgtEl>
                                          <p:spTgt spid="27"/>
                                        </p:tgtEl>
                                        <p:attrNameLst>
                                          <p:attrName>style.visibility</p:attrName>
                                        </p:attrNameLst>
                                      </p:cBhvr>
                                      <p:to>
                                        <p:strVal val="visible"/>
                                      </p:to>
                                    </p:set>
                                    <p:anim calcmode="lin" valueType="num">
                                      <p:cBhvr>
                                        <p:cTn id="14" dur="500" fill="hold"/>
                                        <p:tgtEl>
                                          <p:spTgt spid="27"/>
                                        </p:tgtEl>
                                        <p:attrNameLst>
                                          <p:attrName>ppt_w</p:attrName>
                                        </p:attrNameLst>
                                      </p:cBhvr>
                                      <p:tavLst>
                                        <p:tav tm="0">
                                          <p:val>
                                            <p:fltVal val="0"/>
                                          </p:val>
                                        </p:tav>
                                        <p:tav tm="100000">
                                          <p:val>
                                            <p:strVal val="#ppt_w"/>
                                          </p:val>
                                        </p:tav>
                                      </p:tavLst>
                                    </p:anim>
                                    <p:anim calcmode="lin" valueType="num">
                                      <p:cBhvr>
                                        <p:cTn id="15" dur="500" fill="hold"/>
                                        <p:tgtEl>
                                          <p:spTgt spid="27"/>
                                        </p:tgtEl>
                                        <p:attrNameLst>
                                          <p:attrName>ppt_h</p:attrName>
                                        </p:attrNameLst>
                                      </p:cBhvr>
                                      <p:tavLst>
                                        <p:tav tm="0">
                                          <p:val>
                                            <p:fltVal val="0"/>
                                          </p:val>
                                        </p:tav>
                                        <p:tav tm="100000">
                                          <p:val>
                                            <p:strVal val="#ppt_h"/>
                                          </p:val>
                                        </p:tav>
                                      </p:tavLst>
                                    </p:anim>
                                  </p:childTnLst>
                                </p:cTn>
                              </p:par>
                              <p:par>
                                <p:cTn id="16" presetID="41" presetClass="entr" presetSubtype="0" fill="hold" grpId="0" nodeType="withEffect">
                                  <p:stCondLst>
                                    <p:cond delay="900"/>
                                  </p:stCondLst>
                                  <p:iterate type="lt">
                                    <p:tmPct val="5000"/>
                                  </p:iterate>
                                  <p:childTnLst>
                                    <p:set>
                                      <p:cBhvr>
                                        <p:cTn id="17" dur="1" fill="hold">
                                          <p:stCondLst>
                                            <p:cond delay="0"/>
                                          </p:stCondLst>
                                        </p:cTn>
                                        <p:tgtEl>
                                          <p:spTgt spid="30"/>
                                        </p:tgtEl>
                                        <p:attrNameLst>
                                          <p:attrName>style.visibility</p:attrName>
                                        </p:attrNameLst>
                                      </p:cBhvr>
                                      <p:to>
                                        <p:strVal val="visible"/>
                                      </p:to>
                                    </p:set>
                                    <p:anim calcmode="lin" valueType="num">
                                      <p:cBhvr>
                                        <p:cTn id="18" dur="400" fill="hold"/>
                                        <p:tgtEl>
                                          <p:spTgt spid="30"/>
                                        </p:tgtEl>
                                        <p:attrNameLst>
                                          <p:attrName>ppt_x</p:attrName>
                                        </p:attrNameLst>
                                      </p:cBhvr>
                                      <p:tavLst>
                                        <p:tav tm="0">
                                          <p:val>
                                            <p:strVal val="#ppt_x"/>
                                          </p:val>
                                        </p:tav>
                                        <p:tav tm="50000">
                                          <p:val>
                                            <p:strVal val="#ppt_x+.1"/>
                                          </p:val>
                                        </p:tav>
                                        <p:tav tm="100000">
                                          <p:val>
                                            <p:strVal val="#ppt_x"/>
                                          </p:val>
                                        </p:tav>
                                      </p:tavLst>
                                    </p:anim>
                                    <p:anim calcmode="lin" valueType="num">
                                      <p:cBhvr>
                                        <p:cTn id="19" dur="400" fill="hold"/>
                                        <p:tgtEl>
                                          <p:spTgt spid="30"/>
                                        </p:tgtEl>
                                        <p:attrNameLst>
                                          <p:attrName>ppt_y</p:attrName>
                                        </p:attrNameLst>
                                      </p:cBhvr>
                                      <p:tavLst>
                                        <p:tav tm="0">
                                          <p:val>
                                            <p:strVal val="#ppt_y"/>
                                          </p:val>
                                        </p:tav>
                                        <p:tav tm="100000">
                                          <p:val>
                                            <p:strVal val="#ppt_y"/>
                                          </p:val>
                                        </p:tav>
                                      </p:tavLst>
                                    </p:anim>
                                    <p:anim calcmode="lin" valueType="num">
                                      <p:cBhvr>
                                        <p:cTn id="20" dur="400" fill="hold"/>
                                        <p:tgtEl>
                                          <p:spTgt spid="30"/>
                                        </p:tgtEl>
                                        <p:attrNameLst>
                                          <p:attrName>ppt_h</p:attrName>
                                        </p:attrNameLst>
                                      </p:cBhvr>
                                      <p:tavLst>
                                        <p:tav tm="0">
                                          <p:val>
                                            <p:strVal val="#ppt_h/10"/>
                                          </p:val>
                                        </p:tav>
                                        <p:tav tm="50000">
                                          <p:val>
                                            <p:strVal val="#ppt_h+.01"/>
                                          </p:val>
                                        </p:tav>
                                        <p:tav tm="100000">
                                          <p:val>
                                            <p:strVal val="#ppt_h"/>
                                          </p:val>
                                        </p:tav>
                                      </p:tavLst>
                                    </p:anim>
                                    <p:anim calcmode="lin" valueType="num">
                                      <p:cBhvr>
                                        <p:cTn id="21" dur="400" fill="hold"/>
                                        <p:tgtEl>
                                          <p:spTgt spid="30"/>
                                        </p:tgtEl>
                                        <p:attrNameLst>
                                          <p:attrName>ppt_w</p:attrName>
                                        </p:attrNameLst>
                                      </p:cBhvr>
                                      <p:tavLst>
                                        <p:tav tm="0">
                                          <p:val>
                                            <p:strVal val="#ppt_w/10"/>
                                          </p:val>
                                        </p:tav>
                                        <p:tav tm="50000">
                                          <p:val>
                                            <p:strVal val="#ppt_w+.01"/>
                                          </p:val>
                                        </p:tav>
                                        <p:tav tm="100000">
                                          <p:val>
                                            <p:strVal val="#ppt_w"/>
                                          </p:val>
                                        </p:tav>
                                      </p:tavLst>
                                    </p:anim>
                                    <p:animEffect transition="in" filter="fade">
                                      <p:cBhvr>
                                        <p:cTn id="22" dur="400" tmFilter="0,0; .5, 1; 1, 1"/>
                                        <p:tgtEl>
                                          <p:spTgt spid="30"/>
                                        </p:tgtEl>
                                      </p:cBhvr>
                                    </p:animEffect>
                                  </p:childTnLst>
                                </p:cTn>
                              </p:par>
                              <p:par>
                                <p:cTn id="23" presetID="23" presetClass="entr" presetSubtype="16" fill="hold" grpId="0" nodeType="withEffect">
                                  <p:stCondLst>
                                    <p:cond delay="1400"/>
                                  </p:stCondLst>
                                  <p:childTnLst>
                                    <p:set>
                                      <p:cBhvr>
                                        <p:cTn id="24" dur="1" fill="hold">
                                          <p:stCondLst>
                                            <p:cond delay="0"/>
                                          </p:stCondLst>
                                        </p:cTn>
                                        <p:tgtEl>
                                          <p:spTgt spid="8"/>
                                        </p:tgtEl>
                                        <p:attrNameLst>
                                          <p:attrName>style.visibility</p:attrName>
                                        </p:attrNameLst>
                                      </p:cBhvr>
                                      <p:to>
                                        <p:strVal val="visible"/>
                                      </p:to>
                                    </p:set>
                                    <p:anim calcmode="lin" valueType="num">
                                      <p:cBhvr>
                                        <p:cTn id="25" dur="500" fill="hold"/>
                                        <p:tgtEl>
                                          <p:spTgt spid="8"/>
                                        </p:tgtEl>
                                        <p:attrNameLst>
                                          <p:attrName>ppt_w</p:attrName>
                                        </p:attrNameLst>
                                      </p:cBhvr>
                                      <p:tavLst>
                                        <p:tav tm="0">
                                          <p:val>
                                            <p:fltVal val="0"/>
                                          </p:val>
                                        </p:tav>
                                        <p:tav tm="100000">
                                          <p:val>
                                            <p:strVal val="#ppt_w"/>
                                          </p:val>
                                        </p:tav>
                                      </p:tavLst>
                                    </p:anim>
                                    <p:anim calcmode="lin" valueType="num">
                                      <p:cBhvr>
                                        <p:cTn id="26" dur="500" fill="hold"/>
                                        <p:tgtEl>
                                          <p:spTgt spid="8"/>
                                        </p:tgtEl>
                                        <p:attrNameLst>
                                          <p:attrName>ppt_h</p:attrName>
                                        </p:attrNameLst>
                                      </p:cBhvr>
                                      <p:tavLst>
                                        <p:tav tm="0">
                                          <p:val>
                                            <p:fltVal val="0"/>
                                          </p:val>
                                        </p:tav>
                                        <p:tav tm="100000">
                                          <p:val>
                                            <p:strVal val="#ppt_h"/>
                                          </p:val>
                                        </p:tav>
                                      </p:tavLst>
                                    </p:anim>
                                  </p:childTnLst>
                                </p:cTn>
                              </p:par>
                              <p:par>
                                <p:cTn id="27" presetID="23" presetClass="entr" presetSubtype="16" fill="hold" grpId="0" nodeType="withEffect">
                                  <p:stCondLst>
                                    <p:cond delay="1800"/>
                                  </p:stCondLst>
                                  <p:childTnLst>
                                    <p:set>
                                      <p:cBhvr>
                                        <p:cTn id="28" dur="1" fill="hold">
                                          <p:stCondLst>
                                            <p:cond delay="0"/>
                                          </p:stCondLst>
                                        </p:cTn>
                                        <p:tgtEl>
                                          <p:spTgt spid="28"/>
                                        </p:tgtEl>
                                        <p:attrNameLst>
                                          <p:attrName>style.visibility</p:attrName>
                                        </p:attrNameLst>
                                      </p:cBhvr>
                                      <p:to>
                                        <p:strVal val="visible"/>
                                      </p:to>
                                    </p:set>
                                    <p:anim calcmode="lin" valueType="num">
                                      <p:cBhvr>
                                        <p:cTn id="29" dur="500" fill="hold"/>
                                        <p:tgtEl>
                                          <p:spTgt spid="28"/>
                                        </p:tgtEl>
                                        <p:attrNameLst>
                                          <p:attrName>ppt_w</p:attrName>
                                        </p:attrNameLst>
                                      </p:cBhvr>
                                      <p:tavLst>
                                        <p:tav tm="0">
                                          <p:val>
                                            <p:fltVal val="0"/>
                                          </p:val>
                                        </p:tav>
                                        <p:tav tm="100000">
                                          <p:val>
                                            <p:strVal val="#ppt_w"/>
                                          </p:val>
                                        </p:tav>
                                      </p:tavLst>
                                    </p:anim>
                                    <p:anim calcmode="lin" valueType="num">
                                      <p:cBhvr>
                                        <p:cTn id="30" dur="500" fill="hold"/>
                                        <p:tgtEl>
                                          <p:spTgt spid="28"/>
                                        </p:tgtEl>
                                        <p:attrNameLst>
                                          <p:attrName>ppt_h</p:attrName>
                                        </p:attrNameLst>
                                      </p:cBhvr>
                                      <p:tavLst>
                                        <p:tav tm="0">
                                          <p:val>
                                            <p:fltVal val="0"/>
                                          </p:val>
                                        </p:tav>
                                        <p:tav tm="100000">
                                          <p:val>
                                            <p:strVal val="#ppt_h"/>
                                          </p:val>
                                        </p:tav>
                                      </p:tavLst>
                                    </p:anim>
                                  </p:childTnLst>
                                </p:cTn>
                              </p:par>
                              <p:par>
                                <p:cTn id="31" presetID="41" presetClass="entr" presetSubtype="0" fill="hold" grpId="0" nodeType="withEffect">
                                  <p:stCondLst>
                                    <p:cond delay="2200"/>
                                  </p:stCondLst>
                                  <p:iterate type="lt">
                                    <p:tmPct val="5000"/>
                                  </p:iterate>
                                  <p:childTnLst>
                                    <p:set>
                                      <p:cBhvr>
                                        <p:cTn id="32" dur="1" fill="hold">
                                          <p:stCondLst>
                                            <p:cond delay="0"/>
                                          </p:stCondLst>
                                        </p:cTn>
                                        <p:tgtEl>
                                          <p:spTgt spid="31"/>
                                        </p:tgtEl>
                                        <p:attrNameLst>
                                          <p:attrName>style.visibility</p:attrName>
                                        </p:attrNameLst>
                                      </p:cBhvr>
                                      <p:to>
                                        <p:strVal val="visible"/>
                                      </p:to>
                                    </p:set>
                                    <p:anim calcmode="lin" valueType="num">
                                      <p:cBhvr>
                                        <p:cTn id="33" dur="400" fill="hold"/>
                                        <p:tgtEl>
                                          <p:spTgt spid="31"/>
                                        </p:tgtEl>
                                        <p:attrNameLst>
                                          <p:attrName>ppt_x</p:attrName>
                                        </p:attrNameLst>
                                      </p:cBhvr>
                                      <p:tavLst>
                                        <p:tav tm="0">
                                          <p:val>
                                            <p:strVal val="#ppt_x"/>
                                          </p:val>
                                        </p:tav>
                                        <p:tav tm="50000">
                                          <p:val>
                                            <p:strVal val="#ppt_x+.1"/>
                                          </p:val>
                                        </p:tav>
                                        <p:tav tm="100000">
                                          <p:val>
                                            <p:strVal val="#ppt_x"/>
                                          </p:val>
                                        </p:tav>
                                      </p:tavLst>
                                    </p:anim>
                                    <p:anim calcmode="lin" valueType="num">
                                      <p:cBhvr>
                                        <p:cTn id="34" dur="400" fill="hold"/>
                                        <p:tgtEl>
                                          <p:spTgt spid="31"/>
                                        </p:tgtEl>
                                        <p:attrNameLst>
                                          <p:attrName>ppt_y</p:attrName>
                                        </p:attrNameLst>
                                      </p:cBhvr>
                                      <p:tavLst>
                                        <p:tav tm="0">
                                          <p:val>
                                            <p:strVal val="#ppt_y"/>
                                          </p:val>
                                        </p:tav>
                                        <p:tav tm="100000">
                                          <p:val>
                                            <p:strVal val="#ppt_y"/>
                                          </p:val>
                                        </p:tav>
                                      </p:tavLst>
                                    </p:anim>
                                    <p:anim calcmode="lin" valueType="num">
                                      <p:cBhvr>
                                        <p:cTn id="35" dur="400" fill="hold"/>
                                        <p:tgtEl>
                                          <p:spTgt spid="31"/>
                                        </p:tgtEl>
                                        <p:attrNameLst>
                                          <p:attrName>ppt_h</p:attrName>
                                        </p:attrNameLst>
                                      </p:cBhvr>
                                      <p:tavLst>
                                        <p:tav tm="0">
                                          <p:val>
                                            <p:strVal val="#ppt_h/10"/>
                                          </p:val>
                                        </p:tav>
                                        <p:tav tm="50000">
                                          <p:val>
                                            <p:strVal val="#ppt_h+.01"/>
                                          </p:val>
                                        </p:tav>
                                        <p:tav tm="100000">
                                          <p:val>
                                            <p:strVal val="#ppt_h"/>
                                          </p:val>
                                        </p:tav>
                                      </p:tavLst>
                                    </p:anim>
                                    <p:anim calcmode="lin" valueType="num">
                                      <p:cBhvr>
                                        <p:cTn id="36" dur="400" fill="hold"/>
                                        <p:tgtEl>
                                          <p:spTgt spid="31"/>
                                        </p:tgtEl>
                                        <p:attrNameLst>
                                          <p:attrName>ppt_w</p:attrName>
                                        </p:attrNameLst>
                                      </p:cBhvr>
                                      <p:tavLst>
                                        <p:tav tm="0">
                                          <p:val>
                                            <p:strVal val="#ppt_w/10"/>
                                          </p:val>
                                        </p:tav>
                                        <p:tav tm="50000">
                                          <p:val>
                                            <p:strVal val="#ppt_w+.01"/>
                                          </p:val>
                                        </p:tav>
                                        <p:tav tm="100000">
                                          <p:val>
                                            <p:strVal val="#ppt_w"/>
                                          </p:val>
                                        </p:tav>
                                      </p:tavLst>
                                    </p:anim>
                                    <p:animEffect transition="in" filter="fade">
                                      <p:cBhvr>
                                        <p:cTn id="37" dur="400" tmFilter="0,0; .5, 1; 1, 1"/>
                                        <p:tgtEl>
                                          <p:spTgt spid="31"/>
                                        </p:tgtEl>
                                      </p:cBhvr>
                                    </p:animEffect>
                                  </p:childTnLst>
                                </p:cTn>
                              </p:par>
                              <p:par>
                                <p:cTn id="38" presetID="23" presetClass="entr" presetSubtype="16" fill="hold" grpId="0" nodeType="withEffect">
                                  <p:stCondLst>
                                    <p:cond delay="2600"/>
                                  </p:stCondLst>
                                  <p:childTnLst>
                                    <p:set>
                                      <p:cBhvr>
                                        <p:cTn id="39" dur="1" fill="hold">
                                          <p:stCondLst>
                                            <p:cond delay="0"/>
                                          </p:stCondLst>
                                        </p:cTn>
                                        <p:tgtEl>
                                          <p:spTgt spid="10"/>
                                        </p:tgtEl>
                                        <p:attrNameLst>
                                          <p:attrName>style.visibility</p:attrName>
                                        </p:attrNameLst>
                                      </p:cBhvr>
                                      <p:to>
                                        <p:strVal val="visible"/>
                                      </p:to>
                                    </p:set>
                                    <p:anim calcmode="lin" valueType="num">
                                      <p:cBhvr>
                                        <p:cTn id="40" dur="500" fill="hold"/>
                                        <p:tgtEl>
                                          <p:spTgt spid="10"/>
                                        </p:tgtEl>
                                        <p:attrNameLst>
                                          <p:attrName>ppt_w</p:attrName>
                                        </p:attrNameLst>
                                      </p:cBhvr>
                                      <p:tavLst>
                                        <p:tav tm="0">
                                          <p:val>
                                            <p:fltVal val="0"/>
                                          </p:val>
                                        </p:tav>
                                        <p:tav tm="100000">
                                          <p:val>
                                            <p:strVal val="#ppt_w"/>
                                          </p:val>
                                        </p:tav>
                                      </p:tavLst>
                                    </p:anim>
                                    <p:anim calcmode="lin" valueType="num">
                                      <p:cBhvr>
                                        <p:cTn id="41" dur="500" fill="hold"/>
                                        <p:tgtEl>
                                          <p:spTgt spid="10"/>
                                        </p:tgtEl>
                                        <p:attrNameLst>
                                          <p:attrName>ppt_h</p:attrName>
                                        </p:attrNameLst>
                                      </p:cBhvr>
                                      <p:tavLst>
                                        <p:tav tm="0">
                                          <p:val>
                                            <p:fltVal val="0"/>
                                          </p:val>
                                        </p:tav>
                                        <p:tav tm="100000">
                                          <p:val>
                                            <p:strVal val="#ppt_h"/>
                                          </p:val>
                                        </p:tav>
                                      </p:tavLst>
                                    </p:anim>
                                  </p:childTnLst>
                                </p:cTn>
                              </p:par>
                              <p:par>
                                <p:cTn id="42" presetID="23" presetClass="entr" presetSubtype="16" fill="hold" grpId="0" nodeType="withEffect">
                                  <p:stCondLst>
                                    <p:cond delay="3000"/>
                                  </p:stCondLst>
                                  <p:childTnLst>
                                    <p:set>
                                      <p:cBhvr>
                                        <p:cTn id="43" dur="1" fill="hold">
                                          <p:stCondLst>
                                            <p:cond delay="0"/>
                                          </p:stCondLst>
                                        </p:cTn>
                                        <p:tgtEl>
                                          <p:spTgt spid="29"/>
                                        </p:tgtEl>
                                        <p:attrNameLst>
                                          <p:attrName>style.visibility</p:attrName>
                                        </p:attrNameLst>
                                      </p:cBhvr>
                                      <p:to>
                                        <p:strVal val="visible"/>
                                      </p:to>
                                    </p:set>
                                    <p:anim calcmode="lin" valueType="num">
                                      <p:cBhvr>
                                        <p:cTn id="44" dur="500" fill="hold"/>
                                        <p:tgtEl>
                                          <p:spTgt spid="29"/>
                                        </p:tgtEl>
                                        <p:attrNameLst>
                                          <p:attrName>ppt_w</p:attrName>
                                        </p:attrNameLst>
                                      </p:cBhvr>
                                      <p:tavLst>
                                        <p:tav tm="0">
                                          <p:val>
                                            <p:fltVal val="0"/>
                                          </p:val>
                                        </p:tav>
                                        <p:tav tm="100000">
                                          <p:val>
                                            <p:strVal val="#ppt_w"/>
                                          </p:val>
                                        </p:tav>
                                      </p:tavLst>
                                    </p:anim>
                                    <p:anim calcmode="lin" valueType="num">
                                      <p:cBhvr>
                                        <p:cTn id="45" dur="500" fill="hold"/>
                                        <p:tgtEl>
                                          <p:spTgt spid="29"/>
                                        </p:tgtEl>
                                        <p:attrNameLst>
                                          <p:attrName>ppt_h</p:attrName>
                                        </p:attrNameLst>
                                      </p:cBhvr>
                                      <p:tavLst>
                                        <p:tav tm="0">
                                          <p:val>
                                            <p:fltVal val="0"/>
                                          </p:val>
                                        </p:tav>
                                        <p:tav tm="100000">
                                          <p:val>
                                            <p:strVal val="#ppt_h"/>
                                          </p:val>
                                        </p:tav>
                                      </p:tavLst>
                                    </p:anim>
                                  </p:childTnLst>
                                </p:cTn>
                              </p:par>
                              <p:par>
                                <p:cTn id="46" presetID="41" presetClass="entr" presetSubtype="0" fill="hold" grpId="0" nodeType="withEffect">
                                  <p:stCondLst>
                                    <p:cond delay="3400"/>
                                  </p:stCondLst>
                                  <p:iterate type="lt">
                                    <p:tmPct val="5000"/>
                                  </p:iterate>
                                  <p:childTnLst>
                                    <p:set>
                                      <p:cBhvr>
                                        <p:cTn id="47" dur="1" fill="hold">
                                          <p:stCondLst>
                                            <p:cond delay="0"/>
                                          </p:stCondLst>
                                        </p:cTn>
                                        <p:tgtEl>
                                          <p:spTgt spid="32"/>
                                        </p:tgtEl>
                                        <p:attrNameLst>
                                          <p:attrName>style.visibility</p:attrName>
                                        </p:attrNameLst>
                                      </p:cBhvr>
                                      <p:to>
                                        <p:strVal val="visible"/>
                                      </p:to>
                                    </p:set>
                                    <p:anim calcmode="lin" valueType="num">
                                      <p:cBhvr>
                                        <p:cTn id="48" dur="400" fill="hold"/>
                                        <p:tgtEl>
                                          <p:spTgt spid="32"/>
                                        </p:tgtEl>
                                        <p:attrNameLst>
                                          <p:attrName>ppt_x</p:attrName>
                                        </p:attrNameLst>
                                      </p:cBhvr>
                                      <p:tavLst>
                                        <p:tav tm="0">
                                          <p:val>
                                            <p:strVal val="#ppt_x"/>
                                          </p:val>
                                        </p:tav>
                                        <p:tav tm="50000">
                                          <p:val>
                                            <p:strVal val="#ppt_x+.1"/>
                                          </p:val>
                                        </p:tav>
                                        <p:tav tm="100000">
                                          <p:val>
                                            <p:strVal val="#ppt_x"/>
                                          </p:val>
                                        </p:tav>
                                      </p:tavLst>
                                    </p:anim>
                                    <p:anim calcmode="lin" valueType="num">
                                      <p:cBhvr>
                                        <p:cTn id="49" dur="400" fill="hold"/>
                                        <p:tgtEl>
                                          <p:spTgt spid="32"/>
                                        </p:tgtEl>
                                        <p:attrNameLst>
                                          <p:attrName>ppt_y</p:attrName>
                                        </p:attrNameLst>
                                      </p:cBhvr>
                                      <p:tavLst>
                                        <p:tav tm="0">
                                          <p:val>
                                            <p:strVal val="#ppt_y"/>
                                          </p:val>
                                        </p:tav>
                                        <p:tav tm="100000">
                                          <p:val>
                                            <p:strVal val="#ppt_y"/>
                                          </p:val>
                                        </p:tav>
                                      </p:tavLst>
                                    </p:anim>
                                    <p:anim calcmode="lin" valueType="num">
                                      <p:cBhvr>
                                        <p:cTn id="50" dur="400" fill="hold"/>
                                        <p:tgtEl>
                                          <p:spTgt spid="32"/>
                                        </p:tgtEl>
                                        <p:attrNameLst>
                                          <p:attrName>ppt_h</p:attrName>
                                        </p:attrNameLst>
                                      </p:cBhvr>
                                      <p:tavLst>
                                        <p:tav tm="0">
                                          <p:val>
                                            <p:strVal val="#ppt_h/10"/>
                                          </p:val>
                                        </p:tav>
                                        <p:tav tm="50000">
                                          <p:val>
                                            <p:strVal val="#ppt_h+.01"/>
                                          </p:val>
                                        </p:tav>
                                        <p:tav tm="100000">
                                          <p:val>
                                            <p:strVal val="#ppt_h"/>
                                          </p:val>
                                        </p:tav>
                                      </p:tavLst>
                                    </p:anim>
                                    <p:anim calcmode="lin" valueType="num">
                                      <p:cBhvr>
                                        <p:cTn id="51" dur="400" fill="hold"/>
                                        <p:tgtEl>
                                          <p:spTgt spid="32"/>
                                        </p:tgtEl>
                                        <p:attrNameLst>
                                          <p:attrName>ppt_w</p:attrName>
                                        </p:attrNameLst>
                                      </p:cBhvr>
                                      <p:tavLst>
                                        <p:tav tm="0">
                                          <p:val>
                                            <p:strVal val="#ppt_w/10"/>
                                          </p:val>
                                        </p:tav>
                                        <p:tav tm="50000">
                                          <p:val>
                                            <p:strVal val="#ppt_w+.01"/>
                                          </p:val>
                                        </p:tav>
                                        <p:tav tm="100000">
                                          <p:val>
                                            <p:strVal val="#ppt_w"/>
                                          </p:val>
                                        </p:tav>
                                      </p:tavLst>
                                    </p:anim>
                                    <p:animEffect transition="in" filter="fade">
                                      <p:cBhvr>
                                        <p:cTn id="52" dur="400" tmFilter="0,0; .5, 1; 1, 1"/>
                                        <p:tgtEl>
                                          <p:spTgt spid="32"/>
                                        </p:tgtEl>
                                      </p:cBhvr>
                                    </p:animEffect>
                                  </p:childTnLst>
                                </p:cTn>
                              </p:par>
                              <p:par>
                                <p:cTn id="53" presetID="10" presetClass="entr" presetSubtype="0" fill="hold" grpId="0" nodeType="withEffect">
                                  <p:stCondLst>
                                    <p:cond delay="4200"/>
                                  </p:stCondLst>
                                  <p:childTnLst>
                                    <p:set>
                                      <p:cBhvr>
                                        <p:cTn id="54" dur="1" fill="hold">
                                          <p:stCondLst>
                                            <p:cond delay="0"/>
                                          </p:stCondLst>
                                        </p:cTn>
                                        <p:tgtEl>
                                          <p:spTgt spid="3"/>
                                        </p:tgtEl>
                                        <p:attrNameLst>
                                          <p:attrName>style.visibility</p:attrName>
                                        </p:attrNameLst>
                                      </p:cBhvr>
                                      <p:to>
                                        <p:strVal val="visible"/>
                                      </p:to>
                                    </p:set>
                                    <p:animEffect transition="in" filter="fade">
                                      <p:cBhvr>
                                        <p:cTn id="55" dur="500"/>
                                        <p:tgtEl>
                                          <p:spTgt spid="3"/>
                                        </p:tgtEl>
                                      </p:cBhvr>
                                    </p:animEffect>
                                  </p:childTnLst>
                                </p:cTn>
                              </p:par>
                              <p:par>
                                <p:cTn id="56" presetID="22" presetClass="entr" presetSubtype="1" fill="hold" grpId="0" nodeType="withEffect">
                                  <p:stCondLst>
                                    <p:cond delay="4700"/>
                                  </p:stCondLst>
                                  <p:childTnLst>
                                    <p:set>
                                      <p:cBhvr>
                                        <p:cTn id="57" dur="1" fill="hold">
                                          <p:stCondLst>
                                            <p:cond delay="0"/>
                                          </p:stCondLst>
                                        </p:cTn>
                                        <p:tgtEl>
                                          <p:spTgt spid="62"/>
                                        </p:tgtEl>
                                        <p:attrNameLst>
                                          <p:attrName>style.visibility</p:attrName>
                                        </p:attrNameLst>
                                      </p:cBhvr>
                                      <p:to>
                                        <p:strVal val="visible"/>
                                      </p:to>
                                    </p:set>
                                    <p:animEffect transition="in" filter="wipe(up)">
                                      <p:cBhvr>
                                        <p:cTn id="58" dur="500"/>
                                        <p:tgtEl>
                                          <p:spTgt spid="62"/>
                                        </p:tgtEl>
                                      </p:cBhvr>
                                    </p:animEffect>
                                  </p:childTnLst>
                                </p:cTn>
                              </p:par>
                              <p:par>
                                <p:cTn id="59" presetID="10" presetClass="entr" presetSubtype="0" fill="hold" grpId="0" nodeType="withEffect">
                                  <p:stCondLst>
                                    <p:cond delay="5200"/>
                                  </p:stCondLst>
                                  <p:childTnLst>
                                    <p:set>
                                      <p:cBhvr>
                                        <p:cTn id="60" dur="1" fill="hold">
                                          <p:stCondLst>
                                            <p:cond delay="0"/>
                                          </p:stCondLst>
                                        </p:cTn>
                                        <p:tgtEl>
                                          <p:spTgt spid="4"/>
                                        </p:tgtEl>
                                        <p:attrNameLst>
                                          <p:attrName>style.visibility</p:attrName>
                                        </p:attrNameLst>
                                      </p:cBhvr>
                                      <p:to>
                                        <p:strVal val="visible"/>
                                      </p:to>
                                    </p:set>
                                    <p:animEffect transition="in" filter="fade">
                                      <p:cBhvr>
                                        <p:cTn id="61" dur="500"/>
                                        <p:tgtEl>
                                          <p:spTgt spid="4"/>
                                        </p:tgtEl>
                                      </p:cBhvr>
                                    </p:animEffect>
                                  </p:childTnLst>
                                </p:cTn>
                              </p:par>
                              <p:par>
                                <p:cTn id="62" presetID="10" presetClass="entr" presetSubtype="0" fill="hold" grpId="0" nodeType="withEffect">
                                  <p:stCondLst>
                                    <p:cond delay="6200"/>
                                  </p:stCondLst>
                                  <p:childTnLst>
                                    <p:set>
                                      <p:cBhvr>
                                        <p:cTn id="63" dur="1" fill="hold">
                                          <p:stCondLst>
                                            <p:cond delay="0"/>
                                          </p:stCondLst>
                                        </p:cTn>
                                        <p:tgtEl>
                                          <p:spTgt spid="7"/>
                                        </p:tgtEl>
                                        <p:attrNameLst>
                                          <p:attrName>style.visibility</p:attrName>
                                        </p:attrNameLst>
                                      </p:cBhvr>
                                      <p:to>
                                        <p:strVal val="visible"/>
                                      </p:to>
                                    </p:set>
                                    <p:animEffect transition="in" filter="fade">
                                      <p:cBhvr>
                                        <p:cTn id="64" dur="500"/>
                                        <p:tgtEl>
                                          <p:spTgt spid="7"/>
                                        </p:tgtEl>
                                      </p:cBhvr>
                                    </p:animEffect>
                                  </p:childTnLst>
                                </p:cTn>
                              </p:par>
                              <p:par>
                                <p:cTn id="65" presetID="22" presetClass="entr" presetSubtype="1" fill="hold" grpId="0" nodeType="withEffect">
                                  <p:stCondLst>
                                    <p:cond delay="6600"/>
                                  </p:stCondLst>
                                  <p:childTnLst>
                                    <p:set>
                                      <p:cBhvr>
                                        <p:cTn id="66" dur="1" fill="hold">
                                          <p:stCondLst>
                                            <p:cond delay="0"/>
                                          </p:stCondLst>
                                        </p:cTn>
                                        <p:tgtEl>
                                          <p:spTgt spid="72"/>
                                        </p:tgtEl>
                                        <p:attrNameLst>
                                          <p:attrName>style.visibility</p:attrName>
                                        </p:attrNameLst>
                                      </p:cBhvr>
                                      <p:to>
                                        <p:strVal val="visible"/>
                                      </p:to>
                                    </p:set>
                                    <p:animEffect transition="in" filter="wipe(up)">
                                      <p:cBhvr>
                                        <p:cTn id="67" dur="500"/>
                                        <p:tgtEl>
                                          <p:spTgt spid="72"/>
                                        </p:tgtEl>
                                      </p:cBhvr>
                                    </p:animEffect>
                                  </p:childTnLst>
                                </p:cTn>
                              </p:par>
                              <p:par>
                                <p:cTn id="68" presetID="22" presetClass="entr" presetSubtype="1" fill="hold" grpId="0" nodeType="withEffect">
                                  <p:stCondLst>
                                    <p:cond delay="4700"/>
                                  </p:stCondLst>
                                  <p:childTnLst>
                                    <p:set>
                                      <p:cBhvr>
                                        <p:cTn id="69" dur="1" fill="hold">
                                          <p:stCondLst>
                                            <p:cond delay="0"/>
                                          </p:stCondLst>
                                        </p:cTn>
                                        <p:tgtEl>
                                          <p:spTgt spid="79"/>
                                        </p:tgtEl>
                                        <p:attrNameLst>
                                          <p:attrName>style.visibility</p:attrName>
                                        </p:attrNameLst>
                                      </p:cBhvr>
                                      <p:to>
                                        <p:strVal val="visible"/>
                                      </p:to>
                                    </p:set>
                                    <p:animEffect transition="in" filter="wipe(up)">
                                      <p:cBhvr>
                                        <p:cTn id="70" dur="500"/>
                                        <p:tgtEl>
                                          <p:spTgt spid="79"/>
                                        </p:tgtEl>
                                      </p:cBhvr>
                                    </p:animEffect>
                                  </p:childTnLst>
                                </p:cTn>
                              </p:par>
                            </p:childTnLst>
                          </p:cTn>
                        </p:par>
                      </p:childTnLst>
                    </p:cTn>
                  </p:par>
                  <p:par>
                    <p:cTn id="71" fill="hold">
                      <p:stCondLst>
                        <p:cond delay="indefinite"/>
                      </p:stCondLst>
                      <p:childTnLst>
                        <p:par>
                          <p:cTn id="72" fill="hold">
                            <p:stCondLst>
                              <p:cond delay="0"/>
                            </p:stCondLst>
                            <p:childTnLst>
                              <p:par>
                                <p:cTn id="73" presetID="16" presetClass="entr" presetSubtype="21" fill="hold" nodeType="clickEffect">
                                  <p:stCondLst>
                                    <p:cond delay="0"/>
                                  </p:stCondLst>
                                  <p:childTnLst>
                                    <p:set>
                                      <p:cBhvr>
                                        <p:cTn id="74" dur="1" fill="hold">
                                          <p:stCondLst>
                                            <p:cond delay="0"/>
                                          </p:stCondLst>
                                        </p:cTn>
                                        <p:tgtEl>
                                          <p:spTgt spid="70"/>
                                        </p:tgtEl>
                                        <p:attrNameLst>
                                          <p:attrName>style.visibility</p:attrName>
                                        </p:attrNameLst>
                                      </p:cBhvr>
                                      <p:to>
                                        <p:strVal val="visible"/>
                                      </p:to>
                                    </p:set>
                                    <p:animEffect transition="in" filter="barn(inVertical)">
                                      <p:cBhvr>
                                        <p:cTn id="75" dur="500"/>
                                        <p:tgtEl>
                                          <p:spTgt spid="70"/>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9"/>
                                          </p:stCondLst>
                                        </p:cTn>
                                        <p:tgtEl>
                                          <p:spTgt spid="105"/>
                                        </p:tgtEl>
                                        <p:attrNameLst>
                                          <p:attrName>style.visibility</p:attrName>
                                        </p:attrNameLst>
                                      </p:cBhvr>
                                      <p:to>
                                        <p:strVal val="visible"/>
                                      </p:to>
                                    </p:set>
                                  </p:childTnLst>
                                  <p:subTnLst>
                                    <p:set>
                                      <p:cBhvr override="childStyle">
                                        <p:cTn dur="1" fill="hold" display="0" masterRel="nextClick" afterEffect="1"/>
                                        <p:tgtEl>
                                          <p:spTgt spid="105"/>
                                        </p:tgtEl>
                                        <p:attrNameLst>
                                          <p:attrName>style.visibility</p:attrName>
                                        </p:attrNameLst>
                                      </p:cBhvr>
                                      <p:to>
                                        <p:strVal val="hidden"/>
                                      </p:to>
                                    </p:set>
                                  </p:subTnLst>
                                </p:cTn>
                              </p:par>
                            </p:childTnLst>
                          </p:cTn>
                        </p:par>
                      </p:childTnLst>
                    </p:cTn>
                  </p:par>
                  <p:par>
                    <p:cTn id="80" fill="hold">
                      <p:stCondLst>
                        <p:cond delay="indefinite"/>
                      </p:stCondLst>
                      <p:childTnLst>
                        <p:par>
                          <p:cTn id="81" fill="hold">
                            <p:stCondLst>
                              <p:cond delay="0"/>
                            </p:stCondLst>
                            <p:childTnLst>
                              <p:par>
                                <p:cTn id="82" presetID="22" presetClass="entr" presetSubtype="4" fill="hold" nodeType="clickEffect">
                                  <p:stCondLst>
                                    <p:cond delay="0"/>
                                  </p:stCondLst>
                                  <p:childTnLst>
                                    <p:set>
                                      <p:cBhvr>
                                        <p:cTn id="83" dur="1" fill="hold">
                                          <p:stCondLst>
                                            <p:cond delay="0"/>
                                          </p:stCondLst>
                                        </p:cTn>
                                        <p:tgtEl>
                                          <p:spTgt spid="104"/>
                                        </p:tgtEl>
                                        <p:attrNameLst>
                                          <p:attrName>style.visibility</p:attrName>
                                        </p:attrNameLst>
                                      </p:cBhvr>
                                      <p:to>
                                        <p:strVal val="visible"/>
                                      </p:to>
                                    </p:set>
                                    <p:animEffect transition="in" filter="wipe(down)">
                                      <p:cBhvr>
                                        <p:cTn id="84"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27" grpId="0" animBg="1"/>
      <p:bldP spid="30" grpId="0"/>
      <p:bldP spid="28" grpId="0" animBg="1"/>
      <p:bldP spid="31" grpId="0"/>
      <p:bldP spid="29" grpId="0" animBg="1"/>
      <p:bldP spid="32" grpId="0"/>
      <p:bldP spid="62" grpId="0"/>
      <p:bldP spid="72" grpId="0"/>
      <p:bldP spid="3" grpId="0"/>
      <p:bldP spid="4" grpId="0"/>
      <p:bldP spid="7" grpId="0"/>
      <p:bldP spid="7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912884" y="131064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矩形 48"/>
          <p:cNvSpPr/>
          <p:nvPr/>
        </p:nvSpPr>
        <p:spPr>
          <a:xfrm>
            <a:off x="8820934" y="1310640"/>
            <a:ext cx="2563569"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2" name="文本框 51"/>
          <p:cNvSpPr txBox="1">
            <a:spLocks noChangeArrowheads="1"/>
          </p:cNvSpPr>
          <p:nvPr/>
        </p:nvSpPr>
        <p:spPr bwMode="auto">
          <a:xfrm>
            <a:off x="7766834" y="1687655"/>
            <a:ext cx="3518909"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457200" indent="-457200" algn="just">
              <a:buAutoNum type="arabicParenBoth"/>
              <a:defRPr/>
            </a:pPr>
            <a:r>
              <a:rPr lang="zh-CN" altLang="en-US" sz="2000" dirty="0">
                <a:latin typeface="微软雅黑" pitchFamily="34" charset="-122"/>
                <a:ea typeface="微软雅黑" pitchFamily="34" charset="-122"/>
              </a:rPr>
              <a:t>计算机网络是一个互连的计算机系统的群体。</a:t>
            </a:r>
            <a:endParaRPr lang="en-US" altLang="zh-CN" sz="2000" dirty="0">
              <a:latin typeface="微软雅黑" pitchFamily="34" charset="-122"/>
              <a:ea typeface="微软雅黑" pitchFamily="34" charset="-122"/>
            </a:endParaRPr>
          </a:p>
          <a:p>
            <a:pPr marL="457200" indent="-457200" algn="just">
              <a:buAutoNum type="arabicParenBoth"/>
              <a:defRPr/>
            </a:pPr>
            <a:r>
              <a:rPr lang="zh-CN" altLang="en-US" sz="2000" dirty="0">
                <a:latin typeface="微软雅黑" pitchFamily="34" charset="-122"/>
                <a:ea typeface="微软雅黑" pitchFamily="34" charset="-122"/>
              </a:rPr>
              <a:t> 这些计算机是自治的，每台计算机有自己的操作系统，各自独立工作，它们在网络协议控制下协同工作。</a:t>
            </a:r>
            <a:endParaRPr lang="en-US" altLang="zh-CN" sz="2000" dirty="0">
              <a:latin typeface="微软雅黑" pitchFamily="34" charset="-122"/>
              <a:ea typeface="微软雅黑" pitchFamily="34" charset="-122"/>
            </a:endParaRPr>
          </a:p>
          <a:p>
            <a:pPr marL="457200" indent="-457200" algn="just">
              <a:buAutoNum type="arabicParenBoth"/>
              <a:defRPr/>
            </a:pPr>
            <a:r>
              <a:rPr lang="zh-CN" altLang="en-US" sz="2000" dirty="0">
                <a:latin typeface="微软雅黑" pitchFamily="34" charset="-122"/>
                <a:ea typeface="微软雅黑" pitchFamily="34" charset="-122"/>
              </a:rPr>
              <a:t>系统互连要通过通信设施</a:t>
            </a:r>
            <a:r>
              <a:rPr lang="en-US" altLang="zh-CN" sz="2000" dirty="0">
                <a:latin typeface="微软雅黑" pitchFamily="34" charset="-122"/>
                <a:ea typeface="微软雅黑" pitchFamily="34" charset="-122"/>
              </a:rPr>
              <a:t>(</a:t>
            </a:r>
            <a:r>
              <a:rPr lang="zh-CN" altLang="en-US" sz="2000" dirty="0">
                <a:latin typeface="微软雅黑" pitchFamily="34" charset="-122"/>
                <a:ea typeface="微软雅黑" pitchFamily="34" charset="-122"/>
              </a:rPr>
              <a:t>硬件、软件</a:t>
            </a:r>
            <a:r>
              <a:rPr lang="en-US" altLang="zh-CN" sz="2000" dirty="0">
                <a:latin typeface="微软雅黑" pitchFamily="34" charset="-122"/>
                <a:ea typeface="微软雅黑" pitchFamily="34" charset="-122"/>
              </a:rPr>
              <a:t>)</a:t>
            </a:r>
            <a:r>
              <a:rPr lang="zh-CN" altLang="en-US" sz="2000" dirty="0">
                <a:latin typeface="微软雅黑" pitchFamily="34" charset="-122"/>
                <a:ea typeface="微软雅黑" pitchFamily="34" charset="-122"/>
              </a:rPr>
              <a:t>来实现。</a:t>
            </a:r>
            <a:endParaRPr lang="en-US" altLang="zh-CN" sz="2000" dirty="0">
              <a:latin typeface="微软雅黑" pitchFamily="34" charset="-122"/>
              <a:ea typeface="微软雅黑" pitchFamily="34" charset="-122"/>
            </a:endParaRPr>
          </a:p>
          <a:p>
            <a:pPr marL="457200" indent="-457200" algn="just">
              <a:buAutoNum type="arabicParenBoth"/>
              <a:defRPr/>
            </a:pPr>
            <a:r>
              <a:rPr lang="zh-CN" altLang="en-US" sz="2000" dirty="0">
                <a:latin typeface="微软雅黑" pitchFamily="34" charset="-122"/>
                <a:ea typeface="微软雅黑" pitchFamily="34" charset="-122"/>
              </a:rPr>
              <a:t>系统通过通信设施执行信息交换、资源共享、互操作和协作处理，实现多种应用要求。互操作和协作处理是计算机网络应用中更高层次的要求特征。</a:t>
            </a:r>
            <a:endParaRPr lang="en-US" altLang="zh-CN" sz="2000" dirty="0">
              <a:latin typeface="微软雅黑" pitchFamily="34" charset="-122"/>
              <a:ea typeface="微软雅黑" pitchFamily="34" charset="-122"/>
            </a:endParaRPr>
          </a:p>
        </p:txBody>
      </p:sp>
      <p:sp>
        <p:nvSpPr>
          <p:cNvPr id="47119" name="文本框 55"/>
          <p:cNvSpPr txBox="1">
            <a:spLocks noChangeArrowheads="1"/>
          </p:cNvSpPr>
          <p:nvPr/>
        </p:nvSpPr>
        <p:spPr bwMode="auto">
          <a:xfrm>
            <a:off x="7766834" y="777240"/>
            <a:ext cx="1920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特点：</a:t>
            </a:r>
          </a:p>
        </p:txBody>
      </p:sp>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2308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7.</a:t>
            </a:r>
            <a:r>
              <a:rPr lang="zh-CN" altLang="en-US" sz="2400" b="1" dirty="0">
                <a:solidFill>
                  <a:srgbClr val="3D7351"/>
                </a:solidFill>
                <a:latin typeface="微软雅黑" panose="020B0503020204020204" pitchFamily="34" charset="-122"/>
                <a:ea typeface="微软雅黑" panose="020B0503020204020204" pitchFamily="34" charset="-122"/>
              </a:rPr>
              <a:t>网络操作系统</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D3C3C5AF-BAEC-53DC-6E09-85244C438437}"/>
              </a:ext>
            </a:extLst>
          </p:cNvPr>
          <p:cNvSpPr/>
          <p:nvPr/>
        </p:nvSpPr>
        <p:spPr>
          <a:xfrm>
            <a:off x="819845" y="5767635"/>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 name="矩形 4">
            <a:extLst>
              <a:ext uri="{FF2B5EF4-FFF2-40B4-BE49-F238E27FC236}">
                <a16:creationId xmlns:a16="http://schemas.microsoft.com/office/drawing/2014/main" id="{8FD690B6-F0AA-9D48-DB74-AD1757EADD07}"/>
              </a:ext>
            </a:extLst>
          </p:cNvPr>
          <p:cNvSpPr/>
          <p:nvPr/>
        </p:nvSpPr>
        <p:spPr>
          <a:xfrm>
            <a:off x="1727895" y="5767635"/>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6">
            <a:extLst>
              <a:ext uri="{FF2B5EF4-FFF2-40B4-BE49-F238E27FC236}">
                <a16:creationId xmlns:a16="http://schemas.microsoft.com/office/drawing/2014/main" id="{68E309FA-A400-FD3A-11E6-8E662FCADCF7}"/>
              </a:ext>
            </a:extLst>
          </p:cNvPr>
          <p:cNvSpPr txBox="1">
            <a:spLocks noChangeArrowheads="1"/>
          </p:cNvSpPr>
          <p:nvPr/>
        </p:nvSpPr>
        <p:spPr bwMode="auto">
          <a:xfrm>
            <a:off x="673795" y="6078087"/>
            <a:ext cx="665485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defRPr/>
            </a:pPr>
            <a:r>
              <a:rPr lang="zh-CN" altLang="en-US" sz="2000" dirty="0">
                <a:latin typeface="微软雅黑" pitchFamily="34" charset="-122"/>
                <a:ea typeface="微软雅黑" pitchFamily="34" charset="-122"/>
              </a:rPr>
              <a:t>网络管理、通信、资源共享、系统很安全、多种网络应用。 </a:t>
            </a:r>
            <a:endParaRPr lang="en-US" altLang="zh-CN" sz="2000" dirty="0">
              <a:latin typeface="微软雅黑" pitchFamily="34" charset="-122"/>
              <a:ea typeface="微软雅黑" pitchFamily="34" charset="-122"/>
            </a:endParaRPr>
          </a:p>
        </p:txBody>
      </p:sp>
      <p:sp>
        <p:nvSpPr>
          <p:cNvPr id="8" name="文本框 55">
            <a:extLst>
              <a:ext uri="{FF2B5EF4-FFF2-40B4-BE49-F238E27FC236}">
                <a16:creationId xmlns:a16="http://schemas.microsoft.com/office/drawing/2014/main" id="{05DCE294-AFFD-137C-0DD2-71A301D534BC}"/>
              </a:ext>
            </a:extLst>
          </p:cNvPr>
          <p:cNvSpPr txBox="1">
            <a:spLocks noChangeArrowheads="1"/>
          </p:cNvSpPr>
          <p:nvPr/>
        </p:nvSpPr>
        <p:spPr bwMode="auto">
          <a:xfrm>
            <a:off x="673795" y="5234235"/>
            <a:ext cx="53879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网络操作系统与单处理机系统的区别</a:t>
            </a:r>
          </a:p>
        </p:txBody>
      </p:sp>
      <p:pic>
        <p:nvPicPr>
          <p:cNvPr id="10" name="图片 9">
            <a:extLst>
              <a:ext uri="{FF2B5EF4-FFF2-40B4-BE49-F238E27FC236}">
                <a16:creationId xmlns:a16="http://schemas.microsoft.com/office/drawing/2014/main" id="{17F6C29E-596B-F920-187A-B7767A0521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497" y="940262"/>
            <a:ext cx="6893455" cy="3885886"/>
          </a:xfrm>
          <a:prstGeom prst="rect">
            <a:avLst/>
          </a:prstGeom>
        </p:spPr>
      </p:pic>
    </p:spTree>
    <p:extLst>
      <p:ext uri="{BB962C8B-B14F-4D97-AF65-F5344CB8AC3E}">
        <p14:creationId xmlns:p14="http://schemas.microsoft.com/office/powerpoint/2010/main" val="31753194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1000"/>
                                        <p:tgtEl>
                                          <p:spTgt spid="52"/>
                                        </p:tgtEl>
                                      </p:cBhvr>
                                    </p:animEffect>
                                    <p:anim calcmode="lin" valueType="num">
                                      <p:cBhvr>
                                        <p:cTn id="8" dur="1000" fill="hold"/>
                                        <p:tgtEl>
                                          <p:spTgt spid="52"/>
                                        </p:tgtEl>
                                        <p:attrNameLst>
                                          <p:attrName>ppt_x</p:attrName>
                                        </p:attrNameLst>
                                      </p:cBhvr>
                                      <p:tavLst>
                                        <p:tav tm="0">
                                          <p:val>
                                            <p:strVal val="#ppt_x"/>
                                          </p:val>
                                        </p:tav>
                                        <p:tav tm="100000">
                                          <p:val>
                                            <p:strVal val="#ppt_x"/>
                                          </p:val>
                                        </p:tav>
                                      </p:tavLst>
                                    </p:anim>
                                    <p:anim calcmode="lin" valueType="num">
                                      <p:cBhvr>
                                        <p:cTn id="9" dur="1000" fill="hold"/>
                                        <p:tgtEl>
                                          <p:spTgt spid="5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26164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8.</a:t>
            </a:r>
            <a:r>
              <a:rPr lang="zh-CN" altLang="en-US" sz="2400" b="1" dirty="0">
                <a:solidFill>
                  <a:srgbClr val="3D7351"/>
                </a:solidFill>
                <a:latin typeface="微软雅黑" panose="020B0503020204020204" pitchFamily="34" charset="-122"/>
                <a:ea typeface="微软雅黑" panose="020B0503020204020204" pitchFamily="34" charset="-122"/>
              </a:rPr>
              <a:t>分布式操作系统</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3" name="Rectangle 7">
            <a:extLst>
              <a:ext uri="{FF2B5EF4-FFF2-40B4-BE49-F238E27FC236}">
                <a16:creationId xmlns:a16="http://schemas.microsoft.com/office/drawing/2014/main" id="{F0D27A73-DFEB-E557-EB89-515AF5A6AE27}"/>
              </a:ext>
            </a:extLst>
          </p:cNvPr>
          <p:cNvSpPr>
            <a:spLocks noChangeArrowheads="1"/>
          </p:cNvSpPr>
          <p:nvPr/>
        </p:nvSpPr>
        <p:spPr bwMode="auto">
          <a:xfrm>
            <a:off x="693177" y="1166842"/>
            <a:ext cx="10266175"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800">
                <a:solidFill>
                  <a:schemeClr val="tx1"/>
                </a:solidFill>
                <a:latin typeface="Arial" panose="020B0604020202020204" pitchFamily="34" charset="0"/>
                <a:ea typeface="宋体" panose="02010600030101010101" pitchFamily="2" charset="-122"/>
              </a:defRPr>
            </a:lvl1pPr>
            <a:lvl2pPr marL="742950" indent="-285750">
              <a:defRPr kumimoji="1" sz="2800">
                <a:solidFill>
                  <a:schemeClr val="tx1"/>
                </a:solidFill>
                <a:latin typeface="Arial" panose="020B0604020202020204" pitchFamily="34" charset="0"/>
                <a:ea typeface="宋体" panose="02010600030101010101" pitchFamily="2" charset="-122"/>
              </a:defRPr>
            </a:lvl2pPr>
            <a:lvl3pPr marL="1143000" indent="-228600">
              <a:defRPr kumimoji="1" sz="2800">
                <a:solidFill>
                  <a:schemeClr val="tx1"/>
                </a:solidFill>
                <a:latin typeface="Arial" panose="020B0604020202020204" pitchFamily="34" charset="0"/>
                <a:ea typeface="宋体" panose="02010600030101010101" pitchFamily="2" charset="-122"/>
              </a:defRPr>
            </a:lvl3pPr>
            <a:lvl4pPr marL="1600200" indent="-228600">
              <a:defRPr kumimoji="1" sz="2800">
                <a:solidFill>
                  <a:schemeClr val="tx1"/>
                </a:solidFill>
                <a:latin typeface="Arial" panose="020B0604020202020204" pitchFamily="34" charset="0"/>
                <a:ea typeface="宋体" panose="02010600030101010101" pitchFamily="2" charset="-122"/>
              </a:defRPr>
            </a:lvl4pPr>
            <a:lvl5pPr marL="2057400" indent="-228600">
              <a:defRPr kumimoji="1"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Arial" panose="020B0604020202020204" pitchFamily="34" charset="0"/>
                <a:ea typeface="宋体" panose="02010600030101010101" pitchFamily="2" charset="-122"/>
              </a:defRPr>
            </a:lvl9pPr>
          </a:lstStyle>
          <a:p>
            <a:pPr algn="just" eaLnBrk="1" hangingPunct="1">
              <a:defRPr/>
            </a:pPr>
            <a:r>
              <a:rPr lang="en-US" altLang="zh-CN" sz="2400" b="1" dirty="0">
                <a:latin typeface="+mn-ea"/>
                <a:ea typeface="+mn-ea"/>
              </a:rPr>
              <a:t>(1)</a:t>
            </a:r>
            <a:r>
              <a:rPr lang="zh-CN" altLang="en-US" sz="2400" b="1" dirty="0">
                <a:latin typeface="+mn-ea"/>
                <a:ea typeface="+mn-ea"/>
              </a:rPr>
              <a:t>作为计算机网络，</a:t>
            </a:r>
            <a:r>
              <a:rPr lang="zh-CN" altLang="en-US" sz="2400" dirty="0">
                <a:latin typeface="+mn-ea"/>
                <a:ea typeface="+mn-ea"/>
              </a:rPr>
              <a:t>现在已制定了明确的通信网络协议体系结构及一系列协议族。计算机网络的开发都遵循协议，而对于各种分布式系统并没有制定标准的协议。当然，计算机网络也可认为是一种分布式系统。</a:t>
            </a:r>
            <a:endParaRPr lang="en-US" altLang="zh-CN" sz="2400" dirty="0">
              <a:latin typeface="+mn-ea"/>
              <a:ea typeface="+mn-ea"/>
            </a:endParaRPr>
          </a:p>
          <a:p>
            <a:pPr algn="just" eaLnBrk="1" hangingPunct="1">
              <a:defRPr/>
            </a:pPr>
            <a:r>
              <a:rPr lang="en-US" altLang="zh-CN" sz="2400" b="1" dirty="0">
                <a:latin typeface="+mn-ea"/>
                <a:ea typeface="+mn-ea"/>
              </a:rPr>
              <a:t>(2)</a:t>
            </a:r>
            <a:r>
              <a:rPr lang="zh-CN" altLang="en-US" sz="2400" b="1" dirty="0">
                <a:latin typeface="+mn-ea"/>
                <a:ea typeface="+mn-ea"/>
              </a:rPr>
              <a:t>分布式系统要求一个统一的操作系统</a:t>
            </a:r>
            <a:r>
              <a:rPr lang="zh-CN" altLang="en-US" sz="2400" dirty="0">
                <a:latin typeface="+mn-ea"/>
                <a:ea typeface="+mn-ea"/>
              </a:rPr>
              <a:t>，实现系统操作的统一性。对于各个物理资源的管理，高级操作系统和各私有操作系统之间，不允许有明显的主从管理关系。在计算机网络中，实现全网的统一管理的网络管理系统已成为越来越重要的组成部分。</a:t>
            </a:r>
            <a:endParaRPr lang="en-US" altLang="zh-CN" sz="2400" dirty="0">
              <a:latin typeface="+mn-ea"/>
              <a:ea typeface="+mn-ea"/>
            </a:endParaRPr>
          </a:p>
          <a:p>
            <a:pPr algn="just" eaLnBrk="1" hangingPunct="1">
              <a:defRPr/>
            </a:pPr>
            <a:r>
              <a:rPr lang="en-US" altLang="zh-CN" sz="2400" b="1" dirty="0">
                <a:latin typeface="+mn-ea"/>
                <a:ea typeface="+mn-ea"/>
              </a:rPr>
              <a:t>(3)</a:t>
            </a:r>
            <a:r>
              <a:rPr lang="zh-CN" altLang="en-US" sz="2400" b="1" dirty="0">
                <a:latin typeface="+mn-ea"/>
                <a:ea typeface="+mn-ea"/>
              </a:rPr>
              <a:t>系统的透明性。</a:t>
            </a:r>
            <a:r>
              <a:rPr lang="zh-CN" altLang="en-US" sz="2400" dirty="0">
                <a:latin typeface="+mn-ea"/>
                <a:ea typeface="+mn-ea"/>
              </a:rPr>
              <a:t>分布式操作系统负责全系统的资源分配和调度、任务划分、信息传输控制协调工作，并为用户提供一个统一的界面，标准的接口，用户通过这一界面实现所需要的操作和使用系统资源，至于操作定在哪一台计算机上执行或使用哪台计算机的资源则是系统的事，用户是不用知道的，也就是系统对用户是透明的。</a:t>
            </a:r>
            <a:endParaRPr lang="en-US" altLang="zh-CN" sz="2400" dirty="0">
              <a:latin typeface="+mn-ea"/>
              <a:ea typeface="+mn-ea"/>
            </a:endParaRPr>
          </a:p>
          <a:p>
            <a:pPr algn="just" eaLnBrk="1" hangingPunct="1">
              <a:defRPr/>
            </a:pPr>
            <a:r>
              <a:rPr lang="en-US" altLang="zh-CN" sz="2400" b="1" dirty="0">
                <a:latin typeface="+mn-ea"/>
                <a:ea typeface="+mn-ea"/>
              </a:rPr>
              <a:t>(4)</a:t>
            </a:r>
            <a:r>
              <a:rPr lang="zh-CN" altLang="en-US" sz="2400" b="1" dirty="0">
                <a:latin typeface="+mn-ea"/>
                <a:ea typeface="+mn-ea"/>
              </a:rPr>
              <a:t>分布式系统的基础是网络。</a:t>
            </a:r>
            <a:r>
              <a:rPr lang="zh-CN" altLang="en-US" sz="2400" dirty="0">
                <a:latin typeface="+mn-ea"/>
                <a:ea typeface="+mn-ea"/>
              </a:rPr>
              <a:t>对于多机合作和系统重构、健壮性和容错能力有更高的要求。</a:t>
            </a:r>
          </a:p>
        </p:txBody>
      </p:sp>
    </p:spTree>
    <p:extLst>
      <p:ext uri="{BB962C8B-B14F-4D97-AF65-F5344CB8AC3E}">
        <p14:creationId xmlns:p14="http://schemas.microsoft.com/office/powerpoint/2010/main" val="2608927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28" name="组合 27"/>
          <p:cNvGrpSpPr/>
          <p:nvPr/>
        </p:nvGrpSpPr>
        <p:grpSpPr>
          <a:xfrm>
            <a:off x="245745" y="213360"/>
            <a:ext cx="563880" cy="563880"/>
            <a:chOff x="276225" y="213360"/>
            <a:chExt cx="563880" cy="563880"/>
          </a:xfrm>
          <a:solidFill>
            <a:srgbClr val="3D7351"/>
          </a:solidFill>
        </p:grpSpPr>
        <p:sp>
          <p:nvSpPr>
            <p:cNvPr id="29" name="矩形 28"/>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30" name="椭圆 29"/>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31" name="文本框 25"/>
          <p:cNvSpPr txBox="1">
            <a:spLocks noChangeArrowheads="1"/>
          </p:cNvSpPr>
          <p:nvPr/>
        </p:nvSpPr>
        <p:spPr bwMode="auto">
          <a:xfrm>
            <a:off x="902970" y="212725"/>
            <a:ext cx="26164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3D7351"/>
                </a:solidFill>
                <a:latin typeface="微软雅黑" panose="020B0503020204020204" pitchFamily="34" charset="-122"/>
                <a:ea typeface="微软雅黑" panose="020B0503020204020204" pitchFamily="34" charset="-122"/>
              </a:rPr>
              <a:t>9.</a:t>
            </a:r>
            <a:r>
              <a:rPr lang="zh-CN" altLang="en-US" sz="2400" b="1" dirty="0">
                <a:solidFill>
                  <a:srgbClr val="3D7351"/>
                </a:solidFill>
                <a:latin typeface="微软雅黑" panose="020B0503020204020204" pitchFamily="34" charset="-122"/>
                <a:ea typeface="微软雅黑" panose="020B0503020204020204" pitchFamily="34" charset="-122"/>
              </a:rPr>
              <a:t>嵌入式操作系统</a:t>
            </a:r>
          </a:p>
        </p:txBody>
      </p:sp>
      <p:sp>
        <p:nvSpPr>
          <p:cNvPr id="21" name="文本框 31"/>
          <p:cNvSpPr txBox="1"/>
          <p:nvPr/>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
        <p:nvSpPr>
          <p:cNvPr id="2" name="Rectangle 9">
            <a:extLst>
              <a:ext uri="{FF2B5EF4-FFF2-40B4-BE49-F238E27FC236}">
                <a16:creationId xmlns:a16="http://schemas.microsoft.com/office/drawing/2014/main" id="{19056DBA-C25B-9A57-D8E5-B7D761C7E46C}"/>
              </a:ext>
            </a:extLst>
          </p:cNvPr>
          <p:cNvSpPr>
            <a:spLocks noChangeArrowheads="1"/>
          </p:cNvSpPr>
          <p:nvPr/>
        </p:nvSpPr>
        <p:spPr bwMode="auto">
          <a:xfrm>
            <a:off x="395288" y="1052513"/>
            <a:ext cx="10809332"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800">
                <a:solidFill>
                  <a:schemeClr val="tx1"/>
                </a:solidFill>
                <a:latin typeface="Arial" panose="020B0604020202020204" pitchFamily="34" charset="0"/>
                <a:ea typeface="宋体" panose="02010600030101010101" pitchFamily="2" charset="-122"/>
              </a:defRPr>
            </a:lvl1pPr>
            <a:lvl2pPr marL="742950" indent="-285750">
              <a:defRPr kumimoji="1" sz="2800">
                <a:solidFill>
                  <a:schemeClr val="tx1"/>
                </a:solidFill>
                <a:latin typeface="Arial" panose="020B0604020202020204" pitchFamily="34" charset="0"/>
                <a:ea typeface="宋体" panose="02010600030101010101" pitchFamily="2" charset="-122"/>
              </a:defRPr>
            </a:lvl2pPr>
            <a:lvl3pPr marL="1143000" indent="-228600">
              <a:defRPr kumimoji="1" sz="2800">
                <a:solidFill>
                  <a:schemeClr val="tx1"/>
                </a:solidFill>
                <a:latin typeface="Arial" panose="020B0604020202020204" pitchFamily="34" charset="0"/>
                <a:ea typeface="宋体" panose="02010600030101010101" pitchFamily="2" charset="-122"/>
              </a:defRPr>
            </a:lvl3pPr>
            <a:lvl4pPr marL="1600200" indent="-228600">
              <a:defRPr kumimoji="1" sz="2800">
                <a:solidFill>
                  <a:schemeClr val="tx1"/>
                </a:solidFill>
                <a:latin typeface="Arial" panose="020B0604020202020204" pitchFamily="34" charset="0"/>
                <a:ea typeface="宋体" panose="02010600030101010101" pitchFamily="2" charset="-122"/>
              </a:defRPr>
            </a:lvl4pPr>
            <a:lvl5pPr marL="2057400" indent="-228600">
              <a:defRPr kumimoji="1"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Arial" panose="020B0604020202020204" pitchFamily="34" charset="0"/>
                <a:ea typeface="宋体" panose="02010600030101010101" pitchFamily="2" charset="-122"/>
              </a:defRPr>
            </a:lvl9pPr>
          </a:lstStyle>
          <a:p>
            <a:pPr algn="just" eaLnBrk="1" hangingPunct="1">
              <a:defRPr/>
            </a:pPr>
            <a:r>
              <a:rPr lang="zh-CN" altLang="en-US" sz="2400" dirty="0">
                <a:latin typeface="+mn-ea"/>
                <a:ea typeface="+mn-ea"/>
              </a:rPr>
              <a:t>嵌入式微处理器特点：</a:t>
            </a:r>
            <a:endParaRPr lang="en-US" altLang="zh-CN" sz="2400" dirty="0">
              <a:latin typeface="+mn-ea"/>
              <a:ea typeface="+mn-ea"/>
            </a:endParaRPr>
          </a:p>
          <a:p>
            <a:pPr algn="just" eaLnBrk="1" hangingPunct="1">
              <a:defRPr/>
            </a:pPr>
            <a:r>
              <a:rPr lang="zh-CN" altLang="en-US" sz="2400" dirty="0">
                <a:latin typeface="+mn-ea"/>
                <a:ea typeface="+mn-ea"/>
              </a:rPr>
              <a:t>（</a:t>
            </a:r>
            <a:r>
              <a:rPr lang="en-US" altLang="zh-CN" sz="2400" dirty="0">
                <a:latin typeface="+mn-ea"/>
                <a:ea typeface="+mn-ea"/>
              </a:rPr>
              <a:t>1</a:t>
            </a:r>
            <a:r>
              <a:rPr lang="zh-CN" altLang="en-US" sz="2400" dirty="0">
                <a:latin typeface="+mn-ea"/>
                <a:ea typeface="+mn-ea"/>
              </a:rPr>
              <a:t>）对实时多任务有很强的支持能力。</a:t>
            </a:r>
            <a:endParaRPr lang="en-US" altLang="zh-CN" sz="2400" dirty="0">
              <a:latin typeface="+mn-ea"/>
              <a:ea typeface="+mn-ea"/>
            </a:endParaRPr>
          </a:p>
          <a:p>
            <a:pPr algn="just" eaLnBrk="1" hangingPunct="1">
              <a:defRPr/>
            </a:pPr>
            <a:r>
              <a:rPr lang="zh-CN" altLang="en-US" sz="2400" dirty="0">
                <a:latin typeface="+mn-ea"/>
                <a:ea typeface="+mn-ea"/>
              </a:rPr>
              <a:t>（</a:t>
            </a:r>
            <a:r>
              <a:rPr lang="en-US" altLang="zh-CN" sz="2400" dirty="0">
                <a:latin typeface="+mn-ea"/>
                <a:ea typeface="+mn-ea"/>
              </a:rPr>
              <a:t>2</a:t>
            </a:r>
            <a:r>
              <a:rPr lang="zh-CN" altLang="en-US" sz="2400" dirty="0">
                <a:latin typeface="+mn-ea"/>
                <a:ea typeface="+mn-ea"/>
              </a:rPr>
              <a:t>）具有功能很强的存储区保护功能。</a:t>
            </a:r>
            <a:endParaRPr lang="en-US" altLang="zh-CN" sz="2400" dirty="0">
              <a:latin typeface="+mn-ea"/>
              <a:ea typeface="+mn-ea"/>
            </a:endParaRPr>
          </a:p>
          <a:p>
            <a:pPr algn="just" eaLnBrk="1" hangingPunct="1">
              <a:defRPr/>
            </a:pPr>
            <a:r>
              <a:rPr lang="zh-CN" altLang="en-US" sz="2400" dirty="0">
                <a:latin typeface="+mn-ea"/>
                <a:ea typeface="+mn-ea"/>
              </a:rPr>
              <a:t>（</a:t>
            </a:r>
            <a:r>
              <a:rPr lang="en-US" altLang="zh-CN" sz="2400" dirty="0">
                <a:latin typeface="+mn-ea"/>
                <a:ea typeface="+mn-ea"/>
              </a:rPr>
              <a:t>3</a:t>
            </a:r>
            <a:r>
              <a:rPr lang="zh-CN" altLang="en-US" sz="2400" dirty="0">
                <a:latin typeface="+mn-ea"/>
                <a:ea typeface="+mn-ea"/>
              </a:rPr>
              <a:t>）可扩展的处理器结构。</a:t>
            </a:r>
            <a:endParaRPr lang="en-US" altLang="zh-CN" sz="2400" dirty="0">
              <a:latin typeface="+mn-ea"/>
              <a:ea typeface="+mn-ea"/>
            </a:endParaRPr>
          </a:p>
          <a:p>
            <a:pPr algn="just" eaLnBrk="1" hangingPunct="1">
              <a:defRPr/>
            </a:pPr>
            <a:r>
              <a:rPr lang="zh-CN" altLang="en-US" sz="2400" dirty="0">
                <a:latin typeface="+mn-ea"/>
                <a:ea typeface="+mn-ea"/>
              </a:rPr>
              <a:t>（</a:t>
            </a:r>
            <a:r>
              <a:rPr lang="en-US" altLang="zh-CN" sz="2400" dirty="0">
                <a:latin typeface="+mn-ea"/>
                <a:ea typeface="+mn-ea"/>
              </a:rPr>
              <a:t>4</a:t>
            </a:r>
            <a:r>
              <a:rPr lang="zh-CN" altLang="en-US" sz="2400" dirty="0">
                <a:latin typeface="+mn-ea"/>
                <a:ea typeface="+mn-ea"/>
              </a:rPr>
              <a:t>）嵌入式微处理器必须功耗很低。</a:t>
            </a:r>
            <a:endParaRPr lang="en-US" altLang="zh-CN" sz="2400" dirty="0">
              <a:latin typeface="+mn-ea"/>
              <a:ea typeface="+mn-ea"/>
            </a:endParaRPr>
          </a:p>
          <a:p>
            <a:pPr algn="just" eaLnBrk="1" hangingPunct="1">
              <a:defRPr/>
            </a:pPr>
            <a:r>
              <a:rPr lang="zh-CN" altLang="en-US" sz="2400" dirty="0">
                <a:latin typeface="+mn-ea"/>
                <a:ea typeface="+mn-ea"/>
              </a:rPr>
              <a:t>嵌入式计算机系统同通用型计算机系统相比具有以下特点：　</a:t>
            </a:r>
          </a:p>
          <a:p>
            <a:pPr algn="just" eaLnBrk="1" hangingPunct="1">
              <a:defRPr/>
            </a:pPr>
            <a:r>
              <a:rPr lang="zh-CN" altLang="en-US" sz="2400" dirty="0">
                <a:latin typeface="+mn-ea"/>
                <a:ea typeface="+mn-ea"/>
              </a:rPr>
              <a:t>（</a:t>
            </a:r>
            <a:r>
              <a:rPr lang="en-US" altLang="zh-CN" sz="2400" dirty="0">
                <a:latin typeface="+mn-ea"/>
                <a:ea typeface="+mn-ea"/>
              </a:rPr>
              <a:t>1</a:t>
            </a:r>
            <a:r>
              <a:rPr lang="zh-CN" altLang="en-US" sz="2400" dirty="0">
                <a:latin typeface="+mn-ea"/>
                <a:ea typeface="+mn-ea"/>
              </a:rPr>
              <a:t>）嵌入式系统通常是面向特定应用的。（</a:t>
            </a:r>
            <a:r>
              <a:rPr lang="en-US" altLang="zh-CN" sz="2400" dirty="0">
                <a:latin typeface="+mn-ea"/>
                <a:ea typeface="+mn-ea"/>
              </a:rPr>
              <a:t>2</a:t>
            </a:r>
            <a:r>
              <a:rPr lang="zh-CN" altLang="en-US" sz="2400" dirty="0">
                <a:latin typeface="+mn-ea"/>
                <a:ea typeface="+mn-ea"/>
              </a:rPr>
              <a:t>）嵌入式系统是将先进的计算机技术、半导体技术和电子技术与各个行业的具体应用相结合后的产物。这一点就决定了它必然是一个技术密集、资金密集、高度分散、不断创新的知识集成系统。（</a:t>
            </a:r>
            <a:r>
              <a:rPr lang="en-US" altLang="zh-CN" sz="2400" dirty="0">
                <a:latin typeface="+mn-ea"/>
                <a:ea typeface="+mn-ea"/>
              </a:rPr>
              <a:t>3</a:t>
            </a:r>
            <a:r>
              <a:rPr lang="zh-CN" altLang="en-US" sz="2400" dirty="0">
                <a:latin typeface="+mn-ea"/>
                <a:ea typeface="+mn-ea"/>
              </a:rPr>
              <a:t>）嵌入式系统的硬件和软件都必须高效率地设计。（</a:t>
            </a:r>
            <a:r>
              <a:rPr lang="en-US" altLang="zh-CN" sz="2400" dirty="0">
                <a:latin typeface="+mn-ea"/>
                <a:ea typeface="+mn-ea"/>
              </a:rPr>
              <a:t>4</a:t>
            </a:r>
            <a:r>
              <a:rPr lang="zh-CN" altLang="en-US" sz="2400" dirty="0">
                <a:latin typeface="+mn-ea"/>
                <a:ea typeface="+mn-ea"/>
              </a:rPr>
              <a:t>）嵌入式系统和具体应用有机地结合在一起，它的升级换代也是和具体产品同步进行。（</a:t>
            </a:r>
            <a:r>
              <a:rPr lang="en-US" altLang="zh-CN" sz="2400" dirty="0">
                <a:latin typeface="+mn-ea"/>
                <a:ea typeface="+mn-ea"/>
              </a:rPr>
              <a:t>5</a:t>
            </a:r>
            <a:r>
              <a:rPr lang="zh-CN" altLang="en-US" sz="2400" dirty="0">
                <a:latin typeface="+mn-ea"/>
                <a:ea typeface="+mn-ea"/>
              </a:rPr>
              <a:t>）为了提高执行速度和系统可靠性，嵌入式系统中的软件一般都固化在存储器芯片或单片机本身中，而不是存贮于磁盘等载体中。（</a:t>
            </a:r>
            <a:r>
              <a:rPr lang="en-US" altLang="zh-CN" sz="2400" dirty="0">
                <a:latin typeface="+mn-ea"/>
                <a:ea typeface="+mn-ea"/>
              </a:rPr>
              <a:t>6</a:t>
            </a:r>
            <a:r>
              <a:rPr lang="zh-CN" altLang="en-US" sz="2400" dirty="0">
                <a:latin typeface="+mn-ea"/>
                <a:ea typeface="+mn-ea"/>
              </a:rPr>
              <a:t>）嵌入式系统本身不具备自举开发能力，即使设计完成以后用户通常也是不能对其中的程序功能进行修改的，必须有一套开发工具和环境才能进行开发。</a:t>
            </a:r>
          </a:p>
        </p:txBody>
      </p:sp>
    </p:spTree>
    <p:extLst>
      <p:ext uri="{BB962C8B-B14F-4D97-AF65-F5344CB8AC3E}">
        <p14:creationId xmlns:p14="http://schemas.microsoft.com/office/powerpoint/2010/main" val="1771199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nvSpPr>
        <p:spPr>
          <a:xfrm>
            <a:off x="2242517" y="2946258"/>
            <a:ext cx="596900" cy="656791"/>
          </a:xfrm>
          <a:custGeom>
            <a:avLst/>
            <a:gdLst>
              <a:gd name="connsiteX0" fmla="*/ 0 w 561975"/>
              <a:gd name="connsiteY0" fmla="*/ 0 h 547688"/>
              <a:gd name="connsiteX1" fmla="*/ 552450 w 561975"/>
              <a:gd name="connsiteY1" fmla="*/ 547688 h 547688"/>
              <a:gd name="connsiteX2" fmla="*/ 561975 w 561975"/>
              <a:gd name="connsiteY2" fmla="*/ 0 h 547688"/>
              <a:gd name="connsiteX3" fmla="*/ 0 w 561975"/>
              <a:gd name="connsiteY3" fmla="*/ 0 h 547688"/>
              <a:gd name="connsiteX0" fmla="*/ 0 w 576263"/>
              <a:gd name="connsiteY0" fmla="*/ 0 h 547688"/>
              <a:gd name="connsiteX1" fmla="*/ 566738 w 576263"/>
              <a:gd name="connsiteY1" fmla="*/ 547688 h 547688"/>
              <a:gd name="connsiteX2" fmla="*/ 576263 w 576263"/>
              <a:gd name="connsiteY2" fmla="*/ 0 h 547688"/>
              <a:gd name="connsiteX3" fmla="*/ 0 w 576263"/>
              <a:gd name="connsiteY3" fmla="*/ 0 h 547688"/>
              <a:gd name="connsiteX0" fmla="*/ 0 w 576263"/>
              <a:gd name="connsiteY0" fmla="*/ 0 h 571500"/>
              <a:gd name="connsiteX1" fmla="*/ 566738 w 576263"/>
              <a:gd name="connsiteY1" fmla="*/ 571500 h 571500"/>
              <a:gd name="connsiteX2" fmla="*/ 576263 w 576263"/>
              <a:gd name="connsiteY2" fmla="*/ 0 h 571500"/>
              <a:gd name="connsiteX3" fmla="*/ 0 w 576263"/>
              <a:gd name="connsiteY3" fmla="*/ 0 h 571500"/>
              <a:gd name="connsiteX0" fmla="*/ 0 w 576263"/>
              <a:gd name="connsiteY0" fmla="*/ 0 h 576263"/>
              <a:gd name="connsiteX1" fmla="*/ 571335 w 576263"/>
              <a:gd name="connsiteY1" fmla="*/ 576263 h 576263"/>
              <a:gd name="connsiteX2" fmla="*/ 576263 w 576263"/>
              <a:gd name="connsiteY2" fmla="*/ 0 h 576263"/>
              <a:gd name="connsiteX3" fmla="*/ 0 w 576263"/>
              <a:gd name="connsiteY3" fmla="*/ 0 h 576263"/>
              <a:gd name="connsiteX0" fmla="*/ 0 w 576448"/>
              <a:gd name="connsiteY0" fmla="*/ 0 h 576263"/>
              <a:gd name="connsiteX1" fmla="*/ 575933 w 576448"/>
              <a:gd name="connsiteY1" fmla="*/ 576263 h 576263"/>
              <a:gd name="connsiteX2" fmla="*/ 576263 w 576448"/>
              <a:gd name="connsiteY2" fmla="*/ 0 h 576263"/>
              <a:gd name="connsiteX3" fmla="*/ 0 w 576448"/>
              <a:gd name="connsiteY3" fmla="*/ 0 h 576263"/>
            </a:gdLst>
            <a:ahLst/>
            <a:cxnLst>
              <a:cxn ang="0">
                <a:pos x="connsiteX0" y="connsiteY0"/>
              </a:cxn>
              <a:cxn ang="0">
                <a:pos x="connsiteX1" y="connsiteY1"/>
              </a:cxn>
              <a:cxn ang="0">
                <a:pos x="connsiteX2" y="connsiteY2"/>
              </a:cxn>
              <a:cxn ang="0">
                <a:pos x="connsiteX3" y="connsiteY3"/>
              </a:cxn>
            </a:cxnLst>
            <a:rect l="l" t="t" r="r" b="b"/>
            <a:pathLst>
              <a:path w="576448" h="576263">
                <a:moveTo>
                  <a:pt x="0" y="0"/>
                </a:moveTo>
                <a:lnTo>
                  <a:pt x="575933" y="576263"/>
                </a:lnTo>
                <a:cubicBezTo>
                  <a:pt x="577576" y="384175"/>
                  <a:pt x="574620" y="192088"/>
                  <a:pt x="576263" y="0"/>
                </a:cubicBezTo>
                <a:lnTo>
                  <a:pt x="0" y="0"/>
                </a:lnTo>
                <a:close/>
              </a:path>
            </a:pathLst>
          </a:custGeom>
          <a:solidFill>
            <a:srgbClr val="61942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4" name="矩形 3"/>
          <p:cNvSpPr/>
          <p:nvPr/>
        </p:nvSpPr>
        <p:spPr>
          <a:xfrm>
            <a:off x="2832100" y="2949865"/>
            <a:ext cx="9359900" cy="65722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180000" bIns="0" anchor="ctr"/>
          <a:lstStyle/>
          <a:p>
            <a:pPr algn="ctr">
              <a:defRPr/>
            </a:pPr>
            <a:r>
              <a:rPr lang="zh-CN" altLang="en-US" sz="28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rPr>
              <a:t>谢谢收看！</a:t>
            </a:r>
            <a:endParaRPr lang="zh-CN" altLang="en-US" sz="2800" dirty="0">
              <a:solidFill>
                <a:srgbClr val="CEEAB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endParaRPr>
          </a:p>
        </p:txBody>
      </p:sp>
      <p:sp>
        <p:nvSpPr>
          <p:cNvPr id="7" name="矩形 6"/>
          <p:cNvSpPr/>
          <p:nvPr/>
        </p:nvSpPr>
        <p:spPr>
          <a:xfrm>
            <a:off x="1" y="2182092"/>
            <a:ext cx="9312276" cy="77527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zh-CN" altLang="en-US" sz="3200" spc="200" dirty="0">
                <a:solidFill>
                  <a:srgbClr val="FFFFFF"/>
                </a:solidFill>
                <a:effectLst>
                  <a:outerShdw blurRad="50800" dist="38100" algn="l"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2800" spc="20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本节结束！</a:t>
            </a:r>
          </a:p>
        </p:txBody>
      </p:sp>
      <p:sp>
        <p:nvSpPr>
          <p:cNvPr id="6" name="直角三角形 5"/>
          <p:cNvSpPr/>
          <p:nvPr/>
        </p:nvSpPr>
        <p:spPr>
          <a:xfrm>
            <a:off x="9312275" y="2178052"/>
            <a:ext cx="853701" cy="779317"/>
          </a:xfrm>
          <a:prstGeom prst="rtTriangle">
            <a:avLst/>
          </a:prstGeom>
          <a:solidFill>
            <a:srgbClr val="007C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12" name="矩形 11"/>
          <p:cNvSpPr/>
          <p:nvPr/>
        </p:nvSpPr>
        <p:spPr>
          <a:xfrm>
            <a:off x="2581830" y="3921022"/>
            <a:ext cx="6906409" cy="1692771"/>
          </a:xfrm>
          <a:prstGeom prst="rect">
            <a:avLst/>
          </a:prstGeom>
          <a:noFill/>
          <a:ln w="25400" cap="flat" cmpd="sng" algn="ctr">
            <a:noFill/>
            <a:prstDash val="solid"/>
          </a:ln>
          <a:effectLst/>
        </p:spPr>
        <p:txBody>
          <a:bodyPr rtlCol="0" anchor="ctr"/>
          <a:lstStyle/>
          <a:p>
            <a:pPr>
              <a:lnSpc>
                <a:spcPts val="2400"/>
              </a:lnSpc>
            </a:pP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189354778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8398</TotalTime>
  <Words>2119</Words>
  <Application>Microsoft Office PowerPoint</Application>
  <PresentationFormat>宽屏</PresentationFormat>
  <Paragraphs>301</Paragraphs>
  <Slides>22</Slides>
  <Notes>17</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0</vt:i4>
      </vt:variant>
      <vt:variant>
        <vt:lpstr>幻灯片标题</vt:lpstr>
      </vt:variant>
      <vt:variant>
        <vt:i4>22</vt:i4>
      </vt:variant>
    </vt:vector>
  </HeadingPairs>
  <TitlesOfParts>
    <vt:vector size="36" baseType="lpstr">
      <vt:lpstr>Gill Sans</vt:lpstr>
      <vt:lpstr>等线</vt:lpstr>
      <vt:lpstr>等线 Light</vt:lpstr>
      <vt:lpstr>方正清刻本悦宋简体</vt:lpstr>
      <vt:lpstr>楷体_GB2312</vt:lpstr>
      <vt:lpstr>宋体</vt:lpstr>
      <vt:lpstr>微软雅黑</vt:lpstr>
      <vt:lpstr>Arial</vt:lpstr>
      <vt:lpstr>Calibri</vt:lpstr>
      <vt:lpstr>Courier New</vt:lpstr>
      <vt:lpstr>Impact</vt:lpstr>
      <vt:lpstr>Open Sans Light</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麦 子</cp:lastModifiedBy>
  <cp:revision>103</cp:revision>
  <dcterms:created xsi:type="dcterms:W3CDTF">2016-05-18T19:05:46Z</dcterms:created>
  <dcterms:modified xsi:type="dcterms:W3CDTF">2023-09-19T01:49:07Z</dcterms:modified>
</cp:coreProperties>
</file>