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6" r:id="rId2"/>
    <p:sldMasterId id="2147483698" r:id="rId3"/>
  </p:sldMasterIdLst>
  <p:notesMasterIdLst>
    <p:notesMasterId r:id="rId24"/>
  </p:notesMasterIdLst>
  <p:sldIdLst>
    <p:sldId id="381" r:id="rId4"/>
    <p:sldId id="341" r:id="rId5"/>
    <p:sldId id="366" r:id="rId6"/>
    <p:sldId id="343" r:id="rId7"/>
    <p:sldId id="367" r:id="rId8"/>
    <p:sldId id="368" r:id="rId9"/>
    <p:sldId id="369" r:id="rId10"/>
    <p:sldId id="342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80" r:id="rId20"/>
    <p:sldId id="378" r:id="rId21"/>
    <p:sldId id="379" r:id="rId22"/>
    <p:sldId id="35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66FF"/>
    <a:srgbClr val="FFF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139" autoAdjust="0"/>
  </p:normalViewPr>
  <p:slideViewPr>
    <p:cSldViewPr snapToGrid="0">
      <p:cViewPr varScale="1">
        <p:scale>
          <a:sx n="65" d="100"/>
          <a:sy n="65" d="100"/>
        </p:scale>
        <p:origin x="90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93AD-7C06-486F-9754-D5B73F7C37DE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DE87-FC43-4F0C-9C51-E666AB0AC5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4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latin typeface="Tahoma" pitchFamily="34" charset="0"/>
                <a:ea typeface="宋体" pitchFamily="2" charset="-122"/>
              </a:rPr>
              <a:t>由于在实时系统中都存在着若干个实时进程或任务，它们用来反应或控制某个</a:t>
            </a:r>
            <a:r>
              <a:rPr kumimoji="1" lang="en-US" altLang="zh-CN" sz="1200" dirty="0"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1200" dirty="0">
                <a:latin typeface="宋体" pitchFamily="2" charset="-122"/>
                <a:ea typeface="宋体" pitchFamily="2" charset="-122"/>
              </a:rPr>
              <a:t>些</a:t>
            </a:r>
            <a:r>
              <a:rPr kumimoji="1" lang="en-US" altLang="zh-CN" sz="1200" dirty="0"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1200" dirty="0">
                <a:latin typeface="Tahoma" pitchFamily="34" charset="0"/>
                <a:ea typeface="宋体" pitchFamily="2" charset="-122"/>
              </a:rPr>
              <a:t>外部事件，往往带有某种程度的紧迫性，因而对实时系统的调度提出了某些特殊要求，前面介绍的多种调度算法，并不能满足实时系统对调度的要求，为此需引入一种新的调度，即</a:t>
            </a:r>
            <a:r>
              <a:rPr kumimoji="1" lang="zh-CN" altLang="en-US" sz="120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实时调度</a:t>
            </a:r>
            <a:r>
              <a:rPr kumimoji="1" lang="zh-CN" altLang="en-US" sz="1200" dirty="0">
                <a:latin typeface="Tahoma" pitchFamily="34" charset="0"/>
                <a:ea typeface="宋体" pitchFamily="2" charset="-122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EDE87-FC43-4F0C-9C51-E666AB0AC5F3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模板来自于 </a:t>
            </a:r>
            <a:r>
              <a:rPr lang="en-US" altLang="zh-CN"/>
              <a:t>http://www.ypppt.com</a:t>
            </a:r>
            <a:endParaRPr lang="zh-CN" altLang="en-US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3724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9587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D7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08571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1909627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08571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909627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15586" y="545879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79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829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3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6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71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988828"/>
            <a:ext cx="10515600" cy="518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" name="组合 9"/>
          <p:cNvGrpSpPr/>
          <p:nvPr userDrawn="1"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11" name="矩形 10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31"/>
          <p:cNvSpPr txBox="1"/>
          <p:nvPr userDrawn="1"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71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 dirty="0">
          <a:solidFill>
            <a:srgbClr val="3D735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.gif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2048669"/>
            <a:ext cx="7246275" cy="2760663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95747" y="2251341"/>
            <a:ext cx="31099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5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操作系统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39822" y="3912068"/>
            <a:ext cx="4417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200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32"/>
          <p:cNvSpPr txBox="1">
            <a:spLocks noChangeArrowheads="1"/>
          </p:cNvSpPr>
          <p:nvPr/>
        </p:nvSpPr>
        <p:spPr bwMode="auto">
          <a:xfrm>
            <a:off x="5512250" y="4270955"/>
            <a:ext cx="1383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主讲人：房斐斐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143375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896100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6"/>
          <p:cNvSpPr txBox="1"/>
          <p:nvPr/>
        </p:nvSpPr>
        <p:spPr>
          <a:xfrm>
            <a:off x="3668362" y="3208741"/>
            <a:ext cx="4948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第四章 处理机调度与死锁</a:t>
            </a:r>
          </a:p>
        </p:txBody>
      </p:sp>
    </p:spTree>
    <p:extLst>
      <p:ext uri="{BB962C8B-B14F-4D97-AF65-F5344CB8AC3E}">
        <p14:creationId xmlns:p14="http://schemas.microsoft.com/office/powerpoint/2010/main" val="4012149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实时调度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4.3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2439935" y="3217837"/>
            <a:ext cx="727920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         在实时系统中，可能存在着两类不同性质的实时任务，即</a:t>
            </a:r>
            <a:r>
              <a:rPr lang="en-US" altLang="zh-CN" sz="2400" dirty="0"/>
              <a:t>HRT</a:t>
            </a:r>
            <a:r>
              <a:rPr lang="zh-CN" altLang="en-US" sz="2400" dirty="0"/>
              <a:t>任务和</a:t>
            </a:r>
            <a:r>
              <a:rPr lang="en-US" altLang="zh-CN" sz="2400" dirty="0"/>
              <a:t>SRT</a:t>
            </a:r>
            <a:r>
              <a:rPr lang="zh-CN" altLang="en-US" sz="2400" dirty="0"/>
              <a:t>任务，它们都联系着一个截止时间。为保证系统能正常工作，实时调度必须能满足实时任务对截止时间的要求。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00562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实现实时调度的基本条件</a:t>
            </a:r>
          </a:p>
        </p:txBody>
      </p:sp>
      <p:sp>
        <p:nvSpPr>
          <p:cNvPr id="5" name="椭圆 4"/>
          <p:cNvSpPr/>
          <p:nvPr/>
        </p:nvSpPr>
        <p:spPr>
          <a:xfrm>
            <a:off x="4040029" y="1634649"/>
            <a:ext cx="2286000" cy="2286000"/>
          </a:xfrm>
          <a:prstGeom prst="ellipse">
            <a:avLst/>
          </a:prstGeom>
          <a:solidFill>
            <a:srgbClr val="197519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noProof="1"/>
          </a:p>
        </p:txBody>
      </p:sp>
      <p:sp>
        <p:nvSpPr>
          <p:cNvPr id="6" name="Freeform 5"/>
          <p:cNvSpPr>
            <a:spLocks noEditPoints="1" noChangeArrowheads="1"/>
          </p:cNvSpPr>
          <p:nvPr/>
        </p:nvSpPr>
        <p:spPr bwMode="auto">
          <a:xfrm>
            <a:off x="4379754" y="1969611"/>
            <a:ext cx="1212850" cy="1108075"/>
          </a:xfrm>
          <a:custGeom>
            <a:avLst/>
            <a:gdLst>
              <a:gd name="T0" fmla="*/ 4 w 66"/>
              <a:gd name="T1" fmla="*/ 17 h 60"/>
              <a:gd name="T2" fmla="*/ 28 w 66"/>
              <a:gd name="T3" fmla="*/ 15 h 60"/>
              <a:gd name="T4" fmla="*/ 32 w 66"/>
              <a:gd name="T5" fmla="*/ 3 h 60"/>
              <a:gd name="T6" fmla="*/ 63 w 66"/>
              <a:gd name="T7" fmla="*/ 3 h 60"/>
              <a:gd name="T8" fmla="*/ 51 w 66"/>
              <a:gd name="T9" fmla="*/ 60 h 60"/>
              <a:gd name="T10" fmla="*/ 38 w 66"/>
              <a:gd name="T11" fmla="*/ 8 h 60"/>
              <a:gd name="T12" fmla="*/ 28 w 66"/>
              <a:gd name="T13" fmla="*/ 60 h 60"/>
              <a:gd name="T14" fmla="*/ 20 w 66"/>
              <a:gd name="T15" fmla="*/ 20 h 60"/>
              <a:gd name="T16" fmla="*/ 6 w 66"/>
              <a:gd name="T17" fmla="*/ 60 h 60"/>
              <a:gd name="T18" fmla="*/ 44 w 66"/>
              <a:gd name="T19" fmla="*/ 20 h 60"/>
              <a:gd name="T20" fmla="*/ 45 w 66"/>
              <a:gd name="T21" fmla="*/ 16 h 60"/>
              <a:gd name="T22" fmla="*/ 45 w 66"/>
              <a:gd name="T23" fmla="*/ 13 h 60"/>
              <a:gd name="T24" fmla="*/ 44 w 66"/>
              <a:gd name="T25" fmla="*/ 9 h 60"/>
              <a:gd name="T26" fmla="*/ 46 w 66"/>
              <a:gd name="T27" fmla="*/ 27 h 60"/>
              <a:gd name="T28" fmla="*/ 44 w 66"/>
              <a:gd name="T29" fmla="*/ 30 h 60"/>
              <a:gd name="T30" fmla="*/ 46 w 66"/>
              <a:gd name="T31" fmla="*/ 30 h 60"/>
              <a:gd name="T32" fmla="*/ 44 w 66"/>
              <a:gd name="T33" fmla="*/ 41 h 60"/>
              <a:gd name="T34" fmla="*/ 45 w 66"/>
              <a:gd name="T35" fmla="*/ 37 h 60"/>
              <a:gd name="T36" fmla="*/ 41 w 66"/>
              <a:gd name="T37" fmla="*/ 21 h 60"/>
              <a:gd name="T38" fmla="*/ 39 w 66"/>
              <a:gd name="T39" fmla="*/ 17 h 60"/>
              <a:gd name="T40" fmla="*/ 42 w 66"/>
              <a:gd name="T41" fmla="*/ 13 h 60"/>
              <a:gd name="T42" fmla="*/ 39 w 66"/>
              <a:gd name="T43" fmla="*/ 24 h 60"/>
              <a:gd name="T44" fmla="*/ 42 w 66"/>
              <a:gd name="T45" fmla="*/ 23 h 60"/>
              <a:gd name="T46" fmla="*/ 39 w 66"/>
              <a:gd name="T47" fmla="*/ 35 h 60"/>
              <a:gd name="T48" fmla="*/ 41 w 66"/>
              <a:gd name="T49" fmla="*/ 31 h 60"/>
              <a:gd name="T50" fmla="*/ 41 w 66"/>
              <a:gd name="T51" fmla="*/ 41 h 60"/>
              <a:gd name="T52" fmla="*/ 39 w 66"/>
              <a:gd name="T53" fmla="*/ 38 h 60"/>
              <a:gd name="T54" fmla="*/ 46 w 66"/>
              <a:gd name="T55" fmla="*/ 48 h 60"/>
              <a:gd name="T56" fmla="*/ 39 w 66"/>
              <a:gd name="T57" fmla="*/ 45 h 60"/>
              <a:gd name="T58" fmla="*/ 42 w 66"/>
              <a:gd name="T59" fmla="*/ 44 h 60"/>
              <a:gd name="T60" fmla="*/ 11 w 66"/>
              <a:gd name="T61" fmla="*/ 34 h 60"/>
              <a:gd name="T62" fmla="*/ 12 w 66"/>
              <a:gd name="T63" fmla="*/ 30 h 60"/>
              <a:gd name="T64" fmla="*/ 17 w 66"/>
              <a:gd name="T65" fmla="*/ 33 h 60"/>
              <a:gd name="T66" fmla="*/ 15 w 66"/>
              <a:gd name="T67" fmla="*/ 30 h 60"/>
              <a:gd name="T68" fmla="*/ 18 w 66"/>
              <a:gd name="T69" fmla="*/ 26 h 60"/>
              <a:gd name="T70" fmla="*/ 15 w 66"/>
              <a:gd name="T71" fmla="*/ 37 h 60"/>
              <a:gd name="T72" fmla="*/ 18 w 66"/>
              <a:gd name="T73" fmla="*/ 36 h 60"/>
              <a:gd name="T74" fmla="*/ 15 w 66"/>
              <a:gd name="T75" fmla="*/ 48 h 60"/>
              <a:gd name="T76" fmla="*/ 17 w 66"/>
              <a:gd name="T77" fmla="*/ 44 h 60"/>
              <a:gd name="T78" fmla="*/ 17 w 66"/>
              <a:gd name="T79" fmla="*/ 55 h 60"/>
              <a:gd name="T80" fmla="*/ 15 w 66"/>
              <a:gd name="T81" fmla="*/ 51 h 60"/>
              <a:gd name="T82" fmla="*/ 13 w 66"/>
              <a:gd name="T83" fmla="*/ 27 h 60"/>
              <a:gd name="T84" fmla="*/ 11 w 66"/>
              <a:gd name="T85" fmla="*/ 37 h 60"/>
              <a:gd name="T86" fmla="*/ 13 w 66"/>
              <a:gd name="T87" fmla="*/ 37 h 60"/>
              <a:gd name="T88" fmla="*/ 11 w 66"/>
              <a:gd name="T89" fmla="*/ 48 h 60"/>
              <a:gd name="T90" fmla="*/ 12 w 66"/>
              <a:gd name="T91" fmla="*/ 44 h 60"/>
              <a:gd name="T92" fmla="*/ 12 w 66"/>
              <a:gd name="T93" fmla="*/ 55 h 60"/>
              <a:gd name="T94" fmla="*/ 11 w 66"/>
              <a:gd name="T95" fmla="*/ 51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6" h="60">
                <a:moveTo>
                  <a:pt x="0" y="55"/>
                </a:moveTo>
                <a:cubicBezTo>
                  <a:pt x="4" y="55"/>
                  <a:pt x="4" y="55"/>
                  <a:pt x="4" y="55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7"/>
                  <a:pt x="4" y="17"/>
                  <a:pt x="4" y="17"/>
                </a:cubicBezTo>
                <a:cubicBezTo>
                  <a:pt x="6" y="16"/>
                  <a:pt x="6" y="16"/>
                  <a:pt x="6" y="16"/>
                </a:cubicBezTo>
                <a:cubicBezTo>
                  <a:pt x="22" y="14"/>
                  <a:pt x="22" y="14"/>
                  <a:pt x="22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28" y="15"/>
                  <a:pt x="28" y="15"/>
                  <a:pt x="28" y="15"/>
                </a:cubicBezTo>
                <a:cubicBezTo>
                  <a:pt x="31" y="37"/>
                  <a:pt x="31" y="37"/>
                  <a:pt x="31" y="37"/>
                </a:cubicBezTo>
                <a:cubicBezTo>
                  <a:pt x="32" y="38"/>
                  <a:pt x="32" y="38"/>
                  <a:pt x="32" y="38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3"/>
                  <a:pt x="32" y="3"/>
                  <a:pt x="32" y="3"/>
                </a:cubicBezTo>
                <a:cubicBezTo>
                  <a:pt x="35" y="3"/>
                  <a:pt x="35" y="3"/>
                  <a:pt x="35" y="3"/>
                </a:cubicBezTo>
                <a:cubicBezTo>
                  <a:pt x="51" y="0"/>
                  <a:pt x="51" y="0"/>
                  <a:pt x="51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55"/>
                  <a:pt x="63" y="55"/>
                  <a:pt x="63" y="55"/>
                </a:cubicBezTo>
                <a:cubicBezTo>
                  <a:pt x="66" y="55"/>
                  <a:pt x="66" y="55"/>
                  <a:pt x="66" y="55"/>
                </a:cubicBezTo>
                <a:cubicBezTo>
                  <a:pt x="66" y="60"/>
                  <a:pt x="66" y="60"/>
                  <a:pt x="66" y="60"/>
                </a:cubicBezTo>
                <a:cubicBezTo>
                  <a:pt x="51" y="60"/>
                  <a:pt x="51" y="60"/>
                  <a:pt x="51" y="60"/>
                </a:cubicBezTo>
                <a:cubicBezTo>
                  <a:pt x="49" y="60"/>
                  <a:pt x="49" y="60"/>
                  <a:pt x="49" y="60"/>
                </a:cubicBezTo>
                <a:cubicBezTo>
                  <a:pt x="49" y="57"/>
                  <a:pt x="49" y="57"/>
                  <a:pt x="49" y="57"/>
                </a:cubicBezTo>
                <a:cubicBezTo>
                  <a:pt x="49" y="6"/>
                  <a:pt x="49" y="6"/>
                  <a:pt x="49" y="6"/>
                </a:cubicBezTo>
                <a:cubicBezTo>
                  <a:pt x="38" y="8"/>
                  <a:pt x="38" y="8"/>
                  <a:pt x="38" y="8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60"/>
                  <a:pt x="38" y="60"/>
                  <a:pt x="38" y="60"/>
                </a:cubicBezTo>
                <a:cubicBezTo>
                  <a:pt x="37" y="60"/>
                  <a:pt x="37" y="60"/>
                  <a:pt x="37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23" y="60"/>
                  <a:pt x="23" y="60"/>
                  <a:pt x="23" y="60"/>
                </a:cubicBezTo>
                <a:cubicBezTo>
                  <a:pt x="20" y="60"/>
                  <a:pt x="20" y="60"/>
                  <a:pt x="20" y="60"/>
                </a:cubicBezTo>
                <a:cubicBezTo>
                  <a:pt x="20" y="57"/>
                  <a:pt x="20" y="57"/>
                  <a:pt x="20" y="57"/>
                </a:cubicBezTo>
                <a:cubicBezTo>
                  <a:pt x="20" y="20"/>
                  <a:pt x="20" y="20"/>
                  <a:pt x="20" y="20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57"/>
                  <a:pt x="9" y="57"/>
                  <a:pt x="9" y="57"/>
                </a:cubicBezTo>
                <a:cubicBezTo>
                  <a:pt x="9" y="60"/>
                  <a:pt x="9" y="60"/>
                  <a:pt x="9" y="60"/>
                </a:cubicBezTo>
                <a:cubicBezTo>
                  <a:pt x="6" y="60"/>
                  <a:pt x="6" y="60"/>
                  <a:pt x="6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5"/>
                  <a:pt x="0" y="55"/>
                  <a:pt x="0" y="55"/>
                </a:cubicBezTo>
                <a:close/>
                <a:moveTo>
                  <a:pt x="44" y="16"/>
                </a:moveTo>
                <a:cubicBezTo>
                  <a:pt x="44" y="18"/>
                  <a:pt x="44" y="19"/>
                  <a:pt x="44" y="20"/>
                </a:cubicBezTo>
                <a:cubicBezTo>
                  <a:pt x="44" y="20"/>
                  <a:pt x="45" y="20"/>
                  <a:pt x="45" y="20"/>
                </a:cubicBezTo>
                <a:cubicBezTo>
                  <a:pt x="46" y="20"/>
                  <a:pt x="46" y="20"/>
                  <a:pt x="46" y="20"/>
                </a:cubicBezTo>
                <a:cubicBezTo>
                  <a:pt x="46" y="19"/>
                  <a:pt x="46" y="17"/>
                  <a:pt x="46" y="16"/>
                </a:cubicBezTo>
                <a:cubicBezTo>
                  <a:pt x="46" y="16"/>
                  <a:pt x="46" y="16"/>
                  <a:pt x="45" y="16"/>
                </a:cubicBezTo>
                <a:cubicBezTo>
                  <a:pt x="45" y="16"/>
                  <a:pt x="44" y="16"/>
                  <a:pt x="44" y="16"/>
                </a:cubicBezTo>
                <a:close/>
                <a:moveTo>
                  <a:pt x="44" y="9"/>
                </a:moveTo>
                <a:cubicBezTo>
                  <a:pt x="44" y="11"/>
                  <a:pt x="44" y="12"/>
                  <a:pt x="44" y="13"/>
                </a:cubicBezTo>
                <a:cubicBezTo>
                  <a:pt x="44" y="13"/>
                  <a:pt x="45" y="13"/>
                  <a:pt x="45" y="13"/>
                </a:cubicBezTo>
                <a:cubicBezTo>
                  <a:pt x="46" y="13"/>
                  <a:pt x="46" y="13"/>
                  <a:pt x="46" y="13"/>
                </a:cubicBezTo>
                <a:cubicBezTo>
                  <a:pt x="46" y="12"/>
                  <a:pt x="46" y="10"/>
                  <a:pt x="46" y="9"/>
                </a:cubicBezTo>
                <a:cubicBezTo>
                  <a:pt x="46" y="9"/>
                  <a:pt x="46" y="9"/>
                  <a:pt x="45" y="9"/>
                </a:cubicBezTo>
                <a:cubicBezTo>
                  <a:pt x="45" y="9"/>
                  <a:pt x="44" y="9"/>
                  <a:pt x="44" y="9"/>
                </a:cubicBezTo>
                <a:close/>
                <a:moveTo>
                  <a:pt x="44" y="23"/>
                </a:moveTo>
                <a:cubicBezTo>
                  <a:pt x="44" y="25"/>
                  <a:pt x="44" y="26"/>
                  <a:pt x="44" y="27"/>
                </a:cubicBezTo>
                <a:cubicBezTo>
                  <a:pt x="44" y="27"/>
                  <a:pt x="45" y="27"/>
                  <a:pt x="45" y="27"/>
                </a:cubicBezTo>
                <a:cubicBezTo>
                  <a:pt x="46" y="27"/>
                  <a:pt x="46" y="27"/>
                  <a:pt x="46" y="27"/>
                </a:cubicBezTo>
                <a:cubicBezTo>
                  <a:pt x="46" y="26"/>
                  <a:pt x="46" y="24"/>
                  <a:pt x="46" y="23"/>
                </a:cubicBezTo>
                <a:cubicBezTo>
                  <a:pt x="46" y="23"/>
                  <a:pt x="46" y="23"/>
                  <a:pt x="45" y="23"/>
                </a:cubicBezTo>
                <a:cubicBezTo>
                  <a:pt x="45" y="23"/>
                  <a:pt x="44" y="23"/>
                  <a:pt x="44" y="23"/>
                </a:cubicBezTo>
                <a:close/>
                <a:moveTo>
                  <a:pt x="44" y="30"/>
                </a:moveTo>
                <a:cubicBezTo>
                  <a:pt x="44" y="32"/>
                  <a:pt x="44" y="33"/>
                  <a:pt x="44" y="34"/>
                </a:cubicBezTo>
                <a:cubicBezTo>
                  <a:pt x="44" y="34"/>
                  <a:pt x="45" y="34"/>
                  <a:pt x="45" y="34"/>
                </a:cubicBezTo>
                <a:cubicBezTo>
                  <a:pt x="46" y="34"/>
                  <a:pt x="46" y="34"/>
                  <a:pt x="46" y="34"/>
                </a:cubicBezTo>
                <a:cubicBezTo>
                  <a:pt x="46" y="33"/>
                  <a:pt x="46" y="32"/>
                  <a:pt x="46" y="30"/>
                </a:cubicBezTo>
                <a:cubicBezTo>
                  <a:pt x="46" y="30"/>
                  <a:pt x="46" y="30"/>
                  <a:pt x="45" y="30"/>
                </a:cubicBezTo>
                <a:cubicBezTo>
                  <a:pt x="45" y="30"/>
                  <a:pt x="44" y="30"/>
                  <a:pt x="44" y="30"/>
                </a:cubicBezTo>
                <a:close/>
                <a:moveTo>
                  <a:pt x="44" y="37"/>
                </a:moveTo>
                <a:cubicBezTo>
                  <a:pt x="44" y="39"/>
                  <a:pt x="44" y="40"/>
                  <a:pt x="44" y="41"/>
                </a:cubicBezTo>
                <a:cubicBezTo>
                  <a:pt x="44" y="41"/>
                  <a:pt x="45" y="41"/>
                  <a:pt x="45" y="41"/>
                </a:cubicBezTo>
                <a:cubicBezTo>
                  <a:pt x="46" y="41"/>
                  <a:pt x="46" y="41"/>
                  <a:pt x="46" y="41"/>
                </a:cubicBezTo>
                <a:cubicBezTo>
                  <a:pt x="46" y="40"/>
                  <a:pt x="46" y="39"/>
                  <a:pt x="46" y="37"/>
                </a:cubicBezTo>
                <a:cubicBezTo>
                  <a:pt x="46" y="37"/>
                  <a:pt x="46" y="37"/>
                  <a:pt x="45" y="37"/>
                </a:cubicBezTo>
                <a:cubicBezTo>
                  <a:pt x="45" y="37"/>
                  <a:pt x="44" y="37"/>
                  <a:pt x="44" y="37"/>
                </a:cubicBezTo>
                <a:close/>
                <a:moveTo>
                  <a:pt x="39" y="17"/>
                </a:moveTo>
                <a:cubicBezTo>
                  <a:pt x="39" y="18"/>
                  <a:pt x="39" y="19"/>
                  <a:pt x="39" y="21"/>
                </a:cubicBezTo>
                <a:cubicBezTo>
                  <a:pt x="40" y="21"/>
                  <a:pt x="40" y="21"/>
                  <a:pt x="41" y="21"/>
                </a:cubicBezTo>
                <a:cubicBezTo>
                  <a:pt x="41" y="21"/>
                  <a:pt x="41" y="21"/>
                  <a:pt x="42" y="20"/>
                </a:cubicBezTo>
                <a:cubicBezTo>
                  <a:pt x="42" y="19"/>
                  <a:pt x="42" y="18"/>
                  <a:pt x="42" y="17"/>
                </a:cubicBezTo>
                <a:cubicBezTo>
                  <a:pt x="41" y="17"/>
                  <a:pt x="41" y="17"/>
                  <a:pt x="41" y="17"/>
                </a:cubicBezTo>
                <a:cubicBezTo>
                  <a:pt x="40" y="17"/>
                  <a:pt x="40" y="17"/>
                  <a:pt x="39" y="17"/>
                </a:cubicBezTo>
                <a:close/>
                <a:moveTo>
                  <a:pt x="39" y="10"/>
                </a:moveTo>
                <a:cubicBezTo>
                  <a:pt x="39" y="11"/>
                  <a:pt x="39" y="12"/>
                  <a:pt x="39" y="14"/>
                </a:cubicBezTo>
                <a:cubicBezTo>
                  <a:pt x="40" y="14"/>
                  <a:pt x="40" y="14"/>
                  <a:pt x="41" y="14"/>
                </a:cubicBezTo>
                <a:cubicBezTo>
                  <a:pt x="41" y="14"/>
                  <a:pt x="41" y="14"/>
                  <a:pt x="42" y="13"/>
                </a:cubicBezTo>
                <a:cubicBezTo>
                  <a:pt x="42" y="12"/>
                  <a:pt x="42" y="11"/>
                  <a:pt x="42" y="10"/>
                </a:cubicBezTo>
                <a:cubicBezTo>
                  <a:pt x="41" y="10"/>
                  <a:pt x="41" y="10"/>
                  <a:pt x="41" y="10"/>
                </a:cubicBezTo>
                <a:cubicBezTo>
                  <a:pt x="40" y="10"/>
                  <a:pt x="40" y="10"/>
                  <a:pt x="39" y="10"/>
                </a:cubicBezTo>
                <a:close/>
                <a:moveTo>
                  <a:pt x="39" y="24"/>
                </a:moveTo>
                <a:cubicBezTo>
                  <a:pt x="39" y="25"/>
                  <a:pt x="39" y="26"/>
                  <a:pt x="39" y="28"/>
                </a:cubicBezTo>
                <a:cubicBezTo>
                  <a:pt x="40" y="28"/>
                  <a:pt x="40" y="28"/>
                  <a:pt x="41" y="28"/>
                </a:cubicBezTo>
                <a:cubicBezTo>
                  <a:pt x="41" y="27"/>
                  <a:pt x="41" y="27"/>
                  <a:pt x="42" y="27"/>
                </a:cubicBezTo>
                <a:cubicBezTo>
                  <a:pt x="42" y="26"/>
                  <a:pt x="42" y="25"/>
                  <a:pt x="42" y="23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4"/>
                  <a:pt x="40" y="24"/>
                  <a:pt x="39" y="24"/>
                </a:cubicBezTo>
                <a:close/>
                <a:moveTo>
                  <a:pt x="39" y="31"/>
                </a:moveTo>
                <a:cubicBezTo>
                  <a:pt x="39" y="32"/>
                  <a:pt x="39" y="33"/>
                  <a:pt x="39" y="35"/>
                </a:cubicBezTo>
                <a:cubicBezTo>
                  <a:pt x="40" y="35"/>
                  <a:pt x="40" y="34"/>
                  <a:pt x="41" y="34"/>
                </a:cubicBezTo>
                <a:cubicBezTo>
                  <a:pt x="41" y="34"/>
                  <a:pt x="41" y="34"/>
                  <a:pt x="42" y="34"/>
                </a:cubicBezTo>
                <a:cubicBezTo>
                  <a:pt x="42" y="33"/>
                  <a:pt x="42" y="32"/>
                  <a:pt x="42" y="30"/>
                </a:cubicBezTo>
                <a:cubicBezTo>
                  <a:pt x="41" y="30"/>
                  <a:pt x="41" y="30"/>
                  <a:pt x="41" y="31"/>
                </a:cubicBezTo>
                <a:cubicBezTo>
                  <a:pt x="40" y="31"/>
                  <a:pt x="40" y="31"/>
                  <a:pt x="39" y="31"/>
                </a:cubicBezTo>
                <a:close/>
                <a:moveTo>
                  <a:pt x="39" y="38"/>
                </a:moveTo>
                <a:cubicBezTo>
                  <a:pt x="39" y="39"/>
                  <a:pt x="39" y="40"/>
                  <a:pt x="39" y="41"/>
                </a:cubicBezTo>
                <a:cubicBezTo>
                  <a:pt x="40" y="41"/>
                  <a:pt x="40" y="41"/>
                  <a:pt x="41" y="41"/>
                </a:cubicBezTo>
                <a:cubicBezTo>
                  <a:pt x="41" y="41"/>
                  <a:pt x="41" y="41"/>
                  <a:pt x="42" y="41"/>
                </a:cubicBezTo>
                <a:cubicBezTo>
                  <a:pt x="42" y="40"/>
                  <a:pt x="42" y="39"/>
                  <a:pt x="42" y="37"/>
                </a:cubicBezTo>
                <a:cubicBezTo>
                  <a:pt x="41" y="37"/>
                  <a:pt x="41" y="37"/>
                  <a:pt x="41" y="37"/>
                </a:cubicBezTo>
                <a:cubicBezTo>
                  <a:pt x="40" y="37"/>
                  <a:pt x="40" y="37"/>
                  <a:pt x="39" y="38"/>
                </a:cubicBezTo>
                <a:close/>
                <a:moveTo>
                  <a:pt x="44" y="44"/>
                </a:moveTo>
                <a:cubicBezTo>
                  <a:pt x="44" y="46"/>
                  <a:pt x="44" y="47"/>
                  <a:pt x="44" y="48"/>
                </a:cubicBezTo>
                <a:cubicBezTo>
                  <a:pt x="44" y="48"/>
                  <a:pt x="45" y="48"/>
                  <a:pt x="45" y="48"/>
                </a:cubicBezTo>
                <a:cubicBezTo>
                  <a:pt x="46" y="48"/>
                  <a:pt x="46" y="48"/>
                  <a:pt x="46" y="48"/>
                </a:cubicBezTo>
                <a:cubicBezTo>
                  <a:pt x="46" y="47"/>
                  <a:pt x="46" y="46"/>
                  <a:pt x="46" y="44"/>
                </a:cubicBezTo>
                <a:cubicBezTo>
                  <a:pt x="46" y="44"/>
                  <a:pt x="46" y="44"/>
                  <a:pt x="45" y="44"/>
                </a:cubicBezTo>
                <a:cubicBezTo>
                  <a:pt x="45" y="44"/>
                  <a:pt x="44" y="44"/>
                  <a:pt x="44" y="44"/>
                </a:cubicBezTo>
                <a:close/>
                <a:moveTo>
                  <a:pt x="39" y="45"/>
                </a:moveTo>
                <a:cubicBezTo>
                  <a:pt x="39" y="46"/>
                  <a:pt x="39" y="47"/>
                  <a:pt x="39" y="48"/>
                </a:cubicBezTo>
                <a:cubicBezTo>
                  <a:pt x="40" y="48"/>
                  <a:pt x="40" y="48"/>
                  <a:pt x="41" y="48"/>
                </a:cubicBezTo>
                <a:cubicBezTo>
                  <a:pt x="41" y="48"/>
                  <a:pt x="41" y="48"/>
                  <a:pt x="42" y="48"/>
                </a:cubicBezTo>
                <a:cubicBezTo>
                  <a:pt x="42" y="47"/>
                  <a:pt x="42" y="46"/>
                  <a:pt x="42" y="44"/>
                </a:cubicBezTo>
                <a:cubicBezTo>
                  <a:pt x="41" y="44"/>
                  <a:pt x="41" y="44"/>
                  <a:pt x="41" y="44"/>
                </a:cubicBezTo>
                <a:cubicBezTo>
                  <a:pt x="40" y="44"/>
                  <a:pt x="40" y="44"/>
                  <a:pt x="39" y="45"/>
                </a:cubicBezTo>
                <a:close/>
                <a:moveTo>
                  <a:pt x="11" y="30"/>
                </a:moveTo>
                <a:cubicBezTo>
                  <a:pt x="11" y="31"/>
                  <a:pt x="11" y="33"/>
                  <a:pt x="11" y="34"/>
                </a:cubicBezTo>
                <a:cubicBezTo>
                  <a:pt x="11" y="34"/>
                  <a:pt x="12" y="34"/>
                  <a:pt x="12" y="34"/>
                </a:cubicBezTo>
                <a:cubicBezTo>
                  <a:pt x="12" y="34"/>
                  <a:pt x="13" y="34"/>
                  <a:pt x="13" y="34"/>
                </a:cubicBezTo>
                <a:cubicBezTo>
                  <a:pt x="13" y="32"/>
                  <a:pt x="13" y="31"/>
                  <a:pt x="13" y="30"/>
                </a:cubicBezTo>
                <a:cubicBezTo>
                  <a:pt x="13" y="30"/>
                  <a:pt x="12" y="30"/>
                  <a:pt x="12" y="30"/>
                </a:cubicBezTo>
                <a:cubicBezTo>
                  <a:pt x="12" y="30"/>
                  <a:pt x="11" y="30"/>
                  <a:pt x="11" y="30"/>
                </a:cubicBezTo>
                <a:close/>
                <a:moveTo>
                  <a:pt x="15" y="30"/>
                </a:moveTo>
                <a:cubicBezTo>
                  <a:pt x="15" y="31"/>
                  <a:pt x="15" y="32"/>
                  <a:pt x="15" y="34"/>
                </a:cubicBezTo>
                <a:cubicBezTo>
                  <a:pt x="16" y="34"/>
                  <a:pt x="16" y="34"/>
                  <a:pt x="17" y="33"/>
                </a:cubicBezTo>
                <a:cubicBezTo>
                  <a:pt x="17" y="33"/>
                  <a:pt x="17" y="33"/>
                  <a:pt x="18" y="33"/>
                </a:cubicBezTo>
                <a:cubicBezTo>
                  <a:pt x="18" y="32"/>
                  <a:pt x="18" y="31"/>
                  <a:pt x="18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6" y="30"/>
                  <a:pt x="16" y="30"/>
                  <a:pt x="15" y="30"/>
                </a:cubicBezTo>
                <a:close/>
                <a:moveTo>
                  <a:pt x="15" y="23"/>
                </a:moveTo>
                <a:cubicBezTo>
                  <a:pt x="15" y="24"/>
                  <a:pt x="15" y="25"/>
                  <a:pt x="15" y="27"/>
                </a:cubicBezTo>
                <a:cubicBezTo>
                  <a:pt x="16" y="27"/>
                  <a:pt x="16" y="26"/>
                  <a:pt x="17" y="26"/>
                </a:cubicBezTo>
                <a:cubicBezTo>
                  <a:pt x="17" y="26"/>
                  <a:pt x="17" y="26"/>
                  <a:pt x="18" y="26"/>
                </a:cubicBezTo>
                <a:cubicBezTo>
                  <a:pt x="18" y="25"/>
                  <a:pt x="18" y="24"/>
                  <a:pt x="18" y="22"/>
                </a:cubicBezTo>
                <a:cubicBezTo>
                  <a:pt x="17" y="22"/>
                  <a:pt x="17" y="22"/>
                  <a:pt x="17" y="22"/>
                </a:cubicBezTo>
                <a:cubicBezTo>
                  <a:pt x="16" y="22"/>
                  <a:pt x="16" y="22"/>
                  <a:pt x="15" y="23"/>
                </a:cubicBezTo>
                <a:close/>
                <a:moveTo>
                  <a:pt x="15" y="37"/>
                </a:moveTo>
                <a:cubicBezTo>
                  <a:pt x="15" y="38"/>
                  <a:pt x="15" y="39"/>
                  <a:pt x="15" y="41"/>
                </a:cubicBezTo>
                <a:cubicBezTo>
                  <a:pt x="16" y="41"/>
                  <a:pt x="16" y="41"/>
                  <a:pt x="17" y="41"/>
                </a:cubicBezTo>
                <a:cubicBezTo>
                  <a:pt x="17" y="41"/>
                  <a:pt x="17" y="41"/>
                  <a:pt x="18" y="40"/>
                </a:cubicBezTo>
                <a:cubicBezTo>
                  <a:pt x="18" y="39"/>
                  <a:pt x="18" y="38"/>
                  <a:pt x="18" y="36"/>
                </a:cubicBezTo>
                <a:cubicBezTo>
                  <a:pt x="17" y="36"/>
                  <a:pt x="17" y="37"/>
                  <a:pt x="17" y="37"/>
                </a:cubicBezTo>
                <a:cubicBezTo>
                  <a:pt x="16" y="37"/>
                  <a:pt x="16" y="37"/>
                  <a:pt x="15" y="37"/>
                </a:cubicBezTo>
                <a:close/>
                <a:moveTo>
                  <a:pt x="15" y="44"/>
                </a:moveTo>
                <a:cubicBezTo>
                  <a:pt x="15" y="45"/>
                  <a:pt x="15" y="46"/>
                  <a:pt x="15" y="48"/>
                </a:cubicBezTo>
                <a:cubicBezTo>
                  <a:pt x="16" y="48"/>
                  <a:pt x="16" y="48"/>
                  <a:pt x="17" y="48"/>
                </a:cubicBezTo>
                <a:cubicBezTo>
                  <a:pt x="17" y="48"/>
                  <a:pt x="17" y="48"/>
                  <a:pt x="18" y="48"/>
                </a:cubicBezTo>
                <a:cubicBezTo>
                  <a:pt x="18" y="46"/>
                  <a:pt x="18" y="45"/>
                  <a:pt x="18" y="44"/>
                </a:cubicBezTo>
                <a:cubicBezTo>
                  <a:pt x="17" y="44"/>
                  <a:pt x="17" y="44"/>
                  <a:pt x="17" y="44"/>
                </a:cubicBezTo>
                <a:cubicBezTo>
                  <a:pt x="16" y="44"/>
                  <a:pt x="16" y="44"/>
                  <a:pt x="15" y="44"/>
                </a:cubicBezTo>
                <a:close/>
                <a:moveTo>
                  <a:pt x="15" y="51"/>
                </a:moveTo>
                <a:cubicBezTo>
                  <a:pt x="15" y="52"/>
                  <a:pt x="15" y="53"/>
                  <a:pt x="15" y="55"/>
                </a:cubicBezTo>
                <a:cubicBezTo>
                  <a:pt x="16" y="55"/>
                  <a:pt x="16" y="55"/>
                  <a:pt x="17" y="55"/>
                </a:cubicBezTo>
                <a:cubicBezTo>
                  <a:pt x="17" y="55"/>
                  <a:pt x="17" y="55"/>
                  <a:pt x="18" y="55"/>
                </a:cubicBezTo>
                <a:cubicBezTo>
                  <a:pt x="18" y="53"/>
                  <a:pt x="18" y="52"/>
                  <a:pt x="18" y="51"/>
                </a:cubicBezTo>
                <a:cubicBezTo>
                  <a:pt x="17" y="51"/>
                  <a:pt x="17" y="51"/>
                  <a:pt x="17" y="51"/>
                </a:cubicBezTo>
                <a:cubicBezTo>
                  <a:pt x="16" y="51"/>
                  <a:pt x="16" y="51"/>
                  <a:pt x="15" y="51"/>
                </a:cubicBezTo>
                <a:close/>
                <a:moveTo>
                  <a:pt x="11" y="23"/>
                </a:moveTo>
                <a:cubicBezTo>
                  <a:pt x="11" y="24"/>
                  <a:pt x="11" y="26"/>
                  <a:pt x="11" y="27"/>
                </a:cubicBezTo>
                <a:cubicBezTo>
                  <a:pt x="11" y="27"/>
                  <a:pt x="12" y="27"/>
                  <a:pt x="12" y="27"/>
                </a:cubicBezTo>
                <a:cubicBezTo>
                  <a:pt x="12" y="27"/>
                  <a:pt x="13" y="27"/>
                  <a:pt x="13" y="27"/>
                </a:cubicBezTo>
                <a:cubicBezTo>
                  <a:pt x="13" y="25"/>
                  <a:pt x="13" y="24"/>
                  <a:pt x="13" y="23"/>
                </a:cubicBezTo>
                <a:cubicBezTo>
                  <a:pt x="13" y="23"/>
                  <a:pt x="12" y="23"/>
                  <a:pt x="12" y="23"/>
                </a:cubicBezTo>
                <a:cubicBezTo>
                  <a:pt x="12" y="23"/>
                  <a:pt x="11" y="23"/>
                  <a:pt x="11" y="23"/>
                </a:cubicBezTo>
                <a:close/>
                <a:moveTo>
                  <a:pt x="11" y="37"/>
                </a:moveTo>
                <a:cubicBezTo>
                  <a:pt x="11" y="38"/>
                  <a:pt x="11" y="40"/>
                  <a:pt x="11" y="41"/>
                </a:cubicBezTo>
                <a:cubicBezTo>
                  <a:pt x="11" y="41"/>
                  <a:pt x="12" y="41"/>
                  <a:pt x="12" y="41"/>
                </a:cubicBezTo>
                <a:cubicBezTo>
                  <a:pt x="12" y="41"/>
                  <a:pt x="13" y="41"/>
                  <a:pt x="13" y="41"/>
                </a:cubicBezTo>
                <a:cubicBezTo>
                  <a:pt x="13" y="39"/>
                  <a:pt x="13" y="38"/>
                  <a:pt x="13" y="37"/>
                </a:cubicBezTo>
                <a:cubicBezTo>
                  <a:pt x="13" y="37"/>
                  <a:pt x="12" y="37"/>
                  <a:pt x="12" y="37"/>
                </a:cubicBezTo>
                <a:cubicBezTo>
                  <a:pt x="12" y="37"/>
                  <a:pt x="11" y="37"/>
                  <a:pt x="11" y="37"/>
                </a:cubicBezTo>
                <a:close/>
                <a:moveTo>
                  <a:pt x="11" y="44"/>
                </a:moveTo>
                <a:cubicBezTo>
                  <a:pt x="11" y="45"/>
                  <a:pt x="11" y="46"/>
                  <a:pt x="11" y="48"/>
                </a:cubicBezTo>
                <a:cubicBezTo>
                  <a:pt x="11" y="48"/>
                  <a:pt x="12" y="48"/>
                  <a:pt x="12" y="48"/>
                </a:cubicBezTo>
                <a:cubicBezTo>
                  <a:pt x="12" y="48"/>
                  <a:pt x="13" y="48"/>
                  <a:pt x="13" y="48"/>
                </a:cubicBezTo>
                <a:cubicBezTo>
                  <a:pt x="13" y="46"/>
                  <a:pt x="13" y="45"/>
                  <a:pt x="13" y="44"/>
                </a:cubicBezTo>
                <a:cubicBezTo>
                  <a:pt x="13" y="44"/>
                  <a:pt x="12" y="44"/>
                  <a:pt x="12" y="44"/>
                </a:cubicBezTo>
                <a:cubicBezTo>
                  <a:pt x="12" y="44"/>
                  <a:pt x="11" y="44"/>
                  <a:pt x="11" y="44"/>
                </a:cubicBezTo>
                <a:close/>
                <a:moveTo>
                  <a:pt x="11" y="51"/>
                </a:moveTo>
                <a:cubicBezTo>
                  <a:pt x="11" y="52"/>
                  <a:pt x="11" y="53"/>
                  <a:pt x="11" y="55"/>
                </a:cubicBezTo>
                <a:cubicBezTo>
                  <a:pt x="11" y="55"/>
                  <a:pt x="12" y="55"/>
                  <a:pt x="12" y="55"/>
                </a:cubicBezTo>
                <a:cubicBezTo>
                  <a:pt x="12" y="55"/>
                  <a:pt x="13" y="55"/>
                  <a:pt x="13" y="55"/>
                </a:cubicBezTo>
                <a:cubicBezTo>
                  <a:pt x="13" y="53"/>
                  <a:pt x="13" y="52"/>
                  <a:pt x="13" y="51"/>
                </a:cubicBezTo>
                <a:cubicBezTo>
                  <a:pt x="13" y="51"/>
                  <a:pt x="12" y="51"/>
                  <a:pt x="12" y="51"/>
                </a:cubicBezTo>
                <a:cubicBezTo>
                  <a:pt x="12" y="51"/>
                  <a:pt x="11" y="51"/>
                  <a:pt x="11" y="5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040029" y="3215799"/>
            <a:ext cx="2286000" cy="2286000"/>
          </a:xfrm>
          <a:prstGeom prst="ellipse">
            <a:avLst/>
          </a:prstGeom>
          <a:solidFill>
            <a:srgbClr val="197519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noProof="1"/>
          </a:p>
        </p:txBody>
      </p:sp>
      <p:sp>
        <p:nvSpPr>
          <p:cNvPr id="8" name="Freeform 9"/>
          <p:cNvSpPr>
            <a:spLocks noEditPoints="1" noChangeArrowheads="1"/>
          </p:cNvSpPr>
          <p:nvPr/>
        </p:nvSpPr>
        <p:spPr bwMode="auto">
          <a:xfrm>
            <a:off x="4417854" y="4074636"/>
            <a:ext cx="1136650" cy="806450"/>
          </a:xfrm>
          <a:custGeom>
            <a:avLst/>
            <a:gdLst>
              <a:gd name="T0" fmla="*/ 46 w 206"/>
              <a:gd name="T1" fmla="*/ 131 h 146"/>
              <a:gd name="T2" fmla="*/ 46 w 206"/>
              <a:gd name="T3" fmla="*/ 8 h 146"/>
              <a:gd name="T4" fmla="*/ 9 w 206"/>
              <a:gd name="T5" fmla="*/ 8 h 146"/>
              <a:gd name="T6" fmla="*/ 9 w 206"/>
              <a:gd name="T7" fmla="*/ 131 h 146"/>
              <a:gd name="T8" fmla="*/ 0 w 206"/>
              <a:gd name="T9" fmla="*/ 131 h 146"/>
              <a:gd name="T10" fmla="*/ 0 w 206"/>
              <a:gd name="T11" fmla="*/ 146 h 146"/>
              <a:gd name="T12" fmla="*/ 206 w 206"/>
              <a:gd name="T13" fmla="*/ 146 h 146"/>
              <a:gd name="T14" fmla="*/ 206 w 206"/>
              <a:gd name="T15" fmla="*/ 131 h 146"/>
              <a:gd name="T16" fmla="*/ 198 w 206"/>
              <a:gd name="T17" fmla="*/ 131 h 146"/>
              <a:gd name="T18" fmla="*/ 198 w 206"/>
              <a:gd name="T19" fmla="*/ 60 h 146"/>
              <a:gd name="T20" fmla="*/ 161 w 206"/>
              <a:gd name="T21" fmla="*/ 60 h 146"/>
              <a:gd name="T22" fmla="*/ 161 w 206"/>
              <a:gd name="T23" fmla="*/ 131 h 146"/>
              <a:gd name="T24" fmla="*/ 147 w 206"/>
              <a:gd name="T25" fmla="*/ 131 h 146"/>
              <a:gd name="T26" fmla="*/ 147 w 206"/>
              <a:gd name="T27" fmla="*/ 87 h 146"/>
              <a:gd name="T28" fmla="*/ 110 w 206"/>
              <a:gd name="T29" fmla="*/ 87 h 146"/>
              <a:gd name="T30" fmla="*/ 110 w 206"/>
              <a:gd name="T31" fmla="*/ 131 h 146"/>
              <a:gd name="T32" fmla="*/ 98 w 206"/>
              <a:gd name="T33" fmla="*/ 131 h 146"/>
              <a:gd name="T34" fmla="*/ 98 w 206"/>
              <a:gd name="T35" fmla="*/ 40 h 146"/>
              <a:gd name="T36" fmla="*/ 61 w 206"/>
              <a:gd name="T37" fmla="*/ 40 h 146"/>
              <a:gd name="T38" fmla="*/ 61 w 206"/>
              <a:gd name="T39" fmla="*/ 131 h 146"/>
              <a:gd name="T40" fmla="*/ 46 w 206"/>
              <a:gd name="T41" fmla="*/ 131 h 146"/>
              <a:gd name="T42" fmla="*/ 46 w 206"/>
              <a:gd name="T43" fmla="*/ 131 h 146"/>
              <a:gd name="T44" fmla="*/ 110 w 206"/>
              <a:gd name="T45" fmla="*/ 35 h 146"/>
              <a:gd name="T46" fmla="*/ 110 w 206"/>
              <a:gd name="T47" fmla="*/ 13 h 146"/>
              <a:gd name="T48" fmla="*/ 149 w 206"/>
              <a:gd name="T49" fmla="*/ 13 h 146"/>
              <a:gd name="T50" fmla="*/ 149 w 206"/>
              <a:gd name="T51" fmla="*/ 0 h 146"/>
              <a:gd name="T52" fmla="*/ 186 w 206"/>
              <a:gd name="T53" fmla="*/ 23 h 146"/>
              <a:gd name="T54" fmla="*/ 149 w 206"/>
              <a:gd name="T55" fmla="*/ 47 h 146"/>
              <a:gd name="T56" fmla="*/ 149 w 206"/>
              <a:gd name="T57" fmla="*/ 35 h 146"/>
              <a:gd name="T58" fmla="*/ 110 w 206"/>
              <a:gd name="T59" fmla="*/ 35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06" h="146">
                <a:moveTo>
                  <a:pt x="46" y="131"/>
                </a:moveTo>
                <a:lnTo>
                  <a:pt x="46" y="8"/>
                </a:lnTo>
                <a:lnTo>
                  <a:pt x="9" y="8"/>
                </a:lnTo>
                <a:lnTo>
                  <a:pt x="9" y="131"/>
                </a:lnTo>
                <a:lnTo>
                  <a:pt x="0" y="131"/>
                </a:lnTo>
                <a:lnTo>
                  <a:pt x="0" y="146"/>
                </a:lnTo>
                <a:lnTo>
                  <a:pt x="206" y="146"/>
                </a:lnTo>
                <a:lnTo>
                  <a:pt x="206" y="131"/>
                </a:lnTo>
                <a:lnTo>
                  <a:pt x="198" y="131"/>
                </a:lnTo>
                <a:lnTo>
                  <a:pt x="198" y="60"/>
                </a:lnTo>
                <a:lnTo>
                  <a:pt x="161" y="60"/>
                </a:lnTo>
                <a:lnTo>
                  <a:pt x="161" y="131"/>
                </a:lnTo>
                <a:lnTo>
                  <a:pt x="147" y="131"/>
                </a:lnTo>
                <a:lnTo>
                  <a:pt x="147" y="87"/>
                </a:lnTo>
                <a:lnTo>
                  <a:pt x="110" y="87"/>
                </a:lnTo>
                <a:lnTo>
                  <a:pt x="110" y="131"/>
                </a:lnTo>
                <a:lnTo>
                  <a:pt x="98" y="131"/>
                </a:lnTo>
                <a:lnTo>
                  <a:pt x="98" y="40"/>
                </a:lnTo>
                <a:lnTo>
                  <a:pt x="61" y="40"/>
                </a:lnTo>
                <a:lnTo>
                  <a:pt x="61" y="131"/>
                </a:lnTo>
                <a:lnTo>
                  <a:pt x="46" y="131"/>
                </a:lnTo>
                <a:close/>
                <a:moveTo>
                  <a:pt x="110" y="35"/>
                </a:moveTo>
                <a:lnTo>
                  <a:pt x="110" y="13"/>
                </a:lnTo>
                <a:lnTo>
                  <a:pt x="149" y="13"/>
                </a:lnTo>
                <a:lnTo>
                  <a:pt x="149" y="0"/>
                </a:lnTo>
                <a:lnTo>
                  <a:pt x="186" y="23"/>
                </a:lnTo>
                <a:lnTo>
                  <a:pt x="149" y="47"/>
                </a:lnTo>
                <a:lnTo>
                  <a:pt x="149" y="35"/>
                </a:lnTo>
                <a:lnTo>
                  <a:pt x="110" y="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678329" y="1634649"/>
            <a:ext cx="2286000" cy="2286000"/>
          </a:xfrm>
          <a:prstGeom prst="ellipse">
            <a:avLst/>
          </a:prstGeom>
          <a:solidFill>
            <a:srgbClr val="197519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noProof="1"/>
          </a:p>
        </p:txBody>
      </p:sp>
      <p:sp>
        <p:nvSpPr>
          <p:cNvPr id="10" name="Freeform 13"/>
          <p:cNvSpPr>
            <a:spLocks noEditPoints="1" noChangeArrowheads="1"/>
          </p:cNvSpPr>
          <p:nvPr/>
        </p:nvSpPr>
        <p:spPr bwMode="auto">
          <a:xfrm>
            <a:off x="6500654" y="1972786"/>
            <a:ext cx="969962" cy="1103313"/>
          </a:xfrm>
          <a:custGeom>
            <a:avLst/>
            <a:gdLst>
              <a:gd name="T0" fmla="*/ 14 w 71"/>
              <a:gd name="T1" fmla="*/ 4 h 81"/>
              <a:gd name="T2" fmla="*/ 6 w 71"/>
              <a:gd name="T3" fmla="*/ 13 h 81"/>
              <a:gd name="T4" fmla="*/ 14 w 71"/>
              <a:gd name="T5" fmla="*/ 22 h 81"/>
              <a:gd name="T6" fmla="*/ 23 w 71"/>
              <a:gd name="T7" fmla="*/ 13 h 81"/>
              <a:gd name="T8" fmla="*/ 14 w 71"/>
              <a:gd name="T9" fmla="*/ 4 h 81"/>
              <a:gd name="T10" fmla="*/ 40 w 71"/>
              <a:gd name="T11" fmla="*/ 23 h 81"/>
              <a:gd name="T12" fmla="*/ 41 w 71"/>
              <a:gd name="T13" fmla="*/ 30 h 81"/>
              <a:gd name="T14" fmla="*/ 45 w 71"/>
              <a:gd name="T15" fmla="*/ 31 h 81"/>
              <a:gd name="T16" fmla="*/ 48 w 71"/>
              <a:gd name="T17" fmla="*/ 25 h 81"/>
              <a:gd name="T18" fmla="*/ 40 w 71"/>
              <a:gd name="T19" fmla="*/ 23 h 81"/>
              <a:gd name="T20" fmla="*/ 53 w 71"/>
              <a:gd name="T21" fmla="*/ 26 h 81"/>
              <a:gd name="T22" fmla="*/ 48 w 71"/>
              <a:gd name="T23" fmla="*/ 35 h 81"/>
              <a:gd name="T24" fmla="*/ 48 w 71"/>
              <a:gd name="T25" fmla="*/ 37 h 81"/>
              <a:gd name="T26" fmla="*/ 46 w 71"/>
              <a:gd name="T27" fmla="*/ 36 h 81"/>
              <a:gd name="T28" fmla="*/ 42 w 71"/>
              <a:gd name="T29" fmla="*/ 35 h 81"/>
              <a:gd name="T30" fmla="*/ 31 w 71"/>
              <a:gd name="T31" fmla="*/ 43 h 81"/>
              <a:gd name="T32" fmla="*/ 24 w 71"/>
              <a:gd name="T33" fmla="*/ 36 h 81"/>
              <a:gd name="T34" fmla="*/ 24 w 71"/>
              <a:gd name="T35" fmla="*/ 51 h 81"/>
              <a:gd name="T36" fmla="*/ 25 w 71"/>
              <a:gd name="T37" fmla="*/ 81 h 81"/>
              <a:gd name="T38" fmla="*/ 18 w 71"/>
              <a:gd name="T39" fmla="*/ 81 h 81"/>
              <a:gd name="T40" fmla="*/ 16 w 71"/>
              <a:gd name="T41" fmla="*/ 55 h 81"/>
              <a:gd name="T42" fmla="*/ 13 w 71"/>
              <a:gd name="T43" fmla="*/ 55 h 81"/>
              <a:gd name="T44" fmla="*/ 12 w 71"/>
              <a:gd name="T45" fmla="*/ 81 h 81"/>
              <a:gd name="T46" fmla="*/ 4 w 71"/>
              <a:gd name="T47" fmla="*/ 81 h 81"/>
              <a:gd name="T48" fmla="*/ 5 w 71"/>
              <a:gd name="T49" fmla="*/ 51 h 81"/>
              <a:gd name="T50" fmla="*/ 0 w 71"/>
              <a:gd name="T51" fmla="*/ 46 h 81"/>
              <a:gd name="T52" fmla="*/ 4 w 71"/>
              <a:gd name="T53" fmla="*/ 24 h 81"/>
              <a:gd name="T54" fmla="*/ 25 w 71"/>
              <a:gd name="T55" fmla="*/ 24 h 81"/>
              <a:gd name="T56" fmla="*/ 32 w 71"/>
              <a:gd name="T57" fmla="*/ 34 h 81"/>
              <a:gd name="T58" fmla="*/ 37 w 71"/>
              <a:gd name="T59" fmla="*/ 33 h 81"/>
              <a:gd name="T60" fmla="*/ 37 w 71"/>
              <a:gd name="T61" fmla="*/ 33 h 81"/>
              <a:gd name="T62" fmla="*/ 35 w 71"/>
              <a:gd name="T63" fmla="*/ 22 h 81"/>
              <a:gd name="T64" fmla="*/ 28 w 71"/>
              <a:gd name="T65" fmla="*/ 20 h 81"/>
              <a:gd name="T66" fmla="*/ 28 w 71"/>
              <a:gd name="T67" fmla="*/ 10 h 81"/>
              <a:gd name="T68" fmla="*/ 71 w 71"/>
              <a:gd name="T69" fmla="*/ 0 h 81"/>
              <a:gd name="T70" fmla="*/ 71 w 71"/>
              <a:gd name="T71" fmla="*/ 30 h 81"/>
              <a:gd name="T72" fmla="*/ 53 w 71"/>
              <a:gd name="T73" fmla="*/ 26 h 81"/>
              <a:gd name="T74" fmla="*/ 31 w 71"/>
              <a:gd name="T75" fmla="*/ 12 h 81"/>
              <a:gd name="T76" fmla="*/ 31 w 71"/>
              <a:gd name="T77" fmla="*/ 14 h 81"/>
              <a:gd name="T78" fmla="*/ 67 w 71"/>
              <a:gd name="T79" fmla="*/ 12 h 81"/>
              <a:gd name="T80" fmla="*/ 67 w 71"/>
              <a:gd name="T81" fmla="*/ 5 h 81"/>
              <a:gd name="T82" fmla="*/ 31 w 71"/>
              <a:gd name="T83" fmla="*/ 12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1" h="81">
                <a:moveTo>
                  <a:pt x="14" y="4"/>
                </a:moveTo>
                <a:cubicBezTo>
                  <a:pt x="10" y="4"/>
                  <a:pt x="6" y="8"/>
                  <a:pt x="6" y="13"/>
                </a:cubicBezTo>
                <a:cubicBezTo>
                  <a:pt x="6" y="18"/>
                  <a:pt x="10" y="22"/>
                  <a:pt x="14" y="22"/>
                </a:cubicBezTo>
                <a:cubicBezTo>
                  <a:pt x="19" y="22"/>
                  <a:pt x="23" y="18"/>
                  <a:pt x="23" y="13"/>
                </a:cubicBezTo>
                <a:cubicBezTo>
                  <a:pt x="23" y="8"/>
                  <a:pt x="19" y="4"/>
                  <a:pt x="14" y="4"/>
                </a:cubicBezTo>
                <a:close/>
                <a:moveTo>
                  <a:pt x="40" y="23"/>
                </a:moveTo>
                <a:cubicBezTo>
                  <a:pt x="41" y="30"/>
                  <a:pt x="41" y="30"/>
                  <a:pt x="41" y="30"/>
                </a:cubicBezTo>
                <a:cubicBezTo>
                  <a:pt x="45" y="31"/>
                  <a:pt x="45" y="31"/>
                  <a:pt x="45" y="31"/>
                </a:cubicBezTo>
                <a:cubicBezTo>
                  <a:pt x="48" y="25"/>
                  <a:pt x="48" y="25"/>
                  <a:pt x="48" y="25"/>
                </a:cubicBezTo>
                <a:cubicBezTo>
                  <a:pt x="40" y="23"/>
                  <a:pt x="40" y="23"/>
                  <a:pt x="40" y="23"/>
                </a:cubicBezTo>
                <a:close/>
                <a:moveTo>
                  <a:pt x="53" y="26"/>
                </a:moveTo>
                <a:cubicBezTo>
                  <a:pt x="48" y="35"/>
                  <a:pt x="48" y="35"/>
                  <a:pt x="48" y="35"/>
                </a:cubicBezTo>
                <a:cubicBezTo>
                  <a:pt x="48" y="37"/>
                  <a:pt x="48" y="37"/>
                  <a:pt x="48" y="37"/>
                </a:cubicBezTo>
                <a:cubicBezTo>
                  <a:pt x="46" y="36"/>
                  <a:pt x="46" y="36"/>
                  <a:pt x="46" y="36"/>
                </a:cubicBezTo>
                <a:cubicBezTo>
                  <a:pt x="42" y="35"/>
                  <a:pt x="42" y="35"/>
                  <a:pt x="42" y="35"/>
                </a:cubicBezTo>
                <a:cubicBezTo>
                  <a:pt x="31" y="43"/>
                  <a:pt x="31" y="43"/>
                  <a:pt x="31" y="43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51"/>
                  <a:pt x="24" y="51"/>
                  <a:pt x="24" y="51"/>
                </a:cubicBezTo>
                <a:cubicBezTo>
                  <a:pt x="25" y="81"/>
                  <a:pt x="25" y="81"/>
                  <a:pt x="25" y="81"/>
                </a:cubicBezTo>
                <a:cubicBezTo>
                  <a:pt x="18" y="81"/>
                  <a:pt x="18" y="81"/>
                  <a:pt x="18" y="81"/>
                </a:cubicBezTo>
                <a:cubicBezTo>
                  <a:pt x="16" y="55"/>
                  <a:pt x="16" y="55"/>
                  <a:pt x="16" y="55"/>
                </a:cubicBezTo>
                <a:cubicBezTo>
                  <a:pt x="13" y="55"/>
                  <a:pt x="13" y="55"/>
                  <a:pt x="13" y="55"/>
                </a:cubicBezTo>
                <a:cubicBezTo>
                  <a:pt x="12" y="81"/>
                  <a:pt x="12" y="81"/>
                  <a:pt x="12" y="81"/>
                </a:cubicBezTo>
                <a:cubicBezTo>
                  <a:pt x="4" y="81"/>
                  <a:pt x="4" y="81"/>
                  <a:pt x="4" y="81"/>
                </a:cubicBezTo>
                <a:cubicBezTo>
                  <a:pt x="5" y="51"/>
                  <a:pt x="5" y="51"/>
                  <a:pt x="5" y="51"/>
                </a:cubicBezTo>
                <a:cubicBezTo>
                  <a:pt x="4" y="49"/>
                  <a:pt x="2" y="48"/>
                  <a:pt x="0" y="46"/>
                </a:cubicBezTo>
                <a:cubicBezTo>
                  <a:pt x="4" y="24"/>
                  <a:pt x="4" y="24"/>
                  <a:pt x="4" y="24"/>
                </a:cubicBezTo>
                <a:cubicBezTo>
                  <a:pt x="27" y="24"/>
                  <a:pt x="2" y="24"/>
                  <a:pt x="25" y="24"/>
                </a:cubicBezTo>
                <a:cubicBezTo>
                  <a:pt x="32" y="34"/>
                  <a:pt x="32" y="34"/>
                  <a:pt x="32" y="34"/>
                </a:cubicBezTo>
                <a:cubicBezTo>
                  <a:pt x="37" y="33"/>
                  <a:pt x="37" y="33"/>
                  <a:pt x="37" y="33"/>
                </a:cubicBezTo>
                <a:cubicBezTo>
                  <a:pt x="37" y="33"/>
                  <a:pt x="37" y="33"/>
                  <a:pt x="37" y="33"/>
                </a:cubicBezTo>
                <a:cubicBezTo>
                  <a:pt x="35" y="22"/>
                  <a:pt x="35" y="22"/>
                  <a:pt x="35" y="22"/>
                </a:cubicBezTo>
                <a:cubicBezTo>
                  <a:pt x="28" y="20"/>
                  <a:pt x="28" y="20"/>
                  <a:pt x="28" y="20"/>
                </a:cubicBezTo>
                <a:cubicBezTo>
                  <a:pt x="28" y="10"/>
                  <a:pt x="28" y="10"/>
                  <a:pt x="28" y="1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30"/>
                  <a:pt x="71" y="30"/>
                  <a:pt x="71" y="30"/>
                </a:cubicBezTo>
                <a:cubicBezTo>
                  <a:pt x="53" y="26"/>
                  <a:pt x="53" y="26"/>
                  <a:pt x="53" y="26"/>
                </a:cubicBezTo>
                <a:close/>
                <a:moveTo>
                  <a:pt x="31" y="12"/>
                </a:moveTo>
                <a:cubicBezTo>
                  <a:pt x="31" y="14"/>
                  <a:pt x="31" y="14"/>
                  <a:pt x="31" y="14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5"/>
                  <a:pt x="67" y="5"/>
                  <a:pt x="67" y="5"/>
                </a:cubicBezTo>
                <a:lnTo>
                  <a:pt x="31" y="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5678329" y="3215799"/>
            <a:ext cx="2286000" cy="2286000"/>
          </a:xfrm>
          <a:prstGeom prst="ellipse">
            <a:avLst/>
          </a:prstGeom>
          <a:solidFill>
            <a:srgbClr val="197519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noProof="1"/>
          </a:p>
        </p:txBody>
      </p:sp>
      <p:sp>
        <p:nvSpPr>
          <p:cNvPr id="12" name="Freeform 17"/>
          <p:cNvSpPr>
            <a:spLocks noEditPoints="1" noChangeArrowheads="1"/>
          </p:cNvSpPr>
          <p:nvPr/>
        </p:nvSpPr>
        <p:spPr bwMode="auto">
          <a:xfrm>
            <a:off x="6502241" y="4063524"/>
            <a:ext cx="966788" cy="828675"/>
          </a:xfrm>
          <a:custGeom>
            <a:avLst/>
            <a:gdLst>
              <a:gd name="T0" fmla="*/ 7 w 81"/>
              <a:gd name="T1" fmla="*/ 9 h 69"/>
              <a:gd name="T2" fmla="*/ 34 w 81"/>
              <a:gd name="T3" fmla="*/ 9 h 69"/>
              <a:gd name="T4" fmla="*/ 15 w 81"/>
              <a:gd name="T5" fmla="*/ 17 h 69"/>
              <a:gd name="T6" fmla="*/ 8 w 81"/>
              <a:gd name="T7" fmla="*/ 17 h 69"/>
              <a:gd name="T8" fmla="*/ 8 w 81"/>
              <a:gd name="T9" fmla="*/ 51 h 69"/>
              <a:gd name="T10" fmla="*/ 56 w 81"/>
              <a:gd name="T11" fmla="*/ 51 h 69"/>
              <a:gd name="T12" fmla="*/ 56 w 81"/>
              <a:gd name="T13" fmla="*/ 41 h 69"/>
              <a:gd name="T14" fmla="*/ 65 w 81"/>
              <a:gd name="T15" fmla="*/ 38 h 69"/>
              <a:gd name="T16" fmla="*/ 65 w 81"/>
              <a:gd name="T17" fmla="*/ 52 h 69"/>
              <a:gd name="T18" fmla="*/ 58 w 81"/>
              <a:gd name="T19" fmla="*/ 60 h 69"/>
              <a:gd name="T20" fmla="*/ 42 w 81"/>
              <a:gd name="T21" fmla="*/ 60 h 69"/>
              <a:gd name="T22" fmla="*/ 42 w 81"/>
              <a:gd name="T23" fmla="*/ 65 h 69"/>
              <a:gd name="T24" fmla="*/ 56 w 81"/>
              <a:gd name="T25" fmla="*/ 65 h 69"/>
              <a:gd name="T26" fmla="*/ 56 w 81"/>
              <a:gd name="T27" fmla="*/ 69 h 69"/>
              <a:gd name="T28" fmla="*/ 10 w 81"/>
              <a:gd name="T29" fmla="*/ 69 h 69"/>
              <a:gd name="T30" fmla="*/ 10 w 81"/>
              <a:gd name="T31" fmla="*/ 65 h 69"/>
              <a:gd name="T32" fmla="*/ 24 w 81"/>
              <a:gd name="T33" fmla="*/ 65 h 69"/>
              <a:gd name="T34" fmla="*/ 24 w 81"/>
              <a:gd name="T35" fmla="*/ 60 h 69"/>
              <a:gd name="T36" fmla="*/ 7 w 81"/>
              <a:gd name="T37" fmla="*/ 60 h 69"/>
              <a:gd name="T38" fmla="*/ 0 w 81"/>
              <a:gd name="T39" fmla="*/ 52 h 69"/>
              <a:gd name="T40" fmla="*/ 0 w 81"/>
              <a:gd name="T41" fmla="*/ 17 h 69"/>
              <a:gd name="T42" fmla="*/ 7 w 81"/>
              <a:gd name="T43" fmla="*/ 9 h 69"/>
              <a:gd name="T44" fmla="*/ 69 w 81"/>
              <a:gd name="T45" fmla="*/ 0 h 69"/>
              <a:gd name="T46" fmla="*/ 29 w 81"/>
              <a:gd name="T47" fmla="*/ 14 h 69"/>
              <a:gd name="T48" fmla="*/ 49 w 81"/>
              <a:gd name="T49" fmla="*/ 18 h 69"/>
              <a:gd name="T50" fmla="*/ 49 w 81"/>
              <a:gd name="T51" fmla="*/ 18 h 69"/>
              <a:gd name="T52" fmla="*/ 54 w 81"/>
              <a:gd name="T53" fmla="*/ 19 h 69"/>
              <a:gd name="T54" fmla="*/ 54 w 81"/>
              <a:gd name="T55" fmla="*/ 19 h 69"/>
              <a:gd name="T56" fmla="*/ 69 w 81"/>
              <a:gd name="T57" fmla="*/ 0 h 69"/>
              <a:gd name="T58" fmla="*/ 72 w 81"/>
              <a:gd name="T59" fmla="*/ 1 h 69"/>
              <a:gd name="T60" fmla="*/ 56 w 81"/>
              <a:gd name="T61" fmla="*/ 21 h 69"/>
              <a:gd name="T62" fmla="*/ 54 w 81"/>
              <a:gd name="T63" fmla="*/ 22 h 69"/>
              <a:gd name="T64" fmla="*/ 28 w 81"/>
              <a:gd name="T65" fmla="*/ 17 h 69"/>
              <a:gd name="T66" fmla="*/ 28 w 81"/>
              <a:gd name="T67" fmla="*/ 19 h 69"/>
              <a:gd name="T68" fmla="*/ 36 w 81"/>
              <a:gd name="T69" fmla="*/ 40 h 69"/>
              <a:gd name="T70" fmla="*/ 37 w 81"/>
              <a:gd name="T71" fmla="*/ 42 h 69"/>
              <a:gd name="T72" fmla="*/ 43 w 81"/>
              <a:gd name="T73" fmla="*/ 29 h 69"/>
              <a:gd name="T74" fmla="*/ 45 w 81"/>
              <a:gd name="T75" fmla="*/ 29 h 69"/>
              <a:gd name="T76" fmla="*/ 45 w 81"/>
              <a:gd name="T77" fmla="*/ 29 h 69"/>
              <a:gd name="T78" fmla="*/ 46 w 81"/>
              <a:gd name="T79" fmla="*/ 31 h 69"/>
              <a:gd name="T80" fmla="*/ 40 w 81"/>
              <a:gd name="T81" fmla="*/ 43 h 69"/>
              <a:gd name="T82" fmla="*/ 42 w 81"/>
              <a:gd name="T83" fmla="*/ 43 h 69"/>
              <a:gd name="T84" fmla="*/ 78 w 81"/>
              <a:gd name="T85" fmla="*/ 29 h 69"/>
              <a:gd name="T86" fmla="*/ 79 w 81"/>
              <a:gd name="T87" fmla="*/ 29 h 69"/>
              <a:gd name="T88" fmla="*/ 66 w 81"/>
              <a:gd name="T89" fmla="*/ 23 h 69"/>
              <a:gd name="T90" fmla="*/ 66 w 81"/>
              <a:gd name="T91" fmla="*/ 21 h 69"/>
              <a:gd name="T92" fmla="*/ 66 w 81"/>
              <a:gd name="T93" fmla="*/ 21 h 69"/>
              <a:gd name="T94" fmla="*/ 68 w 81"/>
              <a:gd name="T95" fmla="*/ 20 h 69"/>
              <a:gd name="T96" fmla="*/ 81 w 81"/>
              <a:gd name="T97" fmla="*/ 26 h 69"/>
              <a:gd name="T98" fmla="*/ 81 w 81"/>
              <a:gd name="T99" fmla="*/ 23 h 69"/>
              <a:gd name="T100" fmla="*/ 73 w 81"/>
              <a:gd name="T101" fmla="*/ 3 h 69"/>
              <a:gd name="T102" fmla="*/ 72 w 81"/>
              <a:gd name="T103" fmla="*/ 1 h 69"/>
              <a:gd name="T104" fmla="*/ 56 w 81"/>
              <a:gd name="T105" fmla="*/ 55 h 69"/>
              <a:gd name="T106" fmla="*/ 54 w 81"/>
              <a:gd name="T107" fmla="*/ 57 h 69"/>
              <a:gd name="T108" fmla="*/ 56 w 81"/>
              <a:gd name="T109" fmla="*/ 59 h 69"/>
              <a:gd name="T110" fmla="*/ 58 w 81"/>
              <a:gd name="T111" fmla="*/ 57 h 69"/>
              <a:gd name="T112" fmla="*/ 56 w 81"/>
              <a:gd name="T113" fmla="*/ 55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1" h="69">
                <a:moveTo>
                  <a:pt x="7" y="9"/>
                </a:moveTo>
                <a:cubicBezTo>
                  <a:pt x="34" y="9"/>
                  <a:pt x="34" y="9"/>
                  <a:pt x="34" y="9"/>
                </a:cubicBezTo>
                <a:cubicBezTo>
                  <a:pt x="15" y="17"/>
                  <a:pt x="15" y="17"/>
                  <a:pt x="15" y="17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51"/>
                  <a:pt x="8" y="51"/>
                  <a:pt x="8" y="51"/>
                </a:cubicBezTo>
                <a:cubicBezTo>
                  <a:pt x="56" y="51"/>
                  <a:pt x="56" y="51"/>
                  <a:pt x="56" y="51"/>
                </a:cubicBezTo>
                <a:cubicBezTo>
                  <a:pt x="56" y="41"/>
                  <a:pt x="56" y="41"/>
                  <a:pt x="56" y="41"/>
                </a:cubicBezTo>
                <a:cubicBezTo>
                  <a:pt x="65" y="38"/>
                  <a:pt x="65" y="38"/>
                  <a:pt x="65" y="38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6"/>
                  <a:pt x="62" y="60"/>
                  <a:pt x="58" y="60"/>
                </a:cubicBezTo>
                <a:cubicBezTo>
                  <a:pt x="42" y="60"/>
                  <a:pt x="42" y="60"/>
                  <a:pt x="42" y="60"/>
                </a:cubicBezTo>
                <a:cubicBezTo>
                  <a:pt x="42" y="65"/>
                  <a:pt x="42" y="65"/>
                  <a:pt x="42" y="65"/>
                </a:cubicBezTo>
                <a:cubicBezTo>
                  <a:pt x="56" y="65"/>
                  <a:pt x="56" y="65"/>
                  <a:pt x="56" y="65"/>
                </a:cubicBezTo>
                <a:cubicBezTo>
                  <a:pt x="56" y="69"/>
                  <a:pt x="56" y="69"/>
                  <a:pt x="56" y="69"/>
                </a:cubicBezTo>
                <a:cubicBezTo>
                  <a:pt x="10" y="69"/>
                  <a:pt x="10" y="69"/>
                  <a:pt x="10" y="69"/>
                </a:cubicBezTo>
                <a:cubicBezTo>
                  <a:pt x="10" y="65"/>
                  <a:pt x="10" y="65"/>
                  <a:pt x="10" y="65"/>
                </a:cubicBezTo>
                <a:cubicBezTo>
                  <a:pt x="24" y="65"/>
                  <a:pt x="24" y="65"/>
                  <a:pt x="24" y="65"/>
                </a:cubicBezTo>
                <a:cubicBezTo>
                  <a:pt x="24" y="60"/>
                  <a:pt x="24" y="60"/>
                  <a:pt x="24" y="60"/>
                </a:cubicBezTo>
                <a:cubicBezTo>
                  <a:pt x="7" y="60"/>
                  <a:pt x="7" y="60"/>
                  <a:pt x="7" y="60"/>
                </a:cubicBezTo>
                <a:cubicBezTo>
                  <a:pt x="3" y="60"/>
                  <a:pt x="0" y="56"/>
                  <a:pt x="0" y="52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3"/>
                  <a:pt x="3" y="9"/>
                  <a:pt x="7" y="9"/>
                </a:cubicBezTo>
                <a:close/>
                <a:moveTo>
                  <a:pt x="69" y="0"/>
                </a:moveTo>
                <a:cubicBezTo>
                  <a:pt x="29" y="14"/>
                  <a:pt x="29" y="14"/>
                  <a:pt x="29" y="14"/>
                </a:cubicBezTo>
                <a:cubicBezTo>
                  <a:pt x="49" y="18"/>
                  <a:pt x="49" y="18"/>
                  <a:pt x="49" y="18"/>
                </a:cubicBezTo>
                <a:cubicBezTo>
                  <a:pt x="49" y="18"/>
                  <a:pt x="49" y="18"/>
                  <a:pt x="49" y="18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4" y="19"/>
                </a:cubicBezTo>
                <a:cubicBezTo>
                  <a:pt x="69" y="0"/>
                  <a:pt x="69" y="0"/>
                  <a:pt x="69" y="0"/>
                </a:cubicBezTo>
                <a:close/>
                <a:moveTo>
                  <a:pt x="72" y="1"/>
                </a:moveTo>
                <a:cubicBezTo>
                  <a:pt x="67" y="8"/>
                  <a:pt x="61" y="14"/>
                  <a:pt x="56" y="21"/>
                </a:cubicBezTo>
                <a:cubicBezTo>
                  <a:pt x="55" y="21"/>
                  <a:pt x="54" y="22"/>
                  <a:pt x="54" y="22"/>
                </a:cubicBezTo>
                <a:cubicBezTo>
                  <a:pt x="28" y="17"/>
                  <a:pt x="28" y="17"/>
                  <a:pt x="28" y="17"/>
                </a:cubicBezTo>
                <a:cubicBezTo>
                  <a:pt x="28" y="18"/>
                  <a:pt x="28" y="19"/>
                  <a:pt x="28" y="19"/>
                </a:cubicBezTo>
                <a:cubicBezTo>
                  <a:pt x="36" y="40"/>
                  <a:pt x="36" y="40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29"/>
                  <a:pt x="44" y="28"/>
                  <a:pt x="45" y="29"/>
                </a:cubicBezTo>
                <a:cubicBezTo>
                  <a:pt x="45" y="29"/>
                  <a:pt x="45" y="29"/>
                  <a:pt x="45" y="29"/>
                </a:cubicBezTo>
                <a:cubicBezTo>
                  <a:pt x="46" y="29"/>
                  <a:pt x="46" y="30"/>
                  <a:pt x="46" y="31"/>
                </a:cubicBezTo>
                <a:cubicBezTo>
                  <a:pt x="40" y="43"/>
                  <a:pt x="40" y="43"/>
                  <a:pt x="40" y="43"/>
                </a:cubicBezTo>
                <a:cubicBezTo>
                  <a:pt x="41" y="43"/>
                  <a:pt x="41" y="43"/>
                  <a:pt x="42" y="43"/>
                </a:cubicBezTo>
                <a:cubicBezTo>
                  <a:pt x="78" y="29"/>
                  <a:pt x="78" y="29"/>
                  <a:pt x="78" y="29"/>
                </a:cubicBezTo>
                <a:cubicBezTo>
                  <a:pt x="79" y="29"/>
                  <a:pt x="79" y="29"/>
                  <a:pt x="79" y="29"/>
                </a:cubicBezTo>
                <a:cubicBezTo>
                  <a:pt x="66" y="23"/>
                  <a:pt x="66" y="23"/>
                  <a:pt x="66" y="23"/>
                </a:cubicBezTo>
                <a:cubicBezTo>
                  <a:pt x="66" y="22"/>
                  <a:pt x="65" y="21"/>
                  <a:pt x="66" y="21"/>
                </a:cubicBezTo>
                <a:cubicBezTo>
                  <a:pt x="66" y="21"/>
                  <a:pt x="66" y="21"/>
                  <a:pt x="66" y="21"/>
                </a:cubicBezTo>
                <a:cubicBezTo>
                  <a:pt x="66" y="20"/>
                  <a:pt x="67" y="20"/>
                  <a:pt x="68" y="20"/>
                </a:cubicBezTo>
                <a:cubicBezTo>
                  <a:pt x="81" y="26"/>
                  <a:pt x="81" y="26"/>
                  <a:pt x="81" y="26"/>
                </a:cubicBezTo>
                <a:cubicBezTo>
                  <a:pt x="81" y="25"/>
                  <a:pt x="81" y="24"/>
                  <a:pt x="81" y="23"/>
                </a:cubicBezTo>
                <a:cubicBezTo>
                  <a:pt x="73" y="3"/>
                  <a:pt x="73" y="3"/>
                  <a:pt x="73" y="3"/>
                </a:cubicBezTo>
                <a:cubicBezTo>
                  <a:pt x="73" y="2"/>
                  <a:pt x="73" y="1"/>
                  <a:pt x="72" y="1"/>
                </a:cubicBezTo>
                <a:close/>
                <a:moveTo>
                  <a:pt x="56" y="55"/>
                </a:moveTo>
                <a:cubicBezTo>
                  <a:pt x="55" y="55"/>
                  <a:pt x="54" y="56"/>
                  <a:pt x="54" y="57"/>
                </a:cubicBezTo>
                <a:cubicBezTo>
                  <a:pt x="54" y="58"/>
                  <a:pt x="55" y="59"/>
                  <a:pt x="56" y="59"/>
                </a:cubicBezTo>
                <a:cubicBezTo>
                  <a:pt x="57" y="59"/>
                  <a:pt x="58" y="58"/>
                  <a:pt x="58" y="57"/>
                </a:cubicBezTo>
                <a:cubicBezTo>
                  <a:pt x="58" y="56"/>
                  <a:pt x="57" y="55"/>
                  <a:pt x="56" y="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563404" y="1636236"/>
            <a:ext cx="3190875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就绪时间</a:t>
            </a:r>
            <a:endParaRPr kumimoji="1" lang="en-US" altLang="zh-CN" sz="2000" b="1" dirty="0">
              <a:solidFill>
                <a:schemeClr val="accent2"/>
              </a:solidFill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开始或完成截止时间</a:t>
            </a:r>
            <a:endParaRPr kumimoji="1" lang="en-US" altLang="zh-CN" sz="2000" b="1" dirty="0">
              <a:solidFill>
                <a:schemeClr val="accent2"/>
              </a:solidFill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处理时间</a:t>
            </a:r>
            <a:endParaRPr kumimoji="1" lang="en-US" altLang="zh-CN" sz="2000" b="1" dirty="0">
              <a:solidFill>
                <a:schemeClr val="accent2"/>
              </a:solidFill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资源要求</a:t>
            </a:r>
            <a:endParaRPr kumimoji="1" lang="en-US" altLang="zh-CN" sz="2000" b="1" dirty="0">
              <a:solidFill>
                <a:schemeClr val="accent2"/>
              </a:solidFill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绝对或相对优先级（硬实时或软实时）</a:t>
            </a:r>
            <a:endParaRPr kumimoji="1" lang="en-US" altLang="zh-CN" sz="2000" b="1" dirty="0">
              <a:solidFill>
                <a:schemeClr val="accent2"/>
              </a:solidFill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569879" y="1247299"/>
            <a:ext cx="1980029" cy="44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197519"/>
                </a:solidFill>
              </a:rPr>
              <a:t>提供必要的信息</a:t>
            </a:r>
            <a:endParaRPr lang="en-US" altLang="zh-CN" sz="2000" b="1" dirty="0">
              <a:solidFill>
                <a:srgbClr val="197519"/>
              </a:solidFill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563404" y="4285139"/>
            <a:ext cx="3190875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单处理机情况下，要求满足下面限制条件：</a:t>
            </a:r>
            <a:endParaRPr kumimoji="1" lang="en-US" altLang="zh-CN" sz="2000" b="1" dirty="0">
              <a:solidFill>
                <a:schemeClr val="accent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000" dirty="0"/>
              <a:t>其中</a:t>
            </a:r>
            <a:r>
              <a:rPr lang="en-US" altLang="zh-CN" sz="2000" dirty="0"/>
              <a:t>C</a:t>
            </a:r>
            <a:r>
              <a:rPr lang="en-US" altLang="zh-CN" sz="2000" baseline="-25000" dirty="0"/>
              <a:t>i</a:t>
            </a:r>
            <a:r>
              <a:rPr lang="en-US" altLang="zh-CN" sz="2000" dirty="0"/>
              <a:t> </a:t>
            </a:r>
            <a:r>
              <a:rPr lang="en-US" altLang="zh-CN" sz="2000" dirty="0" err="1"/>
              <a:t>表示处理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en-US" altLang="zh-CN" sz="2000" dirty="0" err="1"/>
              <a:t>时间，P</a:t>
            </a:r>
            <a:r>
              <a:rPr lang="en-US" altLang="zh-CN" sz="2000" baseline="-25000" dirty="0" err="1"/>
              <a:t>i</a:t>
            </a:r>
            <a:r>
              <a:rPr lang="en-US" altLang="zh-CN" sz="2000" dirty="0" err="1"/>
              <a:t>表示周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en-US" altLang="zh-CN" sz="2000" dirty="0" err="1"/>
              <a:t>期时间</a:t>
            </a:r>
            <a:endParaRPr lang="zh-CN" altLang="en-US" sz="2000" dirty="0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569879" y="3896201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197519"/>
                </a:solidFill>
              </a:rPr>
              <a:t>系统处理能力强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8253254" y="2026761"/>
            <a:ext cx="3192462" cy="745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以满足</a:t>
            </a:r>
            <a:r>
              <a:rPr kumimoji="1" lang="en-US" altLang="zh-CN" sz="2000" b="1" dirty="0">
                <a:solidFill>
                  <a:schemeClr val="accent2"/>
                </a:solidFill>
              </a:rPr>
              <a:t>HRT</a:t>
            </a:r>
            <a:r>
              <a:rPr kumimoji="1" lang="zh-CN" altLang="en-US" sz="2000" b="1" dirty="0">
                <a:solidFill>
                  <a:schemeClr val="accent2"/>
                </a:solidFill>
              </a:rPr>
              <a:t>任务对截止时间的要求。</a:t>
            </a:r>
            <a:endParaRPr kumimoji="1" lang="en-US" altLang="zh-CN" sz="2000" b="1" dirty="0">
              <a:solidFill>
                <a:schemeClr val="accent2"/>
              </a:solidFill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8253254" y="1639411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197519"/>
                </a:solidFill>
              </a:rPr>
              <a:t>采用抢占式调度机制</a:t>
            </a: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8253254" y="4346099"/>
            <a:ext cx="319246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对外部中断的快速响应能力：</a:t>
            </a:r>
            <a:endParaRPr kumimoji="1" lang="en-US" altLang="zh-CN" sz="2000" b="1" dirty="0">
              <a:solidFill>
                <a:schemeClr val="accent2"/>
              </a:solidFill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accent2"/>
                </a:solidFill>
              </a:rPr>
              <a:t>快速的任务分派能力：</a:t>
            </a:r>
            <a:endParaRPr lang="en-US" altLang="zh-CN" sz="2000" b="1" dirty="0">
              <a:solidFill>
                <a:schemeClr val="accent2"/>
              </a:solidFill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8253254" y="3957161"/>
            <a:ext cx="22365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197519"/>
                </a:solidFill>
              </a:rPr>
              <a:t>具有快速切换机制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150085"/>
              </p:ext>
            </p:extLst>
          </p:nvPr>
        </p:nvGraphicFramePr>
        <p:xfrm>
          <a:off x="2872839" y="4963636"/>
          <a:ext cx="135413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58558" imgH="444307" progId="Equation.3">
                  <p:embed/>
                </p:oleObj>
              </mc:Choice>
              <mc:Fallback>
                <p:oleObj name="公式" r:id="rId2" imgW="558558" imgH="44430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839" y="4963636"/>
                        <a:ext cx="1354138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047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实时调度算法的分类</a:t>
            </a:r>
          </a:p>
        </p:txBody>
      </p:sp>
      <p:sp>
        <p:nvSpPr>
          <p:cNvPr id="14" name="箭头3"/>
          <p:cNvSpPr/>
          <p:nvPr/>
        </p:nvSpPr>
        <p:spPr bwMode="gray">
          <a:xfrm flipV="1">
            <a:off x="1666294" y="3610928"/>
            <a:ext cx="1609352" cy="1453237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箭头1"/>
          <p:cNvSpPr/>
          <p:nvPr/>
        </p:nvSpPr>
        <p:spPr bwMode="gray">
          <a:xfrm>
            <a:off x="1655944" y="2388529"/>
            <a:ext cx="1609352" cy="1654448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文本1"/>
          <p:cNvSpPr>
            <a:spLocks noChangeArrowheads="1"/>
          </p:cNvSpPr>
          <p:nvPr/>
        </p:nvSpPr>
        <p:spPr bwMode="gray">
          <a:xfrm>
            <a:off x="5058697" y="1619005"/>
            <a:ext cx="5515897" cy="2016304"/>
          </a:xfrm>
          <a:prstGeom prst="roundRect">
            <a:avLst>
              <a:gd name="adj" fmla="val 11505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prstDash val="sysDot"/>
                <a:rou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4D4D4D"/>
                </a:solidFill>
                <a:cs typeface="+mn-ea"/>
                <a:sym typeface="+mn-lt"/>
              </a:rPr>
              <a:t>    </a:t>
            </a:r>
            <a:endParaRPr kumimoji="0" lang="zh-CN" altLang="zh-CN" sz="1600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标题1"/>
          <p:cNvSpPr>
            <a:spLocks noChangeArrowheads="1"/>
          </p:cNvSpPr>
          <p:nvPr/>
        </p:nvSpPr>
        <p:spPr bwMode="gray">
          <a:xfrm>
            <a:off x="3211616" y="2056844"/>
            <a:ext cx="1847082" cy="1155600"/>
          </a:xfrm>
          <a:prstGeom prst="roundRect">
            <a:avLst>
              <a:gd name="adj" fmla="val 11921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noProof="0" dirty="0">
                <a:solidFill>
                  <a:sysClr val="window" lastClr="FFFFFF">
                    <a:lumMod val="95000"/>
                  </a:sysClr>
                </a:solidFill>
                <a:cs typeface="+mn-ea"/>
                <a:sym typeface="+mn-lt"/>
              </a:rPr>
              <a:t>按实时任务性质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>
                  <a:lumMod val="95000"/>
                </a:sys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文本3"/>
          <p:cNvSpPr>
            <a:spLocks noChangeArrowheads="1"/>
          </p:cNvSpPr>
          <p:nvPr/>
        </p:nvSpPr>
        <p:spPr bwMode="ltGray">
          <a:xfrm>
            <a:off x="5058696" y="4028229"/>
            <a:ext cx="5515897" cy="1800201"/>
          </a:xfrm>
          <a:prstGeom prst="roundRect">
            <a:avLst>
              <a:gd name="adj" fmla="val 11505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prstDash val="sysDot"/>
                <a:rou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4D4D4D"/>
                </a:solidFill>
                <a:cs typeface="+mn-ea"/>
                <a:sym typeface="+mn-lt"/>
              </a:rPr>
              <a:t>    </a:t>
            </a:r>
            <a:endParaRPr lang="zh-CN" altLang="zh-CN" sz="1600" dirty="0">
              <a:solidFill>
                <a:srgbClr val="4D4D4D"/>
              </a:solidFill>
              <a:cs typeface="+mn-ea"/>
              <a:sym typeface="+mn-lt"/>
            </a:endParaRPr>
          </a:p>
        </p:txBody>
      </p:sp>
      <p:sp>
        <p:nvSpPr>
          <p:cNvPr id="19" name="标题3"/>
          <p:cNvSpPr>
            <a:spLocks noChangeArrowheads="1"/>
          </p:cNvSpPr>
          <p:nvPr/>
        </p:nvSpPr>
        <p:spPr bwMode="gray">
          <a:xfrm>
            <a:off x="3275646" y="4336301"/>
            <a:ext cx="1789401" cy="1154559"/>
          </a:xfrm>
          <a:prstGeom prst="roundRect">
            <a:avLst>
              <a:gd name="adj" fmla="val 11921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ysClr val="window" lastClr="FFFFFF">
                    <a:lumMod val="95000"/>
                  </a:sysClr>
                </a:solidFill>
                <a:cs typeface="+mn-ea"/>
                <a:sym typeface="+mn-lt"/>
              </a:rPr>
              <a:t>按调度方式</a:t>
            </a:r>
            <a:endParaRPr lang="zh-CN" altLang="zh-CN" sz="2400" b="1" dirty="0">
              <a:solidFill>
                <a:sysClr val="window" lastClr="FFFFFF">
                  <a:lumMod val="95000"/>
                </a:sysClr>
              </a:solidFill>
              <a:cs typeface="+mn-ea"/>
              <a:sym typeface="+mn-lt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1139335" y="3077537"/>
            <a:ext cx="1440000" cy="14400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126000" rIns="126000" bIns="180000" anchor="ctr"/>
          <a:lstStyle/>
          <a:p>
            <a:pPr algn="ctr">
              <a:lnSpc>
                <a:spcPct val="120000"/>
              </a:lnSpc>
            </a:pPr>
            <a:r>
              <a:rPr lang="zh-CN" altLang="en-US" sz="2400" b="1" kern="0" dirty="0">
                <a:solidFill>
                  <a:srgbClr val="F9F9F9"/>
                </a:solidFill>
                <a:cs typeface="+mn-ea"/>
                <a:sym typeface="+mn-lt"/>
              </a:rPr>
              <a:t>调度算法</a:t>
            </a:r>
            <a:endParaRPr lang="en-US" altLang="zh-CN" sz="2400" b="1" kern="0" dirty="0">
              <a:solidFill>
                <a:srgbClr val="F9F9F9"/>
              </a:solidFill>
              <a:cs typeface="+mn-ea"/>
              <a:sym typeface="+mn-lt"/>
            </a:endParaRPr>
          </a:p>
        </p:txBody>
      </p:sp>
      <p:sp>
        <p:nvSpPr>
          <p:cNvPr id="22" name="文本框 19"/>
          <p:cNvSpPr txBox="1">
            <a:spLocks noChangeArrowheads="1"/>
          </p:cNvSpPr>
          <p:nvPr/>
        </p:nvSpPr>
        <p:spPr bwMode="auto">
          <a:xfrm>
            <a:off x="5385191" y="2020472"/>
            <a:ext cx="515867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硬实时任务</a:t>
            </a:r>
            <a:endParaRPr lang="en-US" altLang="zh-CN" sz="2400" b="1" dirty="0"/>
          </a:p>
          <a:p>
            <a:pPr marL="0" lvl="2" indent="0"/>
            <a:endParaRPr lang="en-US" altLang="zh-CN" sz="2400" b="1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软实时任务</a:t>
            </a:r>
            <a:endParaRPr lang="en-US" altLang="zh-CN" sz="2400" b="1" dirty="0"/>
          </a:p>
        </p:txBody>
      </p:sp>
      <p:sp>
        <p:nvSpPr>
          <p:cNvPr id="24" name="文本框 19"/>
          <p:cNvSpPr txBox="1">
            <a:spLocks noChangeArrowheads="1"/>
          </p:cNvSpPr>
          <p:nvPr/>
        </p:nvSpPr>
        <p:spPr bwMode="auto">
          <a:xfrm>
            <a:off x="5400431" y="4312924"/>
            <a:ext cx="515867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非抢占调度算法</a:t>
            </a:r>
            <a:endParaRPr lang="en-US" altLang="zh-CN" sz="2400" b="1" dirty="0"/>
          </a:p>
          <a:p>
            <a:pPr marL="0" lvl="2" indent="0"/>
            <a:endParaRPr lang="en-US" altLang="zh-CN" sz="2400" b="1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抢占调度算法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70094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实时调度算法的分类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978290" y="1120021"/>
            <a:ext cx="6377004" cy="665162"/>
            <a:chOff x="978290" y="1120021"/>
            <a:chExt cx="6377004" cy="665162"/>
          </a:xfrm>
        </p:grpSpPr>
        <p:sp>
          <p:nvSpPr>
            <p:cNvPr id="23" name="矩形 22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6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）非抢占式调度算法</a:t>
              </a:r>
            </a:p>
          </p:txBody>
        </p:sp>
      </p:grpSp>
      <p:sp>
        <p:nvSpPr>
          <p:cNvPr id="33" name="文本框 54"/>
          <p:cNvSpPr txBox="1">
            <a:spLocks noChangeArrowheads="1"/>
          </p:cNvSpPr>
          <p:nvPr/>
        </p:nvSpPr>
        <p:spPr bwMode="auto">
          <a:xfrm>
            <a:off x="1107897" y="1963661"/>
            <a:ext cx="6976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</a:p>
        </p:txBody>
      </p:sp>
      <p:sp>
        <p:nvSpPr>
          <p:cNvPr id="34" name="文本框 19"/>
          <p:cNvSpPr txBox="1">
            <a:spLocks noChangeArrowheads="1"/>
          </p:cNvSpPr>
          <p:nvPr/>
        </p:nvSpPr>
        <p:spPr bwMode="auto">
          <a:xfrm>
            <a:off x="1126172" y="2331599"/>
            <a:ext cx="102917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算法比较简单，易于实现。</a:t>
            </a:r>
            <a:endParaRPr lang="en-US" altLang="zh-CN" sz="2400" dirty="0"/>
          </a:p>
        </p:txBody>
      </p:sp>
      <p:sp>
        <p:nvSpPr>
          <p:cNvPr id="35" name="文本框 54"/>
          <p:cNvSpPr txBox="1">
            <a:spLocks noChangeArrowheads="1"/>
          </p:cNvSpPr>
          <p:nvPr/>
        </p:nvSpPr>
        <p:spPr bwMode="auto">
          <a:xfrm>
            <a:off x="1107897" y="2893301"/>
            <a:ext cx="6976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</a:p>
        </p:txBody>
      </p:sp>
      <p:sp>
        <p:nvSpPr>
          <p:cNvPr id="36" name="文本框 19"/>
          <p:cNvSpPr txBox="1">
            <a:spLocks noChangeArrowheads="1"/>
          </p:cNvSpPr>
          <p:nvPr/>
        </p:nvSpPr>
        <p:spPr bwMode="auto">
          <a:xfrm>
            <a:off x="1126172" y="3261239"/>
            <a:ext cx="1029179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非抢占式轮转调度算法：</a:t>
            </a:r>
            <a:r>
              <a:rPr lang="zh-CN" altLang="en-US" sz="2400" dirty="0">
                <a:solidFill>
                  <a:schemeClr val="tx2"/>
                </a:solidFill>
              </a:rPr>
              <a:t>秒级的响应时间，适用于一般实时信息处理系统或要求不太严格的实时控制系统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非抢占式优先级调度算法：</a:t>
            </a:r>
            <a:r>
              <a:rPr lang="zh-CN" altLang="en-US" sz="2400" dirty="0">
                <a:solidFill>
                  <a:schemeClr val="tx2"/>
                </a:solidFill>
              </a:rPr>
              <a:t>秒级至数百毫秒级的响应时间，适用于有一定要求的实时控制系统。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5885254" y="1647779"/>
            <a:ext cx="1114425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tx1"/>
                </a:solidFill>
              </a:rPr>
              <a:t>进程</a:t>
            </a:r>
            <a:r>
              <a:rPr lang="en-US" altLang="zh-CN" sz="2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6999679" y="1647779"/>
            <a:ext cx="102870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tx1"/>
                </a:solidFill>
              </a:rPr>
              <a:t>进程</a:t>
            </a:r>
            <a:r>
              <a:rPr lang="en-US" altLang="zh-CN" sz="20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Rectangle 6"/>
          <p:cNvSpPr>
            <a:spLocks noChangeArrowheads="1"/>
          </p:cNvSpPr>
          <p:nvPr/>
        </p:nvSpPr>
        <p:spPr bwMode="auto">
          <a:xfrm>
            <a:off x="9457129" y="1647779"/>
            <a:ext cx="992187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tx1"/>
                </a:solidFill>
              </a:rPr>
              <a:t>进程</a:t>
            </a:r>
            <a:r>
              <a:rPr lang="en-US" altLang="zh-CN" sz="2000" b="1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40" name="Rectangle 7"/>
          <p:cNvSpPr>
            <a:spLocks noChangeArrowheads="1"/>
          </p:cNvSpPr>
          <p:nvPr/>
        </p:nvSpPr>
        <p:spPr bwMode="auto">
          <a:xfrm>
            <a:off x="10447729" y="1647779"/>
            <a:ext cx="1366837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tx1"/>
                </a:solidFill>
              </a:rPr>
              <a:t>实时进程</a:t>
            </a:r>
          </a:p>
        </p:txBody>
      </p:sp>
      <p:sp>
        <p:nvSpPr>
          <p:cNvPr id="41" name="Line 8"/>
          <p:cNvSpPr>
            <a:spLocks noChangeShapeType="1"/>
          </p:cNvSpPr>
          <p:nvPr/>
        </p:nvSpPr>
        <p:spPr bwMode="auto">
          <a:xfrm>
            <a:off x="6999679" y="2079579"/>
            <a:ext cx="0" cy="288925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5885254" y="2079579"/>
            <a:ext cx="0" cy="792162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" name="Line 10"/>
          <p:cNvSpPr>
            <a:spLocks noChangeShapeType="1"/>
          </p:cNvSpPr>
          <p:nvPr/>
        </p:nvSpPr>
        <p:spPr bwMode="auto">
          <a:xfrm>
            <a:off x="10447729" y="2008141"/>
            <a:ext cx="0" cy="8636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" name="Line 11"/>
          <p:cNvSpPr>
            <a:spLocks noChangeShapeType="1"/>
          </p:cNvSpPr>
          <p:nvPr/>
        </p:nvSpPr>
        <p:spPr bwMode="auto">
          <a:xfrm flipV="1">
            <a:off x="5885254" y="2782841"/>
            <a:ext cx="45720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" name="Text Box 12"/>
          <p:cNvSpPr txBox="1">
            <a:spLocks noChangeArrowheads="1"/>
          </p:cNvSpPr>
          <p:nvPr/>
        </p:nvSpPr>
        <p:spPr bwMode="auto">
          <a:xfrm>
            <a:off x="8034729" y="2320879"/>
            <a:ext cx="142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调度时间</a:t>
            </a:r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auto">
          <a:xfrm>
            <a:off x="5385191" y="749254"/>
            <a:ext cx="2659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chemeClr val="tx1"/>
                </a:solidFill>
              </a:rPr>
              <a:t>实时进程要求调度</a:t>
            </a:r>
          </a:p>
        </p:txBody>
      </p:sp>
      <p:sp>
        <p:nvSpPr>
          <p:cNvPr id="47" name="Line 14"/>
          <p:cNvSpPr>
            <a:spLocks noChangeShapeType="1"/>
          </p:cNvSpPr>
          <p:nvPr/>
        </p:nvSpPr>
        <p:spPr bwMode="auto">
          <a:xfrm>
            <a:off x="6639316" y="1215979"/>
            <a:ext cx="0" cy="4318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" name="Line 15"/>
          <p:cNvSpPr>
            <a:spLocks noChangeShapeType="1"/>
          </p:cNvSpPr>
          <p:nvPr/>
        </p:nvSpPr>
        <p:spPr bwMode="auto">
          <a:xfrm>
            <a:off x="10457254" y="1215979"/>
            <a:ext cx="0" cy="4318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" name="Text Box 16"/>
          <p:cNvSpPr txBox="1">
            <a:spLocks noChangeArrowheads="1"/>
          </p:cNvSpPr>
          <p:nvPr/>
        </p:nvSpPr>
        <p:spPr bwMode="auto">
          <a:xfrm>
            <a:off x="9155504" y="749254"/>
            <a:ext cx="2659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tx1"/>
                </a:solidFill>
              </a:rPr>
              <a:t>调度实时进程运行</a:t>
            </a:r>
          </a:p>
        </p:txBody>
      </p:sp>
      <p:sp>
        <p:nvSpPr>
          <p:cNvPr id="51" name="Line 8"/>
          <p:cNvSpPr>
            <a:spLocks noChangeShapeType="1"/>
          </p:cNvSpPr>
          <p:nvPr/>
        </p:nvSpPr>
        <p:spPr bwMode="auto">
          <a:xfrm>
            <a:off x="8028379" y="2079579"/>
            <a:ext cx="0" cy="288925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" name="Rectangle 18"/>
          <p:cNvSpPr>
            <a:spLocks noChangeArrowheads="1"/>
          </p:cNvSpPr>
          <p:nvPr/>
        </p:nvSpPr>
        <p:spPr bwMode="auto">
          <a:xfrm>
            <a:off x="6373211" y="5483226"/>
            <a:ext cx="2743200" cy="5048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tx1"/>
                </a:solidFill>
              </a:rPr>
              <a:t>当前进程</a:t>
            </a:r>
          </a:p>
        </p:txBody>
      </p:sp>
      <p:sp>
        <p:nvSpPr>
          <p:cNvPr id="53" name="Rectangle 19"/>
          <p:cNvSpPr>
            <a:spLocks noChangeArrowheads="1"/>
          </p:cNvSpPr>
          <p:nvPr/>
        </p:nvSpPr>
        <p:spPr bwMode="auto">
          <a:xfrm>
            <a:off x="9116411" y="5483226"/>
            <a:ext cx="1900237" cy="5048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tx1"/>
                </a:solidFill>
              </a:rPr>
              <a:t>实时进程</a:t>
            </a:r>
          </a:p>
        </p:txBody>
      </p:sp>
      <p:sp>
        <p:nvSpPr>
          <p:cNvPr id="54" name="Text Box 21"/>
          <p:cNvSpPr txBox="1">
            <a:spLocks noChangeArrowheads="1"/>
          </p:cNvSpPr>
          <p:nvPr/>
        </p:nvSpPr>
        <p:spPr bwMode="auto">
          <a:xfrm>
            <a:off x="5373086" y="4613276"/>
            <a:ext cx="2659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tx1"/>
                </a:solidFill>
              </a:rPr>
              <a:t>实时进程要求调度</a:t>
            </a:r>
          </a:p>
        </p:txBody>
      </p:sp>
      <p:sp>
        <p:nvSpPr>
          <p:cNvPr id="55" name="Line 22"/>
          <p:cNvSpPr>
            <a:spLocks noChangeShapeType="1"/>
          </p:cNvSpPr>
          <p:nvPr/>
        </p:nvSpPr>
        <p:spPr bwMode="auto">
          <a:xfrm>
            <a:off x="6658961" y="5053013"/>
            <a:ext cx="0" cy="4318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Text Box 23"/>
          <p:cNvSpPr txBox="1">
            <a:spLocks noChangeArrowheads="1"/>
          </p:cNvSpPr>
          <p:nvPr/>
        </p:nvSpPr>
        <p:spPr bwMode="auto">
          <a:xfrm>
            <a:off x="8230586" y="4613276"/>
            <a:ext cx="2659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tx1"/>
                </a:solidFill>
              </a:rPr>
              <a:t>当前进程运行完成</a:t>
            </a:r>
          </a:p>
        </p:txBody>
      </p:sp>
      <p:sp>
        <p:nvSpPr>
          <p:cNvPr id="57" name="Line 24"/>
          <p:cNvSpPr>
            <a:spLocks noChangeShapeType="1"/>
          </p:cNvSpPr>
          <p:nvPr/>
        </p:nvSpPr>
        <p:spPr bwMode="auto">
          <a:xfrm>
            <a:off x="9116411" y="5053013"/>
            <a:ext cx="0" cy="4318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Line 27"/>
          <p:cNvSpPr>
            <a:spLocks noChangeShapeType="1"/>
          </p:cNvSpPr>
          <p:nvPr/>
        </p:nvSpPr>
        <p:spPr bwMode="auto">
          <a:xfrm>
            <a:off x="6658961" y="5988051"/>
            <a:ext cx="0" cy="360362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29"/>
          <p:cNvSpPr>
            <a:spLocks noChangeShapeType="1"/>
          </p:cNvSpPr>
          <p:nvPr/>
        </p:nvSpPr>
        <p:spPr bwMode="auto">
          <a:xfrm>
            <a:off x="6658961" y="6223001"/>
            <a:ext cx="245745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Text Box 30"/>
          <p:cNvSpPr txBox="1">
            <a:spLocks noChangeArrowheads="1"/>
          </p:cNvSpPr>
          <p:nvPr/>
        </p:nvSpPr>
        <p:spPr bwMode="auto">
          <a:xfrm>
            <a:off x="7274911" y="6276976"/>
            <a:ext cx="1812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b="1">
                <a:solidFill>
                  <a:schemeClr val="tx1"/>
                </a:solidFill>
              </a:rPr>
              <a:t>调度时间</a:t>
            </a:r>
          </a:p>
        </p:txBody>
      </p:sp>
      <p:sp>
        <p:nvSpPr>
          <p:cNvPr id="62" name="Line 27"/>
          <p:cNvSpPr>
            <a:spLocks noChangeShapeType="1"/>
          </p:cNvSpPr>
          <p:nvPr/>
        </p:nvSpPr>
        <p:spPr bwMode="auto">
          <a:xfrm>
            <a:off x="9116411" y="5988051"/>
            <a:ext cx="0" cy="360362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5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实时调度算法的分类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978290" y="1120021"/>
            <a:ext cx="6377004" cy="665162"/>
            <a:chOff x="978290" y="1120021"/>
            <a:chExt cx="6377004" cy="665162"/>
          </a:xfrm>
        </p:grpSpPr>
        <p:sp>
          <p:nvSpPr>
            <p:cNvPr id="23" name="矩形 22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6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）抢占式调度算法</a:t>
              </a:r>
            </a:p>
          </p:txBody>
        </p:sp>
      </p:grpSp>
      <p:sp>
        <p:nvSpPr>
          <p:cNvPr id="33" name="文本框 54"/>
          <p:cNvSpPr txBox="1">
            <a:spLocks noChangeArrowheads="1"/>
          </p:cNvSpPr>
          <p:nvPr/>
        </p:nvSpPr>
        <p:spPr bwMode="auto">
          <a:xfrm>
            <a:off x="1107897" y="1963661"/>
            <a:ext cx="6976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</a:p>
        </p:txBody>
      </p:sp>
      <p:sp>
        <p:nvSpPr>
          <p:cNvPr id="34" name="文本框 19"/>
          <p:cNvSpPr txBox="1">
            <a:spLocks noChangeArrowheads="1"/>
          </p:cNvSpPr>
          <p:nvPr/>
        </p:nvSpPr>
        <p:spPr bwMode="auto">
          <a:xfrm>
            <a:off x="1126172" y="2331599"/>
            <a:ext cx="102917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要求较严格（响应时间为数十毫秒以下）的实时系统。</a:t>
            </a:r>
            <a:endParaRPr lang="en-US" altLang="zh-CN" sz="2400" dirty="0"/>
          </a:p>
        </p:txBody>
      </p:sp>
      <p:sp>
        <p:nvSpPr>
          <p:cNvPr id="35" name="文本框 54"/>
          <p:cNvSpPr txBox="1">
            <a:spLocks noChangeArrowheads="1"/>
          </p:cNvSpPr>
          <p:nvPr/>
        </p:nvSpPr>
        <p:spPr bwMode="auto">
          <a:xfrm>
            <a:off x="1107897" y="2893301"/>
            <a:ext cx="6976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</a:p>
        </p:txBody>
      </p:sp>
      <p:sp>
        <p:nvSpPr>
          <p:cNvPr id="36" name="文本框 19"/>
          <p:cNvSpPr txBox="1">
            <a:spLocks noChangeArrowheads="1"/>
          </p:cNvSpPr>
          <p:nvPr/>
        </p:nvSpPr>
        <p:spPr bwMode="auto">
          <a:xfrm>
            <a:off x="1126172" y="3261239"/>
            <a:ext cx="1029179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基于时钟中断的抢占式优先级调度算法：</a:t>
            </a:r>
            <a:r>
              <a:rPr lang="zh-CN" altLang="en-US" sz="2400" dirty="0">
                <a:solidFill>
                  <a:schemeClr val="tx2"/>
                </a:solidFill>
              </a:rPr>
              <a:t>几十毫秒级至几毫秒级的响应时间，用于大多数的实时控制系统。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立即抢占（</a:t>
            </a:r>
            <a:r>
              <a:rPr lang="en-US" altLang="zh-CN" sz="2400" b="1" dirty="0"/>
              <a:t>immediate Preemption</a:t>
            </a:r>
            <a:r>
              <a:rPr lang="zh-CN" altLang="en-US" sz="2400" b="1" dirty="0"/>
              <a:t>）的优先级调度算法：</a:t>
            </a:r>
            <a:r>
              <a:rPr lang="zh-CN" altLang="en-US" sz="2400" dirty="0"/>
              <a:t>一旦出现外部中断，</a:t>
            </a:r>
            <a:r>
              <a:rPr lang="zh-CN" altLang="en-US" sz="2400" dirty="0">
                <a:solidFill>
                  <a:schemeClr val="tx2"/>
                </a:solidFill>
              </a:rPr>
              <a:t>只要当前任务未处于临界资源，便立即剥夺当前任务的执行。调度延迟可低到几毫秒至</a:t>
            </a:r>
            <a:r>
              <a:rPr lang="en-US" altLang="zh-CN" sz="2400" dirty="0">
                <a:solidFill>
                  <a:schemeClr val="tx2"/>
                </a:solidFill>
              </a:rPr>
              <a:t>100</a:t>
            </a:r>
            <a:r>
              <a:rPr lang="zh-CN" altLang="en-US" sz="2400" dirty="0">
                <a:solidFill>
                  <a:schemeClr val="tx2"/>
                </a:solidFill>
              </a:rPr>
              <a:t>微妙。</a:t>
            </a:r>
          </a:p>
          <a:p>
            <a:pPr marL="0" lvl="2" indent="0">
              <a:buBlip>
                <a:blip r:embed="rId3"/>
              </a:buBlip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50" name="Rectangle 24"/>
          <p:cNvSpPr>
            <a:spLocks noChangeArrowheads="1"/>
          </p:cNvSpPr>
          <p:nvPr/>
        </p:nvSpPr>
        <p:spPr bwMode="auto">
          <a:xfrm>
            <a:off x="6771640" y="1214477"/>
            <a:ext cx="2960688" cy="5048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tx1"/>
                </a:solidFill>
              </a:rPr>
              <a:t>当前进程</a:t>
            </a:r>
          </a:p>
        </p:txBody>
      </p:sp>
      <p:sp>
        <p:nvSpPr>
          <p:cNvPr id="58" name="Rectangle 25"/>
          <p:cNvSpPr>
            <a:spLocks noChangeArrowheads="1"/>
          </p:cNvSpPr>
          <p:nvPr/>
        </p:nvSpPr>
        <p:spPr bwMode="auto">
          <a:xfrm>
            <a:off x="9732328" y="1214477"/>
            <a:ext cx="1928812" cy="5048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tx1"/>
                </a:solidFill>
              </a:rPr>
              <a:t>实时进程</a:t>
            </a:r>
          </a:p>
        </p:txBody>
      </p:sp>
      <p:sp>
        <p:nvSpPr>
          <p:cNvPr id="63" name="Text Box 26"/>
          <p:cNvSpPr txBox="1">
            <a:spLocks noChangeArrowheads="1"/>
          </p:cNvSpPr>
          <p:nvPr/>
        </p:nvSpPr>
        <p:spPr bwMode="auto">
          <a:xfrm>
            <a:off x="6401753" y="279439"/>
            <a:ext cx="2660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tx1"/>
                </a:solidFill>
              </a:rPr>
              <a:t>实时进程要求调度</a:t>
            </a:r>
          </a:p>
        </p:txBody>
      </p:sp>
      <p:sp>
        <p:nvSpPr>
          <p:cNvPr id="64" name="Line 27"/>
          <p:cNvSpPr>
            <a:spLocks noChangeShapeType="1"/>
          </p:cNvSpPr>
          <p:nvPr/>
        </p:nvSpPr>
        <p:spPr bwMode="auto">
          <a:xfrm>
            <a:off x="8232140" y="784264"/>
            <a:ext cx="0" cy="4318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5" name="Text Box 28"/>
          <p:cNvSpPr txBox="1">
            <a:spLocks noChangeArrowheads="1"/>
          </p:cNvSpPr>
          <p:nvPr/>
        </p:nvSpPr>
        <p:spPr bwMode="auto">
          <a:xfrm>
            <a:off x="9303703" y="279439"/>
            <a:ext cx="2351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tx1"/>
                </a:solidFill>
              </a:rPr>
              <a:t>时钟中断到达时</a:t>
            </a:r>
          </a:p>
        </p:txBody>
      </p:sp>
      <p:sp>
        <p:nvSpPr>
          <p:cNvPr id="66" name="Line 29"/>
          <p:cNvSpPr>
            <a:spLocks noChangeShapeType="1"/>
          </p:cNvSpPr>
          <p:nvPr/>
        </p:nvSpPr>
        <p:spPr bwMode="auto">
          <a:xfrm>
            <a:off x="9732328" y="784264"/>
            <a:ext cx="0" cy="4318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" name="Line 34"/>
          <p:cNvSpPr>
            <a:spLocks noChangeShapeType="1"/>
          </p:cNvSpPr>
          <p:nvPr/>
        </p:nvSpPr>
        <p:spPr bwMode="auto">
          <a:xfrm>
            <a:off x="8232140" y="1720889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" name="Line 35"/>
          <p:cNvSpPr>
            <a:spLocks noChangeShapeType="1"/>
          </p:cNvSpPr>
          <p:nvPr/>
        </p:nvSpPr>
        <p:spPr bwMode="auto">
          <a:xfrm>
            <a:off x="9732328" y="1719302"/>
            <a:ext cx="0" cy="360362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9" name="Line 36"/>
          <p:cNvSpPr>
            <a:spLocks noChangeShapeType="1"/>
          </p:cNvSpPr>
          <p:nvPr/>
        </p:nvSpPr>
        <p:spPr bwMode="auto">
          <a:xfrm>
            <a:off x="8232140" y="1889164"/>
            <a:ext cx="1500188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8268653" y="1851064"/>
            <a:ext cx="14097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调度时间</a:t>
            </a:r>
          </a:p>
        </p:txBody>
      </p:sp>
      <p:sp>
        <p:nvSpPr>
          <p:cNvPr id="71" name="Line 34"/>
          <p:cNvSpPr>
            <a:spLocks noChangeShapeType="1"/>
          </p:cNvSpPr>
          <p:nvPr/>
        </p:nvSpPr>
        <p:spPr bwMode="auto">
          <a:xfrm>
            <a:off x="6773228" y="1708189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" name="Rectangle 16"/>
          <p:cNvSpPr>
            <a:spLocks noChangeArrowheads="1"/>
          </p:cNvSpPr>
          <p:nvPr/>
        </p:nvSpPr>
        <p:spPr bwMode="auto">
          <a:xfrm>
            <a:off x="5560093" y="5743575"/>
            <a:ext cx="3103562" cy="5048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tx1"/>
                </a:solidFill>
              </a:rPr>
              <a:t>当前进程</a:t>
            </a:r>
          </a:p>
        </p:txBody>
      </p:sp>
      <p:sp>
        <p:nvSpPr>
          <p:cNvPr id="73" name="Rectangle 17"/>
          <p:cNvSpPr>
            <a:spLocks noChangeArrowheads="1"/>
          </p:cNvSpPr>
          <p:nvPr/>
        </p:nvSpPr>
        <p:spPr bwMode="auto">
          <a:xfrm>
            <a:off x="8663655" y="5743575"/>
            <a:ext cx="1754188" cy="5048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tx1"/>
                </a:solidFill>
              </a:rPr>
              <a:t>实时进程</a:t>
            </a:r>
          </a:p>
        </p:txBody>
      </p:sp>
      <p:sp>
        <p:nvSpPr>
          <p:cNvPr id="74" name="Text Box 18"/>
          <p:cNvSpPr txBox="1">
            <a:spLocks noChangeArrowheads="1"/>
          </p:cNvSpPr>
          <p:nvPr/>
        </p:nvSpPr>
        <p:spPr bwMode="auto">
          <a:xfrm>
            <a:off x="5702968" y="4808538"/>
            <a:ext cx="2659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tx1"/>
                </a:solidFill>
              </a:rPr>
              <a:t>实时进程要求调度</a:t>
            </a:r>
          </a:p>
        </p:txBody>
      </p:sp>
      <p:sp>
        <p:nvSpPr>
          <p:cNvPr id="75" name="Line 19"/>
          <p:cNvSpPr>
            <a:spLocks noChangeShapeType="1"/>
          </p:cNvSpPr>
          <p:nvPr/>
        </p:nvSpPr>
        <p:spPr bwMode="auto">
          <a:xfrm>
            <a:off x="7060280" y="5313363"/>
            <a:ext cx="0" cy="4318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" name="Text Box 20"/>
          <p:cNvSpPr txBox="1">
            <a:spLocks noChangeArrowheads="1"/>
          </p:cNvSpPr>
          <p:nvPr/>
        </p:nvSpPr>
        <p:spPr bwMode="auto">
          <a:xfrm>
            <a:off x="8612855" y="4926013"/>
            <a:ext cx="28051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tx1"/>
                </a:solidFill>
              </a:rPr>
              <a:t>实时进程抢占当前进程，并立即执行</a:t>
            </a:r>
          </a:p>
        </p:txBody>
      </p:sp>
      <p:sp>
        <p:nvSpPr>
          <p:cNvPr id="77" name="Line 21"/>
          <p:cNvSpPr>
            <a:spLocks noChangeShapeType="1"/>
          </p:cNvSpPr>
          <p:nvPr/>
        </p:nvSpPr>
        <p:spPr bwMode="auto">
          <a:xfrm>
            <a:off x="8663655" y="5313363"/>
            <a:ext cx="0" cy="4318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" name="Line 30"/>
          <p:cNvSpPr>
            <a:spLocks noChangeShapeType="1"/>
          </p:cNvSpPr>
          <p:nvPr/>
        </p:nvSpPr>
        <p:spPr bwMode="auto">
          <a:xfrm>
            <a:off x="7060280" y="6248400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9" name="Line 31"/>
          <p:cNvSpPr>
            <a:spLocks noChangeShapeType="1"/>
          </p:cNvSpPr>
          <p:nvPr/>
        </p:nvSpPr>
        <p:spPr bwMode="auto">
          <a:xfrm>
            <a:off x="8663655" y="6248400"/>
            <a:ext cx="0" cy="2873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0" name="Line 32"/>
          <p:cNvSpPr>
            <a:spLocks noChangeShapeType="1"/>
          </p:cNvSpPr>
          <p:nvPr/>
        </p:nvSpPr>
        <p:spPr bwMode="auto">
          <a:xfrm>
            <a:off x="7060280" y="6399213"/>
            <a:ext cx="1603375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" name="Text Box 33"/>
          <p:cNvSpPr txBox="1">
            <a:spLocks noChangeArrowheads="1"/>
          </p:cNvSpPr>
          <p:nvPr/>
        </p:nvSpPr>
        <p:spPr bwMode="auto">
          <a:xfrm>
            <a:off x="7150768" y="6327775"/>
            <a:ext cx="1409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调度时间</a:t>
            </a:r>
          </a:p>
        </p:txBody>
      </p:sp>
    </p:spTree>
    <p:extLst>
      <p:ext uri="{BB962C8B-B14F-4D97-AF65-F5344CB8AC3E}">
        <p14:creationId xmlns:p14="http://schemas.microsoft.com/office/powerpoint/2010/main" val="41966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8832" y="202028"/>
            <a:ext cx="5567207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最早截止时间优先（</a:t>
            </a:r>
            <a:r>
              <a:rPr lang="en-US" altLang="zh-CN" dirty="0"/>
              <a:t>EDF</a:t>
            </a:r>
            <a:r>
              <a:rPr lang="zh-CN" altLang="en-US" dirty="0"/>
              <a:t>）算法</a:t>
            </a:r>
          </a:p>
        </p:txBody>
      </p:sp>
      <p:sp>
        <p:nvSpPr>
          <p:cNvPr id="3" name="等腰三角形 2"/>
          <p:cNvSpPr>
            <a:spLocks noChangeArrowheads="1"/>
          </p:cNvSpPr>
          <p:nvPr/>
        </p:nvSpPr>
        <p:spPr bwMode="auto">
          <a:xfrm rot="-3389783">
            <a:off x="11056144" y="6266181"/>
            <a:ext cx="58737" cy="50800"/>
          </a:xfrm>
          <a:prstGeom prst="triangle">
            <a:avLst>
              <a:gd name="adj" fmla="val 50000"/>
            </a:avLst>
          </a:prstGeom>
          <a:solidFill>
            <a:srgbClr val="19751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197519"/>
              </a:solidFill>
              <a:latin typeface="Calibri" pitchFamily="34" charset="0"/>
              <a:ea typeface="幼圆" pitchFamily="49" charset="-122"/>
            </a:endParaRPr>
          </a:p>
        </p:txBody>
      </p:sp>
      <p:sp>
        <p:nvSpPr>
          <p:cNvPr id="4" name="弧形 3"/>
          <p:cNvSpPr/>
          <p:nvPr/>
        </p:nvSpPr>
        <p:spPr>
          <a:xfrm>
            <a:off x="704850" y="1360012"/>
            <a:ext cx="4248150" cy="4602162"/>
          </a:xfrm>
          <a:prstGeom prst="arc">
            <a:avLst>
              <a:gd name="adj1" fmla="val 17337751"/>
              <a:gd name="adj2" fmla="val 4126310"/>
            </a:avLst>
          </a:prstGeom>
          <a:ln w="66675">
            <a:solidFill>
              <a:srgbClr val="1975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noProof="1"/>
          </a:p>
        </p:txBody>
      </p:sp>
      <p:sp>
        <p:nvSpPr>
          <p:cNvPr id="5" name="Arc 3_1"/>
          <p:cNvSpPr/>
          <p:nvPr/>
        </p:nvSpPr>
        <p:spPr>
          <a:xfrm flipH="1">
            <a:off x="50800" y="1360012"/>
            <a:ext cx="4248150" cy="4602162"/>
          </a:xfrm>
          <a:prstGeom prst="arc">
            <a:avLst>
              <a:gd name="adj1" fmla="val 17337751"/>
              <a:gd name="adj2" fmla="val 4126310"/>
            </a:avLst>
          </a:prstGeom>
          <a:ln w="66675">
            <a:solidFill>
              <a:srgbClr val="1975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noProof="1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605145" y="1258094"/>
            <a:ext cx="6096000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sz="2400" kern="0" dirty="0"/>
              <a:t>该算法是根据任务的</a:t>
            </a:r>
            <a:r>
              <a:rPr kumimoji="1" lang="zh-CN" altLang="en-US" sz="2400" kern="0" dirty="0">
                <a:solidFill>
                  <a:schemeClr val="accent2"/>
                </a:solidFill>
              </a:rPr>
              <a:t>开始截止时间</a:t>
            </a:r>
            <a:r>
              <a:rPr kumimoji="1" lang="zh-CN" altLang="en-US" sz="2400" kern="0" dirty="0"/>
              <a:t>来确定任务的优先级，任务的开始截止时间愈早，其优先级愈高。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892800" y="3256439"/>
            <a:ext cx="60960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sz="2400" kern="0" dirty="0"/>
              <a:t>要求系统中保持一个</a:t>
            </a:r>
            <a:r>
              <a:rPr kumimoji="1" lang="zh-CN" altLang="en-US" sz="2400" kern="0" dirty="0">
                <a:solidFill>
                  <a:schemeClr val="accent2"/>
                </a:solidFill>
              </a:rPr>
              <a:t>实时任务就绪队列</a:t>
            </a:r>
            <a:r>
              <a:rPr kumimoji="1" lang="zh-CN" altLang="en-US" sz="2400" kern="0" dirty="0"/>
              <a:t>，该队列按各任务的截止时间的早晚排序。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279390" y="5240497"/>
            <a:ext cx="669417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sz="2400" kern="0" dirty="0"/>
              <a:t>可采用</a:t>
            </a:r>
            <a:r>
              <a:rPr kumimoji="1" lang="zh-CN" altLang="en-US" sz="2400" kern="0" dirty="0">
                <a:solidFill>
                  <a:schemeClr val="accent2"/>
                </a:solidFill>
              </a:rPr>
              <a:t>非抢占调度方式</a:t>
            </a:r>
            <a:r>
              <a:rPr kumimoji="1" lang="zh-CN" altLang="en-US" sz="2400" kern="0" dirty="0"/>
              <a:t>，也可采用</a:t>
            </a:r>
            <a:r>
              <a:rPr kumimoji="1" lang="zh-CN" altLang="en-US" sz="2400" kern="0" dirty="0">
                <a:solidFill>
                  <a:schemeClr val="accent2"/>
                </a:solidFill>
              </a:rPr>
              <a:t>抢占调度方式</a:t>
            </a:r>
            <a:r>
              <a:rPr kumimoji="1" lang="zh-CN" altLang="en-US" sz="2400" kern="0" dirty="0"/>
              <a:t>。</a:t>
            </a:r>
          </a:p>
        </p:txBody>
      </p:sp>
      <p:sp>
        <p:nvSpPr>
          <p:cNvPr id="9" name="椭圆 8"/>
          <p:cNvSpPr>
            <a:spLocks noChangeArrowheads="1"/>
          </p:cNvSpPr>
          <p:nvPr/>
        </p:nvSpPr>
        <p:spPr bwMode="auto">
          <a:xfrm>
            <a:off x="341313" y="1498124"/>
            <a:ext cx="4297362" cy="4298950"/>
          </a:xfrm>
          <a:prstGeom prst="ellipse">
            <a:avLst/>
          </a:prstGeom>
          <a:solidFill>
            <a:srgbClr val="1975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Freeform 5"/>
          <p:cNvSpPr>
            <a:spLocks noEditPoints="1" noChangeArrowheads="1"/>
          </p:cNvSpPr>
          <p:nvPr/>
        </p:nvSpPr>
        <p:spPr bwMode="auto">
          <a:xfrm>
            <a:off x="1671638" y="2599849"/>
            <a:ext cx="1636712" cy="1395413"/>
          </a:xfrm>
          <a:custGeom>
            <a:avLst/>
            <a:gdLst>
              <a:gd name="T0" fmla="*/ 20 w 86"/>
              <a:gd name="T1" fmla="*/ 2 h 70"/>
              <a:gd name="T2" fmla="*/ 60 w 86"/>
              <a:gd name="T3" fmla="*/ 2 h 70"/>
              <a:gd name="T4" fmla="*/ 80 w 86"/>
              <a:gd name="T5" fmla="*/ 6 h 70"/>
              <a:gd name="T6" fmla="*/ 74 w 86"/>
              <a:gd name="T7" fmla="*/ 26 h 70"/>
              <a:gd name="T8" fmla="*/ 59 w 86"/>
              <a:gd name="T9" fmla="*/ 8 h 70"/>
              <a:gd name="T10" fmla="*/ 43 w 86"/>
              <a:gd name="T11" fmla="*/ 54 h 70"/>
              <a:gd name="T12" fmla="*/ 49 w 86"/>
              <a:gd name="T13" fmla="*/ 58 h 70"/>
              <a:gd name="T14" fmla="*/ 50 w 86"/>
              <a:gd name="T15" fmla="*/ 59 h 70"/>
              <a:gd name="T16" fmla="*/ 40 w 86"/>
              <a:gd name="T17" fmla="*/ 60 h 70"/>
              <a:gd name="T18" fmla="*/ 22 w 86"/>
              <a:gd name="T19" fmla="*/ 60 h 70"/>
              <a:gd name="T20" fmla="*/ 0 w 86"/>
              <a:gd name="T21" fmla="*/ 58 h 70"/>
              <a:gd name="T22" fmla="*/ 3 w 86"/>
              <a:gd name="T23" fmla="*/ 3 h 70"/>
              <a:gd name="T24" fmla="*/ 59 w 86"/>
              <a:gd name="T25" fmla="*/ 37 h 70"/>
              <a:gd name="T26" fmla="*/ 57 w 86"/>
              <a:gd name="T27" fmla="*/ 51 h 70"/>
              <a:gd name="T28" fmla="*/ 72 w 86"/>
              <a:gd name="T29" fmla="*/ 53 h 70"/>
              <a:gd name="T30" fmla="*/ 74 w 86"/>
              <a:gd name="T31" fmla="*/ 39 h 70"/>
              <a:gd name="T32" fmla="*/ 56 w 86"/>
              <a:gd name="T33" fmla="*/ 33 h 70"/>
              <a:gd name="T34" fmla="*/ 53 w 86"/>
              <a:gd name="T35" fmla="*/ 55 h 70"/>
              <a:gd name="T36" fmla="*/ 73 w 86"/>
              <a:gd name="T37" fmla="*/ 59 h 70"/>
              <a:gd name="T38" fmla="*/ 79 w 86"/>
              <a:gd name="T39" fmla="*/ 68 h 70"/>
              <a:gd name="T40" fmla="*/ 84 w 86"/>
              <a:gd name="T41" fmla="*/ 69 h 70"/>
              <a:gd name="T42" fmla="*/ 80 w 86"/>
              <a:gd name="T43" fmla="*/ 57 h 70"/>
              <a:gd name="T44" fmla="*/ 81 w 86"/>
              <a:gd name="T45" fmla="*/ 47 h 70"/>
              <a:gd name="T46" fmla="*/ 67 w 86"/>
              <a:gd name="T47" fmla="*/ 29 h 70"/>
              <a:gd name="T48" fmla="*/ 58 w 86"/>
              <a:gd name="T49" fmla="*/ 46 h 70"/>
              <a:gd name="T50" fmla="*/ 58 w 86"/>
              <a:gd name="T51" fmla="*/ 46 h 70"/>
              <a:gd name="T52" fmla="*/ 47 w 86"/>
              <a:gd name="T53" fmla="*/ 19 h 70"/>
              <a:gd name="T54" fmla="*/ 71 w 86"/>
              <a:gd name="T55" fmla="*/ 24 h 70"/>
              <a:gd name="T56" fmla="*/ 71 w 86"/>
              <a:gd name="T57" fmla="*/ 15 h 70"/>
              <a:gd name="T58" fmla="*/ 47 w 86"/>
              <a:gd name="T59" fmla="*/ 14 h 70"/>
              <a:gd name="T60" fmla="*/ 71 w 86"/>
              <a:gd name="T61" fmla="*/ 15 h 70"/>
              <a:gd name="T62" fmla="*/ 10 w 86"/>
              <a:gd name="T63" fmla="*/ 51 h 70"/>
              <a:gd name="T64" fmla="*/ 34 w 86"/>
              <a:gd name="T65" fmla="*/ 46 h 70"/>
              <a:gd name="T66" fmla="*/ 10 w 86"/>
              <a:gd name="T67" fmla="*/ 41 h 70"/>
              <a:gd name="T68" fmla="*/ 34 w 86"/>
              <a:gd name="T69" fmla="*/ 41 h 70"/>
              <a:gd name="T70" fmla="*/ 10 w 86"/>
              <a:gd name="T71" fmla="*/ 41 h 70"/>
              <a:gd name="T72" fmla="*/ 10 w 86"/>
              <a:gd name="T73" fmla="*/ 37 h 70"/>
              <a:gd name="T74" fmla="*/ 34 w 86"/>
              <a:gd name="T75" fmla="*/ 32 h 70"/>
              <a:gd name="T76" fmla="*/ 22 w 86"/>
              <a:gd name="T77" fmla="*/ 25 h 70"/>
              <a:gd name="T78" fmla="*/ 34 w 86"/>
              <a:gd name="T79" fmla="*/ 27 h 70"/>
              <a:gd name="T80" fmla="*/ 22 w 86"/>
              <a:gd name="T81" fmla="*/ 25 h 70"/>
              <a:gd name="T82" fmla="*/ 22 w 86"/>
              <a:gd name="T83" fmla="*/ 21 h 70"/>
              <a:gd name="T84" fmla="*/ 34 w 86"/>
              <a:gd name="T85" fmla="*/ 18 h 70"/>
              <a:gd name="T86" fmla="*/ 22 w 86"/>
              <a:gd name="T87" fmla="*/ 14 h 70"/>
              <a:gd name="T88" fmla="*/ 34 w 86"/>
              <a:gd name="T89" fmla="*/ 15 h 70"/>
              <a:gd name="T90" fmla="*/ 22 w 86"/>
              <a:gd name="T91" fmla="*/ 14 h 70"/>
              <a:gd name="T92" fmla="*/ 9 w 86"/>
              <a:gd name="T93" fmla="*/ 31 h 70"/>
              <a:gd name="T94" fmla="*/ 19 w 86"/>
              <a:gd name="T95" fmla="*/ 13 h 70"/>
              <a:gd name="T96" fmla="*/ 21 w 86"/>
              <a:gd name="T97" fmla="*/ 8 h 70"/>
              <a:gd name="T98" fmla="*/ 5 w 86"/>
              <a:gd name="T99" fmla="*/ 56 h 70"/>
              <a:gd name="T100" fmla="*/ 37 w 86"/>
              <a:gd name="T101" fmla="*/ 54 h 70"/>
              <a:gd name="T102" fmla="*/ 21 w 86"/>
              <a:gd name="T103" fmla="*/ 8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86" h="70">
                <a:moveTo>
                  <a:pt x="3" y="3"/>
                </a:moveTo>
                <a:cubicBezTo>
                  <a:pt x="8" y="4"/>
                  <a:pt x="14" y="3"/>
                  <a:pt x="20" y="2"/>
                </a:cubicBezTo>
                <a:cubicBezTo>
                  <a:pt x="28" y="1"/>
                  <a:pt x="35" y="0"/>
                  <a:pt x="40" y="3"/>
                </a:cubicBezTo>
                <a:cubicBezTo>
                  <a:pt x="45" y="0"/>
                  <a:pt x="52" y="1"/>
                  <a:pt x="60" y="2"/>
                </a:cubicBezTo>
                <a:cubicBezTo>
                  <a:pt x="65" y="3"/>
                  <a:pt x="72" y="4"/>
                  <a:pt x="77" y="3"/>
                </a:cubicBezTo>
                <a:cubicBezTo>
                  <a:pt x="80" y="6"/>
                  <a:pt x="80" y="6"/>
                  <a:pt x="80" y="6"/>
                </a:cubicBezTo>
                <a:cubicBezTo>
                  <a:pt x="80" y="30"/>
                  <a:pt x="80" y="30"/>
                  <a:pt x="80" y="30"/>
                </a:cubicBezTo>
                <a:cubicBezTo>
                  <a:pt x="78" y="28"/>
                  <a:pt x="76" y="27"/>
                  <a:pt x="74" y="26"/>
                </a:cubicBezTo>
                <a:cubicBezTo>
                  <a:pt x="74" y="9"/>
                  <a:pt x="74" y="9"/>
                  <a:pt x="74" y="9"/>
                </a:cubicBezTo>
                <a:cubicBezTo>
                  <a:pt x="69" y="9"/>
                  <a:pt x="64" y="8"/>
                  <a:pt x="59" y="8"/>
                </a:cubicBezTo>
                <a:cubicBezTo>
                  <a:pt x="52" y="7"/>
                  <a:pt x="46" y="6"/>
                  <a:pt x="43" y="8"/>
                </a:cubicBezTo>
                <a:cubicBezTo>
                  <a:pt x="43" y="54"/>
                  <a:pt x="43" y="54"/>
                  <a:pt x="43" y="54"/>
                </a:cubicBezTo>
                <a:cubicBezTo>
                  <a:pt x="44" y="54"/>
                  <a:pt x="45" y="54"/>
                  <a:pt x="47" y="54"/>
                </a:cubicBezTo>
                <a:cubicBezTo>
                  <a:pt x="47" y="55"/>
                  <a:pt x="48" y="56"/>
                  <a:pt x="49" y="58"/>
                </a:cubicBezTo>
                <a:cubicBezTo>
                  <a:pt x="50" y="58"/>
                  <a:pt x="50" y="59"/>
                  <a:pt x="51" y="59"/>
                </a:cubicBezTo>
                <a:cubicBezTo>
                  <a:pt x="50" y="59"/>
                  <a:pt x="50" y="59"/>
                  <a:pt x="50" y="59"/>
                </a:cubicBezTo>
                <a:cubicBezTo>
                  <a:pt x="46" y="59"/>
                  <a:pt x="43" y="59"/>
                  <a:pt x="41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38" y="60"/>
                  <a:pt x="38" y="60"/>
                  <a:pt x="38" y="60"/>
                </a:cubicBezTo>
                <a:cubicBezTo>
                  <a:pt x="36" y="59"/>
                  <a:pt x="29" y="59"/>
                  <a:pt x="22" y="60"/>
                </a:cubicBezTo>
                <a:cubicBezTo>
                  <a:pt x="15" y="61"/>
                  <a:pt x="8" y="62"/>
                  <a:pt x="2" y="61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"/>
                  <a:pt x="0" y="6"/>
                  <a:pt x="0" y="6"/>
                </a:cubicBezTo>
                <a:cubicBezTo>
                  <a:pt x="3" y="3"/>
                  <a:pt x="3" y="3"/>
                  <a:pt x="3" y="3"/>
                </a:cubicBezTo>
                <a:close/>
                <a:moveTo>
                  <a:pt x="67" y="35"/>
                </a:moveTo>
                <a:cubicBezTo>
                  <a:pt x="64" y="34"/>
                  <a:pt x="61" y="35"/>
                  <a:pt x="59" y="37"/>
                </a:cubicBezTo>
                <a:cubicBezTo>
                  <a:pt x="57" y="39"/>
                  <a:pt x="56" y="41"/>
                  <a:pt x="55" y="44"/>
                </a:cubicBezTo>
                <a:cubicBezTo>
                  <a:pt x="55" y="46"/>
                  <a:pt x="56" y="49"/>
                  <a:pt x="57" y="51"/>
                </a:cubicBezTo>
                <a:cubicBezTo>
                  <a:pt x="59" y="54"/>
                  <a:pt x="62" y="55"/>
                  <a:pt x="64" y="55"/>
                </a:cubicBezTo>
                <a:cubicBezTo>
                  <a:pt x="67" y="56"/>
                  <a:pt x="70" y="55"/>
                  <a:pt x="72" y="53"/>
                </a:cubicBezTo>
                <a:cubicBezTo>
                  <a:pt x="74" y="51"/>
                  <a:pt x="76" y="49"/>
                  <a:pt x="76" y="46"/>
                </a:cubicBezTo>
                <a:cubicBezTo>
                  <a:pt x="76" y="44"/>
                  <a:pt x="75" y="41"/>
                  <a:pt x="74" y="39"/>
                </a:cubicBezTo>
                <a:cubicBezTo>
                  <a:pt x="72" y="36"/>
                  <a:pt x="69" y="35"/>
                  <a:pt x="67" y="35"/>
                </a:cubicBezTo>
                <a:close/>
                <a:moveTo>
                  <a:pt x="56" y="33"/>
                </a:moveTo>
                <a:cubicBezTo>
                  <a:pt x="52" y="35"/>
                  <a:pt x="50" y="39"/>
                  <a:pt x="50" y="43"/>
                </a:cubicBezTo>
                <a:cubicBezTo>
                  <a:pt x="50" y="47"/>
                  <a:pt x="51" y="51"/>
                  <a:pt x="53" y="55"/>
                </a:cubicBezTo>
                <a:cubicBezTo>
                  <a:pt x="56" y="58"/>
                  <a:pt x="60" y="60"/>
                  <a:pt x="64" y="60"/>
                </a:cubicBezTo>
                <a:cubicBezTo>
                  <a:pt x="67" y="61"/>
                  <a:pt x="70" y="60"/>
                  <a:pt x="73" y="59"/>
                </a:cubicBezTo>
                <a:cubicBezTo>
                  <a:pt x="73" y="60"/>
                  <a:pt x="73" y="61"/>
                  <a:pt x="74" y="61"/>
                </a:cubicBezTo>
                <a:cubicBezTo>
                  <a:pt x="79" y="68"/>
                  <a:pt x="79" y="68"/>
                  <a:pt x="79" y="68"/>
                </a:cubicBezTo>
                <a:cubicBezTo>
                  <a:pt x="80" y="70"/>
                  <a:pt x="83" y="70"/>
                  <a:pt x="84" y="69"/>
                </a:cubicBezTo>
                <a:cubicBezTo>
                  <a:pt x="84" y="69"/>
                  <a:pt x="84" y="69"/>
                  <a:pt x="84" y="69"/>
                </a:cubicBezTo>
                <a:cubicBezTo>
                  <a:pt x="86" y="67"/>
                  <a:pt x="86" y="65"/>
                  <a:pt x="85" y="63"/>
                </a:cubicBezTo>
                <a:cubicBezTo>
                  <a:pt x="80" y="57"/>
                  <a:pt x="80" y="57"/>
                  <a:pt x="80" y="57"/>
                </a:cubicBezTo>
                <a:cubicBezTo>
                  <a:pt x="79" y="56"/>
                  <a:pt x="78" y="55"/>
                  <a:pt x="77" y="55"/>
                </a:cubicBezTo>
                <a:cubicBezTo>
                  <a:pt x="79" y="53"/>
                  <a:pt x="81" y="50"/>
                  <a:pt x="81" y="47"/>
                </a:cubicBezTo>
                <a:cubicBezTo>
                  <a:pt x="82" y="43"/>
                  <a:pt x="81" y="39"/>
                  <a:pt x="78" y="35"/>
                </a:cubicBezTo>
                <a:cubicBezTo>
                  <a:pt x="75" y="32"/>
                  <a:pt x="71" y="30"/>
                  <a:pt x="67" y="29"/>
                </a:cubicBezTo>
                <a:cubicBezTo>
                  <a:pt x="63" y="29"/>
                  <a:pt x="59" y="30"/>
                  <a:pt x="56" y="33"/>
                </a:cubicBezTo>
                <a:close/>
                <a:moveTo>
                  <a:pt x="58" y="46"/>
                </a:moveTo>
                <a:cubicBezTo>
                  <a:pt x="60" y="41"/>
                  <a:pt x="64" y="39"/>
                  <a:pt x="70" y="38"/>
                </a:cubicBezTo>
                <a:cubicBezTo>
                  <a:pt x="64" y="34"/>
                  <a:pt x="57" y="40"/>
                  <a:pt x="58" y="46"/>
                </a:cubicBezTo>
                <a:close/>
                <a:moveTo>
                  <a:pt x="71" y="21"/>
                </a:moveTo>
                <a:cubicBezTo>
                  <a:pt x="65" y="21"/>
                  <a:pt x="51" y="19"/>
                  <a:pt x="47" y="19"/>
                </a:cubicBezTo>
                <a:cubicBezTo>
                  <a:pt x="47" y="20"/>
                  <a:pt x="47" y="21"/>
                  <a:pt x="47" y="21"/>
                </a:cubicBezTo>
                <a:cubicBezTo>
                  <a:pt x="51" y="21"/>
                  <a:pt x="67" y="24"/>
                  <a:pt x="71" y="24"/>
                </a:cubicBezTo>
                <a:cubicBezTo>
                  <a:pt x="71" y="23"/>
                  <a:pt x="71" y="22"/>
                  <a:pt x="71" y="21"/>
                </a:cubicBezTo>
                <a:close/>
                <a:moveTo>
                  <a:pt x="71" y="15"/>
                </a:moveTo>
                <a:cubicBezTo>
                  <a:pt x="65" y="15"/>
                  <a:pt x="51" y="12"/>
                  <a:pt x="47" y="12"/>
                </a:cubicBezTo>
                <a:cubicBezTo>
                  <a:pt x="47" y="13"/>
                  <a:pt x="47" y="14"/>
                  <a:pt x="47" y="14"/>
                </a:cubicBezTo>
                <a:cubicBezTo>
                  <a:pt x="51" y="14"/>
                  <a:pt x="67" y="17"/>
                  <a:pt x="71" y="17"/>
                </a:cubicBezTo>
                <a:cubicBezTo>
                  <a:pt x="71" y="16"/>
                  <a:pt x="71" y="15"/>
                  <a:pt x="71" y="15"/>
                </a:cubicBezTo>
                <a:close/>
                <a:moveTo>
                  <a:pt x="10" y="49"/>
                </a:moveTo>
                <a:cubicBezTo>
                  <a:pt x="10" y="49"/>
                  <a:pt x="10" y="50"/>
                  <a:pt x="10" y="51"/>
                </a:cubicBezTo>
                <a:cubicBezTo>
                  <a:pt x="14" y="51"/>
                  <a:pt x="29" y="48"/>
                  <a:pt x="34" y="48"/>
                </a:cubicBezTo>
                <a:cubicBezTo>
                  <a:pt x="34" y="48"/>
                  <a:pt x="34" y="47"/>
                  <a:pt x="34" y="46"/>
                </a:cubicBezTo>
                <a:cubicBezTo>
                  <a:pt x="30" y="46"/>
                  <a:pt x="15" y="49"/>
                  <a:pt x="10" y="49"/>
                </a:cubicBezTo>
                <a:close/>
                <a:moveTo>
                  <a:pt x="10" y="41"/>
                </a:moveTo>
                <a:cubicBezTo>
                  <a:pt x="10" y="42"/>
                  <a:pt x="10" y="43"/>
                  <a:pt x="10" y="43"/>
                </a:cubicBezTo>
                <a:cubicBezTo>
                  <a:pt x="14" y="44"/>
                  <a:pt x="29" y="41"/>
                  <a:pt x="34" y="41"/>
                </a:cubicBezTo>
                <a:cubicBezTo>
                  <a:pt x="34" y="40"/>
                  <a:pt x="34" y="40"/>
                  <a:pt x="34" y="39"/>
                </a:cubicBezTo>
                <a:cubicBezTo>
                  <a:pt x="30" y="39"/>
                  <a:pt x="15" y="41"/>
                  <a:pt x="10" y="41"/>
                </a:cubicBezTo>
                <a:close/>
                <a:moveTo>
                  <a:pt x="10" y="34"/>
                </a:moveTo>
                <a:cubicBezTo>
                  <a:pt x="10" y="35"/>
                  <a:pt x="10" y="36"/>
                  <a:pt x="10" y="37"/>
                </a:cubicBezTo>
                <a:cubicBezTo>
                  <a:pt x="14" y="37"/>
                  <a:pt x="29" y="34"/>
                  <a:pt x="34" y="34"/>
                </a:cubicBezTo>
                <a:cubicBezTo>
                  <a:pt x="34" y="33"/>
                  <a:pt x="34" y="33"/>
                  <a:pt x="34" y="32"/>
                </a:cubicBezTo>
                <a:cubicBezTo>
                  <a:pt x="30" y="32"/>
                  <a:pt x="15" y="34"/>
                  <a:pt x="10" y="34"/>
                </a:cubicBezTo>
                <a:close/>
                <a:moveTo>
                  <a:pt x="22" y="25"/>
                </a:moveTo>
                <a:cubicBezTo>
                  <a:pt x="22" y="26"/>
                  <a:pt x="22" y="27"/>
                  <a:pt x="22" y="28"/>
                </a:cubicBezTo>
                <a:cubicBezTo>
                  <a:pt x="25" y="28"/>
                  <a:pt x="29" y="26"/>
                  <a:pt x="34" y="27"/>
                </a:cubicBezTo>
                <a:cubicBezTo>
                  <a:pt x="34" y="26"/>
                  <a:pt x="34" y="25"/>
                  <a:pt x="34" y="24"/>
                </a:cubicBezTo>
                <a:cubicBezTo>
                  <a:pt x="30" y="24"/>
                  <a:pt x="26" y="25"/>
                  <a:pt x="22" y="25"/>
                </a:cubicBezTo>
                <a:close/>
                <a:moveTo>
                  <a:pt x="22" y="19"/>
                </a:moveTo>
                <a:cubicBezTo>
                  <a:pt x="22" y="20"/>
                  <a:pt x="22" y="21"/>
                  <a:pt x="22" y="21"/>
                </a:cubicBezTo>
                <a:cubicBezTo>
                  <a:pt x="25" y="21"/>
                  <a:pt x="29" y="20"/>
                  <a:pt x="34" y="20"/>
                </a:cubicBezTo>
                <a:cubicBezTo>
                  <a:pt x="34" y="20"/>
                  <a:pt x="34" y="19"/>
                  <a:pt x="34" y="18"/>
                </a:cubicBezTo>
                <a:cubicBezTo>
                  <a:pt x="30" y="18"/>
                  <a:pt x="26" y="19"/>
                  <a:pt x="22" y="19"/>
                </a:cubicBezTo>
                <a:close/>
                <a:moveTo>
                  <a:pt x="22" y="14"/>
                </a:moveTo>
                <a:cubicBezTo>
                  <a:pt x="22" y="15"/>
                  <a:pt x="22" y="15"/>
                  <a:pt x="22" y="16"/>
                </a:cubicBezTo>
                <a:cubicBezTo>
                  <a:pt x="25" y="16"/>
                  <a:pt x="29" y="15"/>
                  <a:pt x="34" y="15"/>
                </a:cubicBezTo>
                <a:cubicBezTo>
                  <a:pt x="34" y="14"/>
                  <a:pt x="34" y="14"/>
                  <a:pt x="34" y="13"/>
                </a:cubicBezTo>
                <a:cubicBezTo>
                  <a:pt x="30" y="13"/>
                  <a:pt x="26" y="13"/>
                  <a:pt x="22" y="14"/>
                </a:cubicBezTo>
                <a:close/>
                <a:moveTo>
                  <a:pt x="9" y="14"/>
                </a:moveTo>
                <a:cubicBezTo>
                  <a:pt x="9" y="31"/>
                  <a:pt x="9" y="31"/>
                  <a:pt x="9" y="31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13"/>
                  <a:pt x="19" y="13"/>
                  <a:pt x="19" y="13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21" y="8"/>
                </a:moveTo>
                <a:cubicBezTo>
                  <a:pt x="16" y="8"/>
                  <a:pt x="10" y="9"/>
                  <a:pt x="5" y="9"/>
                </a:cubicBezTo>
                <a:cubicBezTo>
                  <a:pt x="5" y="56"/>
                  <a:pt x="5" y="56"/>
                  <a:pt x="5" y="56"/>
                </a:cubicBezTo>
                <a:cubicBezTo>
                  <a:pt x="10" y="56"/>
                  <a:pt x="16" y="55"/>
                  <a:pt x="21" y="55"/>
                </a:cubicBezTo>
                <a:cubicBezTo>
                  <a:pt x="27" y="54"/>
                  <a:pt x="33" y="53"/>
                  <a:pt x="37" y="54"/>
                </a:cubicBezTo>
                <a:cubicBezTo>
                  <a:pt x="37" y="8"/>
                  <a:pt x="37" y="8"/>
                  <a:pt x="37" y="8"/>
                </a:cubicBezTo>
                <a:cubicBezTo>
                  <a:pt x="34" y="6"/>
                  <a:pt x="27" y="7"/>
                  <a:pt x="21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文本框 34"/>
          <p:cNvSpPr txBox="1">
            <a:spLocks noChangeArrowheads="1"/>
          </p:cNvSpPr>
          <p:nvPr/>
        </p:nvSpPr>
        <p:spPr bwMode="auto">
          <a:xfrm>
            <a:off x="954088" y="4109562"/>
            <a:ext cx="30734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 algn="ctr"/>
            <a:r>
              <a:rPr lang="zh-CN" altLang="en-US" sz="3200" dirty="0">
                <a:solidFill>
                  <a:schemeClr val="bg1"/>
                </a:solidFill>
              </a:rPr>
              <a:t>简  介</a:t>
            </a: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3813175" y="1499712"/>
            <a:ext cx="1733550" cy="1263650"/>
            <a:chOff x="3856882" y="1805041"/>
            <a:chExt cx="1734682" cy="1262903"/>
          </a:xfrm>
        </p:grpSpPr>
        <p:grpSp>
          <p:nvGrpSpPr>
            <p:cNvPr id="26" name="组合 25"/>
            <p:cNvGrpSpPr>
              <a:grpSpLocks/>
            </p:cNvGrpSpPr>
            <p:nvPr/>
          </p:nvGrpSpPr>
          <p:grpSpPr bwMode="auto">
            <a:xfrm>
              <a:off x="4635110" y="1805041"/>
              <a:ext cx="956454" cy="907419"/>
              <a:chOff x="4635110" y="1805041"/>
              <a:chExt cx="956454" cy="907419"/>
            </a:xfrm>
          </p:grpSpPr>
          <p:sp>
            <p:nvSpPr>
              <p:cNvPr id="28" name="等腰三角形 27"/>
              <p:cNvSpPr>
                <a:spLocks noChangeArrowheads="1"/>
              </p:cNvSpPr>
              <p:nvPr/>
            </p:nvSpPr>
            <p:spPr bwMode="auto">
              <a:xfrm>
                <a:off x="4635110" y="1805041"/>
                <a:ext cx="956454" cy="824528"/>
              </a:xfrm>
              <a:prstGeom prst="triangle">
                <a:avLst>
                  <a:gd name="adj" fmla="val 50000"/>
                </a:avLst>
              </a:prstGeom>
              <a:solidFill>
                <a:srgbClr val="1975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" name="文本框 27"/>
              <p:cNvSpPr txBox="1">
                <a:spLocks noChangeArrowheads="1"/>
              </p:cNvSpPr>
              <p:nvPr/>
            </p:nvSpPr>
            <p:spPr bwMode="auto">
              <a:xfrm>
                <a:off x="4676256" y="2066129"/>
                <a:ext cx="91530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3600">
                    <a:solidFill>
                      <a:schemeClr val="bg1"/>
                    </a:solidFill>
                  </a:rPr>
                  <a:t>01</a:t>
                </a:r>
                <a:endParaRPr lang="zh-CN" altLang="en-US" sz="3600">
                  <a:solidFill>
                    <a:schemeClr val="bg1"/>
                  </a:solidFill>
                  <a:ea typeface="方正粗倩简体" pitchFamily="65" charset="-122"/>
                </a:endParaRPr>
              </a:p>
            </p:txBody>
          </p:sp>
        </p:grpSp>
        <p:sp>
          <p:nvSpPr>
            <p:cNvPr id="27" name="矩形 26"/>
            <p:cNvSpPr/>
            <p:nvPr/>
          </p:nvSpPr>
          <p:spPr>
            <a:xfrm rot="19804025">
              <a:off x="3856882" y="2198508"/>
              <a:ext cx="1580594" cy="8694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/>
              <a:endParaRPr lang="zh-CN" altLang="en-US" noProof="1"/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4235450" y="3215799"/>
            <a:ext cx="1855788" cy="962025"/>
            <a:chOff x="4279404" y="3368896"/>
            <a:chExt cx="1855551" cy="962445"/>
          </a:xfrm>
        </p:grpSpPr>
        <p:grpSp>
          <p:nvGrpSpPr>
            <p:cNvPr id="22" name="组合 21"/>
            <p:cNvGrpSpPr>
              <a:grpSpLocks/>
            </p:cNvGrpSpPr>
            <p:nvPr/>
          </p:nvGrpSpPr>
          <p:grpSpPr bwMode="auto">
            <a:xfrm>
              <a:off x="5103518" y="3368896"/>
              <a:ext cx="1031437" cy="856513"/>
              <a:chOff x="5103518" y="3368896"/>
              <a:chExt cx="1031437" cy="856513"/>
            </a:xfrm>
          </p:grpSpPr>
          <p:sp>
            <p:nvSpPr>
              <p:cNvPr id="24" name="等腰三角形 23"/>
              <p:cNvSpPr>
                <a:spLocks noChangeArrowheads="1"/>
              </p:cNvSpPr>
              <p:nvPr/>
            </p:nvSpPr>
            <p:spPr bwMode="auto">
              <a:xfrm rot="1800000">
                <a:off x="5178501" y="3368896"/>
                <a:ext cx="956454" cy="824528"/>
              </a:xfrm>
              <a:prstGeom prst="triangle">
                <a:avLst>
                  <a:gd name="adj" fmla="val 50000"/>
                </a:avLst>
              </a:prstGeom>
              <a:solidFill>
                <a:srgbClr val="1975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" name="文本框 29"/>
              <p:cNvSpPr txBox="1">
                <a:spLocks noChangeArrowheads="1"/>
              </p:cNvSpPr>
              <p:nvPr/>
            </p:nvSpPr>
            <p:spPr bwMode="auto">
              <a:xfrm>
                <a:off x="5103518" y="3579078"/>
                <a:ext cx="91530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3600">
                    <a:solidFill>
                      <a:schemeClr val="bg1"/>
                    </a:solidFill>
                  </a:rPr>
                  <a:t>02</a:t>
                </a:r>
                <a:endParaRPr lang="zh-CN" altLang="en-US" sz="3600">
                  <a:solidFill>
                    <a:schemeClr val="bg1"/>
                  </a:solidFill>
                  <a:ea typeface="方正粗倩简体" pitchFamily="65" charset="-122"/>
                </a:endParaRPr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4279404" y="3462600"/>
              <a:ext cx="1580948" cy="8687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/>
              <a:endParaRPr lang="zh-CN" altLang="en-US" noProof="1"/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3916995" y="4518184"/>
            <a:ext cx="1763711" cy="1112838"/>
            <a:chOff x="3976330" y="4762614"/>
            <a:chExt cx="1764377" cy="1113179"/>
          </a:xfrm>
        </p:grpSpPr>
        <p:grpSp>
          <p:nvGrpSpPr>
            <p:cNvPr id="18" name="组合 17"/>
            <p:cNvGrpSpPr>
              <a:grpSpLocks/>
            </p:cNvGrpSpPr>
            <p:nvPr/>
          </p:nvGrpSpPr>
          <p:grpSpPr bwMode="auto">
            <a:xfrm>
              <a:off x="4735934" y="4919339"/>
              <a:ext cx="1004773" cy="956454"/>
              <a:chOff x="4735934" y="4919339"/>
              <a:chExt cx="1004773" cy="956454"/>
            </a:xfrm>
          </p:grpSpPr>
          <p:sp>
            <p:nvSpPr>
              <p:cNvPr id="20" name="等腰三角形 19"/>
              <p:cNvSpPr>
                <a:spLocks noChangeArrowheads="1"/>
              </p:cNvSpPr>
              <p:nvPr/>
            </p:nvSpPr>
            <p:spPr bwMode="auto">
              <a:xfrm rot="3600000">
                <a:off x="4850216" y="4985302"/>
                <a:ext cx="956454" cy="824528"/>
              </a:xfrm>
              <a:prstGeom prst="triangle">
                <a:avLst>
                  <a:gd name="adj" fmla="val 50000"/>
                </a:avLst>
              </a:prstGeom>
              <a:solidFill>
                <a:srgbClr val="1975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" name="文本框 28"/>
              <p:cNvSpPr txBox="1">
                <a:spLocks noChangeArrowheads="1"/>
              </p:cNvSpPr>
              <p:nvPr/>
            </p:nvSpPr>
            <p:spPr bwMode="auto">
              <a:xfrm>
                <a:off x="4735934" y="5120141"/>
                <a:ext cx="91530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3600">
                    <a:solidFill>
                      <a:schemeClr val="bg1"/>
                    </a:solidFill>
                  </a:rPr>
                  <a:t>03</a:t>
                </a:r>
                <a:endParaRPr lang="zh-CN" altLang="en-US" sz="3600">
                  <a:solidFill>
                    <a:schemeClr val="bg1"/>
                  </a:solidFill>
                  <a:ea typeface="方正粗倩简体" pitchFamily="65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 rot="1795975" flipH="1">
              <a:off x="3976330" y="4762614"/>
              <a:ext cx="1581746" cy="8702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/>
              <a:endParaRPr lang="zh-CN" altLang="en-US" noProof="1"/>
            </a:p>
          </p:txBody>
        </p:sp>
      </p:grpSp>
    </p:spTree>
    <p:extLst>
      <p:ext uri="{BB962C8B-B14F-4D97-AF65-F5344CB8AC3E}">
        <p14:creationId xmlns:p14="http://schemas.microsoft.com/office/powerpoint/2010/main" val="41174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12" name="组合 47111"/>
          <p:cNvGrpSpPr/>
          <p:nvPr/>
        </p:nvGrpSpPr>
        <p:grpSpPr>
          <a:xfrm>
            <a:off x="850032" y="1055130"/>
            <a:ext cx="6377004" cy="830997"/>
            <a:chOff x="7243334" y="1120021"/>
            <a:chExt cx="6377004" cy="830997"/>
          </a:xfrm>
        </p:grpSpPr>
        <p:sp>
          <p:nvSpPr>
            <p:cNvPr id="2" name="矩形 1"/>
            <p:cNvSpPr/>
            <p:nvPr/>
          </p:nvSpPr>
          <p:spPr>
            <a:xfrm>
              <a:off x="7389385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8297435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119" name="文本框 55"/>
            <p:cNvSpPr txBox="1">
              <a:spLocks noChangeArrowheads="1"/>
            </p:cNvSpPr>
            <p:nvPr/>
          </p:nvSpPr>
          <p:spPr bwMode="auto">
            <a:xfrm>
              <a:off x="7243334" y="1120021"/>
              <a:ext cx="637700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）非抢占式调度方式用于非周期实时任务</a:t>
              </a:r>
              <a:endPara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/>
              <a:endPara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标题 1"/>
          <p:cNvSpPr>
            <a:spLocks noGrp="1"/>
          </p:cNvSpPr>
          <p:nvPr>
            <p:ph type="title"/>
          </p:nvPr>
        </p:nvSpPr>
        <p:spPr>
          <a:xfrm>
            <a:off x="848832" y="202028"/>
            <a:ext cx="5567207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最早截止时间优先（</a:t>
            </a:r>
            <a:r>
              <a:rPr lang="en-US" altLang="zh-CN" dirty="0"/>
              <a:t>EDF</a:t>
            </a:r>
            <a:r>
              <a:rPr lang="zh-CN" altLang="en-US" dirty="0"/>
              <a:t>）算法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213182"/>
              </p:ext>
            </p:extLst>
          </p:nvPr>
        </p:nvGraphicFramePr>
        <p:xfrm>
          <a:off x="996083" y="1720292"/>
          <a:ext cx="7848600" cy="251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575062" imgH="1145088" progId="Visio.Drawing.11">
                  <p:embed/>
                </p:oleObj>
              </mc:Choice>
              <mc:Fallback>
                <p:oleObj name="Visio" r:id="rId3" imgW="3575062" imgH="114508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083" y="1720292"/>
                        <a:ext cx="7848600" cy="251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" name="组合 61"/>
          <p:cNvGrpSpPr/>
          <p:nvPr/>
        </p:nvGrpSpPr>
        <p:grpSpPr>
          <a:xfrm>
            <a:off x="795410" y="4274701"/>
            <a:ext cx="6377004" cy="665162"/>
            <a:chOff x="978290" y="1120021"/>
            <a:chExt cx="6377004" cy="665162"/>
          </a:xfrm>
        </p:grpSpPr>
        <p:sp>
          <p:nvSpPr>
            <p:cNvPr id="63" name="矩形 62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5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</a:p>
          </p:txBody>
        </p:sp>
      </p:grpSp>
      <p:graphicFrame>
        <p:nvGraphicFramePr>
          <p:cNvPr id="66" name="Group 7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0310575"/>
              </p:ext>
            </p:extLst>
          </p:nvPr>
        </p:nvGraphicFramePr>
        <p:xfrm>
          <a:off x="6640830" y="3975418"/>
          <a:ext cx="4897438" cy="2378075"/>
        </p:xfrm>
        <a:graphic>
          <a:graphicData uri="http://schemas.openxmlformats.org/drawingml/2006/table">
            <a:tbl>
              <a:tblPr/>
              <a:tblGrid>
                <a:gridCol w="715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进程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到达时间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执行时间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开始截止时间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0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" name="文本框 19"/>
          <p:cNvSpPr txBox="1">
            <a:spLocks noChangeArrowheads="1"/>
          </p:cNvSpPr>
          <p:nvPr/>
        </p:nvSpPr>
        <p:spPr bwMode="auto">
          <a:xfrm>
            <a:off x="943292" y="5090039"/>
            <a:ext cx="54879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5"/>
              </a:buBlip>
            </a:pPr>
            <a:r>
              <a:rPr lang="zh-CN" altLang="en-US" sz="2400" dirty="0"/>
              <a:t>对下面</a:t>
            </a:r>
            <a:r>
              <a:rPr lang="en-US" altLang="zh-CN" sz="2400" dirty="0"/>
              <a:t>5</a:t>
            </a:r>
            <a:r>
              <a:rPr lang="zh-CN" altLang="en-US" sz="2400" dirty="0"/>
              <a:t>个非周期性实时任务，按最早开始截止时间优先调度算法应如何进行</a:t>
            </a:r>
            <a:r>
              <a:rPr lang="en-US" altLang="zh-CN" sz="2400" dirty="0"/>
              <a:t>CPU</a:t>
            </a:r>
            <a:r>
              <a:rPr lang="zh-CN" altLang="en-US" sz="2400" dirty="0"/>
              <a:t>调度？</a:t>
            </a:r>
          </a:p>
        </p:txBody>
      </p:sp>
    </p:spTree>
    <p:extLst>
      <p:ext uri="{BB962C8B-B14F-4D97-AF65-F5344CB8AC3E}">
        <p14:creationId xmlns:p14="http://schemas.microsoft.com/office/powerpoint/2010/main" val="170094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94236" y="229874"/>
            <a:ext cx="5567207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最早截止时间优先（</a:t>
            </a:r>
            <a:r>
              <a:rPr lang="en-US" altLang="zh-CN" dirty="0"/>
              <a:t>EDF</a:t>
            </a:r>
            <a:r>
              <a:rPr lang="zh-CN" altLang="en-US" dirty="0"/>
              <a:t>）算法</a:t>
            </a:r>
          </a:p>
        </p:txBody>
      </p:sp>
      <p:grpSp>
        <p:nvGrpSpPr>
          <p:cNvPr id="4" name="Group 128"/>
          <p:cNvGrpSpPr>
            <a:grpSpLocks/>
          </p:cNvGrpSpPr>
          <p:nvPr/>
        </p:nvGrpSpPr>
        <p:grpSpPr bwMode="auto">
          <a:xfrm>
            <a:off x="4539298" y="549275"/>
            <a:ext cx="6610350" cy="792163"/>
            <a:chOff x="1429" y="346"/>
            <a:chExt cx="4164" cy="499"/>
          </a:xfrm>
        </p:grpSpPr>
        <p:sp>
          <p:nvSpPr>
            <p:cNvPr id="5" name="Line 6"/>
            <p:cNvSpPr>
              <a:spLocks noChangeShapeType="1"/>
            </p:cNvSpPr>
            <p:nvPr/>
          </p:nvSpPr>
          <p:spPr bwMode="auto">
            <a:xfrm>
              <a:off x="1528" y="845"/>
              <a:ext cx="40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Box 18"/>
            <p:cNvSpPr txBox="1">
              <a:spLocks noChangeArrowheads="1"/>
            </p:cNvSpPr>
            <p:nvPr/>
          </p:nvSpPr>
          <p:spPr bwMode="auto">
            <a:xfrm>
              <a:off x="1429" y="346"/>
              <a:ext cx="2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7" name="Text Box 19"/>
            <p:cNvSpPr txBox="1">
              <a:spLocks noChangeArrowheads="1"/>
            </p:cNvSpPr>
            <p:nvPr/>
          </p:nvSpPr>
          <p:spPr bwMode="auto">
            <a:xfrm>
              <a:off x="2970" y="34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50</a:t>
              </a:r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4495" y="346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100</a:t>
              </a:r>
            </a:p>
          </p:txBody>
        </p:sp>
        <p:sp>
          <p:nvSpPr>
            <p:cNvPr id="9" name="Text Box 32"/>
            <p:cNvSpPr txBox="1">
              <a:spLocks noChangeArrowheads="1"/>
            </p:cNvSpPr>
            <p:nvPr/>
          </p:nvSpPr>
          <p:spPr bwMode="auto">
            <a:xfrm>
              <a:off x="5139" y="346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120</a:t>
              </a:r>
            </a:p>
          </p:txBody>
        </p:sp>
        <p:sp>
          <p:nvSpPr>
            <p:cNvPr id="10" name="Text Box 83"/>
            <p:cNvSpPr txBox="1">
              <a:spLocks noChangeArrowheads="1"/>
            </p:cNvSpPr>
            <p:nvPr/>
          </p:nvSpPr>
          <p:spPr bwMode="auto">
            <a:xfrm>
              <a:off x="1683" y="346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11" name="Text Box 84"/>
            <p:cNvSpPr txBox="1">
              <a:spLocks noChangeArrowheads="1"/>
            </p:cNvSpPr>
            <p:nvPr/>
          </p:nvSpPr>
          <p:spPr bwMode="auto">
            <a:xfrm>
              <a:off x="2001" y="346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20</a:t>
              </a:r>
            </a:p>
          </p:txBody>
        </p:sp>
        <p:sp>
          <p:nvSpPr>
            <p:cNvPr id="12" name="Text Box 85"/>
            <p:cNvSpPr txBox="1">
              <a:spLocks noChangeArrowheads="1"/>
            </p:cNvSpPr>
            <p:nvPr/>
          </p:nvSpPr>
          <p:spPr bwMode="auto">
            <a:xfrm>
              <a:off x="2327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30</a:t>
              </a:r>
            </a:p>
          </p:txBody>
        </p:sp>
        <p:sp>
          <p:nvSpPr>
            <p:cNvPr id="13" name="Text Box 86"/>
            <p:cNvSpPr txBox="1">
              <a:spLocks noChangeArrowheads="1"/>
            </p:cNvSpPr>
            <p:nvPr/>
          </p:nvSpPr>
          <p:spPr bwMode="auto">
            <a:xfrm>
              <a:off x="2644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40</a:t>
              </a:r>
            </a:p>
          </p:txBody>
        </p:sp>
        <p:sp>
          <p:nvSpPr>
            <p:cNvPr id="14" name="Text Box 87"/>
            <p:cNvSpPr txBox="1">
              <a:spLocks noChangeArrowheads="1"/>
            </p:cNvSpPr>
            <p:nvPr/>
          </p:nvSpPr>
          <p:spPr bwMode="auto">
            <a:xfrm>
              <a:off x="3297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60</a:t>
              </a:r>
            </a:p>
          </p:txBody>
        </p:sp>
        <p:sp>
          <p:nvSpPr>
            <p:cNvPr id="15" name="Text Box 88"/>
            <p:cNvSpPr txBox="1">
              <a:spLocks noChangeArrowheads="1"/>
            </p:cNvSpPr>
            <p:nvPr/>
          </p:nvSpPr>
          <p:spPr bwMode="auto">
            <a:xfrm>
              <a:off x="3615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70</a:t>
              </a:r>
            </a:p>
          </p:txBody>
        </p:sp>
        <p:sp>
          <p:nvSpPr>
            <p:cNvPr id="16" name="Text Box 89"/>
            <p:cNvSpPr txBox="1">
              <a:spLocks noChangeArrowheads="1"/>
            </p:cNvSpPr>
            <p:nvPr/>
          </p:nvSpPr>
          <p:spPr bwMode="auto">
            <a:xfrm>
              <a:off x="3905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80</a:t>
              </a:r>
            </a:p>
          </p:txBody>
        </p:sp>
        <p:sp>
          <p:nvSpPr>
            <p:cNvPr id="17" name="Text Box 90"/>
            <p:cNvSpPr txBox="1">
              <a:spLocks noChangeArrowheads="1"/>
            </p:cNvSpPr>
            <p:nvPr/>
          </p:nvSpPr>
          <p:spPr bwMode="auto">
            <a:xfrm>
              <a:off x="4232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90</a:t>
              </a:r>
            </a:p>
          </p:txBody>
        </p:sp>
        <p:sp>
          <p:nvSpPr>
            <p:cNvPr id="18" name="Text Box 91"/>
            <p:cNvSpPr txBox="1">
              <a:spLocks noChangeArrowheads="1"/>
            </p:cNvSpPr>
            <p:nvPr/>
          </p:nvSpPr>
          <p:spPr bwMode="auto">
            <a:xfrm>
              <a:off x="4812" y="346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110</a:t>
              </a:r>
            </a:p>
          </p:txBody>
        </p:sp>
        <p:sp>
          <p:nvSpPr>
            <p:cNvPr id="19" name="Line 92"/>
            <p:cNvSpPr>
              <a:spLocks noChangeShapeType="1"/>
            </p:cNvSpPr>
            <p:nvPr/>
          </p:nvSpPr>
          <p:spPr bwMode="auto">
            <a:xfrm>
              <a:off x="2481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93"/>
            <p:cNvSpPr>
              <a:spLocks noChangeShapeType="1"/>
            </p:cNvSpPr>
            <p:nvPr/>
          </p:nvSpPr>
          <p:spPr bwMode="auto">
            <a:xfrm>
              <a:off x="2799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94"/>
            <p:cNvSpPr>
              <a:spLocks noChangeShapeType="1"/>
            </p:cNvSpPr>
            <p:nvPr/>
          </p:nvSpPr>
          <p:spPr bwMode="auto">
            <a:xfrm>
              <a:off x="3116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95"/>
            <p:cNvSpPr>
              <a:spLocks noChangeShapeType="1"/>
            </p:cNvSpPr>
            <p:nvPr/>
          </p:nvSpPr>
          <p:spPr bwMode="auto">
            <a:xfrm>
              <a:off x="3434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96"/>
            <p:cNvSpPr>
              <a:spLocks noChangeShapeType="1"/>
            </p:cNvSpPr>
            <p:nvPr/>
          </p:nvSpPr>
          <p:spPr bwMode="auto">
            <a:xfrm>
              <a:off x="3751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97"/>
            <p:cNvSpPr>
              <a:spLocks noChangeShapeType="1"/>
            </p:cNvSpPr>
            <p:nvPr/>
          </p:nvSpPr>
          <p:spPr bwMode="auto">
            <a:xfrm>
              <a:off x="4069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98"/>
            <p:cNvSpPr>
              <a:spLocks noChangeShapeType="1"/>
            </p:cNvSpPr>
            <p:nvPr/>
          </p:nvSpPr>
          <p:spPr bwMode="auto">
            <a:xfrm>
              <a:off x="4386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99"/>
            <p:cNvSpPr>
              <a:spLocks noChangeShapeType="1"/>
            </p:cNvSpPr>
            <p:nvPr/>
          </p:nvSpPr>
          <p:spPr bwMode="auto">
            <a:xfrm>
              <a:off x="4704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00"/>
            <p:cNvSpPr>
              <a:spLocks noChangeShapeType="1"/>
            </p:cNvSpPr>
            <p:nvPr/>
          </p:nvSpPr>
          <p:spPr bwMode="auto">
            <a:xfrm>
              <a:off x="5021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01"/>
            <p:cNvSpPr>
              <a:spLocks noChangeShapeType="1"/>
            </p:cNvSpPr>
            <p:nvPr/>
          </p:nvSpPr>
          <p:spPr bwMode="auto">
            <a:xfrm>
              <a:off x="5339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02"/>
            <p:cNvSpPr>
              <a:spLocks noChangeShapeType="1"/>
            </p:cNvSpPr>
            <p:nvPr/>
          </p:nvSpPr>
          <p:spPr bwMode="auto">
            <a:xfrm>
              <a:off x="1528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03"/>
            <p:cNvSpPr>
              <a:spLocks noChangeShapeType="1"/>
            </p:cNvSpPr>
            <p:nvPr/>
          </p:nvSpPr>
          <p:spPr bwMode="auto">
            <a:xfrm>
              <a:off x="1846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04"/>
            <p:cNvSpPr>
              <a:spLocks noChangeShapeType="1"/>
            </p:cNvSpPr>
            <p:nvPr/>
          </p:nvSpPr>
          <p:spPr bwMode="auto">
            <a:xfrm>
              <a:off x="2163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" name="Line 105"/>
          <p:cNvSpPr>
            <a:spLocks noChangeShapeType="1"/>
          </p:cNvSpPr>
          <p:nvPr/>
        </p:nvSpPr>
        <p:spPr bwMode="auto">
          <a:xfrm>
            <a:off x="4682173" y="2276475"/>
            <a:ext cx="64087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3" name="Group 227"/>
          <p:cNvGrpSpPr>
            <a:grpSpLocks/>
          </p:cNvGrpSpPr>
          <p:nvPr/>
        </p:nvGrpSpPr>
        <p:grpSpPr bwMode="auto">
          <a:xfrm>
            <a:off x="4999673" y="1555750"/>
            <a:ext cx="503237" cy="720725"/>
            <a:chOff x="1719" y="980"/>
            <a:chExt cx="317" cy="454"/>
          </a:xfrm>
        </p:grpSpPr>
        <p:sp>
          <p:nvSpPr>
            <p:cNvPr id="34" name="Line 108"/>
            <p:cNvSpPr>
              <a:spLocks noChangeShapeType="1"/>
            </p:cNvSpPr>
            <p:nvPr/>
          </p:nvSpPr>
          <p:spPr bwMode="auto">
            <a:xfrm>
              <a:off x="1837" y="1207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118"/>
            <p:cNvSpPr txBox="1">
              <a:spLocks noChangeArrowheads="1"/>
            </p:cNvSpPr>
            <p:nvPr/>
          </p:nvSpPr>
          <p:spPr bwMode="auto">
            <a:xfrm>
              <a:off x="1719" y="980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</a:p>
          </p:txBody>
        </p:sp>
      </p:grpSp>
      <p:grpSp>
        <p:nvGrpSpPr>
          <p:cNvPr id="36" name="Group 228"/>
          <p:cNvGrpSpPr>
            <a:grpSpLocks/>
          </p:cNvGrpSpPr>
          <p:nvPr/>
        </p:nvGrpSpPr>
        <p:grpSpPr bwMode="auto">
          <a:xfrm>
            <a:off x="5504498" y="1555750"/>
            <a:ext cx="430212" cy="720725"/>
            <a:chOff x="2037" y="980"/>
            <a:chExt cx="271" cy="454"/>
          </a:xfrm>
        </p:grpSpPr>
        <p:sp>
          <p:nvSpPr>
            <p:cNvPr id="37" name="Line 109"/>
            <p:cNvSpPr>
              <a:spLocks noChangeShapeType="1"/>
            </p:cNvSpPr>
            <p:nvPr/>
          </p:nvSpPr>
          <p:spPr bwMode="auto">
            <a:xfrm>
              <a:off x="2154" y="1207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119"/>
            <p:cNvSpPr txBox="1">
              <a:spLocks noChangeArrowheads="1"/>
            </p:cNvSpPr>
            <p:nvPr/>
          </p:nvSpPr>
          <p:spPr bwMode="auto">
            <a:xfrm>
              <a:off x="2037" y="980"/>
              <a:ext cx="2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</a:p>
          </p:txBody>
        </p:sp>
      </p:grpSp>
      <p:grpSp>
        <p:nvGrpSpPr>
          <p:cNvPr id="39" name="Group 229"/>
          <p:cNvGrpSpPr>
            <a:grpSpLocks/>
          </p:cNvGrpSpPr>
          <p:nvPr/>
        </p:nvGrpSpPr>
        <p:grpSpPr bwMode="auto">
          <a:xfrm>
            <a:off x="6510973" y="1555750"/>
            <a:ext cx="431800" cy="720725"/>
            <a:chOff x="2671" y="980"/>
            <a:chExt cx="272" cy="454"/>
          </a:xfrm>
        </p:grpSpPr>
        <p:sp>
          <p:nvSpPr>
            <p:cNvPr id="40" name="Line 110"/>
            <p:cNvSpPr>
              <a:spLocks noChangeShapeType="1"/>
            </p:cNvSpPr>
            <p:nvPr/>
          </p:nvSpPr>
          <p:spPr bwMode="auto">
            <a:xfrm>
              <a:off x="2789" y="1207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Box 120"/>
            <p:cNvSpPr txBox="1">
              <a:spLocks noChangeArrowheads="1"/>
            </p:cNvSpPr>
            <p:nvPr/>
          </p:nvSpPr>
          <p:spPr bwMode="auto">
            <a:xfrm>
              <a:off x="2671" y="98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C</a:t>
              </a:r>
            </a:p>
          </p:txBody>
        </p:sp>
      </p:grpSp>
      <p:grpSp>
        <p:nvGrpSpPr>
          <p:cNvPr id="42" name="Group 230"/>
          <p:cNvGrpSpPr>
            <a:grpSpLocks/>
          </p:cNvGrpSpPr>
          <p:nvPr/>
        </p:nvGrpSpPr>
        <p:grpSpPr bwMode="auto">
          <a:xfrm>
            <a:off x="7015798" y="1555750"/>
            <a:ext cx="503237" cy="720725"/>
            <a:chOff x="2989" y="980"/>
            <a:chExt cx="317" cy="454"/>
          </a:xfrm>
        </p:grpSpPr>
        <p:sp>
          <p:nvSpPr>
            <p:cNvPr id="43" name="Line 111"/>
            <p:cNvSpPr>
              <a:spLocks noChangeShapeType="1"/>
            </p:cNvSpPr>
            <p:nvPr/>
          </p:nvSpPr>
          <p:spPr bwMode="auto">
            <a:xfrm>
              <a:off x="3107" y="1207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121"/>
            <p:cNvSpPr txBox="1">
              <a:spLocks noChangeArrowheads="1"/>
            </p:cNvSpPr>
            <p:nvPr/>
          </p:nvSpPr>
          <p:spPr bwMode="auto">
            <a:xfrm>
              <a:off x="2989" y="980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D</a:t>
              </a:r>
            </a:p>
          </p:txBody>
        </p:sp>
      </p:grpSp>
      <p:grpSp>
        <p:nvGrpSpPr>
          <p:cNvPr id="45" name="Group 231"/>
          <p:cNvGrpSpPr>
            <a:grpSpLocks/>
          </p:cNvGrpSpPr>
          <p:nvPr/>
        </p:nvGrpSpPr>
        <p:grpSpPr bwMode="auto">
          <a:xfrm>
            <a:off x="7520623" y="1555750"/>
            <a:ext cx="503237" cy="720725"/>
            <a:chOff x="3307" y="980"/>
            <a:chExt cx="317" cy="454"/>
          </a:xfrm>
        </p:grpSpPr>
        <p:sp>
          <p:nvSpPr>
            <p:cNvPr id="46" name="Line 112"/>
            <p:cNvSpPr>
              <a:spLocks noChangeShapeType="1"/>
            </p:cNvSpPr>
            <p:nvPr/>
          </p:nvSpPr>
          <p:spPr bwMode="auto">
            <a:xfrm>
              <a:off x="3424" y="1207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122"/>
            <p:cNvSpPr txBox="1">
              <a:spLocks noChangeArrowheads="1"/>
            </p:cNvSpPr>
            <p:nvPr/>
          </p:nvSpPr>
          <p:spPr bwMode="auto">
            <a:xfrm>
              <a:off x="3307" y="980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grpSp>
        <p:nvGrpSpPr>
          <p:cNvPr id="48" name="Group 236"/>
          <p:cNvGrpSpPr>
            <a:grpSpLocks/>
          </p:cNvGrpSpPr>
          <p:nvPr/>
        </p:nvGrpSpPr>
        <p:grpSpPr bwMode="auto">
          <a:xfrm>
            <a:off x="10055860" y="2276475"/>
            <a:ext cx="503238" cy="700088"/>
            <a:chOff x="4904" y="1434"/>
            <a:chExt cx="317" cy="441"/>
          </a:xfrm>
        </p:grpSpPr>
        <p:sp>
          <p:nvSpPr>
            <p:cNvPr id="49" name="Line 117"/>
            <p:cNvSpPr>
              <a:spLocks noChangeShapeType="1"/>
            </p:cNvSpPr>
            <p:nvPr/>
          </p:nvSpPr>
          <p:spPr bwMode="auto">
            <a:xfrm>
              <a:off x="5012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 Box 123"/>
            <p:cNvSpPr txBox="1">
              <a:spLocks noChangeArrowheads="1"/>
            </p:cNvSpPr>
            <p:nvPr/>
          </p:nvSpPr>
          <p:spPr bwMode="auto">
            <a:xfrm>
              <a:off x="4904" y="1625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</a:p>
          </p:txBody>
        </p:sp>
      </p:grpSp>
      <p:grpSp>
        <p:nvGrpSpPr>
          <p:cNvPr id="51" name="Group 232"/>
          <p:cNvGrpSpPr>
            <a:grpSpLocks/>
          </p:cNvGrpSpPr>
          <p:nvPr/>
        </p:nvGrpSpPr>
        <p:grpSpPr bwMode="auto">
          <a:xfrm>
            <a:off x="5533073" y="2276475"/>
            <a:ext cx="430212" cy="700088"/>
            <a:chOff x="2055" y="1434"/>
            <a:chExt cx="271" cy="441"/>
          </a:xfrm>
        </p:grpSpPr>
        <p:sp>
          <p:nvSpPr>
            <p:cNvPr id="52" name="Line 113"/>
            <p:cNvSpPr>
              <a:spLocks noChangeShapeType="1"/>
            </p:cNvSpPr>
            <p:nvPr/>
          </p:nvSpPr>
          <p:spPr bwMode="auto">
            <a:xfrm>
              <a:off x="2154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124"/>
            <p:cNvSpPr txBox="1">
              <a:spLocks noChangeArrowheads="1"/>
            </p:cNvSpPr>
            <p:nvPr/>
          </p:nvSpPr>
          <p:spPr bwMode="auto">
            <a:xfrm>
              <a:off x="2055" y="1625"/>
              <a:ext cx="2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</a:p>
          </p:txBody>
        </p:sp>
      </p:grpSp>
      <p:grpSp>
        <p:nvGrpSpPr>
          <p:cNvPr id="54" name="Group 233"/>
          <p:cNvGrpSpPr>
            <a:grpSpLocks/>
          </p:cNvGrpSpPr>
          <p:nvPr/>
        </p:nvGrpSpPr>
        <p:grpSpPr bwMode="auto">
          <a:xfrm>
            <a:off x="7015798" y="2276475"/>
            <a:ext cx="431800" cy="700088"/>
            <a:chOff x="2989" y="1434"/>
            <a:chExt cx="272" cy="441"/>
          </a:xfrm>
        </p:grpSpPr>
        <p:sp>
          <p:nvSpPr>
            <p:cNvPr id="55" name="Line 114"/>
            <p:cNvSpPr>
              <a:spLocks noChangeShapeType="1"/>
            </p:cNvSpPr>
            <p:nvPr/>
          </p:nvSpPr>
          <p:spPr bwMode="auto">
            <a:xfrm>
              <a:off x="3107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 Box 125"/>
            <p:cNvSpPr txBox="1">
              <a:spLocks noChangeArrowheads="1"/>
            </p:cNvSpPr>
            <p:nvPr/>
          </p:nvSpPr>
          <p:spPr bwMode="auto">
            <a:xfrm>
              <a:off x="2989" y="1625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C</a:t>
              </a:r>
            </a:p>
          </p:txBody>
        </p:sp>
      </p:grpSp>
      <p:grpSp>
        <p:nvGrpSpPr>
          <p:cNvPr id="57" name="Group 235"/>
          <p:cNvGrpSpPr>
            <a:grpSpLocks/>
          </p:cNvGrpSpPr>
          <p:nvPr/>
        </p:nvGrpSpPr>
        <p:grpSpPr bwMode="auto">
          <a:xfrm>
            <a:off x="9047798" y="2276475"/>
            <a:ext cx="503237" cy="700088"/>
            <a:chOff x="4269" y="1434"/>
            <a:chExt cx="317" cy="441"/>
          </a:xfrm>
        </p:grpSpPr>
        <p:sp>
          <p:nvSpPr>
            <p:cNvPr id="58" name="Line 116"/>
            <p:cNvSpPr>
              <a:spLocks noChangeShapeType="1"/>
            </p:cNvSpPr>
            <p:nvPr/>
          </p:nvSpPr>
          <p:spPr bwMode="auto">
            <a:xfrm>
              <a:off x="4377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126"/>
            <p:cNvSpPr txBox="1">
              <a:spLocks noChangeArrowheads="1"/>
            </p:cNvSpPr>
            <p:nvPr/>
          </p:nvSpPr>
          <p:spPr bwMode="auto">
            <a:xfrm>
              <a:off x="4269" y="1625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D</a:t>
              </a:r>
            </a:p>
          </p:txBody>
        </p:sp>
      </p:grpSp>
      <p:grpSp>
        <p:nvGrpSpPr>
          <p:cNvPr id="60" name="Group 234"/>
          <p:cNvGrpSpPr>
            <a:grpSpLocks/>
          </p:cNvGrpSpPr>
          <p:nvPr/>
        </p:nvGrpSpPr>
        <p:grpSpPr bwMode="auto">
          <a:xfrm>
            <a:off x="8038148" y="2276475"/>
            <a:ext cx="503237" cy="700088"/>
            <a:chOff x="3633" y="1434"/>
            <a:chExt cx="317" cy="441"/>
          </a:xfrm>
        </p:grpSpPr>
        <p:sp>
          <p:nvSpPr>
            <p:cNvPr id="61" name="Line 115"/>
            <p:cNvSpPr>
              <a:spLocks noChangeShapeType="1"/>
            </p:cNvSpPr>
            <p:nvPr/>
          </p:nvSpPr>
          <p:spPr bwMode="auto">
            <a:xfrm>
              <a:off x="3742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 Box 127"/>
            <p:cNvSpPr txBox="1">
              <a:spLocks noChangeArrowheads="1"/>
            </p:cNvSpPr>
            <p:nvPr/>
          </p:nvSpPr>
          <p:spPr bwMode="auto">
            <a:xfrm>
              <a:off x="3633" y="1625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grpSp>
        <p:nvGrpSpPr>
          <p:cNvPr id="63" name="Group 226"/>
          <p:cNvGrpSpPr>
            <a:grpSpLocks/>
          </p:cNvGrpSpPr>
          <p:nvPr/>
        </p:nvGrpSpPr>
        <p:grpSpPr bwMode="auto">
          <a:xfrm>
            <a:off x="2362835" y="1916113"/>
            <a:ext cx="900113" cy="647700"/>
            <a:chOff x="58" y="1207"/>
            <a:chExt cx="567" cy="408"/>
          </a:xfrm>
        </p:grpSpPr>
        <p:sp>
          <p:nvSpPr>
            <p:cNvPr id="64" name="AutoShape 205"/>
            <p:cNvSpPr>
              <a:spLocks/>
            </p:cNvSpPr>
            <p:nvPr/>
          </p:nvSpPr>
          <p:spPr bwMode="auto">
            <a:xfrm>
              <a:off x="443" y="1207"/>
              <a:ext cx="182" cy="408"/>
            </a:xfrm>
            <a:prstGeom prst="leftBrace">
              <a:avLst>
                <a:gd name="adj1" fmla="val 1868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" name="Text Box 206"/>
            <p:cNvSpPr txBox="1">
              <a:spLocks noChangeArrowheads="1"/>
            </p:cNvSpPr>
            <p:nvPr/>
          </p:nvSpPr>
          <p:spPr bwMode="auto">
            <a:xfrm>
              <a:off x="58" y="1298"/>
              <a:ext cx="4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1800" b="1">
                  <a:solidFill>
                    <a:schemeClr val="tx1"/>
                  </a:solidFill>
                  <a:latin typeface="Times New Roman" pitchFamily="18" charset="0"/>
                </a:rPr>
                <a:t>要求</a:t>
              </a:r>
            </a:p>
          </p:txBody>
        </p:sp>
      </p:grpSp>
      <p:sp>
        <p:nvSpPr>
          <p:cNvPr id="66" name="Text Box 207"/>
          <p:cNvSpPr txBox="1">
            <a:spLocks noChangeArrowheads="1"/>
          </p:cNvSpPr>
          <p:nvPr/>
        </p:nvSpPr>
        <p:spPr bwMode="auto">
          <a:xfrm>
            <a:off x="3189923" y="1725613"/>
            <a:ext cx="1104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到达时间</a:t>
            </a:r>
          </a:p>
        </p:txBody>
      </p:sp>
      <p:sp>
        <p:nvSpPr>
          <p:cNvPr id="67" name="Text Box 208"/>
          <p:cNvSpPr txBox="1">
            <a:spLocks noChangeArrowheads="1"/>
          </p:cNvSpPr>
          <p:nvPr/>
        </p:nvSpPr>
        <p:spPr bwMode="auto">
          <a:xfrm>
            <a:off x="3189923" y="2336800"/>
            <a:ext cx="1565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开始截止时间</a:t>
            </a:r>
          </a:p>
        </p:txBody>
      </p:sp>
      <p:sp>
        <p:nvSpPr>
          <p:cNvPr id="68" name="Line 150"/>
          <p:cNvSpPr>
            <a:spLocks noChangeShapeType="1"/>
          </p:cNvSpPr>
          <p:nvPr/>
        </p:nvSpPr>
        <p:spPr bwMode="auto">
          <a:xfrm>
            <a:off x="4682173" y="4078288"/>
            <a:ext cx="64087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9" name="Group 238"/>
          <p:cNvGrpSpPr>
            <a:grpSpLocks/>
          </p:cNvGrpSpPr>
          <p:nvPr/>
        </p:nvGrpSpPr>
        <p:grpSpPr bwMode="auto">
          <a:xfrm>
            <a:off x="4999673" y="3068638"/>
            <a:ext cx="3024187" cy="720725"/>
            <a:chOff x="1719" y="1933"/>
            <a:chExt cx="1905" cy="454"/>
          </a:xfrm>
        </p:grpSpPr>
        <p:sp>
          <p:nvSpPr>
            <p:cNvPr id="70" name="Line 151"/>
            <p:cNvSpPr>
              <a:spLocks noChangeShapeType="1"/>
            </p:cNvSpPr>
            <p:nvPr/>
          </p:nvSpPr>
          <p:spPr bwMode="auto">
            <a:xfrm>
              <a:off x="1837" y="216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52"/>
            <p:cNvSpPr>
              <a:spLocks noChangeShapeType="1"/>
            </p:cNvSpPr>
            <p:nvPr/>
          </p:nvSpPr>
          <p:spPr bwMode="auto">
            <a:xfrm>
              <a:off x="2154" y="216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153"/>
            <p:cNvSpPr>
              <a:spLocks noChangeShapeType="1"/>
            </p:cNvSpPr>
            <p:nvPr/>
          </p:nvSpPr>
          <p:spPr bwMode="auto">
            <a:xfrm>
              <a:off x="2789" y="216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154"/>
            <p:cNvSpPr>
              <a:spLocks noChangeShapeType="1"/>
            </p:cNvSpPr>
            <p:nvPr/>
          </p:nvSpPr>
          <p:spPr bwMode="auto">
            <a:xfrm>
              <a:off x="3107" y="216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155"/>
            <p:cNvSpPr>
              <a:spLocks noChangeShapeType="1"/>
            </p:cNvSpPr>
            <p:nvPr/>
          </p:nvSpPr>
          <p:spPr bwMode="auto">
            <a:xfrm>
              <a:off x="3424" y="216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Box 161"/>
            <p:cNvSpPr txBox="1">
              <a:spLocks noChangeArrowheads="1"/>
            </p:cNvSpPr>
            <p:nvPr/>
          </p:nvSpPr>
          <p:spPr bwMode="auto">
            <a:xfrm>
              <a:off x="1719" y="1933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6" name="Text Box 162"/>
            <p:cNvSpPr txBox="1">
              <a:spLocks noChangeArrowheads="1"/>
            </p:cNvSpPr>
            <p:nvPr/>
          </p:nvSpPr>
          <p:spPr bwMode="auto">
            <a:xfrm>
              <a:off x="2037" y="1933"/>
              <a:ext cx="2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7" name="Text Box 163"/>
            <p:cNvSpPr txBox="1">
              <a:spLocks noChangeArrowheads="1"/>
            </p:cNvSpPr>
            <p:nvPr/>
          </p:nvSpPr>
          <p:spPr bwMode="auto">
            <a:xfrm>
              <a:off x="2671" y="1933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78" name="Text Box 164"/>
            <p:cNvSpPr txBox="1">
              <a:spLocks noChangeArrowheads="1"/>
            </p:cNvSpPr>
            <p:nvPr/>
          </p:nvSpPr>
          <p:spPr bwMode="auto">
            <a:xfrm>
              <a:off x="2989" y="1933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79" name="Text Box 165"/>
            <p:cNvSpPr txBox="1">
              <a:spLocks noChangeArrowheads="1"/>
            </p:cNvSpPr>
            <p:nvPr/>
          </p:nvSpPr>
          <p:spPr bwMode="auto">
            <a:xfrm>
              <a:off x="3307" y="1933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grpSp>
        <p:nvGrpSpPr>
          <p:cNvPr id="80" name="Group 240"/>
          <p:cNvGrpSpPr>
            <a:grpSpLocks/>
          </p:cNvGrpSpPr>
          <p:nvPr/>
        </p:nvGrpSpPr>
        <p:grpSpPr bwMode="auto">
          <a:xfrm>
            <a:off x="5517198" y="4078288"/>
            <a:ext cx="5041900" cy="700087"/>
            <a:chOff x="2045" y="2569"/>
            <a:chExt cx="3176" cy="441"/>
          </a:xfrm>
        </p:grpSpPr>
        <p:sp>
          <p:nvSpPr>
            <p:cNvPr id="81" name="Line 156"/>
            <p:cNvSpPr>
              <a:spLocks noChangeShapeType="1"/>
            </p:cNvSpPr>
            <p:nvPr/>
          </p:nvSpPr>
          <p:spPr bwMode="auto">
            <a:xfrm>
              <a:off x="2154" y="2569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157"/>
            <p:cNvSpPr>
              <a:spLocks noChangeShapeType="1"/>
            </p:cNvSpPr>
            <p:nvPr/>
          </p:nvSpPr>
          <p:spPr bwMode="auto">
            <a:xfrm>
              <a:off x="3107" y="2569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158"/>
            <p:cNvSpPr>
              <a:spLocks noChangeShapeType="1"/>
            </p:cNvSpPr>
            <p:nvPr/>
          </p:nvSpPr>
          <p:spPr bwMode="auto">
            <a:xfrm>
              <a:off x="3742" y="2569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59"/>
            <p:cNvSpPr>
              <a:spLocks noChangeShapeType="1"/>
            </p:cNvSpPr>
            <p:nvPr/>
          </p:nvSpPr>
          <p:spPr bwMode="auto">
            <a:xfrm>
              <a:off x="4377" y="2569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160"/>
            <p:cNvSpPr>
              <a:spLocks noChangeShapeType="1"/>
            </p:cNvSpPr>
            <p:nvPr/>
          </p:nvSpPr>
          <p:spPr bwMode="auto">
            <a:xfrm>
              <a:off x="5012" y="2569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Text Box 166"/>
            <p:cNvSpPr txBox="1">
              <a:spLocks noChangeArrowheads="1"/>
            </p:cNvSpPr>
            <p:nvPr/>
          </p:nvSpPr>
          <p:spPr bwMode="auto">
            <a:xfrm>
              <a:off x="4904" y="2760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87" name="Text Box 167"/>
            <p:cNvSpPr txBox="1">
              <a:spLocks noChangeArrowheads="1"/>
            </p:cNvSpPr>
            <p:nvPr/>
          </p:nvSpPr>
          <p:spPr bwMode="auto">
            <a:xfrm>
              <a:off x="2045" y="2760"/>
              <a:ext cx="2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88" name="Text Box 168"/>
            <p:cNvSpPr txBox="1">
              <a:spLocks noChangeArrowheads="1"/>
            </p:cNvSpPr>
            <p:nvPr/>
          </p:nvSpPr>
          <p:spPr bwMode="auto">
            <a:xfrm>
              <a:off x="2989" y="276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89" name="Text Box 169"/>
            <p:cNvSpPr txBox="1">
              <a:spLocks noChangeArrowheads="1"/>
            </p:cNvSpPr>
            <p:nvPr/>
          </p:nvSpPr>
          <p:spPr bwMode="auto">
            <a:xfrm>
              <a:off x="4269" y="2760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90" name="Text Box 170"/>
            <p:cNvSpPr txBox="1">
              <a:spLocks noChangeArrowheads="1"/>
            </p:cNvSpPr>
            <p:nvPr/>
          </p:nvSpPr>
          <p:spPr bwMode="auto">
            <a:xfrm>
              <a:off x="3633" y="2760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sp>
        <p:nvSpPr>
          <p:cNvPr id="91" name="Rectangle 192"/>
          <p:cNvSpPr>
            <a:spLocks noChangeArrowheads="1"/>
          </p:cNvSpPr>
          <p:nvPr/>
        </p:nvSpPr>
        <p:spPr bwMode="auto">
          <a:xfrm>
            <a:off x="5186998" y="3789363"/>
            <a:ext cx="1008062" cy="28892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92" name="Rectangle 193"/>
          <p:cNvSpPr>
            <a:spLocks noChangeArrowheads="1"/>
          </p:cNvSpPr>
          <p:nvPr/>
        </p:nvSpPr>
        <p:spPr bwMode="auto">
          <a:xfrm>
            <a:off x="6698298" y="3789363"/>
            <a:ext cx="1008062" cy="28892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93" name="Rectangle 194"/>
          <p:cNvSpPr>
            <a:spLocks noChangeArrowheads="1"/>
          </p:cNvSpPr>
          <p:nvPr/>
        </p:nvSpPr>
        <p:spPr bwMode="auto">
          <a:xfrm>
            <a:off x="7706360" y="3789363"/>
            <a:ext cx="1008063" cy="28892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94" name="Rectangle 195"/>
          <p:cNvSpPr>
            <a:spLocks noChangeArrowheads="1"/>
          </p:cNvSpPr>
          <p:nvPr/>
        </p:nvSpPr>
        <p:spPr bwMode="auto">
          <a:xfrm>
            <a:off x="8714423" y="3789363"/>
            <a:ext cx="1008062" cy="28892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D</a:t>
            </a:r>
          </a:p>
        </p:txBody>
      </p:sp>
      <p:grpSp>
        <p:nvGrpSpPr>
          <p:cNvPr id="95" name="Group 237"/>
          <p:cNvGrpSpPr>
            <a:grpSpLocks/>
          </p:cNvGrpSpPr>
          <p:nvPr/>
        </p:nvGrpSpPr>
        <p:grpSpPr bwMode="auto">
          <a:xfrm>
            <a:off x="2234247" y="3498850"/>
            <a:ext cx="1062038" cy="858838"/>
            <a:chOff x="-23" y="2204"/>
            <a:chExt cx="669" cy="541"/>
          </a:xfrm>
        </p:grpSpPr>
        <p:sp>
          <p:nvSpPr>
            <p:cNvPr id="96" name="AutoShape 209"/>
            <p:cNvSpPr>
              <a:spLocks/>
            </p:cNvSpPr>
            <p:nvPr/>
          </p:nvSpPr>
          <p:spPr bwMode="auto">
            <a:xfrm>
              <a:off x="431" y="2204"/>
              <a:ext cx="215" cy="541"/>
            </a:xfrm>
            <a:prstGeom prst="leftBrace">
              <a:avLst>
                <a:gd name="adj1" fmla="val 2096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" name="Text Box 210"/>
            <p:cNvSpPr txBox="1">
              <a:spLocks noChangeArrowheads="1"/>
            </p:cNvSpPr>
            <p:nvPr/>
          </p:nvSpPr>
          <p:spPr bwMode="auto">
            <a:xfrm>
              <a:off x="-23" y="2259"/>
              <a:ext cx="55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1800" b="1">
                  <a:solidFill>
                    <a:schemeClr val="tx1"/>
                  </a:solidFill>
                  <a:latin typeface="Times New Roman" pitchFamily="18" charset="0"/>
                </a:rPr>
                <a:t>非抢占方   式</a:t>
              </a:r>
            </a:p>
          </p:txBody>
        </p:sp>
      </p:grpSp>
      <p:sp>
        <p:nvSpPr>
          <p:cNvPr id="98" name="Text Box 211"/>
          <p:cNvSpPr txBox="1">
            <a:spLocks noChangeArrowheads="1"/>
          </p:cNvSpPr>
          <p:nvPr/>
        </p:nvSpPr>
        <p:spPr bwMode="auto">
          <a:xfrm>
            <a:off x="3261360" y="3213100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到达时间</a:t>
            </a:r>
          </a:p>
        </p:txBody>
      </p:sp>
      <p:sp>
        <p:nvSpPr>
          <p:cNvPr id="99" name="Text Box 212"/>
          <p:cNvSpPr txBox="1">
            <a:spLocks noChangeArrowheads="1"/>
          </p:cNvSpPr>
          <p:nvPr/>
        </p:nvSpPr>
        <p:spPr bwMode="auto">
          <a:xfrm>
            <a:off x="3261360" y="4149725"/>
            <a:ext cx="1565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开始截止时间</a:t>
            </a:r>
          </a:p>
        </p:txBody>
      </p:sp>
      <p:sp>
        <p:nvSpPr>
          <p:cNvPr id="100" name="Text Box 213"/>
          <p:cNvSpPr txBox="1">
            <a:spLocks noChangeArrowheads="1"/>
          </p:cNvSpPr>
          <p:nvPr/>
        </p:nvSpPr>
        <p:spPr bwMode="auto">
          <a:xfrm>
            <a:off x="3242310" y="3717925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执行时间</a:t>
            </a:r>
          </a:p>
        </p:txBody>
      </p:sp>
      <p:sp>
        <p:nvSpPr>
          <p:cNvPr id="101" name="Line 171"/>
          <p:cNvSpPr>
            <a:spLocks noChangeShapeType="1"/>
          </p:cNvSpPr>
          <p:nvPr/>
        </p:nvSpPr>
        <p:spPr bwMode="auto">
          <a:xfrm>
            <a:off x="4682173" y="5969000"/>
            <a:ext cx="64087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" name="Group 242"/>
          <p:cNvGrpSpPr>
            <a:grpSpLocks/>
          </p:cNvGrpSpPr>
          <p:nvPr/>
        </p:nvGrpSpPr>
        <p:grpSpPr bwMode="auto">
          <a:xfrm>
            <a:off x="4999673" y="4941888"/>
            <a:ext cx="3024187" cy="720725"/>
            <a:chOff x="1719" y="3113"/>
            <a:chExt cx="1905" cy="454"/>
          </a:xfrm>
        </p:grpSpPr>
        <p:sp>
          <p:nvSpPr>
            <p:cNvPr id="103" name="Line 172"/>
            <p:cNvSpPr>
              <a:spLocks noChangeShapeType="1"/>
            </p:cNvSpPr>
            <p:nvPr/>
          </p:nvSpPr>
          <p:spPr bwMode="auto">
            <a:xfrm>
              <a:off x="1837" y="334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73"/>
            <p:cNvSpPr>
              <a:spLocks noChangeShapeType="1"/>
            </p:cNvSpPr>
            <p:nvPr/>
          </p:nvSpPr>
          <p:spPr bwMode="auto">
            <a:xfrm>
              <a:off x="2154" y="334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74"/>
            <p:cNvSpPr>
              <a:spLocks noChangeShapeType="1"/>
            </p:cNvSpPr>
            <p:nvPr/>
          </p:nvSpPr>
          <p:spPr bwMode="auto">
            <a:xfrm>
              <a:off x="2789" y="334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75"/>
            <p:cNvSpPr>
              <a:spLocks noChangeShapeType="1"/>
            </p:cNvSpPr>
            <p:nvPr/>
          </p:nvSpPr>
          <p:spPr bwMode="auto">
            <a:xfrm>
              <a:off x="3107" y="334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76"/>
            <p:cNvSpPr>
              <a:spLocks noChangeShapeType="1"/>
            </p:cNvSpPr>
            <p:nvPr/>
          </p:nvSpPr>
          <p:spPr bwMode="auto">
            <a:xfrm>
              <a:off x="3424" y="334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Text Box 182"/>
            <p:cNvSpPr txBox="1">
              <a:spLocks noChangeArrowheads="1"/>
            </p:cNvSpPr>
            <p:nvPr/>
          </p:nvSpPr>
          <p:spPr bwMode="auto">
            <a:xfrm>
              <a:off x="1719" y="3113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09" name="Text Box 183"/>
            <p:cNvSpPr txBox="1">
              <a:spLocks noChangeArrowheads="1"/>
            </p:cNvSpPr>
            <p:nvPr/>
          </p:nvSpPr>
          <p:spPr bwMode="auto">
            <a:xfrm>
              <a:off x="2037" y="3113"/>
              <a:ext cx="2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10" name="Text Box 184"/>
            <p:cNvSpPr txBox="1">
              <a:spLocks noChangeArrowheads="1"/>
            </p:cNvSpPr>
            <p:nvPr/>
          </p:nvSpPr>
          <p:spPr bwMode="auto">
            <a:xfrm>
              <a:off x="2671" y="3113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11" name="Text Box 185"/>
            <p:cNvSpPr txBox="1">
              <a:spLocks noChangeArrowheads="1"/>
            </p:cNvSpPr>
            <p:nvPr/>
          </p:nvSpPr>
          <p:spPr bwMode="auto">
            <a:xfrm>
              <a:off x="2989" y="3113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12" name="Text Box 186"/>
            <p:cNvSpPr txBox="1">
              <a:spLocks noChangeArrowheads="1"/>
            </p:cNvSpPr>
            <p:nvPr/>
          </p:nvSpPr>
          <p:spPr bwMode="auto">
            <a:xfrm>
              <a:off x="3307" y="3113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grpSp>
        <p:nvGrpSpPr>
          <p:cNvPr id="113" name="Group 243"/>
          <p:cNvGrpSpPr>
            <a:grpSpLocks/>
          </p:cNvGrpSpPr>
          <p:nvPr/>
        </p:nvGrpSpPr>
        <p:grpSpPr bwMode="auto">
          <a:xfrm>
            <a:off x="5533073" y="5969000"/>
            <a:ext cx="5026025" cy="700088"/>
            <a:chOff x="2055" y="3760"/>
            <a:chExt cx="3166" cy="441"/>
          </a:xfrm>
        </p:grpSpPr>
        <p:sp>
          <p:nvSpPr>
            <p:cNvPr id="114" name="Line 177"/>
            <p:cNvSpPr>
              <a:spLocks noChangeShapeType="1"/>
            </p:cNvSpPr>
            <p:nvPr/>
          </p:nvSpPr>
          <p:spPr bwMode="auto">
            <a:xfrm>
              <a:off x="2154" y="376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78"/>
            <p:cNvSpPr>
              <a:spLocks noChangeShapeType="1"/>
            </p:cNvSpPr>
            <p:nvPr/>
          </p:nvSpPr>
          <p:spPr bwMode="auto">
            <a:xfrm>
              <a:off x="3107" y="376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79"/>
            <p:cNvSpPr>
              <a:spLocks noChangeShapeType="1"/>
            </p:cNvSpPr>
            <p:nvPr/>
          </p:nvSpPr>
          <p:spPr bwMode="auto">
            <a:xfrm>
              <a:off x="3742" y="376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80"/>
            <p:cNvSpPr>
              <a:spLocks noChangeShapeType="1"/>
            </p:cNvSpPr>
            <p:nvPr/>
          </p:nvSpPr>
          <p:spPr bwMode="auto">
            <a:xfrm>
              <a:off x="4377" y="376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81"/>
            <p:cNvSpPr>
              <a:spLocks noChangeShapeType="1"/>
            </p:cNvSpPr>
            <p:nvPr/>
          </p:nvSpPr>
          <p:spPr bwMode="auto">
            <a:xfrm>
              <a:off x="5012" y="3760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Text Box 187"/>
            <p:cNvSpPr txBox="1">
              <a:spLocks noChangeArrowheads="1"/>
            </p:cNvSpPr>
            <p:nvPr/>
          </p:nvSpPr>
          <p:spPr bwMode="auto">
            <a:xfrm>
              <a:off x="4904" y="3951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20" name="Text Box 188"/>
            <p:cNvSpPr txBox="1">
              <a:spLocks noChangeArrowheads="1"/>
            </p:cNvSpPr>
            <p:nvPr/>
          </p:nvSpPr>
          <p:spPr bwMode="auto">
            <a:xfrm>
              <a:off x="2055" y="3951"/>
              <a:ext cx="2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21" name="Text Box 189"/>
            <p:cNvSpPr txBox="1">
              <a:spLocks noChangeArrowheads="1"/>
            </p:cNvSpPr>
            <p:nvPr/>
          </p:nvSpPr>
          <p:spPr bwMode="auto">
            <a:xfrm>
              <a:off x="2989" y="3951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22" name="Text Box 190"/>
            <p:cNvSpPr txBox="1">
              <a:spLocks noChangeArrowheads="1"/>
            </p:cNvSpPr>
            <p:nvPr/>
          </p:nvSpPr>
          <p:spPr bwMode="auto">
            <a:xfrm>
              <a:off x="4269" y="3951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23" name="Text Box 191"/>
            <p:cNvSpPr txBox="1">
              <a:spLocks noChangeArrowheads="1"/>
            </p:cNvSpPr>
            <p:nvPr/>
          </p:nvSpPr>
          <p:spPr bwMode="auto">
            <a:xfrm>
              <a:off x="3633" y="3951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sp>
        <p:nvSpPr>
          <p:cNvPr id="124" name="Rectangle 196"/>
          <p:cNvSpPr>
            <a:spLocks noChangeArrowheads="1"/>
          </p:cNvSpPr>
          <p:nvPr/>
        </p:nvSpPr>
        <p:spPr bwMode="auto">
          <a:xfrm>
            <a:off x="5690235" y="5661025"/>
            <a:ext cx="1008063" cy="28892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5" name="Rectangle 197"/>
          <p:cNvSpPr>
            <a:spLocks noChangeArrowheads="1"/>
          </p:cNvSpPr>
          <p:nvPr/>
        </p:nvSpPr>
        <p:spPr bwMode="auto">
          <a:xfrm>
            <a:off x="6698298" y="5661025"/>
            <a:ext cx="1008062" cy="28892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26" name="Rectangle 198"/>
          <p:cNvSpPr>
            <a:spLocks noChangeArrowheads="1"/>
          </p:cNvSpPr>
          <p:nvPr/>
        </p:nvSpPr>
        <p:spPr bwMode="auto">
          <a:xfrm>
            <a:off x="7706360" y="5661025"/>
            <a:ext cx="1008063" cy="28892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7" name="Rectangle 199"/>
          <p:cNvSpPr>
            <a:spLocks noChangeArrowheads="1"/>
          </p:cNvSpPr>
          <p:nvPr/>
        </p:nvSpPr>
        <p:spPr bwMode="auto">
          <a:xfrm>
            <a:off x="8714423" y="5661025"/>
            <a:ext cx="1008062" cy="28892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28" name="Rectangle 200"/>
          <p:cNvSpPr>
            <a:spLocks noChangeArrowheads="1"/>
          </p:cNvSpPr>
          <p:nvPr/>
        </p:nvSpPr>
        <p:spPr bwMode="auto">
          <a:xfrm>
            <a:off x="5186998" y="5661025"/>
            <a:ext cx="503237" cy="28892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29" name="Rectangle 201"/>
          <p:cNvSpPr>
            <a:spLocks noChangeArrowheads="1"/>
          </p:cNvSpPr>
          <p:nvPr/>
        </p:nvSpPr>
        <p:spPr bwMode="auto">
          <a:xfrm>
            <a:off x="9724073" y="5661025"/>
            <a:ext cx="503237" cy="288925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</a:p>
        </p:txBody>
      </p:sp>
      <p:grpSp>
        <p:nvGrpSpPr>
          <p:cNvPr id="130" name="Group 241"/>
          <p:cNvGrpSpPr>
            <a:grpSpLocks/>
          </p:cNvGrpSpPr>
          <p:nvPr/>
        </p:nvGrpSpPr>
        <p:grpSpPr bwMode="auto">
          <a:xfrm>
            <a:off x="2234247" y="5435600"/>
            <a:ext cx="1062038" cy="858838"/>
            <a:chOff x="-23" y="3424"/>
            <a:chExt cx="669" cy="541"/>
          </a:xfrm>
        </p:grpSpPr>
        <p:sp>
          <p:nvSpPr>
            <p:cNvPr id="131" name="AutoShape 217"/>
            <p:cNvSpPr>
              <a:spLocks/>
            </p:cNvSpPr>
            <p:nvPr/>
          </p:nvSpPr>
          <p:spPr bwMode="auto">
            <a:xfrm>
              <a:off x="431" y="3424"/>
              <a:ext cx="215" cy="541"/>
            </a:xfrm>
            <a:prstGeom prst="leftBrace">
              <a:avLst>
                <a:gd name="adj1" fmla="val 2096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2" name="Text Box 218"/>
            <p:cNvSpPr txBox="1">
              <a:spLocks noChangeArrowheads="1"/>
            </p:cNvSpPr>
            <p:nvPr/>
          </p:nvSpPr>
          <p:spPr bwMode="auto">
            <a:xfrm>
              <a:off x="-23" y="3479"/>
              <a:ext cx="55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1800" b="1">
                  <a:solidFill>
                    <a:schemeClr val="tx1"/>
                  </a:solidFill>
                  <a:latin typeface="Times New Roman" pitchFamily="18" charset="0"/>
                </a:rPr>
                <a:t>抢占</a:t>
              </a:r>
            </a:p>
            <a:p>
              <a:pPr algn="l" eaLnBrk="1" hangingPunct="1"/>
              <a:r>
                <a:rPr kumimoji="1" lang="zh-CN" altLang="en-US" sz="1800" b="1">
                  <a:solidFill>
                    <a:schemeClr val="tx1"/>
                  </a:solidFill>
                  <a:latin typeface="Times New Roman" pitchFamily="18" charset="0"/>
                </a:rPr>
                <a:t>方式</a:t>
              </a:r>
            </a:p>
          </p:txBody>
        </p:sp>
      </p:grpSp>
      <p:sp>
        <p:nvSpPr>
          <p:cNvPr id="133" name="Text Box 219"/>
          <p:cNvSpPr txBox="1">
            <a:spLocks noChangeArrowheads="1"/>
          </p:cNvSpPr>
          <p:nvPr/>
        </p:nvSpPr>
        <p:spPr bwMode="auto">
          <a:xfrm>
            <a:off x="3261360" y="5149850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到达时间</a:t>
            </a:r>
          </a:p>
        </p:txBody>
      </p:sp>
      <p:sp>
        <p:nvSpPr>
          <p:cNvPr id="134" name="Text Box 220"/>
          <p:cNvSpPr txBox="1">
            <a:spLocks noChangeArrowheads="1"/>
          </p:cNvSpPr>
          <p:nvPr/>
        </p:nvSpPr>
        <p:spPr bwMode="auto">
          <a:xfrm>
            <a:off x="3261360" y="6086475"/>
            <a:ext cx="1565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开始截止时间</a:t>
            </a:r>
          </a:p>
        </p:txBody>
      </p:sp>
      <p:sp>
        <p:nvSpPr>
          <p:cNvPr id="135" name="Text Box 221"/>
          <p:cNvSpPr txBox="1">
            <a:spLocks noChangeArrowheads="1"/>
          </p:cNvSpPr>
          <p:nvPr/>
        </p:nvSpPr>
        <p:spPr bwMode="auto">
          <a:xfrm>
            <a:off x="3242310" y="5654675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执行时间</a:t>
            </a:r>
          </a:p>
        </p:txBody>
      </p:sp>
      <p:sp>
        <p:nvSpPr>
          <p:cNvPr id="136" name="Rectangle 239"/>
          <p:cNvSpPr>
            <a:spLocks noChangeArrowheads="1"/>
          </p:cNvSpPr>
          <p:nvPr/>
        </p:nvSpPr>
        <p:spPr bwMode="auto">
          <a:xfrm>
            <a:off x="5675948" y="4394200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（错过）</a:t>
            </a:r>
          </a:p>
        </p:txBody>
      </p:sp>
      <p:sp>
        <p:nvSpPr>
          <p:cNvPr id="137" name="Text Box 207"/>
          <p:cNvSpPr txBox="1">
            <a:spLocks noChangeArrowheads="1"/>
          </p:cNvSpPr>
          <p:nvPr/>
        </p:nvSpPr>
        <p:spPr bwMode="auto">
          <a:xfrm>
            <a:off x="10082848" y="1341438"/>
            <a:ext cx="995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时间</a:t>
            </a:r>
            <a:r>
              <a:rPr kumimoji="1" lang="en-US" altLang="zh-CN" sz="1800" b="1">
                <a:solidFill>
                  <a:schemeClr val="tx1"/>
                </a:solidFill>
                <a:latin typeface="Times New Roman" pitchFamily="18" charset="0"/>
              </a:rPr>
              <a:t>/ms</a:t>
            </a:r>
            <a:endParaRPr kumimoji="1" lang="zh-CN" altLang="en-US" sz="18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46" name="文本框 55"/>
          <p:cNvSpPr txBox="1">
            <a:spLocks noChangeArrowheads="1"/>
          </p:cNvSpPr>
          <p:nvPr/>
        </p:nvSpPr>
        <p:spPr bwMode="auto">
          <a:xfrm>
            <a:off x="925814" y="915104"/>
            <a:ext cx="63770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）非抢占式调度方式</a:t>
            </a:r>
            <a:endParaRPr lang="en-US" altLang="zh-CN" sz="2400" b="1" dirty="0">
              <a:solidFill>
                <a:srgbClr val="4C7E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用于非周期实时任务</a:t>
            </a:r>
            <a:endParaRPr lang="en-US" altLang="zh-CN" sz="2400" b="1" dirty="0">
              <a:solidFill>
                <a:srgbClr val="4C7E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184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66" grpId="0"/>
      <p:bldP spid="67" grpId="0"/>
      <p:bldP spid="68" grpId="0" animBg="1"/>
      <p:bldP spid="91" grpId="0" animBg="1"/>
      <p:bldP spid="92" grpId="0" animBg="1"/>
      <p:bldP spid="93" grpId="0" animBg="1"/>
      <p:bldP spid="94" grpId="0" animBg="1"/>
      <p:bldP spid="98" grpId="0"/>
      <p:bldP spid="99" grpId="0"/>
      <p:bldP spid="100" grpId="0"/>
      <p:bldP spid="101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3" grpId="0"/>
      <p:bldP spid="134" grpId="0"/>
      <p:bldP spid="135" grpId="0"/>
      <p:bldP spid="1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94236" y="229874"/>
            <a:ext cx="5567207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最早截止时间优先（</a:t>
            </a:r>
            <a:r>
              <a:rPr lang="en-US" altLang="zh-CN" dirty="0"/>
              <a:t>EDF</a:t>
            </a:r>
            <a:r>
              <a:rPr lang="zh-CN" altLang="en-US" dirty="0"/>
              <a:t>）算法</a:t>
            </a:r>
          </a:p>
        </p:txBody>
      </p:sp>
      <p:sp>
        <p:nvSpPr>
          <p:cNvPr id="146" name="文本框 55"/>
          <p:cNvSpPr txBox="1">
            <a:spLocks noChangeArrowheads="1"/>
          </p:cNvSpPr>
          <p:nvPr/>
        </p:nvSpPr>
        <p:spPr bwMode="auto">
          <a:xfrm>
            <a:off x="925814" y="915104"/>
            <a:ext cx="63770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）抢占式调度方式</a:t>
            </a:r>
            <a:endParaRPr lang="en-US" altLang="zh-CN" sz="2400" b="1" dirty="0">
              <a:solidFill>
                <a:srgbClr val="4C7E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用于周期实时任务</a:t>
            </a:r>
            <a:endParaRPr lang="en-US" altLang="zh-CN" sz="2400" b="1" dirty="0">
              <a:solidFill>
                <a:srgbClr val="4C7E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8" name="Group 128"/>
          <p:cNvGrpSpPr>
            <a:grpSpLocks/>
          </p:cNvGrpSpPr>
          <p:nvPr/>
        </p:nvGrpSpPr>
        <p:grpSpPr bwMode="auto">
          <a:xfrm>
            <a:off x="4566443" y="815181"/>
            <a:ext cx="6565900" cy="601663"/>
            <a:chOff x="1429" y="466"/>
            <a:chExt cx="4136" cy="379"/>
          </a:xfrm>
        </p:grpSpPr>
        <p:sp>
          <p:nvSpPr>
            <p:cNvPr id="139" name="Line 6"/>
            <p:cNvSpPr>
              <a:spLocks noChangeShapeType="1"/>
            </p:cNvSpPr>
            <p:nvPr/>
          </p:nvSpPr>
          <p:spPr bwMode="auto">
            <a:xfrm>
              <a:off x="1528" y="845"/>
              <a:ext cx="40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Text Box 18"/>
            <p:cNvSpPr txBox="1">
              <a:spLocks noChangeArrowheads="1"/>
            </p:cNvSpPr>
            <p:nvPr/>
          </p:nvSpPr>
          <p:spPr bwMode="auto">
            <a:xfrm>
              <a:off x="1429" y="466"/>
              <a:ext cx="2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41" name="Text Box 19"/>
            <p:cNvSpPr txBox="1">
              <a:spLocks noChangeArrowheads="1"/>
            </p:cNvSpPr>
            <p:nvPr/>
          </p:nvSpPr>
          <p:spPr bwMode="auto">
            <a:xfrm>
              <a:off x="3177" y="46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50</a:t>
              </a:r>
            </a:p>
          </p:txBody>
        </p:sp>
        <p:sp>
          <p:nvSpPr>
            <p:cNvPr id="142" name="Text Box 20"/>
            <p:cNvSpPr txBox="1">
              <a:spLocks noChangeArrowheads="1"/>
            </p:cNvSpPr>
            <p:nvPr/>
          </p:nvSpPr>
          <p:spPr bwMode="auto">
            <a:xfrm>
              <a:off x="4921" y="466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100</a:t>
              </a:r>
            </a:p>
          </p:txBody>
        </p:sp>
        <p:sp>
          <p:nvSpPr>
            <p:cNvPr id="143" name="Text Box 83"/>
            <p:cNvSpPr txBox="1">
              <a:spLocks noChangeArrowheads="1"/>
            </p:cNvSpPr>
            <p:nvPr/>
          </p:nvSpPr>
          <p:spPr bwMode="auto">
            <a:xfrm>
              <a:off x="1726" y="466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144" name="Text Box 84"/>
            <p:cNvSpPr txBox="1">
              <a:spLocks noChangeArrowheads="1"/>
            </p:cNvSpPr>
            <p:nvPr/>
          </p:nvSpPr>
          <p:spPr bwMode="auto">
            <a:xfrm>
              <a:off x="2082" y="466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20</a:t>
              </a:r>
            </a:p>
          </p:txBody>
        </p:sp>
        <p:sp>
          <p:nvSpPr>
            <p:cNvPr id="145" name="Text Box 85"/>
            <p:cNvSpPr txBox="1">
              <a:spLocks noChangeArrowheads="1"/>
            </p:cNvSpPr>
            <p:nvPr/>
          </p:nvSpPr>
          <p:spPr bwMode="auto">
            <a:xfrm>
              <a:off x="2429" y="46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30</a:t>
              </a:r>
            </a:p>
          </p:txBody>
        </p:sp>
        <p:sp>
          <p:nvSpPr>
            <p:cNvPr id="147" name="Text Box 86"/>
            <p:cNvSpPr txBox="1">
              <a:spLocks noChangeArrowheads="1"/>
            </p:cNvSpPr>
            <p:nvPr/>
          </p:nvSpPr>
          <p:spPr bwMode="auto">
            <a:xfrm>
              <a:off x="2789" y="46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40</a:t>
              </a:r>
            </a:p>
          </p:txBody>
        </p:sp>
        <p:sp>
          <p:nvSpPr>
            <p:cNvPr id="148" name="Text Box 87"/>
            <p:cNvSpPr txBox="1">
              <a:spLocks noChangeArrowheads="1"/>
            </p:cNvSpPr>
            <p:nvPr/>
          </p:nvSpPr>
          <p:spPr bwMode="auto">
            <a:xfrm>
              <a:off x="3515" y="46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60</a:t>
              </a:r>
            </a:p>
          </p:txBody>
        </p:sp>
        <p:sp>
          <p:nvSpPr>
            <p:cNvPr id="149" name="Text Box 88"/>
            <p:cNvSpPr txBox="1">
              <a:spLocks noChangeArrowheads="1"/>
            </p:cNvSpPr>
            <p:nvPr/>
          </p:nvSpPr>
          <p:spPr bwMode="auto">
            <a:xfrm>
              <a:off x="3878" y="46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70</a:t>
              </a:r>
            </a:p>
          </p:txBody>
        </p:sp>
        <p:sp>
          <p:nvSpPr>
            <p:cNvPr id="150" name="Text Box 89"/>
            <p:cNvSpPr txBox="1">
              <a:spLocks noChangeArrowheads="1"/>
            </p:cNvSpPr>
            <p:nvPr/>
          </p:nvSpPr>
          <p:spPr bwMode="auto">
            <a:xfrm>
              <a:off x="4241" y="46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80</a:t>
              </a:r>
            </a:p>
          </p:txBody>
        </p:sp>
        <p:sp>
          <p:nvSpPr>
            <p:cNvPr id="151" name="Text Box 90"/>
            <p:cNvSpPr txBox="1">
              <a:spLocks noChangeArrowheads="1"/>
            </p:cNvSpPr>
            <p:nvPr/>
          </p:nvSpPr>
          <p:spPr bwMode="auto">
            <a:xfrm>
              <a:off x="4604" y="46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90</a:t>
              </a:r>
            </a:p>
          </p:txBody>
        </p:sp>
        <p:sp>
          <p:nvSpPr>
            <p:cNvPr id="152" name="Line 92"/>
            <p:cNvSpPr>
              <a:spLocks noChangeShapeType="1"/>
            </p:cNvSpPr>
            <p:nvPr/>
          </p:nvSpPr>
          <p:spPr bwMode="auto">
            <a:xfrm>
              <a:off x="2608" y="708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93"/>
            <p:cNvSpPr>
              <a:spLocks noChangeShapeType="1"/>
            </p:cNvSpPr>
            <p:nvPr/>
          </p:nvSpPr>
          <p:spPr bwMode="auto">
            <a:xfrm>
              <a:off x="2971" y="708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94"/>
            <p:cNvSpPr>
              <a:spLocks noChangeShapeType="1"/>
            </p:cNvSpPr>
            <p:nvPr/>
          </p:nvSpPr>
          <p:spPr bwMode="auto">
            <a:xfrm>
              <a:off x="3334" y="708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95"/>
            <p:cNvSpPr>
              <a:spLocks noChangeShapeType="1"/>
            </p:cNvSpPr>
            <p:nvPr/>
          </p:nvSpPr>
          <p:spPr bwMode="auto">
            <a:xfrm>
              <a:off x="3696" y="708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96"/>
            <p:cNvSpPr>
              <a:spLocks noChangeShapeType="1"/>
            </p:cNvSpPr>
            <p:nvPr/>
          </p:nvSpPr>
          <p:spPr bwMode="auto">
            <a:xfrm>
              <a:off x="4059" y="708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97"/>
            <p:cNvSpPr>
              <a:spLocks noChangeShapeType="1"/>
            </p:cNvSpPr>
            <p:nvPr/>
          </p:nvSpPr>
          <p:spPr bwMode="auto">
            <a:xfrm>
              <a:off x="4422" y="708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98"/>
            <p:cNvSpPr>
              <a:spLocks noChangeShapeType="1"/>
            </p:cNvSpPr>
            <p:nvPr/>
          </p:nvSpPr>
          <p:spPr bwMode="auto">
            <a:xfrm>
              <a:off x="4785" y="708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99"/>
            <p:cNvSpPr>
              <a:spLocks noChangeShapeType="1"/>
            </p:cNvSpPr>
            <p:nvPr/>
          </p:nvSpPr>
          <p:spPr bwMode="auto">
            <a:xfrm>
              <a:off x="5148" y="708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102"/>
            <p:cNvSpPr>
              <a:spLocks noChangeShapeType="1"/>
            </p:cNvSpPr>
            <p:nvPr/>
          </p:nvSpPr>
          <p:spPr bwMode="auto">
            <a:xfrm>
              <a:off x="1528" y="708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103"/>
            <p:cNvSpPr>
              <a:spLocks noChangeShapeType="1"/>
            </p:cNvSpPr>
            <p:nvPr/>
          </p:nvSpPr>
          <p:spPr bwMode="auto">
            <a:xfrm>
              <a:off x="1882" y="708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104"/>
            <p:cNvSpPr>
              <a:spLocks noChangeShapeType="1"/>
            </p:cNvSpPr>
            <p:nvPr/>
          </p:nvSpPr>
          <p:spPr bwMode="auto">
            <a:xfrm>
              <a:off x="2245" y="708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3" name="Line 105"/>
          <p:cNvSpPr>
            <a:spLocks noChangeShapeType="1"/>
          </p:cNvSpPr>
          <p:nvPr/>
        </p:nvSpPr>
        <p:spPr bwMode="auto">
          <a:xfrm>
            <a:off x="4709318" y="2432844"/>
            <a:ext cx="64087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" name="Group 227"/>
          <p:cNvGrpSpPr>
            <a:grpSpLocks/>
          </p:cNvGrpSpPr>
          <p:nvPr/>
        </p:nvGrpSpPr>
        <p:grpSpPr bwMode="auto">
          <a:xfrm>
            <a:off x="4309268" y="1394619"/>
            <a:ext cx="831850" cy="647700"/>
            <a:chOff x="1719" y="980"/>
            <a:chExt cx="524" cy="408"/>
          </a:xfrm>
        </p:grpSpPr>
        <p:sp>
          <p:nvSpPr>
            <p:cNvPr id="165" name="Line 108"/>
            <p:cNvSpPr>
              <a:spLocks noChangeShapeType="1"/>
            </p:cNvSpPr>
            <p:nvPr/>
          </p:nvSpPr>
          <p:spPr bwMode="auto">
            <a:xfrm>
              <a:off x="1971" y="1207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Text Box 118"/>
            <p:cNvSpPr txBox="1">
              <a:spLocks noChangeArrowheads="1"/>
            </p:cNvSpPr>
            <p:nvPr/>
          </p:nvSpPr>
          <p:spPr bwMode="auto">
            <a:xfrm>
              <a:off x="1719" y="980"/>
              <a:ext cx="5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,B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  <a:endParaRPr kumimoji="1" lang="en-US" altLang="zh-CN" sz="20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67" name="Group 228"/>
          <p:cNvGrpSpPr>
            <a:grpSpLocks/>
          </p:cNvGrpSpPr>
          <p:nvPr/>
        </p:nvGrpSpPr>
        <p:grpSpPr bwMode="auto">
          <a:xfrm>
            <a:off x="5674518" y="1394619"/>
            <a:ext cx="474662" cy="647700"/>
            <a:chOff x="2037" y="980"/>
            <a:chExt cx="299" cy="408"/>
          </a:xfrm>
        </p:grpSpPr>
        <p:sp>
          <p:nvSpPr>
            <p:cNvPr id="168" name="Line 109"/>
            <p:cNvSpPr>
              <a:spLocks noChangeShapeType="1"/>
            </p:cNvSpPr>
            <p:nvPr/>
          </p:nvSpPr>
          <p:spPr bwMode="auto">
            <a:xfrm>
              <a:off x="2154" y="1207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Text Box 119"/>
            <p:cNvSpPr txBox="1">
              <a:spLocks noChangeArrowheads="1"/>
            </p:cNvSpPr>
            <p:nvPr/>
          </p:nvSpPr>
          <p:spPr bwMode="auto">
            <a:xfrm>
              <a:off x="2037" y="980"/>
              <a:ext cx="29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170" name="Group 229"/>
          <p:cNvGrpSpPr>
            <a:grpSpLocks/>
          </p:cNvGrpSpPr>
          <p:nvPr/>
        </p:nvGrpSpPr>
        <p:grpSpPr bwMode="auto">
          <a:xfrm>
            <a:off x="6827043" y="1391444"/>
            <a:ext cx="547687" cy="647700"/>
            <a:chOff x="2671" y="980"/>
            <a:chExt cx="345" cy="408"/>
          </a:xfrm>
        </p:grpSpPr>
        <p:sp>
          <p:nvSpPr>
            <p:cNvPr id="171" name="Line 110"/>
            <p:cNvSpPr>
              <a:spLocks noChangeShapeType="1"/>
            </p:cNvSpPr>
            <p:nvPr/>
          </p:nvSpPr>
          <p:spPr bwMode="auto">
            <a:xfrm>
              <a:off x="2789" y="1207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Text Box 120"/>
            <p:cNvSpPr txBox="1">
              <a:spLocks noChangeArrowheads="1"/>
            </p:cNvSpPr>
            <p:nvPr/>
          </p:nvSpPr>
          <p:spPr bwMode="auto">
            <a:xfrm>
              <a:off x="2671" y="980"/>
              <a:ext cx="34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173" name="Group 230"/>
          <p:cNvGrpSpPr>
            <a:grpSpLocks/>
          </p:cNvGrpSpPr>
          <p:nvPr/>
        </p:nvGrpSpPr>
        <p:grpSpPr bwMode="auto">
          <a:xfrm>
            <a:off x="7979568" y="1391444"/>
            <a:ext cx="503237" cy="647700"/>
            <a:chOff x="2989" y="980"/>
            <a:chExt cx="317" cy="408"/>
          </a:xfrm>
        </p:grpSpPr>
        <p:sp>
          <p:nvSpPr>
            <p:cNvPr id="174" name="Line 111"/>
            <p:cNvSpPr>
              <a:spLocks noChangeShapeType="1"/>
            </p:cNvSpPr>
            <p:nvPr/>
          </p:nvSpPr>
          <p:spPr bwMode="auto">
            <a:xfrm>
              <a:off x="3107" y="1207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Text Box 121"/>
            <p:cNvSpPr txBox="1">
              <a:spLocks noChangeArrowheads="1"/>
            </p:cNvSpPr>
            <p:nvPr/>
          </p:nvSpPr>
          <p:spPr bwMode="auto">
            <a:xfrm>
              <a:off x="2989" y="980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pSp>
        <p:nvGrpSpPr>
          <p:cNvPr id="176" name="Group 231"/>
          <p:cNvGrpSpPr>
            <a:grpSpLocks/>
          </p:cNvGrpSpPr>
          <p:nvPr/>
        </p:nvGrpSpPr>
        <p:grpSpPr bwMode="auto">
          <a:xfrm>
            <a:off x="9132093" y="1394619"/>
            <a:ext cx="503237" cy="647700"/>
            <a:chOff x="3307" y="980"/>
            <a:chExt cx="317" cy="408"/>
          </a:xfrm>
        </p:grpSpPr>
        <p:sp>
          <p:nvSpPr>
            <p:cNvPr id="177" name="Line 112"/>
            <p:cNvSpPr>
              <a:spLocks noChangeShapeType="1"/>
            </p:cNvSpPr>
            <p:nvPr/>
          </p:nvSpPr>
          <p:spPr bwMode="auto">
            <a:xfrm>
              <a:off x="3424" y="1207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Text Box 122"/>
            <p:cNvSpPr txBox="1">
              <a:spLocks noChangeArrowheads="1"/>
            </p:cNvSpPr>
            <p:nvPr/>
          </p:nvSpPr>
          <p:spPr bwMode="auto">
            <a:xfrm>
              <a:off x="3307" y="980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5</a:t>
              </a:r>
            </a:p>
          </p:txBody>
        </p:sp>
      </p:grpSp>
      <p:grpSp>
        <p:nvGrpSpPr>
          <p:cNvPr id="179" name="Group 236"/>
          <p:cNvGrpSpPr>
            <a:grpSpLocks/>
          </p:cNvGrpSpPr>
          <p:nvPr/>
        </p:nvGrpSpPr>
        <p:grpSpPr bwMode="auto">
          <a:xfrm>
            <a:off x="6830218" y="2432844"/>
            <a:ext cx="503237" cy="603250"/>
            <a:chOff x="4899" y="1434"/>
            <a:chExt cx="317" cy="380"/>
          </a:xfrm>
        </p:grpSpPr>
        <p:sp>
          <p:nvSpPr>
            <p:cNvPr id="180" name="Line 117"/>
            <p:cNvSpPr>
              <a:spLocks noChangeShapeType="1"/>
            </p:cNvSpPr>
            <p:nvPr/>
          </p:nvSpPr>
          <p:spPr bwMode="auto">
            <a:xfrm>
              <a:off x="5012" y="143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Text Box 123"/>
            <p:cNvSpPr txBox="1">
              <a:spLocks noChangeArrowheads="1"/>
            </p:cNvSpPr>
            <p:nvPr/>
          </p:nvSpPr>
          <p:spPr bwMode="auto">
            <a:xfrm>
              <a:off x="4899" y="1564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182" name="Group 232"/>
          <p:cNvGrpSpPr>
            <a:grpSpLocks/>
          </p:cNvGrpSpPr>
          <p:nvPr/>
        </p:nvGrpSpPr>
        <p:grpSpPr bwMode="auto">
          <a:xfrm>
            <a:off x="5682455" y="2432844"/>
            <a:ext cx="517525" cy="606425"/>
            <a:chOff x="2041" y="1434"/>
            <a:chExt cx="326" cy="382"/>
          </a:xfrm>
        </p:grpSpPr>
        <p:sp>
          <p:nvSpPr>
            <p:cNvPr id="183" name="Line 113"/>
            <p:cNvSpPr>
              <a:spLocks noChangeShapeType="1"/>
            </p:cNvSpPr>
            <p:nvPr/>
          </p:nvSpPr>
          <p:spPr bwMode="auto">
            <a:xfrm>
              <a:off x="2154" y="143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Text Box 124"/>
            <p:cNvSpPr txBox="1">
              <a:spLocks noChangeArrowheads="1"/>
            </p:cNvSpPr>
            <p:nvPr/>
          </p:nvSpPr>
          <p:spPr bwMode="auto">
            <a:xfrm>
              <a:off x="2041" y="1564"/>
              <a:ext cx="3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185" name="Group 233"/>
          <p:cNvGrpSpPr>
            <a:grpSpLocks/>
          </p:cNvGrpSpPr>
          <p:nvPr/>
        </p:nvGrpSpPr>
        <p:grpSpPr bwMode="auto">
          <a:xfrm>
            <a:off x="7990680" y="2432844"/>
            <a:ext cx="503238" cy="606425"/>
            <a:chOff x="2989" y="1434"/>
            <a:chExt cx="317" cy="382"/>
          </a:xfrm>
        </p:grpSpPr>
        <p:sp>
          <p:nvSpPr>
            <p:cNvPr id="186" name="Line 114"/>
            <p:cNvSpPr>
              <a:spLocks noChangeShapeType="1"/>
            </p:cNvSpPr>
            <p:nvPr/>
          </p:nvSpPr>
          <p:spPr bwMode="auto">
            <a:xfrm>
              <a:off x="3107" y="143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Text Box 125"/>
            <p:cNvSpPr txBox="1">
              <a:spLocks noChangeArrowheads="1"/>
            </p:cNvSpPr>
            <p:nvPr/>
          </p:nvSpPr>
          <p:spPr bwMode="auto">
            <a:xfrm>
              <a:off x="2989" y="1564"/>
              <a:ext cx="3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188" name="Group 235"/>
          <p:cNvGrpSpPr>
            <a:grpSpLocks/>
          </p:cNvGrpSpPr>
          <p:nvPr/>
        </p:nvGrpSpPr>
        <p:grpSpPr bwMode="auto">
          <a:xfrm>
            <a:off x="10149680" y="2432844"/>
            <a:ext cx="801688" cy="606425"/>
            <a:chOff x="4157" y="1434"/>
            <a:chExt cx="505" cy="382"/>
          </a:xfrm>
        </p:grpSpPr>
        <p:sp>
          <p:nvSpPr>
            <p:cNvPr id="189" name="Line 116"/>
            <p:cNvSpPr>
              <a:spLocks noChangeShapeType="1"/>
            </p:cNvSpPr>
            <p:nvPr/>
          </p:nvSpPr>
          <p:spPr bwMode="auto">
            <a:xfrm>
              <a:off x="4377" y="143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Text Box 126"/>
            <p:cNvSpPr txBox="1">
              <a:spLocks noChangeArrowheads="1"/>
            </p:cNvSpPr>
            <p:nvPr/>
          </p:nvSpPr>
          <p:spPr bwMode="auto">
            <a:xfrm>
              <a:off x="4157" y="1564"/>
              <a:ext cx="50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,B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191" name="Group 234"/>
          <p:cNvGrpSpPr>
            <a:grpSpLocks/>
          </p:cNvGrpSpPr>
          <p:nvPr/>
        </p:nvGrpSpPr>
        <p:grpSpPr bwMode="auto">
          <a:xfrm>
            <a:off x="9152730" y="2432844"/>
            <a:ext cx="503238" cy="595312"/>
            <a:chOff x="3626" y="1434"/>
            <a:chExt cx="317" cy="375"/>
          </a:xfrm>
        </p:grpSpPr>
        <p:sp>
          <p:nvSpPr>
            <p:cNvPr id="192" name="Line 115"/>
            <p:cNvSpPr>
              <a:spLocks noChangeShapeType="1"/>
            </p:cNvSpPr>
            <p:nvPr/>
          </p:nvSpPr>
          <p:spPr bwMode="auto">
            <a:xfrm>
              <a:off x="3742" y="143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Text Box 127"/>
            <p:cNvSpPr txBox="1">
              <a:spLocks noChangeArrowheads="1"/>
            </p:cNvSpPr>
            <p:nvPr/>
          </p:nvSpPr>
          <p:spPr bwMode="auto">
            <a:xfrm>
              <a:off x="3626" y="1557"/>
              <a:ext cx="3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pSp>
        <p:nvGrpSpPr>
          <p:cNvPr id="194" name="Group 226"/>
          <p:cNvGrpSpPr>
            <a:grpSpLocks/>
          </p:cNvGrpSpPr>
          <p:nvPr/>
        </p:nvGrpSpPr>
        <p:grpSpPr bwMode="auto">
          <a:xfrm>
            <a:off x="2389980" y="1847056"/>
            <a:ext cx="879475" cy="863600"/>
            <a:chOff x="58" y="1071"/>
            <a:chExt cx="554" cy="544"/>
          </a:xfrm>
        </p:grpSpPr>
        <p:sp>
          <p:nvSpPr>
            <p:cNvPr id="195" name="AutoShape 205"/>
            <p:cNvSpPr>
              <a:spLocks/>
            </p:cNvSpPr>
            <p:nvPr/>
          </p:nvSpPr>
          <p:spPr bwMode="auto">
            <a:xfrm>
              <a:off x="443" y="1071"/>
              <a:ext cx="169" cy="544"/>
            </a:xfrm>
            <a:prstGeom prst="leftBrace">
              <a:avLst>
                <a:gd name="adj1" fmla="val 1868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6" name="Text Box 206"/>
            <p:cNvSpPr txBox="1">
              <a:spLocks noChangeArrowheads="1"/>
            </p:cNvSpPr>
            <p:nvPr/>
          </p:nvSpPr>
          <p:spPr bwMode="auto">
            <a:xfrm>
              <a:off x="58" y="1298"/>
              <a:ext cx="4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1800" b="1">
                  <a:solidFill>
                    <a:schemeClr val="tx1"/>
                  </a:solidFill>
                  <a:latin typeface="Times New Roman" pitchFamily="18" charset="0"/>
                </a:rPr>
                <a:t>要求</a:t>
              </a:r>
            </a:p>
          </p:txBody>
        </p:sp>
      </p:grpSp>
      <p:sp>
        <p:nvSpPr>
          <p:cNvPr id="197" name="Text Box 207"/>
          <p:cNvSpPr txBox="1">
            <a:spLocks noChangeArrowheads="1"/>
          </p:cNvSpPr>
          <p:nvPr/>
        </p:nvSpPr>
        <p:spPr bwMode="auto">
          <a:xfrm>
            <a:off x="3217068" y="1704181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到达时间</a:t>
            </a:r>
          </a:p>
        </p:txBody>
      </p:sp>
      <p:sp>
        <p:nvSpPr>
          <p:cNvPr id="198" name="Text Box 208"/>
          <p:cNvSpPr txBox="1">
            <a:spLocks noChangeArrowheads="1"/>
          </p:cNvSpPr>
          <p:nvPr/>
        </p:nvSpPr>
        <p:spPr bwMode="auto">
          <a:xfrm>
            <a:off x="3217068" y="2548731"/>
            <a:ext cx="1579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最后截止时间</a:t>
            </a:r>
          </a:p>
        </p:txBody>
      </p:sp>
      <p:sp>
        <p:nvSpPr>
          <p:cNvPr id="199" name="Line 150"/>
          <p:cNvSpPr>
            <a:spLocks noChangeShapeType="1"/>
          </p:cNvSpPr>
          <p:nvPr/>
        </p:nvSpPr>
        <p:spPr bwMode="auto">
          <a:xfrm>
            <a:off x="4709318" y="3469481"/>
            <a:ext cx="64087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0" name="Group 237"/>
          <p:cNvGrpSpPr>
            <a:grpSpLocks/>
          </p:cNvGrpSpPr>
          <p:nvPr/>
        </p:nvGrpSpPr>
        <p:grpSpPr bwMode="auto">
          <a:xfrm>
            <a:off x="2261392" y="3048794"/>
            <a:ext cx="1062038" cy="923925"/>
            <a:chOff x="-23" y="2304"/>
            <a:chExt cx="669" cy="582"/>
          </a:xfrm>
        </p:grpSpPr>
        <p:sp>
          <p:nvSpPr>
            <p:cNvPr id="201" name="AutoShape 209"/>
            <p:cNvSpPr>
              <a:spLocks/>
            </p:cNvSpPr>
            <p:nvPr/>
          </p:nvSpPr>
          <p:spPr bwMode="auto">
            <a:xfrm>
              <a:off x="431" y="2432"/>
              <a:ext cx="215" cy="313"/>
            </a:xfrm>
            <a:prstGeom prst="leftBrace">
              <a:avLst>
                <a:gd name="adj1" fmla="val 2096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2" name="Text Box 210"/>
            <p:cNvSpPr txBox="1">
              <a:spLocks noChangeArrowheads="1"/>
            </p:cNvSpPr>
            <p:nvPr/>
          </p:nvSpPr>
          <p:spPr bwMode="auto">
            <a:xfrm>
              <a:off x="-23" y="2304"/>
              <a:ext cx="635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1800" b="1">
                  <a:solidFill>
                    <a:schemeClr val="tx1"/>
                  </a:solidFill>
                  <a:latin typeface="Times New Roman" pitchFamily="18" charset="0"/>
                </a:rPr>
                <a:t>固定优先级调度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(A&gt;B)</a:t>
              </a:r>
              <a:endParaRPr kumimoji="1" lang="zh-CN" altLang="en-US" sz="18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203" name="Text Box 212"/>
          <p:cNvSpPr txBox="1">
            <a:spLocks noChangeArrowheads="1"/>
          </p:cNvSpPr>
          <p:nvPr/>
        </p:nvSpPr>
        <p:spPr bwMode="auto">
          <a:xfrm>
            <a:off x="3288505" y="3540919"/>
            <a:ext cx="157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最后截止时间</a:t>
            </a:r>
          </a:p>
        </p:txBody>
      </p:sp>
      <p:sp>
        <p:nvSpPr>
          <p:cNvPr id="204" name="Text Box 213"/>
          <p:cNvSpPr txBox="1">
            <a:spLocks noChangeArrowheads="1"/>
          </p:cNvSpPr>
          <p:nvPr/>
        </p:nvSpPr>
        <p:spPr bwMode="auto">
          <a:xfrm>
            <a:off x="3269455" y="3109119"/>
            <a:ext cx="1114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调度序列</a:t>
            </a:r>
          </a:p>
        </p:txBody>
      </p:sp>
      <p:sp>
        <p:nvSpPr>
          <p:cNvPr id="205" name="Text Box 207"/>
          <p:cNvSpPr txBox="1">
            <a:spLocks noChangeArrowheads="1"/>
          </p:cNvSpPr>
          <p:nvPr/>
        </p:nvSpPr>
        <p:spPr bwMode="auto">
          <a:xfrm>
            <a:off x="10338593" y="1353344"/>
            <a:ext cx="995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时间</a:t>
            </a:r>
            <a:r>
              <a:rPr kumimoji="1" lang="en-US" altLang="zh-CN" sz="1800" b="1">
                <a:solidFill>
                  <a:schemeClr val="tx1"/>
                </a:solidFill>
                <a:latin typeface="Times New Roman" pitchFamily="18" charset="0"/>
              </a:rPr>
              <a:t>/ms</a:t>
            </a:r>
            <a:endParaRPr kumimoji="1" lang="zh-CN" altLang="en-US" sz="18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06" name="Text Box 213"/>
          <p:cNvSpPr txBox="1">
            <a:spLocks noChangeArrowheads="1"/>
          </p:cNvSpPr>
          <p:nvPr/>
        </p:nvSpPr>
        <p:spPr bwMode="auto">
          <a:xfrm>
            <a:off x="3198018" y="2129631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执行时间</a:t>
            </a:r>
          </a:p>
        </p:txBody>
      </p:sp>
      <p:grpSp>
        <p:nvGrpSpPr>
          <p:cNvPr id="207" name="Group 231"/>
          <p:cNvGrpSpPr>
            <a:grpSpLocks/>
          </p:cNvGrpSpPr>
          <p:nvPr/>
        </p:nvGrpSpPr>
        <p:grpSpPr bwMode="auto">
          <a:xfrm>
            <a:off x="7425530" y="1391444"/>
            <a:ext cx="503238" cy="647700"/>
            <a:chOff x="3307" y="980"/>
            <a:chExt cx="317" cy="408"/>
          </a:xfrm>
        </p:grpSpPr>
        <p:sp>
          <p:nvSpPr>
            <p:cNvPr id="208" name="Line 112"/>
            <p:cNvSpPr>
              <a:spLocks noChangeShapeType="1"/>
            </p:cNvSpPr>
            <p:nvPr/>
          </p:nvSpPr>
          <p:spPr bwMode="auto">
            <a:xfrm>
              <a:off x="3424" y="1207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Text Box 122"/>
            <p:cNvSpPr txBox="1">
              <a:spLocks noChangeArrowheads="1"/>
            </p:cNvSpPr>
            <p:nvPr/>
          </p:nvSpPr>
          <p:spPr bwMode="auto">
            <a:xfrm>
              <a:off x="3307" y="980"/>
              <a:ext cx="3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sp>
        <p:nvSpPr>
          <p:cNvPr id="210" name="Rectangle 192"/>
          <p:cNvSpPr>
            <a:spLocks noChangeArrowheads="1"/>
          </p:cNvSpPr>
          <p:nvPr/>
        </p:nvSpPr>
        <p:spPr bwMode="auto">
          <a:xfrm>
            <a:off x="4709318" y="2062956"/>
            <a:ext cx="576262" cy="360363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211" name="Rectangle 196"/>
          <p:cNvSpPr>
            <a:spLocks noChangeArrowheads="1"/>
          </p:cNvSpPr>
          <p:nvPr/>
        </p:nvSpPr>
        <p:spPr bwMode="auto">
          <a:xfrm>
            <a:off x="7611268" y="2064544"/>
            <a:ext cx="1419225" cy="3603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i</a:t>
            </a:r>
          </a:p>
        </p:txBody>
      </p:sp>
      <p:grpSp>
        <p:nvGrpSpPr>
          <p:cNvPr id="212" name="Group 232"/>
          <p:cNvGrpSpPr>
            <a:grpSpLocks/>
          </p:cNvGrpSpPr>
          <p:nvPr/>
        </p:nvGrpSpPr>
        <p:grpSpPr bwMode="auto">
          <a:xfrm>
            <a:off x="7431880" y="2434431"/>
            <a:ext cx="517525" cy="606425"/>
            <a:chOff x="2041" y="1434"/>
            <a:chExt cx="326" cy="382"/>
          </a:xfrm>
        </p:grpSpPr>
        <p:sp>
          <p:nvSpPr>
            <p:cNvPr id="213" name="Line 113"/>
            <p:cNvSpPr>
              <a:spLocks noChangeShapeType="1"/>
            </p:cNvSpPr>
            <p:nvPr/>
          </p:nvSpPr>
          <p:spPr bwMode="auto">
            <a:xfrm>
              <a:off x="2154" y="143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Text Box 124"/>
            <p:cNvSpPr txBox="1">
              <a:spLocks noChangeArrowheads="1"/>
            </p:cNvSpPr>
            <p:nvPr/>
          </p:nvSpPr>
          <p:spPr bwMode="auto">
            <a:xfrm>
              <a:off x="2041" y="1564"/>
              <a:ext cx="3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215" name="组合 164"/>
          <p:cNvGrpSpPr>
            <a:grpSpLocks/>
          </p:cNvGrpSpPr>
          <p:nvPr/>
        </p:nvGrpSpPr>
        <p:grpSpPr bwMode="auto">
          <a:xfrm>
            <a:off x="5684043" y="3496469"/>
            <a:ext cx="5268912" cy="608012"/>
            <a:chOff x="3275856" y="4509120"/>
            <a:chExt cx="5268906" cy="607952"/>
          </a:xfrm>
        </p:grpSpPr>
        <p:grpSp>
          <p:nvGrpSpPr>
            <p:cNvPr id="216" name="Group 236"/>
            <p:cNvGrpSpPr>
              <a:grpSpLocks/>
            </p:cNvGrpSpPr>
            <p:nvPr/>
          </p:nvGrpSpPr>
          <p:grpSpPr bwMode="auto">
            <a:xfrm>
              <a:off x="4424284" y="4509121"/>
              <a:ext cx="503238" cy="603250"/>
              <a:chOff x="4899" y="1434"/>
              <a:chExt cx="317" cy="380"/>
            </a:xfrm>
          </p:grpSpPr>
          <p:sp>
            <p:nvSpPr>
              <p:cNvPr id="232" name="Line 117"/>
              <p:cNvSpPr>
                <a:spLocks noChangeShapeType="1"/>
              </p:cNvSpPr>
              <p:nvPr/>
            </p:nvSpPr>
            <p:spPr bwMode="auto">
              <a:xfrm>
                <a:off x="5012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" name="Text Box 123"/>
              <p:cNvSpPr txBox="1">
                <a:spLocks noChangeArrowheads="1"/>
              </p:cNvSpPr>
              <p:nvPr/>
            </p:nvSpPr>
            <p:spPr bwMode="auto">
              <a:xfrm>
                <a:off x="4899" y="1564"/>
                <a:ext cx="3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grpSp>
          <p:nvGrpSpPr>
            <p:cNvPr id="217" name="Group 232"/>
            <p:cNvGrpSpPr>
              <a:grpSpLocks/>
            </p:cNvGrpSpPr>
            <p:nvPr/>
          </p:nvGrpSpPr>
          <p:grpSpPr bwMode="auto">
            <a:xfrm>
              <a:off x="3275856" y="4509120"/>
              <a:ext cx="517524" cy="606425"/>
              <a:chOff x="2041" y="1434"/>
              <a:chExt cx="326" cy="382"/>
            </a:xfrm>
          </p:grpSpPr>
          <p:sp>
            <p:nvSpPr>
              <p:cNvPr id="230" name="Line 113"/>
              <p:cNvSpPr>
                <a:spLocks noChangeShapeType="1"/>
              </p:cNvSpPr>
              <p:nvPr/>
            </p:nvSpPr>
            <p:spPr bwMode="auto">
              <a:xfrm>
                <a:off x="2154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1" name="Text Box 124"/>
              <p:cNvSpPr txBox="1">
                <a:spLocks noChangeArrowheads="1"/>
              </p:cNvSpPr>
              <p:nvPr/>
            </p:nvSpPr>
            <p:spPr bwMode="auto">
              <a:xfrm>
                <a:off x="2041" y="1564"/>
                <a:ext cx="32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218" name="Group 233"/>
            <p:cNvGrpSpPr>
              <a:grpSpLocks/>
            </p:cNvGrpSpPr>
            <p:nvPr/>
          </p:nvGrpSpPr>
          <p:grpSpPr bwMode="auto">
            <a:xfrm>
              <a:off x="5584348" y="4509121"/>
              <a:ext cx="503238" cy="606425"/>
              <a:chOff x="2989" y="1434"/>
              <a:chExt cx="317" cy="382"/>
            </a:xfrm>
          </p:grpSpPr>
          <p:sp>
            <p:nvSpPr>
              <p:cNvPr id="228" name="Line 114"/>
              <p:cNvSpPr>
                <a:spLocks noChangeShapeType="1"/>
              </p:cNvSpPr>
              <p:nvPr/>
            </p:nvSpPr>
            <p:spPr bwMode="auto">
              <a:xfrm>
                <a:off x="3107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" name="Text Box 125"/>
              <p:cNvSpPr txBox="1">
                <a:spLocks noChangeArrowheads="1"/>
              </p:cNvSpPr>
              <p:nvPr/>
            </p:nvSpPr>
            <p:spPr bwMode="auto">
              <a:xfrm>
                <a:off x="2989" y="1564"/>
                <a:ext cx="31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3</a:t>
                </a:r>
              </a:p>
            </p:txBody>
          </p:sp>
        </p:grpSp>
        <p:grpSp>
          <p:nvGrpSpPr>
            <p:cNvPr id="219" name="Group 235"/>
            <p:cNvGrpSpPr>
              <a:grpSpLocks/>
            </p:cNvGrpSpPr>
            <p:nvPr/>
          </p:nvGrpSpPr>
          <p:grpSpPr bwMode="auto">
            <a:xfrm>
              <a:off x="7743076" y="4509125"/>
              <a:ext cx="801686" cy="606426"/>
              <a:chOff x="4157" y="1434"/>
              <a:chExt cx="505" cy="382"/>
            </a:xfrm>
          </p:grpSpPr>
          <p:sp>
            <p:nvSpPr>
              <p:cNvPr id="226" name="Line 116"/>
              <p:cNvSpPr>
                <a:spLocks noChangeShapeType="1"/>
              </p:cNvSpPr>
              <p:nvPr/>
            </p:nvSpPr>
            <p:spPr bwMode="auto">
              <a:xfrm>
                <a:off x="4377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" name="Text Box 126"/>
              <p:cNvSpPr txBox="1">
                <a:spLocks noChangeArrowheads="1"/>
              </p:cNvSpPr>
              <p:nvPr/>
            </p:nvSpPr>
            <p:spPr bwMode="auto">
              <a:xfrm>
                <a:off x="4157" y="1564"/>
                <a:ext cx="5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5</a:t>
                </a: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,B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grpSp>
          <p:nvGrpSpPr>
            <p:cNvPr id="220" name="Group 234"/>
            <p:cNvGrpSpPr>
              <a:grpSpLocks/>
            </p:cNvGrpSpPr>
            <p:nvPr/>
          </p:nvGrpSpPr>
          <p:grpSpPr bwMode="auto">
            <a:xfrm>
              <a:off x="6746881" y="4509123"/>
              <a:ext cx="503237" cy="595313"/>
              <a:chOff x="3626" y="1434"/>
              <a:chExt cx="317" cy="375"/>
            </a:xfrm>
          </p:grpSpPr>
          <p:sp>
            <p:nvSpPr>
              <p:cNvPr id="224" name="Line 115"/>
              <p:cNvSpPr>
                <a:spLocks noChangeShapeType="1"/>
              </p:cNvSpPr>
              <p:nvPr/>
            </p:nvSpPr>
            <p:spPr bwMode="auto">
              <a:xfrm>
                <a:off x="3742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" name="Text Box 127"/>
              <p:cNvSpPr txBox="1">
                <a:spLocks noChangeArrowheads="1"/>
              </p:cNvSpPr>
              <p:nvPr/>
            </p:nvSpPr>
            <p:spPr bwMode="auto">
              <a:xfrm>
                <a:off x="3626" y="1557"/>
                <a:ext cx="31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4</a:t>
                </a:r>
              </a:p>
            </p:txBody>
          </p:sp>
        </p:grpSp>
        <p:grpSp>
          <p:nvGrpSpPr>
            <p:cNvPr id="221" name="Group 232"/>
            <p:cNvGrpSpPr>
              <a:grpSpLocks/>
            </p:cNvGrpSpPr>
            <p:nvPr/>
          </p:nvGrpSpPr>
          <p:grpSpPr bwMode="auto">
            <a:xfrm>
              <a:off x="5026272" y="4510647"/>
              <a:ext cx="731836" cy="606425"/>
              <a:chOff x="2041" y="1434"/>
              <a:chExt cx="461" cy="382"/>
            </a:xfrm>
          </p:grpSpPr>
          <p:sp>
            <p:nvSpPr>
              <p:cNvPr id="222" name="Line 113"/>
              <p:cNvSpPr>
                <a:spLocks noChangeShapeType="1"/>
              </p:cNvSpPr>
              <p:nvPr/>
            </p:nvSpPr>
            <p:spPr bwMode="auto">
              <a:xfrm>
                <a:off x="2154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3" name="Text Box 124"/>
              <p:cNvSpPr txBox="1">
                <a:spLocks noChangeArrowheads="1"/>
              </p:cNvSpPr>
              <p:nvPr/>
            </p:nvSpPr>
            <p:spPr bwMode="auto">
              <a:xfrm>
                <a:off x="2041" y="1564"/>
                <a:ext cx="46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B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1</a:t>
                </a:r>
              </a:p>
            </p:txBody>
          </p:sp>
        </p:grpSp>
      </p:grpSp>
      <p:sp>
        <p:nvSpPr>
          <p:cNvPr id="234" name="Rectangle 192"/>
          <p:cNvSpPr>
            <a:spLocks noChangeArrowheads="1"/>
          </p:cNvSpPr>
          <p:nvPr/>
        </p:nvSpPr>
        <p:spPr bwMode="auto">
          <a:xfrm>
            <a:off x="4709318" y="3098006"/>
            <a:ext cx="576262" cy="360363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35" name="Rectangle 192"/>
          <p:cNvSpPr>
            <a:spLocks noChangeArrowheads="1"/>
          </p:cNvSpPr>
          <p:nvPr/>
        </p:nvSpPr>
        <p:spPr bwMode="auto">
          <a:xfrm>
            <a:off x="5285580" y="3098006"/>
            <a:ext cx="576263" cy="3603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36" name="Rectangle 192"/>
          <p:cNvSpPr>
            <a:spLocks noChangeArrowheads="1"/>
          </p:cNvSpPr>
          <p:nvPr/>
        </p:nvSpPr>
        <p:spPr bwMode="auto">
          <a:xfrm>
            <a:off x="5861843" y="3098006"/>
            <a:ext cx="576262" cy="360363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37" name="Rectangle 192"/>
          <p:cNvSpPr>
            <a:spLocks noChangeArrowheads="1"/>
          </p:cNvSpPr>
          <p:nvPr/>
        </p:nvSpPr>
        <p:spPr bwMode="auto">
          <a:xfrm>
            <a:off x="6438105" y="3098006"/>
            <a:ext cx="576263" cy="3603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38" name="Rectangle 192"/>
          <p:cNvSpPr>
            <a:spLocks noChangeArrowheads="1"/>
          </p:cNvSpPr>
          <p:nvPr/>
        </p:nvSpPr>
        <p:spPr bwMode="auto">
          <a:xfrm>
            <a:off x="7014368" y="3098006"/>
            <a:ext cx="576262" cy="360363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239" name="Rectangle 192"/>
          <p:cNvSpPr>
            <a:spLocks noChangeArrowheads="1"/>
          </p:cNvSpPr>
          <p:nvPr/>
        </p:nvSpPr>
        <p:spPr bwMode="auto">
          <a:xfrm>
            <a:off x="7590630" y="3098006"/>
            <a:ext cx="576263" cy="3603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40" name="Rectangle 192"/>
          <p:cNvSpPr>
            <a:spLocks noChangeArrowheads="1"/>
          </p:cNvSpPr>
          <p:nvPr/>
        </p:nvSpPr>
        <p:spPr bwMode="auto">
          <a:xfrm>
            <a:off x="8165305" y="3098006"/>
            <a:ext cx="576263" cy="360363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241" name="Rectangle 192"/>
          <p:cNvSpPr>
            <a:spLocks noChangeArrowheads="1"/>
          </p:cNvSpPr>
          <p:nvPr/>
        </p:nvSpPr>
        <p:spPr bwMode="auto">
          <a:xfrm>
            <a:off x="8741568" y="3098006"/>
            <a:ext cx="576262" cy="3603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42" name="Rectangle 192"/>
          <p:cNvSpPr>
            <a:spLocks noChangeArrowheads="1"/>
          </p:cNvSpPr>
          <p:nvPr/>
        </p:nvSpPr>
        <p:spPr bwMode="auto">
          <a:xfrm>
            <a:off x="9317830" y="3098006"/>
            <a:ext cx="576263" cy="360363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43" name="Rectangle 192"/>
          <p:cNvSpPr>
            <a:spLocks noChangeArrowheads="1"/>
          </p:cNvSpPr>
          <p:nvPr/>
        </p:nvSpPr>
        <p:spPr bwMode="auto">
          <a:xfrm>
            <a:off x="9894093" y="3098006"/>
            <a:ext cx="288925" cy="3603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44" name="矩形 243"/>
          <p:cNvSpPr>
            <a:spLocks noChangeArrowheads="1"/>
          </p:cNvSpPr>
          <p:nvPr/>
        </p:nvSpPr>
        <p:spPr bwMode="auto">
          <a:xfrm>
            <a:off x="7230268" y="3983831"/>
            <a:ext cx="803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kumimoji="1" lang="zh-CN" altLang="en-US" sz="1800" b="1">
                <a:solidFill>
                  <a:srgbClr val="FF0000"/>
                </a:solidFill>
                <a:latin typeface="Times New Roman" pitchFamily="18" charset="0"/>
              </a:rPr>
              <a:t>错过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245" name="Line 150"/>
          <p:cNvSpPr>
            <a:spLocks noChangeShapeType="1"/>
          </p:cNvSpPr>
          <p:nvPr/>
        </p:nvSpPr>
        <p:spPr bwMode="auto">
          <a:xfrm>
            <a:off x="4709318" y="4764881"/>
            <a:ext cx="64087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6" name="Group 237"/>
          <p:cNvGrpSpPr>
            <a:grpSpLocks/>
          </p:cNvGrpSpPr>
          <p:nvPr/>
        </p:nvGrpSpPr>
        <p:grpSpPr bwMode="auto">
          <a:xfrm>
            <a:off x="2261392" y="4344194"/>
            <a:ext cx="1062038" cy="923925"/>
            <a:chOff x="-23" y="2304"/>
            <a:chExt cx="669" cy="582"/>
          </a:xfrm>
        </p:grpSpPr>
        <p:sp>
          <p:nvSpPr>
            <p:cNvPr id="247" name="AutoShape 209"/>
            <p:cNvSpPr>
              <a:spLocks/>
            </p:cNvSpPr>
            <p:nvPr/>
          </p:nvSpPr>
          <p:spPr bwMode="auto">
            <a:xfrm>
              <a:off x="431" y="2432"/>
              <a:ext cx="215" cy="313"/>
            </a:xfrm>
            <a:prstGeom prst="leftBrace">
              <a:avLst>
                <a:gd name="adj1" fmla="val 2096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8" name="Text Box 210"/>
            <p:cNvSpPr txBox="1">
              <a:spLocks noChangeArrowheads="1"/>
            </p:cNvSpPr>
            <p:nvPr/>
          </p:nvSpPr>
          <p:spPr bwMode="auto">
            <a:xfrm>
              <a:off x="-23" y="2304"/>
              <a:ext cx="635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1800" b="1">
                  <a:solidFill>
                    <a:schemeClr val="tx1"/>
                  </a:solidFill>
                  <a:latin typeface="Times New Roman" pitchFamily="18" charset="0"/>
                </a:rPr>
                <a:t>固定优先级调度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(B&gt;A)</a:t>
              </a:r>
              <a:endParaRPr kumimoji="1" lang="zh-CN" altLang="en-US" sz="1800" b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249" name="Text Box 212"/>
          <p:cNvSpPr txBox="1">
            <a:spLocks noChangeArrowheads="1"/>
          </p:cNvSpPr>
          <p:nvPr/>
        </p:nvSpPr>
        <p:spPr bwMode="auto">
          <a:xfrm>
            <a:off x="3288505" y="4836319"/>
            <a:ext cx="157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最后截止时间</a:t>
            </a:r>
          </a:p>
        </p:txBody>
      </p:sp>
      <p:sp>
        <p:nvSpPr>
          <p:cNvPr id="250" name="Text Box 213"/>
          <p:cNvSpPr txBox="1">
            <a:spLocks noChangeArrowheads="1"/>
          </p:cNvSpPr>
          <p:nvPr/>
        </p:nvSpPr>
        <p:spPr bwMode="auto">
          <a:xfrm>
            <a:off x="3269455" y="4404519"/>
            <a:ext cx="1114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调度序列</a:t>
            </a:r>
          </a:p>
        </p:txBody>
      </p:sp>
      <p:grpSp>
        <p:nvGrpSpPr>
          <p:cNvPr id="251" name="组合 164"/>
          <p:cNvGrpSpPr>
            <a:grpSpLocks/>
          </p:cNvGrpSpPr>
          <p:nvPr/>
        </p:nvGrpSpPr>
        <p:grpSpPr bwMode="auto">
          <a:xfrm>
            <a:off x="5684043" y="4791869"/>
            <a:ext cx="5268912" cy="608012"/>
            <a:chOff x="3275856" y="4509120"/>
            <a:chExt cx="5268906" cy="607952"/>
          </a:xfrm>
        </p:grpSpPr>
        <p:grpSp>
          <p:nvGrpSpPr>
            <p:cNvPr id="252" name="Group 236"/>
            <p:cNvGrpSpPr>
              <a:grpSpLocks/>
            </p:cNvGrpSpPr>
            <p:nvPr/>
          </p:nvGrpSpPr>
          <p:grpSpPr bwMode="auto">
            <a:xfrm>
              <a:off x="4424284" y="4509121"/>
              <a:ext cx="503238" cy="603250"/>
              <a:chOff x="4899" y="1434"/>
              <a:chExt cx="317" cy="380"/>
            </a:xfrm>
          </p:grpSpPr>
          <p:sp>
            <p:nvSpPr>
              <p:cNvPr id="268" name="Line 117"/>
              <p:cNvSpPr>
                <a:spLocks noChangeShapeType="1"/>
              </p:cNvSpPr>
              <p:nvPr/>
            </p:nvSpPr>
            <p:spPr bwMode="auto">
              <a:xfrm>
                <a:off x="5012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9" name="Text Box 123"/>
              <p:cNvSpPr txBox="1">
                <a:spLocks noChangeArrowheads="1"/>
              </p:cNvSpPr>
              <p:nvPr/>
            </p:nvSpPr>
            <p:spPr bwMode="auto">
              <a:xfrm>
                <a:off x="4899" y="1564"/>
                <a:ext cx="3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grpSp>
          <p:nvGrpSpPr>
            <p:cNvPr id="253" name="Group 232"/>
            <p:cNvGrpSpPr>
              <a:grpSpLocks/>
            </p:cNvGrpSpPr>
            <p:nvPr/>
          </p:nvGrpSpPr>
          <p:grpSpPr bwMode="auto">
            <a:xfrm>
              <a:off x="3275856" y="4509120"/>
              <a:ext cx="517524" cy="606425"/>
              <a:chOff x="2041" y="1434"/>
              <a:chExt cx="326" cy="382"/>
            </a:xfrm>
          </p:grpSpPr>
          <p:sp>
            <p:nvSpPr>
              <p:cNvPr id="266" name="Line 113"/>
              <p:cNvSpPr>
                <a:spLocks noChangeShapeType="1"/>
              </p:cNvSpPr>
              <p:nvPr/>
            </p:nvSpPr>
            <p:spPr bwMode="auto">
              <a:xfrm>
                <a:off x="2154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" name="Text Box 124"/>
              <p:cNvSpPr txBox="1">
                <a:spLocks noChangeArrowheads="1"/>
              </p:cNvSpPr>
              <p:nvPr/>
            </p:nvSpPr>
            <p:spPr bwMode="auto">
              <a:xfrm>
                <a:off x="2041" y="1564"/>
                <a:ext cx="32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254" name="Group 233"/>
            <p:cNvGrpSpPr>
              <a:grpSpLocks/>
            </p:cNvGrpSpPr>
            <p:nvPr/>
          </p:nvGrpSpPr>
          <p:grpSpPr bwMode="auto">
            <a:xfrm>
              <a:off x="5584348" y="4509121"/>
              <a:ext cx="503238" cy="606425"/>
              <a:chOff x="2989" y="1434"/>
              <a:chExt cx="317" cy="382"/>
            </a:xfrm>
          </p:grpSpPr>
          <p:sp>
            <p:nvSpPr>
              <p:cNvPr id="264" name="Line 114"/>
              <p:cNvSpPr>
                <a:spLocks noChangeShapeType="1"/>
              </p:cNvSpPr>
              <p:nvPr/>
            </p:nvSpPr>
            <p:spPr bwMode="auto">
              <a:xfrm>
                <a:off x="3107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" name="Text Box 125"/>
              <p:cNvSpPr txBox="1">
                <a:spLocks noChangeArrowheads="1"/>
              </p:cNvSpPr>
              <p:nvPr/>
            </p:nvSpPr>
            <p:spPr bwMode="auto">
              <a:xfrm>
                <a:off x="2989" y="1564"/>
                <a:ext cx="31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3</a:t>
                </a:r>
              </a:p>
            </p:txBody>
          </p:sp>
        </p:grpSp>
        <p:grpSp>
          <p:nvGrpSpPr>
            <p:cNvPr id="255" name="Group 235"/>
            <p:cNvGrpSpPr>
              <a:grpSpLocks/>
            </p:cNvGrpSpPr>
            <p:nvPr/>
          </p:nvGrpSpPr>
          <p:grpSpPr bwMode="auto">
            <a:xfrm>
              <a:off x="7743076" y="4509125"/>
              <a:ext cx="801686" cy="606426"/>
              <a:chOff x="4157" y="1434"/>
              <a:chExt cx="505" cy="382"/>
            </a:xfrm>
          </p:grpSpPr>
          <p:sp>
            <p:nvSpPr>
              <p:cNvPr id="262" name="Line 116"/>
              <p:cNvSpPr>
                <a:spLocks noChangeShapeType="1"/>
              </p:cNvSpPr>
              <p:nvPr/>
            </p:nvSpPr>
            <p:spPr bwMode="auto">
              <a:xfrm>
                <a:off x="4377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" name="Text Box 126"/>
              <p:cNvSpPr txBox="1">
                <a:spLocks noChangeArrowheads="1"/>
              </p:cNvSpPr>
              <p:nvPr/>
            </p:nvSpPr>
            <p:spPr bwMode="auto">
              <a:xfrm>
                <a:off x="4157" y="1564"/>
                <a:ext cx="5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5</a:t>
                </a: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,B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grpSp>
          <p:nvGrpSpPr>
            <p:cNvPr id="256" name="Group 234"/>
            <p:cNvGrpSpPr>
              <a:grpSpLocks/>
            </p:cNvGrpSpPr>
            <p:nvPr/>
          </p:nvGrpSpPr>
          <p:grpSpPr bwMode="auto">
            <a:xfrm>
              <a:off x="6746881" y="4509123"/>
              <a:ext cx="503237" cy="595313"/>
              <a:chOff x="3626" y="1434"/>
              <a:chExt cx="317" cy="375"/>
            </a:xfrm>
          </p:grpSpPr>
          <p:sp>
            <p:nvSpPr>
              <p:cNvPr id="260" name="Line 115"/>
              <p:cNvSpPr>
                <a:spLocks noChangeShapeType="1"/>
              </p:cNvSpPr>
              <p:nvPr/>
            </p:nvSpPr>
            <p:spPr bwMode="auto">
              <a:xfrm>
                <a:off x="3742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" name="Text Box 127"/>
              <p:cNvSpPr txBox="1">
                <a:spLocks noChangeArrowheads="1"/>
              </p:cNvSpPr>
              <p:nvPr/>
            </p:nvSpPr>
            <p:spPr bwMode="auto">
              <a:xfrm>
                <a:off x="3626" y="1557"/>
                <a:ext cx="31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4</a:t>
                </a:r>
              </a:p>
            </p:txBody>
          </p:sp>
        </p:grpSp>
        <p:grpSp>
          <p:nvGrpSpPr>
            <p:cNvPr id="257" name="Group 232"/>
            <p:cNvGrpSpPr>
              <a:grpSpLocks/>
            </p:cNvGrpSpPr>
            <p:nvPr/>
          </p:nvGrpSpPr>
          <p:grpSpPr bwMode="auto">
            <a:xfrm>
              <a:off x="5026272" y="4510647"/>
              <a:ext cx="731836" cy="606425"/>
              <a:chOff x="2041" y="1434"/>
              <a:chExt cx="461" cy="382"/>
            </a:xfrm>
          </p:grpSpPr>
          <p:sp>
            <p:nvSpPr>
              <p:cNvPr id="258" name="Line 113"/>
              <p:cNvSpPr>
                <a:spLocks noChangeShapeType="1"/>
              </p:cNvSpPr>
              <p:nvPr/>
            </p:nvSpPr>
            <p:spPr bwMode="auto">
              <a:xfrm>
                <a:off x="2154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9" name="Text Box 124"/>
              <p:cNvSpPr txBox="1">
                <a:spLocks noChangeArrowheads="1"/>
              </p:cNvSpPr>
              <p:nvPr/>
            </p:nvSpPr>
            <p:spPr bwMode="auto">
              <a:xfrm>
                <a:off x="2041" y="1564"/>
                <a:ext cx="46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B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1</a:t>
                </a:r>
              </a:p>
            </p:txBody>
          </p:sp>
        </p:grpSp>
      </p:grpSp>
      <p:sp>
        <p:nvSpPr>
          <p:cNvPr id="270" name="Rectangle 192"/>
          <p:cNvSpPr>
            <a:spLocks noChangeArrowheads="1"/>
          </p:cNvSpPr>
          <p:nvPr/>
        </p:nvSpPr>
        <p:spPr bwMode="auto">
          <a:xfrm>
            <a:off x="4709318" y="4394994"/>
            <a:ext cx="1439862" cy="358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71" name="Rectangle 192"/>
          <p:cNvSpPr>
            <a:spLocks noChangeArrowheads="1"/>
          </p:cNvSpPr>
          <p:nvPr/>
        </p:nvSpPr>
        <p:spPr bwMode="auto">
          <a:xfrm>
            <a:off x="6149180" y="4394994"/>
            <a:ext cx="576263" cy="35877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72" name="Rectangle 192"/>
          <p:cNvSpPr>
            <a:spLocks noChangeArrowheads="1"/>
          </p:cNvSpPr>
          <p:nvPr/>
        </p:nvSpPr>
        <p:spPr bwMode="auto">
          <a:xfrm>
            <a:off x="7014368" y="4393406"/>
            <a:ext cx="576262" cy="360363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273" name="Rectangle 192"/>
          <p:cNvSpPr>
            <a:spLocks noChangeArrowheads="1"/>
          </p:cNvSpPr>
          <p:nvPr/>
        </p:nvSpPr>
        <p:spPr bwMode="auto">
          <a:xfrm>
            <a:off x="7590630" y="4393406"/>
            <a:ext cx="1439863" cy="3603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74" name="Rectangle 192"/>
          <p:cNvSpPr>
            <a:spLocks noChangeArrowheads="1"/>
          </p:cNvSpPr>
          <p:nvPr/>
        </p:nvSpPr>
        <p:spPr bwMode="auto">
          <a:xfrm>
            <a:off x="9317830" y="4393406"/>
            <a:ext cx="576263" cy="360363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75" name="矩形 274"/>
          <p:cNvSpPr>
            <a:spLocks noChangeArrowheads="1"/>
          </p:cNvSpPr>
          <p:nvPr/>
        </p:nvSpPr>
        <p:spPr bwMode="auto">
          <a:xfrm>
            <a:off x="5501480" y="5288756"/>
            <a:ext cx="803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kumimoji="1" lang="zh-CN" altLang="en-US" sz="1800" b="1">
                <a:solidFill>
                  <a:srgbClr val="FF0000"/>
                </a:solidFill>
                <a:latin typeface="Times New Roman" pitchFamily="18" charset="0"/>
              </a:rPr>
              <a:t>错过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276" name="矩形 275"/>
          <p:cNvSpPr>
            <a:spLocks noChangeArrowheads="1"/>
          </p:cNvSpPr>
          <p:nvPr/>
        </p:nvSpPr>
        <p:spPr bwMode="auto">
          <a:xfrm>
            <a:off x="8946355" y="5290344"/>
            <a:ext cx="803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kumimoji="1" lang="zh-CN" altLang="en-US" sz="1800" b="1">
                <a:solidFill>
                  <a:srgbClr val="FF0000"/>
                </a:solidFill>
                <a:latin typeface="Times New Roman" pitchFamily="18" charset="0"/>
              </a:rPr>
              <a:t>错过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277" name="Line 150"/>
          <p:cNvSpPr>
            <a:spLocks noChangeShapeType="1"/>
          </p:cNvSpPr>
          <p:nvPr/>
        </p:nvSpPr>
        <p:spPr bwMode="auto">
          <a:xfrm>
            <a:off x="4709318" y="6133306"/>
            <a:ext cx="64087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8" name="Group 237"/>
          <p:cNvGrpSpPr>
            <a:grpSpLocks/>
          </p:cNvGrpSpPr>
          <p:nvPr/>
        </p:nvGrpSpPr>
        <p:grpSpPr bwMode="auto">
          <a:xfrm>
            <a:off x="2261392" y="5712619"/>
            <a:ext cx="1062038" cy="830262"/>
            <a:chOff x="-23" y="2304"/>
            <a:chExt cx="669" cy="523"/>
          </a:xfrm>
        </p:grpSpPr>
        <p:sp>
          <p:nvSpPr>
            <p:cNvPr id="279" name="AutoShape 209"/>
            <p:cNvSpPr>
              <a:spLocks/>
            </p:cNvSpPr>
            <p:nvPr/>
          </p:nvSpPr>
          <p:spPr bwMode="auto">
            <a:xfrm>
              <a:off x="431" y="2432"/>
              <a:ext cx="215" cy="313"/>
            </a:xfrm>
            <a:prstGeom prst="leftBrace">
              <a:avLst>
                <a:gd name="adj1" fmla="val 2096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0" name="Text Box 210"/>
            <p:cNvSpPr txBox="1">
              <a:spLocks noChangeArrowheads="1"/>
            </p:cNvSpPr>
            <p:nvPr/>
          </p:nvSpPr>
          <p:spPr bwMode="auto">
            <a:xfrm>
              <a:off x="-23" y="2304"/>
              <a:ext cx="635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1600" b="1">
                  <a:solidFill>
                    <a:schemeClr val="tx1"/>
                  </a:solidFill>
                  <a:latin typeface="Times New Roman" pitchFamily="18" charset="0"/>
                </a:rPr>
                <a:t>最早截止时间优先调度</a:t>
              </a:r>
            </a:p>
          </p:txBody>
        </p:sp>
      </p:grpSp>
      <p:sp>
        <p:nvSpPr>
          <p:cNvPr id="281" name="Text Box 212"/>
          <p:cNvSpPr txBox="1">
            <a:spLocks noChangeArrowheads="1"/>
          </p:cNvSpPr>
          <p:nvPr/>
        </p:nvSpPr>
        <p:spPr bwMode="auto">
          <a:xfrm>
            <a:off x="3288505" y="6204744"/>
            <a:ext cx="157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最后截止时间</a:t>
            </a:r>
          </a:p>
        </p:txBody>
      </p:sp>
      <p:sp>
        <p:nvSpPr>
          <p:cNvPr id="282" name="Text Box 213"/>
          <p:cNvSpPr txBox="1">
            <a:spLocks noChangeArrowheads="1"/>
          </p:cNvSpPr>
          <p:nvPr/>
        </p:nvSpPr>
        <p:spPr bwMode="auto">
          <a:xfrm>
            <a:off x="3269455" y="5772944"/>
            <a:ext cx="1114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调度序列</a:t>
            </a:r>
          </a:p>
        </p:txBody>
      </p:sp>
      <p:grpSp>
        <p:nvGrpSpPr>
          <p:cNvPr id="283" name="组合 164"/>
          <p:cNvGrpSpPr>
            <a:grpSpLocks/>
          </p:cNvGrpSpPr>
          <p:nvPr/>
        </p:nvGrpSpPr>
        <p:grpSpPr bwMode="auto">
          <a:xfrm>
            <a:off x="5684043" y="6160294"/>
            <a:ext cx="5268912" cy="608012"/>
            <a:chOff x="3275856" y="4509120"/>
            <a:chExt cx="5268906" cy="607952"/>
          </a:xfrm>
        </p:grpSpPr>
        <p:grpSp>
          <p:nvGrpSpPr>
            <p:cNvPr id="284" name="Group 236"/>
            <p:cNvGrpSpPr>
              <a:grpSpLocks/>
            </p:cNvGrpSpPr>
            <p:nvPr/>
          </p:nvGrpSpPr>
          <p:grpSpPr bwMode="auto">
            <a:xfrm>
              <a:off x="4424284" y="4509121"/>
              <a:ext cx="503238" cy="603250"/>
              <a:chOff x="4899" y="1434"/>
              <a:chExt cx="317" cy="380"/>
            </a:xfrm>
          </p:grpSpPr>
          <p:sp>
            <p:nvSpPr>
              <p:cNvPr id="300" name="Line 117"/>
              <p:cNvSpPr>
                <a:spLocks noChangeShapeType="1"/>
              </p:cNvSpPr>
              <p:nvPr/>
            </p:nvSpPr>
            <p:spPr bwMode="auto">
              <a:xfrm>
                <a:off x="5012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1" name="Text Box 123"/>
              <p:cNvSpPr txBox="1">
                <a:spLocks noChangeArrowheads="1"/>
              </p:cNvSpPr>
              <p:nvPr/>
            </p:nvSpPr>
            <p:spPr bwMode="auto">
              <a:xfrm>
                <a:off x="4899" y="1564"/>
                <a:ext cx="3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grpSp>
          <p:nvGrpSpPr>
            <p:cNvPr id="285" name="Group 232"/>
            <p:cNvGrpSpPr>
              <a:grpSpLocks/>
            </p:cNvGrpSpPr>
            <p:nvPr/>
          </p:nvGrpSpPr>
          <p:grpSpPr bwMode="auto">
            <a:xfrm>
              <a:off x="3275856" y="4509120"/>
              <a:ext cx="517524" cy="606425"/>
              <a:chOff x="2041" y="1434"/>
              <a:chExt cx="326" cy="382"/>
            </a:xfrm>
          </p:grpSpPr>
          <p:sp>
            <p:nvSpPr>
              <p:cNvPr id="298" name="Line 113"/>
              <p:cNvSpPr>
                <a:spLocks noChangeShapeType="1"/>
              </p:cNvSpPr>
              <p:nvPr/>
            </p:nvSpPr>
            <p:spPr bwMode="auto">
              <a:xfrm>
                <a:off x="2154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9" name="Text Box 124"/>
              <p:cNvSpPr txBox="1">
                <a:spLocks noChangeArrowheads="1"/>
              </p:cNvSpPr>
              <p:nvPr/>
            </p:nvSpPr>
            <p:spPr bwMode="auto">
              <a:xfrm>
                <a:off x="2041" y="1564"/>
                <a:ext cx="32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286" name="Group 233"/>
            <p:cNvGrpSpPr>
              <a:grpSpLocks/>
            </p:cNvGrpSpPr>
            <p:nvPr/>
          </p:nvGrpSpPr>
          <p:grpSpPr bwMode="auto">
            <a:xfrm>
              <a:off x="5584348" y="4509121"/>
              <a:ext cx="503238" cy="606425"/>
              <a:chOff x="2989" y="1434"/>
              <a:chExt cx="317" cy="382"/>
            </a:xfrm>
          </p:grpSpPr>
          <p:sp>
            <p:nvSpPr>
              <p:cNvPr id="296" name="Line 114"/>
              <p:cNvSpPr>
                <a:spLocks noChangeShapeType="1"/>
              </p:cNvSpPr>
              <p:nvPr/>
            </p:nvSpPr>
            <p:spPr bwMode="auto">
              <a:xfrm>
                <a:off x="3107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" name="Text Box 125"/>
              <p:cNvSpPr txBox="1">
                <a:spLocks noChangeArrowheads="1"/>
              </p:cNvSpPr>
              <p:nvPr/>
            </p:nvSpPr>
            <p:spPr bwMode="auto">
              <a:xfrm>
                <a:off x="2989" y="1564"/>
                <a:ext cx="31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3</a:t>
                </a:r>
              </a:p>
            </p:txBody>
          </p:sp>
        </p:grpSp>
        <p:grpSp>
          <p:nvGrpSpPr>
            <p:cNvPr id="287" name="Group 235"/>
            <p:cNvGrpSpPr>
              <a:grpSpLocks/>
            </p:cNvGrpSpPr>
            <p:nvPr/>
          </p:nvGrpSpPr>
          <p:grpSpPr bwMode="auto">
            <a:xfrm>
              <a:off x="7743076" y="4509125"/>
              <a:ext cx="801686" cy="606426"/>
              <a:chOff x="4157" y="1434"/>
              <a:chExt cx="505" cy="382"/>
            </a:xfrm>
          </p:grpSpPr>
          <p:sp>
            <p:nvSpPr>
              <p:cNvPr id="294" name="Line 116"/>
              <p:cNvSpPr>
                <a:spLocks noChangeShapeType="1"/>
              </p:cNvSpPr>
              <p:nvPr/>
            </p:nvSpPr>
            <p:spPr bwMode="auto">
              <a:xfrm>
                <a:off x="4377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5" name="Text Box 126"/>
              <p:cNvSpPr txBox="1">
                <a:spLocks noChangeArrowheads="1"/>
              </p:cNvSpPr>
              <p:nvPr/>
            </p:nvSpPr>
            <p:spPr bwMode="auto">
              <a:xfrm>
                <a:off x="4157" y="1564"/>
                <a:ext cx="5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5</a:t>
                </a: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,B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grpSp>
          <p:nvGrpSpPr>
            <p:cNvPr id="288" name="Group 234"/>
            <p:cNvGrpSpPr>
              <a:grpSpLocks/>
            </p:cNvGrpSpPr>
            <p:nvPr/>
          </p:nvGrpSpPr>
          <p:grpSpPr bwMode="auto">
            <a:xfrm>
              <a:off x="6746881" y="4509123"/>
              <a:ext cx="503237" cy="595313"/>
              <a:chOff x="3626" y="1434"/>
              <a:chExt cx="317" cy="375"/>
            </a:xfrm>
          </p:grpSpPr>
          <p:sp>
            <p:nvSpPr>
              <p:cNvPr id="292" name="Line 115"/>
              <p:cNvSpPr>
                <a:spLocks noChangeShapeType="1"/>
              </p:cNvSpPr>
              <p:nvPr/>
            </p:nvSpPr>
            <p:spPr bwMode="auto">
              <a:xfrm>
                <a:off x="3742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" name="Text Box 127"/>
              <p:cNvSpPr txBox="1">
                <a:spLocks noChangeArrowheads="1"/>
              </p:cNvSpPr>
              <p:nvPr/>
            </p:nvSpPr>
            <p:spPr bwMode="auto">
              <a:xfrm>
                <a:off x="3626" y="1557"/>
                <a:ext cx="31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4</a:t>
                </a:r>
              </a:p>
            </p:txBody>
          </p:sp>
        </p:grpSp>
        <p:grpSp>
          <p:nvGrpSpPr>
            <p:cNvPr id="289" name="Group 232"/>
            <p:cNvGrpSpPr>
              <a:grpSpLocks/>
            </p:cNvGrpSpPr>
            <p:nvPr/>
          </p:nvGrpSpPr>
          <p:grpSpPr bwMode="auto">
            <a:xfrm>
              <a:off x="5026272" y="4510647"/>
              <a:ext cx="731836" cy="606425"/>
              <a:chOff x="2041" y="1434"/>
              <a:chExt cx="461" cy="382"/>
            </a:xfrm>
          </p:grpSpPr>
          <p:sp>
            <p:nvSpPr>
              <p:cNvPr id="290" name="Line 113"/>
              <p:cNvSpPr>
                <a:spLocks noChangeShapeType="1"/>
              </p:cNvSpPr>
              <p:nvPr/>
            </p:nvSpPr>
            <p:spPr bwMode="auto">
              <a:xfrm>
                <a:off x="2154" y="1434"/>
                <a:ext cx="0" cy="1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" name="Text Box 124"/>
              <p:cNvSpPr txBox="1">
                <a:spLocks noChangeArrowheads="1"/>
              </p:cNvSpPr>
              <p:nvPr/>
            </p:nvSpPr>
            <p:spPr bwMode="auto">
              <a:xfrm>
                <a:off x="2041" y="1564"/>
                <a:ext cx="46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tx1"/>
                    </a:solidFill>
                    <a:latin typeface="Times New Roman" pitchFamily="18" charset="0"/>
                  </a:rPr>
                  <a:t>B</a:t>
                </a:r>
                <a:r>
                  <a:rPr kumimoji="1" lang="en-US" altLang="zh-CN" sz="2000" b="1" baseline="-25000">
                    <a:solidFill>
                      <a:schemeClr val="tx1"/>
                    </a:solidFill>
                    <a:latin typeface="Times New Roman" pitchFamily="18" charset="0"/>
                  </a:rPr>
                  <a:t>1</a:t>
                </a:r>
              </a:p>
            </p:txBody>
          </p:sp>
        </p:grpSp>
      </p:grpSp>
      <p:sp>
        <p:nvSpPr>
          <p:cNvPr id="302" name="Rectangle 192"/>
          <p:cNvSpPr>
            <a:spLocks noChangeArrowheads="1"/>
          </p:cNvSpPr>
          <p:nvPr/>
        </p:nvSpPr>
        <p:spPr bwMode="auto">
          <a:xfrm>
            <a:off x="4709318" y="5763419"/>
            <a:ext cx="576262" cy="35877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303" name="Rectangle 192"/>
          <p:cNvSpPr>
            <a:spLocks noChangeArrowheads="1"/>
          </p:cNvSpPr>
          <p:nvPr/>
        </p:nvSpPr>
        <p:spPr bwMode="auto">
          <a:xfrm>
            <a:off x="5285580" y="5763419"/>
            <a:ext cx="576263" cy="358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304" name="Rectangle 192"/>
          <p:cNvSpPr>
            <a:spLocks noChangeArrowheads="1"/>
          </p:cNvSpPr>
          <p:nvPr/>
        </p:nvSpPr>
        <p:spPr bwMode="auto">
          <a:xfrm>
            <a:off x="5861843" y="5763419"/>
            <a:ext cx="576262" cy="35877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305" name="Rectangle 192"/>
          <p:cNvSpPr>
            <a:spLocks noChangeArrowheads="1"/>
          </p:cNvSpPr>
          <p:nvPr/>
        </p:nvSpPr>
        <p:spPr bwMode="auto">
          <a:xfrm>
            <a:off x="6438105" y="5763419"/>
            <a:ext cx="863600" cy="358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306" name="Rectangle 192"/>
          <p:cNvSpPr>
            <a:spLocks noChangeArrowheads="1"/>
          </p:cNvSpPr>
          <p:nvPr/>
        </p:nvSpPr>
        <p:spPr bwMode="auto">
          <a:xfrm>
            <a:off x="7301705" y="5763419"/>
            <a:ext cx="576263" cy="35877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307" name="Rectangle 192"/>
          <p:cNvSpPr>
            <a:spLocks noChangeArrowheads="1"/>
          </p:cNvSpPr>
          <p:nvPr/>
        </p:nvSpPr>
        <p:spPr bwMode="auto">
          <a:xfrm>
            <a:off x="7877968" y="5763419"/>
            <a:ext cx="287337" cy="358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308" name="Rectangle 192"/>
          <p:cNvSpPr>
            <a:spLocks noChangeArrowheads="1"/>
          </p:cNvSpPr>
          <p:nvPr/>
        </p:nvSpPr>
        <p:spPr bwMode="auto">
          <a:xfrm>
            <a:off x="8165305" y="5763419"/>
            <a:ext cx="576263" cy="35877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309" name="Rectangle 192"/>
          <p:cNvSpPr>
            <a:spLocks noChangeArrowheads="1"/>
          </p:cNvSpPr>
          <p:nvPr/>
        </p:nvSpPr>
        <p:spPr bwMode="auto">
          <a:xfrm>
            <a:off x="8741568" y="5763419"/>
            <a:ext cx="1152525" cy="358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310" name="Rectangle 192"/>
          <p:cNvSpPr>
            <a:spLocks noChangeArrowheads="1"/>
          </p:cNvSpPr>
          <p:nvPr/>
        </p:nvSpPr>
        <p:spPr bwMode="auto">
          <a:xfrm>
            <a:off x="9894093" y="5763419"/>
            <a:ext cx="576262" cy="35877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2612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9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8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animBg="1"/>
      <p:bldP spid="197" grpId="0"/>
      <p:bldP spid="198" grpId="0"/>
      <p:bldP spid="199" grpId="0" animBg="1"/>
      <p:bldP spid="203" grpId="0"/>
      <p:bldP spid="204" grpId="0"/>
      <p:bldP spid="206" grpId="0"/>
      <p:bldP spid="210" grpId="0" animBg="1"/>
      <p:bldP spid="211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5" grpId="0" animBg="1"/>
      <p:bldP spid="249" grpId="0"/>
      <p:bldP spid="250" grpId="0"/>
      <p:bldP spid="270" grpId="0" animBg="1"/>
      <p:bldP spid="271" grpId="0" animBg="1"/>
      <p:bldP spid="272" grpId="0" animBg="1"/>
      <p:bldP spid="273" grpId="0" animBg="1"/>
      <p:bldP spid="274" grpId="0" animBg="1"/>
      <p:bldP spid="277" grpId="0" animBg="1"/>
      <p:bldP spid="281" grpId="0"/>
      <p:bldP spid="282" grpId="0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8832" y="202028"/>
            <a:ext cx="5567207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最低松弛度优先（</a:t>
            </a:r>
            <a:r>
              <a:rPr lang="en-US" altLang="zh-CN" dirty="0"/>
              <a:t>LLF</a:t>
            </a:r>
            <a:r>
              <a:rPr lang="zh-CN" altLang="en-US" dirty="0"/>
              <a:t>）算法</a:t>
            </a:r>
          </a:p>
        </p:txBody>
      </p:sp>
      <p:sp>
        <p:nvSpPr>
          <p:cNvPr id="3" name="等腰三角形 2"/>
          <p:cNvSpPr>
            <a:spLocks noChangeArrowheads="1"/>
          </p:cNvSpPr>
          <p:nvPr/>
        </p:nvSpPr>
        <p:spPr bwMode="auto">
          <a:xfrm rot="-3389783">
            <a:off x="11056144" y="6266181"/>
            <a:ext cx="58737" cy="50800"/>
          </a:xfrm>
          <a:prstGeom prst="triangle">
            <a:avLst>
              <a:gd name="adj" fmla="val 50000"/>
            </a:avLst>
          </a:prstGeom>
          <a:solidFill>
            <a:srgbClr val="19751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197519"/>
              </a:solidFill>
              <a:latin typeface="Calibri" pitchFamily="34" charset="0"/>
              <a:ea typeface="幼圆" pitchFamily="49" charset="-122"/>
            </a:endParaRPr>
          </a:p>
        </p:txBody>
      </p:sp>
      <p:sp>
        <p:nvSpPr>
          <p:cNvPr id="4" name="弧形 3"/>
          <p:cNvSpPr/>
          <p:nvPr/>
        </p:nvSpPr>
        <p:spPr>
          <a:xfrm>
            <a:off x="704850" y="1360012"/>
            <a:ext cx="4248150" cy="4602162"/>
          </a:xfrm>
          <a:prstGeom prst="arc">
            <a:avLst>
              <a:gd name="adj1" fmla="val 17337751"/>
              <a:gd name="adj2" fmla="val 4126310"/>
            </a:avLst>
          </a:prstGeom>
          <a:ln w="66675">
            <a:solidFill>
              <a:srgbClr val="1975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noProof="1"/>
          </a:p>
        </p:txBody>
      </p:sp>
      <p:sp>
        <p:nvSpPr>
          <p:cNvPr id="5" name="Arc 3_1"/>
          <p:cNvSpPr/>
          <p:nvPr/>
        </p:nvSpPr>
        <p:spPr>
          <a:xfrm flipH="1">
            <a:off x="50800" y="1360012"/>
            <a:ext cx="4248150" cy="4602162"/>
          </a:xfrm>
          <a:prstGeom prst="arc">
            <a:avLst>
              <a:gd name="adj1" fmla="val 17337751"/>
              <a:gd name="adj2" fmla="val 4126310"/>
            </a:avLst>
          </a:prstGeom>
          <a:ln w="66675">
            <a:solidFill>
              <a:srgbClr val="1975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noProof="1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605145" y="1258094"/>
            <a:ext cx="6096000" cy="941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sz="2400" kern="0" dirty="0"/>
              <a:t>该算法根据实时任务的</a:t>
            </a:r>
            <a:r>
              <a:rPr kumimoji="1" lang="zh-CN" altLang="en-US" sz="2400" kern="0" dirty="0">
                <a:solidFill>
                  <a:schemeClr val="accent2"/>
                </a:solidFill>
              </a:rPr>
              <a:t>松弛度</a:t>
            </a:r>
            <a:r>
              <a:rPr kumimoji="1" lang="zh-CN" altLang="en-US" sz="2400" kern="0" dirty="0"/>
              <a:t>来确定任务的优先级，任务的松弛度愈低，其优先级愈高。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892800" y="3256439"/>
            <a:ext cx="6096000" cy="941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sz="2400" kern="0" dirty="0"/>
              <a:t>要求系统中有一个按松弛度排序的</a:t>
            </a:r>
            <a:r>
              <a:rPr kumimoji="1" lang="zh-CN" altLang="en-US" sz="2400" kern="0" dirty="0">
                <a:solidFill>
                  <a:schemeClr val="accent2"/>
                </a:solidFill>
              </a:rPr>
              <a:t>实时任务就绪队列</a:t>
            </a:r>
            <a:r>
              <a:rPr kumimoji="1" lang="zh-CN" altLang="en-US" sz="2400" kern="0" dirty="0"/>
              <a:t>。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546724" y="5013635"/>
            <a:ext cx="6294755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sz="2400" kern="0" dirty="0"/>
              <a:t>主要用于</a:t>
            </a:r>
            <a:r>
              <a:rPr kumimoji="1" lang="zh-CN" altLang="en-US" sz="2400" kern="0" dirty="0">
                <a:solidFill>
                  <a:schemeClr val="accent2"/>
                </a:solidFill>
              </a:rPr>
              <a:t>可抢占调度方式</a:t>
            </a:r>
            <a:r>
              <a:rPr kumimoji="1" lang="zh-CN" altLang="en-US" sz="2400" kern="0" dirty="0"/>
              <a:t>中，当一任务的最低松弛度减为</a:t>
            </a:r>
            <a:r>
              <a:rPr kumimoji="1" lang="en-US" altLang="zh-CN" sz="2400" kern="0" dirty="0"/>
              <a:t>0</a:t>
            </a:r>
            <a:r>
              <a:rPr kumimoji="1" lang="zh-CN" altLang="en-US" sz="2400" kern="0" dirty="0"/>
              <a:t>时，它便立即抢占</a:t>
            </a:r>
            <a:r>
              <a:rPr kumimoji="1" lang="en-US" altLang="zh-CN" sz="2400" kern="0" dirty="0"/>
              <a:t>CPU</a:t>
            </a:r>
            <a:r>
              <a:rPr kumimoji="1" lang="zh-CN" altLang="en-US" sz="2400" kern="0" dirty="0"/>
              <a:t>，以保证按截止时间的要求完成任务。</a:t>
            </a:r>
          </a:p>
        </p:txBody>
      </p:sp>
      <p:sp>
        <p:nvSpPr>
          <p:cNvPr id="9" name="椭圆 8"/>
          <p:cNvSpPr>
            <a:spLocks noChangeArrowheads="1"/>
          </p:cNvSpPr>
          <p:nvPr/>
        </p:nvSpPr>
        <p:spPr bwMode="auto">
          <a:xfrm>
            <a:off x="341313" y="1498124"/>
            <a:ext cx="4297362" cy="4298950"/>
          </a:xfrm>
          <a:prstGeom prst="ellipse">
            <a:avLst/>
          </a:prstGeom>
          <a:solidFill>
            <a:srgbClr val="1975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Freeform 5"/>
          <p:cNvSpPr>
            <a:spLocks noEditPoints="1" noChangeArrowheads="1"/>
          </p:cNvSpPr>
          <p:nvPr/>
        </p:nvSpPr>
        <p:spPr bwMode="auto">
          <a:xfrm>
            <a:off x="1671638" y="2599849"/>
            <a:ext cx="1636712" cy="1395413"/>
          </a:xfrm>
          <a:custGeom>
            <a:avLst/>
            <a:gdLst>
              <a:gd name="T0" fmla="*/ 20 w 86"/>
              <a:gd name="T1" fmla="*/ 2 h 70"/>
              <a:gd name="T2" fmla="*/ 60 w 86"/>
              <a:gd name="T3" fmla="*/ 2 h 70"/>
              <a:gd name="T4" fmla="*/ 80 w 86"/>
              <a:gd name="T5" fmla="*/ 6 h 70"/>
              <a:gd name="T6" fmla="*/ 74 w 86"/>
              <a:gd name="T7" fmla="*/ 26 h 70"/>
              <a:gd name="T8" fmla="*/ 59 w 86"/>
              <a:gd name="T9" fmla="*/ 8 h 70"/>
              <a:gd name="T10" fmla="*/ 43 w 86"/>
              <a:gd name="T11" fmla="*/ 54 h 70"/>
              <a:gd name="T12" fmla="*/ 49 w 86"/>
              <a:gd name="T13" fmla="*/ 58 h 70"/>
              <a:gd name="T14" fmla="*/ 50 w 86"/>
              <a:gd name="T15" fmla="*/ 59 h 70"/>
              <a:gd name="T16" fmla="*/ 40 w 86"/>
              <a:gd name="T17" fmla="*/ 60 h 70"/>
              <a:gd name="T18" fmla="*/ 22 w 86"/>
              <a:gd name="T19" fmla="*/ 60 h 70"/>
              <a:gd name="T20" fmla="*/ 0 w 86"/>
              <a:gd name="T21" fmla="*/ 58 h 70"/>
              <a:gd name="T22" fmla="*/ 3 w 86"/>
              <a:gd name="T23" fmla="*/ 3 h 70"/>
              <a:gd name="T24" fmla="*/ 59 w 86"/>
              <a:gd name="T25" fmla="*/ 37 h 70"/>
              <a:gd name="T26" fmla="*/ 57 w 86"/>
              <a:gd name="T27" fmla="*/ 51 h 70"/>
              <a:gd name="T28" fmla="*/ 72 w 86"/>
              <a:gd name="T29" fmla="*/ 53 h 70"/>
              <a:gd name="T30" fmla="*/ 74 w 86"/>
              <a:gd name="T31" fmla="*/ 39 h 70"/>
              <a:gd name="T32" fmla="*/ 56 w 86"/>
              <a:gd name="T33" fmla="*/ 33 h 70"/>
              <a:gd name="T34" fmla="*/ 53 w 86"/>
              <a:gd name="T35" fmla="*/ 55 h 70"/>
              <a:gd name="T36" fmla="*/ 73 w 86"/>
              <a:gd name="T37" fmla="*/ 59 h 70"/>
              <a:gd name="T38" fmla="*/ 79 w 86"/>
              <a:gd name="T39" fmla="*/ 68 h 70"/>
              <a:gd name="T40" fmla="*/ 84 w 86"/>
              <a:gd name="T41" fmla="*/ 69 h 70"/>
              <a:gd name="T42" fmla="*/ 80 w 86"/>
              <a:gd name="T43" fmla="*/ 57 h 70"/>
              <a:gd name="T44" fmla="*/ 81 w 86"/>
              <a:gd name="T45" fmla="*/ 47 h 70"/>
              <a:gd name="T46" fmla="*/ 67 w 86"/>
              <a:gd name="T47" fmla="*/ 29 h 70"/>
              <a:gd name="T48" fmla="*/ 58 w 86"/>
              <a:gd name="T49" fmla="*/ 46 h 70"/>
              <a:gd name="T50" fmla="*/ 58 w 86"/>
              <a:gd name="T51" fmla="*/ 46 h 70"/>
              <a:gd name="T52" fmla="*/ 47 w 86"/>
              <a:gd name="T53" fmla="*/ 19 h 70"/>
              <a:gd name="T54" fmla="*/ 71 w 86"/>
              <a:gd name="T55" fmla="*/ 24 h 70"/>
              <a:gd name="T56" fmla="*/ 71 w 86"/>
              <a:gd name="T57" fmla="*/ 15 h 70"/>
              <a:gd name="T58" fmla="*/ 47 w 86"/>
              <a:gd name="T59" fmla="*/ 14 h 70"/>
              <a:gd name="T60" fmla="*/ 71 w 86"/>
              <a:gd name="T61" fmla="*/ 15 h 70"/>
              <a:gd name="T62" fmla="*/ 10 w 86"/>
              <a:gd name="T63" fmla="*/ 51 h 70"/>
              <a:gd name="T64" fmla="*/ 34 w 86"/>
              <a:gd name="T65" fmla="*/ 46 h 70"/>
              <a:gd name="T66" fmla="*/ 10 w 86"/>
              <a:gd name="T67" fmla="*/ 41 h 70"/>
              <a:gd name="T68" fmla="*/ 34 w 86"/>
              <a:gd name="T69" fmla="*/ 41 h 70"/>
              <a:gd name="T70" fmla="*/ 10 w 86"/>
              <a:gd name="T71" fmla="*/ 41 h 70"/>
              <a:gd name="T72" fmla="*/ 10 w 86"/>
              <a:gd name="T73" fmla="*/ 37 h 70"/>
              <a:gd name="T74" fmla="*/ 34 w 86"/>
              <a:gd name="T75" fmla="*/ 32 h 70"/>
              <a:gd name="T76" fmla="*/ 22 w 86"/>
              <a:gd name="T77" fmla="*/ 25 h 70"/>
              <a:gd name="T78" fmla="*/ 34 w 86"/>
              <a:gd name="T79" fmla="*/ 27 h 70"/>
              <a:gd name="T80" fmla="*/ 22 w 86"/>
              <a:gd name="T81" fmla="*/ 25 h 70"/>
              <a:gd name="T82" fmla="*/ 22 w 86"/>
              <a:gd name="T83" fmla="*/ 21 h 70"/>
              <a:gd name="T84" fmla="*/ 34 w 86"/>
              <a:gd name="T85" fmla="*/ 18 h 70"/>
              <a:gd name="T86" fmla="*/ 22 w 86"/>
              <a:gd name="T87" fmla="*/ 14 h 70"/>
              <a:gd name="T88" fmla="*/ 34 w 86"/>
              <a:gd name="T89" fmla="*/ 15 h 70"/>
              <a:gd name="T90" fmla="*/ 22 w 86"/>
              <a:gd name="T91" fmla="*/ 14 h 70"/>
              <a:gd name="T92" fmla="*/ 9 w 86"/>
              <a:gd name="T93" fmla="*/ 31 h 70"/>
              <a:gd name="T94" fmla="*/ 19 w 86"/>
              <a:gd name="T95" fmla="*/ 13 h 70"/>
              <a:gd name="T96" fmla="*/ 21 w 86"/>
              <a:gd name="T97" fmla="*/ 8 h 70"/>
              <a:gd name="T98" fmla="*/ 5 w 86"/>
              <a:gd name="T99" fmla="*/ 56 h 70"/>
              <a:gd name="T100" fmla="*/ 37 w 86"/>
              <a:gd name="T101" fmla="*/ 54 h 70"/>
              <a:gd name="T102" fmla="*/ 21 w 86"/>
              <a:gd name="T103" fmla="*/ 8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86" h="70">
                <a:moveTo>
                  <a:pt x="3" y="3"/>
                </a:moveTo>
                <a:cubicBezTo>
                  <a:pt x="8" y="4"/>
                  <a:pt x="14" y="3"/>
                  <a:pt x="20" y="2"/>
                </a:cubicBezTo>
                <a:cubicBezTo>
                  <a:pt x="28" y="1"/>
                  <a:pt x="35" y="0"/>
                  <a:pt x="40" y="3"/>
                </a:cubicBezTo>
                <a:cubicBezTo>
                  <a:pt x="45" y="0"/>
                  <a:pt x="52" y="1"/>
                  <a:pt x="60" y="2"/>
                </a:cubicBezTo>
                <a:cubicBezTo>
                  <a:pt x="65" y="3"/>
                  <a:pt x="72" y="4"/>
                  <a:pt x="77" y="3"/>
                </a:cubicBezTo>
                <a:cubicBezTo>
                  <a:pt x="80" y="6"/>
                  <a:pt x="80" y="6"/>
                  <a:pt x="80" y="6"/>
                </a:cubicBezTo>
                <a:cubicBezTo>
                  <a:pt x="80" y="30"/>
                  <a:pt x="80" y="30"/>
                  <a:pt x="80" y="30"/>
                </a:cubicBezTo>
                <a:cubicBezTo>
                  <a:pt x="78" y="28"/>
                  <a:pt x="76" y="27"/>
                  <a:pt x="74" y="26"/>
                </a:cubicBezTo>
                <a:cubicBezTo>
                  <a:pt x="74" y="9"/>
                  <a:pt x="74" y="9"/>
                  <a:pt x="74" y="9"/>
                </a:cubicBezTo>
                <a:cubicBezTo>
                  <a:pt x="69" y="9"/>
                  <a:pt x="64" y="8"/>
                  <a:pt x="59" y="8"/>
                </a:cubicBezTo>
                <a:cubicBezTo>
                  <a:pt x="52" y="7"/>
                  <a:pt x="46" y="6"/>
                  <a:pt x="43" y="8"/>
                </a:cubicBezTo>
                <a:cubicBezTo>
                  <a:pt x="43" y="54"/>
                  <a:pt x="43" y="54"/>
                  <a:pt x="43" y="54"/>
                </a:cubicBezTo>
                <a:cubicBezTo>
                  <a:pt x="44" y="54"/>
                  <a:pt x="45" y="54"/>
                  <a:pt x="47" y="54"/>
                </a:cubicBezTo>
                <a:cubicBezTo>
                  <a:pt x="47" y="55"/>
                  <a:pt x="48" y="56"/>
                  <a:pt x="49" y="58"/>
                </a:cubicBezTo>
                <a:cubicBezTo>
                  <a:pt x="50" y="58"/>
                  <a:pt x="50" y="59"/>
                  <a:pt x="51" y="59"/>
                </a:cubicBezTo>
                <a:cubicBezTo>
                  <a:pt x="50" y="59"/>
                  <a:pt x="50" y="59"/>
                  <a:pt x="50" y="59"/>
                </a:cubicBezTo>
                <a:cubicBezTo>
                  <a:pt x="46" y="59"/>
                  <a:pt x="43" y="59"/>
                  <a:pt x="41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38" y="60"/>
                  <a:pt x="38" y="60"/>
                  <a:pt x="38" y="60"/>
                </a:cubicBezTo>
                <a:cubicBezTo>
                  <a:pt x="36" y="59"/>
                  <a:pt x="29" y="59"/>
                  <a:pt x="22" y="60"/>
                </a:cubicBezTo>
                <a:cubicBezTo>
                  <a:pt x="15" y="61"/>
                  <a:pt x="8" y="62"/>
                  <a:pt x="2" y="61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"/>
                  <a:pt x="0" y="6"/>
                  <a:pt x="0" y="6"/>
                </a:cubicBezTo>
                <a:cubicBezTo>
                  <a:pt x="3" y="3"/>
                  <a:pt x="3" y="3"/>
                  <a:pt x="3" y="3"/>
                </a:cubicBezTo>
                <a:close/>
                <a:moveTo>
                  <a:pt x="67" y="35"/>
                </a:moveTo>
                <a:cubicBezTo>
                  <a:pt x="64" y="34"/>
                  <a:pt x="61" y="35"/>
                  <a:pt x="59" y="37"/>
                </a:cubicBezTo>
                <a:cubicBezTo>
                  <a:pt x="57" y="39"/>
                  <a:pt x="56" y="41"/>
                  <a:pt x="55" y="44"/>
                </a:cubicBezTo>
                <a:cubicBezTo>
                  <a:pt x="55" y="46"/>
                  <a:pt x="56" y="49"/>
                  <a:pt x="57" y="51"/>
                </a:cubicBezTo>
                <a:cubicBezTo>
                  <a:pt x="59" y="54"/>
                  <a:pt x="62" y="55"/>
                  <a:pt x="64" y="55"/>
                </a:cubicBezTo>
                <a:cubicBezTo>
                  <a:pt x="67" y="56"/>
                  <a:pt x="70" y="55"/>
                  <a:pt x="72" y="53"/>
                </a:cubicBezTo>
                <a:cubicBezTo>
                  <a:pt x="74" y="51"/>
                  <a:pt x="76" y="49"/>
                  <a:pt x="76" y="46"/>
                </a:cubicBezTo>
                <a:cubicBezTo>
                  <a:pt x="76" y="44"/>
                  <a:pt x="75" y="41"/>
                  <a:pt x="74" y="39"/>
                </a:cubicBezTo>
                <a:cubicBezTo>
                  <a:pt x="72" y="36"/>
                  <a:pt x="69" y="35"/>
                  <a:pt x="67" y="35"/>
                </a:cubicBezTo>
                <a:close/>
                <a:moveTo>
                  <a:pt x="56" y="33"/>
                </a:moveTo>
                <a:cubicBezTo>
                  <a:pt x="52" y="35"/>
                  <a:pt x="50" y="39"/>
                  <a:pt x="50" y="43"/>
                </a:cubicBezTo>
                <a:cubicBezTo>
                  <a:pt x="50" y="47"/>
                  <a:pt x="51" y="51"/>
                  <a:pt x="53" y="55"/>
                </a:cubicBezTo>
                <a:cubicBezTo>
                  <a:pt x="56" y="58"/>
                  <a:pt x="60" y="60"/>
                  <a:pt x="64" y="60"/>
                </a:cubicBezTo>
                <a:cubicBezTo>
                  <a:pt x="67" y="61"/>
                  <a:pt x="70" y="60"/>
                  <a:pt x="73" y="59"/>
                </a:cubicBezTo>
                <a:cubicBezTo>
                  <a:pt x="73" y="60"/>
                  <a:pt x="73" y="61"/>
                  <a:pt x="74" y="61"/>
                </a:cubicBezTo>
                <a:cubicBezTo>
                  <a:pt x="79" y="68"/>
                  <a:pt x="79" y="68"/>
                  <a:pt x="79" y="68"/>
                </a:cubicBezTo>
                <a:cubicBezTo>
                  <a:pt x="80" y="70"/>
                  <a:pt x="83" y="70"/>
                  <a:pt x="84" y="69"/>
                </a:cubicBezTo>
                <a:cubicBezTo>
                  <a:pt x="84" y="69"/>
                  <a:pt x="84" y="69"/>
                  <a:pt x="84" y="69"/>
                </a:cubicBezTo>
                <a:cubicBezTo>
                  <a:pt x="86" y="67"/>
                  <a:pt x="86" y="65"/>
                  <a:pt x="85" y="63"/>
                </a:cubicBezTo>
                <a:cubicBezTo>
                  <a:pt x="80" y="57"/>
                  <a:pt x="80" y="57"/>
                  <a:pt x="80" y="57"/>
                </a:cubicBezTo>
                <a:cubicBezTo>
                  <a:pt x="79" y="56"/>
                  <a:pt x="78" y="55"/>
                  <a:pt x="77" y="55"/>
                </a:cubicBezTo>
                <a:cubicBezTo>
                  <a:pt x="79" y="53"/>
                  <a:pt x="81" y="50"/>
                  <a:pt x="81" y="47"/>
                </a:cubicBezTo>
                <a:cubicBezTo>
                  <a:pt x="82" y="43"/>
                  <a:pt x="81" y="39"/>
                  <a:pt x="78" y="35"/>
                </a:cubicBezTo>
                <a:cubicBezTo>
                  <a:pt x="75" y="32"/>
                  <a:pt x="71" y="30"/>
                  <a:pt x="67" y="29"/>
                </a:cubicBezTo>
                <a:cubicBezTo>
                  <a:pt x="63" y="29"/>
                  <a:pt x="59" y="30"/>
                  <a:pt x="56" y="33"/>
                </a:cubicBezTo>
                <a:close/>
                <a:moveTo>
                  <a:pt x="58" y="46"/>
                </a:moveTo>
                <a:cubicBezTo>
                  <a:pt x="60" y="41"/>
                  <a:pt x="64" y="39"/>
                  <a:pt x="70" y="38"/>
                </a:cubicBezTo>
                <a:cubicBezTo>
                  <a:pt x="64" y="34"/>
                  <a:pt x="57" y="40"/>
                  <a:pt x="58" y="46"/>
                </a:cubicBezTo>
                <a:close/>
                <a:moveTo>
                  <a:pt x="71" y="21"/>
                </a:moveTo>
                <a:cubicBezTo>
                  <a:pt x="65" y="21"/>
                  <a:pt x="51" y="19"/>
                  <a:pt x="47" y="19"/>
                </a:cubicBezTo>
                <a:cubicBezTo>
                  <a:pt x="47" y="20"/>
                  <a:pt x="47" y="21"/>
                  <a:pt x="47" y="21"/>
                </a:cubicBezTo>
                <a:cubicBezTo>
                  <a:pt x="51" y="21"/>
                  <a:pt x="67" y="24"/>
                  <a:pt x="71" y="24"/>
                </a:cubicBezTo>
                <a:cubicBezTo>
                  <a:pt x="71" y="23"/>
                  <a:pt x="71" y="22"/>
                  <a:pt x="71" y="21"/>
                </a:cubicBezTo>
                <a:close/>
                <a:moveTo>
                  <a:pt x="71" y="15"/>
                </a:moveTo>
                <a:cubicBezTo>
                  <a:pt x="65" y="15"/>
                  <a:pt x="51" y="12"/>
                  <a:pt x="47" y="12"/>
                </a:cubicBezTo>
                <a:cubicBezTo>
                  <a:pt x="47" y="13"/>
                  <a:pt x="47" y="14"/>
                  <a:pt x="47" y="14"/>
                </a:cubicBezTo>
                <a:cubicBezTo>
                  <a:pt x="51" y="14"/>
                  <a:pt x="67" y="17"/>
                  <a:pt x="71" y="17"/>
                </a:cubicBezTo>
                <a:cubicBezTo>
                  <a:pt x="71" y="16"/>
                  <a:pt x="71" y="15"/>
                  <a:pt x="71" y="15"/>
                </a:cubicBezTo>
                <a:close/>
                <a:moveTo>
                  <a:pt x="10" y="49"/>
                </a:moveTo>
                <a:cubicBezTo>
                  <a:pt x="10" y="49"/>
                  <a:pt x="10" y="50"/>
                  <a:pt x="10" y="51"/>
                </a:cubicBezTo>
                <a:cubicBezTo>
                  <a:pt x="14" y="51"/>
                  <a:pt x="29" y="48"/>
                  <a:pt x="34" y="48"/>
                </a:cubicBezTo>
                <a:cubicBezTo>
                  <a:pt x="34" y="48"/>
                  <a:pt x="34" y="47"/>
                  <a:pt x="34" y="46"/>
                </a:cubicBezTo>
                <a:cubicBezTo>
                  <a:pt x="30" y="46"/>
                  <a:pt x="15" y="49"/>
                  <a:pt x="10" y="49"/>
                </a:cubicBezTo>
                <a:close/>
                <a:moveTo>
                  <a:pt x="10" y="41"/>
                </a:moveTo>
                <a:cubicBezTo>
                  <a:pt x="10" y="42"/>
                  <a:pt x="10" y="43"/>
                  <a:pt x="10" y="43"/>
                </a:cubicBezTo>
                <a:cubicBezTo>
                  <a:pt x="14" y="44"/>
                  <a:pt x="29" y="41"/>
                  <a:pt x="34" y="41"/>
                </a:cubicBezTo>
                <a:cubicBezTo>
                  <a:pt x="34" y="40"/>
                  <a:pt x="34" y="40"/>
                  <a:pt x="34" y="39"/>
                </a:cubicBezTo>
                <a:cubicBezTo>
                  <a:pt x="30" y="39"/>
                  <a:pt x="15" y="41"/>
                  <a:pt x="10" y="41"/>
                </a:cubicBezTo>
                <a:close/>
                <a:moveTo>
                  <a:pt x="10" y="34"/>
                </a:moveTo>
                <a:cubicBezTo>
                  <a:pt x="10" y="35"/>
                  <a:pt x="10" y="36"/>
                  <a:pt x="10" y="37"/>
                </a:cubicBezTo>
                <a:cubicBezTo>
                  <a:pt x="14" y="37"/>
                  <a:pt x="29" y="34"/>
                  <a:pt x="34" y="34"/>
                </a:cubicBezTo>
                <a:cubicBezTo>
                  <a:pt x="34" y="33"/>
                  <a:pt x="34" y="33"/>
                  <a:pt x="34" y="32"/>
                </a:cubicBezTo>
                <a:cubicBezTo>
                  <a:pt x="30" y="32"/>
                  <a:pt x="15" y="34"/>
                  <a:pt x="10" y="34"/>
                </a:cubicBezTo>
                <a:close/>
                <a:moveTo>
                  <a:pt x="22" y="25"/>
                </a:moveTo>
                <a:cubicBezTo>
                  <a:pt x="22" y="26"/>
                  <a:pt x="22" y="27"/>
                  <a:pt x="22" y="28"/>
                </a:cubicBezTo>
                <a:cubicBezTo>
                  <a:pt x="25" y="28"/>
                  <a:pt x="29" y="26"/>
                  <a:pt x="34" y="27"/>
                </a:cubicBezTo>
                <a:cubicBezTo>
                  <a:pt x="34" y="26"/>
                  <a:pt x="34" y="25"/>
                  <a:pt x="34" y="24"/>
                </a:cubicBezTo>
                <a:cubicBezTo>
                  <a:pt x="30" y="24"/>
                  <a:pt x="26" y="25"/>
                  <a:pt x="22" y="25"/>
                </a:cubicBezTo>
                <a:close/>
                <a:moveTo>
                  <a:pt x="22" y="19"/>
                </a:moveTo>
                <a:cubicBezTo>
                  <a:pt x="22" y="20"/>
                  <a:pt x="22" y="21"/>
                  <a:pt x="22" y="21"/>
                </a:cubicBezTo>
                <a:cubicBezTo>
                  <a:pt x="25" y="21"/>
                  <a:pt x="29" y="20"/>
                  <a:pt x="34" y="20"/>
                </a:cubicBezTo>
                <a:cubicBezTo>
                  <a:pt x="34" y="20"/>
                  <a:pt x="34" y="19"/>
                  <a:pt x="34" y="18"/>
                </a:cubicBezTo>
                <a:cubicBezTo>
                  <a:pt x="30" y="18"/>
                  <a:pt x="26" y="19"/>
                  <a:pt x="22" y="19"/>
                </a:cubicBezTo>
                <a:close/>
                <a:moveTo>
                  <a:pt x="22" y="14"/>
                </a:moveTo>
                <a:cubicBezTo>
                  <a:pt x="22" y="15"/>
                  <a:pt x="22" y="15"/>
                  <a:pt x="22" y="16"/>
                </a:cubicBezTo>
                <a:cubicBezTo>
                  <a:pt x="25" y="16"/>
                  <a:pt x="29" y="15"/>
                  <a:pt x="34" y="15"/>
                </a:cubicBezTo>
                <a:cubicBezTo>
                  <a:pt x="34" y="14"/>
                  <a:pt x="34" y="14"/>
                  <a:pt x="34" y="13"/>
                </a:cubicBezTo>
                <a:cubicBezTo>
                  <a:pt x="30" y="13"/>
                  <a:pt x="26" y="13"/>
                  <a:pt x="22" y="14"/>
                </a:cubicBezTo>
                <a:close/>
                <a:moveTo>
                  <a:pt x="9" y="14"/>
                </a:moveTo>
                <a:cubicBezTo>
                  <a:pt x="9" y="31"/>
                  <a:pt x="9" y="31"/>
                  <a:pt x="9" y="31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13"/>
                  <a:pt x="19" y="13"/>
                  <a:pt x="19" y="13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21" y="8"/>
                </a:moveTo>
                <a:cubicBezTo>
                  <a:pt x="16" y="8"/>
                  <a:pt x="10" y="9"/>
                  <a:pt x="5" y="9"/>
                </a:cubicBezTo>
                <a:cubicBezTo>
                  <a:pt x="5" y="56"/>
                  <a:pt x="5" y="56"/>
                  <a:pt x="5" y="56"/>
                </a:cubicBezTo>
                <a:cubicBezTo>
                  <a:pt x="10" y="56"/>
                  <a:pt x="16" y="55"/>
                  <a:pt x="21" y="55"/>
                </a:cubicBezTo>
                <a:cubicBezTo>
                  <a:pt x="27" y="54"/>
                  <a:pt x="33" y="53"/>
                  <a:pt x="37" y="54"/>
                </a:cubicBezTo>
                <a:cubicBezTo>
                  <a:pt x="37" y="8"/>
                  <a:pt x="37" y="8"/>
                  <a:pt x="37" y="8"/>
                </a:cubicBezTo>
                <a:cubicBezTo>
                  <a:pt x="34" y="6"/>
                  <a:pt x="27" y="7"/>
                  <a:pt x="21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文本框 34"/>
          <p:cNvSpPr txBox="1">
            <a:spLocks noChangeArrowheads="1"/>
          </p:cNvSpPr>
          <p:nvPr/>
        </p:nvSpPr>
        <p:spPr bwMode="auto">
          <a:xfrm>
            <a:off x="954088" y="4109562"/>
            <a:ext cx="30734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9pPr>
          </a:lstStyle>
          <a:p>
            <a:pPr algn="ctr"/>
            <a:r>
              <a:rPr lang="zh-CN" altLang="en-US" sz="3200" dirty="0">
                <a:solidFill>
                  <a:schemeClr val="bg1"/>
                </a:solidFill>
              </a:rPr>
              <a:t>简  介</a:t>
            </a: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3813175" y="1499712"/>
            <a:ext cx="1733550" cy="1263650"/>
            <a:chOff x="3856882" y="1805041"/>
            <a:chExt cx="1734682" cy="1262903"/>
          </a:xfrm>
        </p:grpSpPr>
        <p:grpSp>
          <p:nvGrpSpPr>
            <p:cNvPr id="26" name="组合 25"/>
            <p:cNvGrpSpPr>
              <a:grpSpLocks/>
            </p:cNvGrpSpPr>
            <p:nvPr/>
          </p:nvGrpSpPr>
          <p:grpSpPr bwMode="auto">
            <a:xfrm>
              <a:off x="4635110" y="1805041"/>
              <a:ext cx="956454" cy="907419"/>
              <a:chOff x="4635110" y="1805041"/>
              <a:chExt cx="956454" cy="907419"/>
            </a:xfrm>
          </p:grpSpPr>
          <p:sp>
            <p:nvSpPr>
              <p:cNvPr id="28" name="等腰三角形 27"/>
              <p:cNvSpPr>
                <a:spLocks noChangeArrowheads="1"/>
              </p:cNvSpPr>
              <p:nvPr/>
            </p:nvSpPr>
            <p:spPr bwMode="auto">
              <a:xfrm>
                <a:off x="4635110" y="1805041"/>
                <a:ext cx="956454" cy="824528"/>
              </a:xfrm>
              <a:prstGeom prst="triangle">
                <a:avLst>
                  <a:gd name="adj" fmla="val 50000"/>
                </a:avLst>
              </a:prstGeom>
              <a:solidFill>
                <a:srgbClr val="1975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" name="文本框 27"/>
              <p:cNvSpPr txBox="1">
                <a:spLocks noChangeArrowheads="1"/>
              </p:cNvSpPr>
              <p:nvPr/>
            </p:nvSpPr>
            <p:spPr bwMode="auto">
              <a:xfrm>
                <a:off x="4676256" y="2066129"/>
                <a:ext cx="91530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3600">
                    <a:solidFill>
                      <a:schemeClr val="bg1"/>
                    </a:solidFill>
                  </a:rPr>
                  <a:t>01</a:t>
                </a:r>
                <a:endParaRPr lang="zh-CN" altLang="en-US" sz="3600">
                  <a:solidFill>
                    <a:schemeClr val="bg1"/>
                  </a:solidFill>
                  <a:ea typeface="方正粗倩简体" pitchFamily="65" charset="-122"/>
                </a:endParaRPr>
              </a:p>
            </p:txBody>
          </p:sp>
        </p:grpSp>
        <p:sp>
          <p:nvSpPr>
            <p:cNvPr id="27" name="矩形 26"/>
            <p:cNvSpPr/>
            <p:nvPr/>
          </p:nvSpPr>
          <p:spPr>
            <a:xfrm rot="19804025">
              <a:off x="3856882" y="2198508"/>
              <a:ext cx="1580594" cy="8694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/>
              <a:endParaRPr lang="zh-CN" altLang="en-US" noProof="1"/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4235450" y="3215799"/>
            <a:ext cx="1855788" cy="962025"/>
            <a:chOff x="4279404" y="3368896"/>
            <a:chExt cx="1855551" cy="962445"/>
          </a:xfrm>
        </p:grpSpPr>
        <p:grpSp>
          <p:nvGrpSpPr>
            <p:cNvPr id="22" name="组合 21"/>
            <p:cNvGrpSpPr>
              <a:grpSpLocks/>
            </p:cNvGrpSpPr>
            <p:nvPr/>
          </p:nvGrpSpPr>
          <p:grpSpPr bwMode="auto">
            <a:xfrm>
              <a:off x="5103518" y="3368896"/>
              <a:ext cx="1031437" cy="856513"/>
              <a:chOff x="5103518" y="3368896"/>
              <a:chExt cx="1031437" cy="856513"/>
            </a:xfrm>
          </p:grpSpPr>
          <p:sp>
            <p:nvSpPr>
              <p:cNvPr id="24" name="等腰三角形 23"/>
              <p:cNvSpPr>
                <a:spLocks noChangeArrowheads="1"/>
              </p:cNvSpPr>
              <p:nvPr/>
            </p:nvSpPr>
            <p:spPr bwMode="auto">
              <a:xfrm rot="1800000">
                <a:off x="5178501" y="3368896"/>
                <a:ext cx="956454" cy="824528"/>
              </a:xfrm>
              <a:prstGeom prst="triangle">
                <a:avLst>
                  <a:gd name="adj" fmla="val 50000"/>
                </a:avLst>
              </a:prstGeom>
              <a:solidFill>
                <a:srgbClr val="1975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" name="文本框 29"/>
              <p:cNvSpPr txBox="1">
                <a:spLocks noChangeArrowheads="1"/>
              </p:cNvSpPr>
              <p:nvPr/>
            </p:nvSpPr>
            <p:spPr bwMode="auto">
              <a:xfrm>
                <a:off x="5103518" y="3579078"/>
                <a:ext cx="91530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3600">
                    <a:solidFill>
                      <a:schemeClr val="bg1"/>
                    </a:solidFill>
                  </a:rPr>
                  <a:t>02</a:t>
                </a:r>
                <a:endParaRPr lang="zh-CN" altLang="en-US" sz="3600">
                  <a:solidFill>
                    <a:schemeClr val="bg1"/>
                  </a:solidFill>
                  <a:ea typeface="方正粗倩简体" pitchFamily="65" charset="-122"/>
                </a:endParaRPr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4279404" y="3462600"/>
              <a:ext cx="1580948" cy="8687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/>
              <a:endParaRPr lang="zh-CN" altLang="en-US" noProof="1"/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3916995" y="4518184"/>
            <a:ext cx="1763711" cy="1112838"/>
            <a:chOff x="3976330" y="4762614"/>
            <a:chExt cx="1764377" cy="1113179"/>
          </a:xfrm>
        </p:grpSpPr>
        <p:grpSp>
          <p:nvGrpSpPr>
            <p:cNvPr id="18" name="组合 17"/>
            <p:cNvGrpSpPr>
              <a:grpSpLocks/>
            </p:cNvGrpSpPr>
            <p:nvPr/>
          </p:nvGrpSpPr>
          <p:grpSpPr bwMode="auto">
            <a:xfrm>
              <a:off x="4735934" y="4919339"/>
              <a:ext cx="1004773" cy="956454"/>
              <a:chOff x="4735934" y="4919339"/>
              <a:chExt cx="1004773" cy="956454"/>
            </a:xfrm>
          </p:grpSpPr>
          <p:sp>
            <p:nvSpPr>
              <p:cNvPr id="20" name="等腰三角形 19"/>
              <p:cNvSpPr>
                <a:spLocks noChangeArrowheads="1"/>
              </p:cNvSpPr>
              <p:nvPr/>
            </p:nvSpPr>
            <p:spPr bwMode="auto">
              <a:xfrm rot="3600000">
                <a:off x="4850216" y="4985302"/>
                <a:ext cx="956454" cy="824528"/>
              </a:xfrm>
              <a:prstGeom prst="triangle">
                <a:avLst>
                  <a:gd name="adj" fmla="val 50000"/>
                </a:avLst>
              </a:prstGeom>
              <a:solidFill>
                <a:srgbClr val="1975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" name="文本框 28"/>
              <p:cNvSpPr txBox="1">
                <a:spLocks noChangeArrowheads="1"/>
              </p:cNvSpPr>
              <p:nvPr/>
            </p:nvSpPr>
            <p:spPr bwMode="auto">
              <a:xfrm>
                <a:off x="4735934" y="5120141"/>
                <a:ext cx="91530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3600">
                    <a:solidFill>
                      <a:schemeClr val="bg1"/>
                    </a:solidFill>
                  </a:rPr>
                  <a:t>03</a:t>
                </a:r>
                <a:endParaRPr lang="zh-CN" altLang="en-US" sz="3600">
                  <a:solidFill>
                    <a:schemeClr val="bg1"/>
                  </a:solidFill>
                  <a:ea typeface="方正粗倩简体" pitchFamily="65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 rot="1795975" flipH="1">
              <a:off x="3976330" y="4762614"/>
              <a:ext cx="1581746" cy="8702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/>
              <a:endParaRPr lang="zh-CN" altLang="en-US" noProof="1"/>
            </a:p>
          </p:txBody>
        </p:sp>
      </p:grpSp>
      <p:sp>
        <p:nvSpPr>
          <p:cNvPr id="30" name="AutoShape 10"/>
          <p:cNvSpPr>
            <a:spLocks noChangeArrowheads="1"/>
          </p:cNvSpPr>
          <p:nvPr/>
        </p:nvSpPr>
        <p:spPr bwMode="auto">
          <a:xfrm>
            <a:off x="3701477" y="785773"/>
            <a:ext cx="8140002" cy="413306"/>
          </a:xfrm>
          <a:prstGeom prst="wedgeRectCallout">
            <a:avLst>
              <a:gd name="adj1" fmla="val 15382"/>
              <a:gd name="adj2" fmla="val 95935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kern="0" dirty="0">
                <a:solidFill>
                  <a:schemeClr val="accent2"/>
                </a:solidFill>
              </a:rPr>
              <a:t>松弛度</a:t>
            </a:r>
            <a:r>
              <a:rPr lang="zh-CN" altLang="en-US" kern="0" dirty="0"/>
              <a:t> </a:t>
            </a:r>
            <a:r>
              <a:rPr lang="en-US" altLang="zh-CN" kern="0" dirty="0"/>
              <a:t>= </a:t>
            </a:r>
            <a:r>
              <a:rPr lang="zh-CN" altLang="en-US" kern="0" dirty="0"/>
              <a:t>必须完成的时间 </a:t>
            </a:r>
            <a:r>
              <a:rPr lang="en-US" altLang="zh-CN" kern="0" dirty="0"/>
              <a:t>– </a:t>
            </a:r>
            <a:r>
              <a:rPr lang="en-US" altLang="zh-CN" kern="0" dirty="0" err="1"/>
              <a:t>其本身</a:t>
            </a:r>
            <a:r>
              <a:rPr lang="zh-CN" altLang="en-US" kern="0" dirty="0"/>
              <a:t>的运行时间 </a:t>
            </a:r>
            <a:r>
              <a:rPr lang="en-US" altLang="zh-CN" kern="0" dirty="0"/>
              <a:t>- </a:t>
            </a:r>
            <a:r>
              <a:rPr lang="zh-CN" altLang="en-US" kern="0" dirty="0"/>
              <a:t>当前时间</a:t>
            </a:r>
          </a:p>
          <a:p>
            <a:pPr eaLnBrk="1" hangingPunct="1"/>
            <a:endParaRPr lang="en-US" altLang="zh-CN" sz="1800" b="0" dirty="0">
              <a:latin typeface="Tahoma" pitchFamily="34" charset="0"/>
            </a:endParaRPr>
          </a:p>
          <a:p>
            <a:pPr eaLnBrk="1" hangingPunct="1"/>
            <a:endParaRPr lang="en-US" altLang="zh-CN" sz="1800" b="0" dirty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64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30" grpId="0" animBg="1"/>
      <p:bldP spid="3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48832" y="202028"/>
            <a:ext cx="5567207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最低松弛度优先（</a:t>
            </a:r>
            <a:r>
              <a:rPr lang="en-US" altLang="zh-CN" dirty="0"/>
              <a:t>LLF</a:t>
            </a:r>
            <a:r>
              <a:rPr lang="zh-CN" altLang="en-US" dirty="0"/>
              <a:t>）算法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78290" y="1120021"/>
            <a:ext cx="6377004" cy="665162"/>
            <a:chOff x="978290" y="1120021"/>
            <a:chExt cx="6377004" cy="665162"/>
          </a:xfrm>
        </p:grpSpPr>
        <p:sp>
          <p:nvSpPr>
            <p:cNvPr id="5" name="矩形 4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9"/>
          <p:cNvSpPr txBox="1">
            <a:spLocks noChangeArrowheads="1"/>
          </p:cNvSpPr>
          <p:nvPr/>
        </p:nvSpPr>
        <p:spPr bwMode="auto">
          <a:xfrm>
            <a:off x="1091855" y="1892926"/>
            <a:ext cx="1029179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若</a:t>
            </a:r>
            <a:r>
              <a:rPr lang="en-US" altLang="zh-CN" sz="2400" dirty="0"/>
              <a:t>A</a:t>
            </a:r>
            <a:r>
              <a:rPr lang="zh-CN" altLang="en-US" sz="2400" dirty="0"/>
              <a:t>进程需在</a:t>
            </a:r>
            <a:r>
              <a:rPr lang="en-US" altLang="zh-CN" sz="2400" dirty="0"/>
              <a:t>200ms</a:t>
            </a:r>
            <a:r>
              <a:rPr lang="zh-CN" altLang="en-US" sz="2400" dirty="0"/>
              <a:t>时完成，其本身运行需要</a:t>
            </a:r>
            <a:r>
              <a:rPr lang="en-US" altLang="zh-CN" sz="2400" dirty="0"/>
              <a:t>100ms</a:t>
            </a:r>
            <a:r>
              <a:rPr lang="zh-CN" altLang="en-US" sz="2400" dirty="0"/>
              <a:t>，当前时刻是</a:t>
            </a:r>
            <a:r>
              <a:rPr lang="en-US" altLang="zh-CN" sz="2400" dirty="0"/>
              <a:t>10ms</a:t>
            </a:r>
            <a:r>
              <a:rPr lang="zh-CN" altLang="en-US" sz="2400" dirty="0"/>
              <a:t>，则</a:t>
            </a:r>
            <a:r>
              <a:rPr lang="en-US" altLang="zh-CN" sz="2400" dirty="0"/>
              <a:t>A</a:t>
            </a:r>
            <a:r>
              <a:rPr lang="zh-CN" altLang="en-US" sz="2400" dirty="0"/>
              <a:t>的松弛度是多少？</a:t>
            </a:r>
            <a:endParaRPr lang="en-US" altLang="zh-CN" sz="2400" dirty="0"/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314841" y="2746375"/>
            <a:ext cx="4940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en-US" altLang="zh-CN" dirty="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zh-CN" altLang="en-US" dirty="0">
                <a:solidFill>
                  <a:schemeClr val="tx1"/>
                </a:solidFill>
                <a:latin typeface="Times New Roman" pitchFamily="18" charset="0"/>
              </a:rPr>
              <a:t>的松弛度 </a:t>
            </a:r>
            <a:r>
              <a:rPr kumimoji="1" lang="en-US" altLang="zh-CN" dirty="0">
                <a:solidFill>
                  <a:schemeClr val="tx1"/>
                </a:solidFill>
                <a:latin typeface="Times New Roman" pitchFamily="18" charset="0"/>
              </a:rPr>
              <a:t>= 200</a:t>
            </a:r>
            <a:r>
              <a:rPr kumimoji="1" lang="zh-CN" altLang="en-US" dirty="0">
                <a:solidFill>
                  <a:schemeClr val="tx1"/>
                </a:solidFill>
                <a:latin typeface="Times New Roman" pitchFamily="18" charset="0"/>
              </a:rPr>
              <a:t>－</a:t>
            </a:r>
            <a:r>
              <a:rPr kumimoji="1" lang="en-US" altLang="zh-CN" dirty="0">
                <a:solidFill>
                  <a:schemeClr val="tx1"/>
                </a:solidFill>
                <a:latin typeface="Times New Roman" pitchFamily="18" charset="0"/>
              </a:rPr>
              <a:t>100</a:t>
            </a:r>
            <a:r>
              <a:rPr kumimoji="1" lang="zh-CN" altLang="en-US" dirty="0">
                <a:solidFill>
                  <a:schemeClr val="tx1"/>
                </a:solidFill>
                <a:latin typeface="Times New Roman" pitchFamily="18" charset="0"/>
              </a:rPr>
              <a:t>－</a:t>
            </a:r>
            <a:r>
              <a:rPr kumimoji="1" lang="en-US" altLang="zh-CN" dirty="0">
                <a:solidFill>
                  <a:schemeClr val="tx1"/>
                </a:solidFill>
                <a:latin typeface="Times New Roman" pitchFamily="18" charset="0"/>
              </a:rPr>
              <a:t>10 </a:t>
            </a:r>
            <a:r>
              <a:rPr kumimoji="1" lang="zh-CN" altLang="en-US" dirty="0">
                <a:solidFill>
                  <a:schemeClr val="tx1"/>
                </a:solidFill>
                <a:latin typeface="Times New Roman" pitchFamily="18" charset="0"/>
              </a:rPr>
              <a:t>＝ </a:t>
            </a:r>
            <a:r>
              <a:rPr kumimoji="1" lang="en-US" altLang="zh-CN" dirty="0">
                <a:solidFill>
                  <a:schemeClr val="tx1"/>
                </a:solidFill>
                <a:latin typeface="Times New Roman" pitchFamily="18" charset="0"/>
              </a:rPr>
              <a:t>90ms</a:t>
            </a:r>
          </a:p>
        </p:txBody>
      </p:sp>
    </p:spTree>
    <p:extLst>
      <p:ext uri="{BB962C8B-B14F-4D97-AF65-F5344CB8AC3E}">
        <p14:creationId xmlns:p14="http://schemas.microsoft.com/office/powerpoint/2010/main" val="240874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48832" y="202028"/>
            <a:ext cx="5567207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最低松弛度优先（</a:t>
            </a:r>
            <a:r>
              <a:rPr lang="en-US" altLang="zh-CN" dirty="0"/>
              <a:t>LLF</a:t>
            </a:r>
            <a:r>
              <a:rPr lang="zh-CN" altLang="en-US" dirty="0"/>
              <a:t>）算法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78290" y="1120021"/>
            <a:ext cx="6377004" cy="665162"/>
            <a:chOff x="978290" y="1120021"/>
            <a:chExt cx="6377004" cy="665162"/>
          </a:xfrm>
        </p:grpSpPr>
        <p:sp>
          <p:nvSpPr>
            <p:cNvPr id="5" name="矩形 4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19"/>
          <p:cNvSpPr txBox="1">
            <a:spLocks noChangeArrowheads="1"/>
          </p:cNvSpPr>
          <p:nvPr/>
        </p:nvSpPr>
        <p:spPr bwMode="auto">
          <a:xfrm>
            <a:off x="1124340" y="1919190"/>
            <a:ext cx="1045805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假如在一个实时系统中，有两个周期性实时任务</a:t>
            </a:r>
            <a:r>
              <a:rPr lang="en-US" altLang="zh-CN" sz="2400" dirty="0"/>
              <a:t>A</a:t>
            </a:r>
            <a:r>
              <a:rPr lang="zh-CN" altLang="en-US" sz="2400" dirty="0"/>
              <a:t>和</a:t>
            </a:r>
            <a:r>
              <a:rPr lang="en-US" altLang="zh-CN" sz="2400" dirty="0"/>
              <a:t>B</a:t>
            </a:r>
            <a:r>
              <a:rPr lang="zh-CN" altLang="en-US" sz="2400" dirty="0"/>
              <a:t>，任务</a:t>
            </a:r>
            <a:r>
              <a:rPr lang="en-US" altLang="zh-CN" sz="2400" dirty="0"/>
              <a:t>A</a:t>
            </a:r>
            <a:r>
              <a:rPr lang="zh-CN" altLang="en-US" sz="2400" dirty="0"/>
              <a:t>要求每 </a:t>
            </a:r>
            <a:r>
              <a:rPr lang="en-US" altLang="zh-CN" sz="2400" dirty="0"/>
              <a:t>20 </a:t>
            </a:r>
            <a:r>
              <a:rPr lang="en-US" altLang="zh-CN" sz="2400" dirty="0" err="1"/>
              <a:t>ms</a:t>
            </a:r>
            <a:r>
              <a:rPr lang="zh-CN" altLang="en-US" sz="2400" dirty="0"/>
              <a:t>执行一次，执行时间为 </a:t>
            </a:r>
            <a:r>
              <a:rPr lang="en-US" altLang="zh-CN" sz="2400" dirty="0"/>
              <a:t>10 </a:t>
            </a:r>
            <a:r>
              <a:rPr lang="en-US" altLang="zh-CN" sz="2400" dirty="0" err="1"/>
              <a:t>ms</a:t>
            </a:r>
            <a:r>
              <a:rPr lang="zh-CN" altLang="en-US" sz="2400" dirty="0"/>
              <a:t>；任务</a:t>
            </a:r>
            <a:r>
              <a:rPr lang="en-US" altLang="zh-CN" sz="2400" dirty="0"/>
              <a:t>B</a:t>
            </a:r>
            <a:r>
              <a:rPr lang="zh-CN" altLang="en-US" sz="2400" dirty="0"/>
              <a:t>只要求每</a:t>
            </a:r>
            <a:r>
              <a:rPr lang="en-US" altLang="zh-CN" sz="2400" dirty="0"/>
              <a:t>50 </a:t>
            </a:r>
            <a:r>
              <a:rPr lang="en-US" altLang="zh-CN" sz="2400" dirty="0" err="1"/>
              <a:t>ms</a:t>
            </a:r>
            <a:r>
              <a:rPr lang="zh-CN" altLang="en-US" sz="2400" dirty="0"/>
              <a:t>执行一次，执行时间为 </a:t>
            </a:r>
            <a:r>
              <a:rPr lang="en-US" altLang="zh-CN" sz="2400" dirty="0"/>
              <a:t>25 </a:t>
            </a:r>
            <a:r>
              <a:rPr lang="en-US" altLang="zh-CN" sz="2400" dirty="0" err="1"/>
              <a:t>ms</a:t>
            </a:r>
            <a:r>
              <a:rPr lang="zh-CN" altLang="en-US" sz="2400" dirty="0"/>
              <a:t>。</a:t>
            </a:r>
          </a:p>
        </p:txBody>
      </p:sp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317241"/>
              </p:ext>
            </p:extLst>
          </p:nvPr>
        </p:nvGraphicFramePr>
        <p:xfrm>
          <a:off x="1312088" y="3934619"/>
          <a:ext cx="9144000" cy="247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49112" imgH="933743" progId="Visio.Drawing.11">
                  <p:embed/>
                </p:oleObj>
              </mc:Choice>
              <mc:Fallback>
                <p:oleObj name="Visio" r:id="rId3" imgW="3449112" imgH="93374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088" y="3934619"/>
                        <a:ext cx="9144000" cy="247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1"/>
          <p:cNvGrpSpPr>
            <a:grpSpLocks/>
          </p:cNvGrpSpPr>
          <p:nvPr/>
        </p:nvGrpSpPr>
        <p:grpSpPr bwMode="auto">
          <a:xfrm>
            <a:off x="2186801" y="3456781"/>
            <a:ext cx="1646237" cy="576263"/>
            <a:chOff x="573" y="1842"/>
            <a:chExt cx="1037" cy="363"/>
          </a:xfrm>
        </p:grpSpPr>
        <p:sp>
          <p:nvSpPr>
            <p:cNvPr id="17" name="AutoShape 7"/>
            <p:cNvSpPr>
              <a:spLocks/>
            </p:cNvSpPr>
            <p:nvPr/>
          </p:nvSpPr>
          <p:spPr bwMode="auto">
            <a:xfrm rot="5400000">
              <a:off x="1006" y="1820"/>
              <a:ext cx="181" cy="590"/>
            </a:xfrm>
            <a:prstGeom prst="leftBrace">
              <a:avLst>
                <a:gd name="adj1" fmla="val 2716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573" y="1842"/>
              <a:ext cx="103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zh-CN" altLang="en-US" sz="2000" b="1">
                  <a:solidFill>
                    <a:schemeClr val="tx1"/>
                  </a:solidFill>
                  <a:latin typeface="Times New Roman" pitchFamily="18" charset="0"/>
                </a:rPr>
                <a:t>的一个周期</a:t>
              </a:r>
            </a:p>
          </p:txBody>
        </p:sp>
      </p:grpSp>
      <p:grpSp>
        <p:nvGrpSpPr>
          <p:cNvPr id="19" name="Group 12"/>
          <p:cNvGrpSpPr>
            <a:grpSpLocks/>
          </p:cNvGrpSpPr>
          <p:nvPr/>
        </p:nvGrpSpPr>
        <p:grpSpPr bwMode="auto">
          <a:xfrm>
            <a:off x="3977501" y="3420269"/>
            <a:ext cx="2376487" cy="612775"/>
            <a:chOff x="1701" y="1819"/>
            <a:chExt cx="1497" cy="386"/>
          </a:xfrm>
        </p:grpSpPr>
        <p:sp>
          <p:nvSpPr>
            <p:cNvPr id="20" name="AutoShape 9"/>
            <p:cNvSpPr>
              <a:spLocks/>
            </p:cNvSpPr>
            <p:nvPr/>
          </p:nvSpPr>
          <p:spPr bwMode="auto">
            <a:xfrm rot="5400000">
              <a:off x="2359" y="1366"/>
              <a:ext cx="181" cy="1497"/>
            </a:xfrm>
            <a:prstGeom prst="leftBrace">
              <a:avLst>
                <a:gd name="adj1" fmla="val 6892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1943" y="1819"/>
              <a:ext cx="10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  <a:r>
                <a:rPr kumimoji="1" lang="zh-CN" altLang="en-US" sz="2000" b="1">
                  <a:solidFill>
                    <a:schemeClr val="tx1"/>
                  </a:solidFill>
                  <a:latin typeface="Times New Roman" pitchFamily="18" charset="0"/>
                </a:rPr>
                <a:t>的一个周期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40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48832" y="202028"/>
            <a:ext cx="5567207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最低松弛度优先（</a:t>
            </a:r>
            <a:r>
              <a:rPr lang="en-US" altLang="zh-CN" dirty="0"/>
              <a:t>LLF</a:t>
            </a:r>
            <a:r>
              <a:rPr lang="zh-CN" altLang="en-US" dirty="0"/>
              <a:t>）算法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78290" y="1120021"/>
            <a:ext cx="6377004" cy="665162"/>
            <a:chOff x="978290" y="1120021"/>
            <a:chExt cx="6377004" cy="665162"/>
          </a:xfrm>
        </p:grpSpPr>
        <p:sp>
          <p:nvSpPr>
            <p:cNvPr id="5" name="矩形 4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Group 128"/>
          <p:cNvGrpSpPr>
            <a:grpSpLocks/>
          </p:cNvGrpSpPr>
          <p:nvPr/>
        </p:nvGrpSpPr>
        <p:grpSpPr bwMode="auto">
          <a:xfrm>
            <a:off x="4833461" y="1273855"/>
            <a:ext cx="6610350" cy="792162"/>
            <a:chOff x="1429" y="346"/>
            <a:chExt cx="4164" cy="499"/>
          </a:xfrm>
        </p:grpSpPr>
        <p:sp>
          <p:nvSpPr>
            <p:cNvPr id="23" name="Line 6"/>
            <p:cNvSpPr>
              <a:spLocks noChangeShapeType="1"/>
            </p:cNvSpPr>
            <p:nvPr/>
          </p:nvSpPr>
          <p:spPr bwMode="auto">
            <a:xfrm>
              <a:off x="1528" y="845"/>
              <a:ext cx="40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18"/>
            <p:cNvSpPr txBox="1">
              <a:spLocks noChangeArrowheads="1"/>
            </p:cNvSpPr>
            <p:nvPr/>
          </p:nvSpPr>
          <p:spPr bwMode="auto">
            <a:xfrm>
              <a:off x="1429" y="346"/>
              <a:ext cx="2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5" name="Text Box 19"/>
            <p:cNvSpPr txBox="1">
              <a:spLocks noChangeArrowheads="1"/>
            </p:cNvSpPr>
            <p:nvPr/>
          </p:nvSpPr>
          <p:spPr bwMode="auto">
            <a:xfrm>
              <a:off x="2970" y="34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50</a:t>
              </a:r>
            </a:p>
          </p:txBody>
        </p:sp>
        <p:sp>
          <p:nvSpPr>
            <p:cNvPr id="26" name="Text Box 20"/>
            <p:cNvSpPr txBox="1">
              <a:spLocks noChangeArrowheads="1"/>
            </p:cNvSpPr>
            <p:nvPr/>
          </p:nvSpPr>
          <p:spPr bwMode="auto">
            <a:xfrm>
              <a:off x="4495" y="346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100</a:t>
              </a:r>
            </a:p>
          </p:txBody>
        </p:sp>
        <p:sp>
          <p:nvSpPr>
            <p:cNvPr id="27" name="Text Box 32"/>
            <p:cNvSpPr txBox="1">
              <a:spLocks noChangeArrowheads="1"/>
            </p:cNvSpPr>
            <p:nvPr/>
          </p:nvSpPr>
          <p:spPr bwMode="auto">
            <a:xfrm>
              <a:off x="5139" y="346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120</a:t>
              </a:r>
            </a:p>
          </p:txBody>
        </p:sp>
        <p:sp>
          <p:nvSpPr>
            <p:cNvPr id="28" name="Text Box 83"/>
            <p:cNvSpPr txBox="1">
              <a:spLocks noChangeArrowheads="1"/>
            </p:cNvSpPr>
            <p:nvPr/>
          </p:nvSpPr>
          <p:spPr bwMode="auto">
            <a:xfrm>
              <a:off x="1683" y="346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29" name="Text Box 84"/>
            <p:cNvSpPr txBox="1">
              <a:spLocks noChangeArrowheads="1"/>
            </p:cNvSpPr>
            <p:nvPr/>
          </p:nvSpPr>
          <p:spPr bwMode="auto">
            <a:xfrm>
              <a:off x="2001" y="346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20</a:t>
              </a:r>
            </a:p>
          </p:txBody>
        </p:sp>
        <p:sp>
          <p:nvSpPr>
            <p:cNvPr id="30" name="Text Box 85"/>
            <p:cNvSpPr txBox="1">
              <a:spLocks noChangeArrowheads="1"/>
            </p:cNvSpPr>
            <p:nvPr/>
          </p:nvSpPr>
          <p:spPr bwMode="auto">
            <a:xfrm>
              <a:off x="2327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30</a:t>
              </a:r>
            </a:p>
          </p:txBody>
        </p:sp>
        <p:sp>
          <p:nvSpPr>
            <p:cNvPr id="31" name="Text Box 86"/>
            <p:cNvSpPr txBox="1">
              <a:spLocks noChangeArrowheads="1"/>
            </p:cNvSpPr>
            <p:nvPr/>
          </p:nvSpPr>
          <p:spPr bwMode="auto">
            <a:xfrm>
              <a:off x="2644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40</a:t>
              </a:r>
            </a:p>
          </p:txBody>
        </p:sp>
        <p:sp>
          <p:nvSpPr>
            <p:cNvPr id="32" name="Text Box 87"/>
            <p:cNvSpPr txBox="1">
              <a:spLocks noChangeArrowheads="1"/>
            </p:cNvSpPr>
            <p:nvPr/>
          </p:nvSpPr>
          <p:spPr bwMode="auto">
            <a:xfrm>
              <a:off x="3297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60</a:t>
              </a:r>
            </a:p>
          </p:txBody>
        </p:sp>
        <p:sp>
          <p:nvSpPr>
            <p:cNvPr id="33" name="Text Box 88"/>
            <p:cNvSpPr txBox="1">
              <a:spLocks noChangeArrowheads="1"/>
            </p:cNvSpPr>
            <p:nvPr/>
          </p:nvSpPr>
          <p:spPr bwMode="auto">
            <a:xfrm>
              <a:off x="3615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70</a:t>
              </a:r>
            </a:p>
          </p:txBody>
        </p:sp>
        <p:sp>
          <p:nvSpPr>
            <p:cNvPr id="34" name="Text Box 89"/>
            <p:cNvSpPr txBox="1">
              <a:spLocks noChangeArrowheads="1"/>
            </p:cNvSpPr>
            <p:nvPr/>
          </p:nvSpPr>
          <p:spPr bwMode="auto">
            <a:xfrm>
              <a:off x="3905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80</a:t>
              </a:r>
            </a:p>
          </p:txBody>
        </p:sp>
        <p:sp>
          <p:nvSpPr>
            <p:cNvPr id="35" name="Text Box 90"/>
            <p:cNvSpPr txBox="1">
              <a:spLocks noChangeArrowheads="1"/>
            </p:cNvSpPr>
            <p:nvPr/>
          </p:nvSpPr>
          <p:spPr bwMode="auto">
            <a:xfrm>
              <a:off x="4232" y="346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90</a:t>
              </a:r>
            </a:p>
          </p:txBody>
        </p:sp>
        <p:sp>
          <p:nvSpPr>
            <p:cNvPr id="36" name="Text Box 91"/>
            <p:cNvSpPr txBox="1">
              <a:spLocks noChangeArrowheads="1"/>
            </p:cNvSpPr>
            <p:nvPr/>
          </p:nvSpPr>
          <p:spPr bwMode="auto">
            <a:xfrm>
              <a:off x="4812" y="346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110</a:t>
              </a:r>
            </a:p>
          </p:txBody>
        </p:sp>
        <p:sp>
          <p:nvSpPr>
            <p:cNvPr id="37" name="Line 92"/>
            <p:cNvSpPr>
              <a:spLocks noChangeShapeType="1"/>
            </p:cNvSpPr>
            <p:nvPr/>
          </p:nvSpPr>
          <p:spPr bwMode="auto">
            <a:xfrm>
              <a:off x="2481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93"/>
            <p:cNvSpPr>
              <a:spLocks noChangeShapeType="1"/>
            </p:cNvSpPr>
            <p:nvPr/>
          </p:nvSpPr>
          <p:spPr bwMode="auto">
            <a:xfrm>
              <a:off x="2799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94"/>
            <p:cNvSpPr>
              <a:spLocks noChangeShapeType="1"/>
            </p:cNvSpPr>
            <p:nvPr/>
          </p:nvSpPr>
          <p:spPr bwMode="auto">
            <a:xfrm>
              <a:off x="3116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95"/>
            <p:cNvSpPr>
              <a:spLocks noChangeShapeType="1"/>
            </p:cNvSpPr>
            <p:nvPr/>
          </p:nvSpPr>
          <p:spPr bwMode="auto">
            <a:xfrm>
              <a:off x="3434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96"/>
            <p:cNvSpPr>
              <a:spLocks noChangeShapeType="1"/>
            </p:cNvSpPr>
            <p:nvPr/>
          </p:nvSpPr>
          <p:spPr bwMode="auto">
            <a:xfrm>
              <a:off x="3751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97"/>
            <p:cNvSpPr>
              <a:spLocks noChangeShapeType="1"/>
            </p:cNvSpPr>
            <p:nvPr/>
          </p:nvSpPr>
          <p:spPr bwMode="auto">
            <a:xfrm>
              <a:off x="4069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98"/>
            <p:cNvSpPr>
              <a:spLocks noChangeShapeType="1"/>
            </p:cNvSpPr>
            <p:nvPr/>
          </p:nvSpPr>
          <p:spPr bwMode="auto">
            <a:xfrm>
              <a:off x="4386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99"/>
            <p:cNvSpPr>
              <a:spLocks noChangeShapeType="1"/>
            </p:cNvSpPr>
            <p:nvPr/>
          </p:nvSpPr>
          <p:spPr bwMode="auto">
            <a:xfrm>
              <a:off x="4704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00"/>
            <p:cNvSpPr>
              <a:spLocks noChangeShapeType="1"/>
            </p:cNvSpPr>
            <p:nvPr/>
          </p:nvSpPr>
          <p:spPr bwMode="auto">
            <a:xfrm>
              <a:off x="5021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101"/>
            <p:cNvSpPr>
              <a:spLocks noChangeShapeType="1"/>
            </p:cNvSpPr>
            <p:nvPr/>
          </p:nvSpPr>
          <p:spPr bwMode="auto">
            <a:xfrm>
              <a:off x="5339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102"/>
            <p:cNvSpPr>
              <a:spLocks noChangeShapeType="1"/>
            </p:cNvSpPr>
            <p:nvPr/>
          </p:nvSpPr>
          <p:spPr bwMode="auto">
            <a:xfrm>
              <a:off x="1528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03"/>
            <p:cNvSpPr>
              <a:spLocks noChangeShapeType="1"/>
            </p:cNvSpPr>
            <p:nvPr/>
          </p:nvSpPr>
          <p:spPr bwMode="auto">
            <a:xfrm>
              <a:off x="1846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04"/>
            <p:cNvSpPr>
              <a:spLocks noChangeShapeType="1"/>
            </p:cNvSpPr>
            <p:nvPr/>
          </p:nvSpPr>
          <p:spPr bwMode="auto">
            <a:xfrm>
              <a:off x="2163" y="664"/>
              <a:ext cx="0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" name="Line 105"/>
          <p:cNvSpPr>
            <a:spLocks noChangeShapeType="1"/>
          </p:cNvSpPr>
          <p:nvPr/>
        </p:nvSpPr>
        <p:spPr bwMode="auto">
          <a:xfrm>
            <a:off x="5003323" y="3050267"/>
            <a:ext cx="64087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Box 207"/>
          <p:cNvSpPr txBox="1">
            <a:spLocks noChangeArrowheads="1"/>
          </p:cNvSpPr>
          <p:nvPr/>
        </p:nvSpPr>
        <p:spPr bwMode="auto">
          <a:xfrm>
            <a:off x="3279298" y="2559730"/>
            <a:ext cx="1104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到达时间</a:t>
            </a:r>
          </a:p>
        </p:txBody>
      </p:sp>
      <p:grpSp>
        <p:nvGrpSpPr>
          <p:cNvPr id="52" name="组合 37"/>
          <p:cNvGrpSpPr>
            <a:grpSpLocks/>
          </p:cNvGrpSpPr>
          <p:nvPr/>
        </p:nvGrpSpPr>
        <p:grpSpPr bwMode="auto">
          <a:xfrm>
            <a:off x="4663598" y="2283505"/>
            <a:ext cx="785813" cy="776287"/>
            <a:chOff x="2071670" y="1500174"/>
            <a:chExt cx="785818" cy="776302"/>
          </a:xfrm>
        </p:grpSpPr>
        <p:sp>
          <p:nvSpPr>
            <p:cNvPr id="53" name="Line 108"/>
            <p:cNvSpPr>
              <a:spLocks noChangeShapeType="1"/>
            </p:cNvSpPr>
            <p:nvPr/>
          </p:nvSpPr>
          <p:spPr bwMode="auto">
            <a:xfrm>
              <a:off x="2401871" y="1916113"/>
              <a:ext cx="0" cy="360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Box 118"/>
            <p:cNvSpPr txBox="1">
              <a:spLocks noChangeArrowheads="1"/>
            </p:cNvSpPr>
            <p:nvPr/>
          </p:nvSpPr>
          <p:spPr bwMode="auto">
            <a:xfrm>
              <a:off x="2071670" y="1500174"/>
              <a:ext cx="78581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,B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55" name="组合 41"/>
          <p:cNvGrpSpPr>
            <a:grpSpLocks/>
          </p:cNvGrpSpPr>
          <p:nvPr/>
        </p:nvGrpSpPr>
        <p:grpSpPr bwMode="auto">
          <a:xfrm>
            <a:off x="5779611" y="2283505"/>
            <a:ext cx="500062" cy="776287"/>
            <a:chOff x="3214678" y="1509690"/>
            <a:chExt cx="500066" cy="776302"/>
          </a:xfrm>
        </p:grpSpPr>
        <p:sp>
          <p:nvSpPr>
            <p:cNvPr id="56" name="Line 108"/>
            <p:cNvSpPr>
              <a:spLocks noChangeShapeType="1"/>
            </p:cNvSpPr>
            <p:nvPr/>
          </p:nvSpPr>
          <p:spPr bwMode="auto">
            <a:xfrm>
              <a:off x="3432497" y="1925629"/>
              <a:ext cx="0" cy="360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118"/>
            <p:cNvSpPr txBox="1">
              <a:spLocks noChangeArrowheads="1"/>
            </p:cNvSpPr>
            <p:nvPr/>
          </p:nvSpPr>
          <p:spPr bwMode="auto">
            <a:xfrm>
              <a:off x="3214678" y="1509690"/>
              <a:ext cx="5000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58" name="组合 42"/>
          <p:cNvGrpSpPr>
            <a:grpSpLocks/>
          </p:cNvGrpSpPr>
          <p:nvPr/>
        </p:nvGrpSpPr>
        <p:grpSpPr bwMode="auto">
          <a:xfrm>
            <a:off x="6794023" y="2256517"/>
            <a:ext cx="500063" cy="776288"/>
            <a:chOff x="3214678" y="1509690"/>
            <a:chExt cx="500066" cy="776302"/>
          </a:xfrm>
        </p:grpSpPr>
        <p:sp>
          <p:nvSpPr>
            <p:cNvPr id="59" name="Line 108"/>
            <p:cNvSpPr>
              <a:spLocks noChangeShapeType="1"/>
            </p:cNvSpPr>
            <p:nvPr/>
          </p:nvSpPr>
          <p:spPr bwMode="auto">
            <a:xfrm>
              <a:off x="3432497" y="1925629"/>
              <a:ext cx="0" cy="360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 Box 118"/>
            <p:cNvSpPr txBox="1">
              <a:spLocks noChangeArrowheads="1"/>
            </p:cNvSpPr>
            <p:nvPr/>
          </p:nvSpPr>
          <p:spPr bwMode="auto">
            <a:xfrm>
              <a:off x="3214678" y="1509690"/>
              <a:ext cx="5000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61" name="组合 45"/>
          <p:cNvGrpSpPr>
            <a:grpSpLocks/>
          </p:cNvGrpSpPr>
          <p:nvPr/>
        </p:nvGrpSpPr>
        <p:grpSpPr bwMode="auto">
          <a:xfrm>
            <a:off x="7794148" y="2256517"/>
            <a:ext cx="500063" cy="776288"/>
            <a:chOff x="3214678" y="1509690"/>
            <a:chExt cx="500066" cy="776302"/>
          </a:xfrm>
        </p:grpSpPr>
        <p:sp>
          <p:nvSpPr>
            <p:cNvPr id="62" name="Line 108"/>
            <p:cNvSpPr>
              <a:spLocks noChangeShapeType="1"/>
            </p:cNvSpPr>
            <p:nvPr/>
          </p:nvSpPr>
          <p:spPr bwMode="auto">
            <a:xfrm>
              <a:off x="3432497" y="1925629"/>
              <a:ext cx="0" cy="360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118"/>
            <p:cNvSpPr txBox="1">
              <a:spLocks noChangeArrowheads="1"/>
            </p:cNvSpPr>
            <p:nvPr/>
          </p:nvSpPr>
          <p:spPr bwMode="auto">
            <a:xfrm>
              <a:off x="3214678" y="1509690"/>
              <a:ext cx="5000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pSp>
        <p:nvGrpSpPr>
          <p:cNvPr id="64" name="组合 48"/>
          <p:cNvGrpSpPr>
            <a:grpSpLocks/>
          </p:cNvGrpSpPr>
          <p:nvPr/>
        </p:nvGrpSpPr>
        <p:grpSpPr bwMode="auto">
          <a:xfrm>
            <a:off x="8806973" y="2229530"/>
            <a:ext cx="500063" cy="776287"/>
            <a:chOff x="3214678" y="1509690"/>
            <a:chExt cx="500066" cy="776302"/>
          </a:xfrm>
        </p:grpSpPr>
        <p:sp>
          <p:nvSpPr>
            <p:cNvPr id="65" name="Line 108"/>
            <p:cNvSpPr>
              <a:spLocks noChangeShapeType="1"/>
            </p:cNvSpPr>
            <p:nvPr/>
          </p:nvSpPr>
          <p:spPr bwMode="auto">
            <a:xfrm>
              <a:off x="3432497" y="1925629"/>
              <a:ext cx="0" cy="360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 Box 118"/>
            <p:cNvSpPr txBox="1">
              <a:spLocks noChangeArrowheads="1"/>
            </p:cNvSpPr>
            <p:nvPr/>
          </p:nvSpPr>
          <p:spPr bwMode="auto">
            <a:xfrm>
              <a:off x="3214678" y="1509690"/>
              <a:ext cx="5000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5</a:t>
              </a:r>
            </a:p>
          </p:txBody>
        </p:sp>
      </p:grpSp>
      <p:grpSp>
        <p:nvGrpSpPr>
          <p:cNvPr id="67" name="组合 51"/>
          <p:cNvGrpSpPr>
            <a:grpSpLocks/>
          </p:cNvGrpSpPr>
          <p:nvPr/>
        </p:nvGrpSpPr>
        <p:grpSpPr bwMode="auto">
          <a:xfrm>
            <a:off x="9694386" y="2256517"/>
            <a:ext cx="785812" cy="776288"/>
            <a:chOff x="2071670" y="1500174"/>
            <a:chExt cx="785818" cy="776302"/>
          </a:xfrm>
        </p:grpSpPr>
        <p:sp>
          <p:nvSpPr>
            <p:cNvPr id="68" name="Line 108"/>
            <p:cNvSpPr>
              <a:spLocks noChangeShapeType="1"/>
            </p:cNvSpPr>
            <p:nvPr/>
          </p:nvSpPr>
          <p:spPr bwMode="auto">
            <a:xfrm>
              <a:off x="2401871" y="1916113"/>
              <a:ext cx="0" cy="360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Box 118"/>
            <p:cNvSpPr txBox="1">
              <a:spLocks noChangeArrowheads="1"/>
            </p:cNvSpPr>
            <p:nvPr/>
          </p:nvSpPr>
          <p:spPr bwMode="auto">
            <a:xfrm>
              <a:off x="2071670" y="1500174"/>
              <a:ext cx="78581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6</a:t>
              </a: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,B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70" name="组合 54"/>
          <p:cNvGrpSpPr>
            <a:grpSpLocks/>
          </p:cNvGrpSpPr>
          <p:nvPr/>
        </p:nvGrpSpPr>
        <p:grpSpPr bwMode="auto">
          <a:xfrm>
            <a:off x="7294086" y="2256517"/>
            <a:ext cx="500062" cy="776288"/>
            <a:chOff x="3214678" y="1509690"/>
            <a:chExt cx="500066" cy="776302"/>
          </a:xfrm>
        </p:grpSpPr>
        <p:sp>
          <p:nvSpPr>
            <p:cNvPr id="71" name="Line 108"/>
            <p:cNvSpPr>
              <a:spLocks noChangeShapeType="1"/>
            </p:cNvSpPr>
            <p:nvPr/>
          </p:nvSpPr>
          <p:spPr bwMode="auto">
            <a:xfrm>
              <a:off x="3432497" y="1925629"/>
              <a:ext cx="0" cy="360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 Box 118"/>
            <p:cNvSpPr txBox="1">
              <a:spLocks noChangeArrowheads="1"/>
            </p:cNvSpPr>
            <p:nvPr/>
          </p:nvSpPr>
          <p:spPr bwMode="auto">
            <a:xfrm>
              <a:off x="3214678" y="1509690"/>
              <a:ext cx="5000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sp>
        <p:nvSpPr>
          <p:cNvPr id="73" name="Text Box 207"/>
          <p:cNvSpPr txBox="1">
            <a:spLocks noChangeArrowheads="1"/>
          </p:cNvSpPr>
          <p:nvPr/>
        </p:nvSpPr>
        <p:spPr bwMode="auto">
          <a:xfrm>
            <a:off x="3057048" y="3264580"/>
            <a:ext cx="1579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1800" b="1">
                <a:solidFill>
                  <a:schemeClr val="tx1"/>
                </a:solidFill>
                <a:latin typeface="Times New Roman" pitchFamily="18" charset="0"/>
              </a:rPr>
              <a:t>必须完成时间</a:t>
            </a:r>
          </a:p>
        </p:txBody>
      </p:sp>
      <p:grpSp>
        <p:nvGrpSpPr>
          <p:cNvPr id="74" name="Group 236"/>
          <p:cNvGrpSpPr>
            <a:grpSpLocks/>
          </p:cNvGrpSpPr>
          <p:nvPr/>
        </p:nvGrpSpPr>
        <p:grpSpPr bwMode="auto">
          <a:xfrm>
            <a:off x="5847873" y="3074080"/>
            <a:ext cx="503238" cy="700087"/>
            <a:chOff x="4904" y="1434"/>
            <a:chExt cx="317" cy="441"/>
          </a:xfrm>
        </p:grpSpPr>
        <p:sp>
          <p:nvSpPr>
            <p:cNvPr id="75" name="Line 117"/>
            <p:cNvSpPr>
              <a:spLocks noChangeShapeType="1"/>
            </p:cNvSpPr>
            <p:nvPr/>
          </p:nvSpPr>
          <p:spPr bwMode="auto">
            <a:xfrm>
              <a:off x="5012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 Box 123"/>
            <p:cNvSpPr txBox="1">
              <a:spLocks noChangeArrowheads="1"/>
            </p:cNvSpPr>
            <p:nvPr/>
          </p:nvSpPr>
          <p:spPr bwMode="auto">
            <a:xfrm>
              <a:off x="4904" y="1625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77" name="Group 236"/>
          <p:cNvGrpSpPr>
            <a:grpSpLocks/>
          </p:cNvGrpSpPr>
          <p:nvPr/>
        </p:nvGrpSpPr>
        <p:grpSpPr bwMode="auto">
          <a:xfrm>
            <a:off x="6847998" y="3074080"/>
            <a:ext cx="503238" cy="700087"/>
            <a:chOff x="4904" y="1434"/>
            <a:chExt cx="317" cy="441"/>
          </a:xfrm>
        </p:grpSpPr>
        <p:sp>
          <p:nvSpPr>
            <p:cNvPr id="78" name="Line 117"/>
            <p:cNvSpPr>
              <a:spLocks noChangeShapeType="1"/>
            </p:cNvSpPr>
            <p:nvPr/>
          </p:nvSpPr>
          <p:spPr bwMode="auto">
            <a:xfrm>
              <a:off x="5012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Box 123"/>
            <p:cNvSpPr txBox="1">
              <a:spLocks noChangeArrowheads="1"/>
            </p:cNvSpPr>
            <p:nvPr/>
          </p:nvSpPr>
          <p:spPr bwMode="auto">
            <a:xfrm>
              <a:off x="4904" y="1625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80" name="Group 236"/>
          <p:cNvGrpSpPr>
            <a:grpSpLocks/>
          </p:cNvGrpSpPr>
          <p:nvPr/>
        </p:nvGrpSpPr>
        <p:grpSpPr bwMode="auto">
          <a:xfrm>
            <a:off x="7351236" y="3074080"/>
            <a:ext cx="500062" cy="703262"/>
            <a:chOff x="4915" y="1434"/>
            <a:chExt cx="315" cy="443"/>
          </a:xfrm>
        </p:grpSpPr>
        <p:sp>
          <p:nvSpPr>
            <p:cNvPr id="81" name="Line 117"/>
            <p:cNvSpPr>
              <a:spLocks noChangeShapeType="1"/>
            </p:cNvSpPr>
            <p:nvPr/>
          </p:nvSpPr>
          <p:spPr bwMode="auto">
            <a:xfrm>
              <a:off x="5012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 Box 123"/>
            <p:cNvSpPr txBox="1">
              <a:spLocks noChangeArrowheads="1"/>
            </p:cNvSpPr>
            <p:nvPr/>
          </p:nvSpPr>
          <p:spPr bwMode="auto">
            <a:xfrm>
              <a:off x="4915" y="1625"/>
              <a:ext cx="31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83" name="Group 236"/>
          <p:cNvGrpSpPr>
            <a:grpSpLocks/>
          </p:cNvGrpSpPr>
          <p:nvPr/>
        </p:nvGrpSpPr>
        <p:grpSpPr bwMode="auto">
          <a:xfrm>
            <a:off x="8848248" y="3074080"/>
            <a:ext cx="503238" cy="700087"/>
            <a:chOff x="4904" y="1434"/>
            <a:chExt cx="317" cy="441"/>
          </a:xfrm>
        </p:grpSpPr>
        <p:sp>
          <p:nvSpPr>
            <p:cNvPr id="84" name="Line 117"/>
            <p:cNvSpPr>
              <a:spLocks noChangeShapeType="1"/>
            </p:cNvSpPr>
            <p:nvPr/>
          </p:nvSpPr>
          <p:spPr bwMode="auto">
            <a:xfrm>
              <a:off x="5012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 Box 123"/>
            <p:cNvSpPr txBox="1">
              <a:spLocks noChangeArrowheads="1"/>
            </p:cNvSpPr>
            <p:nvPr/>
          </p:nvSpPr>
          <p:spPr bwMode="auto">
            <a:xfrm>
              <a:off x="4904" y="1625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pSp>
        <p:nvGrpSpPr>
          <p:cNvPr id="86" name="Group 236"/>
          <p:cNvGrpSpPr>
            <a:grpSpLocks/>
          </p:cNvGrpSpPr>
          <p:nvPr/>
        </p:nvGrpSpPr>
        <p:grpSpPr bwMode="auto">
          <a:xfrm>
            <a:off x="9708673" y="3074080"/>
            <a:ext cx="785813" cy="703262"/>
            <a:chOff x="4816" y="1434"/>
            <a:chExt cx="495" cy="443"/>
          </a:xfrm>
        </p:grpSpPr>
        <p:sp>
          <p:nvSpPr>
            <p:cNvPr id="87" name="Line 117"/>
            <p:cNvSpPr>
              <a:spLocks noChangeShapeType="1"/>
            </p:cNvSpPr>
            <p:nvPr/>
          </p:nvSpPr>
          <p:spPr bwMode="auto">
            <a:xfrm>
              <a:off x="5012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Text Box 123"/>
            <p:cNvSpPr txBox="1">
              <a:spLocks noChangeArrowheads="1"/>
            </p:cNvSpPr>
            <p:nvPr/>
          </p:nvSpPr>
          <p:spPr bwMode="auto">
            <a:xfrm>
              <a:off x="4816" y="1625"/>
              <a:ext cx="49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,B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89" name="Group 236"/>
          <p:cNvGrpSpPr>
            <a:grpSpLocks/>
          </p:cNvGrpSpPr>
          <p:nvPr/>
        </p:nvGrpSpPr>
        <p:grpSpPr bwMode="auto">
          <a:xfrm>
            <a:off x="10865961" y="3074080"/>
            <a:ext cx="503237" cy="700087"/>
            <a:chOff x="4904" y="1434"/>
            <a:chExt cx="317" cy="441"/>
          </a:xfrm>
        </p:grpSpPr>
        <p:sp>
          <p:nvSpPr>
            <p:cNvPr id="90" name="Line 117"/>
            <p:cNvSpPr>
              <a:spLocks noChangeShapeType="1"/>
            </p:cNvSpPr>
            <p:nvPr/>
          </p:nvSpPr>
          <p:spPr bwMode="auto">
            <a:xfrm>
              <a:off x="5012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 Box 123"/>
            <p:cNvSpPr txBox="1">
              <a:spLocks noChangeArrowheads="1"/>
            </p:cNvSpPr>
            <p:nvPr/>
          </p:nvSpPr>
          <p:spPr bwMode="auto">
            <a:xfrm>
              <a:off x="4904" y="1625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6</a:t>
              </a:r>
            </a:p>
          </p:txBody>
        </p:sp>
      </p:grpSp>
      <p:grpSp>
        <p:nvGrpSpPr>
          <p:cNvPr id="92" name="组合 81"/>
          <p:cNvGrpSpPr>
            <a:grpSpLocks/>
          </p:cNvGrpSpPr>
          <p:nvPr/>
        </p:nvGrpSpPr>
        <p:grpSpPr bwMode="auto">
          <a:xfrm>
            <a:off x="3350736" y="3904342"/>
            <a:ext cx="8072437" cy="369888"/>
            <a:chOff x="785786" y="3131106"/>
            <a:chExt cx="8072494" cy="369332"/>
          </a:xfrm>
        </p:grpSpPr>
        <p:sp>
          <p:nvSpPr>
            <p:cNvPr id="93" name="Text Box 207"/>
            <p:cNvSpPr txBox="1">
              <a:spLocks noChangeArrowheads="1"/>
            </p:cNvSpPr>
            <p:nvPr/>
          </p:nvSpPr>
          <p:spPr bwMode="auto">
            <a:xfrm>
              <a:off x="785786" y="3131106"/>
              <a:ext cx="88197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1800" b="1">
                  <a:solidFill>
                    <a:schemeClr val="tx1"/>
                  </a:solidFill>
                  <a:latin typeface="Times New Roman" pitchFamily="18" charset="0"/>
                </a:rPr>
                <a:t>松弛度</a:t>
              </a:r>
            </a:p>
          </p:txBody>
        </p:sp>
        <p:sp>
          <p:nvSpPr>
            <p:cNvPr id="94" name="Line 105"/>
            <p:cNvSpPr>
              <a:spLocks noChangeShapeType="1"/>
            </p:cNvSpPr>
            <p:nvPr/>
          </p:nvSpPr>
          <p:spPr bwMode="auto">
            <a:xfrm>
              <a:off x="2449543" y="3286124"/>
              <a:ext cx="64087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" name="组合 113"/>
          <p:cNvGrpSpPr>
            <a:grpSpLocks/>
          </p:cNvGrpSpPr>
          <p:nvPr/>
        </p:nvGrpSpPr>
        <p:grpSpPr bwMode="auto">
          <a:xfrm>
            <a:off x="4560411" y="4056742"/>
            <a:ext cx="790575" cy="815975"/>
            <a:chOff x="1995449" y="3282951"/>
            <a:chExt cx="790601" cy="816249"/>
          </a:xfrm>
        </p:grpSpPr>
        <p:sp>
          <p:nvSpPr>
            <p:cNvPr id="96" name="Line 117"/>
            <p:cNvSpPr>
              <a:spLocks noChangeShapeType="1"/>
            </p:cNvSpPr>
            <p:nvPr/>
          </p:nvSpPr>
          <p:spPr bwMode="auto">
            <a:xfrm>
              <a:off x="2428860" y="3282951"/>
              <a:ext cx="0" cy="216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矩形 86"/>
            <p:cNvSpPr>
              <a:spLocks noChangeArrowheads="1"/>
            </p:cNvSpPr>
            <p:nvPr/>
          </p:nvSpPr>
          <p:spPr bwMode="auto">
            <a:xfrm>
              <a:off x="1995449" y="3571876"/>
              <a:ext cx="790601" cy="527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=10</a:t>
              </a:r>
            </a:p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=25</a:t>
              </a:r>
            </a:p>
          </p:txBody>
        </p:sp>
      </p:grpSp>
      <p:sp>
        <p:nvSpPr>
          <p:cNvPr id="98" name="Rectangle 195"/>
          <p:cNvSpPr>
            <a:spLocks noChangeArrowheads="1"/>
          </p:cNvSpPr>
          <p:nvPr/>
        </p:nvSpPr>
        <p:spPr bwMode="auto">
          <a:xfrm>
            <a:off x="4993798" y="5560105"/>
            <a:ext cx="500063" cy="357187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99" name="Rectangle 195"/>
          <p:cNvSpPr>
            <a:spLocks noChangeArrowheads="1"/>
          </p:cNvSpPr>
          <p:nvPr/>
        </p:nvSpPr>
        <p:spPr bwMode="auto">
          <a:xfrm>
            <a:off x="5493861" y="5560105"/>
            <a:ext cx="1000125" cy="357187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00" name="Rectangle 195"/>
          <p:cNvSpPr>
            <a:spLocks noChangeArrowheads="1"/>
          </p:cNvSpPr>
          <p:nvPr/>
        </p:nvSpPr>
        <p:spPr bwMode="auto">
          <a:xfrm>
            <a:off x="6493986" y="5560105"/>
            <a:ext cx="500062" cy="357187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01" name="Rectangle 195"/>
          <p:cNvSpPr>
            <a:spLocks noChangeArrowheads="1"/>
          </p:cNvSpPr>
          <p:nvPr/>
        </p:nvSpPr>
        <p:spPr bwMode="auto">
          <a:xfrm>
            <a:off x="6994048" y="5560105"/>
            <a:ext cx="285750" cy="357187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02" name="Rectangle 195"/>
          <p:cNvSpPr>
            <a:spLocks noChangeArrowheads="1"/>
          </p:cNvSpPr>
          <p:nvPr/>
        </p:nvSpPr>
        <p:spPr bwMode="auto">
          <a:xfrm>
            <a:off x="7279798" y="5560105"/>
            <a:ext cx="500063" cy="357187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103" name="Rectangle 195"/>
          <p:cNvSpPr>
            <a:spLocks noChangeArrowheads="1"/>
          </p:cNvSpPr>
          <p:nvPr/>
        </p:nvSpPr>
        <p:spPr bwMode="auto">
          <a:xfrm>
            <a:off x="7779861" y="5560105"/>
            <a:ext cx="714375" cy="357187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04" name="Rectangle 195"/>
          <p:cNvSpPr>
            <a:spLocks noChangeArrowheads="1"/>
          </p:cNvSpPr>
          <p:nvPr/>
        </p:nvSpPr>
        <p:spPr bwMode="auto">
          <a:xfrm>
            <a:off x="8494236" y="5560105"/>
            <a:ext cx="500062" cy="357187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105" name="Rectangle 195"/>
          <p:cNvSpPr>
            <a:spLocks noChangeArrowheads="1"/>
          </p:cNvSpPr>
          <p:nvPr/>
        </p:nvSpPr>
        <p:spPr bwMode="auto">
          <a:xfrm>
            <a:off x="8994298" y="5560105"/>
            <a:ext cx="500063" cy="357187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106" name="Group 236"/>
          <p:cNvGrpSpPr>
            <a:grpSpLocks/>
          </p:cNvGrpSpPr>
          <p:nvPr/>
        </p:nvGrpSpPr>
        <p:grpSpPr bwMode="auto">
          <a:xfrm>
            <a:off x="7848123" y="3074080"/>
            <a:ext cx="503238" cy="700087"/>
            <a:chOff x="4904" y="1434"/>
            <a:chExt cx="317" cy="441"/>
          </a:xfrm>
        </p:grpSpPr>
        <p:sp>
          <p:nvSpPr>
            <p:cNvPr id="107" name="Line 117"/>
            <p:cNvSpPr>
              <a:spLocks noChangeShapeType="1"/>
            </p:cNvSpPr>
            <p:nvPr/>
          </p:nvSpPr>
          <p:spPr bwMode="auto">
            <a:xfrm>
              <a:off x="5012" y="1434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Text Box 123"/>
            <p:cNvSpPr txBox="1">
              <a:spLocks noChangeArrowheads="1"/>
            </p:cNvSpPr>
            <p:nvPr/>
          </p:nvSpPr>
          <p:spPr bwMode="auto">
            <a:xfrm>
              <a:off x="4904" y="1625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2000" b="1" baseline="-25000">
                  <a:solidFill>
                    <a:schemeClr val="tx1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sp>
        <p:nvSpPr>
          <p:cNvPr id="109" name="Rectangle 195"/>
          <p:cNvSpPr>
            <a:spLocks noChangeArrowheads="1"/>
          </p:cNvSpPr>
          <p:nvPr/>
        </p:nvSpPr>
        <p:spPr bwMode="auto">
          <a:xfrm>
            <a:off x="9494361" y="5560105"/>
            <a:ext cx="500062" cy="357187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5</a:t>
            </a:r>
          </a:p>
        </p:txBody>
      </p:sp>
      <p:grpSp>
        <p:nvGrpSpPr>
          <p:cNvPr id="110" name="组合 112"/>
          <p:cNvGrpSpPr>
            <a:grpSpLocks/>
          </p:cNvGrpSpPr>
          <p:nvPr/>
        </p:nvGrpSpPr>
        <p:grpSpPr bwMode="auto">
          <a:xfrm>
            <a:off x="3350736" y="5761717"/>
            <a:ext cx="8110537" cy="584200"/>
            <a:chOff x="785786" y="4988494"/>
            <a:chExt cx="8110548" cy="583646"/>
          </a:xfrm>
        </p:grpSpPr>
        <p:grpSp>
          <p:nvGrpSpPr>
            <p:cNvPr id="111" name="组合 82"/>
            <p:cNvGrpSpPr>
              <a:grpSpLocks/>
            </p:cNvGrpSpPr>
            <p:nvPr/>
          </p:nvGrpSpPr>
          <p:grpSpPr bwMode="auto">
            <a:xfrm>
              <a:off x="785786" y="4988494"/>
              <a:ext cx="8072494" cy="369332"/>
              <a:chOff x="785786" y="3131106"/>
              <a:chExt cx="8072494" cy="369332"/>
            </a:xfrm>
          </p:grpSpPr>
          <p:sp>
            <p:nvSpPr>
              <p:cNvPr id="125" name="Text Box 207"/>
              <p:cNvSpPr txBox="1">
                <a:spLocks noChangeArrowheads="1"/>
              </p:cNvSpPr>
              <p:nvPr/>
            </p:nvSpPr>
            <p:spPr bwMode="auto">
              <a:xfrm>
                <a:off x="785786" y="3131106"/>
                <a:ext cx="111440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FFFFFF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l" eaLnBrk="1" hangingPunct="1"/>
                <a:r>
                  <a:rPr kumimoji="1" lang="zh-CN" altLang="en-US" sz="1800" b="1">
                    <a:solidFill>
                      <a:schemeClr val="tx1"/>
                    </a:solidFill>
                    <a:latin typeface="Times New Roman" pitchFamily="18" charset="0"/>
                  </a:rPr>
                  <a:t>任务执行</a:t>
                </a:r>
              </a:p>
            </p:txBody>
          </p:sp>
          <p:sp>
            <p:nvSpPr>
              <p:cNvPr id="126" name="Line 105"/>
              <p:cNvSpPr>
                <a:spLocks noChangeShapeType="1"/>
              </p:cNvSpPr>
              <p:nvPr/>
            </p:nvSpPr>
            <p:spPr bwMode="auto">
              <a:xfrm>
                <a:off x="2449543" y="3286124"/>
                <a:ext cx="640873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" name="Text Box 18"/>
            <p:cNvSpPr txBox="1">
              <a:spLocks noChangeArrowheads="1"/>
            </p:cNvSpPr>
            <p:nvPr/>
          </p:nvSpPr>
          <p:spPr bwMode="auto">
            <a:xfrm>
              <a:off x="2285984" y="5114940"/>
              <a:ext cx="431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13" name="Text Box 19"/>
            <p:cNvSpPr txBox="1">
              <a:spLocks noChangeArrowheads="1"/>
            </p:cNvSpPr>
            <p:nvPr/>
          </p:nvSpPr>
          <p:spPr bwMode="auto">
            <a:xfrm>
              <a:off x="4553593" y="5114940"/>
              <a:ext cx="5048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114" name="Text Box 20"/>
            <p:cNvSpPr txBox="1">
              <a:spLocks noChangeArrowheads="1"/>
            </p:cNvSpPr>
            <p:nvPr/>
          </p:nvSpPr>
          <p:spPr bwMode="auto">
            <a:xfrm>
              <a:off x="7153259" y="5114940"/>
              <a:ext cx="7207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100</a:t>
              </a:r>
            </a:p>
          </p:txBody>
        </p:sp>
        <p:sp>
          <p:nvSpPr>
            <p:cNvPr id="115" name="Text Box 32"/>
            <p:cNvSpPr txBox="1">
              <a:spLocks noChangeArrowheads="1"/>
            </p:cNvSpPr>
            <p:nvPr/>
          </p:nvSpPr>
          <p:spPr bwMode="auto">
            <a:xfrm>
              <a:off x="8175609" y="5114940"/>
              <a:ext cx="7207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120</a:t>
              </a:r>
            </a:p>
          </p:txBody>
        </p:sp>
        <p:sp>
          <p:nvSpPr>
            <p:cNvPr id="116" name="Text Box 83"/>
            <p:cNvSpPr txBox="1">
              <a:spLocks noChangeArrowheads="1"/>
            </p:cNvSpPr>
            <p:nvPr/>
          </p:nvSpPr>
          <p:spPr bwMode="auto">
            <a:xfrm>
              <a:off x="2689209" y="5114940"/>
              <a:ext cx="503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117" name="Text Box 84"/>
            <p:cNvSpPr txBox="1">
              <a:spLocks noChangeArrowheads="1"/>
            </p:cNvSpPr>
            <p:nvPr/>
          </p:nvSpPr>
          <p:spPr bwMode="auto">
            <a:xfrm>
              <a:off x="3194034" y="5114940"/>
              <a:ext cx="503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20</a:t>
              </a:r>
            </a:p>
          </p:txBody>
        </p:sp>
        <p:sp>
          <p:nvSpPr>
            <p:cNvPr id="118" name="Text Box 85"/>
            <p:cNvSpPr txBox="1">
              <a:spLocks noChangeArrowheads="1"/>
            </p:cNvSpPr>
            <p:nvPr/>
          </p:nvSpPr>
          <p:spPr bwMode="auto">
            <a:xfrm>
              <a:off x="3711559" y="5114940"/>
              <a:ext cx="5762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30</a:t>
              </a:r>
            </a:p>
          </p:txBody>
        </p:sp>
        <p:sp>
          <p:nvSpPr>
            <p:cNvPr id="119" name="Text Box 86"/>
            <p:cNvSpPr txBox="1">
              <a:spLocks noChangeArrowheads="1"/>
            </p:cNvSpPr>
            <p:nvPr/>
          </p:nvSpPr>
          <p:spPr bwMode="auto">
            <a:xfrm>
              <a:off x="4184316" y="5114940"/>
              <a:ext cx="5762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40</a:t>
              </a:r>
            </a:p>
          </p:txBody>
        </p:sp>
        <p:sp>
          <p:nvSpPr>
            <p:cNvPr id="120" name="Text Box 87"/>
            <p:cNvSpPr txBox="1">
              <a:spLocks noChangeArrowheads="1"/>
            </p:cNvSpPr>
            <p:nvPr/>
          </p:nvSpPr>
          <p:spPr bwMode="auto">
            <a:xfrm>
              <a:off x="4968553" y="5114940"/>
              <a:ext cx="5762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121" name="Text Box 88"/>
            <p:cNvSpPr txBox="1">
              <a:spLocks noChangeArrowheads="1"/>
            </p:cNvSpPr>
            <p:nvPr/>
          </p:nvSpPr>
          <p:spPr bwMode="auto">
            <a:xfrm>
              <a:off x="5715008" y="5114940"/>
              <a:ext cx="5762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70</a:t>
              </a:r>
            </a:p>
          </p:txBody>
        </p:sp>
        <p:sp>
          <p:nvSpPr>
            <p:cNvPr id="122" name="Text Box 89"/>
            <p:cNvSpPr txBox="1">
              <a:spLocks noChangeArrowheads="1"/>
            </p:cNvSpPr>
            <p:nvPr/>
          </p:nvSpPr>
          <p:spPr bwMode="auto">
            <a:xfrm>
              <a:off x="6216634" y="5114940"/>
              <a:ext cx="5762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80</a:t>
              </a:r>
            </a:p>
          </p:txBody>
        </p:sp>
        <p:sp>
          <p:nvSpPr>
            <p:cNvPr id="123" name="Text Box 90"/>
            <p:cNvSpPr txBox="1">
              <a:spLocks noChangeArrowheads="1"/>
            </p:cNvSpPr>
            <p:nvPr/>
          </p:nvSpPr>
          <p:spPr bwMode="auto">
            <a:xfrm>
              <a:off x="6735747" y="5114940"/>
              <a:ext cx="5762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90</a:t>
              </a:r>
            </a:p>
          </p:txBody>
        </p:sp>
        <p:sp>
          <p:nvSpPr>
            <p:cNvPr id="124" name="Text Box 91"/>
            <p:cNvSpPr txBox="1">
              <a:spLocks noChangeArrowheads="1"/>
            </p:cNvSpPr>
            <p:nvPr/>
          </p:nvSpPr>
          <p:spPr bwMode="auto">
            <a:xfrm>
              <a:off x="7656497" y="5114940"/>
              <a:ext cx="7207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itchFamily="18" charset="0"/>
                </a:rPr>
                <a:t>110</a:t>
              </a:r>
            </a:p>
          </p:txBody>
        </p:sp>
      </p:grpSp>
      <p:grpSp>
        <p:nvGrpSpPr>
          <p:cNvPr id="127" name="组合 118"/>
          <p:cNvGrpSpPr>
            <a:grpSpLocks/>
          </p:cNvGrpSpPr>
          <p:nvPr/>
        </p:nvGrpSpPr>
        <p:grpSpPr bwMode="auto">
          <a:xfrm>
            <a:off x="6074886" y="4101192"/>
            <a:ext cx="790575" cy="815975"/>
            <a:chOff x="1995449" y="3282951"/>
            <a:chExt cx="790601" cy="816249"/>
          </a:xfrm>
        </p:grpSpPr>
        <p:sp>
          <p:nvSpPr>
            <p:cNvPr id="128" name="Line 117"/>
            <p:cNvSpPr>
              <a:spLocks noChangeShapeType="1"/>
            </p:cNvSpPr>
            <p:nvPr/>
          </p:nvSpPr>
          <p:spPr bwMode="auto">
            <a:xfrm>
              <a:off x="2428860" y="3282951"/>
              <a:ext cx="0" cy="216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矩形 120"/>
            <p:cNvSpPr>
              <a:spLocks noChangeArrowheads="1"/>
            </p:cNvSpPr>
            <p:nvPr/>
          </p:nvSpPr>
          <p:spPr bwMode="auto">
            <a:xfrm>
              <a:off x="1995449" y="3571876"/>
              <a:ext cx="790601" cy="527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=0</a:t>
              </a:r>
            </a:p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=15</a:t>
              </a:r>
            </a:p>
          </p:txBody>
        </p:sp>
      </p:grpSp>
      <p:grpSp>
        <p:nvGrpSpPr>
          <p:cNvPr id="130" name="组合 121"/>
          <p:cNvGrpSpPr>
            <a:grpSpLocks/>
          </p:cNvGrpSpPr>
          <p:nvPr/>
        </p:nvGrpSpPr>
        <p:grpSpPr bwMode="auto">
          <a:xfrm>
            <a:off x="6632098" y="4101192"/>
            <a:ext cx="790575" cy="1316038"/>
            <a:chOff x="1995449" y="3282952"/>
            <a:chExt cx="790601" cy="478590"/>
          </a:xfrm>
        </p:grpSpPr>
        <p:sp>
          <p:nvSpPr>
            <p:cNvPr id="131" name="Line 117"/>
            <p:cNvSpPr>
              <a:spLocks noChangeShapeType="1"/>
            </p:cNvSpPr>
            <p:nvPr/>
          </p:nvSpPr>
          <p:spPr bwMode="auto">
            <a:xfrm flipH="1">
              <a:off x="2383141" y="3282952"/>
              <a:ext cx="0" cy="2708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矩形 123"/>
            <p:cNvSpPr>
              <a:spLocks noChangeArrowheads="1"/>
            </p:cNvSpPr>
            <p:nvPr/>
          </p:nvSpPr>
          <p:spPr bwMode="auto">
            <a:xfrm>
              <a:off x="1995449" y="3571876"/>
              <a:ext cx="790601" cy="189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3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=10</a:t>
              </a:r>
            </a:p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=5</a:t>
              </a:r>
            </a:p>
          </p:txBody>
        </p:sp>
      </p:grpSp>
      <p:grpSp>
        <p:nvGrpSpPr>
          <p:cNvPr id="133" name="组合 130"/>
          <p:cNvGrpSpPr>
            <a:grpSpLocks/>
          </p:cNvGrpSpPr>
          <p:nvPr/>
        </p:nvGrpSpPr>
        <p:grpSpPr bwMode="auto">
          <a:xfrm>
            <a:off x="8060848" y="4101192"/>
            <a:ext cx="790575" cy="815975"/>
            <a:chOff x="1995449" y="3282951"/>
            <a:chExt cx="790601" cy="816249"/>
          </a:xfrm>
        </p:grpSpPr>
        <p:sp>
          <p:nvSpPr>
            <p:cNvPr id="134" name="Line 117"/>
            <p:cNvSpPr>
              <a:spLocks noChangeShapeType="1"/>
            </p:cNvSpPr>
            <p:nvPr/>
          </p:nvSpPr>
          <p:spPr bwMode="auto">
            <a:xfrm>
              <a:off x="2428860" y="3282951"/>
              <a:ext cx="0" cy="216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矩形 132"/>
            <p:cNvSpPr>
              <a:spLocks noChangeArrowheads="1"/>
            </p:cNvSpPr>
            <p:nvPr/>
          </p:nvSpPr>
          <p:spPr bwMode="auto">
            <a:xfrm>
              <a:off x="1995449" y="3571876"/>
              <a:ext cx="790601" cy="527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4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=0</a:t>
              </a:r>
            </a:p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=20</a:t>
              </a:r>
            </a:p>
          </p:txBody>
        </p:sp>
      </p:grpSp>
      <p:grpSp>
        <p:nvGrpSpPr>
          <p:cNvPr id="136" name="组合 133"/>
          <p:cNvGrpSpPr>
            <a:grpSpLocks/>
          </p:cNvGrpSpPr>
          <p:nvPr/>
        </p:nvGrpSpPr>
        <p:grpSpPr bwMode="auto">
          <a:xfrm>
            <a:off x="8605361" y="4101192"/>
            <a:ext cx="790575" cy="1316038"/>
            <a:chOff x="1995449" y="3282952"/>
            <a:chExt cx="790601" cy="478590"/>
          </a:xfrm>
        </p:grpSpPr>
        <p:sp>
          <p:nvSpPr>
            <p:cNvPr id="137" name="Line 117"/>
            <p:cNvSpPr>
              <a:spLocks noChangeShapeType="1"/>
            </p:cNvSpPr>
            <p:nvPr/>
          </p:nvSpPr>
          <p:spPr bwMode="auto">
            <a:xfrm flipH="1">
              <a:off x="2383141" y="3282952"/>
              <a:ext cx="0" cy="2708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矩形 135"/>
            <p:cNvSpPr>
              <a:spLocks noChangeArrowheads="1"/>
            </p:cNvSpPr>
            <p:nvPr/>
          </p:nvSpPr>
          <p:spPr bwMode="auto">
            <a:xfrm>
              <a:off x="1995449" y="3571876"/>
              <a:ext cx="790601" cy="189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=10</a:t>
              </a:r>
            </a:p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=10</a:t>
              </a:r>
            </a:p>
          </p:txBody>
        </p:sp>
      </p:grpSp>
      <p:grpSp>
        <p:nvGrpSpPr>
          <p:cNvPr id="139" name="组合 139"/>
          <p:cNvGrpSpPr>
            <a:grpSpLocks/>
          </p:cNvGrpSpPr>
          <p:nvPr/>
        </p:nvGrpSpPr>
        <p:grpSpPr bwMode="auto">
          <a:xfrm>
            <a:off x="9595961" y="4101192"/>
            <a:ext cx="790575" cy="1316038"/>
            <a:chOff x="1995449" y="3282952"/>
            <a:chExt cx="790601" cy="478590"/>
          </a:xfrm>
        </p:grpSpPr>
        <p:sp>
          <p:nvSpPr>
            <p:cNvPr id="140" name="Line 117"/>
            <p:cNvSpPr>
              <a:spLocks noChangeShapeType="1"/>
            </p:cNvSpPr>
            <p:nvPr/>
          </p:nvSpPr>
          <p:spPr bwMode="auto">
            <a:xfrm flipH="1">
              <a:off x="2383141" y="3282952"/>
              <a:ext cx="0" cy="2708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矩形 141"/>
            <p:cNvSpPr>
              <a:spLocks noChangeArrowheads="1"/>
            </p:cNvSpPr>
            <p:nvPr/>
          </p:nvSpPr>
          <p:spPr bwMode="auto">
            <a:xfrm>
              <a:off x="1995449" y="3571876"/>
              <a:ext cx="790601" cy="189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6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=10</a:t>
              </a:r>
            </a:p>
            <a:p>
              <a:pPr algn="l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sz="1800" b="1" baseline="-25000">
                  <a:solidFill>
                    <a:schemeClr val="tx1"/>
                  </a:solidFill>
                  <a:latin typeface="Times New Roman" pitchFamily="18" charset="0"/>
                </a:rPr>
                <a:t>3</a:t>
              </a:r>
              <a:r>
                <a:rPr kumimoji="1" lang="en-US" altLang="zh-CN" sz="1800" b="1">
                  <a:solidFill>
                    <a:schemeClr val="tx1"/>
                  </a:solidFill>
                  <a:latin typeface="Times New Roman" pitchFamily="18" charset="0"/>
                </a:rPr>
                <a:t>=25</a:t>
              </a:r>
            </a:p>
          </p:txBody>
        </p:sp>
      </p:grpSp>
      <p:sp>
        <p:nvSpPr>
          <p:cNvPr id="142" name="Rectangle 195"/>
          <p:cNvSpPr>
            <a:spLocks noChangeArrowheads="1"/>
          </p:cNvSpPr>
          <p:nvPr/>
        </p:nvSpPr>
        <p:spPr bwMode="auto">
          <a:xfrm>
            <a:off x="9994423" y="5560105"/>
            <a:ext cx="500063" cy="357187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kumimoji="1" lang="en-US" altLang="zh-CN" sz="2000" baseline="-25000">
                <a:solidFill>
                  <a:schemeClr val="tx1"/>
                </a:solidFill>
                <a:latin typeface="Times New Roman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6559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/>
      <p:bldP spid="73" grpId="0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9" grpId="0" animBg="1"/>
      <p:bldP spid="14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48831" y="202028"/>
            <a:ext cx="7145241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优先级倒置（</a:t>
            </a:r>
            <a:r>
              <a:rPr lang="en-US" altLang="zh-CN" dirty="0"/>
              <a:t>priority inversion problem</a:t>
            </a:r>
            <a:r>
              <a:rPr lang="zh-CN" altLang="en-US" dirty="0"/>
              <a:t>）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78290" y="1120021"/>
            <a:ext cx="6377004" cy="665162"/>
            <a:chOff x="978290" y="1120021"/>
            <a:chExt cx="6377004" cy="665162"/>
          </a:xfrm>
        </p:grpSpPr>
        <p:sp>
          <p:nvSpPr>
            <p:cNvPr id="5" name="矩形 4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）优先级倒置的形成</a:t>
              </a:r>
            </a:p>
          </p:txBody>
        </p:sp>
      </p:grpSp>
      <p:sp>
        <p:nvSpPr>
          <p:cNvPr id="13" name="文本框 19"/>
          <p:cNvSpPr txBox="1">
            <a:spLocks noChangeArrowheads="1"/>
          </p:cNvSpPr>
          <p:nvPr/>
        </p:nvSpPr>
        <p:spPr bwMode="auto">
          <a:xfrm>
            <a:off x="1091855" y="1892926"/>
            <a:ext cx="1029179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3200" dirty="0"/>
              <a:t>一个低优先级的任务持有一个被高优先级任务所需要的共享资源，高优先任务由于因资源缺乏而处于阻塞状态，一直等到低优先级任务释放资源为止。 </a:t>
            </a:r>
            <a:endParaRPr kumimoji="1" lang="zh-CN" alt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572935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48831" y="202028"/>
            <a:ext cx="7145241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优先级倒置（</a:t>
            </a:r>
            <a:r>
              <a:rPr lang="en-US" altLang="zh-CN" dirty="0"/>
              <a:t>priority inversion problem</a:t>
            </a:r>
            <a:r>
              <a:rPr lang="zh-CN" altLang="en-US" dirty="0"/>
              <a:t>）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78290" y="1120021"/>
            <a:ext cx="6377004" cy="665162"/>
            <a:chOff x="978290" y="1120021"/>
            <a:chExt cx="6377004" cy="665162"/>
          </a:xfrm>
        </p:grpSpPr>
        <p:sp>
          <p:nvSpPr>
            <p:cNvPr id="5" name="矩形 4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</a:p>
          </p:txBody>
        </p:sp>
      </p:grpSp>
      <p:sp>
        <p:nvSpPr>
          <p:cNvPr id="8" name="Text Box 84"/>
          <p:cNvSpPr txBox="1">
            <a:spLocks noChangeArrowheads="1"/>
          </p:cNvSpPr>
          <p:nvPr/>
        </p:nvSpPr>
        <p:spPr bwMode="auto">
          <a:xfrm>
            <a:off x="1052298" y="1853335"/>
            <a:ext cx="1064093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优先级倒置的例子：有三个独立的并发进程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，它们的优先级为：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与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均会使用到一个临界资源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: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… P(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mutex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CS-1; V(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mutex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:  … program2;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:  … P(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mutex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CS-3; V(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mutex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…</a:t>
            </a:r>
          </a:p>
        </p:txBody>
      </p:sp>
      <p:sp>
        <p:nvSpPr>
          <p:cNvPr id="9" name="Rectangle 89"/>
          <p:cNvSpPr>
            <a:spLocks noChangeArrowheads="1"/>
          </p:cNvSpPr>
          <p:nvPr/>
        </p:nvSpPr>
        <p:spPr bwMode="auto">
          <a:xfrm>
            <a:off x="1650271" y="5542245"/>
            <a:ext cx="1049337" cy="287337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10" name="Rectangle 90"/>
          <p:cNvSpPr>
            <a:spLocks noChangeArrowheads="1"/>
          </p:cNvSpPr>
          <p:nvPr/>
        </p:nvSpPr>
        <p:spPr bwMode="auto">
          <a:xfrm>
            <a:off x="2702783" y="4965982"/>
            <a:ext cx="1252538" cy="2889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" name="Rectangle 91"/>
          <p:cNvSpPr>
            <a:spLocks noChangeArrowheads="1"/>
          </p:cNvSpPr>
          <p:nvPr/>
        </p:nvSpPr>
        <p:spPr bwMode="auto">
          <a:xfrm>
            <a:off x="3955321" y="4389720"/>
            <a:ext cx="935037" cy="288925"/>
          </a:xfrm>
          <a:prstGeom prst="rect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FFFF"/>
              </a:solidFill>
            </a:endParaRPr>
          </a:p>
        </p:txBody>
      </p:sp>
      <p:grpSp>
        <p:nvGrpSpPr>
          <p:cNvPr id="12" name="组合 118"/>
          <p:cNvGrpSpPr>
            <a:grpSpLocks/>
          </p:cNvGrpSpPr>
          <p:nvPr/>
        </p:nvGrpSpPr>
        <p:grpSpPr bwMode="auto">
          <a:xfrm>
            <a:off x="1002570" y="4461157"/>
            <a:ext cx="8782051" cy="1439863"/>
            <a:chOff x="-36513" y="4725022"/>
            <a:chExt cx="8782667" cy="1439864"/>
          </a:xfrm>
        </p:grpSpPr>
        <p:grpSp>
          <p:nvGrpSpPr>
            <p:cNvPr id="14" name="Group 83"/>
            <p:cNvGrpSpPr>
              <a:grpSpLocks/>
            </p:cNvGrpSpPr>
            <p:nvPr/>
          </p:nvGrpSpPr>
          <p:grpSpPr bwMode="auto">
            <a:xfrm>
              <a:off x="-36513" y="4725022"/>
              <a:ext cx="474663" cy="1439864"/>
              <a:chOff x="-6" y="1389"/>
              <a:chExt cx="299" cy="907"/>
            </a:xfrm>
          </p:grpSpPr>
          <p:sp>
            <p:nvSpPr>
              <p:cNvPr id="18" name="Text Box 84"/>
              <p:cNvSpPr txBox="1">
                <a:spLocks noChangeArrowheads="1"/>
              </p:cNvSpPr>
              <p:nvPr/>
            </p:nvSpPr>
            <p:spPr bwMode="auto">
              <a:xfrm>
                <a:off x="-6" y="1389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" name="Text Box 85"/>
              <p:cNvSpPr txBox="1">
                <a:spLocks noChangeArrowheads="1"/>
              </p:cNvSpPr>
              <p:nvPr/>
            </p:nvSpPr>
            <p:spPr bwMode="auto">
              <a:xfrm>
                <a:off x="-6" y="1706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0" name="Text Box 86"/>
              <p:cNvSpPr txBox="1">
                <a:spLocks noChangeArrowheads="1"/>
              </p:cNvSpPr>
              <p:nvPr/>
            </p:nvSpPr>
            <p:spPr bwMode="auto">
              <a:xfrm>
                <a:off x="-6" y="2005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15" name="Line 6"/>
            <p:cNvSpPr>
              <a:spLocks noChangeShapeType="1"/>
            </p:cNvSpPr>
            <p:nvPr/>
          </p:nvSpPr>
          <p:spPr bwMode="auto">
            <a:xfrm>
              <a:off x="466154" y="6093222"/>
              <a:ext cx="828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466154" y="5517158"/>
              <a:ext cx="828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6"/>
            <p:cNvSpPr>
              <a:spLocks noChangeShapeType="1"/>
            </p:cNvSpPr>
            <p:nvPr/>
          </p:nvSpPr>
          <p:spPr bwMode="auto">
            <a:xfrm>
              <a:off x="466154" y="4941094"/>
              <a:ext cx="828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组合 120"/>
          <p:cNvGrpSpPr>
            <a:grpSpLocks/>
          </p:cNvGrpSpPr>
          <p:nvPr/>
        </p:nvGrpSpPr>
        <p:grpSpPr bwMode="auto">
          <a:xfrm>
            <a:off x="2536096" y="5289832"/>
            <a:ext cx="338137" cy="857250"/>
            <a:chOff x="1497142" y="5553296"/>
            <a:chExt cx="338554" cy="857649"/>
          </a:xfrm>
        </p:grpSpPr>
        <p:sp>
          <p:nvSpPr>
            <p:cNvPr id="22" name="Line 65"/>
            <p:cNvSpPr>
              <a:spLocks noChangeShapeType="1"/>
            </p:cNvSpPr>
            <p:nvPr/>
          </p:nvSpPr>
          <p:spPr bwMode="auto">
            <a:xfrm>
              <a:off x="1665288" y="5553296"/>
              <a:ext cx="0" cy="540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84"/>
            <p:cNvSpPr txBox="1">
              <a:spLocks noChangeArrowheads="1"/>
            </p:cNvSpPr>
            <p:nvPr/>
          </p:nvSpPr>
          <p:spPr bwMode="auto">
            <a:xfrm>
              <a:off x="1497142" y="594928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24" name="组合 122"/>
          <p:cNvGrpSpPr>
            <a:grpSpLocks/>
          </p:cNvGrpSpPr>
          <p:nvPr/>
        </p:nvGrpSpPr>
        <p:grpSpPr bwMode="auto">
          <a:xfrm>
            <a:off x="3814033" y="4678645"/>
            <a:ext cx="357188" cy="933450"/>
            <a:chOff x="2775652" y="4941168"/>
            <a:chExt cx="356188" cy="933447"/>
          </a:xfrm>
        </p:grpSpPr>
        <p:sp>
          <p:nvSpPr>
            <p:cNvPr id="25" name="Line 65"/>
            <p:cNvSpPr>
              <a:spLocks noChangeShapeType="1"/>
            </p:cNvSpPr>
            <p:nvPr/>
          </p:nvSpPr>
          <p:spPr bwMode="auto">
            <a:xfrm>
              <a:off x="2915816" y="4941168"/>
              <a:ext cx="0" cy="540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84"/>
            <p:cNvSpPr txBox="1">
              <a:spLocks noChangeArrowheads="1"/>
            </p:cNvSpPr>
            <p:nvPr/>
          </p:nvSpPr>
          <p:spPr bwMode="auto">
            <a:xfrm>
              <a:off x="2775652" y="5412950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7" name="组合 124"/>
          <p:cNvGrpSpPr>
            <a:grpSpLocks/>
          </p:cNvGrpSpPr>
          <p:nvPr/>
        </p:nvGrpSpPr>
        <p:grpSpPr bwMode="auto">
          <a:xfrm>
            <a:off x="4707796" y="4678645"/>
            <a:ext cx="320675" cy="893762"/>
            <a:chOff x="3668170" y="4941168"/>
            <a:chExt cx="320922" cy="893713"/>
          </a:xfrm>
        </p:grpSpPr>
        <p:sp>
          <p:nvSpPr>
            <p:cNvPr id="28" name="Text Box 84"/>
            <p:cNvSpPr txBox="1">
              <a:spLocks noChangeArrowheads="1"/>
            </p:cNvSpPr>
            <p:nvPr/>
          </p:nvSpPr>
          <p:spPr bwMode="auto">
            <a:xfrm>
              <a:off x="3668170" y="5373216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9" name="Line 65"/>
            <p:cNvSpPr>
              <a:spLocks noChangeShapeType="1"/>
            </p:cNvSpPr>
            <p:nvPr/>
          </p:nvSpPr>
          <p:spPr bwMode="auto">
            <a:xfrm>
              <a:off x="3851920" y="4941168"/>
              <a:ext cx="0" cy="288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Rectangle 90"/>
          <p:cNvSpPr>
            <a:spLocks noChangeArrowheads="1"/>
          </p:cNvSpPr>
          <p:nvPr/>
        </p:nvSpPr>
        <p:spPr bwMode="auto">
          <a:xfrm>
            <a:off x="4890358" y="4965982"/>
            <a:ext cx="1252538" cy="2873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1" name="Text Box 84"/>
          <p:cNvSpPr txBox="1">
            <a:spLocks noChangeArrowheads="1"/>
          </p:cNvSpPr>
          <p:nvPr/>
        </p:nvSpPr>
        <p:spPr bwMode="auto">
          <a:xfrm>
            <a:off x="4387121" y="3794407"/>
            <a:ext cx="1368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zh-CN" altLang="en-US" sz="1800" b="1">
                <a:latin typeface="Times New Roman" panose="02020603050405020304" pitchFamily="18" charset="0"/>
              </a:rPr>
              <a:t>阻塞在</a:t>
            </a:r>
            <a:r>
              <a:rPr kumimoji="1" lang="en-US" altLang="zh-CN" sz="1800" b="1">
                <a:latin typeface="Times New Roman" panose="02020603050405020304" pitchFamily="18" charset="0"/>
              </a:rPr>
              <a:t>P(mutex)</a:t>
            </a:r>
          </a:p>
        </p:txBody>
      </p:sp>
      <p:sp>
        <p:nvSpPr>
          <p:cNvPr id="32" name="Rectangle 89"/>
          <p:cNvSpPr>
            <a:spLocks noChangeArrowheads="1"/>
          </p:cNvSpPr>
          <p:nvPr/>
        </p:nvSpPr>
        <p:spPr bwMode="auto">
          <a:xfrm>
            <a:off x="6133371" y="5542245"/>
            <a:ext cx="1049337" cy="287337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FFFF"/>
              </a:solidFill>
            </a:endParaRPr>
          </a:p>
        </p:txBody>
      </p:sp>
      <p:grpSp>
        <p:nvGrpSpPr>
          <p:cNvPr id="33" name="组合 125"/>
          <p:cNvGrpSpPr>
            <a:grpSpLocks/>
          </p:cNvGrpSpPr>
          <p:nvPr/>
        </p:nvGrpSpPr>
        <p:grpSpPr bwMode="auto">
          <a:xfrm>
            <a:off x="5931758" y="5200932"/>
            <a:ext cx="1263650" cy="1019175"/>
            <a:chOff x="4892306" y="5463442"/>
            <a:chExt cx="1263870" cy="1019511"/>
          </a:xfrm>
        </p:grpSpPr>
        <p:sp>
          <p:nvSpPr>
            <p:cNvPr id="34" name="Line 65"/>
            <p:cNvSpPr>
              <a:spLocks noChangeShapeType="1"/>
            </p:cNvSpPr>
            <p:nvPr/>
          </p:nvSpPr>
          <p:spPr bwMode="auto">
            <a:xfrm>
              <a:off x="5097572" y="5517232"/>
              <a:ext cx="0" cy="288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84"/>
            <p:cNvSpPr txBox="1">
              <a:spLocks noChangeArrowheads="1"/>
            </p:cNvSpPr>
            <p:nvPr/>
          </p:nvSpPr>
          <p:spPr bwMode="auto">
            <a:xfrm>
              <a:off x="5076056" y="5463442"/>
              <a:ext cx="10801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800" b="1"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1800" b="1" baseline="-25000">
                  <a:latin typeface="Times New Roman" panose="02020603050405020304" pitchFamily="18" charset="0"/>
                </a:rPr>
                <a:t>2</a:t>
              </a:r>
              <a:r>
                <a:rPr kumimoji="1" lang="zh-CN" altLang="en-US" sz="1800" b="1">
                  <a:latin typeface="Times New Roman" panose="02020603050405020304" pitchFamily="18" charset="0"/>
                </a:rPr>
                <a:t>结束</a:t>
              </a:r>
              <a:endParaRPr kumimoji="1" lang="en-US" altLang="zh-CN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36" name="Text Box 84"/>
            <p:cNvSpPr txBox="1">
              <a:spLocks noChangeArrowheads="1"/>
            </p:cNvSpPr>
            <p:nvPr/>
          </p:nvSpPr>
          <p:spPr bwMode="auto">
            <a:xfrm>
              <a:off x="4892306" y="6021288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37" name="Rectangle 91"/>
          <p:cNvSpPr>
            <a:spLocks noChangeArrowheads="1"/>
          </p:cNvSpPr>
          <p:nvPr/>
        </p:nvSpPr>
        <p:spPr bwMode="auto">
          <a:xfrm>
            <a:off x="7195408" y="4389720"/>
            <a:ext cx="1152525" cy="288925"/>
          </a:xfrm>
          <a:prstGeom prst="rect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FFFF"/>
              </a:solidFill>
            </a:endParaRPr>
          </a:p>
        </p:txBody>
      </p:sp>
      <p:grpSp>
        <p:nvGrpSpPr>
          <p:cNvPr id="38" name="组合 126"/>
          <p:cNvGrpSpPr>
            <a:grpSpLocks/>
          </p:cNvGrpSpPr>
          <p:nvPr/>
        </p:nvGrpSpPr>
        <p:grpSpPr bwMode="auto">
          <a:xfrm>
            <a:off x="7011258" y="4673882"/>
            <a:ext cx="320675" cy="1516063"/>
            <a:chOff x="5972426" y="4937870"/>
            <a:chExt cx="320922" cy="1515466"/>
          </a:xfrm>
        </p:grpSpPr>
        <p:sp>
          <p:nvSpPr>
            <p:cNvPr id="39" name="Text Box 84"/>
            <p:cNvSpPr txBox="1">
              <a:spLocks noChangeArrowheads="1"/>
            </p:cNvSpPr>
            <p:nvPr/>
          </p:nvSpPr>
          <p:spPr bwMode="auto">
            <a:xfrm>
              <a:off x="5972426" y="5991671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0" name="Line 65"/>
            <p:cNvSpPr>
              <a:spLocks noChangeShapeType="1"/>
            </p:cNvSpPr>
            <p:nvPr/>
          </p:nvSpPr>
          <p:spPr bwMode="auto">
            <a:xfrm>
              <a:off x="6145418" y="4937870"/>
              <a:ext cx="0" cy="1116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" name="Text Box 84"/>
          <p:cNvSpPr txBox="1">
            <a:spLocks noChangeArrowheads="1"/>
          </p:cNvSpPr>
          <p:nvPr/>
        </p:nvSpPr>
        <p:spPr bwMode="auto">
          <a:xfrm>
            <a:off x="6906483" y="5974045"/>
            <a:ext cx="13684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V(mutex);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latin typeface="Times New Roman" panose="02020603050405020304" pitchFamily="18" charset="0"/>
              </a:rPr>
              <a:t>3</a:t>
            </a:r>
            <a:r>
              <a:rPr kumimoji="1" lang="zh-CN" altLang="en-US" sz="1800" b="1">
                <a:latin typeface="Times New Roman" panose="02020603050405020304" pitchFamily="18" charset="0"/>
              </a:rPr>
              <a:t>离开</a:t>
            </a:r>
            <a:r>
              <a:rPr kumimoji="1" lang="en-US" altLang="zh-CN" sz="1800" b="1">
                <a:latin typeface="Times New Roman" panose="02020603050405020304" pitchFamily="18" charset="0"/>
              </a:rPr>
              <a:t>CS-3;</a:t>
            </a:r>
          </a:p>
        </p:txBody>
      </p:sp>
      <p:sp>
        <p:nvSpPr>
          <p:cNvPr id="42" name="Text Box 84"/>
          <p:cNvSpPr txBox="1">
            <a:spLocks noChangeArrowheads="1"/>
          </p:cNvSpPr>
          <p:nvPr/>
        </p:nvSpPr>
        <p:spPr bwMode="auto">
          <a:xfrm>
            <a:off x="7195408" y="4019832"/>
            <a:ext cx="1368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latin typeface="Times New Roman" panose="02020603050405020304" pitchFamily="18" charset="0"/>
              </a:rPr>
              <a:t>1</a:t>
            </a:r>
            <a:r>
              <a:rPr kumimoji="1" lang="zh-CN" altLang="en-US" sz="1800" b="1">
                <a:latin typeface="Times New Roman" panose="02020603050405020304" pitchFamily="18" charset="0"/>
              </a:rPr>
              <a:t>进入</a:t>
            </a:r>
            <a:r>
              <a:rPr kumimoji="1" lang="en-US" altLang="zh-CN" sz="1800" b="1">
                <a:latin typeface="Times New Roman" panose="02020603050405020304" pitchFamily="18" charset="0"/>
              </a:rPr>
              <a:t>CS-1;</a:t>
            </a:r>
          </a:p>
        </p:txBody>
      </p:sp>
      <p:sp>
        <p:nvSpPr>
          <p:cNvPr id="43" name="Text Box 84"/>
          <p:cNvSpPr txBox="1">
            <a:spLocks noChangeArrowheads="1"/>
          </p:cNvSpPr>
          <p:nvPr/>
        </p:nvSpPr>
        <p:spPr bwMode="auto">
          <a:xfrm>
            <a:off x="8347933" y="4318282"/>
            <a:ext cx="13668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44" name="Text Box 84"/>
          <p:cNvSpPr txBox="1">
            <a:spLocks noChangeArrowheads="1"/>
          </p:cNvSpPr>
          <p:nvPr/>
        </p:nvSpPr>
        <p:spPr bwMode="auto">
          <a:xfrm>
            <a:off x="1586771" y="5981982"/>
            <a:ext cx="1368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P(mutex);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latin typeface="Times New Roman" panose="02020603050405020304" pitchFamily="18" charset="0"/>
              </a:rPr>
              <a:t>3</a:t>
            </a:r>
            <a:r>
              <a:rPr kumimoji="1" lang="zh-CN" altLang="en-US" sz="1800" b="1">
                <a:latin typeface="Times New Roman" panose="02020603050405020304" pitchFamily="18" charset="0"/>
              </a:rPr>
              <a:t>进入</a:t>
            </a:r>
            <a:r>
              <a:rPr kumimoji="1" lang="en-US" altLang="zh-CN" sz="1800" b="1">
                <a:latin typeface="Times New Roman" panose="02020603050405020304" pitchFamily="18" charset="0"/>
              </a:rPr>
              <a:t>CS-3;</a:t>
            </a:r>
          </a:p>
        </p:txBody>
      </p:sp>
      <p:sp>
        <p:nvSpPr>
          <p:cNvPr id="45" name="Text Box 84"/>
          <p:cNvSpPr txBox="1">
            <a:spLocks noChangeArrowheads="1"/>
          </p:cNvSpPr>
          <p:nvPr/>
        </p:nvSpPr>
        <p:spPr bwMode="auto">
          <a:xfrm>
            <a:off x="2147158" y="5204107"/>
            <a:ext cx="1368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C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solidFill>
                  <a:srgbClr val="C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1800" b="1">
                <a:solidFill>
                  <a:srgbClr val="C00000"/>
                </a:solidFill>
                <a:latin typeface="Times New Roman" panose="02020603050405020304" pitchFamily="18" charset="0"/>
              </a:rPr>
              <a:t>被抢占</a:t>
            </a:r>
            <a:endParaRPr kumimoji="1" lang="en-US" altLang="zh-CN" sz="1800" b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Text Box 84"/>
          <p:cNvSpPr txBox="1">
            <a:spLocks noChangeArrowheads="1"/>
          </p:cNvSpPr>
          <p:nvPr/>
        </p:nvSpPr>
        <p:spPr bwMode="auto">
          <a:xfrm>
            <a:off x="3402871" y="4627845"/>
            <a:ext cx="1368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C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1800" b="1">
                <a:solidFill>
                  <a:srgbClr val="C00000"/>
                </a:solidFill>
                <a:latin typeface="Times New Roman" panose="02020603050405020304" pitchFamily="18" charset="0"/>
              </a:rPr>
              <a:t>被抢占</a:t>
            </a:r>
            <a:endParaRPr kumimoji="1" lang="en-US" altLang="zh-CN" sz="1800" b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 Box 84"/>
          <p:cNvSpPr txBox="1">
            <a:spLocks noChangeArrowheads="1"/>
          </p:cNvSpPr>
          <p:nvPr/>
        </p:nvSpPr>
        <p:spPr bwMode="auto">
          <a:xfrm>
            <a:off x="6622321" y="4821520"/>
            <a:ext cx="1368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C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1800" b="1">
                <a:solidFill>
                  <a:srgbClr val="C00000"/>
                </a:solidFill>
                <a:latin typeface="Times New Roman" panose="02020603050405020304" pitchFamily="18" charset="0"/>
              </a:rPr>
              <a:t>被抢占</a:t>
            </a:r>
            <a:endParaRPr kumimoji="1" lang="en-US" altLang="zh-CN" sz="1800" b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65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30" grpId="0" animBg="1"/>
      <p:bldP spid="31" grpId="0"/>
      <p:bldP spid="32" grpId="0" animBg="1"/>
      <p:bldP spid="37" grpId="0" animBg="1"/>
      <p:bldP spid="41" grpId="0"/>
      <p:bldP spid="42" grpId="0"/>
      <p:bldP spid="43" grpId="0"/>
      <p:bldP spid="44" grpId="0"/>
      <p:bldP spid="45" grpId="0"/>
      <p:bldP spid="45" grpId="1"/>
      <p:bldP spid="46" grpId="0"/>
      <p:bldP spid="46" grpId="1"/>
      <p:bldP spid="47" grpId="0"/>
      <p:bldP spid="4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48831" y="202028"/>
            <a:ext cx="7145241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优先级倒置（</a:t>
            </a:r>
            <a:r>
              <a:rPr lang="en-US" altLang="zh-CN" dirty="0"/>
              <a:t>priority inversion problem</a:t>
            </a:r>
            <a:r>
              <a:rPr lang="zh-CN" altLang="en-US" dirty="0"/>
              <a:t>）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78290" y="1120021"/>
            <a:ext cx="6377004" cy="665162"/>
            <a:chOff x="978290" y="1120021"/>
            <a:chExt cx="6377004" cy="665162"/>
          </a:xfrm>
        </p:grpSpPr>
        <p:sp>
          <p:nvSpPr>
            <p:cNvPr id="5" name="矩形 4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）优先级倒置的形成</a:t>
              </a:r>
            </a:p>
          </p:txBody>
        </p:sp>
      </p:grpSp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539750" y="1826347"/>
            <a:ext cx="1115348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zh-CN" sz="2400" dirty="0"/>
              <a:t>1997</a:t>
            </a:r>
            <a:r>
              <a:rPr lang="zh-CN" altLang="en-US" sz="2400" dirty="0"/>
              <a:t>年的美国的火星探测器（使用的是</a:t>
            </a:r>
            <a:r>
              <a:rPr lang="en-US" altLang="zh-CN" sz="2400" dirty="0" err="1"/>
              <a:t>vxworks</a:t>
            </a:r>
            <a:r>
              <a:rPr lang="en-US" altLang="zh-CN" sz="2400" dirty="0"/>
              <a:t>)</a:t>
            </a:r>
            <a:r>
              <a:rPr lang="zh-CN" altLang="en-US" sz="2400" dirty="0"/>
              <a:t>就遇到一个优先级反转问题引起的故障。火星探测器有一个信息总线，有一个高优先级的总线任务负责总线数据的存取，访问总线都需要通过一个互斥锁（共享资源）；还有一个低优先级的，运行不是很频繁的气象搜集任务，它需要对总线写数据，同样需要访问互斥锁；最后还有一个中优先级的通信任务，它的运行时间比较长。平常这个系统运行毫无问题，但是有一天，在气象任务获得互斥锁往总线写数据的时候，一个中断发生导致通信任务被调度就绪，通信任务抢占了低优先级的气象任务，而此时高优先级的总线任务正在等待气象任务写完数据归还互斥锁，但是由于通信任务抢占了</a:t>
            </a:r>
            <a:r>
              <a:rPr lang="en-US" altLang="zh-CN" sz="2400" dirty="0"/>
              <a:t>CPU</a:t>
            </a:r>
            <a:r>
              <a:rPr lang="zh-CN" altLang="en-US" sz="2400" dirty="0"/>
              <a:t>并且运行时间比较长，导致气象任务得不到</a:t>
            </a:r>
            <a:r>
              <a:rPr lang="en-US" altLang="zh-CN" sz="2400" dirty="0"/>
              <a:t>CPU</a:t>
            </a:r>
            <a:r>
              <a:rPr lang="zh-CN" altLang="en-US" sz="2400" dirty="0"/>
              <a:t>也无法释放互斥锁，本来是高优先级的总线任务也无法执行，总线任务无法及时执行被探路者认为是一个严重错误，结果就是整个系统被重启。</a:t>
            </a:r>
            <a:endParaRPr kumimoji="1" lang="zh-CN" alt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4078540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48831" y="202028"/>
            <a:ext cx="7145241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优先级倒置（</a:t>
            </a:r>
            <a:r>
              <a:rPr lang="en-US" altLang="zh-CN" dirty="0"/>
              <a:t>priority inversion problem</a:t>
            </a:r>
            <a:r>
              <a:rPr lang="zh-CN" altLang="en-US" dirty="0"/>
              <a:t>）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78290" y="1120021"/>
            <a:ext cx="6377004" cy="665162"/>
            <a:chOff x="978290" y="1120021"/>
            <a:chExt cx="6377004" cy="665162"/>
          </a:xfrm>
        </p:grpSpPr>
        <p:sp>
          <p:nvSpPr>
            <p:cNvPr id="5" name="矩形 4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）优先级倒置的解决方法</a:t>
              </a:r>
            </a:p>
          </p:txBody>
        </p:sp>
      </p:grpSp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48830" y="1856918"/>
            <a:ext cx="10941387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400" b="1" kern="0" dirty="0">
                <a:solidFill>
                  <a:schemeClr val="accent2"/>
                </a:solidFill>
              </a:rPr>
              <a:t>设置优先级上限</a:t>
            </a:r>
            <a:r>
              <a:rPr lang="zh-CN" altLang="en-US" sz="2400" dirty="0"/>
              <a:t>，给临界区一个高优先级，进入临界区的进程都将获得这个高优先级，如果其他试图进入临界区的进程的优先级都低于这个高优先级，那么优先级反转就不会发生。</a:t>
            </a:r>
            <a:endParaRPr lang="en-US" altLang="zh-CN" sz="2400" dirty="0"/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400" b="1" kern="0" dirty="0">
                <a:solidFill>
                  <a:schemeClr val="accent2"/>
                </a:solidFill>
              </a:rPr>
              <a:t>优先级继承</a:t>
            </a:r>
            <a:r>
              <a:rPr lang="zh-CN" altLang="en-US" sz="2400" dirty="0"/>
              <a:t>，当一个高优先级进程等待一个低优先级进程持有的资源时，低优先级进程将暂时获得高优先级进程的优先级别，在释放共享资源后，低优先级进程回到原来的优先级别。嵌入式系统</a:t>
            </a:r>
            <a:r>
              <a:rPr lang="en-US" altLang="zh-CN" sz="2400" dirty="0" err="1"/>
              <a:t>VxWorks</a:t>
            </a:r>
            <a:r>
              <a:rPr lang="zh-CN" altLang="en-US" sz="2400" dirty="0"/>
              <a:t>就是采用这种策略。</a:t>
            </a:r>
            <a:endParaRPr lang="en-US" altLang="zh-CN" sz="2400" dirty="0"/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400" b="1" kern="0" dirty="0">
                <a:solidFill>
                  <a:schemeClr val="accent2"/>
                </a:solidFill>
              </a:rPr>
              <a:t>使用中断禁止</a:t>
            </a:r>
            <a:r>
              <a:rPr lang="zh-CN" altLang="en-US" sz="2400" dirty="0"/>
              <a:t>，通过禁止中断来保护临界区，采用此种策略的系统只有两种优先级：可抢占优先级和中断禁止优先级。前者为一般进程运行时的优先级，后者为运行于临界区的优先级。 </a:t>
            </a:r>
            <a:endParaRPr kumimoji="1" lang="zh-CN" alt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4283246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48831" y="202028"/>
            <a:ext cx="7145241" cy="457196"/>
          </a:xfrm>
        </p:spPr>
        <p:txBody>
          <a:bodyPr>
            <a:norm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优先级倒置（</a:t>
            </a:r>
            <a:r>
              <a:rPr lang="en-US" altLang="zh-CN" dirty="0"/>
              <a:t>priority inversion problem</a:t>
            </a:r>
            <a:r>
              <a:rPr lang="zh-CN" altLang="en-US" dirty="0"/>
              <a:t>）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78290" y="1120021"/>
            <a:ext cx="6377004" cy="665162"/>
            <a:chOff x="978290" y="1120021"/>
            <a:chExt cx="6377004" cy="665162"/>
          </a:xfrm>
        </p:grpSpPr>
        <p:sp>
          <p:nvSpPr>
            <p:cNvPr id="5" name="矩形 4"/>
            <p:cNvSpPr/>
            <p:nvPr/>
          </p:nvSpPr>
          <p:spPr>
            <a:xfrm>
              <a:off x="1124341" y="16534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32391" y="16534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978290" y="1120021"/>
              <a:ext cx="63770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</a:p>
          </p:txBody>
        </p:sp>
      </p:grpSp>
      <p:sp>
        <p:nvSpPr>
          <p:cNvPr id="8" name="Text Box 84"/>
          <p:cNvSpPr txBox="1">
            <a:spLocks noChangeArrowheads="1"/>
          </p:cNvSpPr>
          <p:nvPr/>
        </p:nvSpPr>
        <p:spPr bwMode="auto">
          <a:xfrm>
            <a:off x="1052298" y="1853335"/>
            <a:ext cx="1064093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优先级倒置的例子：有三个独立的并发进程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，它们的优先级为：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&gt;P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与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均会使用到一个临界资源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: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… P(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mutex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CS-1; V(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mutex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:  … program2;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:  … P(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mutex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CS-3; V(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mutex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…</a:t>
            </a:r>
          </a:p>
        </p:txBody>
      </p:sp>
      <p:sp>
        <p:nvSpPr>
          <p:cNvPr id="48" name="Rectangle 89"/>
          <p:cNvSpPr>
            <a:spLocks noChangeArrowheads="1"/>
          </p:cNvSpPr>
          <p:nvPr/>
        </p:nvSpPr>
        <p:spPr bwMode="auto">
          <a:xfrm>
            <a:off x="2125084" y="5453937"/>
            <a:ext cx="1047750" cy="287337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49" name="Rectangle 90"/>
          <p:cNvSpPr>
            <a:spLocks noChangeArrowheads="1"/>
          </p:cNvSpPr>
          <p:nvPr/>
        </p:nvSpPr>
        <p:spPr bwMode="auto">
          <a:xfrm>
            <a:off x="3176009" y="4879262"/>
            <a:ext cx="1252537" cy="2873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0" name="Rectangle 91"/>
          <p:cNvSpPr>
            <a:spLocks noChangeArrowheads="1"/>
          </p:cNvSpPr>
          <p:nvPr/>
        </p:nvSpPr>
        <p:spPr bwMode="auto">
          <a:xfrm>
            <a:off x="4428546" y="4301412"/>
            <a:ext cx="936625" cy="288925"/>
          </a:xfrm>
          <a:prstGeom prst="rect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FFFF"/>
              </a:solidFill>
            </a:endParaRPr>
          </a:p>
        </p:txBody>
      </p:sp>
      <p:grpSp>
        <p:nvGrpSpPr>
          <p:cNvPr id="51" name="组合 118"/>
          <p:cNvGrpSpPr>
            <a:grpSpLocks/>
          </p:cNvGrpSpPr>
          <p:nvPr/>
        </p:nvGrpSpPr>
        <p:grpSpPr bwMode="auto">
          <a:xfrm>
            <a:off x="1475796" y="4374437"/>
            <a:ext cx="8783638" cy="1439862"/>
            <a:chOff x="-36513" y="4725022"/>
            <a:chExt cx="8782667" cy="1439864"/>
          </a:xfrm>
        </p:grpSpPr>
        <p:grpSp>
          <p:nvGrpSpPr>
            <p:cNvPr id="52" name="Group 83"/>
            <p:cNvGrpSpPr>
              <a:grpSpLocks/>
            </p:cNvGrpSpPr>
            <p:nvPr/>
          </p:nvGrpSpPr>
          <p:grpSpPr bwMode="auto">
            <a:xfrm>
              <a:off x="-36513" y="4725022"/>
              <a:ext cx="474663" cy="1439864"/>
              <a:chOff x="-6" y="1389"/>
              <a:chExt cx="299" cy="907"/>
            </a:xfrm>
          </p:grpSpPr>
          <p:sp>
            <p:nvSpPr>
              <p:cNvPr id="56" name="Text Box 84"/>
              <p:cNvSpPr txBox="1">
                <a:spLocks noChangeArrowheads="1"/>
              </p:cNvSpPr>
              <p:nvPr/>
            </p:nvSpPr>
            <p:spPr bwMode="auto">
              <a:xfrm>
                <a:off x="-6" y="1389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7" name="Text Box 85"/>
              <p:cNvSpPr txBox="1">
                <a:spLocks noChangeArrowheads="1"/>
              </p:cNvSpPr>
              <p:nvPr/>
            </p:nvSpPr>
            <p:spPr bwMode="auto">
              <a:xfrm>
                <a:off x="-6" y="1706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8" name="Text Box 86"/>
              <p:cNvSpPr txBox="1">
                <a:spLocks noChangeArrowheads="1"/>
              </p:cNvSpPr>
              <p:nvPr/>
            </p:nvSpPr>
            <p:spPr bwMode="auto">
              <a:xfrm>
                <a:off x="-6" y="2005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53" name="Line 6"/>
            <p:cNvSpPr>
              <a:spLocks noChangeShapeType="1"/>
            </p:cNvSpPr>
            <p:nvPr/>
          </p:nvSpPr>
          <p:spPr bwMode="auto">
            <a:xfrm>
              <a:off x="466154" y="6093222"/>
              <a:ext cx="828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6"/>
            <p:cNvSpPr>
              <a:spLocks noChangeShapeType="1"/>
            </p:cNvSpPr>
            <p:nvPr/>
          </p:nvSpPr>
          <p:spPr bwMode="auto">
            <a:xfrm>
              <a:off x="466154" y="5517158"/>
              <a:ext cx="828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6"/>
            <p:cNvSpPr>
              <a:spLocks noChangeShapeType="1"/>
            </p:cNvSpPr>
            <p:nvPr/>
          </p:nvSpPr>
          <p:spPr bwMode="auto">
            <a:xfrm>
              <a:off x="466154" y="4941094"/>
              <a:ext cx="828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" name="组合 120"/>
          <p:cNvGrpSpPr>
            <a:grpSpLocks/>
          </p:cNvGrpSpPr>
          <p:nvPr/>
        </p:nvGrpSpPr>
        <p:grpSpPr bwMode="auto">
          <a:xfrm>
            <a:off x="3009321" y="5201524"/>
            <a:ext cx="339725" cy="858838"/>
            <a:chOff x="1497142" y="5553296"/>
            <a:chExt cx="338554" cy="857649"/>
          </a:xfrm>
        </p:grpSpPr>
        <p:sp>
          <p:nvSpPr>
            <p:cNvPr id="60" name="Line 65"/>
            <p:cNvSpPr>
              <a:spLocks noChangeShapeType="1"/>
            </p:cNvSpPr>
            <p:nvPr/>
          </p:nvSpPr>
          <p:spPr bwMode="auto">
            <a:xfrm>
              <a:off x="1665288" y="5553296"/>
              <a:ext cx="0" cy="540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Box 84"/>
            <p:cNvSpPr txBox="1">
              <a:spLocks noChangeArrowheads="1"/>
            </p:cNvSpPr>
            <p:nvPr/>
          </p:nvSpPr>
          <p:spPr bwMode="auto">
            <a:xfrm>
              <a:off x="1497142" y="594928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62" name="组合 122"/>
          <p:cNvGrpSpPr>
            <a:grpSpLocks/>
          </p:cNvGrpSpPr>
          <p:nvPr/>
        </p:nvGrpSpPr>
        <p:grpSpPr bwMode="auto">
          <a:xfrm>
            <a:off x="4288846" y="4590337"/>
            <a:ext cx="355600" cy="933450"/>
            <a:chOff x="2775652" y="4941168"/>
            <a:chExt cx="356188" cy="933447"/>
          </a:xfrm>
        </p:grpSpPr>
        <p:sp>
          <p:nvSpPr>
            <p:cNvPr id="63" name="Line 65"/>
            <p:cNvSpPr>
              <a:spLocks noChangeShapeType="1"/>
            </p:cNvSpPr>
            <p:nvPr/>
          </p:nvSpPr>
          <p:spPr bwMode="auto">
            <a:xfrm>
              <a:off x="2915816" y="4941168"/>
              <a:ext cx="0" cy="540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 Box 84"/>
            <p:cNvSpPr txBox="1">
              <a:spLocks noChangeArrowheads="1"/>
            </p:cNvSpPr>
            <p:nvPr/>
          </p:nvSpPr>
          <p:spPr bwMode="auto">
            <a:xfrm>
              <a:off x="2775652" y="5412950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65" name="组合 124"/>
          <p:cNvGrpSpPr>
            <a:grpSpLocks/>
          </p:cNvGrpSpPr>
          <p:nvPr/>
        </p:nvGrpSpPr>
        <p:grpSpPr bwMode="auto">
          <a:xfrm>
            <a:off x="5181021" y="4590337"/>
            <a:ext cx="320675" cy="1470025"/>
            <a:chOff x="3668170" y="4941168"/>
            <a:chExt cx="320922" cy="1470877"/>
          </a:xfrm>
        </p:grpSpPr>
        <p:sp>
          <p:nvSpPr>
            <p:cNvPr id="66" name="Text Box 84"/>
            <p:cNvSpPr txBox="1">
              <a:spLocks noChangeArrowheads="1"/>
            </p:cNvSpPr>
            <p:nvPr/>
          </p:nvSpPr>
          <p:spPr bwMode="auto">
            <a:xfrm>
              <a:off x="3668170" y="5950380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7" name="Line 65"/>
            <p:cNvSpPr>
              <a:spLocks noChangeShapeType="1"/>
            </p:cNvSpPr>
            <p:nvPr/>
          </p:nvSpPr>
          <p:spPr bwMode="auto">
            <a:xfrm>
              <a:off x="3851920" y="4941168"/>
              <a:ext cx="0" cy="86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8" name="Rectangle 90"/>
          <p:cNvSpPr>
            <a:spLocks noChangeArrowheads="1"/>
          </p:cNvSpPr>
          <p:nvPr/>
        </p:nvSpPr>
        <p:spPr bwMode="auto">
          <a:xfrm>
            <a:off x="8170284" y="4877674"/>
            <a:ext cx="1252537" cy="2889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69" name="Text Box 84"/>
          <p:cNvSpPr txBox="1">
            <a:spLocks noChangeArrowheads="1"/>
          </p:cNvSpPr>
          <p:nvPr/>
        </p:nvSpPr>
        <p:spPr bwMode="auto">
          <a:xfrm>
            <a:off x="4860346" y="3706099"/>
            <a:ext cx="1368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zh-CN" altLang="en-US" sz="1800" b="1">
                <a:latin typeface="Times New Roman" panose="02020603050405020304" pitchFamily="18" charset="0"/>
              </a:rPr>
              <a:t>阻塞在</a:t>
            </a:r>
            <a:r>
              <a:rPr kumimoji="1" lang="en-US" altLang="zh-CN" sz="1800" b="1">
                <a:latin typeface="Times New Roman" panose="02020603050405020304" pitchFamily="18" charset="0"/>
              </a:rPr>
              <a:t>P(mutex)</a:t>
            </a:r>
          </a:p>
        </p:txBody>
      </p:sp>
      <p:sp>
        <p:nvSpPr>
          <p:cNvPr id="70" name="Rectangle 89"/>
          <p:cNvSpPr>
            <a:spLocks noChangeArrowheads="1"/>
          </p:cNvSpPr>
          <p:nvPr/>
        </p:nvSpPr>
        <p:spPr bwMode="auto">
          <a:xfrm>
            <a:off x="5361996" y="5453937"/>
            <a:ext cx="1049338" cy="288925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FFFF"/>
              </a:solidFill>
            </a:endParaRPr>
          </a:p>
        </p:txBody>
      </p:sp>
      <p:grpSp>
        <p:nvGrpSpPr>
          <p:cNvPr id="71" name="组合 125"/>
          <p:cNvGrpSpPr>
            <a:grpSpLocks/>
          </p:cNvGrpSpPr>
          <p:nvPr/>
        </p:nvGrpSpPr>
        <p:grpSpPr bwMode="auto">
          <a:xfrm>
            <a:off x="8019471" y="4612562"/>
            <a:ext cx="320675" cy="873125"/>
            <a:chOff x="4946096" y="5517232"/>
            <a:chExt cx="320922" cy="872838"/>
          </a:xfrm>
        </p:grpSpPr>
        <p:sp>
          <p:nvSpPr>
            <p:cNvPr id="72" name="Line 65"/>
            <p:cNvSpPr>
              <a:spLocks noChangeShapeType="1"/>
            </p:cNvSpPr>
            <p:nvPr/>
          </p:nvSpPr>
          <p:spPr bwMode="auto">
            <a:xfrm>
              <a:off x="5097572" y="5517232"/>
              <a:ext cx="0" cy="288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84"/>
            <p:cNvSpPr txBox="1">
              <a:spLocks noChangeArrowheads="1"/>
            </p:cNvSpPr>
            <p:nvPr/>
          </p:nvSpPr>
          <p:spPr bwMode="auto">
            <a:xfrm>
              <a:off x="4946096" y="5928405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74" name="Rectangle 91"/>
          <p:cNvSpPr>
            <a:spLocks noChangeArrowheads="1"/>
          </p:cNvSpPr>
          <p:nvPr/>
        </p:nvSpPr>
        <p:spPr bwMode="auto">
          <a:xfrm>
            <a:off x="6424034" y="4301412"/>
            <a:ext cx="1746250" cy="288925"/>
          </a:xfrm>
          <a:prstGeom prst="rect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FFFF"/>
              </a:solidFill>
            </a:endParaRPr>
          </a:p>
        </p:txBody>
      </p:sp>
      <p:grpSp>
        <p:nvGrpSpPr>
          <p:cNvPr id="75" name="组合 45"/>
          <p:cNvGrpSpPr>
            <a:grpSpLocks/>
          </p:cNvGrpSpPr>
          <p:nvPr/>
        </p:nvGrpSpPr>
        <p:grpSpPr bwMode="auto">
          <a:xfrm>
            <a:off x="6082721" y="4587162"/>
            <a:ext cx="1368425" cy="1998662"/>
            <a:chOff x="4644008" y="4525597"/>
            <a:chExt cx="1368152" cy="1999747"/>
          </a:xfrm>
        </p:grpSpPr>
        <p:grpSp>
          <p:nvGrpSpPr>
            <p:cNvPr id="76" name="组合 126"/>
            <p:cNvGrpSpPr>
              <a:grpSpLocks/>
            </p:cNvGrpSpPr>
            <p:nvPr/>
          </p:nvGrpSpPr>
          <p:grpSpPr bwMode="auto">
            <a:xfrm>
              <a:off x="4798782" y="4525597"/>
              <a:ext cx="356188" cy="1515466"/>
              <a:chOff x="5972426" y="4937870"/>
              <a:chExt cx="356188" cy="1515466"/>
            </a:xfrm>
          </p:grpSpPr>
          <p:sp>
            <p:nvSpPr>
              <p:cNvPr id="78" name="Text Box 84"/>
              <p:cNvSpPr txBox="1">
                <a:spLocks noChangeArrowheads="1"/>
              </p:cNvSpPr>
              <p:nvPr/>
            </p:nvSpPr>
            <p:spPr bwMode="auto">
              <a:xfrm>
                <a:off x="5972426" y="5991671"/>
                <a:ext cx="35618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79" name="Line 65"/>
              <p:cNvSpPr>
                <a:spLocks noChangeShapeType="1"/>
              </p:cNvSpPr>
              <p:nvPr/>
            </p:nvSpPr>
            <p:spPr bwMode="auto">
              <a:xfrm>
                <a:off x="6145418" y="4937870"/>
                <a:ext cx="0" cy="1116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" name="Text Box 84"/>
            <p:cNvSpPr txBox="1">
              <a:spLocks noChangeArrowheads="1"/>
            </p:cNvSpPr>
            <p:nvPr/>
          </p:nvSpPr>
          <p:spPr bwMode="auto">
            <a:xfrm>
              <a:off x="4644008" y="5879013"/>
              <a:ext cx="136815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800" b="1">
                  <a:latin typeface="Times New Roman" panose="02020603050405020304" pitchFamily="18" charset="0"/>
                </a:rPr>
                <a:t>V(mutex);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800" b="1"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1800" b="1" baseline="-25000">
                  <a:latin typeface="Times New Roman" panose="02020603050405020304" pitchFamily="18" charset="0"/>
                </a:rPr>
                <a:t>3</a:t>
              </a:r>
              <a:r>
                <a:rPr kumimoji="1" lang="zh-CN" altLang="en-US" sz="1800" b="1">
                  <a:latin typeface="Times New Roman" panose="02020603050405020304" pitchFamily="18" charset="0"/>
                </a:rPr>
                <a:t>离开</a:t>
              </a:r>
              <a:r>
                <a:rPr kumimoji="1" lang="en-US" altLang="zh-CN" sz="1800" b="1">
                  <a:latin typeface="Times New Roman" panose="02020603050405020304" pitchFamily="18" charset="0"/>
                </a:rPr>
                <a:t>CS-3;</a:t>
              </a:r>
            </a:p>
          </p:txBody>
        </p:sp>
      </p:grpSp>
      <p:sp>
        <p:nvSpPr>
          <p:cNvPr id="80" name="Text Box 84"/>
          <p:cNvSpPr txBox="1">
            <a:spLocks noChangeArrowheads="1"/>
          </p:cNvSpPr>
          <p:nvPr/>
        </p:nvSpPr>
        <p:spPr bwMode="auto">
          <a:xfrm>
            <a:off x="7668634" y="3933112"/>
            <a:ext cx="1368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latin typeface="Times New Roman" panose="02020603050405020304" pitchFamily="18" charset="0"/>
              </a:rPr>
              <a:t>1</a:t>
            </a:r>
            <a:r>
              <a:rPr kumimoji="1" lang="zh-CN" altLang="en-US" sz="1800" b="1">
                <a:latin typeface="Times New Roman" panose="02020603050405020304" pitchFamily="18" charset="0"/>
              </a:rPr>
              <a:t>结束</a:t>
            </a:r>
            <a:endParaRPr kumimoji="1" lang="en-US" altLang="zh-CN" sz="1800" b="1">
              <a:latin typeface="Times New Roman" panose="02020603050405020304" pitchFamily="18" charset="0"/>
            </a:endParaRPr>
          </a:p>
        </p:txBody>
      </p:sp>
      <p:sp>
        <p:nvSpPr>
          <p:cNvPr id="81" name="Text Box 84"/>
          <p:cNvSpPr txBox="1">
            <a:spLocks noChangeArrowheads="1"/>
          </p:cNvSpPr>
          <p:nvPr/>
        </p:nvSpPr>
        <p:spPr bwMode="auto">
          <a:xfrm>
            <a:off x="9467271" y="4785599"/>
            <a:ext cx="935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82" name="Text Box 84"/>
          <p:cNvSpPr txBox="1">
            <a:spLocks noChangeArrowheads="1"/>
          </p:cNvSpPr>
          <p:nvPr/>
        </p:nvSpPr>
        <p:spPr bwMode="auto">
          <a:xfrm>
            <a:off x="2061584" y="5895262"/>
            <a:ext cx="13668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P(mutex);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latin typeface="Times New Roman" panose="02020603050405020304" pitchFamily="18" charset="0"/>
              </a:rPr>
              <a:t>3</a:t>
            </a:r>
            <a:r>
              <a:rPr kumimoji="1" lang="zh-CN" altLang="en-US" sz="1800" b="1">
                <a:latin typeface="Times New Roman" panose="02020603050405020304" pitchFamily="18" charset="0"/>
              </a:rPr>
              <a:t>进入</a:t>
            </a:r>
            <a:r>
              <a:rPr kumimoji="1" lang="en-US" altLang="zh-CN" sz="1800" b="1">
                <a:latin typeface="Times New Roman" panose="02020603050405020304" pitchFamily="18" charset="0"/>
              </a:rPr>
              <a:t>CS-3;</a:t>
            </a:r>
          </a:p>
        </p:txBody>
      </p:sp>
      <p:sp>
        <p:nvSpPr>
          <p:cNvPr id="83" name="Text Box 84"/>
          <p:cNvSpPr txBox="1">
            <a:spLocks noChangeArrowheads="1"/>
          </p:cNvSpPr>
          <p:nvPr/>
        </p:nvSpPr>
        <p:spPr bwMode="auto">
          <a:xfrm>
            <a:off x="2620384" y="5115799"/>
            <a:ext cx="1368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C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solidFill>
                  <a:srgbClr val="C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1800" b="1">
                <a:solidFill>
                  <a:srgbClr val="C00000"/>
                </a:solidFill>
                <a:latin typeface="Times New Roman" panose="02020603050405020304" pitchFamily="18" charset="0"/>
              </a:rPr>
              <a:t>被抢占</a:t>
            </a:r>
            <a:endParaRPr kumimoji="1" lang="en-US" altLang="zh-CN" sz="1800" b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" name="Text Box 84"/>
          <p:cNvSpPr txBox="1">
            <a:spLocks noChangeArrowheads="1"/>
          </p:cNvSpPr>
          <p:nvPr/>
        </p:nvSpPr>
        <p:spPr bwMode="auto">
          <a:xfrm>
            <a:off x="3877684" y="4539537"/>
            <a:ext cx="1368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rgbClr val="C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1800" b="1">
                <a:solidFill>
                  <a:srgbClr val="C00000"/>
                </a:solidFill>
                <a:latin typeface="Times New Roman" panose="02020603050405020304" pitchFamily="18" charset="0"/>
              </a:rPr>
              <a:t>被抢占</a:t>
            </a:r>
            <a:endParaRPr kumimoji="1" lang="en-US" altLang="zh-CN" sz="1800" b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" name="Text Box 84"/>
          <p:cNvSpPr txBox="1">
            <a:spLocks noChangeArrowheads="1"/>
          </p:cNvSpPr>
          <p:nvPr/>
        </p:nvSpPr>
        <p:spPr bwMode="auto">
          <a:xfrm>
            <a:off x="4714296" y="5938124"/>
            <a:ext cx="1368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latin typeface="Times New Roman" panose="02020603050405020304" pitchFamily="18" charset="0"/>
              </a:rPr>
              <a:t>3</a:t>
            </a:r>
            <a:r>
              <a:rPr kumimoji="1" lang="zh-CN" altLang="en-US" sz="1800" b="1">
                <a:latin typeface="Times New Roman" panose="02020603050405020304" pitchFamily="18" charset="0"/>
              </a:rPr>
              <a:t>继承</a:t>
            </a:r>
            <a:r>
              <a:rPr kumimoji="1" lang="en-US" altLang="zh-CN" sz="1800" b="1">
                <a:latin typeface="Times New Roman" panose="02020603050405020304" pitchFamily="18" charset="0"/>
              </a:rPr>
              <a:t>P</a:t>
            </a:r>
            <a:r>
              <a:rPr kumimoji="1" lang="en-US" altLang="zh-CN" sz="1800" b="1" baseline="-25000">
                <a:latin typeface="Times New Roman" panose="02020603050405020304" pitchFamily="18" charset="0"/>
              </a:rPr>
              <a:t>1</a:t>
            </a:r>
            <a:r>
              <a:rPr kumimoji="1" lang="zh-CN" altLang="en-US" sz="1800" b="1">
                <a:latin typeface="Times New Roman" panose="02020603050405020304" pitchFamily="18" charset="0"/>
              </a:rPr>
              <a:t>的优先级</a:t>
            </a:r>
            <a:r>
              <a:rPr kumimoji="1" lang="en-US" altLang="zh-CN" sz="1800" b="1">
                <a:latin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9320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6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8" grpId="0" animBg="1"/>
      <p:bldP spid="49" grpId="0" animBg="1"/>
      <p:bldP spid="50" grpId="0" animBg="1"/>
      <p:bldP spid="68" grpId="0" animBg="1"/>
      <p:bldP spid="69" grpId="0"/>
      <p:bldP spid="70" grpId="0" animBg="1"/>
      <p:bldP spid="74" grpId="0" animBg="1"/>
      <p:bldP spid="80" grpId="0"/>
      <p:bldP spid="81" grpId="0"/>
      <p:bldP spid="82" grpId="0"/>
      <p:bldP spid="83" grpId="0"/>
      <p:bldP spid="83" grpId="1"/>
      <p:bldP spid="84" grpId="0"/>
      <p:bldP spid="84" grpId="1"/>
      <p:bldP spid="8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2242517" y="2946258"/>
            <a:ext cx="596900" cy="656791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2100" y="2949865"/>
            <a:ext cx="9359900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zh-CN" altLang="en-US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谢谢收看！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2182092"/>
            <a:ext cx="9312276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3200" spc="2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本节结束！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9312275" y="2178052"/>
            <a:ext cx="853701" cy="779317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4513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4603</TotalTime>
  <Words>1959</Words>
  <Application>Microsoft Office PowerPoint</Application>
  <PresentationFormat>宽屏</PresentationFormat>
  <Paragraphs>427</Paragraphs>
  <Slides>20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等线</vt:lpstr>
      <vt:lpstr>等线 Light</vt:lpstr>
      <vt:lpstr>方正清刻本悦宋简体</vt:lpstr>
      <vt:lpstr>宋体</vt:lpstr>
      <vt:lpstr>微软雅黑</vt:lpstr>
      <vt:lpstr>Arial</vt:lpstr>
      <vt:lpstr>Calibri</vt:lpstr>
      <vt:lpstr>Impact</vt:lpstr>
      <vt:lpstr>Tahoma</vt:lpstr>
      <vt:lpstr>Times New Roman</vt:lpstr>
      <vt:lpstr>1_Office 主题​​</vt:lpstr>
      <vt:lpstr>2_Office 主题​​</vt:lpstr>
      <vt:lpstr>3_Office 主题​​</vt:lpstr>
      <vt:lpstr>公式</vt:lpstr>
      <vt:lpstr>Visio</vt:lpstr>
      <vt:lpstr>PowerPoint 演示文稿</vt:lpstr>
      <vt:lpstr>PowerPoint 演示文稿</vt:lpstr>
      <vt:lpstr>1.实现实时调度的基本条件</vt:lpstr>
      <vt:lpstr>PowerPoint 演示文稿</vt:lpstr>
      <vt:lpstr>PowerPoint 演示文稿</vt:lpstr>
      <vt:lpstr>PowerPoint 演示文稿</vt:lpstr>
      <vt:lpstr>3.最早截止时间优先（EDF）算法</vt:lpstr>
      <vt:lpstr>3.最早截止时间优先（EDF）算法</vt:lpstr>
      <vt:lpstr>3.最早截止时间优先（EDF）算法</vt:lpstr>
      <vt:lpstr>3.最早截止时间优先（EDF）算法</vt:lpstr>
      <vt:lpstr>4.最低松弛度优先（LLF）算法</vt:lpstr>
      <vt:lpstr>4.最低松弛度优先（LLF）算法</vt:lpstr>
      <vt:lpstr>4.最低松弛度优先（LLF）算法</vt:lpstr>
      <vt:lpstr>4.最低松弛度优先（LLF）算法</vt:lpstr>
      <vt:lpstr>5.优先级倒置（priority inversion problem）</vt:lpstr>
      <vt:lpstr>5.优先级倒置（priority inversion problem）</vt:lpstr>
      <vt:lpstr>5.优先级倒置（priority inversion problem）</vt:lpstr>
      <vt:lpstr>5.优先级倒置（priority inversion problem）</vt:lpstr>
      <vt:lpstr>5.优先级倒置（priority inversion problem）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子 麦</cp:lastModifiedBy>
  <cp:revision>204</cp:revision>
  <dcterms:created xsi:type="dcterms:W3CDTF">2016-05-18T19:05:46Z</dcterms:created>
  <dcterms:modified xsi:type="dcterms:W3CDTF">2023-10-19T01:27:59Z</dcterms:modified>
</cp:coreProperties>
</file>