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30"/>
  </p:notesMasterIdLst>
  <p:handoutMasterIdLst>
    <p:handoutMasterId r:id="rId31"/>
  </p:handoutMasterIdLst>
  <p:sldIdLst>
    <p:sldId id="403" r:id="rId4"/>
    <p:sldId id="378" r:id="rId5"/>
    <p:sldId id="354" r:id="rId6"/>
    <p:sldId id="375" r:id="rId7"/>
    <p:sldId id="389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29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CB84B-6A00-4441-A8E6-9FCA71C6ADFF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28514-98A0-40EF-8E2B-A346CE837D6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77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F9864AB-BF8F-4B45-8501-43DD633F2827}" type="slidenum">
              <a:rPr lang="en-US" altLang="zh-CN" sz="1200" b="0" smtClean="0"/>
              <a:pPr eaLnBrk="1" hangingPunct="1"/>
              <a:t>9</a:t>
            </a:fld>
            <a:endParaRPr lang="en-US" altLang="zh-CN" sz="1200" b="0"/>
          </a:p>
        </p:txBody>
      </p:sp>
      <p:sp>
        <p:nvSpPr>
          <p:cNvPr id="294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FCFABEDC-C673-45F1-B3F6-237E81ECCAFE}" type="slidenum">
              <a:rPr lang="en-US" altLang="zh-CN" sz="1200" b="0" smtClean="0"/>
              <a:pPr eaLnBrk="1" hangingPunct="1"/>
              <a:t>12</a:t>
            </a:fld>
            <a:endParaRPr lang="en-US" altLang="zh-CN" sz="1200" b="0"/>
          </a:p>
        </p:txBody>
      </p:sp>
      <p:sp>
        <p:nvSpPr>
          <p:cNvPr id="297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598E3509-7B8A-4CCD-A196-818B7F8ECABF}" type="slidenum">
              <a:rPr lang="en-US" altLang="zh-CN" sz="1200" b="0" smtClean="0"/>
              <a:pPr eaLnBrk="1" hangingPunct="1"/>
              <a:t>15</a:t>
            </a:fld>
            <a:endParaRPr lang="en-US" altLang="zh-CN" sz="1200" b="0"/>
          </a:p>
        </p:txBody>
      </p:sp>
      <p:sp>
        <p:nvSpPr>
          <p:cNvPr id="306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16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17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19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20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21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22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23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24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fld id="{E6F94AD8-46D7-43D2-9F16-944AB106802B}" type="slidenum">
              <a:rPr lang="en-US" altLang="zh-CN" sz="1200" b="0" smtClean="0"/>
              <a:pPr eaLnBrk="1" hangingPunct="1"/>
              <a:t>25</a:t>
            </a:fld>
            <a:endParaRPr lang="en-US" altLang="zh-CN" sz="1200" b="0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BB087-D571-4019-BE91-6BB10F0A3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499978"/>
      </p:ext>
    </p:extLst>
  </p:cSld>
  <p:clrMapOvr>
    <a:masterClrMapping/>
  </p:clrMapOvr>
  <p:transition advClick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3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5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7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524875" y="3187225"/>
            <a:ext cx="3195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第三章 进程管理</a:t>
            </a:r>
          </a:p>
        </p:txBody>
      </p:sp>
    </p:spTree>
    <p:extLst>
      <p:ext uri="{BB962C8B-B14F-4D97-AF65-F5344CB8AC3E}">
        <p14:creationId xmlns:p14="http://schemas.microsoft.com/office/powerpoint/2010/main" val="217731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1930331"/>
            <a:ext cx="7246275" cy="3663642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152633" y="2191302"/>
            <a:ext cx="5887815" cy="2109625"/>
            <a:chOff x="4806642" y="2317346"/>
            <a:chExt cx="5065904" cy="2109625"/>
          </a:xfrm>
        </p:grpSpPr>
        <p:sp>
          <p:nvSpPr>
            <p:cNvPr id="15" name="文本框 13"/>
            <p:cNvSpPr txBox="1">
              <a:spLocks noChangeArrowheads="1"/>
            </p:cNvSpPr>
            <p:nvPr/>
          </p:nvSpPr>
          <p:spPr bwMode="auto">
            <a:xfrm>
              <a:off x="7948242" y="2340801"/>
              <a:ext cx="19243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前驱图和程序执行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7948242" y="2890121"/>
              <a:ext cx="12622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进程的描述</a:t>
              </a:r>
            </a:p>
          </p:txBody>
        </p:sp>
        <p:sp>
          <p:nvSpPr>
            <p:cNvPr id="18" name="文本框 15"/>
            <p:cNvSpPr txBox="1">
              <a:spLocks noChangeArrowheads="1"/>
            </p:cNvSpPr>
            <p:nvPr/>
          </p:nvSpPr>
          <p:spPr bwMode="auto">
            <a:xfrm>
              <a:off x="7948242" y="343944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</a:t>
              </a:r>
            </a:p>
          </p:txBody>
        </p:sp>
        <p:sp>
          <p:nvSpPr>
            <p:cNvPr id="19" name="文本框 16"/>
            <p:cNvSpPr txBox="1">
              <a:spLocks noChangeArrowheads="1"/>
            </p:cNvSpPr>
            <p:nvPr/>
          </p:nvSpPr>
          <p:spPr bwMode="auto">
            <a:xfrm>
              <a:off x="7948241" y="398876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进程同步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6132" y="2317346"/>
              <a:ext cx="606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6133" y="2866666"/>
              <a:ext cx="64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96132" y="341598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96132" y="396530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806642" y="2938055"/>
              <a:ext cx="2088107" cy="992892"/>
              <a:chOff x="2995095" y="2938055"/>
              <a:chExt cx="2088107" cy="99289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995095" y="2938055"/>
                <a:ext cx="2088107" cy="992892"/>
                <a:chOff x="3053227" y="2938055"/>
                <a:chExt cx="2088107" cy="992892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630124" y="3469282"/>
                  <a:ext cx="12741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708265"/>
                      </a:solidFill>
                      <a:latin typeface="Impact" panose="020B0806030902050204" pitchFamily="34" charset="0"/>
                      <a:ea typeface="微软雅黑 Light" panose="020B0502040204020203" pitchFamily="34" charset="-122"/>
                    </a:rPr>
                    <a:t>CHAPTER</a:t>
                  </a:r>
                  <a:endParaRPr lang="zh-CN" altLang="en-US" sz="2400" dirty="0">
                    <a:solidFill>
                      <a:srgbClr val="708265"/>
                    </a:solidFill>
                    <a:latin typeface="Impact" panose="020B0806030902050204" pitchFamily="34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3053227" y="2938055"/>
                  <a:ext cx="20881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solidFill>
                        <a:srgbClr val="708265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</a:rPr>
                    <a:t>第三章</a:t>
                  </a:r>
                </a:p>
              </p:txBody>
            </p:sp>
          </p:grpSp>
          <p:sp>
            <p:nvSpPr>
              <p:cNvPr id="26" name="L 形 25"/>
              <p:cNvSpPr/>
              <p:nvPr/>
            </p:nvSpPr>
            <p:spPr>
              <a:xfrm rot="2493705" flipH="1" flipV="1">
                <a:off x="4575036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 形 26"/>
              <p:cNvSpPr/>
              <p:nvPr/>
            </p:nvSpPr>
            <p:spPr>
              <a:xfrm rot="2493705" flipH="1" flipV="1">
                <a:off x="4649233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文本框 16"/>
          <p:cNvSpPr txBox="1">
            <a:spLocks noChangeArrowheads="1"/>
          </p:cNvSpPr>
          <p:nvPr/>
        </p:nvSpPr>
        <p:spPr bwMode="auto">
          <a:xfrm>
            <a:off x="6799945" y="4327099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经典进程的同步问题</a:t>
            </a:r>
          </a:p>
        </p:txBody>
      </p:sp>
      <p:sp>
        <p:nvSpPr>
          <p:cNvPr id="31" name="文本框 22"/>
          <p:cNvSpPr txBox="1"/>
          <p:nvPr/>
        </p:nvSpPr>
        <p:spPr>
          <a:xfrm>
            <a:off x="6274484" y="4303644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文本框 16"/>
          <p:cNvSpPr txBox="1">
            <a:spLocks noChangeArrowheads="1"/>
          </p:cNvSpPr>
          <p:nvPr/>
        </p:nvSpPr>
        <p:spPr bwMode="auto">
          <a:xfrm>
            <a:off x="6789187" y="480045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进程通信</a:t>
            </a:r>
          </a:p>
        </p:txBody>
      </p:sp>
      <p:sp>
        <p:nvSpPr>
          <p:cNvPr id="33" name="文本框 22"/>
          <p:cNvSpPr txBox="1"/>
          <p:nvPr/>
        </p:nvSpPr>
        <p:spPr>
          <a:xfrm>
            <a:off x="6263726" y="4776996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807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经典进程同步问题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3.5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17" name="文本框 21"/>
          <p:cNvSpPr txBox="1">
            <a:spLocks noChangeArrowheads="1"/>
          </p:cNvSpPr>
          <p:nvPr/>
        </p:nvSpPr>
        <p:spPr bwMode="auto">
          <a:xfrm>
            <a:off x="2439935" y="3258781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生产者</a:t>
            </a:r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消费者问题</a:t>
            </a:r>
            <a:endParaRPr lang="en-US" altLang="zh-CN" sz="2400" dirty="0"/>
          </a:p>
        </p:txBody>
      </p:sp>
      <p:sp>
        <p:nvSpPr>
          <p:cNvPr id="16" name="文本框 21"/>
          <p:cNvSpPr txBox="1">
            <a:spLocks noChangeArrowheads="1"/>
          </p:cNvSpPr>
          <p:nvPr/>
        </p:nvSpPr>
        <p:spPr bwMode="auto">
          <a:xfrm>
            <a:off x="2439936" y="3902077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哲学家进餐问题</a:t>
            </a:r>
            <a:endParaRPr lang="en-US" altLang="zh-CN" sz="2400" dirty="0"/>
          </a:p>
        </p:txBody>
      </p:sp>
      <p:sp>
        <p:nvSpPr>
          <p:cNvPr id="19" name="文本框 21"/>
          <p:cNvSpPr txBox="1">
            <a:spLocks noChangeArrowheads="1"/>
          </p:cNvSpPr>
          <p:nvPr/>
        </p:nvSpPr>
        <p:spPr bwMode="auto">
          <a:xfrm>
            <a:off x="2439936" y="4550934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</a:t>
            </a:r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写者问题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7805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1790129"/>
            <a:ext cx="56873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有多个生产者在生产消息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有多个消费者在消费消息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生产者与消费者共享一个有界缓冲区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消费者消费的是生产者生产的消息  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921965" y="3437572"/>
            <a:ext cx="5314736" cy="665162"/>
            <a:chOff x="1004177" y="1027910"/>
            <a:chExt cx="5314736" cy="665162"/>
          </a:xfrm>
        </p:grpSpPr>
        <p:sp>
          <p:nvSpPr>
            <p:cNvPr id="9" name="矩形 8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消息缓冲池</a:t>
              </a:r>
            </a:p>
          </p:txBody>
        </p:sp>
      </p:grpSp>
      <p:sp>
        <p:nvSpPr>
          <p:cNvPr id="12" name="文本框 19"/>
          <p:cNvSpPr txBox="1">
            <a:spLocks noChangeArrowheads="1"/>
          </p:cNvSpPr>
          <p:nvPr/>
        </p:nvSpPr>
        <p:spPr bwMode="auto">
          <a:xfrm>
            <a:off x="1077309" y="4257966"/>
            <a:ext cx="65517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生产者产生的消息放入缓冲池内；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消费者从缓冲池内取走消息消费；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消费者消费后的空白消息块放进空白缓冲池内供生产者使用。</a:t>
            </a:r>
          </a:p>
        </p:txBody>
      </p:sp>
      <p:pic>
        <p:nvPicPr>
          <p:cNvPr id="15" name="Picture 7" descr="j0227616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511" y="4977314"/>
            <a:ext cx="39608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8169336" y="1395914"/>
            <a:ext cx="12557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生产者</a:t>
            </a: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8885298" y="3664451"/>
            <a:ext cx="6651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10018773" y="1395914"/>
            <a:ext cx="1255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消费者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7666098" y="3078664"/>
            <a:ext cx="3962400" cy="1165225"/>
            <a:chOff x="7666098" y="3078664"/>
            <a:chExt cx="3962400" cy="1165225"/>
          </a:xfrm>
        </p:grpSpPr>
        <p:grpSp>
          <p:nvGrpSpPr>
            <p:cNvPr id="13" name="组合 12"/>
            <p:cNvGrpSpPr/>
            <p:nvPr/>
          </p:nvGrpSpPr>
          <p:grpSpPr>
            <a:xfrm>
              <a:off x="7666098" y="3177089"/>
              <a:ext cx="3962400" cy="1066800"/>
              <a:chOff x="7666098" y="3177089"/>
              <a:chExt cx="3962400" cy="1066800"/>
            </a:xfrm>
          </p:grpSpPr>
          <p:pic>
            <p:nvPicPr>
              <p:cNvPr id="14" name="Picture 6" descr="j020174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37536" y="3177089"/>
                <a:ext cx="3873500" cy="1004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Rectangle 13"/>
              <p:cNvSpPr>
                <a:spLocks noChangeArrowheads="1"/>
              </p:cNvSpPr>
              <p:nvPr/>
            </p:nvSpPr>
            <p:spPr bwMode="auto">
              <a:xfrm>
                <a:off x="7666098" y="3177089"/>
                <a:ext cx="3962400" cy="1066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b="0"/>
              </a:p>
            </p:txBody>
          </p:sp>
        </p:grp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7818498" y="3078664"/>
              <a:ext cx="1970088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dirty="0">
                  <a:solidFill>
                    <a:srgbClr val="FFC000"/>
                  </a:solidFill>
                  <a:latin typeface="Arial" pitchFamily="34" charset="0"/>
                  <a:ea typeface="隶书" pitchFamily="49" charset="-122"/>
                </a:rPr>
                <a:t>消息缓冲池</a:t>
              </a:r>
            </a:p>
          </p:txBody>
        </p:sp>
      </p:grp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7732773" y="4810626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C000"/>
                </a:solidFill>
                <a:latin typeface="Arial" pitchFamily="34" charset="0"/>
                <a:ea typeface="隶书" pitchFamily="49" charset="-122"/>
              </a:rPr>
              <a:t>空白块缓冲池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7593073" y="4964614"/>
            <a:ext cx="4060825" cy="9906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8607486" y="202456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accent2"/>
                </a:solidFill>
                <a:latin typeface="Arial" pitchFamily="34" charset="0"/>
                <a:ea typeface="楷体_GB2312" pitchFamily="1" charset="-122"/>
              </a:rPr>
              <a:t>2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9112311" y="2024564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accent2"/>
                </a:solidFill>
                <a:latin typeface="Arial" pitchFamily="34" charset="0"/>
                <a:ea typeface="楷体_GB2312" pitchFamily="1" charset="-122"/>
              </a:rPr>
              <a:t>3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8024873" y="202456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accent2"/>
                </a:solidFill>
                <a:latin typeface="Arial" pitchFamily="34" charset="0"/>
                <a:ea typeface="楷体_GB2312" pitchFamily="1" charset="-122"/>
              </a:rPr>
              <a:t>1</a:t>
            </a: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10695048" y="202456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latin typeface="Arial" pitchFamily="34" charset="0"/>
                <a:ea typeface="楷体_GB2312" pitchFamily="1" charset="-122"/>
              </a:rPr>
              <a:t>2</a:t>
            </a: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10040998" y="2024564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dirty="0">
                <a:latin typeface="Arial" pitchFamily="34" charset="0"/>
                <a:ea typeface="楷体_GB2312" pitchFamily="1" charset="-122"/>
              </a:rPr>
              <a:t>1</a:t>
            </a:r>
          </a:p>
        </p:txBody>
      </p:sp>
      <p:sp>
        <p:nvSpPr>
          <p:cNvPr id="28" name="AutoShape 20"/>
          <p:cNvSpPr>
            <a:spLocks noChangeArrowheads="1"/>
          </p:cNvSpPr>
          <p:nvPr/>
        </p:nvSpPr>
        <p:spPr bwMode="auto">
          <a:xfrm flipV="1">
            <a:off x="7881998" y="2527801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29" name="AutoShape 21"/>
          <p:cNvSpPr>
            <a:spLocks noChangeArrowheads="1"/>
          </p:cNvSpPr>
          <p:nvPr/>
        </p:nvSpPr>
        <p:spPr bwMode="auto">
          <a:xfrm flipV="1">
            <a:off x="8512236" y="2527801"/>
            <a:ext cx="665162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0" name="Line 22"/>
          <p:cNvSpPr>
            <a:spLocks noChangeShapeType="1"/>
          </p:cNvSpPr>
          <p:nvPr/>
        </p:nvSpPr>
        <p:spPr bwMode="auto">
          <a:xfrm>
            <a:off x="7666098" y="3680326"/>
            <a:ext cx="5032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AutoShape 23"/>
          <p:cNvSpPr>
            <a:spLocks noChangeArrowheads="1"/>
          </p:cNvSpPr>
          <p:nvPr/>
        </p:nvSpPr>
        <p:spPr bwMode="auto">
          <a:xfrm flipV="1">
            <a:off x="9177398" y="2527801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2" name="Line 24"/>
          <p:cNvSpPr>
            <a:spLocks noChangeShapeType="1"/>
          </p:cNvSpPr>
          <p:nvPr/>
        </p:nvSpPr>
        <p:spPr bwMode="auto">
          <a:xfrm>
            <a:off x="7666098" y="5480551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5"/>
          <p:cNvSpPr>
            <a:spLocks noChangeShapeType="1"/>
          </p:cNvSpPr>
          <p:nvPr/>
        </p:nvSpPr>
        <p:spPr bwMode="auto">
          <a:xfrm>
            <a:off x="8817036" y="5480551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6"/>
          <p:cNvSpPr>
            <a:spLocks noChangeShapeType="1"/>
          </p:cNvSpPr>
          <p:nvPr/>
        </p:nvSpPr>
        <p:spPr bwMode="auto">
          <a:xfrm>
            <a:off x="10042586" y="5480551"/>
            <a:ext cx="7191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AutoShape 27"/>
          <p:cNvSpPr>
            <a:spLocks noChangeArrowheads="1"/>
          </p:cNvSpPr>
          <p:nvPr/>
        </p:nvSpPr>
        <p:spPr bwMode="auto">
          <a:xfrm flipV="1">
            <a:off x="8337611" y="5307514"/>
            <a:ext cx="665162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6" name="AutoShape 28"/>
          <p:cNvSpPr>
            <a:spLocks noChangeArrowheads="1"/>
          </p:cNvSpPr>
          <p:nvPr/>
        </p:nvSpPr>
        <p:spPr bwMode="auto">
          <a:xfrm flipV="1">
            <a:off x="9466323" y="5307514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7" name="AutoShape 29"/>
          <p:cNvSpPr>
            <a:spLocks noChangeArrowheads="1"/>
          </p:cNvSpPr>
          <p:nvPr/>
        </p:nvSpPr>
        <p:spPr bwMode="auto">
          <a:xfrm flipV="1">
            <a:off x="10672823" y="5307514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89017E-7 L 0.04237 0.1500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" y="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00578E-6 L 0.11024 0.14682 " pathEditMode="relative" ptsTypes="AA">
                                      <p:cBhvr>
                                        <p:cTn id="5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25 0.14682 L 0.14167 3.00578E-6 " pathEditMode="relative" ptsTypes="AA">
                                      <p:cBhvr>
                                        <p:cTn id="6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0.0074 L 0.0375 0.14682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5 0.14682 L 0.15278 0.00324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00" y="-720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22" presetClass="exit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00578E-6 L -0.30711 -0.39838 " pathEditMode="relative" ptsTypes="AA">
                                      <p:cBhvr>
                                        <p:cTn id="15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66CC"/>
                                      </p:to>
                                    </p:animClr>
                                    <p:animClr clrSpc="rgb" dir="cw">
                                      <p:cBhvr>
                                        <p:cTn id="1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66CC"/>
                                      </p:to>
                                    </p:animClr>
                                    <p:set>
                                      <p:cBhvr>
                                        <p:cTn id="1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208 -0.38058 L -0.25486 -0.2548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0" y="6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284 -0.2548 L -0.06597 -0.40162 " pathEditMode="relative" ptsTypes="AA">
                                      <p:cBhvr>
                                        <p:cTn id="18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22" presetClass="exit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9" presetClass="emp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animClr clrSpc="rgb" dir="cw">
                                      <p:cBhvr>
                                        <p:cTn id="1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66FF"/>
                                      </p:to>
                                    </p:animClr>
                                    <p:set>
                                      <p:cBhvr>
                                        <p:cTn id="199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62 -0.40486 L 0.00486 -0.00324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20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000"/>
                            </p:stCondLst>
                            <p:childTnLst>
                              <p:par>
                                <p:cTn id="205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 animBg="1"/>
      <p:bldP spid="17" grpId="1" animBg="1"/>
      <p:bldP spid="17" grpId="2" animBg="1"/>
      <p:bldP spid="17" grpId="3" animBg="1"/>
      <p:bldP spid="17" grpId="4" animBg="1"/>
      <p:bldP spid="20" grpId="0"/>
      <p:bldP spid="22" grpId="0" animBg="1"/>
      <p:bldP spid="23" grpId="0"/>
      <p:bldP spid="24" grpId="0"/>
      <p:bldP spid="25" grpId="0"/>
      <p:bldP spid="25" grpId="1"/>
      <p:bldP spid="26" grpId="0"/>
      <p:bldP spid="27" grpId="0"/>
      <p:bldP spid="27" grpId="1"/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29" grpId="3" animBg="1"/>
      <p:bldP spid="30" grpId="0" animBg="1"/>
      <p:bldP spid="30" grpId="1" animBg="1"/>
      <p:bldP spid="30" grpId="2" animBg="1"/>
      <p:bldP spid="30" grpId="3" animBg="1"/>
      <p:bldP spid="31" grpId="0" animBg="1"/>
      <p:bldP spid="31" grpId="1" animBg="1"/>
      <p:bldP spid="31" grpId="2" animBg="1"/>
      <p:bldP spid="31" grpId="3" animBg="1"/>
      <p:bldP spid="32" grpId="0" animBg="1"/>
      <p:bldP spid="33" grpId="0" animBg="1"/>
      <p:bldP spid="34" grpId="0" animBg="1"/>
      <p:bldP spid="34" grpId="1" animBg="1"/>
      <p:bldP spid="34" grpId="2" animBg="1"/>
      <p:bldP spid="35" grpId="0" animBg="1"/>
      <p:bldP spid="36" grpId="0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算法分析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2183073"/>
            <a:ext cx="28436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生产者进程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消费者进程  </a:t>
            </a:r>
          </a:p>
        </p:txBody>
      </p:sp>
      <p:sp>
        <p:nvSpPr>
          <p:cNvPr id="12" name="文本框 19"/>
          <p:cNvSpPr txBox="1">
            <a:spLocks noChangeArrowheads="1"/>
          </p:cNvSpPr>
          <p:nvPr/>
        </p:nvSpPr>
        <p:spPr bwMode="auto">
          <a:xfrm>
            <a:off x="1150228" y="3529536"/>
            <a:ext cx="65517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生产者生产消息后消费者消费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消费者消费后的空白缓冲块由生产者生产消息</a:t>
            </a:r>
          </a:p>
          <a:p>
            <a:pPr marL="0" lvl="2" indent="0">
              <a:buBlip>
                <a:blip r:embed="rId2"/>
              </a:buBlip>
            </a:pPr>
            <a:endParaRPr lang="zh-CN" altLang="en-US" sz="2400" dirty="0"/>
          </a:p>
        </p:txBody>
      </p:sp>
      <p:sp>
        <p:nvSpPr>
          <p:cNvPr id="38" name="文本框 54"/>
          <p:cNvSpPr txBox="1">
            <a:spLocks noChangeArrowheads="1"/>
          </p:cNvSpPr>
          <p:nvPr/>
        </p:nvSpPr>
        <p:spPr bwMode="auto">
          <a:xfrm>
            <a:off x="1150228" y="1791649"/>
            <a:ext cx="2070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两类进程</a:t>
            </a:r>
          </a:p>
        </p:txBody>
      </p:sp>
      <p:sp>
        <p:nvSpPr>
          <p:cNvPr id="39" name="文本框 54"/>
          <p:cNvSpPr txBox="1">
            <a:spLocks noChangeArrowheads="1"/>
          </p:cNvSpPr>
          <p:nvPr/>
        </p:nvSpPr>
        <p:spPr bwMode="auto">
          <a:xfrm>
            <a:off x="1150228" y="3007169"/>
            <a:ext cx="2070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进程间关系</a:t>
            </a:r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8177732" y="3643332"/>
            <a:ext cx="1789113" cy="519112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8160202" y="3070686"/>
            <a:ext cx="2125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2" name="Line 8"/>
          <p:cNvSpPr>
            <a:spLocks noChangeShapeType="1"/>
          </p:cNvSpPr>
          <p:nvPr/>
        </p:nvSpPr>
        <p:spPr bwMode="auto">
          <a:xfrm>
            <a:off x="7182303" y="3902887"/>
            <a:ext cx="967142" cy="156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9877437" y="3902888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10"/>
          <p:cNvSpPr>
            <a:spLocks noChangeShapeType="1"/>
          </p:cNvSpPr>
          <p:nvPr/>
        </p:nvSpPr>
        <p:spPr bwMode="auto">
          <a:xfrm flipV="1">
            <a:off x="7229640" y="3346469"/>
            <a:ext cx="919804" cy="169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>
            <a:off x="9950984" y="3346469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5529760" y="3659000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后继进程：</a:t>
            </a: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5569402" y="3050049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前驱进程：</a:t>
            </a:r>
          </a:p>
        </p:txBody>
      </p:sp>
      <p:sp>
        <p:nvSpPr>
          <p:cNvPr id="48" name="Text Box 22"/>
          <p:cNvSpPr txBox="1">
            <a:spLocks noChangeArrowheads="1"/>
          </p:cNvSpPr>
          <p:nvPr/>
        </p:nvSpPr>
        <p:spPr bwMode="auto">
          <a:xfrm>
            <a:off x="8286121" y="3603760"/>
            <a:ext cx="1789194" cy="519112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full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9" name="Text Box 23"/>
          <p:cNvSpPr txBox="1">
            <a:spLocks noChangeArrowheads="1"/>
          </p:cNvSpPr>
          <p:nvPr/>
        </p:nvSpPr>
        <p:spPr bwMode="auto">
          <a:xfrm>
            <a:off x="8152126" y="3103906"/>
            <a:ext cx="2085755" cy="519113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full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0" name="Text Box 26"/>
          <p:cNvSpPr txBox="1">
            <a:spLocks noChangeArrowheads="1"/>
          </p:cNvSpPr>
          <p:nvPr/>
        </p:nvSpPr>
        <p:spPr bwMode="auto">
          <a:xfrm>
            <a:off x="5623994" y="3077345"/>
            <a:ext cx="1612900" cy="519112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生产者：</a:t>
            </a:r>
          </a:p>
        </p:txBody>
      </p:sp>
      <p:sp>
        <p:nvSpPr>
          <p:cNvPr id="51" name="Text Box 27"/>
          <p:cNvSpPr txBox="1">
            <a:spLocks noChangeArrowheads="1"/>
          </p:cNvSpPr>
          <p:nvPr/>
        </p:nvSpPr>
        <p:spPr bwMode="auto">
          <a:xfrm>
            <a:off x="5611516" y="3643331"/>
            <a:ext cx="1612900" cy="519113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消费者：</a:t>
            </a:r>
          </a:p>
        </p:txBody>
      </p:sp>
      <p:sp>
        <p:nvSpPr>
          <p:cNvPr id="52" name="Text Box 14"/>
          <p:cNvSpPr txBox="1">
            <a:spLocks noChangeArrowheads="1"/>
          </p:cNvSpPr>
          <p:nvPr/>
        </p:nvSpPr>
        <p:spPr bwMode="auto">
          <a:xfrm>
            <a:off x="4576832" y="5453323"/>
            <a:ext cx="1789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3" name="Text Box 15"/>
          <p:cNvSpPr txBox="1">
            <a:spLocks noChangeArrowheads="1"/>
          </p:cNvSpPr>
          <p:nvPr/>
        </p:nvSpPr>
        <p:spPr bwMode="auto">
          <a:xfrm>
            <a:off x="4451045" y="4822304"/>
            <a:ext cx="2125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4" name="Line 16"/>
          <p:cNvSpPr>
            <a:spLocks noChangeShapeType="1"/>
          </p:cNvSpPr>
          <p:nvPr/>
        </p:nvSpPr>
        <p:spPr bwMode="auto">
          <a:xfrm>
            <a:off x="3519557" y="5712879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Line 17"/>
          <p:cNvSpPr>
            <a:spLocks noChangeShapeType="1"/>
          </p:cNvSpPr>
          <p:nvPr/>
        </p:nvSpPr>
        <p:spPr bwMode="auto">
          <a:xfrm>
            <a:off x="6632644" y="5758005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Line 18"/>
          <p:cNvSpPr>
            <a:spLocks noChangeShapeType="1"/>
          </p:cNvSpPr>
          <p:nvPr/>
        </p:nvSpPr>
        <p:spPr bwMode="auto">
          <a:xfrm>
            <a:off x="3479095" y="5137101"/>
            <a:ext cx="792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Line 19"/>
          <p:cNvSpPr>
            <a:spLocks noChangeShapeType="1"/>
          </p:cNvSpPr>
          <p:nvPr/>
        </p:nvSpPr>
        <p:spPr bwMode="auto">
          <a:xfrm>
            <a:off x="7013610" y="51371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1649482" y="5476342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后继进程：</a:t>
            </a:r>
          </a:p>
        </p:txBody>
      </p: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1609020" y="4813251"/>
            <a:ext cx="197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前驱进程：</a:t>
            </a:r>
          </a:p>
        </p:txBody>
      </p:sp>
      <p:sp>
        <p:nvSpPr>
          <p:cNvPr id="60" name="Text Box 24"/>
          <p:cNvSpPr txBox="1">
            <a:spLocks noChangeArrowheads="1"/>
          </p:cNvSpPr>
          <p:nvPr/>
        </p:nvSpPr>
        <p:spPr bwMode="auto">
          <a:xfrm>
            <a:off x="1649482" y="5453323"/>
            <a:ext cx="1612900" cy="519112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生产者：</a:t>
            </a:r>
          </a:p>
        </p:txBody>
      </p:sp>
      <p:sp>
        <p:nvSpPr>
          <p:cNvPr id="61" name="Text Box 25"/>
          <p:cNvSpPr txBox="1">
            <a:spLocks noChangeArrowheads="1"/>
          </p:cNvSpPr>
          <p:nvPr/>
        </p:nvSpPr>
        <p:spPr bwMode="auto">
          <a:xfrm>
            <a:off x="1609020" y="4827123"/>
            <a:ext cx="1612900" cy="519113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消费者：</a:t>
            </a:r>
          </a:p>
        </p:txBody>
      </p:sp>
      <p:sp>
        <p:nvSpPr>
          <p:cNvPr id="62" name="Text Box 28"/>
          <p:cNvSpPr txBox="1">
            <a:spLocks noChangeArrowheads="1"/>
          </p:cNvSpPr>
          <p:nvPr/>
        </p:nvSpPr>
        <p:spPr bwMode="auto">
          <a:xfrm>
            <a:off x="4329182" y="5455236"/>
            <a:ext cx="2303462" cy="519112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empty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63" name="Text Box 29"/>
          <p:cNvSpPr txBox="1">
            <a:spLocks noChangeArrowheads="1"/>
          </p:cNvSpPr>
          <p:nvPr/>
        </p:nvSpPr>
        <p:spPr bwMode="auto">
          <a:xfrm>
            <a:off x="4326110" y="4807204"/>
            <a:ext cx="2634017" cy="519113"/>
          </a:xfrm>
          <a:prstGeom prst="rect">
            <a:avLst/>
          </a:prstGeom>
          <a:solidFill>
            <a:srgbClr val="FFFAEA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empty</a:t>
            </a:r>
            <a:r>
              <a:rPr kumimoji="0"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70464398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8" grpId="0"/>
      <p:bldP spid="39" grpId="0"/>
      <p:bldP spid="40" grpId="0" animBg="1"/>
      <p:bldP spid="41" grpId="0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 animBg="1"/>
      <p:bldP spid="55" grpId="0" animBg="1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队列操作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2183073"/>
            <a:ext cx="5687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消息缓冲队列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空白缓冲队列  </a:t>
            </a:r>
          </a:p>
        </p:txBody>
      </p:sp>
      <p:sp>
        <p:nvSpPr>
          <p:cNvPr id="38" name="文本框 54"/>
          <p:cNvSpPr txBox="1">
            <a:spLocks noChangeArrowheads="1"/>
          </p:cNvSpPr>
          <p:nvPr/>
        </p:nvSpPr>
        <p:spPr bwMode="auto">
          <a:xfrm>
            <a:off x="1150228" y="1791649"/>
            <a:ext cx="2070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两个共享队列</a:t>
            </a:r>
          </a:p>
        </p:txBody>
      </p:sp>
      <p:sp>
        <p:nvSpPr>
          <p:cNvPr id="39" name="文本框 54"/>
          <p:cNvSpPr txBox="1">
            <a:spLocks noChangeArrowheads="1"/>
          </p:cNvSpPr>
          <p:nvPr/>
        </p:nvSpPr>
        <p:spPr bwMode="auto">
          <a:xfrm>
            <a:off x="1150227" y="3007169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多个进程共享一个队列需要保护</a:t>
            </a:r>
          </a:p>
        </p:txBody>
      </p:sp>
      <p:pic>
        <p:nvPicPr>
          <p:cNvPr id="35" name="Picture 6" descr="j020174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783" y="2157435"/>
            <a:ext cx="38735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7" descr="j0227616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758" y="3957660"/>
            <a:ext cx="39608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8"/>
          <p:cNvSpPr>
            <a:spLocks noChangeArrowheads="1"/>
          </p:cNvSpPr>
          <p:nvPr/>
        </p:nvSpPr>
        <p:spPr bwMode="auto">
          <a:xfrm>
            <a:off x="6573320" y="3944960"/>
            <a:ext cx="4060825" cy="9906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64" name="Rectangle 9"/>
          <p:cNvSpPr>
            <a:spLocks noChangeArrowheads="1"/>
          </p:cNvSpPr>
          <p:nvPr/>
        </p:nvSpPr>
        <p:spPr bwMode="auto">
          <a:xfrm>
            <a:off x="6646345" y="2157435"/>
            <a:ext cx="3962400" cy="10668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65" name="AutoShape 10"/>
          <p:cNvSpPr>
            <a:spLocks noChangeArrowheads="1"/>
          </p:cNvSpPr>
          <p:nvPr/>
        </p:nvSpPr>
        <p:spPr bwMode="auto">
          <a:xfrm flipV="1">
            <a:off x="7078145" y="2443185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66" name="AutoShape 11"/>
          <p:cNvSpPr>
            <a:spLocks noChangeArrowheads="1"/>
          </p:cNvSpPr>
          <p:nvPr/>
        </p:nvSpPr>
        <p:spPr bwMode="auto">
          <a:xfrm flipV="1">
            <a:off x="7078145" y="4243410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67" name="AutoShape 14"/>
          <p:cNvSpPr>
            <a:spLocks noChangeArrowheads="1"/>
          </p:cNvSpPr>
          <p:nvPr/>
        </p:nvSpPr>
        <p:spPr bwMode="auto">
          <a:xfrm flipV="1">
            <a:off x="8013183" y="2443185"/>
            <a:ext cx="665162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68" name="AutoShape 15"/>
          <p:cNvSpPr>
            <a:spLocks noChangeArrowheads="1"/>
          </p:cNvSpPr>
          <p:nvPr/>
        </p:nvSpPr>
        <p:spPr bwMode="auto">
          <a:xfrm flipV="1">
            <a:off x="8878370" y="2443185"/>
            <a:ext cx="665163" cy="533400"/>
          </a:xfrm>
          <a:prstGeom prst="vertic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vert="eaVert" wrap="none" anchor="ctr"/>
          <a:lstStyle/>
          <a:p>
            <a:pPr algn="ctr">
              <a:defRPr/>
            </a:pPr>
            <a:endParaRPr kumimoji="0" lang="zh-CN" altLang="zh-CN" sz="2800">
              <a:effectLst>
                <a:outerShdw blurRad="38100" dist="38100" dir="2700000" algn="tl">
                  <a:srgbClr val="FFFFFF"/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69" name="AutoShape 16"/>
          <p:cNvSpPr>
            <a:spLocks noChangeArrowheads="1"/>
          </p:cNvSpPr>
          <p:nvPr/>
        </p:nvSpPr>
        <p:spPr bwMode="auto">
          <a:xfrm flipV="1">
            <a:off x="8140183" y="4243410"/>
            <a:ext cx="665162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70" name="AutoShape 17"/>
          <p:cNvSpPr>
            <a:spLocks noChangeArrowheads="1"/>
          </p:cNvSpPr>
          <p:nvPr/>
        </p:nvSpPr>
        <p:spPr bwMode="auto">
          <a:xfrm flipV="1">
            <a:off x="9165708" y="4243410"/>
            <a:ext cx="665162" cy="533400"/>
          </a:xfrm>
          <a:prstGeom prst="verticalScroll">
            <a:avLst>
              <a:gd name="adj" fmla="val 12500"/>
            </a:avLst>
          </a:prstGeom>
          <a:solidFill>
            <a:schemeClr val="tx1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vert="eaVert"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71" name="Line 18"/>
          <p:cNvSpPr>
            <a:spLocks noChangeShapeType="1"/>
          </p:cNvSpPr>
          <p:nvPr/>
        </p:nvSpPr>
        <p:spPr bwMode="auto">
          <a:xfrm>
            <a:off x="6717783" y="258764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9"/>
          <p:cNvSpPr>
            <a:spLocks noChangeShapeType="1"/>
          </p:cNvSpPr>
          <p:nvPr/>
        </p:nvSpPr>
        <p:spPr bwMode="auto">
          <a:xfrm>
            <a:off x="7652820" y="258764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20"/>
          <p:cNvSpPr>
            <a:spLocks noChangeShapeType="1"/>
          </p:cNvSpPr>
          <p:nvPr/>
        </p:nvSpPr>
        <p:spPr bwMode="auto">
          <a:xfrm>
            <a:off x="8535470" y="2587648"/>
            <a:ext cx="43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21"/>
          <p:cNvSpPr>
            <a:spLocks noChangeShapeType="1"/>
          </p:cNvSpPr>
          <p:nvPr/>
        </p:nvSpPr>
        <p:spPr bwMode="auto">
          <a:xfrm>
            <a:off x="6644758" y="438787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22"/>
          <p:cNvSpPr>
            <a:spLocks noChangeShapeType="1"/>
          </p:cNvSpPr>
          <p:nvPr/>
        </p:nvSpPr>
        <p:spPr bwMode="auto">
          <a:xfrm>
            <a:off x="7652820" y="438787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23"/>
          <p:cNvSpPr>
            <a:spLocks noChangeShapeType="1"/>
          </p:cNvSpPr>
          <p:nvPr/>
        </p:nvSpPr>
        <p:spPr bwMode="auto">
          <a:xfrm>
            <a:off x="8732320" y="438787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AutoShape 24"/>
          <p:cNvSpPr>
            <a:spLocks noChangeArrowheads="1"/>
          </p:cNvSpPr>
          <p:nvPr/>
        </p:nvSpPr>
        <p:spPr bwMode="auto">
          <a:xfrm>
            <a:off x="7654408" y="768373"/>
            <a:ext cx="1655762" cy="504825"/>
          </a:xfrm>
          <a:prstGeom prst="wedgeRectCallout">
            <a:avLst>
              <a:gd name="adj1" fmla="val -76560"/>
              <a:gd name="adj2" fmla="val 295597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生产者</a:t>
            </a:r>
          </a:p>
        </p:txBody>
      </p:sp>
      <p:sp>
        <p:nvSpPr>
          <p:cNvPr id="78" name="Text Box 25"/>
          <p:cNvSpPr txBox="1">
            <a:spLocks noChangeArrowheads="1"/>
          </p:cNvSpPr>
          <p:nvPr/>
        </p:nvSpPr>
        <p:spPr bwMode="auto">
          <a:xfrm>
            <a:off x="6257408" y="1273198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放入消息</a:t>
            </a:r>
          </a:p>
        </p:txBody>
      </p:sp>
      <p:sp>
        <p:nvSpPr>
          <p:cNvPr id="79" name="Text Box 26"/>
          <p:cNvSpPr txBox="1">
            <a:spLocks noChangeArrowheads="1"/>
          </p:cNvSpPr>
          <p:nvPr/>
        </p:nvSpPr>
        <p:spPr bwMode="auto">
          <a:xfrm>
            <a:off x="9021245" y="1273198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取空白块</a:t>
            </a:r>
          </a:p>
        </p:txBody>
      </p:sp>
      <p:sp>
        <p:nvSpPr>
          <p:cNvPr id="80" name="AutoShape 27"/>
          <p:cNvSpPr>
            <a:spLocks noChangeArrowheads="1"/>
          </p:cNvSpPr>
          <p:nvPr/>
        </p:nvSpPr>
        <p:spPr bwMode="auto">
          <a:xfrm>
            <a:off x="7654408" y="768373"/>
            <a:ext cx="1655762" cy="504825"/>
          </a:xfrm>
          <a:prstGeom prst="wedgeRectCallout">
            <a:avLst>
              <a:gd name="adj1" fmla="val 53454"/>
              <a:gd name="adj2" fmla="val 637421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生产者</a:t>
            </a:r>
          </a:p>
        </p:txBody>
      </p:sp>
      <p:sp>
        <p:nvSpPr>
          <p:cNvPr id="81" name="AutoShape 28"/>
          <p:cNvSpPr>
            <a:spLocks noChangeArrowheads="1"/>
          </p:cNvSpPr>
          <p:nvPr/>
        </p:nvSpPr>
        <p:spPr bwMode="auto">
          <a:xfrm>
            <a:off x="7581383" y="6024585"/>
            <a:ext cx="1655762" cy="504825"/>
          </a:xfrm>
          <a:prstGeom prst="wedgeRectCallout">
            <a:avLst>
              <a:gd name="adj1" fmla="val -69463"/>
              <a:gd name="adj2" fmla="val -744338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消费者</a:t>
            </a:r>
          </a:p>
        </p:txBody>
      </p:sp>
      <p:sp>
        <p:nvSpPr>
          <p:cNvPr id="82" name="AutoShape 29"/>
          <p:cNvSpPr>
            <a:spLocks noChangeArrowheads="1"/>
          </p:cNvSpPr>
          <p:nvPr/>
        </p:nvSpPr>
        <p:spPr bwMode="auto">
          <a:xfrm>
            <a:off x="7581383" y="6024585"/>
            <a:ext cx="1655762" cy="504825"/>
          </a:xfrm>
          <a:prstGeom prst="wedgeRectCallout">
            <a:avLst>
              <a:gd name="adj1" fmla="val 57958"/>
              <a:gd name="adj2" fmla="val -394023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消费者</a:t>
            </a:r>
          </a:p>
        </p:txBody>
      </p:sp>
      <p:sp>
        <p:nvSpPr>
          <p:cNvPr id="83" name="Text Box 30"/>
          <p:cNvSpPr txBox="1">
            <a:spLocks noChangeArrowheads="1"/>
          </p:cNvSpPr>
          <p:nvPr/>
        </p:nvSpPr>
        <p:spPr bwMode="auto">
          <a:xfrm>
            <a:off x="6228833" y="523242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取走消息</a:t>
            </a:r>
          </a:p>
        </p:txBody>
      </p:sp>
      <p:sp>
        <p:nvSpPr>
          <p:cNvPr id="84" name="Text Box 31"/>
          <p:cNvSpPr txBox="1">
            <a:spLocks noChangeArrowheads="1"/>
          </p:cNvSpPr>
          <p:nvPr/>
        </p:nvSpPr>
        <p:spPr bwMode="auto">
          <a:xfrm>
            <a:off x="8992670" y="5232423"/>
            <a:ext cx="1612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放空白块</a:t>
            </a:r>
          </a:p>
        </p:txBody>
      </p:sp>
      <p:sp>
        <p:nvSpPr>
          <p:cNvPr id="85" name="Text Box 12"/>
          <p:cNvSpPr txBox="1">
            <a:spLocks noChangeArrowheads="1"/>
          </p:cNvSpPr>
          <p:nvPr/>
        </p:nvSpPr>
        <p:spPr bwMode="auto">
          <a:xfrm>
            <a:off x="6514583" y="1704998"/>
            <a:ext cx="1970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消息缓冲池</a:t>
            </a:r>
          </a:p>
        </p:txBody>
      </p:sp>
      <p:sp>
        <p:nvSpPr>
          <p:cNvPr id="86" name="Text Box 13"/>
          <p:cNvSpPr txBox="1">
            <a:spLocks noChangeArrowheads="1"/>
          </p:cNvSpPr>
          <p:nvPr/>
        </p:nvSpPr>
        <p:spPr bwMode="auto">
          <a:xfrm>
            <a:off x="6428858" y="3436960"/>
            <a:ext cx="2327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隶书" pitchFamily="49" charset="-122"/>
              </a:rPr>
              <a:t>空白块缓冲池</a:t>
            </a:r>
          </a:p>
        </p:txBody>
      </p:sp>
    </p:spTree>
    <p:extLst>
      <p:ext uri="{BB962C8B-B14F-4D97-AF65-F5344CB8AC3E}">
        <p14:creationId xmlns:p14="http://schemas.microsoft.com/office/powerpoint/2010/main" val="4250978678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8" grpId="0"/>
      <p:bldP spid="39" grpId="0"/>
      <p:bldP spid="77" grpId="0" animBg="1"/>
      <p:bldP spid="78" grpId="0"/>
      <p:bldP spid="79" grpId="0"/>
      <p:bldP spid="80" grpId="0" animBg="1"/>
      <p:bldP spid="81" grpId="0" animBg="1"/>
      <p:bldP spid="82" grpId="0" animBg="1"/>
      <p:bldP spid="83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进程间关系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1869175"/>
            <a:ext cx="935854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生产者生产消息后消费者消费的</a:t>
            </a:r>
            <a:r>
              <a:rPr lang="zh-CN" altLang="en-US" sz="2400" b="1" dirty="0">
                <a:solidFill>
                  <a:srgbClr val="FF0000"/>
                </a:solidFill>
              </a:rPr>
              <a:t>合作关系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消费者消费后的空白缓冲块由生产者生产消息的</a:t>
            </a:r>
            <a:r>
              <a:rPr lang="zh-CN" altLang="en-US" sz="2400" b="1" dirty="0">
                <a:solidFill>
                  <a:srgbClr val="FF0000"/>
                </a:solidFill>
              </a:rPr>
              <a:t>合作关系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进程间在队列操作上的</a:t>
            </a:r>
            <a:r>
              <a:rPr lang="zh-CN" altLang="en-US" sz="2400" b="1" dirty="0">
                <a:solidFill>
                  <a:srgbClr val="FF0000"/>
                </a:solidFill>
              </a:rPr>
              <a:t>互斥关系</a:t>
            </a:r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419607" y="3177581"/>
            <a:ext cx="17219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4710370" y="344904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7972682" y="3202981"/>
            <a:ext cx="20233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7013832" y="344586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5524757" y="3193456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访问资源</a:t>
            </a: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2419607" y="3752256"/>
            <a:ext cx="17219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>
            <a:off x="4710370" y="4009431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7972682" y="3777656"/>
            <a:ext cx="20233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</a:t>
            </a: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>
            <a:off x="7013832" y="402054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p:sp>
        <p:nvSpPr>
          <p:cNvPr id="49" name="Text Box 15"/>
          <p:cNvSpPr txBox="1">
            <a:spLocks noChangeArrowheads="1"/>
          </p:cNvSpPr>
          <p:nvPr/>
        </p:nvSpPr>
        <p:spPr bwMode="auto">
          <a:xfrm>
            <a:off x="5524757" y="3768131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访问资源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1194057" y="3161706"/>
            <a:ext cx="14622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进程</a:t>
            </a:r>
            <a:r>
              <a:rPr kumimoji="0"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1</a:t>
            </a: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：</a:t>
            </a:r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1181357" y="3752256"/>
            <a:ext cx="14622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进程</a:t>
            </a:r>
            <a:r>
              <a:rPr kumimoji="0" lang="en-US" altLang="zh-CN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2</a:t>
            </a:r>
            <a:r>
              <a:rPr kumimoji="0" lang="zh-CN" alt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：</a:t>
            </a: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2419607" y="3196631"/>
            <a:ext cx="25218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7866320" y="3207743"/>
            <a:ext cx="2823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2419607" y="3772893"/>
            <a:ext cx="25218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7866320" y="3784006"/>
            <a:ext cx="28232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56" name="Text Box 22"/>
          <p:cNvSpPr txBox="1">
            <a:spLocks noChangeArrowheads="1"/>
          </p:cNvSpPr>
          <p:nvPr/>
        </p:nvSpPr>
        <p:spPr bwMode="auto">
          <a:xfrm>
            <a:off x="5513645" y="3233143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操作队列</a:t>
            </a: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5534282" y="3774481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操作队列</a:t>
            </a:r>
          </a:p>
        </p:txBody>
      </p:sp>
      <p:grpSp>
        <p:nvGrpSpPr>
          <p:cNvPr id="58" name="组合 57"/>
          <p:cNvGrpSpPr/>
          <p:nvPr/>
        </p:nvGrpSpPr>
        <p:grpSpPr>
          <a:xfrm>
            <a:off x="992801" y="4428475"/>
            <a:ext cx="5314736" cy="665162"/>
            <a:chOff x="1004177" y="1027910"/>
            <a:chExt cx="5314736" cy="665162"/>
          </a:xfrm>
        </p:grpSpPr>
        <p:sp>
          <p:nvSpPr>
            <p:cNvPr id="59" name="矩形 58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1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信号量</a:t>
              </a:r>
            </a:p>
          </p:txBody>
        </p:sp>
      </p:grpSp>
      <p:sp>
        <p:nvSpPr>
          <p:cNvPr id="62" name="文本框 19"/>
          <p:cNvSpPr txBox="1">
            <a:spLocks noChangeArrowheads="1"/>
          </p:cNvSpPr>
          <p:nvPr/>
        </p:nvSpPr>
        <p:spPr bwMode="auto">
          <a:xfrm>
            <a:off x="1138852" y="5269740"/>
            <a:ext cx="935854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en-US" altLang="zh-CN" sz="2400" b="1" dirty="0"/>
              <a:t>full</a:t>
            </a:r>
            <a:r>
              <a:rPr lang="zh-CN" altLang="en-US" sz="2400" b="1" dirty="0"/>
              <a:t>：</a:t>
            </a:r>
            <a:r>
              <a:rPr lang="zh-CN" altLang="en-US" sz="2400" dirty="0"/>
              <a:t>私有信号量，表示缓冲池中满缓冲区数量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en-US" altLang="zh-CN" sz="2400" b="1" dirty="0"/>
              <a:t>empty</a:t>
            </a:r>
            <a:r>
              <a:rPr lang="zh-CN" altLang="en-US" sz="2400" b="1" dirty="0"/>
              <a:t>：</a:t>
            </a:r>
            <a:r>
              <a:rPr lang="zh-CN" altLang="en-US" sz="2400" dirty="0"/>
              <a:t>私有信号量，表示缓冲池中空缓冲区数量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en-US" altLang="zh-CN" sz="2400" b="1" dirty="0" err="1"/>
              <a:t>mutex</a:t>
            </a:r>
            <a:r>
              <a:rPr lang="zh-CN" altLang="en-US" sz="2400" b="1" dirty="0"/>
              <a:t>：</a:t>
            </a:r>
            <a:r>
              <a:rPr lang="zh-CN" altLang="en-US" sz="2400" dirty="0"/>
              <a:t>公用信号量，实现诸进程对缓冲池的互斥使用</a:t>
            </a:r>
          </a:p>
        </p:txBody>
      </p:sp>
    </p:spTree>
    <p:extLst>
      <p:ext uri="{BB962C8B-B14F-4D97-AF65-F5344CB8AC3E}">
        <p14:creationId xmlns:p14="http://schemas.microsoft.com/office/powerpoint/2010/main" val="185688205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2" grpId="0"/>
      <p:bldP spid="44" grpId="0"/>
      <p:bldP spid="45" grpId="0"/>
      <p:bldP spid="47" grpId="0"/>
      <p:bldP spid="49" grpId="0"/>
      <p:bldP spid="52" grpId="0"/>
      <p:bldP spid="53" grpId="0"/>
      <p:bldP spid="54" grpId="0"/>
      <p:bldP spid="55" grpId="0"/>
      <p:bldP spid="56" grpId="0"/>
      <p:bldP spid="57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6" y="1027910"/>
            <a:ext cx="7935107" cy="665162"/>
            <a:chOff x="1004176" y="1027910"/>
            <a:chExt cx="7935107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6" y="1027910"/>
              <a:ext cx="7935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）利用记录型信号量解决生产者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2400" b="1" dirty="0" err="1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消费者问题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的算法流程</a:t>
              </a:r>
            </a:p>
          </p:txBody>
        </p:sp>
      </p:grp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967156" y="1990725"/>
            <a:ext cx="125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文鼎ＰＯＰ－４" pitchFamily="33" charset="-122"/>
              </a:rPr>
              <a:t>生产者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1932106" y="2733675"/>
            <a:ext cx="4038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产生一个消息；</a:t>
            </a:r>
          </a:p>
        </p:txBody>
      </p:sp>
      <p:sp>
        <p:nvSpPr>
          <p:cNvPr id="42" name="Rectangle 8"/>
          <p:cNvSpPr>
            <a:spLocks noChangeArrowheads="1"/>
          </p:cNvSpPr>
          <p:nvPr/>
        </p:nvSpPr>
        <p:spPr bwMode="auto">
          <a:xfrm>
            <a:off x="1932106" y="3190875"/>
            <a:ext cx="4038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申请一个空白缓冲区；</a:t>
            </a:r>
          </a:p>
        </p:txBody>
      </p:sp>
      <p:sp>
        <p:nvSpPr>
          <p:cNvPr id="43" name="Rectangle 9"/>
          <p:cNvSpPr>
            <a:spLocks noChangeArrowheads="1"/>
          </p:cNvSpPr>
          <p:nvPr/>
        </p:nvSpPr>
        <p:spPr bwMode="auto">
          <a:xfrm>
            <a:off x="1932106" y="4181475"/>
            <a:ext cx="40386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在空白缓冲区内填充消息</a:t>
            </a:r>
          </a:p>
        </p:txBody>
      </p:sp>
      <p:grpSp>
        <p:nvGrpSpPr>
          <p:cNvPr id="44" name="Group 10"/>
          <p:cNvGrpSpPr>
            <a:grpSpLocks/>
          </p:cNvGrpSpPr>
          <p:nvPr/>
        </p:nvGrpSpPr>
        <p:grpSpPr bwMode="auto">
          <a:xfrm>
            <a:off x="1932106" y="3648075"/>
            <a:ext cx="4038600" cy="1828800"/>
            <a:chOff x="336" y="1344"/>
            <a:chExt cx="2352" cy="1152"/>
          </a:xfrm>
        </p:grpSpPr>
        <p:sp>
          <p:nvSpPr>
            <p:cNvPr id="45" name="Rectangle 11"/>
            <p:cNvSpPr>
              <a:spLocks noChangeArrowheads="1"/>
            </p:cNvSpPr>
            <p:nvPr/>
          </p:nvSpPr>
          <p:spPr bwMode="auto">
            <a:xfrm>
              <a:off x="336" y="1344"/>
              <a:ext cx="2352" cy="336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800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楷体_GB2312" pitchFamily="49" charset="-122"/>
                </a:rPr>
                <a:t>申请缓冲区操作的互斥；</a:t>
              </a: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336" y="2208"/>
              <a:ext cx="2352" cy="288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zh-CN" altLang="en-US" sz="2800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  <a:ea typeface="楷体_GB2312" pitchFamily="49" charset="-122"/>
                </a:rPr>
                <a:t>释放缓冲区操作的互斥；</a:t>
              </a:r>
            </a:p>
          </p:txBody>
        </p:sp>
      </p:grpSp>
      <p:sp>
        <p:nvSpPr>
          <p:cNvPr id="47" name="Line 18"/>
          <p:cNvSpPr>
            <a:spLocks noChangeShapeType="1"/>
          </p:cNvSpPr>
          <p:nvPr/>
        </p:nvSpPr>
        <p:spPr bwMode="auto">
          <a:xfrm>
            <a:off x="3532306" y="5934075"/>
            <a:ext cx="0" cy="269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8" name="Line 19"/>
          <p:cNvSpPr>
            <a:spLocks noChangeShapeType="1"/>
          </p:cNvSpPr>
          <p:nvPr/>
        </p:nvSpPr>
        <p:spPr bwMode="auto">
          <a:xfrm flipV="1">
            <a:off x="1627306" y="2505075"/>
            <a:ext cx="0" cy="3708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49" name="Line 20"/>
          <p:cNvSpPr>
            <a:spLocks noChangeShapeType="1"/>
          </p:cNvSpPr>
          <p:nvPr/>
        </p:nvSpPr>
        <p:spPr bwMode="auto">
          <a:xfrm>
            <a:off x="3608506" y="2505075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0" name="Rectangle 21"/>
          <p:cNvSpPr>
            <a:spLocks noChangeArrowheads="1"/>
          </p:cNvSpPr>
          <p:nvPr/>
        </p:nvSpPr>
        <p:spPr bwMode="auto">
          <a:xfrm>
            <a:off x="1932106" y="5483225"/>
            <a:ext cx="4038600" cy="4572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释放一个消息信号</a:t>
            </a:r>
          </a:p>
        </p:txBody>
      </p:sp>
      <p:sp>
        <p:nvSpPr>
          <p:cNvPr id="51" name="Text Box 22"/>
          <p:cNvSpPr txBox="1">
            <a:spLocks noChangeArrowheads="1"/>
          </p:cNvSpPr>
          <p:nvPr/>
        </p:nvSpPr>
        <p:spPr bwMode="auto">
          <a:xfrm>
            <a:off x="7799506" y="2011363"/>
            <a:ext cx="1250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文鼎ＰＯＰ－４" pitchFamily="33" charset="-122"/>
              </a:rPr>
              <a:t>消费者</a:t>
            </a:r>
          </a:p>
        </p:txBody>
      </p:sp>
      <p:sp>
        <p:nvSpPr>
          <p:cNvPr id="52" name="Rectangle 23"/>
          <p:cNvSpPr>
            <a:spLocks noChangeArrowheads="1"/>
          </p:cNvSpPr>
          <p:nvPr/>
        </p:nvSpPr>
        <p:spPr bwMode="auto">
          <a:xfrm>
            <a:off x="6351706" y="2733675"/>
            <a:ext cx="4038600" cy="457200"/>
          </a:xfrm>
          <a:prstGeom prst="rect">
            <a:avLst/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申请一个消息</a:t>
            </a:r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6351706" y="3190875"/>
            <a:ext cx="4038600" cy="457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solidFill>
                  <a:srgbClr val="CC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楷体_GB2312" pitchFamily="49" charset="-122"/>
              </a:rPr>
              <a:t>申请缓冲区操作的互斥；</a:t>
            </a:r>
          </a:p>
        </p:txBody>
      </p:sp>
      <p:sp>
        <p:nvSpPr>
          <p:cNvPr id="54" name="Rectangle 25"/>
          <p:cNvSpPr>
            <a:spLocks noChangeArrowheads="1"/>
          </p:cNvSpPr>
          <p:nvPr/>
        </p:nvSpPr>
        <p:spPr bwMode="auto">
          <a:xfrm>
            <a:off x="6351706" y="4181475"/>
            <a:ext cx="4038600" cy="838200"/>
          </a:xfrm>
          <a:prstGeom prst="rect">
            <a:avLst/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solidFill>
                  <a:srgbClr val="CC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ea typeface="楷体_GB2312" pitchFamily="49" charset="-122"/>
              </a:rPr>
              <a:t>释放缓冲区操作的互斥</a:t>
            </a:r>
          </a:p>
        </p:txBody>
      </p:sp>
      <p:sp>
        <p:nvSpPr>
          <p:cNvPr id="55" name="Rectangle 26"/>
          <p:cNvSpPr>
            <a:spLocks noChangeArrowheads="1"/>
          </p:cNvSpPr>
          <p:nvPr/>
        </p:nvSpPr>
        <p:spPr bwMode="auto">
          <a:xfrm>
            <a:off x="6351706" y="3648075"/>
            <a:ext cx="40386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从缓冲区中取走一个消息；</a:t>
            </a:r>
          </a:p>
        </p:txBody>
      </p:sp>
      <p:sp>
        <p:nvSpPr>
          <p:cNvPr id="56" name="Rectangle 27"/>
          <p:cNvSpPr>
            <a:spLocks noChangeArrowheads="1"/>
          </p:cNvSpPr>
          <p:nvPr/>
        </p:nvSpPr>
        <p:spPr bwMode="auto">
          <a:xfrm>
            <a:off x="6351706" y="5483225"/>
            <a:ext cx="4038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楷体_GB2312" pitchFamily="49" charset="-122"/>
              </a:rPr>
              <a:t>消费消息</a:t>
            </a:r>
          </a:p>
        </p:txBody>
      </p:sp>
      <p:sp>
        <p:nvSpPr>
          <p:cNvPr id="57" name="Rectangle 32"/>
          <p:cNvSpPr>
            <a:spLocks noChangeArrowheads="1"/>
          </p:cNvSpPr>
          <p:nvPr/>
        </p:nvSpPr>
        <p:spPr bwMode="auto">
          <a:xfrm>
            <a:off x="6351706" y="5026025"/>
            <a:ext cx="40386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释放一个空白块信号</a:t>
            </a:r>
          </a:p>
        </p:txBody>
      </p:sp>
      <p:sp>
        <p:nvSpPr>
          <p:cNvPr id="58" name="Line 33"/>
          <p:cNvSpPr>
            <a:spLocks noChangeShapeType="1"/>
          </p:cNvSpPr>
          <p:nvPr/>
        </p:nvSpPr>
        <p:spPr bwMode="auto">
          <a:xfrm>
            <a:off x="8028106" y="5915025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9" name="Line 34"/>
          <p:cNvSpPr>
            <a:spLocks noChangeShapeType="1"/>
          </p:cNvSpPr>
          <p:nvPr/>
        </p:nvSpPr>
        <p:spPr bwMode="auto">
          <a:xfrm>
            <a:off x="8028106" y="6197600"/>
            <a:ext cx="247332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60" name="Line 35"/>
          <p:cNvSpPr>
            <a:spLocks noChangeShapeType="1"/>
          </p:cNvSpPr>
          <p:nvPr/>
        </p:nvSpPr>
        <p:spPr bwMode="auto">
          <a:xfrm>
            <a:off x="10483969" y="2516188"/>
            <a:ext cx="0" cy="36718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61" name="Line 36"/>
          <p:cNvSpPr>
            <a:spLocks noChangeShapeType="1"/>
          </p:cNvSpPr>
          <p:nvPr/>
        </p:nvSpPr>
        <p:spPr bwMode="auto">
          <a:xfrm>
            <a:off x="8332906" y="2505075"/>
            <a:ext cx="2143125" cy="15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62" name="Line 37"/>
          <p:cNvSpPr>
            <a:spLocks noChangeShapeType="1"/>
          </p:cNvSpPr>
          <p:nvPr/>
        </p:nvSpPr>
        <p:spPr bwMode="auto">
          <a:xfrm>
            <a:off x="8332906" y="2505075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63" name="Line 38"/>
          <p:cNvSpPr>
            <a:spLocks noChangeShapeType="1"/>
          </p:cNvSpPr>
          <p:nvPr/>
        </p:nvSpPr>
        <p:spPr bwMode="auto">
          <a:xfrm>
            <a:off x="1592381" y="2530475"/>
            <a:ext cx="2051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87" name="Line 39"/>
          <p:cNvSpPr>
            <a:spLocks noChangeShapeType="1"/>
          </p:cNvSpPr>
          <p:nvPr/>
        </p:nvSpPr>
        <p:spPr bwMode="auto">
          <a:xfrm>
            <a:off x="1627306" y="6199188"/>
            <a:ext cx="1908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2245363860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0" grpId="0" animBg="1"/>
      <p:bldP spid="52" grpId="0" animBg="1"/>
      <p:bldP spid="53" grpId="0" animBg="1"/>
      <p:bldP spid="54" grpId="0" animBg="1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利用记录型信号量解决生产者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305278" y="620713"/>
            <a:ext cx="4135438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int in = 0, out =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item buffer[n];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semaphore mutex=1, empty=n, full=0;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void producer()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produce an item nextp;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     </a:t>
            </a:r>
            <a:r>
              <a:rPr lang="en-US" altLang="zh-CN" sz="2000" b="0">
                <a:latin typeface="Courier New" pitchFamily="49" charset="0"/>
              </a:rPr>
              <a:t>…</a:t>
            </a:r>
            <a:r>
              <a:rPr lang="en-US" altLang="zh-CN" sz="2000" b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solidFill>
                  <a:schemeClr val="hlink"/>
                </a:solidFill>
              </a:rPr>
              <a:t>        wait(empty);</a:t>
            </a:r>
            <a:r>
              <a:rPr lang="en-US" altLang="zh-CN" sz="2000" b="0">
                <a:solidFill>
                  <a:schemeClr val="hlink"/>
                </a:solidFill>
              </a:rPr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wait(mutex);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buffer[in]=nextp;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in=(in+1) % n;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signal(mutex);</a:t>
            </a:r>
            <a:r>
              <a:rPr lang="en-US" altLang="zh-CN" sz="200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/>
              <a:t>        </a:t>
            </a:r>
            <a:r>
              <a:rPr lang="en-US" altLang="zh-CN" sz="2000">
                <a:solidFill>
                  <a:schemeClr val="accent1"/>
                </a:solidFill>
              </a:rPr>
              <a:t>signal(full);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} while(TRUE);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}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840766" y="620713"/>
            <a:ext cx="3540125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void consumer 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solidFill>
                  <a:schemeClr val="accent1"/>
                </a:solidFill>
              </a:rPr>
              <a:t>        wait(full);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wait(mutex);</a:t>
            </a:r>
            <a:r>
              <a:rPr lang="en-US" altLang="zh-CN" sz="200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nextc=buffer[out];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out= (out+1) % n;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signal(mutex);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/>
              <a:t>        </a:t>
            </a:r>
            <a:r>
              <a:rPr lang="en-US" altLang="zh-CN" sz="2000">
                <a:solidFill>
                  <a:schemeClr val="hlink"/>
                </a:solidFill>
              </a:rPr>
              <a:t>signal(empty);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consume the item in nextc;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}while(TRUE)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void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cobegin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producer();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consumer();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coend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}</a:t>
            </a:r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6481991" y="693738"/>
            <a:ext cx="0" cy="61198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7"/>
          <p:cNvSpPr>
            <a:spLocks/>
          </p:cNvSpPr>
          <p:nvPr/>
        </p:nvSpPr>
        <p:spPr bwMode="auto">
          <a:xfrm>
            <a:off x="2592616" y="3573463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14" name="AutoShape 8"/>
          <p:cNvSpPr>
            <a:spLocks/>
          </p:cNvSpPr>
          <p:nvPr/>
        </p:nvSpPr>
        <p:spPr bwMode="auto">
          <a:xfrm>
            <a:off x="7140803" y="1827213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 flipV="1">
            <a:off x="4321403" y="3213100"/>
            <a:ext cx="3059113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 flipV="1">
            <a:off x="4189641" y="1557338"/>
            <a:ext cx="3227387" cy="33242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6481991" y="4757761"/>
            <a:ext cx="500942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64264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为什么不是对称的？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992801" y="2747955"/>
            <a:ext cx="5314736" cy="665162"/>
            <a:chOff x="1004177" y="1027910"/>
            <a:chExt cx="5314736" cy="665162"/>
          </a:xfrm>
        </p:grpSpPr>
        <p:sp>
          <p:nvSpPr>
            <p:cNvPr id="59" name="矩形 58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1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操作的顺序重要吗？</a:t>
              </a:r>
            </a:p>
          </p:txBody>
        </p:sp>
      </p:grpSp>
      <p:sp>
        <p:nvSpPr>
          <p:cNvPr id="62" name="文本框 19"/>
          <p:cNvSpPr txBox="1">
            <a:spLocks noChangeArrowheads="1"/>
          </p:cNvSpPr>
          <p:nvPr/>
        </p:nvSpPr>
        <p:spPr bwMode="auto">
          <a:xfrm>
            <a:off x="1138851" y="3577414"/>
            <a:ext cx="9358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会产生死锁！</a:t>
            </a:r>
            <a:endParaRPr lang="en-US" altLang="zh-CN" sz="2400" dirty="0"/>
          </a:p>
        </p:txBody>
      </p:sp>
      <p:sp>
        <p:nvSpPr>
          <p:cNvPr id="32" name="文本框 19"/>
          <p:cNvSpPr txBox="1">
            <a:spLocks noChangeArrowheads="1"/>
          </p:cNvSpPr>
          <p:nvPr/>
        </p:nvSpPr>
        <p:spPr bwMode="auto">
          <a:xfrm>
            <a:off x="1150228" y="1874311"/>
            <a:ext cx="935854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生产者做：</a:t>
            </a:r>
            <a:r>
              <a:rPr lang="en-US" altLang="zh-CN" sz="2400" dirty="0"/>
              <a:t>wait(empty)</a:t>
            </a:r>
            <a:r>
              <a:rPr lang="zh-CN" altLang="en-US" sz="2400" dirty="0"/>
              <a:t>、</a:t>
            </a:r>
            <a:r>
              <a:rPr lang="en-US" altLang="zh-CN" sz="2400" dirty="0"/>
              <a:t> signal(full)</a:t>
            </a:r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消费者做：</a:t>
            </a:r>
            <a:r>
              <a:rPr lang="en-US" altLang="zh-CN" sz="2400" dirty="0"/>
              <a:t>wait(full)</a:t>
            </a:r>
            <a:r>
              <a:rPr lang="zh-CN" altLang="en-US" sz="2400" dirty="0"/>
              <a:t>、</a:t>
            </a:r>
            <a:r>
              <a:rPr lang="en-US" altLang="zh-CN" sz="2400" dirty="0"/>
              <a:t>signal(empty)</a:t>
            </a:r>
            <a:endParaRPr lang="zh-CN" altLang="en-US" sz="2400" dirty="0"/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6302194" y="2765868"/>
            <a:ext cx="414337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wait(</a:t>
            </a:r>
            <a:r>
              <a:rPr lang="en-US" altLang="zh-CN" dirty="0" err="1">
                <a:solidFill>
                  <a:schemeClr val="accent2"/>
                </a:solidFill>
              </a:rPr>
              <a:t>mutex</a:t>
            </a:r>
            <a:r>
              <a:rPr lang="en-US" altLang="zh-CN" dirty="0">
                <a:solidFill>
                  <a:schemeClr val="accent2"/>
                </a:solidFill>
              </a:rPr>
              <a:t>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wait(empty);</a:t>
            </a:r>
            <a:r>
              <a:rPr lang="en-US" altLang="zh-CN" b="0" dirty="0">
                <a:solidFill>
                  <a:schemeClr val="hlink"/>
                </a:solidFill>
              </a:rPr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b="0" dirty="0"/>
              <a:t>buffer[in]=</a:t>
            </a:r>
            <a:r>
              <a:rPr lang="en-US" altLang="zh-CN" b="0" dirty="0" err="1"/>
              <a:t>nextp</a:t>
            </a:r>
            <a:r>
              <a:rPr lang="en-US" altLang="zh-CN" b="0" dirty="0"/>
              <a:t>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b="0" dirty="0"/>
              <a:t>in=(in+1) mod n;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signal(</a:t>
            </a:r>
            <a:r>
              <a:rPr lang="en-US" altLang="zh-CN" dirty="0" err="1">
                <a:solidFill>
                  <a:schemeClr val="accent2"/>
                </a:solidFill>
              </a:rPr>
              <a:t>mutex</a:t>
            </a:r>
            <a:r>
              <a:rPr lang="en-US" altLang="zh-CN" dirty="0">
                <a:solidFill>
                  <a:schemeClr val="accent2"/>
                </a:solidFill>
              </a:rPr>
              <a:t>);</a:t>
            </a:r>
            <a:r>
              <a:rPr lang="en-US" altLang="zh-CN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>
                <a:solidFill>
                  <a:schemeClr val="accent1"/>
                </a:solidFill>
              </a:rPr>
              <a:t>signal(full);</a:t>
            </a:r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979152" y="4272711"/>
            <a:ext cx="5314736" cy="665162"/>
            <a:chOff x="1004177" y="1027910"/>
            <a:chExt cx="5314736" cy="665162"/>
          </a:xfrm>
        </p:grpSpPr>
        <p:sp>
          <p:nvSpPr>
            <p:cNvPr id="63" name="矩形 62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5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操作的顺序重要吗？</a:t>
              </a:r>
            </a:p>
          </p:txBody>
        </p:sp>
      </p:grpSp>
      <p:sp>
        <p:nvSpPr>
          <p:cNvPr id="66" name="文本框 19"/>
          <p:cNvSpPr txBox="1">
            <a:spLocks noChangeArrowheads="1"/>
          </p:cNvSpPr>
          <p:nvPr/>
        </p:nvSpPr>
        <p:spPr bwMode="auto">
          <a:xfrm>
            <a:off x="1125202" y="5141930"/>
            <a:ext cx="9358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不重要，但它可能会影响调度效率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448278355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33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小结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1882817"/>
            <a:ext cx="1040942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在分析进程同步问题中，逐个分析进程间的关系是关键。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不管多复杂的关系，总能归结为两种基本关系（竞争与合作），总是这两种关系的组合。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不管是竞争还是合作，信号量的使用必须成对出现。 </a:t>
            </a:r>
          </a:p>
        </p:txBody>
      </p:sp>
    </p:spTree>
    <p:extLst>
      <p:ext uri="{BB962C8B-B14F-4D97-AF65-F5344CB8AC3E}">
        <p14:creationId xmlns:p14="http://schemas.microsoft.com/office/powerpoint/2010/main" val="399412544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5221590" y="1880616"/>
            <a:ext cx="0" cy="472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117902" y="1501068"/>
            <a:ext cx="4135438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 err="1"/>
              <a:t>int</a:t>
            </a:r>
            <a:r>
              <a:rPr lang="en-US" altLang="zh-CN" sz="2000" b="0" dirty="0"/>
              <a:t> in = 0, out =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item buffer[n];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semaphore </a:t>
            </a:r>
            <a:r>
              <a:rPr lang="en-US" altLang="zh-CN" sz="2000" b="0" dirty="0" err="1"/>
              <a:t>mutex</a:t>
            </a:r>
            <a:r>
              <a:rPr lang="en-US" altLang="zh-CN" sz="2000" b="0" dirty="0"/>
              <a:t>=1, empty=n, full=0;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producer()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producer an item </a:t>
            </a:r>
            <a:r>
              <a:rPr lang="en-US" altLang="zh-CN" sz="2000" b="0" dirty="0" err="1"/>
              <a:t>nextp</a:t>
            </a:r>
            <a:r>
              <a:rPr lang="en-US" altLang="zh-CN" sz="2000" b="0" dirty="0"/>
              <a:t>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     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  <a:r>
              <a:rPr lang="en-US" altLang="zh-CN" sz="2000" b="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        wait(empty);</a:t>
            </a:r>
            <a:r>
              <a:rPr lang="en-US" altLang="zh-CN" sz="2000" b="0" dirty="0">
                <a:solidFill>
                  <a:schemeClr val="hlink"/>
                </a:solidFill>
              </a:rPr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wait(</a:t>
            </a:r>
            <a:r>
              <a:rPr lang="en-US" altLang="zh-CN" sz="2000" dirty="0" err="1">
                <a:solidFill>
                  <a:schemeClr val="accent2"/>
                </a:solidFill>
              </a:rPr>
              <a:t>mutex</a:t>
            </a:r>
            <a:r>
              <a:rPr lang="en-US" altLang="zh-CN" sz="2000" dirty="0">
                <a:solidFill>
                  <a:schemeClr val="accent2"/>
                </a:solidFill>
              </a:rPr>
              <a:t>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buffer[in]=</a:t>
            </a:r>
            <a:r>
              <a:rPr lang="en-US" altLang="zh-CN" sz="2000" b="0" dirty="0" err="1"/>
              <a:t>nextp</a:t>
            </a:r>
            <a:r>
              <a:rPr lang="en-US" altLang="zh-CN" sz="2000" b="0" dirty="0"/>
              <a:t>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in=(in+1) % n;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signal(</a:t>
            </a:r>
            <a:r>
              <a:rPr lang="en-US" altLang="zh-CN" sz="2000" dirty="0" err="1">
                <a:solidFill>
                  <a:schemeClr val="accent2"/>
                </a:solidFill>
              </a:rPr>
              <a:t>mutex</a:t>
            </a:r>
            <a:r>
              <a:rPr lang="en-US" altLang="zh-CN" sz="2000" dirty="0">
                <a:solidFill>
                  <a:schemeClr val="accent2"/>
                </a:solidFill>
              </a:rPr>
              <a:t>);</a:t>
            </a:r>
            <a:r>
              <a:rPr lang="en-US" altLang="zh-CN" sz="200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/>
              <a:t>        </a:t>
            </a:r>
            <a:r>
              <a:rPr lang="en-US" altLang="zh-CN" sz="2000" dirty="0">
                <a:solidFill>
                  <a:schemeClr val="accent1"/>
                </a:solidFill>
              </a:rPr>
              <a:t>signal(full);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} while(TRUE);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621140" y="4017428"/>
            <a:ext cx="329510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err="1">
                <a:solidFill>
                  <a:schemeClr val="hlink"/>
                </a:solidFill>
              </a:rPr>
              <a:t>Swait</a:t>
            </a:r>
            <a:r>
              <a:rPr lang="en-US" altLang="zh-CN" sz="2400" dirty="0">
                <a:solidFill>
                  <a:schemeClr val="hlink"/>
                </a:solidFill>
              </a:rPr>
              <a:t>(empty, </a:t>
            </a:r>
            <a:r>
              <a:rPr lang="en-US" altLang="zh-CN" sz="2400" dirty="0" err="1">
                <a:solidFill>
                  <a:schemeClr val="hlink"/>
                </a:solidFill>
              </a:rPr>
              <a:t>mutex</a:t>
            </a:r>
            <a:r>
              <a:rPr lang="en-US" altLang="zh-CN" sz="2400" dirty="0">
                <a:solidFill>
                  <a:schemeClr val="hlink"/>
                </a:solidFill>
              </a:rPr>
              <a:t>);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621139" y="5356921"/>
            <a:ext cx="335965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err="1">
                <a:solidFill>
                  <a:schemeClr val="accent2"/>
                </a:solidFill>
              </a:rPr>
              <a:t>Ssignal</a:t>
            </a:r>
            <a:r>
              <a:rPr lang="en-US" altLang="zh-CN" sz="2400" dirty="0">
                <a:solidFill>
                  <a:schemeClr val="accent2"/>
                </a:solidFill>
              </a:rPr>
              <a:t>(</a:t>
            </a:r>
            <a:r>
              <a:rPr lang="en-US" altLang="zh-CN" sz="2400" dirty="0" err="1">
                <a:solidFill>
                  <a:schemeClr val="accent2"/>
                </a:solidFill>
              </a:rPr>
              <a:t>mutex</a:t>
            </a:r>
            <a:r>
              <a:rPr lang="en-US" altLang="zh-CN" sz="2400" dirty="0">
                <a:solidFill>
                  <a:schemeClr val="accent2"/>
                </a:solidFill>
              </a:rPr>
              <a:t>, full);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5497815" y="2494843"/>
            <a:ext cx="3540125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void consumer 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solidFill>
                  <a:schemeClr val="accent1"/>
                </a:solidFill>
              </a:rPr>
              <a:t>        wait(full);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wait(mutex);</a:t>
            </a:r>
            <a:r>
              <a:rPr lang="en-US" altLang="zh-CN" sz="200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nextc=buffer[out];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out= (out+1) % n;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</a:t>
            </a:r>
            <a:r>
              <a:rPr lang="en-US" altLang="zh-CN" sz="2000">
                <a:solidFill>
                  <a:schemeClr val="accent2"/>
                </a:solidFill>
              </a:rPr>
              <a:t>signal(mutex);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/>
              <a:t>        </a:t>
            </a:r>
            <a:r>
              <a:rPr lang="en-US" altLang="zh-CN" sz="2000">
                <a:solidFill>
                  <a:schemeClr val="hlink"/>
                </a:solidFill>
              </a:rPr>
              <a:t>signal(empty);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consumer the item in nextc;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  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    }while(TRUE)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/>
              <a:t>}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6013752" y="3340796"/>
            <a:ext cx="279384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 err="1">
                <a:solidFill>
                  <a:schemeClr val="accent2"/>
                </a:solidFill>
              </a:rPr>
              <a:t>Swait</a:t>
            </a:r>
            <a:r>
              <a:rPr lang="en-US" altLang="zh-CN" sz="2400" dirty="0">
                <a:solidFill>
                  <a:schemeClr val="accent2"/>
                </a:solidFill>
              </a:rPr>
              <a:t>(full, </a:t>
            </a:r>
            <a:r>
              <a:rPr lang="en-US" altLang="zh-CN" sz="2400" dirty="0" err="1">
                <a:solidFill>
                  <a:schemeClr val="accent2"/>
                </a:solidFill>
              </a:rPr>
              <a:t>mutex</a:t>
            </a:r>
            <a:r>
              <a:rPr lang="en-US" altLang="zh-CN" sz="2400" dirty="0">
                <a:solidFill>
                  <a:schemeClr val="accent2"/>
                </a:solidFill>
              </a:rPr>
              <a:t>);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6013752" y="4691758"/>
            <a:ext cx="391555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dirty="0" err="1">
                <a:solidFill>
                  <a:schemeClr val="hlink"/>
                </a:solidFill>
              </a:rPr>
              <a:t>Ssignal</a:t>
            </a:r>
            <a:r>
              <a:rPr lang="en-US" altLang="zh-CN" sz="2400" dirty="0">
                <a:solidFill>
                  <a:schemeClr val="hlink"/>
                </a:solidFill>
              </a:rPr>
              <a:t>(</a:t>
            </a:r>
            <a:r>
              <a:rPr lang="en-US" altLang="zh-CN" sz="2400" dirty="0" err="1">
                <a:solidFill>
                  <a:schemeClr val="hlink"/>
                </a:solidFill>
              </a:rPr>
              <a:t>mutex</a:t>
            </a:r>
            <a:r>
              <a:rPr lang="en-US" altLang="zh-CN" sz="2400" dirty="0">
                <a:solidFill>
                  <a:schemeClr val="hlink"/>
                </a:solidFill>
              </a:rPr>
              <a:t>, empty);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004176" y="877782"/>
            <a:ext cx="7935107" cy="665162"/>
            <a:chOff x="1004176" y="1027910"/>
            <a:chExt cx="7935107" cy="665162"/>
          </a:xfrm>
        </p:grpSpPr>
        <p:sp>
          <p:nvSpPr>
            <p:cNvPr id="19" name="矩形 18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文本框 55"/>
            <p:cNvSpPr txBox="1">
              <a:spLocks noChangeArrowheads="1"/>
            </p:cNvSpPr>
            <p:nvPr/>
          </p:nvSpPr>
          <p:spPr bwMode="auto">
            <a:xfrm>
              <a:off x="1004176" y="1027910"/>
              <a:ext cx="79351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）利用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信号量解决生产者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en-US" altLang="zh-CN" sz="2400" b="1" dirty="0" err="1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消费者问题</a:t>
              </a:r>
              <a:endPara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907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哲学家进餐问题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8" y="1790129"/>
            <a:ext cx="56873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五位哲学家围桌而坐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哲学家在思考问题时不需要任何资源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思考完问题后进入进餐态。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每人必须获得左右两支筷子才能进餐 </a:t>
            </a:r>
          </a:p>
        </p:txBody>
      </p:sp>
      <p:sp>
        <p:nvSpPr>
          <p:cNvPr id="38" name="Oval 4"/>
          <p:cNvSpPr>
            <a:spLocks noChangeArrowheads="1"/>
          </p:cNvSpPr>
          <p:nvPr/>
        </p:nvSpPr>
        <p:spPr bwMode="auto">
          <a:xfrm>
            <a:off x="8142275" y="2700142"/>
            <a:ext cx="1512887" cy="1511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8842362" y="2412804"/>
            <a:ext cx="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6"/>
          <p:cNvSpPr>
            <a:spLocks noChangeShapeType="1"/>
          </p:cNvSpPr>
          <p:nvPr/>
        </p:nvSpPr>
        <p:spPr bwMode="auto">
          <a:xfrm flipV="1">
            <a:off x="9464662" y="2844604"/>
            <a:ext cx="4572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9396400" y="3852667"/>
            <a:ext cx="381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8"/>
          <p:cNvSpPr>
            <a:spLocks noChangeShapeType="1"/>
          </p:cNvSpPr>
          <p:nvPr/>
        </p:nvSpPr>
        <p:spPr bwMode="auto">
          <a:xfrm flipH="1">
            <a:off x="8177200" y="3903467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>
            <a:off x="7832712" y="2989067"/>
            <a:ext cx="457200" cy="228600"/>
          </a:xfrm>
          <a:prstGeom prst="line">
            <a:avLst/>
          </a:prstGeom>
          <a:noFill/>
          <a:ln w="57150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" name="Picture 10" descr="PE03887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375" y="2052442"/>
            <a:ext cx="598487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11" descr="BD05893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162" y="1836542"/>
            <a:ext cx="65881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12" descr="BD05893_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00" y="4284467"/>
            <a:ext cx="6588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13" descr="PE03887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50" y="3420867"/>
            <a:ext cx="598487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14" descr="PE03887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0425" y="3347842"/>
            <a:ext cx="598487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 Box 15"/>
          <p:cNvSpPr txBox="1">
            <a:spLocks noChangeArrowheads="1"/>
          </p:cNvSpPr>
          <p:nvPr/>
        </p:nvSpPr>
        <p:spPr bwMode="auto">
          <a:xfrm>
            <a:off x="6557950" y="3970142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50" name="Text Box 16"/>
          <p:cNvSpPr txBox="1">
            <a:spLocks noChangeArrowheads="1"/>
          </p:cNvSpPr>
          <p:nvPr/>
        </p:nvSpPr>
        <p:spPr bwMode="auto">
          <a:xfrm>
            <a:off x="8609000" y="5267129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51" name="Text Box 17"/>
          <p:cNvSpPr txBox="1">
            <a:spLocks noChangeArrowheads="1"/>
          </p:cNvSpPr>
          <p:nvPr/>
        </p:nvSpPr>
        <p:spPr bwMode="auto">
          <a:xfrm>
            <a:off x="10244125" y="3917754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52" name="Text Box 18"/>
          <p:cNvSpPr txBox="1">
            <a:spLocks noChangeArrowheads="1"/>
          </p:cNvSpPr>
          <p:nvPr/>
        </p:nvSpPr>
        <p:spPr bwMode="auto">
          <a:xfrm>
            <a:off x="10013937" y="1547617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53" name="Text Box 19"/>
          <p:cNvSpPr txBox="1">
            <a:spLocks noChangeArrowheads="1"/>
          </p:cNvSpPr>
          <p:nvPr/>
        </p:nvSpPr>
        <p:spPr bwMode="auto">
          <a:xfrm>
            <a:off x="8286737" y="1476179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54" name="Text Box 20"/>
          <p:cNvSpPr txBox="1">
            <a:spLocks noChangeArrowheads="1"/>
          </p:cNvSpPr>
          <p:nvPr/>
        </p:nvSpPr>
        <p:spPr bwMode="auto">
          <a:xfrm>
            <a:off x="6032487" y="3460554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55" name="Text Box 21"/>
          <p:cNvSpPr txBox="1">
            <a:spLocks noChangeArrowheads="1"/>
          </p:cNvSpPr>
          <p:nvPr/>
        </p:nvSpPr>
        <p:spPr bwMode="auto">
          <a:xfrm>
            <a:off x="6629387" y="3106542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进餐</a:t>
            </a:r>
          </a:p>
        </p:txBody>
      </p:sp>
      <p:sp>
        <p:nvSpPr>
          <p:cNvPr id="56" name="Text Box 22"/>
          <p:cNvSpPr txBox="1">
            <a:spLocks noChangeArrowheads="1"/>
          </p:cNvSpPr>
          <p:nvPr/>
        </p:nvSpPr>
        <p:spPr bwMode="auto">
          <a:xfrm>
            <a:off x="6751625" y="1407917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57" name="Text Box 23"/>
          <p:cNvSpPr txBox="1">
            <a:spLocks noChangeArrowheads="1"/>
          </p:cNvSpPr>
          <p:nvPr/>
        </p:nvSpPr>
        <p:spPr bwMode="auto">
          <a:xfrm>
            <a:off x="6916725" y="1954017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进餐</a:t>
            </a:r>
          </a:p>
        </p:txBody>
      </p:sp>
    </p:spTree>
    <p:extLst>
      <p:ext uri="{BB962C8B-B14F-4D97-AF65-F5344CB8AC3E}">
        <p14:creationId xmlns:p14="http://schemas.microsoft.com/office/powerpoint/2010/main" val="90641854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9" grpId="0"/>
      <p:bldP spid="49" grpId="1"/>
      <p:bldP spid="49" grpId="2"/>
      <p:bldP spid="50" grpId="0"/>
      <p:bldP spid="51" grpId="0"/>
      <p:bldP spid="52" grpId="0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哲学家进餐问题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4" name="矩形 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利用记录型信号量解决</a:t>
              </a:r>
            </a:p>
          </p:txBody>
        </p:sp>
      </p:grpSp>
      <p:sp>
        <p:nvSpPr>
          <p:cNvPr id="7" name="文本框 19"/>
          <p:cNvSpPr txBox="1">
            <a:spLocks noChangeArrowheads="1"/>
          </p:cNvSpPr>
          <p:nvPr/>
        </p:nvSpPr>
        <p:spPr bwMode="auto">
          <a:xfrm>
            <a:off x="1150227" y="1790129"/>
            <a:ext cx="1043672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经分析可知，放在桌子上的筷子是临界资源，在一段时间内只允许一位哲学家使用。为了实现对筷子的互斥使用，可以用一个信号量表示一根筷子，由这五个信号量构成信号量数组。其描述如下：</a:t>
            </a:r>
            <a:r>
              <a:rPr lang="zh-CN" altLang="en-US" dirty="0"/>
              <a:t></a:t>
            </a:r>
          </a:p>
        </p:txBody>
      </p:sp>
      <p:sp>
        <p:nvSpPr>
          <p:cNvPr id="28" name="文本框 54"/>
          <p:cNvSpPr txBox="1">
            <a:spLocks noChangeArrowheads="1"/>
          </p:cNvSpPr>
          <p:nvPr/>
        </p:nvSpPr>
        <p:spPr bwMode="auto">
          <a:xfrm>
            <a:off x="1150227" y="3007169"/>
            <a:ext cx="98498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en-US" altLang="zh-CN" sz="2000" dirty="0"/>
              <a:t>semaphore chopstick[5] = {1, 1, 1, 1, 1};</a:t>
            </a:r>
            <a:endParaRPr lang="zh-CN" altLang="en-US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125977" y="1831005"/>
            <a:ext cx="10268874" cy="47731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000" dirty="0">
                <a:solidFill>
                  <a:srgbClr val="00B050"/>
                </a:solidFill>
              </a:rPr>
              <a:t>/*</a:t>
            </a:r>
            <a:r>
              <a:rPr lang="zh-CN" altLang="en-US" sz="2000" dirty="0">
                <a:solidFill>
                  <a:srgbClr val="00B050"/>
                </a:solidFill>
              </a:rPr>
              <a:t>所有信号量均被初始化为</a:t>
            </a:r>
            <a:r>
              <a:rPr lang="en-US" altLang="zh-CN" sz="2000" dirty="0">
                <a:solidFill>
                  <a:srgbClr val="00B050"/>
                </a:solidFill>
              </a:rPr>
              <a:t>1</a:t>
            </a:r>
            <a:r>
              <a:rPr lang="zh-CN" altLang="en-US" sz="2000" dirty="0">
                <a:solidFill>
                  <a:srgbClr val="00B050"/>
                </a:solidFill>
              </a:rPr>
              <a:t>， 第</a:t>
            </a:r>
            <a:r>
              <a:rPr lang="en-US" altLang="zh-CN" sz="2000" dirty="0" err="1">
                <a:solidFill>
                  <a:srgbClr val="00B050"/>
                </a:solidFill>
              </a:rPr>
              <a:t>i</a:t>
            </a:r>
            <a:r>
              <a:rPr lang="zh-CN" altLang="en-US" sz="2000" dirty="0">
                <a:solidFill>
                  <a:srgbClr val="00B050"/>
                </a:solidFill>
              </a:rPr>
              <a:t>位哲学家的活动可描述为： </a:t>
            </a:r>
            <a:r>
              <a:rPr lang="en-US" altLang="zh-CN" sz="2000" dirty="0">
                <a:solidFill>
                  <a:srgbClr val="00B050"/>
                </a:solidFill>
              </a:rPr>
              <a:t>*/</a:t>
            </a:r>
          </a:p>
          <a:p>
            <a:pPr algn="just" eaLnBrk="1" hangingPunct="1">
              <a:spcBef>
                <a:spcPts val="675"/>
              </a:spcBef>
            </a:pPr>
            <a:r>
              <a:rPr lang="zh-CN" altLang="en-US" sz="2000" b="0" dirty="0"/>
              <a:t> </a:t>
            </a:r>
            <a:r>
              <a:rPr lang="en-US" altLang="zh-CN" sz="2000" b="0" dirty="0"/>
              <a:t>do {</a:t>
            </a:r>
          </a:p>
          <a:p>
            <a:pPr algn="just" eaLnBrk="1" hangingPunct="1">
              <a:spcBef>
                <a:spcPts val="675"/>
              </a:spcBef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wait(chopstick[</a:t>
            </a:r>
            <a:r>
              <a:rPr lang="en-US" altLang="zh-CN" sz="2000" dirty="0" err="1">
                <a:solidFill>
                  <a:schemeClr val="accent2"/>
                </a:solidFill>
              </a:rPr>
              <a:t>i</a:t>
            </a:r>
            <a:r>
              <a:rPr lang="en-US" altLang="zh-CN" sz="2000" dirty="0">
                <a:solidFill>
                  <a:schemeClr val="accent2"/>
                </a:solidFill>
              </a:rPr>
              <a:t>]);</a:t>
            </a:r>
            <a:r>
              <a:rPr lang="en-US" altLang="zh-CN" sz="2000" b="0" dirty="0"/>
              <a:t>                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</a:rPr>
              <a:t>拿左边的筷子</a:t>
            </a:r>
          </a:p>
          <a:p>
            <a:pPr algn="just" eaLnBrk="1" hangingPunct="1">
              <a:spcBef>
                <a:spcPts val="675"/>
              </a:spcBef>
            </a:pPr>
            <a:r>
              <a:rPr lang="zh-CN" altLang="en-US" sz="2000" b="0" dirty="0"/>
              <a:t>        </a:t>
            </a:r>
            <a:r>
              <a:rPr lang="en-US" altLang="zh-CN" sz="2000" dirty="0">
                <a:solidFill>
                  <a:schemeClr val="hlink"/>
                </a:solidFill>
              </a:rPr>
              <a:t>wait(chopstick[(i+1) % 5]);</a:t>
            </a:r>
            <a:r>
              <a:rPr lang="en-US" altLang="zh-CN" sz="2000" b="0" dirty="0"/>
              <a:t>    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</a:rPr>
              <a:t>拿右边的筷子</a:t>
            </a:r>
            <a:r>
              <a:rPr lang="zh-CN" altLang="en-US" sz="2000" b="0" dirty="0"/>
              <a:t></a:t>
            </a:r>
          </a:p>
          <a:p>
            <a:pPr algn="just" eaLnBrk="1" hangingPunct="1">
              <a:spcBef>
                <a:spcPts val="675"/>
              </a:spcBef>
            </a:pPr>
            <a:r>
              <a:rPr lang="zh-CN" altLang="en-US" sz="2000" b="0" dirty="0"/>
              <a:t>      		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  <a:r>
              <a:rPr lang="en-US" altLang="zh-CN" sz="2000" b="0" dirty="0"/>
              <a:t></a:t>
            </a:r>
          </a:p>
          <a:p>
            <a:pPr algn="just" eaLnBrk="1" hangingPunct="1">
              <a:spcBef>
                <a:spcPts val="675"/>
              </a:spcBef>
            </a:pPr>
            <a:r>
              <a:rPr lang="en-US" altLang="zh-CN" sz="2000" b="0" dirty="0"/>
              <a:t>        eat;</a:t>
            </a:r>
          </a:p>
          <a:p>
            <a:pPr algn="just" eaLnBrk="1" hangingPunct="1">
              <a:spcBef>
                <a:spcPts val="675"/>
              </a:spcBef>
            </a:pPr>
            <a:r>
              <a:rPr lang="en-US" altLang="zh-CN" sz="2000" b="0" dirty="0"/>
              <a:t>                             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  <a:r>
              <a:rPr lang="en-US" altLang="zh-CN" sz="2000" b="0" dirty="0"/>
              <a:t></a:t>
            </a:r>
          </a:p>
          <a:p>
            <a:pPr algn="just" eaLnBrk="1" hangingPunct="1">
              <a:spcBef>
                <a:spcPts val="675"/>
              </a:spcBef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signal(chopstick[</a:t>
            </a:r>
            <a:r>
              <a:rPr lang="en-US" altLang="zh-CN" sz="2000" dirty="0" err="1">
                <a:solidFill>
                  <a:schemeClr val="accent2"/>
                </a:solidFill>
              </a:rPr>
              <a:t>i</a:t>
            </a:r>
            <a:r>
              <a:rPr lang="en-US" altLang="zh-CN" sz="2000" dirty="0">
                <a:solidFill>
                  <a:schemeClr val="accent2"/>
                </a:solidFill>
              </a:rPr>
              <a:t>]);</a:t>
            </a:r>
            <a:r>
              <a:rPr lang="en-US" altLang="zh-CN" sz="2000" b="0" dirty="0"/>
              <a:t>            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</a:rPr>
              <a:t>放下左边的筷子</a:t>
            </a:r>
          </a:p>
          <a:p>
            <a:pPr algn="just" eaLnBrk="1" hangingPunct="1">
              <a:spcBef>
                <a:spcPts val="675"/>
              </a:spcBef>
            </a:pPr>
            <a:r>
              <a:rPr lang="zh-CN" altLang="en-US" sz="2000" b="0" dirty="0"/>
              <a:t>        </a:t>
            </a:r>
            <a:r>
              <a:rPr lang="en-US" altLang="zh-CN" sz="2000" dirty="0">
                <a:solidFill>
                  <a:schemeClr val="hlink"/>
                </a:solidFill>
              </a:rPr>
              <a:t>signal(chopstick[(i+1) % 5]);  </a:t>
            </a:r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</a:rPr>
              <a:t>放下右边的筷子</a:t>
            </a:r>
          </a:p>
          <a:p>
            <a:pPr algn="just" eaLnBrk="1" hangingPunct="1">
              <a:spcBef>
                <a:spcPts val="675"/>
              </a:spcBef>
            </a:pPr>
            <a:r>
              <a:rPr lang="zh-CN" altLang="en-US" sz="2000" b="0" dirty="0"/>
              <a:t>     	              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  <a:r>
              <a:rPr lang="en-US" altLang="zh-CN" sz="2000" b="0" dirty="0"/>
              <a:t></a:t>
            </a:r>
          </a:p>
          <a:p>
            <a:pPr algn="just" eaLnBrk="1" hangingPunct="1">
              <a:spcBef>
                <a:spcPts val="675"/>
              </a:spcBef>
            </a:pPr>
            <a:r>
              <a:rPr lang="en-US" altLang="zh-CN" sz="2000" b="0" dirty="0"/>
              <a:t>        think;</a:t>
            </a:r>
          </a:p>
          <a:p>
            <a:pPr eaLnBrk="1" hangingPunct="1">
              <a:spcBef>
                <a:spcPts val="675"/>
              </a:spcBef>
            </a:pPr>
            <a:r>
              <a:rPr lang="en-US" altLang="zh-CN" sz="2000" b="0" dirty="0"/>
              <a:t>    }while[TRUE]; </a:t>
            </a:r>
          </a:p>
        </p:txBody>
      </p:sp>
    </p:spTree>
    <p:extLst>
      <p:ext uri="{BB962C8B-B14F-4D97-AF65-F5344CB8AC3E}">
        <p14:creationId xmlns:p14="http://schemas.microsoft.com/office/powerpoint/2010/main" val="1263686585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5" name="Oval 5"/>
          <p:cNvSpPr>
            <a:spLocks noChangeArrowheads="1"/>
          </p:cNvSpPr>
          <p:nvPr/>
        </p:nvSpPr>
        <p:spPr bwMode="auto">
          <a:xfrm>
            <a:off x="5393268" y="1844676"/>
            <a:ext cx="3407833" cy="24352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495622" name="Text Box 6"/>
          <p:cNvSpPr txBox="1">
            <a:spLocks noChangeArrowheads="1"/>
          </p:cNvSpPr>
          <p:nvPr/>
        </p:nvSpPr>
        <p:spPr bwMode="auto">
          <a:xfrm>
            <a:off x="9903885" y="4959351"/>
            <a:ext cx="17283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>
                <a:solidFill>
                  <a:srgbClr val="C00000"/>
                </a:solidFill>
                <a:latin typeface="Arial" pitchFamily="34" charset="0"/>
                <a:ea typeface="文鼎ＰＯＰ－４"/>
                <a:cs typeface="文鼎ＰＯＰ－４"/>
              </a:rPr>
              <a:t>死锁！</a:t>
            </a:r>
          </a:p>
        </p:txBody>
      </p:sp>
      <p:sp>
        <p:nvSpPr>
          <p:cNvPr id="125957" name="Line 7"/>
          <p:cNvSpPr>
            <a:spLocks noChangeShapeType="1"/>
          </p:cNvSpPr>
          <p:nvPr/>
        </p:nvSpPr>
        <p:spPr bwMode="auto">
          <a:xfrm>
            <a:off x="7120467" y="1341438"/>
            <a:ext cx="0" cy="10795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58" name="Line 8"/>
          <p:cNvSpPr>
            <a:spLocks noChangeShapeType="1"/>
          </p:cNvSpPr>
          <p:nvPr/>
        </p:nvSpPr>
        <p:spPr bwMode="auto">
          <a:xfrm flipV="1">
            <a:off x="7984067" y="2276475"/>
            <a:ext cx="1441451" cy="647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59" name="Line 9"/>
          <p:cNvSpPr>
            <a:spLocks noChangeShapeType="1"/>
          </p:cNvSpPr>
          <p:nvPr/>
        </p:nvSpPr>
        <p:spPr bwMode="auto">
          <a:xfrm>
            <a:off x="4815418" y="2349500"/>
            <a:ext cx="1729316" cy="647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60" name="Line 10"/>
          <p:cNvSpPr>
            <a:spLocks noChangeShapeType="1"/>
          </p:cNvSpPr>
          <p:nvPr/>
        </p:nvSpPr>
        <p:spPr bwMode="auto">
          <a:xfrm flipH="1">
            <a:off x="5393267" y="3571875"/>
            <a:ext cx="1344084" cy="115252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5961" name="Line 11"/>
          <p:cNvSpPr>
            <a:spLocks noChangeShapeType="1"/>
          </p:cNvSpPr>
          <p:nvPr/>
        </p:nvSpPr>
        <p:spPr bwMode="auto">
          <a:xfrm>
            <a:off x="7793567" y="3644901"/>
            <a:ext cx="1822451" cy="10080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5962" name="Picture 12" descr="j0225294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233" y="1125538"/>
            <a:ext cx="821267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63" name="Picture 13" descr="j0083519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817" y="1125539"/>
            <a:ext cx="10414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64" name="Picture 14" descr="j0110958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667" y="4581525"/>
            <a:ext cx="861484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65" name="Picture 15" descr="j0083521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034" y="2970214"/>
            <a:ext cx="1062567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966" name="Picture 16" descr="PE03920_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2" y="2997201"/>
            <a:ext cx="1045633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5633" name="Text Box 17"/>
          <p:cNvSpPr txBox="1">
            <a:spLocks noChangeArrowheads="1"/>
          </p:cNvSpPr>
          <p:nvPr/>
        </p:nvSpPr>
        <p:spPr bwMode="auto">
          <a:xfrm>
            <a:off x="2319867" y="2565400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495634" name="Text Box 18"/>
          <p:cNvSpPr txBox="1">
            <a:spLocks noChangeArrowheads="1"/>
          </p:cNvSpPr>
          <p:nvPr/>
        </p:nvSpPr>
        <p:spPr bwMode="auto">
          <a:xfrm>
            <a:off x="5103284" y="5276850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495635" name="Text Box 19"/>
          <p:cNvSpPr txBox="1">
            <a:spLocks noChangeArrowheads="1"/>
          </p:cNvSpPr>
          <p:nvPr/>
        </p:nvSpPr>
        <p:spPr bwMode="auto">
          <a:xfrm>
            <a:off x="10289118" y="2565400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495636" name="Text Box 20"/>
          <p:cNvSpPr txBox="1">
            <a:spLocks noChangeArrowheads="1"/>
          </p:cNvSpPr>
          <p:nvPr/>
        </p:nvSpPr>
        <p:spPr bwMode="auto">
          <a:xfrm>
            <a:off x="8752418" y="692150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495637" name="Text Box 21"/>
          <p:cNvSpPr txBox="1">
            <a:spLocks noChangeArrowheads="1"/>
          </p:cNvSpPr>
          <p:nvPr/>
        </p:nvSpPr>
        <p:spPr bwMode="auto">
          <a:xfrm>
            <a:off x="4525434" y="765175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>
                <a:latin typeface="Arial" pitchFamily="34" charset="0"/>
                <a:ea typeface="文鼎ＰＯＰ－４"/>
                <a:cs typeface="文鼎ＰＯＰ－４"/>
              </a:rPr>
              <a:t>思考</a:t>
            </a:r>
          </a:p>
        </p:txBody>
      </p:sp>
      <p:sp>
        <p:nvSpPr>
          <p:cNvPr id="495638" name="Text Box 22"/>
          <p:cNvSpPr txBox="1">
            <a:spLocks noChangeArrowheads="1"/>
          </p:cNvSpPr>
          <p:nvPr/>
        </p:nvSpPr>
        <p:spPr bwMode="auto">
          <a:xfrm>
            <a:off x="1361017" y="2965451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495639" name="Text Box 23"/>
          <p:cNvSpPr txBox="1">
            <a:spLocks noChangeArrowheads="1"/>
          </p:cNvSpPr>
          <p:nvPr/>
        </p:nvSpPr>
        <p:spPr bwMode="auto">
          <a:xfrm>
            <a:off x="3407833" y="1093788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495640" name="Text Box 24"/>
          <p:cNvSpPr txBox="1">
            <a:spLocks noChangeArrowheads="1"/>
          </p:cNvSpPr>
          <p:nvPr/>
        </p:nvSpPr>
        <p:spPr bwMode="auto">
          <a:xfrm>
            <a:off x="8945033" y="1057276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495641" name="Text Box 25"/>
          <p:cNvSpPr txBox="1">
            <a:spLocks noChangeArrowheads="1"/>
          </p:cNvSpPr>
          <p:nvPr/>
        </p:nvSpPr>
        <p:spPr bwMode="auto">
          <a:xfrm>
            <a:off x="10003367" y="2928938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sp>
        <p:nvSpPr>
          <p:cNvPr id="495642" name="Text Box 26"/>
          <p:cNvSpPr txBox="1">
            <a:spLocks noChangeArrowheads="1"/>
          </p:cNvSpPr>
          <p:nvPr/>
        </p:nvSpPr>
        <p:spPr bwMode="auto">
          <a:xfrm>
            <a:off x="5583766" y="5702301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sz="2800">
                <a:solidFill>
                  <a:schemeClr val="accent2"/>
                </a:solidFill>
                <a:latin typeface="Arial" pitchFamily="34" charset="0"/>
                <a:ea typeface="文鼎ＰＯＰ－４"/>
                <a:cs typeface="文鼎ＰＯＰ－４"/>
              </a:rPr>
              <a:t>准备进餐</a:t>
            </a:r>
          </a:p>
        </p:txBody>
      </p:sp>
      <p:pic>
        <p:nvPicPr>
          <p:cNvPr id="495643" name="Picture 27" descr="j02817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67276">
            <a:off x="4624918" y="2276475"/>
            <a:ext cx="6731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5644" name="Picture 28" descr="j02817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302668">
            <a:off x="5681134" y="4076700"/>
            <a:ext cx="6731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5645" name="Picture 29" descr="j02817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8183112">
            <a:off x="8896351" y="3716338"/>
            <a:ext cx="6731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5646" name="Picture 30" descr="j02817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26224">
            <a:off x="8559801" y="1773238"/>
            <a:ext cx="6731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5647" name="Picture 31" descr="j02817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808319">
            <a:off x="6484938" y="981605"/>
            <a:ext cx="504825" cy="1151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5648" name="Rectangle 32"/>
          <p:cNvSpPr>
            <a:spLocks noChangeArrowheads="1"/>
          </p:cNvSpPr>
          <p:nvPr/>
        </p:nvSpPr>
        <p:spPr bwMode="auto">
          <a:xfrm>
            <a:off x="336551" y="3933825"/>
            <a:ext cx="3551767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思考</a:t>
            </a:r>
          </a:p>
        </p:txBody>
      </p:sp>
      <p:sp>
        <p:nvSpPr>
          <p:cNvPr id="495649" name="Rectangle 33"/>
          <p:cNvSpPr>
            <a:spLocks noChangeArrowheads="1"/>
          </p:cNvSpPr>
          <p:nvPr/>
        </p:nvSpPr>
        <p:spPr bwMode="auto">
          <a:xfrm>
            <a:off x="336551" y="4365625"/>
            <a:ext cx="3551767" cy="503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申请左边的筷子</a:t>
            </a:r>
          </a:p>
        </p:txBody>
      </p:sp>
      <p:sp>
        <p:nvSpPr>
          <p:cNvPr id="495650" name="Rectangle 34"/>
          <p:cNvSpPr>
            <a:spLocks noChangeArrowheads="1"/>
          </p:cNvSpPr>
          <p:nvPr/>
        </p:nvSpPr>
        <p:spPr bwMode="auto">
          <a:xfrm>
            <a:off x="336551" y="4868863"/>
            <a:ext cx="3551767" cy="430212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申请右边的筷子</a:t>
            </a:r>
          </a:p>
        </p:txBody>
      </p:sp>
      <p:sp>
        <p:nvSpPr>
          <p:cNvPr id="495651" name="Rectangle 35"/>
          <p:cNvSpPr>
            <a:spLocks noChangeArrowheads="1"/>
          </p:cNvSpPr>
          <p:nvPr/>
        </p:nvSpPr>
        <p:spPr bwMode="auto">
          <a:xfrm>
            <a:off x="336551" y="6092825"/>
            <a:ext cx="3551767" cy="4318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释放右边的筷子</a:t>
            </a:r>
          </a:p>
        </p:txBody>
      </p:sp>
      <p:sp>
        <p:nvSpPr>
          <p:cNvPr id="495652" name="Rectangle 36"/>
          <p:cNvSpPr>
            <a:spLocks noChangeArrowheads="1"/>
          </p:cNvSpPr>
          <p:nvPr/>
        </p:nvSpPr>
        <p:spPr bwMode="auto">
          <a:xfrm>
            <a:off x="334434" y="5661026"/>
            <a:ext cx="3551767" cy="4302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释放左边的筷子</a:t>
            </a:r>
          </a:p>
        </p:txBody>
      </p:sp>
      <p:sp>
        <p:nvSpPr>
          <p:cNvPr id="495653" name="Rectangle 37"/>
          <p:cNvSpPr>
            <a:spLocks noChangeArrowheads="1"/>
          </p:cNvSpPr>
          <p:nvPr/>
        </p:nvSpPr>
        <p:spPr bwMode="auto">
          <a:xfrm>
            <a:off x="334434" y="5300663"/>
            <a:ext cx="3553884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  <a:ea typeface="楷体_GB2312" pitchFamily="49" charset="-122"/>
              </a:rPr>
              <a:t>进餐</a:t>
            </a:r>
          </a:p>
        </p:txBody>
      </p:sp>
      <p:sp>
        <p:nvSpPr>
          <p:cNvPr id="37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哲学家进餐问题</a:t>
            </a:r>
          </a:p>
        </p:txBody>
      </p:sp>
    </p:spTree>
    <p:extLst>
      <p:ext uri="{BB962C8B-B14F-4D97-AF65-F5344CB8AC3E}">
        <p14:creationId xmlns:p14="http://schemas.microsoft.com/office/powerpoint/2010/main" val="843274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9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9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9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9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9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9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9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70" decel="1000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770" decel="100000"/>
                                        <p:tgtEl>
                                          <p:spTgt spid="49562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2" dur="770" fill="hold"/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770" fill="hold"/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2" grpId="0"/>
      <p:bldP spid="495633" grpId="0"/>
      <p:bldP spid="495633" grpId="1"/>
      <p:bldP spid="495634" grpId="0"/>
      <p:bldP spid="495634" grpId="1"/>
      <p:bldP spid="495635" grpId="0"/>
      <p:bldP spid="495635" grpId="1"/>
      <p:bldP spid="495636" grpId="0"/>
      <p:bldP spid="495636" grpId="1"/>
      <p:bldP spid="495637" grpId="0"/>
      <p:bldP spid="495637" grpId="1"/>
      <p:bldP spid="495638" grpId="0"/>
      <p:bldP spid="495639" grpId="0"/>
      <p:bldP spid="495640" grpId="0" autoUpdateAnimBg="0"/>
      <p:bldP spid="495641" grpId="0" autoUpdateAnimBg="0"/>
      <p:bldP spid="49564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4"/>
          <p:cNvSpPr txBox="1">
            <a:spLocks noChangeArrowheads="1"/>
          </p:cNvSpPr>
          <p:nvPr/>
        </p:nvSpPr>
        <p:spPr bwMode="auto">
          <a:xfrm>
            <a:off x="513688" y="1592256"/>
            <a:ext cx="11135784" cy="42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/>
              <a:t>       </a:t>
            </a:r>
            <a:r>
              <a:rPr lang="en-US" altLang="zh-CN" b="0" dirty="0"/>
              <a:t>(1) </a:t>
            </a:r>
            <a:r>
              <a:rPr lang="zh-CN" altLang="en-US" b="0" dirty="0"/>
              <a:t>至多只允许有四位哲学家同时去拿左边的筷子，最终能保证至少有一位哲学家能够进餐，并在用毕时能释放出他用过的两根筷子，从而使更多的哲学家能够进餐。</a:t>
            </a: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/>
              <a:t>       </a:t>
            </a:r>
            <a:r>
              <a:rPr lang="en-US" altLang="zh-CN" b="0" dirty="0"/>
              <a:t>(2) </a:t>
            </a:r>
            <a:r>
              <a:rPr lang="zh-CN" altLang="en-US" b="0" dirty="0"/>
              <a:t>仅当哲学家的左、右两根筷子均可用时，才允许他拿起筷子进餐。</a:t>
            </a: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/>
              <a:t>       </a:t>
            </a:r>
            <a:r>
              <a:rPr lang="en-US" altLang="zh-CN" b="0" dirty="0"/>
              <a:t>(3) </a:t>
            </a:r>
            <a:r>
              <a:rPr lang="zh-CN" altLang="en-US" b="0" dirty="0"/>
              <a:t>规定奇数号哲学家先拿他左边的筷子，然后再去拿右边的筷子；而偶数号哲学家则相反。按此规定，将是</a:t>
            </a:r>
            <a:r>
              <a:rPr lang="en-US" altLang="zh-CN" b="0" dirty="0"/>
              <a:t>1</a:t>
            </a:r>
            <a:r>
              <a:rPr lang="zh-CN" altLang="en-US" b="0" dirty="0"/>
              <a:t>、 </a:t>
            </a:r>
            <a:r>
              <a:rPr lang="en-US" altLang="zh-CN" b="0" dirty="0"/>
              <a:t>2</a:t>
            </a:r>
            <a:r>
              <a:rPr lang="zh-CN" altLang="en-US" b="0" dirty="0"/>
              <a:t>号哲学家竞争</a:t>
            </a:r>
            <a:r>
              <a:rPr lang="en-US" altLang="zh-CN" b="0" dirty="0"/>
              <a:t>1</a:t>
            </a:r>
            <a:r>
              <a:rPr lang="zh-CN" altLang="en-US" b="0" dirty="0"/>
              <a:t>号筷子；</a:t>
            </a:r>
            <a:r>
              <a:rPr lang="en-US" altLang="zh-CN" b="0" dirty="0"/>
              <a:t>3</a:t>
            </a:r>
            <a:r>
              <a:rPr lang="zh-CN" altLang="en-US" b="0" dirty="0"/>
              <a:t>、</a:t>
            </a:r>
            <a:r>
              <a:rPr lang="en-US" altLang="zh-CN" b="0" dirty="0"/>
              <a:t>4</a:t>
            </a:r>
            <a:r>
              <a:rPr lang="zh-CN" altLang="en-US" b="0" dirty="0"/>
              <a:t>号哲学家竞争</a:t>
            </a:r>
            <a:r>
              <a:rPr lang="en-US" altLang="zh-CN" b="0" dirty="0"/>
              <a:t>3</a:t>
            </a:r>
            <a:r>
              <a:rPr lang="zh-CN" altLang="en-US" b="0" dirty="0"/>
              <a:t>号筷子。即五位哲学家都先竞争奇数号筷子，获得后，再去竞争偶数号筷子，最后总会有一位哲学家能获得两根筷子而进餐。 </a:t>
            </a: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哲学家进餐问题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解决方法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142817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6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2.</a:t>
            </a:r>
            <a:r>
              <a:rPr lang="zh-CN" altLang="en-US" dirty="0"/>
              <a:t>哲学家进餐问题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</a:t>
              </a:r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AND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信号量机制解决</a:t>
              </a:r>
            </a:p>
          </p:txBody>
        </p:sp>
      </p:grpSp>
      <p:sp>
        <p:nvSpPr>
          <p:cNvPr id="9" name="文本框 19"/>
          <p:cNvSpPr txBox="1">
            <a:spLocks noChangeArrowheads="1"/>
          </p:cNvSpPr>
          <p:nvPr/>
        </p:nvSpPr>
        <p:spPr bwMode="auto">
          <a:xfrm>
            <a:off x="1150228" y="1877288"/>
            <a:ext cx="1021835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在哲学家进餐问题中，要求每个哲学家先获得两个临界资源</a:t>
            </a:r>
            <a:r>
              <a:rPr lang="en-US" altLang="zh-CN" sz="2400" dirty="0"/>
              <a:t>(</a:t>
            </a:r>
            <a:r>
              <a:rPr lang="zh-CN" altLang="en-US" sz="2400" dirty="0"/>
              <a:t>筷子</a:t>
            </a:r>
            <a:r>
              <a:rPr lang="en-US" altLang="zh-CN" sz="2400" dirty="0"/>
              <a:t>)</a:t>
            </a:r>
            <a:r>
              <a:rPr lang="zh-CN" altLang="en-US" sz="2400" dirty="0"/>
              <a:t>后方能进餐，这在本质上就是前面所介绍的</a:t>
            </a:r>
            <a:r>
              <a:rPr lang="en-US" altLang="zh-CN" sz="2400" dirty="0"/>
              <a:t>AND</a:t>
            </a:r>
            <a:r>
              <a:rPr lang="zh-CN" altLang="en-US" sz="2400" dirty="0"/>
              <a:t>同步问题，故用</a:t>
            </a:r>
            <a:r>
              <a:rPr lang="en-US" altLang="zh-CN" sz="2400" dirty="0"/>
              <a:t>AND</a:t>
            </a:r>
            <a:r>
              <a:rPr lang="zh-CN" altLang="en-US" sz="2400" dirty="0"/>
              <a:t>信号量机制可获得最简洁的解法。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786658" y="1815919"/>
            <a:ext cx="11005012" cy="479618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semaphore chopstick[5] = {1, 1, 1, 1, 1}; 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do {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…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think;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…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</a:t>
            </a:r>
            <a:r>
              <a:rPr lang="en-US" altLang="zh-CN" b="0" dirty="0" err="1">
                <a:solidFill>
                  <a:srgbClr val="FF0000"/>
                </a:solidFill>
              </a:rPr>
              <a:t>Swait</a:t>
            </a:r>
            <a:r>
              <a:rPr lang="en-US" altLang="zh-CN" b="0" dirty="0">
                <a:solidFill>
                  <a:srgbClr val="FF0000"/>
                </a:solidFill>
              </a:rPr>
              <a:t>(chopstick[(i+1) % 5], chopstick[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>
                <a:solidFill>
                  <a:srgbClr val="FF0000"/>
                </a:solidFill>
              </a:rPr>
              <a:t>]);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同时申请右边和左边的筷子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…</a:t>
            </a:r>
          </a:p>
          <a:p>
            <a:pPr algn="just" eaLnBrk="1" hangingPunct="1">
              <a:spcBef>
                <a:spcPts val="500"/>
              </a:spcBef>
            </a:pPr>
            <a:r>
              <a:rPr lang="zh-CN" altLang="en-US" b="0" dirty="0"/>
              <a:t>    </a:t>
            </a:r>
            <a:r>
              <a:rPr lang="en-US" altLang="zh-CN" b="0" dirty="0"/>
              <a:t>eat;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…</a:t>
            </a:r>
          </a:p>
          <a:p>
            <a:pPr algn="just" eaLnBrk="1" hangingPunct="1">
              <a:spcBef>
                <a:spcPts val="500"/>
              </a:spcBef>
            </a:pPr>
            <a:r>
              <a:rPr lang="en-US" altLang="zh-CN" b="0" dirty="0"/>
              <a:t>    </a:t>
            </a:r>
            <a:r>
              <a:rPr lang="en-US" altLang="zh-CN" b="0" dirty="0" err="1">
                <a:solidFill>
                  <a:srgbClr val="FF0000"/>
                </a:solidFill>
              </a:rPr>
              <a:t>Ssignal</a:t>
            </a:r>
            <a:r>
              <a:rPr lang="en-US" altLang="zh-CN" b="0" dirty="0">
                <a:solidFill>
                  <a:srgbClr val="FF0000"/>
                </a:solidFill>
              </a:rPr>
              <a:t>(chopstick[(i+1) % 5], chopstick[</a:t>
            </a:r>
            <a:r>
              <a:rPr lang="en-US" altLang="zh-CN" b="0" dirty="0" err="1">
                <a:solidFill>
                  <a:srgbClr val="FF0000"/>
                </a:solidFill>
              </a:rPr>
              <a:t>i</a:t>
            </a:r>
            <a:r>
              <a:rPr lang="en-US" altLang="zh-CN" b="0" dirty="0">
                <a:solidFill>
                  <a:srgbClr val="FF0000"/>
                </a:solidFill>
              </a:rPr>
              <a:t>]); </a:t>
            </a:r>
            <a:r>
              <a:rPr lang="en-US" altLang="zh-CN" dirty="0">
                <a:solidFill>
                  <a:srgbClr val="00B050"/>
                </a:solidFill>
              </a:rPr>
              <a:t>//</a:t>
            </a:r>
            <a:r>
              <a:rPr lang="zh-CN" altLang="en-US" dirty="0">
                <a:solidFill>
                  <a:srgbClr val="00B050"/>
                </a:solidFill>
              </a:rPr>
              <a:t>用完餐后同时释放右边和左边的筷子</a:t>
            </a:r>
          </a:p>
          <a:p>
            <a:pPr eaLnBrk="1" hangingPunct="1">
              <a:spcBef>
                <a:spcPts val="500"/>
              </a:spcBef>
            </a:pPr>
            <a:r>
              <a:rPr lang="en-US" altLang="zh-CN" b="0" dirty="0"/>
              <a:t>}while(TRUE); </a:t>
            </a:r>
          </a:p>
        </p:txBody>
      </p:sp>
    </p:spTree>
    <p:extLst>
      <p:ext uri="{BB962C8B-B14F-4D97-AF65-F5344CB8AC3E}">
        <p14:creationId xmlns:p14="http://schemas.microsoft.com/office/powerpoint/2010/main" val="2780725044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387" y="1027910"/>
            <a:ext cx="3851275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1004177" y="1027910"/>
            <a:ext cx="5314736" cy="665162"/>
            <a:chOff x="1004177" y="1027910"/>
            <a:chExt cx="5314736" cy="665162"/>
          </a:xfrm>
        </p:grpSpPr>
        <p:sp>
          <p:nvSpPr>
            <p:cNvPr id="15" name="矩形 1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问题描述</a:t>
              </a:r>
            </a:p>
          </p:txBody>
        </p:sp>
      </p:grpSp>
      <p:sp>
        <p:nvSpPr>
          <p:cNvPr id="18" name="文本框 19"/>
          <p:cNvSpPr txBox="1">
            <a:spLocks noChangeArrowheads="1"/>
          </p:cNvSpPr>
          <p:nvPr/>
        </p:nvSpPr>
        <p:spPr bwMode="auto">
          <a:xfrm>
            <a:off x="1109284" y="1790129"/>
            <a:ext cx="605579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有多个进程进行读操作</a:t>
            </a:r>
            <a:r>
              <a:rPr lang="en-US" altLang="zh-CN" sz="2400" dirty="0"/>
              <a:t>—Reader</a:t>
            </a:r>
            <a:endParaRPr lang="zh-CN" altLang="en-US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另一些进程进行修改操作</a:t>
            </a:r>
            <a:r>
              <a:rPr lang="en-US" altLang="zh-CN" sz="2400" dirty="0"/>
              <a:t>—Writer</a:t>
            </a:r>
            <a:endParaRPr lang="zh-CN" altLang="en-US" sz="24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972071" y="2722501"/>
            <a:ext cx="5314736" cy="665162"/>
            <a:chOff x="1004177" y="1027910"/>
            <a:chExt cx="5314736" cy="665162"/>
          </a:xfrm>
        </p:grpSpPr>
        <p:sp>
          <p:nvSpPr>
            <p:cNvPr id="20" name="矩形 19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2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读写策略</a:t>
              </a:r>
            </a:p>
          </p:txBody>
        </p:sp>
      </p:grp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118121" y="3484720"/>
            <a:ext cx="730254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允许多个进程同时进行读操作</a:t>
            </a:r>
            <a:r>
              <a:rPr lang="en-US" altLang="zh-CN" sz="2400" dirty="0"/>
              <a:t>——</a:t>
            </a:r>
            <a:r>
              <a:rPr lang="zh-CN" altLang="en-US" sz="2400" dirty="0"/>
              <a:t>读不互斥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不允许多于一个进程进行写操作</a:t>
            </a:r>
            <a:r>
              <a:rPr lang="en-US" altLang="zh-CN" sz="2400" dirty="0"/>
              <a:t>——</a:t>
            </a:r>
            <a:r>
              <a:rPr lang="zh-CN" altLang="en-US" sz="2400" dirty="0"/>
              <a:t>写互斥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不允许读写操作同时进行</a:t>
            </a:r>
            <a:r>
              <a:rPr lang="en-US" altLang="zh-CN" sz="2400" dirty="0"/>
              <a:t>——</a:t>
            </a:r>
            <a:r>
              <a:rPr lang="zh-CN" altLang="en-US" sz="2400" dirty="0"/>
              <a:t>读写互斥</a:t>
            </a:r>
          </a:p>
        </p:txBody>
      </p:sp>
    </p:spTree>
    <p:extLst>
      <p:ext uri="{BB962C8B-B14F-4D97-AF65-F5344CB8AC3E}">
        <p14:creationId xmlns:p14="http://schemas.microsoft.com/office/powerpoint/2010/main" val="43654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02491" y="114847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</a:p>
          </p:txBody>
        </p:sp>
      </p:grpSp>
      <p:sp>
        <p:nvSpPr>
          <p:cNvPr id="9" name="文本框 19"/>
          <p:cNvSpPr txBox="1">
            <a:spLocks noChangeArrowheads="1"/>
          </p:cNvSpPr>
          <p:nvPr/>
        </p:nvSpPr>
        <p:spPr bwMode="auto">
          <a:xfrm>
            <a:off x="5731166" y="5350942"/>
            <a:ext cx="46570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一直等待，直到没有写者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访问数据库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离开</a:t>
            </a:r>
            <a:r>
              <a:rPr lang="zh-CN" altLang="zh-CN" sz="2400" dirty="0"/>
              <a:t>—</a:t>
            </a:r>
            <a:r>
              <a:rPr lang="zh-CN" altLang="en-US" sz="2400" dirty="0"/>
              <a:t>唤醒一个等待中的写者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995619" y="878459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ＰＯＰ－４" pitchFamily="33" charset="-122"/>
              </a:rPr>
              <a:t>读者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9733918" y="1043397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ＰＯＰ－４" pitchFamily="33" charset="-122"/>
              </a:rPr>
              <a:t>写者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4432308" y="2959966"/>
            <a:ext cx="1854061" cy="57350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读操作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9200804" y="3003614"/>
            <a:ext cx="1768617" cy="6492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写操作</a:t>
            </a: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5345691" y="1450254"/>
            <a:ext cx="0" cy="150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10082732" y="1478027"/>
            <a:ext cx="0" cy="150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9196043" y="1924114"/>
            <a:ext cx="1773378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10087387" y="146597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10082732" y="2500376"/>
            <a:ext cx="238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196042" y="4133703"/>
            <a:ext cx="1800675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  <a:endParaRPr kumimoji="0"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楷体_GB2312" pitchFamily="49" charset="-122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10082732" y="3629671"/>
            <a:ext cx="2380" cy="49074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4432308" y="1867998"/>
            <a:ext cx="1854061" cy="53699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wait</a:t>
            </a: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5345691" y="1278569"/>
            <a:ext cx="7937" cy="6018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5350453" y="2583729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4432308" y="4117826"/>
            <a:ext cx="1854062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kumimoji="0"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signal</a:t>
            </a: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（</a:t>
            </a:r>
            <a:r>
              <a:rPr kumimoji="0"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mutex</a:t>
            </a:r>
            <a:r>
              <a:rPr kumimoji="0"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5359338" y="3546755"/>
            <a:ext cx="0" cy="568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7227455" y="2627998"/>
            <a:ext cx="17235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粗钢笔行楷" pitchFamily="33" charset="-122"/>
              </a:rPr>
              <a:t>写者之间互斥</a:t>
            </a: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6766141" y="3130911"/>
            <a:ext cx="249299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粗钢笔行楷" pitchFamily="33" charset="-122"/>
              </a:rPr>
              <a:t>读者与写者之间互斥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7198112" y="3649003"/>
            <a:ext cx="12105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粗钢笔行楷" pitchFamily="33" charset="-122"/>
              </a:rPr>
              <a:t>读者之间</a:t>
            </a:r>
          </a:p>
        </p:txBody>
      </p:sp>
      <p:sp>
        <p:nvSpPr>
          <p:cNvPr id="29" name="AutoShape 24"/>
          <p:cNvSpPr>
            <a:spLocks noChangeArrowheads="1"/>
          </p:cNvSpPr>
          <p:nvPr/>
        </p:nvSpPr>
        <p:spPr bwMode="auto">
          <a:xfrm>
            <a:off x="8413415" y="3590410"/>
            <a:ext cx="503238" cy="5048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8284188" y="3639291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zh-CN" altLang="en-US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文鼎粗钢笔行楷" pitchFamily="33" charset="-122"/>
              </a:rPr>
              <a:t>互斥</a:t>
            </a:r>
          </a:p>
        </p:txBody>
      </p:sp>
      <p:sp>
        <p:nvSpPr>
          <p:cNvPr id="31" name="Oval 26"/>
          <p:cNvSpPr>
            <a:spLocks noChangeArrowheads="1"/>
          </p:cNvSpPr>
          <p:nvPr/>
        </p:nvSpPr>
        <p:spPr bwMode="auto">
          <a:xfrm>
            <a:off x="3878525" y="1435767"/>
            <a:ext cx="2931816" cy="3621901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2000" b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文本框 19"/>
          <p:cNvSpPr txBox="1">
            <a:spLocks noChangeArrowheads="1"/>
          </p:cNvSpPr>
          <p:nvPr/>
        </p:nvSpPr>
        <p:spPr bwMode="auto">
          <a:xfrm>
            <a:off x="4660155" y="5369389"/>
            <a:ext cx="622830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一直等待，直到没有活动状态的读者和写者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访问数据库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离开</a:t>
            </a:r>
            <a:r>
              <a:rPr lang="en-US" altLang="zh-CN" sz="2400" dirty="0"/>
              <a:t>—</a:t>
            </a:r>
            <a:r>
              <a:rPr lang="zh-CN" altLang="en-US" sz="2400" dirty="0"/>
              <a:t>唤醒等待中的读者</a:t>
            </a:r>
            <a:r>
              <a:rPr lang="en-US" altLang="zh-CN" sz="2400" dirty="0"/>
              <a:t>/</a:t>
            </a:r>
            <a:r>
              <a:rPr lang="zh-CN" altLang="en-US" sz="2400" dirty="0"/>
              <a:t>写者 </a:t>
            </a:r>
          </a:p>
        </p:txBody>
      </p:sp>
    </p:spTree>
    <p:extLst>
      <p:ext uri="{BB962C8B-B14F-4D97-AF65-F5344CB8AC3E}">
        <p14:creationId xmlns:p14="http://schemas.microsoft.com/office/powerpoint/2010/main" val="1619748391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animBg="1" autoUpdateAnimBg="0"/>
      <p:bldP spid="17" grpId="0" animBg="1"/>
      <p:bldP spid="18" grpId="0" animBg="1"/>
      <p:bldP spid="19" grpId="0" animBg="1" autoUpdateAnimBg="0"/>
      <p:bldP spid="21" grpId="0" animBg="1"/>
      <p:bldP spid="24" grpId="0" animBg="1"/>
      <p:bldP spid="26" grpId="0" autoUpdateAnimBg="0"/>
      <p:bldP spid="27" grpId="0"/>
      <p:bldP spid="28" grpId="0" autoUpdateAnimBg="0"/>
      <p:bldP spid="29" grpId="0" animBg="1" autoUpdateAnimBg="0"/>
      <p:bldP spid="30" grpId="0" autoUpdateAnimBg="0"/>
      <p:bldP spid="31" grpId="0" animBg="1" autoUpdateAnimBg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02491" y="114847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问题分析</a:t>
              </a:r>
            </a:p>
          </p:txBody>
        </p:sp>
      </p:grp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785813" y="1785938"/>
            <a:ext cx="2281237" cy="5842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b="0" kern="0" dirty="0">
                <a:latin typeface="+mn-lt"/>
                <a:ea typeface="+mn-ea"/>
              </a:rPr>
              <a:t>写者进程到达</a:t>
            </a: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785813" y="3786188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0">
                <a:latin typeface="Arial Black" pitchFamily="34" charset="0"/>
              </a:rPr>
              <a:t>读者进程到达</a:t>
            </a:r>
          </a:p>
        </p:txBody>
      </p:sp>
      <p:sp>
        <p:nvSpPr>
          <p:cNvPr id="35" name="AutoShape 5"/>
          <p:cNvSpPr>
            <a:spLocks/>
          </p:cNvSpPr>
          <p:nvPr/>
        </p:nvSpPr>
        <p:spPr bwMode="auto">
          <a:xfrm>
            <a:off x="2874963" y="1358900"/>
            <a:ext cx="360362" cy="1355725"/>
          </a:xfrm>
          <a:prstGeom prst="leftBrace">
            <a:avLst>
              <a:gd name="adj1" fmla="val 4331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" name="Rectangle 6"/>
          <p:cNvSpPr>
            <a:spLocks noChangeArrowheads="1"/>
          </p:cNvSpPr>
          <p:nvPr/>
        </p:nvSpPr>
        <p:spPr bwMode="auto">
          <a:xfrm>
            <a:off x="3235325" y="1143000"/>
            <a:ext cx="5651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Arial Black" pitchFamily="34" charset="0"/>
              </a:rPr>
              <a:t>无进程 </a:t>
            </a:r>
            <a:r>
              <a:rPr lang="zh-CN" altLang="en-US" sz="2000">
                <a:latin typeface="Arial Black" pitchFamily="34" charset="0"/>
              </a:rPr>
              <a:t>关掉信号灯，其他所有进程都无法进入</a:t>
            </a: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3235325" y="2428875"/>
            <a:ext cx="295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Arial Black" pitchFamily="34" charset="0"/>
              </a:rPr>
              <a:t>有读者  自我阻塞</a:t>
            </a: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3235325" y="1785938"/>
            <a:ext cx="2735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Arial Black" pitchFamily="34" charset="0"/>
              </a:rPr>
              <a:t>有写者  自我阻塞</a:t>
            </a:r>
          </a:p>
        </p:txBody>
      </p:sp>
      <p:sp>
        <p:nvSpPr>
          <p:cNvPr id="39" name="AutoShape 9"/>
          <p:cNvSpPr>
            <a:spLocks/>
          </p:cNvSpPr>
          <p:nvPr/>
        </p:nvSpPr>
        <p:spPr bwMode="auto">
          <a:xfrm>
            <a:off x="2857500" y="3286125"/>
            <a:ext cx="360363" cy="1500188"/>
          </a:xfrm>
          <a:prstGeom prst="leftBrace">
            <a:avLst>
              <a:gd name="adj1" fmla="val 4332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3241675" y="3000375"/>
            <a:ext cx="5473700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dirty="0">
                <a:latin typeface="Arial Black" pitchFamily="34" charset="0"/>
              </a:rPr>
              <a:t>无进程 </a:t>
            </a:r>
            <a:r>
              <a:rPr lang="zh-CN" altLang="en-US" sz="2000" dirty="0">
                <a:latin typeface="Arial Black" pitchFamily="34" charset="0"/>
              </a:rPr>
              <a:t>是第一位读者，需关掉写者信号灯，  不是第一位，改读者数目后，进行阅读操作</a:t>
            </a:r>
          </a:p>
        </p:txBody>
      </p:sp>
      <p:sp>
        <p:nvSpPr>
          <p:cNvPr id="41" name="Rectangle 11"/>
          <p:cNvSpPr>
            <a:spLocks noChangeArrowheads="1"/>
          </p:cNvSpPr>
          <p:nvPr/>
        </p:nvSpPr>
        <p:spPr bwMode="auto">
          <a:xfrm>
            <a:off x="3214688" y="4500563"/>
            <a:ext cx="57245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Arial Black" pitchFamily="34" charset="0"/>
              </a:rPr>
              <a:t>有读者 </a:t>
            </a:r>
            <a:r>
              <a:rPr lang="zh-CN" altLang="en-US" sz="2000">
                <a:latin typeface="Arial Black" pitchFamily="34" charset="0"/>
              </a:rPr>
              <a:t>互斥地修改读者数目，进行阅读操作</a:t>
            </a: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3192463" y="3929063"/>
            <a:ext cx="2736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>
                <a:latin typeface="Arial Black" pitchFamily="34" charset="0"/>
              </a:rPr>
              <a:t>有写者 自我阻塞</a:t>
            </a: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785813" y="5143500"/>
            <a:ext cx="2281237" cy="5842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zh-CN" altLang="en-US" b="0" kern="0" dirty="0">
                <a:latin typeface="+mn-lt"/>
                <a:ea typeface="+mn-ea"/>
              </a:rPr>
              <a:t>写者进程离开</a:t>
            </a:r>
          </a:p>
        </p:txBody>
      </p:sp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785813" y="5851525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b="0">
                <a:latin typeface="Arial Black" pitchFamily="34" charset="0"/>
              </a:rPr>
              <a:t>读者进程离开</a:t>
            </a:r>
          </a:p>
        </p:txBody>
      </p:sp>
      <p:sp>
        <p:nvSpPr>
          <p:cNvPr id="45" name="Rectangle 5"/>
          <p:cNvSpPr>
            <a:spLocks noChangeArrowheads="1"/>
          </p:cNvSpPr>
          <p:nvPr/>
        </p:nvSpPr>
        <p:spPr bwMode="auto">
          <a:xfrm>
            <a:off x="2873375" y="5167313"/>
            <a:ext cx="5651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>
                <a:latin typeface="Arial Black" pitchFamily="34" charset="0"/>
              </a:rPr>
              <a:t>打开信号灯，其他所有进程都可以进入</a:t>
            </a:r>
          </a:p>
        </p:txBody>
      </p:sp>
      <p:sp>
        <p:nvSpPr>
          <p:cNvPr id="46" name="Rectangle 6"/>
          <p:cNvSpPr>
            <a:spLocks noChangeArrowheads="1"/>
          </p:cNvSpPr>
          <p:nvPr/>
        </p:nvSpPr>
        <p:spPr bwMode="auto">
          <a:xfrm>
            <a:off x="2873375" y="5851525"/>
            <a:ext cx="827684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000" dirty="0">
                <a:latin typeface="Arial Black" pitchFamily="34" charset="0"/>
              </a:rPr>
              <a:t>互斥地修改读者数目，若是最后一位离开的读者，应该打开写信号灯</a:t>
            </a:r>
          </a:p>
        </p:txBody>
      </p:sp>
    </p:spTree>
    <p:extLst>
      <p:ext uri="{BB962C8B-B14F-4D97-AF65-F5344CB8AC3E}">
        <p14:creationId xmlns:p14="http://schemas.microsoft.com/office/powerpoint/2010/main" val="1118599606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02491" y="114847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）利用记录型信号量解决</a:t>
              </a:r>
            </a:p>
          </p:txBody>
        </p:sp>
      </p:grpSp>
      <p:sp>
        <p:nvSpPr>
          <p:cNvPr id="21" name="文本框 54"/>
          <p:cNvSpPr txBox="1">
            <a:spLocks noChangeArrowheads="1"/>
          </p:cNvSpPr>
          <p:nvPr/>
        </p:nvSpPr>
        <p:spPr bwMode="auto">
          <a:xfrm>
            <a:off x="1150228" y="1890685"/>
            <a:ext cx="20706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en-US" altLang="zh-CN" sz="2000" b="1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wmutex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2" name="文本框 54"/>
          <p:cNvSpPr txBox="1">
            <a:spLocks noChangeArrowheads="1"/>
          </p:cNvSpPr>
          <p:nvPr/>
        </p:nvSpPr>
        <p:spPr bwMode="auto">
          <a:xfrm>
            <a:off x="1150227" y="2884337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en-US" altLang="zh-CN" sz="2000" b="1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Readcount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150227" y="2305905"/>
            <a:ext cx="95632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0" lvl="2" indent="0">
              <a:buBlip>
                <a:blip r:embed="rId3"/>
              </a:buBlip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2"/>
            <a:r>
              <a:rPr lang="zh-CN" altLang="en-US" dirty="0"/>
              <a:t>表示写进程与其它进程（读、写）互斥地访问数据集，初值为</a:t>
            </a:r>
            <a:r>
              <a:rPr lang="en-US" altLang="zh-CN" dirty="0"/>
              <a:t>1</a:t>
            </a:r>
            <a:r>
              <a:rPr lang="zh-CN" altLang="en-US" dirty="0"/>
              <a:t>  </a:t>
            </a:r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1148542" y="3359615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记录当前正在读数据集的读进程数目，初值为</a:t>
            </a:r>
            <a:r>
              <a:rPr lang="en-US" altLang="zh-CN" sz="2400" dirty="0"/>
              <a:t>0</a:t>
            </a:r>
            <a:r>
              <a:rPr lang="zh-CN" altLang="en-US" sz="2400" dirty="0"/>
              <a:t>。</a:t>
            </a:r>
          </a:p>
        </p:txBody>
      </p:sp>
      <p:sp>
        <p:nvSpPr>
          <p:cNvPr id="25" name="文本框 54"/>
          <p:cNvSpPr txBox="1">
            <a:spLocks noChangeArrowheads="1"/>
          </p:cNvSpPr>
          <p:nvPr/>
        </p:nvSpPr>
        <p:spPr bwMode="auto">
          <a:xfrm>
            <a:off x="1158001" y="3923837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en-US" altLang="zh-CN" sz="2000" b="1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rmutex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26" name="文本框 19"/>
          <p:cNvSpPr txBox="1">
            <a:spLocks noChangeArrowheads="1"/>
          </p:cNvSpPr>
          <p:nvPr/>
        </p:nvSpPr>
        <p:spPr bwMode="auto">
          <a:xfrm>
            <a:off x="1156316" y="4399115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表示读进程互斥地访问共享变量</a:t>
            </a:r>
            <a:r>
              <a:rPr lang="en-US" altLang="zh-CN" sz="2400" dirty="0" err="1"/>
              <a:t>Readcount</a:t>
            </a:r>
            <a:r>
              <a:rPr lang="zh-CN" altLang="en-US" sz="2400" dirty="0"/>
              <a:t>，初值为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3830104" y="1929721"/>
            <a:ext cx="7934266" cy="2931059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algn="just" eaLnBrk="1" hangingPunct="1">
              <a:lnSpc>
                <a:spcPct val="120000"/>
              </a:lnSpc>
              <a:spcBef>
                <a:spcPts val="675"/>
              </a:spcBef>
              <a:buFont typeface="Wingdings" panose="05000000000000000000" pitchFamily="2" charset="2"/>
              <a:buChar char="Ø"/>
            </a:pPr>
            <a:r>
              <a:rPr lang="zh-CN" altLang="en-US" b="0" dirty="0"/>
              <a:t>仅当</a:t>
            </a:r>
            <a:r>
              <a:rPr lang="en-US" altLang="zh-CN" b="0" dirty="0" err="1"/>
              <a:t>Readcount</a:t>
            </a:r>
            <a:r>
              <a:rPr lang="en-US" altLang="zh-CN" b="0" dirty="0"/>
              <a:t>=0, </a:t>
            </a:r>
            <a:r>
              <a:rPr lang="zh-CN" altLang="en-US" b="0" dirty="0"/>
              <a:t>表示尚无</a:t>
            </a:r>
            <a:r>
              <a:rPr lang="en-US" altLang="zh-CN" b="0" dirty="0"/>
              <a:t>Reader</a:t>
            </a:r>
            <a:r>
              <a:rPr lang="zh-CN" altLang="en-US" b="0" dirty="0"/>
              <a:t>进程在读时，</a:t>
            </a:r>
            <a:r>
              <a:rPr lang="en-US" altLang="zh-CN" b="0" dirty="0"/>
              <a:t>Reader</a:t>
            </a:r>
            <a:r>
              <a:rPr lang="zh-CN" altLang="en-US" b="0" dirty="0"/>
              <a:t>进程才需要执行</a:t>
            </a:r>
            <a:r>
              <a:rPr lang="en-US" altLang="zh-CN" b="0" dirty="0"/>
              <a:t>Wait(</a:t>
            </a:r>
            <a:r>
              <a:rPr lang="en-US" altLang="zh-CN" b="0" dirty="0" err="1"/>
              <a:t>wmutex</a:t>
            </a:r>
            <a:r>
              <a:rPr lang="en-US" altLang="zh-CN" b="0" dirty="0"/>
              <a:t>)</a:t>
            </a:r>
            <a:r>
              <a:rPr lang="zh-CN" altLang="en-US" b="0" dirty="0"/>
              <a:t>操作；</a:t>
            </a:r>
            <a:endParaRPr lang="en-US" altLang="zh-CN" b="0" dirty="0"/>
          </a:p>
          <a:p>
            <a:pPr marL="342900" indent="-342900" algn="just" eaLnBrk="1" hangingPunct="1">
              <a:lnSpc>
                <a:spcPct val="120000"/>
              </a:lnSpc>
              <a:spcBef>
                <a:spcPts val="675"/>
              </a:spcBef>
              <a:buFont typeface="Wingdings" panose="05000000000000000000" pitchFamily="2" charset="2"/>
              <a:buChar char="Ø"/>
            </a:pPr>
            <a:r>
              <a:rPr lang="zh-CN" altLang="en-US" b="0" dirty="0"/>
              <a:t>若</a:t>
            </a:r>
            <a:r>
              <a:rPr lang="en-US" altLang="zh-CN" b="0" dirty="0"/>
              <a:t>wait(</a:t>
            </a:r>
            <a:r>
              <a:rPr lang="en-US" altLang="zh-CN" b="0" dirty="0" err="1"/>
              <a:t>Wmutex</a:t>
            </a:r>
            <a:r>
              <a:rPr lang="en-US" altLang="zh-CN" b="0" dirty="0"/>
              <a:t>)</a:t>
            </a:r>
            <a:r>
              <a:rPr lang="zh-CN" altLang="en-US" b="0" dirty="0"/>
              <a:t>操作成功，</a:t>
            </a:r>
            <a:r>
              <a:rPr lang="en-US" altLang="zh-CN" b="0" dirty="0"/>
              <a:t>Reader</a:t>
            </a:r>
            <a:r>
              <a:rPr lang="zh-CN" altLang="en-US" b="0" dirty="0"/>
              <a:t>进程便可去读，相应地，做</a:t>
            </a:r>
            <a:r>
              <a:rPr lang="en-US" altLang="zh-CN" b="0" dirty="0"/>
              <a:t>Readcount+1</a:t>
            </a:r>
            <a:r>
              <a:rPr lang="zh-CN" altLang="en-US" b="0" dirty="0"/>
              <a:t>操作；</a:t>
            </a:r>
            <a:endParaRPr lang="en-US" altLang="zh-CN" b="0" dirty="0"/>
          </a:p>
          <a:p>
            <a:pPr marL="342900" indent="-342900" algn="just" eaLnBrk="1" hangingPunct="1">
              <a:lnSpc>
                <a:spcPct val="120000"/>
              </a:lnSpc>
              <a:spcBef>
                <a:spcPts val="675"/>
              </a:spcBef>
              <a:buFont typeface="Wingdings" panose="05000000000000000000" pitchFamily="2" charset="2"/>
              <a:buChar char="Ø"/>
            </a:pPr>
            <a:r>
              <a:rPr lang="zh-CN" altLang="en-US" b="0" dirty="0"/>
              <a:t>仅当</a:t>
            </a:r>
            <a:r>
              <a:rPr lang="en-US" altLang="zh-CN" b="0" dirty="0"/>
              <a:t>Reader</a:t>
            </a:r>
            <a:r>
              <a:rPr lang="zh-CN" altLang="en-US" b="0" dirty="0"/>
              <a:t>进程在执行了</a:t>
            </a:r>
            <a:r>
              <a:rPr lang="en-US" altLang="zh-CN" b="0" dirty="0" err="1"/>
              <a:t>Readcount</a:t>
            </a:r>
            <a:r>
              <a:rPr lang="zh-CN" altLang="en-US" b="0" dirty="0"/>
              <a:t>减</a:t>
            </a:r>
            <a:r>
              <a:rPr lang="en-US" altLang="zh-CN" b="0" dirty="0"/>
              <a:t>1</a:t>
            </a:r>
            <a:r>
              <a:rPr lang="zh-CN" altLang="en-US" b="0" dirty="0"/>
              <a:t>操作后其值为</a:t>
            </a:r>
            <a:r>
              <a:rPr lang="en-US" altLang="zh-CN" b="0" dirty="0"/>
              <a:t>0</a:t>
            </a:r>
            <a:r>
              <a:rPr lang="zh-CN" altLang="en-US" b="0" dirty="0"/>
              <a:t>时，才须执行</a:t>
            </a:r>
            <a:r>
              <a:rPr lang="en-US" altLang="zh-CN" b="0" dirty="0"/>
              <a:t>signal(</a:t>
            </a:r>
            <a:r>
              <a:rPr lang="en-US" altLang="zh-CN" b="0" dirty="0" err="1"/>
              <a:t>Wmutex</a:t>
            </a:r>
            <a:r>
              <a:rPr lang="en-US" altLang="zh-CN" b="0" dirty="0"/>
              <a:t>)</a:t>
            </a:r>
            <a:r>
              <a:rPr lang="zh-CN" altLang="en-US" b="0" dirty="0"/>
              <a:t>操作，以便让</a:t>
            </a:r>
            <a:r>
              <a:rPr lang="en-US" altLang="zh-CN" b="0" dirty="0"/>
              <a:t>Writer</a:t>
            </a:r>
            <a:r>
              <a:rPr lang="zh-CN" altLang="en-US" b="0" dirty="0"/>
              <a:t>进程写；</a:t>
            </a:r>
          </a:p>
        </p:txBody>
      </p:sp>
    </p:spTree>
    <p:extLst>
      <p:ext uri="{BB962C8B-B14F-4D97-AF65-F5344CB8AC3E}">
        <p14:creationId xmlns:p14="http://schemas.microsoft.com/office/powerpoint/2010/main" val="906537513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854997" y="939127"/>
            <a:ext cx="4597734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reader() {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wait(</a:t>
            </a:r>
            <a:r>
              <a:rPr lang="en-US" altLang="zh-CN" sz="2000" dirty="0" err="1">
                <a:solidFill>
                  <a:schemeClr val="accent2"/>
                </a:solidFill>
              </a:rPr>
              <a:t>rmutex</a:t>
            </a:r>
            <a:r>
              <a:rPr lang="en-US" altLang="zh-CN" sz="2000" dirty="0">
                <a:solidFill>
                  <a:schemeClr val="accent2"/>
                </a:solidFill>
              </a:rPr>
              <a:t>);</a:t>
            </a:r>
            <a:r>
              <a:rPr lang="en-US" altLang="zh-CN" sz="2000" b="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if (</a:t>
            </a:r>
            <a:r>
              <a:rPr lang="en-US" altLang="zh-CN" sz="2000" b="0" dirty="0" err="1"/>
              <a:t>readcount</a:t>
            </a:r>
            <a:r>
              <a:rPr lang="en-US" altLang="zh-CN" sz="2000" b="0" dirty="0"/>
              <a:t>==0) </a:t>
            </a:r>
            <a:r>
              <a:rPr lang="en-US" altLang="zh-CN" sz="2000" dirty="0">
                <a:solidFill>
                  <a:schemeClr val="hlink"/>
                </a:solidFill>
              </a:rPr>
              <a:t>wait(</a:t>
            </a:r>
            <a:r>
              <a:rPr lang="en-US" altLang="zh-CN" sz="2000" dirty="0" err="1">
                <a:solidFill>
                  <a:schemeClr val="hlink"/>
                </a:solidFill>
              </a:rPr>
              <a:t>wmutex</a:t>
            </a:r>
            <a:r>
              <a:rPr lang="en-US" altLang="zh-CN" sz="2000" dirty="0">
                <a:solidFill>
                  <a:schemeClr val="hlink"/>
                </a:solidFill>
              </a:rPr>
              <a:t>);</a:t>
            </a:r>
            <a:r>
              <a:rPr lang="en-US" altLang="zh-CN" sz="2000" b="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b="0" dirty="0" err="1"/>
              <a:t>readcount</a:t>
            </a:r>
            <a:r>
              <a:rPr lang="en-US" altLang="zh-CN" sz="2000" b="0" dirty="0"/>
              <a:t>++;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signal(</a:t>
            </a:r>
            <a:r>
              <a:rPr lang="en-US" altLang="zh-CN" sz="2000" dirty="0" err="1">
                <a:solidFill>
                  <a:schemeClr val="accent2"/>
                </a:solidFill>
              </a:rPr>
              <a:t>rmutex</a:t>
            </a:r>
            <a:r>
              <a:rPr lang="en-US" altLang="zh-CN" sz="2000" dirty="0">
                <a:solidFill>
                  <a:schemeClr val="accent2"/>
                </a:solidFill>
              </a:rPr>
              <a:t>);</a:t>
            </a:r>
            <a:endParaRPr lang="en-US" altLang="zh-CN" sz="2000" b="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perform read operation;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wait(</a:t>
            </a:r>
            <a:r>
              <a:rPr lang="en-US" altLang="zh-CN" sz="2000" dirty="0" err="1">
                <a:solidFill>
                  <a:schemeClr val="accent2"/>
                </a:solidFill>
              </a:rPr>
              <a:t>rmutex</a:t>
            </a:r>
            <a:r>
              <a:rPr lang="en-US" altLang="zh-CN" sz="2000" dirty="0">
                <a:solidFill>
                  <a:schemeClr val="accent2"/>
                </a:solidFill>
              </a:rPr>
              <a:t>);</a:t>
            </a:r>
            <a:r>
              <a:rPr lang="en-US" altLang="zh-CN" sz="2000" b="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b="0" dirty="0" err="1"/>
              <a:t>readcount</a:t>
            </a:r>
            <a:r>
              <a:rPr lang="en-US" altLang="zh-CN" sz="2000" b="0" dirty="0"/>
              <a:t>--;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if (</a:t>
            </a:r>
            <a:r>
              <a:rPr lang="en-US" altLang="zh-CN" sz="2000" b="0" dirty="0" err="1"/>
              <a:t>readcount</a:t>
            </a:r>
            <a:r>
              <a:rPr lang="en-US" altLang="zh-CN" sz="2000" b="0" dirty="0"/>
              <a:t>==0) </a:t>
            </a:r>
            <a:r>
              <a:rPr lang="en-US" altLang="zh-CN" sz="2000" dirty="0">
                <a:solidFill>
                  <a:schemeClr val="hlink"/>
                </a:solidFill>
              </a:rPr>
              <a:t>signal(</a:t>
            </a:r>
            <a:r>
              <a:rPr lang="en-US" altLang="zh-CN" sz="2000" dirty="0" err="1">
                <a:solidFill>
                  <a:schemeClr val="hlink"/>
                </a:solidFill>
              </a:rPr>
              <a:t>wmutex</a:t>
            </a:r>
            <a:r>
              <a:rPr lang="en-US" altLang="zh-CN" sz="2000" dirty="0">
                <a:solidFill>
                  <a:schemeClr val="hlink"/>
                </a:solidFill>
              </a:rPr>
              <a:t>);</a:t>
            </a:r>
            <a:r>
              <a:rPr lang="en-US" altLang="zh-CN" sz="2000" b="0" dirty="0"/>
              <a:t>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accent2"/>
                </a:solidFill>
              </a:rPr>
              <a:t>signal(</a:t>
            </a:r>
            <a:r>
              <a:rPr lang="en-US" altLang="zh-CN" sz="2000" dirty="0" err="1">
                <a:solidFill>
                  <a:schemeClr val="accent2"/>
                </a:solidFill>
              </a:rPr>
              <a:t>rmutex</a:t>
            </a:r>
            <a:r>
              <a:rPr lang="en-US" altLang="zh-CN" sz="2000" dirty="0">
                <a:solidFill>
                  <a:schemeClr val="accent2"/>
                </a:solidFill>
              </a:rPr>
              <a:t>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}while(TRUE);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087686" y="975824"/>
            <a:ext cx="3212739" cy="31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writer() {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do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        wait(</a:t>
            </a:r>
            <a:r>
              <a:rPr lang="en-US" altLang="zh-CN" sz="2000" dirty="0" err="1">
                <a:solidFill>
                  <a:schemeClr val="hlink"/>
                </a:solidFill>
              </a:rPr>
              <a:t>wmutex</a:t>
            </a:r>
            <a:r>
              <a:rPr lang="en-US" altLang="zh-CN" sz="2000" dirty="0">
                <a:solidFill>
                  <a:schemeClr val="hlink"/>
                </a:solidFill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perform write operation;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…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</a:t>
            </a:r>
            <a:r>
              <a:rPr lang="en-US" altLang="zh-CN" sz="2000" dirty="0">
                <a:solidFill>
                  <a:schemeClr val="hlink"/>
                </a:solidFill>
              </a:rPr>
              <a:t>signal(</a:t>
            </a:r>
            <a:r>
              <a:rPr lang="en-US" altLang="zh-CN" sz="2000" dirty="0" err="1">
                <a:solidFill>
                  <a:schemeClr val="hlink"/>
                </a:solidFill>
              </a:rPr>
              <a:t>wmutex</a:t>
            </a:r>
            <a:r>
              <a:rPr lang="en-US" altLang="zh-CN" sz="2000" dirty="0">
                <a:solidFill>
                  <a:schemeClr val="hlink"/>
                </a:solidFill>
              </a:rPr>
              <a:t>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}while(TRUE);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</a:t>
            </a: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7004542" y="853542"/>
            <a:ext cx="0" cy="584068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7004542" y="4160879"/>
            <a:ext cx="4356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AutoShape 9"/>
          <p:cNvSpPr>
            <a:spLocks/>
          </p:cNvSpPr>
          <p:nvPr/>
        </p:nvSpPr>
        <p:spPr bwMode="auto">
          <a:xfrm>
            <a:off x="2171173" y="2454680"/>
            <a:ext cx="222250" cy="1062317"/>
          </a:xfrm>
          <a:prstGeom prst="leftBrace">
            <a:avLst>
              <a:gd name="adj1" fmla="val 47619"/>
              <a:gd name="adj2" fmla="val 5000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grpSp>
        <p:nvGrpSpPr>
          <p:cNvPr id="33" name="组合 32"/>
          <p:cNvGrpSpPr/>
          <p:nvPr/>
        </p:nvGrpSpPr>
        <p:grpSpPr>
          <a:xfrm>
            <a:off x="3227075" y="188380"/>
            <a:ext cx="5314736" cy="665162"/>
            <a:chOff x="1004177" y="1027910"/>
            <a:chExt cx="5314736" cy="665162"/>
          </a:xfrm>
        </p:grpSpPr>
        <p:sp>
          <p:nvSpPr>
            <p:cNvPr id="34" name="矩形 3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）利用记录型信号量解决</a:t>
              </a:r>
            </a:p>
          </p:txBody>
        </p:sp>
      </p:grpSp>
      <p:sp>
        <p:nvSpPr>
          <p:cNvPr id="37" name="Text Box 5"/>
          <p:cNvSpPr txBox="1">
            <a:spLocks noChangeArrowheads="1"/>
          </p:cNvSpPr>
          <p:nvPr/>
        </p:nvSpPr>
        <p:spPr bwMode="auto">
          <a:xfrm>
            <a:off x="7048497" y="4247383"/>
            <a:ext cx="4272956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semaphore </a:t>
            </a:r>
            <a:r>
              <a:rPr lang="en-US" altLang="zh-CN" sz="2000" b="0" dirty="0" err="1"/>
              <a:t>rmutex</a:t>
            </a:r>
            <a:r>
              <a:rPr lang="en-US" altLang="zh-CN" sz="2000" b="0" dirty="0"/>
              <a:t>=1, </a:t>
            </a:r>
            <a:r>
              <a:rPr lang="en-US" altLang="zh-CN" sz="2000" b="0" dirty="0" err="1"/>
              <a:t>wmutex</a:t>
            </a:r>
            <a:r>
              <a:rPr lang="en-US" altLang="zh-CN" sz="2000" b="0" dirty="0"/>
              <a:t>=1;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</a:t>
            </a:r>
            <a:r>
              <a:rPr lang="en-US" altLang="zh-CN" sz="2000" b="0" dirty="0" err="1"/>
              <a:t>int</a:t>
            </a:r>
            <a:r>
              <a:rPr lang="en-US" altLang="zh-CN" sz="2000" b="0" dirty="0"/>
              <a:t> </a:t>
            </a:r>
            <a:r>
              <a:rPr lang="en-US" altLang="zh-CN" sz="2000" b="0" dirty="0" err="1"/>
              <a:t>readcount</a:t>
            </a:r>
            <a:r>
              <a:rPr lang="en-US" altLang="zh-CN" sz="2000" b="0" dirty="0"/>
              <a:t>=0;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</a:t>
            </a:r>
            <a:r>
              <a:rPr lang="en-US" altLang="zh-CN" sz="2000" b="0" dirty="0" err="1"/>
              <a:t>cobegin</a:t>
            </a:r>
            <a:endParaRPr lang="en-US" altLang="zh-CN" sz="2000" b="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reader();writer();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</a:t>
            </a:r>
            <a:r>
              <a:rPr lang="en-US" altLang="zh-CN" sz="2000" b="0" dirty="0" err="1"/>
              <a:t>coend</a:t>
            </a:r>
            <a:endParaRPr lang="en-US" altLang="zh-CN" sz="2000" b="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} </a:t>
            </a:r>
          </a:p>
        </p:txBody>
      </p:sp>
      <p:sp>
        <p:nvSpPr>
          <p:cNvPr id="38" name="AutoShape 9"/>
          <p:cNvSpPr>
            <a:spLocks/>
          </p:cNvSpPr>
          <p:nvPr/>
        </p:nvSpPr>
        <p:spPr bwMode="auto">
          <a:xfrm>
            <a:off x="2171173" y="4873625"/>
            <a:ext cx="222250" cy="1022208"/>
          </a:xfrm>
          <a:prstGeom prst="leftBrace">
            <a:avLst>
              <a:gd name="adj1" fmla="val 47619"/>
              <a:gd name="adj2" fmla="val 5000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b="0"/>
          </a:p>
        </p:txBody>
      </p:sp>
      <p:sp>
        <p:nvSpPr>
          <p:cNvPr id="39" name="AutoShape 15"/>
          <p:cNvSpPr>
            <a:spLocks noChangeArrowheads="1"/>
          </p:cNvSpPr>
          <p:nvPr/>
        </p:nvSpPr>
        <p:spPr bwMode="auto">
          <a:xfrm>
            <a:off x="3972698" y="1700782"/>
            <a:ext cx="1420813" cy="595312"/>
          </a:xfrm>
          <a:prstGeom prst="wedgeRectCallout">
            <a:avLst>
              <a:gd name="adj1" fmla="val 43185"/>
              <a:gd name="adj2" fmla="val 118801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/>
              <a:t>第一位读者阻止写者</a:t>
            </a:r>
          </a:p>
        </p:txBody>
      </p:sp>
      <p:sp>
        <p:nvSpPr>
          <p:cNvPr id="40" name="AutoShape 10"/>
          <p:cNvSpPr>
            <a:spLocks noChangeArrowheads="1"/>
          </p:cNvSpPr>
          <p:nvPr/>
        </p:nvSpPr>
        <p:spPr bwMode="auto">
          <a:xfrm>
            <a:off x="4283821" y="3383114"/>
            <a:ext cx="1420813" cy="595313"/>
          </a:xfrm>
          <a:prstGeom prst="wedgeRectCallout">
            <a:avLst>
              <a:gd name="adj1" fmla="val -69983"/>
              <a:gd name="adj2" fmla="val -83526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>
                <a:latin typeface="Tahoma" pitchFamily="34" charset="0"/>
              </a:rPr>
              <a:t>修改</a:t>
            </a:r>
            <a:r>
              <a:rPr lang="en-US" altLang="zh-CN" sz="1600">
                <a:latin typeface="Tahoma" pitchFamily="34" charset="0"/>
              </a:rPr>
              <a:t>Readcount</a:t>
            </a:r>
          </a:p>
        </p:txBody>
      </p:sp>
      <p:sp>
        <p:nvSpPr>
          <p:cNvPr id="41" name="AutoShape 16"/>
          <p:cNvSpPr>
            <a:spLocks noChangeArrowheads="1"/>
          </p:cNvSpPr>
          <p:nvPr/>
        </p:nvSpPr>
        <p:spPr bwMode="auto">
          <a:xfrm>
            <a:off x="4634026" y="5895833"/>
            <a:ext cx="1420813" cy="595313"/>
          </a:xfrm>
          <a:prstGeom prst="wedgeRectCallout">
            <a:avLst>
              <a:gd name="adj1" fmla="val 14758"/>
              <a:gd name="adj2" fmla="val -9353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dirty="0"/>
              <a:t>最末位读者允许写者进</a:t>
            </a:r>
          </a:p>
        </p:txBody>
      </p:sp>
      <p:sp>
        <p:nvSpPr>
          <p:cNvPr id="42" name="AutoShape 18"/>
          <p:cNvSpPr>
            <a:spLocks noChangeArrowheads="1"/>
          </p:cNvSpPr>
          <p:nvPr/>
        </p:nvSpPr>
        <p:spPr bwMode="auto">
          <a:xfrm>
            <a:off x="9454287" y="939815"/>
            <a:ext cx="1692275" cy="595313"/>
          </a:xfrm>
          <a:prstGeom prst="wedgeRectCallout">
            <a:avLst>
              <a:gd name="adj1" fmla="val -81991"/>
              <a:gd name="adj2" fmla="val 91602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/>
              <a:t>阻止其它进程（读、写）进</a:t>
            </a:r>
          </a:p>
        </p:txBody>
      </p:sp>
      <p:sp>
        <p:nvSpPr>
          <p:cNvPr id="43" name="AutoShape 19"/>
          <p:cNvSpPr>
            <a:spLocks noChangeArrowheads="1"/>
          </p:cNvSpPr>
          <p:nvPr/>
        </p:nvSpPr>
        <p:spPr bwMode="auto">
          <a:xfrm>
            <a:off x="9454287" y="3480613"/>
            <a:ext cx="1692275" cy="595312"/>
          </a:xfrm>
          <a:prstGeom prst="wedgeRectCallout">
            <a:avLst>
              <a:gd name="adj1" fmla="val -69134"/>
              <a:gd name="adj2" fmla="val -75450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dirty="0"/>
              <a:t>允许其它进程（读、写）进</a:t>
            </a:r>
          </a:p>
        </p:txBody>
      </p:sp>
    </p:spTree>
    <p:extLst>
      <p:ext uri="{BB962C8B-B14F-4D97-AF65-F5344CB8AC3E}">
        <p14:creationId xmlns:p14="http://schemas.microsoft.com/office/powerpoint/2010/main" val="1787830028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4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47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 animBg="1"/>
      <p:bldP spid="37" grpId="0"/>
      <p:bldP spid="3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3227075" y="188380"/>
            <a:ext cx="5314736" cy="665162"/>
            <a:chOff x="1004177" y="1027910"/>
            <a:chExt cx="5314736" cy="665162"/>
          </a:xfrm>
        </p:grpSpPr>
        <p:sp>
          <p:nvSpPr>
            <p:cNvPr id="34" name="矩形 33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6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）利用信号量集机制解决</a:t>
              </a:r>
            </a:p>
          </p:txBody>
        </p:sp>
      </p:grp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848832" y="1314804"/>
            <a:ext cx="479091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0" dirty="0" err="1"/>
              <a:t>int</a:t>
            </a:r>
            <a:r>
              <a:rPr lang="en-US" altLang="zh-CN" sz="2000" b="0" dirty="0"/>
              <a:t> RN ;</a:t>
            </a:r>
            <a:r>
              <a:rPr lang="en-US" altLang="zh-CN" sz="1800" b="0" dirty="0"/>
              <a:t>/ </a:t>
            </a:r>
            <a:r>
              <a:rPr lang="zh-CN" altLang="en-US" sz="1800" b="0" dirty="0"/>
              <a:t>最多允许同时读的读者数</a:t>
            </a:r>
            <a:r>
              <a:rPr lang="zh-CN" altLang="en-US" sz="2000" b="0" dirty="0"/>
              <a:t></a:t>
            </a:r>
          </a:p>
          <a:p>
            <a:pPr eaLnBrk="1" hangingPunct="1"/>
            <a:r>
              <a:rPr lang="en-US" altLang="zh-CN" sz="2000" b="0" dirty="0"/>
              <a:t>semaphore  L=  </a:t>
            </a:r>
            <a:r>
              <a:rPr lang="en-US" altLang="zh-CN" sz="2000" b="0" dirty="0" err="1"/>
              <a:t>RN,mx</a:t>
            </a:r>
            <a:r>
              <a:rPr lang="en-US" altLang="zh-CN" sz="2000" b="0" dirty="0"/>
              <a:t>=1;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void Reader(  ){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do{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     </a:t>
            </a:r>
            <a:r>
              <a:rPr lang="en-US" altLang="zh-CN" sz="2000" dirty="0" err="1">
                <a:solidFill>
                  <a:schemeClr val="accent2"/>
                </a:solidFill>
              </a:rPr>
              <a:t>Swait</a:t>
            </a:r>
            <a:r>
              <a:rPr lang="en-US" altLang="zh-CN" sz="2000" dirty="0">
                <a:solidFill>
                  <a:schemeClr val="accent2"/>
                </a:solidFill>
              </a:rPr>
              <a:t>(L,1,1);</a:t>
            </a:r>
            <a:endParaRPr lang="en-US" altLang="zh-CN" sz="2000" b="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     </a:t>
            </a:r>
            <a:r>
              <a:rPr lang="en-US" altLang="zh-CN" sz="2000" dirty="0" err="1">
                <a:solidFill>
                  <a:schemeClr val="hlink"/>
                </a:solidFill>
              </a:rPr>
              <a:t>Swait</a:t>
            </a:r>
            <a:r>
              <a:rPr lang="en-US" altLang="zh-CN" sz="2000" dirty="0">
                <a:solidFill>
                  <a:schemeClr val="hlink"/>
                </a:solidFill>
              </a:rPr>
              <a:t>(mx,1,0);</a:t>
            </a:r>
          </a:p>
          <a:p>
            <a:pPr eaLnBrk="1" hangingPunct="1"/>
            <a:r>
              <a:rPr lang="en-US" altLang="zh-CN" sz="2000" b="0" dirty="0"/>
              <a:t>           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  <a:r>
              <a:rPr lang="en-US" altLang="zh-CN" sz="2000" b="0" dirty="0"/>
              <a:t></a:t>
            </a:r>
          </a:p>
          <a:p>
            <a:pPr eaLnBrk="1" hangingPunct="1"/>
            <a:r>
              <a:rPr lang="en-US" altLang="zh-CN" sz="2000" b="0" dirty="0"/>
              <a:t>         perform read operation;</a:t>
            </a:r>
          </a:p>
          <a:p>
            <a:pPr eaLnBrk="1" hangingPunct="1"/>
            <a:r>
              <a:rPr lang="en-US" altLang="zh-CN" sz="2000" b="0" dirty="0"/>
              <a:t>           </a:t>
            </a:r>
            <a:r>
              <a:rPr lang="en-US" altLang="zh-CN" sz="2000" b="0" dirty="0">
                <a:latin typeface="Courier New" pitchFamily="49" charset="0"/>
              </a:rPr>
              <a:t>…</a:t>
            </a:r>
          </a:p>
          <a:p>
            <a:pPr eaLnBrk="1" hangingPunct="1"/>
            <a:r>
              <a:rPr lang="en-US" altLang="zh-CN" sz="2000" dirty="0">
                <a:solidFill>
                  <a:schemeClr val="accent2"/>
                </a:solidFill>
              </a:rPr>
              <a:t>         </a:t>
            </a:r>
            <a:r>
              <a:rPr lang="en-US" altLang="zh-CN" sz="2000" dirty="0" err="1">
                <a:solidFill>
                  <a:schemeClr val="accent2"/>
                </a:solidFill>
              </a:rPr>
              <a:t>Ssignal</a:t>
            </a:r>
            <a:r>
              <a:rPr lang="en-US" altLang="zh-CN" sz="2000" dirty="0">
                <a:solidFill>
                  <a:schemeClr val="accent2"/>
                </a:solidFill>
              </a:rPr>
              <a:t>(L,1);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} while (TRUE);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}</a:t>
            </a: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5749279" y="1133829"/>
            <a:ext cx="4572000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writer() {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do {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     repeat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      </a:t>
            </a:r>
            <a:r>
              <a:rPr lang="en-US" altLang="zh-CN" sz="2000" dirty="0" err="1">
                <a:solidFill>
                  <a:schemeClr val="accent1"/>
                </a:solidFill>
              </a:rPr>
              <a:t>Swait</a:t>
            </a:r>
            <a:r>
              <a:rPr lang="en-US" altLang="zh-CN" sz="2000" dirty="0">
                <a:solidFill>
                  <a:schemeClr val="accent1"/>
                </a:solidFill>
              </a:rPr>
              <a:t>(mx,1,1; L,RN,0);</a:t>
            </a:r>
            <a:r>
              <a:rPr lang="en-US" altLang="zh-CN" sz="2000" b="0" dirty="0">
                <a:solidFill>
                  <a:schemeClr val="accent1"/>
                </a:solidFill>
              </a:rPr>
              <a:t>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b="0" dirty="0"/>
              <a:t>          perform write operation;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hlink"/>
                </a:solidFill>
              </a:rPr>
              <a:t>          </a:t>
            </a:r>
            <a:r>
              <a:rPr lang="en-US" altLang="zh-CN" sz="2000" dirty="0" err="1">
                <a:solidFill>
                  <a:schemeClr val="hlink"/>
                </a:solidFill>
              </a:rPr>
              <a:t>Ssignal</a:t>
            </a:r>
            <a:r>
              <a:rPr lang="en-US" altLang="zh-CN" sz="2000" dirty="0">
                <a:solidFill>
                  <a:schemeClr val="hlink"/>
                </a:solidFill>
              </a:rPr>
              <a:t>(mx,1);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}while(TRUE);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}  </a:t>
            </a: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5667038" y="1114455"/>
            <a:ext cx="0" cy="5589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2915557" y="1742699"/>
            <a:ext cx="2724185" cy="983141"/>
          </a:xfrm>
          <a:prstGeom prst="wedgeRectCallout">
            <a:avLst>
              <a:gd name="adj1" fmla="val -52701"/>
              <a:gd name="adj2" fmla="val 87526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latin typeface="Tahoma" pitchFamily="34" charset="0"/>
              </a:rPr>
              <a:t>控制读者数目：当</a:t>
            </a:r>
            <a:r>
              <a:rPr lang="en-US" altLang="zh-CN" sz="1800" b="0" dirty="0">
                <a:latin typeface="Tahoma" pitchFamily="34" charset="0"/>
              </a:rPr>
              <a:t>L&gt;0</a:t>
            </a:r>
            <a:r>
              <a:rPr lang="zh-CN" altLang="en-US" sz="1800" b="0" dirty="0">
                <a:latin typeface="Tahoma" pitchFamily="34" charset="0"/>
              </a:rPr>
              <a:t>时允许读者进入读，当</a:t>
            </a:r>
            <a:r>
              <a:rPr lang="en-US" altLang="zh-CN" sz="1800" b="0" dirty="0">
                <a:latin typeface="Tahoma" pitchFamily="34" charset="0"/>
              </a:rPr>
              <a:t>L=0</a:t>
            </a:r>
            <a:r>
              <a:rPr lang="zh-CN" altLang="en-US" sz="1800" b="0" dirty="0">
                <a:latin typeface="Tahoma" pitchFamily="34" charset="0"/>
              </a:rPr>
              <a:t>时，不允许读者进入</a:t>
            </a:r>
            <a:r>
              <a:rPr lang="zh-CN" altLang="en-US" sz="1600" b="0" dirty="0">
                <a:latin typeface="Tahoma" pitchFamily="34" charset="0"/>
              </a:rPr>
              <a:t>读</a:t>
            </a:r>
          </a:p>
        </p:txBody>
      </p:sp>
      <p:sp>
        <p:nvSpPr>
          <p:cNvPr id="26" name="AutoShape 10"/>
          <p:cNvSpPr>
            <a:spLocks noChangeArrowheads="1"/>
          </p:cNvSpPr>
          <p:nvPr/>
        </p:nvSpPr>
        <p:spPr bwMode="auto">
          <a:xfrm>
            <a:off x="3066738" y="2247708"/>
            <a:ext cx="2428875" cy="1246117"/>
          </a:xfrm>
          <a:prstGeom prst="wedgeRectCallout">
            <a:avLst>
              <a:gd name="adj1" fmla="val -50561"/>
              <a:gd name="adj2" fmla="val 62786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latin typeface="Tahoma" pitchFamily="34" charset="0"/>
              </a:rPr>
              <a:t>可控开关：当</a:t>
            </a:r>
            <a:r>
              <a:rPr lang="en-US" altLang="zh-CN" sz="1800" b="0" dirty="0">
                <a:latin typeface="Tahoma" pitchFamily="34" charset="0"/>
              </a:rPr>
              <a:t>mx&gt;=1</a:t>
            </a:r>
            <a:r>
              <a:rPr lang="zh-CN" altLang="en-US" sz="1800" b="0" dirty="0">
                <a:latin typeface="Tahoma" pitchFamily="34" charset="0"/>
              </a:rPr>
              <a:t>时，允许多个读者进入读，当</a:t>
            </a:r>
            <a:r>
              <a:rPr lang="en-US" altLang="zh-CN" sz="1800" b="0" dirty="0">
                <a:latin typeface="Tahoma" pitchFamily="34" charset="0"/>
              </a:rPr>
              <a:t>mx=0</a:t>
            </a:r>
            <a:r>
              <a:rPr lang="zh-CN" altLang="en-US" sz="1800" b="0" dirty="0">
                <a:latin typeface="Tahoma" pitchFamily="34" charset="0"/>
              </a:rPr>
              <a:t>时，阻止任何读者进入读</a:t>
            </a:r>
          </a:p>
        </p:txBody>
      </p:sp>
      <p:sp>
        <p:nvSpPr>
          <p:cNvPr id="27" name="AutoShape 9"/>
          <p:cNvSpPr>
            <a:spLocks noChangeArrowheads="1"/>
          </p:cNvSpPr>
          <p:nvPr/>
        </p:nvSpPr>
        <p:spPr bwMode="auto">
          <a:xfrm>
            <a:off x="3213921" y="4387437"/>
            <a:ext cx="2130511" cy="357187"/>
          </a:xfrm>
          <a:prstGeom prst="wedgeRectCallout">
            <a:avLst>
              <a:gd name="adj1" fmla="val -68898"/>
              <a:gd name="adj2" fmla="val 103815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latin typeface="Tahoma" pitchFamily="34" charset="0"/>
              </a:rPr>
              <a:t>释放一个</a:t>
            </a:r>
            <a:r>
              <a:rPr lang="en-US" altLang="zh-CN" sz="1800" b="0" dirty="0" err="1">
                <a:latin typeface="Tahoma" pitchFamily="34" charset="0"/>
              </a:rPr>
              <a:t>L资源</a:t>
            </a:r>
            <a:endParaRPr lang="zh-CN" altLang="en-US" sz="1800" b="0" dirty="0">
              <a:latin typeface="Tahoma" pitchFamily="34" charset="0"/>
            </a:endParaRPr>
          </a:p>
        </p:txBody>
      </p:sp>
      <p:sp>
        <p:nvSpPr>
          <p:cNvPr id="37" name="AutoShape 9"/>
          <p:cNvSpPr>
            <a:spLocks noChangeArrowheads="1"/>
          </p:cNvSpPr>
          <p:nvPr/>
        </p:nvSpPr>
        <p:spPr bwMode="auto">
          <a:xfrm>
            <a:off x="7815074" y="1314803"/>
            <a:ext cx="3389738" cy="895915"/>
          </a:xfrm>
          <a:prstGeom prst="wedgeRectCallout">
            <a:avLst>
              <a:gd name="adj1" fmla="val -44065"/>
              <a:gd name="adj2" fmla="val 81528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latin typeface="Tahoma" pitchFamily="34" charset="0"/>
              </a:rPr>
              <a:t>仅当</a:t>
            </a:r>
            <a:r>
              <a:rPr lang="en-US" altLang="zh-CN" sz="1800" b="0" dirty="0" err="1">
                <a:latin typeface="Tahoma" pitchFamily="34" charset="0"/>
              </a:rPr>
              <a:t>writer进程在写（mx</a:t>
            </a:r>
            <a:r>
              <a:rPr lang="en-US" altLang="zh-CN" sz="1800" b="0" dirty="0">
                <a:latin typeface="Tahoma" pitchFamily="34" charset="0"/>
              </a:rPr>
              <a:t>=1），</a:t>
            </a:r>
            <a:r>
              <a:rPr lang="en-US" altLang="zh-CN" sz="1800" b="0" dirty="0" err="1">
                <a:latin typeface="Tahoma" pitchFamily="34" charset="0"/>
              </a:rPr>
              <a:t>又无reader进程在读（L</a:t>
            </a:r>
            <a:r>
              <a:rPr lang="en-US" altLang="zh-CN" sz="1800" b="0" dirty="0">
                <a:latin typeface="Tahoma" pitchFamily="34" charset="0"/>
              </a:rPr>
              <a:t>=</a:t>
            </a:r>
            <a:r>
              <a:rPr lang="en-US" altLang="zh-CN" sz="1800" b="0" dirty="0" err="1">
                <a:latin typeface="Tahoma" pitchFamily="34" charset="0"/>
              </a:rPr>
              <a:t>RN）时，writer进程才能进入临界区</a:t>
            </a:r>
            <a:endParaRPr lang="zh-CN" altLang="en-US" sz="1800" b="0" dirty="0">
              <a:latin typeface="Tahoma" pitchFamily="34" charset="0"/>
            </a:endParaRPr>
          </a:p>
        </p:txBody>
      </p:sp>
      <p:sp>
        <p:nvSpPr>
          <p:cNvPr id="38" name="AutoShape 9"/>
          <p:cNvSpPr>
            <a:spLocks noChangeArrowheads="1"/>
          </p:cNvSpPr>
          <p:nvPr/>
        </p:nvSpPr>
        <p:spPr bwMode="auto">
          <a:xfrm>
            <a:off x="8463904" y="3669294"/>
            <a:ext cx="2167702" cy="357188"/>
          </a:xfrm>
          <a:prstGeom prst="wedgeRectCallout">
            <a:avLst>
              <a:gd name="adj1" fmla="val -71639"/>
              <a:gd name="adj2" fmla="val -125435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b="0" dirty="0">
                <a:latin typeface="Tahoma" pitchFamily="34" charset="0"/>
              </a:rPr>
              <a:t>释放一个</a:t>
            </a:r>
            <a:r>
              <a:rPr lang="en-US" altLang="zh-CN" sz="1800" b="0" dirty="0" err="1">
                <a:latin typeface="Tahoma" pitchFamily="34" charset="0"/>
              </a:rPr>
              <a:t>mx资源</a:t>
            </a:r>
            <a:endParaRPr lang="zh-CN" altLang="en-US" sz="1800" b="0" dirty="0">
              <a:latin typeface="Tahoma" pitchFamily="34" charset="0"/>
            </a:endParaRPr>
          </a:p>
        </p:txBody>
      </p:sp>
      <p:sp>
        <p:nvSpPr>
          <p:cNvPr id="39" name="Line 8"/>
          <p:cNvSpPr>
            <a:spLocks noChangeShapeType="1"/>
          </p:cNvSpPr>
          <p:nvPr/>
        </p:nvSpPr>
        <p:spPr bwMode="auto">
          <a:xfrm>
            <a:off x="5667038" y="4484142"/>
            <a:ext cx="553777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5667038" y="4539904"/>
            <a:ext cx="4572000" cy="2099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void main()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</a:t>
            </a:r>
            <a:r>
              <a:rPr lang="en-US" altLang="zh-CN" sz="2000" b="0" dirty="0" err="1"/>
              <a:t>cobegin</a:t>
            </a:r>
            <a:endParaRPr lang="en-US" altLang="zh-CN" sz="2000" b="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reader();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    writer();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    </a:t>
            </a:r>
            <a:r>
              <a:rPr lang="en-US" altLang="zh-CN" sz="2000" b="0" dirty="0" err="1"/>
              <a:t>coend</a:t>
            </a:r>
            <a:endParaRPr lang="en-US" altLang="zh-CN" sz="2000" b="0" dirty="0"/>
          </a:p>
          <a:p>
            <a:pPr eaLnBrk="1" hangingPunct="1">
              <a:lnSpc>
                <a:spcPct val="110000"/>
              </a:lnSpc>
            </a:pPr>
            <a:r>
              <a:rPr lang="en-US" altLang="zh-CN" sz="20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2667696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7" grpId="0" animBg="1"/>
      <p:bldP spid="37" grpId="1" animBg="1"/>
      <p:bldP spid="38" grpId="0" animBg="1"/>
      <p:bldP spid="38" grpId="1" animBg="1"/>
      <p:bldP spid="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2" name="组合 3"/>
          <p:cNvGrpSpPr/>
          <p:nvPr/>
        </p:nvGrpSpPr>
        <p:grpSpPr>
          <a:xfrm>
            <a:off x="1002491" y="114847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</a:t>
              </a:r>
            </a:p>
          </p:txBody>
        </p:sp>
      </p:grpSp>
      <p:sp>
        <p:nvSpPr>
          <p:cNvPr id="21" name="文本框 54"/>
          <p:cNvSpPr txBox="1">
            <a:spLocks noChangeArrowheads="1"/>
          </p:cNvSpPr>
          <p:nvPr/>
        </p:nvSpPr>
        <p:spPr bwMode="auto">
          <a:xfrm>
            <a:off x="1150228" y="1890685"/>
            <a:ext cx="33034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思考下列序列的操作</a:t>
            </a:r>
          </a:p>
        </p:txBody>
      </p:sp>
      <p:sp>
        <p:nvSpPr>
          <p:cNvPr id="22" name="文本框 54"/>
          <p:cNvSpPr txBox="1">
            <a:spLocks noChangeArrowheads="1"/>
          </p:cNvSpPr>
          <p:nvPr/>
        </p:nvSpPr>
        <p:spPr bwMode="auto">
          <a:xfrm>
            <a:off x="1150227" y="2884337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执行过程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150227" y="2305905"/>
            <a:ext cx="95632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0" lvl="2" indent="0">
              <a:buBlip>
                <a:blip r:embed="rId3"/>
              </a:buBlip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2"/>
            <a:r>
              <a:rPr lang="en-US" altLang="zh-CN" dirty="0"/>
              <a:t>R1</a:t>
            </a:r>
            <a:r>
              <a:rPr lang="zh-CN" altLang="en-US" dirty="0"/>
              <a:t>、</a:t>
            </a:r>
            <a:r>
              <a:rPr lang="en-US" altLang="zh-CN" dirty="0"/>
              <a:t>R2</a:t>
            </a:r>
            <a:r>
              <a:rPr lang="zh-CN" altLang="en-US" dirty="0"/>
              <a:t>、</a:t>
            </a:r>
            <a:r>
              <a:rPr lang="en-US" altLang="zh-CN" dirty="0"/>
              <a:t>W1</a:t>
            </a:r>
            <a:r>
              <a:rPr lang="zh-CN" altLang="en-US" dirty="0"/>
              <a:t>、</a:t>
            </a:r>
            <a:r>
              <a:rPr lang="en-US" altLang="zh-CN" dirty="0"/>
              <a:t>R3</a:t>
            </a:r>
            <a:r>
              <a:rPr lang="zh-CN" altLang="en-US" dirty="0"/>
              <a:t>  </a:t>
            </a:r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1148542" y="3359615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开始：</a:t>
            </a:r>
            <a:r>
              <a:rPr lang="en-US" altLang="zh-CN" sz="2400" dirty="0" err="1"/>
              <a:t>rmutex</a:t>
            </a:r>
            <a:r>
              <a:rPr lang="en-US" altLang="zh-CN" sz="2400" dirty="0"/>
              <a:t>=1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wmutex</a:t>
            </a:r>
            <a:r>
              <a:rPr lang="en-US" altLang="zh-CN" sz="2400" dirty="0"/>
              <a:t>=1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Readcount</a:t>
            </a:r>
            <a:r>
              <a:rPr lang="en-US" altLang="zh-CN" sz="2400" dirty="0"/>
              <a:t>=0</a:t>
            </a:r>
            <a:r>
              <a:rPr lang="zh-CN" altLang="en-US" sz="2400" dirty="0"/>
              <a:t>。</a:t>
            </a:r>
          </a:p>
        </p:txBody>
      </p:sp>
      <p:sp>
        <p:nvSpPr>
          <p:cNvPr id="26" name="文本框 19"/>
          <p:cNvSpPr txBox="1">
            <a:spLocks noChangeArrowheads="1"/>
          </p:cNvSpPr>
          <p:nvPr/>
        </p:nvSpPr>
        <p:spPr bwMode="auto">
          <a:xfrm>
            <a:off x="1156316" y="3882731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en-US" altLang="zh-CN" sz="2400" dirty="0"/>
              <a:t>R1</a:t>
            </a:r>
            <a:r>
              <a:rPr lang="zh-CN" altLang="en-US" sz="2400" dirty="0"/>
              <a:t>到达：</a:t>
            </a:r>
            <a:r>
              <a:rPr lang="en-US" altLang="zh-CN" sz="2400" dirty="0" err="1"/>
              <a:t>rmutex</a:t>
            </a:r>
            <a:r>
              <a:rPr lang="en-US" altLang="zh-CN" sz="2400" dirty="0"/>
              <a:t>=0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wmutex</a:t>
            </a:r>
            <a:r>
              <a:rPr lang="en-US" altLang="zh-CN" sz="2400" dirty="0"/>
              <a:t>=0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Readcount</a:t>
            </a:r>
            <a:r>
              <a:rPr lang="en-US" altLang="zh-CN" sz="2400" dirty="0"/>
              <a:t>=1</a:t>
            </a:r>
            <a:r>
              <a:rPr lang="zh-CN" altLang="en-US" sz="2400" dirty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rmutex</a:t>
            </a:r>
            <a:r>
              <a:rPr lang="en-US" altLang="zh-CN" sz="2400" dirty="0"/>
              <a:t>=1</a:t>
            </a:r>
            <a:endParaRPr lang="zh-CN" altLang="en-US" sz="24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142999" y="950785"/>
            <a:ext cx="5303138" cy="2160591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zh-CN" dirty="0"/>
              <a:t>Reader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chemeClr val="accent2"/>
                </a:solidFill>
              </a:rPr>
              <a:t>wait(</a:t>
            </a:r>
            <a:r>
              <a:rPr lang="en-US" altLang="zh-CN" dirty="0" err="1">
                <a:solidFill>
                  <a:schemeClr val="accent2"/>
                </a:solidFill>
              </a:rPr>
              <a:t>rmutex</a:t>
            </a:r>
            <a:r>
              <a:rPr lang="en-US" altLang="zh-CN" dirty="0">
                <a:solidFill>
                  <a:schemeClr val="accent2"/>
                </a:solidFill>
              </a:rPr>
              <a:t>);</a:t>
            </a:r>
            <a:r>
              <a:rPr lang="en-US" altLang="zh-CN" b="0" dirty="0"/>
              <a:t></a:t>
            </a:r>
          </a:p>
          <a:p>
            <a:pPr>
              <a:lnSpc>
                <a:spcPct val="140000"/>
              </a:lnSpc>
            </a:pPr>
            <a:r>
              <a:rPr lang="en-US" altLang="zh-CN" b="0" dirty="0"/>
              <a:t>         if (</a:t>
            </a:r>
            <a:r>
              <a:rPr lang="en-US" altLang="zh-CN" b="0" dirty="0" err="1"/>
              <a:t>readcount</a:t>
            </a:r>
            <a:r>
              <a:rPr lang="en-US" altLang="zh-CN" b="0" dirty="0"/>
              <a:t>==0) </a:t>
            </a:r>
            <a:r>
              <a:rPr lang="en-US" altLang="zh-CN" dirty="0">
                <a:solidFill>
                  <a:schemeClr val="hlink"/>
                </a:solidFill>
              </a:rPr>
              <a:t>wait(</a:t>
            </a:r>
            <a:r>
              <a:rPr lang="en-US" altLang="zh-CN" dirty="0" err="1">
                <a:solidFill>
                  <a:schemeClr val="hlink"/>
                </a:solidFill>
              </a:rPr>
              <a:t>wmutex</a:t>
            </a:r>
            <a:r>
              <a:rPr lang="en-US" altLang="zh-CN" dirty="0">
                <a:solidFill>
                  <a:schemeClr val="hlink"/>
                </a:solidFill>
              </a:rPr>
              <a:t>);</a:t>
            </a:r>
            <a:endParaRPr lang="en-US" altLang="zh-CN" b="0" dirty="0"/>
          </a:p>
          <a:p>
            <a:pPr>
              <a:lnSpc>
                <a:spcPct val="140000"/>
              </a:lnSpc>
            </a:pPr>
            <a:r>
              <a:rPr lang="en-US" altLang="zh-CN" b="0" dirty="0"/>
              <a:t>         </a:t>
            </a:r>
            <a:r>
              <a:rPr lang="en-US" altLang="zh-CN" b="0" dirty="0" err="1"/>
              <a:t>readcount</a:t>
            </a:r>
            <a:r>
              <a:rPr lang="en-US" altLang="zh-CN" b="0" dirty="0"/>
              <a:t>++;</a:t>
            </a:r>
          </a:p>
          <a:p>
            <a:pPr>
              <a:lnSpc>
                <a:spcPct val="140000"/>
              </a:lnSpc>
            </a:pPr>
            <a:r>
              <a:rPr lang="en-US" altLang="zh-CN" b="0" dirty="0"/>
              <a:t>         </a:t>
            </a:r>
            <a:r>
              <a:rPr lang="en-US" altLang="zh-CN" dirty="0">
                <a:solidFill>
                  <a:schemeClr val="accent2"/>
                </a:solidFill>
              </a:rPr>
              <a:t>signal(</a:t>
            </a:r>
            <a:r>
              <a:rPr lang="en-US" altLang="zh-CN" dirty="0" err="1">
                <a:solidFill>
                  <a:schemeClr val="accent2"/>
                </a:solidFill>
              </a:rPr>
              <a:t>rmutex</a:t>
            </a:r>
            <a:r>
              <a:rPr lang="en-US" altLang="zh-CN" dirty="0">
                <a:solidFill>
                  <a:schemeClr val="accent2"/>
                </a:solidFill>
              </a:rPr>
              <a:t>);</a:t>
            </a:r>
            <a:endParaRPr lang="zh-CN" altLang="en-US" b="0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6080241" y="4954412"/>
            <a:ext cx="5419684" cy="1588127"/>
          </a:xfrm>
          <a:prstGeom prst="rect">
            <a:avLst/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35000"/>
              </a:lnSpc>
            </a:pPr>
            <a:r>
              <a:rPr lang="en-US" altLang="zh-CN" dirty="0"/>
              <a:t>Writer</a:t>
            </a:r>
            <a:r>
              <a:rPr lang="zh-CN" altLang="en-US" dirty="0"/>
              <a:t>：</a:t>
            </a:r>
            <a:r>
              <a:rPr lang="en-US" altLang="zh-CN" dirty="0">
                <a:solidFill>
                  <a:schemeClr val="hlink"/>
                </a:solidFill>
              </a:rPr>
              <a:t>wait(</a:t>
            </a:r>
            <a:r>
              <a:rPr lang="en-US" altLang="zh-CN" dirty="0" err="1">
                <a:solidFill>
                  <a:schemeClr val="hlink"/>
                </a:solidFill>
              </a:rPr>
              <a:t>wmutex</a:t>
            </a:r>
            <a:r>
              <a:rPr lang="en-US" altLang="zh-CN" dirty="0">
                <a:solidFill>
                  <a:schemeClr val="hlink"/>
                </a:solidFill>
              </a:rPr>
              <a:t>);</a:t>
            </a:r>
            <a:r>
              <a:rPr lang="en-US" altLang="zh-CN" b="0" dirty="0"/>
              <a:t></a:t>
            </a:r>
          </a:p>
          <a:p>
            <a:pPr>
              <a:lnSpc>
                <a:spcPct val="135000"/>
              </a:lnSpc>
            </a:pPr>
            <a:r>
              <a:rPr lang="en-US" altLang="zh-CN" b="0" dirty="0"/>
              <a:t>                perform write operation;</a:t>
            </a:r>
          </a:p>
          <a:p>
            <a:pPr>
              <a:lnSpc>
                <a:spcPct val="135000"/>
              </a:lnSpc>
            </a:pPr>
            <a:r>
              <a:rPr lang="en-US" altLang="zh-CN" b="0" dirty="0"/>
              <a:t>               </a:t>
            </a:r>
            <a:r>
              <a:rPr lang="en-US" altLang="zh-CN" dirty="0">
                <a:solidFill>
                  <a:schemeClr val="hlink"/>
                </a:solidFill>
              </a:rPr>
              <a:t>signal(</a:t>
            </a:r>
            <a:r>
              <a:rPr lang="en-US" altLang="zh-CN" dirty="0" err="1">
                <a:solidFill>
                  <a:schemeClr val="hlink"/>
                </a:solidFill>
              </a:rPr>
              <a:t>wmutex</a:t>
            </a:r>
            <a:r>
              <a:rPr lang="en-US" altLang="zh-CN" dirty="0">
                <a:solidFill>
                  <a:schemeClr val="hlink"/>
                </a:solidFill>
              </a:rPr>
              <a:t>);</a:t>
            </a:r>
            <a:endParaRPr lang="zh-CN" altLang="en-US" b="0" dirty="0"/>
          </a:p>
        </p:txBody>
      </p:sp>
      <p:sp>
        <p:nvSpPr>
          <p:cNvPr id="16" name="文本框 19"/>
          <p:cNvSpPr txBox="1">
            <a:spLocks noChangeArrowheads="1"/>
          </p:cNvSpPr>
          <p:nvPr/>
        </p:nvSpPr>
        <p:spPr bwMode="auto">
          <a:xfrm>
            <a:off x="1161091" y="4383378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en-US" altLang="zh-CN" sz="2400" dirty="0"/>
              <a:t>R2</a:t>
            </a:r>
            <a:r>
              <a:rPr lang="zh-CN" altLang="en-US" sz="2400" dirty="0"/>
              <a:t>到达：</a:t>
            </a:r>
            <a:r>
              <a:rPr lang="en-US" altLang="zh-CN" sz="2400" dirty="0" err="1"/>
              <a:t>rmutex</a:t>
            </a:r>
            <a:r>
              <a:rPr lang="en-US" altLang="zh-CN" sz="2400" dirty="0"/>
              <a:t>=0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Readcount</a:t>
            </a:r>
            <a:r>
              <a:rPr lang="en-US" altLang="zh-CN" sz="2400" dirty="0"/>
              <a:t>=2</a:t>
            </a:r>
            <a:r>
              <a:rPr lang="zh-CN" altLang="en-US" sz="2400" dirty="0"/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rmutex</a:t>
            </a:r>
            <a:r>
              <a:rPr lang="en-US" altLang="zh-CN" sz="2400" dirty="0"/>
              <a:t>=1</a:t>
            </a:r>
            <a:endParaRPr lang="zh-CN" altLang="en-US" sz="2400" dirty="0"/>
          </a:p>
        </p:txBody>
      </p:sp>
      <p:sp>
        <p:nvSpPr>
          <p:cNvPr id="17" name="文本框 19"/>
          <p:cNvSpPr txBox="1">
            <a:spLocks noChangeArrowheads="1"/>
          </p:cNvSpPr>
          <p:nvPr/>
        </p:nvSpPr>
        <p:spPr bwMode="auto">
          <a:xfrm>
            <a:off x="1168865" y="4906494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en-US" altLang="zh-CN" sz="2400" dirty="0"/>
              <a:t>W1</a:t>
            </a:r>
            <a:r>
              <a:rPr lang="zh-CN" altLang="en-US" sz="2400" dirty="0"/>
              <a:t>到达：因为</a:t>
            </a:r>
            <a:r>
              <a:rPr lang="en-US" altLang="zh-CN" sz="2400" dirty="0" err="1"/>
              <a:t>wmutex</a:t>
            </a:r>
            <a:r>
              <a:rPr lang="en-US" altLang="zh-CN" sz="2400" dirty="0"/>
              <a:t>=0</a:t>
            </a:r>
            <a:r>
              <a:rPr lang="zh-CN" altLang="en-US" sz="2400" dirty="0"/>
              <a:t>，阻塞</a:t>
            </a:r>
          </a:p>
        </p:txBody>
      </p:sp>
      <p:sp>
        <p:nvSpPr>
          <p:cNvPr id="18" name="文本框 54"/>
          <p:cNvSpPr txBox="1">
            <a:spLocks noChangeArrowheads="1"/>
          </p:cNvSpPr>
          <p:nvPr/>
        </p:nvSpPr>
        <p:spPr bwMode="auto">
          <a:xfrm>
            <a:off x="1162774" y="5467963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en-US" altLang="zh-CN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R3</a:t>
            </a:r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到达，会怎么样呢？</a:t>
            </a:r>
          </a:p>
        </p:txBody>
      </p:sp>
    </p:spTree>
    <p:extLst>
      <p:ext uri="{BB962C8B-B14F-4D97-AF65-F5344CB8AC3E}">
        <p14:creationId xmlns:p14="http://schemas.microsoft.com/office/powerpoint/2010/main" val="3493230640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6" grpId="0"/>
      <p:bldP spid="14" grpId="0" animBg="1"/>
      <p:bldP spid="15" grpId="0" animBg="1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848832" y="202028"/>
            <a:ext cx="8991203" cy="457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altLang="zh-CN" dirty="0"/>
              <a:t>3.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</a:p>
        </p:txBody>
      </p:sp>
      <p:grpSp>
        <p:nvGrpSpPr>
          <p:cNvPr id="2" name="组合 3"/>
          <p:cNvGrpSpPr/>
          <p:nvPr/>
        </p:nvGrpSpPr>
        <p:grpSpPr>
          <a:xfrm>
            <a:off x="1002491" y="1148470"/>
            <a:ext cx="5314736" cy="665162"/>
            <a:chOff x="1004177" y="1027910"/>
            <a:chExt cx="5314736" cy="665162"/>
          </a:xfrm>
        </p:grpSpPr>
        <p:sp>
          <p:nvSpPr>
            <p:cNvPr id="5" name="矩形 4"/>
            <p:cNvSpPr/>
            <p:nvPr/>
          </p:nvSpPr>
          <p:spPr>
            <a:xfrm>
              <a:off x="1150228" y="1561310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058278" y="1561310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7" name="文本框 55"/>
            <p:cNvSpPr txBox="1">
              <a:spLocks noChangeArrowheads="1"/>
            </p:cNvSpPr>
            <p:nvPr/>
          </p:nvSpPr>
          <p:spPr bwMode="auto">
            <a:xfrm>
              <a:off x="1004177" y="1027910"/>
              <a:ext cx="5314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</a:t>
              </a:r>
            </a:p>
          </p:txBody>
        </p:sp>
      </p:grpSp>
      <p:sp>
        <p:nvSpPr>
          <p:cNvPr id="21" name="文本框 54"/>
          <p:cNvSpPr txBox="1">
            <a:spLocks noChangeArrowheads="1"/>
          </p:cNvSpPr>
          <p:nvPr/>
        </p:nvSpPr>
        <p:spPr bwMode="auto">
          <a:xfrm>
            <a:off x="1150227" y="1890685"/>
            <a:ext cx="38090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读优先解决方案</a:t>
            </a:r>
            <a:endParaRPr lang="en-US" altLang="zh-CN" sz="2000" b="1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54"/>
          <p:cNvSpPr txBox="1">
            <a:spLocks noChangeArrowheads="1"/>
          </p:cNvSpPr>
          <p:nvPr/>
        </p:nvSpPr>
        <p:spPr bwMode="auto">
          <a:xfrm>
            <a:off x="1150227" y="2884337"/>
            <a:ext cx="42608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 indent="0"/>
            <a:r>
              <a:rPr lang="zh-CN" altLang="en-US" sz="20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写优先解决方案 </a:t>
            </a:r>
          </a:p>
        </p:txBody>
      </p:sp>
      <p:sp>
        <p:nvSpPr>
          <p:cNvPr id="23" name="文本框 19"/>
          <p:cNvSpPr txBox="1">
            <a:spLocks noChangeArrowheads="1"/>
          </p:cNvSpPr>
          <p:nvPr/>
        </p:nvSpPr>
        <p:spPr bwMode="auto">
          <a:xfrm>
            <a:off x="1150227" y="2305905"/>
            <a:ext cx="95632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0" lvl="2" indent="0">
              <a:buBlip>
                <a:blip r:embed="rId3"/>
              </a:buBlip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2"/>
            <a:r>
              <a:rPr lang="zh-CN" altLang="en-US" dirty="0"/>
              <a:t>存在什么问题，如何解决？  </a:t>
            </a:r>
          </a:p>
        </p:txBody>
      </p:sp>
      <p:sp>
        <p:nvSpPr>
          <p:cNvPr id="24" name="文本框 19"/>
          <p:cNvSpPr txBox="1">
            <a:spLocks noChangeArrowheads="1"/>
          </p:cNvSpPr>
          <p:nvPr/>
        </p:nvSpPr>
        <p:spPr bwMode="auto">
          <a:xfrm>
            <a:off x="1148542" y="3359615"/>
            <a:ext cx="8814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如何解决？</a:t>
            </a:r>
          </a:p>
        </p:txBody>
      </p:sp>
    </p:spTree>
    <p:extLst>
      <p:ext uri="{BB962C8B-B14F-4D97-AF65-F5344CB8AC3E}">
        <p14:creationId xmlns:p14="http://schemas.microsoft.com/office/powerpoint/2010/main" val="630322544"/>
      </p:ext>
    </p:ext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34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21077</TotalTime>
  <Words>2680</Words>
  <Application>Microsoft Office PowerPoint</Application>
  <PresentationFormat>宽屏</PresentationFormat>
  <Paragraphs>441</Paragraphs>
  <Slides>26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等线</vt:lpstr>
      <vt:lpstr>等线 Light</vt:lpstr>
      <vt:lpstr>方正清刻本悦宋简体</vt:lpstr>
      <vt:lpstr>微软雅黑</vt:lpstr>
      <vt:lpstr>微软雅黑 Light</vt:lpstr>
      <vt:lpstr>Arial</vt:lpstr>
      <vt:lpstr>Arial Black</vt:lpstr>
      <vt:lpstr>Calibri</vt:lpstr>
      <vt:lpstr>Courier New</vt:lpstr>
      <vt:lpstr>Impact</vt:lpstr>
      <vt:lpstr>Tahoma</vt:lpstr>
      <vt:lpstr>Times New Roman</vt:lpstr>
      <vt:lpstr>Wingdings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3.读者-写者问题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261</cp:revision>
  <dcterms:created xsi:type="dcterms:W3CDTF">2016-05-18T19:05:46Z</dcterms:created>
  <dcterms:modified xsi:type="dcterms:W3CDTF">2023-10-19T00:55:36Z</dcterms:modified>
</cp:coreProperties>
</file>