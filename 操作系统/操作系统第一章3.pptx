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28" r:id="rId2"/>
    <p:sldId id="322" r:id="rId3"/>
    <p:sldId id="293" r:id="rId4"/>
    <p:sldId id="336" r:id="rId5"/>
    <p:sldId id="323" r:id="rId6"/>
    <p:sldId id="329" r:id="rId7"/>
    <p:sldId id="330" r:id="rId8"/>
    <p:sldId id="326" r:id="rId9"/>
    <p:sldId id="327" r:id="rId10"/>
    <p:sldId id="331" r:id="rId11"/>
    <p:sldId id="332" r:id="rId12"/>
    <p:sldId id="333" r:id="rId13"/>
    <p:sldId id="334" r:id="rId14"/>
    <p:sldId id="33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93AD-7C06-486F-9754-D5B73F7C37DE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DE87-FC43-4F0C-9C51-E666AB0AC5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/>
              <a:t>http://www.ypppt.com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372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25195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3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2023-09-19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95747" y="2251341"/>
            <a:ext cx="3109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5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操作系统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9822" y="3912068"/>
            <a:ext cx="441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200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2"/>
          <p:cNvSpPr txBox="1">
            <a:spLocks noChangeArrowheads="1"/>
          </p:cNvSpPr>
          <p:nvPr/>
        </p:nvSpPr>
        <p:spPr bwMode="auto">
          <a:xfrm>
            <a:off x="5512250" y="4270955"/>
            <a:ext cx="1383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主讲人：房斐斐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143375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96100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6"/>
          <p:cNvSpPr txBox="1"/>
          <p:nvPr/>
        </p:nvSpPr>
        <p:spPr>
          <a:xfrm>
            <a:off x="4130959" y="3187225"/>
            <a:ext cx="4571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第一章 操作系统引论</a:t>
            </a:r>
          </a:p>
        </p:txBody>
      </p:sp>
    </p:spTree>
    <p:extLst>
      <p:ext uri="{BB962C8B-B14F-4D97-AF65-F5344CB8AC3E}">
        <p14:creationId xmlns:p14="http://schemas.microsoft.com/office/powerpoint/2010/main" val="264625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11276"/>
            <a:ext cx="4845938" cy="4346724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0" y="0"/>
            <a:ext cx="5837731" cy="2166151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操作系统的功能和特征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1.4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25" name="Freeform 7"/>
          <p:cNvSpPr/>
          <p:nvPr/>
        </p:nvSpPr>
        <p:spPr bwMode="auto">
          <a:xfrm rot="18900000">
            <a:off x="5359651" y="2908343"/>
            <a:ext cx="1746988" cy="1746988"/>
          </a:xfrm>
          <a:custGeom>
            <a:avLst/>
            <a:gdLst>
              <a:gd name="T0" fmla="*/ 720 w 720"/>
              <a:gd name="T1" fmla="*/ 275 h 720"/>
              <a:gd name="T2" fmla="*/ 643 w 720"/>
              <a:gd name="T3" fmla="*/ 352 h 720"/>
              <a:gd name="T4" fmla="*/ 643 w 720"/>
              <a:gd name="T5" fmla="*/ 352 h 720"/>
              <a:gd name="T6" fmla="*/ 603 w 720"/>
              <a:gd name="T7" fmla="*/ 336 h 720"/>
              <a:gd name="T8" fmla="*/ 569 w 720"/>
              <a:gd name="T9" fmla="*/ 313 h 720"/>
              <a:gd name="T10" fmla="*/ 543 w 720"/>
              <a:gd name="T11" fmla="*/ 356 h 720"/>
              <a:gd name="T12" fmla="*/ 542 w 720"/>
              <a:gd name="T13" fmla="*/ 365 h 720"/>
              <a:gd name="T14" fmla="*/ 542 w 720"/>
              <a:gd name="T15" fmla="*/ 542 h 720"/>
              <a:gd name="T16" fmla="*/ 542 w 720"/>
              <a:gd name="T17" fmla="*/ 542 h 720"/>
              <a:gd name="T18" fmla="*/ 356 w 720"/>
              <a:gd name="T19" fmla="*/ 542 h 720"/>
              <a:gd name="T20" fmla="*/ 345 w 720"/>
              <a:gd name="T21" fmla="*/ 543 h 720"/>
              <a:gd name="T22" fmla="*/ 296 w 720"/>
              <a:gd name="T23" fmla="*/ 572 h 720"/>
              <a:gd name="T24" fmla="*/ 314 w 720"/>
              <a:gd name="T25" fmla="*/ 610 h 720"/>
              <a:gd name="T26" fmla="*/ 320 w 720"/>
              <a:gd name="T27" fmla="*/ 617 h 720"/>
              <a:gd name="T28" fmla="*/ 335 w 720"/>
              <a:gd name="T29" fmla="*/ 652 h 720"/>
              <a:gd name="T30" fmla="*/ 266 w 720"/>
              <a:gd name="T31" fmla="*/ 720 h 720"/>
              <a:gd name="T32" fmla="*/ 198 w 720"/>
              <a:gd name="T33" fmla="*/ 652 h 720"/>
              <a:gd name="T34" fmla="*/ 198 w 720"/>
              <a:gd name="T35" fmla="*/ 652 h 720"/>
              <a:gd name="T36" fmla="*/ 212 w 720"/>
              <a:gd name="T37" fmla="*/ 617 h 720"/>
              <a:gd name="T38" fmla="*/ 219 w 720"/>
              <a:gd name="T39" fmla="*/ 610 h 720"/>
              <a:gd name="T40" fmla="*/ 237 w 720"/>
              <a:gd name="T41" fmla="*/ 572 h 720"/>
              <a:gd name="T42" fmla="*/ 187 w 720"/>
              <a:gd name="T43" fmla="*/ 543 h 720"/>
              <a:gd name="T44" fmla="*/ 177 w 720"/>
              <a:gd name="T45" fmla="*/ 542 h 720"/>
              <a:gd name="T46" fmla="*/ 0 w 720"/>
              <a:gd name="T47" fmla="*/ 542 h 720"/>
              <a:gd name="T48" fmla="*/ 0 w 720"/>
              <a:gd name="T49" fmla="*/ 365 h 720"/>
              <a:gd name="T50" fmla="*/ 1 w 720"/>
              <a:gd name="T51" fmla="*/ 358 h 720"/>
              <a:gd name="T52" fmla="*/ 19 w 720"/>
              <a:gd name="T53" fmla="*/ 321 h 720"/>
              <a:gd name="T54" fmla="*/ 40 w 720"/>
              <a:gd name="T55" fmla="*/ 335 h 720"/>
              <a:gd name="T56" fmla="*/ 47 w 720"/>
              <a:gd name="T57" fmla="*/ 342 h 720"/>
              <a:gd name="T58" fmla="*/ 92 w 720"/>
              <a:gd name="T59" fmla="*/ 360 h 720"/>
              <a:gd name="T60" fmla="*/ 93 w 720"/>
              <a:gd name="T61" fmla="*/ 360 h 720"/>
              <a:gd name="T62" fmla="*/ 178 w 720"/>
              <a:gd name="T63" fmla="*/ 275 h 720"/>
              <a:gd name="T64" fmla="*/ 93 w 720"/>
              <a:gd name="T65" fmla="*/ 190 h 720"/>
              <a:gd name="T66" fmla="*/ 92 w 720"/>
              <a:gd name="T67" fmla="*/ 190 h 720"/>
              <a:gd name="T68" fmla="*/ 47 w 720"/>
              <a:gd name="T69" fmla="*/ 209 h 720"/>
              <a:gd name="T70" fmla="*/ 40 w 720"/>
              <a:gd name="T71" fmla="*/ 215 h 720"/>
              <a:gd name="T72" fmla="*/ 19 w 720"/>
              <a:gd name="T73" fmla="*/ 230 h 720"/>
              <a:gd name="T74" fmla="*/ 1 w 720"/>
              <a:gd name="T75" fmla="*/ 193 h 720"/>
              <a:gd name="T76" fmla="*/ 0 w 720"/>
              <a:gd name="T77" fmla="*/ 186 h 720"/>
              <a:gd name="T78" fmla="*/ 0 w 720"/>
              <a:gd name="T79" fmla="*/ 0 h 720"/>
              <a:gd name="T80" fmla="*/ 177 w 720"/>
              <a:gd name="T81" fmla="*/ 0 h 720"/>
              <a:gd name="T82" fmla="*/ 186 w 720"/>
              <a:gd name="T83" fmla="*/ 1 h 720"/>
              <a:gd name="T84" fmla="*/ 206 w 720"/>
              <a:gd name="T85" fmla="*/ 61 h 720"/>
              <a:gd name="T86" fmla="*/ 190 w 720"/>
              <a:gd name="T87" fmla="*/ 102 h 720"/>
              <a:gd name="T88" fmla="*/ 266 w 720"/>
              <a:gd name="T89" fmla="*/ 179 h 720"/>
              <a:gd name="T90" fmla="*/ 343 w 720"/>
              <a:gd name="T91" fmla="*/ 102 h 720"/>
              <a:gd name="T92" fmla="*/ 327 w 720"/>
              <a:gd name="T93" fmla="*/ 61 h 720"/>
              <a:gd name="T94" fmla="*/ 347 w 720"/>
              <a:gd name="T95" fmla="*/ 1 h 720"/>
              <a:gd name="T96" fmla="*/ 356 w 720"/>
              <a:gd name="T97" fmla="*/ 0 h 720"/>
              <a:gd name="T98" fmla="*/ 542 w 720"/>
              <a:gd name="T99" fmla="*/ 0 h 720"/>
              <a:gd name="T100" fmla="*/ 542 w 720"/>
              <a:gd name="T101" fmla="*/ 186 h 720"/>
              <a:gd name="T102" fmla="*/ 543 w 720"/>
              <a:gd name="T103" fmla="*/ 194 h 720"/>
              <a:gd name="T104" fmla="*/ 569 w 720"/>
              <a:gd name="T105" fmla="*/ 238 h 720"/>
              <a:gd name="T106" fmla="*/ 603 w 720"/>
              <a:gd name="T107" fmla="*/ 215 h 720"/>
              <a:gd name="T108" fmla="*/ 642 w 720"/>
              <a:gd name="T109" fmla="*/ 199 h 720"/>
              <a:gd name="T110" fmla="*/ 643 w 720"/>
              <a:gd name="T111" fmla="*/ 199 h 720"/>
              <a:gd name="T112" fmla="*/ 720 w 720"/>
              <a:gd name="T113" fmla="*/ 275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720" h="720">
                <a:moveTo>
                  <a:pt x="720" y="275"/>
                </a:moveTo>
                <a:cubicBezTo>
                  <a:pt x="720" y="318"/>
                  <a:pt x="686" y="352"/>
                  <a:pt x="643" y="352"/>
                </a:cubicBezTo>
                <a:cubicBezTo>
                  <a:pt x="643" y="352"/>
                  <a:pt x="643" y="352"/>
                  <a:pt x="643" y="352"/>
                </a:cubicBezTo>
                <a:cubicBezTo>
                  <a:pt x="639" y="352"/>
                  <a:pt x="621" y="351"/>
                  <a:pt x="603" y="336"/>
                </a:cubicBezTo>
                <a:cubicBezTo>
                  <a:pt x="592" y="327"/>
                  <a:pt x="580" y="313"/>
                  <a:pt x="569" y="313"/>
                </a:cubicBezTo>
                <a:cubicBezTo>
                  <a:pt x="559" y="313"/>
                  <a:pt x="550" y="323"/>
                  <a:pt x="543" y="356"/>
                </a:cubicBezTo>
                <a:cubicBezTo>
                  <a:pt x="542" y="359"/>
                  <a:pt x="542" y="362"/>
                  <a:pt x="542" y="365"/>
                </a:cubicBezTo>
                <a:cubicBezTo>
                  <a:pt x="542" y="542"/>
                  <a:pt x="542" y="542"/>
                  <a:pt x="542" y="542"/>
                </a:cubicBezTo>
                <a:cubicBezTo>
                  <a:pt x="542" y="542"/>
                  <a:pt x="542" y="542"/>
                  <a:pt x="542" y="542"/>
                </a:cubicBezTo>
                <a:cubicBezTo>
                  <a:pt x="356" y="542"/>
                  <a:pt x="356" y="542"/>
                  <a:pt x="356" y="542"/>
                </a:cubicBezTo>
                <a:cubicBezTo>
                  <a:pt x="352" y="542"/>
                  <a:pt x="349" y="543"/>
                  <a:pt x="345" y="543"/>
                </a:cubicBezTo>
                <a:cubicBezTo>
                  <a:pt x="315" y="550"/>
                  <a:pt x="300" y="559"/>
                  <a:pt x="296" y="572"/>
                </a:cubicBezTo>
                <a:cubicBezTo>
                  <a:pt x="292" y="586"/>
                  <a:pt x="304" y="599"/>
                  <a:pt x="314" y="610"/>
                </a:cubicBezTo>
                <a:cubicBezTo>
                  <a:pt x="316" y="613"/>
                  <a:pt x="318" y="615"/>
                  <a:pt x="320" y="617"/>
                </a:cubicBezTo>
                <a:cubicBezTo>
                  <a:pt x="335" y="634"/>
                  <a:pt x="335" y="651"/>
                  <a:pt x="335" y="652"/>
                </a:cubicBezTo>
                <a:cubicBezTo>
                  <a:pt x="335" y="690"/>
                  <a:pt x="304" y="720"/>
                  <a:pt x="266" y="720"/>
                </a:cubicBezTo>
                <a:cubicBezTo>
                  <a:pt x="229" y="720"/>
                  <a:pt x="198" y="690"/>
                  <a:pt x="198" y="652"/>
                </a:cubicBezTo>
                <a:cubicBezTo>
                  <a:pt x="198" y="652"/>
                  <a:pt x="198" y="652"/>
                  <a:pt x="198" y="652"/>
                </a:cubicBezTo>
                <a:cubicBezTo>
                  <a:pt x="198" y="651"/>
                  <a:pt x="197" y="634"/>
                  <a:pt x="212" y="617"/>
                </a:cubicBezTo>
                <a:cubicBezTo>
                  <a:pt x="214" y="615"/>
                  <a:pt x="216" y="613"/>
                  <a:pt x="219" y="610"/>
                </a:cubicBezTo>
                <a:cubicBezTo>
                  <a:pt x="229" y="599"/>
                  <a:pt x="241" y="586"/>
                  <a:pt x="237" y="572"/>
                </a:cubicBezTo>
                <a:cubicBezTo>
                  <a:pt x="233" y="559"/>
                  <a:pt x="217" y="550"/>
                  <a:pt x="187" y="543"/>
                </a:cubicBezTo>
                <a:cubicBezTo>
                  <a:pt x="184" y="543"/>
                  <a:pt x="180" y="542"/>
                  <a:pt x="177" y="542"/>
                </a:cubicBezTo>
                <a:cubicBezTo>
                  <a:pt x="0" y="542"/>
                  <a:pt x="0" y="542"/>
                  <a:pt x="0" y="542"/>
                </a:cubicBezTo>
                <a:cubicBezTo>
                  <a:pt x="0" y="365"/>
                  <a:pt x="0" y="365"/>
                  <a:pt x="0" y="365"/>
                </a:cubicBezTo>
                <a:cubicBezTo>
                  <a:pt x="0" y="363"/>
                  <a:pt x="0" y="360"/>
                  <a:pt x="1" y="358"/>
                </a:cubicBezTo>
                <a:cubicBezTo>
                  <a:pt x="8" y="324"/>
                  <a:pt x="17" y="321"/>
                  <a:pt x="19" y="321"/>
                </a:cubicBezTo>
                <a:cubicBezTo>
                  <a:pt x="24" y="321"/>
                  <a:pt x="33" y="329"/>
                  <a:pt x="40" y="335"/>
                </a:cubicBezTo>
                <a:cubicBezTo>
                  <a:pt x="42" y="338"/>
                  <a:pt x="45" y="340"/>
                  <a:pt x="47" y="342"/>
                </a:cubicBezTo>
                <a:cubicBezTo>
                  <a:pt x="67" y="359"/>
                  <a:pt x="87" y="360"/>
                  <a:pt x="92" y="360"/>
                </a:cubicBezTo>
                <a:cubicBezTo>
                  <a:pt x="93" y="360"/>
                  <a:pt x="93" y="360"/>
                  <a:pt x="93" y="360"/>
                </a:cubicBezTo>
                <a:cubicBezTo>
                  <a:pt x="140" y="360"/>
                  <a:pt x="178" y="322"/>
                  <a:pt x="178" y="275"/>
                </a:cubicBezTo>
                <a:cubicBezTo>
                  <a:pt x="178" y="229"/>
                  <a:pt x="140" y="190"/>
                  <a:pt x="93" y="190"/>
                </a:cubicBezTo>
                <a:cubicBezTo>
                  <a:pt x="92" y="190"/>
                  <a:pt x="92" y="190"/>
                  <a:pt x="92" y="190"/>
                </a:cubicBezTo>
                <a:cubicBezTo>
                  <a:pt x="87" y="190"/>
                  <a:pt x="67" y="192"/>
                  <a:pt x="47" y="209"/>
                </a:cubicBezTo>
                <a:cubicBezTo>
                  <a:pt x="45" y="211"/>
                  <a:pt x="42" y="213"/>
                  <a:pt x="40" y="215"/>
                </a:cubicBezTo>
                <a:cubicBezTo>
                  <a:pt x="33" y="222"/>
                  <a:pt x="24" y="230"/>
                  <a:pt x="19" y="230"/>
                </a:cubicBezTo>
                <a:cubicBezTo>
                  <a:pt x="17" y="230"/>
                  <a:pt x="8" y="227"/>
                  <a:pt x="1" y="193"/>
                </a:cubicBezTo>
                <a:cubicBezTo>
                  <a:pt x="0" y="190"/>
                  <a:pt x="0" y="188"/>
                  <a:pt x="0" y="186"/>
                </a:cubicBezTo>
                <a:cubicBezTo>
                  <a:pt x="0" y="0"/>
                  <a:pt x="0" y="0"/>
                  <a:pt x="0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80" y="0"/>
                  <a:pt x="183" y="1"/>
                  <a:pt x="186" y="1"/>
                </a:cubicBezTo>
                <a:cubicBezTo>
                  <a:pt x="257" y="18"/>
                  <a:pt x="223" y="42"/>
                  <a:pt x="206" y="61"/>
                </a:cubicBezTo>
                <a:cubicBezTo>
                  <a:pt x="189" y="82"/>
                  <a:pt x="190" y="102"/>
                  <a:pt x="190" y="102"/>
                </a:cubicBezTo>
                <a:cubicBezTo>
                  <a:pt x="190" y="144"/>
                  <a:pt x="224" y="179"/>
                  <a:pt x="266" y="179"/>
                </a:cubicBezTo>
                <a:cubicBezTo>
                  <a:pt x="309" y="179"/>
                  <a:pt x="343" y="144"/>
                  <a:pt x="343" y="102"/>
                </a:cubicBezTo>
                <a:cubicBezTo>
                  <a:pt x="343" y="102"/>
                  <a:pt x="344" y="82"/>
                  <a:pt x="327" y="61"/>
                </a:cubicBezTo>
                <a:cubicBezTo>
                  <a:pt x="310" y="42"/>
                  <a:pt x="276" y="18"/>
                  <a:pt x="347" y="1"/>
                </a:cubicBezTo>
                <a:cubicBezTo>
                  <a:pt x="350" y="1"/>
                  <a:pt x="353" y="0"/>
                  <a:pt x="356" y="0"/>
                </a:cubicBezTo>
                <a:cubicBezTo>
                  <a:pt x="542" y="0"/>
                  <a:pt x="542" y="0"/>
                  <a:pt x="542" y="0"/>
                </a:cubicBezTo>
                <a:cubicBezTo>
                  <a:pt x="542" y="186"/>
                  <a:pt x="542" y="186"/>
                  <a:pt x="542" y="186"/>
                </a:cubicBezTo>
                <a:cubicBezTo>
                  <a:pt x="542" y="189"/>
                  <a:pt x="542" y="192"/>
                  <a:pt x="543" y="194"/>
                </a:cubicBezTo>
                <a:cubicBezTo>
                  <a:pt x="550" y="228"/>
                  <a:pt x="559" y="238"/>
                  <a:pt x="569" y="238"/>
                </a:cubicBezTo>
                <a:cubicBezTo>
                  <a:pt x="580" y="238"/>
                  <a:pt x="592" y="224"/>
                  <a:pt x="603" y="215"/>
                </a:cubicBezTo>
                <a:cubicBezTo>
                  <a:pt x="620" y="200"/>
                  <a:pt x="638" y="199"/>
                  <a:pt x="642" y="199"/>
                </a:cubicBezTo>
                <a:cubicBezTo>
                  <a:pt x="643" y="199"/>
                  <a:pt x="643" y="199"/>
                  <a:pt x="643" y="199"/>
                </a:cubicBezTo>
                <a:cubicBezTo>
                  <a:pt x="686" y="199"/>
                  <a:pt x="720" y="233"/>
                  <a:pt x="720" y="275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6" name="Freeform 6"/>
          <p:cNvSpPr/>
          <p:nvPr/>
        </p:nvSpPr>
        <p:spPr bwMode="auto">
          <a:xfrm rot="18900000">
            <a:off x="6010980" y="4173375"/>
            <a:ext cx="1750101" cy="1746988"/>
          </a:xfrm>
          <a:custGeom>
            <a:avLst/>
            <a:gdLst>
              <a:gd name="T0" fmla="*/ 720 w 721"/>
              <a:gd name="T1" fmla="*/ 356 h 720"/>
              <a:gd name="T2" fmla="*/ 721 w 721"/>
              <a:gd name="T3" fmla="*/ 542 h 720"/>
              <a:gd name="T4" fmla="*/ 535 w 721"/>
              <a:gd name="T5" fmla="*/ 542 h 720"/>
              <a:gd name="T6" fmla="*/ 526 w 721"/>
              <a:gd name="T7" fmla="*/ 543 h 720"/>
              <a:gd name="T8" fmla="*/ 506 w 721"/>
              <a:gd name="T9" fmla="*/ 603 h 720"/>
              <a:gd name="T10" fmla="*/ 522 w 721"/>
              <a:gd name="T11" fmla="*/ 643 h 720"/>
              <a:gd name="T12" fmla="*/ 445 w 721"/>
              <a:gd name="T13" fmla="*/ 720 h 720"/>
              <a:gd name="T14" fmla="*/ 369 w 721"/>
              <a:gd name="T15" fmla="*/ 643 h 720"/>
              <a:gd name="T16" fmla="*/ 385 w 721"/>
              <a:gd name="T17" fmla="*/ 603 h 720"/>
              <a:gd name="T18" fmla="*/ 365 w 721"/>
              <a:gd name="T19" fmla="*/ 543 h 720"/>
              <a:gd name="T20" fmla="*/ 356 w 721"/>
              <a:gd name="T21" fmla="*/ 542 h 720"/>
              <a:gd name="T22" fmla="*/ 179 w 721"/>
              <a:gd name="T23" fmla="*/ 542 h 720"/>
              <a:gd name="T24" fmla="*/ 179 w 721"/>
              <a:gd name="T25" fmla="*/ 356 h 720"/>
              <a:gd name="T26" fmla="*/ 177 w 721"/>
              <a:gd name="T27" fmla="*/ 346 h 720"/>
              <a:gd name="T28" fmla="*/ 143 w 721"/>
              <a:gd name="T29" fmla="*/ 296 h 720"/>
              <a:gd name="T30" fmla="*/ 110 w 721"/>
              <a:gd name="T31" fmla="*/ 314 h 720"/>
              <a:gd name="T32" fmla="*/ 104 w 721"/>
              <a:gd name="T33" fmla="*/ 321 h 720"/>
              <a:gd name="T34" fmla="*/ 69 w 721"/>
              <a:gd name="T35" fmla="*/ 335 h 720"/>
              <a:gd name="T36" fmla="*/ 68 w 721"/>
              <a:gd name="T37" fmla="*/ 335 h 720"/>
              <a:gd name="T38" fmla="*/ 0 w 721"/>
              <a:gd name="T39" fmla="*/ 267 h 720"/>
              <a:gd name="T40" fmla="*/ 68 w 721"/>
              <a:gd name="T41" fmla="*/ 198 h 720"/>
              <a:gd name="T42" fmla="*/ 69 w 721"/>
              <a:gd name="T43" fmla="*/ 198 h 720"/>
              <a:gd name="T44" fmla="*/ 82 w 721"/>
              <a:gd name="T45" fmla="*/ 200 h 720"/>
              <a:gd name="T46" fmla="*/ 104 w 721"/>
              <a:gd name="T47" fmla="*/ 213 h 720"/>
              <a:gd name="T48" fmla="*/ 110 w 721"/>
              <a:gd name="T49" fmla="*/ 219 h 720"/>
              <a:gd name="T50" fmla="*/ 143 w 721"/>
              <a:gd name="T51" fmla="*/ 238 h 720"/>
              <a:gd name="T52" fmla="*/ 177 w 721"/>
              <a:gd name="T53" fmla="*/ 188 h 720"/>
              <a:gd name="T54" fmla="*/ 179 w 721"/>
              <a:gd name="T55" fmla="*/ 177 h 720"/>
              <a:gd name="T56" fmla="*/ 179 w 721"/>
              <a:gd name="T57" fmla="*/ 0 h 720"/>
              <a:gd name="T58" fmla="*/ 179 w 721"/>
              <a:gd name="T59" fmla="*/ 0 h 720"/>
              <a:gd name="T60" fmla="*/ 179 w 721"/>
              <a:gd name="T61" fmla="*/ 0 h 720"/>
              <a:gd name="T62" fmla="*/ 356 w 721"/>
              <a:gd name="T63" fmla="*/ 0 h 720"/>
              <a:gd name="T64" fmla="*/ 363 w 721"/>
              <a:gd name="T65" fmla="*/ 1 h 720"/>
              <a:gd name="T66" fmla="*/ 400 w 721"/>
              <a:gd name="T67" fmla="*/ 18 h 720"/>
              <a:gd name="T68" fmla="*/ 386 w 721"/>
              <a:gd name="T69" fmla="*/ 40 h 720"/>
              <a:gd name="T70" fmla="*/ 379 w 721"/>
              <a:gd name="T71" fmla="*/ 47 h 720"/>
              <a:gd name="T72" fmla="*/ 360 w 721"/>
              <a:gd name="T73" fmla="*/ 93 h 720"/>
              <a:gd name="T74" fmla="*/ 445 w 721"/>
              <a:gd name="T75" fmla="*/ 178 h 720"/>
              <a:gd name="T76" fmla="*/ 530 w 721"/>
              <a:gd name="T77" fmla="*/ 93 h 720"/>
              <a:gd name="T78" fmla="*/ 512 w 721"/>
              <a:gd name="T79" fmla="*/ 47 h 720"/>
              <a:gd name="T80" fmla="*/ 505 w 721"/>
              <a:gd name="T81" fmla="*/ 40 h 720"/>
              <a:gd name="T82" fmla="*/ 491 w 721"/>
              <a:gd name="T83" fmla="*/ 18 h 720"/>
              <a:gd name="T84" fmla="*/ 528 w 721"/>
              <a:gd name="T85" fmla="*/ 1 h 720"/>
              <a:gd name="T86" fmla="*/ 535 w 721"/>
              <a:gd name="T87" fmla="*/ 0 h 720"/>
              <a:gd name="T88" fmla="*/ 721 w 721"/>
              <a:gd name="T89" fmla="*/ 0 h 720"/>
              <a:gd name="T90" fmla="*/ 720 w 721"/>
              <a:gd name="T91" fmla="*/ 177 h 720"/>
              <a:gd name="T92" fmla="*/ 719 w 721"/>
              <a:gd name="T93" fmla="*/ 186 h 720"/>
              <a:gd name="T94" fmla="*/ 693 w 721"/>
              <a:gd name="T95" fmla="*/ 229 h 720"/>
              <a:gd name="T96" fmla="*/ 659 w 721"/>
              <a:gd name="T97" fmla="*/ 206 h 720"/>
              <a:gd name="T98" fmla="*/ 620 w 721"/>
              <a:gd name="T99" fmla="*/ 190 h 720"/>
              <a:gd name="T100" fmla="*/ 619 w 721"/>
              <a:gd name="T101" fmla="*/ 190 h 720"/>
              <a:gd name="T102" fmla="*/ 542 w 721"/>
              <a:gd name="T103" fmla="*/ 267 h 720"/>
              <a:gd name="T104" fmla="*/ 619 w 721"/>
              <a:gd name="T105" fmla="*/ 343 h 720"/>
              <a:gd name="T106" fmla="*/ 620 w 721"/>
              <a:gd name="T107" fmla="*/ 343 h 720"/>
              <a:gd name="T108" fmla="*/ 659 w 721"/>
              <a:gd name="T109" fmla="*/ 327 h 720"/>
              <a:gd name="T110" fmla="*/ 693 w 721"/>
              <a:gd name="T111" fmla="*/ 304 h 720"/>
              <a:gd name="T112" fmla="*/ 719 w 721"/>
              <a:gd name="T113" fmla="*/ 348 h 720"/>
              <a:gd name="T114" fmla="*/ 720 w 721"/>
              <a:gd name="T115" fmla="*/ 35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21" h="720">
                <a:moveTo>
                  <a:pt x="720" y="356"/>
                </a:moveTo>
                <a:cubicBezTo>
                  <a:pt x="721" y="542"/>
                  <a:pt x="721" y="542"/>
                  <a:pt x="721" y="542"/>
                </a:cubicBezTo>
                <a:cubicBezTo>
                  <a:pt x="535" y="542"/>
                  <a:pt x="535" y="542"/>
                  <a:pt x="535" y="542"/>
                </a:cubicBezTo>
                <a:cubicBezTo>
                  <a:pt x="532" y="542"/>
                  <a:pt x="529" y="542"/>
                  <a:pt x="526" y="543"/>
                </a:cubicBezTo>
                <a:cubicBezTo>
                  <a:pt x="455" y="559"/>
                  <a:pt x="489" y="583"/>
                  <a:pt x="506" y="603"/>
                </a:cubicBezTo>
                <a:cubicBezTo>
                  <a:pt x="523" y="623"/>
                  <a:pt x="522" y="643"/>
                  <a:pt x="522" y="643"/>
                </a:cubicBezTo>
                <a:cubicBezTo>
                  <a:pt x="522" y="686"/>
                  <a:pt x="488" y="720"/>
                  <a:pt x="445" y="720"/>
                </a:cubicBezTo>
                <a:cubicBezTo>
                  <a:pt x="403" y="720"/>
                  <a:pt x="369" y="686"/>
                  <a:pt x="369" y="643"/>
                </a:cubicBezTo>
                <a:cubicBezTo>
                  <a:pt x="369" y="643"/>
                  <a:pt x="368" y="623"/>
                  <a:pt x="385" y="603"/>
                </a:cubicBezTo>
                <a:cubicBezTo>
                  <a:pt x="402" y="583"/>
                  <a:pt x="436" y="559"/>
                  <a:pt x="365" y="543"/>
                </a:cubicBezTo>
                <a:cubicBezTo>
                  <a:pt x="362" y="542"/>
                  <a:pt x="359" y="542"/>
                  <a:pt x="356" y="542"/>
                </a:cubicBezTo>
                <a:cubicBezTo>
                  <a:pt x="179" y="542"/>
                  <a:pt x="179" y="542"/>
                  <a:pt x="179" y="542"/>
                </a:cubicBezTo>
                <a:cubicBezTo>
                  <a:pt x="179" y="356"/>
                  <a:pt x="179" y="356"/>
                  <a:pt x="179" y="356"/>
                </a:cubicBezTo>
                <a:cubicBezTo>
                  <a:pt x="179" y="353"/>
                  <a:pt x="178" y="349"/>
                  <a:pt x="177" y="346"/>
                </a:cubicBezTo>
                <a:cubicBezTo>
                  <a:pt x="172" y="322"/>
                  <a:pt x="163" y="296"/>
                  <a:pt x="143" y="296"/>
                </a:cubicBezTo>
                <a:cubicBezTo>
                  <a:pt x="131" y="296"/>
                  <a:pt x="120" y="305"/>
                  <a:pt x="110" y="314"/>
                </a:cubicBezTo>
                <a:cubicBezTo>
                  <a:pt x="108" y="317"/>
                  <a:pt x="106" y="319"/>
                  <a:pt x="104" y="321"/>
                </a:cubicBezTo>
                <a:cubicBezTo>
                  <a:pt x="88" y="334"/>
                  <a:pt x="72" y="335"/>
                  <a:pt x="69" y="335"/>
                </a:cubicBezTo>
                <a:cubicBezTo>
                  <a:pt x="68" y="335"/>
                  <a:pt x="68" y="335"/>
                  <a:pt x="68" y="335"/>
                </a:cubicBezTo>
                <a:cubicBezTo>
                  <a:pt x="31" y="335"/>
                  <a:pt x="0" y="304"/>
                  <a:pt x="0" y="267"/>
                </a:cubicBezTo>
                <a:cubicBezTo>
                  <a:pt x="0" y="229"/>
                  <a:pt x="31" y="198"/>
                  <a:pt x="68" y="198"/>
                </a:cubicBezTo>
                <a:cubicBezTo>
                  <a:pt x="69" y="198"/>
                  <a:pt x="69" y="198"/>
                  <a:pt x="69" y="198"/>
                </a:cubicBezTo>
                <a:cubicBezTo>
                  <a:pt x="71" y="198"/>
                  <a:pt x="75" y="199"/>
                  <a:pt x="82" y="200"/>
                </a:cubicBezTo>
                <a:cubicBezTo>
                  <a:pt x="88" y="202"/>
                  <a:pt x="96" y="206"/>
                  <a:pt x="104" y="213"/>
                </a:cubicBezTo>
                <a:cubicBezTo>
                  <a:pt x="106" y="215"/>
                  <a:pt x="108" y="217"/>
                  <a:pt x="110" y="219"/>
                </a:cubicBezTo>
                <a:cubicBezTo>
                  <a:pt x="120" y="228"/>
                  <a:pt x="131" y="238"/>
                  <a:pt x="143" y="238"/>
                </a:cubicBezTo>
                <a:cubicBezTo>
                  <a:pt x="163" y="238"/>
                  <a:pt x="172" y="211"/>
                  <a:pt x="177" y="188"/>
                </a:cubicBezTo>
                <a:cubicBezTo>
                  <a:pt x="178" y="184"/>
                  <a:pt x="179" y="181"/>
                  <a:pt x="179" y="177"/>
                </a:cubicBezTo>
                <a:cubicBezTo>
                  <a:pt x="179" y="0"/>
                  <a:pt x="179" y="0"/>
                  <a:pt x="179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356" y="0"/>
                  <a:pt x="356" y="0"/>
                  <a:pt x="356" y="0"/>
                </a:cubicBezTo>
                <a:cubicBezTo>
                  <a:pt x="358" y="0"/>
                  <a:pt x="360" y="0"/>
                  <a:pt x="363" y="1"/>
                </a:cubicBezTo>
                <a:cubicBezTo>
                  <a:pt x="394" y="8"/>
                  <a:pt x="399" y="16"/>
                  <a:pt x="400" y="18"/>
                </a:cubicBezTo>
                <a:cubicBezTo>
                  <a:pt x="401" y="23"/>
                  <a:pt x="392" y="33"/>
                  <a:pt x="386" y="40"/>
                </a:cubicBezTo>
                <a:cubicBezTo>
                  <a:pt x="383" y="42"/>
                  <a:pt x="381" y="45"/>
                  <a:pt x="379" y="47"/>
                </a:cubicBezTo>
                <a:cubicBezTo>
                  <a:pt x="360" y="69"/>
                  <a:pt x="360" y="90"/>
                  <a:pt x="360" y="93"/>
                </a:cubicBezTo>
                <a:cubicBezTo>
                  <a:pt x="360" y="140"/>
                  <a:pt x="399" y="178"/>
                  <a:pt x="445" y="178"/>
                </a:cubicBezTo>
                <a:cubicBezTo>
                  <a:pt x="492" y="178"/>
                  <a:pt x="530" y="140"/>
                  <a:pt x="530" y="93"/>
                </a:cubicBezTo>
                <a:cubicBezTo>
                  <a:pt x="530" y="90"/>
                  <a:pt x="531" y="68"/>
                  <a:pt x="512" y="47"/>
                </a:cubicBezTo>
                <a:cubicBezTo>
                  <a:pt x="510" y="45"/>
                  <a:pt x="508" y="42"/>
                  <a:pt x="505" y="40"/>
                </a:cubicBezTo>
                <a:cubicBezTo>
                  <a:pt x="499" y="33"/>
                  <a:pt x="490" y="23"/>
                  <a:pt x="491" y="18"/>
                </a:cubicBezTo>
                <a:cubicBezTo>
                  <a:pt x="492" y="16"/>
                  <a:pt x="497" y="8"/>
                  <a:pt x="528" y="1"/>
                </a:cubicBezTo>
                <a:cubicBezTo>
                  <a:pt x="530" y="0"/>
                  <a:pt x="533" y="0"/>
                  <a:pt x="535" y="0"/>
                </a:cubicBezTo>
                <a:cubicBezTo>
                  <a:pt x="721" y="0"/>
                  <a:pt x="721" y="0"/>
                  <a:pt x="721" y="0"/>
                </a:cubicBezTo>
                <a:cubicBezTo>
                  <a:pt x="720" y="177"/>
                  <a:pt x="720" y="177"/>
                  <a:pt x="720" y="177"/>
                </a:cubicBezTo>
                <a:cubicBezTo>
                  <a:pt x="720" y="180"/>
                  <a:pt x="720" y="183"/>
                  <a:pt x="719" y="186"/>
                </a:cubicBezTo>
                <a:cubicBezTo>
                  <a:pt x="712" y="219"/>
                  <a:pt x="703" y="229"/>
                  <a:pt x="693" y="229"/>
                </a:cubicBezTo>
                <a:cubicBezTo>
                  <a:pt x="682" y="229"/>
                  <a:pt x="670" y="215"/>
                  <a:pt x="659" y="206"/>
                </a:cubicBezTo>
                <a:cubicBezTo>
                  <a:pt x="642" y="191"/>
                  <a:pt x="624" y="190"/>
                  <a:pt x="620" y="190"/>
                </a:cubicBezTo>
                <a:cubicBezTo>
                  <a:pt x="619" y="190"/>
                  <a:pt x="619" y="190"/>
                  <a:pt x="619" y="190"/>
                </a:cubicBezTo>
                <a:cubicBezTo>
                  <a:pt x="576" y="190"/>
                  <a:pt x="542" y="224"/>
                  <a:pt x="542" y="267"/>
                </a:cubicBezTo>
                <a:cubicBezTo>
                  <a:pt x="542" y="309"/>
                  <a:pt x="576" y="343"/>
                  <a:pt x="619" y="343"/>
                </a:cubicBezTo>
                <a:cubicBezTo>
                  <a:pt x="619" y="343"/>
                  <a:pt x="619" y="343"/>
                  <a:pt x="620" y="343"/>
                </a:cubicBezTo>
                <a:cubicBezTo>
                  <a:pt x="623" y="343"/>
                  <a:pt x="641" y="342"/>
                  <a:pt x="659" y="327"/>
                </a:cubicBezTo>
                <a:cubicBezTo>
                  <a:pt x="670" y="318"/>
                  <a:pt x="682" y="304"/>
                  <a:pt x="693" y="304"/>
                </a:cubicBezTo>
                <a:cubicBezTo>
                  <a:pt x="703" y="304"/>
                  <a:pt x="712" y="314"/>
                  <a:pt x="719" y="348"/>
                </a:cubicBezTo>
                <a:cubicBezTo>
                  <a:pt x="720" y="350"/>
                  <a:pt x="720" y="353"/>
                  <a:pt x="720" y="35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7" name="Freeform 5"/>
          <p:cNvSpPr/>
          <p:nvPr/>
        </p:nvSpPr>
        <p:spPr bwMode="auto">
          <a:xfrm rot="18900000">
            <a:off x="4748604" y="4827362"/>
            <a:ext cx="1746988" cy="1746988"/>
          </a:xfrm>
          <a:custGeom>
            <a:avLst/>
            <a:gdLst>
              <a:gd name="T0" fmla="*/ 720 w 720"/>
              <a:gd name="T1" fmla="*/ 534 h 720"/>
              <a:gd name="T2" fmla="*/ 720 w 720"/>
              <a:gd name="T3" fmla="*/ 720 h 720"/>
              <a:gd name="T4" fmla="*/ 720 w 720"/>
              <a:gd name="T5" fmla="*/ 720 h 720"/>
              <a:gd name="T6" fmla="*/ 543 w 720"/>
              <a:gd name="T7" fmla="*/ 720 h 720"/>
              <a:gd name="T8" fmla="*/ 534 w 720"/>
              <a:gd name="T9" fmla="*/ 719 h 720"/>
              <a:gd name="T10" fmla="*/ 513 w 720"/>
              <a:gd name="T11" fmla="*/ 659 h 720"/>
              <a:gd name="T12" fmla="*/ 530 w 720"/>
              <a:gd name="T13" fmla="*/ 618 h 720"/>
              <a:gd name="T14" fmla="*/ 453 w 720"/>
              <a:gd name="T15" fmla="*/ 541 h 720"/>
              <a:gd name="T16" fmla="*/ 376 w 720"/>
              <a:gd name="T17" fmla="*/ 618 h 720"/>
              <a:gd name="T18" fmla="*/ 393 w 720"/>
              <a:gd name="T19" fmla="*/ 659 h 720"/>
              <a:gd name="T20" fmla="*/ 372 w 720"/>
              <a:gd name="T21" fmla="*/ 719 h 720"/>
              <a:gd name="T22" fmla="*/ 363 w 720"/>
              <a:gd name="T23" fmla="*/ 720 h 720"/>
              <a:gd name="T24" fmla="*/ 178 w 720"/>
              <a:gd name="T25" fmla="*/ 720 h 720"/>
              <a:gd name="T26" fmla="*/ 178 w 720"/>
              <a:gd name="T27" fmla="*/ 534 h 720"/>
              <a:gd name="T28" fmla="*/ 177 w 720"/>
              <a:gd name="T29" fmla="*/ 526 h 720"/>
              <a:gd name="T30" fmla="*/ 150 w 720"/>
              <a:gd name="T31" fmla="*/ 482 h 720"/>
              <a:gd name="T32" fmla="*/ 117 w 720"/>
              <a:gd name="T33" fmla="*/ 505 h 720"/>
              <a:gd name="T34" fmla="*/ 77 w 720"/>
              <a:gd name="T35" fmla="*/ 521 h 720"/>
              <a:gd name="T36" fmla="*/ 76 w 720"/>
              <a:gd name="T37" fmla="*/ 521 h 720"/>
              <a:gd name="T38" fmla="*/ 0 w 720"/>
              <a:gd name="T39" fmla="*/ 445 h 720"/>
              <a:gd name="T40" fmla="*/ 76 w 720"/>
              <a:gd name="T41" fmla="*/ 368 h 720"/>
              <a:gd name="T42" fmla="*/ 77 w 720"/>
              <a:gd name="T43" fmla="*/ 368 h 720"/>
              <a:gd name="T44" fmla="*/ 117 w 720"/>
              <a:gd name="T45" fmla="*/ 384 h 720"/>
              <a:gd name="T46" fmla="*/ 150 w 720"/>
              <a:gd name="T47" fmla="*/ 407 h 720"/>
              <a:gd name="T48" fmla="*/ 177 w 720"/>
              <a:gd name="T49" fmla="*/ 364 h 720"/>
              <a:gd name="T50" fmla="*/ 178 w 720"/>
              <a:gd name="T51" fmla="*/ 355 h 720"/>
              <a:gd name="T52" fmla="*/ 178 w 720"/>
              <a:gd name="T53" fmla="*/ 178 h 720"/>
              <a:gd name="T54" fmla="*/ 363 w 720"/>
              <a:gd name="T55" fmla="*/ 178 h 720"/>
              <a:gd name="T56" fmla="*/ 374 w 720"/>
              <a:gd name="T57" fmla="*/ 177 h 720"/>
              <a:gd name="T58" fmla="*/ 423 w 720"/>
              <a:gd name="T59" fmla="*/ 148 h 720"/>
              <a:gd name="T60" fmla="*/ 405 w 720"/>
              <a:gd name="T61" fmla="*/ 110 h 720"/>
              <a:gd name="T62" fmla="*/ 399 w 720"/>
              <a:gd name="T63" fmla="*/ 103 h 720"/>
              <a:gd name="T64" fmla="*/ 385 w 720"/>
              <a:gd name="T65" fmla="*/ 68 h 720"/>
              <a:gd name="T66" fmla="*/ 453 w 720"/>
              <a:gd name="T67" fmla="*/ 0 h 720"/>
              <a:gd name="T68" fmla="*/ 521 w 720"/>
              <a:gd name="T69" fmla="*/ 68 h 720"/>
              <a:gd name="T70" fmla="*/ 521 w 720"/>
              <a:gd name="T71" fmla="*/ 68 h 720"/>
              <a:gd name="T72" fmla="*/ 507 w 720"/>
              <a:gd name="T73" fmla="*/ 103 h 720"/>
              <a:gd name="T74" fmla="*/ 501 w 720"/>
              <a:gd name="T75" fmla="*/ 110 h 720"/>
              <a:gd name="T76" fmla="*/ 483 w 720"/>
              <a:gd name="T77" fmla="*/ 148 h 720"/>
              <a:gd name="T78" fmla="*/ 532 w 720"/>
              <a:gd name="T79" fmla="*/ 177 h 720"/>
              <a:gd name="T80" fmla="*/ 543 w 720"/>
              <a:gd name="T81" fmla="*/ 178 h 720"/>
              <a:gd name="T82" fmla="*/ 720 w 720"/>
              <a:gd name="T83" fmla="*/ 178 h 720"/>
              <a:gd name="T84" fmla="*/ 720 w 720"/>
              <a:gd name="T85" fmla="*/ 355 h 720"/>
              <a:gd name="T86" fmla="*/ 719 w 720"/>
              <a:gd name="T87" fmla="*/ 362 h 720"/>
              <a:gd name="T88" fmla="*/ 701 w 720"/>
              <a:gd name="T89" fmla="*/ 399 h 720"/>
              <a:gd name="T90" fmla="*/ 680 w 720"/>
              <a:gd name="T91" fmla="*/ 385 h 720"/>
              <a:gd name="T92" fmla="*/ 672 w 720"/>
              <a:gd name="T93" fmla="*/ 378 h 720"/>
              <a:gd name="T94" fmla="*/ 627 w 720"/>
              <a:gd name="T95" fmla="*/ 360 h 720"/>
              <a:gd name="T96" fmla="*/ 626 w 720"/>
              <a:gd name="T97" fmla="*/ 360 h 720"/>
              <a:gd name="T98" fmla="*/ 541 w 720"/>
              <a:gd name="T99" fmla="*/ 445 h 720"/>
              <a:gd name="T100" fmla="*/ 626 w 720"/>
              <a:gd name="T101" fmla="*/ 530 h 720"/>
              <a:gd name="T102" fmla="*/ 627 w 720"/>
              <a:gd name="T103" fmla="*/ 530 h 720"/>
              <a:gd name="T104" fmla="*/ 673 w 720"/>
              <a:gd name="T105" fmla="*/ 511 h 720"/>
              <a:gd name="T106" fmla="*/ 680 w 720"/>
              <a:gd name="T107" fmla="*/ 505 h 720"/>
              <a:gd name="T108" fmla="*/ 701 w 720"/>
              <a:gd name="T109" fmla="*/ 490 h 720"/>
              <a:gd name="T110" fmla="*/ 719 w 720"/>
              <a:gd name="T111" fmla="*/ 527 h 720"/>
              <a:gd name="T112" fmla="*/ 720 w 720"/>
              <a:gd name="T113" fmla="*/ 534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720" h="720">
                <a:moveTo>
                  <a:pt x="720" y="534"/>
                </a:moveTo>
                <a:cubicBezTo>
                  <a:pt x="720" y="720"/>
                  <a:pt x="720" y="720"/>
                  <a:pt x="720" y="720"/>
                </a:cubicBezTo>
                <a:cubicBezTo>
                  <a:pt x="720" y="720"/>
                  <a:pt x="720" y="720"/>
                  <a:pt x="720" y="720"/>
                </a:cubicBezTo>
                <a:cubicBezTo>
                  <a:pt x="543" y="720"/>
                  <a:pt x="543" y="720"/>
                  <a:pt x="543" y="720"/>
                </a:cubicBezTo>
                <a:cubicBezTo>
                  <a:pt x="540" y="720"/>
                  <a:pt x="537" y="719"/>
                  <a:pt x="534" y="719"/>
                </a:cubicBezTo>
                <a:cubicBezTo>
                  <a:pt x="463" y="702"/>
                  <a:pt x="496" y="678"/>
                  <a:pt x="513" y="659"/>
                </a:cubicBezTo>
                <a:cubicBezTo>
                  <a:pt x="531" y="639"/>
                  <a:pt x="530" y="618"/>
                  <a:pt x="530" y="618"/>
                </a:cubicBezTo>
                <a:cubicBezTo>
                  <a:pt x="530" y="576"/>
                  <a:pt x="495" y="541"/>
                  <a:pt x="453" y="541"/>
                </a:cubicBezTo>
                <a:cubicBezTo>
                  <a:pt x="411" y="541"/>
                  <a:pt x="376" y="576"/>
                  <a:pt x="376" y="618"/>
                </a:cubicBezTo>
                <a:cubicBezTo>
                  <a:pt x="376" y="618"/>
                  <a:pt x="375" y="639"/>
                  <a:pt x="393" y="659"/>
                </a:cubicBezTo>
                <a:cubicBezTo>
                  <a:pt x="410" y="678"/>
                  <a:pt x="444" y="702"/>
                  <a:pt x="372" y="719"/>
                </a:cubicBezTo>
                <a:cubicBezTo>
                  <a:pt x="369" y="719"/>
                  <a:pt x="366" y="720"/>
                  <a:pt x="363" y="720"/>
                </a:cubicBezTo>
                <a:cubicBezTo>
                  <a:pt x="178" y="720"/>
                  <a:pt x="178" y="720"/>
                  <a:pt x="178" y="720"/>
                </a:cubicBezTo>
                <a:cubicBezTo>
                  <a:pt x="178" y="534"/>
                  <a:pt x="178" y="534"/>
                  <a:pt x="178" y="534"/>
                </a:cubicBezTo>
                <a:cubicBezTo>
                  <a:pt x="178" y="531"/>
                  <a:pt x="178" y="528"/>
                  <a:pt x="177" y="526"/>
                </a:cubicBezTo>
                <a:cubicBezTo>
                  <a:pt x="169" y="492"/>
                  <a:pt x="160" y="482"/>
                  <a:pt x="150" y="482"/>
                </a:cubicBezTo>
                <a:cubicBezTo>
                  <a:pt x="139" y="482"/>
                  <a:pt x="127" y="496"/>
                  <a:pt x="117" y="505"/>
                </a:cubicBezTo>
                <a:cubicBezTo>
                  <a:pt x="99" y="520"/>
                  <a:pt x="81" y="521"/>
                  <a:pt x="77" y="521"/>
                </a:cubicBezTo>
                <a:cubicBezTo>
                  <a:pt x="77" y="521"/>
                  <a:pt x="76" y="521"/>
                  <a:pt x="76" y="521"/>
                </a:cubicBezTo>
                <a:cubicBezTo>
                  <a:pt x="34" y="521"/>
                  <a:pt x="0" y="487"/>
                  <a:pt x="0" y="445"/>
                </a:cubicBezTo>
                <a:cubicBezTo>
                  <a:pt x="0" y="402"/>
                  <a:pt x="34" y="368"/>
                  <a:pt x="76" y="368"/>
                </a:cubicBezTo>
                <a:cubicBezTo>
                  <a:pt x="76" y="368"/>
                  <a:pt x="76" y="368"/>
                  <a:pt x="77" y="368"/>
                </a:cubicBezTo>
                <a:cubicBezTo>
                  <a:pt x="81" y="368"/>
                  <a:pt x="99" y="369"/>
                  <a:pt x="117" y="384"/>
                </a:cubicBezTo>
                <a:cubicBezTo>
                  <a:pt x="127" y="393"/>
                  <a:pt x="139" y="407"/>
                  <a:pt x="150" y="407"/>
                </a:cubicBezTo>
                <a:cubicBezTo>
                  <a:pt x="160" y="407"/>
                  <a:pt x="169" y="397"/>
                  <a:pt x="177" y="364"/>
                </a:cubicBezTo>
                <a:cubicBezTo>
                  <a:pt x="178" y="361"/>
                  <a:pt x="178" y="358"/>
                  <a:pt x="178" y="355"/>
                </a:cubicBezTo>
                <a:cubicBezTo>
                  <a:pt x="178" y="178"/>
                  <a:pt x="178" y="178"/>
                  <a:pt x="178" y="178"/>
                </a:cubicBezTo>
                <a:cubicBezTo>
                  <a:pt x="363" y="178"/>
                  <a:pt x="363" y="178"/>
                  <a:pt x="363" y="178"/>
                </a:cubicBezTo>
                <a:cubicBezTo>
                  <a:pt x="367" y="178"/>
                  <a:pt x="371" y="177"/>
                  <a:pt x="374" y="177"/>
                </a:cubicBezTo>
                <a:cubicBezTo>
                  <a:pt x="404" y="170"/>
                  <a:pt x="419" y="161"/>
                  <a:pt x="423" y="148"/>
                </a:cubicBezTo>
                <a:cubicBezTo>
                  <a:pt x="428" y="134"/>
                  <a:pt x="416" y="121"/>
                  <a:pt x="405" y="110"/>
                </a:cubicBezTo>
                <a:cubicBezTo>
                  <a:pt x="403" y="107"/>
                  <a:pt x="401" y="105"/>
                  <a:pt x="399" y="103"/>
                </a:cubicBezTo>
                <a:cubicBezTo>
                  <a:pt x="384" y="86"/>
                  <a:pt x="385" y="69"/>
                  <a:pt x="385" y="68"/>
                </a:cubicBezTo>
                <a:cubicBezTo>
                  <a:pt x="385" y="30"/>
                  <a:pt x="415" y="0"/>
                  <a:pt x="453" y="0"/>
                </a:cubicBezTo>
                <a:cubicBezTo>
                  <a:pt x="491" y="0"/>
                  <a:pt x="521" y="30"/>
                  <a:pt x="521" y="68"/>
                </a:cubicBezTo>
                <a:cubicBezTo>
                  <a:pt x="521" y="68"/>
                  <a:pt x="521" y="68"/>
                  <a:pt x="521" y="68"/>
                </a:cubicBezTo>
                <a:cubicBezTo>
                  <a:pt x="521" y="69"/>
                  <a:pt x="522" y="86"/>
                  <a:pt x="507" y="103"/>
                </a:cubicBezTo>
                <a:cubicBezTo>
                  <a:pt x="505" y="105"/>
                  <a:pt x="503" y="107"/>
                  <a:pt x="501" y="110"/>
                </a:cubicBezTo>
                <a:cubicBezTo>
                  <a:pt x="490" y="121"/>
                  <a:pt x="479" y="134"/>
                  <a:pt x="483" y="148"/>
                </a:cubicBezTo>
                <a:cubicBezTo>
                  <a:pt x="487" y="161"/>
                  <a:pt x="502" y="170"/>
                  <a:pt x="532" y="177"/>
                </a:cubicBezTo>
                <a:cubicBezTo>
                  <a:pt x="536" y="177"/>
                  <a:pt x="539" y="178"/>
                  <a:pt x="543" y="178"/>
                </a:cubicBezTo>
                <a:cubicBezTo>
                  <a:pt x="720" y="178"/>
                  <a:pt x="720" y="178"/>
                  <a:pt x="720" y="178"/>
                </a:cubicBezTo>
                <a:cubicBezTo>
                  <a:pt x="720" y="355"/>
                  <a:pt x="720" y="355"/>
                  <a:pt x="720" y="355"/>
                </a:cubicBezTo>
                <a:cubicBezTo>
                  <a:pt x="720" y="357"/>
                  <a:pt x="720" y="360"/>
                  <a:pt x="719" y="362"/>
                </a:cubicBezTo>
                <a:cubicBezTo>
                  <a:pt x="711" y="396"/>
                  <a:pt x="703" y="399"/>
                  <a:pt x="701" y="399"/>
                </a:cubicBezTo>
                <a:cubicBezTo>
                  <a:pt x="695" y="399"/>
                  <a:pt x="687" y="391"/>
                  <a:pt x="680" y="385"/>
                </a:cubicBezTo>
                <a:cubicBezTo>
                  <a:pt x="677" y="382"/>
                  <a:pt x="675" y="380"/>
                  <a:pt x="672" y="378"/>
                </a:cubicBezTo>
                <a:cubicBezTo>
                  <a:pt x="653" y="361"/>
                  <a:pt x="633" y="360"/>
                  <a:pt x="627" y="360"/>
                </a:cubicBezTo>
                <a:cubicBezTo>
                  <a:pt x="626" y="360"/>
                  <a:pt x="626" y="360"/>
                  <a:pt x="626" y="360"/>
                </a:cubicBezTo>
                <a:cubicBezTo>
                  <a:pt x="580" y="360"/>
                  <a:pt x="541" y="398"/>
                  <a:pt x="541" y="445"/>
                </a:cubicBezTo>
                <a:cubicBezTo>
                  <a:pt x="541" y="491"/>
                  <a:pt x="580" y="530"/>
                  <a:pt x="626" y="530"/>
                </a:cubicBezTo>
                <a:cubicBezTo>
                  <a:pt x="627" y="530"/>
                  <a:pt x="627" y="530"/>
                  <a:pt x="627" y="530"/>
                </a:cubicBezTo>
                <a:cubicBezTo>
                  <a:pt x="633" y="530"/>
                  <a:pt x="653" y="528"/>
                  <a:pt x="673" y="511"/>
                </a:cubicBezTo>
                <a:cubicBezTo>
                  <a:pt x="675" y="509"/>
                  <a:pt x="677" y="507"/>
                  <a:pt x="680" y="505"/>
                </a:cubicBezTo>
                <a:cubicBezTo>
                  <a:pt x="687" y="498"/>
                  <a:pt x="695" y="490"/>
                  <a:pt x="701" y="490"/>
                </a:cubicBezTo>
                <a:cubicBezTo>
                  <a:pt x="703" y="490"/>
                  <a:pt x="711" y="493"/>
                  <a:pt x="719" y="527"/>
                </a:cubicBezTo>
                <a:cubicBezTo>
                  <a:pt x="720" y="530"/>
                  <a:pt x="720" y="532"/>
                  <a:pt x="720" y="53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8" name="Freeform 8"/>
          <p:cNvSpPr/>
          <p:nvPr/>
        </p:nvSpPr>
        <p:spPr bwMode="auto">
          <a:xfrm rot="18900000">
            <a:off x="4095719" y="3562327"/>
            <a:ext cx="1746988" cy="1746988"/>
          </a:xfrm>
          <a:custGeom>
            <a:avLst/>
            <a:gdLst>
              <a:gd name="T0" fmla="*/ 720 w 720"/>
              <a:gd name="T1" fmla="*/ 453 h 720"/>
              <a:gd name="T2" fmla="*/ 652 w 720"/>
              <a:gd name="T3" fmla="*/ 522 h 720"/>
              <a:gd name="T4" fmla="*/ 652 w 720"/>
              <a:gd name="T5" fmla="*/ 522 h 720"/>
              <a:gd name="T6" fmla="*/ 639 w 720"/>
              <a:gd name="T7" fmla="*/ 520 h 720"/>
              <a:gd name="T8" fmla="*/ 617 w 720"/>
              <a:gd name="T9" fmla="*/ 507 h 720"/>
              <a:gd name="T10" fmla="*/ 610 w 720"/>
              <a:gd name="T11" fmla="*/ 501 h 720"/>
              <a:gd name="T12" fmla="*/ 578 w 720"/>
              <a:gd name="T13" fmla="*/ 482 h 720"/>
              <a:gd name="T14" fmla="*/ 543 w 720"/>
              <a:gd name="T15" fmla="*/ 532 h 720"/>
              <a:gd name="T16" fmla="*/ 542 w 720"/>
              <a:gd name="T17" fmla="*/ 543 h 720"/>
              <a:gd name="T18" fmla="*/ 542 w 720"/>
              <a:gd name="T19" fmla="*/ 720 h 720"/>
              <a:gd name="T20" fmla="*/ 542 w 720"/>
              <a:gd name="T21" fmla="*/ 720 h 720"/>
              <a:gd name="T22" fmla="*/ 542 w 720"/>
              <a:gd name="T23" fmla="*/ 720 h 720"/>
              <a:gd name="T24" fmla="*/ 365 w 720"/>
              <a:gd name="T25" fmla="*/ 720 h 720"/>
              <a:gd name="T26" fmla="*/ 358 w 720"/>
              <a:gd name="T27" fmla="*/ 719 h 720"/>
              <a:gd name="T28" fmla="*/ 321 w 720"/>
              <a:gd name="T29" fmla="*/ 702 h 720"/>
              <a:gd name="T30" fmla="*/ 335 w 720"/>
              <a:gd name="T31" fmla="*/ 680 h 720"/>
              <a:gd name="T32" fmla="*/ 342 w 720"/>
              <a:gd name="T33" fmla="*/ 673 h 720"/>
              <a:gd name="T34" fmla="*/ 360 w 720"/>
              <a:gd name="T35" fmla="*/ 627 h 720"/>
              <a:gd name="T36" fmla="*/ 275 w 720"/>
              <a:gd name="T37" fmla="*/ 542 h 720"/>
              <a:gd name="T38" fmla="*/ 190 w 720"/>
              <a:gd name="T39" fmla="*/ 627 h 720"/>
              <a:gd name="T40" fmla="*/ 208 w 720"/>
              <a:gd name="T41" fmla="*/ 673 h 720"/>
              <a:gd name="T42" fmla="*/ 215 w 720"/>
              <a:gd name="T43" fmla="*/ 680 h 720"/>
              <a:gd name="T44" fmla="*/ 229 w 720"/>
              <a:gd name="T45" fmla="*/ 702 h 720"/>
              <a:gd name="T46" fmla="*/ 192 w 720"/>
              <a:gd name="T47" fmla="*/ 719 h 720"/>
              <a:gd name="T48" fmla="*/ 185 w 720"/>
              <a:gd name="T49" fmla="*/ 720 h 720"/>
              <a:gd name="T50" fmla="*/ 0 w 720"/>
              <a:gd name="T51" fmla="*/ 720 h 720"/>
              <a:gd name="T52" fmla="*/ 0 w 720"/>
              <a:gd name="T53" fmla="*/ 543 h 720"/>
              <a:gd name="T54" fmla="*/ 1 w 720"/>
              <a:gd name="T55" fmla="*/ 534 h 720"/>
              <a:gd name="T56" fmla="*/ 28 w 720"/>
              <a:gd name="T57" fmla="*/ 491 h 720"/>
              <a:gd name="T58" fmla="*/ 61 w 720"/>
              <a:gd name="T59" fmla="*/ 514 h 720"/>
              <a:gd name="T60" fmla="*/ 101 w 720"/>
              <a:gd name="T61" fmla="*/ 530 h 720"/>
              <a:gd name="T62" fmla="*/ 102 w 720"/>
              <a:gd name="T63" fmla="*/ 530 h 720"/>
              <a:gd name="T64" fmla="*/ 178 w 720"/>
              <a:gd name="T65" fmla="*/ 453 h 720"/>
              <a:gd name="T66" fmla="*/ 102 w 720"/>
              <a:gd name="T67" fmla="*/ 377 h 720"/>
              <a:gd name="T68" fmla="*/ 101 w 720"/>
              <a:gd name="T69" fmla="*/ 377 h 720"/>
              <a:gd name="T70" fmla="*/ 61 w 720"/>
              <a:gd name="T71" fmla="*/ 393 h 720"/>
              <a:gd name="T72" fmla="*/ 28 w 720"/>
              <a:gd name="T73" fmla="*/ 416 h 720"/>
              <a:gd name="T74" fmla="*/ 1 w 720"/>
              <a:gd name="T75" fmla="*/ 373 h 720"/>
              <a:gd name="T76" fmla="*/ 0 w 720"/>
              <a:gd name="T77" fmla="*/ 364 h 720"/>
              <a:gd name="T78" fmla="*/ 0 w 720"/>
              <a:gd name="T79" fmla="*/ 178 h 720"/>
              <a:gd name="T80" fmla="*/ 185 w 720"/>
              <a:gd name="T81" fmla="*/ 178 h 720"/>
              <a:gd name="T82" fmla="*/ 194 w 720"/>
              <a:gd name="T83" fmla="*/ 177 h 720"/>
              <a:gd name="T84" fmla="*/ 215 w 720"/>
              <a:gd name="T85" fmla="*/ 117 h 720"/>
              <a:gd name="T86" fmla="*/ 198 w 720"/>
              <a:gd name="T87" fmla="*/ 77 h 720"/>
              <a:gd name="T88" fmla="*/ 275 w 720"/>
              <a:gd name="T89" fmla="*/ 0 h 720"/>
              <a:gd name="T90" fmla="*/ 352 w 720"/>
              <a:gd name="T91" fmla="*/ 77 h 720"/>
              <a:gd name="T92" fmla="*/ 335 w 720"/>
              <a:gd name="T93" fmla="*/ 117 h 720"/>
              <a:gd name="T94" fmla="*/ 356 w 720"/>
              <a:gd name="T95" fmla="*/ 177 h 720"/>
              <a:gd name="T96" fmla="*/ 365 w 720"/>
              <a:gd name="T97" fmla="*/ 178 h 720"/>
              <a:gd name="T98" fmla="*/ 542 w 720"/>
              <a:gd name="T99" fmla="*/ 178 h 720"/>
              <a:gd name="T100" fmla="*/ 542 w 720"/>
              <a:gd name="T101" fmla="*/ 364 h 720"/>
              <a:gd name="T102" fmla="*/ 543 w 720"/>
              <a:gd name="T103" fmla="*/ 374 h 720"/>
              <a:gd name="T104" fmla="*/ 578 w 720"/>
              <a:gd name="T105" fmla="*/ 424 h 720"/>
              <a:gd name="T106" fmla="*/ 610 w 720"/>
              <a:gd name="T107" fmla="*/ 406 h 720"/>
              <a:gd name="T108" fmla="*/ 617 w 720"/>
              <a:gd name="T109" fmla="*/ 399 h 720"/>
              <a:gd name="T110" fmla="*/ 651 w 720"/>
              <a:gd name="T111" fmla="*/ 385 h 720"/>
              <a:gd name="T112" fmla="*/ 652 w 720"/>
              <a:gd name="T113" fmla="*/ 385 h 720"/>
              <a:gd name="T114" fmla="*/ 720 w 720"/>
              <a:gd name="T115" fmla="*/ 453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20" h="720">
                <a:moveTo>
                  <a:pt x="720" y="453"/>
                </a:moveTo>
                <a:cubicBezTo>
                  <a:pt x="720" y="491"/>
                  <a:pt x="690" y="522"/>
                  <a:pt x="652" y="522"/>
                </a:cubicBezTo>
                <a:cubicBezTo>
                  <a:pt x="652" y="522"/>
                  <a:pt x="652" y="522"/>
                  <a:pt x="652" y="522"/>
                </a:cubicBezTo>
                <a:cubicBezTo>
                  <a:pt x="650" y="522"/>
                  <a:pt x="645" y="522"/>
                  <a:pt x="639" y="520"/>
                </a:cubicBezTo>
                <a:cubicBezTo>
                  <a:pt x="633" y="518"/>
                  <a:pt x="625" y="514"/>
                  <a:pt x="617" y="507"/>
                </a:cubicBezTo>
                <a:cubicBezTo>
                  <a:pt x="615" y="505"/>
                  <a:pt x="612" y="503"/>
                  <a:pt x="610" y="501"/>
                </a:cubicBezTo>
                <a:cubicBezTo>
                  <a:pt x="600" y="492"/>
                  <a:pt x="590" y="482"/>
                  <a:pt x="578" y="482"/>
                </a:cubicBezTo>
                <a:cubicBezTo>
                  <a:pt x="557" y="482"/>
                  <a:pt x="549" y="509"/>
                  <a:pt x="543" y="532"/>
                </a:cubicBezTo>
                <a:cubicBezTo>
                  <a:pt x="542" y="536"/>
                  <a:pt x="542" y="539"/>
                  <a:pt x="542" y="543"/>
                </a:cubicBezTo>
                <a:cubicBezTo>
                  <a:pt x="542" y="720"/>
                  <a:pt x="542" y="720"/>
                  <a:pt x="542" y="720"/>
                </a:cubicBezTo>
                <a:cubicBezTo>
                  <a:pt x="542" y="720"/>
                  <a:pt x="542" y="720"/>
                  <a:pt x="542" y="720"/>
                </a:cubicBezTo>
                <a:cubicBezTo>
                  <a:pt x="542" y="720"/>
                  <a:pt x="542" y="720"/>
                  <a:pt x="542" y="720"/>
                </a:cubicBezTo>
                <a:cubicBezTo>
                  <a:pt x="365" y="720"/>
                  <a:pt x="365" y="720"/>
                  <a:pt x="365" y="720"/>
                </a:cubicBezTo>
                <a:cubicBezTo>
                  <a:pt x="362" y="720"/>
                  <a:pt x="360" y="720"/>
                  <a:pt x="358" y="719"/>
                </a:cubicBezTo>
                <a:cubicBezTo>
                  <a:pt x="326" y="712"/>
                  <a:pt x="322" y="704"/>
                  <a:pt x="321" y="702"/>
                </a:cubicBezTo>
                <a:cubicBezTo>
                  <a:pt x="319" y="697"/>
                  <a:pt x="328" y="687"/>
                  <a:pt x="335" y="680"/>
                </a:cubicBezTo>
                <a:cubicBezTo>
                  <a:pt x="337" y="678"/>
                  <a:pt x="340" y="675"/>
                  <a:pt x="342" y="673"/>
                </a:cubicBezTo>
                <a:cubicBezTo>
                  <a:pt x="360" y="652"/>
                  <a:pt x="360" y="630"/>
                  <a:pt x="360" y="627"/>
                </a:cubicBezTo>
                <a:cubicBezTo>
                  <a:pt x="360" y="580"/>
                  <a:pt x="322" y="542"/>
                  <a:pt x="275" y="542"/>
                </a:cubicBezTo>
                <a:cubicBezTo>
                  <a:pt x="228" y="542"/>
                  <a:pt x="190" y="580"/>
                  <a:pt x="190" y="627"/>
                </a:cubicBezTo>
                <a:cubicBezTo>
                  <a:pt x="190" y="630"/>
                  <a:pt x="190" y="652"/>
                  <a:pt x="208" y="673"/>
                </a:cubicBezTo>
                <a:cubicBezTo>
                  <a:pt x="210" y="675"/>
                  <a:pt x="213" y="678"/>
                  <a:pt x="215" y="680"/>
                </a:cubicBezTo>
                <a:cubicBezTo>
                  <a:pt x="222" y="687"/>
                  <a:pt x="231" y="697"/>
                  <a:pt x="229" y="702"/>
                </a:cubicBezTo>
                <a:cubicBezTo>
                  <a:pt x="229" y="704"/>
                  <a:pt x="224" y="712"/>
                  <a:pt x="192" y="719"/>
                </a:cubicBezTo>
                <a:cubicBezTo>
                  <a:pt x="190" y="720"/>
                  <a:pt x="188" y="720"/>
                  <a:pt x="185" y="720"/>
                </a:cubicBezTo>
                <a:cubicBezTo>
                  <a:pt x="0" y="720"/>
                  <a:pt x="0" y="720"/>
                  <a:pt x="0" y="720"/>
                </a:cubicBezTo>
                <a:cubicBezTo>
                  <a:pt x="0" y="543"/>
                  <a:pt x="0" y="543"/>
                  <a:pt x="0" y="543"/>
                </a:cubicBezTo>
                <a:cubicBezTo>
                  <a:pt x="0" y="540"/>
                  <a:pt x="0" y="537"/>
                  <a:pt x="1" y="534"/>
                </a:cubicBezTo>
                <a:cubicBezTo>
                  <a:pt x="9" y="501"/>
                  <a:pt x="18" y="491"/>
                  <a:pt x="28" y="491"/>
                </a:cubicBezTo>
                <a:cubicBezTo>
                  <a:pt x="39" y="491"/>
                  <a:pt x="51" y="505"/>
                  <a:pt x="61" y="514"/>
                </a:cubicBezTo>
                <a:cubicBezTo>
                  <a:pt x="79" y="529"/>
                  <a:pt x="97" y="530"/>
                  <a:pt x="101" y="530"/>
                </a:cubicBezTo>
                <a:cubicBezTo>
                  <a:pt x="101" y="530"/>
                  <a:pt x="102" y="530"/>
                  <a:pt x="102" y="530"/>
                </a:cubicBezTo>
                <a:cubicBezTo>
                  <a:pt x="144" y="530"/>
                  <a:pt x="178" y="496"/>
                  <a:pt x="178" y="453"/>
                </a:cubicBezTo>
                <a:cubicBezTo>
                  <a:pt x="178" y="411"/>
                  <a:pt x="144" y="377"/>
                  <a:pt x="102" y="377"/>
                </a:cubicBezTo>
                <a:cubicBezTo>
                  <a:pt x="102" y="377"/>
                  <a:pt x="101" y="377"/>
                  <a:pt x="101" y="377"/>
                </a:cubicBezTo>
                <a:cubicBezTo>
                  <a:pt x="97" y="377"/>
                  <a:pt x="79" y="378"/>
                  <a:pt x="61" y="393"/>
                </a:cubicBezTo>
                <a:cubicBezTo>
                  <a:pt x="51" y="402"/>
                  <a:pt x="39" y="416"/>
                  <a:pt x="28" y="416"/>
                </a:cubicBezTo>
                <a:cubicBezTo>
                  <a:pt x="18" y="416"/>
                  <a:pt x="9" y="406"/>
                  <a:pt x="1" y="373"/>
                </a:cubicBezTo>
                <a:cubicBezTo>
                  <a:pt x="0" y="370"/>
                  <a:pt x="0" y="367"/>
                  <a:pt x="0" y="364"/>
                </a:cubicBezTo>
                <a:cubicBezTo>
                  <a:pt x="0" y="178"/>
                  <a:pt x="0" y="178"/>
                  <a:pt x="0" y="178"/>
                </a:cubicBezTo>
                <a:cubicBezTo>
                  <a:pt x="185" y="178"/>
                  <a:pt x="185" y="178"/>
                  <a:pt x="185" y="178"/>
                </a:cubicBezTo>
                <a:cubicBezTo>
                  <a:pt x="188" y="178"/>
                  <a:pt x="191" y="178"/>
                  <a:pt x="194" y="177"/>
                </a:cubicBezTo>
                <a:cubicBezTo>
                  <a:pt x="266" y="161"/>
                  <a:pt x="232" y="137"/>
                  <a:pt x="215" y="117"/>
                </a:cubicBezTo>
                <a:cubicBezTo>
                  <a:pt x="197" y="97"/>
                  <a:pt x="198" y="77"/>
                  <a:pt x="198" y="77"/>
                </a:cubicBezTo>
                <a:cubicBezTo>
                  <a:pt x="198" y="34"/>
                  <a:pt x="233" y="0"/>
                  <a:pt x="275" y="0"/>
                </a:cubicBezTo>
                <a:cubicBezTo>
                  <a:pt x="317" y="0"/>
                  <a:pt x="352" y="34"/>
                  <a:pt x="352" y="77"/>
                </a:cubicBezTo>
                <a:cubicBezTo>
                  <a:pt x="352" y="77"/>
                  <a:pt x="353" y="97"/>
                  <a:pt x="335" y="117"/>
                </a:cubicBezTo>
                <a:cubicBezTo>
                  <a:pt x="318" y="137"/>
                  <a:pt x="285" y="161"/>
                  <a:pt x="356" y="177"/>
                </a:cubicBezTo>
                <a:cubicBezTo>
                  <a:pt x="359" y="178"/>
                  <a:pt x="362" y="178"/>
                  <a:pt x="365" y="178"/>
                </a:cubicBezTo>
                <a:cubicBezTo>
                  <a:pt x="542" y="178"/>
                  <a:pt x="542" y="178"/>
                  <a:pt x="542" y="178"/>
                </a:cubicBezTo>
                <a:cubicBezTo>
                  <a:pt x="542" y="364"/>
                  <a:pt x="542" y="364"/>
                  <a:pt x="542" y="364"/>
                </a:cubicBezTo>
                <a:cubicBezTo>
                  <a:pt x="542" y="367"/>
                  <a:pt x="542" y="371"/>
                  <a:pt x="543" y="374"/>
                </a:cubicBezTo>
                <a:cubicBezTo>
                  <a:pt x="549" y="398"/>
                  <a:pt x="557" y="424"/>
                  <a:pt x="578" y="424"/>
                </a:cubicBezTo>
                <a:cubicBezTo>
                  <a:pt x="590" y="424"/>
                  <a:pt x="600" y="415"/>
                  <a:pt x="610" y="406"/>
                </a:cubicBezTo>
                <a:cubicBezTo>
                  <a:pt x="612" y="403"/>
                  <a:pt x="615" y="401"/>
                  <a:pt x="617" y="399"/>
                </a:cubicBezTo>
                <a:cubicBezTo>
                  <a:pt x="633" y="386"/>
                  <a:pt x="648" y="385"/>
                  <a:pt x="651" y="385"/>
                </a:cubicBezTo>
                <a:cubicBezTo>
                  <a:pt x="652" y="385"/>
                  <a:pt x="652" y="385"/>
                  <a:pt x="652" y="385"/>
                </a:cubicBezTo>
                <a:cubicBezTo>
                  <a:pt x="690" y="385"/>
                  <a:pt x="720" y="416"/>
                  <a:pt x="720" y="453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lt1"/>
              </a:solidFill>
              <a:cs typeface="+mn-ea"/>
              <a:sym typeface="+mn-lt"/>
            </a:endParaRPr>
          </a:p>
        </p:txBody>
      </p:sp>
      <p:cxnSp>
        <p:nvCxnSpPr>
          <p:cNvPr id="29" name="직선 연결선 250"/>
          <p:cNvCxnSpPr/>
          <p:nvPr/>
        </p:nvCxnSpPr>
        <p:spPr>
          <a:xfrm>
            <a:off x="3733905" y="4102783"/>
            <a:ext cx="326442" cy="0"/>
          </a:xfrm>
          <a:prstGeom prst="line">
            <a:avLst/>
          </a:prstGeom>
          <a:ln w="6350">
            <a:solidFill>
              <a:srgbClr val="414455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250"/>
          <p:cNvCxnSpPr/>
          <p:nvPr/>
        </p:nvCxnSpPr>
        <p:spPr>
          <a:xfrm>
            <a:off x="4060347" y="6370940"/>
            <a:ext cx="937490" cy="0"/>
          </a:xfrm>
          <a:prstGeom prst="line">
            <a:avLst/>
          </a:prstGeom>
          <a:ln w="6350">
            <a:solidFill>
              <a:srgbClr val="414455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250"/>
          <p:cNvCxnSpPr/>
          <p:nvPr/>
        </p:nvCxnSpPr>
        <p:spPr>
          <a:xfrm flipH="1">
            <a:off x="6808300" y="3133257"/>
            <a:ext cx="973132" cy="0"/>
          </a:xfrm>
          <a:prstGeom prst="line">
            <a:avLst/>
          </a:prstGeom>
          <a:ln w="6350">
            <a:solidFill>
              <a:srgbClr val="414455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250"/>
          <p:cNvCxnSpPr/>
          <p:nvPr/>
        </p:nvCxnSpPr>
        <p:spPr>
          <a:xfrm flipH="1">
            <a:off x="7781432" y="5404718"/>
            <a:ext cx="453630" cy="0"/>
          </a:xfrm>
          <a:prstGeom prst="line">
            <a:avLst/>
          </a:prstGeom>
          <a:ln w="6350">
            <a:solidFill>
              <a:srgbClr val="414455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2794702" y="3841173"/>
            <a:ext cx="90601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414455"/>
                </a:solidFill>
                <a:cs typeface="+mn-ea"/>
                <a:sym typeface="+mn-lt"/>
              </a:rPr>
              <a:t>并发</a:t>
            </a:r>
            <a:endParaRPr lang="en-US" altLang="zh-CN" sz="2800" b="1" dirty="0">
              <a:solidFill>
                <a:srgbClr val="414455"/>
              </a:solidFill>
              <a:cs typeface="+mn-ea"/>
              <a:sym typeface="+mn-lt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7807571" y="2969680"/>
            <a:ext cx="90601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414455"/>
                </a:solidFill>
                <a:cs typeface="+mn-ea"/>
                <a:sym typeface="+mn-lt"/>
              </a:rPr>
              <a:t>虚拟</a:t>
            </a: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3497016" y="5903008"/>
            <a:ext cx="90601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414455"/>
                </a:solidFill>
                <a:cs typeface="+mn-ea"/>
                <a:sym typeface="+mn-lt"/>
              </a:rPr>
              <a:t>共享</a:t>
            </a:r>
            <a:endParaRPr lang="en-US" altLang="zh-CN" sz="2800" b="1" dirty="0">
              <a:solidFill>
                <a:srgbClr val="414455"/>
              </a:solidFill>
              <a:cs typeface="+mn-ea"/>
              <a:sym typeface="+mn-lt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8279113" y="5146330"/>
            <a:ext cx="90601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414455"/>
                </a:solidFill>
                <a:cs typeface="+mn-ea"/>
                <a:sym typeface="+mn-lt"/>
              </a:rPr>
              <a:t>异步</a:t>
            </a:r>
          </a:p>
        </p:txBody>
      </p:sp>
    </p:spTree>
    <p:extLst>
      <p:ext uri="{BB962C8B-B14F-4D97-AF65-F5344CB8AC3E}">
        <p14:creationId xmlns:p14="http://schemas.microsoft.com/office/powerpoint/2010/main" val="2427382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07022"/>
            <a:ext cx="4845938" cy="4346724"/>
          </a:xfrm>
          <a:prstGeom prst="rect">
            <a:avLst/>
          </a:prstGeom>
        </p:spPr>
      </p:pic>
      <p:sp>
        <p:nvSpPr>
          <p:cNvPr id="50" name="文本框 25"/>
          <p:cNvSpPr txBox="1">
            <a:spLocks noChangeArrowheads="1"/>
          </p:cNvSpPr>
          <p:nvPr/>
        </p:nvSpPr>
        <p:spPr bwMode="auto">
          <a:xfrm>
            <a:off x="2456506" y="60169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课程引入</a:t>
            </a:r>
          </a:p>
        </p:txBody>
      </p:sp>
      <p:grpSp>
        <p:nvGrpSpPr>
          <p:cNvPr id="30" name="Group 3"/>
          <p:cNvGrpSpPr>
            <a:grpSpLocks/>
          </p:cNvGrpSpPr>
          <p:nvPr/>
        </p:nvGrpSpPr>
        <p:grpSpPr bwMode="auto">
          <a:xfrm>
            <a:off x="3029734" y="1367433"/>
            <a:ext cx="5018088" cy="4784725"/>
            <a:chOff x="1488" y="960"/>
            <a:chExt cx="2928" cy="2880"/>
          </a:xfrm>
        </p:grpSpPr>
        <p:grpSp>
          <p:nvGrpSpPr>
            <p:cNvPr id="31" name="Group 4"/>
            <p:cNvGrpSpPr>
              <a:grpSpLocks/>
            </p:cNvGrpSpPr>
            <p:nvPr/>
          </p:nvGrpSpPr>
          <p:grpSpPr bwMode="auto">
            <a:xfrm>
              <a:off x="2356" y="960"/>
              <a:ext cx="1192" cy="959"/>
              <a:chOff x="2356" y="960"/>
              <a:chExt cx="1192" cy="959"/>
            </a:xfrm>
          </p:grpSpPr>
          <p:grpSp>
            <p:nvGrpSpPr>
              <p:cNvPr id="78" name="Group 5"/>
              <p:cNvGrpSpPr>
                <a:grpSpLocks/>
              </p:cNvGrpSpPr>
              <p:nvPr/>
            </p:nvGrpSpPr>
            <p:grpSpPr bwMode="auto">
              <a:xfrm>
                <a:off x="2356" y="960"/>
                <a:ext cx="1192" cy="959"/>
                <a:chOff x="2057" y="862"/>
                <a:chExt cx="1549" cy="1351"/>
              </a:xfrm>
            </p:grpSpPr>
            <p:sp>
              <p:nvSpPr>
                <p:cNvPr id="80" name="AutoShape 6"/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1" name="AutoShape 7"/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" name="AutoShape 8"/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7262EC"/>
                    </a:gs>
                    <a:gs pos="100000">
                      <a:srgbClr val="2614AA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79" name="Text Box 9"/>
              <p:cNvSpPr txBox="1">
                <a:spLocks noChangeArrowheads="1"/>
              </p:cNvSpPr>
              <p:nvPr/>
            </p:nvSpPr>
            <p:spPr bwMode="gray">
              <a:xfrm>
                <a:off x="2626" y="1170"/>
                <a:ext cx="649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输入输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出管理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2" name="Group 10"/>
            <p:cNvGrpSpPr>
              <a:grpSpLocks/>
            </p:cNvGrpSpPr>
            <p:nvPr/>
          </p:nvGrpSpPr>
          <p:grpSpPr bwMode="auto">
            <a:xfrm>
              <a:off x="1488" y="1438"/>
              <a:ext cx="1193" cy="959"/>
              <a:chOff x="1488" y="1438"/>
              <a:chExt cx="1193" cy="959"/>
            </a:xfrm>
          </p:grpSpPr>
          <p:grpSp>
            <p:nvGrpSpPr>
              <p:cNvPr id="73" name="Group 11"/>
              <p:cNvGrpSpPr>
                <a:grpSpLocks/>
              </p:cNvGrpSpPr>
              <p:nvPr/>
            </p:nvGrpSpPr>
            <p:grpSpPr bwMode="auto">
              <a:xfrm>
                <a:off x="1488" y="1438"/>
                <a:ext cx="1193" cy="959"/>
                <a:chOff x="1110" y="2656"/>
                <a:chExt cx="1549" cy="1351"/>
              </a:xfrm>
            </p:grpSpPr>
            <p:sp>
              <p:nvSpPr>
                <p:cNvPr id="75" name="AutoShape 12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6" name="AutoShape 13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7" name="AutoShape 14"/>
                <p:cNvSpPr>
                  <a:spLocks noChangeArrowheads="1"/>
                </p:cNvSpPr>
                <p:nvPr/>
              </p:nvSpPr>
              <p:spPr bwMode="gray">
                <a:xfrm>
                  <a:off x="1200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24B443"/>
                    </a:gs>
                    <a:gs pos="100000">
                      <a:srgbClr val="115D16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74" name="Text Box 15"/>
              <p:cNvSpPr txBox="1">
                <a:spLocks noChangeArrowheads="1"/>
              </p:cNvSpPr>
              <p:nvPr/>
            </p:nvSpPr>
            <p:spPr bwMode="gray">
              <a:xfrm>
                <a:off x="1674" y="1778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文件管理</a:t>
                </a:r>
              </a:p>
            </p:txBody>
          </p:sp>
        </p:grpSp>
        <p:grpSp>
          <p:nvGrpSpPr>
            <p:cNvPr id="33" name="Group 16"/>
            <p:cNvGrpSpPr>
              <a:grpSpLocks/>
            </p:cNvGrpSpPr>
            <p:nvPr/>
          </p:nvGrpSpPr>
          <p:grpSpPr bwMode="auto">
            <a:xfrm>
              <a:off x="2356" y="1919"/>
              <a:ext cx="1192" cy="959"/>
              <a:chOff x="2356" y="1919"/>
              <a:chExt cx="1192" cy="959"/>
            </a:xfrm>
          </p:grpSpPr>
          <p:grpSp>
            <p:nvGrpSpPr>
              <p:cNvPr id="68" name="Group 17"/>
              <p:cNvGrpSpPr>
                <a:grpSpLocks/>
              </p:cNvGrpSpPr>
              <p:nvPr/>
            </p:nvGrpSpPr>
            <p:grpSpPr bwMode="auto">
              <a:xfrm>
                <a:off x="2356" y="1919"/>
                <a:ext cx="1192" cy="959"/>
                <a:chOff x="3174" y="2656"/>
                <a:chExt cx="1549" cy="1351"/>
              </a:xfrm>
            </p:grpSpPr>
            <p:sp>
              <p:nvSpPr>
                <p:cNvPr id="70" name="AutoShape 18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1" name="AutoShape 19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" name="AutoShape 20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CC7032"/>
                    </a:gs>
                    <a:gs pos="100000">
                      <a:srgbClr val="844820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69" name="Text Box 21"/>
              <p:cNvSpPr txBox="1">
                <a:spLocks noChangeArrowheads="1"/>
              </p:cNvSpPr>
              <p:nvPr/>
            </p:nvSpPr>
            <p:spPr bwMode="gray">
              <a:xfrm>
                <a:off x="2517" y="2109"/>
                <a:ext cx="830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进程描述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与控制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4" name="Group 22"/>
            <p:cNvGrpSpPr>
              <a:grpSpLocks/>
            </p:cNvGrpSpPr>
            <p:nvPr/>
          </p:nvGrpSpPr>
          <p:grpSpPr bwMode="auto">
            <a:xfrm>
              <a:off x="3223" y="1438"/>
              <a:ext cx="1193" cy="959"/>
              <a:chOff x="3223" y="1438"/>
              <a:chExt cx="1193" cy="959"/>
            </a:xfrm>
          </p:grpSpPr>
          <p:grpSp>
            <p:nvGrpSpPr>
              <p:cNvPr id="63" name="Group 23"/>
              <p:cNvGrpSpPr>
                <a:grpSpLocks/>
              </p:cNvGrpSpPr>
              <p:nvPr/>
            </p:nvGrpSpPr>
            <p:grpSpPr bwMode="auto">
              <a:xfrm>
                <a:off x="3223" y="1438"/>
                <a:ext cx="1193" cy="959"/>
                <a:chOff x="2057" y="862"/>
                <a:chExt cx="1549" cy="1351"/>
              </a:xfrm>
            </p:grpSpPr>
            <p:sp>
              <p:nvSpPr>
                <p:cNvPr id="65" name="AutoShape 24"/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6" name="AutoShape 25"/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AutoShape 26"/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3E565A"/>
                    </a:gs>
                    <a:gs pos="100000">
                      <a:srgbClr val="85B9C3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64" name="Text Box 27"/>
              <p:cNvSpPr txBox="1">
                <a:spLocks noChangeArrowheads="1"/>
              </p:cNvSpPr>
              <p:nvPr/>
            </p:nvSpPr>
            <p:spPr bwMode="gray">
              <a:xfrm>
                <a:off x="3411" y="1764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磁盘管理</a:t>
                </a:r>
                <a:endParaRPr lang="zh-CN" altLang="en-US" sz="14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5" name="Group 28"/>
            <p:cNvGrpSpPr>
              <a:grpSpLocks/>
            </p:cNvGrpSpPr>
            <p:nvPr/>
          </p:nvGrpSpPr>
          <p:grpSpPr bwMode="auto">
            <a:xfrm>
              <a:off x="3223" y="2400"/>
              <a:ext cx="1193" cy="959"/>
              <a:chOff x="3223" y="2400"/>
              <a:chExt cx="1193" cy="959"/>
            </a:xfrm>
          </p:grpSpPr>
          <p:grpSp>
            <p:nvGrpSpPr>
              <p:cNvPr id="58" name="Group 29"/>
              <p:cNvGrpSpPr>
                <a:grpSpLocks/>
              </p:cNvGrpSpPr>
              <p:nvPr/>
            </p:nvGrpSpPr>
            <p:grpSpPr bwMode="auto">
              <a:xfrm>
                <a:off x="3223" y="2400"/>
                <a:ext cx="1193" cy="959"/>
                <a:chOff x="3174" y="2656"/>
                <a:chExt cx="1549" cy="1351"/>
              </a:xfrm>
            </p:grpSpPr>
            <p:sp>
              <p:nvSpPr>
                <p:cNvPr id="60" name="AutoShape 30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1" name="AutoShape 31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2" name="AutoShape 32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245D52"/>
                    </a:gs>
                    <a:gs pos="100000">
                      <a:srgbClr val="4DC9B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59" name="Text Box 33"/>
              <p:cNvSpPr txBox="1">
                <a:spLocks noChangeArrowheads="1"/>
              </p:cNvSpPr>
              <p:nvPr/>
            </p:nvSpPr>
            <p:spPr bwMode="gray">
              <a:xfrm>
                <a:off x="3403" y="2634"/>
                <a:ext cx="830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处理机调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度与死锁</a:t>
                </a:r>
              </a:p>
            </p:txBody>
          </p:sp>
        </p:grpSp>
        <p:grpSp>
          <p:nvGrpSpPr>
            <p:cNvPr id="36" name="Group 34"/>
            <p:cNvGrpSpPr>
              <a:grpSpLocks/>
            </p:cNvGrpSpPr>
            <p:nvPr/>
          </p:nvGrpSpPr>
          <p:grpSpPr bwMode="auto">
            <a:xfrm>
              <a:off x="1488" y="2400"/>
              <a:ext cx="1193" cy="959"/>
              <a:chOff x="1488" y="2400"/>
              <a:chExt cx="1193" cy="959"/>
            </a:xfrm>
          </p:grpSpPr>
          <p:grpSp>
            <p:nvGrpSpPr>
              <p:cNvPr id="53" name="Group 35"/>
              <p:cNvGrpSpPr>
                <a:grpSpLocks/>
              </p:cNvGrpSpPr>
              <p:nvPr/>
            </p:nvGrpSpPr>
            <p:grpSpPr bwMode="auto">
              <a:xfrm>
                <a:off x="1488" y="2400"/>
                <a:ext cx="1193" cy="959"/>
                <a:chOff x="3174" y="2656"/>
                <a:chExt cx="1549" cy="1351"/>
              </a:xfrm>
            </p:grpSpPr>
            <p:sp>
              <p:nvSpPr>
                <p:cNvPr id="55" name="AutoShape 36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6" name="AutoShape 37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7" name="AutoShape 38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0066CC"/>
                    </a:gs>
                    <a:gs pos="100000">
                      <a:srgbClr val="002F5E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54" name="Text Box 39"/>
              <p:cNvSpPr txBox="1">
                <a:spLocks noChangeArrowheads="1"/>
              </p:cNvSpPr>
              <p:nvPr/>
            </p:nvSpPr>
            <p:spPr bwMode="gray">
              <a:xfrm>
                <a:off x="1674" y="2738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设备管理</a:t>
                </a:r>
              </a:p>
            </p:txBody>
          </p:sp>
        </p:grpSp>
        <p:grpSp>
          <p:nvGrpSpPr>
            <p:cNvPr id="37" name="Group 40"/>
            <p:cNvGrpSpPr>
              <a:grpSpLocks/>
            </p:cNvGrpSpPr>
            <p:nvPr/>
          </p:nvGrpSpPr>
          <p:grpSpPr bwMode="auto">
            <a:xfrm>
              <a:off x="2356" y="2881"/>
              <a:ext cx="1192" cy="959"/>
              <a:chOff x="2356" y="2881"/>
              <a:chExt cx="1192" cy="959"/>
            </a:xfrm>
          </p:grpSpPr>
          <p:grpSp>
            <p:nvGrpSpPr>
              <p:cNvPr id="38" name="Group 41"/>
              <p:cNvGrpSpPr>
                <a:grpSpLocks/>
              </p:cNvGrpSpPr>
              <p:nvPr/>
            </p:nvGrpSpPr>
            <p:grpSpPr bwMode="auto">
              <a:xfrm>
                <a:off x="2356" y="2881"/>
                <a:ext cx="1192" cy="959"/>
                <a:chOff x="3174" y="2656"/>
                <a:chExt cx="1549" cy="1351"/>
              </a:xfrm>
            </p:grpSpPr>
            <p:sp>
              <p:nvSpPr>
                <p:cNvPr id="40" name="AutoShape 42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1" name="AutoShape 43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2" name="AutoShape 44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584F25"/>
                    </a:gs>
                    <a:gs pos="100000">
                      <a:srgbClr val="BFAA4F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39" name="Text Box 45"/>
              <p:cNvSpPr txBox="1">
                <a:spLocks noChangeArrowheads="1"/>
              </p:cNvSpPr>
              <p:nvPr/>
            </p:nvSpPr>
            <p:spPr bwMode="gray">
              <a:xfrm>
                <a:off x="2452" y="3215"/>
                <a:ext cx="101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存储器管理</a:t>
                </a:r>
              </a:p>
            </p:txBody>
          </p:sp>
        </p:grpSp>
      </p:grpSp>
      <p:sp>
        <p:nvSpPr>
          <p:cNvPr id="83" name="文本框 31"/>
          <p:cNvSpPr txBox="1"/>
          <p:nvPr/>
        </p:nvSpPr>
        <p:spPr>
          <a:xfrm>
            <a:off x="2487696" y="102204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355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文本框 10"/>
          <p:cNvSpPr txBox="1">
            <a:spLocks noChangeArrowheads="1"/>
          </p:cNvSpPr>
          <p:nvPr/>
        </p:nvSpPr>
        <p:spPr bwMode="auto">
          <a:xfrm>
            <a:off x="974642" y="1276665"/>
            <a:ext cx="1897347" cy="523448"/>
          </a:xfrm>
          <a:prstGeom prst="rect">
            <a:avLst/>
          </a:prstGeom>
          <a:solidFill>
            <a:srgbClr val="3D73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基本模块</a:t>
            </a:r>
          </a:p>
        </p:txBody>
      </p:sp>
      <p:sp>
        <p:nvSpPr>
          <p:cNvPr id="22" name="矩形 2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4" name="矩形 23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6164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操作系统的功能</a:t>
            </a:r>
          </a:p>
        </p:txBody>
      </p:sp>
      <p:sp>
        <p:nvSpPr>
          <p:cNvPr id="17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1A3996DE-7F58-8A48-6EA2-19B8828B7099}"/>
              </a:ext>
            </a:extLst>
          </p:cNvPr>
          <p:cNvGrpSpPr>
            <a:grpSpLocks/>
          </p:cNvGrpSpPr>
          <p:nvPr/>
        </p:nvGrpSpPr>
        <p:grpSpPr bwMode="auto">
          <a:xfrm>
            <a:off x="4871413" y="1276665"/>
            <a:ext cx="5018088" cy="4784725"/>
            <a:chOff x="1488" y="960"/>
            <a:chExt cx="2928" cy="2880"/>
          </a:xfrm>
        </p:grpSpPr>
        <p:grpSp>
          <p:nvGrpSpPr>
            <p:cNvPr id="3" name="Group 4">
              <a:extLst>
                <a:ext uri="{FF2B5EF4-FFF2-40B4-BE49-F238E27FC236}">
                  <a16:creationId xmlns:a16="http://schemas.microsoft.com/office/drawing/2014/main" id="{5E7DF8EF-61B4-E13A-C626-3A6711E74E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6" y="960"/>
              <a:ext cx="1192" cy="959"/>
              <a:chOff x="2356" y="960"/>
              <a:chExt cx="1192" cy="959"/>
            </a:xfrm>
          </p:grpSpPr>
          <p:grpSp>
            <p:nvGrpSpPr>
              <p:cNvPr id="57" name="Group 5">
                <a:extLst>
                  <a:ext uri="{FF2B5EF4-FFF2-40B4-BE49-F238E27FC236}">
                    <a16:creationId xmlns:a16="http://schemas.microsoft.com/office/drawing/2014/main" id="{13A17EC8-7ECA-ECC3-EFF1-DEC7B2847B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6" y="960"/>
                <a:ext cx="1192" cy="959"/>
                <a:chOff x="2057" y="862"/>
                <a:chExt cx="1549" cy="1351"/>
              </a:xfrm>
            </p:grpSpPr>
            <p:sp>
              <p:nvSpPr>
                <p:cNvPr id="59" name="AutoShape 6">
                  <a:extLst>
                    <a:ext uri="{FF2B5EF4-FFF2-40B4-BE49-F238E27FC236}">
                      <a16:creationId xmlns:a16="http://schemas.microsoft.com/office/drawing/2014/main" id="{B81DB9B5-0E26-88DC-2F04-4942BC01D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0" name="AutoShape 7">
                  <a:extLst>
                    <a:ext uri="{FF2B5EF4-FFF2-40B4-BE49-F238E27FC236}">
                      <a16:creationId xmlns:a16="http://schemas.microsoft.com/office/drawing/2014/main" id="{44E65CDB-C677-62DB-E3B6-48D263207A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1" name="AutoShape 8">
                  <a:extLst>
                    <a:ext uri="{FF2B5EF4-FFF2-40B4-BE49-F238E27FC236}">
                      <a16:creationId xmlns:a16="http://schemas.microsoft.com/office/drawing/2014/main" id="{FC37ADC9-75B3-F5F5-441D-514E76EDB1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7262EC"/>
                    </a:gs>
                    <a:gs pos="100000">
                      <a:srgbClr val="2614AA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58" name="Text Box 9">
                <a:extLst>
                  <a:ext uri="{FF2B5EF4-FFF2-40B4-BE49-F238E27FC236}">
                    <a16:creationId xmlns:a16="http://schemas.microsoft.com/office/drawing/2014/main" id="{29A30F4A-A944-CFD0-813C-4A2444F2D3B2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626" y="1170"/>
                <a:ext cx="649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输入输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出管理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B8102B14-1306-2651-425A-6156E875B5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438"/>
              <a:ext cx="1193" cy="959"/>
              <a:chOff x="1488" y="1438"/>
              <a:chExt cx="1193" cy="959"/>
            </a:xfrm>
          </p:grpSpPr>
          <p:grpSp>
            <p:nvGrpSpPr>
              <p:cNvPr id="52" name="Group 11">
                <a:extLst>
                  <a:ext uri="{FF2B5EF4-FFF2-40B4-BE49-F238E27FC236}">
                    <a16:creationId xmlns:a16="http://schemas.microsoft.com/office/drawing/2014/main" id="{E0EC229C-FD17-087A-6B32-E5C61E97F3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1438"/>
                <a:ext cx="1193" cy="959"/>
                <a:chOff x="1110" y="2656"/>
                <a:chExt cx="1549" cy="1351"/>
              </a:xfrm>
            </p:grpSpPr>
            <p:sp>
              <p:nvSpPr>
                <p:cNvPr id="54" name="AutoShape 12">
                  <a:extLst>
                    <a:ext uri="{FF2B5EF4-FFF2-40B4-BE49-F238E27FC236}">
                      <a16:creationId xmlns:a16="http://schemas.microsoft.com/office/drawing/2014/main" id="{632F39B5-AF18-306F-5A8E-FC68FB4B79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5" name="AutoShape 13">
                  <a:extLst>
                    <a:ext uri="{FF2B5EF4-FFF2-40B4-BE49-F238E27FC236}">
                      <a16:creationId xmlns:a16="http://schemas.microsoft.com/office/drawing/2014/main" id="{53F7A09B-120A-9E52-0C6F-591A6E01E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6" name="AutoShape 14">
                  <a:extLst>
                    <a:ext uri="{FF2B5EF4-FFF2-40B4-BE49-F238E27FC236}">
                      <a16:creationId xmlns:a16="http://schemas.microsoft.com/office/drawing/2014/main" id="{1C0B2623-BA5E-C842-4A97-59A2B8F19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200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24B443"/>
                    </a:gs>
                    <a:gs pos="100000">
                      <a:srgbClr val="115D16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53" name="Text Box 15">
                <a:extLst>
                  <a:ext uri="{FF2B5EF4-FFF2-40B4-BE49-F238E27FC236}">
                    <a16:creationId xmlns:a16="http://schemas.microsoft.com/office/drawing/2014/main" id="{46E4711C-EF14-78BF-F76F-0D1A3DA70FE1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674" y="1778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文件管理</a:t>
                </a:r>
              </a:p>
            </p:txBody>
          </p:sp>
        </p:grpSp>
        <p:grpSp>
          <p:nvGrpSpPr>
            <p:cNvPr id="5" name="Group 16">
              <a:extLst>
                <a:ext uri="{FF2B5EF4-FFF2-40B4-BE49-F238E27FC236}">
                  <a16:creationId xmlns:a16="http://schemas.microsoft.com/office/drawing/2014/main" id="{4CFA66BB-3E71-3120-EDBE-5CF5FD3E7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6" y="1919"/>
              <a:ext cx="1192" cy="959"/>
              <a:chOff x="2356" y="1919"/>
              <a:chExt cx="1192" cy="959"/>
            </a:xfrm>
          </p:grpSpPr>
          <p:grpSp>
            <p:nvGrpSpPr>
              <p:cNvPr id="47" name="Group 17">
                <a:extLst>
                  <a:ext uri="{FF2B5EF4-FFF2-40B4-BE49-F238E27FC236}">
                    <a16:creationId xmlns:a16="http://schemas.microsoft.com/office/drawing/2014/main" id="{D053A8C5-B2E2-6AC6-E127-67516E6713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6" y="1919"/>
                <a:ext cx="1192" cy="959"/>
                <a:chOff x="3174" y="2656"/>
                <a:chExt cx="1549" cy="1351"/>
              </a:xfrm>
            </p:grpSpPr>
            <p:sp>
              <p:nvSpPr>
                <p:cNvPr id="49" name="AutoShape 18">
                  <a:extLst>
                    <a:ext uri="{FF2B5EF4-FFF2-40B4-BE49-F238E27FC236}">
                      <a16:creationId xmlns:a16="http://schemas.microsoft.com/office/drawing/2014/main" id="{620D1D87-50B8-40BB-34C8-64FCC52C03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0" name="AutoShape 19">
                  <a:extLst>
                    <a:ext uri="{FF2B5EF4-FFF2-40B4-BE49-F238E27FC236}">
                      <a16:creationId xmlns:a16="http://schemas.microsoft.com/office/drawing/2014/main" id="{38002EBF-4547-A32A-0AF6-280018305B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1" name="AutoShape 20">
                  <a:extLst>
                    <a:ext uri="{FF2B5EF4-FFF2-40B4-BE49-F238E27FC236}">
                      <a16:creationId xmlns:a16="http://schemas.microsoft.com/office/drawing/2014/main" id="{E698B7C3-5592-295A-A671-E684FE4268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CC7032"/>
                    </a:gs>
                    <a:gs pos="100000">
                      <a:srgbClr val="844820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48" name="Text Box 21">
                <a:extLst>
                  <a:ext uri="{FF2B5EF4-FFF2-40B4-BE49-F238E27FC236}">
                    <a16:creationId xmlns:a16="http://schemas.microsoft.com/office/drawing/2014/main" id="{F39762E1-5BC4-5140-16A0-DD30B251FCC0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517" y="2109"/>
                <a:ext cx="830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进程描述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与控制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6" name="Group 22">
              <a:extLst>
                <a:ext uri="{FF2B5EF4-FFF2-40B4-BE49-F238E27FC236}">
                  <a16:creationId xmlns:a16="http://schemas.microsoft.com/office/drawing/2014/main" id="{C71D4CAC-BEF6-C358-F99C-BF24BDBA8F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3" y="1438"/>
              <a:ext cx="1193" cy="959"/>
              <a:chOff x="3223" y="1438"/>
              <a:chExt cx="1193" cy="959"/>
            </a:xfrm>
          </p:grpSpPr>
          <p:grpSp>
            <p:nvGrpSpPr>
              <p:cNvPr id="42" name="Group 23">
                <a:extLst>
                  <a:ext uri="{FF2B5EF4-FFF2-40B4-BE49-F238E27FC236}">
                    <a16:creationId xmlns:a16="http://schemas.microsoft.com/office/drawing/2014/main" id="{748424F2-0CF4-EC61-558C-7B63C4C85E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3" y="1438"/>
                <a:ext cx="1193" cy="959"/>
                <a:chOff x="2057" y="862"/>
                <a:chExt cx="1549" cy="1351"/>
              </a:xfrm>
            </p:grpSpPr>
            <p:sp>
              <p:nvSpPr>
                <p:cNvPr id="44" name="AutoShape 24">
                  <a:extLst>
                    <a:ext uri="{FF2B5EF4-FFF2-40B4-BE49-F238E27FC236}">
                      <a16:creationId xmlns:a16="http://schemas.microsoft.com/office/drawing/2014/main" id="{10D87637-43B0-9CFB-705D-982CB9E4E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5" name="AutoShape 25">
                  <a:extLst>
                    <a:ext uri="{FF2B5EF4-FFF2-40B4-BE49-F238E27FC236}">
                      <a16:creationId xmlns:a16="http://schemas.microsoft.com/office/drawing/2014/main" id="{837A5B25-95A4-BD9F-0AF0-AF11B25847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6" name="AutoShape 26">
                  <a:extLst>
                    <a:ext uri="{FF2B5EF4-FFF2-40B4-BE49-F238E27FC236}">
                      <a16:creationId xmlns:a16="http://schemas.microsoft.com/office/drawing/2014/main" id="{73EDE32B-E82F-A963-64E5-5B678E2E95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3E565A"/>
                    </a:gs>
                    <a:gs pos="100000">
                      <a:srgbClr val="85B9C3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43" name="Text Box 27">
                <a:extLst>
                  <a:ext uri="{FF2B5EF4-FFF2-40B4-BE49-F238E27FC236}">
                    <a16:creationId xmlns:a16="http://schemas.microsoft.com/office/drawing/2014/main" id="{7D5BD141-3F5A-0417-5110-50CC014EAF4C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411" y="1764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磁盘管理</a:t>
                </a:r>
                <a:endParaRPr lang="zh-CN" altLang="en-US" sz="14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" name="Group 28">
              <a:extLst>
                <a:ext uri="{FF2B5EF4-FFF2-40B4-BE49-F238E27FC236}">
                  <a16:creationId xmlns:a16="http://schemas.microsoft.com/office/drawing/2014/main" id="{1C041FF6-D2FE-92D5-3A5F-F5452249B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3" y="2400"/>
              <a:ext cx="1193" cy="959"/>
              <a:chOff x="3223" y="2400"/>
              <a:chExt cx="1193" cy="959"/>
            </a:xfrm>
          </p:grpSpPr>
          <p:grpSp>
            <p:nvGrpSpPr>
              <p:cNvPr id="37" name="Group 29">
                <a:extLst>
                  <a:ext uri="{FF2B5EF4-FFF2-40B4-BE49-F238E27FC236}">
                    <a16:creationId xmlns:a16="http://schemas.microsoft.com/office/drawing/2014/main" id="{58477804-8CC9-ECBA-B3A0-D2DD133DE8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3" y="2400"/>
                <a:ext cx="1193" cy="959"/>
                <a:chOff x="3174" y="2656"/>
                <a:chExt cx="1549" cy="1351"/>
              </a:xfrm>
            </p:grpSpPr>
            <p:sp>
              <p:nvSpPr>
                <p:cNvPr id="39" name="AutoShape 30">
                  <a:extLst>
                    <a:ext uri="{FF2B5EF4-FFF2-40B4-BE49-F238E27FC236}">
                      <a16:creationId xmlns:a16="http://schemas.microsoft.com/office/drawing/2014/main" id="{B1EAC69C-DAA3-3081-FDDD-8066E81067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0" name="AutoShape 31">
                  <a:extLst>
                    <a:ext uri="{FF2B5EF4-FFF2-40B4-BE49-F238E27FC236}">
                      <a16:creationId xmlns:a16="http://schemas.microsoft.com/office/drawing/2014/main" id="{08F88822-7773-622A-DE2D-851B0DD266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1" name="AutoShape 32">
                  <a:extLst>
                    <a:ext uri="{FF2B5EF4-FFF2-40B4-BE49-F238E27FC236}">
                      <a16:creationId xmlns:a16="http://schemas.microsoft.com/office/drawing/2014/main" id="{E6205720-872C-DC94-E737-2BA8734AA4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245D52"/>
                    </a:gs>
                    <a:gs pos="100000">
                      <a:srgbClr val="4DC9B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38" name="Text Box 33">
                <a:extLst>
                  <a:ext uri="{FF2B5EF4-FFF2-40B4-BE49-F238E27FC236}">
                    <a16:creationId xmlns:a16="http://schemas.microsoft.com/office/drawing/2014/main" id="{8D523C64-65EC-D5A4-503B-991859346BEA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403" y="2634"/>
                <a:ext cx="830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处理机调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度与死锁</a:t>
                </a:r>
              </a:p>
            </p:txBody>
          </p:sp>
        </p:grpSp>
        <p:grpSp>
          <p:nvGrpSpPr>
            <p:cNvPr id="8" name="Group 34">
              <a:extLst>
                <a:ext uri="{FF2B5EF4-FFF2-40B4-BE49-F238E27FC236}">
                  <a16:creationId xmlns:a16="http://schemas.microsoft.com/office/drawing/2014/main" id="{DB04481C-EBEA-5972-1055-3E565B555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00"/>
              <a:ext cx="1193" cy="959"/>
              <a:chOff x="1488" y="2400"/>
              <a:chExt cx="1193" cy="959"/>
            </a:xfrm>
          </p:grpSpPr>
          <p:grpSp>
            <p:nvGrpSpPr>
              <p:cNvPr id="15" name="Group 35">
                <a:extLst>
                  <a:ext uri="{FF2B5EF4-FFF2-40B4-BE49-F238E27FC236}">
                    <a16:creationId xmlns:a16="http://schemas.microsoft.com/office/drawing/2014/main" id="{C8150121-90E8-A117-36C4-D9691DA889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400"/>
                <a:ext cx="1193" cy="959"/>
                <a:chOff x="3174" y="2656"/>
                <a:chExt cx="1549" cy="1351"/>
              </a:xfrm>
            </p:grpSpPr>
            <p:sp>
              <p:nvSpPr>
                <p:cNvPr id="34" name="AutoShape 36">
                  <a:extLst>
                    <a:ext uri="{FF2B5EF4-FFF2-40B4-BE49-F238E27FC236}">
                      <a16:creationId xmlns:a16="http://schemas.microsoft.com/office/drawing/2014/main" id="{77BFCEBE-C798-3BD3-7409-FB4291501F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5" name="AutoShape 37">
                  <a:extLst>
                    <a:ext uri="{FF2B5EF4-FFF2-40B4-BE49-F238E27FC236}">
                      <a16:creationId xmlns:a16="http://schemas.microsoft.com/office/drawing/2014/main" id="{FA947959-1366-6B4A-B730-023B9D654F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6" name="AutoShape 38">
                  <a:extLst>
                    <a:ext uri="{FF2B5EF4-FFF2-40B4-BE49-F238E27FC236}">
                      <a16:creationId xmlns:a16="http://schemas.microsoft.com/office/drawing/2014/main" id="{60D1FA73-4FF4-60CE-CBB0-58D465248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0066CC"/>
                    </a:gs>
                    <a:gs pos="100000">
                      <a:srgbClr val="002F5E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6" name="Text Box 39">
                <a:extLst>
                  <a:ext uri="{FF2B5EF4-FFF2-40B4-BE49-F238E27FC236}">
                    <a16:creationId xmlns:a16="http://schemas.microsoft.com/office/drawing/2014/main" id="{79851802-D5F1-2E0F-D758-A12173D64681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674" y="2738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设备管理</a:t>
                </a:r>
              </a:p>
            </p:txBody>
          </p:sp>
        </p:grpSp>
        <p:grpSp>
          <p:nvGrpSpPr>
            <p:cNvPr id="9" name="Group 40">
              <a:extLst>
                <a:ext uri="{FF2B5EF4-FFF2-40B4-BE49-F238E27FC236}">
                  <a16:creationId xmlns:a16="http://schemas.microsoft.com/office/drawing/2014/main" id="{D50FEC33-0C2F-64F2-E2F7-0866CE5F59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6" y="2881"/>
              <a:ext cx="1192" cy="959"/>
              <a:chOff x="2356" y="2881"/>
              <a:chExt cx="1192" cy="959"/>
            </a:xfrm>
          </p:grpSpPr>
          <p:grpSp>
            <p:nvGrpSpPr>
              <p:cNvPr id="10" name="Group 41">
                <a:extLst>
                  <a:ext uri="{FF2B5EF4-FFF2-40B4-BE49-F238E27FC236}">
                    <a16:creationId xmlns:a16="http://schemas.microsoft.com/office/drawing/2014/main" id="{C56A8D54-0D1F-A3E7-67A0-ADC5815D47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6" y="2881"/>
                <a:ext cx="1192" cy="959"/>
                <a:chOff x="3174" y="2656"/>
                <a:chExt cx="1549" cy="1351"/>
              </a:xfrm>
            </p:grpSpPr>
            <p:sp>
              <p:nvSpPr>
                <p:cNvPr id="12" name="AutoShape 42">
                  <a:extLst>
                    <a:ext uri="{FF2B5EF4-FFF2-40B4-BE49-F238E27FC236}">
                      <a16:creationId xmlns:a16="http://schemas.microsoft.com/office/drawing/2014/main" id="{D5DF3BBF-9082-38A7-D009-6AD9E9131D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" name="AutoShape 43">
                  <a:extLst>
                    <a:ext uri="{FF2B5EF4-FFF2-40B4-BE49-F238E27FC236}">
                      <a16:creationId xmlns:a16="http://schemas.microsoft.com/office/drawing/2014/main" id="{8688ADEC-5E73-ED77-C647-9517C1EB66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" name="AutoShape 44">
                  <a:extLst>
                    <a:ext uri="{FF2B5EF4-FFF2-40B4-BE49-F238E27FC236}">
                      <a16:creationId xmlns:a16="http://schemas.microsoft.com/office/drawing/2014/main" id="{DF5F2ACB-A951-BA1D-F83D-82C8659C5C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584F25"/>
                    </a:gs>
                    <a:gs pos="100000">
                      <a:srgbClr val="BFAA4F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1" name="Text Box 45">
                <a:extLst>
                  <a:ext uri="{FF2B5EF4-FFF2-40B4-BE49-F238E27FC236}">
                    <a16:creationId xmlns:a16="http://schemas.microsoft.com/office/drawing/2014/main" id="{6DEF8FEF-C901-82A6-D782-EF7666D2B2D7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452" y="3215"/>
                <a:ext cx="101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存储器管理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093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文本框 10"/>
          <p:cNvSpPr txBox="1">
            <a:spLocks noChangeArrowheads="1"/>
          </p:cNvSpPr>
          <p:nvPr/>
        </p:nvSpPr>
        <p:spPr bwMode="auto">
          <a:xfrm>
            <a:off x="974642" y="1276665"/>
            <a:ext cx="3241246" cy="523448"/>
          </a:xfrm>
          <a:prstGeom prst="rect">
            <a:avLst/>
          </a:prstGeom>
          <a:solidFill>
            <a:srgbClr val="3D73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并行与并发的概念</a:t>
            </a:r>
          </a:p>
        </p:txBody>
      </p:sp>
      <p:sp>
        <p:nvSpPr>
          <p:cNvPr id="22" name="矩形 2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4" name="矩形 23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385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并发性</a:t>
            </a:r>
          </a:p>
        </p:txBody>
      </p:sp>
      <p:sp>
        <p:nvSpPr>
          <p:cNvPr id="17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"/>
          <p:cNvSpPr txBox="1"/>
          <p:nvPr/>
        </p:nvSpPr>
        <p:spPr>
          <a:xfrm>
            <a:off x="2595265" y="2800432"/>
            <a:ext cx="4224079" cy="147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2400" dirty="0"/>
              <a:t>是指两个或多个事件在同一时刻发生；</a:t>
            </a:r>
          </a:p>
          <a:p>
            <a:pPr>
              <a:lnSpc>
                <a:spcPct val="140000"/>
              </a:lnSpc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595264" y="2304261"/>
            <a:ext cx="422408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3679988" y="2016229"/>
            <a:ext cx="1699196" cy="576064"/>
            <a:chOff x="4470401" y="1124744"/>
            <a:chExt cx="1699196" cy="576064"/>
          </a:xfrm>
        </p:grpSpPr>
        <p:sp>
          <p:nvSpPr>
            <p:cNvPr id="32" name="圆角矩形 31"/>
            <p:cNvSpPr/>
            <p:nvPr/>
          </p:nvSpPr>
          <p:spPr>
            <a:xfrm>
              <a:off x="4470401" y="1124744"/>
              <a:ext cx="1699196" cy="576064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3" name="TextBox 9"/>
            <p:cNvSpPr txBox="1"/>
            <p:nvPr/>
          </p:nvSpPr>
          <p:spPr>
            <a:xfrm>
              <a:off x="4585420" y="1226726"/>
              <a:ext cx="1584176" cy="461665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并行性</a:t>
              </a:r>
            </a:p>
          </p:txBody>
        </p:sp>
      </p:grpSp>
      <p:sp>
        <p:nvSpPr>
          <p:cNvPr id="21" name="TextBox 10"/>
          <p:cNvSpPr txBox="1"/>
          <p:nvPr/>
        </p:nvSpPr>
        <p:spPr>
          <a:xfrm>
            <a:off x="6819344" y="4957278"/>
            <a:ext cx="4224079" cy="1049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2400" dirty="0"/>
              <a:t>是指两个或多个事件在同一时间间隔内发生。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6819345" y="4502051"/>
            <a:ext cx="422407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7904067" y="4214019"/>
            <a:ext cx="1699196" cy="576064"/>
            <a:chOff x="4470401" y="1124744"/>
            <a:chExt cx="1699196" cy="576064"/>
          </a:xfrm>
        </p:grpSpPr>
        <p:sp>
          <p:nvSpPr>
            <p:cNvPr id="30" name="圆角矩形 29"/>
            <p:cNvSpPr/>
            <p:nvPr/>
          </p:nvSpPr>
          <p:spPr>
            <a:xfrm>
              <a:off x="4470401" y="1124744"/>
              <a:ext cx="1699196" cy="576064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" name="TextBox 14"/>
            <p:cNvSpPr txBox="1"/>
            <p:nvPr/>
          </p:nvSpPr>
          <p:spPr>
            <a:xfrm>
              <a:off x="4585420" y="1235209"/>
              <a:ext cx="1584176" cy="461665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并发性</a:t>
              </a:r>
            </a:p>
          </p:txBody>
        </p:sp>
      </p:grpSp>
      <p:cxnSp>
        <p:nvCxnSpPr>
          <p:cNvPr id="29" name="直接连接符 28"/>
          <p:cNvCxnSpPr/>
          <p:nvPr/>
        </p:nvCxnSpPr>
        <p:spPr>
          <a:xfrm>
            <a:off x="6819344" y="2304261"/>
            <a:ext cx="1" cy="21977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003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50228" y="1656846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58278" y="1656846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1004178" y="1123446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资源共享性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385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共享性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1027396" y="1896865"/>
            <a:ext cx="87171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是指系统中的资源可供多个并发执行的进程共同使用。</a:t>
            </a:r>
            <a:endParaRPr lang="en-US" altLang="zh-CN" sz="2400" dirty="0"/>
          </a:p>
        </p:txBody>
      </p:sp>
      <p:sp>
        <p:nvSpPr>
          <p:cNvPr id="19" name="箭头3"/>
          <p:cNvSpPr/>
          <p:nvPr/>
        </p:nvSpPr>
        <p:spPr bwMode="gray">
          <a:xfrm flipV="1">
            <a:off x="1666294" y="4345738"/>
            <a:ext cx="1609352" cy="1453237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箭头1"/>
          <p:cNvSpPr/>
          <p:nvPr/>
        </p:nvSpPr>
        <p:spPr bwMode="gray">
          <a:xfrm>
            <a:off x="1655944" y="3123339"/>
            <a:ext cx="1609352" cy="1654448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文本1"/>
          <p:cNvSpPr>
            <a:spLocks noChangeArrowheads="1"/>
          </p:cNvSpPr>
          <p:nvPr/>
        </p:nvSpPr>
        <p:spPr bwMode="gray">
          <a:xfrm>
            <a:off x="5058697" y="2397357"/>
            <a:ext cx="5515897" cy="2016304"/>
          </a:xfrm>
          <a:prstGeom prst="roundRect">
            <a:avLst>
              <a:gd name="adj" fmla="val 11505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prstDash val="sysDot"/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4D4D4D"/>
                </a:solidFill>
                <a:cs typeface="+mn-ea"/>
                <a:sym typeface="+mn-lt"/>
              </a:rPr>
              <a:t>    </a:t>
            </a:r>
            <a:endParaRPr kumimoji="0" lang="zh-CN" altLang="zh-CN" sz="1600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标题1"/>
          <p:cNvSpPr>
            <a:spLocks noChangeArrowheads="1"/>
          </p:cNvSpPr>
          <p:nvPr/>
        </p:nvSpPr>
        <p:spPr bwMode="gray">
          <a:xfrm>
            <a:off x="3211616" y="2791654"/>
            <a:ext cx="1847082" cy="1155600"/>
          </a:xfrm>
          <a:prstGeom prst="roundRect">
            <a:avLst>
              <a:gd name="adj" fmla="val 11921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ysClr val="window" lastClr="FFFFFF">
                    <a:lumMod val="95000"/>
                  </a:sysClr>
                </a:solidFill>
                <a:cs typeface="+mn-ea"/>
                <a:sym typeface="+mn-lt"/>
              </a:rPr>
              <a:t>互斥共享</a:t>
            </a:r>
            <a:endParaRPr lang="en-US" altLang="zh-CN" sz="2400" b="1" dirty="0">
              <a:solidFill>
                <a:sysClr val="window" lastClr="FFFFFF">
                  <a:lumMod val="95000"/>
                </a:sysClr>
              </a:solidFill>
              <a:cs typeface="+mn-ea"/>
              <a:sym typeface="+mn-lt"/>
            </a:endParaRPr>
          </a:p>
        </p:txBody>
      </p:sp>
      <p:sp>
        <p:nvSpPr>
          <p:cNvPr id="32" name="文本3"/>
          <p:cNvSpPr>
            <a:spLocks noChangeArrowheads="1"/>
          </p:cNvSpPr>
          <p:nvPr/>
        </p:nvSpPr>
        <p:spPr bwMode="ltGray">
          <a:xfrm>
            <a:off x="5058696" y="4763039"/>
            <a:ext cx="5515897" cy="1800201"/>
          </a:xfrm>
          <a:prstGeom prst="roundRect">
            <a:avLst>
              <a:gd name="adj" fmla="val 11505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prstDash val="sysDot"/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4D4D4D"/>
                </a:solidFill>
                <a:cs typeface="+mn-ea"/>
                <a:sym typeface="+mn-lt"/>
              </a:rPr>
              <a:t>    </a:t>
            </a:r>
            <a:endParaRPr lang="zh-CN" altLang="zh-CN" sz="1600" dirty="0">
              <a:solidFill>
                <a:srgbClr val="4D4D4D"/>
              </a:solidFill>
              <a:cs typeface="+mn-ea"/>
              <a:sym typeface="+mn-lt"/>
            </a:endParaRPr>
          </a:p>
        </p:txBody>
      </p:sp>
      <p:sp>
        <p:nvSpPr>
          <p:cNvPr id="33" name="标题3"/>
          <p:cNvSpPr>
            <a:spLocks noChangeArrowheads="1"/>
          </p:cNvSpPr>
          <p:nvPr/>
        </p:nvSpPr>
        <p:spPr bwMode="gray">
          <a:xfrm>
            <a:off x="3248350" y="5071111"/>
            <a:ext cx="1789401" cy="1154559"/>
          </a:xfrm>
          <a:prstGeom prst="roundRect">
            <a:avLst>
              <a:gd name="adj" fmla="val 11921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ysClr val="window" lastClr="FFFFFF">
                    <a:lumMod val="95000"/>
                  </a:sysClr>
                </a:solidFill>
                <a:cs typeface="+mn-ea"/>
                <a:sym typeface="+mn-lt"/>
              </a:rPr>
              <a:t>同时共享</a:t>
            </a:r>
            <a:endParaRPr lang="en-US" altLang="zh-CN" sz="2400" b="1" dirty="0">
              <a:solidFill>
                <a:sysClr val="window" lastClr="FFFFFF">
                  <a:lumMod val="95000"/>
                </a:sysClr>
              </a:solidFill>
              <a:cs typeface="+mn-ea"/>
              <a:sym typeface="+mn-lt"/>
            </a:endParaRPr>
          </a:p>
        </p:txBody>
      </p:sp>
      <p:sp>
        <p:nvSpPr>
          <p:cNvPr id="34" name="Oval 19"/>
          <p:cNvSpPr>
            <a:spLocks noChangeArrowheads="1"/>
          </p:cNvSpPr>
          <p:nvPr/>
        </p:nvSpPr>
        <p:spPr bwMode="auto">
          <a:xfrm>
            <a:off x="1139335" y="3783319"/>
            <a:ext cx="1440000" cy="14400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126000" rIns="126000" bIns="180000" anchor="ctr"/>
          <a:lstStyle/>
          <a:p>
            <a:pPr algn="ctr">
              <a:lnSpc>
                <a:spcPct val="120000"/>
              </a:lnSpc>
            </a:pPr>
            <a:r>
              <a:rPr lang="zh-CN" altLang="en-US" sz="2400" b="1" kern="0" dirty="0">
                <a:solidFill>
                  <a:srgbClr val="F9F9F9"/>
                </a:solidFill>
                <a:cs typeface="+mn-ea"/>
                <a:sym typeface="+mn-lt"/>
              </a:rPr>
              <a:t>共享</a:t>
            </a:r>
            <a:endParaRPr lang="en-US" altLang="zh-CN" sz="2400" b="1" kern="0" dirty="0">
              <a:solidFill>
                <a:srgbClr val="F9F9F9"/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b="1" kern="0" dirty="0">
                <a:solidFill>
                  <a:srgbClr val="F9F9F9"/>
                </a:solidFill>
                <a:cs typeface="+mn-ea"/>
                <a:sym typeface="+mn-lt"/>
              </a:rPr>
              <a:t>方式</a:t>
            </a:r>
            <a:endParaRPr lang="en-US" altLang="zh-CN" sz="2400" b="1" kern="0" dirty="0">
              <a:solidFill>
                <a:srgbClr val="F9F9F9"/>
              </a:solidFill>
              <a:cs typeface="+mn-ea"/>
              <a:sym typeface="+mn-lt"/>
            </a:endParaRPr>
          </a:p>
        </p:txBody>
      </p:sp>
      <p:sp>
        <p:nvSpPr>
          <p:cNvPr id="37" name="文本框 19"/>
          <p:cNvSpPr txBox="1">
            <a:spLocks noChangeArrowheads="1"/>
          </p:cNvSpPr>
          <p:nvPr/>
        </p:nvSpPr>
        <p:spPr bwMode="auto">
          <a:xfrm>
            <a:off x="5150908" y="2790466"/>
            <a:ext cx="533785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临界资源（或独占资源）：规定在一段时间内只允许一个进程访问的资源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打印机、磁带机、栈</a:t>
            </a:r>
            <a:endParaRPr lang="en-US" altLang="zh-CN" sz="2400" dirty="0"/>
          </a:p>
        </p:txBody>
      </p:sp>
      <p:sp>
        <p:nvSpPr>
          <p:cNvPr id="38" name="文本框 19"/>
          <p:cNvSpPr txBox="1">
            <a:spLocks noChangeArrowheads="1"/>
          </p:cNvSpPr>
          <p:nvPr/>
        </p:nvSpPr>
        <p:spPr bwMode="auto">
          <a:xfrm>
            <a:off x="5196604" y="5232891"/>
            <a:ext cx="50763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宏观上：同时；微观上：交替访问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磁盘设备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5988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9" grpId="0" animBg="1"/>
      <p:bldP spid="23" grpId="0" animBg="1"/>
      <p:bldP spid="25" grpId="0" animBg="1"/>
      <p:bldP spid="26" grpId="0" animBg="1"/>
      <p:bldP spid="32" grpId="0" animBg="1"/>
      <p:bldP spid="33" grpId="0" animBg="1"/>
      <p:bldP spid="34" grpId="0" animBg="1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50228" y="1656846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58278" y="1656846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1004178" y="1123446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385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虚拟性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箭头3"/>
          <p:cNvSpPr/>
          <p:nvPr/>
        </p:nvSpPr>
        <p:spPr bwMode="gray">
          <a:xfrm flipV="1">
            <a:off x="1666294" y="4386682"/>
            <a:ext cx="1609352" cy="1453237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箭头1"/>
          <p:cNvSpPr/>
          <p:nvPr/>
        </p:nvSpPr>
        <p:spPr bwMode="gray">
          <a:xfrm>
            <a:off x="1655944" y="3164283"/>
            <a:ext cx="1609352" cy="1654448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文本1"/>
          <p:cNvSpPr>
            <a:spLocks noChangeArrowheads="1"/>
          </p:cNvSpPr>
          <p:nvPr/>
        </p:nvSpPr>
        <p:spPr bwMode="gray">
          <a:xfrm>
            <a:off x="5058697" y="2438301"/>
            <a:ext cx="5515897" cy="2016304"/>
          </a:xfrm>
          <a:prstGeom prst="roundRect">
            <a:avLst>
              <a:gd name="adj" fmla="val 11505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prstDash val="sysDot"/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4D4D4D"/>
                </a:solidFill>
                <a:cs typeface="+mn-ea"/>
                <a:sym typeface="+mn-lt"/>
              </a:rPr>
              <a:t>    </a:t>
            </a:r>
            <a:endParaRPr kumimoji="0" lang="zh-CN" altLang="zh-CN" sz="1600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标题1"/>
          <p:cNvSpPr>
            <a:spLocks noChangeArrowheads="1"/>
          </p:cNvSpPr>
          <p:nvPr/>
        </p:nvSpPr>
        <p:spPr bwMode="gray">
          <a:xfrm>
            <a:off x="3211616" y="2832598"/>
            <a:ext cx="1847082" cy="1155600"/>
          </a:xfrm>
          <a:prstGeom prst="roundRect">
            <a:avLst>
              <a:gd name="adj" fmla="val 11921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ysClr val="window" lastClr="FFFFFF">
                    <a:lumMod val="95000"/>
                  </a:sysClr>
                </a:solidFill>
                <a:cs typeface="+mn-ea"/>
                <a:sym typeface="+mn-lt"/>
              </a:rPr>
              <a:t>时分复用</a:t>
            </a:r>
            <a:endParaRPr lang="en-US" altLang="zh-CN" sz="2400" b="1" dirty="0">
              <a:solidFill>
                <a:sysClr val="window" lastClr="FFFFFF">
                  <a:lumMod val="95000"/>
                </a:sysClr>
              </a:solidFill>
              <a:cs typeface="+mn-ea"/>
              <a:sym typeface="+mn-lt"/>
            </a:endParaRPr>
          </a:p>
        </p:txBody>
      </p:sp>
      <p:sp>
        <p:nvSpPr>
          <p:cNvPr id="26" name="文本3"/>
          <p:cNvSpPr>
            <a:spLocks noChangeArrowheads="1"/>
          </p:cNvSpPr>
          <p:nvPr/>
        </p:nvSpPr>
        <p:spPr bwMode="ltGray">
          <a:xfrm>
            <a:off x="5058696" y="4803983"/>
            <a:ext cx="5515897" cy="1800201"/>
          </a:xfrm>
          <a:prstGeom prst="roundRect">
            <a:avLst>
              <a:gd name="adj" fmla="val 11505"/>
            </a:avLst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prstDash val="sysDot"/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4D4D4D"/>
                </a:solidFill>
                <a:cs typeface="+mn-ea"/>
                <a:sym typeface="+mn-lt"/>
              </a:rPr>
              <a:t>    </a:t>
            </a:r>
            <a:endParaRPr lang="zh-CN" altLang="zh-CN" sz="1600" dirty="0">
              <a:solidFill>
                <a:srgbClr val="4D4D4D"/>
              </a:solidFill>
              <a:cs typeface="+mn-ea"/>
              <a:sym typeface="+mn-lt"/>
            </a:endParaRPr>
          </a:p>
        </p:txBody>
      </p:sp>
      <p:sp>
        <p:nvSpPr>
          <p:cNvPr id="32" name="标题3"/>
          <p:cNvSpPr>
            <a:spLocks noChangeArrowheads="1"/>
          </p:cNvSpPr>
          <p:nvPr/>
        </p:nvSpPr>
        <p:spPr bwMode="gray">
          <a:xfrm>
            <a:off x="3248350" y="5112055"/>
            <a:ext cx="1789401" cy="1154559"/>
          </a:xfrm>
          <a:prstGeom prst="roundRect">
            <a:avLst>
              <a:gd name="adj" fmla="val 11921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ysClr val="window" lastClr="FFFFFF">
                    <a:lumMod val="95000"/>
                  </a:sysClr>
                </a:solidFill>
                <a:cs typeface="+mn-ea"/>
                <a:sym typeface="+mn-lt"/>
              </a:rPr>
              <a:t>频分复用</a:t>
            </a:r>
            <a:endParaRPr lang="en-US" altLang="zh-CN" sz="2400" b="1" dirty="0">
              <a:solidFill>
                <a:sysClr val="window" lastClr="FFFFFF">
                  <a:lumMod val="95000"/>
                </a:sysClr>
              </a:solidFill>
              <a:cs typeface="+mn-ea"/>
              <a:sym typeface="+mn-lt"/>
            </a:endParaRPr>
          </a:p>
        </p:txBody>
      </p:sp>
      <p:sp>
        <p:nvSpPr>
          <p:cNvPr id="33" name="Oval 19"/>
          <p:cNvSpPr>
            <a:spLocks noChangeArrowheads="1"/>
          </p:cNvSpPr>
          <p:nvPr/>
        </p:nvSpPr>
        <p:spPr bwMode="auto">
          <a:xfrm>
            <a:off x="1139335" y="3824263"/>
            <a:ext cx="1440000" cy="14400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126000" rIns="126000" bIns="180000" anchor="ctr"/>
          <a:lstStyle/>
          <a:p>
            <a:pPr algn="ctr">
              <a:lnSpc>
                <a:spcPct val="120000"/>
              </a:lnSpc>
            </a:pPr>
            <a:r>
              <a:rPr lang="zh-CN" altLang="en-US" sz="2400" b="1" kern="0" dirty="0">
                <a:solidFill>
                  <a:srgbClr val="F9F9F9"/>
                </a:solidFill>
                <a:cs typeface="+mn-ea"/>
                <a:sym typeface="+mn-lt"/>
              </a:rPr>
              <a:t>复用</a:t>
            </a:r>
            <a:endParaRPr lang="en-US" altLang="zh-CN" sz="2400" b="1" kern="0" dirty="0">
              <a:solidFill>
                <a:srgbClr val="F9F9F9"/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b="1" kern="0" dirty="0">
                <a:solidFill>
                  <a:srgbClr val="F9F9F9"/>
                </a:solidFill>
                <a:cs typeface="+mn-ea"/>
                <a:sym typeface="+mn-lt"/>
              </a:rPr>
              <a:t>技术</a:t>
            </a:r>
            <a:endParaRPr lang="en-US" altLang="zh-CN" sz="2400" b="1" kern="0" dirty="0">
              <a:solidFill>
                <a:srgbClr val="F9F9F9"/>
              </a:solidFill>
              <a:cs typeface="+mn-ea"/>
              <a:sym typeface="+mn-lt"/>
            </a:endParaRPr>
          </a:p>
        </p:txBody>
      </p:sp>
      <p:sp>
        <p:nvSpPr>
          <p:cNvPr id="36" name="文本框 19"/>
          <p:cNvSpPr txBox="1">
            <a:spLocks noChangeArrowheads="1"/>
          </p:cNvSpPr>
          <p:nvPr/>
        </p:nvSpPr>
        <p:spPr bwMode="auto">
          <a:xfrm>
            <a:off x="5194872" y="2986163"/>
            <a:ext cx="353095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虚拟处理机技术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虚拟设备技术</a:t>
            </a:r>
            <a:endParaRPr lang="en-US" altLang="zh-CN" sz="2400" dirty="0"/>
          </a:p>
        </p:txBody>
      </p:sp>
      <p:sp>
        <p:nvSpPr>
          <p:cNvPr id="37" name="文本框 19"/>
          <p:cNvSpPr txBox="1">
            <a:spLocks noChangeArrowheads="1"/>
          </p:cNvSpPr>
          <p:nvPr/>
        </p:nvSpPr>
        <p:spPr bwMode="auto">
          <a:xfrm>
            <a:off x="5058698" y="5288584"/>
            <a:ext cx="540766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虚拟磁盘技术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虚拟存储器技术</a:t>
            </a:r>
            <a:endParaRPr lang="en-US" altLang="zh-CN" sz="2400" dirty="0"/>
          </a:p>
        </p:txBody>
      </p:sp>
      <p:sp>
        <p:nvSpPr>
          <p:cNvPr id="38" name="文本框 19"/>
          <p:cNvSpPr txBox="1">
            <a:spLocks noChangeArrowheads="1"/>
          </p:cNvSpPr>
          <p:nvPr/>
        </p:nvSpPr>
        <p:spPr bwMode="auto">
          <a:xfrm>
            <a:off x="1027395" y="1896865"/>
            <a:ext cx="94389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是指通过某种技术把一个物理实体变为若干个逻辑上的对应物。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8676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3" grpId="0" animBg="1"/>
      <p:bldP spid="25" grpId="0" animBg="1"/>
      <p:bldP spid="26" grpId="0" animBg="1"/>
      <p:bldP spid="32" grpId="0" animBg="1"/>
      <p:bldP spid="33" grpId="0" animBg="1"/>
      <p:bldP spid="36" grpId="0"/>
      <p:bldP spid="37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50228" y="1656846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58278" y="1656846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1150228" y="3752677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2058278" y="3752677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1004178" y="1123446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</a:p>
        </p:txBody>
      </p:sp>
      <p:sp>
        <p:nvSpPr>
          <p:cNvPr id="47120" name="文本框 56"/>
          <p:cNvSpPr txBox="1">
            <a:spLocks noChangeArrowheads="1"/>
          </p:cNvSpPr>
          <p:nvPr/>
        </p:nvSpPr>
        <p:spPr bwMode="auto">
          <a:xfrm>
            <a:off x="1004178" y="3206577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进程异步性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385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异步性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9"/>
          <p:cNvSpPr txBox="1">
            <a:spLocks noChangeArrowheads="1"/>
          </p:cNvSpPr>
          <p:nvPr/>
        </p:nvSpPr>
        <p:spPr bwMode="auto">
          <a:xfrm>
            <a:off x="1027395" y="1896865"/>
            <a:ext cx="943896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在多道程序环境下，允许多个进程并发执行，但由于竞争资源等因素的限制，使进程的执行不是“一气呵成，而是以“走走停停”的方式运行。</a:t>
            </a:r>
            <a:endParaRPr lang="en-US" altLang="zh-CN" sz="2400" dirty="0"/>
          </a:p>
        </p:txBody>
      </p:sp>
      <p:sp>
        <p:nvSpPr>
          <p:cNvPr id="17" name="文本框 19"/>
          <p:cNvSpPr txBox="1">
            <a:spLocks noChangeArrowheads="1"/>
          </p:cNvSpPr>
          <p:nvPr/>
        </p:nvSpPr>
        <p:spPr bwMode="auto">
          <a:xfrm>
            <a:off x="1004178" y="4004584"/>
            <a:ext cx="94389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进程是以人们不可预知的速度向前推进。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9846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11276"/>
            <a:ext cx="4845938" cy="4346724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0" y="0"/>
            <a:ext cx="5837731" cy="2166151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操作系统的主要功能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1.4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grpSp>
        <p:nvGrpSpPr>
          <p:cNvPr id="44" name="Group 3"/>
          <p:cNvGrpSpPr>
            <a:grpSpLocks/>
          </p:cNvGrpSpPr>
          <p:nvPr/>
        </p:nvGrpSpPr>
        <p:grpSpPr bwMode="auto">
          <a:xfrm>
            <a:off x="5401816" y="2467098"/>
            <a:ext cx="4699316" cy="4313544"/>
            <a:chOff x="1488" y="960"/>
            <a:chExt cx="2928" cy="2880"/>
          </a:xfrm>
        </p:grpSpPr>
        <p:grpSp>
          <p:nvGrpSpPr>
            <p:cNvPr id="49" name="Group 4"/>
            <p:cNvGrpSpPr>
              <a:grpSpLocks/>
            </p:cNvGrpSpPr>
            <p:nvPr/>
          </p:nvGrpSpPr>
          <p:grpSpPr bwMode="auto">
            <a:xfrm>
              <a:off x="2356" y="960"/>
              <a:ext cx="1192" cy="959"/>
              <a:chOff x="2356" y="960"/>
              <a:chExt cx="1192" cy="959"/>
            </a:xfrm>
          </p:grpSpPr>
          <p:grpSp>
            <p:nvGrpSpPr>
              <p:cNvPr id="86" name="Group 5"/>
              <p:cNvGrpSpPr>
                <a:grpSpLocks/>
              </p:cNvGrpSpPr>
              <p:nvPr/>
            </p:nvGrpSpPr>
            <p:grpSpPr bwMode="auto">
              <a:xfrm>
                <a:off x="2356" y="960"/>
                <a:ext cx="1192" cy="959"/>
                <a:chOff x="2057" y="862"/>
                <a:chExt cx="1549" cy="1351"/>
              </a:xfrm>
            </p:grpSpPr>
            <p:sp>
              <p:nvSpPr>
                <p:cNvPr id="88" name="AutoShape 6"/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9" name="AutoShape 7"/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0" name="AutoShape 8"/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7262EC"/>
                    </a:gs>
                    <a:gs pos="100000">
                      <a:srgbClr val="2614AA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87" name="Text Box 9"/>
              <p:cNvSpPr txBox="1">
                <a:spLocks noChangeArrowheads="1"/>
              </p:cNvSpPr>
              <p:nvPr/>
            </p:nvSpPr>
            <p:spPr bwMode="gray">
              <a:xfrm>
                <a:off x="2626" y="1170"/>
                <a:ext cx="649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输入输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出管理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0" name="Group 10"/>
            <p:cNvGrpSpPr>
              <a:grpSpLocks/>
            </p:cNvGrpSpPr>
            <p:nvPr/>
          </p:nvGrpSpPr>
          <p:grpSpPr bwMode="auto">
            <a:xfrm>
              <a:off x="1488" y="1438"/>
              <a:ext cx="1193" cy="959"/>
              <a:chOff x="1488" y="1438"/>
              <a:chExt cx="1193" cy="959"/>
            </a:xfrm>
          </p:grpSpPr>
          <p:grpSp>
            <p:nvGrpSpPr>
              <p:cNvPr id="81" name="Group 11"/>
              <p:cNvGrpSpPr>
                <a:grpSpLocks/>
              </p:cNvGrpSpPr>
              <p:nvPr/>
            </p:nvGrpSpPr>
            <p:grpSpPr bwMode="auto">
              <a:xfrm>
                <a:off x="1488" y="1438"/>
                <a:ext cx="1193" cy="959"/>
                <a:chOff x="1110" y="2656"/>
                <a:chExt cx="1549" cy="1351"/>
              </a:xfrm>
            </p:grpSpPr>
            <p:sp>
              <p:nvSpPr>
                <p:cNvPr id="83" name="AutoShape 12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4" name="AutoShape 13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5" name="AutoShape 14"/>
                <p:cNvSpPr>
                  <a:spLocks noChangeArrowheads="1"/>
                </p:cNvSpPr>
                <p:nvPr/>
              </p:nvSpPr>
              <p:spPr bwMode="gray">
                <a:xfrm>
                  <a:off x="1200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24B443"/>
                    </a:gs>
                    <a:gs pos="100000">
                      <a:srgbClr val="115D16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82" name="Text Box 15"/>
              <p:cNvSpPr txBox="1">
                <a:spLocks noChangeArrowheads="1"/>
              </p:cNvSpPr>
              <p:nvPr/>
            </p:nvSpPr>
            <p:spPr bwMode="gray">
              <a:xfrm>
                <a:off x="1674" y="1778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文件管理</a:t>
                </a:r>
              </a:p>
            </p:txBody>
          </p:sp>
        </p:grpSp>
        <p:grpSp>
          <p:nvGrpSpPr>
            <p:cNvPr id="51" name="Group 16"/>
            <p:cNvGrpSpPr>
              <a:grpSpLocks/>
            </p:cNvGrpSpPr>
            <p:nvPr/>
          </p:nvGrpSpPr>
          <p:grpSpPr bwMode="auto">
            <a:xfrm>
              <a:off x="2356" y="1919"/>
              <a:ext cx="1192" cy="959"/>
              <a:chOff x="2356" y="1919"/>
              <a:chExt cx="1192" cy="959"/>
            </a:xfrm>
          </p:grpSpPr>
          <p:grpSp>
            <p:nvGrpSpPr>
              <p:cNvPr id="76" name="Group 17"/>
              <p:cNvGrpSpPr>
                <a:grpSpLocks/>
              </p:cNvGrpSpPr>
              <p:nvPr/>
            </p:nvGrpSpPr>
            <p:grpSpPr bwMode="auto">
              <a:xfrm>
                <a:off x="2356" y="1919"/>
                <a:ext cx="1192" cy="959"/>
                <a:chOff x="3174" y="2656"/>
                <a:chExt cx="1549" cy="1351"/>
              </a:xfrm>
            </p:grpSpPr>
            <p:sp>
              <p:nvSpPr>
                <p:cNvPr id="78" name="AutoShape 18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9" name="AutoShape 19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0" name="AutoShape 20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CC7032"/>
                    </a:gs>
                    <a:gs pos="100000">
                      <a:srgbClr val="844820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77" name="Text Box 21"/>
              <p:cNvSpPr txBox="1">
                <a:spLocks noChangeArrowheads="1"/>
              </p:cNvSpPr>
              <p:nvPr/>
            </p:nvSpPr>
            <p:spPr bwMode="gray">
              <a:xfrm>
                <a:off x="2394" y="2245"/>
                <a:ext cx="1079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处理机管理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2" name="Group 22"/>
            <p:cNvGrpSpPr>
              <a:grpSpLocks/>
            </p:cNvGrpSpPr>
            <p:nvPr/>
          </p:nvGrpSpPr>
          <p:grpSpPr bwMode="auto">
            <a:xfrm>
              <a:off x="3223" y="1438"/>
              <a:ext cx="1193" cy="959"/>
              <a:chOff x="3223" y="1438"/>
              <a:chExt cx="1193" cy="959"/>
            </a:xfrm>
          </p:grpSpPr>
          <p:grpSp>
            <p:nvGrpSpPr>
              <p:cNvPr id="71" name="Group 23"/>
              <p:cNvGrpSpPr>
                <a:grpSpLocks/>
              </p:cNvGrpSpPr>
              <p:nvPr/>
            </p:nvGrpSpPr>
            <p:grpSpPr bwMode="auto">
              <a:xfrm>
                <a:off x="3223" y="1438"/>
                <a:ext cx="1193" cy="959"/>
                <a:chOff x="2057" y="862"/>
                <a:chExt cx="1549" cy="1351"/>
              </a:xfrm>
            </p:grpSpPr>
            <p:sp>
              <p:nvSpPr>
                <p:cNvPr id="73" name="AutoShape 24"/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4" name="AutoShape 25"/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5" name="AutoShape 26"/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3E565A"/>
                    </a:gs>
                    <a:gs pos="100000">
                      <a:srgbClr val="85B9C3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72" name="Text Box 27"/>
              <p:cNvSpPr txBox="1">
                <a:spLocks noChangeArrowheads="1"/>
              </p:cNvSpPr>
              <p:nvPr/>
            </p:nvSpPr>
            <p:spPr bwMode="gray">
              <a:xfrm>
                <a:off x="3411" y="1764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磁盘管理</a:t>
                </a:r>
                <a:endParaRPr lang="zh-CN" altLang="en-US" sz="14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3" name="Group 28"/>
            <p:cNvGrpSpPr>
              <a:grpSpLocks/>
            </p:cNvGrpSpPr>
            <p:nvPr/>
          </p:nvGrpSpPr>
          <p:grpSpPr bwMode="auto">
            <a:xfrm>
              <a:off x="3223" y="2400"/>
              <a:ext cx="1193" cy="959"/>
              <a:chOff x="3223" y="2400"/>
              <a:chExt cx="1193" cy="959"/>
            </a:xfrm>
          </p:grpSpPr>
          <p:grpSp>
            <p:nvGrpSpPr>
              <p:cNvPr id="66" name="Group 29"/>
              <p:cNvGrpSpPr>
                <a:grpSpLocks/>
              </p:cNvGrpSpPr>
              <p:nvPr/>
            </p:nvGrpSpPr>
            <p:grpSpPr bwMode="auto">
              <a:xfrm>
                <a:off x="3223" y="2400"/>
                <a:ext cx="1193" cy="959"/>
                <a:chOff x="3174" y="2656"/>
                <a:chExt cx="1549" cy="1351"/>
              </a:xfrm>
            </p:grpSpPr>
            <p:sp>
              <p:nvSpPr>
                <p:cNvPr id="68" name="AutoShape 30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9" name="AutoShape 31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0" name="AutoShape 32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245D52"/>
                    </a:gs>
                    <a:gs pos="100000">
                      <a:srgbClr val="4DC9B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67" name="Text Box 33"/>
              <p:cNvSpPr txBox="1">
                <a:spLocks noChangeArrowheads="1"/>
              </p:cNvSpPr>
              <p:nvPr/>
            </p:nvSpPr>
            <p:spPr bwMode="gray">
              <a:xfrm>
                <a:off x="3373" y="2634"/>
                <a:ext cx="886" cy="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用户接口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网络服务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4" name="Group 34"/>
            <p:cNvGrpSpPr>
              <a:grpSpLocks/>
            </p:cNvGrpSpPr>
            <p:nvPr/>
          </p:nvGrpSpPr>
          <p:grpSpPr bwMode="auto">
            <a:xfrm>
              <a:off x="1488" y="2400"/>
              <a:ext cx="1193" cy="959"/>
              <a:chOff x="1488" y="2400"/>
              <a:chExt cx="1193" cy="959"/>
            </a:xfrm>
          </p:grpSpPr>
          <p:grpSp>
            <p:nvGrpSpPr>
              <p:cNvPr id="61" name="Group 35"/>
              <p:cNvGrpSpPr>
                <a:grpSpLocks/>
              </p:cNvGrpSpPr>
              <p:nvPr/>
            </p:nvGrpSpPr>
            <p:grpSpPr bwMode="auto">
              <a:xfrm>
                <a:off x="1488" y="2400"/>
                <a:ext cx="1193" cy="959"/>
                <a:chOff x="3174" y="2656"/>
                <a:chExt cx="1549" cy="1351"/>
              </a:xfrm>
            </p:grpSpPr>
            <p:sp>
              <p:nvSpPr>
                <p:cNvPr id="63" name="AutoShape 36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4" name="AutoShape 37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5" name="AutoShape 38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0066CC"/>
                    </a:gs>
                    <a:gs pos="100000">
                      <a:srgbClr val="002F5E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62" name="Text Box 39"/>
              <p:cNvSpPr txBox="1">
                <a:spLocks noChangeArrowheads="1"/>
              </p:cNvSpPr>
              <p:nvPr/>
            </p:nvSpPr>
            <p:spPr bwMode="gray">
              <a:xfrm>
                <a:off x="1674" y="2738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设备管理</a:t>
                </a:r>
              </a:p>
            </p:txBody>
          </p:sp>
        </p:grpSp>
        <p:grpSp>
          <p:nvGrpSpPr>
            <p:cNvPr id="55" name="Group 40"/>
            <p:cNvGrpSpPr>
              <a:grpSpLocks/>
            </p:cNvGrpSpPr>
            <p:nvPr/>
          </p:nvGrpSpPr>
          <p:grpSpPr bwMode="auto">
            <a:xfrm>
              <a:off x="2356" y="2881"/>
              <a:ext cx="1192" cy="959"/>
              <a:chOff x="2356" y="2881"/>
              <a:chExt cx="1192" cy="959"/>
            </a:xfrm>
          </p:grpSpPr>
          <p:grpSp>
            <p:nvGrpSpPr>
              <p:cNvPr id="56" name="Group 41"/>
              <p:cNvGrpSpPr>
                <a:grpSpLocks/>
              </p:cNvGrpSpPr>
              <p:nvPr/>
            </p:nvGrpSpPr>
            <p:grpSpPr bwMode="auto">
              <a:xfrm>
                <a:off x="2356" y="2881"/>
                <a:ext cx="1192" cy="959"/>
                <a:chOff x="3174" y="2656"/>
                <a:chExt cx="1549" cy="1351"/>
              </a:xfrm>
            </p:grpSpPr>
            <p:sp>
              <p:nvSpPr>
                <p:cNvPr id="58" name="AutoShape 42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9" name="AutoShape 43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0" name="AutoShape 44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584F25"/>
                    </a:gs>
                    <a:gs pos="100000">
                      <a:srgbClr val="BFAA4F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57" name="Text Box 45"/>
              <p:cNvSpPr txBox="1">
                <a:spLocks noChangeArrowheads="1"/>
              </p:cNvSpPr>
              <p:nvPr/>
            </p:nvSpPr>
            <p:spPr bwMode="gray">
              <a:xfrm>
                <a:off x="2452" y="3215"/>
                <a:ext cx="101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存储器管理</a:t>
                </a:r>
              </a:p>
            </p:txBody>
          </p:sp>
        </p:grpSp>
      </p:grpSp>
      <p:sp>
        <p:nvSpPr>
          <p:cNvPr id="91" name="文本框 21"/>
          <p:cNvSpPr txBox="1">
            <a:spLocks noChangeArrowheads="1"/>
          </p:cNvSpPr>
          <p:nvPr/>
        </p:nvSpPr>
        <p:spPr bwMode="auto">
          <a:xfrm>
            <a:off x="2439936" y="3217837"/>
            <a:ext cx="273256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         为多道程序的运行提供良好的运行环境，以保证多道程序能有条不紊地、高效地运行。</a:t>
            </a:r>
          </a:p>
        </p:txBody>
      </p:sp>
    </p:spTree>
    <p:extLst>
      <p:ext uri="{BB962C8B-B14F-4D97-AF65-F5344CB8AC3E}">
        <p14:creationId xmlns:p14="http://schemas.microsoft.com/office/powerpoint/2010/main" val="171700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</a:t>
            </a:r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6164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处理机管理功能</a:t>
            </a:r>
          </a:p>
        </p:txBody>
      </p:sp>
      <p:sp>
        <p:nvSpPr>
          <p:cNvPr id="22" name="文本框 19"/>
          <p:cNvSpPr txBox="1">
            <a:spLocks noChangeArrowheads="1"/>
          </p:cNvSpPr>
          <p:nvPr/>
        </p:nvSpPr>
        <p:spPr bwMode="auto">
          <a:xfrm>
            <a:off x="1068087" y="2286937"/>
            <a:ext cx="74481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创建和撤消进程以及控制进程的转换。</a:t>
            </a:r>
          </a:p>
        </p:txBody>
      </p:sp>
      <p:sp>
        <p:nvSpPr>
          <p:cNvPr id="23" name="文本框 52"/>
          <p:cNvSpPr txBox="1">
            <a:spLocks noChangeArrowheads="1"/>
          </p:cNvSpPr>
          <p:nvPr/>
        </p:nvSpPr>
        <p:spPr bwMode="auto">
          <a:xfrm>
            <a:off x="1068088" y="1826627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进程控制</a:t>
            </a:r>
          </a:p>
        </p:txBody>
      </p:sp>
      <p:sp>
        <p:nvSpPr>
          <p:cNvPr id="24" name="文本框 19"/>
          <p:cNvSpPr txBox="1">
            <a:spLocks noChangeArrowheads="1"/>
          </p:cNvSpPr>
          <p:nvPr/>
        </p:nvSpPr>
        <p:spPr bwMode="auto">
          <a:xfrm>
            <a:off x="1080711" y="3263466"/>
            <a:ext cx="9067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为多个进程的运行进行协调。（进程同步方式或进程互斥方式）</a:t>
            </a:r>
            <a:endParaRPr lang="en-US" altLang="zh-CN" sz="2400" dirty="0"/>
          </a:p>
        </p:txBody>
      </p:sp>
      <p:sp>
        <p:nvSpPr>
          <p:cNvPr id="25" name="文本框 52"/>
          <p:cNvSpPr txBox="1">
            <a:spLocks noChangeArrowheads="1"/>
          </p:cNvSpPr>
          <p:nvPr/>
        </p:nvSpPr>
        <p:spPr bwMode="auto">
          <a:xfrm>
            <a:off x="1065545" y="2794962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进程同步</a:t>
            </a:r>
          </a:p>
        </p:txBody>
      </p:sp>
      <p:sp>
        <p:nvSpPr>
          <p:cNvPr id="26" name="文本框 19"/>
          <p:cNvSpPr txBox="1">
            <a:spLocks noChangeArrowheads="1"/>
          </p:cNvSpPr>
          <p:nvPr/>
        </p:nvSpPr>
        <p:spPr bwMode="auto">
          <a:xfrm>
            <a:off x="1085774" y="4215608"/>
            <a:ext cx="90477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实现相互合作的进程间的信息交换。</a:t>
            </a:r>
          </a:p>
        </p:txBody>
      </p:sp>
      <p:sp>
        <p:nvSpPr>
          <p:cNvPr id="32" name="文本框 52"/>
          <p:cNvSpPr txBox="1">
            <a:spLocks noChangeArrowheads="1"/>
          </p:cNvSpPr>
          <p:nvPr/>
        </p:nvSpPr>
        <p:spPr bwMode="auto">
          <a:xfrm>
            <a:off x="1070608" y="3747104"/>
            <a:ext cx="2448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进程通信</a:t>
            </a:r>
          </a:p>
        </p:txBody>
      </p:sp>
      <p:sp>
        <p:nvSpPr>
          <p:cNvPr id="31" name="文本框 19"/>
          <p:cNvSpPr txBox="1">
            <a:spLocks noChangeArrowheads="1"/>
          </p:cNvSpPr>
          <p:nvPr/>
        </p:nvSpPr>
        <p:spPr bwMode="auto">
          <a:xfrm>
            <a:off x="1085775" y="5141294"/>
            <a:ext cx="904771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作业调度：</a:t>
            </a:r>
            <a:r>
              <a:rPr lang="zh-CN" altLang="en-US" sz="2400" dirty="0"/>
              <a:t>从后备队列中按照一定的算法，选择若干个作业，为它们分配其必需的资源。在将它们调入内存。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进程调度：</a:t>
            </a:r>
            <a:r>
              <a:rPr lang="zh-CN" altLang="en-US" sz="2400" dirty="0"/>
              <a:t>按一定算法从进程就绪队列中选出一个进程，把处理机分配给它，为它设置运行现场，使之运行。</a:t>
            </a:r>
          </a:p>
        </p:txBody>
      </p:sp>
      <p:sp>
        <p:nvSpPr>
          <p:cNvPr id="46" name="文本框 52"/>
          <p:cNvSpPr txBox="1">
            <a:spLocks noChangeArrowheads="1"/>
          </p:cNvSpPr>
          <p:nvPr/>
        </p:nvSpPr>
        <p:spPr bwMode="auto">
          <a:xfrm>
            <a:off x="1070609" y="4672790"/>
            <a:ext cx="2448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</p:spTree>
    <p:extLst>
      <p:ext uri="{BB962C8B-B14F-4D97-AF65-F5344CB8AC3E}">
        <p14:creationId xmlns:p14="http://schemas.microsoft.com/office/powerpoint/2010/main" val="342627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32" grpId="0"/>
      <p:bldP spid="31" grpId="0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6164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存储器管理功能</a:t>
            </a:r>
          </a:p>
        </p:txBody>
      </p:sp>
      <p:grpSp>
        <p:nvGrpSpPr>
          <p:cNvPr id="19" name="深色1"/>
          <p:cNvGrpSpPr/>
          <p:nvPr/>
        </p:nvGrpSpPr>
        <p:grpSpPr>
          <a:xfrm>
            <a:off x="496711" y="1255749"/>
            <a:ext cx="2534720" cy="604800"/>
            <a:chOff x="1516381" y="1647128"/>
            <a:chExt cx="1886034" cy="604800"/>
          </a:xfrm>
        </p:grpSpPr>
        <p:grpSp>
          <p:nvGrpSpPr>
            <p:cNvPr id="33" name="组合 32"/>
            <p:cNvGrpSpPr/>
            <p:nvPr/>
          </p:nvGrpSpPr>
          <p:grpSpPr>
            <a:xfrm>
              <a:off x="1516381" y="1647128"/>
              <a:ext cx="1886034" cy="604800"/>
              <a:chOff x="1985713" y="1196752"/>
              <a:chExt cx="361172" cy="353896"/>
            </a:xfrm>
          </p:grpSpPr>
          <p:sp>
            <p:nvSpPr>
              <p:cNvPr id="35" name="Rectangle 22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61172" cy="353896"/>
              </a:xfrm>
              <a:prstGeom prst="round2SameRect">
                <a:avLst/>
              </a:prstGeom>
              <a:gradFill rotWithShape="1">
                <a:gsLst>
                  <a:gs pos="0">
                    <a:srgbClr val="6DAA2D"/>
                  </a:gs>
                  <a:gs pos="100000">
                    <a:srgbClr val="6DAA2D">
                      <a:lumMod val="60000"/>
                      <a:lumOff val="40000"/>
                    </a:srgb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36" name="AutoShape 10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53000" cy="182522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DAA2D">
                      <a:lumMod val="60000"/>
                      <a:lumOff val="40000"/>
                      <a:alpha val="4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34" name="TextBox 65"/>
            <p:cNvSpPr txBox="1"/>
            <p:nvPr/>
          </p:nvSpPr>
          <p:spPr>
            <a:xfrm>
              <a:off x="1903465" y="1750637"/>
              <a:ext cx="11047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zh-CN" altLang="en-US" sz="24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内存分配</a:t>
              </a:r>
              <a:r>
                <a:rPr lang="zh-CN" altLang="en-US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</a:p>
          </p:txBody>
        </p:sp>
      </p:grpSp>
      <p:grpSp>
        <p:nvGrpSpPr>
          <p:cNvPr id="37" name="文本1"/>
          <p:cNvGrpSpPr/>
          <p:nvPr/>
        </p:nvGrpSpPr>
        <p:grpSpPr>
          <a:xfrm>
            <a:off x="496709" y="1870072"/>
            <a:ext cx="2526562" cy="4749091"/>
            <a:chOff x="1504506" y="2261453"/>
            <a:chExt cx="1875514" cy="1843472"/>
          </a:xfrm>
        </p:grpSpPr>
        <p:sp>
          <p:nvSpPr>
            <p:cNvPr id="38" name="矩形 37"/>
            <p:cNvSpPr/>
            <p:nvPr/>
          </p:nvSpPr>
          <p:spPr>
            <a:xfrm>
              <a:off x="1515026" y="2261453"/>
              <a:ext cx="1864994" cy="1671603"/>
            </a:xfrm>
            <a:prstGeom prst="rect">
              <a:avLst/>
            </a:prstGeom>
            <a:gradFill rotWithShape="1">
              <a:gsLst>
                <a:gs pos="0">
                  <a:srgbClr val="F9F9F9"/>
                </a:gs>
                <a:gs pos="100000">
                  <a:srgbClr val="EAEAEA"/>
                </a:gs>
              </a:gsLst>
              <a:lin ang="5400000" scaled="1"/>
            </a:gradFill>
            <a:ln w="19050">
              <a:solidFill>
                <a:srgbClr val="EAEAEA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lvl="1" indent="-171450">
                <a:lnSpc>
                  <a:spcPct val="150000"/>
                </a:lnSpc>
                <a:buFont typeface="Arial" pitchFamily="34" charset="0"/>
                <a:buChar char="•"/>
              </a:pPr>
              <a:endParaRPr lang="zh-CN" altLang="en-US" sz="14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AutoShape 20"/>
            <p:cNvSpPr>
              <a:spLocks noChangeArrowheads="1"/>
            </p:cNvSpPr>
            <p:nvPr/>
          </p:nvSpPr>
          <p:spPr bwMode="auto">
            <a:xfrm>
              <a:off x="1504506" y="3933056"/>
              <a:ext cx="1875514" cy="171869"/>
            </a:xfrm>
            <a:custGeom>
              <a:avLst/>
              <a:gdLst>
                <a:gd name="T0" fmla="*/ 856 w 21600"/>
                <a:gd name="T1" fmla="*/ 1 h 21600"/>
                <a:gd name="T2" fmla="*/ 439 w 21600"/>
                <a:gd name="T3" fmla="*/ 2 h 21600"/>
                <a:gd name="T4" fmla="*/ 22 w 21600"/>
                <a:gd name="T5" fmla="*/ 1 h 21600"/>
                <a:gd name="T6" fmla="*/ 43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337 w 21600"/>
                <a:gd name="T13" fmla="*/ 2387 h 21600"/>
                <a:gd name="T14" fmla="*/ 19263 w 21600"/>
                <a:gd name="T15" fmla="*/ 192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72" y="21600"/>
                  </a:lnTo>
                  <a:lnTo>
                    <a:pt x="2052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ea typeface="微软雅黑" pitchFamily="34" charset="-122"/>
              </a:endParaRPr>
            </a:p>
          </p:txBody>
        </p:sp>
      </p:grpSp>
      <p:sp>
        <p:nvSpPr>
          <p:cNvPr id="40" name="TextBox 1"/>
          <p:cNvSpPr txBox="1"/>
          <p:nvPr/>
        </p:nvSpPr>
        <p:spPr>
          <a:xfrm>
            <a:off x="530019" y="1898218"/>
            <a:ext cx="24800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2000" dirty="0"/>
              <a:t>为每道程序分配内存空间；</a:t>
            </a:r>
            <a:endParaRPr lang="en-US" altLang="zh-CN" sz="2000" dirty="0"/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2000" dirty="0"/>
              <a:t>提高存储器的利用率；</a:t>
            </a:r>
            <a:endParaRPr lang="en-US" altLang="zh-CN" sz="2000" dirty="0"/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2000" dirty="0"/>
              <a:t>允许正在运行的程序申请附加的内存空间，以适应程序和数据动态增涨的需要。</a:t>
            </a:r>
            <a:endParaRPr lang="en-US" altLang="zh-CN" sz="2000" dirty="0"/>
          </a:p>
        </p:txBody>
      </p:sp>
      <p:grpSp>
        <p:nvGrpSpPr>
          <p:cNvPr id="41" name="深色1"/>
          <p:cNvGrpSpPr/>
          <p:nvPr/>
        </p:nvGrpSpPr>
        <p:grpSpPr>
          <a:xfrm>
            <a:off x="3378711" y="1271669"/>
            <a:ext cx="2534720" cy="604800"/>
            <a:chOff x="1516381" y="1647128"/>
            <a:chExt cx="1886034" cy="604800"/>
          </a:xfrm>
        </p:grpSpPr>
        <p:grpSp>
          <p:nvGrpSpPr>
            <p:cNvPr id="42" name="组合 41"/>
            <p:cNvGrpSpPr/>
            <p:nvPr/>
          </p:nvGrpSpPr>
          <p:grpSpPr>
            <a:xfrm>
              <a:off x="1516381" y="1647128"/>
              <a:ext cx="1886034" cy="604800"/>
              <a:chOff x="1985713" y="1196752"/>
              <a:chExt cx="361172" cy="353896"/>
            </a:xfrm>
          </p:grpSpPr>
          <p:sp>
            <p:nvSpPr>
              <p:cNvPr id="44" name="Rectangle 22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61172" cy="353896"/>
              </a:xfrm>
              <a:prstGeom prst="round2SameRect">
                <a:avLst/>
              </a:prstGeom>
              <a:gradFill rotWithShape="1">
                <a:gsLst>
                  <a:gs pos="0">
                    <a:srgbClr val="6DAA2D"/>
                  </a:gs>
                  <a:gs pos="100000">
                    <a:srgbClr val="6DAA2D">
                      <a:lumMod val="60000"/>
                      <a:lumOff val="40000"/>
                    </a:srgb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45" name="AutoShape 10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53000" cy="182522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DAA2D">
                      <a:lumMod val="60000"/>
                      <a:lumOff val="40000"/>
                      <a:alpha val="4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43" name="TextBox 65"/>
            <p:cNvSpPr txBox="1"/>
            <p:nvPr/>
          </p:nvSpPr>
          <p:spPr>
            <a:xfrm>
              <a:off x="1903465" y="1750637"/>
              <a:ext cx="11047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zh-CN" altLang="en-US" sz="24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内存保护</a:t>
              </a:r>
              <a:r>
                <a:rPr lang="zh-CN" altLang="en-US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</a:p>
          </p:txBody>
        </p:sp>
      </p:grpSp>
      <p:grpSp>
        <p:nvGrpSpPr>
          <p:cNvPr id="47" name="文本1"/>
          <p:cNvGrpSpPr/>
          <p:nvPr/>
        </p:nvGrpSpPr>
        <p:grpSpPr>
          <a:xfrm>
            <a:off x="3378709" y="1885992"/>
            <a:ext cx="2526562" cy="4733171"/>
            <a:chOff x="1504506" y="2261453"/>
            <a:chExt cx="1875514" cy="1843472"/>
          </a:xfrm>
        </p:grpSpPr>
        <p:sp>
          <p:nvSpPr>
            <p:cNvPr id="48" name="矩形 47"/>
            <p:cNvSpPr/>
            <p:nvPr/>
          </p:nvSpPr>
          <p:spPr>
            <a:xfrm>
              <a:off x="1515026" y="2261453"/>
              <a:ext cx="1864994" cy="1671603"/>
            </a:xfrm>
            <a:prstGeom prst="rect">
              <a:avLst/>
            </a:prstGeom>
            <a:gradFill rotWithShape="1">
              <a:gsLst>
                <a:gs pos="0">
                  <a:srgbClr val="F9F9F9"/>
                </a:gs>
                <a:gs pos="100000">
                  <a:srgbClr val="EAEAEA"/>
                </a:gs>
              </a:gsLst>
              <a:lin ang="5400000" scaled="1"/>
            </a:gradFill>
            <a:ln w="19050">
              <a:solidFill>
                <a:srgbClr val="EAEAEA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lvl="1" indent="-171450">
                <a:lnSpc>
                  <a:spcPct val="150000"/>
                </a:lnSpc>
                <a:buFont typeface="Arial" pitchFamily="34" charset="0"/>
                <a:buChar char="•"/>
              </a:pPr>
              <a:endParaRPr lang="zh-CN" altLang="en-US" sz="14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AutoShape 20"/>
            <p:cNvSpPr>
              <a:spLocks noChangeArrowheads="1"/>
            </p:cNvSpPr>
            <p:nvPr/>
          </p:nvSpPr>
          <p:spPr bwMode="auto">
            <a:xfrm>
              <a:off x="1504506" y="3933056"/>
              <a:ext cx="1875514" cy="171869"/>
            </a:xfrm>
            <a:custGeom>
              <a:avLst/>
              <a:gdLst>
                <a:gd name="T0" fmla="*/ 856 w 21600"/>
                <a:gd name="T1" fmla="*/ 1 h 21600"/>
                <a:gd name="T2" fmla="*/ 439 w 21600"/>
                <a:gd name="T3" fmla="*/ 2 h 21600"/>
                <a:gd name="T4" fmla="*/ 22 w 21600"/>
                <a:gd name="T5" fmla="*/ 1 h 21600"/>
                <a:gd name="T6" fmla="*/ 43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337 w 21600"/>
                <a:gd name="T13" fmla="*/ 2387 h 21600"/>
                <a:gd name="T14" fmla="*/ 19263 w 21600"/>
                <a:gd name="T15" fmla="*/ 192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72" y="21600"/>
                  </a:lnTo>
                  <a:lnTo>
                    <a:pt x="2052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ea typeface="微软雅黑" pitchFamily="34" charset="-122"/>
              </a:endParaRPr>
            </a:p>
          </p:txBody>
        </p:sp>
      </p:grpSp>
      <p:sp>
        <p:nvSpPr>
          <p:cNvPr id="51" name="TextBox 1"/>
          <p:cNvSpPr txBox="1"/>
          <p:nvPr/>
        </p:nvSpPr>
        <p:spPr>
          <a:xfrm>
            <a:off x="3422098" y="1860549"/>
            <a:ext cx="2480020" cy="459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2000" dirty="0"/>
              <a:t>确保每道用户程序都只在自己的内存空间内运行，彼此互不干扰</a:t>
            </a:r>
            <a:endParaRPr lang="en-US" altLang="zh-CN" sz="2000" dirty="0"/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2000" dirty="0"/>
              <a:t>绝不允许用户程序访问操作系统的程序和数据，也不允许用户程序转移到非共享的其他用户程序去执行。</a:t>
            </a:r>
            <a:endParaRPr lang="en-US" altLang="zh-CN" sz="2000" dirty="0"/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endParaRPr lang="en-US" altLang="zh-CN" sz="2000" dirty="0"/>
          </a:p>
        </p:txBody>
      </p:sp>
      <p:grpSp>
        <p:nvGrpSpPr>
          <p:cNvPr id="52" name="深色1"/>
          <p:cNvGrpSpPr/>
          <p:nvPr/>
        </p:nvGrpSpPr>
        <p:grpSpPr>
          <a:xfrm>
            <a:off x="6235270" y="1275933"/>
            <a:ext cx="2534720" cy="604800"/>
            <a:chOff x="1516381" y="1647128"/>
            <a:chExt cx="1886034" cy="604800"/>
          </a:xfrm>
        </p:grpSpPr>
        <p:grpSp>
          <p:nvGrpSpPr>
            <p:cNvPr id="53" name="组合 52"/>
            <p:cNvGrpSpPr/>
            <p:nvPr/>
          </p:nvGrpSpPr>
          <p:grpSpPr>
            <a:xfrm>
              <a:off x="1516381" y="1647128"/>
              <a:ext cx="1886034" cy="604800"/>
              <a:chOff x="1985713" y="1196752"/>
              <a:chExt cx="361172" cy="353896"/>
            </a:xfrm>
          </p:grpSpPr>
          <p:sp>
            <p:nvSpPr>
              <p:cNvPr id="55" name="Rectangle 22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61172" cy="353896"/>
              </a:xfrm>
              <a:prstGeom prst="round2SameRect">
                <a:avLst/>
              </a:prstGeom>
              <a:gradFill rotWithShape="1">
                <a:gsLst>
                  <a:gs pos="0">
                    <a:srgbClr val="6DAA2D"/>
                  </a:gs>
                  <a:gs pos="100000">
                    <a:srgbClr val="6DAA2D">
                      <a:lumMod val="60000"/>
                      <a:lumOff val="40000"/>
                    </a:srgb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56" name="AutoShape 10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53000" cy="182522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DAA2D">
                      <a:lumMod val="60000"/>
                      <a:lumOff val="40000"/>
                      <a:alpha val="4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54" name="TextBox 65"/>
            <p:cNvSpPr txBox="1"/>
            <p:nvPr/>
          </p:nvSpPr>
          <p:spPr>
            <a:xfrm>
              <a:off x="1903463" y="1750637"/>
              <a:ext cx="11047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zh-CN" altLang="en-US" sz="24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地址映射</a:t>
              </a:r>
              <a:r>
                <a:rPr lang="zh-CN" altLang="en-US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</a:p>
          </p:txBody>
        </p:sp>
      </p:grpSp>
      <p:grpSp>
        <p:nvGrpSpPr>
          <p:cNvPr id="57" name="文本1"/>
          <p:cNvGrpSpPr/>
          <p:nvPr/>
        </p:nvGrpSpPr>
        <p:grpSpPr>
          <a:xfrm>
            <a:off x="6235268" y="1890257"/>
            <a:ext cx="2526562" cy="2885036"/>
            <a:chOff x="1504506" y="2261453"/>
            <a:chExt cx="1875514" cy="1843472"/>
          </a:xfrm>
        </p:grpSpPr>
        <p:sp>
          <p:nvSpPr>
            <p:cNvPr id="58" name="矩形 57"/>
            <p:cNvSpPr/>
            <p:nvPr/>
          </p:nvSpPr>
          <p:spPr>
            <a:xfrm>
              <a:off x="1515026" y="2261453"/>
              <a:ext cx="1864994" cy="1671603"/>
            </a:xfrm>
            <a:prstGeom prst="rect">
              <a:avLst/>
            </a:prstGeom>
            <a:gradFill rotWithShape="1">
              <a:gsLst>
                <a:gs pos="0">
                  <a:srgbClr val="F9F9F9"/>
                </a:gs>
                <a:gs pos="100000">
                  <a:srgbClr val="EAEAEA"/>
                </a:gs>
              </a:gsLst>
              <a:lin ang="5400000" scaled="1"/>
            </a:gradFill>
            <a:ln w="19050">
              <a:solidFill>
                <a:srgbClr val="EAEAEA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lvl="1" indent="-171450">
                <a:lnSpc>
                  <a:spcPct val="150000"/>
                </a:lnSpc>
                <a:buFont typeface="Arial" pitchFamily="34" charset="0"/>
                <a:buChar char="•"/>
              </a:pPr>
              <a:endParaRPr lang="zh-CN" altLang="en-US" sz="14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AutoShape 20"/>
            <p:cNvSpPr>
              <a:spLocks noChangeArrowheads="1"/>
            </p:cNvSpPr>
            <p:nvPr/>
          </p:nvSpPr>
          <p:spPr bwMode="auto">
            <a:xfrm>
              <a:off x="1504506" y="3933056"/>
              <a:ext cx="1875514" cy="171869"/>
            </a:xfrm>
            <a:custGeom>
              <a:avLst/>
              <a:gdLst>
                <a:gd name="T0" fmla="*/ 856 w 21600"/>
                <a:gd name="T1" fmla="*/ 1 h 21600"/>
                <a:gd name="T2" fmla="*/ 439 w 21600"/>
                <a:gd name="T3" fmla="*/ 2 h 21600"/>
                <a:gd name="T4" fmla="*/ 22 w 21600"/>
                <a:gd name="T5" fmla="*/ 1 h 21600"/>
                <a:gd name="T6" fmla="*/ 43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337 w 21600"/>
                <a:gd name="T13" fmla="*/ 2387 h 21600"/>
                <a:gd name="T14" fmla="*/ 19263 w 21600"/>
                <a:gd name="T15" fmla="*/ 192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72" y="21600"/>
                  </a:lnTo>
                  <a:lnTo>
                    <a:pt x="2052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ea typeface="微软雅黑" pitchFamily="34" charset="-122"/>
              </a:endParaRPr>
            </a:p>
          </p:txBody>
        </p:sp>
      </p:grpSp>
      <p:sp>
        <p:nvSpPr>
          <p:cNvPr id="60" name="TextBox 1"/>
          <p:cNvSpPr txBox="1"/>
          <p:nvPr/>
        </p:nvSpPr>
        <p:spPr>
          <a:xfrm>
            <a:off x="6165310" y="1906286"/>
            <a:ext cx="25836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ct val="20000"/>
              </a:spcBef>
              <a:buFontTx/>
              <a:buChar char="–"/>
              <a:defRPr/>
            </a:pPr>
            <a:r>
              <a:rPr lang="zh-CN" altLang="en-US" sz="2000" dirty="0"/>
              <a:t>将地址空间中的逻辑地址转换为物理地址</a:t>
            </a:r>
            <a:r>
              <a:rPr lang="zh-CN" altLang="en-US" sz="2400" dirty="0"/>
              <a:t>。</a:t>
            </a:r>
          </a:p>
        </p:txBody>
      </p:sp>
      <p:grpSp>
        <p:nvGrpSpPr>
          <p:cNvPr id="61" name="深色1"/>
          <p:cNvGrpSpPr/>
          <p:nvPr/>
        </p:nvGrpSpPr>
        <p:grpSpPr>
          <a:xfrm>
            <a:off x="9089924" y="1275933"/>
            <a:ext cx="2534720" cy="604800"/>
            <a:chOff x="1516381" y="1647128"/>
            <a:chExt cx="1886034" cy="604800"/>
          </a:xfrm>
        </p:grpSpPr>
        <p:grpSp>
          <p:nvGrpSpPr>
            <p:cNvPr id="62" name="组合 61"/>
            <p:cNvGrpSpPr/>
            <p:nvPr/>
          </p:nvGrpSpPr>
          <p:grpSpPr>
            <a:xfrm>
              <a:off x="1516381" y="1647128"/>
              <a:ext cx="1886034" cy="604800"/>
              <a:chOff x="1985713" y="1196752"/>
              <a:chExt cx="361172" cy="353896"/>
            </a:xfrm>
          </p:grpSpPr>
          <p:sp>
            <p:nvSpPr>
              <p:cNvPr id="64" name="Rectangle 22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61172" cy="353896"/>
              </a:xfrm>
              <a:prstGeom prst="round2SameRect">
                <a:avLst/>
              </a:prstGeom>
              <a:gradFill rotWithShape="1">
                <a:gsLst>
                  <a:gs pos="0">
                    <a:srgbClr val="6DAA2D"/>
                  </a:gs>
                  <a:gs pos="100000">
                    <a:srgbClr val="6DAA2D">
                      <a:lumMod val="60000"/>
                      <a:lumOff val="40000"/>
                    </a:srgb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65" name="AutoShape 10"/>
              <p:cNvSpPr>
                <a:spLocks noChangeArrowheads="1"/>
              </p:cNvSpPr>
              <p:nvPr/>
            </p:nvSpPr>
            <p:spPr bwMode="auto">
              <a:xfrm>
                <a:off x="1985713" y="1196752"/>
                <a:ext cx="353000" cy="182522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DAA2D">
                      <a:lumMod val="60000"/>
                      <a:lumOff val="40000"/>
                      <a:alpha val="4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kern="0" dirty="0">
                  <a:solidFill>
                    <a:sysClr val="windowText" lastClr="000000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63" name="TextBox 65"/>
            <p:cNvSpPr txBox="1"/>
            <p:nvPr/>
          </p:nvSpPr>
          <p:spPr>
            <a:xfrm>
              <a:off x="1903463" y="1750637"/>
              <a:ext cx="11047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zh-CN" altLang="en-US" sz="2400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内存扩充</a:t>
              </a:r>
              <a:r>
                <a:rPr lang="zh-CN" altLang="en-US" b="1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</a:p>
          </p:txBody>
        </p:sp>
      </p:grpSp>
      <p:grpSp>
        <p:nvGrpSpPr>
          <p:cNvPr id="66" name="文本1"/>
          <p:cNvGrpSpPr/>
          <p:nvPr/>
        </p:nvGrpSpPr>
        <p:grpSpPr>
          <a:xfrm>
            <a:off x="9089922" y="1890257"/>
            <a:ext cx="2526562" cy="2885036"/>
            <a:chOff x="1504506" y="2261453"/>
            <a:chExt cx="1875514" cy="1843472"/>
          </a:xfrm>
        </p:grpSpPr>
        <p:sp>
          <p:nvSpPr>
            <p:cNvPr id="67" name="矩形 66"/>
            <p:cNvSpPr/>
            <p:nvPr/>
          </p:nvSpPr>
          <p:spPr>
            <a:xfrm>
              <a:off x="1515026" y="2261453"/>
              <a:ext cx="1864994" cy="1671603"/>
            </a:xfrm>
            <a:prstGeom prst="rect">
              <a:avLst/>
            </a:prstGeom>
            <a:gradFill rotWithShape="1">
              <a:gsLst>
                <a:gs pos="0">
                  <a:srgbClr val="F9F9F9"/>
                </a:gs>
                <a:gs pos="100000">
                  <a:srgbClr val="EAEAEA"/>
                </a:gs>
              </a:gsLst>
              <a:lin ang="5400000" scaled="1"/>
            </a:gradFill>
            <a:ln w="19050">
              <a:solidFill>
                <a:srgbClr val="EAEAEA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6213" lvl="1" indent="-171450">
                <a:lnSpc>
                  <a:spcPct val="150000"/>
                </a:lnSpc>
                <a:buFont typeface="Arial" pitchFamily="34" charset="0"/>
                <a:buChar char="•"/>
              </a:pPr>
              <a:endParaRPr lang="zh-CN" altLang="en-US" sz="14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AutoShape 20"/>
            <p:cNvSpPr>
              <a:spLocks noChangeArrowheads="1"/>
            </p:cNvSpPr>
            <p:nvPr/>
          </p:nvSpPr>
          <p:spPr bwMode="auto">
            <a:xfrm>
              <a:off x="1504506" y="3933056"/>
              <a:ext cx="1875514" cy="171869"/>
            </a:xfrm>
            <a:custGeom>
              <a:avLst/>
              <a:gdLst>
                <a:gd name="T0" fmla="*/ 856 w 21600"/>
                <a:gd name="T1" fmla="*/ 1 h 21600"/>
                <a:gd name="T2" fmla="*/ 439 w 21600"/>
                <a:gd name="T3" fmla="*/ 2 h 21600"/>
                <a:gd name="T4" fmla="*/ 22 w 21600"/>
                <a:gd name="T5" fmla="*/ 1 h 21600"/>
                <a:gd name="T6" fmla="*/ 43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337 w 21600"/>
                <a:gd name="T13" fmla="*/ 2387 h 21600"/>
                <a:gd name="T14" fmla="*/ 19263 w 21600"/>
                <a:gd name="T15" fmla="*/ 192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72" y="21600"/>
                  </a:lnTo>
                  <a:lnTo>
                    <a:pt x="2052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ea typeface="微软雅黑" pitchFamily="34" charset="-122"/>
              </a:endParaRPr>
            </a:p>
          </p:txBody>
        </p:sp>
      </p:grpSp>
      <p:sp>
        <p:nvSpPr>
          <p:cNvPr id="69" name="TextBox 1"/>
          <p:cNvSpPr txBox="1"/>
          <p:nvPr/>
        </p:nvSpPr>
        <p:spPr>
          <a:xfrm>
            <a:off x="9019964" y="1906286"/>
            <a:ext cx="258366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ct val="20000"/>
              </a:spcBef>
              <a:buFontTx/>
              <a:buChar char="–"/>
              <a:defRPr/>
            </a:pPr>
            <a:r>
              <a:rPr lang="zh-CN" altLang="en-US" sz="2000" dirty="0"/>
              <a:t>借助于虚拟存储技术，从逻辑上扩充内存容量</a:t>
            </a:r>
            <a:endParaRPr lang="en-US" altLang="zh-CN" sz="2000" dirty="0"/>
          </a:p>
          <a:p>
            <a:pPr marL="285750" indent="-285750">
              <a:spcBef>
                <a:spcPct val="20000"/>
              </a:spcBef>
              <a:buFontTx/>
              <a:buChar char="–"/>
              <a:defRPr/>
            </a:pPr>
            <a:r>
              <a:rPr lang="zh-CN" altLang="en-US" sz="2000" dirty="0"/>
              <a:t>让更多的用户程序能并发执行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725327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08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设备管理功能</a:t>
            </a:r>
          </a:p>
        </p:txBody>
      </p:sp>
      <p:sp>
        <p:nvSpPr>
          <p:cNvPr id="19" name="矩形 18"/>
          <p:cNvSpPr/>
          <p:nvPr/>
        </p:nvSpPr>
        <p:spPr>
          <a:xfrm>
            <a:off x="3550344" y="1339316"/>
            <a:ext cx="6365255" cy="1442791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382736" y="1125538"/>
            <a:ext cx="4689352" cy="463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2800" dirty="0">
                <a:cs typeface="+mn-ea"/>
                <a:sym typeface="+mn-lt"/>
              </a:rPr>
              <a:t>缓冲管理</a:t>
            </a:r>
          </a:p>
        </p:txBody>
      </p:sp>
      <p:sp>
        <p:nvSpPr>
          <p:cNvPr id="34" name="六边形 33"/>
          <p:cNvSpPr/>
          <p:nvPr/>
        </p:nvSpPr>
        <p:spPr>
          <a:xfrm>
            <a:off x="1063010" y="2926154"/>
            <a:ext cx="1588089" cy="1368469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3200" dirty="0">
                <a:cs typeface="+mn-ea"/>
                <a:sym typeface="+mn-lt"/>
              </a:rPr>
              <a:t>主要任务</a:t>
            </a:r>
          </a:p>
        </p:txBody>
      </p:sp>
      <p:cxnSp>
        <p:nvCxnSpPr>
          <p:cNvPr id="35" name="直接箭头连接符 34"/>
          <p:cNvCxnSpPr>
            <a:stCxn id="34" idx="5"/>
          </p:cNvCxnSpPr>
          <p:nvPr/>
        </p:nvCxnSpPr>
        <p:spPr>
          <a:xfrm flipV="1">
            <a:off x="2308839" y="1989834"/>
            <a:ext cx="1241506" cy="936321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34" idx="0"/>
          </p:cNvCxnSpPr>
          <p:nvPr/>
        </p:nvCxnSpPr>
        <p:spPr>
          <a:xfrm>
            <a:off x="2651100" y="3610389"/>
            <a:ext cx="899245" cy="0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4" idx="1"/>
          </p:cNvCxnSpPr>
          <p:nvPr/>
        </p:nvCxnSpPr>
        <p:spPr>
          <a:xfrm>
            <a:off x="2308839" y="4294623"/>
            <a:ext cx="1241506" cy="936321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766508" y="1629711"/>
            <a:ext cx="6052611" cy="919900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400" dirty="0"/>
              <a:t>用于缓解</a:t>
            </a:r>
            <a:r>
              <a:rPr lang="en-US" altLang="zh-CN" sz="2400" dirty="0" err="1"/>
              <a:t>CPU和I</a:t>
            </a:r>
            <a:r>
              <a:rPr lang="en-US" altLang="zh-CN" sz="2400" dirty="0"/>
              <a:t>/</a:t>
            </a:r>
            <a:r>
              <a:rPr lang="en-US" altLang="zh-CN" sz="2400" dirty="0" err="1"/>
              <a:t>O设备速度不匹配的矛盾</a:t>
            </a:r>
            <a:r>
              <a:rPr lang="zh-CN" altLang="en-US" sz="2400" dirty="0"/>
              <a:t>，提高</a:t>
            </a:r>
            <a:r>
              <a:rPr lang="en-US" altLang="zh-CN" sz="2400" dirty="0" err="1"/>
              <a:t>CPU的利用率，提高系统吞吐量</a:t>
            </a:r>
            <a:r>
              <a:rPr lang="en-US" altLang="zh-CN" sz="2400" dirty="0"/>
              <a:t>。</a:t>
            </a:r>
          </a:p>
        </p:txBody>
      </p:sp>
      <p:sp>
        <p:nvSpPr>
          <p:cNvPr id="39" name="矩形 38"/>
          <p:cNvSpPr/>
          <p:nvPr/>
        </p:nvSpPr>
        <p:spPr>
          <a:xfrm>
            <a:off x="3550344" y="3139933"/>
            <a:ext cx="6365255" cy="1442791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382736" y="2926155"/>
            <a:ext cx="4689352" cy="463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2800" dirty="0">
                <a:cs typeface="+mn-ea"/>
                <a:sym typeface="+mn-lt"/>
              </a:rPr>
              <a:t>设备分配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66508" y="3348440"/>
            <a:ext cx="6052611" cy="1363098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400" dirty="0"/>
              <a:t>根据用户进程的</a:t>
            </a:r>
            <a:r>
              <a:rPr lang="en-US" altLang="zh-CN" sz="2400" dirty="0"/>
              <a:t>I/</a:t>
            </a:r>
            <a:r>
              <a:rPr lang="en-US" altLang="zh-CN" sz="2400" dirty="0" err="1"/>
              <a:t>O请求、系统的现有资源情况以及按照某种设备分配策略，为之分配其所需的设备</a:t>
            </a:r>
            <a:r>
              <a:rPr lang="en-US" altLang="zh-CN" sz="2400" dirty="0"/>
              <a:t>。</a:t>
            </a:r>
          </a:p>
        </p:txBody>
      </p:sp>
      <p:sp>
        <p:nvSpPr>
          <p:cNvPr id="42" name="矩形 41"/>
          <p:cNvSpPr/>
          <p:nvPr/>
        </p:nvSpPr>
        <p:spPr>
          <a:xfrm>
            <a:off x="3550344" y="4940550"/>
            <a:ext cx="6365255" cy="1442791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382736" y="4726772"/>
            <a:ext cx="4689352" cy="463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2800" dirty="0">
                <a:cs typeface="+mn-ea"/>
                <a:sym typeface="+mn-lt"/>
              </a:rPr>
              <a:t>设备处理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66508" y="5230945"/>
            <a:ext cx="6052611" cy="476701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400" dirty="0"/>
              <a:t>用于实现</a:t>
            </a:r>
            <a:r>
              <a:rPr lang="en-US" altLang="zh-CN" sz="2400" dirty="0" err="1"/>
              <a:t>CPU和设备控制器之间的通信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6874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4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1" dur="1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3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1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3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5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6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4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0" dur="1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60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2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5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6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1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7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7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7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7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33" grpId="0" animBg="1"/>
          <p:bldP spid="34" grpId="0" animBg="1"/>
          <p:bldP spid="38" grpId="0"/>
          <p:bldP spid="38" grpId="1"/>
          <p:bldP spid="39" grpId="0" animBg="1"/>
          <p:bldP spid="40" grpId="0" animBg="1"/>
          <p:bldP spid="41" grpId="0"/>
          <p:bldP spid="41" grpId="1"/>
          <p:bldP spid="42" grpId="0" animBg="1"/>
          <p:bldP spid="43" grpId="0" animBg="1"/>
          <p:bldP spid="44" grpId="0"/>
          <p:bldP spid="44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4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1" dur="1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3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1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3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4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0" dur="1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60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2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6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1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7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7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7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7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33" grpId="0" animBg="1"/>
          <p:bldP spid="34" grpId="0" animBg="1"/>
          <p:bldP spid="38" grpId="0"/>
          <p:bldP spid="38" grpId="1"/>
          <p:bldP spid="39" grpId="0" animBg="1"/>
          <p:bldP spid="40" grpId="0" animBg="1"/>
          <p:bldP spid="41" grpId="0"/>
          <p:bldP spid="41" grpId="1"/>
          <p:bldP spid="42" grpId="0" animBg="1"/>
          <p:bldP spid="43" grpId="0" animBg="1"/>
          <p:bldP spid="44" grpId="0"/>
          <p:bldP spid="44" grpId="1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08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文件管理功能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3"/>
          <a:srcRect t="49695"/>
          <a:stretch/>
        </p:blipFill>
        <p:spPr>
          <a:xfrm>
            <a:off x="2060492" y="520977"/>
            <a:ext cx="8035224" cy="1797169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2172041" y="764094"/>
            <a:ext cx="1367744" cy="1367744"/>
          </a:xfrm>
          <a:prstGeom prst="ellipse">
            <a:avLst/>
          </a:prstGeom>
          <a:gradFill flip="none" rotWithShape="1">
            <a:gsLst>
              <a:gs pos="0">
                <a:srgbClr val="EF8592"/>
              </a:gs>
              <a:gs pos="100000">
                <a:srgbClr val="E53B51"/>
              </a:gs>
            </a:gsLst>
            <a:lin ang="13500000" scaled="1"/>
            <a:tileRect/>
          </a:gradFill>
          <a:ln w="44450">
            <a:gradFill flip="none" rotWithShape="1">
              <a:gsLst>
                <a:gs pos="0">
                  <a:srgbClr val="EF8592"/>
                </a:gs>
                <a:gs pos="100000">
                  <a:srgbClr val="E53B51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5393872" y="1625992"/>
            <a:ext cx="1367744" cy="1367744"/>
          </a:xfrm>
          <a:prstGeom prst="ellipse">
            <a:avLst/>
          </a:prstGeom>
          <a:gradFill flip="none" rotWithShape="1">
            <a:gsLst>
              <a:gs pos="100000">
                <a:srgbClr val="FCD920"/>
              </a:gs>
              <a:gs pos="0">
                <a:srgbClr val="FDE673"/>
              </a:gs>
            </a:gsLst>
            <a:lin ang="13500000" scaled="1"/>
            <a:tileRect/>
          </a:gradFill>
          <a:ln w="44450">
            <a:gradFill flip="none" rotWithShape="1">
              <a:gsLst>
                <a:gs pos="0">
                  <a:srgbClr val="FDE673"/>
                </a:gs>
                <a:gs pos="100000">
                  <a:srgbClr val="FCD920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8615703" y="764094"/>
            <a:ext cx="1367744" cy="1367744"/>
          </a:xfrm>
          <a:prstGeom prst="ellipse">
            <a:avLst/>
          </a:prstGeom>
          <a:gradFill flip="none" rotWithShape="1">
            <a:gsLst>
              <a:gs pos="0">
                <a:srgbClr val="97DFDD"/>
              </a:gs>
              <a:gs pos="100000">
                <a:srgbClr val="3CB5B5"/>
              </a:gs>
            </a:gsLst>
            <a:lin ang="13500000" scaled="1"/>
            <a:tileRect/>
          </a:gradFill>
          <a:ln w="44450">
            <a:gradFill flip="none" rotWithShape="1">
              <a:gsLst>
                <a:gs pos="0">
                  <a:srgbClr val="97DFDD"/>
                </a:gs>
                <a:gs pos="100000">
                  <a:srgbClr val="3CB5B5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7"/>
          <p:cNvSpPr txBox="1"/>
          <p:nvPr/>
        </p:nvSpPr>
        <p:spPr>
          <a:xfrm>
            <a:off x="755116" y="2450124"/>
            <a:ext cx="327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文件存储空间的管理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8"/>
          <p:cNvSpPr txBox="1"/>
          <p:nvPr/>
        </p:nvSpPr>
        <p:spPr>
          <a:xfrm>
            <a:off x="7735380" y="2450124"/>
            <a:ext cx="3455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文件的读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写管理和保护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29"/>
          <p:cNvSpPr txBox="1"/>
          <p:nvPr/>
        </p:nvSpPr>
        <p:spPr>
          <a:xfrm>
            <a:off x="5326189" y="3482881"/>
            <a:ext cx="168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目录管理</a:t>
            </a:r>
          </a:p>
        </p:txBody>
      </p:sp>
      <p:sp>
        <p:nvSpPr>
          <p:cNvPr id="48" name="文本框 33"/>
          <p:cNvSpPr txBox="1"/>
          <p:nvPr/>
        </p:nvSpPr>
        <p:spPr>
          <a:xfrm>
            <a:off x="2588623" y="974891"/>
            <a:ext cx="53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汉真广标" panose="02010609000101010101" pitchFamily="49" charset="-122"/>
                <a:ea typeface="汉真广标" panose="02010609000101010101" pitchFamily="49" charset="-122"/>
              </a:rPr>
              <a:t>1</a:t>
            </a:r>
            <a:endParaRPr lang="zh-CN" altLang="en-US" dirty="0">
              <a:solidFill>
                <a:schemeClr val="bg1"/>
              </a:solidFill>
              <a:latin typeface="汉真广标" panose="02010609000101010101" pitchFamily="49" charset="-122"/>
              <a:ea typeface="汉真广标" panose="02010609000101010101" pitchFamily="49" charset="-122"/>
            </a:endParaRPr>
          </a:p>
        </p:txBody>
      </p:sp>
      <p:sp>
        <p:nvSpPr>
          <p:cNvPr id="49" name="文本框 34"/>
          <p:cNvSpPr txBox="1"/>
          <p:nvPr/>
        </p:nvSpPr>
        <p:spPr>
          <a:xfrm>
            <a:off x="5785169" y="1802033"/>
            <a:ext cx="53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汉真广标" panose="02010609000101010101" pitchFamily="49" charset="-122"/>
                <a:ea typeface="汉真广标" panose="02010609000101010101" pitchFamily="49" charset="-122"/>
              </a:rPr>
              <a:t>2</a:t>
            </a:r>
            <a:endParaRPr lang="zh-CN" altLang="en-US" dirty="0">
              <a:solidFill>
                <a:schemeClr val="bg1"/>
              </a:solidFill>
              <a:latin typeface="汉真广标" panose="02010609000101010101" pitchFamily="49" charset="-122"/>
              <a:ea typeface="汉真广标" panose="02010609000101010101" pitchFamily="49" charset="-122"/>
            </a:endParaRPr>
          </a:p>
        </p:txBody>
      </p:sp>
      <p:sp>
        <p:nvSpPr>
          <p:cNvPr id="50" name="文本框 35"/>
          <p:cNvSpPr txBox="1"/>
          <p:nvPr/>
        </p:nvSpPr>
        <p:spPr>
          <a:xfrm>
            <a:off x="9032285" y="948860"/>
            <a:ext cx="53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汉真广标" panose="02010609000101010101" pitchFamily="49" charset="-122"/>
                <a:ea typeface="汉真广标" panose="02010609000101010101" pitchFamily="49" charset="-122"/>
              </a:rPr>
              <a:t>3</a:t>
            </a:r>
            <a:endParaRPr lang="zh-CN" altLang="en-US" dirty="0">
              <a:solidFill>
                <a:schemeClr val="bg1"/>
              </a:solidFill>
              <a:latin typeface="汉真广标" panose="02010609000101010101" pitchFamily="49" charset="-122"/>
              <a:ea typeface="汉真广标" panose="02010609000101010101" pitchFamily="49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982000" y="2156323"/>
            <a:ext cx="1835277" cy="217363"/>
          </a:xfrm>
          <a:prstGeom prst="ellipse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2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8481373" y="2170877"/>
            <a:ext cx="1835277" cy="217363"/>
          </a:xfrm>
          <a:prstGeom prst="ellipse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2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5178361" y="3016999"/>
            <a:ext cx="1835277" cy="217363"/>
          </a:xfrm>
          <a:prstGeom prst="ellipse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2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19"/>
          <p:cNvSpPr txBox="1">
            <a:spLocks noChangeArrowheads="1"/>
          </p:cNvSpPr>
          <p:nvPr/>
        </p:nvSpPr>
        <p:spPr bwMode="auto">
          <a:xfrm>
            <a:off x="766489" y="2975050"/>
            <a:ext cx="291430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为每个文件分配必要的外存空间</a:t>
            </a:r>
            <a:endParaRPr lang="en-US" altLang="zh-CN" sz="2400" dirty="0"/>
          </a:p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提高外存的利用率</a:t>
            </a:r>
            <a:endParaRPr lang="en-US" altLang="zh-CN" sz="2400" dirty="0"/>
          </a:p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有助于提高文件系统的存、取速度。</a:t>
            </a:r>
            <a:endParaRPr lang="en-US" altLang="zh-CN" sz="2400" dirty="0"/>
          </a:p>
        </p:txBody>
      </p:sp>
      <p:sp>
        <p:nvSpPr>
          <p:cNvPr id="55" name="文本框 19"/>
          <p:cNvSpPr txBox="1">
            <a:spLocks noChangeArrowheads="1"/>
          </p:cNvSpPr>
          <p:nvPr/>
        </p:nvSpPr>
        <p:spPr bwMode="auto">
          <a:xfrm>
            <a:off x="3817277" y="3985490"/>
            <a:ext cx="3897231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为每个文件建立目录项</a:t>
            </a:r>
            <a:endParaRPr lang="en-US" altLang="zh-CN" sz="2400" dirty="0"/>
          </a:p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对众多的目录项进行有效组织，以实现按名存取。</a:t>
            </a:r>
            <a:endParaRPr lang="en-US" altLang="zh-CN" sz="2400" dirty="0"/>
          </a:p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能实现文件共享。</a:t>
            </a:r>
            <a:endParaRPr lang="en-US" altLang="zh-CN" sz="2400" dirty="0"/>
          </a:p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能提供快速的目录查询手段，提高文件的检索速度。</a:t>
            </a:r>
            <a:endParaRPr lang="en-US" altLang="zh-CN" sz="2400" dirty="0"/>
          </a:p>
        </p:txBody>
      </p:sp>
      <p:sp>
        <p:nvSpPr>
          <p:cNvPr id="56" name="文本框 19"/>
          <p:cNvSpPr txBox="1">
            <a:spLocks noChangeArrowheads="1"/>
          </p:cNvSpPr>
          <p:nvPr/>
        </p:nvSpPr>
        <p:spPr bwMode="auto">
          <a:xfrm>
            <a:off x="7793501" y="2982292"/>
            <a:ext cx="350684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根据用户的请求，从外存读取数据，或将数据写入外存</a:t>
            </a:r>
            <a:endParaRPr lang="en-US" altLang="zh-CN" sz="2400" dirty="0"/>
          </a:p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文件读（写）过程：</a:t>
            </a:r>
            <a:endParaRPr lang="en-US" altLang="zh-CN" sz="2400" dirty="0"/>
          </a:p>
        </p:txBody>
      </p:sp>
      <p:sp>
        <p:nvSpPr>
          <p:cNvPr id="57" name="文本框 19"/>
          <p:cNvSpPr txBox="1">
            <a:spLocks noChangeArrowheads="1"/>
          </p:cNvSpPr>
          <p:nvPr/>
        </p:nvSpPr>
        <p:spPr bwMode="auto">
          <a:xfrm>
            <a:off x="7813440" y="4642266"/>
            <a:ext cx="350684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防止未经核准的用户存取文件；</a:t>
            </a:r>
            <a:endParaRPr lang="en-US" altLang="zh-CN" sz="2400" dirty="0"/>
          </a:p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防止冒名顶替存取文件</a:t>
            </a:r>
            <a:endParaRPr lang="en-US" altLang="zh-CN" sz="2400" dirty="0"/>
          </a:p>
          <a:p>
            <a:pPr marL="0" lvl="2" indent="0">
              <a:buBlip>
                <a:blip r:embed="rId4"/>
              </a:buBlip>
            </a:pPr>
            <a:r>
              <a:rPr lang="zh-CN" altLang="en-US" sz="2400" dirty="0"/>
              <a:t>防止以不正确的方式使用文件。</a:t>
            </a:r>
            <a:endParaRPr lang="en-US" altLang="zh-CN" sz="2400" dirty="0"/>
          </a:p>
        </p:txBody>
      </p:sp>
      <p:sp>
        <p:nvSpPr>
          <p:cNvPr id="58" name="AutoShape 22"/>
          <p:cNvSpPr>
            <a:spLocks noChangeArrowheads="1"/>
          </p:cNvSpPr>
          <p:nvPr/>
        </p:nvSpPr>
        <p:spPr bwMode="auto">
          <a:xfrm>
            <a:off x="4028645" y="2017692"/>
            <a:ext cx="3202973" cy="1238932"/>
          </a:xfrm>
          <a:prstGeom prst="wedgeRoundRectCallout">
            <a:avLst>
              <a:gd name="adj1" fmla="val 12505"/>
              <a:gd name="adj2" fmla="val 73075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200" dirty="0">
                <a:ea typeface="华文楷体" pitchFamily="2" charset="-122"/>
              </a:rPr>
              <a:t>文件目录项包括：文件名、文件属性、文件在磁盘上的物理位置等</a:t>
            </a:r>
            <a:endParaRPr lang="en-US" altLang="zh-CN" sz="2200" dirty="0"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829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58" grpId="0" animBg="1"/>
      <p:bldP spid="5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zh-CN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谢谢收看！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本节结束！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6885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771</Words>
  <Application>Microsoft Office PowerPoint</Application>
  <PresentationFormat>宽屏</PresentationFormat>
  <Paragraphs>158</Paragraphs>
  <Slides>14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等线</vt:lpstr>
      <vt:lpstr>等线 Light</vt:lpstr>
      <vt:lpstr>方正清刻本悦宋简体</vt:lpstr>
      <vt:lpstr>汉真广标</vt:lpstr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麦 子</cp:lastModifiedBy>
  <cp:revision>109</cp:revision>
  <dcterms:created xsi:type="dcterms:W3CDTF">2016-05-18T19:05:46Z</dcterms:created>
  <dcterms:modified xsi:type="dcterms:W3CDTF">2023-09-19T01:56:19Z</dcterms:modified>
</cp:coreProperties>
</file>