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425" r:id="rId2"/>
    <p:sldId id="256" r:id="rId3"/>
    <p:sldId id="343" r:id="rId4"/>
    <p:sldId id="344" r:id="rId5"/>
    <p:sldId id="345" r:id="rId6"/>
    <p:sldId id="438" r:id="rId7"/>
    <p:sldId id="346" r:id="rId8"/>
    <p:sldId id="347" r:id="rId9"/>
    <p:sldId id="362" r:id="rId10"/>
    <p:sldId id="348" r:id="rId11"/>
    <p:sldId id="448" r:id="rId12"/>
    <p:sldId id="349" r:id="rId13"/>
    <p:sldId id="265" r:id="rId14"/>
    <p:sldId id="352" r:id="rId15"/>
    <p:sldId id="363" r:id="rId16"/>
    <p:sldId id="351" r:id="rId17"/>
    <p:sldId id="269" r:id="rId18"/>
    <p:sldId id="439" r:id="rId19"/>
    <p:sldId id="354" r:id="rId20"/>
    <p:sldId id="355" r:id="rId21"/>
    <p:sldId id="446" r:id="rId22"/>
    <p:sldId id="365" r:id="rId23"/>
    <p:sldId id="356" r:id="rId24"/>
    <p:sldId id="275" r:id="rId25"/>
    <p:sldId id="357" r:id="rId26"/>
    <p:sldId id="449" r:id="rId27"/>
    <p:sldId id="358" r:id="rId28"/>
    <p:sldId id="450" r:id="rId29"/>
    <p:sldId id="281" r:id="rId30"/>
    <p:sldId id="451" r:id="rId31"/>
    <p:sldId id="359" r:id="rId32"/>
    <p:sldId id="441" r:id="rId33"/>
    <p:sldId id="376" r:id="rId34"/>
    <p:sldId id="378" r:id="rId35"/>
    <p:sldId id="379" r:id="rId36"/>
    <p:sldId id="380" r:id="rId37"/>
    <p:sldId id="381" r:id="rId38"/>
    <p:sldId id="382" r:id="rId39"/>
    <p:sldId id="300" r:id="rId40"/>
    <p:sldId id="383" r:id="rId41"/>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24" autoAdjust="0"/>
    <p:restoredTop sz="90929"/>
  </p:normalViewPr>
  <p:slideViewPr>
    <p:cSldViewPr>
      <p:cViewPr varScale="1">
        <p:scale>
          <a:sx n="74" d="100"/>
          <a:sy n="74" d="100"/>
        </p:scale>
        <p:origin x="1278"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4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9483BC5F-8C42-B40D-1330-5992CDB2928E}"/>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ea typeface="宋体" pitchFamily="2" charset="-122"/>
              </a:defRPr>
            </a:lvl1pPr>
          </a:lstStyle>
          <a:p>
            <a:pPr>
              <a:defRPr/>
            </a:pPr>
            <a:endParaRPr lang="zh-CN" altLang="en-US"/>
          </a:p>
        </p:txBody>
      </p:sp>
      <p:sp>
        <p:nvSpPr>
          <p:cNvPr id="143363" name="Rectangle 3">
            <a:extLst>
              <a:ext uri="{FF2B5EF4-FFF2-40B4-BE49-F238E27FC236}">
                <a16:creationId xmlns:a16="http://schemas.microsoft.com/office/drawing/2014/main" id="{44B7B0EF-A295-1F95-98A0-BD0FB9757E45}"/>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ea typeface="宋体" pitchFamily="2" charset="-122"/>
              </a:defRPr>
            </a:lvl1pPr>
          </a:lstStyle>
          <a:p>
            <a:pPr>
              <a:defRPr/>
            </a:pPr>
            <a:fld id="{FEC1768F-461C-4807-8902-9C6978A56A74}" type="datetimeFigureOut">
              <a:rPr lang="zh-CN" altLang="en-US"/>
              <a:pPr>
                <a:defRPr/>
              </a:pPr>
              <a:t>2022-06-12</a:t>
            </a:fld>
            <a:endParaRPr lang="en-US" altLang="zh-CN"/>
          </a:p>
        </p:txBody>
      </p:sp>
      <p:sp>
        <p:nvSpPr>
          <p:cNvPr id="2052" name="Rectangle 4">
            <a:extLst>
              <a:ext uri="{FF2B5EF4-FFF2-40B4-BE49-F238E27FC236}">
                <a16:creationId xmlns:a16="http://schemas.microsoft.com/office/drawing/2014/main" id="{98F76FCC-4BFC-D52B-5213-60A533D80488}"/>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5" name="Rectangle 5">
            <a:extLst>
              <a:ext uri="{FF2B5EF4-FFF2-40B4-BE49-F238E27FC236}">
                <a16:creationId xmlns:a16="http://schemas.microsoft.com/office/drawing/2014/main" id="{E8728120-DECC-46F8-0B6F-19C13EBC8B22}"/>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3366" name="Rectangle 6">
            <a:extLst>
              <a:ext uri="{FF2B5EF4-FFF2-40B4-BE49-F238E27FC236}">
                <a16:creationId xmlns:a16="http://schemas.microsoft.com/office/drawing/2014/main" id="{2B63B155-6922-BAC6-0729-815E5BF455DD}"/>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ea typeface="宋体" pitchFamily="2" charset="-122"/>
              </a:defRPr>
            </a:lvl1pPr>
          </a:lstStyle>
          <a:p>
            <a:pPr>
              <a:defRPr/>
            </a:pPr>
            <a:endParaRPr lang="en-US" altLang="zh-CN"/>
          </a:p>
        </p:txBody>
      </p:sp>
      <p:sp>
        <p:nvSpPr>
          <p:cNvPr id="143367" name="Rectangle 7">
            <a:extLst>
              <a:ext uri="{FF2B5EF4-FFF2-40B4-BE49-F238E27FC236}">
                <a16:creationId xmlns:a16="http://schemas.microsoft.com/office/drawing/2014/main" id="{E687198F-7386-8D49-FFE9-7ED8CBF27ADD}"/>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1F8974CB-05B3-44F6-AFB4-1226DD4D5B1C}"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1C795C5B-4946-CC02-C2E7-6C0DFCAF5596}"/>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lgn="r" eaLnBrk="1" hangingPunct="1">
              <a:spcBef>
                <a:spcPct val="0"/>
              </a:spcBef>
            </a:pPr>
            <a:fld id="{13801712-76BC-471C-8F0B-F13ECAB70EE6}" type="slidenum">
              <a:rPr lang="en-US" altLang="zh-CN">
                <a:latin typeface="Times New Roman" panose="02020603050405020304" pitchFamily="18" charset="0"/>
              </a:rPr>
              <a:pPr algn="r" eaLnBrk="1" hangingPunct="1">
                <a:spcBef>
                  <a:spcPct val="0"/>
                </a:spcBef>
              </a:pPr>
              <a:t>6</a:t>
            </a:fld>
            <a:endParaRPr lang="en-US" altLang="zh-CN">
              <a:latin typeface="Times New Roman" panose="02020603050405020304" pitchFamily="18" charset="0"/>
            </a:endParaRPr>
          </a:p>
        </p:txBody>
      </p:sp>
      <p:sp>
        <p:nvSpPr>
          <p:cNvPr id="9219" name="Rectangle 2">
            <a:extLst>
              <a:ext uri="{FF2B5EF4-FFF2-40B4-BE49-F238E27FC236}">
                <a16:creationId xmlns:a16="http://schemas.microsoft.com/office/drawing/2014/main" id="{75FCE033-094A-A1CC-228C-D34DAA00F71A}"/>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E9212EE1-D62A-C583-319C-56600569E4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413981BA-9214-A7A0-A220-01643D17E8E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lgn="r" eaLnBrk="1" hangingPunct="1">
              <a:spcBef>
                <a:spcPct val="0"/>
              </a:spcBef>
            </a:pPr>
            <a:fld id="{0CAF35C6-229D-48DD-88BC-A0333E22D278}" type="slidenum">
              <a:rPr lang="en-US" altLang="zh-CN">
                <a:latin typeface="Times New Roman" panose="02020603050405020304" pitchFamily="18" charset="0"/>
              </a:rPr>
              <a:pPr algn="r" eaLnBrk="1" hangingPunct="1">
                <a:spcBef>
                  <a:spcPct val="0"/>
                </a:spcBef>
              </a:pPr>
              <a:t>18</a:t>
            </a:fld>
            <a:endParaRPr lang="en-US" altLang="zh-CN">
              <a:latin typeface="Times New Roman" panose="02020603050405020304" pitchFamily="18" charset="0"/>
            </a:endParaRPr>
          </a:p>
        </p:txBody>
      </p:sp>
      <p:sp>
        <p:nvSpPr>
          <p:cNvPr id="22531" name="Rectangle 2">
            <a:extLst>
              <a:ext uri="{FF2B5EF4-FFF2-40B4-BE49-F238E27FC236}">
                <a16:creationId xmlns:a16="http://schemas.microsoft.com/office/drawing/2014/main" id="{397EA4BA-7D61-B957-2606-98E02FF07E03}"/>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F5D70D67-321E-84DC-A4C8-57E27B41D2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87136E2A-EBE3-3D44-4E2F-AA5239F09208}"/>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lgn="r" eaLnBrk="1" hangingPunct="1">
              <a:spcBef>
                <a:spcPct val="0"/>
              </a:spcBef>
            </a:pPr>
            <a:fld id="{928CB499-6F61-4B5C-B213-5273C3F67960}" type="slidenum">
              <a:rPr lang="en-US" altLang="zh-CN">
                <a:latin typeface="Times New Roman" panose="02020603050405020304" pitchFamily="18" charset="0"/>
              </a:rPr>
              <a:pPr algn="r" eaLnBrk="1" hangingPunct="1">
                <a:spcBef>
                  <a:spcPct val="0"/>
                </a:spcBef>
              </a:pPr>
              <a:t>32</a:t>
            </a:fld>
            <a:endParaRPr lang="en-US" altLang="zh-CN">
              <a:latin typeface="Times New Roman" panose="02020603050405020304" pitchFamily="18" charset="0"/>
            </a:endParaRPr>
          </a:p>
        </p:txBody>
      </p:sp>
      <p:sp>
        <p:nvSpPr>
          <p:cNvPr id="37891" name="Rectangle 2">
            <a:extLst>
              <a:ext uri="{FF2B5EF4-FFF2-40B4-BE49-F238E27FC236}">
                <a16:creationId xmlns:a16="http://schemas.microsoft.com/office/drawing/2014/main" id="{620B3980-383A-F328-7D33-DC66B526E287}"/>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F0A22D58-7E35-8603-4805-D5CC9F3598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670C3FA0-0BE4-4985-D153-BFA4DA89DFB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07542CE-33DB-3FA6-3540-DBB494CD5B7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AFF66D9-768D-DEAC-E7BE-04729D556B4D}"/>
              </a:ext>
            </a:extLst>
          </p:cNvPr>
          <p:cNvSpPr>
            <a:spLocks noGrp="1" noChangeArrowheads="1"/>
          </p:cNvSpPr>
          <p:nvPr>
            <p:ph type="sldNum" sz="quarter" idx="12"/>
          </p:nvPr>
        </p:nvSpPr>
        <p:spPr>
          <a:ln/>
        </p:spPr>
        <p:txBody>
          <a:bodyPr/>
          <a:lstStyle>
            <a:lvl1pPr>
              <a:defRPr/>
            </a:lvl1pPr>
          </a:lstStyle>
          <a:p>
            <a:pPr>
              <a:defRPr/>
            </a:pPr>
            <a:fld id="{263AA30E-C5BC-4E57-A85A-29EA6057D2C6}" type="slidenum">
              <a:rPr lang="en-US" altLang="zh-CN"/>
              <a:pPr>
                <a:defRPr/>
              </a:pPr>
              <a:t>‹#›</a:t>
            </a:fld>
            <a:endParaRPr lang="en-US" altLang="zh-CN"/>
          </a:p>
        </p:txBody>
      </p:sp>
    </p:spTree>
    <p:extLst>
      <p:ext uri="{BB962C8B-B14F-4D97-AF65-F5344CB8AC3E}">
        <p14:creationId xmlns:p14="http://schemas.microsoft.com/office/powerpoint/2010/main" val="3132493269"/>
      </p:ext>
    </p:extLst>
  </p:cSld>
  <p:clrMapOvr>
    <a:masterClrMapping/>
  </p:clrMapOvr>
  <p:transition>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FBBB761-28BF-925D-7BCB-C2A897123E4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31479FCF-B181-482E-8A3F-824377ABD41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9AE03A6-E40B-2D69-01DE-F3B3DB5BC8A4}"/>
              </a:ext>
            </a:extLst>
          </p:cNvPr>
          <p:cNvSpPr>
            <a:spLocks noGrp="1" noChangeArrowheads="1"/>
          </p:cNvSpPr>
          <p:nvPr>
            <p:ph type="sldNum" sz="quarter" idx="12"/>
          </p:nvPr>
        </p:nvSpPr>
        <p:spPr>
          <a:ln/>
        </p:spPr>
        <p:txBody>
          <a:bodyPr/>
          <a:lstStyle>
            <a:lvl1pPr>
              <a:defRPr/>
            </a:lvl1pPr>
          </a:lstStyle>
          <a:p>
            <a:pPr>
              <a:defRPr/>
            </a:pPr>
            <a:fld id="{76A6A773-7B00-4893-BA1C-0F769310D60D}" type="slidenum">
              <a:rPr lang="en-US" altLang="zh-CN"/>
              <a:pPr>
                <a:defRPr/>
              </a:pPr>
              <a:t>‹#›</a:t>
            </a:fld>
            <a:endParaRPr lang="en-US" altLang="zh-CN"/>
          </a:p>
        </p:txBody>
      </p:sp>
    </p:spTree>
    <p:extLst>
      <p:ext uri="{BB962C8B-B14F-4D97-AF65-F5344CB8AC3E}">
        <p14:creationId xmlns:p14="http://schemas.microsoft.com/office/powerpoint/2010/main" val="2951410322"/>
      </p:ext>
    </p:extLst>
  </p:cSld>
  <p:clrMapOvr>
    <a:masterClrMapping/>
  </p:clrMapOvr>
  <p:transition>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3C2669DB-2D23-BA57-447E-8516229284A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FEC8EEA-31F1-3E8A-AE04-B8841CF4D62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8FE9FD0-BD05-D15D-D0DA-DD059E70DCC6}"/>
              </a:ext>
            </a:extLst>
          </p:cNvPr>
          <p:cNvSpPr>
            <a:spLocks noGrp="1" noChangeArrowheads="1"/>
          </p:cNvSpPr>
          <p:nvPr>
            <p:ph type="sldNum" sz="quarter" idx="12"/>
          </p:nvPr>
        </p:nvSpPr>
        <p:spPr>
          <a:ln/>
        </p:spPr>
        <p:txBody>
          <a:bodyPr/>
          <a:lstStyle>
            <a:lvl1pPr>
              <a:defRPr/>
            </a:lvl1pPr>
          </a:lstStyle>
          <a:p>
            <a:pPr>
              <a:defRPr/>
            </a:pPr>
            <a:fld id="{933279F9-60ED-4F7D-92AE-6E4B8D6BFF27}" type="slidenum">
              <a:rPr lang="en-US" altLang="zh-CN"/>
              <a:pPr>
                <a:defRPr/>
              </a:pPr>
              <a:t>‹#›</a:t>
            </a:fld>
            <a:endParaRPr lang="en-US" altLang="zh-CN"/>
          </a:p>
        </p:txBody>
      </p:sp>
    </p:spTree>
    <p:extLst>
      <p:ext uri="{BB962C8B-B14F-4D97-AF65-F5344CB8AC3E}">
        <p14:creationId xmlns:p14="http://schemas.microsoft.com/office/powerpoint/2010/main" val="3546954608"/>
      </p:ext>
    </p:extLst>
  </p:cSld>
  <p:clrMapOvr>
    <a:masterClrMapping/>
  </p:clrMapOvr>
  <p:transition>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7093A099-598A-D311-91AA-1E699DA5F06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A41ADC7-643D-56E7-54B2-AC89F6B30F0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B71B8AD-91D0-8F00-A3D2-3E572FF9C291}"/>
              </a:ext>
            </a:extLst>
          </p:cNvPr>
          <p:cNvSpPr>
            <a:spLocks noGrp="1" noChangeArrowheads="1"/>
          </p:cNvSpPr>
          <p:nvPr>
            <p:ph type="sldNum" sz="quarter" idx="12"/>
          </p:nvPr>
        </p:nvSpPr>
        <p:spPr>
          <a:ln/>
        </p:spPr>
        <p:txBody>
          <a:bodyPr/>
          <a:lstStyle>
            <a:lvl1pPr>
              <a:defRPr/>
            </a:lvl1pPr>
          </a:lstStyle>
          <a:p>
            <a:pPr>
              <a:defRPr/>
            </a:pPr>
            <a:fld id="{C5A07239-F68D-465E-A0F6-9C235FCDD3D6}" type="slidenum">
              <a:rPr lang="en-US" altLang="zh-CN"/>
              <a:pPr>
                <a:defRPr/>
              </a:pPr>
              <a:t>‹#›</a:t>
            </a:fld>
            <a:endParaRPr lang="en-US" altLang="zh-CN"/>
          </a:p>
        </p:txBody>
      </p:sp>
    </p:spTree>
    <p:extLst>
      <p:ext uri="{BB962C8B-B14F-4D97-AF65-F5344CB8AC3E}">
        <p14:creationId xmlns:p14="http://schemas.microsoft.com/office/powerpoint/2010/main" val="1775525889"/>
      </p:ext>
    </p:extLst>
  </p:cSld>
  <p:clrMapOvr>
    <a:masterClrMapping/>
  </p:clrMapOvr>
  <p:transition>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77F10A05-AFEB-648A-5C1E-189DAEE795C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877B2CFB-44E9-0652-ACBF-C399AEEC626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032FB7F8-8D45-247D-15DA-0EF3FB8C9A21}"/>
              </a:ext>
            </a:extLst>
          </p:cNvPr>
          <p:cNvSpPr>
            <a:spLocks noGrp="1" noChangeArrowheads="1"/>
          </p:cNvSpPr>
          <p:nvPr>
            <p:ph type="sldNum" sz="quarter" idx="12"/>
          </p:nvPr>
        </p:nvSpPr>
        <p:spPr>
          <a:ln/>
        </p:spPr>
        <p:txBody>
          <a:bodyPr/>
          <a:lstStyle>
            <a:lvl1pPr>
              <a:defRPr/>
            </a:lvl1pPr>
          </a:lstStyle>
          <a:p>
            <a:pPr>
              <a:defRPr/>
            </a:pPr>
            <a:fld id="{C1256753-00D3-4D40-851E-A8DE2A6DE3B7}" type="slidenum">
              <a:rPr lang="en-US" altLang="zh-CN"/>
              <a:pPr>
                <a:defRPr/>
              </a:pPr>
              <a:t>‹#›</a:t>
            </a:fld>
            <a:endParaRPr lang="en-US" altLang="zh-CN"/>
          </a:p>
        </p:txBody>
      </p:sp>
    </p:spTree>
    <p:extLst>
      <p:ext uri="{BB962C8B-B14F-4D97-AF65-F5344CB8AC3E}">
        <p14:creationId xmlns:p14="http://schemas.microsoft.com/office/powerpoint/2010/main" val="894808754"/>
      </p:ext>
    </p:extLst>
  </p:cSld>
  <p:clrMapOvr>
    <a:masterClrMapping/>
  </p:clrMapOvr>
  <p:transition>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7CC046F2-6484-A713-0855-1E614668508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C42D0E82-5206-6BBE-64F7-4AFD2161A15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857D4534-F324-17BE-4319-C87BF967AC77}"/>
              </a:ext>
            </a:extLst>
          </p:cNvPr>
          <p:cNvSpPr>
            <a:spLocks noGrp="1" noChangeArrowheads="1"/>
          </p:cNvSpPr>
          <p:nvPr>
            <p:ph type="sldNum" sz="quarter" idx="12"/>
          </p:nvPr>
        </p:nvSpPr>
        <p:spPr>
          <a:ln/>
        </p:spPr>
        <p:txBody>
          <a:bodyPr/>
          <a:lstStyle>
            <a:lvl1pPr>
              <a:defRPr/>
            </a:lvl1pPr>
          </a:lstStyle>
          <a:p>
            <a:pPr>
              <a:defRPr/>
            </a:pPr>
            <a:fld id="{C19F7B7B-5AEF-4382-8E24-EB80F60D0CED}" type="slidenum">
              <a:rPr lang="en-US" altLang="zh-CN"/>
              <a:pPr>
                <a:defRPr/>
              </a:pPr>
              <a:t>‹#›</a:t>
            </a:fld>
            <a:endParaRPr lang="en-US" altLang="zh-CN"/>
          </a:p>
        </p:txBody>
      </p:sp>
    </p:spTree>
    <p:extLst>
      <p:ext uri="{BB962C8B-B14F-4D97-AF65-F5344CB8AC3E}">
        <p14:creationId xmlns:p14="http://schemas.microsoft.com/office/powerpoint/2010/main" val="2679074031"/>
      </p:ext>
    </p:extLst>
  </p:cSld>
  <p:clrMapOvr>
    <a:masterClrMapping/>
  </p:clrMapOvr>
  <p:transition>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DFDCAA6-FBB4-6260-5F6A-6AA97A98090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386851E9-B077-5CEF-9369-2BC506C4A24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EA140D21-A32E-9B6B-F5C9-7725A01D4F15}"/>
              </a:ext>
            </a:extLst>
          </p:cNvPr>
          <p:cNvSpPr>
            <a:spLocks noGrp="1" noChangeArrowheads="1"/>
          </p:cNvSpPr>
          <p:nvPr>
            <p:ph type="sldNum" sz="quarter" idx="12"/>
          </p:nvPr>
        </p:nvSpPr>
        <p:spPr>
          <a:ln/>
        </p:spPr>
        <p:txBody>
          <a:bodyPr/>
          <a:lstStyle>
            <a:lvl1pPr>
              <a:defRPr/>
            </a:lvl1pPr>
          </a:lstStyle>
          <a:p>
            <a:pPr>
              <a:defRPr/>
            </a:pPr>
            <a:fld id="{7F6435DD-F84C-49BE-81BA-C62009E53EA6}" type="slidenum">
              <a:rPr lang="en-US" altLang="zh-CN"/>
              <a:pPr>
                <a:defRPr/>
              </a:pPr>
              <a:t>‹#›</a:t>
            </a:fld>
            <a:endParaRPr lang="en-US" altLang="zh-CN"/>
          </a:p>
        </p:txBody>
      </p:sp>
    </p:spTree>
    <p:extLst>
      <p:ext uri="{BB962C8B-B14F-4D97-AF65-F5344CB8AC3E}">
        <p14:creationId xmlns:p14="http://schemas.microsoft.com/office/powerpoint/2010/main" val="1407164332"/>
      </p:ext>
    </p:extLst>
  </p:cSld>
  <p:clrMapOvr>
    <a:masterClrMapping/>
  </p:clrMapOvr>
  <p:transition>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260DBE9-B90F-80FC-BE00-1BCB5990899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52FB2E8-0C93-6BC5-295F-4D4BBFFDCAA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BC6B0DA-037E-4651-8E48-AF2D2A5A6B1B}"/>
              </a:ext>
            </a:extLst>
          </p:cNvPr>
          <p:cNvSpPr>
            <a:spLocks noGrp="1" noChangeArrowheads="1"/>
          </p:cNvSpPr>
          <p:nvPr>
            <p:ph type="sldNum" sz="quarter" idx="12"/>
          </p:nvPr>
        </p:nvSpPr>
        <p:spPr>
          <a:ln/>
        </p:spPr>
        <p:txBody>
          <a:bodyPr/>
          <a:lstStyle>
            <a:lvl1pPr>
              <a:defRPr/>
            </a:lvl1pPr>
          </a:lstStyle>
          <a:p>
            <a:pPr>
              <a:defRPr/>
            </a:pPr>
            <a:fld id="{095E269A-56D4-4AE9-845E-BCBA4196C82C}" type="slidenum">
              <a:rPr lang="en-US" altLang="zh-CN"/>
              <a:pPr>
                <a:defRPr/>
              </a:pPr>
              <a:t>‹#›</a:t>
            </a:fld>
            <a:endParaRPr lang="en-US" altLang="zh-CN"/>
          </a:p>
        </p:txBody>
      </p:sp>
    </p:spTree>
    <p:extLst>
      <p:ext uri="{BB962C8B-B14F-4D97-AF65-F5344CB8AC3E}">
        <p14:creationId xmlns:p14="http://schemas.microsoft.com/office/powerpoint/2010/main" val="1991771250"/>
      </p:ext>
    </p:extLst>
  </p:cSld>
  <p:clrMapOvr>
    <a:masterClrMapping/>
  </p:clrMapOvr>
  <p:transition>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63C9A6E-931B-3B73-3416-1A731B3BBDE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BCF9052E-2C62-6135-78F7-B4FF44D844D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2C93E67-500F-26BC-25AD-BEF4ABBDDF86}"/>
              </a:ext>
            </a:extLst>
          </p:cNvPr>
          <p:cNvSpPr>
            <a:spLocks noGrp="1" noChangeArrowheads="1"/>
          </p:cNvSpPr>
          <p:nvPr>
            <p:ph type="sldNum" sz="quarter" idx="12"/>
          </p:nvPr>
        </p:nvSpPr>
        <p:spPr>
          <a:ln/>
        </p:spPr>
        <p:txBody>
          <a:bodyPr/>
          <a:lstStyle>
            <a:lvl1pPr>
              <a:defRPr/>
            </a:lvl1pPr>
          </a:lstStyle>
          <a:p>
            <a:pPr>
              <a:defRPr/>
            </a:pPr>
            <a:fld id="{D9CBBFDD-2CAB-4A89-8934-CF6727522BA8}" type="slidenum">
              <a:rPr lang="en-US" altLang="zh-CN"/>
              <a:pPr>
                <a:defRPr/>
              </a:pPr>
              <a:t>‹#›</a:t>
            </a:fld>
            <a:endParaRPr lang="en-US" altLang="zh-CN"/>
          </a:p>
        </p:txBody>
      </p:sp>
    </p:spTree>
    <p:extLst>
      <p:ext uri="{BB962C8B-B14F-4D97-AF65-F5344CB8AC3E}">
        <p14:creationId xmlns:p14="http://schemas.microsoft.com/office/powerpoint/2010/main" val="895514283"/>
      </p:ext>
    </p:extLst>
  </p:cSld>
  <p:clrMapOvr>
    <a:masterClrMapping/>
  </p:clrMapOvr>
  <p:transition>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AD10379-EE32-5BE0-8744-7054112CC07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4DF7382-7CEF-FF2E-0F26-62F5059E1AD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B891E46-F9FD-38BB-D280-9917932996AB}"/>
              </a:ext>
            </a:extLst>
          </p:cNvPr>
          <p:cNvSpPr>
            <a:spLocks noGrp="1" noChangeArrowheads="1"/>
          </p:cNvSpPr>
          <p:nvPr>
            <p:ph type="sldNum" sz="quarter" idx="12"/>
          </p:nvPr>
        </p:nvSpPr>
        <p:spPr>
          <a:ln/>
        </p:spPr>
        <p:txBody>
          <a:bodyPr/>
          <a:lstStyle>
            <a:lvl1pPr>
              <a:defRPr/>
            </a:lvl1pPr>
          </a:lstStyle>
          <a:p>
            <a:pPr>
              <a:defRPr/>
            </a:pPr>
            <a:fld id="{26F146C9-60DC-4CD1-ACD9-F15591A5EE66}" type="slidenum">
              <a:rPr lang="en-US" altLang="zh-CN"/>
              <a:pPr>
                <a:defRPr/>
              </a:pPr>
              <a:t>‹#›</a:t>
            </a:fld>
            <a:endParaRPr lang="en-US" altLang="zh-CN"/>
          </a:p>
        </p:txBody>
      </p:sp>
    </p:spTree>
    <p:extLst>
      <p:ext uri="{BB962C8B-B14F-4D97-AF65-F5344CB8AC3E}">
        <p14:creationId xmlns:p14="http://schemas.microsoft.com/office/powerpoint/2010/main" val="3692482315"/>
      </p:ext>
    </p:extLst>
  </p:cSld>
  <p:clrMapOvr>
    <a:masterClrMapping/>
  </p:clrMapOvr>
  <p:transition>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5D1B027-035C-E240-0DC5-B002F2FD0AF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35353E83-2E05-CE8D-7EC2-9E348BDD8FC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20BB37A-B5E4-E662-9EF1-C483CBA4E617}"/>
              </a:ext>
            </a:extLst>
          </p:cNvPr>
          <p:cNvSpPr>
            <a:spLocks noGrp="1" noChangeArrowheads="1"/>
          </p:cNvSpPr>
          <p:nvPr>
            <p:ph type="sldNum" sz="quarter" idx="12"/>
          </p:nvPr>
        </p:nvSpPr>
        <p:spPr>
          <a:ln/>
        </p:spPr>
        <p:txBody>
          <a:bodyPr/>
          <a:lstStyle>
            <a:lvl1pPr>
              <a:defRPr/>
            </a:lvl1pPr>
          </a:lstStyle>
          <a:p>
            <a:pPr>
              <a:defRPr/>
            </a:pPr>
            <a:fld id="{49C8C8F2-6014-4BFC-A9B6-F0EDC95D9CB4}" type="slidenum">
              <a:rPr lang="en-US" altLang="zh-CN"/>
              <a:pPr>
                <a:defRPr/>
              </a:pPr>
              <a:t>‹#›</a:t>
            </a:fld>
            <a:endParaRPr lang="en-US" altLang="zh-CN"/>
          </a:p>
        </p:txBody>
      </p:sp>
    </p:spTree>
    <p:extLst>
      <p:ext uri="{BB962C8B-B14F-4D97-AF65-F5344CB8AC3E}">
        <p14:creationId xmlns:p14="http://schemas.microsoft.com/office/powerpoint/2010/main" val="4069357950"/>
      </p:ext>
    </p:extLst>
  </p:cSld>
  <p:clrMapOvr>
    <a:masterClrMapping/>
  </p:clrMapOvr>
  <p:transition>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6AA7FAB-77BC-6839-CB4E-13BD8BCD1430}"/>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A8D0EB2F-7FAC-F558-4296-7B39AC35D246}"/>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C401765F-2500-A5E4-87FA-AB02C639911B}"/>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ea typeface="宋体" pitchFamily="2" charset="-122"/>
              </a:defRPr>
            </a:lvl1pPr>
          </a:lstStyle>
          <a:p>
            <a:pPr>
              <a:defRPr/>
            </a:pPr>
            <a:endParaRPr lang="en-US" altLang="zh-CN"/>
          </a:p>
        </p:txBody>
      </p:sp>
      <p:sp>
        <p:nvSpPr>
          <p:cNvPr id="1029" name="Rectangle 5">
            <a:extLst>
              <a:ext uri="{FF2B5EF4-FFF2-40B4-BE49-F238E27FC236}">
                <a16:creationId xmlns:a16="http://schemas.microsoft.com/office/drawing/2014/main" id="{E80AE7E6-A63C-6C75-B79B-3B9F9E65A92D}"/>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ea typeface="宋体" pitchFamily="2" charset="-122"/>
              </a:defRPr>
            </a:lvl1pPr>
          </a:lstStyle>
          <a:p>
            <a:pPr>
              <a:defRPr/>
            </a:pPr>
            <a:endParaRPr lang="en-US" altLang="zh-CN"/>
          </a:p>
        </p:txBody>
      </p:sp>
      <p:sp>
        <p:nvSpPr>
          <p:cNvPr id="1030" name="Rectangle 6">
            <a:extLst>
              <a:ext uri="{FF2B5EF4-FFF2-40B4-BE49-F238E27FC236}">
                <a16:creationId xmlns:a16="http://schemas.microsoft.com/office/drawing/2014/main" id="{8831123D-6839-248A-12BD-4EFF3287F540}"/>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EC83D6FC-C3E8-48A5-88F4-81D48735143E}" type="slidenum">
              <a:rPr lang="en-US" altLang="zh-CN"/>
              <a:pPr>
                <a:defRPr/>
              </a:pPr>
              <a:t>‹#›</a:t>
            </a:fld>
            <a:endParaRPr lang="en-US" altLang="zh-CN"/>
          </a:p>
        </p:txBody>
      </p:sp>
      <p:pic>
        <p:nvPicPr>
          <p:cNvPr id="1031" name="Picture 7" descr="E:\课件素材\背景图片1\BJ1246.jpg">
            <a:extLst>
              <a:ext uri="{FF2B5EF4-FFF2-40B4-BE49-F238E27FC236}">
                <a16:creationId xmlns:a16="http://schemas.microsoft.com/office/drawing/2014/main" id="{1FEC30E7-C551-50DC-1928-928264D5597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495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8" descr="E:\课件素材\背景图片1\BJ1357.JPG">
            <a:extLst>
              <a:ext uri="{FF2B5EF4-FFF2-40B4-BE49-F238E27FC236}">
                <a16:creationId xmlns:a16="http://schemas.microsoft.com/office/drawing/2014/main" id="{8E3813FB-EF58-02D9-2DDD-CED06B49A15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6629400"/>
            <a:ext cx="9144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Text Box 9">
            <a:extLst>
              <a:ext uri="{FF2B5EF4-FFF2-40B4-BE49-F238E27FC236}">
                <a16:creationId xmlns:a16="http://schemas.microsoft.com/office/drawing/2014/main" id="{1A056F05-9DBF-9F9D-2332-7C97932C6868}"/>
              </a:ext>
            </a:extLst>
          </p:cNvPr>
          <p:cNvSpPr txBox="1">
            <a:spLocks noChangeArrowheads="1"/>
          </p:cNvSpPr>
          <p:nvPr/>
        </p:nvSpPr>
        <p:spPr bwMode="auto">
          <a:xfrm>
            <a:off x="1219200" y="49213"/>
            <a:ext cx="2105025" cy="400050"/>
          </a:xfrm>
          <a:prstGeom prst="rect">
            <a:avLst/>
          </a:prstGeom>
          <a:noFill/>
          <a:ln>
            <a:noFill/>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defRPr/>
            </a:pPr>
            <a:r>
              <a:rPr lang="zh-CN" altLang="en-US" sz="2000">
                <a:latin typeface="华文行楷" pitchFamily="2" charset="-122"/>
                <a:ea typeface="华文行楷" pitchFamily="2" charset="-122"/>
              </a:rPr>
              <a:t>第七章 文件管理 </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blinds dir="ver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slide" Target="slide6.xml"/><Relationship Id="rId7" Type="http://schemas.openxmlformats.org/officeDocument/2006/relationships/hyperlink" Target="&#23553;&#38754;&#21450;&#30446;&#24405;.ppt#-1,2,PowerPoint &#28436;&#31034;&#25991;&#31295;" TargetMode="External"/><Relationship Id="rId2" Type="http://schemas.openxmlformats.org/officeDocument/2006/relationships/slide" Target="slide3.xml"/><Relationship Id="rId1" Type="http://schemas.openxmlformats.org/officeDocument/2006/relationships/slideLayout" Target="../slideLayouts/slideLayout7.xml"/><Relationship Id="rId6" Type="http://schemas.openxmlformats.org/officeDocument/2006/relationships/slide" Target="slide32.xml"/><Relationship Id="rId5" Type="http://schemas.openxmlformats.org/officeDocument/2006/relationships/slide" Target="slide18.xml"/><Relationship Id="rId4" Type="http://schemas.openxmlformats.org/officeDocument/2006/relationships/slide" Target="slide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5.bin"/><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a:extLst>
              <a:ext uri="{FF2B5EF4-FFF2-40B4-BE49-F238E27FC236}">
                <a16:creationId xmlns:a16="http://schemas.microsoft.com/office/drawing/2014/main" id="{64905BC0-5412-3661-CB19-19F3B5C7A4F5}"/>
              </a:ext>
            </a:extLst>
          </p:cNvPr>
          <p:cNvSpPr>
            <a:spLocks noGrp="1" noChangeArrowheads="1"/>
          </p:cNvSpPr>
          <p:nvPr>
            <p:ph type="ctrTitle" idx="4294967295"/>
          </p:nvPr>
        </p:nvSpPr>
        <p:spPr>
          <a:xfrm>
            <a:off x="685800" y="2130425"/>
            <a:ext cx="7772400" cy="1470025"/>
          </a:xfrm>
        </p:spPr>
        <p:txBody>
          <a:bodyPr/>
          <a:lstStyle/>
          <a:p>
            <a:pPr eaLnBrk="1" hangingPunct="1"/>
            <a:r>
              <a:rPr kumimoji="0" lang="zh-CN" altLang="en-US" sz="4800" b="1">
                <a:solidFill>
                  <a:srgbClr val="660066"/>
                </a:solidFill>
                <a:latin typeface="楷体_GB2312" pitchFamily="1" charset="-122"/>
                <a:ea typeface="楷体_GB2312" pitchFamily="1" charset="-122"/>
              </a:rPr>
              <a:t>第七章  文件管理</a:t>
            </a:r>
          </a:p>
        </p:txBody>
      </p:sp>
    </p:spTree>
  </p:cSld>
  <p:clrMapOvr>
    <a:masterClrMapping/>
  </p:clrMapOvr>
  <p:transition>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6">
            <a:extLst>
              <a:ext uri="{FF2B5EF4-FFF2-40B4-BE49-F238E27FC236}">
                <a16:creationId xmlns:a16="http://schemas.microsoft.com/office/drawing/2014/main" id="{635AA859-0F0D-D4C2-4DC7-095B4AB3523A}"/>
              </a:ext>
            </a:extLst>
          </p:cNvPr>
          <p:cNvSpPr txBox="1">
            <a:spLocks noChangeArrowheads="1"/>
          </p:cNvSpPr>
          <p:nvPr/>
        </p:nvSpPr>
        <p:spPr bwMode="auto">
          <a:xfrm>
            <a:off x="2895600" y="1700213"/>
            <a:ext cx="3844925" cy="366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45000"/>
              </a:lnSpc>
              <a:spcBef>
                <a:spcPct val="0"/>
              </a:spcBef>
              <a:buFontTx/>
              <a:buNone/>
            </a:pPr>
            <a:r>
              <a:rPr lang="en-US" altLang="zh-CN" b="1">
                <a:latin typeface="华文新魏" panose="02010800040101010101" pitchFamily="2" charset="-122"/>
                <a:ea typeface="华文新魏" panose="02010800040101010101" pitchFamily="2" charset="-122"/>
                <a:hlinkClick r:id="rId2" action="ppaction://hlinksldjump"/>
              </a:rPr>
              <a:t>7.1 </a:t>
            </a:r>
            <a:r>
              <a:rPr lang="zh-CN" altLang="en-US" b="1">
                <a:latin typeface="华文新魏" panose="02010800040101010101" pitchFamily="2" charset="-122"/>
                <a:ea typeface="华文新魏" panose="02010800040101010101" pitchFamily="2" charset="-122"/>
                <a:hlinkClick r:id="rId3" action="ppaction://hlinksldjump"/>
              </a:rPr>
              <a:t>文件和文件系统 </a:t>
            </a:r>
            <a:endParaRPr lang="zh-CN" altLang="en-US" b="1">
              <a:latin typeface="华文新魏" panose="02010800040101010101" pitchFamily="2" charset="-122"/>
              <a:ea typeface="华文新魏" panose="02010800040101010101" pitchFamily="2" charset="-122"/>
            </a:endParaRPr>
          </a:p>
          <a:p>
            <a:pPr eaLnBrk="1" hangingPunct="1">
              <a:lnSpc>
                <a:spcPct val="145000"/>
              </a:lnSpc>
              <a:spcBef>
                <a:spcPct val="0"/>
              </a:spcBef>
              <a:buFontTx/>
              <a:buNone/>
            </a:pPr>
            <a:r>
              <a:rPr lang="en-US" altLang="zh-CN" b="1">
                <a:latin typeface="华文新魏" panose="02010800040101010101" pitchFamily="2" charset="-122"/>
                <a:ea typeface="华文新魏" panose="02010800040101010101" pitchFamily="2" charset="-122"/>
                <a:hlinkClick r:id="rId4" action="ppaction://hlinksldjump"/>
              </a:rPr>
              <a:t>7.2 </a:t>
            </a:r>
            <a:r>
              <a:rPr lang="zh-CN" altLang="en-US" b="1">
                <a:latin typeface="华文新魏" panose="02010800040101010101" pitchFamily="2" charset="-122"/>
                <a:ea typeface="华文新魏" panose="02010800040101010101" pitchFamily="2" charset="-122"/>
                <a:hlinkClick r:id="rId5" action="ppaction://hlinksldjump"/>
              </a:rPr>
              <a:t>文件的逻辑结构 </a:t>
            </a:r>
            <a:endParaRPr lang="zh-CN" altLang="en-US" b="1">
              <a:latin typeface="华文新魏" panose="02010800040101010101" pitchFamily="2" charset="-122"/>
              <a:ea typeface="华文新魏" panose="02010800040101010101" pitchFamily="2" charset="-122"/>
            </a:endParaRPr>
          </a:p>
          <a:p>
            <a:pPr eaLnBrk="1" hangingPunct="1">
              <a:lnSpc>
                <a:spcPct val="145000"/>
              </a:lnSpc>
              <a:spcBef>
                <a:spcPct val="0"/>
              </a:spcBef>
              <a:buFontTx/>
              <a:buNone/>
            </a:pPr>
            <a:r>
              <a:rPr lang="en-US" altLang="zh-CN" b="1">
                <a:latin typeface="华文新魏" panose="02010800040101010101" pitchFamily="2" charset="-122"/>
                <a:ea typeface="华文新魏" panose="02010800040101010101" pitchFamily="2" charset="-122"/>
                <a:hlinkClick r:id="" action="ppaction://noaction"/>
              </a:rPr>
              <a:t>7.3 </a:t>
            </a:r>
            <a:r>
              <a:rPr lang="zh-CN" altLang="en-US" b="1">
                <a:latin typeface="华文新魏" panose="02010800040101010101" pitchFamily="2" charset="-122"/>
                <a:ea typeface="华文新魏" panose="02010800040101010101" pitchFamily="2" charset="-122"/>
                <a:hlinkClick r:id="rId6" action="ppaction://hlinksldjump"/>
              </a:rPr>
              <a:t>文件目录 </a:t>
            </a:r>
            <a:endParaRPr lang="en-US" altLang="zh-CN" b="1">
              <a:latin typeface="华文新魏" panose="02010800040101010101" pitchFamily="2" charset="-122"/>
              <a:ea typeface="华文新魏" panose="02010800040101010101" pitchFamily="2" charset="-122"/>
            </a:endParaRPr>
          </a:p>
          <a:p>
            <a:pPr eaLnBrk="1" hangingPunct="1">
              <a:lnSpc>
                <a:spcPct val="145000"/>
              </a:lnSpc>
              <a:spcBef>
                <a:spcPct val="0"/>
              </a:spcBef>
              <a:buFontTx/>
              <a:buNone/>
            </a:pPr>
            <a:r>
              <a:rPr lang="en-US" altLang="zh-CN" b="1">
                <a:latin typeface="华文新魏" panose="02010800040101010101" pitchFamily="2" charset="-122"/>
                <a:ea typeface="华文新魏" panose="02010800040101010101" pitchFamily="2" charset="-122"/>
                <a:hlinkClick r:id="" action="ppaction://noaction"/>
              </a:rPr>
              <a:t>7.4 </a:t>
            </a:r>
            <a:r>
              <a:rPr lang="zh-CN" altLang="en-US" b="1">
                <a:latin typeface="华文新魏" panose="02010800040101010101" pitchFamily="2" charset="-122"/>
                <a:ea typeface="华文新魏" panose="02010800040101010101" pitchFamily="2" charset="-122"/>
                <a:hlinkClick r:id="" action="ppaction://noaction"/>
              </a:rPr>
              <a:t>文件共享 </a:t>
            </a:r>
            <a:endParaRPr lang="zh-CN" altLang="en-US" b="1">
              <a:latin typeface="华文新魏" panose="02010800040101010101" pitchFamily="2" charset="-122"/>
              <a:ea typeface="华文新魏" panose="02010800040101010101" pitchFamily="2" charset="-122"/>
            </a:endParaRPr>
          </a:p>
          <a:p>
            <a:pPr eaLnBrk="1" hangingPunct="1">
              <a:lnSpc>
                <a:spcPct val="145000"/>
              </a:lnSpc>
              <a:spcBef>
                <a:spcPct val="0"/>
              </a:spcBef>
              <a:buFontTx/>
              <a:buNone/>
            </a:pPr>
            <a:r>
              <a:rPr lang="en-US" altLang="zh-CN" b="1">
                <a:latin typeface="华文新魏" panose="02010800040101010101" pitchFamily="2" charset="-122"/>
                <a:ea typeface="华文新魏" panose="02010800040101010101" pitchFamily="2" charset="-122"/>
                <a:hlinkClick r:id="" action="ppaction://noaction"/>
              </a:rPr>
              <a:t>7.5 </a:t>
            </a:r>
            <a:r>
              <a:rPr lang="zh-CN" altLang="en-US" b="1">
                <a:latin typeface="华文新魏" panose="02010800040101010101" pitchFamily="2" charset="-122"/>
                <a:ea typeface="华文新魏" panose="02010800040101010101" pitchFamily="2" charset="-122"/>
                <a:hlinkClick r:id="" action="ppaction://noaction"/>
              </a:rPr>
              <a:t>文件保护 </a:t>
            </a:r>
            <a:endParaRPr lang="zh-CN" altLang="en-US" b="1">
              <a:latin typeface="华文新魏" panose="02010800040101010101" pitchFamily="2" charset="-122"/>
              <a:ea typeface="华文新魏" panose="02010800040101010101" pitchFamily="2" charset="-122"/>
            </a:endParaRPr>
          </a:p>
        </p:txBody>
      </p:sp>
      <p:pic>
        <p:nvPicPr>
          <p:cNvPr id="4099" name="Picture 7" descr="E:\课件素材\GIF动画插件1\GIF014.GIF">
            <a:hlinkClick r:id="rId7" action="ppaction://hlinkpres?slideindex=2&amp;slidetitle=PowerPoint 演示文稿"/>
            <a:extLst>
              <a:ext uri="{FF2B5EF4-FFF2-40B4-BE49-F238E27FC236}">
                <a16:creationId xmlns:a16="http://schemas.microsoft.com/office/drawing/2014/main" id="{16A7CE5A-5BFE-52FC-7EC0-2680C7E53B6D}"/>
              </a:ext>
            </a:extLst>
          </p:cNvPr>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8058150" y="6286500"/>
            <a:ext cx="10858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a:extLst>
              <a:ext uri="{FF2B5EF4-FFF2-40B4-BE49-F238E27FC236}">
                <a16:creationId xmlns:a16="http://schemas.microsoft.com/office/drawing/2014/main" id="{251B685F-971B-C14E-A062-E746EE268003}"/>
              </a:ext>
            </a:extLst>
          </p:cNvPr>
          <p:cNvSpPr txBox="1">
            <a:spLocks/>
          </p:cNvSpPr>
          <p:nvPr/>
        </p:nvSpPr>
        <p:spPr>
          <a:xfrm>
            <a:off x="685800" y="533400"/>
            <a:ext cx="7772400" cy="1143000"/>
          </a:xfrm>
          <a:prstGeom prst="rect">
            <a:avLst/>
          </a:prstGeom>
        </p:spPr>
        <p:txBody>
          <a:bodyPr/>
          <a:lstStyle/>
          <a:p>
            <a:pPr algn="ctr" eaLnBrk="1" hangingPunct="1">
              <a:defRPr/>
            </a:pPr>
            <a:r>
              <a:rPr lang="zh-CN" altLang="en-US" sz="4400" b="1" kern="0" dirty="0">
                <a:solidFill>
                  <a:srgbClr val="660066"/>
                </a:solidFill>
                <a:latin typeface="+mj-lt"/>
                <a:ea typeface="楷体_GB2312" pitchFamily="49" charset="-122"/>
                <a:cs typeface="+mj-cs"/>
              </a:rPr>
              <a:t>本章内容</a:t>
            </a:r>
          </a:p>
        </p:txBody>
      </p:sp>
    </p:spTree>
  </p:cSld>
  <p:clrMapOvr>
    <a:masterClrMapping/>
  </p:clrMapOvr>
  <p:transition>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a:extLst>
              <a:ext uri="{FF2B5EF4-FFF2-40B4-BE49-F238E27FC236}">
                <a16:creationId xmlns:a16="http://schemas.microsoft.com/office/drawing/2014/main" id="{EC237E94-1431-5D6C-9572-8FF55A259E69}"/>
              </a:ext>
            </a:extLst>
          </p:cNvPr>
          <p:cNvSpPr>
            <a:spLocks noGrp="1" noChangeArrowheads="1"/>
          </p:cNvSpPr>
          <p:nvPr>
            <p:ph type="title"/>
          </p:nvPr>
        </p:nvSpPr>
        <p:spPr>
          <a:xfrm>
            <a:off x="685800" y="285750"/>
            <a:ext cx="7772400" cy="1143000"/>
          </a:xfrm>
        </p:spPr>
        <p:txBody>
          <a:bodyPr/>
          <a:lstStyle/>
          <a:p>
            <a:pPr eaLnBrk="1" hangingPunct="1"/>
            <a:r>
              <a:rPr lang="zh-CN" altLang="en-US" b="1">
                <a:solidFill>
                  <a:srgbClr val="660066"/>
                </a:solidFill>
                <a:ea typeface="楷体_GB2312" pitchFamily="1" charset="-122"/>
              </a:rPr>
              <a:t>概  述</a:t>
            </a:r>
          </a:p>
        </p:txBody>
      </p:sp>
      <p:sp>
        <p:nvSpPr>
          <p:cNvPr id="5123" name="内容占位符 2">
            <a:extLst>
              <a:ext uri="{FF2B5EF4-FFF2-40B4-BE49-F238E27FC236}">
                <a16:creationId xmlns:a16="http://schemas.microsoft.com/office/drawing/2014/main" id="{B22C0B90-A9AB-5020-FE7F-168C8F9F12BD}"/>
              </a:ext>
            </a:extLst>
          </p:cNvPr>
          <p:cNvSpPr>
            <a:spLocks noGrp="1" noChangeArrowheads="1"/>
          </p:cNvSpPr>
          <p:nvPr>
            <p:ph idx="1"/>
          </p:nvPr>
        </p:nvSpPr>
        <p:spPr>
          <a:xfrm>
            <a:off x="357188" y="1357313"/>
            <a:ext cx="8572500" cy="5286375"/>
          </a:xfrm>
        </p:spPr>
        <p:txBody>
          <a:bodyPr/>
          <a:lstStyle/>
          <a:p>
            <a:pPr eaLnBrk="1" hangingPunct="1"/>
            <a:r>
              <a:rPr lang="zh-CN" altLang="en-US" sz="2800"/>
              <a:t>所有的计算机应用程序都要：</a:t>
            </a:r>
            <a:r>
              <a:rPr lang="zh-CN" altLang="en-US" sz="2800" b="1" u="sng"/>
              <a:t>存储信息</a:t>
            </a:r>
            <a:r>
              <a:rPr lang="zh-CN" altLang="en-US" sz="2800" b="1"/>
              <a:t>，</a:t>
            </a:r>
            <a:r>
              <a:rPr lang="zh-CN" altLang="en-US" sz="2800" b="1" u="sng"/>
              <a:t>检索信息</a:t>
            </a:r>
          </a:p>
          <a:p>
            <a:pPr eaLnBrk="1" hangingPunct="1"/>
            <a:endParaRPr lang="en-US" altLang="zh-CN" sz="800"/>
          </a:p>
          <a:p>
            <a:pPr eaLnBrk="1" hangingPunct="1"/>
            <a:r>
              <a:rPr lang="zh-CN" altLang="en-US" sz="2800" b="1">
                <a:solidFill>
                  <a:schemeClr val="accent2"/>
                </a:solidFill>
              </a:rPr>
              <a:t>三个基本要求：</a:t>
            </a:r>
          </a:p>
          <a:p>
            <a:pPr lvl="1" eaLnBrk="1" hangingPunct="1"/>
            <a:r>
              <a:rPr lang="zh-CN" altLang="en-US" sz="2400"/>
              <a:t>能够存储大量的信息</a:t>
            </a:r>
          </a:p>
          <a:p>
            <a:pPr lvl="1" eaLnBrk="1" hangingPunct="1"/>
            <a:r>
              <a:rPr lang="zh-CN" altLang="en-US" sz="2400"/>
              <a:t>长期保存信息</a:t>
            </a:r>
          </a:p>
          <a:p>
            <a:pPr lvl="1" eaLnBrk="1" hangingPunct="1"/>
            <a:r>
              <a:rPr lang="zh-CN" altLang="en-US" sz="2400"/>
              <a:t>可以共享信息</a:t>
            </a:r>
            <a:endParaRPr lang="en-US" altLang="zh-CN" sz="2400"/>
          </a:p>
          <a:p>
            <a:pPr eaLnBrk="1" hangingPunct="1"/>
            <a:endParaRPr lang="en-US" altLang="zh-CN" sz="800"/>
          </a:p>
          <a:p>
            <a:pPr eaLnBrk="1" hangingPunct="1"/>
            <a:r>
              <a:rPr lang="zh-CN" altLang="en-US" sz="2800" b="1">
                <a:solidFill>
                  <a:schemeClr val="accent2"/>
                </a:solidFill>
              </a:rPr>
              <a:t>解决方法：</a:t>
            </a:r>
          </a:p>
          <a:p>
            <a:pPr lvl="1" eaLnBrk="1" hangingPunct="1"/>
            <a:r>
              <a:rPr lang="zh-CN" altLang="en-US" sz="2400"/>
              <a:t>把信息以一种单元</a:t>
            </a:r>
            <a:r>
              <a:rPr lang="en-US" altLang="zh-CN" sz="2400"/>
              <a:t>—</a:t>
            </a:r>
            <a:r>
              <a:rPr lang="zh-CN" altLang="en-US" sz="2400"/>
              <a:t>即文件的形式存储在磁盘或其他介质上</a:t>
            </a:r>
          </a:p>
          <a:p>
            <a:pPr eaLnBrk="1" hangingPunct="1"/>
            <a:endParaRPr lang="en-US" altLang="zh-CN" sz="800"/>
          </a:p>
          <a:p>
            <a:pPr eaLnBrk="1" hangingPunct="1"/>
            <a:r>
              <a:rPr lang="zh-CN" altLang="en-US" sz="2800" b="1">
                <a:solidFill>
                  <a:schemeClr val="accent2"/>
                </a:solidFill>
              </a:rPr>
              <a:t>文件是通过操作系统来管理的</a:t>
            </a:r>
          </a:p>
          <a:p>
            <a:pPr lvl="1" eaLnBrk="1" hangingPunct="1"/>
            <a:r>
              <a:rPr lang="zh-CN" altLang="en-US" sz="2400"/>
              <a:t>包括：文件的结构，命名，存取，使用，保护和实现方法</a:t>
            </a:r>
          </a:p>
        </p:txBody>
      </p:sp>
    </p:spTree>
  </p:cSld>
  <p:clrMapOvr>
    <a:masterClrMapping/>
  </p:clrMapOvr>
  <p:transition>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内容占位符 2">
            <a:extLst>
              <a:ext uri="{FF2B5EF4-FFF2-40B4-BE49-F238E27FC236}">
                <a16:creationId xmlns:a16="http://schemas.microsoft.com/office/drawing/2014/main" id="{CC77FD08-A2BE-607C-1D49-6973C0D7AD46}"/>
              </a:ext>
            </a:extLst>
          </p:cNvPr>
          <p:cNvSpPr>
            <a:spLocks noGrp="1" noChangeArrowheads="1"/>
          </p:cNvSpPr>
          <p:nvPr>
            <p:ph idx="1"/>
          </p:nvPr>
        </p:nvSpPr>
        <p:spPr>
          <a:xfrm>
            <a:off x="285750" y="1171575"/>
            <a:ext cx="8501063" cy="4114800"/>
          </a:xfrm>
        </p:spPr>
        <p:txBody>
          <a:bodyPr/>
          <a:lstStyle/>
          <a:p>
            <a:pPr eaLnBrk="1" hangingPunct="1"/>
            <a:r>
              <a:rPr lang="zh-CN" altLang="en-US" sz="2800" b="1">
                <a:solidFill>
                  <a:schemeClr val="accent2"/>
                </a:solidFill>
              </a:rPr>
              <a:t>用户观点：</a:t>
            </a:r>
            <a:r>
              <a:rPr lang="zh-CN" altLang="en-US" sz="2800" b="1"/>
              <a:t> </a:t>
            </a:r>
          </a:p>
          <a:p>
            <a:pPr lvl="1" eaLnBrk="1" hangingPunct="1"/>
            <a:r>
              <a:rPr lang="zh-CN" altLang="en-US" sz="2400"/>
              <a:t>文件系统如何呈现在其面前： </a:t>
            </a:r>
          </a:p>
          <a:p>
            <a:pPr lvl="1" eaLnBrk="1" hangingPunct="1"/>
            <a:r>
              <a:rPr lang="zh-CN" altLang="en-US" sz="2400"/>
              <a:t>一个文件由什么组成，如何命名，如何保护文件，可以进行何种操作等等。 </a:t>
            </a:r>
            <a:endParaRPr lang="en-US" altLang="zh-CN" sz="2400"/>
          </a:p>
          <a:p>
            <a:pPr eaLnBrk="1" hangingPunct="1"/>
            <a:endParaRPr lang="en-US" altLang="zh-CN" sz="2800"/>
          </a:p>
          <a:p>
            <a:pPr eaLnBrk="1" hangingPunct="1"/>
            <a:r>
              <a:rPr lang="zh-CN" altLang="en-US" sz="2800" b="1">
                <a:solidFill>
                  <a:schemeClr val="accent2"/>
                </a:solidFill>
              </a:rPr>
              <a:t>操作系统观点：</a:t>
            </a:r>
            <a:r>
              <a:rPr lang="zh-CN" altLang="en-US" sz="2800" b="1"/>
              <a:t> </a:t>
            </a:r>
          </a:p>
          <a:p>
            <a:pPr lvl="1" eaLnBrk="1" hangingPunct="1"/>
            <a:r>
              <a:rPr lang="zh-CN" altLang="en-US" sz="2400"/>
              <a:t>文件目录怎样实现，怎样管理存储空间，文件存储位置，磁盘实际运作方式</a:t>
            </a:r>
            <a:r>
              <a:rPr lang="en-US" altLang="zh-CN" sz="2400"/>
              <a:t>(</a:t>
            </a:r>
            <a:r>
              <a:rPr lang="zh-CN" altLang="en-US" sz="2400"/>
              <a:t>与设备管理的接口</a:t>
            </a:r>
            <a:r>
              <a:rPr lang="en-US" altLang="zh-CN" sz="2400"/>
              <a:t>)</a:t>
            </a:r>
            <a:r>
              <a:rPr lang="zh-CN" altLang="en-US" sz="2400"/>
              <a:t>等等。</a:t>
            </a:r>
          </a:p>
          <a:p>
            <a:pPr eaLnBrk="1" hangingPunct="1"/>
            <a:endParaRPr lang="zh-CN" altLang="en-US" sz="2800"/>
          </a:p>
        </p:txBody>
      </p:sp>
      <p:sp>
        <p:nvSpPr>
          <p:cNvPr id="6147" name="标题 1">
            <a:extLst>
              <a:ext uri="{FF2B5EF4-FFF2-40B4-BE49-F238E27FC236}">
                <a16:creationId xmlns:a16="http://schemas.microsoft.com/office/drawing/2014/main" id="{5183FE21-89C6-33E0-ABAD-DCAF0A6199E1}"/>
              </a:ext>
            </a:extLst>
          </p:cNvPr>
          <p:cNvSpPr>
            <a:spLocks noGrp="1" noChangeArrowheads="1"/>
          </p:cNvSpPr>
          <p:nvPr>
            <p:ph type="title"/>
          </p:nvPr>
        </p:nvSpPr>
        <p:spPr>
          <a:xfrm>
            <a:off x="685800" y="285750"/>
            <a:ext cx="7772400" cy="1143000"/>
          </a:xfrm>
        </p:spPr>
        <p:txBody>
          <a:bodyPr/>
          <a:lstStyle/>
          <a:p>
            <a:pPr eaLnBrk="1" hangingPunct="1"/>
            <a:r>
              <a:rPr lang="zh-CN" altLang="en-US" b="1">
                <a:solidFill>
                  <a:srgbClr val="660066"/>
                </a:solidFill>
                <a:ea typeface="楷体_GB2312" pitchFamily="1" charset="-122"/>
              </a:rPr>
              <a:t>概  述</a:t>
            </a:r>
          </a:p>
        </p:txBody>
      </p:sp>
    </p:spTree>
  </p:cSld>
  <p:clrMapOvr>
    <a:masterClrMapping/>
  </p:clrMapOvr>
  <p:transition>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61255C38-BFB5-129F-CFC7-E8F1D236EE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 y="393700"/>
            <a:ext cx="91567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Picture 3">
            <a:extLst>
              <a:ext uri="{FF2B5EF4-FFF2-40B4-BE49-F238E27FC236}">
                <a16:creationId xmlns:a16="http://schemas.microsoft.com/office/drawing/2014/main" id="{F677E276-AC5F-35BB-D1EA-59EF90BBA9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0650" y="6165850"/>
            <a:ext cx="38417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3E04309-0D52-5BCE-66FF-B47D53F62913}"/>
              </a:ext>
            </a:extLst>
          </p:cNvPr>
          <p:cNvSpPr>
            <a:spLocks noGrp="1" noChangeArrowheads="1"/>
          </p:cNvSpPr>
          <p:nvPr>
            <p:ph type="title" idx="4294967295"/>
          </p:nvPr>
        </p:nvSpPr>
        <p:spPr>
          <a:xfrm>
            <a:off x="685800" y="2205038"/>
            <a:ext cx="7772400" cy="1143000"/>
          </a:xfrm>
        </p:spPr>
        <p:txBody>
          <a:bodyPr/>
          <a:lstStyle/>
          <a:p>
            <a:pPr eaLnBrk="1" hangingPunct="1"/>
            <a:r>
              <a:rPr lang="en-US" altLang="zh-CN" b="1">
                <a:solidFill>
                  <a:srgbClr val="660066"/>
                </a:solidFill>
                <a:latin typeface="楷体_GB2312" pitchFamily="1" charset="-122"/>
                <a:ea typeface="楷体_GB2312" pitchFamily="1" charset="-122"/>
              </a:rPr>
              <a:t>7.1 </a:t>
            </a:r>
            <a:r>
              <a:rPr lang="zh-CN" altLang="en-US" b="1">
                <a:solidFill>
                  <a:srgbClr val="660066"/>
                </a:solidFill>
                <a:latin typeface="楷体_GB2312" pitchFamily="1" charset="-122"/>
                <a:ea typeface="楷体_GB2312" pitchFamily="1" charset="-122"/>
              </a:rPr>
              <a:t>文件和文件系统</a:t>
            </a:r>
          </a:p>
        </p:txBody>
      </p:sp>
    </p:spTree>
  </p:cSld>
  <p:clrMapOvr>
    <a:masterClrMapping/>
  </p:clrMapOvr>
  <p:transition advClick="0">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91033892-A04D-4DFD-7AC6-BA2D9B395F22}"/>
              </a:ext>
            </a:extLst>
          </p:cNvPr>
          <p:cNvSpPr>
            <a:spLocks noGrp="1" noChangeArrowheads="1"/>
          </p:cNvSpPr>
          <p:nvPr>
            <p:ph type="title"/>
          </p:nvPr>
        </p:nvSpPr>
        <p:spPr>
          <a:xfrm>
            <a:off x="685800" y="285750"/>
            <a:ext cx="7772400" cy="1143000"/>
          </a:xfrm>
        </p:spPr>
        <p:txBody>
          <a:bodyPr/>
          <a:lstStyle/>
          <a:p>
            <a:pPr eaLnBrk="1" hangingPunct="1"/>
            <a:r>
              <a:rPr lang="en-US" altLang="zh-CN" b="1">
                <a:solidFill>
                  <a:srgbClr val="660066"/>
                </a:solidFill>
                <a:ea typeface="楷体_GB2312" pitchFamily="1" charset="-122"/>
              </a:rPr>
              <a:t>7.1.1</a:t>
            </a:r>
            <a:r>
              <a:rPr lang="zh-CN" altLang="en-US" b="1">
                <a:solidFill>
                  <a:srgbClr val="660066"/>
                </a:solidFill>
                <a:ea typeface="楷体_GB2312" pitchFamily="1" charset="-122"/>
              </a:rPr>
              <a:t>数据项、记录和文件</a:t>
            </a:r>
            <a:endParaRPr lang="zh-CN" altLang="en-US"/>
          </a:p>
        </p:txBody>
      </p:sp>
      <p:sp>
        <p:nvSpPr>
          <p:cNvPr id="10243" name="内容占位符 2">
            <a:extLst>
              <a:ext uri="{FF2B5EF4-FFF2-40B4-BE49-F238E27FC236}">
                <a16:creationId xmlns:a16="http://schemas.microsoft.com/office/drawing/2014/main" id="{F40A89AF-CAAD-7292-0308-04F841A7FBCF}"/>
              </a:ext>
            </a:extLst>
          </p:cNvPr>
          <p:cNvSpPr>
            <a:spLocks noGrp="1" noChangeArrowheads="1"/>
          </p:cNvSpPr>
          <p:nvPr>
            <p:ph idx="1"/>
          </p:nvPr>
        </p:nvSpPr>
        <p:spPr>
          <a:xfrm>
            <a:off x="300038" y="1285875"/>
            <a:ext cx="8558212" cy="5357813"/>
          </a:xfrm>
        </p:spPr>
        <p:txBody>
          <a:bodyPr/>
          <a:lstStyle/>
          <a:p>
            <a:pPr eaLnBrk="1" hangingPunct="1">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、数据项</a:t>
            </a:r>
            <a:endParaRPr kumimoji="0" lang="en-US" altLang="zh-CN" b="1">
              <a:solidFill>
                <a:srgbClr val="C00000"/>
              </a:solidFill>
              <a:latin typeface="Arial" panose="020B0604020202020204" pitchFamily="34" charset="0"/>
            </a:endParaRPr>
          </a:p>
          <a:p>
            <a:pPr eaLnBrk="1" hangingPunct="1"/>
            <a:r>
              <a:rPr lang="zh-CN" altLang="en-US" sz="2800" b="1">
                <a:solidFill>
                  <a:schemeClr val="accent2"/>
                </a:solidFill>
              </a:rPr>
              <a:t>基本数据项</a:t>
            </a:r>
            <a:r>
              <a:rPr lang="zh-CN" altLang="en-US" sz="2800">
                <a:solidFill>
                  <a:schemeClr val="accent2"/>
                </a:solidFill>
              </a:rPr>
              <a:t>：</a:t>
            </a:r>
            <a:r>
              <a:rPr lang="zh-CN" altLang="en-US" sz="2800"/>
              <a:t>是用于描述一个对象的某种属性的字符集</a:t>
            </a:r>
            <a:endParaRPr lang="en-US" altLang="zh-CN" sz="2800"/>
          </a:p>
          <a:p>
            <a:pPr lvl="1" eaLnBrk="1" hangingPunct="1"/>
            <a:r>
              <a:rPr lang="zh-CN" altLang="en-US" sz="2400"/>
              <a:t>数据名</a:t>
            </a:r>
            <a:endParaRPr lang="en-US" altLang="zh-CN" sz="2400"/>
          </a:p>
          <a:p>
            <a:pPr lvl="1" eaLnBrk="1" hangingPunct="1"/>
            <a:r>
              <a:rPr lang="zh-CN" altLang="en-US" sz="2400"/>
              <a:t>数据类型</a:t>
            </a:r>
          </a:p>
          <a:p>
            <a:pPr eaLnBrk="1" hangingPunct="1"/>
            <a:r>
              <a:rPr lang="zh-CN" altLang="en-US" sz="2800" b="1">
                <a:solidFill>
                  <a:schemeClr val="accent2"/>
                </a:solidFill>
              </a:rPr>
              <a:t>组合数据项</a:t>
            </a:r>
            <a:r>
              <a:rPr lang="zh-CN" altLang="en-US" sz="2800">
                <a:solidFill>
                  <a:schemeClr val="accent2"/>
                </a:solidFill>
              </a:rPr>
              <a:t>：</a:t>
            </a:r>
            <a:r>
              <a:rPr lang="zh-CN" altLang="en-US" sz="2800"/>
              <a:t>由若干个基本数据项组成 </a:t>
            </a:r>
            <a:endParaRPr lang="en-US" altLang="zh-CN" sz="2800"/>
          </a:p>
          <a:p>
            <a:pPr eaLnBrk="1" hangingPunct="1">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、记录</a:t>
            </a:r>
            <a:endParaRPr kumimoji="0" lang="en-US" altLang="zh-CN" b="1">
              <a:solidFill>
                <a:srgbClr val="C00000"/>
              </a:solidFill>
              <a:latin typeface="Arial" panose="020B0604020202020204" pitchFamily="34" charset="0"/>
            </a:endParaRPr>
          </a:p>
          <a:p>
            <a:pPr eaLnBrk="1" hangingPunct="1"/>
            <a:r>
              <a:rPr lang="zh-CN" altLang="en-US" sz="2800"/>
              <a:t>一组相关数据项的集合</a:t>
            </a:r>
          </a:p>
          <a:p>
            <a:pPr eaLnBrk="1" hangingPunct="1"/>
            <a:r>
              <a:rPr lang="zh-CN" altLang="en-US" sz="2800" b="1">
                <a:solidFill>
                  <a:schemeClr val="accent2"/>
                </a:solidFill>
              </a:rPr>
              <a:t>关键字：</a:t>
            </a:r>
            <a:r>
              <a:rPr lang="zh-CN" altLang="en-US" sz="2800"/>
              <a:t>能唯一地标识出记录的基本</a:t>
            </a:r>
            <a:r>
              <a:rPr lang="en-US" altLang="zh-CN" sz="2800"/>
              <a:t>/</a:t>
            </a:r>
            <a:r>
              <a:rPr lang="zh-CN" altLang="en-US" sz="2800"/>
              <a:t>组合数据项</a:t>
            </a:r>
            <a:endParaRPr lang="en-US" altLang="zh-CN" sz="3600" b="1"/>
          </a:p>
        </p:txBody>
      </p:sp>
    </p:spTree>
  </p:cSld>
  <p:clrMapOvr>
    <a:masterClrMapping/>
  </p:clrMapOvr>
  <p:transition>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内容占位符 2">
            <a:extLst>
              <a:ext uri="{FF2B5EF4-FFF2-40B4-BE49-F238E27FC236}">
                <a16:creationId xmlns:a16="http://schemas.microsoft.com/office/drawing/2014/main" id="{2B584B33-5D51-D7B1-7A13-30D34929099E}"/>
              </a:ext>
            </a:extLst>
          </p:cNvPr>
          <p:cNvSpPr>
            <a:spLocks noGrp="1" noChangeArrowheads="1"/>
          </p:cNvSpPr>
          <p:nvPr>
            <p:ph idx="1"/>
          </p:nvPr>
        </p:nvSpPr>
        <p:spPr>
          <a:xfrm>
            <a:off x="285750" y="500063"/>
            <a:ext cx="8572500" cy="5381625"/>
          </a:xfrm>
        </p:spPr>
        <p:txBody>
          <a:bodyPr/>
          <a:lstStyle/>
          <a:p>
            <a:pPr eaLnBrk="1" hangingPunct="1">
              <a:buFontTx/>
              <a:buNone/>
            </a:pPr>
            <a:r>
              <a:rPr kumimoji="0" lang="en-US" altLang="zh-CN" b="1">
                <a:solidFill>
                  <a:srgbClr val="C00000"/>
                </a:solidFill>
                <a:latin typeface="Arial" panose="020B0604020202020204" pitchFamily="34" charset="0"/>
              </a:rPr>
              <a:t>3</a:t>
            </a:r>
            <a:r>
              <a:rPr kumimoji="0" lang="zh-CN" altLang="en-US" b="1">
                <a:solidFill>
                  <a:srgbClr val="C00000"/>
                </a:solidFill>
                <a:latin typeface="Arial" panose="020B0604020202020204" pitchFamily="34" charset="0"/>
              </a:rPr>
              <a:t>、文件</a:t>
            </a:r>
            <a:endParaRPr kumimoji="0" lang="en-US" altLang="zh-CN" b="1">
              <a:solidFill>
                <a:srgbClr val="C00000"/>
              </a:solidFill>
              <a:latin typeface="Arial" panose="020B0604020202020204" pitchFamily="34" charset="0"/>
            </a:endParaRPr>
          </a:p>
          <a:p>
            <a:pPr eaLnBrk="1" hangingPunct="1"/>
            <a:r>
              <a:rPr lang="zh-CN" altLang="en-US" sz="2800" b="1">
                <a:solidFill>
                  <a:schemeClr val="accent2"/>
                </a:solidFill>
              </a:rPr>
              <a:t>文件系统：</a:t>
            </a:r>
            <a:r>
              <a:rPr lang="zh-CN" altLang="en-US" sz="2800"/>
              <a:t>对文件进行操纵和管理的软件集合。</a:t>
            </a:r>
            <a:endParaRPr lang="en-US" altLang="zh-CN" sz="2800"/>
          </a:p>
          <a:p>
            <a:pPr eaLnBrk="1" hangingPunct="1"/>
            <a:r>
              <a:rPr lang="zh-CN" altLang="en-US" sz="2800" b="1">
                <a:solidFill>
                  <a:schemeClr val="accent2"/>
                </a:solidFill>
              </a:rPr>
              <a:t>文件：</a:t>
            </a:r>
            <a:r>
              <a:rPr lang="zh-CN" altLang="en-US" sz="2800"/>
              <a:t>由创建者定义的、具有文件名的一组相关信息的集合。</a:t>
            </a:r>
            <a:endParaRPr lang="en-US" altLang="zh-CN" sz="2800"/>
          </a:p>
          <a:p>
            <a:pPr eaLnBrk="1" hangingPunct="1"/>
            <a:r>
              <a:rPr lang="zh-CN" altLang="en-US" sz="2800" b="1">
                <a:solidFill>
                  <a:schemeClr val="accent2"/>
                </a:solidFill>
              </a:rPr>
              <a:t>文件组成：</a:t>
            </a:r>
            <a:endParaRPr lang="en-US" altLang="zh-CN" sz="2800" b="1">
              <a:solidFill>
                <a:schemeClr val="accent2"/>
              </a:solidFill>
            </a:endParaRPr>
          </a:p>
          <a:p>
            <a:pPr lvl="1" eaLnBrk="1" hangingPunct="1"/>
            <a:r>
              <a:rPr lang="zh-CN" altLang="en-US" sz="2400" b="1">
                <a:solidFill>
                  <a:schemeClr val="accent2"/>
                </a:solidFill>
              </a:rPr>
              <a:t>文件体：</a:t>
            </a:r>
            <a:r>
              <a:rPr lang="zh-CN" altLang="en-US" sz="2400"/>
              <a:t>文件本身的信息</a:t>
            </a:r>
            <a:endParaRPr lang="en-US" altLang="zh-CN" sz="2400"/>
          </a:p>
          <a:p>
            <a:pPr lvl="2" eaLnBrk="1" hangingPunct="1"/>
            <a:r>
              <a:rPr lang="zh-CN" altLang="en-US" sz="2000"/>
              <a:t>有结构文件</a:t>
            </a:r>
            <a:r>
              <a:rPr lang="zh-CN" altLang="en-US" sz="2000">
                <a:latin typeface="宋体" panose="02010600030101010101" pitchFamily="2" charset="-122"/>
              </a:rPr>
              <a:t>（由若干相关记录组成）</a:t>
            </a:r>
            <a:endParaRPr lang="en-US" altLang="zh-CN" sz="2000">
              <a:latin typeface="宋体" panose="02010600030101010101" pitchFamily="2" charset="-122"/>
            </a:endParaRPr>
          </a:p>
          <a:p>
            <a:pPr lvl="2" eaLnBrk="1" hangingPunct="1"/>
            <a:r>
              <a:rPr lang="zh-CN" altLang="en-US" sz="2000"/>
              <a:t>无结构文件</a:t>
            </a:r>
            <a:r>
              <a:rPr lang="zh-CN" altLang="en-US" sz="2000">
                <a:latin typeface="宋体" panose="02010600030101010101" pitchFamily="2" charset="-122"/>
              </a:rPr>
              <a:t>（字符流）</a:t>
            </a:r>
            <a:endParaRPr lang="en-US" altLang="zh-CN" sz="2000"/>
          </a:p>
          <a:p>
            <a:pPr lvl="1" eaLnBrk="1" hangingPunct="1"/>
            <a:r>
              <a:rPr lang="zh-CN" altLang="en-US" sz="2400" b="1">
                <a:solidFill>
                  <a:schemeClr val="accent2"/>
                </a:solidFill>
              </a:rPr>
              <a:t>文件属性：</a:t>
            </a:r>
            <a:r>
              <a:rPr lang="zh-CN" altLang="en-US" sz="2400"/>
              <a:t>文件存储和管理信息</a:t>
            </a:r>
            <a:endParaRPr lang="en-US" altLang="zh-CN" sz="2400"/>
          </a:p>
          <a:p>
            <a:pPr lvl="2" eaLnBrk="1" hangingPunct="1"/>
            <a:r>
              <a:rPr lang="zh-CN" altLang="en-US" sz="2000"/>
              <a:t>文件类型</a:t>
            </a:r>
            <a:endParaRPr lang="en-US" altLang="zh-CN" sz="2000"/>
          </a:p>
          <a:p>
            <a:pPr lvl="2" eaLnBrk="1" hangingPunct="1"/>
            <a:r>
              <a:rPr lang="zh-CN" altLang="en-US" sz="2000"/>
              <a:t>文件长度</a:t>
            </a:r>
            <a:endParaRPr lang="en-US" altLang="zh-CN" sz="2000"/>
          </a:p>
          <a:p>
            <a:pPr lvl="2" eaLnBrk="1" hangingPunct="1"/>
            <a:r>
              <a:rPr lang="zh-CN" altLang="en-US" sz="2000"/>
              <a:t>文件的物理位置</a:t>
            </a:r>
            <a:endParaRPr lang="en-US" altLang="zh-CN" sz="2000"/>
          </a:p>
          <a:p>
            <a:pPr lvl="2" eaLnBrk="1" hangingPunct="1"/>
            <a:r>
              <a:rPr lang="zh-CN" altLang="en-US" sz="2000"/>
              <a:t>文件的存取控制</a:t>
            </a:r>
            <a:endParaRPr lang="en-US" altLang="zh-CN" sz="2000"/>
          </a:p>
          <a:p>
            <a:pPr lvl="2" eaLnBrk="1" hangingPunct="1"/>
            <a:r>
              <a:rPr lang="zh-CN" altLang="en-US" sz="2000"/>
              <a:t>文件的建立时间</a:t>
            </a:r>
            <a:endParaRPr lang="zh-CN" altLang="en-US"/>
          </a:p>
        </p:txBody>
      </p:sp>
    </p:spTree>
  </p:cSld>
  <p:clrMapOvr>
    <a:masterClrMapping/>
  </p:clrMapOvr>
  <p:transition>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2">
            <a:extLst>
              <a:ext uri="{FF2B5EF4-FFF2-40B4-BE49-F238E27FC236}">
                <a16:creationId xmlns:a16="http://schemas.microsoft.com/office/drawing/2014/main" id="{A115056A-4B76-5582-C34B-86AE4ACFD3EC}"/>
              </a:ext>
            </a:extLst>
          </p:cNvPr>
          <p:cNvGraphicFramePr>
            <a:graphicFrameLocks noChangeAspect="1"/>
          </p:cNvGraphicFramePr>
          <p:nvPr/>
        </p:nvGraphicFramePr>
        <p:xfrm>
          <a:off x="26988" y="785813"/>
          <a:ext cx="9117012" cy="4071937"/>
        </p:xfrm>
        <a:graphic>
          <a:graphicData uri="http://schemas.openxmlformats.org/presentationml/2006/ole">
            <mc:AlternateContent xmlns:mc="http://schemas.openxmlformats.org/markup-compatibility/2006">
              <mc:Choice xmlns:v="urn:schemas-microsoft-com:vml" Requires="v">
                <p:oleObj name="Visio" r:id="rId2" imgW="2320442" imgH="1037234" progId="Visio.Drawing.11">
                  <p:embed/>
                </p:oleObj>
              </mc:Choice>
              <mc:Fallback>
                <p:oleObj name="Visio" r:id="rId2" imgW="2320442" imgH="1037234" progId="Visio.Drawing.11">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8" y="785813"/>
                        <a:ext cx="9117012" cy="407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1" name="Text Box 7">
            <a:extLst>
              <a:ext uri="{FF2B5EF4-FFF2-40B4-BE49-F238E27FC236}">
                <a16:creationId xmlns:a16="http://schemas.microsoft.com/office/drawing/2014/main" id="{A1723345-0B42-F6BB-B588-483F571C1823}"/>
              </a:ext>
            </a:extLst>
          </p:cNvPr>
          <p:cNvSpPr txBox="1">
            <a:spLocks noChangeArrowheads="1"/>
          </p:cNvSpPr>
          <p:nvPr/>
        </p:nvSpPr>
        <p:spPr bwMode="auto">
          <a:xfrm>
            <a:off x="1201738" y="5143500"/>
            <a:ext cx="76565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b="1"/>
              <a:t>图 </a:t>
            </a:r>
            <a:r>
              <a:rPr lang="en-US" altLang="zh-CN" sz="2800" b="1"/>
              <a:t>7-1  </a:t>
            </a:r>
            <a:r>
              <a:rPr lang="zh-CN" altLang="en-US" sz="2800" b="1"/>
              <a:t>文件、 记录和数据项之间的层次关系 </a:t>
            </a:r>
          </a:p>
        </p:txBody>
      </p:sp>
    </p:spTree>
  </p:cSld>
  <p:clrMapOvr>
    <a:masterClrMapping/>
  </p:clrMapOvr>
  <p:transition>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E35AD34B-C20A-A414-E5C4-8449A6363EAF}"/>
              </a:ext>
            </a:extLst>
          </p:cNvPr>
          <p:cNvSpPr>
            <a:spLocks noGrp="1" noChangeArrowheads="1"/>
          </p:cNvSpPr>
          <p:nvPr>
            <p:ph type="title"/>
          </p:nvPr>
        </p:nvSpPr>
        <p:spPr>
          <a:xfrm>
            <a:off x="685800" y="357188"/>
            <a:ext cx="7772400" cy="1143000"/>
          </a:xfrm>
        </p:spPr>
        <p:txBody>
          <a:bodyPr/>
          <a:lstStyle/>
          <a:p>
            <a:pPr eaLnBrk="1" hangingPunct="1"/>
            <a:r>
              <a:rPr lang="en-US" altLang="zh-CN" b="1">
                <a:solidFill>
                  <a:srgbClr val="660066"/>
                </a:solidFill>
                <a:ea typeface="楷体_GB2312" pitchFamily="1" charset="-122"/>
              </a:rPr>
              <a:t>7.1.2 </a:t>
            </a:r>
            <a:r>
              <a:rPr lang="zh-CN" altLang="en-US" b="1">
                <a:solidFill>
                  <a:srgbClr val="660066"/>
                </a:solidFill>
                <a:ea typeface="楷体_GB2312" pitchFamily="1" charset="-122"/>
              </a:rPr>
              <a:t>文件名和类型</a:t>
            </a:r>
            <a:endParaRPr lang="zh-CN" altLang="en-US"/>
          </a:p>
        </p:txBody>
      </p:sp>
      <p:sp>
        <p:nvSpPr>
          <p:cNvPr id="13315" name="Text Box 4">
            <a:extLst>
              <a:ext uri="{FF2B5EF4-FFF2-40B4-BE49-F238E27FC236}">
                <a16:creationId xmlns:a16="http://schemas.microsoft.com/office/drawing/2014/main" id="{D279A376-7FCD-7B98-6AA1-DA79B1E37C77}"/>
              </a:ext>
            </a:extLst>
          </p:cNvPr>
          <p:cNvSpPr txBox="1">
            <a:spLocks noChangeArrowheads="1"/>
          </p:cNvSpPr>
          <p:nvPr/>
        </p:nvSpPr>
        <p:spPr bwMode="auto">
          <a:xfrm>
            <a:off x="285750" y="1285875"/>
            <a:ext cx="39989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、文件名和扩展名</a:t>
            </a:r>
          </a:p>
        </p:txBody>
      </p:sp>
      <p:pic>
        <p:nvPicPr>
          <p:cNvPr id="13316" name="Picture 5">
            <a:extLst>
              <a:ext uri="{FF2B5EF4-FFF2-40B4-BE49-F238E27FC236}">
                <a16:creationId xmlns:a16="http://schemas.microsoft.com/office/drawing/2014/main" id="{D066764B-E692-B72F-8A38-5002B5FEAE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773238"/>
            <a:ext cx="7208837" cy="445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a:extLst>
              <a:ext uri="{FF2B5EF4-FFF2-40B4-BE49-F238E27FC236}">
                <a16:creationId xmlns:a16="http://schemas.microsoft.com/office/drawing/2014/main" id="{5E493636-879C-2E8B-C0FA-DFDDF301D91A}"/>
              </a:ext>
            </a:extLst>
          </p:cNvPr>
          <p:cNvSpPr txBox="1">
            <a:spLocks noChangeArrowheads="1"/>
          </p:cNvSpPr>
          <p:nvPr/>
        </p:nvSpPr>
        <p:spPr bwMode="auto">
          <a:xfrm>
            <a:off x="685800" y="6219825"/>
            <a:ext cx="7772400" cy="377825"/>
          </a:xfrm>
          <a:prstGeom prst="rect">
            <a:avLst/>
          </a:prstGeom>
          <a:noFill/>
          <a:ln w="9525">
            <a:noFill/>
            <a:miter lim="800000"/>
            <a:headEnd/>
            <a:tailEnd/>
          </a:ln>
        </p:spPr>
        <p:txBody>
          <a:bodyPr lIns="91426" tIns="45713" rIns="91426" bIns="45713"/>
          <a:lstStyle/>
          <a:p>
            <a:pPr marL="227013" indent="-227013" algn="ctr">
              <a:lnSpc>
                <a:spcPct val="90000"/>
              </a:lnSpc>
              <a:spcBef>
                <a:spcPct val="10000"/>
              </a:spcBef>
              <a:spcAft>
                <a:spcPct val="10000"/>
              </a:spcAft>
              <a:buClr>
                <a:srgbClr val="00A3A1"/>
              </a:buClr>
              <a:tabLst>
                <a:tab pos="227013" algn="l"/>
                <a:tab pos="741363" algn="l"/>
                <a:tab pos="1141413" algn="l"/>
                <a:tab pos="1598613" algn="l"/>
                <a:tab pos="2055813" algn="l"/>
              </a:tabLst>
              <a:defRPr/>
            </a:pPr>
            <a:r>
              <a:rPr lang="zh-CN" altLang="en-US" b="1" kern="0" dirty="0">
                <a:latin typeface="+mn-lt"/>
              </a:rPr>
              <a:t>典型文件扩展名表</a:t>
            </a:r>
            <a:endParaRPr lang="en-US" altLang="zh-CN" b="1" kern="0" dirty="0">
              <a:latin typeface="+mn-lt"/>
            </a:endParaRPr>
          </a:p>
        </p:txBody>
      </p:sp>
    </p:spTree>
  </p:cSld>
  <p:clrMapOvr>
    <a:masterClrMapping/>
  </p:clrMapOvr>
  <p:transition>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a:extLst>
              <a:ext uri="{FF2B5EF4-FFF2-40B4-BE49-F238E27FC236}">
                <a16:creationId xmlns:a16="http://schemas.microsoft.com/office/drawing/2014/main" id="{FB961E14-7FB5-1916-50F9-8935A712B7F7}"/>
              </a:ext>
            </a:extLst>
          </p:cNvPr>
          <p:cNvSpPr>
            <a:spLocks noGrp="1" noChangeArrowheads="1"/>
          </p:cNvSpPr>
          <p:nvPr>
            <p:ph idx="1"/>
          </p:nvPr>
        </p:nvSpPr>
        <p:spPr>
          <a:xfrm>
            <a:off x="357188" y="976313"/>
            <a:ext cx="8358187" cy="4929187"/>
          </a:xfrm>
        </p:spPr>
        <p:txBody>
          <a:bodyPr/>
          <a:lstStyle/>
          <a:p>
            <a:pPr eaLnBrk="1" hangingPunct="1">
              <a:lnSpc>
                <a:spcPct val="110000"/>
              </a:lnSpc>
            </a:pPr>
            <a:r>
              <a:rPr lang="zh-CN" altLang="en-US" sz="2800" b="1">
                <a:solidFill>
                  <a:schemeClr val="accent2"/>
                </a:solidFill>
              </a:rPr>
              <a:t>按用途分类</a:t>
            </a:r>
          </a:p>
          <a:p>
            <a:pPr lvl="1" eaLnBrk="1" hangingPunct="1">
              <a:lnSpc>
                <a:spcPct val="110000"/>
              </a:lnSpc>
            </a:pPr>
            <a:r>
              <a:rPr lang="zh-CN" altLang="en-US" sz="2400" b="1">
                <a:solidFill>
                  <a:schemeClr val="accent2"/>
                </a:solidFill>
              </a:rPr>
              <a:t>系统文件</a:t>
            </a:r>
            <a:r>
              <a:rPr lang="zh-CN" altLang="en-US" sz="2400">
                <a:solidFill>
                  <a:schemeClr val="accent2"/>
                </a:solidFill>
              </a:rPr>
              <a:t>：</a:t>
            </a:r>
            <a:r>
              <a:rPr lang="zh-CN" altLang="en-US" sz="2400"/>
              <a:t>指由系统软件构成的文件，一般只允许用户调用，不允许用户读和写。</a:t>
            </a:r>
          </a:p>
          <a:p>
            <a:pPr lvl="1" eaLnBrk="1" hangingPunct="1">
              <a:lnSpc>
                <a:spcPct val="110000"/>
              </a:lnSpc>
            </a:pPr>
            <a:r>
              <a:rPr lang="zh-CN" altLang="en-US" sz="2400" b="1">
                <a:solidFill>
                  <a:schemeClr val="accent2"/>
                </a:solidFill>
              </a:rPr>
              <a:t>用户文件</a:t>
            </a:r>
            <a:r>
              <a:rPr lang="zh-CN" altLang="en-US" sz="2400">
                <a:solidFill>
                  <a:schemeClr val="accent2"/>
                </a:solidFill>
              </a:rPr>
              <a:t>：</a:t>
            </a:r>
            <a:r>
              <a:rPr lang="zh-CN" altLang="en-US" sz="2400"/>
              <a:t>由用户的源代码、目标文件、可执行文件或数据等所构成的文件。</a:t>
            </a:r>
            <a:endParaRPr lang="en-US" altLang="zh-CN" sz="2400"/>
          </a:p>
          <a:p>
            <a:pPr lvl="1" eaLnBrk="1" hangingPunct="1">
              <a:lnSpc>
                <a:spcPct val="110000"/>
              </a:lnSpc>
            </a:pPr>
            <a:r>
              <a:rPr lang="zh-CN" altLang="en-US" sz="2400" b="1">
                <a:solidFill>
                  <a:schemeClr val="accent2"/>
                </a:solidFill>
              </a:rPr>
              <a:t>库文件</a:t>
            </a:r>
            <a:r>
              <a:rPr lang="zh-CN" altLang="en-US" sz="2400">
                <a:solidFill>
                  <a:schemeClr val="accent2"/>
                </a:solidFill>
              </a:rPr>
              <a:t>：</a:t>
            </a:r>
            <a:r>
              <a:rPr lang="zh-CN" altLang="en-US" sz="2400"/>
              <a:t>指由标准子例程及常用的例程等所构成的文件。</a:t>
            </a:r>
          </a:p>
          <a:p>
            <a:pPr eaLnBrk="1" hangingPunct="1">
              <a:lnSpc>
                <a:spcPct val="110000"/>
              </a:lnSpc>
            </a:pPr>
            <a:r>
              <a:rPr lang="zh-CN" altLang="en-US" sz="2800" b="1">
                <a:solidFill>
                  <a:schemeClr val="accent2"/>
                </a:solidFill>
              </a:rPr>
              <a:t>按存取控制属性分类</a:t>
            </a:r>
            <a:endParaRPr lang="en-US" altLang="zh-CN" sz="2800" b="1">
              <a:solidFill>
                <a:schemeClr val="accent2"/>
              </a:solidFill>
            </a:endParaRPr>
          </a:p>
          <a:p>
            <a:pPr lvl="1" eaLnBrk="1" hangingPunct="1">
              <a:lnSpc>
                <a:spcPct val="110000"/>
              </a:lnSpc>
            </a:pPr>
            <a:r>
              <a:rPr lang="zh-CN" altLang="en-US" sz="2400" b="1">
                <a:solidFill>
                  <a:schemeClr val="accent2"/>
                </a:solidFill>
              </a:rPr>
              <a:t>只执行文件</a:t>
            </a:r>
            <a:r>
              <a:rPr lang="zh-CN" altLang="en-US" sz="2400">
                <a:solidFill>
                  <a:schemeClr val="accent2"/>
                </a:solidFill>
              </a:rPr>
              <a:t>：</a:t>
            </a:r>
            <a:r>
              <a:rPr lang="zh-CN" altLang="en-US" sz="2400"/>
              <a:t>只允许被核准的用户调用执行。</a:t>
            </a:r>
          </a:p>
          <a:p>
            <a:pPr lvl="1" eaLnBrk="1" hangingPunct="1">
              <a:lnSpc>
                <a:spcPct val="110000"/>
              </a:lnSpc>
            </a:pPr>
            <a:r>
              <a:rPr lang="zh-CN" altLang="en-US" sz="2400" b="1">
                <a:solidFill>
                  <a:schemeClr val="accent2"/>
                </a:solidFill>
              </a:rPr>
              <a:t>只读文件</a:t>
            </a:r>
            <a:r>
              <a:rPr lang="zh-CN" altLang="en-US" sz="2400">
                <a:solidFill>
                  <a:schemeClr val="accent2"/>
                </a:solidFill>
              </a:rPr>
              <a:t>：</a:t>
            </a:r>
            <a:r>
              <a:rPr lang="zh-CN" altLang="en-US" sz="2400"/>
              <a:t>仅允许文件主及被核准用户对其进行读操作的文件，不允许写。</a:t>
            </a:r>
          </a:p>
          <a:p>
            <a:pPr lvl="1" eaLnBrk="1" hangingPunct="1">
              <a:lnSpc>
                <a:spcPct val="110000"/>
              </a:lnSpc>
            </a:pPr>
            <a:r>
              <a:rPr lang="zh-CN" altLang="en-US" sz="2400" b="1">
                <a:solidFill>
                  <a:schemeClr val="accent2"/>
                </a:solidFill>
              </a:rPr>
              <a:t>读写文件</a:t>
            </a:r>
            <a:r>
              <a:rPr lang="zh-CN" altLang="en-US" sz="2400">
                <a:solidFill>
                  <a:schemeClr val="accent2"/>
                </a:solidFill>
              </a:rPr>
              <a:t>：</a:t>
            </a:r>
            <a:r>
              <a:rPr lang="zh-CN" altLang="en-US" sz="2400"/>
              <a:t>允许文件主及被核准用户对其进行读或写操作的文件。</a:t>
            </a:r>
          </a:p>
        </p:txBody>
      </p:sp>
      <p:sp>
        <p:nvSpPr>
          <p:cNvPr id="14339" name="Text Box 4">
            <a:extLst>
              <a:ext uri="{FF2B5EF4-FFF2-40B4-BE49-F238E27FC236}">
                <a16:creationId xmlns:a16="http://schemas.microsoft.com/office/drawing/2014/main" id="{85DB0DFB-E82F-8CF2-7B77-5BD527DE2ECE}"/>
              </a:ext>
            </a:extLst>
          </p:cNvPr>
          <p:cNvSpPr txBox="1">
            <a:spLocks noChangeArrowheads="1"/>
          </p:cNvSpPr>
          <p:nvPr/>
        </p:nvSpPr>
        <p:spPr bwMode="auto">
          <a:xfrm>
            <a:off x="285750" y="468313"/>
            <a:ext cx="39989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、文件类型</a:t>
            </a:r>
          </a:p>
        </p:txBody>
      </p:sp>
    </p:spTree>
  </p:cSld>
  <p:clrMapOvr>
    <a:masterClrMapping/>
  </p:clrMapOvr>
  <p:transition>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内容占位符 2">
            <a:extLst>
              <a:ext uri="{FF2B5EF4-FFF2-40B4-BE49-F238E27FC236}">
                <a16:creationId xmlns:a16="http://schemas.microsoft.com/office/drawing/2014/main" id="{1B19706D-36A4-AA46-1664-A8430B072C4B}"/>
              </a:ext>
            </a:extLst>
          </p:cNvPr>
          <p:cNvSpPr>
            <a:spLocks noGrp="1" noChangeArrowheads="1"/>
          </p:cNvSpPr>
          <p:nvPr>
            <p:ph idx="1"/>
          </p:nvPr>
        </p:nvSpPr>
        <p:spPr>
          <a:xfrm>
            <a:off x="285750" y="1052513"/>
            <a:ext cx="8572500" cy="5500687"/>
          </a:xfrm>
        </p:spPr>
        <p:txBody>
          <a:bodyPr/>
          <a:lstStyle/>
          <a:p>
            <a:pPr eaLnBrk="1" hangingPunct="1">
              <a:spcBef>
                <a:spcPts val="1200"/>
              </a:spcBef>
            </a:pPr>
            <a:r>
              <a:rPr lang="zh-CN" altLang="en-US" sz="2800" b="1">
                <a:solidFill>
                  <a:schemeClr val="accent2"/>
                </a:solidFill>
              </a:rPr>
              <a:t>按文件中的数据形式分类</a:t>
            </a:r>
            <a:endParaRPr lang="en-US" altLang="zh-CN" sz="2800" b="1">
              <a:solidFill>
                <a:schemeClr val="accent2"/>
              </a:solidFill>
            </a:endParaRPr>
          </a:p>
          <a:p>
            <a:pPr lvl="1" eaLnBrk="1" hangingPunct="1">
              <a:spcBef>
                <a:spcPts val="1200"/>
              </a:spcBef>
            </a:pPr>
            <a:r>
              <a:rPr lang="zh-CN" altLang="en-US" sz="2400" b="1">
                <a:solidFill>
                  <a:schemeClr val="accent2"/>
                </a:solidFill>
              </a:rPr>
              <a:t>源文件</a:t>
            </a:r>
            <a:r>
              <a:rPr lang="zh-CN" altLang="en-US" sz="2400">
                <a:solidFill>
                  <a:schemeClr val="accent2"/>
                </a:solidFill>
              </a:rPr>
              <a:t>：</a:t>
            </a:r>
            <a:r>
              <a:rPr lang="zh-CN" altLang="en-US" sz="2400"/>
              <a:t>是指从终端或输入设备输入的源程序和数据。</a:t>
            </a:r>
          </a:p>
          <a:p>
            <a:pPr lvl="1" eaLnBrk="1" hangingPunct="1">
              <a:spcBef>
                <a:spcPts val="1200"/>
              </a:spcBef>
            </a:pPr>
            <a:r>
              <a:rPr lang="zh-CN" altLang="en-US" sz="2400" b="1">
                <a:solidFill>
                  <a:schemeClr val="accent2"/>
                </a:solidFill>
              </a:rPr>
              <a:t>目标文件</a:t>
            </a:r>
            <a:r>
              <a:rPr lang="zh-CN" altLang="en-US" sz="2400"/>
              <a:t>（相对地址形式文件）：是指把源程序经过编译程序编译，但尚未经过链接程序链接的目标代码所构成的文件。</a:t>
            </a:r>
          </a:p>
          <a:p>
            <a:pPr lvl="1" eaLnBrk="1" hangingPunct="1">
              <a:spcBef>
                <a:spcPts val="1200"/>
              </a:spcBef>
            </a:pPr>
            <a:r>
              <a:rPr lang="zh-CN" altLang="en-US" sz="2400" b="1">
                <a:solidFill>
                  <a:schemeClr val="accent2"/>
                </a:solidFill>
              </a:rPr>
              <a:t>可执行文件</a:t>
            </a:r>
            <a:r>
              <a:rPr lang="zh-CN" altLang="en-US" sz="2400">
                <a:solidFill>
                  <a:schemeClr val="accent2"/>
                </a:solidFill>
              </a:rPr>
              <a:t>：</a:t>
            </a:r>
            <a:r>
              <a:rPr lang="zh-CN" altLang="en-US" sz="2400"/>
              <a:t>是指由链接装配程序链接后所生成的可执行目标程序文件（用在非动态链接系统中）。</a:t>
            </a:r>
          </a:p>
          <a:p>
            <a:pPr eaLnBrk="1" hangingPunct="1">
              <a:spcBef>
                <a:spcPts val="1200"/>
              </a:spcBef>
            </a:pPr>
            <a:r>
              <a:rPr lang="zh-CN" altLang="en-US" sz="2800" b="1">
                <a:solidFill>
                  <a:schemeClr val="accent2"/>
                </a:solidFill>
              </a:rPr>
              <a:t>按组织形式和处理方式分类</a:t>
            </a:r>
            <a:endParaRPr lang="en-US" altLang="zh-CN" sz="2800" b="1">
              <a:solidFill>
                <a:schemeClr val="accent2"/>
              </a:solidFill>
            </a:endParaRPr>
          </a:p>
          <a:p>
            <a:pPr lvl="1" eaLnBrk="1" hangingPunct="1">
              <a:spcBef>
                <a:spcPts val="1200"/>
              </a:spcBef>
            </a:pPr>
            <a:r>
              <a:rPr lang="zh-CN" altLang="en-US" sz="2400" b="1">
                <a:solidFill>
                  <a:schemeClr val="accent2"/>
                </a:solidFill>
              </a:rPr>
              <a:t>普通文件</a:t>
            </a:r>
            <a:r>
              <a:rPr lang="zh-CN" altLang="en-US" sz="2400">
                <a:solidFill>
                  <a:schemeClr val="accent2"/>
                </a:solidFill>
              </a:rPr>
              <a:t>：</a:t>
            </a:r>
            <a:r>
              <a:rPr lang="zh-CN" altLang="en-US" sz="2400"/>
              <a:t>由</a:t>
            </a:r>
            <a:r>
              <a:rPr lang="en-US" altLang="zh-CN" sz="2400"/>
              <a:t>ASCII</a:t>
            </a:r>
            <a:r>
              <a:rPr lang="zh-CN" altLang="en-US" sz="2400"/>
              <a:t>码或二进制码组成的字符文件。</a:t>
            </a:r>
          </a:p>
          <a:p>
            <a:pPr lvl="1" eaLnBrk="1" hangingPunct="1">
              <a:spcBef>
                <a:spcPts val="1200"/>
              </a:spcBef>
            </a:pPr>
            <a:r>
              <a:rPr lang="zh-CN" altLang="en-US" sz="2400" b="1">
                <a:solidFill>
                  <a:schemeClr val="accent2"/>
                </a:solidFill>
              </a:rPr>
              <a:t>目录文件</a:t>
            </a:r>
            <a:r>
              <a:rPr lang="zh-CN" altLang="en-US" sz="2400">
                <a:solidFill>
                  <a:schemeClr val="accent2"/>
                </a:solidFill>
              </a:rPr>
              <a:t>：</a:t>
            </a:r>
            <a:r>
              <a:rPr lang="zh-CN" altLang="en-US" sz="2400"/>
              <a:t>由文件目录组成的文件。</a:t>
            </a:r>
            <a:endParaRPr lang="en-US" altLang="zh-CN" sz="2400"/>
          </a:p>
          <a:p>
            <a:pPr lvl="1" eaLnBrk="1" hangingPunct="1">
              <a:spcBef>
                <a:spcPts val="1200"/>
              </a:spcBef>
            </a:pPr>
            <a:r>
              <a:rPr lang="zh-CN" altLang="en-US" sz="2400" b="1">
                <a:solidFill>
                  <a:schemeClr val="accent2"/>
                </a:solidFill>
              </a:rPr>
              <a:t>特殊文件：</a:t>
            </a:r>
            <a:r>
              <a:rPr lang="zh-CN" altLang="en-US" sz="2400"/>
              <a:t>特指系统中的各类</a:t>
            </a:r>
            <a:r>
              <a:rPr lang="en-US" altLang="zh-CN" sz="2400"/>
              <a:t>I/O</a:t>
            </a:r>
            <a:r>
              <a:rPr lang="zh-CN" altLang="en-US" sz="2400"/>
              <a:t>设备。</a:t>
            </a:r>
            <a:endParaRPr lang="zh-CN" altLang="en-US"/>
          </a:p>
        </p:txBody>
      </p:sp>
      <p:sp>
        <p:nvSpPr>
          <p:cNvPr id="15363" name="Text Box 4">
            <a:extLst>
              <a:ext uri="{FF2B5EF4-FFF2-40B4-BE49-F238E27FC236}">
                <a16:creationId xmlns:a16="http://schemas.microsoft.com/office/drawing/2014/main" id="{576B4524-19C4-1F2E-130C-B3B1BC3BB8AB}"/>
              </a:ext>
            </a:extLst>
          </p:cNvPr>
          <p:cNvSpPr txBox="1">
            <a:spLocks noChangeArrowheads="1"/>
          </p:cNvSpPr>
          <p:nvPr/>
        </p:nvSpPr>
        <p:spPr bwMode="auto">
          <a:xfrm>
            <a:off x="285750" y="476250"/>
            <a:ext cx="42148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、文件类型</a:t>
            </a:r>
          </a:p>
        </p:txBody>
      </p:sp>
    </p:spTree>
  </p:cSld>
  <p:clrMapOvr>
    <a:masterClrMapping/>
  </p:clrMapOvr>
  <p:transition>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Group 354">
            <a:extLst>
              <a:ext uri="{FF2B5EF4-FFF2-40B4-BE49-F238E27FC236}">
                <a16:creationId xmlns:a16="http://schemas.microsoft.com/office/drawing/2014/main" id="{76891935-3D62-6526-32E9-AC526818D8F4}"/>
              </a:ext>
            </a:extLst>
          </p:cNvPr>
          <p:cNvGraphicFramePr>
            <a:graphicFrameLocks noGrp="1"/>
          </p:cNvGraphicFramePr>
          <p:nvPr/>
        </p:nvGraphicFramePr>
        <p:xfrm>
          <a:off x="685800" y="1125538"/>
          <a:ext cx="7315200" cy="2743200"/>
        </p:xfrm>
        <a:graphic>
          <a:graphicData uri="http://schemas.openxmlformats.org/drawingml/2006/table">
            <a:tbl>
              <a:tblPr/>
              <a:tblGrid>
                <a:gridCol w="2193925">
                  <a:extLst>
                    <a:ext uri="{9D8B030D-6E8A-4147-A177-3AD203B41FA5}">
                      <a16:colId xmlns:a16="http://schemas.microsoft.com/office/drawing/2014/main" val="20000"/>
                    </a:ext>
                  </a:extLst>
                </a:gridCol>
                <a:gridCol w="5121275">
                  <a:extLst>
                    <a:ext uri="{9D8B030D-6E8A-4147-A177-3AD203B41FA5}">
                      <a16:colId xmlns:a16="http://schemas.microsoft.com/office/drawing/2014/main" val="20001"/>
                    </a:ext>
                  </a:extLst>
                </a:gridCol>
              </a:tblGrid>
              <a:tr h="368300">
                <a:tc gridSpan="2">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宋体" pitchFamily="2" charset="-122"/>
                          <a:ea typeface="宋体" pitchFamily="2" charset="-122"/>
                        </a:rPr>
                        <a:t>文件系统接口</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290513">
                <a:tc rowSpan="4">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zh-CN" altLang="en-US" sz="2000" b="1" i="0" u="none" strike="noStrike" cap="none" normalizeH="0" baseline="0" dirty="0">
                          <a:ln>
                            <a:noFill/>
                          </a:ln>
                          <a:solidFill>
                            <a:srgbClr val="000000"/>
                          </a:solidFill>
                          <a:effectLst/>
                          <a:latin typeface="宋体" pitchFamily="2" charset="-122"/>
                          <a:ea typeface="宋体" pitchFamily="2" charset="-122"/>
                        </a:rPr>
                        <a:t>对对象操纵和管理的软件集合</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宋体" pitchFamily="2" charset="-122"/>
                          <a:ea typeface="宋体" pitchFamily="2" charset="-122"/>
                        </a:rPr>
                        <a:t>逻辑文件系统</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6225">
                <a:tc vMerge="1">
                  <a:txBody>
                    <a:bodyPr/>
                    <a:lstStyle/>
                    <a:p>
                      <a:endParaRPr lang="zh-CN" altLang="en-US"/>
                    </a:p>
                  </a:txBody>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宋体" pitchFamily="2" charset="-122"/>
                          <a:ea typeface="宋体" pitchFamily="2" charset="-122"/>
                        </a:rPr>
                        <a:t>基本</a:t>
                      </a:r>
                      <a:r>
                        <a:rPr kumimoji="1" lang="en-US" altLang="zh-CN" sz="2400" b="1" i="0" u="none" strike="noStrike" cap="none" normalizeH="0" baseline="0" dirty="0">
                          <a:ln>
                            <a:noFill/>
                          </a:ln>
                          <a:solidFill>
                            <a:srgbClr val="000000"/>
                          </a:solidFill>
                          <a:effectLst/>
                          <a:latin typeface="Tahoma" pitchFamily="34" charset="0"/>
                          <a:ea typeface="宋体" pitchFamily="2" charset="-122"/>
                        </a:rPr>
                        <a:t>I/O</a:t>
                      </a:r>
                      <a:r>
                        <a:rPr kumimoji="1" lang="zh-CN" altLang="en-US" sz="2400" b="1" i="0" u="none" strike="noStrike" cap="none" normalizeH="0" baseline="0" dirty="0">
                          <a:ln>
                            <a:noFill/>
                          </a:ln>
                          <a:solidFill>
                            <a:srgbClr val="000000"/>
                          </a:solidFill>
                          <a:effectLst/>
                          <a:latin typeface="宋体" pitchFamily="2" charset="-122"/>
                          <a:ea typeface="宋体" pitchFamily="2" charset="-122"/>
                        </a:rPr>
                        <a:t>管理程序（文件组织模块）</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1938">
                <a:tc vMerge="1">
                  <a:txBody>
                    <a:bodyPr/>
                    <a:lstStyle/>
                    <a:p>
                      <a:endParaRPr lang="zh-CN" altLang="en-US"/>
                    </a:p>
                  </a:txBody>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宋体" pitchFamily="2" charset="-122"/>
                          <a:ea typeface="宋体" pitchFamily="2" charset="-122"/>
                        </a:rPr>
                        <a:t>基本文件系统（物理</a:t>
                      </a:r>
                      <a:r>
                        <a:rPr kumimoji="1" lang="en-US" altLang="zh-CN" sz="2400" b="0" i="0" u="none" strike="noStrike" cap="none" normalizeH="0" baseline="0" dirty="0">
                          <a:ln>
                            <a:noFill/>
                          </a:ln>
                          <a:solidFill>
                            <a:srgbClr val="000000"/>
                          </a:solidFill>
                          <a:effectLst/>
                          <a:latin typeface="Tahoma" pitchFamily="34" charset="0"/>
                          <a:ea typeface="宋体" pitchFamily="2" charset="-122"/>
                        </a:rPr>
                        <a:t>I/O</a:t>
                      </a:r>
                      <a:r>
                        <a:rPr kumimoji="1" lang="zh-CN" altLang="en-US" sz="2400" b="1" i="0" u="none" strike="noStrike" cap="none" normalizeH="0" baseline="0" dirty="0">
                          <a:ln>
                            <a:noFill/>
                          </a:ln>
                          <a:solidFill>
                            <a:srgbClr val="000000"/>
                          </a:solidFill>
                          <a:effectLst/>
                          <a:latin typeface="宋体" pitchFamily="2" charset="-122"/>
                          <a:ea typeface="宋体" pitchFamily="2" charset="-122"/>
                        </a:rPr>
                        <a:t>层</a:t>
                      </a:r>
                      <a:r>
                        <a:rPr kumimoji="1" lang="zh-CN" altLang="en-US" sz="2400" b="0" i="0" u="none" strike="noStrike" cap="none" normalizeH="0" baseline="0" dirty="0">
                          <a:ln>
                            <a:noFill/>
                          </a:ln>
                          <a:solidFill>
                            <a:srgbClr val="000000"/>
                          </a:solidFill>
                          <a:effectLst/>
                          <a:latin typeface="宋体" pitchFamily="2" charset="-122"/>
                          <a:ea typeface="宋体" pitchFamily="2" charset="-122"/>
                        </a:rPr>
                        <a:t>）</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7650">
                <a:tc vMerge="1">
                  <a:txBody>
                    <a:bodyPr/>
                    <a:lstStyle/>
                    <a:p>
                      <a:endParaRPr lang="zh-CN" altLang="en-US"/>
                    </a:p>
                  </a:txBody>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400" b="0" i="0" u="none" strike="noStrike" cap="none" normalizeH="0" baseline="0" dirty="0">
                          <a:ln>
                            <a:noFill/>
                          </a:ln>
                          <a:solidFill>
                            <a:srgbClr val="000000"/>
                          </a:solidFill>
                          <a:effectLst/>
                          <a:latin typeface="Tahoma" pitchFamily="34" charset="0"/>
                          <a:ea typeface="宋体" pitchFamily="2" charset="-122"/>
                        </a:rPr>
                        <a:t>I/O</a:t>
                      </a:r>
                      <a:r>
                        <a:rPr kumimoji="1" lang="zh-CN" altLang="en-US" sz="2400" b="1" i="0" u="none" strike="noStrike" cap="none" normalizeH="0" baseline="0" dirty="0">
                          <a:ln>
                            <a:noFill/>
                          </a:ln>
                          <a:solidFill>
                            <a:srgbClr val="000000"/>
                          </a:solidFill>
                          <a:effectLst/>
                          <a:latin typeface="宋体" pitchFamily="2" charset="-122"/>
                          <a:ea typeface="宋体" pitchFamily="2" charset="-122"/>
                        </a:rPr>
                        <a:t>控制层（设备驱动程序层）</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8300">
                <a:tc gridSpan="2">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rgbClr val="000000"/>
                          </a:solidFill>
                          <a:effectLst/>
                          <a:latin typeface="宋体" pitchFamily="2" charset="-122"/>
                          <a:ea typeface="宋体" pitchFamily="2" charset="-122"/>
                        </a:rPr>
                        <a:t>对象及其属性</a:t>
                      </a:r>
                    </a:p>
                  </a:txBody>
                  <a:tcPr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5"/>
                  </a:ext>
                </a:extLst>
              </a:tr>
            </a:tbl>
          </a:graphicData>
        </a:graphic>
      </p:graphicFrame>
      <p:sp>
        <p:nvSpPr>
          <p:cNvPr id="43029" name="内容占位符 2">
            <a:extLst>
              <a:ext uri="{FF2B5EF4-FFF2-40B4-BE49-F238E27FC236}">
                <a16:creationId xmlns:a16="http://schemas.microsoft.com/office/drawing/2014/main" id="{44D79FF8-7D84-B63D-9769-C8945EDB2A60}"/>
              </a:ext>
            </a:extLst>
          </p:cNvPr>
          <p:cNvSpPr txBox="1">
            <a:spLocks/>
          </p:cNvSpPr>
          <p:nvPr/>
        </p:nvSpPr>
        <p:spPr bwMode="auto">
          <a:xfrm>
            <a:off x="357188" y="4508500"/>
            <a:ext cx="8358187" cy="184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chemeClr val="accent2"/>
                </a:solidFill>
              </a:rPr>
              <a:t>文件管理系统管理的对象包括：</a:t>
            </a:r>
          </a:p>
          <a:p>
            <a:pPr lvl="1" eaLnBrk="1" hangingPunct="1"/>
            <a:r>
              <a:rPr lang="zh-CN" altLang="en-US" sz="2400"/>
              <a:t>文件</a:t>
            </a:r>
          </a:p>
          <a:p>
            <a:pPr lvl="1" eaLnBrk="1" hangingPunct="1"/>
            <a:r>
              <a:rPr lang="zh-CN" altLang="en-US" sz="2400"/>
              <a:t>目录</a:t>
            </a:r>
          </a:p>
          <a:p>
            <a:pPr lvl="1" eaLnBrk="1" hangingPunct="1"/>
            <a:r>
              <a:rPr lang="zh-CN" altLang="en-US" sz="2400"/>
              <a:t>磁盘（磁带）存储空间</a:t>
            </a:r>
            <a:endParaRPr lang="en-US" altLang="zh-CN" sz="2400"/>
          </a:p>
        </p:txBody>
      </p:sp>
      <p:sp>
        <p:nvSpPr>
          <p:cNvPr id="5" name="标题 1">
            <a:extLst>
              <a:ext uri="{FF2B5EF4-FFF2-40B4-BE49-F238E27FC236}">
                <a16:creationId xmlns:a16="http://schemas.microsoft.com/office/drawing/2014/main" id="{2E70ECA6-F5FD-F540-4C34-F2568BB9AF6D}"/>
              </a:ext>
            </a:extLst>
          </p:cNvPr>
          <p:cNvSpPr txBox="1">
            <a:spLocks/>
          </p:cNvSpPr>
          <p:nvPr/>
        </p:nvSpPr>
        <p:spPr>
          <a:xfrm>
            <a:off x="685800" y="357188"/>
            <a:ext cx="7772400" cy="1143000"/>
          </a:xfrm>
          <a:prstGeom prst="rect">
            <a:avLst/>
          </a:prstGeom>
        </p:spPr>
        <p:txBody>
          <a:bodyPr/>
          <a:lstStyle/>
          <a:p>
            <a:pPr algn="ctr" eaLnBrk="1" hangingPunct="1">
              <a:defRPr/>
            </a:pPr>
            <a:r>
              <a:rPr lang="en-US" altLang="zh-CN" sz="4400" b="1" kern="0" dirty="0">
                <a:solidFill>
                  <a:srgbClr val="660066"/>
                </a:solidFill>
                <a:latin typeface="+mj-lt"/>
                <a:ea typeface="楷体_GB2312" pitchFamily="49" charset="-122"/>
                <a:cs typeface="+mj-cs"/>
              </a:rPr>
              <a:t>7.1.3 </a:t>
            </a:r>
            <a:r>
              <a:rPr lang="zh-CN" altLang="en-US" sz="4400" b="1" kern="0" dirty="0">
                <a:solidFill>
                  <a:srgbClr val="660066"/>
                </a:solidFill>
                <a:latin typeface="+mj-lt"/>
                <a:ea typeface="楷体_GB2312" pitchFamily="49" charset="-122"/>
                <a:cs typeface="+mj-cs"/>
              </a:rPr>
              <a:t>系统的层次结构</a:t>
            </a:r>
            <a:endParaRPr lang="zh-CN" altLang="en-US" sz="4400" kern="0" dirty="0">
              <a:solidFill>
                <a:schemeClr val="tx2"/>
              </a:solidFill>
              <a:latin typeface="+mj-lt"/>
              <a:ea typeface="+mj-ea"/>
              <a:cs typeface="+mj-cs"/>
            </a:endParaRPr>
          </a:p>
        </p:txBody>
      </p:sp>
      <p:sp>
        <p:nvSpPr>
          <p:cNvPr id="8" name="矩形 7">
            <a:extLst>
              <a:ext uri="{FF2B5EF4-FFF2-40B4-BE49-F238E27FC236}">
                <a16:creationId xmlns:a16="http://schemas.microsoft.com/office/drawing/2014/main" id="{F2A0E167-F6DF-D49A-14EC-0F1B5EE22294}"/>
              </a:ext>
            </a:extLst>
          </p:cNvPr>
          <p:cNvSpPr>
            <a:spLocks noChangeArrowheads="1"/>
          </p:cNvSpPr>
          <p:nvPr/>
        </p:nvSpPr>
        <p:spPr bwMode="auto">
          <a:xfrm>
            <a:off x="323850" y="3933825"/>
            <a:ext cx="32956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、对象及其属性</a:t>
            </a:r>
            <a:endParaRPr kumimoji="0" lang="en-US" altLang="zh-CN" b="1">
              <a:solidFill>
                <a:srgbClr val="C00000"/>
              </a:solidFill>
              <a:latin typeface="Arial" panose="020B0604020202020204" pitchFamily="34"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3029"/>
                                        </p:tgtEl>
                                        <p:attrNameLst>
                                          <p:attrName>style.visibility</p:attrName>
                                        </p:attrNameLst>
                                      </p:cBhvr>
                                      <p:to>
                                        <p:strVal val="visible"/>
                                      </p:to>
                                    </p:set>
                                    <p:anim calcmode="lin" valueType="num">
                                      <p:cBhvr additive="base">
                                        <p:cTn id="11" dur="500" fill="hold"/>
                                        <p:tgtEl>
                                          <p:spTgt spid="43029"/>
                                        </p:tgtEl>
                                        <p:attrNameLst>
                                          <p:attrName>ppt_x</p:attrName>
                                        </p:attrNameLst>
                                      </p:cBhvr>
                                      <p:tavLst>
                                        <p:tav tm="0">
                                          <p:val>
                                            <p:strVal val="#ppt_x"/>
                                          </p:val>
                                        </p:tav>
                                        <p:tav tm="100000">
                                          <p:val>
                                            <p:strVal val="#ppt_x"/>
                                          </p:val>
                                        </p:tav>
                                      </p:tavLst>
                                    </p:anim>
                                    <p:anim calcmode="lin" valueType="num">
                                      <p:cBhvr additive="base">
                                        <p:cTn id="12" dur="500" fill="hold"/>
                                        <p:tgtEl>
                                          <p:spTgt spid="43029"/>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xit" presetSubtype="4" fill="hold" grpId="1" nodeType="clickEffect">
                                  <p:stCondLst>
                                    <p:cond delay="0"/>
                                  </p:stCondLst>
                                  <p:childTnLst>
                                    <p:anim calcmode="lin" valueType="num">
                                      <p:cBhvr additive="base">
                                        <p:cTn id="16" dur="500"/>
                                        <p:tgtEl>
                                          <p:spTgt spid="8"/>
                                        </p:tgtEl>
                                        <p:attrNameLst>
                                          <p:attrName>ppt_x</p:attrName>
                                        </p:attrNameLst>
                                      </p:cBhvr>
                                      <p:tavLst>
                                        <p:tav tm="0">
                                          <p:val>
                                            <p:strVal val="ppt_x"/>
                                          </p:val>
                                        </p:tav>
                                        <p:tav tm="100000">
                                          <p:val>
                                            <p:strVal val="ppt_x"/>
                                          </p:val>
                                        </p:tav>
                                      </p:tavLst>
                                    </p:anim>
                                    <p:anim calcmode="lin" valueType="num">
                                      <p:cBhvr additive="base">
                                        <p:cTn id="17" dur="500"/>
                                        <p:tgtEl>
                                          <p:spTgt spid="8"/>
                                        </p:tgtEl>
                                        <p:attrNameLst>
                                          <p:attrName>ppt_y</p:attrName>
                                        </p:attrNameLst>
                                      </p:cBhvr>
                                      <p:tavLst>
                                        <p:tav tm="0">
                                          <p:val>
                                            <p:strVal val="ppt_y"/>
                                          </p:val>
                                        </p:tav>
                                        <p:tav tm="100000">
                                          <p:val>
                                            <p:strVal val="1+ppt_h/2"/>
                                          </p:val>
                                        </p:tav>
                                      </p:tavLst>
                                    </p:anim>
                                    <p:set>
                                      <p:cBhvr>
                                        <p:cTn id="18" dur="1" fill="hold">
                                          <p:stCondLst>
                                            <p:cond delay="499"/>
                                          </p:stCondLst>
                                        </p:cTn>
                                        <p:tgtEl>
                                          <p:spTgt spid="8"/>
                                        </p:tgtEl>
                                        <p:attrNameLst>
                                          <p:attrName>style.visibility</p:attrName>
                                        </p:attrNameLst>
                                      </p:cBhvr>
                                      <p:to>
                                        <p:strVal val="hidden"/>
                                      </p:to>
                                    </p:set>
                                  </p:childTnLst>
                                </p:cTn>
                              </p:par>
                              <p:par>
                                <p:cTn id="19" presetID="2" presetClass="exit" presetSubtype="4" fill="hold" grpId="1" nodeType="withEffect">
                                  <p:stCondLst>
                                    <p:cond delay="0"/>
                                  </p:stCondLst>
                                  <p:childTnLst>
                                    <p:anim calcmode="lin" valueType="num">
                                      <p:cBhvr additive="base">
                                        <p:cTn id="20" dur="500"/>
                                        <p:tgtEl>
                                          <p:spTgt spid="43029"/>
                                        </p:tgtEl>
                                        <p:attrNameLst>
                                          <p:attrName>ppt_x</p:attrName>
                                        </p:attrNameLst>
                                      </p:cBhvr>
                                      <p:tavLst>
                                        <p:tav tm="0">
                                          <p:val>
                                            <p:strVal val="ppt_x"/>
                                          </p:val>
                                        </p:tav>
                                        <p:tav tm="100000">
                                          <p:val>
                                            <p:strVal val="ppt_x"/>
                                          </p:val>
                                        </p:tav>
                                      </p:tavLst>
                                    </p:anim>
                                    <p:anim calcmode="lin" valueType="num">
                                      <p:cBhvr additive="base">
                                        <p:cTn id="21" dur="500"/>
                                        <p:tgtEl>
                                          <p:spTgt spid="43029"/>
                                        </p:tgtEl>
                                        <p:attrNameLst>
                                          <p:attrName>ppt_y</p:attrName>
                                        </p:attrNameLst>
                                      </p:cBhvr>
                                      <p:tavLst>
                                        <p:tav tm="0">
                                          <p:val>
                                            <p:strVal val="ppt_y"/>
                                          </p:val>
                                        </p:tav>
                                        <p:tav tm="100000">
                                          <p:val>
                                            <p:strVal val="1+ppt_h/2"/>
                                          </p:val>
                                        </p:tav>
                                      </p:tavLst>
                                    </p:anim>
                                    <p:set>
                                      <p:cBhvr>
                                        <p:cTn id="22" dur="1" fill="hold">
                                          <p:stCondLst>
                                            <p:cond delay="499"/>
                                          </p:stCondLst>
                                        </p:cTn>
                                        <p:tgtEl>
                                          <p:spTgt spid="430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29" grpId="0"/>
      <p:bldP spid="43029" grpId="1"/>
      <p:bldP spid="8" grpId="0"/>
      <p:bldP spid="8"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内容占位符 2">
            <a:extLst>
              <a:ext uri="{FF2B5EF4-FFF2-40B4-BE49-F238E27FC236}">
                <a16:creationId xmlns:a16="http://schemas.microsoft.com/office/drawing/2014/main" id="{39E45D13-6E48-1CEF-9437-AAD39D6862AF}"/>
              </a:ext>
            </a:extLst>
          </p:cNvPr>
          <p:cNvSpPr>
            <a:spLocks noGrp="1" noChangeArrowheads="1"/>
          </p:cNvSpPr>
          <p:nvPr>
            <p:ph idx="1"/>
          </p:nvPr>
        </p:nvSpPr>
        <p:spPr>
          <a:xfrm>
            <a:off x="250825" y="1052513"/>
            <a:ext cx="8713788" cy="5143500"/>
          </a:xfrm>
        </p:spPr>
        <p:txBody>
          <a:bodyPr/>
          <a:lstStyle/>
          <a:p>
            <a:pPr>
              <a:spcBef>
                <a:spcPts val="600"/>
              </a:spcBef>
            </a:pPr>
            <a:r>
              <a:rPr lang="zh-CN" altLang="en-US" sz="2800" b="1">
                <a:solidFill>
                  <a:schemeClr val="accent2"/>
                </a:solidFill>
              </a:rPr>
              <a:t>该层实现的功能包括：</a:t>
            </a:r>
          </a:p>
          <a:p>
            <a:pPr lvl="1">
              <a:spcBef>
                <a:spcPts val="600"/>
              </a:spcBef>
            </a:pPr>
            <a:r>
              <a:rPr lang="zh-CN" altLang="en-US" sz="2400"/>
              <a:t>对文件存储空间的管理</a:t>
            </a:r>
          </a:p>
          <a:p>
            <a:pPr lvl="1">
              <a:spcBef>
                <a:spcPts val="600"/>
              </a:spcBef>
            </a:pPr>
            <a:r>
              <a:rPr lang="zh-CN" altLang="en-US" sz="2400"/>
              <a:t>对文件目录的管理</a:t>
            </a:r>
          </a:p>
          <a:p>
            <a:pPr lvl="1">
              <a:spcBef>
                <a:spcPts val="600"/>
              </a:spcBef>
            </a:pPr>
            <a:r>
              <a:rPr lang="zh-CN" altLang="en-US" sz="2400"/>
              <a:t>将文件的逻辑地址转换为物理地址</a:t>
            </a:r>
            <a:endParaRPr lang="en-US" altLang="zh-CN" sz="2400"/>
          </a:p>
          <a:p>
            <a:pPr lvl="1">
              <a:spcBef>
                <a:spcPts val="600"/>
              </a:spcBef>
            </a:pPr>
            <a:r>
              <a:rPr lang="zh-CN" altLang="en-US" sz="2400"/>
              <a:t>对文件读和写的管理</a:t>
            </a:r>
            <a:endParaRPr lang="en-US" altLang="zh-CN" sz="2400"/>
          </a:p>
          <a:p>
            <a:pPr lvl="1">
              <a:spcBef>
                <a:spcPts val="600"/>
              </a:spcBef>
            </a:pPr>
            <a:r>
              <a:rPr lang="zh-CN" altLang="en-US" sz="2400"/>
              <a:t>对文件的共享与保护等</a:t>
            </a:r>
            <a:endParaRPr lang="en-US" altLang="zh-CN"/>
          </a:p>
          <a:p>
            <a:pPr>
              <a:spcBef>
                <a:spcPts val="600"/>
              </a:spcBef>
            </a:pPr>
            <a:r>
              <a:rPr lang="zh-CN" altLang="en-US" sz="2800" b="1">
                <a:solidFill>
                  <a:schemeClr val="accent2"/>
                </a:solidFill>
              </a:rPr>
              <a:t>四个软件层次：</a:t>
            </a:r>
            <a:endParaRPr lang="en-US" altLang="zh-CN" sz="2800" b="1">
              <a:solidFill>
                <a:schemeClr val="accent2"/>
              </a:solidFill>
            </a:endParaRPr>
          </a:p>
          <a:p>
            <a:pPr lvl="1" eaLnBrk="1" hangingPunct="1">
              <a:spcBef>
                <a:spcPts val="600"/>
              </a:spcBef>
            </a:pPr>
            <a:r>
              <a:rPr lang="en-US" altLang="zh-CN" sz="2400" b="1">
                <a:solidFill>
                  <a:schemeClr val="accent2"/>
                </a:solidFill>
              </a:rPr>
              <a:t>I/O</a:t>
            </a:r>
            <a:r>
              <a:rPr lang="zh-CN" altLang="en-US" sz="2400" b="1">
                <a:solidFill>
                  <a:schemeClr val="accent2"/>
                </a:solidFill>
              </a:rPr>
              <a:t>控制层（设备驱动程序层）：</a:t>
            </a:r>
            <a:r>
              <a:rPr lang="zh-CN" altLang="en-US" sz="2400"/>
              <a:t>主要由磁盘驱动程序组成</a:t>
            </a:r>
            <a:endParaRPr lang="en-US" altLang="zh-CN" sz="2400"/>
          </a:p>
          <a:p>
            <a:pPr lvl="1" eaLnBrk="1" hangingPunct="1">
              <a:spcBef>
                <a:spcPts val="600"/>
              </a:spcBef>
            </a:pPr>
            <a:r>
              <a:rPr lang="zh-CN" altLang="en-US" sz="2400" b="1">
                <a:solidFill>
                  <a:schemeClr val="accent2"/>
                </a:solidFill>
              </a:rPr>
              <a:t>基本文件系统：</a:t>
            </a:r>
            <a:r>
              <a:rPr lang="zh-CN" altLang="en-US" sz="2400"/>
              <a:t>用于处理内存与磁盘之间数据块的交换</a:t>
            </a:r>
            <a:endParaRPr lang="en-US" altLang="zh-CN" sz="2400"/>
          </a:p>
          <a:p>
            <a:pPr lvl="1" eaLnBrk="1" hangingPunct="1">
              <a:spcBef>
                <a:spcPts val="600"/>
              </a:spcBef>
            </a:pPr>
            <a:r>
              <a:rPr lang="zh-CN" altLang="en-US" sz="2400" b="1">
                <a:solidFill>
                  <a:schemeClr val="accent2"/>
                </a:solidFill>
              </a:rPr>
              <a:t>基本</a:t>
            </a:r>
            <a:r>
              <a:rPr lang="en-US" altLang="zh-CN" sz="2400" b="1">
                <a:solidFill>
                  <a:schemeClr val="accent2"/>
                </a:solidFill>
              </a:rPr>
              <a:t>I/O</a:t>
            </a:r>
            <a:r>
              <a:rPr lang="zh-CN" altLang="en-US" sz="2400" b="1">
                <a:solidFill>
                  <a:schemeClr val="accent2"/>
                </a:solidFill>
              </a:rPr>
              <a:t>管理程序：</a:t>
            </a:r>
            <a:r>
              <a:rPr lang="zh-CN" altLang="en-US" sz="2400"/>
              <a:t>用于完成与磁盘</a:t>
            </a:r>
            <a:r>
              <a:rPr lang="en-US" altLang="zh-CN" sz="2400"/>
              <a:t>I/O</a:t>
            </a:r>
            <a:r>
              <a:rPr lang="zh-CN" altLang="en-US" sz="2400"/>
              <a:t>有关的事务，如将文件逻辑块号转换为物理块号、管理磁盘中的空闲盘块等</a:t>
            </a:r>
            <a:endParaRPr lang="en-US" altLang="zh-CN" sz="2400"/>
          </a:p>
          <a:p>
            <a:pPr lvl="1" eaLnBrk="1" hangingPunct="1">
              <a:spcBef>
                <a:spcPts val="600"/>
              </a:spcBef>
            </a:pPr>
            <a:r>
              <a:rPr lang="zh-CN" altLang="en-US" sz="2400" b="1">
                <a:solidFill>
                  <a:schemeClr val="accent2"/>
                </a:solidFill>
              </a:rPr>
              <a:t>逻辑文件系统：</a:t>
            </a:r>
            <a:r>
              <a:rPr lang="zh-CN" altLang="en-US" sz="2400"/>
              <a:t>用于处理与记录、文件相关的操作</a:t>
            </a:r>
            <a:endParaRPr lang="en-US" altLang="zh-CN" sz="2400"/>
          </a:p>
        </p:txBody>
      </p:sp>
      <p:sp>
        <p:nvSpPr>
          <p:cNvPr id="17411" name="Text Box 4">
            <a:extLst>
              <a:ext uri="{FF2B5EF4-FFF2-40B4-BE49-F238E27FC236}">
                <a16:creationId xmlns:a16="http://schemas.microsoft.com/office/drawing/2014/main" id="{BBBB8225-CA6B-AB46-1E7F-C20A53625526}"/>
              </a:ext>
            </a:extLst>
          </p:cNvPr>
          <p:cNvSpPr txBox="1">
            <a:spLocks noChangeArrowheads="1"/>
          </p:cNvSpPr>
          <p:nvPr/>
        </p:nvSpPr>
        <p:spPr bwMode="auto">
          <a:xfrm>
            <a:off x="280988" y="476250"/>
            <a:ext cx="63071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、对对象操纵和管理的软件集合</a:t>
            </a:r>
            <a:endParaRPr kumimoji="0" lang="en-US" altLang="zh-CN" b="1">
              <a:solidFill>
                <a:srgbClr val="C00000"/>
              </a:solidFill>
              <a:latin typeface="Arial" panose="020B0604020202020204" pitchFamily="34" charset="0"/>
            </a:endParaRPr>
          </a:p>
        </p:txBody>
      </p:sp>
    </p:spTree>
  </p:cSld>
  <p:clrMapOvr>
    <a:masterClrMapping/>
  </p:clrMapOvr>
  <p:transition>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2">
            <a:extLst>
              <a:ext uri="{FF2B5EF4-FFF2-40B4-BE49-F238E27FC236}">
                <a16:creationId xmlns:a16="http://schemas.microsoft.com/office/drawing/2014/main" id="{B85ABBF5-7865-4E82-A48F-C3F5216BA986}"/>
              </a:ext>
            </a:extLst>
          </p:cNvPr>
          <p:cNvSpPr>
            <a:spLocks noGrp="1" noChangeArrowheads="1"/>
          </p:cNvSpPr>
          <p:nvPr>
            <p:ph idx="1"/>
          </p:nvPr>
        </p:nvSpPr>
        <p:spPr>
          <a:xfrm>
            <a:off x="285750" y="1143000"/>
            <a:ext cx="8572500" cy="4953000"/>
          </a:xfrm>
        </p:spPr>
        <p:txBody>
          <a:bodyPr/>
          <a:lstStyle/>
          <a:p>
            <a:pPr>
              <a:lnSpc>
                <a:spcPct val="120000"/>
              </a:lnSpc>
              <a:spcBef>
                <a:spcPts val="1200"/>
              </a:spcBef>
            </a:pPr>
            <a:r>
              <a:rPr lang="zh-CN" altLang="en-US" sz="2800" b="1">
                <a:solidFill>
                  <a:schemeClr val="accent2"/>
                </a:solidFill>
              </a:rPr>
              <a:t>文件系统以接口的形式向上层用户一组对文件和记录操作的方法和手段：</a:t>
            </a:r>
            <a:endParaRPr lang="en-US" altLang="zh-CN" sz="2800" b="1">
              <a:solidFill>
                <a:schemeClr val="accent2"/>
              </a:solidFill>
            </a:endParaRPr>
          </a:p>
          <a:p>
            <a:pPr lvl="1">
              <a:lnSpc>
                <a:spcPct val="120000"/>
              </a:lnSpc>
              <a:spcBef>
                <a:spcPts val="1200"/>
              </a:spcBef>
            </a:pPr>
            <a:r>
              <a:rPr lang="zh-CN" altLang="en-US" sz="2400" b="1">
                <a:solidFill>
                  <a:schemeClr val="accent2"/>
                </a:solidFill>
              </a:rPr>
              <a:t>命令接口</a:t>
            </a:r>
            <a:r>
              <a:rPr lang="zh-CN" altLang="en-US" sz="2400" b="1"/>
              <a:t>：</a:t>
            </a:r>
            <a:r>
              <a:rPr lang="zh-CN" altLang="en-US" sz="2400"/>
              <a:t>用户与文件系统直接交互的接口，用户可以通过键盘终端输入命令取得文件系统的服务。</a:t>
            </a:r>
          </a:p>
          <a:p>
            <a:pPr lvl="1">
              <a:lnSpc>
                <a:spcPct val="120000"/>
              </a:lnSpc>
              <a:spcBef>
                <a:spcPts val="1200"/>
              </a:spcBef>
            </a:pPr>
            <a:r>
              <a:rPr lang="zh-CN" altLang="en-US" sz="2400" b="1">
                <a:solidFill>
                  <a:schemeClr val="accent2"/>
                </a:solidFill>
              </a:rPr>
              <a:t>程序接口</a:t>
            </a:r>
            <a:r>
              <a:rPr lang="zh-CN" altLang="en-US" sz="2400" b="1"/>
              <a:t>：</a:t>
            </a:r>
            <a:r>
              <a:rPr lang="zh-CN" altLang="en-US" sz="2400"/>
              <a:t>用户程序与文件系统的接口，用户程序通过系统调用取得文件系统的服务。</a:t>
            </a:r>
          </a:p>
        </p:txBody>
      </p:sp>
      <p:sp>
        <p:nvSpPr>
          <p:cNvPr id="18435" name="Text Box 4">
            <a:extLst>
              <a:ext uri="{FF2B5EF4-FFF2-40B4-BE49-F238E27FC236}">
                <a16:creationId xmlns:a16="http://schemas.microsoft.com/office/drawing/2014/main" id="{9B740D7F-C7C0-4F90-957D-23553F456D00}"/>
              </a:ext>
            </a:extLst>
          </p:cNvPr>
          <p:cNvSpPr txBox="1">
            <a:spLocks noChangeArrowheads="1"/>
          </p:cNvSpPr>
          <p:nvPr/>
        </p:nvSpPr>
        <p:spPr bwMode="auto">
          <a:xfrm>
            <a:off x="280988" y="547688"/>
            <a:ext cx="47228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3</a:t>
            </a:r>
            <a:r>
              <a:rPr kumimoji="0" lang="zh-CN" altLang="en-US" b="1">
                <a:solidFill>
                  <a:srgbClr val="C00000"/>
                </a:solidFill>
                <a:latin typeface="Arial" panose="020B0604020202020204" pitchFamily="34" charset="0"/>
              </a:rPr>
              <a:t>、文件系统的接口</a:t>
            </a:r>
            <a:endParaRPr lang="zh-CN" altLang="en-US" sz="2800" b="1"/>
          </a:p>
        </p:txBody>
      </p:sp>
    </p:spTree>
  </p:cSld>
  <p:clrMapOvr>
    <a:masterClrMapping/>
  </p:clrMapOvr>
  <p:transition>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9A69FE1C-1133-FA28-0AE3-3A248F802773}"/>
              </a:ext>
            </a:extLst>
          </p:cNvPr>
          <p:cNvSpPr>
            <a:spLocks noGrp="1" noChangeArrowheads="1"/>
          </p:cNvSpPr>
          <p:nvPr>
            <p:ph type="title"/>
          </p:nvPr>
        </p:nvSpPr>
        <p:spPr>
          <a:xfrm>
            <a:off x="685800" y="357188"/>
            <a:ext cx="7772400" cy="1143000"/>
          </a:xfrm>
        </p:spPr>
        <p:txBody>
          <a:bodyPr/>
          <a:lstStyle/>
          <a:p>
            <a:pPr eaLnBrk="1" hangingPunct="1"/>
            <a:r>
              <a:rPr lang="en-US" altLang="zh-CN" b="1">
                <a:solidFill>
                  <a:srgbClr val="660066"/>
                </a:solidFill>
                <a:ea typeface="楷体_GB2312" pitchFamily="1" charset="-122"/>
              </a:rPr>
              <a:t>7.1.4 </a:t>
            </a:r>
            <a:r>
              <a:rPr lang="zh-CN" altLang="en-US" b="1">
                <a:solidFill>
                  <a:srgbClr val="660066"/>
                </a:solidFill>
                <a:ea typeface="楷体_GB2312" pitchFamily="1" charset="-122"/>
              </a:rPr>
              <a:t>文件操作</a:t>
            </a:r>
            <a:r>
              <a:rPr lang="zh-CN" altLang="en-US" b="1"/>
              <a:t> </a:t>
            </a:r>
            <a:endParaRPr lang="zh-CN" altLang="en-US"/>
          </a:p>
        </p:txBody>
      </p:sp>
      <p:sp>
        <p:nvSpPr>
          <p:cNvPr id="47107" name="内容占位符 2">
            <a:extLst>
              <a:ext uri="{FF2B5EF4-FFF2-40B4-BE49-F238E27FC236}">
                <a16:creationId xmlns:a16="http://schemas.microsoft.com/office/drawing/2014/main" id="{FC9D96EA-DCC9-DBED-CE3B-A03D7823FFAD}"/>
              </a:ext>
            </a:extLst>
          </p:cNvPr>
          <p:cNvSpPr>
            <a:spLocks noGrp="1"/>
          </p:cNvSpPr>
          <p:nvPr>
            <p:ph idx="1"/>
          </p:nvPr>
        </p:nvSpPr>
        <p:spPr>
          <a:xfrm>
            <a:off x="428625" y="1357313"/>
            <a:ext cx="8429625" cy="5000625"/>
          </a:xfrm>
        </p:spPr>
        <p:txBody>
          <a:bodyPr/>
          <a:lstStyle/>
          <a:p>
            <a:pPr eaLnBrk="1" hangingPunct="1">
              <a:defRPr/>
            </a:pPr>
            <a:endParaRPr lang="zh-CN" altLang="en-US" sz="2800" dirty="0"/>
          </a:p>
          <a:p>
            <a:pPr eaLnBrk="1" hangingPunct="1">
              <a:defRPr/>
            </a:pPr>
            <a:r>
              <a:rPr lang="zh-CN" altLang="en-US" sz="2800" dirty="0"/>
              <a:t>文件操作的典型功能，对</a:t>
            </a:r>
            <a:r>
              <a:rPr lang="zh-CN" altLang="en-US" sz="2800" u="sng" dirty="0">
                <a:solidFill>
                  <a:schemeClr val="accent2"/>
                </a:solidFill>
              </a:rPr>
              <a:t>整体文件</a:t>
            </a:r>
            <a:r>
              <a:rPr lang="zh-CN" altLang="en-US" sz="2800" dirty="0"/>
              <a:t>而言：</a:t>
            </a:r>
          </a:p>
          <a:p>
            <a:pPr lvl="1" eaLnBrk="1" hangingPunct="1">
              <a:defRPr/>
            </a:pPr>
            <a:r>
              <a:rPr lang="zh-CN" altLang="en-US" b="1" dirty="0">
                <a:solidFill>
                  <a:schemeClr val="accent2"/>
                </a:solidFill>
                <a:cs typeface="+mn-cs"/>
              </a:rPr>
              <a:t>创建文件</a:t>
            </a:r>
            <a:endParaRPr lang="zh-CN" altLang="en-US" dirty="0"/>
          </a:p>
          <a:p>
            <a:pPr lvl="1" eaLnBrk="1" hangingPunct="1">
              <a:defRPr/>
            </a:pPr>
            <a:r>
              <a:rPr lang="zh-CN" altLang="en-US" b="1" dirty="0">
                <a:solidFill>
                  <a:schemeClr val="accent2"/>
                </a:solidFill>
                <a:cs typeface="+mn-cs"/>
              </a:rPr>
              <a:t>删除文件</a:t>
            </a:r>
          </a:p>
          <a:p>
            <a:pPr lvl="1" eaLnBrk="1" hangingPunct="1">
              <a:defRPr/>
            </a:pPr>
            <a:r>
              <a:rPr lang="zh-CN" altLang="en-US" b="1" dirty="0">
                <a:solidFill>
                  <a:schemeClr val="accent2"/>
                </a:solidFill>
                <a:cs typeface="+mn-cs"/>
              </a:rPr>
              <a:t>读文件</a:t>
            </a:r>
          </a:p>
          <a:p>
            <a:pPr lvl="1" eaLnBrk="1" hangingPunct="1">
              <a:defRPr/>
            </a:pPr>
            <a:r>
              <a:rPr lang="zh-CN" altLang="en-US" b="1" dirty="0">
                <a:solidFill>
                  <a:schemeClr val="accent2"/>
                </a:solidFill>
                <a:cs typeface="+mn-cs"/>
              </a:rPr>
              <a:t>写文件</a:t>
            </a:r>
          </a:p>
          <a:p>
            <a:pPr lvl="1" eaLnBrk="1" hangingPunct="1">
              <a:defRPr/>
            </a:pPr>
            <a:r>
              <a:rPr lang="zh-CN" altLang="en-US" b="1" dirty="0">
                <a:solidFill>
                  <a:schemeClr val="accent2"/>
                </a:solidFill>
                <a:cs typeface="+mn-cs"/>
              </a:rPr>
              <a:t>设置文件的读写位置</a:t>
            </a:r>
          </a:p>
        </p:txBody>
      </p:sp>
      <p:sp>
        <p:nvSpPr>
          <p:cNvPr id="19460" name="Text Box 4">
            <a:extLst>
              <a:ext uri="{FF2B5EF4-FFF2-40B4-BE49-F238E27FC236}">
                <a16:creationId xmlns:a16="http://schemas.microsoft.com/office/drawing/2014/main" id="{D6959E83-B84D-BF9B-59AA-4E4B5B1D4131}"/>
              </a:ext>
            </a:extLst>
          </p:cNvPr>
          <p:cNvSpPr txBox="1">
            <a:spLocks noChangeArrowheads="1"/>
          </p:cNvSpPr>
          <p:nvPr/>
        </p:nvSpPr>
        <p:spPr bwMode="auto">
          <a:xfrm>
            <a:off x="280988" y="1265238"/>
            <a:ext cx="47958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、最基本的文件操作 </a:t>
            </a:r>
          </a:p>
        </p:txBody>
      </p:sp>
    </p:spTree>
  </p:cSld>
  <p:clrMapOvr>
    <a:masterClrMapping/>
  </p:clrMapOvr>
  <p:transition>
    <p:blinds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4">
            <a:extLst>
              <a:ext uri="{FF2B5EF4-FFF2-40B4-BE49-F238E27FC236}">
                <a16:creationId xmlns:a16="http://schemas.microsoft.com/office/drawing/2014/main" id="{9D5E2E18-3754-1786-4FF4-2037403E01C8}"/>
              </a:ext>
            </a:extLst>
          </p:cNvPr>
          <p:cNvSpPr txBox="1">
            <a:spLocks noChangeArrowheads="1"/>
          </p:cNvSpPr>
          <p:nvPr/>
        </p:nvSpPr>
        <p:spPr bwMode="auto">
          <a:xfrm>
            <a:off x="357188" y="549275"/>
            <a:ext cx="72151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、文件的“打开”和“关闭”操作 </a:t>
            </a:r>
          </a:p>
        </p:txBody>
      </p:sp>
      <p:sp>
        <p:nvSpPr>
          <p:cNvPr id="20483" name="内容占位符 2">
            <a:extLst>
              <a:ext uri="{FF2B5EF4-FFF2-40B4-BE49-F238E27FC236}">
                <a16:creationId xmlns:a16="http://schemas.microsoft.com/office/drawing/2014/main" id="{DEB7C19A-C1CF-5F98-E4DB-1B8AB49F501C}"/>
              </a:ext>
            </a:extLst>
          </p:cNvPr>
          <p:cNvSpPr txBox="1">
            <a:spLocks/>
          </p:cNvSpPr>
          <p:nvPr/>
        </p:nvSpPr>
        <p:spPr bwMode="auto">
          <a:xfrm>
            <a:off x="357188" y="1125538"/>
            <a:ext cx="8429625"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chemeClr val="accent2"/>
                </a:solidFill>
              </a:rPr>
              <a:t>“</a:t>
            </a:r>
            <a:r>
              <a:rPr lang="zh-CN" altLang="en-US" sz="2800" b="1">
                <a:solidFill>
                  <a:schemeClr val="accent2"/>
                </a:solidFill>
              </a:rPr>
              <a:t>打开</a:t>
            </a:r>
            <a:r>
              <a:rPr lang="en-US" altLang="zh-CN" sz="2800" b="1">
                <a:solidFill>
                  <a:schemeClr val="accent2"/>
                </a:solidFill>
              </a:rPr>
              <a:t>”</a:t>
            </a:r>
            <a:r>
              <a:rPr lang="zh-CN" altLang="en-US" sz="2800" b="1">
                <a:solidFill>
                  <a:schemeClr val="accent2"/>
                </a:solidFill>
              </a:rPr>
              <a:t>：</a:t>
            </a:r>
            <a:r>
              <a:rPr lang="zh-CN" altLang="en-US" sz="2800"/>
              <a:t>是指系统将指名文件的属性</a:t>
            </a:r>
            <a:r>
              <a:rPr lang="en-US" altLang="zh-CN" sz="2800"/>
              <a:t>(</a:t>
            </a:r>
            <a:r>
              <a:rPr lang="zh-CN" altLang="en-US" sz="2800"/>
              <a:t>包括该文件在外存上的物理位置</a:t>
            </a:r>
            <a:r>
              <a:rPr lang="en-US" altLang="zh-CN" sz="2800"/>
              <a:t>)</a:t>
            </a:r>
            <a:r>
              <a:rPr lang="zh-CN" altLang="en-US" sz="2800"/>
              <a:t>，从外存拷贝到内存打开文件表的一个表目中，并将该表目的编号</a:t>
            </a:r>
            <a:r>
              <a:rPr lang="en-US" altLang="zh-CN" sz="2800"/>
              <a:t>(</a:t>
            </a:r>
            <a:r>
              <a:rPr lang="zh-CN" altLang="en-US" sz="2800"/>
              <a:t>或称为索引</a:t>
            </a:r>
            <a:r>
              <a:rPr lang="en-US" altLang="zh-CN" sz="2800"/>
              <a:t>)</a:t>
            </a:r>
            <a:r>
              <a:rPr lang="zh-CN" altLang="en-US" sz="2800"/>
              <a:t>返回给用户。</a:t>
            </a:r>
            <a:endParaRPr lang="en-US" altLang="zh-CN" sz="2800"/>
          </a:p>
          <a:p>
            <a:pPr eaLnBrk="1" hangingPunct="1"/>
            <a:r>
              <a:rPr lang="en-US" altLang="zh-CN" sz="2800" b="1">
                <a:solidFill>
                  <a:schemeClr val="accent2"/>
                </a:solidFill>
              </a:rPr>
              <a:t>“</a:t>
            </a:r>
            <a:r>
              <a:rPr lang="zh-CN" altLang="en-US" sz="2800" b="1">
                <a:solidFill>
                  <a:schemeClr val="accent2"/>
                </a:solidFill>
              </a:rPr>
              <a:t>关闭</a:t>
            </a:r>
            <a:r>
              <a:rPr lang="en-US" altLang="zh-CN" sz="2800" b="1">
                <a:solidFill>
                  <a:schemeClr val="accent2"/>
                </a:solidFill>
              </a:rPr>
              <a:t>”</a:t>
            </a:r>
            <a:r>
              <a:rPr lang="zh-CN" altLang="en-US" sz="2800"/>
              <a:t>：是指把该文件从打开文件表中的表目上删除掉。</a:t>
            </a:r>
            <a:endParaRPr lang="en-US" altLang="zh-CN" sz="2800"/>
          </a:p>
          <a:p>
            <a:pPr eaLnBrk="1" hangingPunct="1"/>
            <a:endParaRPr lang="en-US" altLang="zh-CN" sz="2800"/>
          </a:p>
          <a:p>
            <a:pPr eaLnBrk="1" hangingPunct="1"/>
            <a:r>
              <a:rPr lang="zh-CN" altLang="en-US" sz="2800" b="1">
                <a:solidFill>
                  <a:schemeClr val="accent2"/>
                </a:solidFill>
              </a:rPr>
              <a:t>对文件属性的操作</a:t>
            </a:r>
            <a:endParaRPr lang="en-US" altLang="zh-CN" sz="2800" b="1">
              <a:solidFill>
                <a:schemeClr val="accent2"/>
              </a:solidFill>
            </a:endParaRPr>
          </a:p>
          <a:p>
            <a:pPr eaLnBrk="1" hangingPunct="1"/>
            <a:r>
              <a:rPr lang="zh-CN" altLang="en-US" sz="2800" b="1">
                <a:solidFill>
                  <a:schemeClr val="accent2"/>
                </a:solidFill>
              </a:rPr>
              <a:t>有关目录的操作</a:t>
            </a:r>
            <a:endParaRPr lang="en-US" altLang="zh-CN" sz="2800" b="1">
              <a:solidFill>
                <a:schemeClr val="accent2"/>
              </a:solidFill>
            </a:endParaRPr>
          </a:p>
          <a:p>
            <a:pPr eaLnBrk="1" hangingPunct="1"/>
            <a:r>
              <a:rPr lang="zh-CN" altLang="en-US" sz="2800" b="1">
                <a:solidFill>
                  <a:schemeClr val="accent2"/>
                </a:solidFill>
              </a:rPr>
              <a:t>实现文件共享的系统调用</a:t>
            </a:r>
            <a:endParaRPr lang="en-US" altLang="zh-CN" sz="2800" b="1">
              <a:solidFill>
                <a:schemeClr val="accent2"/>
              </a:solidFill>
            </a:endParaRPr>
          </a:p>
          <a:p>
            <a:pPr eaLnBrk="1" hangingPunct="1"/>
            <a:r>
              <a:rPr lang="zh-CN" altLang="en-US" sz="2800" b="1">
                <a:solidFill>
                  <a:schemeClr val="accent2"/>
                </a:solidFill>
              </a:rPr>
              <a:t>对文件系统进行操作的系统调用</a:t>
            </a:r>
            <a:endParaRPr lang="en-US" altLang="zh-CN" sz="2800" b="1">
              <a:solidFill>
                <a:schemeClr val="accent2"/>
              </a:solidFill>
            </a:endParaRPr>
          </a:p>
        </p:txBody>
      </p:sp>
      <p:sp>
        <p:nvSpPr>
          <p:cNvPr id="20484" name="Text Box 4">
            <a:extLst>
              <a:ext uri="{FF2B5EF4-FFF2-40B4-BE49-F238E27FC236}">
                <a16:creationId xmlns:a16="http://schemas.microsoft.com/office/drawing/2014/main" id="{DDF33256-94D2-2D7C-4896-573517DE760C}"/>
              </a:ext>
            </a:extLst>
          </p:cNvPr>
          <p:cNvSpPr txBox="1">
            <a:spLocks noChangeArrowheads="1"/>
          </p:cNvSpPr>
          <p:nvPr/>
        </p:nvSpPr>
        <p:spPr bwMode="auto">
          <a:xfrm>
            <a:off x="360363" y="3789363"/>
            <a:ext cx="72151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3</a:t>
            </a:r>
            <a:r>
              <a:rPr kumimoji="0" lang="zh-CN" altLang="en-US" b="1">
                <a:solidFill>
                  <a:srgbClr val="C00000"/>
                </a:solidFill>
                <a:latin typeface="Arial" panose="020B0604020202020204" pitchFamily="34" charset="0"/>
              </a:rPr>
              <a:t>、其他文件操作 </a:t>
            </a:r>
          </a:p>
        </p:txBody>
      </p:sp>
    </p:spTree>
  </p:cSld>
  <p:clrMapOvr>
    <a:masterClrMapping/>
  </p:clrMapOvr>
  <p:transition>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CC8412B0-4D2B-CD81-166B-6A1A8F157C9B}"/>
              </a:ext>
            </a:extLst>
          </p:cNvPr>
          <p:cNvSpPr>
            <a:spLocks noGrp="1" noChangeArrowheads="1"/>
          </p:cNvSpPr>
          <p:nvPr>
            <p:ph type="title" idx="4294967295"/>
          </p:nvPr>
        </p:nvSpPr>
        <p:spPr>
          <a:xfrm>
            <a:off x="685800" y="2205038"/>
            <a:ext cx="7772400" cy="1143000"/>
          </a:xfrm>
        </p:spPr>
        <p:txBody>
          <a:bodyPr/>
          <a:lstStyle/>
          <a:p>
            <a:pPr eaLnBrk="1" hangingPunct="1"/>
            <a:r>
              <a:rPr lang="en-US" altLang="zh-CN" b="1">
                <a:solidFill>
                  <a:srgbClr val="660066"/>
                </a:solidFill>
                <a:latin typeface="楷体_GB2312" pitchFamily="1" charset="-122"/>
                <a:ea typeface="楷体_GB2312" pitchFamily="1" charset="-122"/>
              </a:rPr>
              <a:t>7.2 </a:t>
            </a:r>
            <a:r>
              <a:rPr lang="zh-CN" altLang="en-US" b="1">
                <a:solidFill>
                  <a:srgbClr val="660066"/>
                </a:solidFill>
                <a:latin typeface="楷体_GB2312" pitchFamily="1" charset="-122"/>
                <a:ea typeface="楷体_GB2312" pitchFamily="1" charset="-122"/>
              </a:rPr>
              <a:t>文件的逻辑结构</a:t>
            </a:r>
          </a:p>
        </p:txBody>
      </p:sp>
    </p:spTree>
  </p:cSld>
  <p:clrMapOvr>
    <a:masterClrMapping/>
  </p:clrMapOvr>
  <p:transition advClick="0">
    <p:blinds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CECE0E54-70E4-44A2-FC84-1C2EAB626374}"/>
              </a:ext>
            </a:extLst>
          </p:cNvPr>
          <p:cNvSpPr>
            <a:spLocks noGrp="1" noChangeArrowheads="1"/>
          </p:cNvSpPr>
          <p:nvPr>
            <p:ph type="title"/>
          </p:nvPr>
        </p:nvSpPr>
        <p:spPr>
          <a:xfrm>
            <a:off x="685800" y="357188"/>
            <a:ext cx="7772400" cy="1143000"/>
          </a:xfrm>
        </p:spPr>
        <p:txBody>
          <a:bodyPr/>
          <a:lstStyle/>
          <a:p>
            <a:pPr eaLnBrk="1" hangingPunct="1"/>
            <a:r>
              <a:rPr lang="en-US" altLang="zh-CN" b="1">
                <a:solidFill>
                  <a:srgbClr val="660066"/>
                </a:solidFill>
                <a:ea typeface="楷体_GB2312" pitchFamily="1" charset="-122"/>
              </a:rPr>
              <a:t>7.2 </a:t>
            </a:r>
            <a:r>
              <a:rPr lang="zh-CN" altLang="en-US" b="1">
                <a:solidFill>
                  <a:srgbClr val="660066"/>
                </a:solidFill>
                <a:ea typeface="楷体_GB2312" pitchFamily="1" charset="-122"/>
              </a:rPr>
              <a:t>文件的逻辑结构</a:t>
            </a:r>
          </a:p>
        </p:txBody>
      </p:sp>
      <p:sp>
        <p:nvSpPr>
          <p:cNvPr id="23555" name="内容占位符 2">
            <a:extLst>
              <a:ext uri="{FF2B5EF4-FFF2-40B4-BE49-F238E27FC236}">
                <a16:creationId xmlns:a16="http://schemas.microsoft.com/office/drawing/2014/main" id="{3D418F5F-0DD2-8CBE-E505-4FAADB6BE3F7}"/>
              </a:ext>
            </a:extLst>
          </p:cNvPr>
          <p:cNvSpPr>
            <a:spLocks noGrp="1" noChangeArrowheads="1"/>
          </p:cNvSpPr>
          <p:nvPr>
            <p:ph idx="1"/>
          </p:nvPr>
        </p:nvSpPr>
        <p:spPr>
          <a:xfrm>
            <a:off x="285750" y="1357313"/>
            <a:ext cx="8572500" cy="4738687"/>
          </a:xfrm>
        </p:spPr>
        <p:txBody>
          <a:bodyPr/>
          <a:lstStyle/>
          <a:p>
            <a:pPr eaLnBrk="1" hangingPunct="1"/>
            <a:r>
              <a:rPr lang="zh-CN" altLang="en-US" sz="2800" b="1">
                <a:solidFill>
                  <a:schemeClr val="accent2"/>
                </a:solidFill>
              </a:rPr>
              <a:t>文件的逻辑结构</a:t>
            </a:r>
          </a:p>
          <a:p>
            <a:pPr lvl="1" eaLnBrk="1" hangingPunct="1"/>
            <a:r>
              <a:rPr lang="zh-CN" altLang="en-US" sz="2400"/>
              <a:t>是从用户的观点出发，所观察到的文件组织形式，是用户可以直接处理的数据及其结构，它独立于物理特性，又称文件组织。</a:t>
            </a:r>
          </a:p>
          <a:p>
            <a:pPr eaLnBrk="1" hangingPunct="1"/>
            <a:endParaRPr lang="zh-CN" altLang="en-US" sz="1000"/>
          </a:p>
          <a:p>
            <a:pPr eaLnBrk="1" hangingPunct="1"/>
            <a:r>
              <a:rPr lang="zh-CN" altLang="en-US" sz="2800" b="1">
                <a:solidFill>
                  <a:schemeClr val="accent2"/>
                </a:solidFill>
              </a:rPr>
              <a:t>文件的物理结构</a:t>
            </a:r>
            <a:endParaRPr lang="en-US" altLang="zh-CN" sz="2800" b="1">
              <a:solidFill>
                <a:schemeClr val="accent2"/>
              </a:solidFill>
            </a:endParaRPr>
          </a:p>
          <a:p>
            <a:pPr lvl="1" eaLnBrk="1" hangingPunct="1"/>
            <a:r>
              <a:rPr lang="zh-CN" altLang="en-US" sz="2400"/>
              <a:t>又称为文件的存储结构，是指文件在外存上的存储组织形式，与存储介质的存储性能、所采用的外存分配方式有关。</a:t>
            </a:r>
            <a:endParaRPr lang="en-US" altLang="zh-CN" sz="2400"/>
          </a:p>
          <a:p>
            <a:pPr lvl="1" eaLnBrk="1" hangingPunct="1"/>
            <a:endParaRPr lang="en-US" altLang="zh-CN" sz="1000"/>
          </a:p>
          <a:p>
            <a:pPr eaLnBrk="1" hangingPunct="1"/>
            <a:r>
              <a:rPr lang="zh-CN" altLang="en-US" sz="2800" b="1">
                <a:solidFill>
                  <a:schemeClr val="accent2"/>
                </a:solidFill>
              </a:rPr>
              <a:t>对文件逻辑结构的要求</a:t>
            </a:r>
          </a:p>
          <a:p>
            <a:pPr lvl="1"/>
            <a:r>
              <a:rPr lang="zh-CN" altLang="en-US" sz="2400" b="1">
                <a:solidFill>
                  <a:schemeClr val="accent2"/>
                </a:solidFill>
              </a:rPr>
              <a:t>访问性能：</a:t>
            </a:r>
            <a:r>
              <a:rPr lang="zh-CN" altLang="en-US" sz="2400"/>
              <a:t>便于检索；便于修改</a:t>
            </a:r>
          </a:p>
          <a:p>
            <a:pPr lvl="1"/>
            <a:r>
              <a:rPr lang="zh-CN" altLang="en-US" sz="2400" b="1">
                <a:solidFill>
                  <a:schemeClr val="accent2"/>
                </a:solidFill>
              </a:rPr>
              <a:t>存储性能：</a:t>
            </a:r>
            <a:r>
              <a:rPr lang="zh-CN" altLang="en-US" sz="2400"/>
              <a:t>向物理存储转换方便，节省空间</a:t>
            </a:r>
          </a:p>
        </p:txBody>
      </p:sp>
    </p:spTree>
  </p:cSld>
  <p:clrMapOvr>
    <a:masterClrMapping/>
  </p:clrMapOvr>
  <p:transition>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B5F0EDB4-A787-BD9A-3F40-12DE89963603}"/>
              </a:ext>
            </a:extLst>
          </p:cNvPr>
          <p:cNvSpPr>
            <a:spLocks noGrp="1" noChangeArrowheads="1"/>
          </p:cNvSpPr>
          <p:nvPr>
            <p:ph type="title"/>
          </p:nvPr>
        </p:nvSpPr>
        <p:spPr>
          <a:xfrm>
            <a:off x="685800" y="260350"/>
            <a:ext cx="7772400" cy="1143000"/>
          </a:xfrm>
        </p:spPr>
        <p:txBody>
          <a:bodyPr/>
          <a:lstStyle/>
          <a:p>
            <a:pPr eaLnBrk="1" hangingPunct="1"/>
            <a:r>
              <a:rPr lang="en-US" altLang="zh-CN" b="1">
                <a:solidFill>
                  <a:srgbClr val="660066"/>
                </a:solidFill>
                <a:ea typeface="楷体_GB2312" pitchFamily="1" charset="-122"/>
              </a:rPr>
              <a:t>7.2.1 </a:t>
            </a:r>
            <a:r>
              <a:rPr lang="zh-CN" altLang="en-US" b="1">
                <a:solidFill>
                  <a:srgbClr val="660066"/>
                </a:solidFill>
                <a:ea typeface="楷体_GB2312" pitchFamily="1" charset="-122"/>
              </a:rPr>
              <a:t>文件逻辑结构的类型</a:t>
            </a:r>
            <a:r>
              <a:rPr lang="zh-CN" altLang="en-US" b="1"/>
              <a:t> </a:t>
            </a:r>
            <a:endParaRPr lang="zh-CN" altLang="en-US"/>
          </a:p>
        </p:txBody>
      </p:sp>
      <p:sp>
        <p:nvSpPr>
          <p:cNvPr id="24579" name="内容占位符 2">
            <a:extLst>
              <a:ext uri="{FF2B5EF4-FFF2-40B4-BE49-F238E27FC236}">
                <a16:creationId xmlns:a16="http://schemas.microsoft.com/office/drawing/2014/main" id="{7965C6DA-367A-B06D-06E1-08B072B10C87}"/>
              </a:ext>
            </a:extLst>
          </p:cNvPr>
          <p:cNvSpPr>
            <a:spLocks noGrp="1" noChangeArrowheads="1"/>
          </p:cNvSpPr>
          <p:nvPr>
            <p:ph idx="1"/>
          </p:nvPr>
        </p:nvSpPr>
        <p:spPr>
          <a:xfrm>
            <a:off x="214313" y="1268413"/>
            <a:ext cx="8715375" cy="4827587"/>
          </a:xfrm>
        </p:spPr>
        <p:txBody>
          <a:bodyPr/>
          <a:lstStyle/>
          <a:p>
            <a:pPr eaLnBrk="1" hangingPunct="1">
              <a:lnSpc>
                <a:spcPct val="110000"/>
              </a:lnSpc>
              <a:spcBef>
                <a:spcPts val="663"/>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、按文件是否有结构分类</a:t>
            </a:r>
            <a:endParaRPr kumimoji="0" lang="en-US" altLang="zh-CN" b="1">
              <a:solidFill>
                <a:srgbClr val="C00000"/>
              </a:solidFill>
              <a:latin typeface="Arial" panose="020B0604020202020204" pitchFamily="34" charset="0"/>
            </a:endParaRPr>
          </a:p>
          <a:p>
            <a:pPr eaLnBrk="1" hangingPunct="1">
              <a:lnSpc>
                <a:spcPct val="110000"/>
              </a:lnSpc>
              <a:spcBef>
                <a:spcPts val="663"/>
              </a:spcBef>
            </a:pPr>
            <a:r>
              <a:rPr lang="zh-CN" altLang="en-US" sz="2800" b="1">
                <a:solidFill>
                  <a:schemeClr val="accent2"/>
                </a:solidFill>
              </a:rPr>
              <a:t>有结构文件（记录式文件）</a:t>
            </a:r>
          </a:p>
          <a:p>
            <a:pPr lvl="1" eaLnBrk="1" hangingPunct="1">
              <a:lnSpc>
                <a:spcPct val="110000"/>
              </a:lnSpc>
              <a:spcBef>
                <a:spcPts val="663"/>
              </a:spcBef>
            </a:pPr>
            <a:r>
              <a:rPr lang="zh-CN" altLang="en-US" b="1"/>
              <a:t>定长记录</a:t>
            </a:r>
          </a:p>
          <a:p>
            <a:pPr lvl="1" eaLnBrk="1" hangingPunct="1">
              <a:lnSpc>
                <a:spcPct val="110000"/>
              </a:lnSpc>
              <a:spcBef>
                <a:spcPts val="663"/>
              </a:spcBef>
            </a:pPr>
            <a:r>
              <a:rPr lang="zh-CN" altLang="en-US" b="1"/>
              <a:t>变长记录</a:t>
            </a:r>
          </a:p>
          <a:p>
            <a:pPr eaLnBrk="1" hangingPunct="1">
              <a:lnSpc>
                <a:spcPct val="110000"/>
              </a:lnSpc>
              <a:spcBef>
                <a:spcPts val="663"/>
              </a:spcBef>
            </a:pPr>
            <a:r>
              <a:rPr lang="zh-CN" altLang="en-US" sz="2800" b="1">
                <a:solidFill>
                  <a:schemeClr val="accent2"/>
                </a:solidFill>
              </a:rPr>
              <a:t>无结构文件（流式文件）</a:t>
            </a:r>
          </a:p>
          <a:p>
            <a:pPr lvl="1" eaLnBrk="1" hangingPunct="1">
              <a:lnSpc>
                <a:spcPct val="110000"/>
              </a:lnSpc>
              <a:spcBef>
                <a:spcPts val="663"/>
              </a:spcBef>
            </a:pPr>
            <a:r>
              <a:rPr lang="zh-CN" altLang="en-US" b="1"/>
              <a:t>以字节为单位，利用读</a:t>
            </a:r>
            <a:r>
              <a:rPr lang="en-US" altLang="zh-CN" b="1"/>
              <a:t>/</a:t>
            </a:r>
            <a:r>
              <a:rPr lang="zh-CN" altLang="en-US" b="1"/>
              <a:t>写指针进行访问。</a:t>
            </a:r>
            <a:endParaRPr lang="en-US" altLang="zh-CN" b="1"/>
          </a:p>
        </p:txBody>
      </p:sp>
    </p:spTree>
  </p:cSld>
  <p:clrMapOvr>
    <a:masterClrMapping/>
  </p:clrMapOvr>
  <p:transition>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内容占位符 2">
            <a:extLst>
              <a:ext uri="{FF2B5EF4-FFF2-40B4-BE49-F238E27FC236}">
                <a16:creationId xmlns:a16="http://schemas.microsoft.com/office/drawing/2014/main" id="{B0D47595-6E28-2BBC-B067-6303DC4D2FAF}"/>
              </a:ext>
            </a:extLst>
          </p:cNvPr>
          <p:cNvSpPr>
            <a:spLocks noGrp="1" noChangeArrowheads="1"/>
          </p:cNvSpPr>
          <p:nvPr>
            <p:ph idx="4294967295"/>
          </p:nvPr>
        </p:nvSpPr>
        <p:spPr>
          <a:xfrm>
            <a:off x="214313" y="549275"/>
            <a:ext cx="8715375" cy="4667250"/>
          </a:xfrm>
        </p:spPr>
        <p:txBody>
          <a:bodyPr/>
          <a:lstStyle/>
          <a:p>
            <a:pPr eaLnBrk="1" hangingPunct="1">
              <a:lnSpc>
                <a:spcPct val="110000"/>
              </a:lnSpc>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、按文件的组织方式分类</a:t>
            </a:r>
            <a:endParaRPr kumimoji="0" lang="en-US" altLang="zh-CN" b="1">
              <a:solidFill>
                <a:srgbClr val="C00000"/>
              </a:solidFill>
              <a:latin typeface="Arial" panose="020B0604020202020204" pitchFamily="34" charset="0"/>
            </a:endParaRPr>
          </a:p>
          <a:p>
            <a:pPr eaLnBrk="1" hangingPunct="1">
              <a:lnSpc>
                <a:spcPct val="110000"/>
              </a:lnSpc>
            </a:pPr>
            <a:r>
              <a:rPr lang="zh-CN" altLang="en-US" sz="2800" b="1">
                <a:solidFill>
                  <a:schemeClr val="accent2"/>
                </a:solidFill>
              </a:rPr>
              <a:t>顺序文件：</a:t>
            </a:r>
            <a:r>
              <a:rPr lang="zh-CN" altLang="en-US" sz="2800"/>
              <a:t>由一系列记录按某种顺序排列所形成的文件，其中的记录可以是定长或变长记录，通常采用定长记录。（为何？因变长采用此方式查询速度慢）</a:t>
            </a:r>
          </a:p>
          <a:p>
            <a:pPr eaLnBrk="1" hangingPunct="1">
              <a:lnSpc>
                <a:spcPct val="110000"/>
              </a:lnSpc>
            </a:pPr>
            <a:r>
              <a:rPr lang="zh-CN" altLang="en-US" sz="2800" b="1">
                <a:solidFill>
                  <a:schemeClr val="accent2"/>
                </a:solidFill>
              </a:rPr>
              <a:t>索引文件：</a:t>
            </a:r>
            <a:r>
              <a:rPr lang="zh-CN" altLang="en-US" sz="2800"/>
              <a:t>为可变长记录文件建立一张索引表，为每个记录设置一个表项，以加速对记录的检索速度。</a:t>
            </a:r>
          </a:p>
          <a:p>
            <a:pPr eaLnBrk="1" hangingPunct="1">
              <a:lnSpc>
                <a:spcPct val="110000"/>
              </a:lnSpc>
            </a:pPr>
            <a:r>
              <a:rPr lang="zh-CN" altLang="en-US" sz="2800" b="1">
                <a:solidFill>
                  <a:schemeClr val="accent2"/>
                </a:solidFill>
              </a:rPr>
              <a:t>索引顺序文件：</a:t>
            </a:r>
            <a:r>
              <a:rPr lang="zh-CN" altLang="en-US" sz="2800"/>
              <a:t>为每个文件建立一张索引表时，按组对记录进行组织，只为每组记录中的第一条记录设置一索引项。</a:t>
            </a:r>
          </a:p>
          <a:p>
            <a:pPr eaLnBrk="1" hangingPunct="1">
              <a:lnSpc>
                <a:spcPct val="110000"/>
              </a:lnSpc>
            </a:pPr>
            <a:endParaRPr lang="zh-CN" altLang="en-US" sz="2800"/>
          </a:p>
        </p:txBody>
      </p:sp>
    </p:spTree>
  </p:cSld>
  <p:clrMapOvr>
    <a:masterClrMapping/>
  </p:clrMapOvr>
  <p:transition>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B94C7646-04D7-5EF9-C5BF-2AF85242ADF2}"/>
              </a:ext>
            </a:extLst>
          </p:cNvPr>
          <p:cNvSpPr>
            <a:spLocks noGrp="1" noChangeArrowheads="1"/>
          </p:cNvSpPr>
          <p:nvPr>
            <p:ph type="title"/>
          </p:nvPr>
        </p:nvSpPr>
        <p:spPr>
          <a:xfrm>
            <a:off x="685800" y="260350"/>
            <a:ext cx="7772400" cy="1143000"/>
          </a:xfrm>
        </p:spPr>
        <p:txBody>
          <a:bodyPr/>
          <a:lstStyle/>
          <a:p>
            <a:r>
              <a:rPr lang="en-US" altLang="zh-CN" b="1">
                <a:solidFill>
                  <a:srgbClr val="660066"/>
                </a:solidFill>
                <a:ea typeface="楷体_GB2312" pitchFamily="1" charset="-122"/>
              </a:rPr>
              <a:t>7.2.2  </a:t>
            </a:r>
            <a:r>
              <a:rPr lang="zh-CN" altLang="en-US" b="1">
                <a:solidFill>
                  <a:srgbClr val="660066"/>
                </a:solidFill>
                <a:ea typeface="楷体_GB2312" pitchFamily="1" charset="-122"/>
              </a:rPr>
              <a:t>顺序文件</a:t>
            </a:r>
          </a:p>
        </p:txBody>
      </p:sp>
      <p:sp>
        <p:nvSpPr>
          <p:cNvPr id="55299" name="内容占位符 2">
            <a:extLst>
              <a:ext uri="{FF2B5EF4-FFF2-40B4-BE49-F238E27FC236}">
                <a16:creationId xmlns:a16="http://schemas.microsoft.com/office/drawing/2014/main" id="{A9F4EC12-20C7-B335-AED9-5EA67C59C90A}"/>
              </a:ext>
            </a:extLst>
          </p:cNvPr>
          <p:cNvSpPr>
            <a:spLocks noGrp="1"/>
          </p:cNvSpPr>
          <p:nvPr>
            <p:ph idx="1"/>
          </p:nvPr>
        </p:nvSpPr>
        <p:spPr>
          <a:xfrm>
            <a:off x="428625" y="1196975"/>
            <a:ext cx="8358188" cy="5160963"/>
          </a:xfrm>
        </p:spPr>
        <p:txBody>
          <a:bodyPr/>
          <a:lstStyle/>
          <a:p>
            <a:pPr eaLnBrk="1" hangingPunct="1">
              <a:lnSpc>
                <a:spcPct val="110000"/>
              </a:lnSpc>
              <a:spcBef>
                <a:spcPts val="600"/>
              </a:spcBef>
              <a:buFontTx/>
              <a:buNone/>
              <a:defRPr/>
            </a:pPr>
            <a:r>
              <a:rPr kumimoji="0" lang="en-US" altLang="zh-CN" b="1" dirty="0">
                <a:solidFill>
                  <a:srgbClr val="C00000"/>
                </a:solidFill>
                <a:latin typeface="Arial" charset="0"/>
              </a:rPr>
              <a:t>1</a:t>
            </a:r>
            <a:r>
              <a:rPr kumimoji="0" lang="zh-CN" altLang="en-US" b="1" dirty="0">
                <a:solidFill>
                  <a:srgbClr val="C00000"/>
                </a:solidFill>
                <a:latin typeface="Arial" charset="0"/>
              </a:rPr>
              <a:t>、顺序文件的排列方式</a:t>
            </a:r>
          </a:p>
          <a:p>
            <a:pPr eaLnBrk="1" hangingPunct="1">
              <a:lnSpc>
                <a:spcPct val="110000"/>
              </a:lnSpc>
              <a:spcBef>
                <a:spcPts val="600"/>
              </a:spcBef>
              <a:defRPr/>
            </a:pPr>
            <a:r>
              <a:rPr lang="zh-CN" altLang="en-US" sz="2800" b="1" dirty="0">
                <a:solidFill>
                  <a:schemeClr val="accent2"/>
                </a:solidFill>
              </a:rPr>
              <a:t>串结构：</a:t>
            </a:r>
            <a:r>
              <a:rPr lang="zh-CN" altLang="en-US" sz="2800" dirty="0">
                <a:latin typeface="宋体" pitchFamily="2" charset="-122"/>
              </a:rPr>
              <a:t>按记录存入时间先后进行排列。</a:t>
            </a:r>
            <a:endParaRPr lang="en-US" altLang="zh-CN" sz="2800" dirty="0">
              <a:latin typeface="宋体" pitchFamily="2" charset="-122"/>
            </a:endParaRPr>
          </a:p>
          <a:p>
            <a:pPr lvl="1" eaLnBrk="1" hangingPunct="1">
              <a:lnSpc>
                <a:spcPct val="110000"/>
              </a:lnSpc>
              <a:spcBef>
                <a:spcPts val="600"/>
              </a:spcBef>
              <a:defRPr/>
            </a:pPr>
            <a:r>
              <a:rPr lang="zh-CN" altLang="en-US" sz="2400" dirty="0">
                <a:latin typeface="宋体" pitchFamily="2" charset="-122"/>
              </a:rPr>
              <a:t>检索时每次必须从头开始</a:t>
            </a:r>
          </a:p>
          <a:p>
            <a:pPr eaLnBrk="1" hangingPunct="1">
              <a:lnSpc>
                <a:spcPct val="110000"/>
              </a:lnSpc>
              <a:spcBef>
                <a:spcPts val="600"/>
              </a:spcBef>
              <a:defRPr/>
            </a:pPr>
            <a:r>
              <a:rPr lang="zh-CN" altLang="en-US" sz="2800" b="1" dirty="0">
                <a:solidFill>
                  <a:schemeClr val="accent2"/>
                </a:solidFill>
              </a:rPr>
              <a:t>顺序结构：</a:t>
            </a:r>
            <a:r>
              <a:rPr lang="zh-CN" altLang="en-US" sz="2800" dirty="0">
                <a:latin typeface="宋体" pitchFamily="2" charset="-122"/>
              </a:rPr>
              <a:t>按关键字排序。</a:t>
            </a:r>
          </a:p>
          <a:p>
            <a:pPr lvl="1" eaLnBrk="1" hangingPunct="1">
              <a:lnSpc>
                <a:spcPct val="110000"/>
              </a:lnSpc>
              <a:spcBef>
                <a:spcPts val="600"/>
              </a:spcBef>
              <a:defRPr/>
            </a:pPr>
            <a:r>
              <a:rPr lang="zh-CN" altLang="en-US" sz="2400" dirty="0">
                <a:latin typeface="宋体" pitchFamily="2" charset="-122"/>
              </a:rPr>
              <a:t>有利于提高检索速度和效率，可用折半查找等方法检索。</a:t>
            </a:r>
            <a:endParaRPr lang="en-US" altLang="zh-CN" sz="2400" dirty="0">
              <a:latin typeface="宋体" pitchFamily="2" charset="-122"/>
            </a:endParaRPr>
          </a:p>
          <a:p>
            <a:pPr marL="342900" lvl="1" indent="-342900" eaLnBrk="1" hangingPunct="1">
              <a:lnSpc>
                <a:spcPct val="110000"/>
              </a:lnSpc>
              <a:spcBef>
                <a:spcPts val="600"/>
              </a:spcBef>
              <a:buFontTx/>
              <a:buNone/>
              <a:defRPr/>
            </a:pPr>
            <a:r>
              <a:rPr kumimoji="0" lang="en-US" altLang="zh-CN" sz="3200" b="1" dirty="0">
                <a:solidFill>
                  <a:srgbClr val="C00000"/>
                </a:solidFill>
                <a:latin typeface="Arial" charset="0"/>
                <a:cs typeface="+mn-cs"/>
              </a:rPr>
              <a:t>2</a:t>
            </a:r>
            <a:r>
              <a:rPr kumimoji="0" lang="zh-CN" altLang="en-US" sz="3200" b="1" dirty="0">
                <a:solidFill>
                  <a:srgbClr val="C00000"/>
                </a:solidFill>
                <a:latin typeface="Arial" charset="0"/>
                <a:cs typeface="+mn-cs"/>
              </a:rPr>
              <a:t>、顺序文件的优缺点</a:t>
            </a:r>
            <a:endParaRPr kumimoji="0" lang="en-US" altLang="zh-CN" sz="3200" b="1" dirty="0">
              <a:solidFill>
                <a:srgbClr val="C00000"/>
              </a:solidFill>
              <a:latin typeface="Arial" charset="0"/>
              <a:cs typeface="+mn-cs"/>
            </a:endParaRPr>
          </a:p>
          <a:p>
            <a:pPr algn="just">
              <a:lnSpc>
                <a:spcPct val="110000"/>
              </a:lnSpc>
              <a:spcBef>
                <a:spcPts val="600"/>
              </a:spcBef>
              <a:defRPr/>
            </a:pPr>
            <a:r>
              <a:rPr lang="zh-CN" altLang="en-US" sz="2800" b="1" dirty="0">
                <a:solidFill>
                  <a:schemeClr val="accent2"/>
                </a:solidFill>
                <a:latin typeface="宋体" pitchFamily="2" charset="-122"/>
              </a:rPr>
              <a:t>优点：</a:t>
            </a:r>
            <a:r>
              <a:rPr lang="zh-CN" altLang="en-US" sz="2400" dirty="0">
                <a:latin typeface="宋体" pitchFamily="2" charset="-122"/>
              </a:rPr>
              <a:t>批量存取时效率最高；顺序存储设备只能存储顺序文件。</a:t>
            </a:r>
            <a:endParaRPr lang="en-US" altLang="zh-CN" sz="2800" b="1" dirty="0">
              <a:latin typeface="宋体" pitchFamily="2" charset="-122"/>
            </a:endParaRPr>
          </a:p>
          <a:p>
            <a:pPr algn="just">
              <a:lnSpc>
                <a:spcPct val="110000"/>
              </a:lnSpc>
              <a:spcBef>
                <a:spcPts val="600"/>
              </a:spcBef>
              <a:defRPr/>
            </a:pPr>
            <a:r>
              <a:rPr lang="zh-CN" altLang="en-US" sz="2800" b="1" dirty="0">
                <a:solidFill>
                  <a:schemeClr val="accent2"/>
                </a:solidFill>
                <a:latin typeface="宋体" pitchFamily="2" charset="-122"/>
              </a:rPr>
              <a:t>缺点：</a:t>
            </a:r>
            <a:r>
              <a:rPr lang="zh-CN" altLang="en-US" sz="2400" dirty="0">
                <a:latin typeface="宋体" pitchFamily="2" charset="-122"/>
              </a:rPr>
              <a:t>当文件很大时，查找和修改效率低；增加和修改记录困难、要求连续存储空间、必须事先知道文件的长度。</a:t>
            </a:r>
            <a:endParaRPr kumimoji="0" lang="en-US" altLang="zh-CN" b="1" dirty="0">
              <a:solidFill>
                <a:srgbClr val="C00000"/>
              </a:solidFill>
              <a:latin typeface="Arial" charset="0"/>
            </a:endParaRPr>
          </a:p>
        </p:txBody>
      </p:sp>
    </p:spTree>
  </p:cSld>
  <p:clrMapOvr>
    <a:masterClrMapping/>
  </p:clrMapOvr>
  <p:transition>
    <p:blinds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2">
            <a:extLst>
              <a:ext uri="{FF2B5EF4-FFF2-40B4-BE49-F238E27FC236}">
                <a16:creationId xmlns:a16="http://schemas.microsoft.com/office/drawing/2014/main" id="{39B8713F-675B-7242-EC71-DDCEC4702072}"/>
              </a:ext>
            </a:extLst>
          </p:cNvPr>
          <p:cNvSpPr>
            <a:spLocks noGrp="1" noChangeArrowheads="1"/>
          </p:cNvSpPr>
          <p:nvPr>
            <p:ph idx="1"/>
          </p:nvPr>
        </p:nvSpPr>
        <p:spPr>
          <a:xfrm>
            <a:off x="357188" y="1196975"/>
            <a:ext cx="8358187" cy="4899025"/>
          </a:xfrm>
        </p:spPr>
        <p:txBody>
          <a:bodyPr/>
          <a:lstStyle/>
          <a:p>
            <a:pPr eaLnBrk="1" hangingPunct="1">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、隐式寻址方式</a:t>
            </a:r>
            <a:endParaRPr kumimoji="0" lang="en-US" altLang="zh-CN" b="1">
              <a:solidFill>
                <a:srgbClr val="C00000"/>
              </a:solidFill>
              <a:latin typeface="Arial" panose="020B0604020202020204" pitchFamily="34" charset="0"/>
            </a:endParaRPr>
          </a:p>
        </p:txBody>
      </p:sp>
      <p:sp>
        <p:nvSpPr>
          <p:cNvPr id="27651" name="标题 1">
            <a:extLst>
              <a:ext uri="{FF2B5EF4-FFF2-40B4-BE49-F238E27FC236}">
                <a16:creationId xmlns:a16="http://schemas.microsoft.com/office/drawing/2014/main" id="{3C0F6A1B-36A3-6498-FC4A-E07ED7A871A6}"/>
              </a:ext>
            </a:extLst>
          </p:cNvPr>
          <p:cNvSpPr>
            <a:spLocks noGrp="1" noChangeArrowheads="1"/>
          </p:cNvSpPr>
          <p:nvPr>
            <p:ph type="title"/>
          </p:nvPr>
        </p:nvSpPr>
        <p:spPr>
          <a:xfrm>
            <a:off x="685800" y="260350"/>
            <a:ext cx="7772400" cy="1143000"/>
          </a:xfrm>
        </p:spPr>
        <p:txBody>
          <a:bodyPr/>
          <a:lstStyle/>
          <a:p>
            <a:r>
              <a:rPr lang="en-US" altLang="zh-CN" b="1">
                <a:solidFill>
                  <a:srgbClr val="660066"/>
                </a:solidFill>
                <a:ea typeface="楷体_GB2312" pitchFamily="1" charset="-122"/>
              </a:rPr>
              <a:t>7.2.3  </a:t>
            </a:r>
            <a:r>
              <a:rPr lang="zh-CN" altLang="en-US" b="1">
                <a:solidFill>
                  <a:srgbClr val="660066"/>
                </a:solidFill>
                <a:ea typeface="楷体_GB2312" pitchFamily="1" charset="-122"/>
              </a:rPr>
              <a:t>记录寻址</a:t>
            </a:r>
          </a:p>
        </p:txBody>
      </p:sp>
      <p:graphicFrame>
        <p:nvGraphicFramePr>
          <p:cNvPr id="27652" name="Object 5">
            <a:extLst>
              <a:ext uri="{FF2B5EF4-FFF2-40B4-BE49-F238E27FC236}">
                <a16:creationId xmlns:a16="http://schemas.microsoft.com/office/drawing/2014/main" id="{32E618BA-A5B0-25C0-B9B3-8CAD0896D5B1}"/>
              </a:ext>
            </a:extLst>
          </p:cNvPr>
          <p:cNvGraphicFramePr>
            <a:graphicFrameLocks noChangeAspect="1"/>
          </p:cNvGraphicFramePr>
          <p:nvPr/>
        </p:nvGraphicFramePr>
        <p:xfrm>
          <a:off x="0" y="1695450"/>
          <a:ext cx="9144000" cy="4157663"/>
        </p:xfrm>
        <a:graphic>
          <a:graphicData uri="http://schemas.openxmlformats.org/presentationml/2006/ole">
            <mc:AlternateContent xmlns:mc="http://schemas.openxmlformats.org/markup-compatibility/2006">
              <mc:Choice xmlns:v="urn:schemas-microsoft-com:vml" Requires="v">
                <p:oleObj name="Visio" r:id="rId2" imgW="4457700" imgH="2026920" progId="Visio.Drawing.11">
                  <p:embed/>
                </p:oleObj>
              </mc:Choice>
              <mc:Fallback>
                <p:oleObj name="Visio" r:id="rId2" imgW="4457700" imgH="2026920"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95450"/>
                        <a:ext cx="9144000" cy="415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3" name="Text Box 6">
            <a:extLst>
              <a:ext uri="{FF2B5EF4-FFF2-40B4-BE49-F238E27FC236}">
                <a16:creationId xmlns:a16="http://schemas.microsoft.com/office/drawing/2014/main" id="{58562831-0159-4643-AED7-E2F5A5724DA1}"/>
              </a:ext>
            </a:extLst>
          </p:cNvPr>
          <p:cNvSpPr txBox="1">
            <a:spLocks noChangeArrowheads="1"/>
          </p:cNvSpPr>
          <p:nvPr/>
        </p:nvSpPr>
        <p:spPr bwMode="auto">
          <a:xfrm>
            <a:off x="2743200" y="6062663"/>
            <a:ext cx="39195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7-3 </a:t>
            </a:r>
            <a:r>
              <a:rPr lang="zh-CN" altLang="en-US" sz="2400" b="1"/>
              <a:t>定长和变长记录文件 </a:t>
            </a:r>
          </a:p>
        </p:txBody>
      </p:sp>
    </p:spTree>
  </p:cSld>
  <p:clrMapOvr>
    <a:masterClrMapping/>
  </p:clrMapOvr>
  <p:transition>
    <p:blinds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4">
            <a:extLst>
              <a:ext uri="{FF2B5EF4-FFF2-40B4-BE49-F238E27FC236}">
                <a16:creationId xmlns:a16="http://schemas.microsoft.com/office/drawing/2014/main" id="{EBEF532E-4557-5867-66A2-2DBEA872234C}"/>
              </a:ext>
            </a:extLst>
          </p:cNvPr>
          <p:cNvSpPr txBox="1">
            <a:spLocks noChangeArrowheads="1"/>
          </p:cNvSpPr>
          <p:nvPr/>
        </p:nvSpPr>
        <p:spPr bwMode="auto">
          <a:xfrm>
            <a:off x="317500" y="476250"/>
            <a:ext cx="8718550" cy="4914900"/>
          </a:xfrm>
          <a:prstGeom prst="rect">
            <a:avLst/>
          </a:prstGeom>
          <a:noFill/>
          <a:ln w="9525">
            <a:noFill/>
            <a:miter lim="800000"/>
            <a:headEnd/>
            <a:tailEnd/>
          </a:ln>
        </p:spPr>
        <p:txBody>
          <a:bodyPr>
            <a:spAutoFit/>
          </a:bodyPr>
          <a:lstStyle/>
          <a:p>
            <a:pPr eaLnBrk="1" hangingPunct="1">
              <a:defRPr/>
            </a:pPr>
            <a:r>
              <a:rPr kumimoji="0" lang="en-US" altLang="zh-CN" sz="3200" b="1" dirty="0">
                <a:solidFill>
                  <a:srgbClr val="C00000"/>
                </a:solidFill>
                <a:latin typeface="Arial" charset="0"/>
              </a:rPr>
              <a:t>2</a:t>
            </a:r>
            <a:r>
              <a:rPr kumimoji="0" lang="zh-CN" altLang="en-US" sz="3200" b="1" dirty="0">
                <a:solidFill>
                  <a:srgbClr val="C00000"/>
                </a:solidFill>
                <a:latin typeface="Arial" charset="0"/>
              </a:rPr>
              <a:t>、显式寻址方式</a:t>
            </a:r>
            <a:endParaRPr kumimoji="0" lang="en-US" altLang="zh-CN" sz="3200" b="1" dirty="0">
              <a:solidFill>
                <a:srgbClr val="C00000"/>
              </a:solidFill>
              <a:latin typeface="Arial" charset="0"/>
            </a:endParaRPr>
          </a:p>
          <a:p>
            <a:pPr marL="342900" indent="-342900" algn="just">
              <a:lnSpc>
                <a:spcPct val="110000"/>
              </a:lnSpc>
              <a:spcBef>
                <a:spcPts val="600"/>
              </a:spcBef>
              <a:buFontTx/>
              <a:buChar char="•"/>
              <a:defRPr/>
            </a:pPr>
            <a:r>
              <a:rPr lang="zh-CN" altLang="en-US" sz="2800" dirty="0">
                <a:latin typeface="宋体" pitchFamily="2" charset="-122"/>
                <a:ea typeface="+mn-ea"/>
              </a:rPr>
              <a:t>这种方式可用于对定长记录的文件实现直接或随机访问</a:t>
            </a:r>
            <a:endParaRPr lang="en-US" altLang="zh-CN" sz="2800" dirty="0">
              <a:latin typeface="宋体" pitchFamily="2" charset="-122"/>
              <a:ea typeface="+mn-ea"/>
            </a:endParaRPr>
          </a:p>
          <a:p>
            <a:pPr marL="342900" indent="-342900" algn="just">
              <a:lnSpc>
                <a:spcPct val="110000"/>
              </a:lnSpc>
              <a:spcBef>
                <a:spcPts val="600"/>
              </a:spcBef>
              <a:buFontTx/>
              <a:buChar char="•"/>
              <a:defRPr/>
            </a:pPr>
            <a:r>
              <a:rPr lang="zh-CN" altLang="en-US" sz="2800" b="1" dirty="0">
                <a:solidFill>
                  <a:schemeClr val="accent2"/>
                </a:solidFill>
                <a:latin typeface="宋体" pitchFamily="2" charset="-122"/>
                <a:ea typeface="+mn-ea"/>
              </a:rPr>
              <a:t>通过文件中记录的位置</a:t>
            </a:r>
            <a:endParaRPr lang="en-US" altLang="zh-CN" sz="2800" b="1" dirty="0">
              <a:solidFill>
                <a:schemeClr val="accent2"/>
              </a:solidFill>
              <a:latin typeface="宋体" pitchFamily="2" charset="-122"/>
              <a:ea typeface="+mn-ea"/>
            </a:endParaRPr>
          </a:p>
          <a:p>
            <a:pPr marL="742950" lvl="1" indent="-285750" eaLnBrk="1" hangingPunct="1">
              <a:lnSpc>
                <a:spcPct val="110000"/>
              </a:lnSpc>
              <a:spcBef>
                <a:spcPts val="600"/>
              </a:spcBef>
              <a:buFontTx/>
              <a:buChar char="–"/>
              <a:defRPr/>
            </a:pPr>
            <a:r>
              <a:rPr lang="zh-CN" altLang="en-US" sz="2800" b="1" dirty="0">
                <a:solidFill>
                  <a:schemeClr val="accent2"/>
                </a:solidFill>
                <a:latin typeface="宋体" pitchFamily="2" charset="-122"/>
                <a:ea typeface="+mn-ea"/>
              </a:rPr>
              <a:t>对于定长记录：</a:t>
            </a:r>
            <a:r>
              <a:rPr lang="en-US" altLang="zh-CN" sz="2800" dirty="0">
                <a:latin typeface="宋体" pitchFamily="2" charset="-122"/>
                <a:ea typeface="+mn-ea"/>
              </a:rPr>
              <a:t>A</a:t>
            </a:r>
            <a:r>
              <a:rPr lang="en-US" altLang="zh-CN" sz="2800" baseline="-25000" dirty="0">
                <a:latin typeface="宋体" pitchFamily="2" charset="-122"/>
                <a:ea typeface="+mn-ea"/>
              </a:rPr>
              <a:t>i</a:t>
            </a:r>
            <a:r>
              <a:rPr lang="en-US" altLang="zh-CN" sz="2800" dirty="0">
                <a:latin typeface="宋体" pitchFamily="2" charset="-122"/>
                <a:ea typeface="+mn-ea"/>
              </a:rPr>
              <a:t>=</a:t>
            </a:r>
            <a:r>
              <a:rPr lang="en-US" altLang="zh-CN" sz="2800" dirty="0">
                <a:latin typeface="宋体" pitchFamily="2" charset="-122"/>
              </a:rPr>
              <a:t>A</a:t>
            </a:r>
            <a:r>
              <a:rPr lang="en-US" altLang="zh-CN" sz="2800" baseline="-25000" dirty="0">
                <a:latin typeface="宋体" pitchFamily="2" charset="-122"/>
              </a:rPr>
              <a:t>0</a:t>
            </a:r>
            <a:r>
              <a:rPr lang="en-US" altLang="zh-CN" sz="2800" dirty="0">
                <a:latin typeface="宋体" pitchFamily="2" charset="-122"/>
              </a:rPr>
              <a:t>+</a:t>
            </a:r>
            <a:r>
              <a:rPr lang="en-US" altLang="zh-CN" sz="2800" dirty="0">
                <a:latin typeface="宋体" pitchFamily="2" charset="-122"/>
                <a:ea typeface="+mn-ea"/>
              </a:rPr>
              <a:t>i×L</a:t>
            </a:r>
          </a:p>
          <a:p>
            <a:pPr marL="742950" lvl="1" indent="-285750">
              <a:lnSpc>
                <a:spcPct val="110000"/>
              </a:lnSpc>
              <a:spcBef>
                <a:spcPts val="600"/>
              </a:spcBef>
              <a:buFontTx/>
              <a:buChar char="–"/>
              <a:defRPr/>
            </a:pPr>
            <a:r>
              <a:rPr lang="zh-CN" altLang="en-US" sz="2800" b="1" dirty="0">
                <a:solidFill>
                  <a:schemeClr val="accent2"/>
                </a:solidFill>
                <a:latin typeface="宋体" pitchFamily="2" charset="-122"/>
                <a:ea typeface="+mn-ea"/>
              </a:rPr>
              <a:t>对于变长记录：</a:t>
            </a:r>
            <a:endParaRPr lang="en-US" altLang="zh-CN" sz="2800" b="1" dirty="0">
              <a:solidFill>
                <a:schemeClr val="accent2"/>
              </a:solidFill>
              <a:latin typeface="宋体" pitchFamily="2" charset="-122"/>
              <a:ea typeface="+mn-ea"/>
            </a:endParaRPr>
          </a:p>
          <a:p>
            <a:pPr marL="742950" lvl="1" indent="-285750">
              <a:lnSpc>
                <a:spcPct val="110000"/>
              </a:lnSpc>
              <a:spcBef>
                <a:spcPts val="600"/>
              </a:spcBef>
              <a:buFontTx/>
              <a:buChar char="–"/>
              <a:defRPr/>
            </a:pPr>
            <a:r>
              <a:rPr lang="zh-CN" altLang="en-US" sz="2800" dirty="0">
                <a:latin typeface="宋体" pitchFamily="2" charset="-122"/>
                <a:ea typeface="+mn-ea"/>
              </a:rPr>
              <a:t>其中</a:t>
            </a:r>
            <a:r>
              <a:rPr lang="en-US" altLang="zh-CN" sz="2800" dirty="0">
                <a:latin typeface="宋体" pitchFamily="2" charset="-122"/>
                <a:ea typeface="+mn-ea"/>
              </a:rPr>
              <a:t>L</a:t>
            </a:r>
            <a:r>
              <a:rPr lang="en-US" altLang="zh-CN" sz="2800" baseline="-25000" dirty="0">
                <a:latin typeface="宋体" pitchFamily="2" charset="-122"/>
                <a:ea typeface="+mn-ea"/>
              </a:rPr>
              <a:t>i</a:t>
            </a:r>
            <a:r>
              <a:rPr lang="zh-CN" altLang="en-US" sz="2800" dirty="0">
                <a:latin typeface="宋体" pitchFamily="2" charset="-122"/>
                <a:ea typeface="+mn-ea"/>
              </a:rPr>
              <a:t>为第</a:t>
            </a:r>
            <a:r>
              <a:rPr lang="en-US" altLang="zh-CN" sz="2800" dirty="0">
                <a:latin typeface="宋体" pitchFamily="2" charset="-122"/>
                <a:ea typeface="+mn-ea"/>
              </a:rPr>
              <a:t>i</a:t>
            </a:r>
            <a:r>
              <a:rPr lang="zh-CN" altLang="en-US" sz="2800" dirty="0">
                <a:latin typeface="宋体" pitchFamily="2" charset="-122"/>
                <a:ea typeface="+mn-ea"/>
              </a:rPr>
              <a:t>条记录的长度，</a:t>
            </a:r>
            <a:r>
              <a:rPr lang="en-US" altLang="zh-CN" sz="2800" dirty="0">
                <a:latin typeface="宋体" pitchFamily="2" charset="-122"/>
                <a:ea typeface="+mn-ea"/>
              </a:rPr>
              <a:t>A</a:t>
            </a:r>
            <a:r>
              <a:rPr lang="en-US" altLang="zh-CN" sz="2800" baseline="-25000" dirty="0">
                <a:latin typeface="宋体" pitchFamily="2" charset="-122"/>
                <a:ea typeface="+mn-ea"/>
              </a:rPr>
              <a:t>i</a:t>
            </a:r>
            <a:r>
              <a:rPr lang="zh-CN" altLang="en-US" sz="2800" dirty="0">
                <a:latin typeface="宋体" pitchFamily="2" charset="-122"/>
                <a:ea typeface="+mn-ea"/>
              </a:rPr>
              <a:t>为第</a:t>
            </a:r>
            <a:r>
              <a:rPr lang="en-US" altLang="zh-CN" sz="2800" dirty="0">
                <a:latin typeface="宋体" pitchFamily="2" charset="-122"/>
                <a:ea typeface="+mn-ea"/>
              </a:rPr>
              <a:t>i</a:t>
            </a:r>
            <a:r>
              <a:rPr lang="zh-CN" altLang="en-US" sz="2800" dirty="0">
                <a:latin typeface="宋体" pitchFamily="2" charset="-122"/>
                <a:ea typeface="+mn-ea"/>
              </a:rPr>
              <a:t>条记录的首址</a:t>
            </a:r>
            <a:endParaRPr lang="en-US" altLang="zh-CN" sz="2800" dirty="0">
              <a:latin typeface="宋体" pitchFamily="2" charset="-122"/>
              <a:ea typeface="+mn-ea"/>
            </a:endParaRPr>
          </a:p>
          <a:p>
            <a:pPr marL="342900" indent="-342900" algn="just">
              <a:lnSpc>
                <a:spcPct val="110000"/>
              </a:lnSpc>
              <a:spcBef>
                <a:spcPts val="600"/>
              </a:spcBef>
              <a:buFontTx/>
              <a:buChar char="•"/>
              <a:defRPr/>
            </a:pPr>
            <a:r>
              <a:rPr lang="zh-CN" altLang="en-US" sz="2800" b="1" dirty="0">
                <a:solidFill>
                  <a:schemeClr val="accent2"/>
                </a:solidFill>
                <a:latin typeface="宋体" pitchFamily="2" charset="-122"/>
                <a:ea typeface="+mn-ea"/>
              </a:rPr>
              <a:t>利用关键字</a:t>
            </a:r>
            <a:endParaRPr lang="en-US" altLang="zh-CN" sz="2800" b="1" dirty="0">
              <a:solidFill>
                <a:schemeClr val="accent2"/>
              </a:solidFill>
              <a:latin typeface="宋体" pitchFamily="2" charset="-122"/>
              <a:ea typeface="+mn-ea"/>
            </a:endParaRPr>
          </a:p>
          <a:p>
            <a:pPr marL="742950" lvl="1" indent="-285750">
              <a:lnSpc>
                <a:spcPct val="110000"/>
              </a:lnSpc>
              <a:spcBef>
                <a:spcPts val="600"/>
              </a:spcBef>
              <a:buFontTx/>
              <a:buChar char="–"/>
              <a:defRPr/>
            </a:pPr>
            <a:r>
              <a:rPr lang="zh-CN" altLang="en-US" sz="2800" dirty="0">
                <a:latin typeface="宋体" pitchFamily="2" charset="-122"/>
                <a:ea typeface="+mn-ea"/>
              </a:rPr>
              <a:t>通过指定关键字来查找记录 </a:t>
            </a:r>
          </a:p>
        </p:txBody>
      </p:sp>
      <p:graphicFrame>
        <p:nvGraphicFramePr>
          <p:cNvPr id="28675" name="Object 5">
            <a:extLst>
              <a:ext uri="{FF2B5EF4-FFF2-40B4-BE49-F238E27FC236}">
                <a16:creationId xmlns:a16="http://schemas.microsoft.com/office/drawing/2014/main" id="{7EE85EA7-3D66-CC08-0945-AC2BF8EFBE5F}"/>
              </a:ext>
            </a:extLst>
          </p:cNvPr>
          <p:cNvGraphicFramePr>
            <a:graphicFrameLocks noChangeAspect="1"/>
          </p:cNvGraphicFramePr>
          <p:nvPr/>
        </p:nvGraphicFramePr>
        <p:xfrm>
          <a:off x="3708400" y="2997200"/>
          <a:ext cx="2016125" cy="863600"/>
        </p:xfrm>
        <a:graphic>
          <a:graphicData uri="http://schemas.openxmlformats.org/presentationml/2006/ole">
            <mc:AlternateContent xmlns:mc="http://schemas.openxmlformats.org/markup-compatibility/2006">
              <mc:Choice xmlns:v="urn:schemas-microsoft-com:vml" Requires="v">
                <p:oleObj name="Equation" r:id="rId2" imgW="952087" imgH="431613" progId="Equation.DSMT4">
                  <p:embed/>
                </p:oleObj>
              </mc:Choice>
              <mc:Fallback>
                <p:oleObj name="Equation" r:id="rId2" imgW="952087" imgH="431613"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8400" y="2997200"/>
                        <a:ext cx="2016125"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blinds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006984AC-7A67-A3C9-1F83-C7852174DD56}"/>
              </a:ext>
            </a:extLst>
          </p:cNvPr>
          <p:cNvSpPr>
            <a:spLocks noGrp="1" noChangeArrowheads="1"/>
          </p:cNvSpPr>
          <p:nvPr>
            <p:ph type="title"/>
          </p:nvPr>
        </p:nvSpPr>
        <p:spPr>
          <a:xfrm>
            <a:off x="685800" y="357188"/>
            <a:ext cx="7772400" cy="1143000"/>
          </a:xfrm>
        </p:spPr>
        <p:txBody>
          <a:bodyPr/>
          <a:lstStyle/>
          <a:p>
            <a:r>
              <a:rPr lang="en-US" altLang="zh-CN" b="1">
                <a:solidFill>
                  <a:srgbClr val="660066"/>
                </a:solidFill>
                <a:ea typeface="楷体_GB2312" pitchFamily="1" charset="-122"/>
              </a:rPr>
              <a:t>7.2.4 </a:t>
            </a:r>
            <a:r>
              <a:rPr lang="zh-CN" altLang="en-US" b="1">
                <a:solidFill>
                  <a:srgbClr val="660066"/>
                </a:solidFill>
                <a:ea typeface="楷体_GB2312" pitchFamily="1" charset="-122"/>
              </a:rPr>
              <a:t>索引文件</a:t>
            </a:r>
            <a:r>
              <a:rPr lang="zh-CN" altLang="en-US" b="1"/>
              <a:t> </a:t>
            </a:r>
            <a:endParaRPr lang="zh-CN" altLang="en-US"/>
          </a:p>
        </p:txBody>
      </p:sp>
      <p:sp>
        <p:nvSpPr>
          <p:cNvPr id="29699" name="内容占位符 2">
            <a:extLst>
              <a:ext uri="{FF2B5EF4-FFF2-40B4-BE49-F238E27FC236}">
                <a16:creationId xmlns:a16="http://schemas.microsoft.com/office/drawing/2014/main" id="{4D1D88F5-A48F-4457-C69E-4B1E168B4A47}"/>
              </a:ext>
            </a:extLst>
          </p:cNvPr>
          <p:cNvSpPr>
            <a:spLocks noGrp="1" noChangeArrowheads="1"/>
          </p:cNvSpPr>
          <p:nvPr>
            <p:ph idx="1"/>
          </p:nvPr>
        </p:nvSpPr>
        <p:spPr>
          <a:xfrm>
            <a:off x="357188" y="2076450"/>
            <a:ext cx="8358187" cy="4232275"/>
          </a:xfrm>
        </p:spPr>
        <p:txBody>
          <a:bodyPr/>
          <a:lstStyle/>
          <a:p>
            <a:pPr>
              <a:lnSpc>
                <a:spcPct val="110000"/>
              </a:lnSpc>
            </a:pPr>
            <a:r>
              <a:rPr lang="zh-CN" altLang="en-US" sz="2800" b="1">
                <a:solidFill>
                  <a:schemeClr val="accent2"/>
                </a:solidFill>
                <a:latin typeface="宋体" panose="02010600030101010101" pitchFamily="2" charset="-122"/>
              </a:rPr>
              <a:t>索引文件</a:t>
            </a:r>
            <a:endParaRPr lang="en-US" altLang="zh-CN" sz="2800" b="1">
              <a:solidFill>
                <a:schemeClr val="accent2"/>
              </a:solidFill>
              <a:latin typeface="宋体" panose="02010600030101010101" pitchFamily="2" charset="-122"/>
            </a:endParaRPr>
          </a:p>
          <a:p>
            <a:pPr lvl="1">
              <a:lnSpc>
                <a:spcPct val="110000"/>
              </a:lnSpc>
            </a:pPr>
            <a:r>
              <a:rPr lang="zh-CN" altLang="en-US" sz="2400">
                <a:latin typeface="宋体" panose="02010600030101010101" pitchFamily="2" charset="-122"/>
              </a:rPr>
              <a:t>由变长记录组成的顺序文件不容易实现直接存取，因此，为其建立一有序的索引表，为主文件中的每条记录在索引表中分别设置一个表项，记录指向该记录的指针（即记录在逻辑地址空间的首址）以及记录的长度</a:t>
            </a:r>
            <a:r>
              <a:rPr lang="en-US" altLang="zh-CN" sz="2400">
                <a:latin typeface="宋体" panose="02010600030101010101" pitchFamily="2" charset="-122"/>
              </a:rPr>
              <a:t>L</a:t>
            </a:r>
            <a:r>
              <a:rPr lang="zh-CN" altLang="en-US" sz="2400">
                <a:latin typeface="宋体" panose="02010600030101010101" pitchFamily="2" charset="-122"/>
              </a:rPr>
              <a:t>。</a:t>
            </a:r>
            <a:endParaRPr lang="en-US" altLang="zh-CN" sz="2400">
              <a:latin typeface="宋体" panose="02010600030101010101" pitchFamily="2" charset="-122"/>
            </a:endParaRPr>
          </a:p>
          <a:p>
            <a:pPr lvl="1">
              <a:lnSpc>
                <a:spcPct val="110000"/>
              </a:lnSpc>
            </a:pPr>
            <a:r>
              <a:rPr lang="zh-CN" altLang="en-US" sz="2400">
                <a:latin typeface="宋体" panose="02010600030101010101" pitchFamily="2" charset="-122"/>
              </a:rPr>
              <a:t>索引表按关键字排序，是一个定长记录的顺序文件</a:t>
            </a:r>
            <a:endParaRPr lang="en-US" altLang="zh-CN" sz="2400">
              <a:latin typeface="宋体" panose="02010600030101010101" pitchFamily="2" charset="-122"/>
            </a:endParaRPr>
          </a:p>
          <a:p>
            <a:pPr lvl="1">
              <a:lnSpc>
                <a:spcPct val="110000"/>
              </a:lnSpc>
            </a:pPr>
            <a:r>
              <a:rPr lang="zh-CN" altLang="en-US" sz="2400">
                <a:latin typeface="宋体" panose="02010600030101010101" pitchFamily="2" charset="-122"/>
              </a:rPr>
              <a:t>对索引表可采用折半查找等方法，检索速度更快。</a:t>
            </a:r>
          </a:p>
          <a:p>
            <a:pPr lvl="1">
              <a:lnSpc>
                <a:spcPct val="110000"/>
              </a:lnSpc>
            </a:pPr>
            <a:r>
              <a:rPr lang="zh-CN" altLang="en-US" sz="2400" b="1">
                <a:solidFill>
                  <a:schemeClr val="accent2"/>
                </a:solidFill>
                <a:latin typeface="宋体" panose="02010600030101010101" pitchFamily="2" charset="-122"/>
              </a:rPr>
              <a:t>特点：</a:t>
            </a:r>
            <a:r>
              <a:rPr lang="zh-CN" altLang="en-US" sz="2400">
                <a:latin typeface="宋体" panose="02010600030101010101" pitchFamily="2" charset="-122"/>
              </a:rPr>
              <a:t>提高了速度，增加了存储开销</a:t>
            </a:r>
            <a:r>
              <a:rPr lang="en-US" altLang="zh-CN" sz="2400">
                <a:latin typeface="宋体" panose="02010600030101010101" pitchFamily="2" charset="-122"/>
              </a:rPr>
              <a:t>——</a:t>
            </a:r>
            <a:r>
              <a:rPr lang="zh-CN" altLang="en-US" sz="2400">
                <a:latin typeface="宋体" panose="02010600030101010101" pitchFamily="2" charset="-122"/>
              </a:rPr>
              <a:t>放索引文件。</a:t>
            </a:r>
          </a:p>
          <a:p>
            <a:pPr lvl="1">
              <a:lnSpc>
                <a:spcPct val="110000"/>
              </a:lnSpc>
            </a:pPr>
            <a:r>
              <a:rPr lang="zh-CN" altLang="en-US" sz="2400">
                <a:latin typeface="宋体" panose="02010600030101010101" pitchFamily="2" charset="-122"/>
              </a:rPr>
              <a:t>增、删记录时，对索引表要作相应的修改。</a:t>
            </a:r>
            <a:endParaRPr lang="en-US" altLang="zh-CN" sz="2400">
              <a:latin typeface="宋体" panose="02010600030101010101" pitchFamily="2" charset="-122"/>
            </a:endParaRPr>
          </a:p>
        </p:txBody>
      </p:sp>
      <p:sp>
        <p:nvSpPr>
          <p:cNvPr id="29700" name="矩形 3">
            <a:extLst>
              <a:ext uri="{FF2B5EF4-FFF2-40B4-BE49-F238E27FC236}">
                <a16:creationId xmlns:a16="http://schemas.microsoft.com/office/drawing/2014/main" id="{5BAB6031-2D0C-30F8-B477-21B986CEE19E}"/>
              </a:ext>
            </a:extLst>
          </p:cNvPr>
          <p:cNvSpPr>
            <a:spLocks noChangeArrowheads="1"/>
          </p:cNvSpPr>
          <p:nvPr/>
        </p:nvSpPr>
        <p:spPr bwMode="auto">
          <a:xfrm>
            <a:off x="323850" y="1341438"/>
            <a:ext cx="41195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、按关键字建立索引</a:t>
            </a:r>
            <a:endParaRPr kumimoji="0" lang="en-US" altLang="zh-CN" b="1">
              <a:solidFill>
                <a:srgbClr val="C00000"/>
              </a:solidFill>
              <a:latin typeface="Arial" panose="020B0604020202020204" pitchFamily="34" charset="0"/>
            </a:endParaRPr>
          </a:p>
        </p:txBody>
      </p:sp>
    </p:spTree>
  </p:cSld>
  <p:clrMapOvr>
    <a:masterClrMapping/>
  </p:clrMapOvr>
  <p:transition>
    <p:blinds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1">
            <a:extLst>
              <a:ext uri="{FF2B5EF4-FFF2-40B4-BE49-F238E27FC236}">
                <a16:creationId xmlns:a16="http://schemas.microsoft.com/office/drawing/2014/main" id="{5B74D7CA-8FC7-B9D7-FC4A-5DEFCD793935}"/>
              </a:ext>
            </a:extLst>
          </p:cNvPr>
          <p:cNvSpPr>
            <a:spLocks noChangeArrowheads="1"/>
          </p:cNvSpPr>
          <p:nvPr/>
        </p:nvSpPr>
        <p:spPr bwMode="auto">
          <a:xfrm>
            <a:off x="323850" y="476250"/>
            <a:ext cx="576738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、具有多个索引表的索引文件</a:t>
            </a:r>
            <a:endParaRPr kumimoji="0" lang="en-US" altLang="zh-CN" b="1">
              <a:solidFill>
                <a:srgbClr val="C00000"/>
              </a:solidFill>
              <a:latin typeface="Arial" panose="020B0604020202020204" pitchFamily="34" charset="0"/>
            </a:endParaRPr>
          </a:p>
        </p:txBody>
      </p:sp>
      <p:sp>
        <p:nvSpPr>
          <p:cNvPr id="30723" name="Text Box 5">
            <a:extLst>
              <a:ext uri="{FF2B5EF4-FFF2-40B4-BE49-F238E27FC236}">
                <a16:creationId xmlns:a16="http://schemas.microsoft.com/office/drawing/2014/main" id="{7B92BC3E-1EC5-6D45-357B-1CD9F859BCD4}"/>
              </a:ext>
            </a:extLst>
          </p:cNvPr>
          <p:cNvSpPr txBox="1">
            <a:spLocks noChangeArrowheads="1"/>
          </p:cNvSpPr>
          <p:nvPr/>
        </p:nvSpPr>
        <p:spPr bwMode="auto">
          <a:xfrm>
            <a:off x="3000375" y="6062663"/>
            <a:ext cx="3300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7-4 </a:t>
            </a:r>
            <a:r>
              <a:rPr lang="zh-CN" altLang="en-US" sz="2400" b="1"/>
              <a:t>索引文件的组织 </a:t>
            </a:r>
          </a:p>
        </p:txBody>
      </p:sp>
      <p:pic>
        <p:nvPicPr>
          <p:cNvPr id="30724" name="Picture 6">
            <a:extLst>
              <a:ext uri="{FF2B5EF4-FFF2-40B4-BE49-F238E27FC236}">
                <a16:creationId xmlns:a16="http://schemas.microsoft.com/office/drawing/2014/main" id="{72ABFCA5-219B-DCA6-18EA-203715D6A8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701925"/>
            <a:ext cx="7488237" cy="339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内容占位符 2">
            <a:extLst>
              <a:ext uri="{FF2B5EF4-FFF2-40B4-BE49-F238E27FC236}">
                <a16:creationId xmlns:a16="http://schemas.microsoft.com/office/drawing/2014/main" id="{B238344C-089D-71A3-1C98-D2C832DE136F}"/>
              </a:ext>
            </a:extLst>
          </p:cNvPr>
          <p:cNvSpPr txBox="1">
            <a:spLocks/>
          </p:cNvSpPr>
          <p:nvPr/>
        </p:nvSpPr>
        <p:spPr bwMode="auto">
          <a:xfrm>
            <a:off x="357188" y="1065213"/>
            <a:ext cx="8501062" cy="164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sz="2400"/>
              <a:t>为每种可能成为检索条件的域都配置一张索引表</a:t>
            </a:r>
            <a:endParaRPr lang="en-US" altLang="zh-CN" sz="2400"/>
          </a:p>
          <a:p>
            <a:r>
              <a:rPr lang="zh-CN" altLang="en-US" sz="2400"/>
              <a:t>每一个索引表都按相应的一种属性或关键字进行排序</a:t>
            </a:r>
            <a:endParaRPr lang="en-US" altLang="zh-CN" sz="2400"/>
          </a:p>
        </p:txBody>
      </p:sp>
      <p:sp>
        <p:nvSpPr>
          <p:cNvPr id="6" name="内容占位符 2">
            <a:extLst>
              <a:ext uri="{FF2B5EF4-FFF2-40B4-BE49-F238E27FC236}">
                <a16:creationId xmlns:a16="http://schemas.microsoft.com/office/drawing/2014/main" id="{D2EBBB25-E4A5-406E-F351-B235388C5866}"/>
              </a:ext>
            </a:extLst>
          </p:cNvPr>
          <p:cNvSpPr txBox="1">
            <a:spLocks/>
          </p:cNvSpPr>
          <p:nvPr/>
        </p:nvSpPr>
        <p:spPr bwMode="auto">
          <a:xfrm>
            <a:off x="357188" y="1065213"/>
            <a:ext cx="8501062" cy="16430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r>
              <a:rPr lang="zh-CN" altLang="en-US" sz="2400" b="1">
                <a:solidFill>
                  <a:schemeClr val="accent2"/>
                </a:solidFill>
              </a:rPr>
              <a:t>索引文件的优点：</a:t>
            </a:r>
            <a:r>
              <a:rPr lang="zh-CN" altLang="en-US" sz="2400"/>
              <a:t>可直接存取，</a:t>
            </a:r>
            <a:r>
              <a:rPr lang="zh-CN" altLang="en-US" sz="2400">
                <a:latin typeface="宋体" panose="02010600030101010101" pitchFamily="2" charset="-122"/>
              </a:rPr>
              <a:t>有较快的检索速度</a:t>
            </a:r>
            <a:r>
              <a:rPr lang="zh-CN" altLang="en-US" sz="2400"/>
              <a:t>；文件的增删方便。</a:t>
            </a:r>
          </a:p>
          <a:p>
            <a:r>
              <a:rPr lang="zh-CN" altLang="en-US" sz="2400" b="1">
                <a:solidFill>
                  <a:schemeClr val="accent2"/>
                </a:solidFill>
              </a:rPr>
              <a:t>索引文件的缺点：</a:t>
            </a:r>
            <a:r>
              <a:rPr lang="zh-CN" altLang="en-US" sz="2400"/>
              <a:t>除主文件外，还需配置一张索引表，而且每一记录都要有一索引项，增加了存储费用。</a:t>
            </a:r>
            <a:r>
              <a:rPr lang="zh-CN" altLang="en-US" sz="2400">
                <a:latin typeface="宋体" panose="02010600030101010101" pitchFamily="2" charset="-122"/>
              </a:rPr>
              <a:t>增加删除记录时，也需要修改索引表。</a:t>
            </a:r>
            <a:endParaRPr lang="en-US" altLang="zh-CN" sz="2400"/>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76F75127-5B61-6B0F-46D6-959D18FEDC09}"/>
              </a:ext>
            </a:extLst>
          </p:cNvPr>
          <p:cNvSpPr>
            <a:spLocks noGrp="1" noChangeArrowheads="1"/>
          </p:cNvSpPr>
          <p:nvPr>
            <p:ph type="title"/>
          </p:nvPr>
        </p:nvSpPr>
        <p:spPr>
          <a:xfrm>
            <a:off x="685800" y="357188"/>
            <a:ext cx="7772400" cy="1143000"/>
          </a:xfrm>
        </p:spPr>
        <p:txBody>
          <a:bodyPr/>
          <a:lstStyle/>
          <a:p>
            <a:r>
              <a:rPr lang="en-US" altLang="zh-CN" b="1">
                <a:solidFill>
                  <a:srgbClr val="660066"/>
                </a:solidFill>
                <a:ea typeface="楷体_GB2312" pitchFamily="1" charset="-122"/>
              </a:rPr>
              <a:t>7.2.5 </a:t>
            </a:r>
            <a:r>
              <a:rPr lang="zh-CN" altLang="en-US" b="1">
                <a:solidFill>
                  <a:srgbClr val="660066"/>
                </a:solidFill>
                <a:ea typeface="楷体_GB2312" pitchFamily="1" charset="-122"/>
              </a:rPr>
              <a:t>索引顺序文件</a:t>
            </a:r>
            <a:r>
              <a:rPr lang="zh-CN" altLang="en-US" b="1"/>
              <a:t> </a:t>
            </a:r>
            <a:endParaRPr lang="zh-CN" altLang="en-US"/>
          </a:p>
        </p:txBody>
      </p:sp>
      <p:sp>
        <p:nvSpPr>
          <p:cNvPr id="31747" name="内容占位符 2">
            <a:extLst>
              <a:ext uri="{FF2B5EF4-FFF2-40B4-BE49-F238E27FC236}">
                <a16:creationId xmlns:a16="http://schemas.microsoft.com/office/drawing/2014/main" id="{DB812575-DBCA-F379-1F24-0B8BFBC898F6}"/>
              </a:ext>
            </a:extLst>
          </p:cNvPr>
          <p:cNvSpPr>
            <a:spLocks noGrp="1" noChangeArrowheads="1"/>
          </p:cNvSpPr>
          <p:nvPr>
            <p:ph idx="1"/>
          </p:nvPr>
        </p:nvSpPr>
        <p:spPr>
          <a:xfrm>
            <a:off x="357188" y="1916113"/>
            <a:ext cx="8429625" cy="4584700"/>
          </a:xfrm>
        </p:spPr>
        <p:txBody>
          <a:bodyPr/>
          <a:lstStyle/>
          <a:p>
            <a:r>
              <a:rPr lang="zh-CN" altLang="en-US" sz="2800">
                <a:latin typeface="宋体" panose="02010600030101010101" pitchFamily="2" charset="-122"/>
              </a:rPr>
              <a:t>克服了变长记录的顺序文件不能随机访问，以及不便于记录的删除和插入。</a:t>
            </a:r>
            <a:endParaRPr lang="en-US" altLang="zh-CN" sz="2800">
              <a:latin typeface="宋体" panose="02010600030101010101" pitchFamily="2" charset="-122"/>
            </a:endParaRPr>
          </a:p>
          <a:p>
            <a:r>
              <a:rPr lang="zh-CN" altLang="en-US" sz="2800">
                <a:latin typeface="宋体" panose="02010600030101010101" pitchFamily="2" charset="-122"/>
              </a:rPr>
              <a:t>记录是按关键字的顺序组织起来的</a:t>
            </a:r>
            <a:endParaRPr lang="en-US" altLang="zh-CN" sz="2800">
              <a:latin typeface="宋体" panose="02010600030101010101" pitchFamily="2" charset="-122"/>
            </a:endParaRPr>
          </a:p>
          <a:p>
            <a:r>
              <a:rPr lang="zh-CN" altLang="en-US" sz="2800" b="1">
                <a:solidFill>
                  <a:schemeClr val="accent2"/>
                </a:solidFill>
                <a:latin typeface="宋体" panose="02010600030101010101" pitchFamily="2" charset="-122"/>
              </a:rPr>
              <a:t>引入了文件索引表：</a:t>
            </a:r>
            <a:r>
              <a:rPr lang="zh-CN" altLang="en-US" sz="2800">
                <a:latin typeface="宋体" panose="02010600030101010101" pitchFamily="2" charset="-122"/>
              </a:rPr>
              <a:t>实现对索引顺序文件的随机访问</a:t>
            </a:r>
            <a:endParaRPr lang="en-US" altLang="zh-CN" sz="2800">
              <a:latin typeface="宋体" panose="02010600030101010101" pitchFamily="2" charset="-122"/>
            </a:endParaRPr>
          </a:p>
          <a:p>
            <a:r>
              <a:rPr lang="zh-CN" altLang="en-US" sz="2800" b="1">
                <a:solidFill>
                  <a:schemeClr val="accent2"/>
                </a:solidFill>
                <a:latin typeface="宋体" panose="02010600030101010101" pitchFamily="2" charset="-122"/>
              </a:rPr>
              <a:t>增加了溢出文件：</a:t>
            </a:r>
            <a:r>
              <a:rPr lang="zh-CN" altLang="en-US" sz="2800">
                <a:latin typeface="宋体" panose="02010600030101010101" pitchFamily="2" charset="-122"/>
              </a:rPr>
              <a:t>用于记录新增加、删除和修改的记录。</a:t>
            </a:r>
            <a:endParaRPr lang="en-US" altLang="zh-CN" sz="2800" b="1">
              <a:solidFill>
                <a:schemeClr val="accent2"/>
              </a:solidFill>
              <a:latin typeface="宋体" panose="02010600030101010101" pitchFamily="2" charset="-122"/>
            </a:endParaRPr>
          </a:p>
        </p:txBody>
      </p:sp>
      <p:sp>
        <p:nvSpPr>
          <p:cNvPr id="31748" name="矩形 3">
            <a:extLst>
              <a:ext uri="{FF2B5EF4-FFF2-40B4-BE49-F238E27FC236}">
                <a16:creationId xmlns:a16="http://schemas.microsoft.com/office/drawing/2014/main" id="{3E999C4A-B957-50A7-21E2-A092F80231AA}"/>
              </a:ext>
            </a:extLst>
          </p:cNvPr>
          <p:cNvSpPr>
            <a:spLocks noChangeArrowheads="1"/>
          </p:cNvSpPr>
          <p:nvPr/>
        </p:nvSpPr>
        <p:spPr bwMode="auto">
          <a:xfrm>
            <a:off x="323850" y="1341438"/>
            <a:ext cx="4532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、索引顺序文件的特征</a:t>
            </a:r>
            <a:endParaRPr kumimoji="0" lang="en-US" altLang="zh-CN" b="1">
              <a:solidFill>
                <a:srgbClr val="C00000"/>
              </a:solidFill>
              <a:latin typeface="Arial" panose="020B0604020202020204" pitchFamily="34" charset="0"/>
            </a:endParaRPr>
          </a:p>
        </p:txBody>
      </p:sp>
    </p:spTree>
  </p:cSld>
  <p:clrMapOvr>
    <a:masterClrMapping/>
  </p:clrMapOvr>
  <p:transition>
    <p:blinds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2">
            <a:extLst>
              <a:ext uri="{FF2B5EF4-FFF2-40B4-BE49-F238E27FC236}">
                <a16:creationId xmlns:a16="http://schemas.microsoft.com/office/drawing/2014/main" id="{EB1804D1-0868-7DA6-8D95-C2571ED9054F}"/>
              </a:ext>
            </a:extLst>
          </p:cNvPr>
          <p:cNvSpPr>
            <a:spLocks noGrp="1" noChangeArrowheads="1"/>
          </p:cNvSpPr>
          <p:nvPr>
            <p:ph idx="1"/>
          </p:nvPr>
        </p:nvSpPr>
        <p:spPr>
          <a:xfrm>
            <a:off x="357188" y="1052513"/>
            <a:ext cx="8429625" cy="5448300"/>
          </a:xfrm>
        </p:spPr>
        <p:txBody>
          <a:bodyPr/>
          <a:lstStyle/>
          <a:p>
            <a:r>
              <a:rPr lang="zh-CN" altLang="en-US" sz="2800" b="1">
                <a:solidFill>
                  <a:schemeClr val="accent2"/>
                </a:solidFill>
                <a:latin typeface="宋体" panose="02010600030101010101" pitchFamily="2" charset="-122"/>
              </a:rPr>
              <a:t>索引顺序文件</a:t>
            </a:r>
            <a:endParaRPr lang="en-US" altLang="zh-CN" sz="2800" b="1">
              <a:solidFill>
                <a:schemeClr val="accent2"/>
              </a:solidFill>
              <a:latin typeface="宋体" panose="02010600030101010101" pitchFamily="2" charset="-122"/>
            </a:endParaRPr>
          </a:p>
          <a:p>
            <a:pPr lvl="1"/>
            <a:r>
              <a:rPr lang="zh-CN" altLang="en-US" sz="2400">
                <a:latin typeface="宋体" panose="02010600030101010101" pitchFamily="2" charset="-122"/>
              </a:rPr>
              <a:t>将顺序文件中若干记录分为一组；</a:t>
            </a:r>
            <a:endParaRPr lang="en-US" altLang="zh-CN" sz="2400">
              <a:latin typeface="宋体" panose="02010600030101010101" pitchFamily="2" charset="-122"/>
            </a:endParaRPr>
          </a:p>
          <a:p>
            <a:pPr lvl="1"/>
            <a:r>
              <a:rPr lang="zh-CN" altLang="en-US" sz="2400"/>
              <a:t>为顺序文件建立一张索引表，表中记录每个组的第一个记录，该索引项包含记录的键值和指向该记录的指针</a:t>
            </a:r>
            <a:r>
              <a:rPr lang="zh-CN" altLang="en-US" sz="2400">
                <a:latin typeface="宋体" panose="02010600030101010101" pitchFamily="2" charset="-122"/>
              </a:rPr>
              <a:t>；</a:t>
            </a:r>
            <a:endParaRPr lang="en-US" altLang="zh-CN" sz="2400">
              <a:latin typeface="宋体" panose="02010600030101010101" pitchFamily="2" charset="-122"/>
            </a:endParaRPr>
          </a:p>
          <a:p>
            <a:pPr lvl="1"/>
            <a:r>
              <a:rPr lang="zh-CN" altLang="en-US" sz="2400"/>
              <a:t>为该组的其它记录设置了溢出区域，在溢出区域内记录按顺序文件方式组织。</a:t>
            </a:r>
            <a:endParaRPr lang="en-US" altLang="zh-CN" sz="2400"/>
          </a:p>
          <a:p>
            <a:pPr lvl="1"/>
            <a:r>
              <a:rPr lang="zh-CN" altLang="en-US" sz="2400"/>
              <a:t>是顺序文件和索引文件的结合。索引顺序文件既适用于交互方式应用，也适用于批处理方式应用。</a:t>
            </a:r>
            <a:endParaRPr lang="zh-CN" altLang="en-US" sz="2400">
              <a:latin typeface="宋体" panose="02010600030101010101" pitchFamily="2" charset="-122"/>
            </a:endParaRPr>
          </a:p>
          <a:p>
            <a:r>
              <a:rPr lang="zh-CN" altLang="en-US" sz="2800" b="1">
                <a:solidFill>
                  <a:schemeClr val="accent2"/>
                </a:solidFill>
              </a:rPr>
              <a:t>检索方法：</a:t>
            </a:r>
            <a:r>
              <a:rPr lang="zh-CN" altLang="en-US" sz="2800"/>
              <a:t>先根据关键字去检索索引表，找到该记录所在组的第一个记录的位置，然后再利用顺序查找法去查找主文件，找到所需记录。平均检索效率为</a:t>
            </a:r>
          </a:p>
        </p:txBody>
      </p:sp>
      <p:sp>
        <p:nvSpPr>
          <p:cNvPr id="32771" name="矩形 4">
            <a:extLst>
              <a:ext uri="{FF2B5EF4-FFF2-40B4-BE49-F238E27FC236}">
                <a16:creationId xmlns:a16="http://schemas.microsoft.com/office/drawing/2014/main" id="{7F6423E5-B86C-AAD3-2208-509EBDE0286D}"/>
              </a:ext>
            </a:extLst>
          </p:cNvPr>
          <p:cNvSpPr>
            <a:spLocks noChangeArrowheads="1"/>
          </p:cNvSpPr>
          <p:nvPr/>
        </p:nvSpPr>
        <p:spPr bwMode="auto">
          <a:xfrm>
            <a:off x="323850" y="476250"/>
            <a:ext cx="41195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、一级索引顺序文件</a:t>
            </a:r>
            <a:endParaRPr kumimoji="0" lang="en-US" altLang="zh-CN" b="1">
              <a:solidFill>
                <a:srgbClr val="C00000"/>
              </a:solidFill>
              <a:latin typeface="Arial" panose="020B0604020202020204" pitchFamily="34" charset="0"/>
            </a:endParaRPr>
          </a:p>
        </p:txBody>
      </p:sp>
      <p:graphicFrame>
        <p:nvGraphicFramePr>
          <p:cNvPr id="32772" name="Object 2">
            <a:extLst>
              <a:ext uri="{FF2B5EF4-FFF2-40B4-BE49-F238E27FC236}">
                <a16:creationId xmlns:a16="http://schemas.microsoft.com/office/drawing/2014/main" id="{3E0C4A4E-2CB7-7912-5390-F79EC15ACDC6}"/>
              </a:ext>
            </a:extLst>
          </p:cNvPr>
          <p:cNvGraphicFramePr>
            <a:graphicFrameLocks noChangeAspect="1"/>
          </p:cNvGraphicFramePr>
          <p:nvPr/>
        </p:nvGraphicFramePr>
        <p:xfrm>
          <a:off x="1187450" y="5805488"/>
          <a:ext cx="504825" cy="393700"/>
        </p:xfrm>
        <a:graphic>
          <a:graphicData uri="http://schemas.openxmlformats.org/presentationml/2006/ole">
            <mc:AlternateContent xmlns:mc="http://schemas.openxmlformats.org/markup-compatibility/2006">
              <mc:Choice xmlns:v="urn:schemas-microsoft-com:vml" Requires="v">
                <p:oleObj name="Equation" r:id="rId2" imgW="291973" imgH="228501" progId="Equation.DSMT4">
                  <p:embed/>
                </p:oleObj>
              </mc:Choice>
              <mc:Fallback>
                <p:oleObj name="Equation" r:id="rId2" imgW="291973" imgH="228501"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5805488"/>
                        <a:ext cx="504825"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blinds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4" name="Object 5">
            <a:extLst>
              <a:ext uri="{FF2B5EF4-FFF2-40B4-BE49-F238E27FC236}">
                <a16:creationId xmlns:a16="http://schemas.microsoft.com/office/drawing/2014/main" id="{827A0405-5E8D-B960-4C50-74002D24C906}"/>
              </a:ext>
            </a:extLst>
          </p:cNvPr>
          <p:cNvGraphicFramePr>
            <a:graphicFrameLocks noChangeAspect="1"/>
          </p:cNvGraphicFramePr>
          <p:nvPr/>
        </p:nvGraphicFramePr>
        <p:xfrm>
          <a:off x="0" y="1155700"/>
          <a:ext cx="9144000" cy="4559300"/>
        </p:xfrm>
        <a:graphic>
          <a:graphicData uri="http://schemas.openxmlformats.org/presentationml/2006/ole">
            <mc:AlternateContent xmlns:mc="http://schemas.openxmlformats.org/markup-compatibility/2006">
              <mc:Choice xmlns:v="urn:schemas-microsoft-com:vml" Requires="v">
                <p:oleObj name="VISIO" r:id="rId2" imgW="3162300" imgH="1577340" progId="Visio.Drawing.11">
                  <p:embed/>
                </p:oleObj>
              </mc:Choice>
              <mc:Fallback>
                <p:oleObj name="VISIO" r:id="rId2" imgW="3162300" imgH="1577340"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55700"/>
                        <a:ext cx="9144000" cy="455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795" name="Text Box 6">
            <a:extLst>
              <a:ext uri="{FF2B5EF4-FFF2-40B4-BE49-F238E27FC236}">
                <a16:creationId xmlns:a16="http://schemas.microsoft.com/office/drawing/2014/main" id="{36EBCD9A-7AA8-C0E3-8D0B-AD0D961C516C}"/>
              </a:ext>
            </a:extLst>
          </p:cNvPr>
          <p:cNvSpPr txBox="1">
            <a:spLocks noChangeArrowheads="1"/>
          </p:cNvSpPr>
          <p:nvPr/>
        </p:nvSpPr>
        <p:spPr bwMode="auto">
          <a:xfrm>
            <a:off x="2786063" y="5572125"/>
            <a:ext cx="2990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7-5 </a:t>
            </a:r>
            <a:r>
              <a:rPr lang="zh-CN" altLang="en-US" sz="2400" b="1"/>
              <a:t>索引顺序文件 </a:t>
            </a:r>
          </a:p>
        </p:txBody>
      </p:sp>
    </p:spTree>
  </p:cSld>
  <p:clrMapOvr>
    <a:masterClrMapping/>
  </p:clrMapOvr>
  <p:transition>
    <p:blinds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内容占位符 2">
            <a:extLst>
              <a:ext uri="{FF2B5EF4-FFF2-40B4-BE49-F238E27FC236}">
                <a16:creationId xmlns:a16="http://schemas.microsoft.com/office/drawing/2014/main" id="{BB95D59D-458B-90A0-BA83-9295F41FB2A5}"/>
              </a:ext>
            </a:extLst>
          </p:cNvPr>
          <p:cNvSpPr>
            <a:spLocks noGrp="1" noChangeArrowheads="1"/>
          </p:cNvSpPr>
          <p:nvPr>
            <p:ph idx="1"/>
          </p:nvPr>
        </p:nvSpPr>
        <p:spPr>
          <a:xfrm>
            <a:off x="357188" y="1052513"/>
            <a:ext cx="8429625" cy="5448300"/>
          </a:xfrm>
        </p:spPr>
        <p:txBody>
          <a:bodyPr/>
          <a:lstStyle/>
          <a:p>
            <a:r>
              <a:rPr lang="zh-CN" altLang="en-US" sz="2800" b="1">
                <a:solidFill>
                  <a:schemeClr val="accent2"/>
                </a:solidFill>
                <a:latin typeface="宋体" panose="02010600030101010101" pitchFamily="2" charset="-122"/>
              </a:rPr>
              <a:t>对于一个非常大的文件，检索时查找记录仍然很多，为了进一步提高检索效率，可以为顺序文件建立多级索引。</a:t>
            </a:r>
            <a:endParaRPr lang="en-US" altLang="zh-CN" sz="2800" b="1">
              <a:solidFill>
                <a:schemeClr val="accent2"/>
              </a:solidFill>
              <a:latin typeface="宋体" panose="02010600030101010101" pitchFamily="2" charset="-122"/>
            </a:endParaRPr>
          </a:p>
          <a:p>
            <a:pPr lvl="1"/>
            <a:r>
              <a:rPr lang="zh-CN" altLang="en-US" sz="2400"/>
              <a:t>平均检索效率为</a:t>
            </a:r>
            <a:r>
              <a:rPr lang="en-US" altLang="zh-CN" sz="2400"/>
              <a:t>(3/2)</a:t>
            </a:r>
            <a:r>
              <a:rPr lang="zh-CN" altLang="en-US" sz="2400"/>
              <a:t>       。</a:t>
            </a:r>
            <a:endParaRPr lang="zh-CN" altLang="en-US" sz="2400">
              <a:latin typeface="宋体" panose="02010600030101010101" pitchFamily="2" charset="-122"/>
            </a:endParaRPr>
          </a:p>
        </p:txBody>
      </p:sp>
      <p:sp>
        <p:nvSpPr>
          <p:cNvPr id="34819" name="矩形 4">
            <a:extLst>
              <a:ext uri="{FF2B5EF4-FFF2-40B4-BE49-F238E27FC236}">
                <a16:creationId xmlns:a16="http://schemas.microsoft.com/office/drawing/2014/main" id="{5691EB4D-916E-5AF1-C653-6A4D68C2A641}"/>
              </a:ext>
            </a:extLst>
          </p:cNvPr>
          <p:cNvSpPr>
            <a:spLocks noChangeArrowheads="1"/>
          </p:cNvSpPr>
          <p:nvPr/>
        </p:nvSpPr>
        <p:spPr bwMode="auto">
          <a:xfrm>
            <a:off x="323850" y="476250"/>
            <a:ext cx="41195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3</a:t>
            </a:r>
            <a:r>
              <a:rPr kumimoji="0" lang="zh-CN" altLang="en-US" b="1">
                <a:solidFill>
                  <a:srgbClr val="C00000"/>
                </a:solidFill>
                <a:latin typeface="Arial" panose="020B0604020202020204" pitchFamily="34" charset="0"/>
              </a:rPr>
              <a:t>、两级索引顺序文件</a:t>
            </a:r>
            <a:endParaRPr kumimoji="0" lang="en-US" altLang="zh-CN" b="1">
              <a:solidFill>
                <a:srgbClr val="C00000"/>
              </a:solidFill>
              <a:latin typeface="Arial" panose="020B0604020202020204" pitchFamily="34" charset="0"/>
            </a:endParaRPr>
          </a:p>
        </p:txBody>
      </p:sp>
      <p:graphicFrame>
        <p:nvGraphicFramePr>
          <p:cNvPr id="34820" name="Object 2">
            <a:extLst>
              <a:ext uri="{FF2B5EF4-FFF2-40B4-BE49-F238E27FC236}">
                <a16:creationId xmlns:a16="http://schemas.microsoft.com/office/drawing/2014/main" id="{5F844BB2-0B8A-3BCD-8DD1-D555A312C78A}"/>
              </a:ext>
            </a:extLst>
          </p:cNvPr>
          <p:cNvGraphicFramePr>
            <a:graphicFrameLocks noChangeAspect="1"/>
          </p:cNvGraphicFramePr>
          <p:nvPr/>
        </p:nvGraphicFramePr>
        <p:xfrm>
          <a:off x="3924300" y="2459038"/>
          <a:ext cx="504825" cy="393700"/>
        </p:xfrm>
        <a:graphic>
          <a:graphicData uri="http://schemas.openxmlformats.org/presentationml/2006/ole">
            <mc:AlternateContent xmlns:mc="http://schemas.openxmlformats.org/markup-compatibility/2006">
              <mc:Choice xmlns:v="urn:schemas-microsoft-com:vml" Requires="v">
                <p:oleObj name="Equation" r:id="rId2" imgW="291973" imgH="228501" progId="Equation.DSMT4">
                  <p:embed/>
                </p:oleObj>
              </mc:Choice>
              <mc:Fallback>
                <p:oleObj name="Equation" r:id="rId2" imgW="291973" imgH="228501"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4300" y="2459038"/>
                        <a:ext cx="504825"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blinds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B1B5EDCB-794C-5B7D-2023-81A3F416E795}"/>
              </a:ext>
            </a:extLst>
          </p:cNvPr>
          <p:cNvSpPr>
            <a:spLocks noGrp="1" noChangeArrowheads="1"/>
          </p:cNvSpPr>
          <p:nvPr>
            <p:ph type="title"/>
          </p:nvPr>
        </p:nvSpPr>
        <p:spPr>
          <a:xfrm>
            <a:off x="685800" y="357188"/>
            <a:ext cx="7772400" cy="1143000"/>
          </a:xfrm>
        </p:spPr>
        <p:txBody>
          <a:bodyPr/>
          <a:lstStyle/>
          <a:p>
            <a:r>
              <a:rPr lang="en-US" altLang="zh-CN" b="1">
                <a:solidFill>
                  <a:srgbClr val="660066"/>
                </a:solidFill>
                <a:ea typeface="楷体_GB2312" pitchFamily="1" charset="-122"/>
              </a:rPr>
              <a:t>7.2.6  </a:t>
            </a:r>
            <a:r>
              <a:rPr lang="zh-CN" altLang="en-US" b="1">
                <a:solidFill>
                  <a:srgbClr val="660066"/>
                </a:solidFill>
                <a:ea typeface="楷体_GB2312" pitchFamily="1" charset="-122"/>
              </a:rPr>
              <a:t>直接文件和哈希文件</a:t>
            </a:r>
            <a:r>
              <a:rPr lang="zh-CN" altLang="en-US" b="1"/>
              <a:t> </a:t>
            </a:r>
            <a:endParaRPr lang="zh-CN" altLang="en-US"/>
          </a:p>
        </p:txBody>
      </p:sp>
      <p:sp>
        <p:nvSpPr>
          <p:cNvPr id="7172" name="内容占位符 2">
            <a:extLst>
              <a:ext uri="{FF2B5EF4-FFF2-40B4-BE49-F238E27FC236}">
                <a16:creationId xmlns:a16="http://schemas.microsoft.com/office/drawing/2014/main" id="{7A3E589B-A4C6-2012-A4F9-9744849F5983}"/>
              </a:ext>
            </a:extLst>
          </p:cNvPr>
          <p:cNvSpPr>
            <a:spLocks noGrp="1"/>
          </p:cNvSpPr>
          <p:nvPr>
            <p:ph idx="1"/>
          </p:nvPr>
        </p:nvSpPr>
        <p:spPr>
          <a:xfrm>
            <a:off x="357188" y="1928813"/>
            <a:ext cx="8429625" cy="4448175"/>
          </a:xfrm>
        </p:spPr>
        <p:txBody>
          <a:bodyPr/>
          <a:lstStyle/>
          <a:p>
            <a:pPr marL="342900" lvl="2" indent="-342900">
              <a:defRPr/>
            </a:pPr>
            <a:r>
              <a:rPr lang="zh-CN" altLang="en-US" sz="2800" b="1" dirty="0">
                <a:solidFill>
                  <a:schemeClr val="accent2"/>
                </a:solidFill>
                <a:latin typeface="宋体" pitchFamily="2" charset="-122"/>
                <a:cs typeface="+mn-cs"/>
              </a:rPr>
              <a:t>键值转换：</a:t>
            </a:r>
            <a:r>
              <a:rPr lang="zh-CN" altLang="en-US" sz="2800" dirty="0">
                <a:latin typeface="宋体" pitchFamily="2" charset="-122"/>
              </a:rPr>
              <a:t>由记录键值到记录物理地址的转换。</a:t>
            </a:r>
          </a:p>
          <a:p>
            <a:pPr>
              <a:defRPr/>
            </a:pPr>
            <a:endParaRPr lang="en-US" altLang="zh-CN" sz="3600" dirty="0"/>
          </a:p>
          <a:p>
            <a:pPr>
              <a:defRPr/>
            </a:pPr>
            <a:endParaRPr lang="en-US" altLang="zh-CN" sz="1400" dirty="0"/>
          </a:p>
          <a:p>
            <a:pPr marL="342900" lvl="2" indent="-342900">
              <a:defRPr/>
            </a:pPr>
            <a:r>
              <a:rPr lang="zh-CN" altLang="en-US" sz="2800" dirty="0">
                <a:latin typeface="宋体" pitchFamily="2" charset="-122"/>
              </a:rPr>
              <a:t>哈希文件是直接文件的一种。</a:t>
            </a:r>
            <a:endParaRPr lang="en-US" altLang="zh-CN" sz="2800" dirty="0">
              <a:latin typeface="宋体" pitchFamily="2" charset="-122"/>
            </a:endParaRPr>
          </a:p>
          <a:p>
            <a:pPr marL="342900" lvl="2" indent="-342900">
              <a:defRPr/>
            </a:pPr>
            <a:r>
              <a:rPr lang="zh-CN" altLang="en-US" sz="2800" b="1" dirty="0">
                <a:solidFill>
                  <a:schemeClr val="accent2"/>
                </a:solidFill>
                <a:latin typeface="宋体" pitchFamily="2" charset="-122"/>
                <a:cs typeface="+mn-cs"/>
              </a:rPr>
              <a:t>哈希函数：</a:t>
            </a:r>
            <a:r>
              <a:rPr lang="en-US" altLang="zh-CN" sz="2800" dirty="0">
                <a:latin typeface="宋体" pitchFamily="2" charset="-122"/>
              </a:rPr>
              <a:t>A=H(k</a:t>
            </a:r>
            <a:r>
              <a:rPr lang="zh-CN" altLang="en-US" sz="2800" dirty="0">
                <a:latin typeface="宋体" pitchFamily="2" charset="-122"/>
              </a:rPr>
              <a:t>）</a:t>
            </a:r>
          </a:p>
          <a:p>
            <a:pPr>
              <a:buFontTx/>
              <a:buNone/>
              <a:defRPr/>
            </a:pPr>
            <a:endParaRPr lang="zh-CN" altLang="en-US" sz="3600" dirty="0"/>
          </a:p>
        </p:txBody>
      </p:sp>
      <p:sp>
        <p:nvSpPr>
          <p:cNvPr id="35844" name="Text Box 5">
            <a:extLst>
              <a:ext uri="{FF2B5EF4-FFF2-40B4-BE49-F238E27FC236}">
                <a16:creationId xmlns:a16="http://schemas.microsoft.com/office/drawing/2014/main" id="{68DC741D-81F6-6432-420A-D3376EDB52D7}"/>
              </a:ext>
            </a:extLst>
          </p:cNvPr>
          <p:cNvSpPr txBox="1">
            <a:spLocks noChangeArrowheads="1"/>
          </p:cNvSpPr>
          <p:nvPr/>
        </p:nvSpPr>
        <p:spPr bwMode="auto">
          <a:xfrm>
            <a:off x="357188" y="1333500"/>
            <a:ext cx="26304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、直接文件</a:t>
            </a:r>
            <a:r>
              <a:rPr lang="zh-CN" altLang="en-US" sz="2800" b="1"/>
              <a:t> </a:t>
            </a:r>
          </a:p>
        </p:txBody>
      </p:sp>
      <p:sp>
        <p:nvSpPr>
          <p:cNvPr id="35845" name="Text Box 4">
            <a:extLst>
              <a:ext uri="{FF2B5EF4-FFF2-40B4-BE49-F238E27FC236}">
                <a16:creationId xmlns:a16="http://schemas.microsoft.com/office/drawing/2014/main" id="{43C9C586-83F1-1D31-358E-BDC446704E9B}"/>
              </a:ext>
            </a:extLst>
          </p:cNvPr>
          <p:cNvSpPr txBox="1">
            <a:spLocks noChangeArrowheads="1"/>
          </p:cNvSpPr>
          <p:nvPr/>
        </p:nvSpPr>
        <p:spPr bwMode="auto">
          <a:xfrm>
            <a:off x="357188" y="2619375"/>
            <a:ext cx="4143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、哈希</a:t>
            </a:r>
            <a:r>
              <a:rPr kumimoji="0" lang="en-US" altLang="zh-CN" b="1">
                <a:solidFill>
                  <a:srgbClr val="C00000"/>
                </a:solidFill>
                <a:latin typeface="Arial" panose="020B0604020202020204" pitchFamily="34" charset="0"/>
              </a:rPr>
              <a:t>(Hash)</a:t>
            </a:r>
            <a:r>
              <a:rPr kumimoji="0" lang="zh-CN" altLang="en-US" b="1">
                <a:solidFill>
                  <a:srgbClr val="C00000"/>
                </a:solidFill>
                <a:latin typeface="Arial" panose="020B0604020202020204" pitchFamily="34" charset="0"/>
              </a:rPr>
              <a:t>文件 </a:t>
            </a:r>
          </a:p>
        </p:txBody>
      </p:sp>
      <p:graphicFrame>
        <p:nvGraphicFramePr>
          <p:cNvPr id="35846" name="Object 6">
            <a:extLst>
              <a:ext uri="{FF2B5EF4-FFF2-40B4-BE49-F238E27FC236}">
                <a16:creationId xmlns:a16="http://schemas.microsoft.com/office/drawing/2014/main" id="{89292392-375B-E26B-AF13-326128707B74}"/>
              </a:ext>
            </a:extLst>
          </p:cNvPr>
          <p:cNvGraphicFramePr>
            <a:graphicFrameLocks noChangeAspect="1"/>
          </p:cNvGraphicFramePr>
          <p:nvPr/>
        </p:nvGraphicFramePr>
        <p:xfrm>
          <a:off x="4027488" y="2714625"/>
          <a:ext cx="4330700" cy="3857625"/>
        </p:xfrm>
        <a:graphic>
          <a:graphicData uri="http://schemas.openxmlformats.org/presentationml/2006/ole">
            <mc:AlternateContent xmlns:mc="http://schemas.openxmlformats.org/markup-compatibility/2006">
              <mc:Choice xmlns:v="urn:schemas-microsoft-com:vml" Requires="v">
                <p:oleObj name="Visio" r:id="rId2" imgW="2335987" imgH="2081174" progId="Visio.Drawing.11">
                  <p:embed/>
                </p:oleObj>
              </mc:Choice>
              <mc:Fallback>
                <p:oleObj name="Visio" r:id="rId2" imgW="2335987" imgH="2081174" progId="Visio.Drawing.11">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7488" y="2714625"/>
                        <a:ext cx="4330700" cy="385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847" name="Text Box 5">
            <a:extLst>
              <a:ext uri="{FF2B5EF4-FFF2-40B4-BE49-F238E27FC236}">
                <a16:creationId xmlns:a16="http://schemas.microsoft.com/office/drawing/2014/main" id="{F04810E3-3038-C9F6-8B99-FFAFFFB7B690}"/>
              </a:ext>
            </a:extLst>
          </p:cNvPr>
          <p:cNvSpPr txBox="1">
            <a:spLocks noChangeArrowheads="1"/>
          </p:cNvSpPr>
          <p:nvPr/>
        </p:nvSpPr>
        <p:spPr bwMode="auto">
          <a:xfrm>
            <a:off x="2819400" y="6096000"/>
            <a:ext cx="3908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7-6 Hash</a:t>
            </a:r>
            <a:r>
              <a:rPr lang="zh-CN" altLang="en-US" sz="2400" b="1"/>
              <a:t>文件的逻辑结构</a:t>
            </a:r>
          </a:p>
        </p:txBody>
      </p:sp>
    </p:spTree>
  </p:cSld>
  <p:clrMapOvr>
    <a:masterClrMapping/>
  </p:clrMapOvr>
  <p:transition>
    <p:blinds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C2F05D08-B689-9BB1-020F-94DCE2D63C59}"/>
              </a:ext>
            </a:extLst>
          </p:cNvPr>
          <p:cNvSpPr>
            <a:spLocks noGrp="1" noChangeArrowheads="1"/>
          </p:cNvSpPr>
          <p:nvPr>
            <p:ph type="title" idx="4294967295"/>
          </p:nvPr>
        </p:nvSpPr>
        <p:spPr>
          <a:xfrm>
            <a:off x="685800" y="2205038"/>
            <a:ext cx="7772400" cy="1143000"/>
          </a:xfrm>
        </p:spPr>
        <p:txBody>
          <a:bodyPr/>
          <a:lstStyle/>
          <a:p>
            <a:pPr eaLnBrk="1" hangingPunct="1"/>
            <a:r>
              <a:rPr lang="en-US" altLang="zh-CN" b="1">
                <a:solidFill>
                  <a:srgbClr val="660066"/>
                </a:solidFill>
                <a:latin typeface="楷体_GB2312" pitchFamily="1" charset="-122"/>
                <a:ea typeface="楷体_GB2312" pitchFamily="1" charset="-122"/>
              </a:rPr>
              <a:t>7.3 </a:t>
            </a:r>
            <a:r>
              <a:rPr lang="zh-CN" altLang="en-US" b="1">
                <a:solidFill>
                  <a:srgbClr val="660066"/>
                </a:solidFill>
                <a:latin typeface="楷体_GB2312" pitchFamily="1" charset="-122"/>
                <a:ea typeface="楷体_GB2312" pitchFamily="1" charset="-122"/>
              </a:rPr>
              <a:t>文件目录</a:t>
            </a:r>
          </a:p>
        </p:txBody>
      </p:sp>
    </p:spTree>
  </p:cSld>
  <p:clrMapOvr>
    <a:masterClrMapping/>
  </p:clrMapOvr>
  <p:transition advClick="0">
    <p:blinds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84387DBD-53AD-C360-66AA-287E0E3D5095}"/>
              </a:ext>
            </a:extLst>
          </p:cNvPr>
          <p:cNvSpPr>
            <a:spLocks noGrp="1" noChangeArrowheads="1"/>
          </p:cNvSpPr>
          <p:nvPr>
            <p:ph type="title"/>
          </p:nvPr>
        </p:nvSpPr>
        <p:spPr>
          <a:xfrm>
            <a:off x="685800" y="357188"/>
            <a:ext cx="7772400" cy="1143000"/>
          </a:xfrm>
        </p:spPr>
        <p:txBody>
          <a:bodyPr/>
          <a:lstStyle/>
          <a:p>
            <a:r>
              <a:rPr lang="en-US" altLang="zh-CN" b="1">
                <a:solidFill>
                  <a:srgbClr val="660066"/>
                </a:solidFill>
                <a:ea typeface="楷体_GB2312" pitchFamily="1" charset="-122"/>
              </a:rPr>
              <a:t>7.3  </a:t>
            </a:r>
            <a:r>
              <a:rPr lang="zh-CN" altLang="en-US" b="1">
                <a:solidFill>
                  <a:srgbClr val="660066"/>
                </a:solidFill>
                <a:ea typeface="楷体_GB2312" pitchFamily="1" charset="-122"/>
              </a:rPr>
              <a:t>文件目 录</a:t>
            </a:r>
            <a:r>
              <a:rPr lang="zh-CN" altLang="en-US" b="1"/>
              <a:t> </a:t>
            </a:r>
            <a:endParaRPr lang="zh-CN" altLang="en-US"/>
          </a:p>
        </p:txBody>
      </p:sp>
      <p:sp>
        <p:nvSpPr>
          <p:cNvPr id="3" name="内容占位符 2">
            <a:extLst>
              <a:ext uri="{FF2B5EF4-FFF2-40B4-BE49-F238E27FC236}">
                <a16:creationId xmlns:a16="http://schemas.microsoft.com/office/drawing/2014/main" id="{D36D6472-2842-594C-EC61-4D97A8F2BFCE}"/>
              </a:ext>
            </a:extLst>
          </p:cNvPr>
          <p:cNvSpPr>
            <a:spLocks noGrp="1"/>
          </p:cNvSpPr>
          <p:nvPr>
            <p:ph idx="1"/>
          </p:nvPr>
        </p:nvSpPr>
        <p:spPr>
          <a:xfrm>
            <a:off x="357188" y="1428750"/>
            <a:ext cx="8358187" cy="5072063"/>
          </a:xfrm>
        </p:spPr>
        <p:txBody>
          <a:bodyPr/>
          <a:lstStyle/>
          <a:p>
            <a:pPr marL="457200" indent="-457200">
              <a:defRPr/>
            </a:pPr>
            <a:r>
              <a:rPr lang="zh-CN" altLang="en-US" sz="2800" dirty="0">
                <a:latin typeface="+mn-ea"/>
              </a:rPr>
              <a:t>在现代计算机系统中，主要依赖于文件目录对文件实现快速、准确地查找。具有将文件名转换为该文件在外存的物理位置的功能。</a:t>
            </a:r>
            <a:endParaRPr lang="en-US" altLang="zh-CN" sz="2800" dirty="0">
              <a:latin typeface="+mn-ea"/>
            </a:endParaRPr>
          </a:p>
          <a:p>
            <a:pPr marL="457200" indent="-457200">
              <a:defRPr/>
            </a:pPr>
            <a:endParaRPr lang="en-US" altLang="zh-CN" sz="2800" dirty="0"/>
          </a:p>
          <a:p>
            <a:pPr marL="457200" indent="-457200">
              <a:defRPr/>
            </a:pPr>
            <a:r>
              <a:rPr lang="zh-CN" altLang="en-US" sz="2800" b="1" dirty="0">
                <a:solidFill>
                  <a:schemeClr val="accent2"/>
                </a:solidFill>
                <a:latin typeface="宋体" pitchFamily="2" charset="-122"/>
              </a:rPr>
              <a:t>对目录管理的要求如下：</a:t>
            </a:r>
            <a:endParaRPr lang="en-US" altLang="zh-CN" sz="2800" b="1" dirty="0">
              <a:solidFill>
                <a:schemeClr val="accent2"/>
              </a:solidFill>
              <a:latin typeface="宋体" pitchFamily="2" charset="-122"/>
            </a:endParaRPr>
          </a:p>
          <a:p>
            <a:pPr marL="857250" lvl="1" indent="-457200">
              <a:defRPr/>
            </a:pPr>
            <a:r>
              <a:rPr lang="zh-CN" altLang="en-US" sz="2400" dirty="0"/>
              <a:t>实现“按名存取”。 </a:t>
            </a:r>
          </a:p>
          <a:p>
            <a:pPr marL="857250" lvl="1" indent="-457200">
              <a:defRPr/>
            </a:pPr>
            <a:r>
              <a:rPr lang="zh-CN" altLang="en-US" sz="2400" dirty="0"/>
              <a:t>提高对目录的检索速度。 </a:t>
            </a:r>
          </a:p>
          <a:p>
            <a:pPr marL="857250" lvl="1" indent="-457200">
              <a:defRPr/>
            </a:pPr>
            <a:r>
              <a:rPr lang="zh-CN" altLang="en-US" sz="2400" dirty="0"/>
              <a:t>文件共享。 </a:t>
            </a:r>
          </a:p>
          <a:p>
            <a:pPr marL="857250" lvl="1" indent="-457200">
              <a:defRPr/>
            </a:pPr>
            <a:r>
              <a:rPr lang="zh-CN" altLang="en-US" sz="2400" dirty="0"/>
              <a:t>允许文件重名。</a:t>
            </a:r>
          </a:p>
        </p:txBody>
      </p:sp>
      <p:sp>
        <p:nvSpPr>
          <p:cNvPr id="4" name="矩形 3">
            <a:extLst>
              <a:ext uri="{FF2B5EF4-FFF2-40B4-BE49-F238E27FC236}">
                <a16:creationId xmlns:a16="http://schemas.microsoft.com/office/drawing/2014/main" id="{C244AD88-67CE-8C28-DA0E-088196B5907C}"/>
              </a:ext>
            </a:extLst>
          </p:cNvPr>
          <p:cNvSpPr>
            <a:spLocks noChangeArrowheads="1"/>
          </p:cNvSpPr>
          <p:nvPr/>
        </p:nvSpPr>
        <p:spPr bwMode="auto">
          <a:xfrm>
            <a:off x="3995738" y="3789363"/>
            <a:ext cx="2032000" cy="46196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t>最基本的功能</a:t>
            </a:r>
          </a:p>
        </p:txBody>
      </p:sp>
      <p:sp>
        <p:nvSpPr>
          <p:cNvPr id="5" name="矩形 4">
            <a:extLst>
              <a:ext uri="{FF2B5EF4-FFF2-40B4-BE49-F238E27FC236}">
                <a16:creationId xmlns:a16="http://schemas.microsoft.com/office/drawing/2014/main" id="{F66BBEDC-CB2A-AACF-E0D7-3F5FE51230E7}"/>
              </a:ext>
            </a:extLst>
          </p:cNvPr>
          <p:cNvSpPr>
            <a:spLocks noChangeArrowheads="1"/>
          </p:cNvSpPr>
          <p:nvPr/>
        </p:nvSpPr>
        <p:spPr bwMode="auto">
          <a:xfrm>
            <a:off x="4614863" y="4264025"/>
            <a:ext cx="4494212" cy="4603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t>大中型文件系统追求的主要目标</a:t>
            </a:r>
          </a:p>
        </p:txBody>
      </p:sp>
      <p:sp>
        <p:nvSpPr>
          <p:cNvPr id="6" name="矩形 5">
            <a:extLst>
              <a:ext uri="{FF2B5EF4-FFF2-40B4-BE49-F238E27FC236}">
                <a16:creationId xmlns:a16="http://schemas.microsoft.com/office/drawing/2014/main" id="{7C5FC061-AF33-0728-8549-319B7D2025DE}"/>
              </a:ext>
            </a:extLst>
          </p:cNvPr>
          <p:cNvSpPr>
            <a:spLocks noChangeArrowheads="1"/>
          </p:cNvSpPr>
          <p:nvPr/>
        </p:nvSpPr>
        <p:spPr bwMode="auto">
          <a:xfrm>
            <a:off x="2843213" y="4695825"/>
            <a:ext cx="2647950" cy="46196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t>多用户系统的目标</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xit" presetSubtype="4" fill="hold" grpId="1" nodeType="clickEffect">
                                  <p:stCondLst>
                                    <p:cond delay="0"/>
                                  </p:stCondLst>
                                  <p:childTnLst>
                                    <p:anim calcmode="lin" valueType="num">
                                      <p:cBhvr additive="base">
                                        <p:cTn id="13" dur="500"/>
                                        <p:tgtEl>
                                          <p:spTgt spid="4"/>
                                        </p:tgtEl>
                                        <p:attrNameLst>
                                          <p:attrName>ppt_x</p:attrName>
                                        </p:attrNameLst>
                                      </p:cBhvr>
                                      <p:tavLst>
                                        <p:tav tm="0">
                                          <p:val>
                                            <p:strVal val="ppt_x"/>
                                          </p:val>
                                        </p:tav>
                                        <p:tav tm="100000">
                                          <p:val>
                                            <p:strVal val="ppt_x"/>
                                          </p:val>
                                        </p:tav>
                                      </p:tavLst>
                                    </p:anim>
                                    <p:anim calcmode="lin" valueType="num">
                                      <p:cBhvr additive="base">
                                        <p:cTn id="14" dur="500"/>
                                        <p:tgtEl>
                                          <p:spTgt spid="4"/>
                                        </p:tgtEl>
                                        <p:attrNameLst>
                                          <p:attrName>ppt_y</p:attrName>
                                        </p:attrNameLst>
                                      </p:cBhvr>
                                      <p:tavLst>
                                        <p:tav tm="0">
                                          <p:val>
                                            <p:strVal val="ppt_y"/>
                                          </p:val>
                                        </p:tav>
                                        <p:tav tm="100000">
                                          <p:val>
                                            <p:strVal val="1+ppt_h/2"/>
                                          </p:val>
                                        </p:tav>
                                      </p:tavLst>
                                    </p:anim>
                                    <p:set>
                                      <p:cBhvr>
                                        <p:cTn id="15" dur="1" fill="hold">
                                          <p:stCondLst>
                                            <p:cond delay="499"/>
                                          </p:stCondLst>
                                        </p:cTn>
                                        <p:tgtEl>
                                          <p:spTgt spid="4"/>
                                        </p:tgtEl>
                                        <p:attrNameLst>
                                          <p:attrName>style.visibility</p:attrName>
                                        </p:attrNameLst>
                                      </p:cBhvr>
                                      <p:to>
                                        <p:strVal val="hidden"/>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9"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1000" fill="hold"/>
                                        <p:tgtEl>
                                          <p:spTgt spid="5"/>
                                        </p:tgtEl>
                                        <p:attrNameLst>
                                          <p:attrName>ppt_x</p:attrName>
                                        </p:attrNameLst>
                                      </p:cBhvr>
                                      <p:tavLst>
                                        <p:tav tm="0">
                                          <p:val>
                                            <p:strVal val="#ppt_x-.2"/>
                                          </p:val>
                                        </p:tav>
                                        <p:tav tm="100000">
                                          <p:val>
                                            <p:strVal val="#ppt_x"/>
                                          </p:val>
                                        </p:tav>
                                      </p:tavLst>
                                    </p:anim>
                                    <p:anim calcmode="lin" valueType="num">
                                      <p:cBhvr>
                                        <p:cTn id="21" dur="1000" fill="hold"/>
                                        <p:tgtEl>
                                          <p:spTgt spid="5"/>
                                        </p:tgtEl>
                                        <p:attrNameLst>
                                          <p:attrName>ppt_y</p:attrName>
                                        </p:attrNameLst>
                                      </p:cBhvr>
                                      <p:tavLst>
                                        <p:tav tm="0">
                                          <p:val>
                                            <p:strVal val="#ppt_y"/>
                                          </p:val>
                                        </p:tav>
                                        <p:tav tm="100000">
                                          <p:val>
                                            <p:strVal val="#ppt_y"/>
                                          </p:val>
                                        </p:tav>
                                      </p:tavLst>
                                    </p:anim>
                                    <p:animEffect transition="in" filter="wipe(right)" prLst="gradientSize: 0.1">
                                      <p:cBhvr>
                                        <p:cTn id="22" dur="10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xit" presetSubtype="0" fill="hold" grpId="1" nodeType="clickEffect">
                                  <p:stCondLst>
                                    <p:cond delay="0"/>
                                  </p:stCondLst>
                                  <p:childTnLst>
                                    <p:animEffect transition="out" filter="fade">
                                      <p:cBhvr>
                                        <p:cTn id="26" dur="2000"/>
                                        <p:tgtEl>
                                          <p:spTgt spid="5"/>
                                        </p:tgtEl>
                                      </p:cBhvr>
                                    </p:animEffect>
                                    <p:set>
                                      <p:cBhvr>
                                        <p:cTn id="27" dur="1" fill="hold">
                                          <p:stCondLst>
                                            <p:cond delay="1999"/>
                                          </p:stCondLst>
                                        </p:cTn>
                                        <p:tgtEl>
                                          <p:spTgt spid="5"/>
                                        </p:tgtEl>
                                        <p:attrNameLst>
                                          <p:attrName>style.visibility</p:attrName>
                                        </p:attrNameLst>
                                      </p:cBhvr>
                                      <p:to>
                                        <p:strVal val="hidden"/>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9"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1000" fill="hold"/>
                                        <p:tgtEl>
                                          <p:spTgt spid="6"/>
                                        </p:tgtEl>
                                        <p:attrNameLst>
                                          <p:attrName>ppt_x</p:attrName>
                                        </p:attrNameLst>
                                      </p:cBhvr>
                                      <p:tavLst>
                                        <p:tav tm="0">
                                          <p:val>
                                            <p:strVal val="#ppt_x-.2"/>
                                          </p:val>
                                        </p:tav>
                                        <p:tav tm="100000">
                                          <p:val>
                                            <p:strVal val="#ppt_x"/>
                                          </p:val>
                                        </p:tav>
                                      </p:tavLst>
                                    </p:anim>
                                    <p:anim calcmode="lin" valueType="num">
                                      <p:cBhvr>
                                        <p:cTn id="33"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34" dur="1000"/>
                                        <p:tgtEl>
                                          <p:spTgt spid="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xit" presetSubtype="4" fill="hold" grpId="1" nodeType="clickEffect">
                                  <p:stCondLst>
                                    <p:cond delay="0"/>
                                  </p:stCondLst>
                                  <p:childTnLst>
                                    <p:anim calcmode="lin" valueType="num">
                                      <p:cBhvr additive="base">
                                        <p:cTn id="38" dur="500"/>
                                        <p:tgtEl>
                                          <p:spTgt spid="6"/>
                                        </p:tgtEl>
                                        <p:attrNameLst>
                                          <p:attrName>ppt_x</p:attrName>
                                        </p:attrNameLst>
                                      </p:cBhvr>
                                      <p:tavLst>
                                        <p:tav tm="0">
                                          <p:val>
                                            <p:strVal val="ppt_x"/>
                                          </p:val>
                                        </p:tav>
                                        <p:tav tm="100000">
                                          <p:val>
                                            <p:strVal val="ppt_x"/>
                                          </p:val>
                                        </p:tav>
                                      </p:tavLst>
                                    </p:anim>
                                    <p:anim calcmode="lin" valueType="num">
                                      <p:cBhvr additive="base">
                                        <p:cTn id="39" dur="500"/>
                                        <p:tgtEl>
                                          <p:spTgt spid="6"/>
                                        </p:tgtEl>
                                        <p:attrNameLst>
                                          <p:attrName>ppt_y</p:attrName>
                                        </p:attrNameLst>
                                      </p:cBhvr>
                                      <p:tavLst>
                                        <p:tav tm="0">
                                          <p:val>
                                            <p:strVal val="ppt_y"/>
                                          </p:val>
                                        </p:tav>
                                        <p:tav tm="100000">
                                          <p:val>
                                            <p:strVal val="1+ppt_h/2"/>
                                          </p:val>
                                        </p:tav>
                                      </p:tavLst>
                                    </p:anim>
                                    <p:set>
                                      <p:cBhvr>
                                        <p:cTn id="40"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BEEBA82E-62EB-2970-45F4-21BBAE45F4BD}"/>
              </a:ext>
            </a:extLst>
          </p:cNvPr>
          <p:cNvSpPr>
            <a:spLocks noGrp="1" noChangeArrowheads="1"/>
          </p:cNvSpPr>
          <p:nvPr>
            <p:ph type="title"/>
          </p:nvPr>
        </p:nvSpPr>
        <p:spPr>
          <a:xfrm>
            <a:off x="685800" y="357188"/>
            <a:ext cx="7772400" cy="1143000"/>
          </a:xfrm>
        </p:spPr>
        <p:txBody>
          <a:bodyPr/>
          <a:lstStyle/>
          <a:p>
            <a:r>
              <a:rPr lang="en-US" altLang="zh-CN" b="1">
                <a:solidFill>
                  <a:srgbClr val="660066"/>
                </a:solidFill>
                <a:ea typeface="楷体_GB2312" pitchFamily="1" charset="-122"/>
              </a:rPr>
              <a:t>7.3.1 </a:t>
            </a:r>
            <a:r>
              <a:rPr lang="zh-CN" altLang="en-US" b="1">
                <a:solidFill>
                  <a:srgbClr val="660066"/>
                </a:solidFill>
                <a:ea typeface="楷体_GB2312" pitchFamily="1" charset="-122"/>
              </a:rPr>
              <a:t>文件控制块和索引结点</a:t>
            </a:r>
            <a:r>
              <a:rPr lang="zh-CN" altLang="en-US" b="1"/>
              <a:t> </a:t>
            </a:r>
            <a:endParaRPr lang="zh-CN" altLang="en-US"/>
          </a:p>
        </p:txBody>
      </p:sp>
      <p:sp>
        <p:nvSpPr>
          <p:cNvPr id="39939" name="内容占位符 2">
            <a:extLst>
              <a:ext uri="{FF2B5EF4-FFF2-40B4-BE49-F238E27FC236}">
                <a16:creationId xmlns:a16="http://schemas.microsoft.com/office/drawing/2014/main" id="{D09EAC03-0E52-19F5-07C3-2C89B4842835}"/>
              </a:ext>
            </a:extLst>
          </p:cNvPr>
          <p:cNvSpPr>
            <a:spLocks noGrp="1" noChangeArrowheads="1"/>
          </p:cNvSpPr>
          <p:nvPr>
            <p:ph idx="1"/>
          </p:nvPr>
        </p:nvSpPr>
        <p:spPr>
          <a:xfrm>
            <a:off x="357188" y="1500188"/>
            <a:ext cx="8501062" cy="4714875"/>
          </a:xfrm>
        </p:spPr>
        <p:txBody>
          <a:bodyPr/>
          <a:lstStyle/>
          <a:p>
            <a:r>
              <a:rPr lang="zh-CN" altLang="en-US" sz="2800" b="1">
                <a:solidFill>
                  <a:schemeClr val="accent2"/>
                </a:solidFill>
                <a:latin typeface="宋体" panose="02010600030101010101" pitchFamily="2" charset="-122"/>
              </a:rPr>
              <a:t>定义：</a:t>
            </a:r>
            <a:r>
              <a:rPr lang="zh-CN" altLang="en-US" sz="2800"/>
              <a:t>用于描述和控制文件的数据结构称之为文件控制块（</a:t>
            </a:r>
            <a:r>
              <a:rPr lang="en-US" altLang="zh-CN" sz="2800" b="1">
                <a:solidFill>
                  <a:schemeClr val="accent2"/>
                </a:solidFill>
                <a:latin typeface="宋体" panose="02010600030101010101" pitchFamily="2" charset="-122"/>
              </a:rPr>
              <a:t>FCB</a:t>
            </a:r>
            <a:r>
              <a:rPr lang="zh-CN" altLang="en-US" sz="2800"/>
              <a:t>）；</a:t>
            </a:r>
          </a:p>
          <a:p>
            <a:r>
              <a:rPr lang="zh-CN" altLang="en-US" sz="2800" b="1">
                <a:solidFill>
                  <a:schemeClr val="accent2"/>
                </a:solidFill>
                <a:latin typeface="宋体" panose="02010600030101010101" pitchFamily="2" charset="-122"/>
              </a:rPr>
              <a:t>作用：</a:t>
            </a:r>
            <a:r>
              <a:rPr lang="zh-CN" altLang="en-US" sz="2800"/>
              <a:t>文件管理程序借助于文件控制块中的信息，实现对文件的各种操作；</a:t>
            </a:r>
          </a:p>
          <a:p>
            <a:r>
              <a:rPr lang="zh-CN" altLang="en-US" sz="2800" b="1">
                <a:solidFill>
                  <a:schemeClr val="accent2"/>
                </a:solidFill>
                <a:latin typeface="宋体" panose="02010600030101010101" pitchFamily="2" charset="-122"/>
              </a:rPr>
              <a:t>目录：</a:t>
            </a:r>
            <a:r>
              <a:rPr lang="zh-CN" altLang="en-US" sz="2800"/>
              <a:t>文件与文件控制块一一对应，而把文件控制块的有序集合称之为</a:t>
            </a:r>
            <a:r>
              <a:rPr lang="zh-CN" altLang="en-US" sz="2800" b="1">
                <a:solidFill>
                  <a:schemeClr val="accent2"/>
                </a:solidFill>
                <a:latin typeface="宋体" panose="02010600030101010101" pitchFamily="2" charset="-122"/>
              </a:rPr>
              <a:t>文件目录</a:t>
            </a:r>
            <a:r>
              <a:rPr lang="zh-CN" altLang="en-US" sz="2800"/>
              <a:t>：</a:t>
            </a:r>
          </a:p>
          <a:p>
            <a:r>
              <a:rPr lang="zh-CN" altLang="en-US" sz="2800" b="1">
                <a:solidFill>
                  <a:schemeClr val="accent2"/>
                </a:solidFill>
                <a:latin typeface="宋体" panose="02010600030101010101" pitchFamily="2" charset="-122"/>
              </a:rPr>
              <a:t>目录文件：</a:t>
            </a:r>
            <a:r>
              <a:rPr lang="zh-CN" altLang="en-US" sz="2800"/>
              <a:t>一个文件控制块就是一个</a:t>
            </a:r>
            <a:r>
              <a:rPr lang="zh-CN" altLang="en-US" sz="2800" b="1">
                <a:solidFill>
                  <a:schemeClr val="accent2"/>
                </a:solidFill>
                <a:latin typeface="宋体" panose="02010600030101010101" pitchFamily="2" charset="-122"/>
              </a:rPr>
              <a:t>文件目录项</a:t>
            </a:r>
            <a:r>
              <a:rPr lang="zh-CN" altLang="en-US" sz="2800"/>
              <a:t>，通常一个文件目录也被看做是一个文件，称为</a:t>
            </a:r>
            <a:r>
              <a:rPr lang="zh-CN" altLang="en-US" sz="2800" b="1">
                <a:solidFill>
                  <a:schemeClr val="accent2"/>
                </a:solidFill>
                <a:latin typeface="宋体" panose="02010600030101010101" pitchFamily="2" charset="-122"/>
              </a:rPr>
              <a:t>目录文件</a:t>
            </a:r>
            <a:r>
              <a:rPr lang="zh-CN" altLang="en-US" sz="2800"/>
              <a:t>；</a:t>
            </a:r>
          </a:p>
        </p:txBody>
      </p:sp>
    </p:spTree>
  </p:cSld>
  <p:clrMapOvr>
    <a:masterClrMapping/>
  </p:clrMapOvr>
  <p:transition>
    <p:blinds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内容占位符 2">
            <a:extLst>
              <a:ext uri="{FF2B5EF4-FFF2-40B4-BE49-F238E27FC236}">
                <a16:creationId xmlns:a16="http://schemas.microsoft.com/office/drawing/2014/main" id="{7655BDD6-7CBF-4073-689A-443D464621A2}"/>
              </a:ext>
            </a:extLst>
          </p:cNvPr>
          <p:cNvSpPr>
            <a:spLocks noGrp="1" noChangeArrowheads="1"/>
          </p:cNvSpPr>
          <p:nvPr>
            <p:ph idx="1"/>
          </p:nvPr>
        </p:nvSpPr>
        <p:spPr>
          <a:xfrm>
            <a:off x="357188" y="1143000"/>
            <a:ext cx="8429625" cy="5572125"/>
          </a:xfrm>
        </p:spPr>
        <p:txBody>
          <a:bodyPr/>
          <a:lstStyle/>
          <a:p>
            <a:r>
              <a:rPr lang="zh-CN" altLang="en-US" sz="2800" b="1">
                <a:solidFill>
                  <a:srgbClr val="2D2DB9"/>
                </a:solidFill>
              </a:rPr>
              <a:t>基本信息</a:t>
            </a:r>
          </a:p>
          <a:p>
            <a:pPr lvl="1"/>
            <a:r>
              <a:rPr lang="zh-CN" altLang="en-US" sz="2400" b="1">
                <a:solidFill>
                  <a:schemeClr val="accent2"/>
                </a:solidFill>
              </a:rPr>
              <a:t>文件名：</a:t>
            </a:r>
          </a:p>
          <a:p>
            <a:pPr lvl="1"/>
            <a:r>
              <a:rPr lang="zh-CN" altLang="en-US" sz="2400" b="1">
                <a:solidFill>
                  <a:schemeClr val="accent2"/>
                </a:solidFill>
              </a:rPr>
              <a:t>文件物理位置：</a:t>
            </a:r>
            <a:r>
              <a:rPr lang="zh-CN" altLang="en-US" sz="2400"/>
              <a:t>（设备号，盘块号，盘块数</a:t>
            </a:r>
            <a:r>
              <a:rPr lang="en-US" altLang="zh-CN" sz="2400"/>
              <a:t>/</a:t>
            </a:r>
            <a:r>
              <a:rPr lang="zh-CN" altLang="en-US" sz="2400"/>
              <a:t>文件长度）</a:t>
            </a:r>
          </a:p>
          <a:p>
            <a:pPr lvl="1"/>
            <a:r>
              <a:rPr lang="zh-CN" altLang="en-US" sz="2400" b="1">
                <a:solidFill>
                  <a:schemeClr val="accent2"/>
                </a:solidFill>
              </a:rPr>
              <a:t>文件逻辑结构：</a:t>
            </a:r>
          </a:p>
          <a:p>
            <a:pPr lvl="2"/>
            <a:r>
              <a:rPr lang="zh-CN" altLang="en-US"/>
              <a:t>流式</a:t>
            </a:r>
          </a:p>
          <a:p>
            <a:pPr lvl="2"/>
            <a:r>
              <a:rPr lang="zh-CN" altLang="en-US"/>
              <a:t>记录式：定长、变长</a:t>
            </a:r>
          </a:p>
          <a:p>
            <a:pPr lvl="1"/>
            <a:r>
              <a:rPr lang="zh-CN" altLang="en-US" sz="2400" b="1">
                <a:solidFill>
                  <a:schemeClr val="accent2"/>
                </a:solidFill>
              </a:rPr>
              <a:t>文件物理结构：</a:t>
            </a:r>
          </a:p>
          <a:p>
            <a:pPr lvl="2"/>
            <a:r>
              <a:rPr lang="zh-CN" altLang="en-US"/>
              <a:t>顺序存储</a:t>
            </a:r>
          </a:p>
          <a:p>
            <a:pPr lvl="2"/>
            <a:r>
              <a:rPr lang="zh-CN" altLang="en-US"/>
              <a:t>离散存储：链式、索引式</a:t>
            </a:r>
          </a:p>
          <a:p>
            <a:endParaRPr lang="zh-CN" altLang="en-US" sz="2800"/>
          </a:p>
        </p:txBody>
      </p:sp>
      <p:sp>
        <p:nvSpPr>
          <p:cNvPr id="40963" name="矩形 3">
            <a:extLst>
              <a:ext uri="{FF2B5EF4-FFF2-40B4-BE49-F238E27FC236}">
                <a16:creationId xmlns:a16="http://schemas.microsoft.com/office/drawing/2014/main" id="{15181FD5-0072-67B4-5163-13C967968C49}"/>
              </a:ext>
            </a:extLst>
          </p:cNvPr>
          <p:cNvSpPr>
            <a:spLocks noChangeArrowheads="1"/>
          </p:cNvSpPr>
          <p:nvPr/>
        </p:nvSpPr>
        <p:spPr bwMode="auto">
          <a:xfrm>
            <a:off x="285750" y="547688"/>
            <a:ext cx="3683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、文件控制块</a:t>
            </a:r>
            <a:r>
              <a:rPr kumimoji="0" lang="en-US" altLang="zh-CN" b="1">
                <a:solidFill>
                  <a:srgbClr val="C00000"/>
                </a:solidFill>
                <a:latin typeface="Arial" panose="020B0604020202020204" pitchFamily="34" charset="0"/>
              </a:rPr>
              <a:t>FCB</a:t>
            </a:r>
            <a:endParaRPr kumimoji="0" lang="zh-CN" altLang="en-US" b="1">
              <a:solidFill>
                <a:srgbClr val="C00000"/>
              </a:solidFill>
              <a:latin typeface="Arial" panose="020B0604020202020204" pitchFamily="34" charset="0"/>
            </a:endParaRPr>
          </a:p>
        </p:txBody>
      </p:sp>
    </p:spTree>
  </p:cSld>
  <p:clrMapOvr>
    <a:masterClrMapping/>
  </p:clrMapOvr>
  <p:transition>
    <p:blinds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内容占位符 2">
            <a:extLst>
              <a:ext uri="{FF2B5EF4-FFF2-40B4-BE49-F238E27FC236}">
                <a16:creationId xmlns:a16="http://schemas.microsoft.com/office/drawing/2014/main" id="{6C9CA73E-939A-8523-3461-365D07840890}"/>
              </a:ext>
            </a:extLst>
          </p:cNvPr>
          <p:cNvSpPr>
            <a:spLocks noGrp="1" noChangeArrowheads="1"/>
          </p:cNvSpPr>
          <p:nvPr>
            <p:ph idx="1"/>
          </p:nvPr>
        </p:nvSpPr>
        <p:spPr>
          <a:xfrm>
            <a:off x="357188" y="1214438"/>
            <a:ext cx="8429625" cy="4114800"/>
          </a:xfrm>
        </p:spPr>
        <p:txBody>
          <a:bodyPr/>
          <a:lstStyle/>
          <a:p>
            <a:r>
              <a:rPr lang="zh-CN" altLang="en-US" sz="2800" b="1">
                <a:solidFill>
                  <a:srgbClr val="2D2DB9"/>
                </a:solidFill>
              </a:rPr>
              <a:t>存取控制信息类</a:t>
            </a:r>
            <a:r>
              <a:rPr lang="en-US" altLang="zh-CN" sz="2800" b="1">
                <a:solidFill>
                  <a:srgbClr val="2D2DB9"/>
                </a:solidFill>
              </a:rPr>
              <a:t>(</a:t>
            </a:r>
            <a:r>
              <a:rPr lang="zh-CN" altLang="en-US" sz="2800" b="1">
                <a:solidFill>
                  <a:srgbClr val="2D2DB9"/>
                </a:solidFill>
              </a:rPr>
              <a:t>安全性</a:t>
            </a:r>
            <a:r>
              <a:rPr lang="en-US" altLang="zh-CN" sz="2800" b="1">
                <a:solidFill>
                  <a:srgbClr val="2D2DB9"/>
                </a:solidFill>
              </a:rPr>
              <a:t>)</a:t>
            </a:r>
            <a:endParaRPr lang="zh-CN" altLang="en-US" sz="2800" b="1">
              <a:solidFill>
                <a:srgbClr val="2D2DB9"/>
              </a:solidFill>
            </a:endParaRPr>
          </a:p>
          <a:p>
            <a:pPr lvl="1"/>
            <a:r>
              <a:rPr lang="zh-CN" altLang="en-US" sz="2400"/>
              <a:t>文件主</a:t>
            </a:r>
            <a:r>
              <a:rPr lang="en-US" altLang="zh-CN" sz="2400"/>
              <a:t>/</a:t>
            </a:r>
            <a:r>
              <a:rPr lang="zh-CN" altLang="en-US" sz="2400"/>
              <a:t>核准用户</a:t>
            </a:r>
            <a:r>
              <a:rPr lang="en-US" altLang="zh-CN" sz="2400"/>
              <a:t>/</a:t>
            </a:r>
            <a:r>
              <a:rPr lang="zh-CN" altLang="en-US" sz="2400"/>
              <a:t>一般用户存取权限。</a:t>
            </a:r>
          </a:p>
          <a:p>
            <a:r>
              <a:rPr lang="zh-CN" altLang="en-US" sz="2800" b="1">
                <a:solidFill>
                  <a:srgbClr val="2D2DB9"/>
                </a:solidFill>
              </a:rPr>
              <a:t>使用信息类</a:t>
            </a:r>
          </a:p>
          <a:p>
            <a:pPr lvl="1"/>
            <a:r>
              <a:rPr lang="zh-CN" altLang="en-US" sz="2400"/>
              <a:t>文件的建立日期</a:t>
            </a:r>
            <a:r>
              <a:rPr lang="en-US" altLang="zh-CN" sz="2400"/>
              <a:t>/</a:t>
            </a:r>
            <a:r>
              <a:rPr lang="zh-CN" altLang="en-US" sz="2400"/>
              <a:t>时间；</a:t>
            </a:r>
          </a:p>
          <a:p>
            <a:pPr lvl="1"/>
            <a:r>
              <a:rPr lang="zh-CN" altLang="en-US" sz="2400"/>
              <a:t>文件上一次修改时间；</a:t>
            </a:r>
          </a:p>
          <a:p>
            <a:pPr lvl="1"/>
            <a:r>
              <a:rPr lang="zh-CN" altLang="en-US" sz="2400"/>
              <a:t>当前使用信息。</a:t>
            </a:r>
          </a:p>
          <a:p>
            <a:pPr lvl="1"/>
            <a:r>
              <a:rPr lang="zh-CN" altLang="en-US" sz="2400"/>
              <a:t>例：</a:t>
            </a:r>
            <a:r>
              <a:rPr lang="en-US" altLang="zh-CN" sz="2400"/>
              <a:t>DOS</a:t>
            </a:r>
          </a:p>
        </p:txBody>
      </p:sp>
      <p:sp>
        <p:nvSpPr>
          <p:cNvPr id="41987" name="矩形 3">
            <a:extLst>
              <a:ext uri="{FF2B5EF4-FFF2-40B4-BE49-F238E27FC236}">
                <a16:creationId xmlns:a16="http://schemas.microsoft.com/office/drawing/2014/main" id="{7458065E-62CB-FD81-25F6-E42A6CD681DE}"/>
              </a:ext>
            </a:extLst>
          </p:cNvPr>
          <p:cNvSpPr>
            <a:spLocks noChangeArrowheads="1"/>
          </p:cNvSpPr>
          <p:nvPr/>
        </p:nvSpPr>
        <p:spPr bwMode="auto">
          <a:xfrm>
            <a:off x="285750" y="547688"/>
            <a:ext cx="3683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1</a:t>
            </a:r>
            <a:r>
              <a:rPr kumimoji="0" lang="zh-CN" altLang="en-US" b="1">
                <a:solidFill>
                  <a:srgbClr val="C00000"/>
                </a:solidFill>
                <a:latin typeface="Arial" panose="020B0604020202020204" pitchFamily="34" charset="0"/>
              </a:rPr>
              <a:t>、文件控制块</a:t>
            </a:r>
            <a:r>
              <a:rPr kumimoji="0" lang="en-US" altLang="zh-CN" b="1">
                <a:solidFill>
                  <a:srgbClr val="C00000"/>
                </a:solidFill>
                <a:latin typeface="Arial" panose="020B0604020202020204" pitchFamily="34" charset="0"/>
              </a:rPr>
              <a:t>FCB</a:t>
            </a:r>
            <a:endParaRPr kumimoji="0" lang="zh-CN" altLang="en-US" b="1">
              <a:solidFill>
                <a:srgbClr val="C00000"/>
              </a:solidFill>
              <a:latin typeface="Arial" panose="020B0604020202020204" pitchFamily="34" charset="0"/>
            </a:endParaRPr>
          </a:p>
        </p:txBody>
      </p:sp>
      <p:graphicFrame>
        <p:nvGraphicFramePr>
          <p:cNvPr id="5" name="Group 33">
            <a:extLst>
              <a:ext uri="{FF2B5EF4-FFF2-40B4-BE49-F238E27FC236}">
                <a16:creationId xmlns:a16="http://schemas.microsoft.com/office/drawing/2014/main" id="{2BAA99E6-16D2-F043-D795-BA128370DB98}"/>
              </a:ext>
            </a:extLst>
          </p:cNvPr>
          <p:cNvGraphicFramePr>
            <a:graphicFrameLocks/>
          </p:cNvGraphicFramePr>
          <p:nvPr/>
        </p:nvGraphicFramePr>
        <p:xfrm>
          <a:off x="280988" y="4714875"/>
          <a:ext cx="8642350" cy="822638"/>
        </p:xfrm>
        <a:graphic>
          <a:graphicData uri="http://schemas.openxmlformats.org/drawingml/2006/table">
            <a:tbl>
              <a:tblPr/>
              <a:tblGrid>
                <a:gridCol w="1204911">
                  <a:extLst>
                    <a:ext uri="{9D8B030D-6E8A-4147-A177-3AD203B41FA5}">
                      <a16:colId xmlns:a16="http://schemas.microsoft.com/office/drawing/2014/main" val="20000"/>
                    </a:ext>
                  </a:extLst>
                </a:gridCol>
                <a:gridCol w="1314452">
                  <a:extLst>
                    <a:ext uri="{9D8B030D-6E8A-4147-A177-3AD203B41FA5}">
                      <a16:colId xmlns:a16="http://schemas.microsoft.com/office/drawing/2014/main" val="20001"/>
                    </a:ext>
                  </a:extLst>
                </a:gridCol>
                <a:gridCol w="936625">
                  <a:extLst>
                    <a:ext uri="{9D8B030D-6E8A-4147-A177-3AD203B41FA5}">
                      <a16:colId xmlns:a16="http://schemas.microsoft.com/office/drawing/2014/main" val="20002"/>
                    </a:ext>
                  </a:extLst>
                </a:gridCol>
                <a:gridCol w="866775">
                  <a:extLst>
                    <a:ext uri="{9D8B030D-6E8A-4147-A177-3AD203B41FA5}">
                      <a16:colId xmlns:a16="http://schemas.microsoft.com/office/drawing/2014/main" val="20003"/>
                    </a:ext>
                  </a:extLst>
                </a:gridCol>
                <a:gridCol w="1077912">
                  <a:extLst>
                    <a:ext uri="{9D8B030D-6E8A-4147-A177-3AD203B41FA5}">
                      <a16:colId xmlns:a16="http://schemas.microsoft.com/office/drawing/2014/main" val="20004"/>
                    </a:ext>
                  </a:extLst>
                </a:gridCol>
                <a:gridCol w="1082675">
                  <a:extLst>
                    <a:ext uri="{9D8B030D-6E8A-4147-A177-3AD203B41FA5}">
                      <a16:colId xmlns:a16="http://schemas.microsoft.com/office/drawing/2014/main" val="20005"/>
                    </a:ext>
                  </a:extLst>
                </a:gridCol>
                <a:gridCol w="1077913">
                  <a:extLst>
                    <a:ext uri="{9D8B030D-6E8A-4147-A177-3AD203B41FA5}">
                      <a16:colId xmlns:a16="http://schemas.microsoft.com/office/drawing/2014/main" val="20006"/>
                    </a:ext>
                  </a:extLst>
                </a:gridCol>
                <a:gridCol w="1081087">
                  <a:extLst>
                    <a:ext uri="{9D8B030D-6E8A-4147-A177-3AD203B41FA5}">
                      <a16:colId xmlns:a16="http://schemas.microsoft.com/office/drawing/2014/main" val="20007"/>
                    </a:ext>
                  </a:extLst>
                </a:gridCol>
              </a:tblGrid>
              <a:tr h="822325">
                <a:tc>
                  <a:txBody>
                    <a:bodyPr/>
                    <a:lstStyle>
                      <a:defPPr>
                        <a:defRPr lang="zh-CN"/>
                      </a:defPPr>
                      <a:lvl1pPr marL="0" algn="l" defTabSz="914260" rtl="0" eaLnBrk="1" latinLnBrk="0" hangingPunct="1">
                        <a:defRPr sz="1800" kern="1200">
                          <a:solidFill>
                            <a:schemeClr val="tx1"/>
                          </a:solidFill>
                          <a:latin typeface="Times New Roman"/>
                          <a:ea typeface="宋体"/>
                        </a:defRPr>
                      </a:lvl1pPr>
                      <a:lvl2pPr marL="457130" algn="l" defTabSz="914260" rtl="0" eaLnBrk="1" latinLnBrk="0" hangingPunct="1">
                        <a:defRPr sz="1800" kern="1200">
                          <a:solidFill>
                            <a:schemeClr val="tx1"/>
                          </a:solidFill>
                          <a:latin typeface="Times New Roman"/>
                          <a:ea typeface="宋体"/>
                        </a:defRPr>
                      </a:lvl2pPr>
                      <a:lvl3pPr marL="914260" algn="l" defTabSz="914260" rtl="0" eaLnBrk="1" latinLnBrk="0" hangingPunct="1">
                        <a:defRPr sz="1800" kern="1200">
                          <a:solidFill>
                            <a:schemeClr val="tx1"/>
                          </a:solidFill>
                          <a:latin typeface="Times New Roman"/>
                          <a:ea typeface="宋体"/>
                        </a:defRPr>
                      </a:lvl3pPr>
                      <a:lvl4pPr marL="1371391" algn="l" defTabSz="914260" rtl="0" eaLnBrk="1" latinLnBrk="0" hangingPunct="1">
                        <a:defRPr sz="1800" kern="1200">
                          <a:solidFill>
                            <a:schemeClr val="tx1"/>
                          </a:solidFill>
                          <a:latin typeface="Times New Roman"/>
                          <a:ea typeface="宋体"/>
                        </a:defRPr>
                      </a:lvl4pPr>
                      <a:lvl5pPr marL="1828521" algn="l" defTabSz="914260" rtl="0" eaLnBrk="1" latinLnBrk="0" hangingPunct="1">
                        <a:defRPr sz="1800" kern="1200">
                          <a:solidFill>
                            <a:schemeClr val="tx1"/>
                          </a:solidFill>
                          <a:latin typeface="Times New Roman"/>
                          <a:ea typeface="宋体"/>
                        </a:defRPr>
                      </a:lvl5pPr>
                      <a:lvl6pPr marL="2285652" algn="l" defTabSz="914260" rtl="0" eaLnBrk="1" latinLnBrk="0" hangingPunct="1">
                        <a:defRPr sz="1800" kern="1200">
                          <a:solidFill>
                            <a:schemeClr val="tx1"/>
                          </a:solidFill>
                          <a:latin typeface="Times New Roman"/>
                          <a:ea typeface="宋体"/>
                        </a:defRPr>
                      </a:lvl6pPr>
                      <a:lvl7pPr marL="2742782" algn="l" defTabSz="914260" rtl="0" eaLnBrk="1" latinLnBrk="0" hangingPunct="1">
                        <a:defRPr sz="1800" kern="1200">
                          <a:solidFill>
                            <a:schemeClr val="tx1"/>
                          </a:solidFill>
                          <a:latin typeface="Times New Roman"/>
                          <a:ea typeface="宋体"/>
                        </a:defRPr>
                      </a:lvl7pPr>
                      <a:lvl8pPr marL="3199913" algn="l" defTabSz="914260" rtl="0" eaLnBrk="1" latinLnBrk="0" hangingPunct="1">
                        <a:defRPr sz="1800" kern="1200">
                          <a:solidFill>
                            <a:schemeClr val="tx1"/>
                          </a:solidFill>
                          <a:latin typeface="Times New Roman"/>
                          <a:ea typeface="宋体"/>
                        </a:defRPr>
                      </a:lvl8pPr>
                      <a:lvl9pPr marL="3657043" algn="l" defTabSz="914260" rtl="0" eaLnBrk="1" latinLnBrk="0" hangingPunct="1">
                        <a:defRPr sz="1800" kern="1200">
                          <a:solidFill>
                            <a:schemeClr val="tx1"/>
                          </a:solidFill>
                          <a:latin typeface="Times New Roman"/>
                          <a:ea typeface="宋体"/>
                        </a:defRPr>
                      </a:lvl9pPr>
                    </a:lstStyle>
                    <a:p>
                      <a:pPr marL="0" marR="0" lvl="0" indent="0" algn="ctr" defTabSz="914400" rtl="0" eaLnBrk="1" fontAlgn="base" latinLnBrk="0" hangingPunct="1">
                        <a:lnSpc>
                          <a:spcPct val="100000"/>
                        </a:lnSpc>
                        <a:spcBef>
                          <a:spcPct val="20000"/>
                        </a:spcBef>
                        <a:spcAft>
                          <a:spcPct val="0"/>
                        </a:spcAft>
                        <a:buClr>
                          <a:srgbClr val="1F05E3"/>
                        </a:buClr>
                        <a:buSzTx/>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_GB2312" pitchFamily="49" charset="-122"/>
                        </a:rPr>
                        <a:t>文件名</a:t>
                      </a:r>
                    </a:p>
                  </a:txBody>
                  <a:tcPr marT="45559" marB="45559"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260" rtl="0" eaLnBrk="1" latinLnBrk="0" hangingPunct="1">
                        <a:defRPr sz="1800" kern="1200">
                          <a:solidFill>
                            <a:schemeClr val="tx1"/>
                          </a:solidFill>
                          <a:latin typeface="Times New Roman"/>
                          <a:ea typeface="宋体"/>
                        </a:defRPr>
                      </a:lvl1pPr>
                      <a:lvl2pPr marL="457130" algn="l" defTabSz="914260" rtl="0" eaLnBrk="1" latinLnBrk="0" hangingPunct="1">
                        <a:defRPr sz="1800" kern="1200">
                          <a:solidFill>
                            <a:schemeClr val="tx1"/>
                          </a:solidFill>
                          <a:latin typeface="Times New Roman"/>
                          <a:ea typeface="宋体"/>
                        </a:defRPr>
                      </a:lvl2pPr>
                      <a:lvl3pPr marL="914260" algn="l" defTabSz="914260" rtl="0" eaLnBrk="1" latinLnBrk="0" hangingPunct="1">
                        <a:defRPr sz="1800" kern="1200">
                          <a:solidFill>
                            <a:schemeClr val="tx1"/>
                          </a:solidFill>
                          <a:latin typeface="Times New Roman"/>
                          <a:ea typeface="宋体"/>
                        </a:defRPr>
                      </a:lvl3pPr>
                      <a:lvl4pPr marL="1371391" algn="l" defTabSz="914260" rtl="0" eaLnBrk="1" latinLnBrk="0" hangingPunct="1">
                        <a:defRPr sz="1800" kern="1200">
                          <a:solidFill>
                            <a:schemeClr val="tx1"/>
                          </a:solidFill>
                          <a:latin typeface="Times New Roman"/>
                          <a:ea typeface="宋体"/>
                        </a:defRPr>
                      </a:lvl4pPr>
                      <a:lvl5pPr marL="1828521" algn="l" defTabSz="914260" rtl="0" eaLnBrk="1" latinLnBrk="0" hangingPunct="1">
                        <a:defRPr sz="1800" kern="1200">
                          <a:solidFill>
                            <a:schemeClr val="tx1"/>
                          </a:solidFill>
                          <a:latin typeface="Times New Roman"/>
                          <a:ea typeface="宋体"/>
                        </a:defRPr>
                      </a:lvl5pPr>
                      <a:lvl6pPr marL="2285652" algn="l" defTabSz="914260" rtl="0" eaLnBrk="1" latinLnBrk="0" hangingPunct="1">
                        <a:defRPr sz="1800" kern="1200">
                          <a:solidFill>
                            <a:schemeClr val="tx1"/>
                          </a:solidFill>
                          <a:latin typeface="Times New Roman"/>
                          <a:ea typeface="宋体"/>
                        </a:defRPr>
                      </a:lvl6pPr>
                      <a:lvl7pPr marL="2742782" algn="l" defTabSz="914260" rtl="0" eaLnBrk="1" latinLnBrk="0" hangingPunct="1">
                        <a:defRPr sz="1800" kern="1200">
                          <a:solidFill>
                            <a:schemeClr val="tx1"/>
                          </a:solidFill>
                          <a:latin typeface="Times New Roman"/>
                          <a:ea typeface="宋体"/>
                        </a:defRPr>
                      </a:lvl7pPr>
                      <a:lvl8pPr marL="3199913" algn="l" defTabSz="914260" rtl="0" eaLnBrk="1" latinLnBrk="0" hangingPunct="1">
                        <a:defRPr sz="1800" kern="1200">
                          <a:solidFill>
                            <a:schemeClr val="tx1"/>
                          </a:solidFill>
                          <a:latin typeface="Times New Roman"/>
                          <a:ea typeface="宋体"/>
                        </a:defRPr>
                      </a:lvl8pPr>
                      <a:lvl9pPr marL="3657043" algn="l" defTabSz="914260" rtl="0" eaLnBrk="1" latinLnBrk="0" hangingPunct="1">
                        <a:defRPr sz="1800" kern="1200">
                          <a:solidFill>
                            <a:schemeClr val="tx1"/>
                          </a:solidFill>
                          <a:latin typeface="Times New Roman"/>
                          <a:ea typeface="宋体"/>
                        </a:defRPr>
                      </a:lvl9pPr>
                    </a:lstStyle>
                    <a:p>
                      <a:pPr marL="0" marR="0" lvl="0" indent="0" algn="ctr" defTabSz="914400" rtl="0" eaLnBrk="1" fontAlgn="base" latinLnBrk="0" hangingPunct="1">
                        <a:lnSpc>
                          <a:spcPct val="100000"/>
                        </a:lnSpc>
                        <a:spcBef>
                          <a:spcPct val="20000"/>
                        </a:spcBef>
                        <a:spcAft>
                          <a:spcPct val="0"/>
                        </a:spcAft>
                        <a:buClr>
                          <a:srgbClr val="1F05E3"/>
                        </a:buClr>
                        <a:buSzTx/>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_GB2312" pitchFamily="49" charset="-122"/>
                        </a:rPr>
                        <a:t>扩展名</a:t>
                      </a:r>
                    </a:p>
                  </a:txBody>
                  <a:tcPr marT="45559" marB="4555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260" rtl="0" eaLnBrk="1" latinLnBrk="0" hangingPunct="1">
                        <a:defRPr sz="1800" kern="1200">
                          <a:solidFill>
                            <a:schemeClr val="tx1"/>
                          </a:solidFill>
                          <a:latin typeface="Times New Roman"/>
                          <a:ea typeface="宋体"/>
                        </a:defRPr>
                      </a:lvl1pPr>
                      <a:lvl2pPr marL="457130" algn="l" defTabSz="914260" rtl="0" eaLnBrk="1" latinLnBrk="0" hangingPunct="1">
                        <a:defRPr sz="1800" kern="1200">
                          <a:solidFill>
                            <a:schemeClr val="tx1"/>
                          </a:solidFill>
                          <a:latin typeface="Times New Roman"/>
                          <a:ea typeface="宋体"/>
                        </a:defRPr>
                      </a:lvl2pPr>
                      <a:lvl3pPr marL="914260" algn="l" defTabSz="914260" rtl="0" eaLnBrk="1" latinLnBrk="0" hangingPunct="1">
                        <a:defRPr sz="1800" kern="1200">
                          <a:solidFill>
                            <a:schemeClr val="tx1"/>
                          </a:solidFill>
                          <a:latin typeface="Times New Roman"/>
                          <a:ea typeface="宋体"/>
                        </a:defRPr>
                      </a:lvl3pPr>
                      <a:lvl4pPr marL="1371391" algn="l" defTabSz="914260" rtl="0" eaLnBrk="1" latinLnBrk="0" hangingPunct="1">
                        <a:defRPr sz="1800" kern="1200">
                          <a:solidFill>
                            <a:schemeClr val="tx1"/>
                          </a:solidFill>
                          <a:latin typeface="Times New Roman"/>
                          <a:ea typeface="宋体"/>
                        </a:defRPr>
                      </a:lvl4pPr>
                      <a:lvl5pPr marL="1828521" algn="l" defTabSz="914260" rtl="0" eaLnBrk="1" latinLnBrk="0" hangingPunct="1">
                        <a:defRPr sz="1800" kern="1200">
                          <a:solidFill>
                            <a:schemeClr val="tx1"/>
                          </a:solidFill>
                          <a:latin typeface="Times New Roman"/>
                          <a:ea typeface="宋体"/>
                        </a:defRPr>
                      </a:lvl5pPr>
                      <a:lvl6pPr marL="2285652" algn="l" defTabSz="914260" rtl="0" eaLnBrk="1" latinLnBrk="0" hangingPunct="1">
                        <a:defRPr sz="1800" kern="1200">
                          <a:solidFill>
                            <a:schemeClr val="tx1"/>
                          </a:solidFill>
                          <a:latin typeface="Times New Roman"/>
                          <a:ea typeface="宋体"/>
                        </a:defRPr>
                      </a:lvl6pPr>
                      <a:lvl7pPr marL="2742782" algn="l" defTabSz="914260" rtl="0" eaLnBrk="1" latinLnBrk="0" hangingPunct="1">
                        <a:defRPr sz="1800" kern="1200">
                          <a:solidFill>
                            <a:schemeClr val="tx1"/>
                          </a:solidFill>
                          <a:latin typeface="Times New Roman"/>
                          <a:ea typeface="宋体"/>
                        </a:defRPr>
                      </a:lvl7pPr>
                      <a:lvl8pPr marL="3199913" algn="l" defTabSz="914260" rtl="0" eaLnBrk="1" latinLnBrk="0" hangingPunct="1">
                        <a:defRPr sz="1800" kern="1200">
                          <a:solidFill>
                            <a:schemeClr val="tx1"/>
                          </a:solidFill>
                          <a:latin typeface="Times New Roman"/>
                          <a:ea typeface="宋体"/>
                        </a:defRPr>
                      </a:lvl8pPr>
                      <a:lvl9pPr marL="3657043" algn="l" defTabSz="914260" rtl="0" eaLnBrk="1" latinLnBrk="0" hangingPunct="1">
                        <a:defRPr sz="1800" kern="1200">
                          <a:solidFill>
                            <a:schemeClr val="tx1"/>
                          </a:solidFill>
                          <a:latin typeface="Times New Roman"/>
                          <a:ea typeface="宋体"/>
                        </a:defRPr>
                      </a:lvl9pPr>
                    </a:lstStyle>
                    <a:p>
                      <a:pPr marL="0" marR="0" lvl="0" indent="0" algn="ctr" defTabSz="914400" rtl="0" eaLnBrk="1" fontAlgn="base" latinLnBrk="0" hangingPunct="1">
                        <a:lnSpc>
                          <a:spcPct val="100000"/>
                        </a:lnSpc>
                        <a:spcBef>
                          <a:spcPct val="20000"/>
                        </a:spcBef>
                        <a:spcAft>
                          <a:spcPct val="0"/>
                        </a:spcAft>
                        <a:buClr>
                          <a:srgbClr val="1F05E3"/>
                        </a:buClr>
                        <a:buSzTx/>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_GB2312" pitchFamily="49" charset="-122"/>
                        </a:rPr>
                        <a:t>属性</a:t>
                      </a:r>
                    </a:p>
                  </a:txBody>
                  <a:tcPr marT="45559" marB="4555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260" rtl="0" eaLnBrk="1" latinLnBrk="0" hangingPunct="1">
                        <a:defRPr sz="1800" kern="1200">
                          <a:solidFill>
                            <a:schemeClr val="tx1"/>
                          </a:solidFill>
                          <a:latin typeface="Times New Roman"/>
                          <a:ea typeface="宋体"/>
                        </a:defRPr>
                      </a:lvl1pPr>
                      <a:lvl2pPr marL="457130" algn="l" defTabSz="914260" rtl="0" eaLnBrk="1" latinLnBrk="0" hangingPunct="1">
                        <a:defRPr sz="1800" kern="1200">
                          <a:solidFill>
                            <a:schemeClr val="tx1"/>
                          </a:solidFill>
                          <a:latin typeface="Times New Roman"/>
                          <a:ea typeface="宋体"/>
                        </a:defRPr>
                      </a:lvl2pPr>
                      <a:lvl3pPr marL="914260" algn="l" defTabSz="914260" rtl="0" eaLnBrk="1" latinLnBrk="0" hangingPunct="1">
                        <a:defRPr sz="1800" kern="1200">
                          <a:solidFill>
                            <a:schemeClr val="tx1"/>
                          </a:solidFill>
                          <a:latin typeface="Times New Roman"/>
                          <a:ea typeface="宋体"/>
                        </a:defRPr>
                      </a:lvl3pPr>
                      <a:lvl4pPr marL="1371391" algn="l" defTabSz="914260" rtl="0" eaLnBrk="1" latinLnBrk="0" hangingPunct="1">
                        <a:defRPr sz="1800" kern="1200">
                          <a:solidFill>
                            <a:schemeClr val="tx1"/>
                          </a:solidFill>
                          <a:latin typeface="Times New Roman"/>
                          <a:ea typeface="宋体"/>
                        </a:defRPr>
                      </a:lvl4pPr>
                      <a:lvl5pPr marL="1828521" algn="l" defTabSz="914260" rtl="0" eaLnBrk="1" latinLnBrk="0" hangingPunct="1">
                        <a:defRPr sz="1800" kern="1200">
                          <a:solidFill>
                            <a:schemeClr val="tx1"/>
                          </a:solidFill>
                          <a:latin typeface="Times New Roman"/>
                          <a:ea typeface="宋体"/>
                        </a:defRPr>
                      </a:lvl5pPr>
                      <a:lvl6pPr marL="2285652" algn="l" defTabSz="914260" rtl="0" eaLnBrk="1" latinLnBrk="0" hangingPunct="1">
                        <a:defRPr sz="1800" kern="1200">
                          <a:solidFill>
                            <a:schemeClr val="tx1"/>
                          </a:solidFill>
                          <a:latin typeface="Times New Roman"/>
                          <a:ea typeface="宋体"/>
                        </a:defRPr>
                      </a:lvl6pPr>
                      <a:lvl7pPr marL="2742782" algn="l" defTabSz="914260" rtl="0" eaLnBrk="1" latinLnBrk="0" hangingPunct="1">
                        <a:defRPr sz="1800" kern="1200">
                          <a:solidFill>
                            <a:schemeClr val="tx1"/>
                          </a:solidFill>
                          <a:latin typeface="Times New Roman"/>
                          <a:ea typeface="宋体"/>
                        </a:defRPr>
                      </a:lvl7pPr>
                      <a:lvl8pPr marL="3199913" algn="l" defTabSz="914260" rtl="0" eaLnBrk="1" latinLnBrk="0" hangingPunct="1">
                        <a:defRPr sz="1800" kern="1200">
                          <a:solidFill>
                            <a:schemeClr val="tx1"/>
                          </a:solidFill>
                          <a:latin typeface="Times New Roman"/>
                          <a:ea typeface="宋体"/>
                        </a:defRPr>
                      </a:lvl8pPr>
                      <a:lvl9pPr marL="3657043" algn="l" defTabSz="914260" rtl="0" eaLnBrk="1" latinLnBrk="0" hangingPunct="1">
                        <a:defRPr sz="1800" kern="1200">
                          <a:solidFill>
                            <a:schemeClr val="tx1"/>
                          </a:solidFill>
                          <a:latin typeface="Times New Roman"/>
                          <a:ea typeface="宋体"/>
                        </a:defRPr>
                      </a:lvl9pPr>
                    </a:lstStyle>
                    <a:p>
                      <a:pPr marL="0" marR="0" lvl="0" indent="0" algn="ctr" defTabSz="914400" rtl="0" eaLnBrk="1" fontAlgn="base" latinLnBrk="0" hangingPunct="1">
                        <a:lnSpc>
                          <a:spcPct val="100000"/>
                        </a:lnSpc>
                        <a:spcBef>
                          <a:spcPct val="20000"/>
                        </a:spcBef>
                        <a:spcAft>
                          <a:spcPct val="0"/>
                        </a:spcAft>
                        <a:buClr>
                          <a:srgbClr val="1F05E3"/>
                        </a:buClr>
                        <a:buSzTx/>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_GB2312" pitchFamily="49" charset="-122"/>
                        </a:rPr>
                        <a:t>备用</a:t>
                      </a:r>
                    </a:p>
                  </a:txBody>
                  <a:tcPr marT="45559" marB="4555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260" rtl="0" eaLnBrk="1" latinLnBrk="0" hangingPunct="1">
                        <a:defRPr sz="1800" kern="1200">
                          <a:solidFill>
                            <a:schemeClr val="tx1"/>
                          </a:solidFill>
                          <a:latin typeface="Times New Roman"/>
                          <a:ea typeface="宋体"/>
                        </a:defRPr>
                      </a:lvl1pPr>
                      <a:lvl2pPr marL="457130" algn="l" defTabSz="914260" rtl="0" eaLnBrk="1" latinLnBrk="0" hangingPunct="1">
                        <a:defRPr sz="1800" kern="1200">
                          <a:solidFill>
                            <a:schemeClr val="tx1"/>
                          </a:solidFill>
                          <a:latin typeface="Times New Roman"/>
                          <a:ea typeface="宋体"/>
                        </a:defRPr>
                      </a:lvl2pPr>
                      <a:lvl3pPr marL="914260" algn="l" defTabSz="914260" rtl="0" eaLnBrk="1" latinLnBrk="0" hangingPunct="1">
                        <a:defRPr sz="1800" kern="1200">
                          <a:solidFill>
                            <a:schemeClr val="tx1"/>
                          </a:solidFill>
                          <a:latin typeface="Times New Roman"/>
                          <a:ea typeface="宋体"/>
                        </a:defRPr>
                      </a:lvl3pPr>
                      <a:lvl4pPr marL="1371391" algn="l" defTabSz="914260" rtl="0" eaLnBrk="1" latinLnBrk="0" hangingPunct="1">
                        <a:defRPr sz="1800" kern="1200">
                          <a:solidFill>
                            <a:schemeClr val="tx1"/>
                          </a:solidFill>
                          <a:latin typeface="Times New Roman"/>
                          <a:ea typeface="宋体"/>
                        </a:defRPr>
                      </a:lvl4pPr>
                      <a:lvl5pPr marL="1828521" algn="l" defTabSz="914260" rtl="0" eaLnBrk="1" latinLnBrk="0" hangingPunct="1">
                        <a:defRPr sz="1800" kern="1200">
                          <a:solidFill>
                            <a:schemeClr val="tx1"/>
                          </a:solidFill>
                          <a:latin typeface="Times New Roman"/>
                          <a:ea typeface="宋体"/>
                        </a:defRPr>
                      </a:lvl5pPr>
                      <a:lvl6pPr marL="2285652" algn="l" defTabSz="914260" rtl="0" eaLnBrk="1" latinLnBrk="0" hangingPunct="1">
                        <a:defRPr sz="1800" kern="1200">
                          <a:solidFill>
                            <a:schemeClr val="tx1"/>
                          </a:solidFill>
                          <a:latin typeface="Times New Roman"/>
                          <a:ea typeface="宋体"/>
                        </a:defRPr>
                      </a:lvl6pPr>
                      <a:lvl7pPr marL="2742782" algn="l" defTabSz="914260" rtl="0" eaLnBrk="1" latinLnBrk="0" hangingPunct="1">
                        <a:defRPr sz="1800" kern="1200">
                          <a:solidFill>
                            <a:schemeClr val="tx1"/>
                          </a:solidFill>
                          <a:latin typeface="Times New Roman"/>
                          <a:ea typeface="宋体"/>
                        </a:defRPr>
                      </a:lvl7pPr>
                      <a:lvl8pPr marL="3199913" algn="l" defTabSz="914260" rtl="0" eaLnBrk="1" latinLnBrk="0" hangingPunct="1">
                        <a:defRPr sz="1800" kern="1200">
                          <a:solidFill>
                            <a:schemeClr val="tx1"/>
                          </a:solidFill>
                          <a:latin typeface="Times New Roman"/>
                          <a:ea typeface="宋体"/>
                        </a:defRPr>
                      </a:lvl8pPr>
                      <a:lvl9pPr marL="3657043" algn="l" defTabSz="914260" rtl="0" eaLnBrk="1" latinLnBrk="0" hangingPunct="1">
                        <a:defRPr sz="1800" kern="1200">
                          <a:solidFill>
                            <a:schemeClr val="tx1"/>
                          </a:solidFill>
                          <a:latin typeface="Times New Roman"/>
                          <a:ea typeface="宋体"/>
                        </a:defRPr>
                      </a:lvl9pPr>
                    </a:lstStyle>
                    <a:p>
                      <a:pPr marL="0" marR="0" lvl="0" indent="0" algn="ctr" defTabSz="914400" rtl="0" eaLnBrk="1" fontAlgn="base" latinLnBrk="0" hangingPunct="1">
                        <a:lnSpc>
                          <a:spcPct val="100000"/>
                        </a:lnSpc>
                        <a:spcBef>
                          <a:spcPct val="20000"/>
                        </a:spcBef>
                        <a:spcAft>
                          <a:spcPct val="0"/>
                        </a:spcAft>
                        <a:buClr>
                          <a:srgbClr val="1F05E3"/>
                        </a:buClr>
                        <a:buSzTx/>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_GB2312" pitchFamily="49" charset="-122"/>
                        </a:rPr>
                        <a:t>时间</a:t>
                      </a:r>
                    </a:p>
                  </a:txBody>
                  <a:tcPr marT="45559" marB="4555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260" rtl="0" eaLnBrk="1" latinLnBrk="0" hangingPunct="1">
                        <a:defRPr sz="1800" kern="1200">
                          <a:solidFill>
                            <a:schemeClr val="tx1"/>
                          </a:solidFill>
                          <a:latin typeface="Times New Roman"/>
                          <a:ea typeface="宋体"/>
                        </a:defRPr>
                      </a:lvl1pPr>
                      <a:lvl2pPr marL="457130" algn="l" defTabSz="914260" rtl="0" eaLnBrk="1" latinLnBrk="0" hangingPunct="1">
                        <a:defRPr sz="1800" kern="1200">
                          <a:solidFill>
                            <a:schemeClr val="tx1"/>
                          </a:solidFill>
                          <a:latin typeface="Times New Roman"/>
                          <a:ea typeface="宋体"/>
                        </a:defRPr>
                      </a:lvl2pPr>
                      <a:lvl3pPr marL="914260" algn="l" defTabSz="914260" rtl="0" eaLnBrk="1" latinLnBrk="0" hangingPunct="1">
                        <a:defRPr sz="1800" kern="1200">
                          <a:solidFill>
                            <a:schemeClr val="tx1"/>
                          </a:solidFill>
                          <a:latin typeface="Times New Roman"/>
                          <a:ea typeface="宋体"/>
                        </a:defRPr>
                      </a:lvl3pPr>
                      <a:lvl4pPr marL="1371391" algn="l" defTabSz="914260" rtl="0" eaLnBrk="1" latinLnBrk="0" hangingPunct="1">
                        <a:defRPr sz="1800" kern="1200">
                          <a:solidFill>
                            <a:schemeClr val="tx1"/>
                          </a:solidFill>
                          <a:latin typeface="Times New Roman"/>
                          <a:ea typeface="宋体"/>
                        </a:defRPr>
                      </a:lvl4pPr>
                      <a:lvl5pPr marL="1828521" algn="l" defTabSz="914260" rtl="0" eaLnBrk="1" latinLnBrk="0" hangingPunct="1">
                        <a:defRPr sz="1800" kern="1200">
                          <a:solidFill>
                            <a:schemeClr val="tx1"/>
                          </a:solidFill>
                          <a:latin typeface="Times New Roman"/>
                          <a:ea typeface="宋体"/>
                        </a:defRPr>
                      </a:lvl5pPr>
                      <a:lvl6pPr marL="2285652" algn="l" defTabSz="914260" rtl="0" eaLnBrk="1" latinLnBrk="0" hangingPunct="1">
                        <a:defRPr sz="1800" kern="1200">
                          <a:solidFill>
                            <a:schemeClr val="tx1"/>
                          </a:solidFill>
                          <a:latin typeface="Times New Roman"/>
                          <a:ea typeface="宋体"/>
                        </a:defRPr>
                      </a:lvl6pPr>
                      <a:lvl7pPr marL="2742782" algn="l" defTabSz="914260" rtl="0" eaLnBrk="1" latinLnBrk="0" hangingPunct="1">
                        <a:defRPr sz="1800" kern="1200">
                          <a:solidFill>
                            <a:schemeClr val="tx1"/>
                          </a:solidFill>
                          <a:latin typeface="Times New Roman"/>
                          <a:ea typeface="宋体"/>
                        </a:defRPr>
                      </a:lvl7pPr>
                      <a:lvl8pPr marL="3199913" algn="l" defTabSz="914260" rtl="0" eaLnBrk="1" latinLnBrk="0" hangingPunct="1">
                        <a:defRPr sz="1800" kern="1200">
                          <a:solidFill>
                            <a:schemeClr val="tx1"/>
                          </a:solidFill>
                          <a:latin typeface="Times New Roman"/>
                          <a:ea typeface="宋体"/>
                        </a:defRPr>
                      </a:lvl8pPr>
                      <a:lvl9pPr marL="3657043" algn="l" defTabSz="914260" rtl="0" eaLnBrk="1" latinLnBrk="0" hangingPunct="1">
                        <a:defRPr sz="1800" kern="1200">
                          <a:solidFill>
                            <a:schemeClr val="tx1"/>
                          </a:solidFill>
                          <a:latin typeface="Times New Roman"/>
                          <a:ea typeface="宋体"/>
                        </a:defRPr>
                      </a:lvl9pPr>
                    </a:lstStyle>
                    <a:p>
                      <a:pPr marL="0" marR="0" lvl="0" indent="0" algn="ctr" defTabSz="914400" rtl="0" eaLnBrk="1" fontAlgn="base" latinLnBrk="0" hangingPunct="1">
                        <a:lnSpc>
                          <a:spcPct val="100000"/>
                        </a:lnSpc>
                        <a:spcBef>
                          <a:spcPct val="20000"/>
                        </a:spcBef>
                        <a:spcAft>
                          <a:spcPct val="0"/>
                        </a:spcAft>
                        <a:buClr>
                          <a:srgbClr val="1F05E3"/>
                        </a:buClr>
                        <a:buSzTx/>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_GB2312" pitchFamily="49" charset="-122"/>
                        </a:rPr>
                        <a:t>日期</a:t>
                      </a:r>
                    </a:p>
                  </a:txBody>
                  <a:tcPr marT="45559" marB="4555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260" rtl="0" eaLnBrk="1" latinLnBrk="0" hangingPunct="1">
                        <a:defRPr sz="1800" kern="1200">
                          <a:solidFill>
                            <a:schemeClr val="tx1"/>
                          </a:solidFill>
                          <a:latin typeface="Times New Roman"/>
                          <a:ea typeface="宋体"/>
                        </a:defRPr>
                      </a:lvl1pPr>
                      <a:lvl2pPr marL="457130" algn="l" defTabSz="914260" rtl="0" eaLnBrk="1" latinLnBrk="0" hangingPunct="1">
                        <a:defRPr sz="1800" kern="1200">
                          <a:solidFill>
                            <a:schemeClr val="tx1"/>
                          </a:solidFill>
                          <a:latin typeface="Times New Roman"/>
                          <a:ea typeface="宋体"/>
                        </a:defRPr>
                      </a:lvl2pPr>
                      <a:lvl3pPr marL="914260" algn="l" defTabSz="914260" rtl="0" eaLnBrk="1" latinLnBrk="0" hangingPunct="1">
                        <a:defRPr sz="1800" kern="1200">
                          <a:solidFill>
                            <a:schemeClr val="tx1"/>
                          </a:solidFill>
                          <a:latin typeface="Times New Roman"/>
                          <a:ea typeface="宋体"/>
                        </a:defRPr>
                      </a:lvl3pPr>
                      <a:lvl4pPr marL="1371391" algn="l" defTabSz="914260" rtl="0" eaLnBrk="1" latinLnBrk="0" hangingPunct="1">
                        <a:defRPr sz="1800" kern="1200">
                          <a:solidFill>
                            <a:schemeClr val="tx1"/>
                          </a:solidFill>
                          <a:latin typeface="Times New Roman"/>
                          <a:ea typeface="宋体"/>
                        </a:defRPr>
                      </a:lvl4pPr>
                      <a:lvl5pPr marL="1828521" algn="l" defTabSz="914260" rtl="0" eaLnBrk="1" latinLnBrk="0" hangingPunct="1">
                        <a:defRPr sz="1800" kern="1200">
                          <a:solidFill>
                            <a:schemeClr val="tx1"/>
                          </a:solidFill>
                          <a:latin typeface="Times New Roman"/>
                          <a:ea typeface="宋体"/>
                        </a:defRPr>
                      </a:lvl5pPr>
                      <a:lvl6pPr marL="2285652" algn="l" defTabSz="914260" rtl="0" eaLnBrk="1" latinLnBrk="0" hangingPunct="1">
                        <a:defRPr sz="1800" kern="1200">
                          <a:solidFill>
                            <a:schemeClr val="tx1"/>
                          </a:solidFill>
                          <a:latin typeface="Times New Roman"/>
                          <a:ea typeface="宋体"/>
                        </a:defRPr>
                      </a:lvl6pPr>
                      <a:lvl7pPr marL="2742782" algn="l" defTabSz="914260" rtl="0" eaLnBrk="1" latinLnBrk="0" hangingPunct="1">
                        <a:defRPr sz="1800" kern="1200">
                          <a:solidFill>
                            <a:schemeClr val="tx1"/>
                          </a:solidFill>
                          <a:latin typeface="Times New Roman"/>
                          <a:ea typeface="宋体"/>
                        </a:defRPr>
                      </a:lvl7pPr>
                      <a:lvl8pPr marL="3199913" algn="l" defTabSz="914260" rtl="0" eaLnBrk="1" latinLnBrk="0" hangingPunct="1">
                        <a:defRPr sz="1800" kern="1200">
                          <a:solidFill>
                            <a:schemeClr val="tx1"/>
                          </a:solidFill>
                          <a:latin typeface="Times New Roman"/>
                          <a:ea typeface="宋体"/>
                        </a:defRPr>
                      </a:lvl8pPr>
                      <a:lvl9pPr marL="3657043" algn="l" defTabSz="914260" rtl="0" eaLnBrk="1" latinLnBrk="0" hangingPunct="1">
                        <a:defRPr sz="1800" kern="1200">
                          <a:solidFill>
                            <a:schemeClr val="tx1"/>
                          </a:solidFill>
                          <a:latin typeface="Times New Roman"/>
                          <a:ea typeface="宋体"/>
                        </a:defRPr>
                      </a:lvl9pPr>
                    </a:lstStyle>
                    <a:p>
                      <a:pPr marL="0" marR="0" lvl="0" indent="0" algn="ctr" defTabSz="914400" rtl="0" eaLnBrk="1" fontAlgn="base" latinLnBrk="0" hangingPunct="1">
                        <a:lnSpc>
                          <a:spcPct val="100000"/>
                        </a:lnSpc>
                        <a:spcBef>
                          <a:spcPct val="20000"/>
                        </a:spcBef>
                        <a:spcAft>
                          <a:spcPct val="0"/>
                        </a:spcAft>
                        <a:buClr>
                          <a:srgbClr val="1F05E3"/>
                        </a:buClr>
                        <a:buSzTx/>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_GB2312" pitchFamily="49" charset="-122"/>
                        </a:rPr>
                        <a:t>第一块号</a:t>
                      </a:r>
                    </a:p>
                  </a:txBody>
                  <a:tcPr marT="45559" marB="4555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defPPr>
                        <a:defRPr lang="zh-CN"/>
                      </a:defPPr>
                      <a:lvl1pPr marL="0" algn="l" defTabSz="914260" rtl="0" eaLnBrk="1" latinLnBrk="0" hangingPunct="1">
                        <a:defRPr sz="1800" kern="1200">
                          <a:solidFill>
                            <a:schemeClr val="tx1"/>
                          </a:solidFill>
                          <a:latin typeface="Times New Roman"/>
                          <a:ea typeface="宋体"/>
                        </a:defRPr>
                      </a:lvl1pPr>
                      <a:lvl2pPr marL="457130" algn="l" defTabSz="914260" rtl="0" eaLnBrk="1" latinLnBrk="0" hangingPunct="1">
                        <a:defRPr sz="1800" kern="1200">
                          <a:solidFill>
                            <a:schemeClr val="tx1"/>
                          </a:solidFill>
                          <a:latin typeface="Times New Roman"/>
                          <a:ea typeface="宋体"/>
                        </a:defRPr>
                      </a:lvl2pPr>
                      <a:lvl3pPr marL="914260" algn="l" defTabSz="914260" rtl="0" eaLnBrk="1" latinLnBrk="0" hangingPunct="1">
                        <a:defRPr sz="1800" kern="1200">
                          <a:solidFill>
                            <a:schemeClr val="tx1"/>
                          </a:solidFill>
                          <a:latin typeface="Times New Roman"/>
                          <a:ea typeface="宋体"/>
                        </a:defRPr>
                      </a:lvl3pPr>
                      <a:lvl4pPr marL="1371391" algn="l" defTabSz="914260" rtl="0" eaLnBrk="1" latinLnBrk="0" hangingPunct="1">
                        <a:defRPr sz="1800" kern="1200">
                          <a:solidFill>
                            <a:schemeClr val="tx1"/>
                          </a:solidFill>
                          <a:latin typeface="Times New Roman"/>
                          <a:ea typeface="宋体"/>
                        </a:defRPr>
                      </a:lvl4pPr>
                      <a:lvl5pPr marL="1828521" algn="l" defTabSz="914260" rtl="0" eaLnBrk="1" latinLnBrk="0" hangingPunct="1">
                        <a:defRPr sz="1800" kern="1200">
                          <a:solidFill>
                            <a:schemeClr val="tx1"/>
                          </a:solidFill>
                          <a:latin typeface="Times New Roman"/>
                          <a:ea typeface="宋体"/>
                        </a:defRPr>
                      </a:lvl5pPr>
                      <a:lvl6pPr marL="2285652" algn="l" defTabSz="914260" rtl="0" eaLnBrk="1" latinLnBrk="0" hangingPunct="1">
                        <a:defRPr sz="1800" kern="1200">
                          <a:solidFill>
                            <a:schemeClr val="tx1"/>
                          </a:solidFill>
                          <a:latin typeface="Times New Roman"/>
                          <a:ea typeface="宋体"/>
                        </a:defRPr>
                      </a:lvl6pPr>
                      <a:lvl7pPr marL="2742782" algn="l" defTabSz="914260" rtl="0" eaLnBrk="1" latinLnBrk="0" hangingPunct="1">
                        <a:defRPr sz="1800" kern="1200">
                          <a:solidFill>
                            <a:schemeClr val="tx1"/>
                          </a:solidFill>
                          <a:latin typeface="Times New Roman"/>
                          <a:ea typeface="宋体"/>
                        </a:defRPr>
                      </a:lvl7pPr>
                      <a:lvl8pPr marL="3199913" algn="l" defTabSz="914260" rtl="0" eaLnBrk="1" latinLnBrk="0" hangingPunct="1">
                        <a:defRPr sz="1800" kern="1200">
                          <a:solidFill>
                            <a:schemeClr val="tx1"/>
                          </a:solidFill>
                          <a:latin typeface="Times New Roman"/>
                          <a:ea typeface="宋体"/>
                        </a:defRPr>
                      </a:lvl8pPr>
                      <a:lvl9pPr marL="3657043" algn="l" defTabSz="914260" rtl="0" eaLnBrk="1" latinLnBrk="0" hangingPunct="1">
                        <a:defRPr sz="1800" kern="1200">
                          <a:solidFill>
                            <a:schemeClr val="tx1"/>
                          </a:solidFill>
                          <a:latin typeface="Times New Roman"/>
                          <a:ea typeface="宋体"/>
                        </a:defRPr>
                      </a:lvl9pPr>
                    </a:lstStyle>
                    <a:p>
                      <a:pPr marL="0" marR="0" lvl="0" indent="0" algn="ctr" defTabSz="914400" rtl="0" eaLnBrk="1" fontAlgn="base" latinLnBrk="0" hangingPunct="1">
                        <a:lnSpc>
                          <a:spcPct val="100000"/>
                        </a:lnSpc>
                        <a:spcBef>
                          <a:spcPct val="20000"/>
                        </a:spcBef>
                        <a:spcAft>
                          <a:spcPct val="0"/>
                        </a:spcAft>
                        <a:buClr>
                          <a:srgbClr val="1F05E3"/>
                        </a:buClr>
                        <a:buSzTx/>
                        <a:buFont typeface="Wingdings" pitchFamily="2" charset="2"/>
                        <a:buNone/>
                        <a:tabLst/>
                      </a:pPr>
                      <a:r>
                        <a:rPr kumimoji="0" lang="zh-CN" altLang="en-US" sz="2400" b="1" i="0" u="none" strike="noStrike" cap="none" normalizeH="0" baseline="0" dirty="0">
                          <a:ln>
                            <a:noFill/>
                          </a:ln>
                          <a:solidFill>
                            <a:schemeClr val="tx1"/>
                          </a:solidFill>
                          <a:effectLst/>
                          <a:latin typeface="Times New Roman" pitchFamily="18" charset="0"/>
                          <a:ea typeface="楷体_GB2312" pitchFamily="49" charset="-122"/>
                        </a:rPr>
                        <a:t>盘块数</a:t>
                      </a:r>
                    </a:p>
                  </a:txBody>
                  <a:tcPr marT="45559" marB="45559" anchor="ct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42008" name="Text Box 6">
            <a:extLst>
              <a:ext uri="{FF2B5EF4-FFF2-40B4-BE49-F238E27FC236}">
                <a16:creationId xmlns:a16="http://schemas.microsoft.com/office/drawing/2014/main" id="{E2D6EE7C-87DA-B144-54EB-B2358F62811C}"/>
              </a:ext>
            </a:extLst>
          </p:cNvPr>
          <p:cNvSpPr txBox="1">
            <a:spLocks noChangeArrowheads="1"/>
          </p:cNvSpPr>
          <p:nvPr/>
        </p:nvSpPr>
        <p:spPr bwMode="auto">
          <a:xfrm>
            <a:off x="2286000" y="5757863"/>
            <a:ext cx="42656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7-7  MS-DOS</a:t>
            </a:r>
            <a:r>
              <a:rPr lang="zh-CN" altLang="en-US" sz="2400" b="1"/>
              <a:t>的文件控制块 </a:t>
            </a:r>
          </a:p>
        </p:txBody>
      </p:sp>
    </p:spTree>
  </p:cSld>
  <p:clrMapOvr>
    <a:masterClrMapping/>
  </p:clrMapOvr>
  <p:transition>
    <p:blinds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内容占位符 2">
            <a:extLst>
              <a:ext uri="{FF2B5EF4-FFF2-40B4-BE49-F238E27FC236}">
                <a16:creationId xmlns:a16="http://schemas.microsoft.com/office/drawing/2014/main" id="{29A3EFA8-7BC0-F960-0C0B-E4ACA98256A5}"/>
              </a:ext>
            </a:extLst>
          </p:cNvPr>
          <p:cNvSpPr>
            <a:spLocks noGrp="1" noChangeArrowheads="1"/>
          </p:cNvSpPr>
          <p:nvPr>
            <p:ph idx="1"/>
          </p:nvPr>
        </p:nvSpPr>
        <p:spPr>
          <a:xfrm>
            <a:off x="179388" y="1071563"/>
            <a:ext cx="8856662" cy="5500687"/>
          </a:xfrm>
        </p:spPr>
        <p:txBody>
          <a:bodyPr/>
          <a:lstStyle/>
          <a:p>
            <a:r>
              <a:rPr lang="zh-CN" altLang="en-US" sz="2800" b="1">
                <a:solidFill>
                  <a:schemeClr val="accent2"/>
                </a:solidFill>
              </a:rPr>
              <a:t>索引结点的引入：</a:t>
            </a:r>
          </a:p>
          <a:p>
            <a:pPr lvl="1"/>
            <a:r>
              <a:rPr lang="zh-CN" altLang="en-US" sz="2400" b="1"/>
              <a:t>为何引入</a:t>
            </a:r>
            <a:r>
              <a:rPr lang="zh-CN" altLang="en-US" sz="2400"/>
              <a:t>：文件多时，文件目录占用大量盘块（</a:t>
            </a:r>
            <a:r>
              <a:rPr lang="en-US" altLang="zh-CN" sz="2400"/>
              <a:t>FCB</a:t>
            </a:r>
            <a:r>
              <a:rPr lang="zh-CN" altLang="en-US" sz="2400"/>
              <a:t>太大），检索文件时只需用到文件名。</a:t>
            </a:r>
          </a:p>
          <a:p>
            <a:pPr lvl="1"/>
            <a:r>
              <a:rPr lang="zh-CN" altLang="en-US" sz="2400" b="1"/>
              <a:t>解决方案：</a:t>
            </a:r>
            <a:r>
              <a:rPr lang="zh-CN" altLang="en-US" sz="2400"/>
              <a:t>将文件名与文件信息分开。</a:t>
            </a:r>
            <a:endParaRPr lang="en-US" altLang="zh-CN" sz="2400"/>
          </a:p>
          <a:p>
            <a:pPr lvl="1"/>
            <a:r>
              <a:rPr lang="zh-CN" altLang="en-US" sz="2400" b="1"/>
              <a:t>索引结点</a:t>
            </a:r>
            <a:r>
              <a:rPr lang="zh-CN" altLang="en-US" sz="2400"/>
              <a:t>：含文件描述信息的数据结构。</a:t>
            </a:r>
            <a:endParaRPr lang="en-US" altLang="zh-CN"/>
          </a:p>
          <a:p>
            <a:r>
              <a:rPr lang="zh-CN" altLang="en-US" sz="2800" b="1">
                <a:solidFill>
                  <a:schemeClr val="accent2"/>
                </a:solidFill>
              </a:rPr>
              <a:t>例：</a:t>
            </a:r>
            <a:r>
              <a:rPr lang="zh-CN" altLang="en-US" sz="2400"/>
              <a:t>一个</a:t>
            </a:r>
            <a:r>
              <a:rPr lang="en-US" altLang="zh-CN" sz="2400"/>
              <a:t>FCB</a:t>
            </a:r>
            <a:r>
              <a:rPr lang="zh-CN" altLang="en-US" sz="2400"/>
              <a:t>为</a:t>
            </a:r>
            <a:r>
              <a:rPr lang="en-US" altLang="zh-CN" sz="2400"/>
              <a:t>64B</a:t>
            </a:r>
            <a:r>
              <a:rPr lang="zh-CN" altLang="en-US" sz="2400"/>
              <a:t>，一个盘块为</a:t>
            </a:r>
            <a:r>
              <a:rPr lang="en-US" altLang="zh-CN" sz="2400"/>
              <a:t>1KB</a:t>
            </a:r>
            <a:r>
              <a:rPr lang="zh-CN" altLang="en-US" sz="2400"/>
              <a:t>，假设文件系统中有</a:t>
            </a:r>
            <a:r>
              <a:rPr lang="en-US" altLang="zh-CN" sz="2400"/>
              <a:t>3200</a:t>
            </a:r>
            <a:r>
              <a:rPr lang="zh-CN" altLang="en-US" sz="2400"/>
              <a:t>个文件，文件目录需要多少个盘块存放？当要访问某文件时平均调度块数为多少？</a:t>
            </a:r>
            <a:endParaRPr lang="en-US" altLang="zh-CN" sz="2400"/>
          </a:p>
        </p:txBody>
      </p:sp>
      <p:sp>
        <p:nvSpPr>
          <p:cNvPr id="43011" name="矩形 3">
            <a:extLst>
              <a:ext uri="{FF2B5EF4-FFF2-40B4-BE49-F238E27FC236}">
                <a16:creationId xmlns:a16="http://schemas.microsoft.com/office/drawing/2014/main" id="{115F7B56-DD78-63F6-2547-9BFF878423BA}"/>
              </a:ext>
            </a:extLst>
          </p:cNvPr>
          <p:cNvSpPr>
            <a:spLocks noChangeArrowheads="1"/>
          </p:cNvSpPr>
          <p:nvPr/>
        </p:nvSpPr>
        <p:spPr bwMode="auto">
          <a:xfrm>
            <a:off x="285750" y="547688"/>
            <a:ext cx="29178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、索引结点</a:t>
            </a:r>
          </a:p>
        </p:txBody>
      </p:sp>
      <p:sp>
        <p:nvSpPr>
          <p:cNvPr id="8" name="矩形 7">
            <a:extLst>
              <a:ext uri="{FF2B5EF4-FFF2-40B4-BE49-F238E27FC236}">
                <a16:creationId xmlns:a16="http://schemas.microsoft.com/office/drawing/2014/main" id="{466FEFB9-AEF9-F592-8895-2AB28AF002F8}"/>
              </a:ext>
            </a:extLst>
          </p:cNvPr>
          <p:cNvSpPr>
            <a:spLocks noChangeArrowheads="1"/>
          </p:cNvSpPr>
          <p:nvPr/>
        </p:nvSpPr>
        <p:spPr bwMode="auto">
          <a:xfrm>
            <a:off x="611188" y="4581525"/>
            <a:ext cx="5026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C00000"/>
                </a:solidFill>
              </a:rPr>
              <a:t>一个盘块能存放：</a:t>
            </a:r>
            <a:r>
              <a:rPr lang="en-US" altLang="zh-CN" sz="2400">
                <a:solidFill>
                  <a:srgbClr val="C00000"/>
                </a:solidFill>
              </a:rPr>
              <a:t>1024/64=16</a:t>
            </a:r>
            <a:r>
              <a:rPr lang="zh-CN" altLang="en-US" sz="2400">
                <a:solidFill>
                  <a:srgbClr val="C00000"/>
                </a:solidFill>
              </a:rPr>
              <a:t>个</a:t>
            </a:r>
            <a:r>
              <a:rPr lang="en-US" altLang="zh-CN" sz="2400">
                <a:solidFill>
                  <a:srgbClr val="C00000"/>
                </a:solidFill>
              </a:rPr>
              <a:t>FCB</a:t>
            </a:r>
          </a:p>
        </p:txBody>
      </p:sp>
      <p:sp>
        <p:nvSpPr>
          <p:cNvPr id="9" name="矩形 8">
            <a:extLst>
              <a:ext uri="{FF2B5EF4-FFF2-40B4-BE49-F238E27FC236}">
                <a16:creationId xmlns:a16="http://schemas.microsoft.com/office/drawing/2014/main" id="{B2E398BA-9379-5032-5BC5-456D76A8F7B2}"/>
              </a:ext>
            </a:extLst>
          </p:cNvPr>
          <p:cNvSpPr>
            <a:spLocks noChangeArrowheads="1"/>
          </p:cNvSpPr>
          <p:nvPr/>
        </p:nvSpPr>
        <p:spPr bwMode="auto">
          <a:xfrm>
            <a:off x="611188" y="5084763"/>
            <a:ext cx="49053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C00000"/>
                </a:solidFill>
              </a:rPr>
              <a:t>文件目录占据：</a:t>
            </a:r>
            <a:r>
              <a:rPr lang="en-US" altLang="zh-CN" sz="2400">
                <a:solidFill>
                  <a:srgbClr val="C00000"/>
                </a:solidFill>
              </a:rPr>
              <a:t>3200/16=200</a:t>
            </a:r>
            <a:r>
              <a:rPr lang="zh-CN" altLang="en-US" sz="2400">
                <a:solidFill>
                  <a:srgbClr val="C00000"/>
                </a:solidFill>
              </a:rPr>
              <a:t>个盘块</a:t>
            </a:r>
            <a:endParaRPr lang="en-US" altLang="zh-CN" sz="2400">
              <a:solidFill>
                <a:srgbClr val="C00000"/>
              </a:solidFill>
            </a:endParaRPr>
          </a:p>
        </p:txBody>
      </p:sp>
      <p:sp>
        <p:nvSpPr>
          <p:cNvPr id="10" name="矩形 9">
            <a:extLst>
              <a:ext uri="{FF2B5EF4-FFF2-40B4-BE49-F238E27FC236}">
                <a16:creationId xmlns:a16="http://schemas.microsoft.com/office/drawing/2014/main" id="{A322E86A-17A3-6281-0E13-42728244369C}"/>
              </a:ext>
            </a:extLst>
          </p:cNvPr>
          <p:cNvSpPr>
            <a:spLocks noChangeArrowheads="1"/>
          </p:cNvSpPr>
          <p:nvPr/>
        </p:nvSpPr>
        <p:spPr bwMode="auto">
          <a:xfrm>
            <a:off x="611188" y="5559425"/>
            <a:ext cx="47450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C00000"/>
                </a:solidFill>
              </a:rPr>
              <a:t>平均调度块数</a:t>
            </a:r>
            <a:r>
              <a:rPr lang="zh-CN" altLang="en-US" sz="2400">
                <a:solidFill>
                  <a:srgbClr val="C00000"/>
                </a:solidFill>
                <a:sym typeface="Wingdings" panose="05000000000000000000" pitchFamily="2" charset="2"/>
              </a:rPr>
              <a:t>：</a:t>
            </a:r>
            <a:r>
              <a:rPr lang="en-US" altLang="zh-CN" sz="2400">
                <a:solidFill>
                  <a:srgbClr val="C00000"/>
                </a:solidFill>
                <a:sym typeface="Wingdings" panose="05000000000000000000" pitchFamily="2" charset="2"/>
              </a:rPr>
              <a:t>(1+200)</a:t>
            </a:r>
            <a:r>
              <a:rPr lang="en-US" altLang="zh-CN" sz="2400">
                <a:solidFill>
                  <a:srgbClr val="C00000"/>
                </a:solidFill>
              </a:rPr>
              <a:t>/2=100.5</a:t>
            </a:r>
            <a:r>
              <a:rPr lang="zh-CN" altLang="en-US" sz="2400">
                <a:solidFill>
                  <a:srgbClr val="C00000"/>
                </a:solidFill>
              </a:rPr>
              <a:t>次</a:t>
            </a:r>
            <a:endParaRPr lang="en-US" altLang="zh-CN" sz="2400">
              <a:solidFill>
                <a:srgbClr val="C00000"/>
              </a:solidFill>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内容占位符 2">
            <a:extLst>
              <a:ext uri="{FF2B5EF4-FFF2-40B4-BE49-F238E27FC236}">
                <a16:creationId xmlns:a16="http://schemas.microsoft.com/office/drawing/2014/main" id="{F7AEED0C-A953-73DC-1EEE-6A48659926EA}"/>
              </a:ext>
            </a:extLst>
          </p:cNvPr>
          <p:cNvSpPr>
            <a:spLocks noGrp="1" noChangeArrowheads="1"/>
          </p:cNvSpPr>
          <p:nvPr>
            <p:ph idx="1"/>
          </p:nvPr>
        </p:nvSpPr>
        <p:spPr>
          <a:xfrm>
            <a:off x="357188" y="1125538"/>
            <a:ext cx="8429625" cy="5518150"/>
          </a:xfrm>
        </p:spPr>
        <p:txBody>
          <a:bodyPr/>
          <a:lstStyle/>
          <a:p>
            <a:pPr>
              <a:lnSpc>
                <a:spcPct val="110000"/>
              </a:lnSpc>
              <a:spcBef>
                <a:spcPts val="600"/>
              </a:spcBef>
              <a:buFontTx/>
              <a:buNone/>
            </a:pPr>
            <a:r>
              <a:rPr lang="en-US" altLang="zh-CN" sz="2800" b="1">
                <a:solidFill>
                  <a:schemeClr val="accent2"/>
                </a:solidFill>
              </a:rPr>
              <a:t>UNIX</a:t>
            </a:r>
            <a:r>
              <a:rPr lang="zh-CN" altLang="en-US" sz="2800" b="1">
                <a:solidFill>
                  <a:schemeClr val="accent2"/>
                </a:solidFill>
              </a:rPr>
              <a:t>系统中</a:t>
            </a:r>
            <a:endParaRPr lang="en-US" altLang="zh-CN" sz="2800" b="1">
              <a:solidFill>
                <a:schemeClr val="accent2"/>
              </a:solidFill>
            </a:endParaRPr>
          </a:p>
          <a:p>
            <a:pPr>
              <a:lnSpc>
                <a:spcPct val="110000"/>
              </a:lnSpc>
              <a:spcBef>
                <a:spcPts val="600"/>
              </a:spcBef>
            </a:pPr>
            <a:r>
              <a:rPr lang="zh-CN" altLang="en-US" sz="2800"/>
              <a:t>将</a:t>
            </a:r>
            <a:r>
              <a:rPr lang="en-US" altLang="zh-CN" sz="2800"/>
              <a:t>FCB</a:t>
            </a:r>
            <a:r>
              <a:rPr lang="zh-CN" altLang="en-US" sz="2800"/>
              <a:t>分为  </a:t>
            </a:r>
          </a:p>
          <a:p>
            <a:pPr lvl="1">
              <a:lnSpc>
                <a:spcPct val="110000"/>
              </a:lnSpc>
              <a:spcBef>
                <a:spcPts val="600"/>
              </a:spcBef>
            </a:pPr>
            <a:r>
              <a:rPr lang="zh-CN" altLang="en-US" sz="2400"/>
              <a:t>文件名、</a:t>
            </a:r>
            <a:r>
              <a:rPr lang="en-US" altLang="zh-CN" sz="2400"/>
              <a:t>i</a:t>
            </a:r>
            <a:r>
              <a:rPr lang="zh-CN" altLang="en-US" sz="2400"/>
              <a:t>（</a:t>
            </a:r>
            <a:r>
              <a:rPr lang="en-US" altLang="zh-CN" sz="2400"/>
              <a:t>index)</a:t>
            </a:r>
            <a:r>
              <a:rPr lang="zh-CN" altLang="en-US" sz="2400"/>
              <a:t>节点指针和相应的</a:t>
            </a:r>
            <a:r>
              <a:rPr lang="en-US" altLang="zh-CN" sz="2400"/>
              <a:t>i</a:t>
            </a:r>
            <a:r>
              <a:rPr lang="zh-CN" altLang="en-US" sz="2400"/>
              <a:t>节点，其中文件名和</a:t>
            </a:r>
            <a:r>
              <a:rPr lang="en-US" altLang="zh-CN" sz="2400"/>
              <a:t>i</a:t>
            </a:r>
            <a:r>
              <a:rPr lang="zh-CN" altLang="en-US" sz="2400"/>
              <a:t>节点指针占</a:t>
            </a:r>
            <a:r>
              <a:rPr lang="en-US" altLang="zh-CN" sz="2400"/>
              <a:t>16</a:t>
            </a:r>
            <a:r>
              <a:rPr lang="zh-CN" altLang="en-US" sz="2400"/>
              <a:t>字节</a:t>
            </a:r>
            <a:r>
              <a:rPr lang="en-US" altLang="zh-CN" sz="2400"/>
              <a:t>（14+2）</a:t>
            </a:r>
          </a:p>
          <a:p>
            <a:pPr>
              <a:lnSpc>
                <a:spcPct val="110000"/>
              </a:lnSpc>
              <a:spcBef>
                <a:spcPts val="600"/>
              </a:spcBef>
            </a:pPr>
            <a:r>
              <a:rPr lang="zh-CN" altLang="en-US"/>
              <a:t> </a:t>
            </a:r>
            <a:r>
              <a:rPr lang="zh-CN" altLang="en-US" sz="2800"/>
              <a:t>离散存放目录结构</a:t>
            </a:r>
            <a:endParaRPr lang="zh-CN" altLang="en-US"/>
          </a:p>
          <a:p>
            <a:pPr lvl="1">
              <a:lnSpc>
                <a:spcPct val="110000"/>
              </a:lnSpc>
              <a:spcBef>
                <a:spcPts val="600"/>
              </a:spcBef>
            </a:pPr>
            <a:r>
              <a:rPr lang="zh-CN" altLang="en-US" sz="2400"/>
              <a:t>查询时只调入文件名部分，找到后才调入相应节点。</a:t>
            </a:r>
            <a:endParaRPr lang="zh-CN" altLang="en-US"/>
          </a:p>
        </p:txBody>
      </p:sp>
      <p:sp>
        <p:nvSpPr>
          <p:cNvPr id="44035" name="矩形 3">
            <a:extLst>
              <a:ext uri="{FF2B5EF4-FFF2-40B4-BE49-F238E27FC236}">
                <a16:creationId xmlns:a16="http://schemas.microsoft.com/office/drawing/2014/main" id="{C4316CED-5FCF-459A-B492-83AD11E122A8}"/>
              </a:ext>
            </a:extLst>
          </p:cNvPr>
          <p:cNvSpPr>
            <a:spLocks noChangeArrowheads="1"/>
          </p:cNvSpPr>
          <p:nvPr/>
        </p:nvSpPr>
        <p:spPr bwMode="auto">
          <a:xfrm>
            <a:off x="285750" y="547688"/>
            <a:ext cx="28463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、索引结点</a:t>
            </a:r>
          </a:p>
        </p:txBody>
      </p:sp>
      <p:graphicFrame>
        <p:nvGraphicFramePr>
          <p:cNvPr id="4" name="Group 29">
            <a:extLst>
              <a:ext uri="{FF2B5EF4-FFF2-40B4-BE49-F238E27FC236}">
                <a16:creationId xmlns:a16="http://schemas.microsoft.com/office/drawing/2014/main" id="{8C316733-378A-FA55-CFAC-EBE7AE88AD6D}"/>
              </a:ext>
            </a:extLst>
          </p:cNvPr>
          <p:cNvGraphicFramePr>
            <a:graphicFrameLocks noGrp="1"/>
          </p:cNvGraphicFramePr>
          <p:nvPr/>
        </p:nvGraphicFramePr>
        <p:xfrm>
          <a:off x="2286000" y="4214813"/>
          <a:ext cx="4776788" cy="1981200"/>
        </p:xfrm>
        <a:graphic>
          <a:graphicData uri="http://schemas.openxmlformats.org/drawingml/2006/table">
            <a:tbl>
              <a:tblPr/>
              <a:tblGrid>
                <a:gridCol w="2388394">
                  <a:extLst>
                    <a:ext uri="{9D8B030D-6E8A-4147-A177-3AD203B41FA5}">
                      <a16:colId xmlns:a16="http://schemas.microsoft.com/office/drawing/2014/main" val="20000"/>
                    </a:ext>
                  </a:extLst>
                </a:gridCol>
                <a:gridCol w="2388394">
                  <a:extLst>
                    <a:ext uri="{9D8B030D-6E8A-4147-A177-3AD203B41FA5}">
                      <a16:colId xmlns:a16="http://schemas.microsoft.com/office/drawing/2014/main" val="20001"/>
                    </a:ext>
                  </a:extLst>
                </a:gridCol>
              </a:tblGrid>
              <a:tr h="3907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Times New Roman" pitchFamily="18" charset="0"/>
                          <a:ea typeface="宋体" pitchFamily="2" charset="-122"/>
                        </a:rPr>
                        <a:t>文件名</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itchFamily="18" charset="0"/>
                          <a:ea typeface="宋体" pitchFamily="2" charset="-122"/>
                        </a:rPr>
                        <a:t>索引结点编号</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176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itchFamily="18" charset="0"/>
                          <a:ea typeface="宋体" pitchFamily="2" charset="-122"/>
                        </a:rPr>
                        <a:t>文件名</a:t>
                      </a:r>
                      <a:r>
                        <a:rPr kumimoji="1"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07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Times New Roman" pitchFamily="18" charset="0"/>
                          <a:ea typeface="宋体" pitchFamily="2" charset="-122"/>
                        </a:rPr>
                        <a:t>文件名</a:t>
                      </a:r>
                      <a:r>
                        <a:rPr kumimoji="1" lang="en-US" altLang="zh-CN" sz="2000" b="0" i="0" u="none" strike="noStrike" cap="none" normalizeH="0" baseline="0" dirty="0">
                          <a:ln>
                            <a:noFill/>
                          </a:ln>
                          <a:solidFill>
                            <a:schemeClr val="tx1"/>
                          </a:solidFill>
                          <a:effectLst/>
                          <a:latin typeface="Times New Roman" pitchFamily="18" charset="0"/>
                          <a:ea typeface="宋体"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176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075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4056" name="Text Box 30">
            <a:extLst>
              <a:ext uri="{FF2B5EF4-FFF2-40B4-BE49-F238E27FC236}">
                <a16:creationId xmlns:a16="http://schemas.microsoft.com/office/drawing/2014/main" id="{7FFCC9D4-E7FE-1D42-F009-D8BC538222C1}"/>
              </a:ext>
            </a:extLst>
          </p:cNvPr>
          <p:cNvSpPr txBox="1">
            <a:spLocks noChangeArrowheads="1"/>
          </p:cNvSpPr>
          <p:nvPr/>
        </p:nvSpPr>
        <p:spPr bwMode="auto">
          <a:xfrm rot="-5400000">
            <a:off x="3162300" y="5332413"/>
            <a:ext cx="549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t>…</a:t>
            </a:r>
          </a:p>
        </p:txBody>
      </p:sp>
      <p:sp>
        <p:nvSpPr>
          <p:cNvPr id="44057" name="Text Box 31">
            <a:extLst>
              <a:ext uri="{FF2B5EF4-FFF2-40B4-BE49-F238E27FC236}">
                <a16:creationId xmlns:a16="http://schemas.microsoft.com/office/drawing/2014/main" id="{34955E08-D08F-D2AD-7658-4C41FE02DFA9}"/>
              </a:ext>
            </a:extLst>
          </p:cNvPr>
          <p:cNvSpPr txBox="1">
            <a:spLocks noChangeArrowheads="1"/>
          </p:cNvSpPr>
          <p:nvPr/>
        </p:nvSpPr>
        <p:spPr bwMode="auto">
          <a:xfrm rot="-5400000">
            <a:off x="5575300" y="5332413"/>
            <a:ext cx="549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2400" b="1"/>
              <a:t>…</a:t>
            </a:r>
          </a:p>
        </p:txBody>
      </p:sp>
      <p:sp>
        <p:nvSpPr>
          <p:cNvPr id="44058" name="Text Box 6">
            <a:extLst>
              <a:ext uri="{FF2B5EF4-FFF2-40B4-BE49-F238E27FC236}">
                <a16:creationId xmlns:a16="http://schemas.microsoft.com/office/drawing/2014/main" id="{7959C21E-3C35-5D62-2AC2-B654B9E395DF}"/>
              </a:ext>
            </a:extLst>
          </p:cNvPr>
          <p:cNvSpPr txBox="1">
            <a:spLocks noChangeArrowheads="1"/>
          </p:cNvSpPr>
          <p:nvPr/>
        </p:nvSpPr>
        <p:spPr bwMode="auto">
          <a:xfrm>
            <a:off x="3048000" y="6215063"/>
            <a:ext cx="36242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图 </a:t>
            </a:r>
            <a:r>
              <a:rPr lang="en-US" altLang="zh-CN" sz="2400" b="1"/>
              <a:t>6-15 UNIX</a:t>
            </a:r>
            <a:r>
              <a:rPr lang="zh-CN" altLang="en-US" sz="2400" b="1"/>
              <a:t>的文件目录 </a:t>
            </a:r>
          </a:p>
        </p:txBody>
      </p:sp>
    </p:spTree>
  </p:cSld>
  <p:clrMapOvr>
    <a:masterClrMapping/>
  </p:clrMapOvr>
  <p:transition>
    <p:blinds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内容占位符 2">
            <a:extLst>
              <a:ext uri="{FF2B5EF4-FFF2-40B4-BE49-F238E27FC236}">
                <a16:creationId xmlns:a16="http://schemas.microsoft.com/office/drawing/2014/main" id="{9B7D48E4-E7FF-076E-9168-158ACE92993C}"/>
              </a:ext>
            </a:extLst>
          </p:cNvPr>
          <p:cNvSpPr txBox="1">
            <a:spLocks/>
          </p:cNvSpPr>
          <p:nvPr/>
        </p:nvSpPr>
        <p:spPr bwMode="auto">
          <a:xfrm>
            <a:off x="357188" y="1143000"/>
            <a:ext cx="8429625" cy="5500688"/>
          </a:xfrm>
          <a:prstGeom prst="rect">
            <a:avLst/>
          </a:prstGeom>
          <a:noFill/>
          <a:ln w="9525">
            <a:noFill/>
            <a:miter lim="800000"/>
            <a:headEnd/>
            <a:tailEnd/>
          </a:ln>
        </p:spPr>
        <p:txBody>
          <a:bodyPr/>
          <a:lstStyle/>
          <a:p>
            <a:pPr marL="342900" indent="-342900">
              <a:spcBef>
                <a:spcPct val="20000"/>
              </a:spcBef>
              <a:buFontTx/>
              <a:buChar char="•"/>
              <a:defRPr/>
            </a:pPr>
            <a:r>
              <a:rPr lang="zh-CN" altLang="en-US" sz="2800" b="1" dirty="0">
                <a:solidFill>
                  <a:schemeClr val="accent2"/>
                </a:solidFill>
              </a:rPr>
              <a:t>磁盘索引结点 </a:t>
            </a:r>
            <a:r>
              <a:rPr lang="zh-CN" altLang="en-US" sz="2800" dirty="0">
                <a:solidFill>
                  <a:schemeClr val="accent2"/>
                </a:solidFill>
              </a:rPr>
              <a:t>：</a:t>
            </a:r>
            <a:endParaRPr lang="en-US" altLang="zh-CN" sz="2800" dirty="0">
              <a:solidFill>
                <a:schemeClr val="accent2"/>
              </a:solidFill>
            </a:endParaRPr>
          </a:p>
          <a:p>
            <a:pPr marL="742950" lvl="1" indent="-285750">
              <a:lnSpc>
                <a:spcPct val="110000"/>
              </a:lnSpc>
              <a:spcBef>
                <a:spcPts val="600"/>
              </a:spcBef>
              <a:buFontTx/>
              <a:buChar char="–"/>
              <a:defRPr/>
            </a:pPr>
            <a:r>
              <a:rPr lang="zh-CN" altLang="en-US" b="1" dirty="0">
                <a:latin typeface="+mn-lt"/>
                <a:ea typeface="+mn-ea"/>
              </a:rPr>
              <a:t>文件主标识符：</a:t>
            </a:r>
            <a:r>
              <a:rPr lang="zh-CN" altLang="en-US" dirty="0">
                <a:latin typeface="+mn-lt"/>
                <a:ea typeface="+mn-ea"/>
              </a:rPr>
              <a:t>拥有文件的人或小组的标识符 </a:t>
            </a:r>
            <a:endParaRPr lang="en-US" altLang="zh-CN" dirty="0">
              <a:latin typeface="+mn-lt"/>
              <a:ea typeface="+mn-ea"/>
            </a:endParaRPr>
          </a:p>
          <a:p>
            <a:pPr marL="742950" lvl="1" indent="-285750">
              <a:lnSpc>
                <a:spcPct val="110000"/>
              </a:lnSpc>
              <a:spcBef>
                <a:spcPts val="600"/>
              </a:spcBef>
              <a:buFontTx/>
              <a:buChar char="–"/>
              <a:defRPr/>
            </a:pPr>
            <a:r>
              <a:rPr lang="zh-CN" altLang="en-US" b="1" dirty="0">
                <a:latin typeface="+mn-lt"/>
                <a:ea typeface="+mn-ea"/>
              </a:rPr>
              <a:t>文件类型：</a:t>
            </a:r>
            <a:r>
              <a:rPr lang="en-US" altLang="zh-CN" dirty="0">
                <a:latin typeface="+mn-lt"/>
                <a:ea typeface="+mn-ea"/>
              </a:rPr>
              <a:t>_</a:t>
            </a:r>
            <a:r>
              <a:rPr lang="zh-CN" altLang="en-US" dirty="0">
                <a:latin typeface="+mn-lt"/>
                <a:ea typeface="+mn-ea"/>
              </a:rPr>
              <a:t>、</a:t>
            </a:r>
            <a:r>
              <a:rPr lang="en-US" altLang="zh-CN" dirty="0">
                <a:latin typeface="+mn-lt"/>
                <a:ea typeface="+mn-ea"/>
              </a:rPr>
              <a:t>d</a:t>
            </a:r>
            <a:r>
              <a:rPr lang="zh-CN" altLang="en-US" dirty="0">
                <a:latin typeface="+mn-lt"/>
                <a:ea typeface="+mn-ea"/>
              </a:rPr>
              <a:t>、</a:t>
            </a:r>
            <a:r>
              <a:rPr lang="en-US" altLang="zh-CN" dirty="0">
                <a:latin typeface="+mn-lt"/>
                <a:ea typeface="+mn-ea"/>
              </a:rPr>
              <a:t>c</a:t>
            </a:r>
            <a:r>
              <a:rPr lang="zh-CN" altLang="en-US" dirty="0">
                <a:latin typeface="+mn-lt"/>
                <a:ea typeface="+mn-ea"/>
              </a:rPr>
              <a:t>、</a:t>
            </a:r>
            <a:r>
              <a:rPr lang="en-US" altLang="zh-CN" dirty="0">
                <a:latin typeface="+mn-lt"/>
                <a:ea typeface="+mn-ea"/>
              </a:rPr>
              <a:t>b</a:t>
            </a:r>
            <a:r>
              <a:rPr lang="zh-CN" altLang="en-US" dirty="0">
                <a:latin typeface="+mn-lt"/>
                <a:ea typeface="+mn-ea"/>
              </a:rPr>
              <a:t>、</a:t>
            </a:r>
            <a:r>
              <a:rPr lang="en-US" altLang="zh-CN" dirty="0">
                <a:latin typeface="+mn-lt"/>
                <a:ea typeface="+mn-ea"/>
              </a:rPr>
              <a:t>p</a:t>
            </a:r>
            <a:r>
              <a:rPr lang="zh-CN" altLang="en-US" dirty="0">
                <a:latin typeface="+mn-lt"/>
                <a:ea typeface="+mn-ea"/>
              </a:rPr>
              <a:t>、</a:t>
            </a:r>
            <a:r>
              <a:rPr lang="en-US" altLang="zh-CN" dirty="0">
                <a:latin typeface="+mn-lt"/>
                <a:ea typeface="+mn-ea"/>
              </a:rPr>
              <a:t>l</a:t>
            </a:r>
            <a:r>
              <a:rPr lang="zh-CN" altLang="en-US" dirty="0">
                <a:latin typeface="+mn-lt"/>
                <a:ea typeface="+mn-ea"/>
              </a:rPr>
              <a:t>、</a:t>
            </a:r>
            <a:r>
              <a:rPr lang="en-US" altLang="zh-CN" dirty="0">
                <a:latin typeface="+mn-lt"/>
                <a:ea typeface="+mn-ea"/>
              </a:rPr>
              <a:t>s</a:t>
            </a:r>
            <a:r>
              <a:rPr lang="zh-CN" altLang="en-US" dirty="0">
                <a:latin typeface="+mn-lt"/>
                <a:ea typeface="+mn-ea"/>
              </a:rPr>
              <a:t>等</a:t>
            </a:r>
            <a:endParaRPr lang="en-US" altLang="zh-CN" dirty="0">
              <a:latin typeface="+mn-lt"/>
              <a:ea typeface="+mn-ea"/>
            </a:endParaRPr>
          </a:p>
          <a:p>
            <a:pPr marL="742950" lvl="1" indent="-285750">
              <a:lnSpc>
                <a:spcPct val="110000"/>
              </a:lnSpc>
              <a:spcBef>
                <a:spcPts val="600"/>
              </a:spcBef>
              <a:buFontTx/>
              <a:buChar char="–"/>
              <a:defRPr/>
            </a:pPr>
            <a:r>
              <a:rPr lang="zh-CN" altLang="en-US" b="1" dirty="0">
                <a:latin typeface="+mn-lt"/>
                <a:ea typeface="+mn-ea"/>
              </a:rPr>
              <a:t>文件存取权限 </a:t>
            </a:r>
            <a:r>
              <a:rPr lang="zh-CN" altLang="en-US" dirty="0">
                <a:latin typeface="+mn-lt"/>
                <a:ea typeface="+mn-ea"/>
              </a:rPr>
              <a:t>：</a:t>
            </a:r>
            <a:r>
              <a:rPr lang="en-US" altLang="zh-CN" dirty="0" err="1">
                <a:latin typeface="+mn-lt"/>
                <a:ea typeface="+mn-ea"/>
              </a:rPr>
              <a:t>rwx</a:t>
            </a:r>
            <a:endParaRPr lang="en-US" altLang="zh-CN" dirty="0">
              <a:latin typeface="+mn-lt"/>
              <a:ea typeface="+mn-ea"/>
            </a:endParaRPr>
          </a:p>
          <a:p>
            <a:pPr marL="742950" lvl="1" indent="-285750">
              <a:lnSpc>
                <a:spcPct val="110000"/>
              </a:lnSpc>
              <a:spcBef>
                <a:spcPts val="600"/>
              </a:spcBef>
              <a:buFontTx/>
              <a:buChar char="–"/>
              <a:defRPr/>
            </a:pPr>
            <a:r>
              <a:rPr lang="zh-CN" altLang="en-US" b="1" dirty="0">
                <a:latin typeface="+mn-lt"/>
                <a:ea typeface="+mn-ea"/>
              </a:rPr>
              <a:t>文件物理地址：</a:t>
            </a:r>
            <a:r>
              <a:rPr lang="zh-CN" altLang="en-US" dirty="0">
                <a:latin typeface="+mn-lt"/>
                <a:ea typeface="+mn-ea"/>
              </a:rPr>
              <a:t>含有</a:t>
            </a:r>
            <a:r>
              <a:rPr lang="en-US" altLang="zh-CN" dirty="0">
                <a:latin typeface="+mn-lt"/>
                <a:ea typeface="+mn-ea"/>
              </a:rPr>
              <a:t>13</a:t>
            </a:r>
            <a:r>
              <a:rPr lang="zh-CN" altLang="en-US" dirty="0">
                <a:latin typeface="+mn-lt"/>
                <a:ea typeface="+mn-ea"/>
              </a:rPr>
              <a:t>个地址项，</a:t>
            </a:r>
            <a:r>
              <a:rPr lang="en-US" altLang="zh-CN" dirty="0" err="1">
                <a:latin typeface="+mn-lt"/>
                <a:ea typeface="+mn-ea"/>
              </a:rPr>
              <a:t>iaddr</a:t>
            </a:r>
            <a:r>
              <a:rPr lang="en-US" altLang="zh-CN" dirty="0">
                <a:latin typeface="+mn-lt"/>
                <a:ea typeface="+mn-ea"/>
              </a:rPr>
              <a:t>(0)~</a:t>
            </a:r>
            <a:r>
              <a:rPr lang="en-US" altLang="zh-CN" dirty="0" err="1">
                <a:latin typeface="+mn-lt"/>
                <a:ea typeface="+mn-ea"/>
              </a:rPr>
              <a:t>iaddr</a:t>
            </a:r>
            <a:r>
              <a:rPr lang="en-US" altLang="zh-CN" dirty="0">
                <a:latin typeface="+mn-lt"/>
                <a:ea typeface="+mn-ea"/>
              </a:rPr>
              <a:t>(12)</a:t>
            </a:r>
            <a:r>
              <a:rPr lang="zh-CN" altLang="en-US" dirty="0">
                <a:latin typeface="+mn-lt"/>
                <a:ea typeface="+mn-ea"/>
              </a:rPr>
              <a:t> </a:t>
            </a:r>
            <a:endParaRPr lang="en-US" altLang="zh-CN" dirty="0">
              <a:latin typeface="+mn-lt"/>
              <a:ea typeface="+mn-ea"/>
            </a:endParaRPr>
          </a:p>
          <a:p>
            <a:pPr marL="742950" lvl="1" indent="-285750">
              <a:lnSpc>
                <a:spcPct val="110000"/>
              </a:lnSpc>
              <a:spcBef>
                <a:spcPts val="600"/>
              </a:spcBef>
              <a:buFontTx/>
              <a:buChar char="–"/>
              <a:defRPr/>
            </a:pPr>
            <a:r>
              <a:rPr lang="zh-CN" altLang="en-US" b="1" dirty="0">
                <a:latin typeface="+mn-lt"/>
                <a:ea typeface="+mn-ea"/>
              </a:rPr>
              <a:t>文件长度：</a:t>
            </a:r>
            <a:r>
              <a:rPr lang="zh-CN" altLang="en-US" dirty="0">
                <a:latin typeface="+mn-lt"/>
                <a:ea typeface="+mn-ea"/>
              </a:rPr>
              <a:t>以字节为单位</a:t>
            </a:r>
          </a:p>
          <a:p>
            <a:pPr marL="742950" lvl="1" indent="-285750">
              <a:lnSpc>
                <a:spcPct val="110000"/>
              </a:lnSpc>
              <a:spcBef>
                <a:spcPts val="600"/>
              </a:spcBef>
              <a:buFontTx/>
              <a:buChar char="–"/>
              <a:defRPr/>
            </a:pPr>
            <a:r>
              <a:rPr lang="zh-CN" altLang="en-US" b="1" dirty="0">
                <a:latin typeface="+mn-lt"/>
                <a:ea typeface="+mn-ea"/>
              </a:rPr>
              <a:t>文件连接计数：</a:t>
            </a:r>
            <a:r>
              <a:rPr lang="zh-CN" altLang="en-US" dirty="0">
                <a:latin typeface="+mn-lt"/>
                <a:ea typeface="+mn-ea"/>
              </a:rPr>
              <a:t>所有指向该文件名的指针计数</a:t>
            </a:r>
            <a:endParaRPr lang="en-US" altLang="zh-CN" dirty="0">
              <a:latin typeface="+mn-lt"/>
              <a:ea typeface="+mn-ea"/>
            </a:endParaRPr>
          </a:p>
          <a:p>
            <a:pPr marL="742950" lvl="1" indent="-285750">
              <a:lnSpc>
                <a:spcPct val="110000"/>
              </a:lnSpc>
              <a:spcBef>
                <a:spcPts val="600"/>
              </a:spcBef>
              <a:buFontTx/>
              <a:buChar char="–"/>
              <a:defRPr/>
            </a:pPr>
            <a:r>
              <a:rPr lang="zh-CN" altLang="en-US" b="1" dirty="0">
                <a:latin typeface="+mn-lt"/>
                <a:ea typeface="+mn-ea"/>
              </a:rPr>
              <a:t>文件存取时间 ：</a:t>
            </a:r>
            <a:r>
              <a:rPr lang="zh-CN" altLang="en-US" dirty="0">
                <a:latin typeface="+mn-lt"/>
                <a:ea typeface="+mn-ea"/>
              </a:rPr>
              <a:t>文件最近被访问、修改等的时间</a:t>
            </a:r>
            <a:endParaRPr lang="en-US" altLang="zh-CN" dirty="0">
              <a:latin typeface="+mn-lt"/>
              <a:ea typeface="+mn-ea"/>
            </a:endParaRPr>
          </a:p>
        </p:txBody>
      </p:sp>
      <p:sp>
        <p:nvSpPr>
          <p:cNvPr id="45059" name="矩形 3">
            <a:extLst>
              <a:ext uri="{FF2B5EF4-FFF2-40B4-BE49-F238E27FC236}">
                <a16:creationId xmlns:a16="http://schemas.microsoft.com/office/drawing/2014/main" id="{A9CDDBE5-FC4C-3241-2ADB-1AF90C3DE3B1}"/>
              </a:ext>
            </a:extLst>
          </p:cNvPr>
          <p:cNvSpPr>
            <a:spLocks noChangeArrowheads="1"/>
          </p:cNvSpPr>
          <p:nvPr/>
        </p:nvSpPr>
        <p:spPr bwMode="auto">
          <a:xfrm>
            <a:off x="285750" y="547688"/>
            <a:ext cx="28463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、索引结点</a:t>
            </a:r>
          </a:p>
        </p:txBody>
      </p:sp>
    </p:spTree>
  </p:cSld>
  <p:clrMapOvr>
    <a:masterClrMapping/>
  </p:clrMapOvr>
  <p:transition>
    <p:blinds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内容占位符 2">
            <a:extLst>
              <a:ext uri="{FF2B5EF4-FFF2-40B4-BE49-F238E27FC236}">
                <a16:creationId xmlns:a16="http://schemas.microsoft.com/office/drawing/2014/main" id="{B1FC7938-A9B1-5CFB-6553-10881C0A2E3B}"/>
              </a:ext>
            </a:extLst>
          </p:cNvPr>
          <p:cNvSpPr txBox="1">
            <a:spLocks/>
          </p:cNvSpPr>
          <p:nvPr/>
        </p:nvSpPr>
        <p:spPr bwMode="auto">
          <a:xfrm>
            <a:off x="357188" y="1143000"/>
            <a:ext cx="8462962" cy="5500688"/>
          </a:xfrm>
          <a:prstGeom prst="rect">
            <a:avLst/>
          </a:prstGeom>
          <a:noFill/>
          <a:ln w="9525">
            <a:noFill/>
            <a:miter lim="800000"/>
            <a:headEnd/>
            <a:tailEnd/>
          </a:ln>
        </p:spPr>
        <p:txBody>
          <a:bodyPr/>
          <a:lstStyle/>
          <a:p>
            <a:pPr marL="342900" indent="-342900">
              <a:lnSpc>
                <a:spcPct val="110000"/>
              </a:lnSpc>
              <a:spcBef>
                <a:spcPct val="20000"/>
              </a:spcBef>
              <a:buFontTx/>
              <a:buChar char="•"/>
              <a:defRPr/>
            </a:pPr>
            <a:r>
              <a:rPr lang="zh-CN" altLang="en-US" sz="2800" b="1" dirty="0">
                <a:solidFill>
                  <a:schemeClr val="accent2"/>
                </a:solidFill>
              </a:rPr>
              <a:t>内存索引结点 </a:t>
            </a:r>
            <a:r>
              <a:rPr lang="zh-CN" altLang="en-US" sz="2800" dirty="0">
                <a:solidFill>
                  <a:schemeClr val="accent2"/>
                </a:solidFill>
              </a:rPr>
              <a:t>：</a:t>
            </a:r>
            <a:endParaRPr lang="en-US" altLang="zh-CN" sz="2800" dirty="0">
              <a:solidFill>
                <a:schemeClr val="accent2"/>
              </a:solidFill>
            </a:endParaRPr>
          </a:p>
          <a:p>
            <a:pPr marL="342900" indent="-342900">
              <a:lnSpc>
                <a:spcPct val="110000"/>
              </a:lnSpc>
              <a:spcBef>
                <a:spcPct val="20000"/>
              </a:spcBef>
              <a:buFontTx/>
              <a:buChar char="•"/>
              <a:defRPr/>
            </a:pPr>
            <a:r>
              <a:rPr lang="zh-CN" altLang="en-US" sz="2800" dirty="0"/>
              <a:t>文件打开后，将磁盘索引结点的内容部分或全部子集拷贝到内存，并增加以下内容：</a:t>
            </a:r>
            <a:endParaRPr lang="en-US" altLang="zh-CN" sz="2800" dirty="0"/>
          </a:p>
          <a:p>
            <a:pPr marL="800100" lvl="1" indent="-342900">
              <a:lnSpc>
                <a:spcPct val="110000"/>
              </a:lnSpc>
              <a:spcBef>
                <a:spcPct val="20000"/>
              </a:spcBef>
              <a:buFontTx/>
              <a:buChar char="•"/>
              <a:defRPr/>
            </a:pPr>
            <a:r>
              <a:rPr lang="zh-CN" altLang="en-US" b="1" dirty="0">
                <a:latin typeface="+mn-lt"/>
                <a:ea typeface="+mn-ea"/>
              </a:rPr>
              <a:t>索引结点编号：</a:t>
            </a:r>
            <a:r>
              <a:rPr lang="zh-CN" altLang="en-US" dirty="0">
                <a:latin typeface="+mn-lt"/>
                <a:ea typeface="+mn-ea"/>
              </a:rPr>
              <a:t>用于标识内存索引结点；</a:t>
            </a:r>
            <a:endParaRPr lang="en-US" altLang="zh-CN" dirty="0">
              <a:latin typeface="+mn-lt"/>
              <a:ea typeface="+mn-ea"/>
            </a:endParaRPr>
          </a:p>
          <a:p>
            <a:pPr marL="800100" lvl="1" indent="-342900">
              <a:lnSpc>
                <a:spcPct val="110000"/>
              </a:lnSpc>
              <a:spcBef>
                <a:spcPct val="20000"/>
              </a:spcBef>
              <a:buFontTx/>
              <a:buChar char="•"/>
              <a:defRPr/>
            </a:pPr>
            <a:r>
              <a:rPr lang="zh-CN" altLang="en-US" b="1" dirty="0">
                <a:latin typeface="+mn-lt"/>
                <a:ea typeface="+mn-ea"/>
              </a:rPr>
              <a:t>状态：</a:t>
            </a:r>
            <a:r>
              <a:rPr lang="zh-CN" altLang="en-US" dirty="0">
                <a:latin typeface="+mn-lt"/>
                <a:ea typeface="+mn-ea"/>
              </a:rPr>
              <a:t>指示</a:t>
            </a:r>
            <a:r>
              <a:rPr lang="en-US" altLang="zh-CN" dirty="0">
                <a:latin typeface="+mn-lt"/>
                <a:ea typeface="+mn-ea"/>
              </a:rPr>
              <a:t>i</a:t>
            </a:r>
            <a:r>
              <a:rPr lang="zh-CN" altLang="en-US" dirty="0">
                <a:latin typeface="+mn-lt"/>
                <a:ea typeface="+mn-ea"/>
              </a:rPr>
              <a:t>结点是否上锁或被修改；</a:t>
            </a:r>
            <a:endParaRPr lang="en-US" altLang="zh-CN" dirty="0">
              <a:latin typeface="+mn-lt"/>
              <a:ea typeface="+mn-ea"/>
            </a:endParaRPr>
          </a:p>
          <a:p>
            <a:pPr marL="800100" lvl="1" indent="-342900">
              <a:lnSpc>
                <a:spcPct val="110000"/>
              </a:lnSpc>
              <a:spcBef>
                <a:spcPct val="20000"/>
              </a:spcBef>
              <a:buFontTx/>
              <a:buChar char="•"/>
              <a:defRPr/>
            </a:pPr>
            <a:r>
              <a:rPr lang="zh-CN" altLang="en-US" b="1" dirty="0">
                <a:latin typeface="+mn-lt"/>
                <a:ea typeface="+mn-ea"/>
              </a:rPr>
              <a:t>访问计数：</a:t>
            </a:r>
            <a:r>
              <a:rPr lang="zh-CN" altLang="en-US" dirty="0">
                <a:latin typeface="+mn-lt"/>
                <a:ea typeface="+mn-ea"/>
              </a:rPr>
              <a:t>每当有一进程要访问此</a:t>
            </a:r>
            <a:r>
              <a:rPr lang="en-US" altLang="zh-CN" dirty="0">
                <a:latin typeface="+mn-lt"/>
                <a:ea typeface="+mn-ea"/>
              </a:rPr>
              <a:t>i</a:t>
            </a:r>
            <a:r>
              <a:rPr lang="zh-CN" altLang="en-US" dirty="0">
                <a:latin typeface="+mn-lt"/>
                <a:ea typeface="+mn-ea"/>
              </a:rPr>
              <a:t>结点时，将该访问计数加</a:t>
            </a:r>
            <a:r>
              <a:rPr lang="en-US" altLang="zh-CN" dirty="0">
                <a:latin typeface="+mn-lt"/>
                <a:ea typeface="+mn-ea"/>
              </a:rPr>
              <a:t>1</a:t>
            </a:r>
            <a:r>
              <a:rPr lang="zh-CN" altLang="en-US" dirty="0">
                <a:latin typeface="+mn-lt"/>
                <a:ea typeface="+mn-ea"/>
              </a:rPr>
              <a:t>，访问完再减</a:t>
            </a:r>
            <a:r>
              <a:rPr lang="en-US" altLang="zh-CN" dirty="0">
                <a:latin typeface="+mn-lt"/>
                <a:ea typeface="+mn-ea"/>
              </a:rPr>
              <a:t>1</a:t>
            </a:r>
            <a:r>
              <a:rPr lang="zh-CN" altLang="en-US" dirty="0">
                <a:latin typeface="+mn-lt"/>
                <a:ea typeface="+mn-ea"/>
              </a:rPr>
              <a:t> ；</a:t>
            </a:r>
            <a:endParaRPr lang="en-US" altLang="zh-CN" dirty="0">
              <a:latin typeface="+mn-lt"/>
              <a:ea typeface="+mn-ea"/>
            </a:endParaRPr>
          </a:p>
          <a:p>
            <a:pPr marL="800100" lvl="1" indent="-342900">
              <a:lnSpc>
                <a:spcPct val="110000"/>
              </a:lnSpc>
              <a:spcBef>
                <a:spcPct val="20000"/>
              </a:spcBef>
              <a:buFontTx/>
              <a:buChar char="•"/>
              <a:defRPr/>
            </a:pPr>
            <a:r>
              <a:rPr lang="zh-CN" altLang="en-US" b="1" dirty="0">
                <a:latin typeface="+mn-lt"/>
                <a:ea typeface="+mn-ea"/>
              </a:rPr>
              <a:t>文件所属文件系统的逻辑设备号 ；</a:t>
            </a:r>
            <a:endParaRPr lang="en-US" altLang="zh-CN" b="1" dirty="0">
              <a:latin typeface="+mn-lt"/>
              <a:ea typeface="+mn-ea"/>
            </a:endParaRPr>
          </a:p>
          <a:p>
            <a:pPr marL="800100" lvl="1" indent="-342900">
              <a:lnSpc>
                <a:spcPct val="110000"/>
              </a:lnSpc>
              <a:spcBef>
                <a:spcPct val="20000"/>
              </a:spcBef>
              <a:buFontTx/>
              <a:buChar char="•"/>
              <a:defRPr/>
            </a:pPr>
            <a:r>
              <a:rPr lang="zh-CN" altLang="en-US" b="1" dirty="0">
                <a:latin typeface="+mn-lt"/>
                <a:ea typeface="+mn-ea"/>
              </a:rPr>
              <a:t>链接指针：</a:t>
            </a:r>
            <a:r>
              <a:rPr lang="zh-CN" altLang="en-US" dirty="0">
                <a:latin typeface="+mn-lt"/>
                <a:ea typeface="+mn-ea"/>
              </a:rPr>
              <a:t>设置有分别指向空闲链表和散列队列的指针。</a:t>
            </a:r>
            <a:endParaRPr lang="en-US" altLang="zh-CN" dirty="0">
              <a:latin typeface="+mn-lt"/>
              <a:ea typeface="+mn-ea"/>
            </a:endParaRPr>
          </a:p>
        </p:txBody>
      </p:sp>
      <p:sp>
        <p:nvSpPr>
          <p:cNvPr id="46083" name="矩形 3">
            <a:extLst>
              <a:ext uri="{FF2B5EF4-FFF2-40B4-BE49-F238E27FC236}">
                <a16:creationId xmlns:a16="http://schemas.microsoft.com/office/drawing/2014/main" id="{E7B06D9D-150A-8B09-0C38-51A6C0FFB7F7}"/>
              </a:ext>
            </a:extLst>
          </p:cNvPr>
          <p:cNvSpPr>
            <a:spLocks noChangeArrowheads="1"/>
          </p:cNvSpPr>
          <p:nvPr/>
        </p:nvSpPr>
        <p:spPr bwMode="auto">
          <a:xfrm>
            <a:off x="285750" y="547688"/>
            <a:ext cx="28463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b="1">
                <a:solidFill>
                  <a:srgbClr val="C00000"/>
                </a:solidFill>
                <a:latin typeface="Arial" panose="020B0604020202020204" pitchFamily="34" charset="0"/>
              </a:rPr>
              <a:t>2</a:t>
            </a:r>
            <a:r>
              <a:rPr kumimoji="0" lang="zh-CN" altLang="en-US" b="1">
                <a:solidFill>
                  <a:srgbClr val="C00000"/>
                </a:solidFill>
                <a:latin typeface="Arial" panose="020B0604020202020204" pitchFamily="34" charset="0"/>
              </a:rPr>
              <a:t>、索引结点</a:t>
            </a:r>
          </a:p>
        </p:txBody>
      </p:sp>
    </p:spTree>
  </p:cSld>
  <p:clrMapOvr>
    <a:masterClrMapping/>
  </p:clrMapOvr>
  <p:transition>
    <p:blinds dir="vert"/>
  </p:transition>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6600"/>
      </a:hlink>
      <a:folHlink>
        <a:srgbClr val="009900"/>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5672</TotalTime>
  <Words>2631</Words>
  <Application>Microsoft Office PowerPoint</Application>
  <PresentationFormat>全屏显示(4:3)</PresentationFormat>
  <Paragraphs>287</Paragraphs>
  <Slides>40</Slides>
  <Notes>3</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40</vt:i4>
      </vt:variant>
    </vt:vector>
  </HeadingPairs>
  <TitlesOfParts>
    <vt:vector size="53" baseType="lpstr">
      <vt:lpstr>Times New Roman</vt:lpstr>
      <vt:lpstr>宋体</vt:lpstr>
      <vt:lpstr>Arial</vt:lpstr>
      <vt:lpstr>Calibri</vt:lpstr>
      <vt:lpstr>华文行楷</vt:lpstr>
      <vt:lpstr>楷体_GB2312</vt:lpstr>
      <vt:lpstr>华文新魏</vt:lpstr>
      <vt:lpstr>Tahoma</vt:lpstr>
      <vt:lpstr>Wingdings</vt:lpstr>
      <vt:lpstr>默认设计模板</vt:lpstr>
      <vt:lpstr>Visio</vt:lpstr>
      <vt:lpstr>MathType 6.0 Equation</vt:lpstr>
      <vt:lpstr>VISIO</vt:lpstr>
      <vt:lpstr>第七章  文件管理</vt:lpstr>
      <vt:lpstr>PowerPoint 演示文稿</vt:lpstr>
      <vt:lpstr>概  述</vt:lpstr>
      <vt:lpstr>概  述</vt:lpstr>
      <vt:lpstr>PowerPoint 演示文稿</vt:lpstr>
      <vt:lpstr>7.1 文件和文件系统</vt:lpstr>
      <vt:lpstr>7.1.1数据项、记录和文件</vt:lpstr>
      <vt:lpstr>PowerPoint 演示文稿</vt:lpstr>
      <vt:lpstr>PowerPoint 演示文稿</vt:lpstr>
      <vt:lpstr>7.1.2 文件名和类型</vt:lpstr>
      <vt:lpstr>PowerPoint 演示文稿</vt:lpstr>
      <vt:lpstr>PowerPoint 演示文稿</vt:lpstr>
      <vt:lpstr>PowerPoint 演示文稿</vt:lpstr>
      <vt:lpstr>PowerPoint 演示文稿</vt:lpstr>
      <vt:lpstr>PowerPoint 演示文稿</vt:lpstr>
      <vt:lpstr>7.1.4 文件操作 </vt:lpstr>
      <vt:lpstr>PowerPoint 演示文稿</vt:lpstr>
      <vt:lpstr>7.2 文件的逻辑结构</vt:lpstr>
      <vt:lpstr>7.2 文件的逻辑结构</vt:lpstr>
      <vt:lpstr>7.2.1 文件逻辑结构的类型 </vt:lpstr>
      <vt:lpstr>PowerPoint 演示文稿</vt:lpstr>
      <vt:lpstr>7.2.2  顺序文件</vt:lpstr>
      <vt:lpstr>7.2.3  记录寻址</vt:lpstr>
      <vt:lpstr>PowerPoint 演示文稿</vt:lpstr>
      <vt:lpstr>7.2.4 索引文件 </vt:lpstr>
      <vt:lpstr>PowerPoint 演示文稿</vt:lpstr>
      <vt:lpstr>7.2.5 索引顺序文件 </vt:lpstr>
      <vt:lpstr>PowerPoint 演示文稿</vt:lpstr>
      <vt:lpstr>PowerPoint 演示文稿</vt:lpstr>
      <vt:lpstr>PowerPoint 演示文稿</vt:lpstr>
      <vt:lpstr>7.2.6  直接文件和哈希文件 </vt:lpstr>
      <vt:lpstr>7.3 文件目录</vt:lpstr>
      <vt:lpstr>7.3  文件目 录 </vt:lpstr>
      <vt:lpstr>7.3.1 文件控制块和索引结点 </vt:lpstr>
      <vt:lpstr>PowerPoint 演示文稿</vt:lpstr>
      <vt:lpstr>PowerPoint 演示文稿</vt:lpstr>
      <vt:lpstr>PowerPoint 演示文稿</vt:lpstr>
      <vt:lpstr>PowerPoint 演示文稿</vt:lpstr>
      <vt:lpstr>PowerPoint 演示文稿</vt:lpstr>
      <vt:lpstr>PowerPoint 演示文稿</vt:lpstr>
    </vt:vector>
  </TitlesOfParts>
  <Company>西安火炬电脑公司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mwz2</dc:creator>
  <cp:lastModifiedBy>麦 子</cp:lastModifiedBy>
  <cp:revision>309</cp:revision>
  <dcterms:created xsi:type="dcterms:W3CDTF">2002-11-18T09:20:27Z</dcterms:created>
  <dcterms:modified xsi:type="dcterms:W3CDTF">2022-06-12T12:40:19Z</dcterms:modified>
</cp:coreProperties>
</file>