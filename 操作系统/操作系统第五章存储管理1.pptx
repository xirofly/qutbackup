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Lst>
  <p:notesMasterIdLst>
    <p:notesMasterId r:id="rId40"/>
  </p:notesMasterIdLst>
  <p:handoutMasterIdLst>
    <p:handoutMasterId r:id="rId41"/>
  </p:handoutMasterIdLst>
  <p:sldIdLst>
    <p:sldId id="289" r:id="rId4"/>
    <p:sldId id="260" r:id="rId5"/>
    <p:sldId id="295" r:id="rId6"/>
    <p:sldId id="302" r:id="rId7"/>
    <p:sldId id="328" r:id="rId8"/>
    <p:sldId id="344" r:id="rId9"/>
    <p:sldId id="346" r:id="rId10"/>
    <p:sldId id="345" r:id="rId11"/>
    <p:sldId id="363" r:id="rId12"/>
    <p:sldId id="364" r:id="rId13"/>
    <p:sldId id="365" r:id="rId14"/>
    <p:sldId id="366" r:id="rId15"/>
    <p:sldId id="367" r:id="rId16"/>
    <p:sldId id="368" r:id="rId17"/>
    <p:sldId id="369" r:id="rId18"/>
    <p:sldId id="370" r:id="rId19"/>
    <p:sldId id="371" r:id="rId20"/>
    <p:sldId id="372" r:id="rId21"/>
    <p:sldId id="373" r:id="rId22"/>
    <p:sldId id="374" r:id="rId23"/>
    <p:sldId id="375" r:id="rId24"/>
    <p:sldId id="376" r:id="rId25"/>
    <p:sldId id="377" r:id="rId26"/>
    <p:sldId id="378" r:id="rId27"/>
    <p:sldId id="379" r:id="rId28"/>
    <p:sldId id="380" r:id="rId29"/>
    <p:sldId id="381" r:id="rId30"/>
    <p:sldId id="382" r:id="rId31"/>
    <p:sldId id="383" r:id="rId32"/>
    <p:sldId id="384" r:id="rId33"/>
    <p:sldId id="385" r:id="rId34"/>
    <p:sldId id="386" r:id="rId35"/>
    <p:sldId id="387" r:id="rId36"/>
    <p:sldId id="388" r:id="rId37"/>
    <p:sldId id="389" r:id="rId38"/>
    <p:sldId id="290"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07" autoAdjust="0"/>
    <p:restoredTop sz="94757" autoAdjust="0"/>
  </p:normalViewPr>
  <p:slideViewPr>
    <p:cSldViewPr snapToGrid="0">
      <p:cViewPr varScale="1">
        <p:scale>
          <a:sx n="69" d="100"/>
          <a:sy n="69" d="100"/>
        </p:scale>
        <p:origin x="738" y="66"/>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CCB84B-6A00-4441-A8E6-9FCA71C6ADFF}" type="datetimeFigureOut">
              <a:rPr lang="zh-CN" altLang="en-US" smtClean="0"/>
              <a:t>2023-10-31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428514-98A0-40EF-8E2B-A346CE837D6C}" type="slidenum">
              <a:rPr lang="zh-CN" altLang="en-US" smtClean="0"/>
              <a:t>‹#›</a:t>
            </a:fld>
            <a:endParaRPr lang="zh-CN" altLang="en-US"/>
          </a:p>
        </p:txBody>
      </p:sp>
    </p:spTree>
    <p:extLst>
      <p:ext uri="{BB962C8B-B14F-4D97-AF65-F5344CB8AC3E}">
        <p14:creationId xmlns:p14="http://schemas.microsoft.com/office/powerpoint/2010/main" val="487677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
        <p:nvSpPr>
          <p:cNvPr id="21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7A22D08D-015A-4468-8FD6-8EC1A3ED6E35}" type="slidenum">
              <a:rPr lang="zh-CN" altLang="en-US">
                <a:latin typeface="等线" panose="02010600030101010101" pitchFamily="2" charset="-122"/>
                <a:ea typeface="等线" panose="02010600030101010101" pitchFamily="2" charset="-122"/>
              </a:rPr>
              <a:pPr fontAlgn="base">
                <a:spcBef>
                  <a:spcPct val="0"/>
                </a:spcBef>
                <a:spcAft>
                  <a:spcPct val="0"/>
                </a:spcAft>
              </a:pPr>
              <a:t>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19926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89375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88088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3633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639923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935672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160308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8944931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11404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3077156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36</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1479587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32467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3.gif"/><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5"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6" cstate="print">
            <a:extLst>
              <a:ext uri="{BEBA8EAE-BF5A-486C-A8C5-ECC9F3942E4B}">
                <a14:imgProps xmlns:a14="http://schemas.microsoft.com/office/drawing/2010/main">
                  <a14:imgLayer r:embed="rId17">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9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10"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97" r:id="rId11"/>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3"/>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7"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3.gi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3.xml"/><Relationship Id="rId1" Type="http://schemas.openxmlformats.org/officeDocument/2006/relationships/slideLayout" Target="../slideLayouts/slideLayout19.x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6.xml"/><Relationship Id="rId1" Type="http://schemas.openxmlformats.org/officeDocument/2006/relationships/slideLayout" Target="../slideLayouts/slideLayout19.xml"/><Relationship Id="rId5" Type="http://schemas.openxmlformats.org/officeDocument/2006/relationships/image" Target="../media/image10.e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9.xml"/><Relationship Id="rId1" Type="http://schemas.openxmlformats.org/officeDocument/2006/relationships/slideLayout" Target="../slideLayouts/slideLayout19.xml"/><Relationship Id="rId4" Type="http://schemas.openxmlformats.org/officeDocument/2006/relationships/image" Target="../media/image12.emf"/></Relationships>
</file>

<file path=ppt/slides/_rels/slide3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4382256" y="3187225"/>
            <a:ext cx="4279587"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第五章 存储管理</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1930331"/>
            <a:ext cx="7246275" cy="3663642"/>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4" name="组合 13"/>
          <p:cNvGrpSpPr/>
          <p:nvPr/>
        </p:nvGrpSpPr>
        <p:grpSpPr>
          <a:xfrm>
            <a:off x="3152633" y="2191302"/>
            <a:ext cx="6400776" cy="2109625"/>
            <a:chOff x="4806642" y="2317346"/>
            <a:chExt cx="5507258" cy="2109625"/>
          </a:xfrm>
        </p:grpSpPr>
        <p:sp>
          <p:nvSpPr>
            <p:cNvPr id="15" name="文本框 13"/>
            <p:cNvSpPr txBox="1">
              <a:spLocks noChangeArrowheads="1"/>
            </p:cNvSpPr>
            <p:nvPr/>
          </p:nvSpPr>
          <p:spPr bwMode="auto">
            <a:xfrm>
              <a:off x="7948242" y="2340801"/>
              <a:ext cx="19243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000" dirty="0">
                  <a:solidFill>
                    <a:srgbClr val="595959"/>
                  </a:solidFill>
                  <a:latin typeface="微软雅黑" panose="020B0503020204020204" pitchFamily="34" charset="-122"/>
                  <a:ea typeface="微软雅黑" panose="020B0503020204020204" pitchFamily="34" charset="-122"/>
                </a:rPr>
                <a:t>存储器的层次结构</a:t>
              </a:r>
            </a:p>
          </p:txBody>
        </p:sp>
        <p:sp>
          <p:nvSpPr>
            <p:cNvPr id="16" name="文本框 14"/>
            <p:cNvSpPr txBox="1">
              <a:spLocks noChangeArrowheads="1"/>
            </p:cNvSpPr>
            <p:nvPr/>
          </p:nvSpPr>
          <p:spPr bwMode="auto">
            <a:xfrm>
              <a:off x="7948242" y="2890121"/>
              <a:ext cx="19243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程序的装入和链接</a:t>
              </a:r>
            </a:p>
          </p:txBody>
        </p:sp>
        <p:sp>
          <p:nvSpPr>
            <p:cNvPr id="18" name="文本框 15"/>
            <p:cNvSpPr txBox="1">
              <a:spLocks noChangeArrowheads="1"/>
            </p:cNvSpPr>
            <p:nvPr/>
          </p:nvSpPr>
          <p:spPr bwMode="auto">
            <a:xfrm>
              <a:off x="7948242" y="3439441"/>
              <a:ext cx="23656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连续分配存储管理方式</a:t>
              </a:r>
            </a:p>
          </p:txBody>
        </p:sp>
        <p:sp>
          <p:nvSpPr>
            <p:cNvPr id="19" name="文本框 16"/>
            <p:cNvSpPr txBox="1">
              <a:spLocks noChangeArrowheads="1"/>
            </p:cNvSpPr>
            <p:nvPr/>
          </p:nvSpPr>
          <p:spPr bwMode="auto">
            <a:xfrm>
              <a:off x="7948241" y="3988761"/>
              <a:ext cx="6002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对换</a:t>
              </a:r>
            </a:p>
          </p:txBody>
        </p:sp>
        <p:sp>
          <p:nvSpPr>
            <p:cNvPr id="20" name="文本框 19"/>
            <p:cNvSpPr txBox="1"/>
            <p:nvPr/>
          </p:nvSpPr>
          <p:spPr>
            <a:xfrm>
              <a:off x="7496132" y="2317346"/>
              <a:ext cx="606287"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5.1</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7496133" y="2866666"/>
              <a:ext cx="646430"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5.2</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496132" y="341598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5.3</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7496132" y="396530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5.4</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grpSp>
          <p:nvGrpSpPr>
            <p:cNvPr id="24" name="组合 23"/>
            <p:cNvGrpSpPr/>
            <p:nvPr/>
          </p:nvGrpSpPr>
          <p:grpSpPr>
            <a:xfrm>
              <a:off x="4806642" y="2938055"/>
              <a:ext cx="2088107" cy="992892"/>
              <a:chOff x="2995095" y="2938055"/>
              <a:chExt cx="2088107" cy="992892"/>
            </a:xfrm>
          </p:grpSpPr>
          <p:grpSp>
            <p:nvGrpSpPr>
              <p:cNvPr id="25" name="组合 24"/>
              <p:cNvGrpSpPr/>
              <p:nvPr/>
            </p:nvGrpSpPr>
            <p:grpSpPr>
              <a:xfrm>
                <a:off x="2995095" y="2938055"/>
                <a:ext cx="2088107" cy="992892"/>
                <a:chOff x="3053227" y="2938055"/>
                <a:chExt cx="2088107" cy="992892"/>
              </a:xfrm>
            </p:grpSpPr>
            <p:sp>
              <p:nvSpPr>
                <p:cNvPr id="28" name="文本框 27"/>
                <p:cNvSpPr txBox="1"/>
                <p:nvPr/>
              </p:nvSpPr>
              <p:spPr>
                <a:xfrm>
                  <a:off x="3630124" y="3469282"/>
                  <a:ext cx="1274156" cy="461665"/>
                </a:xfrm>
                <a:prstGeom prst="rect">
                  <a:avLst/>
                </a:prstGeom>
                <a:noFill/>
              </p:spPr>
              <p:txBody>
                <a:bodyPr wrap="square" rtlCol="0">
                  <a:spAutoFit/>
                </a:bodyPr>
                <a:lstStyle/>
                <a:p>
                  <a:r>
                    <a:rPr lang="en-US" altLang="zh-CN" sz="2400" dirty="0">
                      <a:solidFill>
                        <a:srgbClr val="708265"/>
                      </a:solidFill>
                      <a:latin typeface="Impact" panose="020B0806030902050204" pitchFamily="34" charset="0"/>
                      <a:ea typeface="微软雅黑 Light" panose="020B0502040204020203" pitchFamily="34" charset="-122"/>
                    </a:rPr>
                    <a:t>CHAPTER</a:t>
                  </a:r>
                  <a:endParaRPr lang="zh-CN" altLang="en-US" sz="2400" dirty="0">
                    <a:solidFill>
                      <a:srgbClr val="708265"/>
                    </a:solidFill>
                    <a:latin typeface="Impact" panose="020B0806030902050204" pitchFamily="34" charset="0"/>
                    <a:ea typeface="微软雅黑 Light" panose="020B0502040204020203" pitchFamily="34" charset="-122"/>
                  </a:endParaRPr>
                </a:p>
              </p:txBody>
            </p:sp>
            <p:sp>
              <p:nvSpPr>
                <p:cNvPr id="29" name="文本框 28"/>
                <p:cNvSpPr txBox="1"/>
                <p:nvPr/>
              </p:nvSpPr>
              <p:spPr>
                <a:xfrm>
                  <a:off x="3053227" y="2938055"/>
                  <a:ext cx="2088107" cy="646331"/>
                </a:xfrm>
                <a:prstGeom prst="rect">
                  <a:avLst/>
                </a:prstGeom>
                <a:noFill/>
              </p:spPr>
              <p:txBody>
                <a:bodyPr wrap="square" rtlCol="0">
                  <a:spAutoFit/>
                </a:bodyPr>
                <a:lstStyle/>
                <a:p>
                  <a:r>
                    <a:rPr lang="zh-CN" altLang="en-US" sz="3600" dirty="0">
                      <a:solidFill>
                        <a:srgbClr val="708265"/>
                      </a:solidFill>
                      <a:latin typeface="方正清刻本悦宋简体" panose="02000000000000000000" pitchFamily="2" charset="-122"/>
                      <a:ea typeface="方正清刻本悦宋简体" panose="02000000000000000000" pitchFamily="2" charset="-122"/>
                    </a:rPr>
                    <a:t>第五章</a:t>
                  </a:r>
                </a:p>
              </p:txBody>
            </p:sp>
          </p:grpSp>
          <p:sp>
            <p:nvSpPr>
              <p:cNvPr id="26" name="L 形 25"/>
              <p:cNvSpPr/>
              <p:nvPr/>
            </p:nvSpPr>
            <p:spPr>
              <a:xfrm rot="2493705" flipH="1" flipV="1">
                <a:off x="4575036"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L 形 26"/>
              <p:cNvSpPr/>
              <p:nvPr/>
            </p:nvSpPr>
            <p:spPr>
              <a:xfrm rot="2493705" flipH="1" flipV="1">
                <a:off x="4649233"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0" name="文本框 16"/>
          <p:cNvSpPr txBox="1">
            <a:spLocks noChangeArrowheads="1"/>
          </p:cNvSpPr>
          <p:nvPr/>
        </p:nvSpPr>
        <p:spPr bwMode="auto">
          <a:xfrm>
            <a:off x="6799945" y="4327099"/>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分页存储管理方式</a:t>
            </a:r>
          </a:p>
        </p:txBody>
      </p:sp>
      <p:sp>
        <p:nvSpPr>
          <p:cNvPr id="31" name="文本框 22"/>
          <p:cNvSpPr txBox="1"/>
          <p:nvPr/>
        </p:nvSpPr>
        <p:spPr>
          <a:xfrm>
            <a:off x="6274484" y="4303644"/>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5.5</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32" name="文本框 16"/>
          <p:cNvSpPr txBox="1">
            <a:spLocks noChangeArrowheads="1"/>
          </p:cNvSpPr>
          <p:nvPr/>
        </p:nvSpPr>
        <p:spPr bwMode="auto">
          <a:xfrm>
            <a:off x="6789187" y="4800451"/>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分段存储管理方式</a:t>
            </a:r>
          </a:p>
        </p:txBody>
      </p:sp>
      <p:sp>
        <p:nvSpPr>
          <p:cNvPr id="33" name="文本框 22"/>
          <p:cNvSpPr txBox="1"/>
          <p:nvPr/>
        </p:nvSpPr>
        <p:spPr>
          <a:xfrm>
            <a:off x="6263726" y="4776996"/>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5.6</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496907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014252" y="1350729"/>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3" name="矩形 2"/>
          <p:cNvSpPr/>
          <p:nvPr/>
        </p:nvSpPr>
        <p:spPr>
          <a:xfrm>
            <a:off x="1722138" y="1350728"/>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4" name="等腰三角形 3"/>
          <p:cNvSpPr/>
          <p:nvPr/>
        </p:nvSpPr>
        <p:spPr>
          <a:xfrm rot="5400000">
            <a:off x="2363844" y="1617923"/>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1" name="圆角矩形 60"/>
          <p:cNvSpPr/>
          <p:nvPr/>
        </p:nvSpPr>
        <p:spPr>
          <a:xfrm>
            <a:off x="1014252" y="2221654"/>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4" name="矩形 63"/>
          <p:cNvSpPr/>
          <p:nvPr/>
        </p:nvSpPr>
        <p:spPr>
          <a:xfrm>
            <a:off x="1722138" y="2221653"/>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5" name="等腰三角形 64"/>
          <p:cNvSpPr/>
          <p:nvPr/>
        </p:nvSpPr>
        <p:spPr>
          <a:xfrm rot="5400000">
            <a:off x="2363844" y="2488848"/>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6" name="圆角矩形 65"/>
          <p:cNvSpPr/>
          <p:nvPr/>
        </p:nvSpPr>
        <p:spPr>
          <a:xfrm>
            <a:off x="1014252" y="3090837"/>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7" name="矩形 66"/>
          <p:cNvSpPr/>
          <p:nvPr/>
        </p:nvSpPr>
        <p:spPr>
          <a:xfrm>
            <a:off x="1722138" y="3090836"/>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8" name="等腰三角形 67"/>
          <p:cNvSpPr/>
          <p:nvPr/>
        </p:nvSpPr>
        <p:spPr>
          <a:xfrm rot="5400000">
            <a:off x="2363844" y="3358031"/>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9" name="圆角矩形 68"/>
          <p:cNvSpPr/>
          <p:nvPr/>
        </p:nvSpPr>
        <p:spPr>
          <a:xfrm>
            <a:off x="1014252" y="3975410"/>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0" name="矩形 69"/>
          <p:cNvSpPr/>
          <p:nvPr/>
        </p:nvSpPr>
        <p:spPr>
          <a:xfrm>
            <a:off x="1722138" y="3975409"/>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1" name="等腰三角形 70"/>
          <p:cNvSpPr/>
          <p:nvPr/>
        </p:nvSpPr>
        <p:spPr>
          <a:xfrm rot="5400000">
            <a:off x="2363844" y="4242604"/>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0487" name="文本框 5"/>
          <p:cNvSpPr txBox="1">
            <a:spLocks noChangeArrowheads="1"/>
          </p:cNvSpPr>
          <p:nvPr/>
        </p:nvSpPr>
        <p:spPr bwMode="auto">
          <a:xfrm>
            <a:off x="1071855" y="1449154"/>
            <a:ext cx="592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01</a:t>
            </a:r>
            <a:endParaRPr lang="zh-CN" altLang="en-US" sz="3200" dirty="0">
              <a:solidFill>
                <a:schemeClr val="bg1"/>
              </a:solidFill>
              <a:latin typeface="Impact" panose="020B0806030902050204" pitchFamily="34" charset="0"/>
            </a:endParaRPr>
          </a:p>
        </p:txBody>
      </p:sp>
      <p:sp>
        <p:nvSpPr>
          <p:cNvPr id="20488" name="文本框 71"/>
          <p:cNvSpPr txBox="1">
            <a:spLocks noChangeArrowheads="1"/>
          </p:cNvSpPr>
          <p:nvPr/>
        </p:nvSpPr>
        <p:spPr bwMode="auto">
          <a:xfrm>
            <a:off x="1071855" y="2320142"/>
            <a:ext cx="646113" cy="584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02</a:t>
            </a:r>
            <a:endParaRPr lang="zh-CN" altLang="en-US" sz="3200">
              <a:solidFill>
                <a:schemeClr val="bg1"/>
              </a:solidFill>
              <a:latin typeface="Impact" panose="020B0806030902050204" pitchFamily="34" charset="0"/>
            </a:endParaRPr>
          </a:p>
        </p:txBody>
      </p:sp>
      <p:sp>
        <p:nvSpPr>
          <p:cNvPr id="20489" name="文本框 87"/>
          <p:cNvSpPr txBox="1">
            <a:spLocks noChangeArrowheads="1"/>
          </p:cNvSpPr>
          <p:nvPr/>
        </p:nvSpPr>
        <p:spPr bwMode="auto">
          <a:xfrm>
            <a:off x="1071855" y="3188595"/>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03</a:t>
            </a:r>
            <a:endParaRPr lang="zh-CN" altLang="en-US" sz="3200" dirty="0">
              <a:solidFill>
                <a:schemeClr val="bg1"/>
              </a:solidFill>
              <a:latin typeface="Impact" panose="020B0806030902050204" pitchFamily="34" charset="0"/>
            </a:endParaRPr>
          </a:p>
        </p:txBody>
      </p:sp>
      <p:sp>
        <p:nvSpPr>
          <p:cNvPr id="20490" name="文本框 88"/>
          <p:cNvSpPr txBox="1">
            <a:spLocks noChangeArrowheads="1"/>
          </p:cNvSpPr>
          <p:nvPr/>
        </p:nvSpPr>
        <p:spPr bwMode="auto">
          <a:xfrm>
            <a:off x="1071855" y="4073231"/>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04</a:t>
            </a:r>
            <a:endParaRPr lang="zh-CN" altLang="en-US" sz="3200">
              <a:solidFill>
                <a:schemeClr val="bg1"/>
              </a:solidFill>
              <a:latin typeface="Impact" panose="020B0806030902050204" pitchFamily="34" charset="0"/>
            </a:endParaRPr>
          </a:p>
        </p:txBody>
      </p:sp>
      <p:sp>
        <p:nvSpPr>
          <p:cNvPr id="90" name="AutoShape 115"/>
          <p:cNvSpPr>
            <a:spLocks/>
          </p:cNvSpPr>
          <p:nvPr/>
        </p:nvSpPr>
        <p:spPr bwMode="auto">
          <a:xfrm>
            <a:off x="1970380" y="1520592"/>
            <a:ext cx="401638" cy="441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91" name="AutoShape 29"/>
          <p:cNvSpPr>
            <a:spLocks/>
          </p:cNvSpPr>
          <p:nvPr/>
        </p:nvSpPr>
        <p:spPr bwMode="auto">
          <a:xfrm>
            <a:off x="1970380" y="2396342"/>
            <a:ext cx="430213" cy="431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598" y="2167"/>
                </a:moveTo>
                <a:cubicBezTo>
                  <a:pt x="3598" y="2549"/>
                  <a:pt x="3517" y="2902"/>
                  <a:pt x="3358" y="3213"/>
                </a:cubicBezTo>
                <a:cubicBezTo>
                  <a:pt x="3197" y="3525"/>
                  <a:pt x="2981" y="3792"/>
                  <a:pt x="2707" y="4006"/>
                </a:cubicBezTo>
                <a:lnTo>
                  <a:pt x="2707" y="21050"/>
                </a:lnTo>
                <a:cubicBezTo>
                  <a:pt x="2707" y="21203"/>
                  <a:pt x="2663" y="21329"/>
                  <a:pt x="2580" y="21438"/>
                </a:cubicBezTo>
                <a:cubicBezTo>
                  <a:pt x="2492" y="21547"/>
                  <a:pt x="2386" y="21599"/>
                  <a:pt x="2262" y="21599"/>
                </a:cubicBezTo>
                <a:lnTo>
                  <a:pt x="1348" y="21599"/>
                </a:lnTo>
                <a:cubicBezTo>
                  <a:pt x="1221" y="21599"/>
                  <a:pt x="1118" y="21544"/>
                  <a:pt x="1038" y="21438"/>
                </a:cubicBezTo>
                <a:cubicBezTo>
                  <a:pt x="954" y="21329"/>
                  <a:pt x="913" y="21203"/>
                  <a:pt x="913" y="21050"/>
                </a:cubicBezTo>
                <a:lnTo>
                  <a:pt x="913" y="4006"/>
                </a:lnTo>
                <a:cubicBezTo>
                  <a:pt x="641" y="3792"/>
                  <a:pt x="421" y="3525"/>
                  <a:pt x="252" y="3213"/>
                </a:cubicBezTo>
                <a:cubicBezTo>
                  <a:pt x="83" y="2902"/>
                  <a:pt x="0" y="2549"/>
                  <a:pt x="0" y="2167"/>
                </a:cubicBezTo>
                <a:cubicBezTo>
                  <a:pt x="0" y="1574"/>
                  <a:pt x="176" y="1069"/>
                  <a:pt x="528" y="640"/>
                </a:cubicBezTo>
                <a:cubicBezTo>
                  <a:pt x="878" y="211"/>
                  <a:pt x="1304" y="0"/>
                  <a:pt x="1804" y="0"/>
                </a:cubicBezTo>
                <a:cubicBezTo>
                  <a:pt x="2296" y="0"/>
                  <a:pt x="2719" y="211"/>
                  <a:pt x="3069" y="640"/>
                </a:cubicBezTo>
                <a:cubicBezTo>
                  <a:pt x="3422" y="1069"/>
                  <a:pt x="3598" y="1571"/>
                  <a:pt x="3598" y="2167"/>
                </a:cubicBezTo>
                <a:moveTo>
                  <a:pt x="20838" y="2476"/>
                </a:moveTo>
                <a:cubicBezTo>
                  <a:pt x="21063" y="2323"/>
                  <a:pt x="21247" y="2297"/>
                  <a:pt x="21389" y="2391"/>
                </a:cubicBezTo>
                <a:cubicBezTo>
                  <a:pt x="21529" y="2485"/>
                  <a:pt x="21599" y="2684"/>
                  <a:pt x="21599" y="2996"/>
                </a:cubicBezTo>
                <a:lnTo>
                  <a:pt x="21599" y="13515"/>
                </a:lnTo>
                <a:cubicBezTo>
                  <a:pt x="21599" y="13803"/>
                  <a:pt x="21526" y="14106"/>
                  <a:pt x="21382" y="14420"/>
                </a:cubicBezTo>
                <a:cubicBezTo>
                  <a:pt x="21237" y="14737"/>
                  <a:pt x="21056" y="14966"/>
                  <a:pt x="20838" y="15119"/>
                </a:cubicBezTo>
                <a:cubicBezTo>
                  <a:pt x="19954" y="15757"/>
                  <a:pt x="19146" y="16165"/>
                  <a:pt x="18412" y="16350"/>
                </a:cubicBezTo>
                <a:cubicBezTo>
                  <a:pt x="17678" y="16529"/>
                  <a:pt x="17036" y="16606"/>
                  <a:pt x="16490" y="16567"/>
                </a:cubicBezTo>
                <a:cubicBezTo>
                  <a:pt x="15849" y="16526"/>
                  <a:pt x="15281" y="16371"/>
                  <a:pt x="14791" y="16103"/>
                </a:cubicBezTo>
                <a:cubicBezTo>
                  <a:pt x="14392" y="15851"/>
                  <a:pt x="14003" y="15607"/>
                  <a:pt x="13623" y="15378"/>
                </a:cubicBezTo>
                <a:cubicBezTo>
                  <a:pt x="13244" y="15146"/>
                  <a:pt x="12857" y="14946"/>
                  <a:pt x="12458" y="14773"/>
                </a:cubicBezTo>
                <a:cubicBezTo>
                  <a:pt x="12059" y="14599"/>
                  <a:pt x="11640" y="14461"/>
                  <a:pt x="11197" y="14358"/>
                </a:cubicBezTo>
                <a:cubicBezTo>
                  <a:pt x="10757" y="14256"/>
                  <a:pt x="10269" y="14203"/>
                  <a:pt x="9738" y="14203"/>
                </a:cubicBezTo>
                <a:cubicBezTo>
                  <a:pt x="9310" y="14220"/>
                  <a:pt x="8825" y="14306"/>
                  <a:pt x="8286" y="14455"/>
                </a:cubicBezTo>
                <a:cubicBezTo>
                  <a:pt x="7824" y="14588"/>
                  <a:pt x="7266" y="14799"/>
                  <a:pt x="6605" y="15090"/>
                </a:cubicBezTo>
                <a:cubicBezTo>
                  <a:pt x="5944" y="15381"/>
                  <a:pt x="5207" y="15792"/>
                  <a:pt x="4394" y="16327"/>
                </a:cubicBezTo>
                <a:cubicBezTo>
                  <a:pt x="4169" y="16476"/>
                  <a:pt x="3978" y="16494"/>
                  <a:pt x="3826" y="16382"/>
                </a:cubicBezTo>
                <a:cubicBezTo>
                  <a:pt x="3674" y="16268"/>
                  <a:pt x="3598" y="16059"/>
                  <a:pt x="3598" y="15751"/>
                </a:cubicBezTo>
                <a:lnTo>
                  <a:pt x="3598" y="5273"/>
                </a:lnTo>
                <a:cubicBezTo>
                  <a:pt x="3598" y="4964"/>
                  <a:pt x="3674" y="4653"/>
                  <a:pt x="3826" y="4347"/>
                </a:cubicBezTo>
                <a:cubicBezTo>
                  <a:pt x="3978" y="4036"/>
                  <a:pt x="4169" y="3807"/>
                  <a:pt x="4394" y="3654"/>
                </a:cubicBezTo>
                <a:cubicBezTo>
                  <a:pt x="5207" y="3143"/>
                  <a:pt x="5941" y="2737"/>
                  <a:pt x="6597" y="2447"/>
                </a:cubicBezTo>
                <a:cubicBezTo>
                  <a:pt x="7253" y="2156"/>
                  <a:pt x="7816" y="1944"/>
                  <a:pt x="8286" y="1812"/>
                </a:cubicBezTo>
                <a:cubicBezTo>
                  <a:pt x="8832" y="1665"/>
                  <a:pt x="9317" y="1580"/>
                  <a:pt x="9738" y="1559"/>
                </a:cubicBezTo>
                <a:cubicBezTo>
                  <a:pt x="10269" y="1559"/>
                  <a:pt x="10757" y="1612"/>
                  <a:pt x="11197" y="1715"/>
                </a:cubicBezTo>
                <a:cubicBezTo>
                  <a:pt x="11640" y="1818"/>
                  <a:pt x="12059" y="1956"/>
                  <a:pt x="12458" y="2135"/>
                </a:cubicBezTo>
                <a:cubicBezTo>
                  <a:pt x="12857" y="2306"/>
                  <a:pt x="13242" y="2508"/>
                  <a:pt x="13619" y="2737"/>
                </a:cubicBezTo>
                <a:cubicBezTo>
                  <a:pt x="13993" y="2967"/>
                  <a:pt x="14385" y="3207"/>
                  <a:pt x="14791" y="3463"/>
                </a:cubicBezTo>
                <a:cubicBezTo>
                  <a:pt x="15281" y="3736"/>
                  <a:pt x="15849" y="3889"/>
                  <a:pt x="16490" y="3924"/>
                </a:cubicBezTo>
                <a:cubicBezTo>
                  <a:pt x="17036" y="3965"/>
                  <a:pt x="17678" y="3889"/>
                  <a:pt x="18412" y="3707"/>
                </a:cubicBezTo>
                <a:cubicBezTo>
                  <a:pt x="19146" y="3522"/>
                  <a:pt x="19957" y="3113"/>
                  <a:pt x="20838" y="2476"/>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grpSp>
        <p:nvGrpSpPr>
          <p:cNvPr id="92" name="Group 2"/>
          <p:cNvGrpSpPr>
            <a:grpSpLocks/>
          </p:cNvGrpSpPr>
          <p:nvPr/>
        </p:nvGrpSpPr>
        <p:grpSpPr bwMode="auto">
          <a:xfrm>
            <a:off x="1969976" y="3264484"/>
            <a:ext cx="413920" cy="409944"/>
            <a:chOff x="1569458" y="688424"/>
            <a:chExt cx="334962" cy="331788"/>
          </a:xfrm>
          <a:solidFill>
            <a:srgbClr val="FFFFFF"/>
          </a:solidFill>
        </p:grpSpPr>
        <p:sp>
          <p:nvSpPr>
            <p:cNvPr id="93"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4"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5"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6"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7"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8"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grpSp>
        <p:nvGrpSpPr>
          <p:cNvPr id="99" name="Group 587"/>
          <p:cNvGrpSpPr>
            <a:grpSpLocks/>
          </p:cNvGrpSpPr>
          <p:nvPr/>
        </p:nvGrpSpPr>
        <p:grpSpPr bwMode="auto">
          <a:xfrm>
            <a:off x="1960425" y="4196458"/>
            <a:ext cx="522416" cy="461865"/>
            <a:chOff x="1530350" y="5719762"/>
            <a:chExt cx="452438" cy="400050"/>
          </a:xfrm>
          <a:solidFill>
            <a:srgbClr val="FFFFFF"/>
          </a:solidFill>
        </p:grpSpPr>
        <p:sp>
          <p:nvSpPr>
            <p:cNvPr id="100" name="Freeform 533"/>
            <p:cNvSpPr>
              <a:spLocks noChangeArrowheads="1"/>
            </p:cNvSpPr>
            <p:nvPr/>
          </p:nvSpPr>
          <p:spPr bwMode="auto">
            <a:xfrm>
              <a:off x="1593850" y="59213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1" name="Freeform 534"/>
            <p:cNvSpPr>
              <a:spLocks noChangeArrowheads="1"/>
            </p:cNvSpPr>
            <p:nvPr/>
          </p:nvSpPr>
          <p:spPr bwMode="auto">
            <a:xfrm>
              <a:off x="1593850" y="59848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2" name="Freeform 535"/>
            <p:cNvSpPr>
              <a:spLocks noChangeArrowheads="1"/>
            </p:cNvSpPr>
            <p:nvPr/>
          </p:nvSpPr>
          <p:spPr bwMode="auto">
            <a:xfrm>
              <a:off x="1663700" y="5857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3" name="Freeform 536"/>
            <p:cNvSpPr>
              <a:spLocks noChangeArrowheads="1"/>
            </p:cNvSpPr>
            <p:nvPr/>
          </p:nvSpPr>
          <p:spPr bwMode="auto">
            <a:xfrm>
              <a:off x="1663700" y="59213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4" name="Freeform 537"/>
            <p:cNvSpPr>
              <a:spLocks noChangeArrowheads="1"/>
            </p:cNvSpPr>
            <p:nvPr/>
          </p:nvSpPr>
          <p:spPr bwMode="auto">
            <a:xfrm>
              <a:off x="1663700" y="5984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5" name="Freeform 538"/>
            <p:cNvSpPr>
              <a:spLocks noChangeArrowheads="1"/>
            </p:cNvSpPr>
            <p:nvPr/>
          </p:nvSpPr>
          <p:spPr bwMode="auto">
            <a:xfrm>
              <a:off x="1530350" y="5719762"/>
              <a:ext cx="452438" cy="400050"/>
            </a:xfrm>
            <a:custGeom>
              <a:avLst/>
              <a:gdLst>
                <a:gd name="T0" fmla="*/ 1029 w 1255"/>
                <a:gd name="T1" fmla="*/ 75 h 1113"/>
                <a:gd name="T2" fmla="*/ 75 w 1255"/>
                <a:gd name="T3" fmla="*/ 0 h 1113"/>
                <a:gd name="T4" fmla="*/ 0 w 1255"/>
                <a:gd name="T5" fmla="*/ 953 h 1113"/>
                <a:gd name="T6" fmla="*/ 644 w 1255"/>
                <a:gd name="T7" fmla="*/ 1029 h 1113"/>
                <a:gd name="T8" fmla="*/ 1254 w 1255"/>
                <a:gd name="T9" fmla="*/ 736 h 1113"/>
                <a:gd name="T10" fmla="*/ 335 w 1255"/>
                <a:gd name="T11" fmla="*/ 75 h 1113"/>
                <a:gd name="T12" fmla="*/ 694 w 1255"/>
                <a:gd name="T13" fmla="*/ 167 h 1113"/>
                <a:gd name="T14" fmla="*/ 335 w 1255"/>
                <a:gd name="T15" fmla="*/ 75 h 1113"/>
                <a:gd name="T16" fmla="*/ 937 w 1255"/>
                <a:gd name="T17" fmla="*/ 251 h 1113"/>
                <a:gd name="T18" fmla="*/ 878 w 1255"/>
                <a:gd name="T19" fmla="*/ 368 h 1113"/>
                <a:gd name="T20" fmla="*/ 661 w 1255"/>
                <a:gd name="T21" fmla="*/ 385 h 1113"/>
                <a:gd name="T22" fmla="*/ 552 w 1255"/>
                <a:gd name="T23" fmla="*/ 494 h 1113"/>
                <a:gd name="T24" fmla="*/ 510 w 1255"/>
                <a:gd name="T25" fmla="*/ 736 h 1113"/>
                <a:gd name="T26" fmla="*/ 92 w 1255"/>
                <a:gd name="T27" fmla="*/ 920 h 1113"/>
                <a:gd name="T28" fmla="*/ 845 w 1255"/>
                <a:gd name="T29" fmla="*/ 435 h 1113"/>
                <a:gd name="T30" fmla="*/ 911 w 1255"/>
                <a:gd name="T31" fmla="*/ 435 h 1113"/>
                <a:gd name="T32" fmla="*/ 845 w 1255"/>
                <a:gd name="T33" fmla="*/ 435 h 1113"/>
                <a:gd name="T34" fmla="*/ 577 w 1255"/>
                <a:gd name="T35" fmla="*/ 769 h 1113"/>
                <a:gd name="T36" fmla="*/ 577 w 1255"/>
                <a:gd name="T37" fmla="*/ 703 h 1113"/>
                <a:gd name="T38" fmla="*/ 878 w 1255"/>
                <a:gd name="T39" fmla="*/ 1079 h 1113"/>
                <a:gd name="T40" fmla="*/ 878 w 1255"/>
                <a:gd name="T41" fmla="*/ 1004 h 1113"/>
                <a:gd name="T42" fmla="*/ 878 w 1255"/>
                <a:gd name="T43" fmla="*/ 1079 h 1113"/>
                <a:gd name="T44" fmla="*/ 945 w 1255"/>
                <a:gd name="T45" fmla="*/ 728 h 1113"/>
                <a:gd name="T46" fmla="*/ 878 w 1255"/>
                <a:gd name="T47" fmla="*/ 803 h 1113"/>
                <a:gd name="T48" fmla="*/ 661 w 1255"/>
                <a:gd name="T49" fmla="*/ 627 h 1113"/>
                <a:gd name="T50" fmla="*/ 694 w 1255"/>
                <a:gd name="T51" fmla="*/ 585 h 1113"/>
                <a:gd name="T52" fmla="*/ 878 w 1255"/>
                <a:gd name="T53" fmla="*/ 669 h 1113"/>
                <a:gd name="T54" fmla="*/ 1045 w 1255"/>
                <a:gd name="T55" fmla="*/ 544 h 1113"/>
                <a:gd name="T56" fmla="*/ 1087 w 1255"/>
                <a:gd name="T57" fmla="*/ 585 h 1113"/>
                <a:gd name="T58" fmla="*/ 1146 w 1255"/>
                <a:gd name="T59" fmla="*/ 736 h 1113"/>
                <a:gd name="T60" fmla="*/ 1221 w 1255"/>
                <a:gd name="T61" fmla="*/ 736 h 1113"/>
                <a:gd name="T62" fmla="*/ 1179 w 1255"/>
                <a:gd name="T63" fmla="*/ 769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5" h="1113">
                  <a:moveTo>
                    <a:pt x="1029" y="402"/>
                  </a:moveTo>
                  <a:cubicBezTo>
                    <a:pt x="1029" y="75"/>
                    <a:pt x="1029" y="75"/>
                    <a:pt x="1029" y="75"/>
                  </a:cubicBezTo>
                  <a:cubicBezTo>
                    <a:pt x="1029" y="34"/>
                    <a:pt x="995" y="0"/>
                    <a:pt x="953" y="0"/>
                  </a:cubicBezTo>
                  <a:cubicBezTo>
                    <a:pt x="75" y="0"/>
                    <a:pt x="75" y="0"/>
                    <a:pt x="75" y="0"/>
                  </a:cubicBezTo>
                  <a:cubicBezTo>
                    <a:pt x="34" y="0"/>
                    <a:pt x="0" y="34"/>
                    <a:pt x="0" y="75"/>
                  </a:cubicBezTo>
                  <a:cubicBezTo>
                    <a:pt x="0" y="953"/>
                    <a:pt x="0" y="953"/>
                    <a:pt x="0" y="953"/>
                  </a:cubicBezTo>
                  <a:cubicBezTo>
                    <a:pt x="0" y="995"/>
                    <a:pt x="34" y="1029"/>
                    <a:pt x="75" y="1029"/>
                  </a:cubicBezTo>
                  <a:cubicBezTo>
                    <a:pt x="644" y="1029"/>
                    <a:pt x="644" y="1029"/>
                    <a:pt x="644" y="1029"/>
                  </a:cubicBezTo>
                  <a:cubicBezTo>
                    <a:pt x="711" y="1079"/>
                    <a:pt x="795" y="1112"/>
                    <a:pt x="878" y="1112"/>
                  </a:cubicBezTo>
                  <a:cubicBezTo>
                    <a:pt x="1087" y="1112"/>
                    <a:pt x="1254" y="945"/>
                    <a:pt x="1254" y="736"/>
                  </a:cubicBezTo>
                  <a:cubicBezTo>
                    <a:pt x="1254" y="585"/>
                    <a:pt x="1162" y="460"/>
                    <a:pt x="1029" y="402"/>
                  </a:cubicBezTo>
                  <a:close/>
                  <a:moveTo>
                    <a:pt x="335" y="75"/>
                  </a:moveTo>
                  <a:cubicBezTo>
                    <a:pt x="694" y="75"/>
                    <a:pt x="694" y="75"/>
                    <a:pt x="694" y="75"/>
                  </a:cubicBezTo>
                  <a:cubicBezTo>
                    <a:pt x="694" y="167"/>
                    <a:pt x="694" y="167"/>
                    <a:pt x="694" y="167"/>
                  </a:cubicBezTo>
                  <a:cubicBezTo>
                    <a:pt x="335" y="167"/>
                    <a:pt x="335" y="167"/>
                    <a:pt x="335" y="167"/>
                  </a:cubicBezTo>
                  <a:lnTo>
                    <a:pt x="335" y="75"/>
                  </a:lnTo>
                  <a:close/>
                  <a:moveTo>
                    <a:pt x="92" y="251"/>
                  </a:moveTo>
                  <a:cubicBezTo>
                    <a:pt x="937" y="251"/>
                    <a:pt x="937" y="251"/>
                    <a:pt x="937" y="251"/>
                  </a:cubicBezTo>
                  <a:cubicBezTo>
                    <a:pt x="937" y="368"/>
                    <a:pt x="937" y="368"/>
                    <a:pt x="937" y="368"/>
                  </a:cubicBezTo>
                  <a:cubicBezTo>
                    <a:pt x="920" y="368"/>
                    <a:pt x="895" y="368"/>
                    <a:pt x="878" y="368"/>
                  </a:cubicBezTo>
                  <a:cubicBezTo>
                    <a:pt x="795" y="368"/>
                    <a:pt x="719" y="393"/>
                    <a:pt x="661" y="435"/>
                  </a:cubicBezTo>
                  <a:cubicBezTo>
                    <a:pt x="661" y="385"/>
                    <a:pt x="661" y="385"/>
                    <a:pt x="661" y="385"/>
                  </a:cubicBezTo>
                  <a:cubicBezTo>
                    <a:pt x="552" y="385"/>
                    <a:pt x="552" y="385"/>
                    <a:pt x="552" y="385"/>
                  </a:cubicBezTo>
                  <a:cubicBezTo>
                    <a:pt x="552" y="494"/>
                    <a:pt x="552" y="494"/>
                    <a:pt x="552" y="494"/>
                  </a:cubicBezTo>
                  <a:cubicBezTo>
                    <a:pt x="602" y="494"/>
                    <a:pt x="602" y="494"/>
                    <a:pt x="602" y="494"/>
                  </a:cubicBezTo>
                  <a:cubicBezTo>
                    <a:pt x="544" y="560"/>
                    <a:pt x="510" y="644"/>
                    <a:pt x="510" y="736"/>
                  </a:cubicBezTo>
                  <a:cubicBezTo>
                    <a:pt x="510" y="803"/>
                    <a:pt x="527" y="870"/>
                    <a:pt x="560" y="920"/>
                  </a:cubicBezTo>
                  <a:cubicBezTo>
                    <a:pt x="92" y="920"/>
                    <a:pt x="92" y="920"/>
                    <a:pt x="92" y="920"/>
                  </a:cubicBezTo>
                  <a:lnTo>
                    <a:pt x="92" y="251"/>
                  </a:lnTo>
                  <a:close/>
                  <a:moveTo>
                    <a:pt x="845" y="435"/>
                  </a:moveTo>
                  <a:cubicBezTo>
                    <a:pt x="845" y="418"/>
                    <a:pt x="861" y="402"/>
                    <a:pt x="878" y="402"/>
                  </a:cubicBezTo>
                  <a:cubicBezTo>
                    <a:pt x="895" y="402"/>
                    <a:pt x="911" y="418"/>
                    <a:pt x="911" y="435"/>
                  </a:cubicBezTo>
                  <a:cubicBezTo>
                    <a:pt x="911" y="452"/>
                    <a:pt x="895" y="468"/>
                    <a:pt x="878" y="468"/>
                  </a:cubicBezTo>
                  <a:cubicBezTo>
                    <a:pt x="861" y="468"/>
                    <a:pt x="845" y="452"/>
                    <a:pt x="845" y="435"/>
                  </a:cubicBezTo>
                  <a:close/>
                  <a:moveTo>
                    <a:pt x="610" y="736"/>
                  </a:moveTo>
                  <a:cubicBezTo>
                    <a:pt x="610" y="761"/>
                    <a:pt x="594" y="769"/>
                    <a:pt x="577" y="769"/>
                  </a:cubicBezTo>
                  <a:cubicBezTo>
                    <a:pt x="560" y="769"/>
                    <a:pt x="544" y="761"/>
                    <a:pt x="544" y="736"/>
                  </a:cubicBezTo>
                  <a:cubicBezTo>
                    <a:pt x="544" y="719"/>
                    <a:pt x="560" y="703"/>
                    <a:pt x="577" y="703"/>
                  </a:cubicBezTo>
                  <a:cubicBezTo>
                    <a:pt x="594" y="703"/>
                    <a:pt x="610" y="719"/>
                    <a:pt x="610" y="736"/>
                  </a:cubicBezTo>
                  <a:close/>
                  <a:moveTo>
                    <a:pt x="878" y="1079"/>
                  </a:moveTo>
                  <a:cubicBezTo>
                    <a:pt x="861" y="1079"/>
                    <a:pt x="845" y="1062"/>
                    <a:pt x="845" y="1045"/>
                  </a:cubicBezTo>
                  <a:cubicBezTo>
                    <a:pt x="845" y="1020"/>
                    <a:pt x="861" y="1004"/>
                    <a:pt x="878" y="1004"/>
                  </a:cubicBezTo>
                  <a:cubicBezTo>
                    <a:pt x="895" y="1004"/>
                    <a:pt x="911" y="1020"/>
                    <a:pt x="911" y="1045"/>
                  </a:cubicBezTo>
                  <a:cubicBezTo>
                    <a:pt x="911" y="1062"/>
                    <a:pt x="895" y="1079"/>
                    <a:pt x="878" y="1079"/>
                  </a:cubicBezTo>
                  <a:close/>
                  <a:moveTo>
                    <a:pt x="1087" y="585"/>
                  </a:moveTo>
                  <a:cubicBezTo>
                    <a:pt x="945" y="728"/>
                    <a:pt x="945" y="728"/>
                    <a:pt x="945" y="728"/>
                  </a:cubicBezTo>
                  <a:lnTo>
                    <a:pt x="945" y="736"/>
                  </a:lnTo>
                  <a:cubicBezTo>
                    <a:pt x="945" y="778"/>
                    <a:pt x="920" y="803"/>
                    <a:pt x="878" y="803"/>
                  </a:cubicBezTo>
                  <a:cubicBezTo>
                    <a:pt x="845" y="803"/>
                    <a:pt x="811" y="778"/>
                    <a:pt x="811" y="744"/>
                  </a:cubicBezTo>
                  <a:cubicBezTo>
                    <a:pt x="661" y="627"/>
                    <a:pt x="661" y="627"/>
                    <a:pt x="661" y="627"/>
                  </a:cubicBezTo>
                  <a:cubicBezTo>
                    <a:pt x="652" y="619"/>
                    <a:pt x="644" y="594"/>
                    <a:pt x="652" y="585"/>
                  </a:cubicBezTo>
                  <a:cubicBezTo>
                    <a:pt x="661" y="577"/>
                    <a:pt x="686" y="569"/>
                    <a:pt x="694" y="585"/>
                  </a:cubicBezTo>
                  <a:cubicBezTo>
                    <a:pt x="836" y="686"/>
                    <a:pt x="836" y="686"/>
                    <a:pt x="836" y="686"/>
                  </a:cubicBezTo>
                  <a:cubicBezTo>
                    <a:pt x="845" y="677"/>
                    <a:pt x="861" y="669"/>
                    <a:pt x="878" y="669"/>
                  </a:cubicBezTo>
                  <a:cubicBezTo>
                    <a:pt x="895" y="669"/>
                    <a:pt x="903" y="677"/>
                    <a:pt x="911" y="677"/>
                  </a:cubicBezTo>
                  <a:cubicBezTo>
                    <a:pt x="1045" y="544"/>
                    <a:pt x="1045" y="544"/>
                    <a:pt x="1045" y="544"/>
                  </a:cubicBezTo>
                  <a:cubicBezTo>
                    <a:pt x="1062" y="535"/>
                    <a:pt x="1079" y="535"/>
                    <a:pt x="1087" y="544"/>
                  </a:cubicBezTo>
                  <a:cubicBezTo>
                    <a:pt x="1104" y="552"/>
                    <a:pt x="1096" y="569"/>
                    <a:pt x="1087" y="585"/>
                  </a:cubicBezTo>
                  <a:close/>
                  <a:moveTo>
                    <a:pt x="1179" y="769"/>
                  </a:moveTo>
                  <a:cubicBezTo>
                    <a:pt x="1162" y="769"/>
                    <a:pt x="1146" y="761"/>
                    <a:pt x="1146" y="736"/>
                  </a:cubicBezTo>
                  <a:cubicBezTo>
                    <a:pt x="1146" y="719"/>
                    <a:pt x="1162" y="703"/>
                    <a:pt x="1179" y="703"/>
                  </a:cubicBezTo>
                  <a:cubicBezTo>
                    <a:pt x="1204" y="703"/>
                    <a:pt x="1221" y="719"/>
                    <a:pt x="1221" y="736"/>
                  </a:cubicBezTo>
                  <a:cubicBezTo>
                    <a:pt x="1221" y="761"/>
                    <a:pt x="1204" y="769"/>
                    <a:pt x="1179" y="769"/>
                  </a:cubicBezTo>
                  <a:close/>
                  <a:moveTo>
                    <a:pt x="1179" y="769"/>
                  </a:moveTo>
                  <a:lnTo>
                    <a:pt x="1179" y="769"/>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cxnSp>
        <p:nvCxnSpPr>
          <p:cNvPr id="8" name="直接连接符 7"/>
          <p:cNvCxnSpPr>
            <a:stCxn id="4" idx="0"/>
          </p:cNvCxnSpPr>
          <p:nvPr/>
        </p:nvCxnSpPr>
        <p:spPr>
          <a:xfrm flipV="1">
            <a:off x="2878430" y="1741254"/>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2878430" y="2609067"/>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2878430" y="3469582"/>
            <a:ext cx="908050" cy="4763"/>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2878430" y="4351043"/>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3683293" y="1688867"/>
            <a:ext cx="106362" cy="104775"/>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0" name="椭圆 49"/>
          <p:cNvSpPr/>
          <p:nvPr/>
        </p:nvSpPr>
        <p:spPr>
          <a:xfrm>
            <a:off x="3683293" y="2543980"/>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1" name="椭圆 50"/>
          <p:cNvSpPr/>
          <p:nvPr/>
        </p:nvSpPr>
        <p:spPr>
          <a:xfrm>
            <a:off x="3683293" y="3415607"/>
            <a:ext cx="106362" cy="106363"/>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2" name="椭圆 51"/>
          <p:cNvSpPr/>
          <p:nvPr/>
        </p:nvSpPr>
        <p:spPr>
          <a:xfrm>
            <a:off x="3683293" y="4285956"/>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3" name="文本框 52"/>
          <p:cNvSpPr txBox="1">
            <a:spLocks noChangeArrowheads="1"/>
          </p:cNvSpPr>
          <p:nvPr/>
        </p:nvSpPr>
        <p:spPr bwMode="auto">
          <a:xfrm>
            <a:off x="4018414" y="1526482"/>
            <a:ext cx="58272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理解存储器系统的层次结构以及各层的组成和特点</a:t>
            </a:r>
          </a:p>
        </p:txBody>
      </p:sp>
      <p:sp>
        <p:nvSpPr>
          <p:cNvPr id="55" name="文本框 54"/>
          <p:cNvSpPr txBox="1">
            <a:spLocks noChangeArrowheads="1"/>
          </p:cNvSpPr>
          <p:nvPr/>
        </p:nvSpPr>
        <p:spPr bwMode="auto">
          <a:xfrm>
            <a:off x="4039998" y="2399777"/>
            <a:ext cx="40318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理解程序的装入和链接的几种方式</a:t>
            </a:r>
          </a:p>
        </p:txBody>
      </p:sp>
      <p:sp>
        <p:nvSpPr>
          <p:cNvPr id="57" name="文本框 56"/>
          <p:cNvSpPr txBox="1">
            <a:spLocks noChangeArrowheads="1"/>
          </p:cNvSpPr>
          <p:nvPr/>
        </p:nvSpPr>
        <p:spPr bwMode="auto">
          <a:xfrm>
            <a:off x="4026350" y="3265752"/>
            <a:ext cx="58272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理解并掌握连续分配存储管理方式的几种分配方式</a:t>
            </a:r>
          </a:p>
        </p:txBody>
      </p:sp>
      <p:sp>
        <p:nvSpPr>
          <p:cNvPr id="62" name="矩形 61"/>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77" name="组合 76"/>
          <p:cNvGrpSpPr/>
          <p:nvPr/>
        </p:nvGrpSpPr>
        <p:grpSpPr>
          <a:xfrm>
            <a:off x="245745" y="213360"/>
            <a:ext cx="563880" cy="563880"/>
            <a:chOff x="276225" y="213360"/>
            <a:chExt cx="563880" cy="563880"/>
          </a:xfrm>
          <a:solidFill>
            <a:srgbClr val="3D7351"/>
          </a:solidFill>
        </p:grpSpPr>
        <p:sp>
          <p:nvSpPr>
            <p:cNvPr id="78" name="矩形 77"/>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79" name="椭圆 78"/>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80" name="文本框 25"/>
          <p:cNvSpPr txBox="1">
            <a:spLocks noChangeArrowheads="1"/>
          </p:cNvSpPr>
          <p:nvPr/>
        </p:nvSpPr>
        <p:spPr bwMode="auto">
          <a:xfrm>
            <a:off x="902970" y="199077"/>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本章学习目标</a:t>
            </a:r>
          </a:p>
        </p:txBody>
      </p:sp>
      <p:sp>
        <p:nvSpPr>
          <p:cNvPr id="63"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54" name="圆角矩形 53"/>
          <p:cNvSpPr/>
          <p:nvPr/>
        </p:nvSpPr>
        <p:spPr>
          <a:xfrm>
            <a:off x="1057468" y="4867349"/>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56" name="矩形 55"/>
          <p:cNvSpPr/>
          <p:nvPr/>
        </p:nvSpPr>
        <p:spPr>
          <a:xfrm>
            <a:off x="1765354" y="4867348"/>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58" name="等腰三角形 57"/>
          <p:cNvSpPr/>
          <p:nvPr/>
        </p:nvSpPr>
        <p:spPr>
          <a:xfrm rot="5400000">
            <a:off x="2407060" y="5134543"/>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4" name="文本框 87"/>
          <p:cNvSpPr txBox="1">
            <a:spLocks noChangeArrowheads="1"/>
          </p:cNvSpPr>
          <p:nvPr/>
        </p:nvSpPr>
        <p:spPr bwMode="auto">
          <a:xfrm>
            <a:off x="1115071" y="4965107"/>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05</a:t>
            </a:r>
            <a:endParaRPr lang="zh-CN" altLang="en-US" sz="3200" dirty="0">
              <a:solidFill>
                <a:schemeClr val="bg1"/>
              </a:solidFill>
              <a:latin typeface="Impact" panose="020B0806030902050204" pitchFamily="34" charset="0"/>
            </a:endParaRPr>
          </a:p>
        </p:txBody>
      </p:sp>
      <p:grpSp>
        <p:nvGrpSpPr>
          <p:cNvPr id="76" name="Group 2"/>
          <p:cNvGrpSpPr>
            <a:grpSpLocks/>
          </p:cNvGrpSpPr>
          <p:nvPr/>
        </p:nvGrpSpPr>
        <p:grpSpPr bwMode="auto">
          <a:xfrm>
            <a:off x="2013192" y="5040996"/>
            <a:ext cx="413920" cy="409944"/>
            <a:chOff x="1569458" y="688424"/>
            <a:chExt cx="334962" cy="331788"/>
          </a:xfrm>
          <a:solidFill>
            <a:srgbClr val="FFFFFF"/>
          </a:solidFill>
        </p:grpSpPr>
        <p:sp>
          <p:nvSpPr>
            <p:cNvPr id="81"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2"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3"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4"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5"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6"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cxnSp>
        <p:nvCxnSpPr>
          <p:cNvPr id="110" name="直接连接符 109"/>
          <p:cNvCxnSpPr/>
          <p:nvPr/>
        </p:nvCxnSpPr>
        <p:spPr>
          <a:xfrm flipV="1">
            <a:off x="2921646" y="5246094"/>
            <a:ext cx="908050" cy="4763"/>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12" name="椭圆 111"/>
          <p:cNvSpPr/>
          <p:nvPr/>
        </p:nvSpPr>
        <p:spPr>
          <a:xfrm>
            <a:off x="3726509" y="5192119"/>
            <a:ext cx="106362" cy="106363"/>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114" name="文本框 56"/>
          <p:cNvSpPr txBox="1">
            <a:spLocks noChangeArrowheads="1"/>
          </p:cNvSpPr>
          <p:nvPr/>
        </p:nvSpPr>
        <p:spPr bwMode="auto">
          <a:xfrm>
            <a:off x="4045346" y="4143052"/>
            <a:ext cx="42883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理解对换的定义、目标、类型与方式</a:t>
            </a:r>
          </a:p>
        </p:txBody>
      </p:sp>
      <p:sp>
        <p:nvSpPr>
          <p:cNvPr id="115" name="文本框 58"/>
          <p:cNvSpPr txBox="1">
            <a:spLocks noChangeArrowheads="1"/>
          </p:cNvSpPr>
          <p:nvPr/>
        </p:nvSpPr>
        <p:spPr bwMode="auto">
          <a:xfrm>
            <a:off x="4039998" y="5040996"/>
            <a:ext cx="58272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理解并掌握分页与分段存储管理方式的方法与特点</a:t>
            </a:r>
          </a:p>
        </p:txBody>
      </p:sp>
    </p:spTree>
    <p:extLst>
      <p:ext uri="{BB962C8B-B14F-4D97-AF65-F5344CB8AC3E}">
        <p14:creationId xmlns:p14="http://schemas.microsoft.com/office/powerpoint/2010/main" val="903575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strVal val="#ppt_w+.3"/>
                                          </p:val>
                                        </p:tav>
                                        <p:tav tm="100000">
                                          <p:val>
                                            <p:strVal val="#ppt_w"/>
                                          </p:val>
                                        </p:tav>
                                      </p:tavLst>
                                    </p:anim>
                                    <p:anim calcmode="lin" valueType="num">
                                      <p:cBhvr>
                                        <p:cTn id="8" dur="500" fill="hold"/>
                                        <p:tgtEl>
                                          <p:spTgt spid="53"/>
                                        </p:tgtEl>
                                        <p:attrNameLst>
                                          <p:attrName>ppt_h</p:attrName>
                                        </p:attrNameLst>
                                      </p:cBhvr>
                                      <p:tavLst>
                                        <p:tav tm="0">
                                          <p:val>
                                            <p:strVal val="#ppt_h"/>
                                          </p:val>
                                        </p:tav>
                                        <p:tav tm="100000">
                                          <p:val>
                                            <p:strVal val="#ppt_h"/>
                                          </p:val>
                                        </p:tav>
                                      </p:tavLst>
                                    </p:anim>
                                    <p:animEffect transition="in" filter="fade">
                                      <p:cBhvr>
                                        <p:cTn id="9" dur="500"/>
                                        <p:tgtEl>
                                          <p:spTgt spid="5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55"/>
                                        </p:tgtEl>
                                        <p:attrNameLst>
                                          <p:attrName>style.visibility</p:attrName>
                                        </p:attrNameLst>
                                      </p:cBhvr>
                                      <p:to>
                                        <p:strVal val="visible"/>
                                      </p:to>
                                    </p:set>
                                    <p:anim calcmode="lin" valueType="num">
                                      <p:cBhvr>
                                        <p:cTn id="14" dur="500" fill="hold"/>
                                        <p:tgtEl>
                                          <p:spTgt spid="55"/>
                                        </p:tgtEl>
                                        <p:attrNameLst>
                                          <p:attrName>ppt_w</p:attrName>
                                        </p:attrNameLst>
                                      </p:cBhvr>
                                      <p:tavLst>
                                        <p:tav tm="0">
                                          <p:val>
                                            <p:strVal val="#ppt_w+.3"/>
                                          </p:val>
                                        </p:tav>
                                        <p:tav tm="100000">
                                          <p:val>
                                            <p:strVal val="#ppt_w"/>
                                          </p:val>
                                        </p:tav>
                                      </p:tavLst>
                                    </p:anim>
                                    <p:anim calcmode="lin" valueType="num">
                                      <p:cBhvr>
                                        <p:cTn id="15" dur="500" fill="hold"/>
                                        <p:tgtEl>
                                          <p:spTgt spid="55"/>
                                        </p:tgtEl>
                                        <p:attrNameLst>
                                          <p:attrName>ppt_h</p:attrName>
                                        </p:attrNameLst>
                                      </p:cBhvr>
                                      <p:tavLst>
                                        <p:tav tm="0">
                                          <p:val>
                                            <p:strVal val="#ppt_h"/>
                                          </p:val>
                                        </p:tav>
                                        <p:tav tm="100000">
                                          <p:val>
                                            <p:strVal val="#ppt_h"/>
                                          </p:val>
                                        </p:tav>
                                      </p:tavLst>
                                    </p:anim>
                                    <p:animEffect transition="in" filter="fade">
                                      <p:cBhvr>
                                        <p:cTn id="16" dur="500"/>
                                        <p:tgtEl>
                                          <p:spTgt spid="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0" presetClass="entr" presetSubtype="0" decel="100000" fill="hold" grpId="0" nodeType="clickEffect">
                                  <p:stCondLst>
                                    <p:cond delay="0"/>
                                  </p:stCondLst>
                                  <p:iterate type="lt">
                                    <p:tmPct val="5000"/>
                                  </p:iterate>
                                  <p:childTnLst>
                                    <p:set>
                                      <p:cBhvr>
                                        <p:cTn id="20" dur="1" fill="hold">
                                          <p:stCondLst>
                                            <p:cond delay="0"/>
                                          </p:stCondLst>
                                        </p:cTn>
                                        <p:tgtEl>
                                          <p:spTgt spid="57"/>
                                        </p:tgtEl>
                                        <p:attrNameLst>
                                          <p:attrName>style.visibility</p:attrName>
                                        </p:attrNameLst>
                                      </p:cBhvr>
                                      <p:to>
                                        <p:strVal val="visible"/>
                                      </p:to>
                                    </p:set>
                                    <p:anim calcmode="lin" valueType="num">
                                      <p:cBhvr>
                                        <p:cTn id="21" dur="500" fill="hold"/>
                                        <p:tgtEl>
                                          <p:spTgt spid="57"/>
                                        </p:tgtEl>
                                        <p:attrNameLst>
                                          <p:attrName>ppt_w</p:attrName>
                                        </p:attrNameLst>
                                      </p:cBhvr>
                                      <p:tavLst>
                                        <p:tav tm="0">
                                          <p:val>
                                            <p:strVal val="#ppt_w+.3"/>
                                          </p:val>
                                        </p:tav>
                                        <p:tav tm="100000">
                                          <p:val>
                                            <p:strVal val="#ppt_w"/>
                                          </p:val>
                                        </p:tav>
                                      </p:tavLst>
                                    </p:anim>
                                    <p:anim calcmode="lin" valueType="num">
                                      <p:cBhvr>
                                        <p:cTn id="22" dur="500" fill="hold"/>
                                        <p:tgtEl>
                                          <p:spTgt spid="57"/>
                                        </p:tgtEl>
                                        <p:attrNameLst>
                                          <p:attrName>ppt_h</p:attrName>
                                        </p:attrNameLst>
                                      </p:cBhvr>
                                      <p:tavLst>
                                        <p:tav tm="0">
                                          <p:val>
                                            <p:strVal val="#ppt_h"/>
                                          </p:val>
                                        </p:tav>
                                        <p:tav tm="100000">
                                          <p:val>
                                            <p:strVal val="#ppt_h"/>
                                          </p:val>
                                        </p:tav>
                                      </p:tavLst>
                                    </p:anim>
                                    <p:animEffect transition="in" filter="fade">
                                      <p:cBhvr>
                                        <p:cTn id="23" dur="500"/>
                                        <p:tgtEl>
                                          <p:spTgt spid="57"/>
                                        </p:tgtEl>
                                      </p:cBhvr>
                                    </p:animEffect>
                                  </p:childTnLst>
                                </p:cTn>
                              </p:par>
                            </p:childTnLst>
                          </p:cTn>
                        </p:par>
                      </p:childTnLst>
                    </p:cTn>
                  </p:par>
                  <p:par>
                    <p:cTn id="24" fill="hold">
                      <p:stCondLst>
                        <p:cond delay="indefinite"/>
                      </p:stCondLst>
                      <p:childTnLst>
                        <p:par>
                          <p:cTn id="25" fill="hold">
                            <p:stCondLst>
                              <p:cond delay="0"/>
                            </p:stCondLst>
                            <p:childTnLst>
                              <p:par>
                                <p:cTn id="26" presetID="50" presetClass="entr" presetSubtype="0" decel="100000" fill="hold" grpId="0" nodeType="clickEffect">
                                  <p:stCondLst>
                                    <p:cond delay="0"/>
                                  </p:stCondLst>
                                  <p:iterate type="lt">
                                    <p:tmPct val="5000"/>
                                  </p:iterate>
                                  <p:childTnLst>
                                    <p:set>
                                      <p:cBhvr>
                                        <p:cTn id="27" dur="1" fill="hold">
                                          <p:stCondLst>
                                            <p:cond delay="0"/>
                                          </p:stCondLst>
                                        </p:cTn>
                                        <p:tgtEl>
                                          <p:spTgt spid="114"/>
                                        </p:tgtEl>
                                        <p:attrNameLst>
                                          <p:attrName>style.visibility</p:attrName>
                                        </p:attrNameLst>
                                      </p:cBhvr>
                                      <p:to>
                                        <p:strVal val="visible"/>
                                      </p:to>
                                    </p:set>
                                    <p:anim calcmode="lin" valueType="num">
                                      <p:cBhvr>
                                        <p:cTn id="28" dur="500" fill="hold"/>
                                        <p:tgtEl>
                                          <p:spTgt spid="114"/>
                                        </p:tgtEl>
                                        <p:attrNameLst>
                                          <p:attrName>ppt_w</p:attrName>
                                        </p:attrNameLst>
                                      </p:cBhvr>
                                      <p:tavLst>
                                        <p:tav tm="0">
                                          <p:val>
                                            <p:strVal val="#ppt_w+.3"/>
                                          </p:val>
                                        </p:tav>
                                        <p:tav tm="100000">
                                          <p:val>
                                            <p:strVal val="#ppt_w"/>
                                          </p:val>
                                        </p:tav>
                                      </p:tavLst>
                                    </p:anim>
                                    <p:anim calcmode="lin" valueType="num">
                                      <p:cBhvr>
                                        <p:cTn id="29" dur="500" fill="hold"/>
                                        <p:tgtEl>
                                          <p:spTgt spid="114"/>
                                        </p:tgtEl>
                                        <p:attrNameLst>
                                          <p:attrName>ppt_h</p:attrName>
                                        </p:attrNameLst>
                                      </p:cBhvr>
                                      <p:tavLst>
                                        <p:tav tm="0">
                                          <p:val>
                                            <p:strVal val="#ppt_h"/>
                                          </p:val>
                                        </p:tav>
                                        <p:tav tm="100000">
                                          <p:val>
                                            <p:strVal val="#ppt_h"/>
                                          </p:val>
                                        </p:tav>
                                      </p:tavLst>
                                    </p:anim>
                                    <p:animEffect transition="in" filter="fade">
                                      <p:cBhvr>
                                        <p:cTn id="30" dur="500"/>
                                        <p:tgtEl>
                                          <p:spTgt spid="114"/>
                                        </p:tgtEl>
                                      </p:cBhvr>
                                    </p:animEffect>
                                  </p:childTnLst>
                                </p:cTn>
                              </p:par>
                            </p:childTnLst>
                          </p:cTn>
                        </p:par>
                      </p:childTnLst>
                    </p:cTn>
                  </p:par>
                  <p:par>
                    <p:cTn id="31" fill="hold">
                      <p:stCondLst>
                        <p:cond delay="indefinite"/>
                      </p:stCondLst>
                      <p:childTnLst>
                        <p:par>
                          <p:cTn id="32" fill="hold">
                            <p:stCondLst>
                              <p:cond delay="0"/>
                            </p:stCondLst>
                            <p:childTnLst>
                              <p:par>
                                <p:cTn id="33" presetID="50" presetClass="entr" presetSubtype="0" decel="100000" fill="hold" grpId="0" nodeType="clickEffect">
                                  <p:stCondLst>
                                    <p:cond delay="0"/>
                                  </p:stCondLst>
                                  <p:iterate type="lt">
                                    <p:tmPct val="5000"/>
                                  </p:iterate>
                                  <p:childTnLst>
                                    <p:set>
                                      <p:cBhvr>
                                        <p:cTn id="34" dur="1" fill="hold">
                                          <p:stCondLst>
                                            <p:cond delay="0"/>
                                          </p:stCondLst>
                                        </p:cTn>
                                        <p:tgtEl>
                                          <p:spTgt spid="115"/>
                                        </p:tgtEl>
                                        <p:attrNameLst>
                                          <p:attrName>style.visibility</p:attrName>
                                        </p:attrNameLst>
                                      </p:cBhvr>
                                      <p:to>
                                        <p:strVal val="visible"/>
                                      </p:to>
                                    </p:set>
                                    <p:anim calcmode="lin" valueType="num">
                                      <p:cBhvr>
                                        <p:cTn id="35" dur="500" fill="hold"/>
                                        <p:tgtEl>
                                          <p:spTgt spid="115"/>
                                        </p:tgtEl>
                                        <p:attrNameLst>
                                          <p:attrName>ppt_w</p:attrName>
                                        </p:attrNameLst>
                                      </p:cBhvr>
                                      <p:tavLst>
                                        <p:tav tm="0">
                                          <p:val>
                                            <p:strVal val="#ppt_w+.3"/>
                                          </p:val>
                                        </p:tav>
                                        <p:tav tm="100000">
                                          <p:val>
                                            <p:strVal val="#ppt_w"/>
                                          </p:val>
                                        </p:tav>
                                      </p:tavLst>
                                    </p:anim>
                                    <p:anim calcmode="lin" valueType="num">
                                      <p:cBhvr>
                                        <p:cTn id="36" dur="500" fill="hold"/>
                                        <p:tgtEl>
                                          <p:spTgt spid="115"/>
                                        </p:tgtEl>
                                        <p:attrNameLst>
                                          <p:attrName>ppt_h</p:attrName>
                                        </p:attrNameLst>
                                      </p:cBhvr>
                                      <p:tavLst>
                                        <p:tav tm="0">
                                          <p:val>
                                            <p:strVal val="#ppt_h"/>
                                          </p:val>
                                        </p:tav>
                                        <p:tav tm="100000">
                                          <p:val>
                                            <p:strVal val="#ppt_h"/>
                                          </p:val>
                                        </p:tav>
                                      </p:tavLst>
                                    </p:anim>
                                    <p:animEffect transition="in" filter="fade">
                                      <p:cBhvr>
                                        <p:cTn id="3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5" grpId="0"/>
      <p:bldP spid="57" grpId="0"/>
      <p:bldP spid="114" grpId="0"/>
      <p:bldP spid="1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存储器的层次结构</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5.1</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6" name="文本框 21"/>
          <p:cNvSpPr txBox="1">
            <a:spLocks noChangeArrowheads="1"/>
          </p:cNvSpPr>
          <p:nvPr/>
        </p:nvSpPr>
        <p:spPr bwMode="auto">
          <a:xfrm>
            <a:off x="2439935" y="3217837"/>
            <a:ext cx="727920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         在计算机执行时，要求对存储器的访问</a:t>
            </a:r>
            <a:r>
              <a:rPr lang="zh-CN" altLang="en-US" sz="2400" b="1" dirty="0"/>
              <a:t>速度要快，</a:t>
            </a:r>
            <a:r>
              <a:rPr lang="zh-CN" altLang="en-US" sz="2400" dirty="0"/>
              <a:t>存储器的</a:t>
            </a:r>
            <a:r>
              <a:rPr lang="zh-CN" altLang="en-US" sz="2400" b="1" dirty="0"/>
              <a:t>容量要大，</a:t>
            </a:r>
            <a:r>
              <a:rPr lang="zh-CN" altLang="en-US" sz="2400" dirty="0"/>
              <a:t>而</a:t>
            </a:r>
            <a:r>
              <a:rPr lang="zh-CN" altLang="en-US" sz="2400" b="1" dirty="0"/>
              <a:t>价格还</a:t>
            </a:r>
            <a:r>
              <a:rPr lang="zh-CN" altLang="en-US" sz="2400" dirty="0"/>
              <a:t>应很</a:t>
            </a:r>
            <a:r>
              <a:rPr lang="zh-CN" altLang="en-US" sz="2400" b="1" dirty="0"/>
              <a:t>便宜。</a:t>
            </a:r>
            <a:r>
              <a:rPr lang="zh-CN" altLang="en-US" sz="2400" dirty="0"/>
              <a:t>对于这三个条件无法同时满足，于是在现代计算机系统中都无一例外地采用了多层结构的存储器系统。</a:t>
            </a:r>
            <a:endParaRPr lang="en-US" altLang="zh-CN" sz="2400" dirty="0"/>
          </a:p>
        </p:txBody>
      </p:sp>
      <p:pic>
        <p:nvPicPr>
          <p:cNvPr id="15" name="Picture 4" descr="mem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270" y="4937352"/>
            <a:ext cx="3400021" cy="1700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56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）存储器的多层结构</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多层结构的存储器系统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5" name="Group 16"/>
          <p:cNvGrpSpPr>
            <a:grpSpLocks/>
          </p:cNvGrpSpPr>
          <p:nvPr/>
        </p:nvGrpSpPr>
        <p:grpSpPr bwMode="auto">
          <a:xfrm>
            <a:off x="3984171" y="3216503"/>
            <a:ext cx="3455987" cy="2759075"/>
            <a:chOff x="2336" y="2236"/>
            <a:chExt cx="2177" cy="1738"/>
          </a:xfrm>
        </p:grpSpPr>
        <p:sp>
          <p:nvSpPr>
            <p:cNvPr id="16" name="AutoShape 4"/>
            <p:cNvSpPr>
              <a:spLocks noChangeArrowheads="1"/>
            </p:cNvSpPr>
            <p:nvPr/>
          </p:nvSpPr>
          <p:spPr bwMode="auto">
            <a:xfrm rot="10800000">
              <a:off x="2336" y="2251"/>
              <a:ext cx="2177" cy="172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219 w 21600"/>
                <a:gd name="T13" fmla="*/ 5215 h 21600"/>
                <a:gd name="T14" fmla="*/ 16381 w 21600"/>
                <a:gd name="T15" fmla="*/ 16385 h 21600"/>
              </a:gdLst>
              <a:ahLst/>
              <a:cxnLst>
                <a:cxn ang="T8">
                  <a:pos x="T0" y="T1"/>
                </a:cxn>
                <a:cxn ang="T9">
                  <a:pos x="T2" y="T3"/>
                </a:cxn>
                <a:cxn ang="T10">
                  <a:pos x="T4" y="T5"/>
                </a:cxn>
                <a:cxn ang="T11">
                  <a:pos x="T6" y="T7"/>
                </a:cxn>
              </a:cxnLst>
              <a:rect l="T12" t="T13" r="T14" b="T15"/>
              <a:pathLst>
                <a:path w="21600" h="21600">
                  <a:moveTo>
                    <a:pt x="0" y="0"/>
                  </a:moveTo>
                  <a:lnTo>
                    <a:pt x="6838" y="21600"/>
                  </a:lnTo>
                  <a:lnTo>
                    <a:pt x="14762" y="21600"/>
                  </a:lnTo>
                  <a:lnTo>
                    <a:pt x="2160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17" name="Rectangle 5"/>
            <p:cNvSpPr>
              <a:spLocks noChangeArrowheads="1"/>
            </p:cNvSpPr>
            <p:nvPr/>
          </p:nvSpPr>
          <p:spPr bwMode="auto">
            <a:xfrm>
              <a:off x="3095" y="2236"/>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寄存器</a:t>
              </a:r>
            </a:p>
          </p:txBody>
        </p:sp>
        <p:sp>
          <p:nvSpPr>
            <p:cNvPr id="18" name="Line 6"/>
            <p:cNvSpPr>
              <a:spLocks noChangeShapeType="1"/>
            </p:cNvSpPr>
            <p:nvPr/>
          </p:nvSpPr>
          <p:spPr bwMode="auto">
            <a:xfrm>
              <a:off x="2905" y="2547"/>
              <a:ext cx="10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7"/>
            <p:cNvSpPr>
              <a:spLocks noChangeArrowheads="1"/>
            </p:cNvSpPr>
            <p:nvPr/>
          </p:nvSpPr>
          <p:spPr bwMode="auto">
            <a:xfrm>
              <a:off x="2994" y="2528"/>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dirty="0"/>
                <a:t>高速缓存</a:t>
              </a:r>
            </a:p>
          </p:txBody>
        </p:sp>
        <p:sp>
          <p:nvSpPr>
            <p:cNvPr id="20" name="Line 8"/>
            <p:cNvSpPr>
              <a:spLocks noChangeShapeType="1"/>
            </p:cNvSpPr>
            <p:nvPr/>
          </p:nvSpPr>
          <p:spPr bwMode="auto">
            <a:xfrm flipV="1">
              <a:off x="2789" y="2823"/>
              <a:ext cx="12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9"/>
            <p:cNvSpPr>
              <a:spLocks noChangeArrowheads="1"/>
            </p:cNvSpPr>
            <p:nvPr/>
          </p:nvSpPr>
          <p:spPr bwMode="auto">
            <a:xfrm>
              <a:off x="2998" y="281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主存储器</a:t>
              </a:r>
            </a:p>
          </p:txBody>
        </p:sp>
        <p:sp>
          <p:nvSpPr>
            <p:cNvPr id="23" name="Line 10"/>
            <p:cNvSpPr>
              <a:spLocks noChangeShapeType="1"/>
            </p:cNvSpPr>
            <p:nvPr/>
          </p:nvSpPr>
          <p:spPr bwMode="auto">
            <a:xfrm>
              <a:off x="2678" y="3116"/>
              <a:ext cx="14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Rectangle 11"/>
            <p:cNvSpPr>
              <a:spLocks noChangeArrowheads="1"/>
            </p:cNvSpPr>
            <p:nvPr/>
          </p:nvSpPr>
          <p:spPr bwMode="auto">
            <a:xfrm>
              <a:off x="3012" y="3106"/>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磁盘缓存</a:t>
              </a:r>
            </a:p>
          </p:txBody>
        </p:sp>
        <p:sp>
          <p:nvSpPr>
            <p:cNvPr id="26" name="Line 12"/>
            <p:cNvSpPr>
              <a:spLocks noChangeShapeType="1"/>
            </p:cNvSpPr>
            <p:nvPr/>
          </p:nvSpPr>
          <p:spPr bwMode="auto">
            <a:xfrm>
              <a:off x="2562" y="3430"/>
              <a:ext cx="1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13"/>
            <p:cNvSpPr>
              <a:spLocks noChangeArrowheads="1"/>
            </p:cNvSpPr>
            <p:nvPr/>
          </p:nvSpPr>
          <p:spPr bwMode="auto">
            <a:xfrm>
              <a:off x="2994" y="3407"/>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固定磁盘</a:t>
              </a:r>
            </a:p>
          </p:txBody>
        </p:sp>
        <p:sp>
          <p:nvSpPr>
            <p:cNvPr id="33" name="Line 14"/>
            <p:cNvSpPr>
              <a:spLocks noChangeShapeType="1"/>
            </p:cNvSpPr>
            <p:nvPr/>
          </p:nvSpPr>
          <p:spPr bwMode="auto">
            <a:xfrm>
              <a:off x="2440" y="3702"/>
              <a:ext cx="19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15"/>
            <p:cNvSpPr>
              <a:spLocks noChangeArrowheads="1"/>
            </p:cNvSpPr>
            <p:nvPr/>
          </p:nvSpPr>
          <p:spPr bwMode="auto">
            <a:xfrm>
              <a:off x="2707" y="3686"/>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可移动存储介质</a:t>
              </a:r>
            </a:p>
          </p:txBody>
        </p:sp>
      </p:grpSp>
      <p:sp>
        <p:nvSpPr>
          <p:cNvPr id="35" name="Rectangle 17"/>
          <p:cNvSpPr>
            <a:spLocks noChangeArrowheads="1"/>
          </p:cNvSpPr>
          <p:nvPr/>
        </p:nvSpPr>
        <p:spPr bwMode="auto">
          <a:xfrm>
            <a:off x="3047546" y="3246666"/>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a:t>CPU</a:t>
            </a:r>
            <a:r>
              <a:rPr lang="zh-CN" altLang="en-US"/>
              <a:t>寄存器</a:t>
            </a:r>
          </a:p>
        </p:txBody>
      </p:sp>
      <p:sp>
        <p:nvSpPr>
          <p:cNvPr id="36" name="AutoShape 19"/>
          <p:cNvSpPr>
            <a:spLocks/>
          </p:cNvSpPr>
          <p:nvPr/>
        </p:nvSpPr>
        <p:spPr bwMode="auto">
          <a:xfrm>
            <a:off x="4714421" y="3216503"/>
            <a:ext cx="73025" cy="503238"/>
          </a:xfrm>
          <a:prstGeom prst="leftBrace">
            <a:avLst>
              <a:gd name="adj1" fmla="val 574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7" name="Rectangle 20"/>
          <p:cNvSpPr>
            <a:spLocks noChangeArrowheads="1"/>
          </p:cNvSpPr>
          <p:nvPr/>
        </p:nvSpPr>
        <p:spPr bwMode="auto">
          <a:xfrm>
            <a:off x="3309483" y="4154716"/>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主存</a:t>
            </a:r>
          </a:p>
        </p:txBody>
      </p:sp>
      <p:sp>
        <p:nvSpPr>
          <p:cNvPr id="38" name="AutoShape 21"/>
          <p:cNvSpPr>
            <a:spLocks/>
          </p:cNvSpPr>
          <p:nvPr/>
        </p:nvSpPr>
        <p:spPr bwMode="auto">
          <a:xfrm>
            <a:off x="4095296" y="3719741"/>
            <a:ext cx="142875" cy="1368425"/>
          </a:xfrm>
          <a:prstGeom prst="leftBrace">
            <a:avLst>
              <a:gd name="adj1" fmla="val 7981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39" name="Rectangle 22"/>
          <p:cNvSpPr>
            <a:spLocks noChangeArrowheads="1"/>
          </p:cNvSpPr>
          <p:nvPr/>
        </p:nvSpPr>
        <p:spPr bwMode="auto">
          <a:xfrm>
            <a:off x="2987221" y="5278666"/>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辅存</a:t>
            </a:r>
          </a:p>
        </p:txBody>
      </p:sp>
      <p:sp>
        <p:nvSpPr>
          <p:cNvPr id="40" name="AutoShape 23"/>
          <p:cNvSpPr>
            <a:spLocks/>
          </p:cNvSpPr>
          <p:nvPr/>
        </p:nvSpPr>
        <p:spPr bwMode="auto">
          <a:xfrm>
            <a:off x="3768271" y="5088166"/>
            <a:ext cx="142875" cy="863600"/>
          </a:xfrm>
          <a:prstGeom prst="leftBrace">
            <a:avLst>
              <a:gd name="adj1" fmla="val 5037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41" name="AutoShape 30"/>
          <p:cNvSpPr>
            <a:spLocks/>
          </p:cNvSpPr>
          <p:nvPr/>
        </p:nvSpPr>
        <p:spPr bwMode="auto">
          <a:xfrm flipH="1">
            <a:off x="7079796" y="3216503"/>
            <a:ext cx="215900" cy="1871663"/>
          </a:xfrm>
          <a:prstGeom prst="leftBrace">
            <a:avLst>
              <a:gd name="adj1" fmla="val 7224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42" name="Rectangle 31"/>
          <p:cNvSpPr>
            <a:spLocks noChangeArrowheads="1"/>
          </p:cNvSpPr>
          <p:nvPr/>
        </p:nvSpPr>
        <p:spPr bwMode="auto">
          <a:xfrm>
            <a:off x="7152821" y="3719741"/>
            <a:ext cx="12239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t>可执行存储器</a:t>
            </a:r>
          </a:p>
        </p:txBody>
      </p:sp>
      <p:sp>
        <p:nvSpPr>
          <p:cNvPr id="43" name="Line 24"/>
          <p:cNvSpPr>
            <a:spLocks noChangeShapeType="1"/>
          </p:cNvSpPr>
          <p:nvPr/>
        </p:nvSpPr>
        <p:spPr bwMode="auto">
          <a:xfrm flipV="1">
            <a:off x="9094793" y="3127612"/>
            <a:ext cx="0" cy="28813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Rectangle 25"/>
          <p:cNvSpPr>
            <a:spLocks noChangeArrowheads="1"/>
          </p:cNvSpPr>
          <p:nvPr/>
        </p:nvSpPr>
        <p:spPr bwMode="auto">
          <a:xfrm>
            <a:off x="8375656" y="4183300"/>
            <a:ext cx="793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solidFill>
                  <a:srgbClr val="CC0000"/>
                </a:solidFill>
              </a:rPr>
              <a:t>速度</a:t>
            </a:r>
          </a:p>
          <a:p>
            <a:pPr eaLnBrk="1" hangingPunct="1"/>
            <a:r>
              <a:rPr lang="zh-CN" altLang="en-US">
                <a:solidFill>
                  <a:srgbClr val="CC0000"/>
                </a:solidFill>
              </a:rPr>
              <a:t>价格</a:t>
            </a:r>
          </a:p>
        </p:txBody>
      </p:sp>
      <p:sp>
        <p:nvSpPr>
          <p:cNvPr id="45" name="Line 26"/>
          <p:cNvSpPr>
            <a:spLocks noChangeShapeType="1"/>
          </p:cNvSpPr>
          <p:nvPr/>
        </p:nvSpPr>
        <p:spPr bwMode="auto">
          <a:xfrm>
            <a:off x="9345618" y="3127612"/>
            <a:ext cx="0" cy="28813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27"/>
          <p:cNvSpPr>
            <a:spLocks noChangeArrowheads="1"/>
          </p:cNvSpPr>
          <p:nvPr/>
        </p:nvSpPr>
        <p:spPr bwMode="auto">
          <a:xfrm>
            <a:off x="9344031" y="4178537"/>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a:solidFill>
                  <a:srgbClr val="CC0000"/>
                </a:solidFill>
              </a:rPr>
              <a:t>存储容量</a:t>
            </a:r>
          </a:p>
        </p:txBody>
      </p:sp>
      <p:sp>
        <p:nvSpPr>
          <p:cNvPr id="47" name="文本框 19"/>
          <p:cNvSpPr txBox="1">
            <a:spLocks noChangeArrowheads="1"/>
          </p:cNvSpPr>
          <p:nvPr/>
        </p:nvSpPr>
        <p:spPr bwMode="auto">
          <a:xfrm>
            <a:off x="1090268" y="1895059"/>
            <a:ext cx="56873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速度快，能跟上处理机的速度</a:t>
            </a:r>
            <a:endParaRPr lang="en-US" altLang="zh-CN" sz="2400" dirty="0"/>
          </a:p>
          <a:p>
            <a:pPr marL="0" lvl="2" indent="0">
              <a:buBlip>
                <a:blip r:embed="rId3"/>
              </a:buBlip>
            </a:pPr>
            <a:r>
              <a:rPr lang="zh-CN" altLang="en-US" sz="2400" dirty="0"/>
              <a:t>容量大</a:t>
            </a:r>
            <a:endParaRPr lang="en-US" altLang="zh-CN" sz="2400" dirty="0"/>
          </a:p>
          <a:p>
            <a:pPr marL="0" lvl="2" indent="0">
              <a:buBlip>
                <a:blip r:embed="rId3"/>
              </a:buBlip>
            </a:pPr>
            <a:r>
              <a:rPr lang="zh-CN" altLang="en-US" sz="2400" dirty="0"/>
              <a:t>价格便宜 </a:t>
            </a:r>
          </a:p>
        </p:txBody>
      </p:sp>
    </p:spTree>
    <p:extLst>
      <p:ext uri="{BB962C8B-B14F-4D97-AF65-F5344CB8AC3E}">
        <p14:creationId xmlns:p14="http://schemas.microsoft.com/office/powerpoint/2010/main" val="37303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up)">
                                      <p:cBhvr>
                                        <p:cTn id="20" dur="500"/>
                                        <p:tgtEl>
                                          <p:spTgt spid="38"/>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up)">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wipe(up)">
                                      <p:cBhvr>
                                        <p:cTn id="28" dur="500"/>
                                        <p:tgtEl>
                                          <p:spTgt spid="40"/>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wipe(up)">
                                      <p:cBhvr>
                                        <p:cTn id="36" dur="500"/>
                                        <p:tgtEl>
                                          <p:spTgt spid="42"/>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up)">
                                      <p:cBhvr>
                                        <p:cTn id="39" dur="5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up)">
                                      <p:cBhvr>
                                        <p:cTn id="44" dur="500"/>
                                        <p:tgtEl>
                                          <p:spTgt spid="45"/>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down)">
                                      <p:cBhvr>
                                        <p:cTn id="52" dur="500"/>
                                        <p:tgtEl>
                                          <p:spTgt spid="43"/>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wipe(down)">
                                      <p:cBhvr>
                                        <p:cTn id="5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p:bldP spid="38" grpId="0" animBg="1"/>
      <p:bldP spid="39" grpId="0"/>
      <p:bldP spid="40" grpId="0" animBg="1"/>
      <p:bldP spid="41" grpId="0" animBg="1"/>
      <p:bldP spid="42" grpId="0"/>
      <p:bldP spid="43" grpId="0" animBg="1"/>
      <p:bldP spid="44" grpId="0"/>
      <p:bldP spid="45" grpId="0" animBg="1"/>
      <p:bldP spid="46"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）可执行存储器</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多层结构的存储器系统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144" y="2266724"/>
            <a:ext cx="73723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965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6286175" y="1975570"/>
            <a:ext cx="4470450" cy="3965040"/>
          </a:xfrm>
          <a:prstGeom prst="rect">
            <a:avLst/>
          </a:prstGeom>
          <a:solidFill>
            <a:schemeClr val="bg1">
              <a:lumMod val="85000"/>
            </a:schemeClr>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5" name="矩形 14"/>
          <p:cNvSpPr/>
          <p:nvPr/>
        </p:nvSpPr>
        <p:spPr>
          <a:xfrm>
            <a:off x="1124342" y="1975570"/>
            <a:ext cx="4470450" cy="3965040"/>
          </a:xfrm>
          <a:prstGeom prst="rect">
            <a:avLst/>
          </a:prstGeom>
          <a:solidFill>
            <a:schemeClr val="bg1">
              <a:lumMod val="85000"/>
            </a:schemeClr>
          </a:solidFill>
          <a:ln>
            <a:solidFill>
              <a:srgbClr val="E8E8E6"/>
            </a:solid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sp>
        <p:nvSpPr>
          <p:cNvPr id="16" name="AutoShape 12"/>
          <p:cNvSpPr>
            <a:spLocks noChangeArrowheads="1"/>
          </p:cNvSpPr>
          <p:nvPr/>
        </p:nvSpPr>
        <p:spPr bwMode="auto">
          <a:xfrm>
            <a:off x="1124342" y="1580421"/>
            <a:ext cx="4470449" cy="790298"/>
          </a:xfrm>
          <a:prstGeom prst="homePlate">
            <a:avLst>
              <a:gd name="adj" fmla="val 63872"/>
            </a:avLst>
          </a:prstGeom>
          <a:solidFill>
            <a:schemeClr val="accent1"/>
          </a:solidFill>
          <a:ln w="9525">
            <a:noFill/>
            <a:miter lim="800000"/>
          </a:ln>
        </p:spPr>
        <p:txBody>
          <a:bodyPr wrap="none" lIns="91472" tIns="45736" rIns="91472" bIns="45736" anchor="ctr"/>
          <a:lstStyle/>
          <a:p>
            <a:pPr algn="ctr"/>
            <a:r>
              <a:rPr lang="zh-CN" altLang="en-US" sz="2800" b="1" dirty="0">
                <a:solidFill>
                  <a:prstClr val="white"/>
                </a:solidFill>
                <a:cs typeface="+mn-ea"/>
                <a:sym typeface="+mn-lt"/>
              </a:rPr>
              <a:t>主存储器</a:t>
            </a:r>
          </a:p>
        </p:txBody>
      </p:sp>
      <p:sp>
        <p:nvSpPr>
          <p:cNvPr id="17" name="TextBox 16"/>
          <p:cNvSpPr txBox="1"/>
          <p:nvPr/>
        </p:nvSpPr>
        <p:spPr>
          <a:xfrm>
            <a:off x="1266958" y="2513906"/>
            <a:ext cx="4175898" cy="2936221"/>
          </a:xfrm>
          <a:prstGeom prst="rect">
            <a:avLst/>
          </a:prstGeom>
          <a:noFill/>
          <a:ln>
            <a:noFill/>
          </a:ln>
        </p:spPr>
        <p:txBody>
          <a:bodyPr wrap="square" lIns="91472" tIns="45736" rIns="91472" bIns="45736" rtlCol="0">
            <a:spAutoFit/>
          </a:bodyPr>
          <a:lstStyle/>
          <a:p>
            <a:pPr>
              <a:lnSpc>
                <a:spcPct val="110000"/>
              </a:lnSpc>
            </a:pPr>
            <a:r>
              <a:rPr kumimoji="1" lang="zh-CN" altLang="en-US" sz="2400" b="1" kern="0" dirty="0">
                <a:solidFill>
                  <a:srgbClr val="0066FF"/>
                </a:solidFill>
              </a:rPr>
              <a:t>主存储器：</a:t>
            </a:r>
            <a:r>
              <a:rPr lang="zh-CN" altLang="en-US" sz="2400" dirty="0"/>
              <a:t>也称内存、主存或可执行存储器</a:t>
            </a:r>
            <a:endParaRPr lang="en-US" altLang="zh-CN" sz="2400" dirty="0"/>
          </a:p>
          <a:p>
            <a:pPr marL="342900" indent="-342900">
              <a:lnSpc>
                <a:spcPct val="110000"/>
              </a:lnSpc>
              <a:buBlip>
                <a:blip r:embed="rId3"/>
              </a:buBlip>
            </a:pPr>
            <a:r>
              <a:rPr lang="en-US" altLang="zh-CN" sz="2400" dirty="0"/>
              <a:t>CPU</a:t>
            </a:r>
            <a:r>
              <a:rPr lang="zh-CN" altLang="en-US" sz="2400" dirty="0"/>
              <a:t>的控制部件只能从主存储器中取得指令和数据；</a:t>
            </a:r>
            <a:endParaRPr lang="en-US" altLang="zh-CN" sz="2400" dirty="0"/>
          </a:p>
          <a:p>
            <a:pPr marL="342900" indent="-342900">
              <a:lnSpc>
                <a:spcPct val="110000"/>
              </a:lnSpc>
              <a:buBlip>
                <a:blip r:embed="rId3"/>
              </a:buBlip>
            </a:pPr>
            <a:r>
              <a:rPr lang="en-US" altLang="zh-CN" sz="2400" dirty="0"/>
              <a:t>CPU</a:t>
            </a:r>
            <a:r>
              <a:rPr lang="zh-CN" altLang="en-US" sz="2400" dirty="0"/>
              <a:t>与外围设备交换的信息一般依托于主存储器地址空间。</a:t>
            </a:r>
          </a:p>
        </p:txBody>
      </p:sp>
      <p:sp>
        <p:nvSpPr>
          <p:cNvPr id="19" name="AutoShape 12"/>
          <p:cNvSpPr>
            <a:spLocks noChangeArrowheads="1"/>
          </p:cNvSpPr>
          <p:nvPr/>
        </p:nvSpPr>
        <p:spPr bwMode="auto">
          <a:xfrm flipH="1">
            <a:off x="6286175" y="1580421"/>
            <a:ext cx="4470450" cy="790298"/>
          </a:xfrm>
          <a:prstGeom prst="homePlate">
            <a:avLst>
              <a:gd name="adj" fmla="val 63872"/>
            </a:avLst>
          </a:prstGeom>
          <a:solidFill>
            <a:schemeClr val="accent2"/>
          </a:solidFill>
          <a:ln w="9525">
            <a:noFill/>
            <a:miter lim="800000"/>
          </a:ln>
        </p:spPr>
        <p:txBody>
          <a:bodyPr wrap="none" lIns="91472" tIns="45736" rIns="91472" bIns="45736" anchor="ctr"/>
          <a:lstStyle/>
          <a:p>
            <a:pPr algn="ctr"/>
            <a:r>
              <a:rPr lang="zh-CN" altLang="en-US" sz="2800" b="1" dirty="0">
                <a:solidFill>
                  <a:prstClr val="white"/>
                </a:solidFill>
                <a:cs typeface="+mn-ea"/>
                <a:sym typeface="+mn-lt"/>
              </a:rPr>
              <a:t>寄存器</a:t>
            </a:r>
          </a:p>
        </p:txBody>
      </p:sp>
      <p:sp>
        <p:nvSpPr>
          <p:cNvPr id="14" name="文本框 25"/>
          <p:cNvSpPr txBox="1">
            <a:spLocks noChangeArrowheads="1"/>
          </p:cNvSpPr>
          <p:nvPr/>
        </p:nvSpPr>
        <p:spPr bwMode="auto">
          <a:xfrm>
            <a:off x="902970" y="212725"/>
            <a:ext cx="2924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主存储器与寄存器</a:t>
            </a:r>
          </a:p>
        </p:txBody>
      </p:sp>
      <p:sp>
        <p:nvSpPr>
          <p:cNvPr id="18" name="TextBox 17"/>
          <p:cNvSpPr txBox="1"/>
          <p:nvPr/>
        </p:nvSpPr>
        <p:spPr>
          <a:xfrm>
            <a:off x="6433451" y="2550206"/>
            <a:ext cx="4175898" cy="2123691"/>
          </a:xfrm>
          <a:prstGeom prst="rect">
            <a:avLst/>
          </a:prstGeom>
          <a:noFill/>
          <a:ln>
            <a:noFill/>
          </a:ln>
        </p:spPr>
        <p:txBody>
          <a:bodyPr wrap="square" lIns="91472" tIns="45736" rIns="91472" bIns="45736" rtlCol="0">
            <a:spAutoFit/>
          </a:bodyPr>
          <a:lstStyle/>
          <a:p>
            <a:pPr marL="342900" indent="-342900">
              <a:lnSpc>
                <a:spcPct val="110000"/>
              </a:lnSpc>
              <a:buBlip>
                <a:blip r:embed="rId3"/>
              </a:buBlip>
            </a:pPr>
            <a:r>
              <a:rPr lang="zh-CN" altLang="en-US" sz="2400" dirty="0"/>
              <a:t>访问速度最快，完全能与</a:t>
            </a:r>
            <a:r>
              <a:rPr lang="en-US" altLang="zh-CN" sz="2400" dirty="0"/>
              <a:t>CPU</a:t>
            </a:r>
            <a:r>
              <a:rPr lang="zh-CN" altLang="en-US" sz="2400" dirty="0"/>
              <a:t>协调工作；</a:t>
            </a:r>
            <a:endParaRPr lang="en-US" altLang="zh-CN" sz="2400" dirty="0"/>
          </a:p>
          <a:p>
            <a:pPr marL="342900" indent="-342900">
              <a:lnSpc>
                <a:spcPct val="110000"/>
              </a:lnSpc>
              <a:buBlip>
                <a:blip r:embed="rId3"/>
              </a:buBlip>
            </a:pPr>
            <a:r>
              <a:rPr lang="zh-CN" altLang="en-US" sz="2400" dirty="0"/>
              <a:t>容量小、价格昂贵；</a:t>
            </a:r>
            <a:endParaRPr lang="en-US" altLang="zh-CN" sz="2400" dirty="0"/>
          </a:p>
          <a:p>
            <a:pPr marL="342900" indent="-342900">
              <a:lnSpc>
                <a:spcPct val="110000"/>
              </a:lnSpc>
              <a:buBlip>
                <a:blip r:embed="rId3"/>
              </a:buBlip>
            </a:pPr>
            <a:r>
              <a:rPr lang="zh-CN" altLang="en-US" sz="2400" dirty="0"/>
              <a:t>寄存器的长度一般以字（</a:t>
            </a:r>
            <a:r>
              <a:rPr lang="en-US" altLang="zh-CN" sz="2400" dirty="0"/>
              <a:t>word</a:t>
            </a:r>
            <a:r>
              <a:rPr lang="zh-CN" altLang="en-US" sz="2400" dirty="0"/>
              <a:t>）为单位。</a:t>
            </a:r>
          </a:p>
        </p:txBody>
      </p:sp>
    </p:spTree>
    <p:extLst>
      <p:ext uri="{BB962C8B-B14F-4D97-AF65-F5344CB8AC3E}">
        <p14:creationId xmlns:p14="http://schemas.microsoft.com/office/powerpoint/2010/main" val="185529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1+#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par>
                                <p:cTn id="19" presetID="22" presetClass="entr" presetSubtype="8" fill="hold" grpId="0" nodeType="withEffect">
                                  <p:stCondLst>
                                    <p:cond delay="0"/>
                                  </p:stCondLst>
                                  <p:iterate type="lt">
                                    <p:tmPct val="30000"/>
                                  </p:iterate>
                                  <p:childTnLst>
                                    <p:set>
                                      <p:cBhvr>
                                        <p:cTn id="20" dur="1" fill="hold">
                                          <p:stCondLst>
                                            <p:cond delay="0"/>
                                          </p:stCondLst>
                                        </p:cTn>
                                        <p:tgtEl>
                                          <p:spTgt spid="17"/>
                                        </p:tgtEl>
                                        <p:attrNameLst>
                                          <p:attrName>style.visibility</p:attrName>
                                        </p:attrNameLst>
                                      </p:cBhvr>
                                      <p:to>
                                        <p:strVal val="visible"/>
                                      </p:to>
                                    </p:set>
                                    <p:animEffect transition="in" filter="wipe(left)">
                                      <p:cBhvr>
                                        <p:cTn id="21" dur="100"/>
                                        <p:tgtEl>
                                          <p:spTgt spid="17"/>
                                        </p:tgtEl>
                                      </p:cBhvr>
                                    </p:animEffect>
                                  </p:childTnLst>
                                </p:cTn>
                              </p:par>
                              <p:par>
                                <p:cTn id="22" presetID="36" presetClass="emph" presetSubtype="0" fill="hold" grpId="1" nodeType="withEffect">
                                  <p:stCondLst>
                                    <p:cond delay="0"/>
                                  </p:stCondLst>
                                  <p:iterate type="lt">
                                    <p:tmPct val="30000"/>
                                  </p:iterate>
                                  <p:childTnLst>
                                    <p:animScale>
                                      <p:cBhvr>
                                        <p:cTn id="23" dur="50" autoRev="1" fill="hold">
                                          <p:stCondLst>
                                            <p:cond delay="0"/>
                                          </p:stCondLst>
                                        </p:cTn>
                                        <p:tgtEl>
                                          <p:spTgt spid="17"/>
                                        </p:tgtEl>
                                      </p:cBhvr>
                                      <p:to x="80000" y="100000"/>
                                    </p:animScale>
                                    <p:anim by="(#ppt_w*0.10)" calcmode="lin" valueType="num">
                                      <p:cBhvr>
                                        <p:cTn id="24" dur="50" autoRev="1" fill="hold">
                                          <p:stCondLst>
                                            <p:cond delay="0"/>
                                          </p:stCondLst>
                                        </p:cTn>
                                        <p:tgtEl>
                                          <p:spTgt spid="17"/>
                                        </p:tgtEl>
                                        <p:attrNameLst>
                                          <p:attrName>ppt_x</p:attrName>
                                        </p:attrNameLst>
                                      </p:cBhvr>
                                    </p:anim>
                                    <p:anim by="(-#ppt_w*0.10)" calcmode="lin" valueType="num">
                                      <p:cBhvr>
                                        <p:cTn id="25" dur="50" autoRev="1" fill="hold">
                                          <p:stCondLst>
                                            <p:cond delay="0"/>
                                          </p:stCondLst>
                                        </p:cTn>
                                        <p:tgtEl>
                                          <p:spTgt spid="17"/>
                                        </p:tgtEl>
                                        <p:attrNameLst>
                                          <p:attrName>ppt_y</p:attrName>
                                        </p:attrNameLst>
                                      </p:cBhvr>
                                    </p:anim>
                                    <p:animRot by="-480000">
                                      <p:cBhvr>
                                        <p:cTn id="26" dur="50" autoRev="1" fill="hold">
                                          <p:stCondLst>
                                            <p:cond delay="0"/>
                                          </p:stCondLst>
                                        </p:cTn>
                                        <p:tgtEl>
                                          <p:spTgt spid="17"/>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500"/>
                                        <p:tgtEl>
                                          <p:spTgt spid="22"/>
                                        </p:tgtEl>
                                      </p:cBhvr>
                                    </p:animEffect>
                                  </p:childTnLst>
                                </p:cTn>
                              </p:par>
                              <p:par>
                                <p:cTn id="32" presetID="22" presetClass="entr" presetSubtype="8" fill="hold" grpId="0" nodeType="withEffect">
                                  <p:stCondLst>
                                    <p:cond delay="0"/>
                                  </p:stCondLst>
                                  <p:iterate type="lt">
                                    <p:tmPct val="30000"/>
                                  </p:iterate>
                                  <p:childTnLst>
                                    <p:set>
                                      <p:cBhvr>
                                        <p:cTn id="33" dur="1" fill="hold">
                                          <p:stCondLst>
                                            <p:cond delay="0"/>
                                          </p:stCondLst>
                                        </p:cTn>
                                        <p:tgtEl>
                                          <p:spTgt spid="18"/>
                                        </p:tgtEl>
                                        <p:attrNameLst>
                                          <p:attrName>style.visibility</p:attrName>
                                        </p:attrNameLst>
                                      </p:cBhvr>
                                      <p:to>
                                        <p:strVal val="visible"/>
                                      </p:to>
                                    </p:set>
                                    <p:animEffect transition="in" filter="wipe(left)">
                                      <p:cBhvr>
                                        <p:cTn id="34" dur="100"/>
                                        <p:tgtEl>
                                          <p:spTgt spid="18"/>
                                        </p:tgtEl>
                                      </p:cBhvr>
                                    </p:animEffect>
                                  </p:childTnLst>
                                </p:cTn>
                              </p:par>
                              <p:par>
                                <p:cTn id="35" presetID="36" presetClass="emph" presetSubtype="0" fill="hold" grpId="1" nodeType="withEffect">
                                  <p:stCondLst>
                                    <p:cond delay="0"/>
                                  </p:stCondLst>
                                  <p:iterate type="lt">
                                    <p:tmPct val="30000"/>
                                  </p:iterate>
                                  <p:childTnLst>
                                    <p:animScale>
                                      <p:cBhvr>
                                        <p:cTn id="36" dur="50" autoRev="1" fill="hold">
                                          <p:stCondLst>
                                            <p:cond delay="0"/>
                                          </p:stCondLst>
                                        </p:cTn>
                                        <p:tgtEl>
                                          <p:spTgt spid="18"/>
                                        </p:tgtEl>
                                      </p:cBhvr>
                                      <p:to x="80000" y="100000"/>
                                    </p:animScale>
                                    <p:anim by="(#ppt_w*0.10)" calcmode="lin" valueType="num">
                                      <p:cBhvr>
                                        <p:cTn id="37" dur="50" autoRev="1" fill="hold">
                                          <p:stCondLst>
                                            <p:cond delay="0"/>
                                          </p:stCondLst>
                                        </p:cTn>
                                        <p:tgtEl>
                                          <p:spTgt spid="18"/>
                                        </p:tgtEl>
                                        <p:attrNameLst>
                                          <p:attrName>ppt_x</p:attrName>
                                        </p:attrNameLst>
                                      </p:cBhvr>
                                    </p:anim>
                                    <p:anim by="(-#ppt_w*0.10)" calcmode="lin" valueType="num">
                                      <p:cBhvr>
                                        <p:cTn id="38" dur="50" autoRev="1" fill="hold">
                                          <p:stCondLst>
                                            <p:cond delay="0"/>
                                          </p:stCondLst>
                                        </p:cTn>
                                        <p:tgtEl>
                                          <p:spTgt spid="18"/>
                                        </p:tgtEl>
                                        <p:attrNameLst>
                                          <p:attrName>ppt_y</p:attrName>
                                        </p:attrNameLst>
                                      </p:cBhvr>
                                    </p:anim>
                                    <p:animRot by="-480000">
                                      <p:cBhvr>
                                        <p:cTn id="39"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5" grpId="0" animBg="1"/>
      <p:bldP spid="16" grpId="0" animBg="1"/>
      <p:bldP spid="17" grpId="0"/>
      <p:bldP spid="17" grpId="1"/>
      <p:bldP spid="19" grpId="0" animBg="1"/>
      <p:bldP spid="18" grpId="0"/>
      <p:bldP spid="1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高速缓存和磁盘缓存</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2" name="矩形 11"/>
          <p:cNvSpPr/>
          <p:nvPr/>
        </p:nvSpPr>
        <p:spPr>
          <a:xfrm>
            <a:off x="3361088" y="4110430"/>
            <a:ext cx="6268775" cy="134096"/>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sp>
        <p:nvSpPr>
          <p:cNvPr id="13" name="矩形 12"/>
          <p:cNvSpPr/>
          <p:nvPr/>
        </p:nvSpPr>
        <p:spPr>
          <a:xfrm>
            <a:off x="2784650" y="1743569"/>
            <a:ext cx="6268775" cy="134096"/>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72" tIns="45736" rIns="91472" bIns="45736" rtlCol="0" anchor="ctr"/>
          <a:lstStyle/>
          <a:p>
            <a:pPr algn="ctr"/>
            <a:endParaRPr lang="zh-CN" altLang="en-US">
              <a:cs typeface="+mn-ea"/>
              <a:sym typeface="+mn-lt"/>
            </a:endParaRPr>
          </a:p>
        </p:txBody>
      </p:sp>
      <p:sp>
        <p:nvSpPr>
          <p:cNvPr id="14" name="椭圆 64"/>
          <p:cNvSpPr>
            <a:spLocks noChangeArrowheads="1"/>
          </p:cNvSpPr>
          <p:nvPr/>
        </p:nvSpPr>
        <p:spPr bwMode="auto">
          <a:xfrm>
            <a:off x="1271499" y="1413570"/>
            <a:ext cx="1659809" cy="1658432"/>
          </a:xfrm>
          <a:prstGeom prst="ellipse">
            <a:avLst/>
          </a:prstGeom>
          <a:solidFill>
            <a:schemeClr val="accent1"/>
          </a:solidFill>
          <a:ln w="190500" cap="sq" cmpd="sng">
            <a:solidFill>
              <a:schemeClr val="bg1">
                <a:lumMod val="65000"/>
              </a:schemeClr>
            </a:solidFill>
            <a:round/>
          </a:ln>
        </p:spPr>
        <p:txBody>
          <a:bodyPr lIns="91472" tIns="45736" rIns="91472" bIns="45736" anchor="ctr"/>
          <a:lstStyle/>
          <a:p>
            <a:pPr algn="ctr"/>
            <a:r>
              <a:rPr lang="zh-CN" altLang="en-US" sz="2800" b="1" dirty="0">
                <a:solidFill>
                  <a:schemeClr val="bg1"/>
                </a:solidFill>
                <a:cs typeface="+mn-ea"/>
                <a:sym typeface="+mn-lt"/>
              </a:rPr>
              <a:t>高速缓存</a:t>
            </a:r>
            <a:endParaRPr lang="zh-CN" altLang="zh-CN" sz="2800" b="1" dirty="0">
              <a:solidFill>
                <a:schemeClr val="bg1"/>
              </a:solidFill>
              <a:cs typeface="+mn-ea"/>
              <a:sym typeface="+mn-lt"/>
            </a:endParaRPr>
          </a:p>
        </p:txBody>
      </p:sp>
      <p:sp>
        <p:nvSpPr>
          <p:cNvPr id="16" name="椭圆 64"/>
          <p:cNvSpPr>
            <a:spLocks noChangeArrowheads="1"/>
          </p:cNvSpPr>
          <p:nvPr/>
        </p:nvSpPr>
        <p:spPr bwMode="auto">
          <a:xfrm>
            <a:off x="9413700" y="3497287"/>
            <a:ext cx="1659809" cy="1658432"/>
          </a:xfrm>
          <a:prstGeom prst="ellipse">
            <a:avLst/>
          </a:prstGeom>
          <a:solidFill>
            <a:schemeClr val="accent1"/>
          </a:solidFill>
          <a:ln w="190500" cap="sq" cmpd="sng">
            <a:solidFill>
              <a:schemeClr val="bg1">
                <a:lumMod val="65000"/>
              </a:schemeClr>
            </a:solidFill>
            <a:round/>
          </a:ln>
        </p:spPr>
        <p:txBody>
          <a:bodyPr lIns="91472" tIns="45736" rIns="91472" bIns="45736" anchor="ctr"/>
          <a:lstStyle/>
          <a:p>
            <a:pPr algn="ctr"/>
            <a:r>
              <a:rPr lang="zh-CN" altLang="en-US" sz="2800" b="1" dirty="0">
                <a:solidFill>
                  <a:schemeClr val="bg1"/>
                </a:solidFill>
                <a:cs typeface="+mn-ea"/>
                <a:sym typeface="+mn-lt"/>
              </a:rPr>
              <a:t>磁盘缓存</a:t>
            </a:r>
            <a:endParaRPr lang="zh-CN" altLang="zh-CN" sz="2800" b="1" dirty="0">
              <a:solidFill>
                <a:schemeClr val="bg1"/>
              </a:solidFill>
              <a:cs typeface="+mn-ea"/>
              <a:sym typeface="+mn-lt"/>
            </a:endParaRPr>
          </a:p>
        </p:txBody>
      </p:sp>
      <p:sp>
        <p:nvSpPr>
          <p:cNvPr id="18" name="TextBox 17"/>
          <p:cNvSpPr txBox="1"/>
          <p:nvPr/>
        </p:nvSpPr>
        <p:spPr>
          <a:xfrm>
            <a:off x="3361087" y="1902385"/>
            <a:ext cx="5692337" cy="1954413"/>
          </a:xfrm>
          <a:prstGeom prst="rect">
            <a:avLst/>
          </a:prstGeom>
          <a:noFill/>
          <a:ln>
            <a:noFill/>
          </a:ln>
        </p:spPr>
        <p:txBody>
          <a:bodyPr wrap="square" lIns="91472" tIns="45736" rIns="91472" bIns="45736" rtlCol="0">
            <a:spAutoFit/>
          </a:bodyPr>
          <a:lstStyle/>
          <a:p>
            <a:pPr marL="342900" indent="-342900">
              <a:lnSpc>
                <a:spcPct val="110000"/>
              </a:lnSpc>
              <a:buBlip>
                <a:blip r:embed="rId3"/>
              </a:buBlip>
            </a:pPr>
            <a:r>
              <a:rPr lang="zh-CN" altLang="en-US" sz="2200" dirty="0"/>
              <a:t>容量大于寄存器，但比内存小，访问速度快于主存储器。</a:t>
            </a:r>
            <a:endParaRPr lang="en-US" altLang="zh-CN" sz="2200" dirty="0"/>
          </a:p>
          <a:p>
            <a:pPr marL="342900" indent="-342900">
              <a:lnSpc>
                <a:spcPct val="110000"/>
              </a:lnSpc>
              <a:buBlip>
                <a:blip r:embed="rId3"/>
              </a:buBlip>
            </a:pPr>
            <a:r>
              <a:rPr lang="zh-CN" altLang="en-US" sz="2200" dirty="0"/>
              <a:t>根据程序执行局部性原理，将主存中一些经常访问的信息存放在高速缓存中，减少访问主存储器的次数，提高程序执行速度。</a:t>
            </a:r>
          </a:p>
        </p:txBody>
      </p:sp>
      <p:sp>
        <p:nvSpPr>
          <p:cNvPr id="19" name="TextBox 18"/>
          <p:cNvSpPr txBox="1"/>
          <p:nvPr/>
        </p:nvSpPr>
        <p:spPr>
          <a:xfrm>
            <a:off x="3361086" y="4420615"/>
            <a:ext cx="5692337" cy="1667797"/>
          </a:xfrm>
          <a:prstGeom prst="rect">
            <a:avLst/>
          </a:prstGeom>
          <a:noFill/>
          <a:ln>
            <a:noFill/>
          </a:ln>
        </p:spPr>
        <p:txBody>
          <a:bodyPr wrap="square" lIns="91472" tIns="45736" rIns="91472" bIns="45736" rtlCol="0">
            <a:spAutoFit/>
          </a:bodyPr>
          <a:lstStyle/>
          <a:p>
            <a:pPr marL="342900" indent="-342900">
              <a:lnSpc>
                <a:spcPct val="110000"/>
              </a:lnSpc>
              <a:buBlip>
                <a:blip r:embed="rId3"/>
              </a:buBlip>
            </a:pPr>
            <a:r>
              <a:rPr lang="zh-CN" altLang="en-US" sz="2400" dirty="0"/>
              <a:t>存放外部存储器中频繁使用的一部分磁盘数据和信息</a:t>
            </a:r>
            <a:endParaRPr lang="en-US" altLang="zh-CN" sz="2400" dirty="0"/>
          </a:p>
          <a:p>
            <a:pPr marL="342900" indent="-342900">
              <a:lnSpc>
                <a:spcPct val="110000"/>
              </a:lnSpc>
              <a:buBlip>
                <a:blip r:embed="rId3"/>
              </a:buBlip>
            </a:pPr>
            <a:r>
              <a:rPr lang="zh-CN" altLang="en-US" sz="2400" dirty="0"/>
              <a:t>利用主存中的存储空间，来暂存从磁盘中读出的信息</a:t>
            </a:r>
          </a:p>
        </p:txBody>
      </p:sp>
    </p:spTree>
    <p:extLst>
      <p:ext uri="{BB962C8B-B14F-4D97-AF65-F5344CB8AC3E}">
        <p14:creationId xmlns:p14="http://schemas.microsoft.com/office/powerpoint/2010/main" val="356716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8" presetClass="emph" presetSubtype="0" fill="hold" grpId="1" nodeType="withEffect">
                                  <p:stCondLst>
                                    <p:cond delay="0"/>
                                  </p:stCondLst>
                                  <p:childTnLst>
                                    <p:animRot by="21600000">
                                      <p:cBhvr>
                                        <p:cTn id="10" dur="500" fill="hold"/>
                                        <p:tgtEl>
                                          <p:spTgt spid="14"/>
                                        </p:tgtEl>
                                        <p:attrNameLst>
                                          <p:attrName>r</p:attrName>
                                        </p:attrNameLst>
                                      </p:cBhvr>
                                    </p:animRo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1+#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cTn>
                              </p:par>
                              <p:par>
                                <p:cTn id="20" presetID="8" presetClass="emph" presetSubtype="0" fill="hold" grpId="1" nodeType="withEffect">
                                  <p:stCondLst>
                                    <p:cond delay="0"/>
                                  </p:stCondLst>
                                  <p:childTnLst>
                                    <p:animRot by="-21600000">
                                      <p:cBhvr>
                                        <p:cTn id="21" dur="500" fill="hold"/>
                                        <p:tgtEl>
                                          <p:spTgt spid="16"/>
                                        </p:tgtEl>
                                        <p:attrNameLst>
                                          <p:attrName>r</p:attrName>
                                        </p:attrNameLst>
                                      </p:cBhvr>
                                    </p:animRot>
                                  </p:childTnLst>
                                </p:cTn>
                              </p:par>
                            </p:childTnLst>
                          </p:cTn>
                        </p:par>
                        <p:par>
                          <p:cTn id="22" fill="hold">
                            <p:stCondLst>
                              <p:cond delay="1500"/>
                            </p:stCondLst>
                            <p:childTnLst>
                              <p:par>
                                <p:cTn id="23" presetID="22" presetClass="entr" presetSubtype="2"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wipe(down)">
                                      <p:cBhvr>
                                        <p:cTn id="30" dur="500"/>
                                        <p:tgtEl>
                                          <p:spTgt spid="18">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8">
                                            <p:txEl>
                                              <p:pRg st="1" end="1"/>
                                            </p:txEl>
                                          </p:spTgt>
                                        </p:tgtEl>
                                        <p:attrNameLst>
                                          <p:attrName>style.visibility</p:attrName>
                                        </p:attrNameLst>
                                      </p:cBhvr>
                                      <p:to>
                                        <p:strVal val="visible"/>
                                      </p:to>
                                    </p:set>
                                    <p:animEffect transition="in" filter="wipe(down)">
                                      <p:cBhvr>
                                        <p:cTn id="35" dur="500"/>
                                        <p:tgtEl>
                                          <p:spTgt spid="1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barn(inVertical)">
                                      <p:cBhvr>
                                        <p:cTn id="40" dur="500"/>
                                        <p:tgtEl>
                                          <p:spTgt spid="1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19">
                                            <p:txEl>
                                              <p:pRg st="1" end="1"/>
                                            </p:txEl>
                                          </p:spTgt>
                                        </p:tgtEl>
                                        <p:attrNameLst>
                                          <p:attrName>style.visibility</p:attrName>
                                        </p:attrNameLst>
                                      </p:cBhvr>
                                      <p:to>
                                        <p:strVal val="visible"/>
                                      </p:to>
                                    </p:set>
                                    <p:animEffect transition="in" filter="barn(inVertical)">
                                      <p:cBhvr>
                                        <p:cTn id="45" dur="500"/>
                                        <p:tgtEl>
                                          <p:spTgt spid="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4" grpId="1" animBg="1"/>
      <p:bldP spid="16" grpId="0" animBg="1"/>
      <p:bldP spid="1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连续分配存储管理方式</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5.2</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6" name="文本框 21"/>
          <p:cNvSpPr txBox="1">
            <a:spLocks noChangeArrowheads="1"/>
          </p:cNvSpPr>
          <p:nvPr/>
        </p:nvSpPr>
        <p:spPr bwMode="auto">
          <a:xfrm>
            <a:off x="2439935" y="3087211"/>
            <a:ext cx="7279201"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         为了能将用户程序装入内存，必须为它分配一定大小的内存空间。连续分配方式为一个用户程序分配一个连续的内存空间，即程序中代码或数据的逻辑地址相邻，体现在内存空间分配时物理地址的相邻。连续分配方式可分为：</a:t>
            </a:r>
            <a:endParaRPr lang="en-US" altLang="zh-CN" sz="2400" dirty="0"/>
          </a:p>
        </p:txBody>
      </p:sp>
      <p:sp>
        <p:nvSpPr>
          <p:cNvPr id="17" name="文本框 54"/>
          <p:cNvSpPr txBox="1">
            <a:spLocks noChangeArrowheads="1"/>
          </p:cNvSpPr>
          <p:nvPr/>
        </p:nvSpPr>
        <p:spPr bwMode="auto">
          <a:xfrm>
            <a:off x="5464723" y="4653068"/>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单一连续分配</a:t>
            </a:r>
          </a:p>
        </p:txBody>
      </p:sp>
      <p:sp>
        <p:nvSpPr>
          <p:cNvPr id="18" name="文本框 54"/>
          <p:cNvSpPr txBox="1">
            <a:spLocks noChangeArrowheads="1"/>
          </p:cNvSpPr>
          <p:nvPr/>
        </p:nvSpPr>
        <p:spPr bwMode="auto">
          <a:xfrm>
            <a:off x="5482651" y="5162979"/>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固定分区分配</a:t>
            </a:r>
          </a:p>
        </p:txBody>
      </p:sp>
      <p:sp>
        <p:nvSpPr>
          <p:cNvPr id="19" name="文本框 54"/>
          <p:cNvSpPr txBox="1">
            <a:spLocks noChangeArrowheads="1"/>
          </p:cNvSpPr>
          <p:nvPr/>
        </p:nvSpPr>
        <p:spPr bwMode="auto">
          <a:xfrm>
            <a:off x="5464723" y="5702187"/>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动态分区分配</a:t>
            </a:r>
          </a:p>
        </p:txBody>
      </p:sp>
      <p:sp>
        <p:nvSpPr>
          <p:cNvPr id="20" name="文本框 54"/>
          <p:cNvSpPr txBox="1">
            <a:spLocks noChangeArrowheads="1"/>
          </p:cNvSpPr>
          <p:nvPr/>
        </p:nvSpPr>
        <p:spPr bwMode="auto">
          <a:xfrm>
            <a:off x="5482651" y="6226635"/>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动态可重定位分区分配</a:t>
            </a:r>
          </a:p>
        </p:txBody>
      </p:sp>
      <p:sp>
        <p:nvSpPr>
          <p:cNvPr id="21" name="AutoShape 115"/>
          <p:cNvSpPr>
            <a:spLocks/>
          </p:cNvSpPr>
          <p:nvPr/>
        </p:nvSpPr>
        <p:spPr bwMode="auto">
          <a:xfrm>
            <a:off x="5225787" y="4732515"/>
            <a:ext cx="266700" cy="2936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rgbClr val="404040"/>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22" name="AutoShape 115"/>
          <p:cNvSpPr>
            <a:spLocks/>
          </p:cNvSpPr>
          <p:nvPr/>
        </p:nvSpPr>
        <p:spPr bwMode="auto">
          <a:xfrm>
            <a:off x="5261661" y="5221035"/>
            <a:ext cx="266700" cy="2936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rgbClr val="404040"/>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23" name="AutoShape 115"/>
          <p:cNvSpPr>
            <a:spLocks/>
          </p:cNvSpPr>
          <p:nvPr/>
        </p:nvSpPr>
        <p:spPr bwMode="auto">
          <a:xfrm>
            <a:off x="5261661" y="5777681"/>
            <a:ext cx="266700" cy="2936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rgbClr val="404040"/>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24" name="AutoShape 115"/>
          <p:cNvSpPr>
            <a:spLocks/>
          </p:cNvSpPr>
          <p:nvPr/>
        </p:nvSpPr>
        <p:spPr bwMode="auto">
          <a:xfrm>
            <a:off x="5261661" y="6279846"/>
            <a:ext cx="266700" cy="2936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rgbClr val="404040"/>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Tree>
    <p:extLst>
      <p:ext uri="{BB962C8B-B14F-4D97-AF65-F5344CB8AC3E}">
        <p14:creationId xmlns:p14="http://schemas.microsoft.com/office/powerpoint/2010/main" val="280703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strVal val="#ppt_w+.3"/>
                                          </p:val>
                                        </p:tav>
                                        <p:tav tm="100000">
                                          <p:val>
                                            <p:strVal val="#ppt_w"/>
                                          </p:val>
                                        </p:tav>
                                      </p:tavLst>
                                    </p:anim>
                                    <p:anim calcmode="lin" valueType="num">
                                      <p:cBhvr>
                                        <p:cTn id="15" dur="500" fill="hold"/>
                                        <p:tgtEl>
                                          <p:spTgt spid="17"/>
                                        </p:tgtEl>
                                        <p:attrNameLst>
                                          <p:attrName>ppt_h</p:attrName>
                                        </p:attrNameLst>
                                      </p:cBhvr>
                                      <p:tavLst>
                                        <p:tav tm="0">
                                          <p:val>
                                            <p:strVal val="#ppt_h"/>
                                          </p:val>
                                        </p:tav>
                                        <p:tav tm="100000">
                                          <p:val>
                                            <p:strVal val="#ppt_h"/>
                                          </p:val>
                                        </p:tav>
                                      </p:tavLst>
                                    </p:anim>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50" presetClass="entr" presetSubtype="0" decel="100000" fill="hold" grpId="0" nodeType="clickEffect">
                                  <p:stCondLst>
                                    <p:cond delay="0"/>
                                  </p:stCondLst>
                                  <p:iterate type="lt">
                                    <p:tmPct val="5000"/>
                                  </p:iterate>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strVal val="#ppt_w+.3"/>
                                          </p:val>
                                        </p:tav>
                                        <p:tav tm="100000">
                                          <p:val>
                                            <p:strVal val="#ppt_w"/>
                                          </p:val>
                                        </p:tav>
                                      </p:tavLst>
                                    </p:anim>
                                    <p:anim calcmode="lin" valueType="num">
                                      <p:cBhvr>
                                        <p:cTn id="22" dur="500" fill="hold"/>
                                        <p:tgtEl>
                                          <p:spTgt spid="18"/>
                                        </p:tgtEl>
                                        <p:attrNameLst>
                                          <p:attrName>ppt_h</p:attrName>
                                        </p:attrNameLst>
                                      </p:cBhvr>
                                      <p:tavLst>
                                        <p:tav tm="0">
                                          <p:val>
                                            <p:strVal val="#ppt_h"/>
                                          </p:val>
                                        </p:tav>
                                        <p:tav tm="100000">
                                          <p:val>
                                            <p:strVal val="#ppt_h"/>
                                          </p:val>
                                        </p:tav>
                                      </p:tavLst>
                                    </p:anim>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50" presetClass="entr" presetSubtype="0" decel="100000" fill="hold" grpId="0" nodeType="clickEffect">
                                  <p:stCondLst>
                                    <p:cond delay="0"/>
                                  </p:stCondLst>
                                  <p:iterate type="lt">
                                    <p:tmPct val="5000"/>
                                  </p:iterate>
                                  <p:childTnLst>
                                    <p:set>
                                      <p:cBhvr>
                                        <p:cTn id="27" dur="1" fill="hold">
                                          <p:stCondLst>
                                            <p:cond delay="0"/>
                                          </p:stCondLst>
                                        </p:cTn>
                                        <p:tgtEl>
                                          <p:spTgt spid="19"/>
                                        </p:tgtEl>
                                        <p:attrNameLst>
                                          <p:attrName>style.visibility</p:attrName>
                                        </p:attrNameLst>
                                      </p:cBhvr>
                                      <p:to>
                                        <p:strVal val="visible"/>
                                      </p:to>
                                    </p:set>
                                    <p:anim calcmode="lin" valueType="num">
                                      <p:cBhvr>
                                        <p:cTn id="28" dur="500" fill="hold"/>
                                        <p:tgtEl>
                                          <p:spTgt spid="19"/>
                                        </p:tgtEl>
                                        <p:attrNameLst>
                                          <p:attrName>ppt_w</p:attrName>
                                        </p:attrNameLst>
                                      </p:cBhvr>
                                      <p:tavLst>
                                        <p:tav tm="0">
                                          <p:val>
                                            <p:strVal val="#ppt_w+.3"/>
                                          </p:val>
                                        </p:tav>
                                        <p:tav tm="100000">
                                          <p:val>
                                            <p:strVal val="#ppt_w"/>
                                          </p:val>
                                        </p:tav>
                                      </p:tavLst>
                                    </p:anim>
                                    <p:anim calcmode="lin" valueType="num">
                                      <p:cBhvr>
                                        <p:cTn id="29" dur="500" fill="hold"/>
                                        <p:tgtEl>
                                          <p:spTgt spid="19"/>
                                        </p:tgtEl>
                                        <p:attrNameLst>
                                          <p:attrName>ppt_h</p:attrName>
                                        </p:attrNameLst>
                                      </p:cBhvr>
                                      <p:tavLst>
                                        <p:tav tm="0">
                                          <p:val>
                                            <p:strVal val="#ppt_h"/>
                                          </p:val>
                                        </p:tav>
                                        <p:tav tm="100000">
                                          <p:val>
                                            <p:strVal val="#ppt_h"/>
                                          </p:val>
                                        </p:tav>
                                      </p:tavLst>
                                    </p:anim>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50" presetClass="entr" presetSubtype="0" decel="100000" fill="hold" grpId="0" nodeType="clickEffect">
                                  <p:stCondLst>
                                    <p:cond delay="0"/>
                                  </p:stCondLst>
                                  <p:iterate type="lt">
                                    <p:tmPct val="5000"/>
                                  </p:iterate>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strVal val="#ppt_w+.3"/>
                                          </p:val>
                                        </p:tav>
                                        <p:tav tm="100000">
                                          <p:val>
                                            <p:strVal val="#ppt_w"/>
                                          </p:val>
                                        </p:tav>
                                      </p:tavLst>
                                    </p:anim>
                                    <p:anim calcmode="lin" valueType="num">
                                      <p:cBhvr>
                                        <p:cTn id="36" dur="500" fill="hold"/>
                                        <p:tgtEl>
                                          <p:spTgt spid="20"/>
                                        </p:tgtEl>
                                        <p:attrNameLst>
                                          <p:attrName>ppt_h</p:attrName>
                                        </p:attrNameLst>
                                      </p:cBhvr>
                                      <p:tavLst>
                                        <p:tav tm="0">
                                          <p:val>
                                            <p:strVal val="#ppt_h"/>
                                          </p:val>
                                        </p:tav>
                                        <p:tav tm="100000">
                                          <p:val>
                                            <p:strVal val="#ppt_h"/>
                                          </p:val>
                                        </p:tav>
                                      </p:tavLst>
                                    </p:anim>
                                    <p:animEffect transition="in" filter="fade">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单一连续分配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7" y="1895059"/>
            <a:ext cx="95341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zh-CN" sz="2400" dirty="0"/>
              <a:t>把内存分为系统区和用户区，系统区供OS使用，通常放在低址部分；系统区以外的全部内存空间是用户区。</a:t>
            </a:r>
          </a:p>
        </p:txBody>
      </p:sp>
      <p:sp>
        <p:nvSpPr>
          <p:cNvPr id="48" name="矩形 47"/>
          <p:cNvSpPr/>
          <p:nvPr/>
        </p:nvSpPr>
        <p:spPr>
          <a:xfrm>
            <a:off x="1126144" y="335453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2034194" y="335453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文本框 55"/>
          <p:cNvSpPr txBox="1">
            <a:spLocks noChangeArrowheads="1"/>
          </p:cNvSpPr>
          <p:nvPr/>
        </p:nvSpPr>
        <p:spPr bwMode="auto">
          <a:xfrm>
            <a:off x="980094" y="2821136"/>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sp>
        <p:nvSpPr>
          <p:cNvPr id="52" name="文本框 19"/>
          <p:cNvSpPr txBox="1">
            <a:spLocks noChangeArrowheads="1"/>
          </p:cNvSpPr>
          <p:nvPr/>
        </p:nvSpPr>
        <p:spPr bwMode="auto">
          <a:xfrm>
            <a:off x="1090267" y="3586937"/>
            <a:ext cx="953418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zh-CN" sz="2400" dirty="0"/>
              <a:t>只能用于单用户、单任务的OS中。</a:t>
            </a:r>
            <a:endParaRPr lang="en-US" altLang="zh-CN" sz="2400" dirty="0"/>
          </a:p>
          <a:p>
            <a:pPr marL="0" lvl="2" indent="0">
              <a:buBlip>
                <a:blip r:embed="rId3"/>
              </a:buBlip>
            </a:pPr>
            <a:r>
              <a:rPr lang="zh-CN" altLang="zh-CN" sz="2400" dirty="0"/>
              <a:t>软件简单，</a:t>
            </a:r>
            <a:r>
              <a:rPr lang="zh-CN" altLang="en-US" sz="2400" dirty="0"/>
              <a:t>对要求内存空间少的程序，造成内存浪费；</a:t>
            </a:r>
            <a:r>
              <a:rPr lang="zh-CN" altLang="zh-CN" sz="2400" dirty="0"/>
              <a:t>硬件要求低（无需存储保护）</a:t>
            </a:r>
          </a:p>
        </p:txBody>
      </p:sp>
      <p:sp>
        <p:nvSpPr>
          <p:cNvPr id="53" name="矩形 52"/>
          <p:cNvSpPr/>
          <p:nvPr/>
        </p:nvSpPr>
        <p:spPr>
          <a:xfrm>
            <a:off x="1126144" y="533573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4" name="矩形 53"/>
          <p:cNvSpPr/>
          <p:nvPr/>
        </p:nvSpPr>
        <p:spPr>
          <a:xfrm>
            <a:off x="2034194" y="533573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5" name="文本框 55"/>
          <p:cNvSpPr txBox="1">
            <a:spLocks noChangeArrowheads="1"/>
          </p:cNvSpPr>
          <p:nvPr/>
        </p:nvSpPr>
        <p:spPr bwMode="auto">
          <a:xfrm>
            <a:off x="980094" y="4802334"/>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）实例</a:t>
            </a:r>
          </a:p>
        </p:txBody>
      </p:sp>
      <p:sp>
        <p:nvSpPr>
          <p:cNvPr id="56" name="文本框 19"/>
          <p:cNvSpPr txBox="1">
            <a:spLocks noChangeArrowheads="1"/>
          </p:cNvSpPr>
          <p:nvPr/>
        </p:nvSpPr>
        <p:spPr bwMode="auto">
          <a:xfrm>
            <a:off x="1090267" y="5568135"/>
            <a:ext cx="95341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zh-CN" sz="2400" dirty="0"/>
              <a:t>CP/M，MS-DOS，RT-11</a:t>
            </a:r>
          </a:p>
        </p:txBody>
      </p:sp>
    </p:spTree>
    <p:extLst>
      <p:ext uri="{BB962C8B-B14F-4D97-AF65-F5344CB8AC3E}">
        <p14:creationId xmlns:p14="http://schemas.microsoft.com/office/powerpoint/2010/main" val="336563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Left)">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strips(downLeft)">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P spid="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固定分区分配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7" y="1895059"/>
            <a:ext cx="95341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又称定长分区或静态分区模式，是满足多道程序设计需要的最简单的存储管理技术。</a:t>
            </a:r>
            <a:endParaRPr lang="en-US" altLang="zh-CN" sz="2400" dirty="0"/>
          </a:p>
          <a:p>
            <a:pPr marL="0" lvl="2" indent="0">
              <a:buBlip>
                <a:blip r:embed="rId3"/>
              </a:buBlip>
            </a:pPr>
            <a:r>
              <a:rPr lang="zh-CN" altLang="en-US" sz="2400" dirty="0"/>
              <a:t>给进入主存的用户作业划分一块连续存储区域，把作业装入该连续存储区域，若有多个作业装入主存，则它们可并发执行。</a:t>
            </a:r>
          </a:p>
        </p:txBody>
      </p:sp>
      <p:sp>
        <p:nvSpPr>
          <p:cNvPr id="48" name="矩形 47"/>
          <p:cNvSpPr/>
          <p:nvPr/>
        </p:nvSpPr>
        <p:spPr>
          <a:xfrm>
            <a:off x="1126144" y="3993152"/>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2034194" y="3993152"/>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文本框 55"/>
          <p:cNvSpPr txBox="1">
            <a:spLocks noChangeArrowheads="1"/>
          </p:cNvSpPr>
          <p:nvPr/>
        </p:nvSpPr>
        <p:spPr bwMode="auto">
          <a:xfrm>
            <a:off x="980094" y="3459752"/>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）实现</a:t>
            </a:r>
          </a:p>
        </p:txBody>
      </p:sp>
      <p:sp>
        <p:nvSpPr>
          <p:cNvPr id="52" name="文本框 19"/>
          <p:cNvSpPr txBox="1">
            <a:spLocks noChangeArrowheads="1"/>
          </p:cNvSpPr>
          <p:nvPr/>
        </p:nvSpPr>
        <p:spPr bwMode="auto">
          <a:xfrm>
            <a:off x="1090267" y="4225553"/>
            <a:ext cx="953418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系统启动时，系统操作员根据作业情况静态地把可分配的主存储器空间（用户空间）分割成若干个连续的区域，每个区域的位置固定，大小可相同也可不同，每个分区在任何时刻最多只装入一道程序执行。</a:t>
            </a:r>
            <a:endParaRPr lang="en-US" altLang="zh-CN" sz="2400" dirty="0"/>
          </a:p>
        </p:txBody>
      </p:sp>
    </p:spTree>
    <p:extLst>
      <p:ext uri="{BB962C8B-B14F-4D97-AF65-F5344CB8AC3E}">
        <p14:creationId xmlns:p14="http://schemas.microsoft.com/office/powerpoint/2010/main" val="283453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Left)">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）划分分区的方法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固定分区分配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68088" y="1854300"/>
            <a:ext cx="63614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把内存划分为若干个固定大小的连续分区。</a:t>
            </a:r>
          </a:p>
        </p:txBody>
      </p:sp>
      <p:sp>
        <p:nvSpPr>
          <p:cNvPr id="52" name="文本框 19"/>
          <p:cNvSpPr txBox="1">
            <a:spLocks noChangeArrowheads="1"/>
          </p:cNvSpPr>
          <p:nvPr/>
        </p:nvSpPr>
        <p:spPr bwMode="auto">
          <a:xfrm>
            <a:off x="1074936" y="2315965"/>
            <a:ext cx="602939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b="1" dirty="0"/>
              <a:t>分区大小相等：</a:t>
            </a:r>
            <a:r>
              <a:rPr lang="zh-CN" altLang="en-US" sz="2400" dirty="0"/>
              <a:t>只适合于多个相同程序的并发执行（处理多个类型相同的对象）。</a:t>
            </a:r>
            <a:endParaRPr lang="en-US" altLang="zh-CN" sz="2400" dirty="0"/>
          </a:p>
          <a:p>
            <a:pPr marL="0" lvl="2" indent="0">
              <a:buBlip>
                <a:blip r:embed="rId3"/>
              </a:buBlip>
            </a:pPr>
            <a:r>
              <a:rPr lang="zh-CN" altLang="en-US" sz="2400" b="1" dirty="0"/>
              <a:t>分区大小不等：</a:t>
            </a:r>
            <a:r>
              <a:rPr lang="zh-CN" altLang="en-US" sz="2400" dirty="0"/>
              <a:t>多个小分区、适量的中等分区、少量的大分区。根据程序的大小，分配当前空闲的、适当大小的分区。</a:t>
            </a:r>
          </a:p>
        </p:txBody>
      </p:sp>
      <p:graphicFrame>
        <p:nvGraphicFramePr>
          <p:cNvPr id="16" name="Object 2"/>
          <p:cNvGraphicFramePr>
            <a:graphicFrameLocks noChangeAspect="1"/>
          </p:cNvGraphicFramePr>
          <p:nvPr/>
        </p:nvGraphicFramePr>
        <p:xfrm>
          <a:off x="7705725" y="1005522"/>
          <a:ext cx="1939925" cy="4175125"/>
        </p:xfrm>
        <a:graphic>
          <a:graphicData uri="http://schemas.openxmlformats.org/presentationml/2006/ole">
            <mc:AlternateContent xmlns:mc="http://schemas.openxmlformats.org/markup-compatibility/2006">
              <mc:Choice xmlns:v="urn:schemas-microsoft-com:vml" Requires="v">
                <p:oleObj name="VISIO" r:id="rId4" imgW="1659960" imgH="3571560" progId="Visio.Drawing.11">
                  <p:embed/>
                </p:oleObj>
              </mc:Choice>
              <mc:Fallback>
                <p:oleObj name="VISIO" r:id="rId4" imgW="1659960" imgH="3571560" progId="Visio.Drawing.11">
                  <p:embed/>
                  <p:pic>
                    <p:nvPicPr>
                      <p:cNvPr id="1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5725" y="1005522"/>
                        <a:ext cx="1939925" cy="417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3"/>
          <p:cNvGraphicFramePr>
            <a:graphicFrameLocks noChangeAspect="1"/>
          </p:cNvGraphicFramePr>
          <p:nvPr/>
        </p:nvGraphicFramePr>
        <p:xfrm>
          <a:off x="9685338" y="1003934"/>
          <a:ext cx="1965325" cy="5111750"/>
        </p:xfrm>
        <a:graphic>
          <a:graphicData uri="http://schemas.openxmlformats.org/presentationml/2006/ole">
            <mc:AlternateContent xmlns:mc="http://schemas.openxmlformats.org/markup-compatibility/2006">
              <mc:Choice xmlns:v="urn:schemas-microsoft-com:vml" Requires="v">
                <p:oleObj name="VISIO" r:id="rId6" imgW="1431360" imgH="3723840" progId="Visio.Drawing.11">
                  <p:embed/>
                </p:oleObj>
              </mc:Choice>
              <mc:Fallback>
                <p:oleObj name="VISIO" r:id="rId6" imgW="1431360" imgH="3723840" progId="Visio.Drawing.11">
                  <p:embed/>
                  <p:pic>
                    <p:nvPicPr>
                      <p:cNvPr id="1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85338" y="1003934"/>
                        <a:ext cx="1965325" cy="511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4"/>
          <p:cNvSpPr txBox="1">
            <a:spLocks noChangeArrowheads="1"/>
          </p:cNvSpPr>
          <p:nvPr/>
        </p:nvSpPr>
        <p:spPr bwMode="auto">
          <a:xfrm>
            <a:off x="7451725" y="5252084"/>
            <a:ext cx="248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3" rIns="91426" bIns="45713">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kumimoji="0" lang="zh-CN" altLang="en-US" sz="2000" b="1">
                <a:latin typeface="黑体" pitchFamily="49" charset="-122"/>
                <a:ea typeface="黑体" pitchFamily="49" charset="-122"/>
              </a:rPr>
              <a:t>固定分区</a:t>
            </a:r>
            <a:r>
              <a:rPr kumimoji="0" lang="en-US" altLang="zh-CN" sz="2000" b="1">
                <a:latin typeface="黑体" pitchFamily="49" charset="-122"/>
                <a:ea typeface="黑体" pitchFamily="49" charset="-122"/>
              </a:rPr>
              <a:t>(</a:t>
            </a:r>
            <a:r>
              <a:rPr kumimoji="0" lang="zh-CN" altLang="en-US" sz="2000" b="1">
                <a:latin typeface="黑体" pitchFamily="49" charset="-122"/>
                <a:ea typeface="黑体" pitchFamily="49" charset="-122"/>
              </a:rPr>
              <a:t>大小相同</a:t>
            </a:r>
            <a:r>
              <a:rPr kumimoji="0" lang="en-US" altLang="zh-CN" sz="2000" b="1">
                <a:latin typeface="黑体" pitchFamily="49" charset="-122"/>
                <a:ea typeface="黑体" pitchFamily="49" charset="-122"/>
              </a:rPr>
              <a:t>)</a:t>
            </a:r>
          </a:p>
        </p:txBody>
      </p:sp>
      <p:sp>
        <p:nvSpPr>
          <p:cNvPr id="19" name="Text Box 5"/>
          <p:cNvSpPr txBox="1">
            <a:spLocks noChangeArrowheads="1"/>
          </p:cNvSpPr>
          <p:nvPr/>
        </p:nvSpPr>
        <p:spPr bwMode="auto">
          <a:xfrm>
            <a:off x="9145588" y="6044247"/>
            <a:ext cx="248602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1426" tIns="45713" rIns="91426" bIns="45713">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kumimoji="0" lang="zh-CN" altLang="en-US" sz="2000" b="1">
                <a:latin typeface="黑体" pitchFamily="49" charset="-122"/>
                <a:ea typeface="黑体" pitchFamily="49" charset="-122"/>
              </a:rPr>
              <a:t>固定分区</a:t>
            </a:r>
            <a:r>
              <a:rPr kumimoji="0" lang="en-US" altLang="zh-CN" sz="2000" b="1">
                <a:latin typeface="黑体" pitchFamily="49" charset="-122"/>
                <a:ea typeface="黑体" pitchFamily="49" charset="-122"/>
              </a:rPr>
              <a:t>(</a:t>
            </a:r>
            <a:r>
              <a:rPr kumimoji="0" lang="zh-CN" altLang="en-US" sz="2000" b="1">
                <a:latin typeface="黑体" pitchFamily="49" charset="-122"/>
                <a:ea typeface="黑体" pitchFamily="49" charset="-122"/>
              </a:rPr>
              <a:t>多种大小</a:t>
            </a:r>
            <a:r>
              <a:rPr kumimoji="0" lang="en-US" altLang="zh-CN" sz="2000" b="1">
                <a:latin typeface="黑体" pitchFamily="49" charset="-122"/>
                <a:ea typeface="黑体" pitchFamily="49" charset="-122"/>
              </a:rPr>
              <a:t>)</a:t>
            </a:r>
          </a:p>
        </p:txBody>
      </p:sp>
    </p:spTree>
    <p:extLst>
      <p:ext uri="{BB962C8B-B14F-4D97-AF65-F5344CB8AC3E}">
        <p14:creationId xmlns:p14="http://schemas.microsoft.com/office/powerpoint/2010/main" val="278088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strips(downLeft)">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0032" y="161911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1918082" y="161911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863982" y="1085716"/>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）内存分配</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固定分区分配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859428" y="2286937"/>
            <a:ext cx="392425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为了便于内存分配，通常将分区按大小进行排队，并为之建立一张分区使用表。</a:t>
            </a:r>
            <a:endParaRPr lang="en-US" altLang="zh-CN" sz="2400" dirty="0"/>
          </a:p>
          <a:p>
            <a:pPr marL="0" lvl="2" indent="0">
              <a:buBlip>
                <a:blip r:embed="rId3"/>
              </a:buBlip>
            </a:pPr>
            <a:r>
              <a:rPr lang="zh-CN" altLang="en-US" sz="2400" dirty="0"/>
              <a:t>包括：每个分区的起始地址、大小及状态</a:t>
            </a:r>
          </a:p>
        </p:txBody>
      </p:sp>
      <p:sp>
        <p:nvSpPr>
          <p:cNvPr id="52" name="文本框 19"/>
          <p:cNvSpPr txBox="1">
            <a:spLocks noChangeArrowheads="1"/>
          </p:cNvSpPr>
          <p:nvPr/>
        </p:nvSpPr>
        <p:spPr bwMode="auto">
          <a:xfrm>
            <a:off x="809625" y="4911229"/>
            <a:ext cx="108878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当有一用户程序要装入时，由</a:t>
            </a:r>
            <a:r>
              <a:rPr lang="zh-CN" altLang="en-US" sz="2400" u="sng" dirty="0">
                <a:solidFill>
                  <a:schemeClr val="accent2"/>
                </a:solidFill>
              </a:rPr>
              <a:t>内存分配程序</a:t>
            </a:r>
            <a:r>
              <a:rPr lang="zh-CN" altLang="en-US" sz="2400" dirty="0"/>
              <a:t>检索分区使用表，从中找出一个能满足要求的尚未分配的分区，分配给该程序，并将该表项中的状态置为</a:t>
            </a:r>
            <a:r>
              <a:rPr lang="en-US" altLang="zh-CN" sz="2400" dirty="0"/>
              <a:t>“</a:t>
            </a:r>
            <a:r>
              <a:rPr lang="en-US" altLang="zh-CN" sz="2400" u="sng" dirty="0" err="1">
                <a:solidFill>
                  <a:schemeClr val="accent2"/>
                </a:solidFill>
              </a:rPr>
              <a:t>已分配</a:t>
            </a:r>
            <a:r>
              <a:rPr lang="en-US" altLang="zh-CN" sz="2400" dirty="0"/>
              <a:t>”。</a:t>
            </a:r>
          </a:p>
          <a:p>
            <a:pPr marL="0" lvl="2" indent="0">
              <a:buBlip>
                <a:blip r:embed="rId3"/>
              </a:buBlip>
            </a:pPr>
            <a:r>
              <a:rPr lang="zh-CN" altLang="en-US" sz="2400" dirty="0"/>
              <a:t>若未找到大小足够的分区，则拒绝为该用户程序分配内存。</a:t>
            </a:r>
          </a:p>
        </p:txBody>
      </p:sp>
      <p:sp>
        <p:nvSpPr>
          <p:cNvPr id="20" name="文本框 52"/>
          <p:cNvSpPr txBox="1">
            <a:spLocks noChangeArrowheads="1"/>
          </p:cNvSpPr>
          <p:nvPr/>
        </p:nvSpPr>
        <p:spPr bwMode="auto">
          <a:xfrm>
            <a:off x="844262" y="181843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内存分区使用表</a:t>
            </a:r>
          </a:p>
        </p:txBody>
      </p:sp>
      <p:graphicFrame>
        <p:nvGraphicFramePr>
          <p:cNvPr id="22" name="Group 4"/>
          <p:cNvGraphicFramePr>
            <a:graphicFrameLocks noGrp="1"/>
          </p:cNvGraphicFramePr>
          <p:nvPr/>
        </p:nvGraphicFramePr>
        <p:xfrm>
          <a:off x="6656026" y="614163"/>
          <a:ext cx="3505200" cy="3606800"/>
        </p:xfrm>
        <a:graphic>
          <a:graphicData uri="http://schemas.openxmlformats.org/drawingml/2006/table">
            <a:tbl>
              <a:tblPr/>
              <a:tblGrid>
                <a:gridCol w="895350">
                  <a:extLst>
                    <a:ext uri="{9D8B030D-6E8A-4147-A177-3AD203B41FA5}">
                      <a16:colId xmlns:a16="http://schemas.microsoft.com/office/drawing/2014/main" val="20000"/>
                    </a:ext>
                  </a:extLst>
                </a:gridCol>
                <a:gridCol w="893763">
                  <a:extLst>
                    <a:ext uri="{9D8B030D-6E8A-4147-A177-3AD203B41FA5}">
                      <a16:colId xmlns:a16="http://schemas.microsoft.com/office/drawing/2014/main" val="20001"/>
                    </a:ext>
                  </a:extLst>
                </a:gridCol>
                <a:gridCol w="820737">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4064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区号/键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大小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dirty="0">
                          <a:ln>
                            <a:noFill/>
                          </a:ln>
                          <a:solidFill>
                            <a:srgbClr val="003300"/>
                          </a:solidFill>
                          <a:effectLst/>
                          <a:latin typeface="黑体" panose="02010609060101010101" pitchFamily="49" charset="-122"/>
                          <a:ea typeface="黑体" panose="02010609060101010101" pitchFamily="49" charset="-122"/>
                        </a:rPr>
                        <a:t>位置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状态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8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512K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正使用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99"/>
                    </a:solidFill>
                  </a:tcPr>
                </a:tc>
                <a:extLst>
                  <a:ext uri="{0D108BD9-81ED-4DB2-BD59-A6C34878D82A}">
                    <a16:rowId xmlns:a16="http://schemas.microsoft.com/office/drawing/2014/main" val="10001"/>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32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520K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正使用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99"/>
                    </a:solidFill>
                  </a:tcPr>
                </a:tc>
                <a:extLst>
                  <a:ext uri="{0D108BD9-81ED-4DB2-BD59-A6C34878D82A}">
                    <a16:rowId xmlns:a16="http://schemas.microsoft.com/office/drawing/2014/main" val="10002"/>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32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552K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未使用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3"/>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128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584K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未使用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66"/>
                    </a:solidFill>
                  </a:tcPr>
                </a:tc>
                <a:extLst>
                  <a:ext uri="{0D108BD9-81ED-4DB2-BD59-A6C34878D82A}">
                    <a16:rowId xmlns:a16="http://schemas.microsoft.com/office/drawing/2014/main" val="10004"/>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512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712K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1600" b="0" i="0" u="none" strike="noStrike" cap="none" normalizeH="0" baseline="0">
                          <a:ln>
                            <a:noFill/>
                          </a:ln>
                          <a:solidFill>
                            <a:srgbClr val="003300"/>
                          </a:solidFill>
                          <a:effectLst/>
                          <a:latin typeface="黑体" panose="02010609060101010101" pitchFamily="49" charset="-122"/>
                          <a:ea typeface="黑体" panose="02010609060101010101" pitchFamily="49" charset="-122"/>
                        </a:rPr>
                        <a:t>正使用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99"/>
                    </a:solidFill>
                  </a:tcPr>
                </a:tc>
                <a:extLst>
                  <a:ext uri="{0D108BD9-81ED-4DB2-BD59-A6C34878D82A}">
                    <a16:rowId xmlns:a16="http://schemas.microsoft.com/office/drawing/2014/main" val="10005"/>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a:t>
                      </a:r>
                      <a:endPar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Times New Roman" panose="02020603050405020304" pitchFamily="18" charset="0"/>
                          <a:ea typeface="黑体" panose="02010609060101010101" pitchFamily="49" charset="-122"/>
                        </a:rPr>
                        <a:t>…</a:t>
                      </a:r>
                      <a:endPar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Times New Roman" panose="02020603050405020304" pitchFamily="18" charset="0"/>
                          <a:ea typeface="黑体" panose="02010609060101010101" pitchFamily="49" charset="-122"/>
                        </a:rPr>
                        <a:t>…</a:t>
                      </a:r>
                      <a:endPar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r>
                        <a:rPr kumimoji="0" lang="zh-CN" altLang="zh-CN" sz="2000" b="0" i="0" u="none" strike="noStrike" cap="none" normalizeH="0" baseline="0">
                          <a:ln>
                            <a:noFill/>
                          </a:ln>
                          <a:solidFill>
                            <a:srgbClr val="003300"/>
                          </a:solidFill>
                          <a:effectLst/>
                          <a:latin typeface="Times New Roman" panose="02020603050405020304" pitchFamily="18" charset="0"/>
                          <a:ea typeface="黑体" panose="02010609060101010101" pitchFamily="49" charset="-122"/>
                        </a:rPr>
                        <a:t>…</a:t>
                      </a:r>
                      <a:endPar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5720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endParaRPr kumimoji="0" lang="zh-CN" altLang="zh-CN" sz="2000" b="0" i="0" u="none" strike="noStrike" cap="none" normalizeH="0" baseline="0">
                        <a:ln>
                          <a:noFill/>
                        </a:ln>
                        <a:solidFill>
                          <a:schemeClr val="bg2"/>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endPar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endParaRPr kumimoji="0" lang="zh-CN" altLang="zh-CN" sz="2000" b="0" i="0" u="none" strike="noStrike" cap="none" normalizeH="0" baseline="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20000"/>
                        </a:lnSpc>
                        <a:spcBef>
                          <a:spcPct val="0"/>
                        </a:spcBef>
                        <a:spcAft>
                          <a:spcPct val="0"/>
                        </a:spcAft>
                        <a:buClr>
                          <a:schemeClr val="bg2"/>
                        </a:buClr>
                        <a:buSzPct val="85000"/>
                        <a:buFont typeface="Wingdings" panose="05000000000000000000" pitchFamily="2" charset="2"/>
                        <a:buNone/>
                        <a:tabLst/>
                      </a:pPr>
                      <a:endParaRPr kumimoji="0" lang="zh-CN" altLang="zh-CN" sz="1600" b="0" i="0" u="none" strike="noStrike" cap="none" normalizeH="0" baseline="0" dirty="0">
                        <a:ln>
                          <a:noFill/>
                        </a:ln>
                        <a:solidFill>
                          <a:srgbClr val="0033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bl>
          </a:graphicData>
        </a:graphic>
      </p:graphicFrame>
      <p:grpSp>
        <p:nvGrpSpPr>
          <p:cNvPr id="23" name="Group 51"/>
          <p:cNvGrpSpPr>
            <a:grpSpLocks/>
          </p:cNvGrpSpPr>
          <p:nvPr/>
        </p:nvGrpSpPr>
        <p:grpSpPr bwMode="auto">
          <a:xfrm>
            <a:off x="5015908" y="628450"/>
            <a:ext cx="1447800" cy="3581400"/>
            <a:chOff x="0" y="0"/>
            <a:chExt cx="912" cy="2256"/>
          </a:xfrm>
        </p:grpSpPr>
        <p:sp>
          <p:nvSpPr>
            <p:cNvPr id="24" name="Rectangle 52"/>
            <p:cNvSpPr>
              <a:spLocks noChangeArrowheads="1"/>
            </p:cNvSpPr>
            <p:nvPr/>
          </p:nvSpPr>
          <p:spPr bwMode="auto">
            <a:xfrm>
              <a:off x="38" y="0"/>
              <a:ext cx="826" cy="384"/>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endParaRPr lang="zh-CN" altLang="zh-CN" sz="1800">
                <a:solidFill>
                  <a:schemeClr val="bg1"/>
                </a:solidFill>
                <a:latin typeface="黑体" pitchFamily="49" charset="-122"/>
                <a:ea typeface="黑体" pitchFamily="49" charset="-122"/>
              </a:endParaRPr>
            </a:p>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系统区</a:t>
              </a:r>
            </a:p>
          </p:txBody>
        </p:sp>
        <p:sp>
          <p:nvSpPr>
            <p:cNvPr id="25" name="Rectangle 53"/>
            <p:cNvSpPr>
              <a:spLocks noChangeArrowheads="1"/>
            </p:cNvSpPr>
            <p:nvPr/>
          </p:nvSpPr>
          <p:spPr bwMode="auto">
            <a:xfrm>
              <a:off x="38" y="384"/>
              <a:ext cx="826" cy="24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1</a:t>
              </a:r>
            </a:p>
          </p:txBody>
        </p:sp>
        <p:sp>
          <p:nvSpPr>
            <p:cNvPr id="26" name="Rectangle 54"/>
            <p:cNvSpPr>
              <a:spLocks noChangeArrowheads="1"/>
            </p:cNvSpPr>
            <p:nvPr/>
          </p:nvSpPr>
          <p:spPr bwMode="auto">
            <a:xfrm>
              <a:off x="38" y="1296"/>
              <a:ext cx="826" cy="33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4</a:t>
              </a:r>
            </a:p>
          </p:txBody>
        </p:sp>
        <p:sp>
          <p:nvSpPr>
            <p:cNvPr id="32" name="Rectangle 55"/>
            <p:cNvSpPr>
              <a:spLocks noChangeArrowheads="1"/>
            </p:cNvSpPr>
            <p:nvPr/>
          </p:nvSpPr>
          <p:spPr bwMode="auto">
            <a:xfrm>
              <a:off x="38" y="1632"/>
              <a:ext cx="826" cy="62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5</a:t>
              </a:r>
            </a:p>
          </p:txBody>
        </p:sp>
        <p:sp>
          <p:nvSpPr>
            <p:cNvPr id="33" name="Rectangle 56"/>
            <p:cNvSpPr>
              <a:spLocks noChangeArrowheads="1"/>
            </p:cNvSpPr>
            <p:nvPr/>
          </p:nvSpPr>
          <p:spPr bwMode="auto">
            <a:xfrm>
              <a:off x="38" y="624"/>
              <a:ext cx="826" cy="33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2</a:t>
              </a:r>
            </a:p>
          </p:txBody>
        </p:sp>
        <p:sp>
          <p:nvSpPr>
            <p:cNvPr id="34" name="AutoShape 57"/>
            <p:cNvSpPr>
              <a:spLocks noChangeArrowheads="1"/>
            </p:cNvSpPr>
            <p:nvPr/>
          </p:nvSpPr>
          <p:spPr bwMode="auto">
            <a:xfrm>
              <a:off x="0" y="1920"/>
              <a:ext cx="912" cy="240"/>
            </a:xfrm>
            <a:prstGeom prst="wave">
              <a:avLst>
                <a:gd name="adj1" fmla="val 20644"/>
                <a:gd name="adj2" fmla="val 0"/>
              </a:avLst>
            </a:prstGeom>
            <a:ln/>
          </p:spPr>
          <p:style>
            <a:lnRef idx="1">
              <a:schemeClr val="dk1"/>
            </a:lnRef>
            <a:fillRef idx="2">
              <a:schemeClr val="dk1"/>
            </a:fillRef>
            <a:effectRef idx="1">
              <a:schemeClr val="dk1"/>
            </a:effectRef>
            <a:fontRef idx="minor">
              <a:schemeClr val="dk1"/>
            </a:fontRef>
          </p:style>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endParaRPr lang="zh-CN" altLang="en-US" sz="2400">
                <a:solidFill>
                  <a:schemeClr val="tx1"/>
                </a:solidFill>
                <a:latin typeface="Times New Roman" pitchFamily="18" charset="0"/>
                <a:ea typeface="宋体" pitchFamily="2" charset="-122"/>
              </a:endParaRPr>
            </a:p>
          </p:txBody>
        </p:sp>
        <p:sp>
          <p:nvSpPr>
            <p:cNvPr id="35" name="Rectangle 58"/>
            <p:cNvSpPr>
              <a:spLocks noChangeArrowheads="1"/>
            </p:cNvSpPr>
            <p:nvPr/>
          </p:nvSpPr>
          <p:spPr bwMode="auto">
            <a:xfrm>
              <a:off x="40" y="960"/>
              <a:ext cx="824" cy="33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3</a:t>
              </a:r>
            </a:p>
          </p:txBody>
        </p:sp>
      </p:grpSp>
      <p:grpSp>
        <p:nvGrpSpPr>
          <p:cNvPr id="36" name="Group 59"/>
          <p:cNvGrpSpPr>
            <a:grpSpLocks/>
          </p:cNvGrpSpPr>
          <p:nvPr/>
        </p:nvGrpSpPr>
        <p:grpSpPr bwMode="auto">
          <a:xfrm>
            <a:off x="10325877" y="628450"/>
            <a:ext cx="1447800" cy="3581400"/>
            <a:chOff x="0" y="0"/>
            <a:chExt cx="912" cy="2256"/>
          </a:xfrm>
        </p:grpSpPr>
        <p:sp>
          <p:nvSpPr>
            <p:cNvPr id="37" name="Rectangle 60"/>
            <p:cNvSpPr>
              <a:spLocks noChangeArrowheads="1"/>
            </p:cNvSpPr>
            <p:nvPr/>
          </p:nvSpPr>
          <p:spPr bwMode="auto">
            <a:xfrm>
              <a:off x="38" y="0"/>
              <a:ext cx="826" cy="384"/>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endParaRPr lang="zh-CN" altLang="zh-CN" sz="1800">
                <a:solidFill>
                  <a:schemeClr val="bg1"/>
                </a:solidFill>
                <a:latin typeface="黑体" pitchFamily="49" charset="-122"/>
                <a:ea typeface="黑体" pitchFamily="49" charset="-122"/>
              </a:endParaRPr>
            </a:p>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系统区</a:t>
              </a:r>
            </a:p>
          </p:txBody>
        </p:sp>
        <p:sp>
          <p:nvSpPr>
            <p:cNvPr id="38" name="Rectangle 61"/>
            <p:cNvSpPr>
              <a:spLocks noChangeArrowheads="1"/>
            </p:cNvSpPr>
            <p:nvPr/>
          </p:nvSpPr>
          <p:spPr bwMode="auto">
            <a:xfrm>
              <a:off x="38" y="384"/>
              <a:ext cx="826" cy="240"/>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作业 3</a:t>
              </a:r>
            </a:p>
          </p:txBody>
        </p:sp>
        <p:sp>
          <p:nvSpPr>
            <p:cNvPr id="39" name="Rectangle 62"/>
            <p:cNvSpPr>
              <a:spLocks noChangeArrowheads="1"/>
            </p:cNvSpPr>
            <p:nvPr/>
          </p:nvSpPr>
          <p:spPr bwMode="auto">
            <a:xfrm>
              <a:off x="38" y="1296"/>
              <a:ext cx="826" cy="33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4</a:t>
              </a:r>
            </a:p>
          </p:txBody>
        </p:sp>
        <p:sp>
          <p:nvSpPr>
            <p:cNvPr id="40" name="Rectangle 63"/>
            <p:cNvSpPr>
              <a:spLocks noChangeArrowheads="1"/>
            </p:cNvSpPr>
            <p:nvPr/>
          </p:nvSpPr>
          <p:spPr bwMode="auto">
            <a:xfrm>
              <a:off x="38" y="1632"/>
              <a:ext cx="826" cy="62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作业 2</a:t>
              </a:r>
            </a:p>
          </p:txBody>
        </p:sp>
        <p:sp>
          <p:nvSpPr>
            <p:cNvPr id="41" name="Rectangle 64"/>
            <p:cNvSpPr>
              <a:spLocks noChangeArrowheads="1"/>
            </p:cNvSpPr>
            <p:nvPr/>
          </p:nvSpPr>
          <p:spPr bwMode="auto">
            <a:xfrm>
              <a:off x="38" y="624"/>
              <a:ext cx="826" cy="336"/>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作业 1</a:t>
              </a:r>
            </a:p>
          </p:txBody>
        </p:sp>
        <p:sp>
          <p:nvSpPr>
            <p:cNvPr id="42" name="AutoShape 65"/>
            <p:cNvSpPr>
              <a:spLocks noChangeArrowheads="1"/>
            </p:cNvSpPr>
            <p:nvPr/>
          </p:nvSpPr>
          <p:spPr bwMode="auto">
            <a:xfrm>
              <a:off x="0" y="1920"/>
              <a:ext cx="912" cy="240"/>
            </a:xfrm>
            <a:prstGeom prst="wave">
              <a:avLst>
                <a:gd name="adj1" fmla="val 20644"/>
                <a:gd name="adj2" fmla="val 0"/>
              </a:avLst>
            </a:prstGeom>
            <a:ln/>
          </p:spPr>
          <p:style>
            <a:lnRef idx="1">
              <a:schemeClr val="dk1"/>
            </a:lnRef>
            <a:fillRef idx="2">
              <a:schemeClr val="dk1"/>
            </a:fillRef>
            <a:effectRef idx="1">
              <a:schemeClr val="dk1"/>
            </a:effectRef>
            <a:fontRef idx="minor">
              <a:schemeClr val="dk1"/>
            </a:fontRef>
          </p:style>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endParaRPr lang="zh-CN" altLang="en-US" sz="2400">
                <a:solidFill>
                  <a:schemeClr val="tx1"/>
                </a:solidFill>
                <a:latin typeface="Times New Roman" pitchFamily="18" charset="0"/>
                <a:ea typeface="宋体" pitchFamily="2" charset="-122"/>
              </a:endParaRPr>
            </a:p>
          </p:txBody>
        </p:sp>
        <p:sp>
          <p:nvSpPr>
            <p:cNvPr id="43" name="Rectangle 66"/>
            <p:cNvSpPr>
              <a:spLocks noChangeArrowheads="1"/>
            </p:cNvSpPr>
            <p:nvPr/>
          </p:nvSpPr>
          <p:spPr bwMode="auto">
            <a:xfrm>
              <a:off x="40" y="960"/>
              <a:ext cx="824" cy="33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Font typeface="Wingdings" pitchFamily="2" charset="2"/>
                <a:buNone/>
              </a:pPr>
              <a:r>
                <a:rPr lang="zh-CN" altLang="zh-CN" sz="1800">
                  <a:solidFill>
                    <a:schemeClr val="bg1"/>
                  </a:solidFill>
                  <a:latin typeface="黑体" pitchFamily="49" charset="-122"/>
                  <a:ea typeface="黑体" pitchFamily="49" charset="-122"/>
                </a:rPr>
                <a:t>分区 3</a:t>
              </a:r>
            </a:p>
          </p:txBody>
        </p:sp>
      </p:grpSp>
      <p:sp>
        <p:nvSpPr>
          <p:cNvPr id="44" name="文本框 52"/>
          <p:cNvSpPr txBox="1">
            <a:spLocks noChangeArrowheads="1"/>
          </p:cNvSpPr>
          <p:nvPr/>
        </p:nvSpPr>
        <p:spPr bwMode="auto">
          <a:xfrm>
            <a:off x="902970" y="436108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作业调度方式</a:t>
            </a:r>
          </a:p>
        </p:txBody>
      </p:sp>
    </p:spTree>
    <p:extLst>
      <p:ext uri="{BB962C8B-B14F-4D97-AF65-F5344CB8AC3E}">
        <p14:creationId xmlns:p14="http://schemas.microsoft.com/office/powerpoint/2010/main" val="60982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strVal val="#ppt_w+.3"/>
                                          </p:val>
                                        </p:tav>
                                        <p:tav tm="100000">
                                          <p:val>
                                            <p:strVal val="#ppt_w"/>
                                          </p:val>
                                        </p:tav>
                                      </p:tavLst>
                                    </p:anim>
                                    <p:anim calcmode="lin" valueType="num">
                                      <p:cBhvr>
                                        <p:cTn id="8" dur="500" fill="hold"/>
                                        <p:tgtEl>
                                          <p:spTgt spid="20"/>
                                        </p:tgtEl>
                                        <p:attrNameLst>
                                          <p:attrName>ppt_h</p:attrName>
                                        </p:attrNameLst>
                                      </p:cBhvr>
                                      <p:tavLst>
                                        <p:tav tm="0">
                                          <p:val>
                                            <p:strVal val="#ppt_h"/>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strips(downLeft)">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strVal val="#ppt_w+.3"/>
                                          </p:val>
                                        </p:tav>
                                        <p:tav tm="100000">
                                          <p:val>
                                            <p:strVal val="#ppt_w"/>
                                          </p:val>
                                        </p:tav>
                                      </p:tavLst>
                                    </p:anim>
                                    <p:anim calcmode="lin" valueType="num">
                                      <p:cBhvr>
                                        <p:cTn id="20" dur="500" fill="hold"/>
                                        <p:tgtEl>
                                          <p:spTgt spid="44"/>
                                        </p:tgtEl>
                                        <p:attrNameLst>
                                          <p:attrName>ppt_h</p:attrName>
                                        </p:attrNameLst>
                                      </p:cBhvr>
                                      <p:tavLst>
                                        <p:tav tm="0">
                                          <p:val>
                                            <p:strVal val="#ppt_h"/>
                                          </p:val>
                                        </p:tav>
                                        <p:tav tm="100000">
                                          <p:val>
                                            <p:strVal val="#ppt_h"/>
                                          </p:val>
                                        </p:tav>
                                      </p:tavLst>
                                    </p:anim>
                                    <p:animEffect transition="in" filter="fade">
                                      <p:cBhvr>
                                        <p:cTn id="21" dur="5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strips(downLeft)">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p:bldP spid="20" grpId="0"/>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a:spLocks noChangeArrowheads="1"/>
          </p:cNvSpPr>
          <p:nvPr/>
        </p:nvSpPr>
        <p:spPr bwMode="auto">
          <a:xfrm rot="-3389783">
            <a:off x="11056144" y="6191231"/>
            <a:ext cx="58737" cy="50800"/>
          </a:xfrm>
          <a:prstGeom prst="triangle">
            <a:avLst>
              <a:gd name="adj" fmla="val 50000"/>
            </a:avLst>
          </a:prstGeom>
          <a:solidFill>
            <a:srgbClr val="197519"/>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endParaRPr lang="zh-CN" altLang="en-US">
              <a:solidFill>
                <a:srgbClr val="197519"/>
              </a:solidFill>
              <a:latin typeface="Calibri" pitchFamily="34" charset="0"/>
              <a:ea typeface="幼圆" pitchFamily="49" charset="-122"/>
            </a:endParaRPr>
          </a:p>
        </p:txBody>
      </p:sp>
      <p:sp>
        <p:nvSpPr>
          <p:cNvPr id="4" name="弧形 3"/>
          <p:cNvSpPr/>
          <p:nvPr/>
        </p:nvSpPr>
        <p:spPr>
          <a:xfrm>
            <a:off x="704850" y="1360012"/>
            <a:ext cx="4248150" cy="4602162"/>
          </a:xfrm>
          <a:prstGeom prst="arc">
            <a:avLst>
              <a:gd name="adj1" fmla="val 17337751"/>
              <a:gd name="adj2" fmla="val 4126310"/>
            </a:avLst>
          </a:prstGeom>
          <a:ln w="66675">
            <a:solidFill>
              <a:srgbClr val="197519"/>
            </a:solidFill>
          </a:ln>
        </p:spPr>
        <p:style>
          <a:lnRef idx="1">
            <a:schemeClr val="accent1"/>
          </a:lnRef>
          <a:fillRef idx="0">
            <a:schemeClr val="accent1"/>
          </a:fillRef>
          <a:effectRef idx="0">
            <a:schemeClr val="accent1"/>
          </a:effectRef>
          <a:fontRef idx="minor">
            <a:schemeClr val="tx1"/>
          </a:fontRef>
        </p:style>
        <p:txBody>
          <a:bodyPr anchor="ctr"/>
          <a:lstStyle>
            <a:defPPr>
              <a:defRPr lang="zh-CN"/>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fontAlgn="auto"/>
            <a:endParaRPr lang="zh-CN" altLang="en-US" noProof="1"/>
          </a:p>
        </p:txBody>
      </p:sp>
      <p:sp>
        <p:nvSpPr>
          <p:cNvPr id="5" name="Arc 3_1"/>
          <p:cNvSpPr/>
          <p:nvPr/>
        </p:nvSpPr>
        <p:spPr>
          <a:xfrm flipH="1">
            <a:off x="50800" y="1360012"/>
            <a:ext cx="4248150" cy="4602162"/>
          </a:xfrm>
          <a:prstGeom prst="arc">
            <a:avLst>
              <a:gd name="adj1" fmla="val 17337751"/>
              <a:gd name="adj2" fmla="val 4126310"/>
            </a:avLst>
          </a:prstGeom>
          <a:ln w="66675">
            <a:solidFill>
              <a:srgbClr val="197519"/>
            </a:solidFill>
          </a:ln>
        </p:spPr>
        <p:style>
          <a:lnRef idx="1">
            <a:schemeClr val="accent1"/>
          </a:lnRef>
          <a:fillRef idx="0">
            <a:schemeClr val="accent1"/>
          </a:fillRef>
          <a:effectRef idx="0">
            <a:schemeClr val="accent1"/>
          </a:effectRef>
          <a:fontRef idx="minor">
            <a:schemeClr val="tx1"/>
          </a:fontRef>
        </p:style>
        <p:txBody>
          <a:bodyPr anchor="ctr"/>
          <a:lstStyle>
            <a:defPPr>
              <a:defRPr lang="zh-CN"/>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fontAlgn="auto"/>
            <a:endParaRPr lang="zh-CN" altLang="en-US" noProof="1"/>
          </a:p>
        </p:txBody>
      </p:sp>
      <p:sp>
        <p:nvSpPr>
          <p:cNvPr id="6" name="矩形 5"/>
          <p:cNvSpPr>
            <a:spLocks noChangeArrowheads="1"/>
          </p:cNvSpPr>
          <p:nvPr/>
        </p:nvSpPr>
        <p:spPr bwMode="auto">
          <a:xfrm>
            <a:off x="6377152" y="797492"/>
            <a:ext cx="467096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10000"/>
              </a:lnSpc>
            </a:pPr>
            <a:r>
              <a:rPr lang="zh-CN" altLang="en-US" sz="2400" dirty="0"/>
              <a:t>适用于多道程序系统和分时系统</a:t>
            </a:r>
          </a:p>
        </p:txBody>
      </p:sp>
      <p:sp>
        <p:nvSpPr>
          <p:cNvPr id="9" name="椭圆 8"/>
          <p:cNvSpPr>
            <a:spLocks noChangeArrowheads="1"/>
          </p:cNvSpPr>
          <p:nvPr/>
        </p:nvSpPr>
        <p:spPr bwMode="auto">
          <a:xfrm>
            <a:off x="341313" y="1498124"/>
            <a:ext cx="4297362" cy="4298950"/>
          </a:xfrm>
          <a:prstGeom prst="ellipse">
            <a:avLst/>
          </a:pr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endParaRPr lang="zh-CN" altLang="en-US"/>
          </a:p>
        </p:txBody>
      </p:sp>
      <p:sp>
        <p:nvSpPr>
          <p:cNvPr id="10" name="Freeform 5"/>
          <p:cNvSpPr>
            <a:spLocks noEditPoints="1" noChangeArrowheads="1"/>
          </p:cNvSpPr>
          <p:nvPr/>
        </p:nvSpPr>
        <p:spPr bwMode="auto">
          <a:xfrm>
            <a:off x="1671638" y="2599849"/>
            <a:ext cx="1636712" cy="1395413"/>
          </a:xfrm>
          <a:custGeom>
            <a:avLst/>
            <a:gdLst>
              <a:gd name="T0" fmla="*/ 20 w 86"/>
              <a:gd name="T1" fmla="*/ 2 h 70"/>
              <a:gd name="T2" fmla="*/ 60 w 86"/>
              <a:gd name="T3" fmla="*/ 2 h 70"/>
              <a:gd name="T4" fmla="*/ 80 w 86"/>
              <a:gd name="T5" fmla="*/ 6 h 70"/>
              <a:gd name="T6" fmla="*/ 74 w 86"/>
              <a:gd name="T7" fmla="*/ 26 h 70"/>
              <a:gd name="T8" fmla="*/ 59 w 86"/>
              <a:gd name="T9" fmla="*/ 8 h 70"/>
              <a:gd name="T10" fmla="*/ 43 w 86"/>
              <a:gd name="T11" fmla="*/ 54 h 70"/>
              <a:gd name="T12" fmla="*/ 49 w 86"/>
              <a:gd name="T13" fmla="*/ 58 h 70"/>
              <a:gd name="T14" fmla="*/ 50 w 86"/>
              <a:gd name="T15" fmla="*/ 59 h 70"/>
              <a:gd name="T16" fmla="*/ 40 w 86"/>
              <a:gd name="T17" fmla="*/ 60 h 70"/>
              <a:gd name="T18" fmla="*/ 22 w 86"/>
              <a:gd name="T19" fmla="*/ 60 h 70"/>
              <a:gd name="T20" fmla="*/ 0 w 86"/>
              <a:gd name="T21" fmla="*/ 58 h 70"/>
              <a:gd name="T22" fmla="*/ 3 w 86"/>
              <a:gd name="T23" fmla="*/ 3 h 70"/>
              <a:gd name="T24" fmla="*/ 59 w 86"/>
              <a:gd name="T25" fmla="*/ 37 h 70"/>
              <a:gd name="T26" fmla="*/ 57 w 86"/>
              <a:gd name="T27" fmla="*/ 51 h 70"/>
              <a:gd name="T28" fmla="*/ 72 w 86"/>
              <a:gd name="T29" fmla="*/ 53 h 70"/>
              <a:gd name="T30" fmla="*/ 74 w 86"/>
              <a:gd name="T31" fmla="*/ 39 h 70"/>
              <a:gd name="T32" fmla="*/ 56 w 86"/>
              <a:gd name="T33" fmla="*/ 33 h 70"/>
              <a:gd name="T34" fmla="*/ 53 w 86"/>
              <a:gd name="T35" fmla="*/ 55 h 70"/>
              <a:gd name="T36" fmla="*/ 73 w 86"/>
              <a:gd name="T37" fmla="*/ 59 h 70"/>
              <a:gd name="T38" fmla="*/ 79 w 86"/>
              <a:gd name="T39" fmla="*/ 68 h 70"/>
              <a:gd name="T40" fmla="*/ 84 w 86"/>
              <a:gd name="T41" fmla="*/ 69 h 70"/>
              <a:gd name="T42" fmla="*/ 80 w 86"/>
              <a:gd name="T43" fmla="*/ 57 h 70"/>
              <a:gd name="T44" fmla="*/ 81 w 86"/>
              <a:gd name="T45" fmla="*/ 47 h 70"/>
              <a:gd name="T46" fmla="*/ 67 w 86"/>
              <a:gd name="T47" fmla="*/ 29 h 70"/>
              <a:gd name="T48" fmla="*/ 58 w 86"/>
              <a:gd name="T49" fmla="*/ 46 h 70"/>
              <a:gd name="T50" fmla="*/ 58 w 86"/>
              <a:gd name="T51" fmla="*/ 46 h 70"/>
              <a:gd name="T52" fmla="*/ 47 w 86"/>
              <a:gd name="T53" fmla="*/ 19 h 70"/>
              <a:gd name="T54" fmla="*/ 71 w 86"/>
              <a:gd name="T55" fmla="*/ 24 h 70"/>
              <a:gd name="T56" fmla="*/ 71 w 86"/>
              <a:gd name="T57" fmla="*/ 15 h 70"/>
              <a:gd name="T58" fmla="*/ 47 w 86"/>
              <a:gd name="T59" fmla="*/ 14 h 70"/>
              <a:gd name="T60" fmla="*/ 71 w 86"/>
              <a:gd name="T61" fmla="*/ 15 h 70"/>
              <a:gd name="T62" fmla="*/ 10 w 86"/>
              <a:gd name="T63" fmla="*/ 51 h 70"/>
              <a:gd name="T64" fmla="*/ 34 w 86"/>
              <a:gd name="T65" fmla="*/ 46 h 70"/>
              <a:gd name="T66" fmla="*/ 10 w 86"/>
              <a:gd name="T67" fmla="*/ 41 h 70"/>
              <a:gd name="T68" fmla="*/ 34 w 86"/>
              <a:gd name="T69" fmla="*/ 41 h 70"/>
              <a:gd name="T70" fmla="*/ 10 w 86"/>
              <a:gd name="T71" fmla="*/ 41 h 70"/>
              <a:gd name="T72" fmla="*/ 10 w 86"/>
              <a:gd name="T73" fmla="*/ 37 h 70"/>
              <a:gd name="T74" fmla="*/ 34 w 86"/>
              <a:gd name="T75" fmla="*/ 32 h 70"/>
              <a:gd name="T76" fmla="*/ 22 w 86"/>
              <a:gd name="T77" fmla="*/ 25 h 70"/>
              <a:gd name="T78" fmla="*/ 34 w 86"/>
              <a:gd name="T79" fmla="*/ 27 h 70"/>
              <a:gd name="T80" fmla="*/ 22 w 86"/>
              <a:gd name="T81" fmla="*/ 25 h 70"/>
              <a:gd name="T82" fmla="*/ 22 w 86"/>
              <a:gd name="T83" fmla="*/ 21 h 70"/>
              <a:gd name="T84" fmla="*/ 34 w 86"/>
              <a:gd name="T85" fmla="*/ 18 h 70"/>
              <a:gd name="T86" fmla="*/ 22 w 86"/>
              <a:gd name="T87" fmla="*/ 14 h 70"/>
              <a:gd name="T88" fmla="*/ 34 w 86"/>
              <a:gd name="T89" fmla="*/ 15 h 70"/>
              <a:gd name="T90" fmla="*/ 22 w 86"/>
              <a:gd name="T91" fmla="*/ 14 h 70"/>
              <a:gd name="T92" fmla="*/ 9 w 86"/>
              <a:gd name="T93" fmla="*/ 31 h 70"/>
              <a:gd name="T94" fmla="*/ 19 w 86"/>
              <a:gd name="T95" fmla="*/ 13 h 70"/>
              <a:gd name="T96" fmla="*/ 21 w 86"/>
              <a:gd name="T97" fmla="*/ 8 h 70"/>
              <a:gd name="T98" fmla="*/ 5 w 86"/>
              <a:gd name="T99" fmla="*/ 56 h 70"/>
              <a:gd name="T100" fmla="*/ 37 w 86"/>
              <a:gd name="T101" fmla="*/ 54 h 70"/>
              <a:gd name="T102" fmla="*/ 21 w 86"/>
              <a:gd name="T103" fmla="*/ 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6" h="70">
                <a:moveTo>
                  <a:pt x="3" y="3"/>
                </a:moveTo>
                <a:cubicBezTo>
                  <a:pt x="8" y="4"/>
                  <a:pt x="14" y="3"/>
                  <a:pt x="20" y="2"/>
                </a:cubicBezTo>
                <a:cubicBezTo>
                  <a:pt x="28" y="1"/>
                  <a:pt x="35" y="0"/>
                  <a:pt x="40" y="3"/>
                </a:cubicBezTo>
                <a:cubicBezTo>
                  <a:pt x="45" y="0"/>
                  <a:pt x="52" y="1"/>
                  <a:pt x="60" y="2"/>
                </a:cubicBezTo>
                <a:cubicBezTo>
                  <a:pt x="65" y="3"/>
                  <a:pt x="72" y="4"/>
                  <a:pt x="77" y="3"/>
                </a:cubicBezTo>
                <a:cubicBezTo>
                  <a:pt x="80" y="6"/>
                  <a:pt x="80" y="6"/>
                  <a:pt x="80" y="6"/>
                </a:cubicBezTo>
                <a:cubicBezTo>
                  <a:pt x="80" y="30"/>
                  <a:pt x="80" y="30"/>
                  <a:pt x="80" y="30"/>
                </a:cubicBezTo>
                <a:cubicBezTo>
                  <a:pt x="78" y="28"/>
                  <a:pt x="76" y="27"/>
                  <a:pt x="74" y="26"/>
                </a:cubicBezTo>
                <a:cubicBezTo>
                  <a:pt x="74" y="9"/>
                  <a:pt x="74" y="9"/>
                  <a:pt x="74" y="9"/>
                </a:cubicBezTo>
                <a:cubicBezTo>
                  <a:pt x="69" y="9"/>
                  <a:pt x="64" y="8"/>
                  <a:pt x="59" y="8"/>
                </a:cubicBezTo>
                <a:cubicBezTo>
                  <a:pt x="52" y="7"/>
                  <a:pt x="46" y="6"/>
                  <a:pt x="43" y="8"/>
                </a:cubicBezTo>
                <a:cubicBezTo>
                  <a:pt x="43" y="54"/>
                  <a:pt x="43" y="54"/>
                  <a:pt x="43" y="54"/>
                </a:cubicBezTo>
                <a:cubicBezTo>
                  <a:pt x="44" y="54"/>
                  <a:pt x="45" y="54"/>
                  <a:pt x="47" y="54"/>
                </a:cubicBezTo>
                <a:cubicBezTo>
                  <a:pt x="47" y="55"/>
                  <a:pt x="48" y="56"/>
                  <a:pt x="49" y="58"/>
                </a:cubicBezTo>
                <a:cubicBezTo>
                  <a:pt x="50" y="58"/>
                  <a:pt x="50" y="59"/>
                  <a:pt x="51" y="59"/>
                </a:cubicBezTo>
                <a:cubicBezTo>
                  <a:pt x="50" y="59"/>
                  <a:pt x="50" y="59"/>
                  <a:pt x="50" y="59"/>
                </a:cubicBezTo>
                <a:cubicBezTo>
                  <a:pt x="46" y="59"/>
                  <a:pt x="43" y="59"/>
                  <a:pt x="41" y="60"/>
                </a:cubicBezTo>
                <a:cubicBezTo>
                  <a:pt x="40" y="60"/>
                  <a:pt x="40" y="60"/>
                  <a:pt x="40" y="60"/>
                </a:cubicBezTo>
                <a:cubicBezTo>
                  <a:pt x="38" y="60"/>
                  <a:pt x="38" y="60"/>
                  <a:pt x="38" y="60"/>
                </a:cubicBezTo>
                <a:cubicBezTo>
                  <a:pt x="36" y="59"/>
                  <a:pt x="29" y="59"/>
                  <a:pt x="22" y="60"/>
                </a:cubicBezTo>
                <a:cubicBezTo>
                  <a:pt x="15" y="61"/>
                  <a:pt x="8" y="62"/>
                  <a:pt x="2" y="61"/>
                </a:cubicBezTo>
                <a:cubicBezTo>
                  <a:pt x="0" y="58"/>
                  <a:pt x="0" y="58"/>
                  <a:pt x="0" y="58"/>
                </a:cubicBezTo>
                <a:cubicBezTo>
                  <a:pt x="0" y="6"/>
                  <a:pt x="0" y="6"/>
                  <a:pt x="0" y="6"/>
                </a:cubicBezTo>
                <a:cubicBezTo>
                  <a:pt x="3" y="3"/>
                  <a:pt x="3" y="3"/>
                  <a:pt x="3" y="3"/>
                </a:cubicBezTo>
                <a:close/>
                <a:moveTo>
                  <a:pt x="67" y="35"/>
                </a:moveTo>
                <a:cubicBezTo>
                  <a:pt x="64" y="34"/>
                  <a:pt x="61" y="35"/>
                  <a:pt x="59" y="37"/>
                </a:cubicBezTo>
                <a:cubicBezTo>
                  <a:pt x="57" y="39"/>
                  <a:pt x="56" y="41"/>
                  <a:pt x="55" y="44"/>
                </a:cubicBezTo>
                <a:cubicBezTo>
                  <a:pt x="55" y="46"/>
                  <a:pt x="56" y="49"/>
                  <a:pt x="57" y="51"/>
                </a:cubicBezTo>
                <a:cubicBezTo>
                  <a:pt x="59" y="54"/>
                  <a:pt x="62" y="55"/>
                  <a:pt x="64" y="55"/>
                </a:cubicBezTo>
                <a:cubicBezTo>
                  <a:pt x="67" y="56"/>
                  <a:pt x="70" y="55"/>
                  <a:pt x="72" y="53"/>
                </a:cubicBezTo>
                <a:cubicBezTo>
                  <a:pt x="74" y="51"/>
                  <a:pt x="76" y="49"/>
                  <a:pt x="76" y="46"/>
                </a:cubicBezTo>
                <a:cubicBezTo>
                  <a:pt x="76" y="44"/>
                  <a:pt x="75" y="41"/>
                  <a:pt x="74" y="39"/>
                </a:cubicBezTo>
                <a:cubicBezTo>
                  <a:pt x="72" y="36"/>
                  <a:pt x="69" y="35"/>
                  <a:pt x="67" y="35"/>
                </a:cubicBezTo>
                <a:close/>
                <a:moveTo>
                  <a:pt x="56" y="33"/>
                </a:moveTo>
                <a:cubicBezTo>
                  <a:pt x="52" y="35"/>
                  <a:pt x="50" y="39"/>
                  <a:pt x="50" y="43"/>
                </a:cubicBezTo>
                <a:cubicBezTo>
                  <a:pt x="50" y="47"/>
                  <a:pt x="51" y="51"/>
                  <a:pt x="53" y="55"/>
                </a:cubicBezTo>
                <a:cubicBezTo>
                  <a:pt x="56" y="58"/>
                  <a:pt x="60" y="60"/>
                  <a:pt x="64" y="60"/>
                </a:cubicBezTo>
                <a:cubicBezTo>
                  <a:pt x="67" y="61"/>
                  <a:pt x="70" y="60"/>
                  <a:pt x="73" y="59"/>
                </a:cubicBezTo>
                <a:cubicBezTo>
                  <a:pt x="73" y="60"/>
                  <a:pt x="73" y="61"/>
                  <a:pt x="74" y="61"/>
                </a:cubicBezTo>
                <a:cubicBezTo>
                  <a:pt x="79" y="68"/>
                  <a:pt x="79" y="68"/>
                  <a:pt x="79" y="68"/>
                </a:cubicBezTo>
                <a:cubicBezTo>
                  <a:pt x="80" y="70"/>
                  <a:pt x="83" y="70"/>
                  <a:pt x="84" y="69"/>
                </a:cubicBezTo>
                <a:cubicBezTo>
                  <a:pt x="84" y="69"/>
                  <a:pt x="84" y="69"/>
                  <a:pt x="84" y="69"/>
                </a:cubicBezTo>
                <a:cubicBezTo>
                  <a:pt x="86" y="67"/>
                  <a:pt x="86" y="65"/>
                  <a:pt x="85" y="63"/>
                </a:cubicBezTo>
                <a:cubicBezTo>
                  <a:pt x="80" y="57"/>
                  <a:pt x="80" y="57"/>
                  <a:pt x="80" y="57"/>
                </a:cubicBezTo>
                <a:cubicBezTo>
                  <a:pt x="79" y="56"/>
                  <a:pt x="78" y="55"/>
                  <a:pt x="77" y="55"/>
                </a:cubicBezTo>
                <a:cubicBezTo>
                  <a:pt x="79" y="53"/>
                  <a:pt x="81" y="50"/>
                  <a:pt x="81" y="47"/>
                </a:cubicBezTo>
                <a:cubicBezTo>
                  <a:pt x="82" y="43"/>
                  <a:pt x="81" y="39"/>
                  <a:pt x="78" y="35"/>
                </a:cubicBezTo>
                <a:cubicBezTo>
                  <a:pt x="75" y="32"/>
                  <a:pt x="71" y="30"/>
                  <a:pt x="67" y="29"/>
                </a:cubicBezTo>
                <a:cubicBezTo>
                  <a:pt x="63" y="29"/>
                  <a:pt x="59" y="30"/>
                  <a:pt x="56" y="33"/>
                </a:cubicBezTo>
                <a:close/>
                <a:moveTo>
                  <a:pt x="58" y="46"/>
                </a:moveTo>
                <a:cubicBezTo>
                  <a:pt x="60" y="41"/>
                  <a:pt x="64" y="39"/>
                  <a:pt x="70" y="38"/>
                </a:cubicBezTo>
                <a:cubicBezTo>
                  <a:pt x="64" y="34"/>
                  <a:pt x="57" y="40"/>
                  <a:pt x="58" y="46"/>
                </a:cubicBezTo>
                <a:close/>
                <a:moveTo>
                  <a:pt x="71" y="21"/>
                </a:moveTo>
                <a:cubicBezTo>
                  <a:pt x="65" y="21"/>
                  <a:pt x="51" y="19"/>
                  <a:pt x="47" y="19"/>
                </a:cubicBezTo>
                <a:cubicBezTo>
                  <a:pt x="47" y="20"/>
                  <a:pt x="47" y="21"/>
                  <a:pt x="47" y="21"/>
                </a:cubicBezTo>
                <a:cubicBezTo>
                  <a:pt x="51" y="21"/>
                  <a:pt x="67" y="24"/>
                  <a:pt x="71" y="24"/>
                </a:cubicBezTo>
                <a:cubicBezTo>
                  <a:pt x="71" y="23"/>
                  <a:pt x="71" y="22"/>
                  <a:pt x="71" y="21"/>
                </a:cubicBezTo>
                <a:close/>
                <a:moveTo>
                  <a:pt x="71" y="15"/>
                </a:moveTo>
                <a:cubicBezTo>
                  <a:pt x="65" y="15"/>
                  <a:pt x="51" y="12"/>
                  <a:pt x="47" y="12"/>
                </a:cubicBezTo>
                <a:cubicBezTo>
                  <a:pt x="47" y="13"/>
                  <a:pt x="47" y="14"/>
                  <a:pt x="47" y="14"/>
                </a:cubicBezTo>
                <a:cubicBezTo>
                  <a:pt x="51" y="14"/>
                  <a:pt x="67" y="17"/>
                  <a:pt x="71" y="17"/>
                </a:cubicBezTo>
                <a:cubicBezTo>
                  <a:pt x="71" y="16"/>
                  <a:pt x="71" y="15"/>
                  <a:pt x="71" y="15"/>
                </a:cubicBezTo>
                <a:close/>
                <a:moveTo>
                  <a:pt x="10" y="49"/>
                </a:moveTo>
                <a:cubicBezTo>
                  <a:pt x="10" y="49"/>
                  <a:pt x="10" y="50"/>
                  <a:pt x="10" y="51"/>
                </a:cubicBezTo>
                <a:cubicBezTo>
                  <a:pt x="14" y="51"/>
                  <a:pt x="29" y="48"/>
                  <a:pt x="34" y="48"/>
                </a:cubicBezTo>
                <a:cubicBezTo>
                  <a:pt x="34" y="48"/>
                  <a:pt x="34" y="47"/>
                  <a:pt x="34" y="46"/>
                </a:cubicBezTo>
                <a:cubicBezTo>
                  <a:pt x="30" y="46"/>
                  <a:pt x="15" y="49"/>
                  <a:pt x="10" y="49"/>
                </a:cubicBezTo>
                <a:close/>
                <a:moveTo>
                  <a:pt x="10" y="41"/>
                </a:moveTo>
                <a:cubicBezTo>
                  <a:pt x="10" y="42"/>
                  <a:pt x="10" y="43"/>
                  <a:pt x="10" y="43"/>
                </a:cubicBezTo>
                <a:cubicBezTo>
                  <a:pt x="14" y="44"/>
                  <a:pt x="29" y="41"/>
                  <a:pt x="34" y="41"/>
                </a:cubicBezTo>
                <a:cubicBezTo>
                  <a:pt x="34" y="40"/>
                  <a:pt x="34" y="40"/>
                  <a:pt x="34" y="39"/>
                </a:cubicBezTo>
                <a:cubicBezTo>
                  <a:pt x="30" y="39"/>
                  <a:pt x="15" y="41"/>
                  <a:pt x="10" y="41"/>
                </a:cubicBezTo>
                <a:close/>
                <a:moveTo>
                  <a:pt x="10" y="34"/>
                </a:moveTo>
                <a:cubicBezTo>
                  <a:pt x="10" y="35"/>
                  <a:pt x="10" y="36"/>
                  <a:pt x="10" y="37"/>
                </a:cubicBezTo>
                <a:cubicBezTo>
                  <a:pt x="14" y="37"/>
                  <a:pt x="29" y="34"/>
                  <a:pt x="34" y="34"/>
                </a:cubicBezTo>
                <a:cubicBezTo>
                  <a:pt x="34" y="33"/>
                  <a:pt x="34" y="33"/>
                  <a:pt x="34" y="32"/>
                </a:cubicBezTo>
                <a:cubicBezTo>
                  <a:pt x="30" y="32"/>
                  <a:pt x="15" y="34"/>
                  <a:pt x="10" y="34"/>
                </a:cubicBezTo>
                <a:close/>
                <a:moveTo>
                  <a:pt x="22" y="25"/>
                </a:moveTo>
                <a:cubicBezTo>
                  <a:pt x="22" y="26"/>
                  <a:pt x="22" y="27"/>
                  <a:pt x="22" y="28"/>
                </a:cubicBezTo>
                <a:cubicBezTo>
                  <a:pt x="25" y="28"/>
                  <a:pt x="29" y="26"/>
                  <a:pt x="34" y="27"/>
                </a:cubicBezTo>
                <a:cubicBezTo>
                  <a:pt x="34" y="26"/>
                  <a:pt x="34" y="25"/>
                  <a:pt x="34" y="24"/>
                </a:cubicBezTo>
                <a:cubicBezTo>
                  <a:pt x="30" y="24"/>
                  <a:pt x="26" y="25"/>
                  <a:pt x="22" y="25"/>
                </a:cubicBezTo>
                <a:close/>
                <a:moveTo>
                  <a:pt x="22" y="19"/>
                </a:moveTo>
                <a:cubicBezTo>
                  <a:pt x="22" y="20"/>
                  <a:pt x="22" y="21"/>
                  <a:pt x="22" y="21"/>
                </a:cubicBezTo>
                <a:cubicBezTo>
                  <a:pt x="25" y="21"/>
                  <a:pt x="29" y="20"/>
                  <a:pt x="34" y="20"/>
                </a:cubicBezTo>
                <a:cubicBezTo>
                  <a:pt x="34" y="20"/>
                  <a:pt x="34" y="19"/>
                  <a:pt x="34" y="18"/>
                </a:cubicBezTo>
                <a:cubicBezTo>
                  <a:pt x="30" y="18"/>
                  <a:pt x="26" y="19"/>
                  <a:pt x="22" y="19"/>
                </a:cubicBezTo>
                <a:close/>
                <a:moveTo>
                  <a:pt x="22" y="14"/>
                </a:moveTo>
                <a:cubicBezTo>
                  <a:pt x="22" y="15"/>
                  <a:pt x="22" y="15"/>
                  <a:pt x="22" y="16"/>
                </a:cubicBezTo>
                <a:cubicBezTo>
                  <a:pt x="25" y="16"/>
                  <a:pt x="29" y="15"/>
                  <a:pt x="34" y="15"/>
                </a:cubicBezTo>
                <a:cubicBezTo>
                  <a:pt x="34" y="14"/>
                  <a:pt x="34" y="14"/>
                  <a:pt x="34" y="13"/>
                </a:cubicBezTo>
                <a:cubicBezTo>
                  <a:pt x="30" y="13"/>
                  <a:pt x="26" y="13"/>
                  <a:pt x="22" y="14"/>
                </a:cubicBezTo>
                <a:close/>
                <a:moveTo>
                  <a:pt x="9" y="14"/>
                </a:moveTo>
                <a:cubicBezTo>
                  <a:pt x="9" y="31"/>
                  <a:pt x="9" y="31"/>
                  <a:pt x="9" y="31"/>
                </a:cubicBezTo>
                <a:cubicBezTo>
                  <a:pt x="19" y="30"/>
                  <a:pt x="19" y="30"/>
                  <a:pt x="19" y="30"/>
                </a:cubicBezTo>
                <a:cubicBezTo>
                  <a:pt x="19" y="13"/>
                  <a:pt x="19" y="13"/>
                  <a:pt x="19" y="13"/>
                </a:cubicBezTo>
                <a:cubicBezTo>
                  <a:pt x="9" y="14"/>
                  <a:pt x="9" y="14"/>
                  <a:pt x="9" y="14"/>
                </a:cubicBezTo>
                <a:close/>
                <a:moveTo>
                  <a:pt x="21" y="8"/>
                </a:moveTo>
                <a:cubicBezTo>
                  <a:pt x="16" y="8"/>
                  <a:pt x="10" y="9"/>
                  <a:pt x="5" y="9"/>
                </a:cubicBezTo>
                <a:cubicBezTo>
                  <a:pt x="5" y="56"/>
                  <a:pt x="5" y="56"/>
                  <a:pt x="5" y="56"/>
                </a:cubicBezTo>
                <a:cubicBezTo>
                  <a:pt x="10" y="56"/>
                  <a:pt x="16" y="55"/>
                  <a:pt x="21" y="55"/>
                </a:cubicBezTo>
                <a:cubicBezTo>
                  <a:pt x="27" y="54"/>
                  <a:pt x="33" y="53"/>
                  <a:pt x="37" y="54"/>
                </a:cubicBezTo>
                <a:cubicBezTo>
                  <a:pt x="37" y="8"/>
                  <a:pt x="37" y="8"/>
                  <a:pt x="37" y="8"/>
                </a:cubicBezTo>
                <a:cubicBezTo>
                  <a:pt x="34" y="6"/>
                  <a:pt x="27" y="7"/>
                  <a:pt x="21"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11" name="文本框 34"/>
          <p:cNvSpPr txBox="1">
            <a:spLocks noChangeArrowheads="1"/>
          </p:cNvSpPr>
          <p:nvPr/>
        </p:nvSpPr>
        <p:spPr bwMode="auto">
          <a:xfrm>
            <a:off x="954088" y="4109562"/>
            <a:ext cx="3073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zh-CN" altLang="en-US" sz="3200" dirty="0">
                <a:solidFill>
                  <a:schemeClr val="bg1"/>
                </a:solidFill>
              </a:rPr>
              <a:t>评    价</a:t>
            </a:r>
          </a:p>
        </p:txBody>
      </p:sp>
      <p:grpSp>
        <p:nvGrpSpPr>
          <p:cNvPr id="15" name="组合 14"/>
          <p:cNvGrpSpPr>
            <a:grpSpLocks/>
          </p:cNvGrpSpPr>
          <p:nvPr/>
        </p:nvGrpSpPr>
        <p:grpSpPr bwMode="auto">
          <a:xfrm>
            <a:off x="3813175" y="1499712"/>
            <a:ext cx="1733550" cy="1263650"/>
            <a:chOff x="3856882" y="1805041"/>
            <a:chExt cx="1734682" cy="1262903"/>
          </a:xfrm>
        </p:grpSpPr>
        <p:grpSp>
          <p:nvGrpSpPr>
            <p:cNvPr id="26" name="组合 25"/>
            <p:cNvGrpSpPr>
              <a:grpSpLocks/>
            </p:cNvGrpSpPr>
            <p:nvPr/>
          </p:nvGrpSpPr>
          <p:grpSpPr bwMode="auto">
            <a:xfrm>
              <a:off x="4635110" y="1805041"/>
              <a:ext cx="956454" cy="907419"/>
              <a:chOff x="4635110" y="1805041"/>
              <a:chExt cx="956454" cy="907419"/>
            </a:xfrm>
          </p:grpSpPr>
          <p:sp>
            <p:nvSpPr>
              <p:cNvPr id="28" name="等腰三角形 27"/>
              <p:cNvSpPr>
                <a:spLocks noChangeArrowheads="1"/>
              </p:cNvSpPr>
              <p:nvPr/>
            </p:nvSpPr>
            <p:spPr bwMode="auto">
              <a:xfrm>
                <a:off x="4635110" y="1805041"/>
                <a:ext cx="956454" cy="824528"/>
              </a:xfrm>
              <a:prstGeom prst="triangle">
                <a:avLst>
                  <a:gd name="adj" fmla="val 5000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9" name="文本框 27"/>
              <p:cNvSpPr txBox="1">
                <a:spLocks noChangeArrowheads="1"/>
              </p:cNvSpPr>
              <p:nvPr/>
            </p:nvSpPr>
            <p:spPr bwMode="auto">
              <a:xfrm>
                <a:off x="4676256" y="2066129"/>
                <a:ext cx="9153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en-US" altLang="zh-CN" sz="3600">
                    <a:solidFill>
                      <a:schemeClr val="bg1"/>
                    </a:solidFill>
                  </a:rPr>
                  <a:t>01</a:t>
                </a:r>
                <a:endParaRPr lang="zh-CN" altLang="en-US" sz="3600">
                  <a:solidFill>
                    <a:schemeClr val="bg1"/>
                  </a:solidFill>
                  <a:ea typeface="方正粗倩简体" pitchFamily="65" charset="-122"/>
                </a:endParaRPr>
              </a:p>
            </p:txBody>
          </p:sp>
        </p:grpSp>
        <p:sp>
          <p:nvSpPr>
            <p:cNvPr id="27" name="矩形 26"/>
            <p:cNvSpPr/>
            <p:nvPr/>
          </p:nvSpPr>
          <p:spPr>
            <a:xfrm rot="19804025">
              <a:off x="3856882" y="2198508"/>
              <a:ext cx="1580594" cy="869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endParaRPr lang="zh-CN" altLang="en-US" noProof="1"/>
            </a:p>
          </p:txBody>
        </p:sp>
      </p:grpSp>
      <p:grpSp>
        <p:nvGrpSpPr>
          <p:cNvPr id="16" name="组合 15"/>
          <p:cNvGrpSpPr>
            <a:grpSpLocks/>
          </p:cNvGrpSpPr>
          <p:nvPr/>
        </p:nvGrpSpPr>
        <p:grpSpPr bwMode="auto">
          <a:xfrm>
            <a:off x="4235450" y="3215799"/>
            <a:ext cx="1855788" cy="962025"/>
            <a:chOff x="4279404" y="3368896"/>
            <a:chExt cx="1855551" cy="962445"/>
          </a:xfrm>
        </p:grpSpPr>
        <p:grpSp>
          <p:nvGrpSpPr>
            <p:cNvPr id="22" name="组合 21"/>
            <p:cNvGrpSpPr>
              <a:grpSpLocks/>
            </p:cNvGrpSpPr>
            <p:nvPr/>
          </p:nvGrpSpPr>
          <p:grpSpPr bwMode="auto">
            <a:xfrm>
              <a:off x="5103518" y="3368896"/>
              <a:ext cx="1031437" cy="856513"/>
              <a:chOff x="5103518" y="3368896"/>
              <a:chExt cx="1031437" cy="856513"/>
            </a:xfrm>
          </p:grpSpPr>
          <p:sp>
            <p:nvSpPr>
              <p:cNvPr id="24" name="等腰三角形 23"/>
              <p:cNvSpPr>
                <a:spLocks noChangeArrowheads="1"/>
              </p:cNvSpPr>
              <p:nvPr/>
            </p:nvSpPr>
            <p:spPr bwMode="auto">
              <a:xfrm rot="1800000">
                <a:off x="5178501" y="3368896"/>
                <a:ext cx="956454" cy="824528"/>
              </a:xfrm>
              <a:prstGeom prst="triangle">
                <a:avLst>
                  <a:gd name="adj" fmla="val 5000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文本框 29"/>
              <p:cNvSpPr txBox="1">
                <a:spLocks noChangeArrowheads="1"/>
              </p:cNvSpPr>
              <p:nvPr/>
            </p:nvSpPr>
            <p:spPr bwMode="auto">
              <a:xfrm>
                <a:off x="5103518" y="3579078"/>
                <a:ext cx="9153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en-US" altLang="zh-CN" sz="3600">
                    <a:solidFill>
                      <a:schemeClr val="bg1"/>
                    </a:solidFill>
                  </a:rPr>
                  <a:t>02</a:t>
                </a:r>
                <a:endParaRPr lang="zh-CN" altLang="en-US" sz="3600">
                  <a:solidFill>
                    <a:schemeClr val="bg1"/>
                  </a:solidFill>
                  <a:ea typeface="方正粗倩简体" pitchFamily="65" charset="-122"/>
                </a:endParaRPr>
              </a:p>
            </p:txBody>
          </p:sp>
        </p:grpSp>
        <p:sp>
          <p:nvSpPr>
            <p:cNvPr id="23" name="矩形 22"/>
            <p:cNvSpPr/>
            <p:nvPr/>
          </p:nvSpPr>
          <p:spPr>
            <a:xfrm>
              <a:off x="4279404" y="3462600"/>
              <a:ext cx="1580948" cy="8687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endParaRPr lang="zh-CN" altLang="en-US" noProof="1"/>
            </a:p>
          </p:txBody>
        </p:sp>
      </p:grpSp>
      <p:grpSp>
        <p:nvGrpSpPr>
          <p:cNvPr id="17" name="组合 16"/>
          <p:cNvGrpSpPr>
            <a:grpSpLocks/>
          </p:cNvGrpSpPr>
          <p:nvPr/>
        </p:nvGrpSpPr>
        <p:grpSpPr bwMode="auto">
          <a:xfrm>
            <a:off x="3916995" y="4518184"/>
            <a:ext cx="1763711" cy="1112838"/>
            <a:chOff x="3976330" y="4762614"/>
            <a:chExt cx="1764377" cy="1113179"/>
          </a:xfrm>
        </p:grpSpPr>
        <p:grpSp>
          <p:nvGrpSpPr>
            <p:cNvPr id="18" name="组合 17"/>
            <p:cNvGrpSpPr>
              <a:grpSpLocks/>
            </p:cNvGrpSpPr>
            <p:nvPr/>
          </p:nvGrpSpPr>
          <p:grpSpPr bwMode="auto">
            <a:xfrm>
              <a:off x="4735934" y="4919339"/>
              <a:ext cx="1004773" cy="956454"/>
              <a:chOff x="4735934" y="4919339"/>
              <a:chExt cx="1004773" cy="956454"/>
            </a:xfrm>
          </p:grpSpPr>
          <p:sp>
            <p:nvSpPr>
              <p:cNvPr id="20" name="等腰三角形 19"/>
              <p:cNvSpPr>
                <a:spLocks noChangeArrowheads="1"/>
              </p:cNvSpPr>
              <p:nvPr/>
            </p:nvSpPr>
            <p:spPr bwMode="auto">
              <a:xfrm rot="3600000">
                <a:off x="4850216" y="4985302"/>
                <a:ext cx="956454" cy="824528"/>
              </a:xfrm>
              <a:prstGeom prst="triangle">
                <a:avLst>
                  <a:gd name="adj" fmla="val 5000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1" name="文本框 28"/>
              <p:cNvSpPr txBox="1">
                <a:spLocks noChangeArrowheads="1"/>
              </p:cNvSpPr>
              <p:nvPr/>
            </p:nvSpPr>
            <p:spPr bwMode="auto">
              <a:xfrm>
                <a:off x="4735934" y="5120141"/>
                <a:ext cx="9153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en-US" altLang="zh-CN" sz="3600">
                    <a:solidFill>
                      <a:schemeClr val="bg1"/>
                    </a:solidFill>
                  </a:rPr>
                  <a:t>03</a:t>
                </a:r>
                <a:endParaRPr lang="zh-CN" altLang="en-US" sz="3600">
                  <a:solidFill>
                    <a:schemeClr val="bg1"/>
                  </a:solidFill>
                  <a:ea typeface="方正粗倩简体" pitchFamily="65" charset="-122"/>
                </a:endParaRPr>
              </a:p>
            </p:txBody>
          </p:sp>
        </p:grpSp>
        <p:sp>
          <p:nvSpPr>
            <p:cNvPr id="19" name="矩形 18"/>
            <p:cNvSpPr/>
            <p:nvPr/>
          </p:nvSpPr>
          <p:spPr>
            <a:xfrm rot="1795975" flipH="1">
              <a:off x="3976330" y="4762614"/>
              <a:ext cx="1581746" cy="870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endParaRPr lang="zh-CN" altLang="en-US" noProof="1"/>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固定分区分配</a:t>
            </a:r>
          </a:p>
        </p:txBody>
      </p:sp>
      <p:sp>
        <p:nvSpPr>
          <p:cNvPr id="32" name="矩形 31"/>
          <p:cNvSpPr>
            <a:spLocks noChangeArrowheads="1"/>
          </p:cNvSpPr>
          <p:nvPr/>
        </p:nvSpPr>
        <p:spPr bwMode="auto">
          <a:xfrm>
            <a:off x="5612950" y="826520"/>
            <a:ext cx="1831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100" b="1" dirty="0">
                <a:solidFill>
                  <a:srgbClr val="197519"/>
                </a:solidFill>
              </a:rPr>
              <a:t>特点：</a:t>
            </a:r>
            <a:endParaRPr lang="zh-CN" altLang="en-US" sz="2100" b="1" dirty="0"/>
          </a:p>
        </p:txBody>
      </p:sp>
      <p:sp>
        <p:nvSpPr>
          <p:cNvPr id="33" name="文本框 19"/>
          <p:cNvSpPr txBox="1">
            <a:spLocks noChangeArrowheads="1"/>
          </p:cNvSpPr>
          <p:nvPr/>
        </p:nvSpPr>
        <p:spPr bwMode="auto">
          <a:xfrm>
            <a:off x="5760072" y="1287677"/>
            <a:ext cx="60814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000" dirty="0"/>
              <a:t>支持多个程序并发执行</a:t>
            </a:r>
            <a:endParaRPr lang="en-US" altLang="zh-CN" sz="2000" dirty="0"/>
          </a:p>
          <a:p>
            <a:pPr marL="0" lvl="2" indent="0">
              <a:buBlip>
                <a:blip r:embed="rId2"/>
              </a:buBlip>
            </a:pPr>
            <a:r>
              <a:rPr lang="zh-CN" altLang="en-US" sz="2000" dirty="0"/>
              <a:t>难以进行内存分区的共享。</a:t>
            </a:r>
            <a:endParaRPr lang="en-US" altLang="zh-CN" sz="2000" dirty="0"/>
          </a:p>
          <a:p>
            <a:pPr marL="0" lvl="2" indent="0">
              <a:buBlip>
                <a:blip r:embed="rId2"/>
              </a:buBlip>
            </a:pPr>
            <a:r>
              <a:rPr lang="zh-CN" altLang="en-US" sz="2000" dirty="0"/>
              <a:t>比较适合已知程序（作业）大小和出现频率的情形</a:t>
            </a:r>
          </a:p>
        </p:txBody>
      </p:sp>
      <p:sp>
        <p:nvSpPr>
          <p:cNvPr id="35" name="矩形 34"/>
          <p:cNvSpPr>
            <a:spLocks noChangeArrowheads="1"/>
          </p:cNvSpPr>
          <p:nvPr/>
        </p:nvSpPr>
        <p:spPr bwMode="auto">
          <a:xfrm>
            <a:off x="6580802" y="2626923"/>
            <a:ext cx="467096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10000"/>
              </a:lnSpc>
            </a:pPr>
            <a:r>
              <a:rPr lang="zh-CN" altLang="en-US" sz="2400" dirty="0"/>
              <a:t>可能产生内碎片和外碎片</a:t>
            </a:r>
          </a:p>
        </p:txBody>
      </p:sp>
      <p:sp>
        <p:nvSpPr>
          <p:cNvPr id="36" name="矩形 35"/>
          <p:cNvSpPr>
            <a:spLocks noChangeArrowheads="1"/>
          </p:cNvSpPr>
          <p:nvPr/>
        </p:nvSpPr>
        <p:spPr bwMode="auto">
          <a:xfrm>
            <a:off x="5816600" y="2655951"/>
            <a:ext cx="1831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100" b="1" dirty="0">
                <a:solidFill>
                  <a:srgbClr val="197519"/>
                </a:solidFill>
              </a:rPr>
              <a:t>问题：</a:t>
            </a:r>
            <a:endParaRPr lang="zh-CN" altLang="en-US" sz="2100" b="1" dirty="0"/>
          </a:p>
        </p:txBody>
      </p:sp>
      <p:sp>
        <p:nvSpPr>
          <p:cNvPr id="37" name="文本框 19"/>
          <p:cNvSpPr txBox="1">
            <a:spLocks noChangeArrowheads="1"/>
          </p:cNvSpPr>
          <p:nvPr/>
        </p:nvSpPr>
        <p:spPr bwMode="auto">
          <a:xfrm>
            <a:off x="5912472" y="3178792"/>
            <a:ext cx="60814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000" b="1" dirty="0"/>
              <a:t>内碎片：</a:t>
            </a:r>
            <a:r>
              <a:rPr lang="zh-CN" altLang="en-US" sz="2000" dirty="0"/>
              <a:t>占用分区之内未被利用的空间</a:t>
            </a:r>
            <a:endParaRPr lang="en-US" altLang="zh-CN" sz="2000" dirty="0"/>
          </a:p>
          <a:p>
            <a:pPr marL="0" lvl="2" indent="0">
              <a:buBlip>
                <a:blip r:embed="rId2"/>
              </a:buBlip>
            </a:pPr>
            <a:r>
              <a:rPr lang="zh-CN" altLang="en-US" sz="2000" b="1" dirty="0"/>
              <a:t>外碎片：</a:t>
            </a:r>
            <a:r>
              <a:rPr lang="zh-CN" altLang="en-US" sz="2000" dirty="0"/>
              <a:t>占用分区之间难以利用的空闲分区（通常是小空闲分区）。</a:t>
            </a:r>
          </a:p>
        </p:txBody>
      </p:sp>
      <p:sp>
        <p:nvSpPr>
          <p:cNvPr id="39" name="矩形 38"/>
          <p:cNvSpPr>
            <a:spLocks noChangeArrowheads="1"/>
          </p:cNvSpPr>
          <p:nvPr/>
        </p:nvSpPr>
        <p:spPr bwMode="auto">
          <a:xfrm>
            <a:off x="5650341" y="4447132"/>
            <a:ext cx="1831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100" b="1" dirty="0">
                <a:solidFill>
                  <a:srgbClr val="197519"/>
                </a:solidFill>
              </a:rPr>
              <a:t>缺点：</a:t>
            </a:r>
            <a:endParaRPr lang="zh-CN" altLang="en-US" sz="2100" b="1" dirty="0"/>
          </a:p>
        </p:txBody>
      </p:sp>
      <p:sp>
        <p:nvSpPr>
          <p:cNvPr id="40" name="文本框 19"/>
          <p:cNvSpPr txBox="1">
            <a:spLocks noChangeArrowheads="1"/>
          </p:cNvSpPr>
          <p:nvPr/>
        </p:nvSpPr>
        <p:spPr bwMode="auto">
          <a:xfrm>
            <a:off x="5746213" y="4969973"/>
            <a:ext cx="608140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000" dirty="0"/>
              <a:t>实际系统运行时，往往无法预知分区大小（太大，等同于“单用户分区模式”）</a:t>
            </a:r>
            <a:endParaRPr lang="en-US" altLang="zh-CN" sz="2000" dirty="0"/>
          </a:p>
          <a:p>
            <a:pPr marL="0" lvl="2" indent="0">
              <a:buBlip>
                <a:blip r:embed="rId2"/>
              </a:buBlip>
            </a:pPr>
            <a:r>
              <a:rPr lang="zh-CN" altLang="en-US" sz="2000" dirty="0"/>
              <a:t>主存空间利用率仍然较低</a:t>
            </a:r>
            <a:endParaRPr lang="en-US" altLang="zh-CN" sz="2000" dirty="0"/>
          </a:p>
          <a:p>
            <a:pPr marL="0" lvl="2" indent="0">
              <a:buBlip>
                <a:blip r:embed="rId2"/>
              </a:buBlip>
            </a:pPr>
            <a:r>
              <a:rPr lang="zh-CN" altLang="en-US" sz="2000" dirty="0"/>
              <a:t>无法适应动态扩充主存</a:t>
            </a:r>
            <a:endParaRPr lang="en-US" altLang="zh-CN" sz="2000" dirty="0"/>
          </a:p>
          <a:p>
            <a:pPr marL="0" lvl="2" indent="0">
              <a:buBlip>
                <a:blip r:embed="rId2"/>
              </a:buBlip>
            </a:pPr>
            <a:r>
              <a:rPr lang="zh-CN" altLang="en-US" sz="2000" dirty="0"/>
              <a:t>分区数目预先确定，限制了多道运行程序的数量</a:t>
            </a:r>
            <a:endParaRPr lang="en-US" altLang="zh-CN" sz="2000" dirty="0"/>
          </a:p>
        </p:txBody>
      </p:sp>
    </p:spTree>
    <p:extLst>
      <p:ext uri="{BB962C8B-B14F-4D97-AF65-F5344CB8AC3E}">
        <p14:creationId xmlns:p14="http://schemas.microsoft.com/office/powerpoint/2010/main" val="13112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strips(down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circle(in)">
                                      <p:cBhvr>
                                        <p:cTn id="17" dur="20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strips(downLef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strips(downLeft)">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3" grpId="0"/>
      <p:bldP spid="35" grpId="0"/>
      <p:bldP spid="37" grpId="0"/>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）基本思想</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动态分区分配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文本框 19"/>
          <p:cNvSpPr txBox="1">
            <a:spLocks noChangeArrowheads="1"/>
          </p:cNvSpPr>
          <p:nvPr/>
        </p:nvSpPr>
        <p:spPr bwMode="auto">
          <a:xfrm>
            <a:off x="1090268" y="1895059"/>
            <a:ext cx="567339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按作业的大小划分分区，但划分的时间、大小和位置均动态确定，系统在作业装入主存执行之前并不建立分区。存储空间的划分是在装作业时进行的。从可用的自由存储空间内，划出一个大小正好等于作业大小的存储区，并分配给这一作业。</a:t>
            </a:r>
          </a:p>
        </p:txBody>
      </p:sp>
      <p:sp>
        <p:nvSpPr>
          <p:cNvPr id="48" name="矩形 47"/>
          <p:cNvSpPr/>
          <p:nvPr/>
        </p:nvSpPr>
        <p:spPr>
          <a:xfrm>
            <a:off x="1126144" y="489302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2034194" y="489302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文本框 55"/>
          <p:cNvSpPr txBox="1">
            <a:spLocks noChangeArrowheads="1"/>
          </p:cNvSpPr>
          <p:nvPr/>
        </p:nvSpPr>
        <p:spPr bwMode="auto">
          <a:xfrm>
            <a:off x="980094" y="4359620"/>
            <a:ext cx="4259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）分区分配中的数据结构</a:t>
            </a:r>
          </a:p>
        </p:txBody>
      </p:sp>
      <p:sp>
        <p:nvSpPr>
          <p:cNvPr id="52" name="文本框 19"/>
          <p:cNvSpPr txBox="1">
            <a:spLocks noChangeArrowheads="1"/>
          </p:cNvSpPr>
          <p:nvPr/>
        </p:nvSpPr>
        <p:spPr bwMode="auto">
          <a:xfrm>
            <a:off x="1090267" y="5125421"/>
            <a:ext cx="953418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b="1" dirty="0">
                <a:solidFill>
                  <a:schemeClr val="accent2"/>
                </a:solidFill>
              </a:rPr>
              <a:t>空闲分区表：</a:t>
            </a:r>
            <a:r>
              <a:rPr lang="zh-CN" altLang="en-US" sz="2400" dirty="0"/>
              <a:t>用于记录每个空闲分区的情况。每个空闲分区占 一个表目，表目中包括分区序号、分区始址及分区的大小等数据项。</a:t>
            </a:r>
            <a:endParaRPr lang="en-US" altLang="zh-CN" sz="2400" dirty="0"/>
          </a:p>
          <a:p>
            <a:pPr marL="0" lvl="2" indent="0">
              <a:buBlip>
                <a:blip r:embed="rId3"/>
              </a:buBlip>
            </a:pPr>
            <a:r>
              <a:rPr lang="zh-CN" altLang="en-US" sz="2400" b="1" dirty="0">
                <a:solidFill>
                  <a:schemeClr val="accent2"/>
                </a:solidFill>
              </a:rPr>
              <a:t>空闲分区链：</a:t>
            </a:r>
            <a:r>
              <a:rPr lang="zh-CN" altLang="en-US" sz="2400" dirty="0"/>
              <a:t>用于实现对空闲分区的分配和链接。</a:t>
            </a:r>
          </a:p>
        </p:txBody>
      </p:sp>
      <p:graphicFrame>
        <p:nvGraphicFramePr>
          <p:cNvPr id="16" name="Group 4"/>
          <p:cNvGraphicFramePr>
            <a:graphicFrameLocks/>
          </p:cNvGraphicFramePr>
          <p:nvPr/>
        </p:nvGraphicFramePr>
        <p:xfrm>
          <a:off x="6981371" y="1590923"/>
          <a:ext cx="4609647" cy="1792224"/>
        </p:xfrm>
        <a:graphic>
          <a:graphicData uri="http://schemas.openxmlformats.org/drawingml/2006/table">
            <a:tbl>
              <a:tblPr/>
              <a:tblGrid>
                <a:gridCol w="797463">
                  <a:extLst>
                    <a:ext uri="{9D8B030D-6E8A-4147-A177-3AD203B41FA5}">
                      <a16:colId xmlns:a16="http://schemas.microsoft.com/office/drawing/2014/main" val="20000"/>
                    </a:ext>
                  </a:extLst>
                </a:gridCol>
                <a:gridCol w="1471397">
                  <a:extLst>
                    <a:ext uri="{9D8B030D-6E8A-4147-A177-3AD203B41FA5}">
                      <a16:colId xmlns:a16="http://schemas.microsoft.com/office/drawing/2014/main" val="20001"/>
                    </a:ext>
                  </a:extLst>
                </a:gridCol>
                <a:gridCol w="1490160">
                  <a:extLst>
                    <a:ext uri="{9D8B030D-6E8A-4147-A177-3AD203B41FA5}">
                      <a16:colId xmlns:a16="http://schemas.microsoft.com/office/drawing/2014/main" val="20002"/>
                    </a:ext>
                  </a:extLst>
                </a:gridCol>
                <a:gridCol w="850627">
                  <a:extLst>
                    <a:ext uri="{9D8B030D-6E8A-4147-A177-3AD203B41FA5}">
                      <a16:colId xmlns:a16="http://schemas.microsoft.com/office/drawing/2014/main" val="20003"/>
                    </a:ext>
                  </a:extLst>
                </a:gridCol>
              </a:tblGrid>
              <a:tr h="258442">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序号</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分区大小</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起始地址</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状态</a:t>
                      </a: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8759">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endPar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12k</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20k</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endPar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30k</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32k</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endPar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可用</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可用</a:t>
                      </a:r>
                    </a:p>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a:t>
                      </a:r>
                      <a:endPar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 name="Group 68"/>
          <p:cNvGraphicFramePr>
            <a:graphicFrameLocks noGrp="1"/>
          </p:cNvGraphicFramePr>
          <p:nvPr/>
        </p:nvGraphicFramePr>
        <p:xfrm>
          <a:off x="6627359" y="1133274"/>
          <a:ext cx="942983" cy="576262"/>
        </p:xfrm>
        <a:graphic>
          <a:graphicData uri="http://schemas.openxmlformats.org/drawingml/2006/table">
            <a:tbl>
              <a:tblPr/>
              <a:tblGrid>
                <a:gridCol w="217414">
                  <a:extLst>
                    <a:ext uri="{9D8B030D-6E8A-4147-A177-3AD203B41FA5}">
                      <a16:colId xmlns:a16="http://schemas.microsoft.com/office/drawing/2014/main" val="20000"/>
                    </a:ext>
                  </a:extLst>
                </a:gridCol>
                <a:gridCol w="517351">
                  <a:extLst>
                    <a:ext uri="{9D8B030D-6E8A-4147-A177-3AD203B41FA5}">
                      <a16:colId xmlns:a16="http://schemas.microsoft.com/office/drawing/2014/main" val="20001"/>
                    </a:ext>
                  </a:extLst>
                </a:gridCol>
                <a:gridCol w="208218">
                  <a:extLst>
                    <a:ext uri="{9D8B030D-6E8A-4147-A177-3AD203B41FA5}">
                      <a16:colId xmlns:a16="http://schemas.microsoft.com/office/drawing/2014/main" val="20002"/>
                    </a:ext>
                  </a:extLst>
                </a:gridCol>
              </a:tblGrid>
              <a:tr h="576262">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marL="91409" marR="914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marL="91409" marR="914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marL="91409" marR="914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0"/>
                  </a:ext>
                </a:extLst>
              </a:tr>
            </a:tbl>
          </a:graphicData>
        </a:graphic>
      </p:graphicFrame>
      <p:graphicFrame>
        <p:nvGraphicFramePr>
          <p:cNvPr id="18" name="Group 60"/>
          <p:cNvGraphicFramePr>
            <a:graphicFrameLocks noGrp="1"/>
          </p:cNvGraphicFramePr>
          <p:nvPr/>
        </p:nvGraphicFramePr>
        <p:xfrm>
          <a:off x="8714922" y="1133274"/>
          <a:ext cx="936625" cy="576262"/>
        </p:xfrm>
        <a:graphic>
          <a:graphicData uri="http://schemas.openxmlformats.org/drawingml/2006/table">
            <a:tbl>
              <a:tblPr/>
              <a:tblGrid>
                <a:gridCol w="217488">
                  <a:extLst>
                    <a:ext uri="{9D8B030D-6E8A-4147-A177-3AD203B41FA5}">
                      <a16:colId xmlns:a16="http://schemas.microsoft.com/office/drawing/2014/main" val="20000"/>
                    </a:ext>
                  </a:extLst>
                </a:gridCol>
                <a:gridCol w="503237">
                  <a:extLst>
                    <a:ext uri="{9D8B030D-6E8A-4147-A177-3AD203B41FA5}">
                      <a16:colId xmlns:a16="http://schemas.microsoft.com/office/drawing/2014/main" val="20001"/>
                    </a:ext>
                  </a:extLst>
                </a:gridCol>
                <a:gridCol w="215900">
                  <a:extLst>
                    <a:ext uri="{9D8B030D-6E8A-4147-A177-3AD203B41FA5}">
                      <a16:colId xmlns:a16="http://schemas.microsoft.com/office/drawing/2014/main" val="20002"/>
                    </a:ext>
                  </a:extLst>
                </a:gridCol>
              </a:tblGrid>
              <a:tr h="576262">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0"/>
                  </a:ext>
                </a:extLst>
              </a:tr>
            </a:tbl>
          </a:graphicData>
        </a:graphic>
      </p:graphicFrame>
      <p:graphicFrame>
        <p:nvGraphicFramePr>
          <p:cNvPr id="19" name="Group 70"/>
          <p:cNvGraphicFramePr>
            <a:graphicFrameLocks noGrp="1"/>
          </p:cNvGraphicFramePr>
          <p:nvPr/>
        </p:nvGraphicFramePr>
        <p:xfrm>
          <a:off x="10802484" y="1133274"/>
          <a:ext cx="936625" cy="576262"/>
        </p:xfrm>
        <a:graphic>
          <a:graphicData uri="http://schemas.openxmlformats.org/drawingml/2006/table">
            <a:tbl>
              <a:tblPr/>
              <a:tblGrid>
                <a:gridCol w="217487">
                  <a:extLst>
                    <a:ext uri="{9D8B030D-6E8A-4147-A177-3AD203B41FA5}">
                      <a16:colId xmlns:a16="http://schemas.microsoft.com/office/drawing/2014/main" val="20000"/>
                    </a:ext>
                  </a:extLst>
                </a:gridCol>
                <a:gridCol w="503238">
                  <a:extLst>
                    <a:ext uri="{9D8B030D-6E8A-4147-A177-3AD203B41FA5}">
                      <a16:colId xmlns:a16="http://schemas.microsoft.com/office/drawing/2014/main" val="20001"/>
                    </a:ext>
                  </a:extLst>
                </a:gridCol>
                <a:gridCol w="215900">
                  <a:extLst>
                    <a:ext uri="{9D8B030D-6E8A-4147-A177-3AD203B41FA5}">
                      <a16:colId xmlns:a16="http://schemas.microsoft.com/office/drawing/2014/main" val="20002"/>
                    </a:ext>
                  </a:extLst>
                </a:gridCol>
              </a:tblGrid>
              <a:tr h="576262">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l" defTabSz="914400" rtl="0" eaLnBrk="1" fontAlgn="base" latinLnBrk="0" hangingPunct="1">
                        <a:lnSpc>
                          <a:spcPct val="100000"/>
                        </a:lnSpc>
                        <a:spcBef>
                          <a:spcPct val="20000"/>
                        </a:spcBef>
                        <a:spcAft>
                          <a:spcPct val="0"/>
                        </a:spcAft>
                        <a:buClr>
                          <a:srgbClr val="1F05E3"/>
                        </a:buClr>
                        <a:buSzTx/>
                        <a:buFontTx/>
                        <a:buNone/>
                        <a:tabLst/>
                      </a:pPr>
                      <a:endParaRPr kumimoji="1" lang="zh-CN" altLang="zh-CN" sz="2800" b="0" i="0" u="none" strike="noStrike" cap="none" normalizeH="0" baseline="0">
                        <a:ln>
                          <a:noFill/>
                        </a:ln>
                        <a:solidFill>
                          <a:schemeClr val="tx1"/>
                        </a:solidFill>
                        <a:effectLst/>
                        <a:latin typeface="楷体_GB2312" pitchFamily="49" charset="-122"/>
                        <a:ea typeface="楷体_GB2312" pitchFamily="49"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0"/>
                  </a:ext>
                </a:extLst>
              </a:tr>
            </a:tbl>
          </a:graphicData>
        </a:graphic>
      </p:graphicFrame>
      <p:sp>
        <p:nvSpPr>
          <p:cNvPr id="20" name="Line 82"/>
          <p:cNvSpPr>
            <a:spLocks noChangeShapeType="1"/>
          </p:cNvSpPr>
          <p:nvPr/>
        </p:nvSpPr>
        <p:spPr bwMode="auto">
          <a:xfrm>
            <a:off x="7419522" y="1277736"/>
            <a:ext cx="1366837"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sp>
        <p:nvSpPr>
          <p:cNvPr id="22" name="Line 83"/>
          <p:cNvSpPr>
            <a:spLocks noChangeShapeType="1"/>
          </p:cNvSpPr>
          <p:nvPr/>
        </p:nvSpPr>
        <p:spPr bwMode="auto">
          <a:xfrm flipH="1">
            <a:off x="7419522" y="1493636"/>
            <a:ext cx="1366837"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sp>
        <p:nvSpPr>
          <p:cNvPr id="23" name="Line 84"/>
          <p:cNvSpPr>
            <a:spLocks noChangeShapeType="1"/>
          </p:cNvSpPr>
          <p:nvPr/>
        </p:nvSpPr>
        <p:spPr bwMode="auto">
          <a:xfrm>
            <a:off x="9578522" y="1277736"/>
            <a:ext cx="1296987"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sp>
        <p:nvSpPr>
          <p:cNvPr id="24" name="Line 85"/>
          <p:cNvSpPr>
            <a:spLocks noChangeShapeType="1"/>
          </p:cNvSpPr>
          <p:nvPr/>
        </p:nvSpPr>
        <p:spPr bwMode="auto">
          <a:xfrm flipH="1">
            <a:off x="9578522" y="1493636"/>
            <a:ext cx="1368425"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graphicFrame>
        <p:nvGraphicFramePr>
          <p:cNvPr id="25" name="Group 67"/>
          <p:cNvGraphicFramePr>
            <a:graphicFrameLocks noGrp="1"/>
          </p:cNvGraphicFramePr>
          <p:nvPr/>
        </p:nvGraphicFramePr>
        <p:xfrm>
          <a:off x="7419522" y="2212774"/>
          <a:ext cx="3988707" cy="2063179"/>
        </p:xfrm>
        <a:graphic>
          <a:graphicData uri="http://schemas.openxmlformats.org/drawingml/2006/table">
            <a:tbl>
              <a:tblPr/>
              <a:tblGrid>
                <a:gridCol w="1398568">
                  <a:extLst>
                    <a:ext uri="{9D8B030D-6E8A-4147-A177-3AD203B41FA5}">
                      <a16:colId xmlns:a16="http://schemas.microsoft.com/office/drawing/2014/main" val="20000"/>
                    </a:ext>
                  </a:extLst>
                </a:gridCol>
                <a:gridCol w="1351377">
                  <a:extLst>
                    <a:ext uri="{9D8B030D-6E8A-4147-A177-3AD203B41FA5}">
                      <a16:colId xmlns:a16="http://schemas.microsoft.com/office/drawing/2014/main" val="20001"/>
                    </a:ext>
                  </a:extLst>
                </a:gridCol>
                <a:gridCol w="1238762">
                  <a:extLst>
                    <a:ext uri="{9D8B030D-6E8A-4147-A177-3AD203B41FA5}">
                      <a16:colId xmlns:a16="http://schemas.microsoft.com/office/drawing/2014/main" val="20002"/>
                    </a:ext>
                  </a:extLst>
                </a:gridCol>
              </a:tblGrid>
              <a:tr h="559374">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前向指针</a:t>
                      </a:r>
                      <a:endParaRPr kumimoji="1" lang="zh-CN" altLang="en-US"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rowSpan="3">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N</a:t>
                      </a: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个字节可用</a:t>
                      </a:r>
                      <a:endParaRPr kumimoji="1" lang="zh-CN" altLang="en-US"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后向指针</a:t>
                      </a:r>
                      <a:endParaRPr kumimoji="1" lang="zh-CN" altLang="en-US" sz="2000" b="0" i="0" u="none" strike="noStrike" cap="none" normalizeH="0" baseline="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0"/>
                  </a:ext>
                </a:extLst>
              </a:tr>
              <a:tr h="692362">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N+2</a:t>
                      </a:r>
                      <a:endParaRPr kumimoji="1" lang="en-US" altLang="zh-CN"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N+2</a:t>
                      </a:r>
                      <a:endParaRPr kumimoji="1" lang="en-US" altLang="zh-CN"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1"/>
                  </a:ext>
                </a:extLst>
              </a:tr>
              <a:tr h="811443">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0</a:t>
                      </a: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（分配标识）</a:t>
                      </a:r>
                      <a:endParaRPr kumimoji="1" lang="zh-CN" altLang="en-US"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1F05E3"/>
                        </a:buClr>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0</a:t>
                      </a:r>
                      <a:endParaRPr kumimoji="1" lang="en-US" altLang="zh-CN" sz="2000" b="0" i="0" u="none" strike="noStrike" cap="none" normalizeH="0" baseline="0" dirty="0">
                        <a:ln>
                          <a:noFill/>
                        </a:ln>
                        <a:solidFill>
                          <a:schemeClr val="tx1"/>
                        </a:solidFill>
                        <a:effectLst/>
                        <a:latin typeface="楷体_GB2312" pitchFamily="49" charset="-122"/>
                        <a:ea typeface="楷体_GB2312" pitchFamily="49" charset="-122"/>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CEDFE"/>
                    </a:solidFill>
                  </a:tcPr>
                </a:tc>
                <a:extLst>
                  <a:ext uri="{0D108BD9-81ED-4DB2-BD59-A6C34878D82A}">
                    <a16:rowId xmlns:a16="http://schemas.microsoft.com/office/drawing/2014/main" val="10002"/>
                  </a:ext>
                </a:extLst>
              </a:tr>
            </a:tbl>
          </a:graphicData>
        </a:graphic>
      </p:graphicFrame>
      <p:sp>
        <p:nvSpPr>
          <p:cNvPr id="26" name="Line 116"/>
          <p:cNvSpPr>
            <a:spLocks noChangeShapeType="1"/>
          </p:cNvSpPr>
          <p:nvPr/>
        </p:nvSpPr>
        <p:spPr bwMode="auto">
          <a:xfrm flipH="1">
            <a:off x="7968342" y="1709536"/>
            <a:ext cx="746579" cy="5048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sp>
        <p:nvSpPr>
          <p:cNvPr id="32" name="Line 117"/>
          <p:cNvSpPr>
            <a:spLocks noChangeShapeType="1"/>
          </p:cNvSpPr>
          <p:nvPr/>
        </p:nvSpPr>
        <p:spPr bwMode="auto">
          <a:xfrm>
            <a:off x="9649959" y="1709536"/>
            <a:ext cx="974497" cy="5048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lIns="91426" tIns="45713" rIns="91426" bIns="45713"/>
          <a:lstStyle/>
          <a:p>
            <a:endParaRPr lang="zh-CN" altLang="en-US"/>
          </a:p>
        </p:txBody>
      </p:sp>
    </p:spTree>
    <p:extLst>
      <p:ext uri="{BB962C8B-B14F-4D97-AF65-F5344CB8AC3E}">
        <p14:creationId xmlns:p14="http://schemas.microsoft.com/office/powerpoint/2010/main" val="63017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trips(down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2">
                                            <p:txEl>
                                              <p:pRg st="0" end="0"/>
                                            </p:txEl>
                                          </p:spTgt>
                                        </p:tgtEl>
                                        <p:attrNameLst>
                                          <p:attrName>style.visibility</p:attrName>
                                        </p:attrNameLst>
                                      </p:cBhvr>
                                      <p:to>
                                        <p:strVal val="visible"/>
                                      </p:to>
                                    </p:set>
                                    <p:animEffect transition="in" filter="barn(inVertical)">
                                      <p:cBhvr>
                                        <p:cTn id="12" dur="500"/>
                                        <p:tgtEl>
                                          <p:spTgt spid="5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2">
                                            <p:txEl>
                                              <p:pRg st="1" end="1"/>
                                            </p:txEl>
                                          </p:spTgt>
                                        </p:tgtEl>
                                        <p:attrNameLst>
                                          <p:attrName>style.visibility</p:attrName>
                                        </p:attrNameLst>
                                      </p:cBhvr>
                                      <p:to>
                                        <p:strVal val="visible"/>
                                      </p:to>
                                    </p:set>
                                    <p:animEffect transition="in" filter="barn(inVertical)">
                                      <p:cBhvr>
                                        <p:cTn id="21" dur="500"/>
                                        <p:tgtEl>
                                          <p:spTgt spid="5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xit" presetSubtype="4" fill="hold" nodeType="clickEffect">
                                  <p:stCondLst>
                                    <p:cond delay="0"/>
                                  </p:stCondLst>
                                  <p:childTnLst>
                                    <p:animEffect transition="out" filter="wipe(down)">
                                      <p:cBhvr>
                                        <p:cTn id="25" dur="500"/>
                                        <p:tgtEl>
                                          <p:spTgt spid="16"/>
                                        </p:tgtEl>
                                      </p:cBhvr>
                                    </p:animEffect>
                                    <p:set>
                                      <p:cBhvr>
                                        <p:cTn id="26" dur="1" fill="hold">
                                          <p:stCondLst>
                                            <p:cond delay="499"/>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circle(in)">
                                      <p:cBhvr>
                                        <p:cTn id="31" dur="2000"/>
                                        <p:tgtEl>
                                          <p:spTgt spid="17"/>
                                        </p:tgtEl>
                                      </p:cBhvr>
                                    </p:animEffect>
                                  </p:childTnLst>
                                </p:cTn>
                              </p:par>
                              <p:par>
                                <p:cTn id="32" presetID="6" presetClass="entr" presetSubtype="16"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circle(in)">
                                      <p:cBhvr>
                                        <p:cTn id="34" dur="2000"/>
                                        <p:tgtEl>
                                          <p:spTgt spid="18"/>
                                        </p:tgtEl>
                                      </p:cBhvr>
                                    </p:animEffect>
                                  </p:childTnLst>
                                </p:cTn>
                              </p:par>
                              <p:par>
                                <p:cTn id="35" presetID="6" presetClass="entr" presetSubtype="16"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ircle(in)">
                                      <p:cBhvr>
                                        <p:cTn id="37" dur="2000"/>
                                        <p:tgtEl>
                                          <p:spTgt spid="19"/>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circle(in)">
                                      <p:cBhvr>
                                        <p:cTn id="40" dur="2000"/>
                                        <p:tgtEl>
                                          <p:spTgt spid="20"/>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circle(in)">
                                      <p:cBhvr>
                                        <p:cTn id="43" dur="2000"/>
                                        <p:tgtEl>
                                          <p:spTgt spid="22"/>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circle(in)">
                                      <p:cBhvr>
                                        <p:cTn id="46" dur="2000"/>
                                        <p:tgtEl>
                                          <p:spTgt spid="23"/>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circle(in)">
                                      <p:cBhvr>
                                        <p:cTn id="49" dur="2000"/>
                                        <p:tgtEl>
                                          <p:spTgt spid="24"/>
                                        </p:tgtEl>
                                      </p:cBhvr>
                                    </p:animEffect>
                                  </p:childTnLst>
                                </p:cTn>
                              </p:par>
                              <p:par>
                                <p:cTn id="50" presetID="6" presetClass="entr" presetSubtype="16"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circle(in)">
                                      <p:cBhvr>
                                        <p:cTn id="52" dur="2000"/>
                                        <p:tgtEl>
                                          <p:spTgt spid="25"/>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circle(in)">
                                      <p:cBhvr>
                                        <p:cTn id="55" dur="2000"/>
                                        <p:tgtEl>
                                          <p:spTgt spid="26"/>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circle(in)">
                                      <p:cBhvr>
                                        <p:cTn id="58"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0" grpId="0" animBg="1"/>
      <p:bldP spid="22" grpId="0" animBg="1"/>
      <p:bldP spid="23" grpId="0" animBg="1"/>
      <p:bldP spid="24" grpId="0" animBg="1"/>
      <p:bldP spid="26" grpId="0"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）分配内存算法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动态分区分配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52" name="文本框 19"/>
          <p:cNvSpPr txBox="1">
            <a:spLocks noChangeArrowheads="1"/>
          </p:cNvSpPr>
          <p:nvPr/>
        </p:nvSpPr>
        <p:spPr bwMode="auto">
          <a:xfrm>
            <a:off x="980094" y="1939473"/>
            <a:ext cx="309842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4"/>
              </a:buBlip>
            </a:pPr>
            <a:r>
              <a:rPr lang="zh-CN" altLang="zh-CN" sz="2400" dirty="0"/>
              <a:t>检索空闲分区链</a:t>
            </a:r>
            <a:endParaRPr lang="en-US" altLang="zh-CN" sz="2400" dirty="0"/>
          </a:p>
          <a:p>
            <a:pPr marL="0" lvl="2" indent="0">
              <a:buBlip>
                <a:blip r:embed="rId4"/>
              </a:buBlip>
            </a:pPr>
            <a:r>
              <a:rPr lang="zh-CN" altLang="zh-CN" sz="2400" dirty="0"/>
              <a:t>分区大小与所需空间大小“匹配”：M.Size - U.Size ≦ Size </a:t>
            </a:r>
            <a:endParaRPr lang="en-US" altLang="zh-CN" sz="2400" dirty="0"/>
          </a:p>
          <a:p>
            <a:pPr marL="0" lvl="2" indent="0">
              <a:buBlip>
                <a:blip r:embed="rId4"/>
              </a:buBlip>
            </a:pPr>
            <a:r>
              <a:rPr lang="zh-CN" altLang="zh-CN" sz="2400" dirty="0"/>
              <a:t>剩余部分挂接到空闲分区链（表）上</a:t>
            </a:r>
            <a:r>
              <a:rPr lang="zh-CN" altLang="zh-CN" sz="2400" dirty="0">
                <a:latin typeface="Times New Roman" pitchFamily="18" charset="0"/>
                <a:ea typeface="黑体" pitchFamily="49" charset="-122"/>
              </a:rPr>
              <a:t>。</a:t>
            </a:r>
          </a:p>
        </p:txBody>
      </p:sp>
      <p:grpSp>
        <p:nvGrpSpPr>
          <p:cNvPr id="20" name="Group 4"/>
          <p:cNvGrpSpPr>
            <a:grpSpLocks/>
          </p:cNvGrpSpPr>
          <p:nvPr/>
        </p:nvGrpSpPr>
        <p:grpSpPr bwMode="auto">
          <a:xfrm>
            <a:off x="4183515" y="344481"/>
            <a:ext cx="7848600" cy="6122756"/>
            <a:chOff x="-106" y="-97"/>
            <a:chExt cx="4944" cy="3649"/>
          </a:xfrm>
        </p:grpSpPr>
        <p:sp>
          <p:nvSpPr>
            <p:cNvPr id="22" name="Rectangle 5"/>
            <p:cNvSpPr>
              <a:spLocks noChangeArrowheads="1"/>
            </p:cNvSpPr>
            <p:nvPr/>
          </p:nvSpPr>
          <p:spPr bwMode="auto">
            <a:xfrm>
              <a:off x="-106" y="-97"/>
              <a:ext cx="4944" cy="364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endParaRPr lang="zh-CN" altLang="zh-CN" sz="2400">
                <a:solidFill>
                  <a:schemeClr val="tx1"/>
                </a:solidFill>
                <a:latin typeface="黑体" pitchFamily="49" charset="-122"/>
                <a:ea typeface="黑体" pitchFamily="49" charset="-122"/>
              </a:endParaRPr>
            </a:p>
          </p:txBody>
        </p:sp>
        <p:grpSp>
          <p:nvGrpSpPr>
            <p:cNvPr id="23" name="Group 6"/>
            <p:cNvGrpSpPr>
              <a:grpSpLocks/>
            </p:cNvGrpSpPr>
            <p:nvPr/>
          </p:nvGrpSpPr>
          <p:grpSpPr bwMode="auto">
            <a:xfrm>
              <a:off x="672" y="96"/>
              <a:ext cx="4032" cy="3456"/>
              <a:chOff x="0" y="0"/>
              <a:chExt cx="4032" cy="3456"/>
            </a:xfrm>
          </p:grpSpPr>
          <p:sp>
            <p:nvSpPr>
              <p:cNvPr id="24" name="AutoShape 7"/>
              <p:cNvSpPr>
                <a:spLocks noChangeArrowheads="1"/>
              </p:cNvSpPr>
              <p:nvPr/>
            </p:nvSpPr>
            <p:spPr bwMode="auto">
              <a:xfrm>
                <a:off x="197" y="0"/>
                <a:ext cx="2033" cy="288"/>
              </a:xfrm>
              <a:prstGeom prst="flowChartProcess">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查找空闲分区链表第一项</a:t>
                </a:r>
              </a:p>
            </p:txBody>
          </p:sp>
          <p:sp>
            <p:nvSpPr>
              <p:cNvPr id="25" name="AutoShape 8"/>
              <p:cNvSpPr>
                <a:spLocks noChangeArrowheads="1"/>
              </p:cNvSpPr>
              <p:nvPr/>
            </p:nvSpPr>
            <p:spPr bwMode="auto">
              <a:xfrm>
                <a:off x="336" y="480"/>
                <a:ext cx="1728" cy="384"/>
              </a:xfrm>
              <a:prstGeom prst="flowChartDecision">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检索完否？</a:t>
                </a:r>
              </a:p>
            </p:txBody>
          </p:sp>
          <p:sp>
            <p:nvSpPr>
              <p:cNvPr id="26" name="AutoShape 9"/>
              <p:cNvSpPr>
                <a:spLocks noChangeArrowheads="1"/>
              </p:cNvSpPr>
              <p:nvPr/>
            </p:nvSpPr>
            <p:spPr bwMode="auto">
              <a:xfrm>
                <a:off x="336" y="1008"/>
                <a:ext cx="1728" cy="384"/>
              </a:xfrm>
              <a:prstGeom prst="flowChartDecision">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m.size&gt;u.size?</a:t>
                </a:r>
              </a:p>
            </p:txBody>
          </p:sp>
          <p:sp>
            <p:nvSpPr>
              <p:cNvPr id="32" name="AutoShape 10"/>
              <p:cNvSpPr>
                <a:spLocks noChangeArrowheads="1"/>
              </p:cNvSpPr>
              <p:nvPr/>
            </p:nvSpPr>
            <p:spPr bwMode="auto">
              <a:xfrm>
                <a:off x="197" y="1536"/>
                <a:ext cx="2033" cy="384"/>
              </a:xfrm>
              <a:prstGeom prst="flowChartDecision">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m.size-u.size≦size?</a:t>
                </a:r>
              </a:p>
            </p:txBody>
          </p:sp>
          <p:sp>
            <p:nvSpPr>
              <p:cNvPr id="33" name="AutoShape 11"/>
              <p:cNvSpPr>
                <a:spLocks noChangeArrowheads="1"/>
              </p:cNvSpPr>
              <p:nvPr/>
            </p:nvSpPr>
            <p:spPr bwMode="auto">
              <a:xfrm>
                <a:off x="336" y="2112"/>
                <a:ext cx="1728" cy="288"/>
              </a:xfrm>
              <a:prstGeom prst="flowChartProcess">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划出u.size大小的分区</a:t>
                </a:r>
              </a:p>
            </p:txBody>
          </p:sp>
          <p:sp>
            <p:nvSpPr>
              <p:cNvPr id="34" name="AutoShape 12"/>
              <p:cNvSpPr>
                <a:spLocks noChangeArrowheads="1"/>
              </p:cNvSpPr>
              <p:nvPr/>
            </p:nvSpPr>
            <p:spPr bwMode="auto">
              <a:xfrm>
                <a:off x="336" y="2640"/>
                <a:ext cx="1728" cy="288"/>
              </a:xfrm>
              <a:prstGeom prst="flowChartProcess">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修改有关的数据结构</a:t>
                </a:r>
              </a:p>
            </p:txBody>
          </p:sp>
          <p:sp>
            <p:nvSpPr>
              <p:cNvPr id="35" name="AutoShape 13"/>
              <p:cNvSpPr>
                <a:spLocks noChangeArrowheads="1"/>
              </p:cNvSpPr>
              <p:nvPr/>
            </p:nvSpPr>
            <p:spPr bwMode="auto">
              <a:xfrm>
                <a:off x="768" y="3168"/>
                <a:ext cx="864" cy="288"/>
              </a:xfrm>
              <a:prstGeom prst="flowChartTerminator">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1800">
                    <a:solidFill>
                      <a:schemeClr val="tx1"/>
                    </a:solidFill>
                    <a:latin typeface="黑体" pitchFamily="49" charset="-122"/>
                    <a:ea typeface="黑体" pitchFamily="49" charset="-122"/>
                  </a:rPr>
                  <a:t>返回</a:t>
                </a:r>
              </a:p>
            </p:txBody>
          </p:sp>
          <p:sp>
            <p:nvSpPr>
              <p:cNvPr id="36" name="AutoShape 14"/>
              <p:cNvSpPr>
                <a:spLocks noChangeArrowheads="1"/>
              </p:cNvSpPr>
              <p:nvPr/>
            </p:nvSpPr>
            <p:spPr bwMode="auto">
              <a:xfrm>
                <a:off x="2304" y="2112"/>
                <a:ext cx="1728" cy="288"/>
              </a:xfrm>
              <a:prstGeom prst="flowChartProcess">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将该分区从链表中移出</a:t>
                </a:r>
              </a:p>
            </p:txBody>
          </p:sp>
          <p:sp>
            <p:nvSpPr>
              <p:cNvPr id="37" name="AutoShape 15"/>
              <p:cNvSpPr>
                <a:spLocks noChangeArrowheads="1"/>
              </p:cNvSpPr>
              <p:nvPr/>
            </p:nvSpPr>
            <p:spPr bwMode="auto">
              <a:xfrm>
                <a:off x="2304" y="1056"/>
                <a:ext cx="1728" cy="288"/>
              </a:xfrm>
              <a:prstGeom prst="flowChartProcess">
                <a:avLst/>
              </a:prstGeom>
              <a:solidFill>
                <a:srgbClr val="CCECFF"/>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继续检索下一个表项</a:t>
                </a:r>
              </a:p>
            </p:txBody>
          </p:sp>
          <p:sp>
            <p:nvSpPr>
              <p:cNvPr id="38" name="Text Box 16"/>
              <p:cNvSpPr txBox="1">
                <a:spLocks noChangeArrowheads="1"/>
              </p:cNvSpPr>
              <p:nvPr/>
            </p:nvSpPr>
            <p:spPr bwMode="auto">
              <a:xfrm>
                <a:off x="114" y="459"/>
                <a:ext cx="196" cy="2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a:solidFill>
                      <a:schemeClr val="bg1"/>
                    </a:solidFill>
                    <a:latin typeface="黑体" pitchFamily="49" charset="-122"/>
                    <a:ea typeface="黑体" pitchFamily="49" charset="-122"/>
                  </a:rPr>
                  <a:t>Y</a:t>
                </a:r>
              </a:p>
            </p:txBody>
          </p:sp>
          <p:sp>
            <p:nvSpPr>
              <p:cNvPr id="39" name="Text Box 17"/>
              <p:cNvSpPr txBox="1">
                <a:spLocks noChangeArrowheads="1"/>
              </p:cNvSpPr>
              <p:nvPr/>
            </p:nvSpPr>
            <p:spPr bwMode="auto">
              <a:xfrm>
                <a:off x="1266" y="1323"/>
                <a:ext cx="196" cy="2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dirty="0">
                    <a:solidFill>
                      <a:schemeClr val="tx1"/>
                    </a:solidFill>
                    <a:latin typeface="黑体" pitchFamily="49" charset="-122"/>
                    <a:ea typeface="黑体" pitchFamily="49" charset="-122"/>
                  </a:rPr>
                  <a:t>Y</a:t>
                </a:r>
              </a:p>
            </p:txBody>
          </p:sp>
          <p:sp>
            <p:nvSpPr>
              <p:cNvPr id="40" name="Text Box 18"/>
              <p:cNvSpPr txBox="1">
                <a:spLocks noChangeArrowheads="1"/>
              </p:cNvSpPr>
              <p:nvPr/>
            </p:nvSpPr>
            <p:spPr bwMode="auto">
              <a:xfrm>
                <a:off x="2034" y="1515"/>
                <a:ext cx="196" cy="2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a:solidFill>
                      <a:schemeClr val="tx1"/>
                    </a:solidFill>
                    <a:latin typeface="黑体" pitchFamily="49" charset="-122"/>
                    <a:ea typeface="黑体" pitchFamily="49" charset="-122"/>
                  </a:rPr>
                  <a:t>Y</a:t>
                </a:r>
              </a:p>
            </p:txBody>
          </p:sp>
          <p:sp>
            <p:nvSpPr>
              <p:cNvPr id="41" name="Text Box 19"/>
              <p:cNvSpPr txBox="1">
                <a:spLocks noChangeArrowheads="1"/>
              </p:cNvSpPr>
              <p:nvPr/>
            </p:nvSpPr>
            <p:spPr bwMode="auto">
              <a:xfrm>
                <a:off x="1266" y="795"/>
                <a:ext cx="196" cy="2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a:solidFill>
                      <a:schemeClr val="tx1"/>
                    </a:solidFill>
                    <a:latin typeface="黑体" pitchFamily="49" charset="-122"/>
                    <a:ea typeface="黑体" pitchFamily="49" charset="-122"/>
                  </a:rPr>
                  <a:t>N</a:t>
                </a:r>
              </a:p>
            </p:txBody>
          </p:sp>
          <p:sp>
            <p:nvSpPr>
              <p:cNvPr id="42" name="Text Box 20"/>
              <p:cNvSpPr txBox="1">
                <a:spLocks noChangeArrowheads="1"/>
              </p:cNvSpPr>
              <p:nvPr/>
            </p:nvSpPr>
            <p:spPr bwMode="auto">
              <a:xfrm>
                <a:off x="2034" y="987"/>
                <a:ext cx="196" cy="2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a:solidFill>
                      <a:schemeClr val="tx1"/>
                    </a:solidFill>
                    <a:latin typeface="黑体" pitchFamily="49" charset="-122"/>
                    <a:ea typeface="黑体" pitchFamily="49" charset="-122"/>
                  </a:rPr>
                  <a:t>N</a:t>
                </a:r>
              </a:p>
            </p:txBody>
          </p:sp>
          <p:sp>
            <p:nvSpPr>
              <p:cNvPr id="43" name="Text Box 21"/>
              <p:cNvSpPr txBox="1">
                <a:spLocks noChangeArrowheads="1"/>
              </p:cNvSpPr>
              <p:nvPr/>
            </p:nvSpPr>
            <p:spPr bwMode="auto">
              <a:xfrm>
                <a:off x="1266" y="1851"/>
                <a:ext cx="196" cy="2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85000"/>
                  <a:buFont typeface="Wingdings" pitchFamily="2" charset="2"/>
                  <a:buChar char="°"/>
                  <a:defRPr sz="3200">
                    <a:solidFill>
                      <a:schemeClr val="bg2"/>
                    </a:solidFill>
                    <a:latin typeface="Arial" pitchFamily="34" charset="0"/>
                    <a:ea typeface="楷体_GB2312" pitchFamily="49" charset="-122"/>
                  </a:defRPr>
                </a:lvl1pPr>
                <a:lvl2pPr marL="742950" indent="-285750">
                  <a:spcBef>
                    <a:spcPct val="20000"/>
                  </a:spcBef>
                  <a:buClr>
                    <a:schemeClr val="bg2"/>
                  </a:buClr>
                  <a:buSzPct val="85000"/>
                  <a:buFont typeface="Wingdings" pitchFamily="2" charset="2"/>
                  <a:buChar char="±"/>
                  <a:defRPr sz="2800">
                    <a:solidFill>
                      <a:schemeClr val="bg2"/>
                    </a:solidFill>
                    <a:latin typeface="Arial" pitchFamily="34" charset="0"/>
                    <a:ea typeface="楷体_GB2312" pitchFamily="49" charset="-122"/>
                  </a:defRPr>
                </a:lvl2pPr>
                <a:lvl3pPr marL="1143000" indent="-228600">
                  <a:spcBef>
                    <a:spcPct val="20000"/>
                  </a:spcBef>
                  <a:buClr>
                    <a:schemeClr val="bg2"/>
                  </a:buClr>
                  <a:buSzPct val="85000"/>
                  <a:buFont typeface="Wingdings" pitchFamily="2" charset="2"/>
                  <a:buChar char="²"/>
                  <a:defRPr sz="2400">
                    <a:solidFill>
                      <a:schemeClr val="bg2"/>
                    </a:solidFill>
                    <a:latin typeface="Arial" pitchFamily="34" charset="0"/>
                    <a:ea typeface="楷体_GB2312" pitchFamily="49" charset="-122"/>
                  </a:defRPr>
                </a:lvl3pPr>
                <a:lvl4pPr marL="16002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4pPr>
                <a:lvl5pPr marL="2057400" indent="-228600">
                  <a:spcBef>
                    <a:spcPct val="20000"/>
                  </a:spcBef>
                  <a:buClr>
                    <a:schemeClr val="bg2"/>
                  </a:buClr>
                  <a:buSzPct val="85000"/>
                  <a:buFont typeface="Wingdings" pitchFamily="2" charset="2"/>
                  <a:buChar char="l"/>
                  <a:defRPr sz="2000">
                    <a:solidFill>
                      <a:schemeClr val="bg2"/>
                    </a:solidFill>
                    <a:latin typeface="Arial" pitchFamily="34" charset="0"/>
                    <a:ea typeface="楷体_GB2312" pitchFamily="49" charset="-122"/>
                  </a:defRPr>
                </a:lvl5pPr>
                <a:lvl6pPr marL="25146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6pPr>
                <a:lvl7pPr marL="29718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7pPr>
                <a:lvl8pPr marL="34290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8pPr>
                <a:lvl9pPr marL="3886200" indent="-228600" eaLnBrk="0" fontAlgn="base" hangingPunct="0">
                  <a:spcBef>
                    <a:spcPct val="20000"/>
                  </a:spcBef>
                  <a:spcAft>
                    <a:spcPct val="0"/>
                  </a:spcAft>
                  <a:buClr>
                    <a:schemeClr val="bg2"/>
                  </a:buClr>
                  <a:buSzPct val="85000"/>
                  <a:buFont typeface="Wingdings" pitchFamily="2" charset="2"/>
                  <a:buChar char="l"/>
                  <a:defRPr sz="2000">
                    <a:solidFill>
                      <a:schemeClr val="bg2"/>
                    </a:solidFill>
                    <a:latin typeface="Arial" pitchFamily="34" charset="0"/>
                    <a:ea typeface="楷体_GB2312" pitchFamily="49" charset="-122"/>
                  </a:defRPr>
                </a:lvl9pPr>
              </a:lstStyle>
              <a:p>
                <a:pPr algn="ctr" eaLnBrk="1" hangingPunct="1">
                  <a:spcBef>
                    <a:spcPct val="0"/>
                  </a:spcBef>
                  <a:buClrTx/>
                  <a:buSzTx/>
                  <a:buFont typeface="Arial" pitchFamily="34" charset="0"/>
                  <a:buNone/>
                </a:pPr>
                <a:r>
                  <a:rPr lang="zh-CN" altLang="zh-CN" sz="2000">
                    <a:solidFill>
                      <a:schemeClr val="tx1"/>
                    </a:solidFill>
                    <a:latin typeface="黑体" pitchFamily="49" charset="-122"/>
                    <a:ea typeface="黑体" pitchFamily="49" charset="-122"/>
                  </a:rPr>
                  <a:t>N</a:t>
                </a:r>
              </a:p>
            </p:txBody>
          </p:sp>
          <p:sp>
            <p:nvSpPr>
              <p:cNvPr id="44" name="Line 22"/>
              <p:cNvSpPr>
                <a:spLocks noChangeShapeType="1"/>
              </p:cNvSpPr>
              <p:nvPr/>
            </p:nvSpPr>
            <p:spPr bwMode="auto">
              <a:xfrm>
                <a:off x="1200" y="288"/>
                <a:ext cx="0" cy="192"/>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Line 23"/>
              <p:cNvSpPr>
                <a:spLocks noChangeShapeType="1"/>
              </p:cNvSpPr>
              <p:nvPr/>
            </p:nvSpPr>
            <p:spPr bwMode="auto">
              <a:xfrm>
                <a:off x="1200" y="864"/>
                <a:ext cx="0" cy="144"/>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 name="Line 24"/>
              <p:cNvSpPr>
                <a:spLocks noChangeShapeType="1"/>
              </p:cNvSpPr>
              <p:nvPr/>
            </p:nvSpPr>
            <p:spPr bwMode="auto">
              <a:xfrm>
                <a:off x="1200" y="1392"/>
                <a:ext cx="0" cy="144"/>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25"/>
              <p:cNvSpPr>
                <a:spLocks noChangeShapeType="1"/>
              </p:cNvSpPr>
              <p:nvPr/>
            </p:nvSpPr>
            <p:spPr bwMode="auto">
              <a:xfrm>
                <a:off x="1200" y="1920"/>
                <a:ext cx="0" cy="192"/>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26"/>
              <p:cNvSpPr>
                <a:spLocks noChangeShapeType="1"/>
              </p:cNvSpPr>
              <p:nvPr/>
            </p:nvSpPr>
            <p:spPr bwMode="auto">
              <a:xfrm>
                <a:off x="1200" y="2400"/>
                <a:ext cx="0" cy="24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Line 27"/>
              <p:cNvSpPr>
                <a:spLocks noChangeShapeType="1"/>
              </p:cNvSpPr>
              <p:nvPr/>
            </p:nvSpPr>
            <p:spPr bwMode="auto">
              <a:xfrm>
                <a:off x="1200" y="2928"/>
                <a:ext cx="0" cy="24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Line 28"/>
              <p:cNvSpPr>
                <a:spLocks noChangeShapeType="1"/>
              </p:cNvSpPr>
              <p:nvPr/>
            </p:nvSpPr>
            <p:spPr bwMode="auto">
              <a:xfrm>
                <a:off x="2064" y="1200"/>
                <a:ext cx="240" cy="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未知"/>
              <p:cNvSpPr>
                <a:spLocks/>
              </p:cNvSpPr>
              <p:nvPr/>
            </p:nvSpPr>
            <p:spPr bwMode="auto">
              <a:xfrm>
                <a:off x="1200" y="336"/>
                <a:ext cx="1968" cy="720"/>
              </a:xfrm>
              <a:custGeom>
                <a:avLst/>
                <a:gdLst>
                  <a:gd name="T0" fmla="*/ 1968 w 1968"/>
                  <a:gd name="T1" fmla="*/ 885 h 672"/>
                  <a:gd name="T2" fmla="*/ 1968 w 1968"/>
                  <a:gd name="T3" fmla="*/ 0 h 672"/>
                  <a:gd name="T4" fmla="*/ 0 w 1968"/>
                  <a:gd name="T5" fmla="*/ 0 h 672"/>
                  <a:gd name="T6" fmla="*/ 0 60000 65536"/>
                  <a:gd name="T7" fmla="*/ 0 60000 65536"/>
                  <a:gd name="T8" fmla="*/ 0 60000 65536"/>
                </a:gdLst>
                <a:ahLst/>
                <a:cxnLst>
                  <a:cxn ang="T6">
                    <a:pos x="T0" y="T1"/>
                  </a:cxn>
                  <a:cxn ang="T7">
                    <a:pos x="T2" y="T3"/>
                  </a:cxn>
                  <a:cxn ang="T8">
                    <a:pos x="T4" y="T5"/>
                  </a:cxn>
                </a:cxnLst>
                <a:rect l="0" t="0" r="r" b="b"/>
                <a:pathLst>
                  <a:path w="1968" h="672">
                    <a:moveTo>
                      <a:pt x="1968" y="672"/>
                    </a:moveTo>
                    <a:lnTo>
                      <a:pt x="1968" y="0"/>
                    </a:lnTo>
                    <a:lnTo>
                      <a:pt x="0" y="0"/>
                    </a:lnTo>
                  </a:path>
                </a:pathLst>
              </a:custGeom>
              <a:solidFill>
                <a:srgbClr val="CCFFFF"/>
              </a:solidFill>
              <a:ln w="9525" cap="flat" cmpd="sng">
                <a:solidFill>
                  <a:srgbClr val="FF0066"/>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未知"/>
              <p:cNvSpPr>
                <a:spLocks/>
              </p:cNvSpPr>
              <p:nvPr/>
            </p:nvSpPr>
            <p:spPr bwMode="auto">
              <a:xfrm>
                <a:off x="2064" y="1728"/>
                <a:ext cx="1104" cy="384"/>
              </a:xfrm>
              <a:custGeom>
                <a:avLst/>
                <a:gdLst>
                  <a:gd name="T0" fmla="*/ 0 w 1104"/>
                  <a:gd name="T1" fmla="*/ 0 h 384"/>
                  <a:gd name="T2" fmla="*/ 1104 w 1104"/>
                  <a:gd name="T3" fmla="*/ 0 h 384"/>
                  <a:gd name="T4" fmla="*/ 1104 w 1104"/>
                  <a:gd name="T5" fmla="*/ 384 h 384"/>
                  <a:gd name="T6" fmla="*/ 0 60000 65536"/>
                  <a:gd name="T7" fmla="*/ 0 60000 65536"/>
                  <a:gd name="T8" fmla="*/ 0 60000 65536"/>
                </a:gdLst>
                <a:ahLst/>
                <a:cxnLst>
                  <a:cxn ang="T6">
                    <a:pos x="T0" y="T1"/>
                  </a:cxn>
                  <a:cxn ang="T7">
                    <a:pos x="T2" y="T3"/>
                  </a:cxn>
                  <a:cxn ang="T8">
                    <a:pos x="T4" y="T5"/>
                  </a:cxn>
                </a:cxnLst>
                <a:rect l="0" t="0" r="r" b="b"/>
                <a:pathLst>
                  <a:path w="1104" h="384">
                    <a:moveTo>
                      <a:pt x="0" y="0"/>
                    </a:moveTo>
                    <a:lnTo>
                      <a:pt x="1104" y="0"/>
                    </a:lnTo>
                    <a:lnTo>
                      <a:pt x="1104" y="384"/>
                    </a:lnTo>
                  </a:path>
                </a:pathLst>
              </a:custGeom>
              <a:solidFill>
                <a:srgbClr val="CCFFFF"/>
              </a:solidFill>
              <a:ln w="9525" cap="flat" cmpd="sng">
                <a:solidFill>
                  <a:srgbClr val="FF0066"/>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未知"/>
              <p:cNvSpPr>
                <a:spLocks/>
              </p:cNvSpPr>
              <p:nvPr/>
            </p:nvSpPr>
            <p:spPr bwMode="auto">
              <a:xfrm>
                <a:off x="1200" y="2400"/>
                <a:ext cx="1968" cy="96"/>
              </a:xfrm>
              <a:custGeom>
                <a:avLst/>
                <a:gdLst>
                  <a:gd name="T0" fmla="*/ 1968 w 1968"/>
                  <a:gd name="T1" fmla="*/ 0 h 96"/>
                  <a:gd name="T2" fmla="*/ 1968 w 1968"/>
                  <a:gd name="T3" fmla="*/ 96 h 96"/>
                  <a:gd name="T4" fmla="*/ 0 w 1968"/>
                  <a:gd name="T5" fmla="*/ 96 h 96"/>
                  <a:gd name="T6" fmla="*/ 0 60000 65536"/>
                  <a:gd name="T7" fmla="*/ 0 60000 65536"/>
                  <a:gd name="T8" fmla="*/ 0 60000 65536"/>
                </a:gdLst>
                <a:ahLst/>
                <a:cxnLst>
                  <a:cxn ang="T6">
                    <a:pos x="T0" y="T1"/>
                  </a:cxn>
                  <a:cxn ang="T7">
                    <a:pos x="T2" y="T3"/>
                  </a:cxn>
                  <a:cxn ang="T8">
                    <a:pos x="T4" y="T5"/>
                  </a:cxn>
                </a:cxnLst>
                <a:rect l="0" t="0" r="r" b="b"/>
                <a:pathLst>
                  <a:path w="1968" h="96">
                    <a:moveTo>
                      <a:pt x="1968" y="0"/>
                    </a:moveTo>
                    <a:lnTo>
                      <a:pt x="1968" y="96"/>
                    </a:lnTo>
                    <a:lnTo>
                      <a:pt x="0" y="96"/>
                    </a:lnTo>
                  </a:path>
                </a:pathLst>
              </a:custGeom>
              <a:solidFill>
                <a:srgbClr val="CCFFFF"/>
              </a:solidFill>
              <a:ln w="9525" cap="flat" cmpd="sng">
                <a:solidFill>
                  <a:srgbClr val="FF0066"/>
                </a:solidFill>
                <a:round/>
                <a:headEn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 name="未知"/>
              <p:cNvSpPr>
                <a:spLocks/>
              </p:cNvSpPr>
              <p:nvPr/>
            </p:nvSpPr>
            <p:spPr bwMode="auto">
              <a:xfrm>
                <a:off x="0" y="672"/>
                <a:ext cx="1200" cy="2352"/>
              </a:xfrm>
              <a:custGeom>
                <a:avLst/>
                <a:gdLst>
                  <a:gd name="T0" fmla="*/ 336 w 1200"/>
                  <a:gd name="T1" fmla="*/ 0 h 2352"/>
                  <a:gd name="T2" fmla="*/ 0 w 1200"/>
                  <a:gd name="T3" fmla="*/ 0 h 2352"/>
                  <a:gd name="T4" fmla="*/ 0 w 1200"/>
                  <a:gd name="T5" fmla="*/ 2352 h 2352"/>
                  <a:gd name="T6" fmla="*/ 1200 w 1200"/>
                  <a:gd name="T7" fmla="*/ 2352 h 23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0" h="2352">
                    <a:moveTo>
                      <a:pt x="336" y="0"/>
                    </a:moveTo>
                    <a:lnTo>
                      <a:pt x="0" y="0"/>
                    </a:lnTo>
                    <a:lnTo>
                      <a:pt x="0" y="2352"/>
                    </a:lnTo>
                    <a:lnTo>
                      <a:pt x="1200" y="2352"/>
                    </a:lnTo>
                  </a:path>
                </a:pathLst>
              </a:custGeom>
              <a:noFill/>
              <a:ln w="9525" cap="flat" cmpd="sng">
                <a:solidFill>
                  <a:srgbClr val="FF0066"/>
                </a:solidFill>
                <a:round/>
                <a:headEnd/>
                <a:tailEnd type="triangl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extLst>
      <p:ext uri="{BB962C8B-B14F-4D97-AF65-F5344CB8AC3E}">
        <p14:creationId xmlns:p14="http://schemas.microsoft.com/office/powerpoint/2010/main" val="266427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strips(down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）回收内存算法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动态分区分配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7" name="Rectangle 7"/>
          <p:cNvSpPr>
            <a:spLocks noChangeArrowheads="1"/>
          </p:cNvSpPr>
          <p:nvPr/>
        </p:nvSpPr>
        <p:spPr bwMode="auto">
          <a:xfrm>
            <a:off x="2002044" y="2205038"/>
            <a:ext cx="1079500"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F1</a:t>
            </a:r>
          </a:p>
        </p:txBody>
      </p:sp>
      <p:sp>
        <p:nvSpPr>
          <p:cNvPr id="58" name="Rectangle 8"/>
          <p:cNvSpPr>
            <a:spLocks noChangeArrowheads="1"/>
          </p:cNvSpPr>
          <p:nvPr/>
        </p:nvSpPr>
        <p:spPr bwMode="auto">
          <a:xfrm>
            <a:off x="3081544" y="2205038"/>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59" name="Rectangle 9"/>
          <p:cNvSpPr>
            <a:spLocks noChangeArrowheads="1"/>
          </p:cNvSpPr>
          <p:nvPr/>
        </p:nvSpPr>
        <p:spPr bwMode="auto">
          <a:xfrm>
            <a:off x="4162632" y="2205038"/>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60" name="Rectangle 10"/>
          <p:cNvSpPr>
            <a:spLocks noChangeArrowheads="1"/>
          </p:cNvSpPr>
          <p:nvPr/>
        </p:nvSpPr>
        <p:spPr bwMode="auto">
          <a:xfrm>
            <a:off x="4162632" y="3141663"/>
            <a:ext cx="1008062"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
        <p:nvSpPr>
          <p:cNvPr id="61" name="Rectangle 11"/>
          <p:cNvSpPr>
            <a:spLocks noChangeArrowheads="1"/>
          </p:cNvSpPr>
          <p:nvPr/>
        </p:nvSpPr>
        <p:spPr bwMode="auto">
          <a:xfrm>
            <a:off x="2002044" y="3141663"/>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sp>
        <p:nvSpPr>
          <p:cNvPr id="62" name="Rectangle 12"/>
          <p:cNvSpPr>
            <a:spLocks noChangeArrowheads="1"/>
          </p:cNvSpPr>
          <p:nvPr/>
        </p:nvSpPr>
        <p:spPr bwMode="auto">
          <a:xfrm>
            <a:off x="3081544" y="3141663"/>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63" name="Rectangle 13"/>
          <p:cNvSpPr>
            <a:spLocks noChangeArrowheads="1"/>
          </p:cNvSpPr>
          <p:nvPr/>
        </p:nvSpPr>
        <p:spPr bwMode="auto">
          <a:xfrm>
            <a:off x="2002044" y="4941888"/>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A</a:t>
            </a:r>
          </a:p>
        </p:txBody>
      </p:sp>
      <p:sp>
        <p:nvSpPr>
          <p:cNvPr id="64" name="Rectangle 14"/>
          <p:cNvSpPr>
            <a:spLocks noChangeArrowheads="1"/>
          </p:cNvSpPr>
          <p:nvPr/>
        </p:nvSpPr>
        <p:spPr bwMode="auto">
          <a:xfrm>
            <a:off x="3081544" y="4941888"/>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65" name="Rectangle 15"/>
          <p:cNvSpPr>
            <a:spLocks noChangeArrowheads="1"/>
          </p:cNvSpPr>
          <p:nvPr/>
        </p:nvSpPr>
        <p:spPr bwMode="auto">
          <a:xfrm>
            <a:off x="4162632" y="4941888"/>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66" name="Rectangle 16"/>
          <p:cNvSpPr>
            <a:spLocks noChangeArrowheads="1"/>
          </p:cNvSpPr>
          <p:nvPr/>
        </p:nvSpPr>
        <p:spPr bwMode="auto">
          <a:xfrm>
            <a:off x="2002044" y="4071938"/>
            <a:ext cx="1079500"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F1</a:t>
            </a:r>
          </a:p>
        </p:txBody>
      </p:sp>
      <p:sp>
        <p:nvSpPr>
          <p:cNvPr id="67" name="Rectangle 17"/>
          <p:cNvSpPr>
            <a:spLocks noChangeArrowheads="1"/>
          </p:cNvSpPr>
          <p:nvPr/>
        </p:nvSpPr>
        <p:spPr bwMode="auto">
          <a:xfrm>
            <a:off x="3081544" y="4071938"/>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68" name="Rectangle 19"/>
          <p:cNvSpPr>
            <a:spLocks noChangeArrowheads="1"/>
          </p:cNvSpPr>
          <p:nvPr/>
        </p:nvSpPr>
        <p:spPr bwMode="auto">
          <a:xfrm>
            <a:off x="6245432" y="2225675"/>
            <a:ext cx="2160587" cy="42545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F1</a:t>
            </a:r>
          </a:p>
        </p:txBody>
      </p:sp>
      <p:sp>
        <p:nvSpPr>
          <p:cNvPr id="69" name="Rectangle 20"/>
          <p:cNvSpPr>
            <a:spLocks noChangeArrowheads="1"/>
          </p:cNvSpPr>
          <p:nvPr/>
        </p:nvSpPr>
        <p:spPr bwMode="auto">
          <a:xfrm>
            <a:off x="8410782" y="2216150"/>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70" name="Rectangle 21"/>
          <p:cNvSpPr>
            <a:spLocks noChangeArrowheads="1"/>
          </p:cNvSpPr>
          <p:nvPr/>
        </p:nvSpPr>
        <p:spPr bwMode="auto">
          <a:xfrm>
            <a:off x="7331282" y="3141663"/>
            <a:ext cx="2087562"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
        <p:nvSpPr>
          <p:cNvPr id="71" name="Rectangle 22"/>
          <p:cNvSpPr>
            <a:spLocks noChangeArrowheads="1"/>
          </p:cNvSpPr>
          <p:nvPr/>
        </p:nvSpPr>
        <p:spPr bwMode="auto">
          <a:xfrm>
            <a:off x="6250194" y="3141663"/>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sp>
        <p:nvSpPr>
          <p:cNvPr id="72" name="Rectangle 23"/>
          <p:cNvSpPr>
            <a:spLocks noChangeArrowheads="1"/>
          </p:cNvSpPr>
          <p:nvPr/>
        </p:nvSpPr>
        <p:spPr bwMode="auto">
          <a:xfrm>
            <a:off x="7331282" y="4941888"/>
            <a:ext cx="1079500"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FX</a:t>
            </a:r>
          </a:p>
        </p:txBody>
      </p:sp>
      <p:sp>
        <p:nvSpPr>
          <p:cNvPr id="73" name="Rectangle 24"/>
          <p:cNvSpPr>
            <a:spLocks noChangeArrowheads="1"/>
          </p:cNvSpPr>
          <p:nvPr/>
        </p:nvSpPr>
        <p:spPr bwMode="auto">
          <a:xfrm>
            <a:off x="8410782" y="4941888"/>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74" name="Rectangle 25"/>
          <p:cNvSpPr>
            <a:spLocks noChangeArrowheads="1"/>
          </p:cNvSpPr>
          <p:nvPr/>
        </p:nvSpPr>
        <p:spPr bwMode="auto">
          <a:xfrm>
            <a:off x="6250194" y="4071938"/>
            <a:ext cx="3168650"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F1</a:t>
            </a:r>
          </a:p>
        </p:txBody>
      </p:sp>
      <p:sp>
        <p:nvSpPr>
          <p:cNvPr id="75" name="Line 26"/>
          <p:cNvSpPr>
            <a:spLocks noChangeShapeType="1"/>
          </p:cNvSpPr>
          <p:nvPr/>
        </p:nvSpPr>
        <p:spPr bwMode="auto">
          <a:xfrm>
            <a:off x="5458032" y="2420938"/>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27"/>
          <p:cNvSpPr>
            <a:spLocks noChangeShapeType="1"/>
          </p:cNvSpPr>
          <p:nvPr/>
        </p:nvSpPr>
        <p:spPr bwMode="auto">
          <a:xfrm>
            <a:off x="5458032" y="3357563"/>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28"/>
          <p:cNvSpPr>
            <a:spLocks noChangeShapeType="1"/>
          </p:cNvSpPr>
          <p:nvPr/>
        </p:nvSpPr>
        <p:spPr bwMode="auto">
          <a:xfrm>
            <a:off x="5458032" y="5157788"/>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9"/>
          <p:cNvSpPr>
            <a:spLocks noChangeShapeType="1"/>
          </p:cNvSpPr>
          <p:nvPr/>
        </p:nvSpPr>
        <p:spPr bwMode="auto">
          <a:xfrm>
            <a:off x="5458032" y="4287838"/>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Text Box 30"/>
          <p:cNvSpPr txBox="1">
            <a:spLocks noChangeArrowheads="1"/>
          </p:cNvSpPr>
          <p:nvPr/>
        </p:nvSpPr>
        <p:spPr bwMode="auto">
          <a:xfrm>
            <a:off x="1209882" y="2205038"/>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1</a:t>
            </a:r>
          </a:p>
        </p:txBody>
      </p:sp>
      <p:sp>
        <p:nvSpPr>
          <p:cNvPr id="80" name="Text Box 31"/>
          <p:cNvSpPr txBox="1">
            <a:spLocks noChangeArrowheads="1"/>
          </p:cNvSpPr>
          <p:nvPr/>
        </p:nvSpPr>
        <p:spPr bwMode="auto">
          <a:xfrm>
            <a:off x="1209882" y="3176588"/>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2</a:t>
            </a:r>
          </a:p>
        </p:txBody>
      </p:sp>
      <p:sp>
        <p:nvSpPr>
          <p:cNvPr id="81" name="Text Box 32"/>
          <p:cNvSpPr txBox="1">
            <a:spLocks noChangeArrowheads="1"/>
          </p:cNvSpPr>
          <p:nvPr/>
        </p:nvSpPr>
        <p:spPr bwMode="auto">
          <a:xfrm>
            <a:off x="1209882" y="4976813"/>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4</a:t>
            </a:r>
          </a:p>
        </p:txBody>
      </p:sp>
      <p:sp>
        <p:nvSpPr>
          <p:cNvPr id="82" name="Text Box 33"/>
          <p:cNvSpPr txBox="1">
            <a:spLocks noChangeArrowheads="1"/>
          </p:cNvSpPr>
          <p:nvPr/>
        </p:nvSpPr>
        <p:spPr bwMode="auto">
          <a:xfrm>
            <a:off x="1209882" y="4106863"/>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3</a:t>
            </a:r>
          </a:p>
        </p:txBody>
      </p:sp>
      <p:sp>
        <p:nvSpPr>
          <p:cNvPr id="83" name="Rectangle 35"/>
          <p:cNvSpPr>
            <a:spLocks noChangeArrowheads="1"/>
          </p:cNvSpPr>
          <p:nvPr/>
        </p:nvSpPr>
        <p:spPr bwMode="auto">
          <a:xfrm>
            <a:off x="6250194" y="4941888"/>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sp>
        <p:nvSpPr>
          <p:cNvPr id="84" name="Rectangle 36"/>
          <p:cNvSpPr>
            <a:spLocks noChangeArrowheads="1"/>
          </p:cNvSpPr>
          <p:nvPr/>
        </p:nvSpPr>
        <p:spPr bwMode="auto">
          <a:xfrm>
            <a:off x="4162632" y="4076700"/>
            <a:ext cx="1008062" cy="42545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Tree>
    <p:extLst>
      <p:ext uri="{BB962C8B-B14F-4D97-AF65-F5344CB8AC3E}">
        <p14:creationId xmlns:p14="http://schemas.microsoft.com/office/powerpoint/2010/main" val="489436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5</a:t>
            </a:r>
            <a:r>
              <a:rPr lang="zh-CN" altLang="en-US" sz="2400" b="1" dirty="0">
                <a:solidFill>
                  <a:srgbClr val="4C7E51"/>
                </a:solidFill>
                <a:latin typeface="微软雅黑" panose="020B0503020204020204" pitchFamily="34" charset="-122"/>
                <a:ea typeface="微软雅黑" panose="020B0503020204020204" pitchFamily="34" charset="-122"/>
              </a:rPr>
              <a:t>）回收内存流程</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动态分区分配</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671" y="208666"/>
            <a:ext cx="7178675" cy="6293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组合 11"/>
          <p:cNvGrpSpPr>
            <a:grpSpLocks/>
          </p:cNvGrpSpPr>
          <p:nvPr/>
        </p:nvGrpSpPr>
        <p:grpSpPr bwMode="auto">
          <a:xfrm>
            <a:off x="8466659" y="1682295"/>
            <a:ext cx="2700337" cy="519113"/>
            <a:chOff x="6444208" y="1556792"/>
            <a:chExt cx="2699792" cy="518382"/>
          </a:xfrm>
        </p:grpSpPr>
        <p:sp>
          <p:nvSpPr>
            <p:cNvPr id="42" name="Rectangle 7"/>
            <p:cNvSpPr>
              <a:spLocks noChangeArrowheads="1"/>
            </p:cNvSpPr>
            <p:nvPr/>
          </p:nvSpPr>
          <p:spPr bwMode="auto">
            <a:xfrm>
              <a:off x="6704737" y="1556792"/>
              <a:ext cx="355030" cy="501653"/>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F1</a:t>
              </a:r>
            </a:p>
          </p:txBody>
        </p:sp>
        <p:sp>
          <p:nvSpPr>
            <p:cNvPr id="43" name="Rectangle 8"/>
            <p:cNvSpPr>
              <a:spLocks noChangeArrowheads="1"/>
            </p:cNvSpPr>
            <p:nvPr/>
          </p:nvSpPr>
          <p:spPr bwMode="auto">
            <a:xfrm>
              <a:off x="7059767" y="1556792"/>
              <a:ext cx="355552" cy="501653"/>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44" name="Rectangle 9"/>
            <p:cNvSpPr>
              <a:spLocks noChangeArrowheads="1"/>
            </p:cNvSpPr>
            <p:nvPr/>
          </p:nvSpPr>
          <p:spPr bwMode="auto">
            <a:xfrm>
              <a:off x="7415319" y="1556792"/>
              <a:ext cx="331535" cy="501653"/>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t>
              </a:r>
            </a:p>
          </p:txBody>
        </p:sp>
        <p:sp>
          <p:nvSpPr>
            <p:cNvPr id="45" name="Rectangle 19"/>
            <p:cNvSpPr>
              <a:spLocks noChangeArrowheads="1"/>
            </p:cNvSpPr>
            <p:nvPr/>
          </p:nvSpPr>
          <p:spPr bwMode="auto">
            <a:xfrm>
              <a:off x="8100317" y="1581654"/>
              <a:ext cx="710581" cy="49352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F1</a:t>
              </a:r>
            </a:p>
          </p:txBody>
        </p:sp>
        <p:sp>
          <p:nvSpPr>
            <p:cNvPr id="46" name="Rectangle 20"/>
            <p:cNvSpPr>
              <a:spLocks noChangeArrowheads="1"/>
            </p:cNvSpPr>
            <p:nvPr/>
          </p:nvSpPr>
          <p:spPr bwMode="auto">
            <a:xfrm>
              <a:off x="8812465" y="1581575"/>
              <a:ext cx="331535" cy="492627"/>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t>
              </a:r>
            </a:p>
          </p:txBody>
        </p:sp>
        <p:sp>
          <p:nvSpPr>
            <p:cNvPr id="48" name="Line 26"/>
            <p:cNvSpPr>
              <a:spLocks noChangeShapeType="1"/>
            </p:cNvSpPr>
            <p:nvPr/>
          </p:nvSpPr>
          <p:spPr bwMode="auto">
            <a:xfrm>
              <a:off x="7841354" y="1807618"/>
              <a:ext cx="189523"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Text Box 30"/>
            <p:cNvSpPr txBox="1">
              <a:spLocks noChangeArrowheads="1"/>
            </p:cNvSpPr>
            <p:nvPr/>
          </p:nvSpPr>
          <p:spPr bwMode="auto">
            <a:xfrm>
              <a:off x="6444208" y="1556792"/>
              <a:ext cx="225026" cy="461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1</a:t>
              </a:r>
            </a:p>
          </p:txBody>
        </p:sp>
      </p:grpSp>
      <p:sp>
        <p:nvSpPr>
          <p:cNvPr id="51" name="矩形 50"/>
          <p:cNvSpPr>
            <a:spLocks noChangeArrowheads="1"/>
          </p:cNvSpPr>
          <p:nvPr/>
        </p:nvSpPr>
        <p:spPr bwMode="auto">
          <a:xfrm>
            <a:off x="9094437" y="2803226"/>
            <a:ext cx="1512888" cy="576262"/>
          </a:xfrm>
          <a:prstGeom prst="rect">
            <a:avLst/>
          </a:prstGeom>
          <a:noFill/>
          <a:ln w="2540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nvGrpSpPr>
          <p:cNvPr id="52" name="组合 27"/>
          <p:cNvGrpSpPr>
            <a:grpSpLocks/>
          </p:cNvGrpSpPr>
          <p:nvPr/>
        </p:nvGrpSpPr>
        <p:grpSpPr bwMode="auto">
          <a:xfrm>
            <a:off x="2238896" y="3482520"/>
            <a:ext cx="2736850" cy="431800"/>
            <a:chOff x="179388" y="3141663"/>
            <a:chExt cx="8208962" cy="431800"/>
          </a:xfrm>
        </p:grpSpPr>
        <p:sp>
          <p:nvSpPr>
            <p:cNvPr id="53" name="Rectangle 10"/>
            <p:cNvSpPr>
              <a:spLocks noChangeArrowheads="1"/>
            </p:cNvSpPr>
            <p:nvPr/>
          </p:nvSpPr>
          <p:spPr bwMode="auto">
            <a:xfrm>
              <a:off x="3132138" y="3141663"/>
              <a:ext cx="1008062"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
          <p:nvSpPr>
            <p:cNvPr id="54" name="Rectangle 11"/>
            <p:cNvSpPr>
              <a:spLocks noChangeArrowheads="1"/>
            </p:cNvSpPr>
            <p:nvPr/>
          </p:nvSpPr>
          <p:spPr bwMode="auto">
            <a:xfrm>
              <a:off x="971550" y="3141663"/>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sp>
          <p:nvSpPr>
            <p:cNvPr id="55" name="Rectangle 12"/>
            <p:cNvSpPr>
              <a:spLocks noChangeArrowheads="1"/>
            </p:cNvSpPr>
            <p:nvPr/>
          </p:nvSpPr>
          <p:spPr bwMode="auto">
            <a:xfrm>
              <a:off x="2051050" y="3141663"/>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56" name="Rectangle 21"/>
            <p:cNvSpPr>
              <a:spLocks noChangeArrowheads="1"/>
            </p:cNvSpPr>
            <p:nvPr/>
          </p:nvSpPr>
          <p:spPr bwMode="auto">
            <a:xfrm>
              <a:off x="6300788" y="3141663"/>
              <a:ext cx="2087562"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
          <p:nvSpPr>
            <p:cNvPr id="57" name="Rectangle 22"/>
            <p:cNvSpPr>
              <a:spLocks noChangeArrowheads="1"/>
            </p:cNvSpPr>
            <p:nvPr/>
          </p:nvSpPr>
          <p:spPr bwMode="auto">
            <a:xfrm>
              <a:off x="5219700" y="3141663"/>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sp>
          <p:nvSpPr>
            <p:cNvPr id="85" name="Line 27"/>
            <p:cNvSpPr>
              <a:spLocks noChangeShapeType="1"/>
            </p:cNvSpPr>
            <p:nvPr/>
          </p:nvSpPr>
          <p:spPr bwMode="auto">
            <a:xfrm>
              <a:off x="4427538" y="3357563"/>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Text Box 31"/>
            <p:cNvSpPr txBox="1">
              <a:spLocks noChangeArrowheads="1"/>
            </p:cNvSpPr>
            <p:nvPr/>
          </p:nvSpPr>
          <p:spPr bwMode="auto">
            <a:xfrm>
              <a:off x="179388" y="3176588"/>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2</a:t>
              </a:r>
            </a:p>
          </p:txBody>
        </p:sp>
      </p:grpSp>
      <p:sp>
        <p:nvSpPr>
          <p:cNvPr id="87" name="矩形 86"/>
          <p:cNvSpPr>
            <a:spLocks noChangeArrowheads="1"/>
          </p:cNvSpPr>
          <p:nvPr/>
        </p:nvSpPr>
        <p:spPr bwMode="auto">
          <a:xfrm>
            <a:off x="3497784" y="3998458"/>
            <a:ext cx="1512887" cy="576262"/>
          </a:xfrm>
          <a:prstGeom prst="rect">
            <a:avLst/>
          </a:prstGeom>
          <a:noFill/>
          <a:ln w="2540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nvGrpSpPr>
          <p:cNvPr id="88" name="组合 37"/>
          <p:cNvGrpSpPr>
            <a:grpSpLocks/>
          </p:cNvGrpSpPr>
          <p:nvPr/>
        </p:nvGrpSpPr>
        <p:grpSpPr bwMode="auto">
          <a:xfrm>
            <a:off x="3139009" y="4995408"/>
            <a:ext cx="2808287" cy="431800"/>
            <a:chOff x="179388" y="4941888"/>
            <a:chExt cx="8208962" cy="431800"/>
          </a:xfrm>
        </p:grpSpPr>
        <p:sp>
          <p:nvSpPr>
            <p:cNvPr id="89" name="Rectangle 13"/>
            <p:cNvSpPr>
              <a:spLocks noChangeArrowheads="1"/>
            </p:cNvSpPr>
            <p:nvPr/>
          </p:nvSpPr>
          <p:spPr bwMode="auto">
            <a:xfrm>
              <a:off x="971550" y="4941888"/>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A</a:t>
              </a:r>
            </a:p>
          </p:txBody>
        </p:sp>
        <p:sp>
          <p:nvSpPr>
            <p:cNvPr id="90" name="Rectangle 14"/>
            <p:cNvSpPr>
              <a:spLocks noChangeArrowheads="1"/>
            </p:cNvSpPr>
            <p:nvPr/>
          </p:nvSpPr>
          <p:spPr bwMode="auto">
            <a:xfrm>
              <a:off x="2051050" y="4941888"/>
              <a:ext cx="108108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91" name="Rectangle 15"/>
            <p:cNvSpPr>
              <a:spLocks noChangeArrowheads="1"/>
            </p:cNvSpPr>
            <p:nvPr/>
          </p:nvSpPr>
          <p:spPr bwMode="auto">
            <a:xfrm>
              <a:off x="3132138" y="4941888"/>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92" name="Rectangle 23"/>
            <p:cNvSpPr>
              <a:spLocks noChangeArrowheads="1"/>
            </p:cNvSpPr>
            <p:nvPr/>
          </p:nvSpPr>
          <p:spPr bwMode="auto">
            <a:xfrm>
              <a:off x="6300788" y="4941888"/>
              <a:ext cx="1079500"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FX</a:t>
              </a:r>
            </a:p>
          </p:txBody>
        </p:sp>
        <p:sp>
          <p:nvSpPr>
            <p:cNvPr id="93" name="Rectangle 24"/>
            <p:cNvSpPr>
              <a:spLocks noChangeArrowheads="1"/>
            </p:cNvSpPr>
            <p:nvPr/>
          </p:nvSpPr>
          <p:spPr bwMode="auto">
            <a:xfrm>
              <a:off x="7380288" y="4941888"/>
              <a:ext cx="1008062"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B</a:t>
              </a:r>
            </a:p>
          </p:txBody>
        </p:sp>
        <p:sp>
          <p:nvSpPr>
            <p:cNvPr id="94" name="Line 28"/>
            <p:cNvSpPr>
              <a:spLocks noChangeShapeType="1"/>
            </p:cNvSpPr>
            <p:nvPr/>
          </p:nvSpPr>
          <p:spPr bwMode="auto">
            <a:xfrm>
              <a:off x="4427538" y="5157788"/>
              <a:ext cx="57626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Text Box 32"/>
            <p:cNvSpPr txBox="1">
              <a:spLocks noChangeArrowheads="1"/>
            </p:cNvSpPr>
            <p:nvPr/>
          </p:nvSpPr>
          <p:spPr bwMode="auto">
            <a:xfrm>
              <a:off x="179388" y="4976813"/>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4</a:t>
              </a:r>
            </a:p>
          </p:txBody>
        </p:sp>
        <p:sp>
          <p:nvSpPr>
            <p:cNvPr id="96" name="Rectangle 35"/>
            <p:cNvSpPr>
              <a:spLocks noChangeArrowheads="1"/>
            </p:cNvSpPr>
            <p:nvPr/>
          </p:nvSpPr>
          <p:spPr bwMode="auto">
            <a:xfrm>
              <a:off x="5219700" y="4941888"/>
              <a:ext cx="1079500"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A</a:t>
              </a:r>
            </a:p>
          </p:txBody>
        </p:sp>
      </p:grpSp>
      <p:sp>
        <p:nvSpPr>
          <p:cNvPr id="97" name="矩形 96"/>
          <p:cNvSpPr>
            <a:spLocks noChangeArrowheads="1"/>
          </p:cNvSpPr>
          <p:nvPr/>
        </p:nvSpPr>
        <p:spPr bwMode="auto">
          <a:xfrm>
            <a:off x="6066359" y="4885870"/>
            <a:ext cx="1908175" cy="768350"/>
          </a:xfrm>
          <a:prstGeom prst="rect">
            <a:avLst/>
          </a:prstGeom>
          <a:noFill/>
          <a:ln w="2540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grpSp>
        <p:nvGrpSpPr>
          <p:cNvPr id="3" name="组合 2"/>
          <p:cNvGrpSpPr/>
          <p:nvPr/>
        </p:nvGrpSpPr>
        <p:grpSpPr>
          <a:xfrm>
            <a:off x="8228143" y="4437195"/>
            <a:ext cx="3245476" cy="448675"/>
            <a:chOff x="3979468" y="6381883"/>
            <a:chExt cx="3995066" cy="448675"/>
          </a:xfrm>
        </p:grpSpPr>
        <p:sp>
          <p:nvSpPr>
            <p:cNvPr id="40" name="Rectangle 16"/>
            <p:cNvSpPr>
              <a:spLocks noChangeArrowheads="1"/>
            </p:cNvSpPr>
            <p:nvPr/>
          </p:nvSpPr>
          <p:spPr bwMode="auto">
            <a:xfrm>
              <a:off x="4592302" y="6398758"/>
              <a:ext cx="552512"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F1</a:t>
              </a:r>
            </a:p>
          </p:txBody>
        </p:sp>
        <p:sp>
          <p:nvSpPr>
            <p:cNvPr id="47" name="Rectangle 17"/>
            <p:cNvSpPr>
              <a:spLocks noChangeArrowheads="1"/>
            </p:cNvSpPr>
            <p:nvPr/>
          </p:nvSpPr>
          <p:spPr bwMode="auto">
            <a:xfrm>
              <a:off x="5156230" y="6398758"/>
              <a:ext cx="446208" cy="431800"/>
            </a:xfrm>
            <a:prstGeom prst="rect">
              <a:avLst/>
            </a:prstGeom>
            <a:solidFill>
              <a:srgbClr val="FF6600"/>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kumimoji="0" lang="en-US" altLang="zh-CN" sz="2000" b="1">
                  <a:latin typeface="Arial" pitchFamily="34" charset="0"/>
                </a:rPr>
                <a:t>X</a:t>
              </a:r>
            </a:p>
          </p:txBody>
        </p:sp>
        <p:sp>
          <p:nvSpPr>
            <p:cNvPr id="58" name="Rectangle 25"/>
            <p:cNvSpPr>
              <a:spLocks noChangeArrowheads="1"/>
            </p:cNvSpPr>
            <p:nvPr/>
          </p:nvSpPr>
          <p:spPr bwMode="auto">
            <a:xfrm>
              <a:off x="6633211" y="6398758"/>
              <a:ext cx="1341323" cy="43180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F1</a:t>
              </a:r>
            </a:p>
          </p:txBody>
        </p:sp>
        <p:sp>
          <p:nvSpPr>
            <p:cNvPr id="59" name="Line 29"/>
            <p:cNvSpPr>
              <a:spLocks noChangeShapeType="1"/>
            </p:cNvSpPr>
            <p:nvPr/>
          </p:nvSpPr>
          <p:spPr bwMode="auto">
            <a:xfrm>
              <a:off x="6237318" y="6601778"/>
              <a:ext cx="360178" cy="28753"/>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Rectangle 36"/>
            <p:cNvSpPr>
              <a:spLocks noChangeArrowheads="1"/>
            </p:cNvSpPr>
            <p:nvPr/>
          </p:nvSpPr>
          <p:spPr bwMode="auto">
            <a:xfrm>
              <a:off x="5602438" y="6403520"/>
              <a:ext cx="634880" cy="425450"/>
            </a:xfrm>
            <a:prstGeom prst="rect">
              <a:avLst/>
            </a:prstGeom>
            <a:solidFill>
              <a:schemeClr val="accent1"/>
            </a:solidFill>
            <a:ln w="28575" algn="ctr">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a:latin typeface="Arial" pitchFamily="34" charset="0"/>
                </a:rPr>
                <a:t>F2</a:t>
              </a:r>
            </a:p>
          </p:txBody>
        </p:sp>
        <p:sp>
          <p:nvSpPr>
            <p:cNvPr id="62" name="Text Box 33"/>
            <p:cNvSpPr txBox="1">
              <a:spLocks noChangeArrowheads="1"/>
            </p:cNvSpPr>
            <p:nvPr/>
          </p:nvSpPr>
          <p:spPr bwMode="auto">
            <a:xfrm>
              <a:off x="3979468" y="6381883"/>
              <a:ext cx="684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pPr>
              <a:r>
                <a:rPr kumimoji="0" lang="en-US" altLang="zh-CN" sz="2000" b="1">
                  <a:latin typeface="Arial" pitchFamily="34" charset="0"/>
                </a:rPr>
                <a:t>3</a:t>
              </a:r>
            </a:p>
          </p:txBody>
        </p:sp>
      </p:grpSp>
      <p:sp>
        <p:nvSpPr>
          <p:cNvPr id="63" name="矩形 62"/>
          <p:cNvSpPr>
            <a:spLocks noChangeArrowheads="1"/>
          </p:cNvSpPr>
          <p:nvPr/>
        </p:nvSpPr>
        <p:spPr bwMode="auto">
          <a:xfrm>
            <a:off x="9094437" y="5030333"/>
            <a:ext cx="1512888" cy="396875"/>
          </a:xfrm>
          <a:prstGeom prst="rect">
            <a:avLst/>
          </a:prstGeom>
          <a:noFill/>
          <a:ln w="25400" algn="ctr">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59379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p:cTn id="12" dur="500" fill="hold"/>
                                        <p:tgtEl>
                                          <p:spTgt spid="41"/>
                                        </p:tgtEl>
                                        <p:attrNameLst>
                                          <p:attrName>ppt_w</p:attrName>
                                        </p:attrNameLst>
                                      </p:cBhvr>
                                      <p:tavLst>
                                        <p:tav tm="0">
                                          <p:val>
                                            <p:strVal val="#ppt_w*0.05"/>
                                          </p:val>
                                        </p:tav>
                                        <p:tav tm="100000">
                                          <p:val>
                                            <p:strVal val="#ppt_w"/>
                                          </p:val>
                                        </p:tav>
                                      </p:tavLst>
                                    </p:anim>
                                    <p:anim calcmode="lin" valueType="num">
                                      <p:cBhvr>
                                        <p:cTn id="13" dur="500" fill="hold"/>
                                        <p:tgtEl>
                                          <p:spTgt spid="41"/>
                                        </p:tgtEl>
                                        <p:attrNameLst>
                                          <p:attrName>ppt_h</p:attrName>
                                        </p:attrNameLst>
                                      </p:cBhvr>
                                      <p:tavLst>
                                        <p:tav tm="0">
                                          <p:val>
                                            <p:strVal val="#ppt_h"/>
                                          </p:val>
                                        </p:tav>
                                        <p:tav tm="100000">
                                          <p:val>
                                            <p:strVal val="#ppt_h"/>
                                          </p:val>
                                        </p:tav>
                                      </p:tavLst>
                                    </p:anim>
                                    <p:anim calcmode="lin" valueType="num">
                                      <p:cBhvr>
                                        <p:cTn id="14" dur="500" fill="hold"/>
                                        <p:tgtEl>
                                          <p:spTgt spid="41"/>
                                        </p:tgtEl>
                                        <p:attrNameLst>
                                          <p:attrName>ppt_x</p:attrName>
                                        </p:attrNameLst>
                                      </p:cBhvr>
                                      <p:tavLst>
                                        <p:tav tm="0">
                                          <p:val>
                                            <p:strVal val="#ppt_x-.2"/>
                                          </p:val>
                                        </p:tav>
                                        <p:tav tm="100000">
                                          <p:val>
                                            <p:strVal val="#ppt_x"/>
                                          </p:val>
                                        </p:tav>
                                      </p:tavLst>
                                    </p:anim>
                                    <p:anim calcmode="lin" valueType="num">
                                      <p:cBhvr>
                                        <p:cTn id="15" dur="500" fill="hold"/>
                                        <p:tgtEl>
                                          <p:spTgt spid="41"/>
                                        </p:tgtEl>
                                        <p:attrNameLst>
                                          <p:attrName>ppt_y</p:attrName>
                                        </p:attrNameLst>
                                      </p:cBhvr>
                                      <p:tavLst>
                                        <p:tav tm="0">
                                          <p:val>
                                            <p:strVal val="#ppt_y"/>
                                          </p:val>
                                        </p:tav>
                                        <p:tav tm="100000">
                                          <p:val>
                                            <p:strVal val="#ppt_y"/>
                                          </p:val>
                                        </p:tav>
                                      </p:tavLst>
                                    </p:anim>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58" presetClass="exit" presetSubtype="0" decel="100000" fill="hold" grpId="1" nodeType="clickEffect">
                                  <p:stCondLst>
                                    <p:cond delay="0"/>
                                  </p:stCondLst>
                                  <p:childTnLst>
                                    <p:anim calcmode="lin" valueType="num">
                                      <p:cBhvr>
                                        <p:cTn id="20" dur="500"/>
                                        <p:tgtEl>
                                          <p:spTgt spid="51"/>
                                        </p:tgtEl>
                                        <p:attrNameLst>
                                          <p:attrName>ppt_w</p:attrName>
                                        </p:attrNameLst>
                                      </p:cBhvr>
                                      <p:tavLst>
                                        <p:tav tm="0">
                                          <p:val>
                                            <p:strVal val="ppt_w"/>
                                          </p:val>
                                        </p:tav>
                                        <p:tav tm="100000">
                                          <p:val>
                                            <p:strVal val="ppt_w*2.5"/>
                                          </p:val>
                                        </p:tav>
                                      </p:tavLst>
                                    </p:anim>
                                    <p:anim calcmode="lin" valueType="num">
                                      <p:cBhvr>
                                        <p:cTn id="21" dur="500"/>
                                        <p:tgtEl>
                                          <p:spTgt spid="51"/>
                                        </p:tgtEl>
                                        <p:attrNameLst>
                                          <p:attrName>ppt_h</p:attrName>
                                        </p:attrNameLst>
                                      </p:cBhvr>
                                      <p:tavLst>
                                        <p:tav tm="0">
                                          <p:val>
                                            <p:strVal val="ppt_h"/>
                                          </p:val>
                                        </p:tav>
                                        <p:tav tm="100000">
                                          <p:val>
                                            <p:strVal val="ppt_h*0.01"/>
                                          </p:val>
                                        </p:tav>
                                      </p:tavLst>
                                    </p:anim>
                                    <p:anim calcmode="lin" valueType="num">
                                      <p:cBhvr>
                                        <p:cTn id="22" dur="500"/>
                                        <p:tgtEl>
                                          <p:spTgt spid="51"/>
                                        </p:tgtEl>
                                        <p:attrNameLst>
                                          <p:attrName>ppt_x</p:attrName>
                                        </p:attrNameLst>
                                      </p:cBhvr>
                                      <p:tavLst>
                                        <p:tav tm="0">
                                          <p:val>
                                            <p:strVal val="ppt_x"/>
                                          </p:val>
                                        </p:tav>
                                        <p:tav tm="100000">
                                          <p:val>
                                            <p:strVal val="ppt_x"/>
                                          </p:val>
                                        </p:tav>
                                      </p:tavLst>
                                    </p:anim>
                                    <p:anim calcmode="lin" valueType="num">
                                      <p:cBhvr>
                                        <p:cTn id="23" dur="500"/>
                                        <p:tgtEl>
                                          <p:spTgt spid="51"/>
                                        </p:tgtEl>
                                        <p:attrNameLst>
                                          <p:attrName>ppt_y</p:attrName>
                                        </p:attrNameLst>
                                      </p:cBhvr>
                                      <p:tavLst>
                                        <p:tav tm="0">
                                          <p:val>
                                            <p:strVal val="ppt_y"/>
                                          </p:val>
                                        </p:tav>
                                        <p:tav tm="100000">
                                          <p:val>
                                            <p:strVal val="ppt_h+1"/>
                                          </p:val>
                                        </p:tav>
                                      </p:tavLst>
                                    </p:anim>
                                    <p:animEffect transition="out" filter="fade">
                                      <p:cBhvr>
                                        <p:cTn id="24" dur="500"/>
                                        <p:tgtEl>
                                          <p:spTgt spid="51"/>
                                        </p:tgtEl>
                                      </p:cBhvr>
                                    </p:animEffect>
                                    <p:set>
                                      <p:cBhvr>
                                        <p:cTn id="25" dur="1" fill="hold">
                                          <p:stCondLst>
                                            <p:cond delay="499"/>
                                          </p:stCondLst>
                                        </p:cTn>
                                        <p:tgtEl>
                                          <p:spTgt spid="51"/>
                                        </p:tgtEl>
                                        <p:attrNameLst>
                                          <p:attrName>style.visibility</p:attrName>
                                        </p:attrNameLst>
                                      </p:cBhvr>
                                      <p:to>
                                        <p:strVal val="hidden"/>
                                      </p:to>
                                    </p:set>
                                  </p:childTnLst>
                                </p:cTn>
                              </p:par>
                            </p:childTnLst>
                          </p:cTn>
                        </p:par>
                        <p:par>
                          <p:cTn id="26" fill="hold">
                            <p:stCondLst>
                              <p:cond delay="500"/>
                            </p:stCondLst>
                            <p:childTnLst>
                              <p:par>
                                <p:cTn id="27" presetID="10" presetClass="exit" presetSubtype="0" fill="hold" nodeType="afterEffect">
                                  <p:stCondLst>
                                    <p:cond delay="0"/>
                                  </p:stCondLst>
                                  <p:childTnLst>
                                    <p:animEffect transition="out" filter="fade">
                                      <p:cBhvr>
                                        <p:cTn id="28" dur="2000"/>
                                        <p:tgtEl>
                                          <p:spTgt spid="41"/>
                                        </p:tgtEl>
                                      </p:cBhvr>
                                    </p:animEffect>
                                    <p:set>
                                      <p:cBhvr>
                                        <p:cTn id="29" dur="1" fill="hold">
                                          <p:stCondLst>
                                            <p:cond delay="1999"/>
                                          </p:stCondLst>
                                        </p:cTn>
                                        <p:tgtEl>
                                          <p:spTgt spid="4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6" presetClass="entr" presetSubtype="26" fill="hold" grpId="0" nodeType="clickEffect">
                                  <p:stCondLst>
                                    <p:cond delay="0"/>
                                  </p:stCondLst>
                                  <p:childTnLst>
                                    <p:set>
                                      <p:cBhvr>
                                        <p:cTn id="33" dur="1" fill="hold">
                                          <p:stCondLst>
                                            <p:cond delay="0"/>
                                          </p:stCondLst>
                                        </p:cTn>
                                        <p:tgtEl>
                                          <p:spTgt spid="63"/>
                                        </p:tgtEl>
                                        <p:attrNameLst>
                                          <p:attrName>style.visibility</p:attrName>
                                        </p:attrNameLst>
                                      </p:cBhvr>
                                      <p:to>
                                        <p:strVal val="visible"/>
                                      </p:to>
                                    </p:set>
                                    <p:animEffect transition="in" filter="barn(inHorizontal)">
                                      <p:cBhvr>
                                        <p:cTn id="34" dur="500"/>
                                        <p:tgtEl>
                                          <p:spTgt spid="63"/>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inVertical)">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58" presetClass="exit" presetSubtype="0" decel="100000" fill="hold" grpId="1" nodeType="clickEffect">
                                  <p:stCondLst>
                                    <p:cond delay="0"/>
                                  </p:stCondLst>
                                  <p:childTnLst>
                                    <p:anim calcmode="lin" valueType="num">
                                      <p:cBhvr>
                                        <p:cTn id="43" dur="500"/>
                                        <p:tgtEl>
                                          <p:spTgt spid="63"/>
                                        </p:tgtEl>
                                        <p:attrNameLst>
                                          <p:attrName>ppt_w</p:attrName>
                                        </p:attrNameLst>
                                      </p:cBhvr>
                                      <p:tavLst>
                                        <p:tav tm="0">
                                          <p:val>
                                            <p:strVal val="ppt_w"/>
                                          </p:val>
                                        </p:tav>
                                        <p:tav tm="100000">
                                          <p:val>
                                            <p:strVal val="ppt_w*2.5"/>
                                          </p:val>
                                        </p:tav>
                                      </p:tavLst>
                                    </p:anim>
                                    <p:anim calcmode="lin" valueType="num">
                                      <p:cBhvr>
                                        <p:cTn id="44" dur="500"/>
                                        <p:tgtEl>
                                          <p:spTgt spid="63"/>
                                        </p:tgtEl>
                                        <p:attrNameLst>
                                          <p:attrName>ppt_h</p:attrName>
                                        </p:attrNameLst>
                                      </p:cBhvr>
                                      <p:tavLst>
                                        <p:tav tm="0">
                                          <p:val>
                                            <p:strVal val="ppt_h"/>
                                          </p:val>
                                        </p:tav>
                                        <p:tav tm="100000">
                                          <p:val>
                                            <p:strVal val="ppt_h*0.01"/>
                                          </p:val>
                                        </p:tav>
                                      </p:tavLst>
                                    </p:anim>
                                    <p:anim calcmode="lin" valueType="num">
                                      <p:cBhvr>
                                        <p:cTn id="45" dur="500"/>
                                        <p:tgtEl>
                                          <p:spTgt spid="63"/>
                                        </p:tgtEl>
                                        <p:attrNameLst>
                                          <p:attrName>ppt_x</p:attrName>
                                        </p:attrNameLst>
                                      </p:cBhvr>
                                      <p:tavLst>
                                        <p:tav tm="0">
                                          <p:val>
                                            <p:strVal val="ppt_x"/>
                                          </p:val>
                                        </p:tav>
                                        <p:tav tm="100000">
                                          <p:val>
                                            <p:strVal val="ppt_x"/>
                                          </p:val>
                                        </p:tav>
                                      </p:tavLst>
                                    </p:anim>
                                    <p:anim calcmode="lin" valueType="num">
                                      <p:cBhvr>
                                        <p:cTn id="46" dur="500"/>
                                        <p:tgtEl>
                                          <p:spTgt spid="63"/>
                                        </p:tgtEl>
                                        <p:attrNameLst>
                                          <p:attrName>ppt_y</p:attrName>
                                        </p:attrNameLst>
                                      </p:cBhvr>
                                      <p:tavLst>
                                        <p:tav tm="0">
                                          <p:val>
                                            <p:strVal val="ppt_y"/>
                                          </p:val>
                                        </p:tav>
                                        <p:tav tm="100000">
                                          <p:val>
                                            <p:strVal val="ppt_h+1"/>
                                          </p:val>
                                        </p:tav>
                                      </p:tavLst>
                                    </p:anim>
                                    <p:animEffect transition="out" filter="fade">
                                      <p:cBhvr>
                                        <p:cTn id="47" dur="500"/>
                                        <p:tgtEl>
                                          <p:spTgt spid="63"/>
                                        </p:tgtEl>
                                      </p:cBhvr>
                                    </p:animEffect>
                                    <p:set>
                                      <p:cBhvr>
                                        <p:cTn id="48" dur="1" fill="hold">
                                          <p:stCondLst>
                                            <p:cond delay="499"/>
                                          </p:stCondLst>
                                        </p:cTn>
                                        <p:tgtEl>
                                          <p:spTgt spid="63"/>
                                        </p:tgtEl>
                                        <p:attrNameLst>
                                          <p:attrName>style.visibility</p:attrName>
                                        </p:attrNameLst>
                                      </p:cBhvr>
                                      <p:to>
                                        <p:strVal val="hidden"/>
                                      </p:to>
                                    </p:set>
                                  </p:childTnLst>
                                </p:cTn>
                              </p:par>
                              <p:par>
                                <p:cTn id="49" presetID="55" presetClass="exit" presetSubtype="0" fill="hold" nodeType="withEffect">
                                  <p:stCondLst>
                                    <p:cond delay="0"/>
                                  </p:stCondLst>
                                  <p:childTnLst>
                                    <p:anim calcmode="lin" valueType="num">
                                      <p:cBhvr>
                                        <p:cTn id="50" dur="1000"/>
                                        <p:tgtEl>
                                          <p:spTgt spid="3"/>
                                        </p:tgtEl>
                                        <p:attrNameLst>
                                          <p:attrName>ppt_w</p:attrName>
                                        </p:attrNameLst>
                                      </p:cBhvr>
                                      <p:tavLst>
                                        <p:tav tm="0">
                                          <p:val>
                                            <p:strVal val="ppt_w"/>
                                          </p:val>
                                        </p:tav>
                                        <p:tav tm="100000">
                                          <p:val>
                                            <p:strVal val="ppt_w*0.70"/>
                                          </p:val>
                                        </p:tav>
                                      </p:tavLst>
                                    </p:anim>
                                    <p:anim calcmode="lin" valueType="num">
                                      <p:cBhvr>
                                        <p:cTn id="51" dur="1000"/>
                                        <p:tgtEl>
                                          <p:spTgt spid="3"/>
                                        </p:tgtEl>
                                        <p:attrNameLst>
                                          <p:attrName>ppt_h</p:attrName>
                                        </p:attrNameLst>
                                      </p:cBhvr>
                                      <p:tavLst>
                                        <p:tav tm="0">
                                          <p:val>
                                            <p:strVal val="ppt_h"/>
                                          </p:val>
                                        </p:tav>
                                        <p:tav tm="100000">
                                          <p:val>
                                            <p:strVal val="ppt_h"/>
                                          </p:val>
                                        </p:tav>
                                      </p:tavLst>
                                    </p:anim>
                                    <p:animEffect transition="out" filter="fade">
                                      <p:cBhvr>
                                        <p:cTn id="52" dur="1000"/>
                                        <p:tgtEl>
                                          <p:spTgt spid="3"/>
                                        </p:tgtEl>
                                      </p:cBhvr>
                                    </p:animEffect>
                                    <p:set>
                                      <p:cBhvr>
                                        <p:cTn id="53" dur="1" fill="hold">
                                          <p:stCondLst>
                                            <p:cond delay="999"/>
                                          </p:stCondLst>
                                        </p:cTn>
                                        <p:tgtEl>
                                          <p:spTgt spid="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6" presetClass="entr" presetSubtype="26" fill="hold" grpId="0" nodeType="clickEffect">
                                  <p:stCondLst>
                                    <p:cond delay="0"/>
                                  </p:stCondLst>
                                  <p:childTnLst>
                                    <p:set>
                                      <p:cBhvr>
                                        <p:cTn id="57" dur="1" fill="hold">
                                          <p:stCondLst>
                                            <p:cond delay="0"/>
                                          </p:stCondLst>
                                        </p:cTn>
                                        <p:tgtEl>
                                          <p:spTgt spid="87"/>
                                        </p:tgtEl>
                                        <p:attrNameLst>
                                          <p:attrName>style.visibility</p:attrName>
                                        </p:attrNameLst>
                                      </p:cBhvr>
                                      <p:to>
                                        <p:strVal val="visible"/>
                                      </p:to>
                                    </p:set>
                                    <p:animEffect transition="in" filter="barn(inHorizontal)">
                                      <p:cBhvr>
                                        <p:cTn id="58" dur="500"/>
                                        <p:tgtEl>
                                          <p:spTgt spid="87"/>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52"/>
                                        </p:tgtEl>
                                        <p:attrNameLst>
                                          <p:attrName>style.visibility</p:attrName>
                                        </p:attrNameLst>
                                      </p:cBhvr>
                                      <p:to>
                                        <p:strVal val="visible"/>
                                      </p:to>
                                    </p:set>
                                    <p:anim calcmode="lin" valueType="num">
                                      <p:cBhvr>
                                        <p:cTn id="63" dur="1000" fill="hold"/>
                                        <p:tgtEl>
                                          <p:spTgt spid="52"/>
                                        </p:tgtEl>
                                        <p:attrNameLst>
                                          <p:attrName>ppt_x</p:attrName>
                                        </p:attrNameLst>
                                      </p:cBhvr>
                                      <p:tavLst>
                                        <p:tav tm="0">
                                          <p:val>
                                            <p:strVal val="#ppt_x-.2"/>
                                          </p:val>
                                        </p:tav>
                                        <p:tav tm="100000">
                                          <p:val>
                                            <p:strVal val="#ppt_x"/>
                                          </p:val>
                                        </p:tav>
                                      </p:tavLst>
                                    </p:anim>
                                    <p:anim calcmode="lin" valueType="num">
                                      <p:cBhvr>
                                        <p:cTn id="64" dur="1000" fill="hold"/>
                                        <p:tgtEl>
                                          <p:spTgt spid="52"/>
                                        </p:tgtEl>
                                        <p:attrNameLst>
                                          <p:attrName>ppt_y</p:attrName>
                                        </p:attrNameLst>
                                      </p:cBhvr>
                                      <p:tavLst>
                                        <p:tav tm="0">
                                          <p:val>
                                            <p:strVal val="#ppt_y"/>
                                          </p:val>
                                        </p:tav>
                                        <p:tav tm="100000">
                                          <p:val>
                                            <p:strVal val="#ppt_y"/>
                                          </p:val>
                                        </p:tav>
                                      </p:tavLst>
                                    </p:anim>
                                    <p:animEffect transition="in" filter="wipe(right)" prLst="gradientSize: 0.1">
                                      <p:cBhvr>
                                        <p:cTn id="65" dur="1000"/>
                                        <p:tgtEl>
                                          <p:spTgt spid="52"/>
                                        </p:tgtEl>
                                      </p:cBhvr>
                                    </p:animEffect>
                                  </p:childTnLst>
                                </p:cTn>
                              </p:par>
                            </p:childTnLst>
                          </p:cTn>
                        </p:par>
                      </p:childTnLst>
                    </p:cTn>
                  </p:par>
                  <p:par>
                    <p:cTn id="66" fill="hold">
                      <p:stCondLst>
                        <p:cond delay="indefinite"/>
                      </p:stCondLst>
                      <p:childTnLst>
                        <p:par>
                          <p:cTn id="67" fill="hold">
                            <p:stCondLst>
                              <p:cond delay="0"/>
                            </p:stCondLst>
                            <p:childTnLst>
                              <p:par>
                                <p:cTn id="68" presetID="58" presetClass="exit" presetSubtype="0" decel="100000" fill="hold" grpId="1" nodeType="clickEffect">
                                  <p:stCondLst>
                                    <p:cond delay="0"/>
                                  </p:stCondLst>
                                  <p:childTnLst>
                                    <p:anim calcmode="lin" valueType="num">
                                      <p:cBhvr>
                                        <p:cTn id="69" dur="500"/>
                                        <p:tgtEl>
                                          <p:spTgt spid="87"/>
                                        </p:tgtEl>
                                        <p:attrNameLst>
                                          <p:attrName>ppt_w</p:attrName>
                                        </p:attrNameLst>
                                      </p:cBhvr>
                                      <p:tavLst>
                                        <p:tav tm="0">
                                          <p:val>
                                            <p:strVal val="ppt_w"/>
                                          </p:val>
                                        </p:tav>
                                        <p:tav tm="100000">
                                          <p:val>
                                            <p:strVal val="ppt_w*2.5"/>
                                          </p:val>
                                        </p:tav>
                                      </p:tavLst>
                                    </p:anim>
                                    <p:anim calcmode="lin" valueType="num">
                                      <p:cBhvr>
                                        <p:cTn id="70" dur="500"/>
                                        <p:tgtEl>
                                          <p:spTgt spid="87"/>
                                        </p:tgtEl>
                                        <p:attrNameLst>
                                          <p:attrName>ppt_h</p:attrName>
                                        </p:attrNameLst>
                                      </p:cBhvr>
                                      <p:tavLst>
                                        <p:tav tm="0">
                                          <p:val>
                                            <p:strVal val="ppt_h"/>
                                          </p:val>
                                        </p:tav>
                                        <p:tav tm="100000">
                                          <p:val>
                                            <p:strVal val="ppt_h*0.01"/>
                                          </p:val>
                                        </p:tav>
                                      </p:tavLst>
                                    </p:anim>
                                    <p:anim calcmode="lin" valueType="num">
                                      <p:cBhvr>
                                        <p:cTn id="71" dur="500"/>
                                        <p:tgtEl>
                                          <p:spTgt spid="87"/>
                                        </p:tgtEl>
                                        <p:attrNameLst>
                                          <p:attrName>ppt_x</p:attrName>
                                        </p:attrNameLst>
                                      </p:cBhvr>
                                      <p:tavLst>
                                        <p:tav tm="0">
                                          <p:val>
                                            <p:strVal val="ppt_x"/>
                                          </p:val>
                                        </p:tav>
                                        <p:tav tm="100000">
                                          <p:val>
                                            <p:strVal val="ppt_x"/>
                                          </p:val>
                                        </p:tav>
                                      </p:tavLst>
                                    </p:anim>
                                    <p:anim calcmode="lin" valueType="num">
                                      <p:cBhvr>
                                        <p:cTn id="72" dur="500"/>
                                        <p:tgtEl>
                                          <p:spTgt spid="87"/>
                                        </p:tgtEl>
                                        <p:attrNameLst>
                                          <p:attrName>ppt_y</p:attrName>
                                        </p:attrNameLst>
                                      </p:cBhvr>
                                      <p:tavLst>
                                        <p:tav tm="0">
                                          <p:val>
                                            <p:strVal val="ppt_y"/>
                                          </p:val>
                                        </p:tav>
                                        <p:tav tm="100000">
                                          <p:val>
                                            <p:strVal val="ppt_h+1"/>
                                          </p:val>
                                        </p:tav>
                                      </p:tavLst>
                                    </p:anim>
                                    <p:animEffect transition="out" filter="fade">
                                      <p:cBhvr>
                                        <p:cTn id="73" dur="500"/>
                                        <p:tgtEl>
                                          <p:spTgt spid="87"/>
                                        </p:tgtEl>
                                      </p:cBhvr>
                                    </p:animEffect>
                                    <p:set>
                                      <p:cBhvr>
                                        <p:cTn id="74" dur="1" fill="hold">
                                          <p:stCondLst>
                                            <p:cond delay="499"/>
                                          </p:stCondLst>
                                        </p:cTn>
                                        <p:tgtEl>
                                          <p:spTgt spid="87"/>
                                        </p:tgtEl>
                                        <p:attrNameLst>
                                          <p:attrName>style.visibility</p:attrName>
                                        </p:attrNameLst>
                                      </p:cBhvr>
                                      <p:to>
                                        <p:strVal val="hidden"/>
                                      </p:to>
                                    </p:set>
                                  </p:childTnLst>
                                </p:cTn>
                              </p:par>
                            </p:childTnLst>
                          </p:cTn>
                        </p:par>
                        <p:par>
                          <p:cTn id="75" fill="hold">
                            <p:stCondLst>
                              <p:cond delay="500"/>
                            </p:stCondLst>
                            <p:childTnLst>
                              <p:par>
                                <p:cTn id="76" presetID="10" presetClass="exit" presetSubtype="0" fill="hold" nodeType="afterEffect">
                                  <p:stCondLst>
                                    <p:cond delay="0"/>
                                  </p:stCondLst>
                                  <p:childTnLst>
                                    <p:animEffect transition="out" filter="fade">
                                      <p:cBhvr>
                                        <p:cTn id="77" dur="2000"/>
                                        <p:tgtEl>
                                          <p:spTgt spid="52"/>
                                        </p:tgtEl>
                                      </p:cBhvr>
                                    </p:animEffect>
                                    <p:set>
                                      <p:cBhvr>
                                        <p:cTn id="78" dur="1" fill="hold">
                                          <p:stCondLst>
                                            <p:cond delay="1999"/>
                                          </p:stCondLst>
                                        </p:cTn>
                                        <p:tgtEl>
                                          <p:spTgt spid="5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6" presetClass="entr" presetSubtype="26" fill="hold" grpId="0" nodeType="clickEffect">
                                  <p:stCondLst>
                                    <p:cond delay="0"/>
                                  </p:stCondLst>
                                  <p:childTnLst>
                                    <p:set>
                                      <p:cBhvr>
                                        <p:cTn id="82" dur="1" fill="hold">
                                          <p:stCondLst>
                                            <p:cond delay="0"/>
                                          </p:stCondLst>
                                        </p:cTn>
                                        <p:tgtEl>
                                          <p:spTgt spid="97"/>
                                        </p:tgtEl>
                                        <p:attrNameLst>
                                          <p:attrName>style.visibility</p:attrName>
                                        </p:attrNameLst>
                                      </p:cBhvr>
                                      <p:to>
                                        <p:strVal val="visible"/>
                                      </p:to>
                                    </p:set>
                                    <p:animEffect transition="in" filter="barn(inHorizontal)">
                                      <p:cBhvr>
                                        <p:cTn id="83" dur="500"/>
                                        <p:tgtEl>
                                          <p:spTgt spid="97"/>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88"/>
                                        </p:tgtEl>
                                        <p:attrNameLst>
                                          <p:attrName>style.visibility</p:attrName>
                                        </p:attrNameLst>
                                      </p:cBhvr>
                                      <p:to>
                                        <p:strVal val="visible"/>
                                      </p:to>
                                    </p:set>
                                    <p:anim calcmode="lin" valueType="num">
                                      <p:cBhvr additive="base">
                                        <p:cTn id="88" dur="500" fill="hold"/>
                                        <p:tgtEl>
                                          <p:spTgt spid="88"/>
                                        </p:tgtEl>
                                        <p:attrNameLst>
                                          <p:attrName>ppt_x</p:attrName>
                                        </p:attrNameLst>
                                      </p:cBhvr>
                                      <p:tavLst>
                                        <p:tav tm="0">
                                          <p:val>
                                            <p:strVal val="#ppt_x"/>
                                          </p:val>
                                        </p:tav>
                                        <p:tav tm="100000">
                                          <p:val>
                                            <p:strVal val="#ppt_x"/>
                                          </p:val>
                                        </p:tav>
                                      </p:tavLst>
                                    </p:anim>
                                    <p:anim calcmode="lin" valueType="num">
                                      <p:cBhvr additive="base">
                                        <p:cTn id="89"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58" presetClass="exit" presetSubtype="0" decel="100000" fill="hold" grpId="1" nodeType="clickEffect">
                                  <p:stCondLst>
                                    <p:cond delay="0"/>
                                  </p:stCondLst>
                                  <p:childTnLst>
                                    <p:anim calcmode="lin" valueType="num">
                                      <p:cBhvr>
                                        <p:cTn id="93" dur="500"/>
                                        <p:tgtEl>
                                          <p:spTgt spid="97"/>
                                        </p:tgtEl>
                                        <p:attrNameLst>
                                          <p:attrName>ppt_w</p:attrName>
                                        </p:attrNameLst>
                                      </p:cBhvr>
                                      <p:tavLst>
                                        <p:tav tm="0">
                                          <p:val>
                                            <p:strVal val="ppt_w"/>
                                          </p:val>
                                        </p:tav>
                                        <p:tav tm="100000">
                                          <p:val>
                                            <p:strVal val="ppt_w*2.5"/>
                                          </p:val>
                                        </p:tav>
                                      </p:tavLst>
                                    </p:anim>
                                    <p:anim calcmode="lin" valueType="num">
                                      <p:cBhvr>
                                        <p:cTn id="94" dur="500"/>
                                        <p:tgtEl>
                                          <p:spTgt spid="97"/>
                                        </p:tgtEl>
                                        <p:attrNameLst>
                                          <p:attrName>ppt_h</p:attrName>
                                        </p:attrNameLst>
                                      </p:cBhvr>
                                      <p:tavLst>
                                        <p:tav tm="0">
                                          <p:val>
                                            <p:strVal val="ppt_h"/>
                                          </p:val>
                                        </p:tav>
                                        <p:tav tm="100000">
                                          <p:val>
                                            <p:strVal val="ppt_h*0.01"/>
                                          </p:val>
                                        </p:tav>
                                      </p:tavLst>
                                    </p:anim>
                                    <p:anim calcmode="lin" valueType="num">
                                      <p:cBhvr>
                                        <p:cTn id="95" dur="500"/>
                                        <p:tgtEl>
                                          <p:spTgt spid="97"/>
                                        </p:tgtEl>
                                        <p:attrNameLst>
                                          <p:attrName>ppt_x</p:attrName>
                                        </p:attrNameLst>
                                      </p:cBhvr>
                                      <p:tavLst>
                                        <p:tav tm="0">
                                          <p:val>
                                            <p:strVal val="ppt_x"/>
                                          </p:val>
                                        </p:tav>
                                        <p:tav tm="100000">
                                          <p:val>
                                            <p:strVal val="ppt_x"/>
                                          </p:val>
                                        </p:tav>
                                      </p:tavLst>
                                    </p:anim>
                                    <p:anim calcmode="lin" valueType="num">
                                      <p:cBhvr>
                                        <p:cTn id="96" dur="500"/>
                                        <p:tgtEl>
                                          <p:spTgt spid="97"/>
                                        </p:tgtEl>
                                        <p:attrNameLst>
                                          <p:attrName>ppt_y</p:attrName>
                                        </p:attrNameLst>
                                      </p:cBhvr>
                                      <p:tavLst>
                                        <p:tav tm="0">
                                          <p:val>
                                            <p:strVal val="ppt_y"/>
                                          </p:val>
                                        </p:tav>
                                        <p:tav tm="100000">
                                          <p:val>
                                            <p:strVal val="ppt_h+1"/>
                                          </p:val>
                                        </p:tav>
                                      </p:tavLst>
                                    </p:anim>
                                    <p:animEffect transition="out" filter="fade">
                                      <p:cBhvr>
                                        <p:cTn id="97" dur="500"/>
                                        <p:tgtEl>
                                          <p:spTgt spid="97"/>
                                        </p:tgtEl>
                                      </p:cBhvr>
                                    </p:animEffect>
                                    <p:set>
                                      <p:cBhvr>
                                        <p:cTn id="98" dur="1" fill="hold">
                                          <p:stCondLst>
                                            <p:cond delay="499"/>
                                          </p:stCondLst>
                                        </p:cTn>
                                        <p:tgtEl>
                                          <p:spTgt spid="97"/>
                                        </p:tgtEl>
                                        <p:attrNameLst>
                                          <p:attrName>style.visibility</p:attrName>
                                        </p:attrNameLst>
                                      </p:cBhvr>
                                      <p:to>
                                        <p:strVal val="hidden"/>
                                      </p:to>
                                    </p:set>
                                  </p:childTnLst>
                                </p:cTn>
                              </p:par>
                            </p:childTnLst>
                          </p:cTn>
                        </p:par>
                        <p:par>
                          <p:cTn id="99" fill="hold">
                            <p:stCondLst>
                              <p:cond delay="500"/>
                            </p:stCondLst>
                            <p:childTnLst>
                              <p:par>
                                <p:cTn id="100" presetID="55" presetClass="exit" presetSubtype="0" fill="hold" nodeType="afterEffect">
                                  <p:stCondLst>
                                    <p:cond delay="0"/>
                                  </p:stCondLst>
                                  <p:childTnLst>
                                    <p:anim calcmode="lin" valueType="num">
                                      <p:cBhvr>
                                        <p:cTn id="101" dur="1000"/>
                                        <p:tgtEl>
                                          <p:spTgt spid="88"/>
                                        </p:tgtEl>
                                        <p:attrNameLst>
                                          <p:attrName>ppt_w</p:attrName>
                                        </p:attrNameLst>
                                      </p:cBhvr>
                                      <p:tavLst>
                                        <p:tav tm="0">
                                          <p:val>
                                            <p:strVal val="ppt_w"/>
                                          </p:val>
                                        </p:tav>
                                        <p:tav tm="100000">
                                          <p:val>
                                            <p:strVal val="ppt_w*0.70"/>
                                          </p:val>
                                        </p:tav>
                                      </p:tavLst>
                                    </p:anim>
                                    <p:anim calcmode="lin" valueType="num">
                                      <p:cBhvr>
                                        <p:cTn id="102" dur="1000"/>
                                        <p:tgtEl>
                                          <p:spTgt spid="88"/>
                                        </p:tgtEl>
                                        <p:attrNameLst>
                                          <p:attrName>ppt_h</p:attrName>
                                        </p:attrNameLst>
                                      </p:cBhvr>
                                      <p:tavLst>
                                        <p:tav tm="0">
                                          <p:val>
                                            <p:strVal val="ppt_h"/>
                                          </p:val>
                                        </p:tav>
                                        <p:tav tm="100000">
                                          <p:val>
                                            <p:strVal val="ppt_h"/>
                                          </p:val>
                                        </p:tav>
                                      </p:tavLst>
                                    </p:anim>
                                    <p:animEffect transition="out" filter="fade">
                                      <p:cBhvr>
                                        <p:cTn id="103" dur="1000"/>
                                        <p:tgtEl>
                                          <p:spTgt spid="88"/>
                                        </p:tgtEl>
                                      </p:cBhvr>
                                    </p:animEffect>
                                    <p:set>
                                      <p:cBhvr>
                                        <p:cTn id="104" dur="1" fill="hold">
                                          <p:stCondLst>
                                            <p:cond delay="9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87" grpId="0" animBg="1"/>
      <p:bldP spid="87" grpId="1" animBg="1"/>
      <p:bldP spid="97" grpId="0" animBg="1"/>
      <p:bldP spid="97" grpId="1" animBg="1"/>
      <p:bldP spid="63" grpId="0" animBg="1"/>
      <p:bldP spid="6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）常用分配算法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基于顺序搜索的动态分区分配算法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0" name="Freeform 7"/>
          <p:cNvSpPr/>
          <p:nvPr/>
        </p:nvSpPr>
        <p:spPr bwMode="auto">
          <a:xfrm rot="18900000">
            <a:off x="3219468" y="2140680"/>
            <a:ext cx="1746988" cy="1746988"/>
          </a:xfrm>
          <a:custGeom>
            <a:avLst/>
            <a:gdLst>
              <a:gd name="T0" fmla="*/ 720 w 720"/>
              <a:gd name="T1" fmla="*/ 275 h 720"/>
              <a:gd name="T2" fmla="*/ 643 w 720"/>
              <a:gd name="T3" fmla="*/ 352 h 720"/>
              <a:gd name="T4" fmla="*/ 643 w 720"/>
              <a:gd name="T5" fmla="*/ 352 h 720"/>
              <a:gd name="T6" fmla="*/ 603 w 720"/>
              <a:gd name="T7" fmla="*/ 336 h 720"/>
              <a:gd name="T8" fmla="*/ 569 w 720"/>
              <a:gd name="T9" fmla="*/ 313 h 720"/>
              <a:gd name="T10" fmla="*/ 543 w 720"/>
              <a:gd name="T11" fmla="*/ 356 h 720"/>
              <a:gd name="T12" fmla="*/ 542 w 720"/>
              <a:gd name="T13" fmla="*/ 365 h 720"/>
              <a:gd name="T14" fmla="*/ 542 w 720"/>
              <a:gd name="T15" fmla="*/ 542 h 720"/>
              <a:gd name="T16" fmla="*/ 542 w 720"/>
              <a:gd name="T17" fmla="*/ 542 h 720"/>
              <a:gd name="T18" fmla="*/ 356 w 720"/>
              <a:gd name="T19" fmla="*/ 542 h 720"/>
              <a:gd name="T20" fmla="*/ 345 w 720"/>
              <a:gd name="T21" fmla="*/ 543 h 720"/>
              <a:gd name="T22" fmla="*/ 296 w 720"/>
              <a:gd name="T23" fmla="*/ 572 h 720"/>
              <a:gd name="T24" fmla="*/ 314 w 720"/>
              <a:gd name="T25" fmla="*/ 610 h 720"/>
              <a:gd name="T26" fmla="*/ 320 w 720"/>
              <a:gd name="T27" fmla="*/ 617 h 720"/>
              <a:gd name="T28" fmla="*/ 335 w 720"/>
              <a:gd name="T29" fmla="*/ 652 h 720"/>
              <a:gd name="T30" fmla="*/ 266 w 720"/>
              <a:gd name="T31" fmla="*/ 720 h 720"/>
              <a:gd name="T32" fmla="*/ 198 w 720"/>
              <a:gd name="T33" fmla="*/ 652 h 720"/>
              <a:gd name="T34" fmla="*/ 198 w 720"/>
              <a:gd name="T35" fmla="*/ 652 h 720"/>
              <a:gd name="T36" fmla="*/ 212 w 720"/>
              <a:gd name="T37" fmla="*/ 617 h 720"/>
              <a:gd name="T38" fmla="*/ 219 w 720"/>
              <a:gd name="T39" fmla="*/ 610 h 720"/>
              <a:gd name="T40" fmla="*/ 237 w 720"/>
              <a:gd name="T41" fmla="*/ 572 h 720"/>
              <a:gd name="T42" fmla="*/ 187 w 720"/>
              <a:gd name="T43" fmla="*/ 543 h 720"/>
              <a:gd name="T44" fmla="*/ 177 w 720"/>
              <a:gd name="T45" fmla="*/ 542 h 720"/>
              <a:gd name="T46" fmla="*/ 0 w 720"/>
              <a:gd name="T47" fmla="*/ 542 h 720"/>
              <a:gd name="T48" fmla="*/ 0 w 720"/>
              <a:gd name="T49" fmla="*/ 365 h 720"/>
              <a:gd name="T50" fmla="*/ 1 w 720"/>
              <a:gd name="T51" fmla="*/ 358 h 720"/>
              <a:gd name="T52" fmla="*/ 19 w 720"/>
              <a:gd name="T53" fmla="*/ 321 h 720"/>
              <a:gd name="T54" fmla="*/ 40 w 720"/>
              <a:gd name="T55" fmla="*/ 335 h 720"/>
              <a:gd name="T56" fmla="*/ 47 w 720"/>
              <a:gd name="T57" fmla="*/ 342 h 720"/>
              <a:gd name="T58" fmla="*/ 92 w 720"/>
              <a:gd name="T59" fmla="*/ 360 h 720"/>
              <a:gd name="T60" fmla="*/ 93 w 720"/>
              <a:gd name="T61" fmla="*/ 360 h 720"/>
              <a:gd name="T62" fmla="*/ 178 w 720"/>
              <a:gd name="T63" fmla="*/ 275 h 720"/>
              <a:gd name="T64" fmla="*/ 93 w 720"/>
              <a:gd name="T65" fmla="*/ 190 h 720"/>
              <a:gd name="T66" fmla="*/ 92 w 720"/>
              <a:gd name="T67" fmla="*/ 190 h 720"/>
              <a:gd name="T68" fmla="*/ 47 w 720"/>
              <a:gd name="T69" fmla="*/ 209 h 720"/>
              <a:gd name="T70" fmla="*/ 40 w 720"/>
              <a:gd name="T71" fmla="*/ 215 h 720"/>
              <a:gd name="T72" fmla="*/ 19 w 720"/>
              <a:gd name="T73" fmla="*/ 230 h 720"/>
              <a:gd name="T74" fmla="*/ 1 w 720"/>
              <a:gd name="T75" fmla="*/ 193 h 720"/>
              <a:gd name="T76" fmla="*/ 0 w 720"/>
              <a:gd name="T77" fmla="*/ 186 h 720"/>
              <a:gd name="T78" fmla="*/ 0 w 720"/>
              <a:gd name="T79" fmla="*/ 0 h 720"/>
              <a:gd name="T80" fmla="*/ 177 w 720"/>
              <a:gd name="T81" fmla="*/ 0 h 720"/>
              <a:gd name="T82" fmla="*/ 186 w 720"/>
              <a:gd name="T83" fmla="*/ 1 h 720"/>
              <a:gd name="T84" fmla="*/ 206 w 720"/>
              <a:gd name="T85" fmla="*/ 61 h 720"/>
              <a:gd name="T86" fmla="*/ 190 w 720"/>
              <a:gd name="T87" fmla="*/ 102 h 720"/>
              <a:gd name="T88" fmla="*/ 266 w 720"/>
              <a:gd name="T89" fmla="*/ 179 h 720"/>
              <a:gd name="T90" fmla="*/ 343 w 720"/>
              <a:gd name="T91" fmla="*/ 102 h 720"/>
              <a:gd name="T92" fmla="*/ 327 w 720"/>
              <a:gd name="T93" fmla="*/ 61 h 720"/>
              <a:gd name="T94" fmla="*/ 347 w 720"/>
              <a:gd name="T95" fmla="*/ 1 h 720"/>
              <a:gd name="T96" fmla="*/ 356 w 720"/>
              <a:gd name="T97" fmla="*/ 0 h 720"/>
              <a:gd name="T98" fmla="*/ 542 w 720"/>
              <a:gd name="T99" fmla="*/ 0 h 720"/>
              <a:gd name="T100" fmla="*/ 542 w 720"/>
              <a:gd name="T101" fmla="*/ 186 h 720"/>
              <a:gd name="T102" fmla="*/ 543 w 720"/>
              <a:gd name="T103" fmla="*/ 194 h 720"/>
              <a:gd name="T104" fmla="*/ 569 w 720"/>
              <a:gd name="T105" fmla="*/ 238 h 720"/>
              <a:gd name="T106" fmla="*/ 603 w 720"/>
              <a:gd name="T107" fmla="*/ 215 h 720"/>
              <a:gd name="T108" fmla="*/ 642 w 720"/>
              <a:gd name="T109" fmla="*/ 199 h 720"/>
              <a:gd name="T110" fmla="*/ 643 w 720"/>
              <a:gd name="T111" fmla="*/ 199 h 720"/>
              <a:gd name="T112" fmla="*/ 720 w 720"/>
              <a:gd name="T113" fmla="*/ 275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275"/>
                </a:moveTo>
                <a:cubicBezTo>
                  <a:pt x="720" y="318"/>
                  <a:pt x="686" y="352"/>
                  <a:pt x="643" y="352"/>
                </a:cubicBezTo>
                <a:cubicBezTo>
                  <a:pt x="643" y="352"/>
                  <a:pt x="643" y="352"/>
                  <a:pt x="643" y="352"/>
                </a:cubicBezTo>
                <a:cubicBezTo>
                  <a:pt x="639" y="352"/>
                  <a:pt x="621" y="351"/>
                  <a:pt x="603" y="336"/>
                </a:cubicBezTo>
                <a:cubicBezTo>
                  <a:pt x="592" y="327"/>
                  <a:pt x="580" y="313"/>
                  <a:pt x="569" y="313"/>
                </a:cubicBezTo>
                <a:cubicBezTo>
                  <a:pt x="559" y="313"/>
                  <a:pt x="550" y="323"/>
                  <a:pt x="543" y="356"/>
                </a:cubicBezTo>
                <a:cubicBezTo>
                  <a:pt x="542" y="359"/>
                  <a:pt x="542" y="362"/>
                  <a:pt x="542" y="365"/>
                </a:cubicBezTo>
                <a:cubicBezTo>
                  <a:pt x="542" y="542"/>
                  <a:pt x="542" y="542"/>
                  <a:pt x="542" y="542"/>
                </a:cubicBezTo>
                <a:cubicBezTo>
                  <a:pt x="542" y="542"/>
                  <a:pt x="542" y="542"/>
                  <a:pt x="542" y="542"/>
                </a:cubicBezTo>
                <a:cubicBezTo>
                  <a:pt x="356" y="542"/>
                  <a:pt x="356" y="542"/>
                  <a:pt x="356" y="542"/>
                </a:cubicBezTo>
                <a:cubicBezTo>
                  <a:pt x="352" y="542"/>
                  <a:pt x="349" y="543"/>
                  <a:pt x="345" y="543"/>
                </a:cubicBezTo>
                <a:cubicBezTo>
                  <a:pt x="315" y="550"/>
                  <a:pt x="300" y="559"/>
                  <a:pt x="296" y="572"/>
                </a:cubicBezTo>
                <a:cubicBezTo>
                  <a:pt x="292" y="586"/>
                  <a:pt x="304" y="599"/>
                  <a:pt x="314" y="610"/>
                </a:cubicBezTo>
                <a:cubicBezTo>
                  <a:pt x="316" y="613"/>
                  <a:pt x="318" y="615"/>
                  <a:pt x="320" y="617"/>
                </a:cubicBezTo>
                <a:cubicBezTo>
                  <a:pt x="335" y="634"/>
                  <a:pt x="335" y="651"/>
                  <a:pt x="335" y="652"/>
                </a:cubicBezTo>
                <a:cubicBezTo>
                  <a:pt x="335" y="690"/>
                  <a:pt x="304" y="720"/>
                  <a:pt x="266" y="720"/>
                </a:cubicBezTo>
                <a:cubicBezTo>
                  <a:pt x="229" y="720"/>
                  <a:pt x="198" y="690"/>
                  <a:pt x="198" y="652"/>
                </a:cubicBezTo>
                <a:cubicBezTo>
                  <a:pt x="198" y="652"/>
                  <a:pt x="198" y="652"/>
                  <a:pt x="198" y="652"/>
                </a:cubicBezTo>
                <a:cubicBezTo>
                  <a:pt x="198" y="651"/>
                  <a:pt x="197" y="634"/>
                  <a:pt x="212" y="617"/>
                </a:cubicBezTo>
                <a:cubicBezTo>
                  <a:pt x="214" y="615"/>
                  <a:pt x="216" y="613"/>
                  <a:pt x="219" y="610"/>
                </a:cubicBezTo>
                <a:cubicBezTo>
                  <a:pt x="229" y="599"/>
                  <a:pt x="241" y="586"/>
                  <a:pt x="237" y="572"/>
                </a:cubicBezTo>
                <a:cubicBezTo>
                  <a:pt x="233" y="559"/>
                  <a:pt x="217" y="550"/>
                  <a:pt x="187" y="543"/>
                </a:cubicBezTo>
                <a:cubicBezTo>
                  <a:pt x="184" y="543"/>
                  <a:pt x="180" y="542"/>
                  <a:pt x="177" y="542"/>
                </a:cubicBezTo>
                <a:cubicBezTo>
                  <a:pt x="0" y="542"/>
                  <a:pt x="0" y="542"/>
                  <a:pt x="0" y="542"/>
                </a:cubicBezTo>
                <a:cubicBezTo>
                  <a:pt x="0" y="365"/>
                  <a:pt x="0" y="365"/>
                  <a:pt x="0" y="365"/>
                </a:cubicBezTo>
                <a:cubicBezTo>
                  <a:pt x="0" y="363"/>
                  <a:pt x="0" y="360"/>
                  <a:pt x="1" y="358"/>
                </a:cubicBezTo>
                <a:cubicBezTo>
                  <a:pt x="8" y="324"/>
                  <a:pt x="17" y="321"/>
                  <a:pt x="19" y="321"/>
                </a:cubicBezTo>
                <a:cubicBezTo>
                  <a:pt x="24" y="321"/>
                  <a:pt x="33" y="329"/>
                  <a:pt x="40" y="335"/>
                </a:cubicBezTo>
                <a:cubicBezTo>
                  <a:pt x="42" y="338"/>
                  <a:pt x="45" y="340"/>
                  <a:pt x="47" y="342"/>
                </a:cubicBezTo>
                <a:cubicBezTo>
                  <a:pt x="67" y="359"/>
                  <a:pt x="87" y="360"/>
                  <a:pt x="92" y="360"/>
                </a:cubicBezTo>
                <a:cubicBezTo>
                  <a:pt x="93" y="360"/>
                  <a:pt x="93" y="360"/>
                  <a:pt x="93" y="360"/>
                </a:cubicBezTo>
                <a:cubicBezTo>
                  <a:pt x="140" y="360"/>
                  <a:pt x="178" y="322"/>
                  <a:pt x="178" y="275"/>
                </a:cubicBezTo>
                <a:cubicBezTo>
                  <a:pt x="178" y="229"/>
                  <a:pt x="140" y="190"/>
                  <a:pt x="93" y="190"/>
                </a:cubicBezTo>
                <a:cubicBezTo>
                  <a:pt x="92" y="190"/>
                  <a:pt x="92" y="190"/>
                  <a:pt x="92" y="190"/>
                </a:cubicBezTo>
                <a:cubicBezTo>
                  <a:pt x="87" y="190"/>
                  <a:pt x="67" y="192"/>
                  <a:pt x="47" y="209"/>
                </a:cubicBezTo>
                <a:cubicBezTo>
                  <a:pt x="45" y="211"/>
                  <a:pt x="42" y="213"/>
                  <a:pt x="40" y="215"/>
                </a:cubicBezTo>
                <a:cubicBezTo>
                  <a:pt x="33" y="222"/>
                  <a:pt x="24" y="230"/>
                  <a:pt x="19" y="230"/>
                </a:cubicBezTo>
                <a:cubicBezTo>
                  <a:pt x="17" y="230"/>
                  <a:pt x="8" y="227"/>
                  <a:pt x="1" y="193"/>
                </a:cubicBezTo>
                <a:cubicBezTo>
                  <a:pt x="0" y="190"/>
                  <a:pt x="0" y="188"/>
                  <a:pt x="0" y="186"/>
                </a:cubicBezTo>
                <a:cubicBezTo>
                  <a:pt x="0" y="0"/>
                  <a:pt x="0" y="0"/>
                  <a:pt x="0" y="0"/>
                </a:cubicBezTo>
                <a:cubicBezTo>
                  <a:pt x="177" y="0"/>
                  <a:pt x="177" y="0"/>
                  <a:pt x="177" y="0"/>
                </a:cubicBezTo>
                <a:cubicBezTo>
                  <a:pt x="180" y="0"/>
                  <a:pt x="183" y="1"/>
                  <a:pt x="186" y="1"/>
                </a:cubicBezTo>
                <a:cubicBezTo>
                  <a:pt x="257" y="18"/>
                  <a:pt x="223" y="42"/>
                  <a:pt x="206" y="61"/>
                </a:cubicBezTo>
                <a:cubicBezTo>
                  <a:pt x="189" y="82"/>
                  <a:pt x="190" y="102"/>
                  <a:pt x="190" y="102"/>
                </a:cubicBezTo>
                <a:cubicBezTo>
                  <a:pt x="190" y="144"/>
                  <a:pt x="224" y="179"/>
                  <a:pt x="266" y="179"/>
                </a:cubicBezTo>
                <a:cubicBezTo>
                  <a:pt x="309" y="179"/>
                  <a:pt x="343" y="144"/>
                  <a:pt x="343" y="102"/>
                </a:cubicBezTo>
                <a:cubicBezTo>
                  <a:pt x="343" y="102"/>
                  <a:pt x="344" y="82"/>
                  <a:pt x="327" y="61"/>
                </a:cubicBezTo>
                <a:cubicBezTo>
                  <a:pt x="310" y="42"/>
                  <a:pt x="276" y="18"/>
                  <a:pt x="347" y="1"/>
                </a:cubicBezTo>
                <a:cubicBezTo>
                  <a:pt x="350" y="1"/>
                  <a:pt x="353" y="0"/>
                  <a:pt x="356" y="0"/>
                </a:cubicBezTo>
                <a:cubicBezTo>
                  <a:pt x="542" y="0"/>
                  <a:pt x="542" y="0"/>
                  <a:pt x="542" y="0"/>
                </a:cubicBezTo>
                <a:cubicBezTo>
                  <a:pt x="542" y="186"/>
                  <a:pt x="542" y="186"/>
                  <a:pt x="542" y="186"/>
                </a:cubicBezTo>
                <a:cubicBezTo>
                  <a:pt x="542" y="189"/>
                  <a:pt x="542" y="192"/>
                  <a:pt x="543" y="194"/>
                </a:cubicBezTo>
                <a:cubicBezTo>
                  <a:pt x="550" y="228"/>
                  <a:pt x="559" y="238"/>
                  <a:pt x="569" y="238"/>
                </a:cubicBezTo>
                <a:cubicBezTo>
                  <a:pt x="580" y="238"/>
                  <a:pt x="592" y="224"/>
                  <a:pt x="603" y="215"/>
                </a:cubicBezTo>
                <a:cubicBezTo>
                  <a:pt x="620" y="200"/>
                  <a:pt x="638" y="199"/>
                  <a:pt x="642" y="199"/>
                </a:cubicBezTo>
                <a:cubicBezTo>
                  <a:pt x="643" y="199"/>
                  <a:pt x="643" y="199"/>
                  <a:pt x="643" y="199"/>
                </a:cubicBezTo>
                <a:cubicBezTo>
                  <a:pt x="686" y="199"/>
                  <a:pt x="720" y="233"/>
                  <a:pt x="720" y="2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47" name="Freeform 6"/>
          <p:cNvSpPr/>
          <p:nvPr/>
        </p:nvSpPr>
        <p:spPr bwMode="auto">
          <a:xfrm rot="18900000">
            <a:off x="3870797" y="3405712"/>
            <a:ext cx="1750101" cy="1746988"/>
          </a:xfrm>
          <a:custGeom>
            <a:avLst/>
            <a:gdLst>
              <a:gd name="T0" fmla="*/ 720 w 721"/>
              <a:gd name="T1" fmla="*/ 356 h 720"/>
              <a:gd name="T2" fmla="*/ 721 w 721"/>
              <a:gd name="T3" fmla="*/ 542 h 720"/>
              <a:gd name="T4" fmla="*/ 535 w 721"/>
              <a:gd name="T5" fmla="*/ 542 h 720"/>
              <a:gd name="T6" fmla="*/ 526 w 721"/>
              <a:gd name="T7" fmla="*/ 543 h 720"/>
              <a:gd name="T8" fmla="*/ 506 w 721"/>
              <a:gd name="T9" fmla="*/ 603 h 720"/>
              <a:gd name="T10" fmla="*/ 522 w 721"/>
              <a:gd name="T11" fmla="*/ 643 h 720"/>
              <a:gd name="T12" fmla="*/ 445 w 721"/>
              <a:gd name="T13" fmla="*/ 720 h 720"/>
              <a:gd name="T14" fmla="*/ 369 w 721"/>
              <a:gd name="T15" fmla="*/ 643 h 720"/>
              <a:gd name="T16" fmla="*/ 385 w 721"/>
              <a:gd name="T17" fmla="*/ 603 h 720"/>
              <a:gd name="T18" fmla="*/ 365 w 721"/>
              <a:gd name="T19" fmla="*/ 543 h 720"/>
              <a:gd name="T20" fmla="*/ 356 w 721"/>
              <a:gd name="T21" fmla="*/ 542 h 720"/>
              <a:gd name="T22" fmla="*/ 179 w 721"/>
              <a:gd name="T23" fmla="*/ 542 h 720"/>
              <a:gd name="T24" fmla="*/ 179 w 721"/>
              <a:gd name="T25" fmla="*/ 356 h 720"/>
              <a:gd name="T26" fmla="*/ 177 w 721"/>
              <a:gd name="T27" fmla="*/ 346 h 720"/>
              <a:gd name="T28" fmla="*/ 143 w 721"/>
              <a:gd name="T29" fmla="*/ 296 h 720"/>
              <a:gd name="T30" fmla="*/ 110 w 721"/>
              <a:gd name="T31" fmla="*/ 314 h 720"/>
              <a:gd name="T32" fmla="*/ 104 w 721"/>
              <a:gd name="T33" fmla="*/ 321 h 720"/>
              <a:gd name="T34" fmla="*/ 69 w 721"/>
              <a:gd name="T35" fmla="*/ 335 h 720"/>
              <a:gd name="T36" fmla="*/ 68 w 721"/>
              <a:gd name="T37" fmla="*/ 335 h 720"/>
              <a:gd name="T38" fmla="*/ 0 w 721"/>
              <a:gd name="T39" fmla="*/ 267 h 720"/>
              <a:gd name="T40" fmla="*/ 68 w 721"/>
              <a:gd name="T41" fmla="*/ 198 h 720"/>
              <a:gd name="T42" fmla="*/ 69 w 721"/>
              <a:gd name="T43" fmla="*/ 198 h 720"/>
              <a:gd name="T44" fmla="*/ 82 w 721"/>
              <a:gd name="T45" fmla="*/ 200 h 720"/>
              <a:gd name="T46" fmla="*/ 104 w 721"/>
              <a:gd name="T47" fmla="*/ 213 h 720"/>
              <a:gd name="T48" fmla="*/ 110 w 721"/>
              <a:gd name="T49" fmla="*/ 219 h 720"/>
              <a:gd name="T50" fmla="*/ 143 w 721"/>
              <a:gd name="T51" fmla="*/ 238 h 720"/>
              <a:gd name="T52" fmla="*/ 177 w 721"/>
              <a:gd name="T53" fmla="*/ 188 h 720"/>
              <a:gd name="T54" fmla="*/ 179 w 721"/>
              <a:gd name="T55" fmla="*/ 177 h 720"/>
              <a:gd name="T56" fmla="*/ 179 w 721"/>
              <a:gd name="T57" fmla="*/ 0 h 720"/>
              <a:gd name="T58" fmla="*/ 179 w 721"/>
              <a:gd name="T59" fmla="*/ 0 h 720"/>
              <a:gd name="T60" fmla="*/ 179 w 721"/>
              <a:gd name="T61" fmla="*/ 0 h 720"/>
              <a:gd name="T62" fmla="*/ 356 w 721"/>
              <a:gd name="T63" fmla="*/ 0 h 720"/>
              <a:gd name="T64" fmla="*/ 363 w 721"/>
              <a:gd name="T65" fmla="*/ 1 h 720"/>
              <a:gd name="T66" fmla="*/ 400 w 721"/>
              <a:gd name="T67" fmla="*/ 18 h 720"/>
              <a:gd name="T68" fmla="*/ 386 w 721"/>
              <a:gd name="T69" fmla="*/ 40 h 720"/>
              <a:gd name="T70" fmla="*/ 379 w 721"/>
              <a:gd name="T71" fmla="*/ 47 h 720"/>
              <a:gd name="T72" fmla="*/ 360 w 721"/>
              <a:gd name="T73" fmla="*/ 93 h 720"/>
              <a:gd name="T74" fmla="*/ 445 w 721"/>
              <a:gd name="T75" fmla="*/ 178 h 720"/>
              <a:gd name="T76" fmla="*/ 530 w 721"/>
              <a:gd name="T77" fmla="*/ 93 h 720"/>
              <a:gd name="T78" fmla="*/ 512 w 721"/>
              <a:gd name="T79" fmla="*/ 47 h 720"/>
              <a:gd name="T80" fmla="*/ 505 w 721"/>
              <a:gd name="T81" fmla="*/ 40 h 720"/>
              <a:gd name="T82" fmla="*/ 491 w 721"/>
              <a:gd name="T83" fmla="*/ 18 h 720"/>
              <a:gd name="T84" fmla="*/ 528 w 721"/>
              <a:gd name="T85" fmla="*/ 1 h 720"/>
              <a:gd name="T86" fmla="*/ 535 w 721"/>
              <a:gd name="T87" fmla="*/ 0 h 720"/>
              <a:gd name="T88" fmla="*/ 721 w 721"/>
              <a:gd name="T89" fmla="*/ 0 h 720"/>
              <a:gd name="T90" fmla="*/ 720 w 721"/>
              <a:gd name="T91" fmla="*/ 177 h 720"/>
              <a:gd name="T92" fmla="*/ 719 w 721"/>
              <a:gd name="T93" fmla="*/ 186 h 720"/>
              <a:gd name="T94" fmla="*/ 693 w 721"/>
              <a:gd name="T95" fmla="*/ 229 h 720"/>
              <a:gd name="T96" fmla="*/ 659 w 721"/>
              <a:gd name="T97" fmla="*/ 206 h 720"/>
              <a:gd name="T98" fmla="*/ 620 w 721"/>
              <a:gd name="T99" fmla="*/ 190 h 720"/>
              <a:gd name="T100" fmla="*/ 619 w 721"/>
              <a:gd name="T101" fmla="*/ 190 h 720"/>
              <a:gd name="T102" fmla="*/ 542 w 721"/>
              <a:gd name="T103" fmla="*/ 267 h 720"/>
              <a:gd name="T104" fmla="*/ 619 w 721"/>
              <a:gd name="T105" fmla="*/ 343 h 720"/>
              <a:gd name="T106" fmla="*/ 620 w 721"/>
              <a:gd name="T107" fmla="*/ 343 h 720"/>
              <a:gd name="T108" fmla="*/ 659 w 721"/>
              <a:gd name="T109" fmla="*/ 327 h 720"/>
              <a:gd name="T110" fmla="*/ 693 w 721"/>
              <a:gd name="T111" fmla="*/ 304 h 720"/>
              <a:gd name="T112" fmla="*/ 719 w 721"/>
              <a:gd name="T113" fmla="*/ 348 h 720"/>
              <a:gd name="T114" fmla="*/ 720 w 721"/>
              <a:gd name="T115" fmla="*/ 356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1" h="720">
                <a:moveTo>
                  <a:pt x="720" y="356"/>
                </a:moveTo>
                <a:cubicBezTo>
                  <a:pt x="721" y="542"/>
                  <a:pt x="721" y="542"/>
                  <a:pt x="721" y="542"/>
                </a:cubicBezTo>
                <a:cubicBezTo>
                  <a:pt x="535" y="542"/>
                  <a:pt x="535" y="542"/>
                  <a:pt x="535" y="542"/>
                </a:cubicBezTo>
                <a:cubicBezTo>
                  <a:pt x="532" y="542"/>
                  <a:pt x="529" y="542"/>
                  <a:pt x="526" y="543"/>
                </a:cubicBezTo>
                <a:cubicBezTo>
                  <a:pt x="455" y="559"/>
                  <a:pt x="489" y="583"/>
                  <a:pt x="506" y="603"/>
                </a:cubicBezTo>
                <a:cubicBezTo>
                  <a:pt x="523" y="623"/>
                  <a:pt x="522" y="643"/>
                  <a:pt x="522" y="643"/>
                </a:cubicBezTo>
                <a:cubicBezTo>
                  <a:pt x="522" y="686"/>
                  <a:pt x="488" y="720"/>
                  <a:pt x="445" y="720"/>
                </a:cubicBezTo>
                <a:cubicBezTo>
                  <a:pt x="403" y="720"/>
                  <a:pt x="369" y="686"/>
                  <a:pt x="369" y="643"/>
                </a:cubicBezTo>
                <a:cubicBezTo>
                  <a:pt x="369" y="643"/>
                  <a:pt x="368" y="623"/>
                  <a:pt x="385" y="603"/>
                </a:cubicBezTo>
                <a:cubicBezTo>
                  <a:pt x="402" y="583"/>
                  <a:pt x="436" y="559"/>
                  <a:pt x="365" y="543"/>
                </a:cubicBezTo>
                <a:cubicBezTo>
                  <a:pt x="362" y="542"/>
                  <a:pt x="359" y="542"/>
                  <a:pt x="356" y="542"/>
                </a:cubicBezTo>
                <a:cubicBezTo>
                  <a:pt x="179" y="542"/>
                  <a:pt x="179" y="542"/>
                  <a:pt x="179" y="542"/>
                </a:cubicBezTo>
                <a:cubicBezTo>
                  <a:pt x="179" y="356"/>
                  <a:pt x="179" y="356"/>
                  <a:pt x="179" y="356"/>
                </a:cubicBezTo>
                <a:cubicBezTo>
                  <a:pt x="179" y="353"/>
                  <a:pt x="178" y="349"/>
                  <a:pt x="177" y="346"/>
                </a:cubicBezTo>
                <a:cubicBezTo>
                  <a:pt x="172" y="322"/>
                  <a:pt x="163" y="296"/>
                  <a:pt x="143" y="296"/>
                </a:cubicBezTo>
                <a:cubicBezTo>
                  <a:pt x="131" y="296"/>
                  <a:pt x="120" y="305"/>
                  <a:pt x="110" y="314"/>
                </a:cubicBezTo>
                <a:cubicBezTo>
                  <a:pt x="108" y="317"/>
                  <a:pt x="106" y="319"/>
                  <a:pt x="104" y="321"/>
                </a:cubicBezTo>
                <a:cubicBezTo>
                  <a:pt x="88" y="334"/>
                  <a:pt x="72" y="335"/>
                  <a:pt x="69" y="335"/>
                </a:cubicBezTo>
                <a:cubicBezTo>
                  <a:pt x="68" y="335"/>
                  <a:pt x="68" y="335"/>
                  <a:pt x="68" y="335"/>
                </a:cubicBezTo>
                <a:cubicBezTo>
                  <a:pt x="31" y="335"/>
                  <a:pt x="0" y="304"/>
                  <a:pt x="0" y="267"/>
                </a:cubicBezTo>
                <a:cubicBezTo>
                  <a:pt x="0" y="229"/>
                  <a:pt x="31" y="198"/>
                  <a:pt x="68" y="198"/>
                </a:cubicBezTo>
                <a:cubicBezTo>
                  <a:pt x="69" y="198"/>
                  <a:pt x="69" y="198"/>
                  <a:pt x="69" y="198"/>
                </a:cubicBezTo>
                <a:cubicBezTo>
                  <a:pt x="71" y="198"/>
                  <a:pt x="75" y="199"/>
                  <a:pt x="82" y="200"/>
                </a:cubicBezTo>
                <a:cubicBezTo>
                  <a:pt x="88" y="202"/>
                  <a:pt x="96" y="206"/>
                  <a:pt x="104" y="213"/>
                </a:cubicBezTo>
                <a:cubicBezTo>
                  <a:pt x="106" y="215"/>
                  <a:pt x="108" y="217"/>
                  <a:pt x="110" y="219"/>
                </a:cubicBezTo>
                <a:cubicBezTo>
                  <a:pt x="120" y="228"/>
                  <a:pt x="131" y="238"/>
                  <a:pt x="143" y="238"/>
                </a:cubicBezTo>
                <a:cubicBezTo>
                  <a:pt x="163" y="238"/>
                  <a:pt x="172" y="211"/>
                  <a:pt x="177" y="188"/>
                </a:cubicBezTo>
                <a:cubicBezTo>
                  <a:pt x="178" y="184"/>
                  <a:pt x="179" y="181"/>
                  <a:pt x="179" y="177"/>
                </a:cubicBezTo>
                <a:cubicBezTo>
                  <a:pt x="179" y="0"/>
                  <a:pt x="179" y="0"/>
                  <a:pt x="179" y="0"/>
                </a:cubicBezTo>
                <a:cubicBezTo>
                  <a:pt x="179" y="0"/>
                  <a:pt x="179" y="0"/>
                  <a:pt x="179" y="0"/>
                </a:cubicBezTo>
                <a:cubicBezTo>
                  <a:pt x="179" y="0"/>
                  <a:pt x="179" y="0"/>
                  <a:pt x="179" y="0"/>
                </a:cubicBezTo>
                <a:cubicBezTo>
                  <a:pt x="356" y="0"/>
                  <a:pt x="356" y="0"/>
                  <a:pt x="356" y="0"/>
                </a:cubicBezTo>
                <a:cubicBezTo>
                  <a:pt x="358" y="0"/>
                  <a:pt x="360" y="0"/>
                  <a:pt x="363" y="1"/>
                </a:cubicBezTo>
                <a:cubicBezTo>
                  <a:pt x="394" y="8"/>
                  <a:pt x="399" y="16"/>
                  <a:pt x="400" y="18"/>
                </a:cubicBezTo>
                <a:cubicBezTo>
                  <a:pt x="401" y="23"/>
                  <a:pt x="392" y="33"/>
                  <a:pt x="386" y="40"/>
                </a:cubicBezTo>
                <a:cubicBezTo>
                  <a:pt x="383" y="42"/>
                  <a:pt x="381" y="45"/>
                  <a:pt x="379" y="47"/>
                </a:cubicBezTo>
                <a:cubicBezTo>
                  <a:pt x="360" y="69"/>
                  <a:pt x="360" y="90"/>
                  <a:pt x="360" y="93"/>
                </a:cubicBezTo>
                <a:cubicBezTo>
                  <a:pt x="360" y="140"/>
                  <a:pt x="399" y="178"/>
                  <a:pt x="445" y="178"/>
                </a:cubicBezTo>
                <a:cubicBezTo>
                  <a:pt x="492" y="178"/>
                  <a:pt x="530" y="140"/>
                  <a:pt x="530" y="93"/>
                </a:cubicBezTo>
                <a:cubicBezTo>
                  <a:pt x="530" y="90"/>
                  <a:pt x="531" y="68"/>
                  <a:pt x="512" y="47"/>
                </a:cubicBezTo>
                <a:cubicBezTo>
                  <a:pt x="510" y="45"/>
                  <a:pt x="508" y="42"/>
                  <a:pt x="505" y="40"/>
                </a:cubicBezTo>
                <a:cubicBezTo>
                  <a:pt x="499" y="33"/>
                  <a:pt x="490" y="23"/>
                  <a:pt x="491" y="18"/>
                </a:cubicBezTo>
                <a:cubicBezTo>
                  <a:pt x="492" y="16"/>
                  <a:pt x="497" y="8"/>
                  <a:pt x="528" y="1"/>
                </a:cubicBezTo>
                <a:cubicBezTo>
                  <a:pt x="530" y="0"/>
                  <a:pt x="533" y="0"/>
                  <a:pt x="535" y="0"/>
                </a:cubicBezTo>
                <a:cubicBezTo>
                  <a:pt x="721" y="0"/>
                  <a:pt x="721" y="0"/>
                  <a:pt x="721" y="0"/>
                </a:cubicBezTo>
                <a:cubicBezTo>
                  <a:pt x="720" y="177"/>
                  <a:pt x="720" y="177"/>
                  <a:pt x="720" y="177"/>
                </a:cubicBezTo>
                <a:cubicBezTo>
                  <a:pt x="720" y="180"/>
                  <a:pt x="720" y="183"/>
                  <a:pt x="719" y="186"/>
                </a:cubicBezTo>
                <a:cubicBezTo>
                  <a:pt x="712" y="219"/>
                  <a:pt x="703" y="229"/>
                  <a:pt x="693" y="229"/>
                </a:cubicBezTo>
                <a:cubicBezTo>
                  <a:pt x="682" y="229"/>
                  <a:pt x="670" y="215"/>
                  <a:pt x="659" y="206"/>
                </a:cubicBezTo>
                <a:cubicBezTo>
                  <a:pt x="642" y="191"/>
                  <a:pt x="624" y="190"/>
                  <a:pt x="620" y="190"/>
                </a:cubicBezTo>
                <a:cubicBezTo>
                  <a:pt x="619" y="190"/>
                  <a:pt x="619" y="190"/>
                  <a:pt x="619" y="190"/>
                </a:cubicBezTo>
                <a:cubicBezTo>
                  <a:pt x="576" y="190"/>
                  <a:pt x="542" y="224"/>
                  <a:pt x="542" y="267"/>
                </a:cubicBezTo>
                <a:cubicBezTo>
                  <a:pt x="542" y="309"/>
                  <a:pt x="576" y="343"/>
                  <a:pt x="619" y="343"/>
                </a:cubicBezTo>
                <a:cubicBezTo>
                  <a:pt x="619" y="343"/>
                  <a:pt x="619" y="343"/>
                  <a:pt x="620" y="343"/>
                </a:cubicBezTo>
                <a:cubicBezTo>
                  <a:pt x="623" y="343"/>
                  <a:pt x="641" y="342"/>
                  <a:pt x="659" y="327"/>
                </a:cubicBezTo>
                <a:cubicBezTo>
                  <a:pt x="670" y="318"/>
                  <a:pt x="682" y="304"/>
                  <a:pt x="693" y="304"/>
                </a:cubicBezTo>
                <a:cubicBezTo>
                  <a:pt x="703" y="304"/>
                  <a:pt x="712" y="314"/>
                  <a:pt x="719" y="348"/>
                </a:cubicBezTo>
                <a:cubicBezTo>
                  <a:pt x="720" y="350"/>
                  <a:pt x="720" y="353"/>
                  <a:pt x="720" y="3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58" name="Freeform 5"/>
          <p:cNvSpPr/>
          <p:nvPr/>
        </p:nvSpPr>
        <p:spPr bwMode="auto">
          <a:xfrm rot="18900000">
            <a:off x="2608421" y="4059699"/>
            <a:ext cx="1746988" cy="1746988"/>
          </a:xfrm>
          <a:custGeom>
            <a:avLst/>
            <a:gdLst>
              <a:gd name="T0" fmla="*/ 720 w 720"/>
              <a:gd name="T1" fmla="*/ 534 h 720"/>
              <a:gd name="T2" fmla="*/ 720 w 720"/>
              <a:gd name="T3" fmla="*/ 720 h 720"/>
              <a:gd name="T4" fmla="*/ 720 w 720"/>
              <a:gd name="T5" fmla="*/ 720 h 720"/>
              <a:gd name="T6" fmla="*/ 543 w 720"/>
              <a:gd name="T7" fmla="*/ 720 h 720"/>
              <a:gd name="T8" fmla="*/ 534 w 720"/>
              <a:gd name="T9" fmla="*/ 719 h 720"/>
              <a:gd name="T10" fmla="*/ 513 w 720"/>
              <a:gd name="T11" fmla="*/ 659 h 720"/>
              <a:gd name="T12" fmla="*/ 530 w 720"/>
              <a:gd name="T13" fmla="*/ 618 h 720"/>
              <a:gd name="T14" fmla="*/ 453 w 720"/>
              <a:gd name="T15" fmla="*/ 541 h 720"/>
              <a:gd name="T16" fmla="*/ 376 w 720"/>
              <a:gd name="T17" fmla="*/ 618 h 720"/>
              <a:gd name="T18" fmla="*/ 393 w 720"/>
              <a:gd name="T19" fmla="*/ 659 h 720"/>
              <a:gd name="T20" fmla="*/ 372 w 720"/>
              <a:gd name="T21" fmla="*/ 719 h 720"/>
              <a:gd name="T22" fmla="*/ 363 w 720"/>
              <a:gd name="T23" fmla="*/ 720 h 720"/>
              <a:gd name="T24" fmla="*/ 178 w 720"/>
              <a:gd name="T25" fmla="*/ 720 h 720"/>
              <a:gd name="T26" fmla="*/ 178 w 720"/>
              <a:gd name="T27" fmla="*/ 534 h 720"/>
              <a:gd name="T28" fmla="*/ 177 w 720"/>
              <a:gd name="T29" fmla="*/ 526 h 720"/>
              <a:gd name="T30" fmla="*/ 150 w 720"/>
              <a:gd name="T31" fmla="*/ 482 h 720"/>
              <a:gd name="T32" fmla="*/ 117 w 720"/>
              <a:gd name="T33" fmla="*/ 505 h 720"/>
              <a:gd name="T34" fmla="*/ 77 w 720"/>
              <a:gd name="T35" fmla="*/ 521 h 720"/>
              <a:gd name="T36" fmla="*/ 76 w 720"/>
              <a:gd name="T37" fmla="*/ 521 h 720"/>
              <a:gd name="T38" fmla="*/ 0 w 720"/>
              <a:gd name="T39" fmla="*/ 445 h 720"/>
              <a:gd name="T40" fmla="*/ 76 w 720"/>
              <a:gd name="T41" fmla="*/ 368 h 720"/>
              <a:gd name="T42" fmla="*/ 77 w 720"/>
              <a:gd name="T43" fmla="*/ 368 h 720"/>
              <a:gd name="T44" fmla="*/ 117 w 720"/>
              <a:gd name="T45" fmla="*/ 384 h 720"/>
              <a:gd name="T46" fmla="*/ 150 w 720"/>
              <a:gd name="T47" fmla="*/ 407 h 720"/>
              <a:gd name="T48" fmla="*/ 177 w 720"/>
              <a:gd name="T49" fmla="*/ 364 h 720"/>
              <a:gd name="T50" fmla="*/ 178 w 720"/>
              <a:gd name="T51" fmla="*/ 355 h 720"/>
              <a:gd name="T52" fmla="*/ 178 w 720"/>
              <a:gd name="T53" fmla="*/ 178 h 720"/>
              <a:gd name="T54" fmla="*/ 363 w 720"/>
              <a:gd name="T55" fmla="*/ 178 h 720"/>
              <a:gd name="T56" fmla="*/ 374 w 720"/>
              <a:gd name="T57" fmla="*/ 177 h 720"/>
              <a:gd name="T58" fmla="*/ 423 w 720"/>
              <a:gd name="T59" fmla="*/ 148 h 720"/>
              <a:gd name="T60" fmla="*/ 405 w 720"/>
              <a:gd name="T61" fmla="*/ 110 h 720"/>
              <a:gd name="T62" fmla="*/ 399 w 720"/>
              <a:gd name="T63" fmla="*/ 103 h 720"/>
              <a:gd name="T64" fmla="*/ 385 w 720"/>
              <a:gd name="T65" fmla="*/ 68 h 720"/>
              <a:gd name="T66" fmla="*/ 453 w 720"/>
              <a:gd name="T67" fmla="*/ 0 h 720"/>
              <a:gd name="T68" fmla="*/ 521 w 720"/>
              <a:gd name="T69" fmla="*/ 68 h 720"/>
              <a:gd name="T70" fmla="*/ 521 w 720"/>
              <a:gd name="T71" fmla="*/ 68 h 720"/>
              <a:gd name="T72" fmla="*/ 507 w 720"/>
              <a:gd name="T73" fmla="*/ 103 h 720"/>
              <a:gd name="T74" fmla="*/ 501 w 720"/>
              <a:gd name="T75" fmla="*/ 110 h 720"/>
              <a:gd name="T76" fmla="*/ 483 w 720"/>
              <a:gd name="T77" fmla="*/ 148 h 720"/>
              <a:gd name="T78" fmla="*/ 532 w 720"/>
              <a:gd name="T79" fmla="*/ 177 h 720"/>
              <a:gd name="T80" fmla="*/ 543 w 720"/>
              <a:gd name="T81" fmla="*/ 178 h 720"/>
              <a:gd name="T82" fmla="*/ 720 w 720"/>
              <a:gd name="T83" fmla="*/ 178 h 720"/>
              <a:gd name="T84" fmla="*/ 720 w 720"/>
              <a:gd name="T85" fmla="*/ 355 h 720"/>
              <a:gd name="T86" fmla="*/ 719 w 720"/>
              <a:gd name="T87" fmla="*/ 362 h 720"/>
              <a:gd name="T88" fmla="*/ 701 w 720"/>
              <a:gd name="T89" fmla="*/ 399 h 720"/>
              <a:gd name="T90" fmla="*/ 680 w 720"/>
              <a:gd name="T91" fmla="*/ 385 h 720"/>
              <a:gd name="T92" fmla="*/ 672 w 720"/>
              <a:gd name="T93" fmla="*/ 378 h 720"/>
              <a:gd name="T94" fmla="*/ 627 w 720"/>
              <a:gd name="T95" fmla="*/ 360 h 720"/>
              <a:gd name="T96" fmla="*/ 626 w 720"/>
              <a:gd name="T97" fmla="*/ 360 h 720"/>
              <a:gd name="T98" fmla="*/ 541 w 720"/>
              <a:gd name="T99" fmla="*/ 445 h 720"/>
              <a:gd name="T100" fmla="*/ 626 w 720"/>
              <a:gd name="T101" fmla="*/ 530 h 720"/>
              <a:gd name="T102" fmla="*/ 627 w 720"/>
              <a:gd name="T103" fmla="*/ 530 h 720"/>
              <a:gd name="T104" fmla="*/ 673 w 720"/>
              <a:gd name="T105" fmla="*/ 511 h 720"/>
              <a:gd name="T106" fmla="*/ 680 w 720"/>
              <a:gd name="T107" fmla="*/ 505 h 720"/>
              <a:gd name="T108" fmla="*/ 701 w 720"/>
              <a:gd name="T109" fmla="*/ 490 h 720"/>
              <a:gd name="T110" fmla="*/ 719 w 720"/>
              <a:gd name="T111" fmla="*/ 527 h 720"/>
              <a:gd name="T112" fmla="*/ 720 w 720"/>
              <a:gd name="T113" fmla="*/ 53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534"/>
                </a:moveTo>
                <a:cubicBezTo>
                  <a:pt x="720" y="720"/>
                  <a:pt x="720" y="720"/>
                  <a:pt x="720" y="720"/>
                </a:cubicBezTo>
                <a:cubicBezTo>
                  <a:pt x="720" y="720"/>
                  <a:pt x="720" y="720"/>
                  <a:pt x="720" y="720"/>
                </a:cubicBezTo>
                <a:cubicBezTo>
                  <a:pt x="543" y="720"/>
                  <a:pt x="543" y="720"/>
                  <a:pt x="543" y="720"/>
                </a:cubicBezTo>
                <a:cubicBezTo>
                  <a:pt x="540" y="720"/>
                  <a:pt x="537" y="719"/>
                  <a:pt x="534" y="719"/>
                </a:cubicBezTo>
                <a:cubicBezTo>
                  <a:pt x="463" y="702"/>
                  <a:pt x="496" y="678"/>
                  <a:pt x="513" y="659"/>
                </a:cubicBezTo>
                <a:cubicBezTo>
                  <a:pt x="531" y="639"/>
                  <a:pt x="530" y="618"/>
                  <a:pt x="530" y="618"/>
                </a:cubicBezTo>
                <a:cubicBezTo>
                  <a:pt x="530" y="576"/>
                  <a:pt x="495" y="541"/>
                  <a:pt x="453" y="541"/>
                </a:cubicBezTo>
                <a:cubicBezTo>
                  <a:pt x="411" y="541"/>
                  <a:pt x="376" y="576"/>
                  <a:pt x="376" y="618"/>
                </a:cubicBezTo>
                <a:cubicBezTo>
                  <a:pt x="376" y="618"/>
                  <a:pt x="375" y="639"/>
                  <a:pt x="393" y="659"/>
                </a:cubicBezTo>
                <a:cubicBezTo>
                  <a:pt x="410" y="678"/>
                  <a:pt x="444" y="702"/>
                  <a:pt x="372" y="719"/>
                </a:cubicBezTo>
                <a:cubicBezTo>
                  <a:pt x="369" y="719"/>
                  <a:pt x="366" y="720"/>
                  <a:pt x="363" y="720"/>
                </a:cubicBezTo>
                <a:cubicBezTo>
                  <a:pt x="178" y="720"/>
                  <a:pt x="178" y="720"/>
                  <a:pt x="178" y="720"/>
                </a:cubicBezTo>
                <a:cubicBezTo>
                  <a:pt x="178" y="534"/>
                  <a:pt x="178" y="534"/>
                  <a:pt x="178" y="534"/>
                </a:cubicBezTo>
                <a:cubicBezTo>
                  <a:pt x="178" y="531"/>
                  <a:pt x="178" y="528"/>
                  <a:pt x="177" y="526"/>
                </a:cubicBezTo>
                <a:cubicBezTo>
                  <a:pt x="169" y="492"/>
                  <a:pt x="160" y="482"/>
                  <a:pt x="150" y="482"/>
                </a:cubicBezTo>
                <a:cubicBezTo>
                  <a:pt x="139" y="482"/>
                  <a:pt x="127" y="496"/>
                  <a:pt x="117" y="505"/>
                </a:cubicBezTo>
                <a:cubicBezTo>
                  <a:pt x="99" y="520"/>
                  <a:pt x="81" y="521"/>
                  <a:pt x="77" y="521"/>
                </a:cubicBezTo>
                <a:cubicBezTo>
                  <a:pt x="77" y="521"/>
                  <a:pt x="76" y="521"/>
                  <a:pt x="76" y="521"/>
                </a:cubicBezTo>
                <a:cubicBezTo>
                  <a:pt x="34" y="521"/>
                  <a:pt x="0" y="487"/>
                  <a:pt x="0" y="445"/>
                </a:cubicBezTo>
                <a:cubicBezTo>
                  <a:pt x="0" y="402"/>
                  <a:pt x="34" y="368"/>
                  <a:pt x="76" y="368"/>
                </a:cubicBezTo>
                <a:cubicBezTo>
                  <a:pt x="76" y="368"/>
                  <a:pt x="76" y="368"/>
                  <a:pt x="77" y="368"/>
                </a:cubicBezTo>
                <a:cubicBezTo>
                  <a:pt x="81" y="368"/>
                  <a:pt x="99" y="369"/>
                  <a:pt x="117" y="384"/>
                </a:cubicBezTo>
                <a:cubicBezTo>
                  <a:pt x="127" y="393"/>
                  <a:pt x="139" y="407"/>
                  <a:pt x="150" y="407"/>
                </a:cubicBezTo>
                <a:cubicBezTo>
                  <a:pt x="160" y="407"/>
                  <a:pt x="169" y="397"/>
                  <a:pt x="177" y="364"/>
                </a:cubicBezTo>
                <a:cubicBezTo>
                  <a:pt x="178" y="361"/>
                  <a:pt x="178" y="358"/>
                  <a:pt x="178" y="355"/>
                </a:cubicBezTo>
                <a:cubicBezTo>
                  <a:pt x="178" y="178"/>
                  <a:pt x="178" y="178"/>
                  <a:pt x="178" y="178"/>
                </a:cubicBezTo>
                <a:cubicBezTo>
                  <a:pt x="363" y="178"/>
                  <a:pt x="363" y="178"/>
                  <a:pt x="363" y="178"/>
                </a:cubicBezTo>
                <a:cubicBezTo>
                  <a:pt x="367" y="178"/>
                  <a:pt x="371" y="177"/>
                  <a:pt x="374" y="177"/>
                </a:cubicBezTo>
                <a:cubicBezTo>
                  <a:pt x="404" y="170"/>
                  <a:pt x="419" y="161"/>
                  <a:pt x="423" y="148"/>
                </a:cubicBezTo>
                <a:cubicBezTo>
                  <a:pt x="428" y="134"/>
                  <a:pt x="416" y="121"/>
                  <a:pt x="405" y="110"/>
                </a:cubicBezTo>
                <a:cubicBezTo>
                  <a:pt x="403" y="107"/>
                  <a:pt x="401" y="105"/>
                  <a:pt x="399" y="103"/>
                </a:cubicBezTo>
                <a:cubicBezTo>
                  <a:pt x="384" y="86"/>
                  <a:pt x="385" y="69"/>
                  <a:pt x="385" y="68"/>
                </a:cubicBezTo>
                <a:cubicBezTo>
                  <a:pt x="385" y="30"/>
                  <a:pt x="415" y="0"/>
                  <a:pt x="453" y="0"/>
                </a:cubicBezTo>
                <a:cubicBezTo>
                  <a:pt x="491" y="0"/>
                  <a:pt x="521" y="30"/>
                  <a:pt x="521" y="68"/>
                </a:cubicBezTo>
                <a:cubicBezTo>
                  <a:pt x="521" y="68"/>
                  <a:pt x="521" y="68"/>
                  <a:pt x="521" y="68"/>
                </a:cubicBezTo>
                <a:cubicBezTo>
                  <a:pt x="521" y="69"/>
                  <a:pt x="522" y="86"/>
                  <a:pt x="507" y="103"/>
                </a:cubicBezTo>
                <a:cubicBezTo>
                  <a:pt x="505" y="105"/>
                  <a:pt x="503" y="107"/>
                  <a:pt x="501" y="110"/>
                </a:cubicBezTo>
                <a:cubicBezTo>
                  <a:pt x="490" y="121"/>
                  <a:pt x="479" y="134"/>
                  <a:pt x="483" y="148"/>
                </a:cubicBezTo>
                <a:cubicBezTo>
                  <a:pt x="487" y="161"/>
                  <a:pt x="502" y="170"/>
                  <a:pt x="532" y="177"/>
                </a:cubicBezTo>
                <a:cubicBezTo>
                  <a:pt x="536" y="177"/>
                  <a:pt x="539" y="178"/>
                  <a:pt x="543" y="178"/>
                </a:cubicBezTo>
                <a:cubicBezTo>
                  <a:pt x="720" y="178"/>
                  <a:pt x="720" y="178"/>
                  <a:pt x="720" y="178"/>
                </a:cubicBezTo>
                <a:cubicBezTo>
                  <a:pt x="720" y="355"/>
                  <a:pt x="720" y="355"/>
                  <a:pt x="720" y="355"/>
                </a:cubicBezTo>
                <a:cubicBezTo>
                  <a:pt x="720" y="357"/>
                  <a:pt x="720" y="360"/>
                  <a:pt x="719" y="362"/>
                </a:cubicBezTo>
                <a:cubicBezTo>
                  <a:pt x="711" y="396"/>
                  <a:pt x="703" y="399"/>
                  <a:pt x="701" y="399"/>
                </a:cubicBezTo>
                <a:cubicBezTo>
                  <a:pt x="695" y="399"/>
                  <a:pt x="687" y="391"/>
                  <a:pt x="680" y="385"/>
                </a:cubicBezTo>
                <a:cubicBezTo>
                  <a:pt x="677" y="382"/>
                  <a:pt x="675" y="380"/>
                  <a:pt x="672" y="378"/>
                </a:cubicBezTo>
                <a:cubicBezTo>
                  <a:pt x="653" y="361"/>
                  <a:pt x="633" y="360"/>
                  <a:pt x="627" y="360"/>
                </a:cubicBezTo>
                <a:cubicBezTo>
                  <a:pt x="626" y="360"/>
                  <a:pt x="626" y="360"/>
                  <a:pt x="626" y="360"/>
                </a:cubicBezTo>
                <a:cubicBezTo>
                  <a:pt x="580" y="360"/>
                  <a:pt x="541" y="398"/>
                  <a:pt x="541" y="445"/>
                </a:cubicBezTo>
                <a:cubicBezTo>
                  <a:pt x="541" y="491"/>
                  <a:pt x="580" y="530"/>
                  <a:pt x="626" y="530"/>
                </a:cubicBezTo>
                <a:cubicBezTo>
                  <a:pt x="627" y="530"/>
                  <a:pt x="627" y="530"/>
                  <a:pt x="627" y="530"/>
                </a:cubicBezTo>
                <a:cubicBezTo>
                  <a:pt x="633" y="530"/>
                  <a:pt x="653" y="528"/>
                  <a:pt x="673" y="511"/>
                </a:cubicBezTo>
                <a:cubicBezTo>
                  <a:pt x="675" y="509"/>
                  <a:pt x="677" y="507"/>
                  <a:pt x="680" y="505"/>
                </a:cubicBezTo>
                <a:cubicBezTo>
                  <a:pt x="687" y="498"/>
                  <a:pt x="695" y="490"/>
                  <a:pt x="701" y="490"/>
                </a:cubicBezTo>
                <a:cubicBezTo>
                  <a:pt x="703" y="490"/>
                  <a:pt x="711" y="493"/>
                  <a:pt x="719" y="527"/>
                </a:cubicBezTo>
                <a:cubicBezTo>
                  <a:pt x="720" y="530"/>
                  <a:pt x="720" y="532"/>
                  <a:pt x="720" y="5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59" name="Freeform 8"/>
          <p:cNvSpPr/>
          <p:nvPr/>
        </p:nvSpPr>
        <p:spPr bwMode="auto">
          <a:xfrm rot="18900000">
            <a:off x="1955536" y="2794664"/>
            <a:ext cx="1746988" cy="1746988"/>
          </a:xfrm>
          <a:custGeom>
            <a:avLst/>
            <a:gdLst>
              <a:gd name="T0" fmla="*/ 720 w 720"/>
              <a:gd name="T1" fmla="*/ 453 h 720"/>
              <a:gd name="T2" fmla="*/ 652 w 720"/>
              <a:gd name="T3" fmla="*/ 522 h 720"/>
              <a:gd name="T4" fmla="*/ 652 w 720"/>
              <a:gd name="T5" fmla="*/ 522 h 720"/>
              <a:gd name="T6" fmla="*/ 639 w 720"/>
              <a:gd name="T7" fmla="*/ 520 h 720"/>
              <a:gd name="T8" fmla="*/ 617 w 720"/>
              <a:gd name="T9" fmla="*/ 507 h 720"/>
              <a:gd name="T10" fmla="*/ 610 w 720"/>
              <a:gd name="T11" fmla="*/ 501 h 720"/>
              <a:gd name="T12" fmla="*/ 578 w 720"/>
              <a:gd name="T13" fmla="*/ 482 h 720"/>
              <a:gd name="T14" fmla="*/ 543 w 720"/>
              <a:gd name="T15" fmla="*/ 532 h 720"/>
              <a:gd name="T16" fmla="*/ 542 w 720"/>
              <a:gd name="T17" fmla="*/ 543 h 720"/>
              <a:gd name="T18" fmla="*/ 542 w 720"/>
              <a:gd name="T19" fmla="*/ 720 h 720"/>
              <a:gd name="T20" fmla="*/ 542 w 720"/>
              <a:gd name="T21" fmla="*/ 720 h 720"/>
              <a:gd name="T22" fmla="*/ 542 w 720"/>
              <a:gd name="T23" fmla="*/ 720 h 720"/>
              <a:gd name="T24" fmla="*/ 365 w 720"/>
              <a:gd name="T25" fmla="*/ 720 h 720"/>
              <a:gd name="T26" fmla="*/ 358 w 720"/>
              <a:gd name="T27" fmla="*/ 719 h 720"/>
              <a:gd name="T28" fmla="*/ 321 w 720"/>
              <a:gd name="T29" fmla="*/ 702 h 720"/>
              <a:gd name="T30" fmla="*/ 335 w 720"/>
              <a:gd name="T31" fmla="*/ 680 h 720"/>
              <a:gd name="T32" fmla="*/ 342 w 720"/>
              <a:gd name="T33" fmla="*/ 673 h 720"/>
              <a:gd name="T34" fmla="*/ 360 w 720"/>
              <a:gd name="T35" fmla="*/ 627 h 720"/>
              <a:gd name="T36" fmla="*/ 275 w 720"/>
              <a:gd name="T37" fmla="*/ 542 h 720"/>
              <a:gd name="T38" fmla="*/ 190 w 720"/>
              <a:gd name="T39" fmla="*/ 627 h 720"/>
              <a:gd name="T40" fmla="*/ 208 w 720"/>
              <a:gd name="T41" fmla="*/ 673 h 720"/>
              <a:gd name="T42" fmla="*/ 215 w 720"/>
              <a:gd name="T43" fmla="*/ 680 h 720"/>
              <a:gd name="T44" fmla="*/ 229 w 720"/>
              <a:gd name="T45" fmla="*/ 702 h 720"/>
              <a:gd name="T46" fmla="*/ 192 w 720"/>
              <a:gd name="T47" fmla="*/ 719 h 720"/>
              <a:gd name="T48" fmla="*/ 185 w 720"/>
              <a:gd name="T49" fmla="*/ 720 h 720"/>
              <a:gd name="T50" fmla="*/ 0 w 720"/>
              <a:gd name="T51" fmla="*/ 720 h 720"/>
              <a:gd name="T52" fmla="*/ 0 w 720"/>
              <a:gd name="T53" fmla="*/ 543 h 720"/>
              <a:gd name="T54" fmla="*/ 1 w 720"/>
              <a:gd name="T55" fmla="*/ 534 h 720"/>
              <a:gd name="T56" fmla="*/ 28 w 720"/>
              <a:gd name="T57" fmla="*/ 491 h 720"/>
              <a:gd name="T58" fmla="*/ 61 w 720"/>
              <a:gd name="T59" fmla="*/ 514 h 720"/>
              <a:gd name="T60" fmla="*/ 101 w 720"/>
              <a:gd name="T61" fmla="*/ 530 h 720"/>
              <a:gd name="T62" fmla="*/ 102 w 720"/>
              <a:gd name="T63" fmla="*/ 530 h 720"/>
              <a:gd name="T64" fmla="*/ 178 w 720"/>
              <a:gd name="T65" fmla="*/ 453 h 720"/>
              <a:gd name="T66" fmla="*/ 102 w 720"/>
              <a:gd name="T67" fmla="*/ 377 h 720"/>
              <a:gd name="T68" fmla="*/ 101 w 720"/>
              <a:gd name="T69" fmla="*/ 377 h 720"/>
              <a:gd name="T70" fmla="*/ 61 w 720"/>
              <a:gd name="T71" fmla="*/ 393 h 720"/>
              <a:gd name="T72" fmla="*/ 28 w 720"/>
              <a:gd name="T73" fmla="*/ 416 h 720"/>
              <a:gd name="T74" fmla="*/ 1 w 720"/>
              <a:gd name="T75" fmla="*/ 373 h 720"/>
              <a:gd name="T76" fmla="*/ 0 w 720"/>
              <a:gd name="T77" fmla="*/ 364 h 720"/>
              <a:gd name="T78" fmla="*/ 0 w 720"/>
              <a:gd name="T79" fmla="*/ 178 h 720"/>
              <a:gd name="T80" fmla="*/ 185 w 720"/>
              <a:gd name="T81" fmla="*/ 178 h 720"/>
              <a:gd name="T82" fmla="*/ 194 w 720"/>
              <a:gd name="T83" fmla="*/ 177 h 720"/>
              <a:gd name="T84" fmla="*/ 215 w 720"/>
              <a:gd name="T85" fmla="*/ 117 h 720"/>
              <a:gd name="T86" fmla="*/ 198 w 720"/>
              <a:gd name="T87" fmla="*/ 77 h 720"/>
              <a:gd name="T88" fmla="*/ 275 w 720"/>
              <a:gd name="T89" fmla="*/ 0 h 720"/>
              <a:gd name="T90" fmla="*/ 352 w 720"/>
              <a:gd name="T91" fmla="*/ 77 h 720"/>
              <a:gd name="T92" fmla="*/ 335 w 720"/>
              <a:gd name="T93" fmla="*/ 117 h 720"/>
              <a:gd name="T94" fmla="*/ 356 w 720"/>
              <a:gd name="T95" fmla="*/ 177 h 720"/>
              <a:gd name="T96" fmla="*/ 365 w 720"/>
              <a:gd name="T97" fmla="*/ 178 h 720"/>
              <a:gd name="T98" fmla="*/ 542 w 720"/>
              <a:gd name="T99" fmla="*/ 178 h 720"/>
              <a:gd name="T100" fmla="*/ 542 w 720"/>
              <a:gd name="T101" fmla="*/ 364 h 720"/>
              <a:gd name="T102" fmla="*/ 543 w 720"/>
              <a:gd name="T103" fmla="*/ 374 h 720"/>
              <a:gd name="T104" fmla="*/ 578 w 720"/>
              <a:gd name="T105" fmla="*/ 424 h 720"/>
              <a:gd name="T106" fmla="*/ 610 w 720"/>
              <a:gd name="T107" fmla="*/ 406 h 720"/>
              <a:gd name="T108" fmla="*/ 617 w 720"/>
              <a:gd name="T109" fmla="*/ 399 h 720"/>
              <a:gd name="T110" fmla="*/ 651 w 720"/>
              <a:gd name="T111" fmla="*/ 385 h 720"/>
              <a:gd name="T112" fmla="*/ 652 w 720"/>
              <a:gd name="T113" fmla="*/ 385 h 720"/>
              <a:gd name="T114" fmla="*/ 720 w 720"/>
              <a:gd name="T115" fmla="*/ 453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0" h="720">
                <a:moveTo>
                  <a:pt x="720" y="453"/>
                </a:moveTo>
                <a:cubicBezTo>
                  <a:pt x="720" y="491"/>
                  <a:pt x="690" y="522"/>
                  <a:pt x="652" y="522"/>
                </a:cubicBezTo>
                <a:cubicBezTo>
                  <a:pt x="652" y="522"/>
                  <a:pt x="652" y="522"/>
                  <a:pt x="652" y="522"/>
                </a:cubicBezTo>
                <a:cubicBezTo>
                  <a:pt x="650" y="522"/>
                  <a:pt x="645" y="522"/>
                  <a:pt x="639" y="520"/>
                </a:cubicBezTo>
                <a:cubicBezTo>
                  <a:pt x="633" y="518"/>
                  <a:pt x="625" y="514"/>
                  <a:pt x="617" y="507"/>
                </a:cubicBezTo>
                <a:cubicBezTo>
                  <a:pt x="615" y="505"/>
                  <a:pt x="612" y="503"/>
                  <a:pt x="610" y="501"/>
                </a:cubicBezTo>
                <a:cubicBezTo>
                  <a:pt x="600" y="492"/>
                  <a:pt x="590" y="482"/>
                  <a:pt x="578" y="482"/>
                </a:cubicBezTo>
                <a:cubicBezTo>
                  <a:pt x="557" y="482"/>
                  <a:pt x="549" y="509"/>
                  <a:pt x="543" y="532"/>
                </a:cubicBezTo>
                <a:cubicBezTo>
                  <a:pt x="542" y="536"/>
                  <a:pt x="542" y="539"/>
                  <a:pt x="542" y="543"/>
                </a:cubicBezTo>
                <a:cubicBezTo>
                  <a:pt x="542" y="720"/>
                  <a:pt x="542" y="720"/>
                  <a:pt x="542" y="720"/>
                </a:cubicBezTo>
                <a:cubicBezTo>
                  <a:pt x="542" y="720"/>
                  <a:pt x="542" y="720"/>
                  <a:pt x="542" y="720"/>
                </a:cubicBezTo>
                <a:cubicBezTo>
                  <a:pt x="542" y="720"/>
                  <a:pt x="542" y="720"/>
                  <a:pt x="542" y="720"/>
                </a:cubicBezTo>
                <a:cubicBezTo>
                  <a:pt x="365" y="720"/>
                  <a:pt x="365" y="720"/>
                  <a:pt x="365" y="720"/>
                </a:cubicBezTo>
                <a:cubicBezTo>
                  <a:pt x="362" y="720"/>
                  <a:pt x="360" y="720"/>
                  <a:pt x="358" y="719"/>
                </a:cubicBezTo>
                <a:cubicBezTo>
                  <a:pt x="326" y="712"/>
                  <a:pt x="322" y="704"/>
                  <a:pt x="321" y="702"/>
                </a:cubicBezTo>
                <a:cubicBezTo>
                  <a:pt x="319" y="697"/>
                  <a:pt x="328" y="687"/>
                  <a:pt x="335" y="680"/>
                </a:cubicBezTo>
                <a:cubicBezTo>
                  <a:pt x="337" y="678"/>
                  <a:pt x="340" y="675"/>
                  <a:pt x="342" y="673"/>
                </a:cubicBezTo>
                <a:cubicBezTo>
                  <a:pt x="360" y="652"/>
                  <a:pt x="360" y="630"/>
                  <a:pt x="360" y="627"/>
                </a:cubicBezTo>
                <a:cubicBezTo>
                  <a:pt x="360" y="580"/>
                  <a:pt x="322" y="542"/>
                  <a:pt x="275" y="542"/>
                </a:cubicBezTo>
                <a:cubicBezTo>
                  <a:pt x="228" y="542"/>
                  <a:pt x="190" y="580"/>
                  <a:pt x="190" y="627"/>
                </a:cubicBezTo>
                <a:cubicBezTo>
                  <a:pt x="190" y="630"/>
                  <a:pt x="190" y="652"/>
                  <a:pt x="208" y="673"/>
                </a:cubicBezTo>
                <a:cubicBezTo>
                  <a:pt x="210" y="675"/>
                  <a:pt x="213" y="678"/>
                  <a:pt x="215" y="680"/>
                </a:cubicBezTo>
                <a:cubicBezTo>
                  <a:pt x="222" y="687"/>
                  <a:pt x="231" y="697"/>
                  <a:pt x="229" y="702"/>
                </a:cubicBezTo>
                <a:cubicBezTo>
                  <a:pt x="229" y="704"/>
                  <a:pt x="224" y="712"/>
                  <a:pt x="192" y="719"/>
                </a:cubicBezTo>
                <a:cubicBezTo>
                  <a:pt x="190" y="720"/>
                  <a:pt x="188" y="720"/>
                  <a:pt x="185" y="720"/>
                </a:cubicBezTo>
                <a:cubicBezTo>
                  <a:pt x="0" y="720"/>
                  <a:pt x="0" y="720"/>
                  <a:pt x="0" y="720"/>
                </a:cubicBezTo>
                <a:cubicBezTo>
                  <a:pt x="0" y="543"/>
                  <a:pt x="0" y="543"/>
                  <a:pt x="0" y="543"/>
                </a:cubicBezTo>
                <a:cubicBezTo>
                  <a:pt x="0" y="540"/>
                  <a:pt x="0" y="537"/>
                  <a:pt x="1" y="534"/>
                </a:cubicBezTo>
                <a:cubicBezTo>
                  <a:pt x="9" y="501"/>
                  <a:pt x="18" y="491"/>
                  <a:pt x="28" y="491"/>
                </a:cubicBezTo>
                <a:cubicBezTo>
                  <a:pt x="39" y="491"/>
                  <a:pt x="51" y="505"/>
                  <a:pt x="61" y="514"/>
                </a:cubicBezTo>
                <a:cubicBezTo>
                  <a:pt x="79" y="529"/>
                  <a:pt x="97" y="530"/>
                  <a:pt x="101" y="530"/>
                </a:cubicBezTo>
                <a:cubicBezTo>
                  <a:pt x="101" y="530"/>
                  <a:pt x="102" y="530"/>
                  <a:pt x="102" y="530"/>
                </a:cubicBezTo>
                <a:cubicBezTo>
                  <a:pt x="144" y="530"/>
                  <a:pt x="178" y="496"/>
                  <a:pt x="178" y="453"/>
                </a:cubicBezTo>
                <a:cubicBezTo>
                  <a:pt x="178" y="411"/>
                  <a:pt x="144" y="377"/>
                  <a:pt x="102" y="377"/>
                </a:cubicBezTo>
                <a:cubicBezTo>
                  <a:pt x="102" y="377"/>
                  <a:pt x="101" y="377"/>
                  <a:pt x="101" y="377"/>
                </a:cubicBezTo>
                <a:cubicBezTo>
                  <a:pt x="97" y="377"/>
                  <a:pt x="79" y="378"/>
                  <a:pt x="61" y="393"/>
                </a:cubicBezTo>
                <a:cubicBezTo>
                  <a:pt x="51" y="402"/>
                  <a:pt x="39" y="416"/>
                  <a:pt x="28" y="416"/>
                </a:cubicBezTo>
                <a:cubicBezTo>
                  <a:pt x="18" y="416"/>
                  <a:pt x="9" y="406"/>
                  <a:pt x="1" y="373"/>
                </a:cubicBezTo>
                <a:cubicBezTo>
                  <a:pt x="0" y="370"/>
                  <a:pt x="0" y="367"/>
                  <a:pt x="0" y="364"/>
                </a:cubicBezTo>
                <a:cubicBezTo>
                  <a:pt x="0" y="178"/>
                  <a:pt x="0" y="178"/>
                  <a:pt x="0" y="178"/>
                </a:cubicBezTo>
                <a:cubicBezTo>
                  <a:pt x="185" y="178"/>
                  <a:pt x="185" y="178"/>
                  <a:pt x="185" y="178"/>
                </a:cubicBezTo>
                <a:cubicBezTo>
                  <a:pt x="188" y="178"/>
                  <a:pt x="191" y="178"/>
                  <a:pt x="194" y="177"/>
                </a:cubicBezTo>
                <a:cubicBezTo>
                  <a:pt x="266" y="161"/>
                  <a:pt x="232" y="137"/>
                  <a:pt x="215" y="117"/>
                </a:cubicBezTo>
                <a:cubicBezTo>
                  <a:pt x="197" y="97"/>
                  <a:pt x="198" y="77"/>
                  <a:pt x="198" y="77"/>
                </a:cubicBezTo>
                <a:cubicBezTo>
                  <a:pt x="198" y="34"/>
                  <a:pt x="233" y="0"/>
                  <a:pt x="275" y="0"/>
                </a:cubicBezTo>
                <a:cubicBezTo>
                  <a:pt x="317" y="0"/>
                  <a:pt x="352" y="34"/>
                  <a:pt x="352" y="77"/>
                </a:cubicBezTo>
                <a:cubicBezTo>
                  <a:pt x="352" y="77"/>
                  <a:pt x="353" y="97"/>
                  <a:pt x="335" y="117"/>
                </a:cubicBezTo>
                <a:cubicBezTo>
                  <a:pt x="318" y="137"/>
                  <a:pt x="285" y="161"/>
                  <a:pt x="356" y="177"/>
                </a:cubicBezTo>
                <a:cubicBezTo>
                  <a:pt x="359" y="178"/>
                  <a:pt x="362" y="178"/>
                  <a:pt x="365" y="178"/>
                </a:cubicBezTo>
                <a:cubicBezTo>
                  <a:pt x="542" y="178"/>
                  <a:pt x="542" y="178"/>
                  <a:pt x="542" y="178"/>
                </a:cubicBezTo>
                <a:cubicBezTo>
                  <a:pt x="542" y="364"/>
                  <a:pt x="542" y="364"/>
                  <a:pt x="542" y="364"/>
                </a:cubicBezTo>
                <a:cubicBezTo>
                  <a:pt x="542" y="367"/>
                  <a:pt x="542" y="371"/>
                  <a:pt x="543" y="374"/>
                </a:cubicBezTo>
                <a:cubicBezTo>
                  <a:pt x="549" y="398"/>
                  <a:pt x="557" y="424"/>
                  <a:pt x="578" y="424"/>
                </a:cubicBezTo>
                <a:cubicBezTo>
                  <a:pt x="590" y="424"/>
                  <a:pt x="600" y="415"/>
                  <a:pt x="610" y="406"/>
                </a:cubicBezTo>
                <a:cubicBezTo>
                  <a:pt x="612" y="403"/>
                  <a:pt x="615" y="401"/>
                  <a:pt x="617" y="399"/>
                </a:cubicBezTo>
                <a:cubicBezTo>
                  <a:pt x="633" y="386"/>
                  <a:pt x="648" y="385"/>
                  <a:pt x="651" y="385"/>
                </a:cubicBezTo>
                <a:cubicBezTo>
                  <a:pt x="652" y="385"/>
                  <a:pt x="652" y="385"/>
                  <a:pt x="652" y="385"/>
                </a:cubicBezTo>
                <a:cubicBezTo>
                  <a:pt x="690" y="385"/>
                  <a:pt x="720" y="416"/>
                  <a:pt x="720" y="4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cxnSp>
        <p:nvCxnSpPr>
          <p:cNvPr id="60" name="직선 연결선 250"/>
          <p:cNvCxnSpPr/>
          <p:nvPr/>
        </p:nvCxnSpPr>
        <p:spPr>
          <a:xfrm>
            <a:off x="1593722" y="3335120"/>
            <a:ext cx="326442"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1" name="직선 연결선 250"/>
          <p:cNvCxnSpPr/>
          <p:nvPr/>
        </p:nvCxnSpPr>
        <p:spPr>
          <a:xfrm>
            <a:off x="1665301" y="5603277"/>
            <a:ext cx="1192353"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2" name="직선 연결선 250"/>
          <p:cNvCxnSpPr>
            <a:stCxn id="66" idx="0"/>
          </p:cNvCxnSpPr>
          <p:nvPr/>
        </p:nvCxnSpPr>
        <p:spPr>
          <a:xfrm flipH="1" flipV="1">
            <a:off x="4668118" y="2365594"/>
            <a:ext cx="1183630" cy="238918"/>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3" name="직선 연결선 250"/>
          <p:cNvCxnSpPr/>
          <p:nvPr/>
        </p:nvCxnSpPr>
        <p:spPr>
          <a:xfrm flipH="1" flipV="1">
            <a:off x="5641249" y="4637055"/>
            <a:ext cx="226815" cy="296138"/>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4" name="Straight Connector 59"/>
          <p:cNvCxnSpPr/>
          <p:nvPr/>
        </p:nvCxnSpPr>
        <p:spPr>
          <a:xfrm flipV="1">
            <a:off x="7038722" y="218092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65" name="矩形 10"/>
          <p:cNvSpPr>
            <a:spLocks noChangeArrowheads="1"/>
          </p:cNvSpPr>
          <p:nvPr/>
        </p:nvSpPr>
        <p:spPr bwMode="auto">
          <a:xfrm>
            <a:off x="222548" y="3437325"/>
            <a:ext cx="1415772"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首次适应</a:t>
            </a:r>
            <a:endParaRPr lang="en-US" altLang="zh-CN" sz="2400" b="1" dirty="0">
              <a:solidFill>
                <a:srgbClr val="414455"/>
              </a:solidFill>
              <a:cs typeface="+mn-ea"/>
              <a:sym typeface="+mn-lt"/>
            </a:endParaRPr>
          </a:p>
        </p:txBody>
      </p:sp>
      <p:sp>
        <p:nvSpPr>
          <p:cNvPr id="66" name="矩形 10"/>
          <p:cNvSpPr>
            <a:spLocks noChangeArrowheads="1"/>
          </p:cNvSpPr>
          <p:nvPr/>
        </p:nvSpPr>
        <p:spPr bwMode="auto">
          <a:xfrm>
            <a:off x="4831276" y="2604512"/>
            <a:ext cx="2040943"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循环首次适应</a:t>
            </a:r>
            <a:endParaRPr lang="en-US" altLang="zh-CN" sz="2400" b="1" dirty="0">
              <a:solidFill>
                <a:srgbClr val="414455"/>
              </a:solidFill>
              <a:cs typeface="+mn-ea"/>
              <a:sym typeface="+mn-lt"/>
            </a:endParaRPr>
          </a:p>
        </p:txBody>
      </p:sp>
      <p:sp>
        <p:nvSpPr>
          <p:cNvPr id="67" name="矩形 10"/>
          <p:cNvSpPr>
            <a:spLocks noChangeArrowheads="1"/>
          </p:cNvSpPr>
          <p:nvPr/>
        </p:nvSpPr>
        <p:spPr bwMode="auto">
          <a:xfrm>
            <a:off x="376436" y="5238104"/>
            <a:ext cx="1422184"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最佳适应</a:t>
            </a:r>
            <a:endParaRPr lang="en-US" altLang="zh-CN" sz="2400" b="1" dirty="0">
              <a:solidFill>
                <a:srgbClr val="414455"/>
              </a:solidFill>
              <a:cs typeface="+mn-ea"/>
              <a:sym typeface="+mn-lt"/>
            </a:endParaRPr>
          </a:p>
        </p:txBody>
      </p:sp>
      <p:sp>
        <p:nvSpPr>
          <p:cNvPr id="68" name="矩形 10"/>
          <p:cNvSpPr>
            <a:spLocks noChangeArrowheads="1"/>
          </p:cNvSpPr>
          <p:nvPr/>
        </p:nvSpPr>
        <p:spPr bwMode="auto">
          <a:xfrm>
            <a:off x="5341678" y="5034334"/>
            <a:ext cx="1422184"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最坏适应</a:t>
            </a:r>
            <a:endParaRPr lang="en-US" altLang="zh-CN" sz="2400" b="1" dirty="0">
              <a:solidFill>
                <a:srgbClr val="414455"/>
              </a:solidFill>
              <a:cs typeface="+mn-ea"/>
              <a:sym typeface="+mn-lt"/>
            </a:endParaRPr>
          </a:p>
        </p:txBody>
      </p:sp>
      <p:sp>
        <p:nvSpPr>
          <p:cNvPr id="69" name="矩形 68"/>
          <p:cNvSpPr/>
          <p:nvPr/>
        </p:nvSpPr>
        <p:spPr>
          <a:xfrm>
            <a:off x="7119556"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0" name="矩形 69"/>
          <p:cNvSpPr/>
          <p:nvPr/>
        </p:nvSpPr>
        <p:spPr>
          <a:xfrm>
            <a:off x="8027606"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1" name="文本框 55"/>
          <p:cNvSpPr txBox="1">
            <a:spLocks noChangeArrowheads="1"/>
          </p:cNvSpPr>
          <p:nvPr/>
        </p:nvSpPr>
        <p:spPr bwMode="auto">
          <a:xfrm>
            <a:off x="6973506"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）适用范围</a:t>
            </a:r>
          </a:p>
        </p:txBody>
      </p:sp>
      <p:sp>
        <p:nvSpPr>
          <p:cNvPr id="72" name="文本框 19"/>
          <p:cNvSpPr txBox="1">
            <a:spLocks noChangeArrowheads="1"/>
          </p:cNvSpPr>
          <p:nvPr/>
        </p:nvSpPr>
        <p:spPr bwMode="auto">
          <a:xfrm>
            <a:off x="7220814" y="2093844"/>
            <a:ext cx="415959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不太大的系统</a:t>
            </a:r>
            <a:endParaRPr lang="en-US" altLang="zh-CN" sz="2400" dirty="0"/>
          </a:p>
          <a:p>
            <a:pPr marL="0" lvl="2" indent="0">
              <a:buBlip>
                <a:blip r:embed="rId3"/>
              </a:buBlip>
            </a:pPr>
            <a:r>
              <a:rPr lang="zh-CN" altLang="en-US" sz="2400" dirty="0"/>
              <a:t>系统中通常只设有一个空闲分区链</a:t>
            </a:r>
          </a:p>
        </p:txBody>
      </p:sp>
    </p:spTree>
    <p:extLst>
      <p:ext uri="{BB962C8B-B14F-4D97-AF65-F5344CB8AC3E}">
        <p14:creationId xmlns:p14="http://schemas.microsoft.com/office/powerpoint/2010/main" val="125425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 calcmode="lin" valueType="num">
                                      <p:cBhvr>
                                        <p:cTn id="9" dur="500" fill="hold"/>
                                        <p:tgtEl>
                                          <p:spTgt spid="40"/>
                                        </p:tgtEl>
                                        <p:attrNameLst>
                                          <p:attrName>style.rotation</p:attrName>
                                        </p:attrNameLst>
                                      </p:cBhvr>
                                      <p:tavLst>
                                        <p:tav tm="0">
                                          <p:val>
                                            <p:fltVal val="360"/>
                                          </p:val>
                                        </p:tav>
                                        <p:tav tm="100000">
                                          <p:val>
                                            <p:fltVal val="0"/>
                                          </p:val>
                                        </p:tav>
                                      </p:tavLst>
                                    </p:anim>
                                    <p:animEffect transition="in" filter="fade">
                                      <p:cBhvr>
                                        <p:cTn id="10" dur="500"/>
                                        <p:tgtEl>
                                          <p:spTgt spid="40"/>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wipe(left)">
                                      <p:cBhvr>
                                        <p:cTn id="14" dur="500"/>
                                        <p:tgtEl>
                                          <p:spTgt spid="62"/>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wipe(down)">
                                      <p:cBhvr>
                                        <p:cTn id="18" dur="500"/>
                                        <p:tgtEl>
                                          <p:spTgt spid="66"/>
                                        </p:tgtEl>
                                      </p:cBhvr>
                                    </p:animEffect>
                                  </p:childTnLst>
                                </p:cTn>
                              </p:par>
                            </p:childTnLst>
                          </p:cTn>
                        </p:par>
                        <p:par>
                          <p:cTn id="19" fill="hold">
                            <p:stCondLst>
                              <p:cond delay="1500"/>
                            </p:stCondLst>
                            <p:childTnLst>
                              <p:par>
                                <p:cTn id="20" presetID="49" presetClass="entr" presetSubtype="0" decel="100000" fill="hold" grpId="0" nodeType="afterEffect">
                                  <p:stCondLst>
                                    <p:cond delay="0"/>
                                  </p:stCondLst>
                                  <p:childTnLst>
                                    <p:set>
                                      <p:cBhvr>
                                        <p:cTn id="21" dur="1" fill="hold">
                                          <p:stCondLst>
                                            <p:cond delay="0"/>
                                          </p:stCondLst>
                                        </p:cTn>
                                        <p:tgtEl>
                                          <p:spTgt spid="59"/>
                                        </p:tgtEl>
                                        <p:attrNameLst>
                                          <p:attrName>style.visibility</p:attrName>
                                        </p:attrNameLst>
                                      </p:cBhvr>
                                      <p:to>
                                        <p:strVal val="visible"/>
                                      </p:to>
                                    </p:set>
                                    <p:anim calcmode="lin" valueType="num">
                                      <p:cBhvr>
                                        <p:cTn id="22" dur="500" fill="hold"/>
                                        <p:tgtEl>
                                          <p:spTgt spid="59"/>
                                        </p:tgtEl>
                                        <p:attrNameLst>
                                          <p:attrName>ppt_w</p:attrName>
                                        </p:attrNameLst>
                                      </p:cBhvr>
                                      <p:tavLst>
                                        <p:tav tm="0">
                                          <p:val>
                                            <p:fltVal val="0"/>
                                          </p:val>
                                        </p:tav>
                                        <p:tav tm="100000">
                                          <p:val>
                                            <p:strVal val="#ppt_w"/>
                                          </p:val>
                                        </p:tav>
                                      </p:tavLst>
                                    </p:anim>
                                    <p:anim calcmode="lin" valueType="num">
                                      <p:cBhvr>
                                        <p:cTn id="23" dur="500" fill="hold"/>
                                        <p:tgtEl>
                                          <p:spTgt spid="59"/>
                                        </p:tgtEl>
                                        <p:attrNameLst>
                                          <p:attrName>ppt_h</p:attrName>
                                        </p:attrNameLst>
                                      </p:cBhvr>
                                      <p:tavLst>
                                        <p:tav tm="0">
                                          <p:val>
                                            <p:fltVal val="0"/>
                                          </p:val>
                                        </p:tav>
                                        <p:tav tm="100000">
                                          <p:val>
                                            <p:strVal val="#ppt_h"/>
                                          </p:val>
                                        </p:tav>
                                      </p:tavLst>
                                    </p:anim>
                                    <p:anim calcmode="lin" valueType="num">
                                      <p:cBhvr>
                                        <p:cTn id="24" dur="500" fill="hold"/>
                                        <p:tgtEl>
                                          <p:spTgt spid="59"/>
                                        </p:tgtEl>
                                        <p:attrNameLst>
                                          <p:attrName>style.rotation</p:attrName>
                                        </p:attrNameLst>
                                      </p:cBhvr>
                                      <p:tavLst>
                                        <p:tav tm="0">
                                          <p:val>
                                            <p:fltVal val="360"/>
                                          </p:val>
                                        </p:tav>
                                        <p:tav tm="100000">
                                          <p:val>
                                            <p:fltVal val="0"/>
                                          </p:val>
                                        </p:tav>
                                      </p:tavLst>
                                    </p:anim>
                                    <p:animEffect transition="in" filter="fade">
                                      <p:cBhvr>
                                        <p:cTn id="25" dur="500"/>
                                        <p:tgtEl>
                                          <p:spTgt spid="59"/>
                                        </p:tgtEl>
                                      </p:cBhvr>
                                    </p:animEffect>
                                  </p:childTnLst>
                                </p:cTn>
                              </p:par>
                            </p:childTnLst>
                          </p:cTn>
                        </p:par>
                        <p:par>
                          <p:cTn id="26" fill="hold">
                            <p:stCondLst>
                              <p:cond delay="2000"/>
                            </p:stCondLst>
                            <p:childTnLst>
                              <p:par>
                                <p:cTn id="27" presetID="22" presetClass="entr" presetSubtype="2" fill="hold" nodeType="after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wipe(right)">
                                      <p:cBhvr>
                                        <p:cTn id="29" dur="500"/>
                                        <p:tgtEl>
                                          <p:spTgt spid="60"/>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wipe(left)">
                                      <p:cBhvr>
                                        <p:cTn id="33" dur="500"/>
                                        <p:tgtEl>
                                          <p:spTgt spid="65"/>
                                        </p:tgtEl>
                                      </p:cBhvr>
                                    </p:animEffect>
                                  </p:childTnLst>
                                </p:cTn>
                              </p:par>
                            </p:childTnLst>
                          </p:cTn>
                        </p:par>
                        <p:par>
                          <p:cTn id="34" fill="hold">
                            <p:stCondLst>
                              <p:cond delay="3000"/>
                            </p:stCondLst>
                            <p:childTnLst>
                              <p:par>
                                <p:cTn id="35" presetID="49" presetClass="entr" presetSubtype="0" decel="100000" fill="hold" grpId="0" nodeType="after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500" fill="hold"/>
                                        <p:tgtEl>
                                          <p:spTgt spid="58"/>
                                        </p:tgtEl>
                                        <p:attrNameLst>
                                          <p:attrName>ppt_w</p:attrName>
                                        </p:attrNameLst>
                                      </p:cBhvr>
                                      <p:tavLst>
                                        <p:tav tm="0">
                                          <p:val>
                                            <p:fltVal val="0"/>
                                          </p:val>
                                        </p:tav>
                                        <p:tav tm="100000">
                                          <p:val>
                                            <p:strVal val="#ppt_w"/>
                                          </p:val>
                                        </p:tav>
                                      </p:tavLst>
                                    </p:anim>
                                    <p:anim calcmode="lin" valueType="num">
                                      <p:cBhvr>
                                        <p:cTn id="38" dur="500" fill="hold"/>
                                        <p:tgtEl>
                                          <p:spTgt spid="58"/>
                                        </p:tgtEl>
                                        <p:attrNameLst>
                                          <p:attrName>ppt_h</p:attrName>
                                        </p:attrNameLst>
                                      </p:cBhvr>
                                      <p:tavLst>
                                        <p:tav tm="0">
                                          <p:val>
                                            <p:fltVal val="0"/>
                                          </p:val>
                                        </p:tav>
                                        <p:tav tm="100000">
                                          <p:val>
                                            <p:strVal val="#ppt_h"/>
                                          </p:val>
                                        </p:tav>
                                      </p:tavLst>
                                    </p:anim>
                                    <p:anim calcmode="lin" valueType="num">
                                      <p:cBhvr>
                                        <p:cTn id="39" dur="500" fill="hold"/>
                                        <p:tgtEl>
                                          <p:spTgt spid="58"/>
                                        </p:tgtEl>
                                        <p:attrNameLst>
                                          <p:attrName>style.rotation</p:attrName>
                                        </p:attrNameLst>
                                      </p:cBhvr>
                                      <p:tavLst>
                                        <p:tav tm="0">
                                          <p:val>
                                            <p:fltVal val="360"/>
                                          </p:val>
                                        </p:tav>
                                        <p:tav tm="100000">
                                          <p:val>
                                            <p:fltVal val="0"/>
                                          </p:val>
                                        </p:tav>
                                      </p:tavLst>
                                    </p:anim>
                                    <p:animEffect transition="in" filter="fade">
                                      <p:cBhvr>
                                        <p:cTn id="40" dur="500"/>
                                        <p:tgtEl>
                                          <p:spTgt spid="58"/>
                                        </p:tgtEl>
                                      </p:cBhvr>
                                    </p:animEffect>
                                  </p:childTnLst>
                                </p:cTn>
                              </p:par>
                            </p:childTnLst>
                          </p:cTn>
                        </p:par>
                        <p:par>
                          <p:cTn id="41" fill="hold">
                            <p:stCondLst>
                              <p:cond delay="3500"/>
                            </p:stCondLst>
                            <p:childTnLst>
                              <p:par>
                                <p:cTn id="42" presetID="22" presetClass="entr" presetSubtype="2" fill="hold" nodeType="after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right)">
                                      <p:cBhvr>
                                        <p:cTn id="44" dur="500"/>
                                        <p:tgtEl>
                                          <p:spTgt spid="61"/>
                                        </p:tgtEl>
                                      </p:cBhvr>
                                    </p:animEffect>
                                  </p:childTnLst>
                                </p:cTn>
                              </p:par>
                            </p:childTnLst>
                          </p:cTn>
                        </p:par>
                        <p:par>
                          <p:cTn id="45" fill="hold">
                            <p:stCondLst>
                              <p:cond delay="4000"/>
                            </p:stCondLst>
                            <p:childTnLst>
                              <p:par>
                                <p:cTn id="46" presetID="22" presetClass="entr" presetSubtype="4" fill="hold" grpId="0" nodeType="afterEffect">
                                  <p:stCondLst>
                                    <p:cond delay="0"/>
                                  </p:stCondLst>
                                  <p:childTnLst>
                                    <p:set>
                                      <p:cBhvr>
                                        <p:cTn id="47" dur="1" fill="hold">
                                          <p:stCondLst>
                                            <p:cond delay="0"/>
                                          </p:stCondLst>
                                        </p:cTn>
                                        <p:tgtEl>
                                          <p:spTgt spid="67"/>
                                        </p:tgtEl>
                                        <p:attrNameLst>
                                          <p:attrName>style.visibility</p:attrName>
                                        </p:attrNameLst>
                                      </p:cBhvr>
                                      <p:to>
                                        <p:strVal val="visible"/>
                                      </p:to>
                                    </p:set>
                                    <p:animEffect transition="in" filter="wipe(down)">
                                      <p:cBhvr>
                                        <p:cTn id="48" dur="500"/>
                                        <p:tgtEl>
                                          <p:spTgt spid="67"/>
                                        </p:tgtEl>
                                      </p:cBhvr>
                                    </p:animEffect>
                                  </p:childTnLst>
                                </p:cTn>
                              </p:par>
                            </p:childTnLst>
                          </p:cTn>
                        </p:par>
                        <p:par>
                          <p:cTn id="49" fill="hold">
                            <p:stCondLst>
                              <p:cond delay="4500"/>
                            </p:stCondLst>
                            <p:childTnLst>
                              <p:par>
                                <p:cTn id="50" presetID="49" presetClass="entr" presetSubtype="0" decel="100000" fill="hold" grpId="0" nodeType="after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p:cTn id="52" dur="500" fill="hold"/>
                                        <p:tgtEl>
                                          <p:spTgt spid="47"/>
                                        </p:tgtEl>
                                        <p:attrNameLst>
                                          <p:attrName>ppt_w</p:attrName>
                                        </p:attrNameLst>
                                      </p:cBhvr>
                                      <p:tavLst>
                                        <p:tav tm="0">
                                          <p:val>
                                            <p:fltVal val="0"/>
                                          </p:val>
                                        </p:tav>
                                        <p:tav tm="100000">
                                          <p:val>
                                            <p:strVal val="#ppt_w"/>
                                          </p:val>
                                        </p:tav>
                                      </p:tavLst>
                                    </p:anim>
                                    <p:anim calcmode="lin" valueType="num">
                                      <p:cBhvr>
                                        <p:cTn id="53" dur="500" fill="hold"/>
                                        <p:tgtEl>
                                          <p:spTgt spid="47"/>
                                        </p:tgtEl>
                                        <p:attrNameLst>
                                          <p:attrName>ppt_h</p:attrName>
                                        </p:attrNameLst>
                                      </p:cBhvr>
                                      <p:tavLst>
                                        <p:tav tm="0">
                                          <p:val>
                                            <p:fltVal val="0"/>
                                          </p:val>
                                        </p:tav>
                                        <p:tav tm="100000">
                                          <p:val>
                                            <p:strVal val="#ppt_h"/>
                                          </p:val>
                                        </p:tav>
                                      </p:tavLst>
                                    </p:anim>
                                    <p:anim calcmode="lin" valueType="num">
                                      <p:cBhvr>
                                        <p:cTn id="54" dur="500" fill="hold"/>
                                        <p:tgtEl>
                                          <p:spTgt spid="47"/>
                                        </p:tgtEl>
                                        <p:attrNameLst>
                                          <p:attrName>style.rotation</p:attrName>
                                        </p:attrNameLst>
                                      </p:cBhvr>
                                      <p:tavLst>
                                        <p:tav tm="0">
                                          <p:val>
                                            <p:fltVal val="360"/>
                                          </p:val>
                                        </p:tav>
                                        <p:tav tm="100000">
                                          <p:val>
                                            <p:fltVal val="0"/>
                                          </p:val>
                                        </p:tav>
                                      </p:tavLst>
                                    </p:anim>
                                    <p:animEffect transition="in" filter="fade">
                                      <p:cBhvr>
                                        <p:cTn id="55" dur="500"/>
                                        <p:tgtEl>
                                          <p:spTgt spid="47"/>
                                        </p:tgtEl>
                                      </p:cBhvr>
                                    </p:animEffect>
                                  </p:childTnLst>
                                </p:cTn>
                              </p:par>
                            </p:childTnLst>
                          </p:cTn>
                        </p:par>
                        <p:par>
                          <p:cTn id="56" fill="hold">
                            <p:stCondLst>
                              <p:cond delay="5000"/>
                            </p:stCondLst>
                            <p:childTnLst>
                              <p:par>
                                <p:cTn id="57" presetID="22" presetClass="entr" presetSubtype="8" fill="hold" nodeType="after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wipe(left)">
                                      <p:cBhvr>
                                        <p:cTn id="59" dur="500"/>
                                        <p:tgtEl>
                                          <p:spTgt spid="63"/>
                                        </p:tgtEl>
                                      </p:cBhvr>
                                    </p:animEffect>
                                  </p:childTnLst>
                                </p:cTn>
                              </p:par>
                            </p:childTnLst>
                          </p:cTn>
                        </p:par>
                        <p:par>
                          <p:cTn id="60" fill="hold">
                            <p:stCondLst>
                              <p:cond delay="5500"/>
                            </p:stCondLst>
                            <p:childTnLst>
                              <p:par>
                                <p:cTn id="61" presetID="22" presetClass="entr" presetSubtype="8" fill="hold" grpId="0" nodeType="afterEffect">
                                  <p:stCondLst>
                                    <p:cond delay="0"/>
                                  </p:stCondLst>
                                  <p:childTnLst>
                                    <p:set>
                                      <p:cBhvr>
                                        <p:cTn id="62" dur="1" fill="hold">
                                          <p:stCondLst>
                                            <p:cond delay="0"/>
                                          </p:stCondLst>
                                        </p:cTn>
                                        <p:tgtEl>
                                          <p:spTgt spid="68"/>
                                        </p:tgtEl>
                                        <p:attrNameLst>
                                          <p:attrName>style.visibility</p:attrName>
                                        </p:attrNameLst>
                                      </p:cBhvr>
                                      <p:to>
                                        <p:strVal val="visible"/>
                                      </p:to>
                                    </p:set>
                                    <p:animEffect transition="in" filter="wipe(left)">
                                      <p:cBhvr>
                                        <p:cTn id="63" dur="500"/>
                                        <p:tgtEl>
                                          <p:spTgt spid="68"/>
                                        </p:tgtEl>
                                      </p:cBhvr>
                                    </p:animEffect>
                                  </p:childTnLst>
                                </p:cTn>
                              </p:par>
                            </p:childTnLst>
                          </p:cTn>
                        </p:par>
                        <p:par>
                          <p:cTn id="64" fill="hold">
                            <p:stCondLst>
                              <p:cond delay="6000"/>
                            </p:stCondLst>
                            <p:childTnLst>
                              <p:par>
                                <p:cTn id="65" presetID="22" presetClass="entr" presetSubtype="1"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wipe(up)">
                                      <p:cBhvr>
                                        <p:cTn id="67" dur="500"/>
                                        <p:tgtEl>
                                          <p:spTgt spid="64"/>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72"/>
                                        </p:tgtEl>
                                        <p:attrNameLst>
                                          <p:attrName>style.visibility</p:attrName>
                                        </p:attrNameLst>
                                      </p:cBhvr>
                                      <p:to>
                                        <p:strVal val="visible"/>
                                      </p:to>
                                    </p:set>
                                    <p:animEffect transition="in" filter="strips(downLeft)">
                                      <p:cBhvr>
                                        <p:cTn id="7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7" grpId="0" animBg="1"/>
      <p:bldP spid="58" grpId="0" animBg="1"/>
      <p:bldP spid="59" grpId="0" animBg="1"/>
      <p:bldP spid="65" grpId="0"/>
      <p:bldP spid="66" grpId="0"/>
      <p:bldP spid="67" grpId="0"/>
      <p:bldP spid="68" grpId="0"/>
      <p:bldP spid="7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）首次适应算法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基于顺序搜索的动态分区分配算法</a:t>
            </a:r>
          </a:p>
        </p:txBody>
      </p:sp>
      <p:sp>
        <p:nvSpPr>
          <p:cNvPr id="22" name="文本框 19"/>
          <p:cNvSpPr txBox="1">
            <a:spLocks noChangeArrowheads="1"/>
          </p:cNvSpPr>
          <p:nvPr/>
        </p:nvSpPr>
        <p:spPr bwMode="auto">
          <a:xfrm>
            <a:off x="1068088" y="2286937"/>
            <a:ext cx="5042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空闲分区链以地址递增的次序链接</a:t>
            </a:r>
          </a:p>
        </p:txBody>
      </p:sp>
      <p:sp>
        <p:nvSpPr>
          <p:cNvPr id="23" name="文本框 52"/>
          <p:cNvSpPr txBox="1">
            <a:spLocks noChangeArrowheads="1"/>
          </p:cNvSpPr>
          <p:nvPr/>
        </p:nvSpPr>
        <p:spPr bwMode="auto">
          <a:xfrm>
            <a:off x="1068088" y="182662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要求</a:t>
            </a:r>
          </a:p>
        </p:txBody>
      </p:sp>
      <p:sp>
        <p:nvSpPr>
          <p:cNvPr id="24" name="文本框 19"/>
          <p:cNvSpPr txBox="1">
            <a:spLocks noChangeArrowheads="1"/>
          </p:cNvSpPr>
          <p:nvPr/>
        </p:nvSpPr>
        <p:spPr bwMode="auto">
          <a:xfrm>
            <a:off x="1080711" y="3263466"/>
            <a:ext cx="90672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从链首开始顺序搜索，直至找到一个大小能满足要求的空闲分区，从该分区中划出一块能放下作业的空间给请求者，剩下的空闲分区仍留在空闲链中。若未找到大小大于作业要求的大小，则分配失败。</a:t>
            </a:r>
          </a:p>
        </p:txBody>
      </p:sp>
      <p:sp>
        <p:nvSpPr>
          <p:cNvPr id="25" name="文本框 52"/>
          <p:cNvSpPr txBox="1">
            <a:spLocks noChangeArrowheads="1"/>
          </p:cNvSpPr>
          <p:nvPr/>
        </p:nvSpPr>
        <p:spPr bwMode="auto">
          <a:xfrm>
            <a:off x="1065545" y="279496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算法</a:t>
            </a:r>
          </a:p>
        </p:txBody>
      </p:sp>
      <p:sp>
        <p:nvSpPr>
          <p:cNvPr id="26" name="文本框 19"/>
          <p:cNvSpPr txBox="1">
            <a:spLocks noChangeArrowheads="1"/>
          </p:cNvSpPr>
          <p:nvPr/>
        </p:nvSpPr>
        <p:spPr bwMode="auto">
          <a:xfrm>
            <a:off x="1085774" y="5048136"/>
            <a:ext cx="90477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低地址不断被划分，留下许多难以利用的、很小的空闲分区；因为每次查找都是从低地址开始，从而增加可用空闲分区查找的开销。</a:t>
            </a:r>
          </a:p>
        </p:txBody>
      </p:sp>
      <p:sp>
        <p:nvSpPr>
          <p:cNvPr id="32" name="文本框 52"/>
          <p:cNvSpPr txBox="1">
            <a:spLocks noChangeArrowheads="1"/>
          </p:cNvSpPr>
          <p:nvPr/>
        </p:nvSpPr>
        <p:spPr bwMode="auto">
          <a:xfrm>
            <a:off x="1070609" y="4579632"/>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grpSp>
        <p:nvGrpSpPr>
          <p:cNvPr id="33" name="Group 7"/>
          <p:cNvGrpSpPr>
            <a:grpSpLocks noChangeAspect="1"/>
          </p:cNvGrpSpPr>
          <p:nvPr/>
        </p:nvGrpSpPr>
        <p:grpSpPr bwMode="auto">
          <a:xfrm>
            <a:off x="9128125" y="674390"/>
            <a:ext cx="2468562" cy="2520950"/>
            <a:chOff x="2099" y="2700"/>
            <a:chExt cx="2743" cy="2800"/>
          </a:xfrm>
        </p:grpSpPr>
        <p:sp>
          <p:nvSpPr>
            <p:cNvPr id="34" name="AutoShape 8"/>
            <p:cNvSpPr>
              <a:spLocks noChangeAspect="1" noChangeArrowheads="1"/>
            </p:cNvSpPr>
            <p:nvPr/>
          </p:nvSpPr>
          <p:spPr bwMode="auto">
            <a:xfrm>
              <a:off x="2099" y="2700"/>
              <a:ext cx="2743" cy="2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800" b="1">
                <a:solidFill>
                  <a:srgbClr val="CC0000"/>
                </a:solidFill>
                <a:latin typeface="Tahoma" pitchFamily="34" charset="0"/>
              </a:endParaRPr>
            </a:p>
          </p:txBody>
        </p:sp>
        <p:sp>
          <p:nvSpPr>
            <p:cNvPr id="35" name="Text Box 9" descr="宽上对角线"/>
            <p:cNvSpPr txBox="1">
              <a:spLocks noChangeArrowheads="1"/>
            </p:cNvSpPr>
            <p:nvPr/>
          </p:nvSpPr>
          <p:spPr bwMode="auto">
            <a:xfrm>
              <a:off x="3178" y="29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6" name="Text Box 10"/>
            <p:cNvSpPr txBox="1">
              <a:spLocks noChangeArrowheads="1"/>
            </p:cNvSpPr>
            <p:nvPr/>
          </p:nvSpPr>
          <p:spPr bwMode="auto">
            <a:xfrm>
              <a:off x="3178" y="3196"/>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7" name="Text Box 11" descr="宽上对角线"/>
            <p:cNvSpPr txBox="1">
              <a:spLocks noChangeArrowheads="1"/>
            </p:cNvSpPr>
            <p:nvPr/>
          </p:nvSpPr>
          <p:spPr bwMode="auto">
            <a:xfrm>
              <a:off x="3178" y="35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8" name="Text Box 12"/>
            <p:cNvSpPr txBox="1">
              <a:spLocks noChangeArrowheads="1"/>
            </p:cNvSpPr>
            <p:nvPr/>
          </p:nvSpPr>
          <p:spPr bwMode="auto">
            <a:xfrm>
              <a:off x="3178" y="4348"/>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9" name="Text Box 13" descr="宽上对角线"/>
            <p:cNvSpPr txBox="1">
              <a:spLocks noChangeArrowheads="1"/>
            </p:cNvSpPr>
            <p:nvPr/>
          </p:nvSpPr>
          <p:spPr bwMode="auto">
            <a:xfrm>
              <a:off x="3178" y="464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0" name="Text Box 14" descr="宽上对角线"/>
            <p:cNvSpPr txBox="1">
              <a:spLocks noChangeArrowheads="1"/>
            </p:cNvSpPr>
            <p:nvPr/>
          </p:nvSpPr>
          <p:spPr bwMode="auto">
            <a:xfrm>
              <a:off x="3178" y="4064"/>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1" name="Text Box 15"/>
            <p:cNvSpPr txBox="1">
              <a:spLocks noChangeArrowheads="1"/>
            </p:cNvSpPr>
            <p:nvPr/>
          </p:nvSpPr>
          <p:spPr bwMode="auto">
            <a:xfrm>
              <a:off x="3178" y="3780"/>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2" name="Text Box 16"/>
            <p:cNvSpPr txBox="1">
              <a:spLocks noChangeArrowheads="1"/>
            </p:cNvSpPr>
            <p:nvPr/>
          </p:nvSpPr>
          <p:spPr bwMode="auto">
            <a:xfrm>
              <a:off x="3178" y="4924"/>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3" name="Text Box 17"/>
            <p:cNvSpPr txBox="1">
              <a:spLocks noChangeArrowheads="1"/>
            </p:cNvSpPr>
            <p:nvPr/>
          </p:nvSpPr>
          <p:spPr bwMode="auto">
            <a:xfrm>
              <a:off x="2099" y="2804"/>
              <a:ext cx="1055" cy="26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lnSpc>
                  <a:spcPct val="112000"/>
                </a:lnSpc>
              </a:pPr>
              <a:r>
                <a:rPr kumimoji="0" lang="en-US" altLang="zh-CN" sz="1500" b="1">
                  <a:solidFill>
                    <a:srgbClr val="CC0000"/>
                  </a:solidFill>
                </a:rPr>
                <a:t>0KB</a:t>
              </a:r>
            </a:p>
            <a:p>
              <a:pPr algn="r" eaLnBrk="1" hangingPunct="1">
                <a:lnSpc>
                  <a:spcPct val="112000"/>
                </a:lnSpc>
              </a:pPr>
              <a:r>
                <a:rPr kumimoji="0" lang="en-US" altLang="zh-CN" sz="1500" b="1">
                  <a:solidFill>
                    <a:srgbClr val="CC0000"/>
                  </a:solidFill>
                </a:rPr>
                <a:t>100KB</a:t>
              </a:r>
            </a:p>
            <a:p>
              <a:pPr algn="r" eaLnBrk="1" hangingPunct="1">
                <a:lnSpc>
                  <a:spcPct val="112000"/>
                </a:lnSpc>
              </a:pPr>
              <a:r>
                <a:rPr kumimoji="0" lang="en-US" altLang="zh-CN" sz="1500" b="1">
                  <a:solidFill>
                    <a:srgbClr val="CC0000"/>
                  </a:solidFill>
                </a:rPr>
                <a:t>180KB</a:t>
              </a:r>
            </a:p>
            <a:p>
              <a:pPr algn="r" eaLnBrk="1" hangingPunct="1">
                <a:lnSpc>
                  <a:spcPct val="112000"/>
                </a:lnSpc>
              </a:pPr>
              <a:r>
                <a:rPr kumimoji="0" lang="en-US" altLang="zh-CN" sz="1500" b="1">
                  <a:solidFill>
                    <a:srgbClr val="CC0000"/>
                  </a:solidFill>
                </a:rPr>
                <a:t>190KB</a:t>
              </a:r>
            </a:p>
            <a:p>
              <a:pPr algn="r" eaLnBrk="1" hangingPunct="1">
                <a:lnSpc>
                  <a:spcPct val="112000"/>
                </a:lnSpc>
              </a:pPr>
              <a:r>
                <a:rPr kumimoji="0" lang="en-US" altLang="zh-CN" sz="1500" b="1">
                  <a:solidFill>
                    <a:srgbClr val="CC0000"/>
                  </a:solidFill>
                </a:rPr>
                <a:t>280KB</a:t>
              </a:r>
            </a:p>
            <a:p>
              <a:pPr algn="r" eaLnBrk="1" hangingPunct="1">
                <a:lnSpc>
                  <a:spcPct val="112000"/>
                </a:lnSpc>
              </a:pPr>
              <a:r>
                <a:rPr kumimoji="0" lang="en-US" altLang="zh-CN" sz="1500" b="1">
                  <a:solidFill>
                    <a:srgbClr val="CC0000"/>
                  </a:solidFill>
                </a:rPr>
                <a:t>330KB</a:t>
              </a:r>
            </a:p>
            <a:p>
              <a:pPr algn="r" eaLnBrk="1" hangingPunct="1">
                <a:lnSpc>
                  <a:spcPct val="112000"/>
                </a:lnSpc>
              </a:pPr>
              <a:r>
                <a:rPr kumimoji="0" lang="en-US" altLang="zh-CN" sz="1500" b="1">
                  <a:solidFill>
                    <a:srgbClr val="CC0000"/>
                  </a:solidFill>
                </a:rPr>
                <a:t>390KB</a:t>
              </a:r>
            </a:p>
            <a:p>
              <a:pPr algn="r" eaLnBrk="1" hangingPunct="1">
                <a:lnSpc>
                  <a:spcPct val="112000"/>
                </a:lnSpc>
              </a:pPr>
              <a:r>
                <a:rPr kumimoji="0" lang="en-US" altLang="zh-CN" sz="1500" b="1">
                  <a:solidFill>
                    <a:srgbClr val="CC0000"/>
                  </a:solidFill>
                </a:rPr>
                <a:t>410KB</a:t>
              </a:r>
            </a:p>
            <a:p>
              <a:pPr algn="r" eaLnBrk="1" hangingPunct="1">
                <a:lnSpc>
                  <a:spcPct val="112000"/>
                </a:lnSpc>
              </a:pPr>
              <a:r>
                <a:rPr kumimoji="0" lang="en-US" altLang="zh-CN" sz="1500" b="1">
                  <a:solidFill>
                    <a:srgbClr val="CC0000"/>
                  </a:solidFill>
                </a:rPr>
                <a:t>512KB</a:t>
              </a:r>
              <a:endParaRPr kumimoji="0" lang="en-US" altLang="zh-CN" sz="1500" b="1">
                <a:solidFill>
                  <a:srgbClr val="CC0000"/>
                </a:solidFill>
                <a:latin typeface="Tahoma" pitchFamily="34" charset="0"/>
              </a:endParaRPr>
            </a:p>
          </p:txBody>
        </p:sp>
      </p:grpSp>
      <p:sp>
        <p:nvSpPr>
          <p:cNvPr id="44" name="AutoShape 18"/>
          <p:cNvSpPr>
            <a:spLocks noChangeArrowheads="1"/>
          </p:cNvSpPr>
          <p:nvPr/>
        </p:nvSpPr>
        <p:spPr bwMode="auto">
          <a:xfrm>
            <a:off x="5901954" y="969493"/>
            <a:ext cx="3146521" cy="1013656"/>
          </a:xfrm>
          <a:prstGeom prst="wedgeRoundRectCallout">
            <a:avLst>
              <a:gd name="adj1" fmla="val 70000"/>
              <a:gd name="adj2" fmla="val 88394"/>
              <a:gd name="adj3" fmla="val 16667"/>
            </a:avLst>
          </a:prstGeom>
          <a:ln>
            <a:headEnd/>
            <a:tailEnd/>
          </a:ln>
        </p:spPr>
        <p:style>
          <a:lnRef idx="3">
            <a:schemeClr val="lt1"/>
          </a:lnRef>
          <a:fillRef idx="1">
            <a:schemeClr val="accent6"/>
          </a:fillRef>
          <a:effectRef idx="1">
            <a:schemeClr val="accent6"/>
          </a:effectRef>
          <a:fontRef idx="minor">
            <a:schemeClr val="lt1"/>
          </a:fontRef>
        </p:style>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kumimoji="0" lang="zh-CN" altLang="en-US" sz="1800" b="1" dirty="0">
                <a:solidFill>
                  <a:schemeClr val="bg1"/>
                </a:solidFill>
                <a:latin typeface="Tahoma" pitchFamily="34" charset="0"/>
              </a:rPr>
              <a:t>阴影部分表示已占用块，空白部分表示空闲块申请</a:t>
            </a:r>
            <a:r>
              <a:rPr kumimoji="0" lang="en-US" altLang="zh-CN" sz="1800" b="1" dirty="0">
                <a:solidFill>
                  <a:schemeClr val="bg1"/>
                </a:solidFill>
                <a:latin typeface="Tahoma" pitchFamily="34" charset="0"/>
              </a:rPr>
              <a:t>40K</a:t>
            </a:r>
            <a:r>
              <a:rPr kumimoji="0" lang="zh-CN" altLang="en-US" sz="1800" b="1" dirty="0">
                <a:solidFill>
                  <a:schemeClr val="bg1"/>
                </a:solidFill>
                <a:latin typeface="Tahoma" pitchFamily="34" charset="0"/>
              </a:rPr>
              <a:t>内存 </a:t>
            </a:r>
          </a:p>
        </p:txBody>
      </p:sp>
      <p:sp>
        <p:nvSpPr>
          <p:cNvPr id="45" name="Rectangle 19"/>
          <p:cNvSpPr>
            <a:spLocks noChangeArrowheads="1"/>
          </p:cNvSpPr>
          <p:nvPr/>
        </p:nvSpPr>
        <p:spPr bwMode="auto">
          <a:xfrm>
            <a:off x="10112375" y="1139150"/>
            <a:ext cx="1296987" cy="142875"/>
          </a:xfrm>
          <a:prstGeom prst="rect">
            <a:avLst/>
          </a:prstGeom>
          <a:solidFill>
            <a:srgbClr val="CC00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420455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32"/>
                                        </p:tgtEl>
                                        <p:attrNameLst>
                                          <p:attrName>style.visibility</p:attrName>
                                        </p:attrNameLst>
                                      </p:cBhvr>
                                      <p:to>
                                        <p:strVal val="visible"/>
                                      </p:to>
                                    </p:set>
                                    <p:anim calcmode="lin" valueType="num">
                                      <p:cBhvr>
                                        <p:cTn id="31" dur="500" fill="hold"/>
                                        <p:tgtEl>
                                          <p:spTgt spid="32"/>
                                        </p:tgtEl>
                                        <p:attrNameLst>
                                          <p:attrName>ppt_w</p:attrName>
                                        </p:attrNameLst>
                                      </p:cBhvr>
                                      <p:tavLst>
                                        <p:tav tm="0">
                                          <p:val>
                                            <p:strVal val="#ppt_w+.3"/>
                                          </p:val>
                                        </p:tav>
                                        <p:tav tm="100000">
                                          <p:val>
                                            <p:strVal val="#ppt_w"/>
                                          </p:val>
                                        </p:tav>
                                      </p:tavLst>
                                    </p:anim>
                                    <p:anim calcmode="lin" valueType="num">
                                      <p:cBhvr>
                                        <p:cTn id="32" dur="500" fill="hold"/>
                                        <p:tgtEl>
                                          <p:spTgt spid="32"/>
                                        </p:tgtEl>
                                        <p:attrNameLst>
                                          <p:attrName>ppt_h</p:attrName>
                                        </p:attrNameLst>
                                      </p:cBhvr>
                                      <p:tavLst>
                                        <p:tav tm="0">
                                          <p:val>
                                            <p:strVal val="#ppt_h"/>
                                          </p:val>
                                        </p:tav>
                                        <p:tav tm="100000">
                                          <p:val>
                                            <p:strVal val="#ppt_h"/>
                                          </p:val>
                                        </p:tav>
                                      </p:tavLst>
                                    </p:anim>
                                    <p:animEffect transition="in" filter="fade">
                                      <p:cBhvr>
                                        <p:cTn id="33" dur="500"/>
                                        <p:tgtEl>
                                          <p:spTgt spid="32"/>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strips(downLeft)">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checkerboard(across)">
                                      <p:cBhvr>
                                        <p:cTn id="43" dur="500"/>
                                        <p:tgtEl>
                                          <p:spTgt spid="33"/>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checkerboard(across)">
                                      <p:cBhvr>
                                        <p:cTn id="46" dur="500"/>
                                        <p:tgtEl>
                                          <p:spTgt spid="44"/>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checkerboard(across)">
                                      <p:cBhvr>
                                        <p:cTn id="51" dur="500"/>
                                        <p:tgtEl>
                                          <p:spTgt spid="45"/>
                                        </p:tgtEl>
                                      </p:cBhvr>
                                    </p:animEffect>
                                  </p:childTnLst>
                                </p:cTn>
                              </p:par>
                              <p:par>
                                <p:cTn id="52" presetID="35" presetClass="emph" presetSubtype="0" repeatCount="4000" fill="hold" grpId="1" nodeType="withEffect">
                                  <p:stCondLst>
                                    <p:cond delay="0"/>
                                  </p:stCondLst>
                                  <p:childTnLst>
                                    <p:anim calcmode="discrete" valueType="str">
                                      <p:cBhvr>
                                        <p:cTn id="53" dur="1000" fill="hold"/>
                                        <p:tgtEl>
                                          <p:spTgt spid="45"/>
                                        </p:tgtEl>
                                        <p:attrNameLst>
                                          <p:attrName>style.visibility</p:attrName>
                                        </p:attrNameLst>
                                      </p:cBhvr>
                                      <p:tavLst>
                                        <p:tav tm="0">
                                          <p:val>
                                            <p:strVal val="hidden"/>
                                          </p:val>
                                        </p:tav>
                                        <p:tav tm="50000">
                                          <p:val>
                                            <p:strVal val="visible"/>
                                          </p:val>
                                        </p:tav>
                                      </p:tavLst>
                                    </p:anim>
                                  </p:childTnLst>
                                </p:cTn>
                              </p:par>
                            </p:childTnLst>
                          </p:cTn>
                        </p:par>
                      </p:childTnLst>
                    </p:cTn>
                  </p:par>
                  <p:par>
                    <p:cTn id="54" fill="hold">
                      <p:stCondLst>
                        <p:cond delay="indefinite"/>
                      </p:stCondLst>
                      <p:childTnLst>
                        <p:par>
                          <p:cTn id="55" fill="hold">
                            <p:stCondLst>
                              <p:cond delay="0"/>
                            </p:stCondLst>
                            <p:childTnLst>
                              <p:par>
                                <p:cTn id="56" presetID="5" presetClass="exit" presetSubtype="10" fill="hold" nodeType="clickEffect">
                                  <p:stCondLst>
                                    <p:cond delay="0"/>
                                  </p:stCondLst>
                                  <p:childTnLst>
                                    <p:animEffect transition="out" filter="checkerboard(across)">
                                      <p:cBhvr>
                                        <p:cTn id="57" dur="500"/>
                                        <p:tgtEl>
                                          <p:spTgt spid="33"/>
                                        </p:tgtEl>
                                      </p:cBhvr>
                                    </p:animEffect>
                                    <p:set>
                                      <p:cBhvr>
                                        <p:cTn id="58" dur="1" fill="hold">
                                          <p:stCondLst>
                                            <p:cond delay="499"/>
                                          </p:stCondLst>
                                        </p:cTn>
                                        <p:tgtEl>
                                          <p:spTgt spid="33"/>
                                        </p:tgtEl>
                                        <p:attrNameLst>
                                          <p:attrName>style.visibility</p:attrName>
                                        </p:attrNameLst>
                                      </p:cBhvr>
                                      <p:to>
                                        <p:strVal val="hidden"/>
                                      </p:to>
                                    </p:set>
                                  </p:childTnLst>
                                </p:cTn>
                              </p:par>
                              <p:par>
                                <p:cTn id="59" presetID="5" presetClass="exit" presetSubtype="10" fill="hold" grpId="1" nodeType="withEffect">
                                  <p:stCondLst>
                                    <p:cond delay="0"/>
                                  </p:stCondLst>
                                  <p:childTnLst>
                                    <p:animEffect transition="out" filter="checkerboard(across)">
                                      <p:cBhvr>
                                        <p:cTn id="60" dur="500"/>
                                        <p:tgtEl>
                                          <p:spTgt spid="44"/>
                                        </p:tgtEl>
                                      </p:cBhvr>
                                    </p:animEffect>
                                    <p:set>
                                      <p:cBhvr>
                                        <p:cTn id="61" dur="1" fill="hold">
                                          <p:stCondLst>
                                            <p:cond delay="499"/>
                                          </p:stCondLst>
                                        </p:cTn>
                                        <p:tgtEl>
                                          <p:spTgt spid="44"/>
                                        </p:tgtEl>
                                        <p:attrNameLst>
                                          <p:attrName>style.visibility</p:attrName>
                                        </p:attrNameLst>
                                      </p:cBhvr>
                                      <p:to>
                                        <p:strVal val="hidden"/>
                                      </p:to>
                                    </p:set>
                                  </p:childTnLst>
                                </p:cTn>
                              </p:par>
                              <p:par>
                                <p:cTn id="62" presetID="5" presetClass="exit" presetSubtype="10" fill="hold" grpId="2" nodeType="withEffect">
                                  <p:stCondLst>
                                    <p:cond delay="0"/>
                                  </p:stCondLst>
                                  <p:childTnLst>
                                    <p:animEffect transition="out" filter="checkerboard(across)">
                                      <p:cBhvr>
                                        <p:cTn id="63" dur="500"/>
                                        <p:tgtEl>
                                          <p:spTgt spid="45"/>
                                        </p:tgtEl>
                                      </p:cBhvr>
                                    </p:animEffect>
                                    <p:set>
                                      <p:cBhvr>
                                        <p:cTn id="64"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32" grpId="0"/>
      <p:bldP spid="44" grpId="0" animBg="1"/>
      <p:bldP spid="44" grpId="1" animBg="1"/>
      <p:bldP spid="45" grpId="0" animBg="1"/>
      <p:bldP spid="45" grpId="1" animBg="1"/>
      <p:bldP spid="45" grpId="2"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）循环首次适应算法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基于顺序搜索的动态分区分配算法</a:t>
            </a:r>
          </a:p>
        </p:txBody>
      </p:sp>
      <p:sp>
        <p:nvSpPr>
          <p:cNvPr id="22" name="文本框 19"/>
          <p:cNvSpPr txBox="1">
            <a:spLocks noChangeArrowheads="1"/>
          </p:cNvSpPr>
          <p:nvPr/>
        </p:nvSpPr>
        <p:spPr bwMode="auto">
          <a:xfrm>
            <a:off x="1068087" y="2286937"/>
            <a:ext cx="70599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设置查找指针，指示下一次起始查询的空闲分区，采用循环查找方式。</a:t>
            </a:r>
          </a:p>
          <a:p>
            <a:pPr marL="0" lvl="2" indent="0">
              <a:buBlip>
                <a:blip r:embed="rId3"/>
              </a:buBlip>
            </a:pPr>
            <a:endParaRPr lang="zh-CN" altLang="en-US" sz="2400" dirty="0"/>
          </a:p>
        </p:txBody>
      </p:sp>
      <p:sp>
        <p:nvSpPr>
          <p:cNvPr id="23" name="文本框 52"/>
          <p:cNvSpPr txBox="1">
            <a:spLocks noChangeArrowheads="1"/>
          </p:cNvSpPr>
          <p:nvPr/>
        </p:nvSpPr>
        <p:spPr bwMode="auto">
          <a:xfrm>
            <a:off x="1068088" y="182662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要求</a:t>
            </a:r>
          </a:p>
        </p:txBody>
      </p:sp>
      <p:sp>
        <p:nvSpPr>
          <p:cNvPr id="24" name="文本框 19"/>
          <p:cNvSpPr txBox="1">
            <a:spLocks noChangeArrowheads="1"/>
          </p:cNvSpPr>
          <p:nvPr/>
        </p:nvSpPr>
        <p:spPr bwMode="auto">
          <a:xfrm>
            <a:off x="1080711" y="3626316"/>
            <a:ext cx="90672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不从链首开始查找，从上次找到的空闲分区的下一空闲分区开始查找</a:t>
            </a:r>
            <a:r>
              <a:rPr lang="zh-CN" altLang="en-US" sz="2400" dirty="0"/>
              <a:t>。</a:t>
            </a:r>
          </a:p>
        </p:txBody>
      </p:sp>
      <p:sp>
        <p:nvSpPr>
          <p:cNvPr id="25" name="文本框 52"/>
          <p:cNvSpPr txBox="1">
            <a:spLocks noChangeArrowheads="1"/>
          </p:cNvSpPr>
          <p:nvPr/>
        </p:nvSpPr>
        <p:spPr bwMode="auto">
          <a:xfrm>
            <a:off x="1065545" y="315781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算法</a:t>
            </a:r>
          </a:p>
        </p:txBody>
      </p:sp>
      <p:sp>
        <p:nvSpPr>
          <p:cNvPr id="26" name="文本框 19"/>
          <p:cNvSpPr txBox="1">
            <a:spLocks noChangeArrowheads="1"/>
          </p:cNvSpPr>
          <p:nvPr/>
        </p:nvSpPr>
        <p:spPr bwMode="auto">
          <a:xfrm>
            <a:off x="1085774" y="5048136"/>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减少了查找空闲分区的开销</a:t>
            </a:r>
          </a:p>
        </p:txBody>
      </p:sp>
      <p:sp>
        <p:nvSpPr>
          <p:cNvPr id="32" name="文本框 52"/>
          <p:cNvSpPr txBox="1">
            <a:spLocks noChangeArrowheads="1"/>
          </p:cNvSpPr>
          <p:nvPr/>
        </p:nvSpPr>
        <p:spPr bwMode="auto">
          <a:xfrm>
            <a:off x="1070609" y="4579632"/>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优点</a:t>
            </a:r>
          </a:p>
        </p:txBody>
      </p:sp>
      <p:grpSp>
        <p:nvGrpSpPr>
          <p:cNvPr id="31" name="Group 8"/>
          <p:cNvGrpSpPr>
            <a:grpSpLocks noChangeAspect="1"/>
          </p:cNvGrpSpPr>
          <p:nvPr/>
        </p:nvGrpSpPr>
        <p:grpSpPr bwMode="auto">
          <a:xfrm>
            <a:off x="8899210" y="700800"/>
            <a:ext cx="2468563" cy="2520950"/>
            <a:chOff x="2099" y="2700"/>
            <a:chExt cx="2743" cy="2800"/>
          </a:xfrm>
        </p:grpSpPr>
        <p:sp>
          <p:nvSpPr>
            <p:cNvPr id="46" name="AutoShape 9"/>
            <p:cNvSpPr>
              <a:spLocks noChangeAspect="1" noChangeArrowheads="1"/>
            </p:cNvSpPr>
            <p:nvPr/>
          </p:nvSpPr>
          <p:spPr bwMode="auto">
            <a:xfrm>
              <a:off x="2099" y="2700"/>
              <a:ext cx="2743" cy="2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800" b="1">
                <a:solidFill>
                  <a:srgbClr val="CC0000"/>
                </a:solidFill>
                <a:latin typeface="Tahoma" pitchFamily="34" charset="0"/>
              </a:endParaRPr>
            </a:p>
          </p:txBody>
        </p:sp>
        <p:sp>
          <p:nvSpPr>
            <p:cNvPr id="47" name="Text Box 10" descr="宽上对角线"/>
            <p:cNvSpPr txBox="1">
              <a:spLocks noChangeArrowheads="1"/>
            </p:cNvSpPr>
            <p:nvPr/>
          </p:nvSpPr>
          <p:spPr bwMode="auto">
            <a:xfrm>
              <a:off x="3178" y="29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8" name="Text Box 11"/>
            <p:cNvSpPr txBox="1">
              <a:spLocks noChangeArrowheads="1"/>
            </p:cNvSpPr>
            <p:nvPr/>
          </p:nvSpPr>
          <p:spPr bwMode="auto">
            <a:xfrm>
              <a:off x="3178" y="3196"/>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0" name="Text Box 12" descr="宽上对角线"/>
            <p:cNvSpPr txBox="1">
              <a:spLocks noChangeArrowheads="1"/>
            </p:cNvSpPr>
            <p:nvPr/>
          </p:nvSpPr>
          <p:spPr bwMode="auto">
            <a:xfrm>
              <a:off x="3178" y="35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1" name="Text Box 13"/>
            <p:cNvSpPr txBox="1">
              <a:spLocks noChangeArrowheads="1"/>
            </p:cNvSpPr>
            <p:nvPr/>
          </p:nvSpPr>
          <p:spPr bwMode="auto">
            <a:xfrm>
              <a:off x="3178" y="4348"/>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2" name="Text Box 14" descr="宽上对角线"/>
            <p:cNvSpPr txBox="1">
              <a:spLocks noChangeArrowheads="1"/>
            </p:cNvSpPr>
            <p:nvPr/>
          </p:nvSpPr>
          <p:spPr bwMode="auto">
            <a:xfrm>
              <a:off x="3178" y="464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3" name="Text Box 15" descr="宽上对角线"/>
            <p:cNvSpPr txBox="1">
              <a:spLocks noChangeArrowheads="1"/>
            </p:cNvSpPr>
            <p:nvPr/>
          </p:nvSpPr>
          <p:spPr bwMode="auto">
            <a:xfrm>
              <a:off x="3178" y="4064"/>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4" name="Text Box 16"/>
            <p:cNvSpPr txBox="1">
              <a:spLocks noChangeArrowheads="1"/>
            </p:cNvSpPr>
            <p:nvPr/>
          </p:nvSpPr>
          <p:spPr bwMode="auto">
            <a:xfrm>
              <a:off x="3178" y="3780"/>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5" name="Text Box 17"/>
            <p:cNvSpPr txBox="1">
              <a:spLocks noChangeArrowheads="1"/>
            </p:cNvSpPr>
            <p:nvPr/>
          </p:nvSpPr>
          <p:spPr bwMode="auto">
            <a:xfrm>
              <a:off x="3178" y="4924"/>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6" name="Text Box 18"/>
            <p:cNvSpPr txBox="1">
              <a:spLocks noChangeArrowheads="1"/>
            </p:cNvSpPr>
            <p:nvPr/>
          </p:nvSpPr>
          <p:spPr bwMode="auto">
            <a:xfrm>
              <a:off x="2099" y="2804"/>
              <a:ext cx="1055" cy="26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lnSpc>
                  <a:spcPct val="112000"/>
                </a:lnSpc>
              </a:pPr>
              <a:r>
                <a:rPr kumimoji="0" lang="en-US" altLang="zh-CN" sz="1500" b="1">
                  <a:solidFill>
                    <a:srgbClr val="CC0000"/>
                  </a:solidFill>
                </a:rPr>
                <a:t>0KB</a:t>
              </a:r>
            </a:p>
            <a:p>
              <a:pPr algn="r" eaLnBrk="1" hangingPunct="1">
                <a:lnSpc>
                  <a:spcPct val="112000"/>
                </a:lnSpc>
              </a:pPr>
              <a:r>
                <a:rPr kumimoji="0" lang="en-US" altLang="zh-CN" sz="1500" b="1">
                  <a:solidFill>
                    <a:srgbClr val="CC0000"/>
                  </a:solidFill>
                </a:rPr>
                <a:t>100KB</a:t>
              </a:r>
            </a:p>
            <a:p>
              <a:pPr algn="r" eaLnBrk="1" hangingPunct="1">
                <a:lnSpc>
                  <a:spcPct val="112000"/>
                </a:lnSpc>
              </a:pPr>
              <a:r>
                <a:rPr kumimoji="0" lang="en-US" altLang="zh-CN" sz="1500" b="1">
                  <a:solidFill>
                    <a:srgbClr val="CC0000"/>
                  </a:solidFill>
                </a:rPr>
                <a:t>180KB</a:t>
              </a:r>
            </a:p>
            <a:p>
              <a:pPr algn="r" eaLnBrk="1" hangingPunct="1">
                <a:lnSpc>
                  <a:spcPct val="112000"/>
                </a:lnSpc>
              </a:pPr>
              <a:r>
                <a:rPr kumimoji="0" lang="en-US" altLang="zh-CN" sz="1500" b="1">
                  <a:solidFill>
                    <a:srgbClr val="CC0000"/>
                  </a:solidFill>
                </a:rPr>
                <a:t>190KB</a:t>
              </a:r>
            </a:p>
            <a:p>
              <a:pPr algn="r" eaLnBrk="1" hangingPunct="1">
                <a:lnSpc>
                  <a:spcPct val="112000"/>
                </a:lnSpc>
              </a:pPr>
              <a:r>
                <a:rPr kumimoji="0" lang="en-US" altLang="zh-CN" sz="1500" b="1">
                  <a:solidFill>
                    <a:srgbClr val="CC0000"/>
                  </a:solidFill>
                </a:rPr>
                <a:t>280KB</a:t>
              </a:r>
            </a:p>
            <a:p>
              <a:pPr algn="r" eaLnBrk="1" hangingPunct="1">
                <a:lnSpc>
                  <a:spcPct val="112000"/>
                </a:lnSpc>
              </a:pPr>
              <a:r>
                <a:rPr kumimoji="0" lang="en-US" altLang="zh-CN" sz="1500" b="1">
                  <a:solidFill>
                    <a:srgbClr val="CC0000"/>
                  </a:solidFill>
                </a:rPr>
                <a:t>330KB</a:t>
              </a:r>
            </a:p>
            <a:p>
              <a:pPr algn="r" eaLnBrk="1" hangingPunct="1">
                <a:lnSpc>
                  <a:spcPct val="112000"/>
                </a:lnSpc>
              </a:pPr>
              <a:r>
                <a:rPr kumimoji="0" lang="en-US" altLang="zh-CN" sz="1500" b="1">
                  <a:solidFill>
                    <a:srgbClr val="CC0000"/>
                  </a:solidFill>
                </a:rPr>
                <a:t>390KB</a:t>
              </a:r>
            </a:p>
            <a:p>
              <a:pPr algn="r" eaLnBrk="1" hangingPunct="1">
                <a:lnSpc>
                  <a:spcPct val="112000"/>
                </a:lnSpc>
              </a:pPr>
              <a:r>
                <a:rPr kumimoji="0" lang="en-US" altLang="zh-CN" sz="1500" b="1">
                  <a:solidFill>
                    <a:srgbClr val="CC0000"/>
                  </a:solidFill>
                </a:rPr>
                <a:t>410KB</a:t>
              </a:r>
            </a:p>
            <a:p>
              <a:pPr algn="r" eaLnBrk="1" hangingPunct="1">
                <a:lnSpc>
                  <a:spcPct val="112000"/>
                </a:lnSpc>
              </a:pPr>
              <a:r>
                <a:rPr kumimoji="0" lang="en-US" altLang="zh-CN" sz="1500" b="1">
                  <a:solidFill>
                    <a:srgbClr val="CC0000"/>
                  </a:solidFill>
                </a:rPr>
                <a:t>512KB</a:t>
              </a:r>
              <a:endParaRPr kumimoji="0" lang="en-US" altLang="zh-CN" sz="1500" b="1">
                <a:solidFill>
                  <a:srgbClr val="CC0000"/>
                </a:solidFill>
                <a:latin typeface="Tahoma" pitchFamily="34" charset="0"/>
              </a:endParaRPr>
            </a:p>
          </p:txBody>
        </p:sp>
      </p:grpSp>
      <p:sp>
        <p:nvSpPr>
          <p:cNvPr id="57" name="AutoShape 19"/>
          <p:cNvSpPr>
            <a:spLocks noChangeArrowheads="1"/>
          </p:cNvSpPr>
          <p:nvPr/>
        </p:nvSpPr>
        <p:spPr bwMode="auto">
          <a:xfrm>
            <a:off x="6327460" y="124538"/>
            <a:ext cx="2736850" cy="1022830"/>
          </a:xfrm>
          <a:prstGeom prst="wedgeRoundRectCallout">
            <a:avLst>
              <a:gd name="adj1" fmla="val 60099"/>
              <a:gd name="adj2" fmla="val 85483"/>
              <a:gd name="adj3" fmla="val 16667"/>
            </a:avLst>
          </a:prstGeom>
          <a:ln>
            <a:headEnd/>
            <a:tailEnd/>
          </a:ln>
        </p:spPr>
        <p:style>
          <a:lnRef idx="3">
            <a:schemeClr val="lt1"/>
          </a:lnRef>
          <a:fillRef idx="1">
            <a:schemeClr val="accent6"/>
          </a:fillRef>
          <a:effectRef idx="1">
            <a:schemeClr val="accent6"/>
          </a:effectRef>
          <a:fontRef idx="minor">
            <a:schemeClr val="lt1"/>
          </a:fontRef>
        </p:style>
        <p:txBody>
          <a:bodyPr/>
          <a:lstStyle/>
          <a:p>
            <a:pPr algn="ctr">
              <a:defRPr/>
            </a:pPr>
            <a:r>
              <a:rPr kumimoji="0" lang="zh-CN" altLang="en-US" sz="1800" b="1" dirty="0">
                <a:solidFill>
                  <a:schemeClr val="bg1"/>
                </a:solidFill>
                <a:effectLst>
                  <a:outerShdw blurRad="38100" dist="38100" dir="2700000" algn="tl">
                    <a:srgbClr val="000000"/>
                  </a:outerShdw>
                </a:effectLst>
                <a:latin typeface="Tahoma" pitchFamily="34" charset="0"/>
              </a:rPr>
              <a:t>阴影部分表示已占用块，空白部分表示空闲块</a:t>
            </a:r>
          </a:p>
          <a:p>
            <a:pPr algn="ctr">
              <a:defRPr/>
            </a:pPr>
            <a:r>
              <a:rPr kumimoji="0" lang="zh-CN" altLang="en-US" sz="1800" b="1" dirty="0">
                <a:solidFill>
                  <a:schemeClr val="bg1"/>
                </a:solidFill>
                <a:effectLst>
                  <a:outerShdw blurRad="38100" dist="38100" dir="2700000" algn="tl">
                    <a:srgbClr val="000000"/>
                  </a:outerShdw>
                </a:effectLst>
                <a:latin typeface="Tahoma" pitchFamily="34" charset="0"/>
              </a:rPr>
              <a:t>申请</a:t>
            </a:r>
            <a:r>
              <a:rPr kumimoji="0" lang="en-US" altLang="zh-CN" sz="1800" b="1" dirty="0">
                <a:solidFill>
                  <a:schemeClr val="bg1"/>
                </a:solidFill>
                <a:effectLst>
                  <a:outerShdw blurRad="38100" dist="38100" dir="2700000" algn="tl">
                    <a:srgbClr val="000000"/>
                  </a:outerShdw>
                </a:effectLst>
                <a:latin typeface="Tahoma" pitchFamily="34" charset="0"/>
              </a:rPr>
              <a:t>40K</a:t>
            </a:r>
            <a:r>
              <a:rPr kumimoji="0" lang="zh-CN" altLang="en-US" sz="1800" b="1" dirty="0">
                <a:solidFill>
                  <a:schemeClr val="bg1"/>
                </a:solidFill>
                <a:effectLst>
                  <a:outerShdw blurRad="38100" dist="38100" dir="2700000" algn="tl">
                    <a:srgbClr val="000000"/>
                  </a:outerShdw>
                </a:effectLst>
                <a:latin typeface="Tahoma" pitchFamily="34" charset="0"/>
              </a:rPr>
              <a:t>内存 </a:t>
            </a:r>
          </a:p>
        </p:txBody>
      </p:sp>
      <p:sp>
        <p:nvSpPr>
          <p:cNvPr id="58" name="Rectangle 20"/>
          <p:cNvSpPr>
            <a:spLocks noChangeArrowheads="1"/>
          </p:cNvSpPr>
          <p:nvPr/>
        </p:nvSpPr>
        <p:spPr bwMode="auto">
          <a:xfrm>
            <a:off x="9883460" y="2186700"/>
            <a:ext cx="1306513" cy="144463"/>
          </a:xfrm>
          <a:prstGeom prst="rect">
            <a:avLst/>
          </a:prstGeom>
          <a:solidFill>
            <a:srgbClr val="CC00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
        <p:nvSpPr>
          <p:cNvPr id="59" name="Line 21"/>
          <p:cNvSpPr>
            <a:spLocks noChangeShapeType="1"/>
          </p:cNvSpPr>
          <p:nvPr/>
        </p:nvSpPr>
        <p:spPr bwMode="auto">
          <a:xfrm>
            <a:off x="8703948" y="2213688"/>
            <a:ext cx="1081087"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AutoShape 22"/>
          <p:cNvSpPr>
            <a:spLocks noChangeArrowheads="1"/>
          </p:cNvSpPr>
          <p:nvPr/>
        </p:nvSpPr>
        <p:spPr bwMode="auto">
          <a:xfrm>
            <a:off x="6147846" y="1529475"/>
            <a:ext cx="2159000" cy="431800"/>
          </a:xfrm>
          <a:prstGeom prst="wedgeRoundRectCallout">
            <a:avLst>
              <a:gd name="adj1" fmla="val 70106"/>
              <a:gd name="adj2" fmla="val 108245"/>
              <a:gd name="adj3" fmla="val 16667"/>
            </a:avLst>
          </a:prstGeom>
          <a:ln>
            <a:headEnd/>
            <a:tailEnd/>
          </a:ln>
        </p:spPr>
        <p:style>
          <a:lnRef idx="1">
            <a:schemeClr val="accent6"/>
          </a:lnRef>
          <a:fillRef idx="3">
            <a:schemeClr val="accent6"/>
          </a:fillRef>
          <a:effectRef idx="2">
            <a:schemeClr val="accent6"/>
          </a:effectRef>
          <a:fontRef idx="minor">
            <a:schemeClr val="lt1"/>
          </a:fontRef>
        </p:style>
        <p:txBody>
          <a:bodyPr/>
          <a:lstStyle/>
          <a:p>
            <a:pPr algn="ctr">
              <a:defRPr/>
            </a:pPr>
            <a:r>
              <a:rPr kumimoji="0" lang="zh-CN" altLang="en-US" sz="1800" b="1">
                <a:solidFill>
                  <a:schemeClr val="bg1"/>
                </a:solidFill>
                <a:effectLst>
                  <a:outerShdw blurRad="38100" dist="38100" dir="2700000" algn="tl">
                    <a:srgbClr val="000000"/>
                  </a:outerShdw>
                </a:effectLst>
                <a:latin typeface="Tahoma" pitchFamily="34" charset="0"/>
              </a:rPr>
              <a:t>查找指针位置</a:t>
            </a:r>
          </a:p>
        </p:txBody>
      </p:sp>
      <p:sp>
        <p:nvSpPr>
          <p:cNvPr id="61" name="文本框 19"/>
          <p:cNvSpPr txBox="1">
            <a:spLocks noChangeArrowheads="1"/>
          </p:cNvSpPr>
          <p:nvPr/>
        </p:nvSpPr>
        <p:spPr bwMode="auto">
          <a:xfrm>
            <a:off x="1085772" y="6094141"/>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缺乏大的空闲分区</a:t>
            </a:r>
          </a:p>
        </p:txBody>
      </p:sp>
      <p:sp>
        <p:nvSpPr>
          <p:cNvPr id="62" name="文本框 52"/>
          <p:cNvSpPr txBox="1">
            <a:spLocks noChangeArrowheads="1"/>
          </p:cNvSpPr>
          <p:nvPr/>
        </p:nvSpPr>
        <p:spPr bwMode="auto">
          <a:xfrm>
            <a:off x="1070607" y="5625637"/>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spTree>
    <p:extLst>
      <p:ext uri="{BB962C8B-B14F-4D97-AF65-F5344CB8AC3E}">
        <p14:creationId xmlns:p14="http://schemas.microsoft.com/office/powerpoint/2010/main" val="117278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checkerboard(across)">
                                      <p:cBhvr>
                                        <p:cTn id="31" dur="500"/>
                                        <p:tgtEl>
                                          <p:spTgt spid="3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checkerboard(across)">
                                      <p:cBhvr>
                                        <p:cTn id="34" dur="500"/>
                                        <p:tgtEl>
                                          <p:spTgt spid="57"/>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checkerboard(across)">
                                      <p:cBhvr>
                                        <p:cTn id="37" dur="500"/>
                                        <p:tgtEl>
                                          <p:spTgt spid="60"/>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checkerboard(across)">
                                      <p:cBhvr>
                                        <p:cTn id="40" dur="500"/>
                                        <p:tgtEl>
                                          <p:spTgt spid="59"/>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checkerboard(across)">
                                      <p:cBhvr>
                                        <p:cTn id="45" dur="500"/>
                                        <p:tgtEl>
                                          <p:spTgt spid="58"/>
                                        </p:tgtEl>
                                      </p:cBhvr>
                                    </p:animEffect>
                                  </p:childTnLst>
                                </p:cTn>
                              </p:par>
                              <p:par>
                                <p:cTn id="46" presetID="35" presetClass="emph" presetSubtype="0" repeatCount="4000" fill="hold" grpId="1" nodeType="withEffect">
                                  <p:stCondLst>
                                    <p:cond delay="0"/>
                                  </p:stCondLst>
                                  <p:childTnLst>
                                    <p:anim calcmode="discrete" valueType="str">
                                      <p:cBhvr>
                                        <p:cTn id="47"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par>
                    <p:cTn id="48" fill="hold">
                      <p:stCondLst>
                        <p:cond delay="indefinite"/>
                      </p:stCondLst>
                      <p:childTnLst>
                        <p:par>
                          <p:cTn id="49" fill="hold">
                            <p:stCondLst>
                              <p:cond delay="0"/>
                            </p:stCondLst>
                            <p:childTnLst>
                              <p:par>
                                <p:cTn id="50" presetID="50" presetClass="entr" presetSubtype="0" decel="100000" fill="hold" grpId="0" nodeType="clickEffect">
                                  <p:stCondLst>
                                    <p:cond delay="0"/>
                                  </p:stCondLst>
                                  <p:iterate type="lt">
                                    <p:tmPct val="5000"/>
                                  </p:iterate>
                                  <p:childTnLst>
                                    <p:set>
                                      <p:cBhvr>
                                        <p:cTn id="51" dur="1" fill="hold">
                                          <p:stCondLst>
                                            <p:cond delay="0"/>
                                          </p:stCondLst>
                                        </p:cTn>
                                        <p:tgtEl>
                                          <p:spTgt spid="32"/>
                                        </p:tgtEl>
                                        <p:attrNameLst>
                                          <p:attrName>style.visibility</p:attrName>
                                        </p:attrNameLst>
                                      </p:cBhvr>
                                      <p:to>
                                        <p:strVal val="visible"/>
                                      </p:to>
                                    </p:set>
                                    <p:anim calcmode="lin" valueType="num">
                                      <p:cBhvr>
                                        <p:cTn id="52" dur="500" fill="hold"/>
                                        <p:tgtEl>
                                          <p:spTgt spid="32"/>
                                        </p:tgtEl>
                                        <p:attrNameLst>
                                          <p:attrName>ppt_w</p:attrName>
                                        </p:attrNameLst>
                                      </p:cBhvr>
                                      <p:tavLst>
                                        <p:tav tm="0">
                                          <p:val>
                                            <p:strVal val="#ppt_w+.3"/>
                                          </p:val>
                                        </p:tav>
                                        <p:tav tm="100000">
                                          <p:val>
                                            <p:strVal val="#ppt_w"/>
                                          </p:val>
                                        </p:tav>
                                      </p:tavLst>
                                    </p:anim>
                                    <p:anim calcmode="lin" valueType="num">
                                      <p:cBhvr>
                                        <p:cTn id="53" dur="500" fill="hold"/>
                                        <p:tgtEl>
                                          <p:spTgt spid="32"/>
                                        </p:tgtEl>
                                        <p:attrNameLst>
                                          <p:attrName>ppt_h</p:attrName>
                                        </p:attrNameLst>
                                      </p:cBhvr>
                                      <p:tavLst>
                                        <p:tav tm="0">
                                          <p:val>
                                            <p:strVal val="#ppt_h"/>
                                          </p:val>
                                        </p:tav>
                                        <p:tav tm="100000">
                                          <p:val>
                                            <p:strVal val="#ppt_h"/>
                                          </p:val>
                                        </p:tav>
                                      </p:tavLst>
                                    </p:anim>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strips(downLeft)">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50" presetClass="entr" presetSubtype="0" decel="100000" fill="hold" grpId="0" nodeType="clickEffect">
                                  <p:stCondLst>
                                    <p:cond delay="0"/>
                                  </p:stCondLst>
                                  <p:iterate type="lt">
                                    <p:tmPct val="5000"/>
                                  </p:iterate>
                                  <p:childTnLst>
                                    <p:set>
                                      <p:cBhvr>
                                        <p:cTn id="63" dur="1" fill="hold">
                                          <p:stCondLst>
                                            <p:cond delay="0"/>
                                          </p:stCondLst>
                                        </p:cTn>
                                        <p:tgtEl>
                                          <p:spTgt spid="62"/>
                                        </p:tgtEl>
                                        <p:attrNameLst>
                                          <p:attrName>style.visibility</p:attrName>
                                        </p:attrNameLst>
                                      </p:cBhvr>
                                      <p:to>
                                        <p:strVal val="visible"/>
                                      </p:to>
                                    </p:set>
                                    <p:anim calcmode="lin" valueType="num">
                                      <p:cBhvr>
                                        <p:cTn id="64" dur="500" fill="hold"/>
                                        <p:tgtEl>
                                          <p:spTgt spid="62"/>
                                        </p:tgtEl>
                                        <p:attrNameLst>
                                          <p:attrName>ppt_w</p:attrName>
                                        </p:attrNameLst>
                                      </p:cBhvr>
                                      <p:tavLst>
                                        <p:tav tm="0">
                                          <p:val>
                                            <p:strVal val="#ppt_w+.3"/>
                                          </p:val>
                                        </p:tav>
                                        <p:tav tm="100000">
                                          <p:val>
                                            <p:strVal val="#ppt_w"/>
                                          </p:val>
                                        </p:tav>
                                      </p:tavLst>
                                    </p:anim>
                                    <p:anim calcmode="lin" valueType="num">
                                      <p:cBhvr>
                                        <p:cTn id="65" dur="500" fill="hold"/>
                                        <p:tgtEl>
                                          <p:spTgt spid="62"/>
                                        </p:tgtEl>
                                        <p:attrNameLst>
                                          <p:attrName>ppt_h</p:attrName>
                                        </p:attrNameLst>
                                      </p:cBhvr>
                                      <p:tavLst>
                                        <p:tav tm="0">
                                          <p:val>
                                            <p:strVal val="#ppt_h"/>
                                          </p:val>
                                        </p:tav>
                                        <p:tav tm="100000">
                                          <p:val>
                                            <p:strVal val="#ppt_h"/>
                                          </p:val>
                                        </p:tav>
                                      </p:tavLst>
                                    </p:anim>
                                    <p:animEffect transition="in" filter="fade">
                                      <p:cBhvr>
                                        <p:cTn id="66" dur="500"/>
                                        <p:tgtEl>
                                          <p:spTgt spid="62"/>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grpId="0" nodeType="click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strips(downLeft)">
                                      <p:cBhvr>
                                        <p:cTn id="71"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32" grpId="0"/>
      <p:bldP spid="57" grpId="0" animBg="1"/>
      <p:bldP spid="58" grpId="0" animBg="1"/>
      <p:bldP spid="58" grpId="1" animBg="1"/>
      <p:bldP spid="59" grpId="0" animBg="1"/>
      <p:bldP spid="60" grpId="0" animBg="1"/>
      <p:bldP spid="61" grpId="0"/>
      <p:bldP spid="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）最佳适应算法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基于顺序搜索的动态分区分配算法</a:t>
            </a:r>
          </a:p>
        </p:txBody>
      </p:sp>
      <p:sp>
        <p:nvSpPr>
          <p:cNvPr id="22" name="文本框 19"/>
          <p:cNvSpPr txBox="1">
            <a:spLocks noChangeArrowheads="1"/>
          </p:cNvSpPr>
          <p:nvPr/>
        </p:nvSpPr>
        <p:spPr bwMode="auto">
          <a:xfrm>
            <a:off x="1068087" y="2286937"/>
            <a:ext cx="6407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将空闲分区按容量从小到大形成空闲分区链。</a:t>
            </a:r>
            <a:endParaRPr lang="zh-CN" altLang="en-US" sz="2400" dirty="0"/>
          </a:p>
        </p:txBody>
      </p:sp>
      <p:sp>
        <p:nvSpPr>
          <p:cNvPr id="23" name="文本框 52"/>
          <p:cNvSpPr txBox="1">
            <a:spLocks noChangeArrowheads="1"/>
          </p:cNvSpPr>
          <p:nvPr/>
        </p:nvSpPr>
        <p:spPr bwMode="auto">
          <a:xfrm>
            <a:off x="1068088" y="182662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要求</a:t>
            </a:r>
          </a:p>
        </p:txBody>
      </p:sp>
      <p:sp>
        <p:nvSpPr>
          <p:cNvPr id="24" name="文本框 19"/>
          <p:cNvSpPr txBox="1">
            <a:spLocks noChangeArrowheads="1"/>
          </p:cNvSpPr>
          <p:nvPr/>
        </p:nvSpPr>
        <p:spPr bwMode="auto">
          <a:xfrm>
            <a:off x="1080711" y="3263466"/>
            <a:ext cx="9067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将能满足要求、又是最小的空闲分区分配给作业</a:t>
            </a:r>
            <a:r>
              <a:rPr lang="zh-CN" altLang="en-US" sz="2400" dirty="0"/>
              <a:t>。</a:t>
            </a:r>
          </a:p>
        </p:txBody>
      </p:sp>
      <p:sp>
        <p:nvSpPr>
          <p:cNvPr id="25" name="文本框 52"/>
          <p:cNvSpPr txBox="1">
            <a:spLocks noChangeArrowheads="1"/>
          </p:cNvSpPr>
          <p:nvPr/>
        </p:nvSpPr>
        <p:spPr bwMode="auto">
          <a:xfrm>
            <a:off x="1065545" y="279496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算法</a:t>
            </a:r>
          </a:p>
        </p:txBody>
      </p:sp>
      <p:sp>
        <p:nvSpPr>
          <p:cNvPr id="26" name="文本框 19"/>
          <p:cNvSpPr txBox="1">
            <a:spLocks noChangeArrowheads="1"/>
          </p:cNvSpPr>
          <p:nvPr/>
        </p:nvSpPr>
        <p:spPr bwMode="auto">
          <a:xfrm>
            <a:off x="1085774" y="4482090"/>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留下许多难以利用的小空闲区</a:t>
            </a:r>
          </a:p>
        </p:txBody>
      </p:sp>
      <p:sp>
        <p:nvSpPr>
          <p:cNvPr id="32" name="文本框 52"/>
          <p:cNvSpPr txBox="1">
            <a:spLocks noChangeArrowheads="1"/>
          </p:cNvSpPr>
          <p:nvPr/>
        </p:nvSpPr>
        <p:spPr bwMode="auto">
          <a:xfrm>
            <a:off x="1070609" y="4013586"/>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grpSp>
        <p:nvGrpSpPr>
          <p:cNvPr id="31" name="Group 7"/>
          <p:cNvGrpSpPr>
            <a:grpSpLocks noChangeAspect="1"/>
          </p:cNvGrpSpPr>
          <p:nvPr/>
        </p:nvGrpSpPr>
        <p:grpSpPr bwMode="auto">
          <a:xfrm>
            <a:off x="8731024" y="1414463"/>
            <a:ext cx="2468562" cy="2520950"/>
            <a:chOff x="2099" y="2700"/>
            <a:chExt cx="2743" cy="2800"/>
          </a:xfrm>
        </p:grpSpPr>
        <p:sp>
          <p:nvSpPr>
            <p:cNvPr id="46" name="AutoShape 8"/>
            <p:cNvSpPr>
              <a:spLocks noChangeAspect="1" noChangeArrowheads="1"/>
            </p:cNvSpPr>
            <p:nvPr/>
          </p:nvSpPr>
          <p:spPr bwMode="auto">
            <a:xfrm>
              <a:off x="2099" y="2700"/>
              <a:ext cx="2743" cy="2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800" b="1">
                <a:solidFill>
                  <a:srgbClr val="CC0000"/>
                </a:solidFill>
                <a:latin typeface="Tahoma" pitchFamily="34" charset="0"/>
              </a:endParaRPr>
            </a:p>
          </p:txBody>
        </p:sp>
        <p:sp>
          <p:nvSpPr>
            <p:cNvPr id="47" name="Text Box 9" descr="宽上对角线"/>
            <p:cNvSpPr txBox="1">
              <a:spLocks noChangeArrowheads="1"/>
            </p:cNvSpPr>
            <p:nvPr/>
          </p:nvSpPr>
          <p:spPr bwMode="auto">
            <a:xfrm>
              <a:off x="3178" y="29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8" name="Text Box 10"/>
            <p:cNvSpPr txBox="1">
              <a:spLocks noChangeArrowheads="1"/>
            </p:cNvSpPr>
            <p:nvPr/>
          </p:nvSpPr>
          <p:spPr bwMode="auto">
            <a:xfrm>
              <a:off x="3178" y="3196"/>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0" name="Text Box 11" descr="宽上对角线"/>
            <p:cNvSpPr txBox="1">
              <a:spLocks noChangeArrowheads="1"/>
            </p:cNvSpPr>
            <p:nvPr/>
          </p:nvSpPr>
          <p:spPr bwMode="auto">
            <a:xfrm>
              <a:off x="3178" y="35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1" name="Text Box 12"/>
            <p:cNvSpPr txBox="1">
              <a:spLocks noChangeArrowheads="1"/>
            </p:cNvSpPr>
            <p:nvPr/>
          </p:nvSpPr>
          <p:spPr bwMode="auto">
            <a:xfrm>
              <a:off x="3178" y="4348"/>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2" name="Text Box 13" descr="宽上对角线"/>
            <p:cNvSpPr txBox="1">
              <a:spLocks noChangeArrowheads="1"/>
            </p:cNvSpPr>
            <p:nvPr/>
          </p:nvSpPr>
          <p:spPr bwMode="auto">
            <a:xfrm>
              <a:off x="3178" y="464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3" name="Text Box 14" descr="宽上对角线"/>
            <p:cNvSpPr txBox="1">
              <a:spLocks noChangeArrowheads="1"/>
            </p:cNvSpPr>
            <p:nvPr/>
          </p:nvSpPr>
          <p:spPr bwMode="auto">
            <a:xfrm>
              <a:off x="3178" y="4064"/>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4" name="Text Box 15"/>
            <p:cNvSpPr txBox="1">
              <a:spLocks noChangeArrowheads="1"/>
            </p:cNvSpPr>
            <p:nvPr/>
          </p:nvSpPr>
          <p:spPr bwMode="auto">
            <a:xfrm>
              <a:off x="3178" y="3780"/>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5" name="Text Box 16"/>
            <p:cNvSpPr txBox="1">
              <a:spLocks noChangeArrowheads="1"/>
            </p:cNvSpPr>
            <p:nvPr/>
          </p:nvSpPr>
          <p:spPr bwMode="auto">
            <a:xfrm>
              <a:off x="3178" y="4924"/>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56" name="Text Box 17"/>
            <p:cNvSpPr txBox="1">
              <a:spLocks noChangeArrowheads="1"/>
            </p:cNvSpPr>
            <p:nvPr/>
          </p:nvSpPr>
          <p:spPr bwMode="auto">
            <a:xfrm>
              <a:off x="2099" y="2804"/>
              <a:ext cx="1055" cy="26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lnSpc>
                  <a:spcPct val="112000"/>
                </a:lnSpc>
              </a:pPr>
              <a:r>
                <a:rPr kumimoji="0" lang="en-US" altLang="zh-CN" sz="1500" b="1">
                  <a:solidFill>
                    <a:srgbClr val="CC0000"/>
                  </a:solidFill>
                </a:rPr>
                <a:t>0KB</a:t>
              </a:r>
            </a:p>
            <a:p>
              <a:pPr algn="r" eaLnBrk="1" hangingPunct="1">
                <a:lnSpc>
                  <a:spcPct val="112000"/>
                </a:lnSpc>
              </a:pPr>
              <a:r>
                <a:rPr kumimoji="0" lang="en-US" altLang="zh-CN" sz="1500" b="1">
                  <a:solidFill>
                    <a:srgbClr val="CC0000"/>
                  </a:solidFill>
                </a:rPr>
                <a:t>100KB</a:t>
              </a:r>
            </a:p>
            <a:p>
              <a:pPr algn="r" eaLnBrk="1" hangingPunct="1">
                <a:lnSpc>
                  <a:spcPct val="112000"/>
                </a:lnSpc>
              </a:pPr>
              <a:r>
                <a:rPr kumimoji="0" lang="en-US" altLang="zh-CN" sz="1500" b="1">
                  <a:solidFill>
                    <a:srgbClr val="CC0000"/>
                  </a:solidFill>
                </a:rPr>
                <a:t>180KB</a:t>
              </a:r>
            </a:p>
            <a:p>
              <a:pPr algn="r" eaLnBrk="1" hangingPunct="1">
                <a:lnSpc>
                  <a:spcPct val="112000"/>
                </a:lnSpc>
              </a:pPr>
              <a:r>
                <a:rPr kumimoji="0" lang="en-US" altLang="zh-CN" sz="1500" b="1">
                  <a:solidFill>
                    <a:srgbClr val="CC0000"/>
                  </a:solidFill>
                </a:rPr>
                <a:t>190KB</a:t>
              </a:r>
            </a:p>
            <a:p>
              <a:pPr algn="r" eaLnBrk="1" hangingPunct="1">
                <a:lnSpc>
                  <a:spcPct val="112000"/>
                </a:lnSpc>
              </a:pPr>
              <a:r>
                <a:rPr kumimoji="0" lang="en-US" altLang="zh-CN" sz="1500" b="1">
                  <a:solidFill>
                    <a:srgbClr val="CC0000"/>
                  </a:solidFill>
                </a:rPr>
                <a:t>280KB</a:t>
              </a:r>
            </a:p>
            <a:p>
              <a:pPr algn="r" eaLnBrk="1" hangingPunct="1">
                <a:lnSpc>
                  <a:spcPct val="112000"/>
                </a:lnSpc>
              </a:pPr>
              <a:r>
                <a:rPr kumimoji="0" lang="en-US" altLang="zh-CN" sz="1500" b="1">
                  <a:solidFill>
                    <a:srgbClr val="CC0000"/>
                  </a:solidFill>
                </a:rPr>
                <a:t>330KB</a:t>
              </a:r>
            </a:p>
            <a:p>
              <a:pPr algn="r" eaLnBrk="1" hangingPunct="1">
                <a:lnSpc>
                  <a:spcPct val="112000"/>
                </a:lnSpc>
              </a:pPr>
              <a:r>
                <a:rPr kumimoji="0" lang="en-US" altLang="zh-CN" sz="1500" b="1">
                  <a:solidFill>
                    <a:srgbClr val="CC0000"/>
                  </a:solidFill>
                </a:rPr>
                <a:t>390KB</a:t>
              </a:r>
            </a:p>
            <a:p>
              <a:pPr algn="r" eaLnBrk="1" hangingPunct="1">
                <a:lnSpc>
                  <a:spcPct val="112000"/>
                </a:lnSpc>
              </a:pPr>
              <a:r>
                <a:rPr kumimoji="0" lang="en-US" altLang="zh-CN" sz="1500" b="1">
                  <a:solidFill>
                    <a:srgbClr val="CC0000"/>
                  </a:solidFill>
                </a:rPr>
                <a:t>410KB</a:t>
              </a:r>
            </a:p>
            <a:p>
              <a:pPr algn="r" eaLnBrk="1" hangingPunct="1">
                <a:lnSpc>
                  <a:spcPct val="112000"/>
                </a:lnSpc>
              </a:pPr>
              <a:r>
                <a:rPr kumimoji="0" lang="en-US" altLang="zh-CN" sz="1500" b="1">
                  <a:solidFill>
                    <a:srgbClr val="CC0000"/>
                  </a:solidFill>
                </a:rPr>
                <a:t>512KB</a:t>
              </a:r>
              <a:endParaRPr kumimoji="0" lang="en-US" altLang="zh-CN" sz="1500" b="1">
                <a:solidFill>
                  <a:srgbClr val="CC0000"/>
                </a:solidFill>
                <a:latin typeface="Tahoma" pitchFamily="34" charset="0"/>
              </a:endParaRPr>
            </a:p>
          </p:txBody>
        </p:sp>
      </p:grpSp>
      <p:sp>
        <p:nvSpPr>
          <p:cNvPr id="57" name="AutoShape 18"/>
          <p:cNvSpPr>
            <a:spLocks noChangeArrowheads="1"/>
          </p:cNvSpPr>
          <p:nvPr/>
        </p:nvSpPr>
        <p:spPr bwMode="auto">
          <a:xfrm>
            <a:off x="6427561" y="838200"/>
            <a:ext cx="2159000" cy="1223963"/>
          </a:xfrm>
          <a:prstGeom prst="wedgeRoundRectCallout">
            <a:avLst>
              <a:gd name="adj1" fmla="val 70000"/>
              <a:gd name="adj2" fmla="val 88394"/>
              <a:gd name="adj3" fmla="val 16667"/>
            </a:avLst>
          </a:prstGeom>
          <a:ln>
            <a:headEnd/>
            <a:tailEnd/>
          </a:ln>
        </p:spPr>
        <p:style>
          <a:lnRef idx="1">
            <a:schemeClr val="accent6"/>
          </a:lnRef>
          <a:fillRef idx="3">
            <a:schemeClr val="accent6"/>
          </a:fillRef>
          <a:effectRef idx="2">
            <a:schemeClr val="accent6"/>
          </a:effectRef>
          <a:fontRef idx="minor">
            <a:schemeClr val="lt1"/>
          </a:fontRef>
        </p:style>
        <p:txBody>
          <a:bodyPr/>
          <a:lstStyle/>
          <a:p>
            <a:pPr algn="ctr">
              <a:defRPr/>
            </a:pPr>
            <a:r>
              <a:rPr kumimoji="0" lang="zh-CN" altLang="en-US" sz="1800" b="1" dirty="0">
                <a:solidFill>
                  <a:schemeClr val="bg1"/>
                </a:solidFill>
                <a:effectLst>
                  <a:outerShdw blurRad="38100" dist="38100" dir="2700000" algn="tl">
                    <a:srgbClr val="000000"/>
                  </a:outerShdw>
                </a:effectLst>
                <a:latin typeface="Tahoma" pitchFamily="34" charset="0"/>
              </a:rPr>
              <a:t>阴影部分表示已占用块，空白部分表示空闲块</a:t>
            </a:r>
          </a:p>
          <a:p>
            <a:pPr algn="ctr">
              <a:defRPr/>
            </a:pPr>
            <a:r>
              <a:rPr kumimoji="0" lang="zh-CN" altLang="en-US" sz="1800" b="1" dirty="0">
                <a:solidFill>
                  <a:schemeClr val="bg1"/>
                </a:solidFill>
                <a:effectLst>
                  <a:outerShdw blurRad="38100" dist="38100" dir="2700000" algn="tl">
                    <a:srgbClr val="000000"/>
                  </a:outerShdw>
                </a:effectLst>
                <a:latin typeface="Tahoma" pitchFamily="34" charset="0"/>
              </a:rPr>
              <a:t>申请</a:t>
            </a:r>
            <a:r>
              <a:rPr kumimoji="0" lang="en-US" altLang="zh-CN" sz="1800" b="1" dirty="0">
                <a:solidFill>
                  <a:schemeClr val="bg1"/>
                </a:solidFill>
                <a:effectLst>
                  <a:outerShdw blurRad="38100" dist="38100" dir="2700000" algn="tl">
                    <a:srgbClr val="000000"/>
                  </a:outerShdw>
                </a:effectLst>
                <a:latin typeface="Tahoma" pitchFamily="34" charset="0"/>
              </a:rPr>
              <a:t>40K</a:t>
            </a:r>
            <a:r>
              <a:rPr kumimoji="0" lang="zh-CN" altLang="en-US" sz="1800" b="1" dirty="0">
                <a:solidFill>
                  <a:schemeClr val="bg1"/>
                </a:solidFill>
                <a:effectLst>
                  <a:outerShdw blurRad="38100" dist="38100" dir="2700000" algn="tl">
                    <a:srgbClr val="000000"/>
                  </a:outerShdw>
                </a:effectLst>
                <a:latin typeface="Tahoma" pitchFamily="34" charset="0"/>
              </a:rPr>
              <a:t>内存 </a:t>
            </a:r>
          </a:p>
        </p:txBody>
      </p:sp>
      <p:sp>
        <p:nvSpPr>
          <p:cNvPr id="58" name="Rectangle 19"/>
          <p:cNvSpPr>
            <a:spLocks noChangeArrowheads="1"/>
          </p:cNvSpPr>
          <p:nvPr/>
        </p:nvSpPr>
        <p:spPr bwMode="auto">
          <a:xfrm>
            <a:off x="9710511" y="2894013"/>
            <a:ext cx="1314450" cy="144462"/>
          </a:xfrm>
          <a:prstGeom prst="rect">
            <a:avLst/>
          </a:prstGeom>
          <a:solidFill>
            <a:srgbClr val="CC00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176949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checkerboard(across)">
                                      <p:cBhvr>
                                        <p:cTn id="31" dur="500"/>
                                        <p:tgtEl>
                                          <p:spTgt spid="3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checkerboard(across)">
                                      <p:cBhvr>
                                        <p:cTn id="34" dur="500"/>
                                        <p:tgtEl>
                                          <p:spTgt spid="57"/>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checkerboard(across)">
                                      <p:cBhvr>
                                        <p:cTn id="39" dur="500"/>
                                        <p:tgtEl>
                                          <p:spTgt spid="58"/>
                                        </p:tgtEl>
                                      </p:cBhvr>
                                    </p:animEffect>
                                  </p:childTnLst>
                                </p:cTn>
                              </p:par>
                              <p:par>
                                <p:cTn id="40" presetID="35" presetClass="emph" presetSubtype="0" repeatCount="4000" fill="hold" grpId="1" nodeType="withEffect">
                                  <p:stCondLst>
                                    <p:cond delay="0"/>
                                  </p:stCondLst>
                                  <p:childTnLst>
                                    <p:anim calcmode="discrete" valueType="str">
                                      <p:cBhvr>
                                        <p:cTn id="41"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par>
                    <p:cTn id="42" fill="hold">
                      <p:stCondLst>
                        <p:cond delay="indefinite"/>
                      </p:stCondLst>
                      <p:childTnLst>
                        <p:par>
                          <p:cTn id="43" fill="hold">
                            <p:stCondLst>
                              <p:cond delay="0"/>
                            </p:stCondLst>
                            <p:childTnLst>
                              <p:par>
                                <p:cTn id="44" presetID="5" presetClass="exit" presetSubtype="10" fill="hold" nodeType="clickEffect">
                                  <p:stCondLst>
                                    <p:cond delay="0"/>
                                  </p:stCondLst>
                                  <p:childTnLst>
                                    <p:animEffect transition="out" filter="checkerboard(across)">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par>
                                <p:cTn id="47" presetID="5" presetClass="exit" presetSubtype="10" fill="hold" grpId="1" nodeType="withEffect">
                                  <p:stCondLst>
                                    <p:cond delay="0"/>
                                  </p:stCondLst>
                                  <p:childTnLst>
                                    <p:animEffect transition="out" filter="checkerboard(across)">
                                      <p:cBhvr>
                                        <p:cTn id="48" dur="500"/>
                                        <p:tgtEl>
                                          <p:spTgt spid="57"/>
                                        </p:tgtEl>
                                      </p:cBhvr>
                                    </p:animEffect>
                                    <p:set>
                                      <p:cBhvr>
                                        <p:cTn id="49" dur="1" fill="hold">
                                          <p:stCondLst>
                                            <p:cond delay="499"/>
                                          </p:stCondLst>
                                        </p:cTn>
                                        <p:tgtEl>
                                          <p:spTgt spid="57"/>
                                        </p:tgtEl>
                                        <p:attrNameLst>
                                          <p:attrName>style.visibility</p:attrName>
                                        </p:attrNameLst>
                                      </p:cBhvr>
                                      <p:to>
                                        <p:strVal val="hidden"/>
                                      </p:to>
                                    </p:set>
                                  </p:childTnLst>
                                </p:cTn>
                              </p:par>
                              <p:par>
                                <p:cTn id="50" presetID="5" presetClass="exit" presetSubtype="10" fill="hold" grpId="2" nodeType="withEffect">
                                  <p:stCondLst>
                                    <p:cond delay="0"/>
                                  </p:stCondLst>
                                  <p:childTnLst>
                                    <p:animEffect transition="out" filter="checkerboard(across)">
                                      <p:cBhvr>
                                        <p:cTn id="51" dur="500"/>
                                        <p:tgtEl>
                                          <p:spTgt spid="58"/>
                                        </p:tgtEl>
                                      </p:cBhvr>
                                    </p:animEffect>
                                    <p:set>
                                      <p:cBhvr>
                                        <p:cTn id="52" dur="1" fill="hold">
                                          <p:stCondLst>
                                            <p:cond delay="499"/>
                                          </p:stCondLst>
                                        </p:cTn>
                                        <p:tgtEl>
                                          <p:spTgt spid="5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50" presetClass="entr" presetSubtype="0" decel="100000" fill="hold" grpId="0" nodeType="clickEffect">
                                  <p:stCondLst>
                                    <p:cond delay="0"/>
                                  </p:stCondLst>
                                  <p:iterate type="lt">
                                    <p:tmPct val="5000"/>
                                  </p:iterate>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strVal val="#ppt_w+.3"/>
                                          </p:val>
                                        </p:tav>
                                        <p:tav tm="100000">
                                          <p:val>
                                            <p:strVal val="#ppt_w"/>
                                          </p:val>
                                        </p:tav>
                                      </p:tavLst>
                                    </p:anim>
                                    <p:anim calcmode="lin" valueType="num">
                                      <p:cBhvr>
                                        <p:cTn id="58" dur="500" fill="hold"/>
                                        <p:tgtEl>
                                          <p:spTgt spid="32"/>
                                        </p:tgtEl>
                                        <p:attrNameLst>
                                          <p:attrName>ppt_h</p:attrName>
                                        </p:attrNameLst>
                                      </p:cBhvr>
                                      <p:tavLst>
                                        <p:tav tm="0">
                                          <p:val>
                                            <p:strVal val="#ppt_h"/>
                                          </p:val>
                                        </p:tav>
                                        <p:tav tm="100000">
                                          <p:val>
                                            <p:strVal val="#ppt_h"/>
                                          </p:val>
                                        </p:tav>
                                      </p:tavLst>
                                    </p:anim>
                                    <p:animEffect transition="in" filter="fade">
                                      <p:cBhvr>
                                        <p:cTn id="59" dur="5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strips(downLeft)">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32" grpId="0"/>
      <p:bldP spid="57" grpId="0" animBg="1"/>
      <p:bldP spid="57" grpId="1" animBg="1"/>
      <p:bldP spid="58" grpId="0" animBg="1"/>
      <p:bldP spid="58" grpId="1" animBg="1"/>
      <p:bldP spid="58" grpId="2"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）最坏适应算法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基于顺序搜索的动态分区分配算法</a:t>
            </a:r>
          </a:p>
        </p:txBody>
      </p:sp>
      <p:sp>
        <p:nvSpPr>
          <p:cNvPr id="22" name="文本框 19"/>
          <p:cNvSpPr txBox="1">
            <a:spLocks noChangeArrowheads="1"/>
          </p:cNvSpPr>
          <p:nvPr/>
        </p:nvSpPr>
        <p:spPr bwMode="auto">
          <a:xfrm>
            <a:off x="1068087" y="2286937"/>
            <a:ext cx="70599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将空闲分区按容量从大到小形成空闲分区链。</a:t>
            </a:r>
            <a:endParaRPr lang="zh-CN" altLang="en-US" sz="2400" dirty="0"/>
          </a:p>
        </p:txBody>
      </p:sp>
      <p:sp>
        <p:nvSpPr>
          <p:cNvPr id="23" name="文本框 52"/>
          <p:cNvSpPr txBox="1">
            <a:spLocks noChangeArrowheads="1"/>
          </p:cNvSpPr>
          <p:nvPr/>
        </p:nvSpPr>
        <p:spPr bwMode="auto">
          <a:xfrm>
            <a:off x="1068088" y="182662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要求</a:t>
            </a:r>
          </a:p>
        </p:txBody>
      </p:sp>
      <p:sp>
        <p:nvSpPr>
          <p:cNvPr id="24" name="文本框 19"/>
          <p:cNvSpPr txBox="1">
            <a:spLocks noChangeArrowheads="1"/>
          </p:cNvSpPr>
          <p:nvPr/>
        </p:nvSpPr>
        <p:spPr bwMode="auto">
          <a:xfrm>
            <a:off x="1080711" y="3350550"/>
            <a:ext cx="9067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查找时只要看第一个分区能否满足作业要求</a:t>
            </a:r>
          </a:p>
        </p:txBody>
      </p:sp>
      <p:sp>
        <p:nvSpPr>
          <p:cNvPr id="25" name="文本框 52"/>
          <p:cNvSpPr txBox="1">
            <a:spLocks noChangeArrowheads="1"/>
          </p:cNvSpPr>
          <p:nvPr/>
        </p:nvSpPr>
        <p:spPr bwMode="auto">
          <a:xfrm>
            <a:off x="1065545" y="2882046"/>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算法</a:t>
            </a:r>
          </a:p>
        </p:txBody>
      </p:sp>
      <p:sp>
        <p:nvSpPr>
          <p:cNvPr id="26" name="文本框 19"/>
          <p:cNvSpPr txBox="1">
            <a:spLocks noChangeArrowheads="1"/>
          </p:cNvSpPr>
          <p:nvPr/>
        </p:nvSpPr>
        <p:spPr bwMode="auto">
          <a:xfrm>
            <a:off x="1085774" y="4409520"/>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产生碎片的几率最小；对中、小作业有利；查找效率很高</a:t>
            </a:r>
          </a:p>
        </p:txBody>
      </p:sp>
      <p:sp>
        <p:nvSpPr>
          <p:cNvPr id="32" name="文本框 52"/>
          <p:cNvSpPr txBox="1">
            <a:spLocks noChangeArrowheads="1"/>
          </p:cNvSpPr>
          <p:nvPr/>
        </p:nvSpPr>
        <p:spPr bwMode="auto">
          <a:xfrm>
            <a:off x="1070609" y="3941016"/>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优点</a:t>
            </a:r>
          </a:p>
        </p:txBody>
      </p:sp>
      <p:sp>
        <p:nvSpPr>
          <p:cNvPr id="61" name="文本框 19"/>
          <p:cNvSpPr txBox="1">
            <a:spLocks noChangeArrowheads="1"/>
          </p:cNvSpPr>
          <p:nvPr/>
        </p:nvSpPr>
        <p:spPr bwMode="auto">
          <a:xfrm>
            <a:off x="1085772" y="5455525"/>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缺乏大的空闲分区</a:t>
            </a:r>
          </a:p>
        </p:txBody>
      </p:sp>
      <p:sp>
        <p:nvSpPr>
          <p:cNvPr id="62" name="文本框 52"/>
          <p:cNvSpPr txBox="1">
            <a:spLocks noChangeArrowheads="1"/>
          </p:cNvSpPr>
          <p:nvPr/>
        </p:nvSpPr>
        <p:spPr bwMode="auto">
          <a:xfrm>
            <a:off x="1070607" y="4987021"/>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grpSp>
        <p:nvGrpSpPr>
          <p:cNvPr id="34" name="Group 7"/>
          <p:cNvGrpSpPr>
            <a:grpSpLocks noChangeAspect="1"/>
          </p:cNvGrpSpPr>
          <p:nvPr/>
        </p:nvGrpSpPr>
        <p:grpSpPr bwMode="auto">
          <a:xfrm>
            <a:off x="8824241" y="1291265"/>
            <a:ext cx="2468562" cy="2520950"/>
            <a:chOff x="2099" y="2700"/>
            <a:chExt cx="2743" cy="2800"/>
          </a:xfrm>
        </p:grpSpPr>
        <p:sp>
          <p:nvSpPr>
            <p:cNvPr id="35" name="AutoShape 8"/>
            <p:cNvSpPr>
              <a:spLocks noChangeAspect="1" noChangeArrowheads="1"/>
            </p:cNvSpPr>
            <p:nvPr/>
          </p:nvSpPr>
          <p:spPr bwMode="auto">
            <a:xfrm>
              <a:off x="2099" y="2700"/>
              <a:ext cx="2743" cy="2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800" b="1">
                <a:solidFill>
                  <a:srgbClr val="CC0000"/>
                </a:solidFill>
                <a:latin typeface="Tahoma" pitchFamily="34" charset="0"/>
              </a:endParaRPr>
            </a:p>
          </p:txBody>
        </p:sp>
        <p:sp>
          <p:nvSpPr>
            <p:cNvPr id="36" name="Text Box 9" descr="宽上对角线"/>
            <p:cNvSpPr txBox="1">
              <a:spLocks noChangeArrowheads="1"/>
            </p:cNvSpPr>
            <p:nvPr/>
          </p:nvSpPr>
          <p:spPr bwMode="auto">
            <a:xfrm>
              <a:off x="3178" y="29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7" name="Text Box 10"/>
            <p:cNvSpPr txBox="1">
              <a:spLocks noChangeArrowheads="1"/>
            </p:cNvSpPr>
            <p:nvPr/>
          </p:nvSpPr>
          <p:spPr bwMode="auto">
            <a:xfrm>
              <a:off x="3178" y="3196"/>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8" name="Text Box 11" descr="宽上对角线"/>
            <p:cNvSpPr txBox="1">
              <a:spLocks noChangeArrowheads="1"/>
            </p:cNvSpPr>
            <p:nvPr/>
          </p:nvSpPr>
          <p:spPr bwMode="auto">
            <a:xfrm>
              <a:off x="3178" y="350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39" name="Text Box 12"/>
            <p:cNvSpPr txBox="1">
              <a:spLocks noChangeArrowheads="1"/>
            </p:cNvSpPr>
            <p:nvPr/>
          </p:nvSpPr>
          <p:spPr bwMode="auto">
            <a:xfrm>
              <a:off x="3178" y="4348"/>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0" name="Text Box 13" descr="宽上对角线"/>
            <p:cNvSpPr txBox="1">
              <a:spLocks noChangeArrowheads="1"/>
            </p:cNvSpPr>
            <p:nvPr/>
          </p:nvSpPr>
          <p:spPr bwMode="auto">
            <a:xfrm>
              <a:off x="3178" y="4640"/>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1" name="Text Box 14" descr="宽上对角线"/>
            <p:cNvSpPr txBox="1">
              <a:spLocks noChangeArrowheads="1"/>
            </p:cNvSpPr>
            <p:nvPr/>
          </p:nvSpPr>
          <p:spPr bwMode="auto">
            <a:xfrm>
              <a:off x="3178" y="4064"/>
              <a:ext cx="1477" cy="289"/>
            </a:xfrm>
            <a:prstGeom prst="rect">
              <a:avLst/>
            </a:prstGeom>
            <a:pattFill prst="wdUpDiag">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2" name="Text Box 15"/>
            <p:cNvSpPr txBox="1">
              <a:spLocks noChangeArrowheads="1"/>
            </p:cNvSpPr>
            <p:nvPr/>
          </p:nvSpPr>
          <p:spPr bwMode="auto">
            <a:xfrm>
              <a:off x="3178" y="3780"/>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3" name="Text Box 16"/>
            <p:cNvSpPr txBox="1">
              <a:spLocks noChangeArrowheads="1"/>
            </p:cNvSpPr>
            <p:nvPr/>
          </p:nvSpPr>
          <p:spPr bwMode="auto">
            <a:xfrm>
              <a:off x="3178" y="4924"/>
              <a:ext cx="1477" cy="28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kumimoji="0" lang="zh-CN" altLang="zh-CN" sz="1500" b="1">
                <a:latin typeface="Tahoma" pitchFamily="34" charset="0"/>
              </a:endParaRPr>
            </a:p>
          </p:txBody>
        </p:sp>
        <p:sp>
          <p:nvSpPr>
            <p:cNvPr id="44" name="Text Box 17"/>
            <p:cNvSpPr txBox="1">
              <a:spLocks noChangeArrowheads="1"/>
            </p:cNvSpPr>
            <p:nvPr/>
          </p:nvSpPr>
          <p:spPr bwMode="auto">
            <a:xfrm>
              <a:off x="2099" y="2804"/>
              <a:ext cx="1055" cy="26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r" eaLnBrk="1" hangingPunct="1">
                <a:lnSpc>
                  <a:spcPct val="112000"/>
                </a:lnSpc>
              </a:pPr>
              <a:r>
                <a:rPr kumimoji="0" lang="en-US" altLang="zh-CN" sz="1500" b="1">
                  <a:solidFill>
                    <a:srgbClr val="CC0000"/>
                  </a:solidFill>
                </a:rPr>
                <a:t>0KB</a:t>
              </a:r>
            </a:p>
            <a:p>
              <a:pPr algn="r" eaLnBrk="1" hangingPunct="1">
                <a:lnSpc>
                  <a:spcPct val="112000"/>
                </a:lnSpc>
              </a:pPr>
              <a:r>
                <a:rPr kumimoji="0" lang="en-US" altLang="zh-CN" sz="1500" b="1">
                  <a:solidFill>
                    <a:srgbClr val="CC0000"/>
                  </a:solidFill>
                </a:rPr>
                <a:t>100KB</a:t>
              </a:r>
            </a:p>
            <a:p>
              <a:pPr algn="r" eaLnBrk="1" hangingPunct="1">
                <a:lnSpc>
                  <a:spcPct val="112000"/>
                </a:lnSpc>
              </a:pPr>
              <a:r>
                <a:rPr kumimoji="0" lang="en-US" altLang="zh-CN" sz="1500" b="1">
                  <a:solidFill>
                    <a:srgbClr val="CC0000"/>
                  </a:solidFill>
                </a:rPr>
                <a:t>180KB</a:t>
              </a:r>
            </a:p>
            <a:p>
              <a:pPr algn="r" eaLnBrk="1" hangingPunct="1">
                <a:lnSpc>
                  <a:spcPct val="112000"/>
                </a:lnSpc>
              </a:pPr>
              <a:r>
                <a:rPr kumimoji="0" lang="en-US" altLang="zh-CN" sz="1500" b="1">
                  <a:solidFill>
                    <a:srgbClr val="CC0000"/>
                  </a:solidFill>
                </a:rPr>
                <a:t>190KB</a:t>
              </a:r>
            </a:p>
            <a:p>
              <a:pPr algn="r" eaLnBrk="1" hangingPunct="1">
                <a:lnSpc>
                  <a:spcPct val="112000"/>
                </a:lnSpc>
              </a:pPr>
              <a:r>
                <a:rPr kumimoji="0" lang="en-US" altLang="zh-CN" sz="1500" b="1">
                  <a:solidFill>
                    <a:srgbClr val="CC0000"/>
                  </a:solidFill>
                </a:rPr>
                <a:t>280KB</a:t>
              </a:r>
            </a:p>
            <a:p>
              <a:pPr algn="r" eaLnBrk="1" hangingPunct="1">
                <a:lnSpc>
                  <a:spcPct val="112000"/>
                </a:lnSpc>
              </a:pPr>
              <a:r>
                <a:rPr kumimoji="0" lang="en-US" altLang="zh-CN" sz="1500" b="1">
                  <a:solidFill>
                    <a:srgbClr val="CC0000"/>
                  </a:solidFill>
                </a:rPr>
                <a:t>330KB</a:t>
              </a:r>
            </a:p>
            <a:p>
              <a:pPr algn="r" eaLnBrk="1" hangingPunct="1">
                <a:lnSpc>
                  <a:spcPct val="112000"/>
                </a:lnSpc>
              </a:pPr>
              <a:r>
                <a:rPr kumimoji="0" lang="en-US" altLang="zh-CN" sz="1500" b="1">
                  <a:solidFill>
                    <a:srgbClr val="CC0000"/>
                  </a:solidFill>
                </a:rPr>
                <a:t>390KB</a:t>
              </a:r>
            </a:p>
            <a:p>
              <a:pPr algn="r" eaLnBrk="1" hangingPunct="1">
                <a:lnSpc>
                  <a:spcPct val="112000"/>
                </a:lnSpc>
              </a:pPr>
              <a:r>
                <a:rPr kumimoji="0" lang="en-US" altLang="zh-CN" sz="1500" b="1">
                  <a:solidFill>
                    <a:srgbClr val="CC0000"/>
                  </a:solidFill>
                </a:rPr>
                <a:t>410KB</a:t>
              </a:r>
            </a:p>
            <a:p>
              <a:pPr algn="r" eaLnBrk="1" hangingPunct="1">
                <a:lnSpc>
                  <a:spcPct val="112000"/>
                </a:lnSpc>
              </a:pPr>
              <a:r>
                <a:rPr kumimoji="0" lang="en-US" altLang="zh-CN" sz="1500" b="1">
                  <a:solidFill>
                    <a:srgbClr val="CC0000"/>
                  </a:solidFill>
                </a:rPr>
                <a:t>512KB</a:t>
              </a:r>
              <a:endParaRPr kumimoji="0" lang="en-US" altLang="zh-CN" sz="1500" b="1">
                <a:solidFill>
                  <a:srgbClr val="CC0000"/>
                </a:solidFill>
                <a:latin typeface="Tahoma" pitchFamily="34" charset="0"/>
              </a:endParaRPr>
            </a:p>
          </p:txBody>
        </p:sp>
      </p:grpSp>
      <p:sp>
        <p:nvSpPr>
          <p:cNvPr id="45" name="AutoShape 18"/>
          <p:cNvSpPr>
            <a:spLocks noChangeArrowheads="1"/>
          </p:cNvSpPr>
          <p:nvPr/>
        </p:nvSpPr>
        <p:spPr bwMode="auto">
          <a:xfrm>
            <a:off x="6520778" y="715002"/>
            <a:ext cx="2159000" cy="1223963"/>
          </a:xfrm>
          <a:prstGeom prst="wedgeRoundRectCallout">
            <a:avLst>
              <a:gd name="adj1" fmla="val 70000"/>
              <a:gd name="adj2" fmla="val 88394"/>
              <a:gd name="adj3" fmla="val 16667"/>
            </a:avLst>
          </a:prstGeom>
          <a:ln>
            <a:headEnd/>
            <a:tailEnd/>
          </a:ln>
        </p:spPr>
        <p:style>
          <a:lnRef idx="1">
            <a:schemeClr val="accent6"/>
          </a:lnRef>
          <a:fillRef idx="3">
            <a:schemeClr val="accent6"/>
          </a:fillRef>
          <a:effectRef idx="2">
            <a:schemeClr val="accent6"/>
          </a:effectRef>
          <a:fontRef idx="minor">
            <a:schemeClr val="lt1"/>
          </a:fontRef>
        </p:style>
        <p:txBody>
          <a:bodyPr/>
          <a:lstStyle/>
          <a:p>
            <a:pPr algn="ctr">
              <a:defRPr/>
            </a:pPr>
            <a:r>
              <a:rPr kumimoji="0" lang="zh-CN" altLang="en-US" sz="1800" b="1">
                <a:solidFill>
                  <a:schemeClr val="bg1"/>
                </a:solidFill>
                <a:effectLst>
                  <a:outerShdw blurRad="38100" dist="38100" dir="2700000" algn="tl">
                    <a:srgbClr val="000000"/>
                  </a:outerShdw>
                </a:effectLst>
                <a:latin typeface="Tahoma" pitchFamily="34" charset="0"/>
              </a:rPr>
              <a:t>阴影部分表示已占用块，空白部分表示空闲块</a:t>
            </a:r>
          </a:p>
          <a:p>
            <a:pPr algn="ctr">
              <a:defRPr/>
            </a:pPr>
            <a:r>
              <a:rPr kumimoji="0" lang="zh-CN" altLang="en-US" sz="1800" b="1">
                <a:solidFill>
                  <a:schemeClr val="bg1"/>
                </a:solidFill>
                <a:effectLst>
                  <a:outerShdw blurRad="38100" dist="38100" dir="2700000" algn="tl">
                    <a:srgbClr val="000000"/>
                  </a:outerShdw>
                </a:effectLst>
                <a:latin typeface="Tahoma" pitchFamily="34" charset="0"/>
              </a:rPr>
              <a:t>申请</a:t>
            </a:r>
            <a:r>
              <a:rPr kumimoji="0" lang="en-US" altLang="zh-CN" sz="1800" b="1">
                <a:solidFill>
                  <a:schemeClr val="bg1"/>
                </a:solidFill>
                <a:effectLst>
                  <a:outerShdw blurRad="38100" dist="38100" dir="2700000" algn="tl">
                    <a:srgbClr val="000000"/>
                  </a:outerShdw>
                </a:effectLst>
                <a:latin typeface="Tahoma" pitchFamily="34" charset="0"/>
              </a:rPr>
              <a:t>40K</a:t>
            </a:r>
            <a:r>
              <a:rPr kumimoji="0" lang="zh-CN" altLang="en-US" sz="1800" b="1">
                <a:solidFill>
                  <a:schemeClr val="bg1"/>
                </a:solidFill>
                <a:effectLst>
                  <a:outerShdw blurRad="38100" dist="38100" dir="2700000" algn="tl">
                    <a:srgbClr val="000000"/>
                  </a:outerShdw>
                </a:effectLst>
                <a:latin typeface="Tahoma" pitchFamily="34" charset="0"/>
              </a:rPr>
              <a:t>内存 </a:t>
            </a:r>
          </a:p>
        </p:txBody>
      </p:sp>
      <p:sp>
        <p:nvSpPr>
          <p:cNvPr id="63" name="Rectangle 19"/>
          <p:cNvSpPr>
            <a:spLocks noChangeArrowheads="1"/>
          </p:cNvSpPr>
          <p:nvPr/>
        </p:nvSpPr>
        <p:spPr bwMode="auto">
          <a:xfrm>
            <a:off x="9800553" y="3297865"/>
            <a:ext cx="1314450" cy="144462"/>
          </a:xfrm>
          <a:prstGeom prst="rect">
            <a:avLst/>
          </a:prstGeom>
          <a:solidFill>
            <a:srgbClr val="CC00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40277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checkerboard(across)">
                                      <p:cBhvr>
                                        <p:cTn id="31" dur="500"/>
                                        <p:tgtEl>
                                          <p:spTgt spid="34"/>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checkerboard(across)">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checkerboard(across)">
                                      <p:cBhvr>
                                        <p:cTn id="39" dur="500"/>
                                        <p:tgtEl>
                                          <p:spTgt spid="63"/>
                                        </p:tgtEl>
                                      </p:cBhvr>
                                    </p:animEffect>
                                  </p:childTnLst>
                                </p:cTn>
                              </p:par>
                              <p:par>
                                <p:cTn id="40" presetID="35" presetClass="emph" presetSubtype="0" repeatCount="4000" fill="hold" grpId="1" nodeType="withEffect">
                                  <p:stCondLst>
                                    <p:cond delay="0"/>
                                  </p:stCondLst>
                                  <p:childTnLst>
                                    <p:anim calcmode="discrete" valueType="str">
                                      <p:cBhvr>
                                        <p:cTn id="41"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par>
                    <p:cTn id="42" fill="hold">
                      <p:stCondLst>
                        <p:cond delay="indefinite"/>
                      </p:stCondLst>
                      <p:childTnLst>
                        <p:par>
                          <p:cTn id="43" fill="hold">
                            <p:stCondLst>
                              <p:cond delay="0"/>
                            </p:stCondLst>
                            <p:childTnLst>
                              <p:par>
                                <p:cTn id="44" presetID="5" presetClass="exit" presetSubtype="10" fill="hold" nodeType="clickEffect">
                                  <p:stCondLst>
                                    <p:cond delay="0"/>
                                  </p:stCondLst>
                                  <p:childTnLst>
                                    <p:animEffect transition="out" filter="checkerboard(across)">
                                      <p:cBhvr>
                                        <p:cTn id="45" dur="500"/>
                                        <p:tgtEl>
                                          <p:spTgt spid="34"/>
                                        </p:tgtEl>
                                      </p:cBhvr>
                                    </p:animEffect>
                                    <p:set>
                                      <p:cBhvr>
                                        <p:cTn id="46" dur="1" fill="hold">
                                          <p:stCondLst>
                                            <p:cond delay="499"/>
                                          </p:stCondLst>
                                        </p:cTn>
                                        <p:tgtEl>
                                          <p:spTgt spid="34"/>
                                        </p:tgtEl>
                                        <p:attrNameLst>
                                          <p:attrName>style.visibility</p:attrName>
                                        </p:attrNameLst>
                                      </p:cBhvr>
                                      <p:to>
                                        <p:strVal val="hidden"/>
                                      </p:to>
                                    </p:set>
                                  </p:childTnLst>
                                </p:cTn>
                              </p:par>
                              <p:par>
                                <p:cTn id="47" presetID="5" presetClass="exit" presetSubtype="10" fill="hold" grpId="1" nodeType="withEffect">
                                  <p:stCondLst>
                                    <p:cond delay="0"/>
                                  </p:stCondLst>
                                  <p:childTnLst>
                                    <p:animEffect transition="out" filter="checkerboard(across)">
                                      <p:cBhvr>
                                        <p:cTn id="48" dur="500"/>
                                        <p:tgtEl>
                                          <p:spTgt spid="45"/>
                                        </p:tgtEl>
                                      </p:cBhvr>
                                    </p:animEffect>
                                    <p:set>
                                      <p:cBhvr>
                                        <p:cTn id="49" dur="1" fill="hold">
                                          <p:stCondLst>
                                            <p:cond delay="499"/>
                                          </p:stCondLst>
                                        </p:cTn>
                                        <p:tgtEl>
                                          <p:spTgt spid="45"/>
                                        </p:tgtEl>
                                        <p:attrNameLst>
                                          <p:attrName>style.visibility</p:attrName>
                                        </p:attrNameLst>
                                      </p:cBhvr>
                                      <p:to>
                                        <p:strVal val="hidden"/>
                                      </p:to>
                                    </p:set>
                                  </p:childTnLst>
                                </p:cTn>
                              </p:par>
                              <p:par>
                                <p:cTn id="50" presetID="5" presetClass="exit" presetSubtype="10" fill="hold" grpId="2" nodeType="withEffect">
                                  <p:stCondLst>
                                    <p:cond delay="0"/>
                                  </p:stCondLst>
                                  <p:childTnLst>
                                    <p:animEffect transition="out" filter="checkerboard(across)">
                                      <p:cBhvr>
                                        <p:cTn id="51" dur="500"/>
                                        <p:tgtEl>
                                          <p:spTgt spid="63"/>
                                        </p:tgtEl>
                                      </p:cBhvr>
                                    </p:animEffect>
                                    <p:set>
                                      <p:cBhvr>
                                        <p:cTn id="52" dur="1" fill="hold">
                                          <p:stCondLst>
                                            <p:cond delay="499"/>
                                          </p:stCondLst>
                                        </p:cTn>
                                        <p:tgtEl>
                                          <p:spTgt spid="6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strips(down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50" presetClass="entr" presetSubtype="0" decel="100000" fill="hold" grpId="0" nodeType="clickEffect">
                                  <p:stCondLst>
                                    <p:cond delay="0"/>
                                  </p:stCondLst>
                                  <p:iterate type="lt">
                                    <p:tmPct val="5000"/>
                                  </p:iterate>
                                  <p:childTnLst>
                                    <p:set>
                                      <p:cBhvr>
                                        <p:cTn id="61" dur="1" fill="hold">
                                          <p:stCondLst>
                                            <p:cond delay="0"/>
                                          </p:stCondLst>
                                        </p:cTn>
                                        <p:tgtEl>
                                          <p:spTgt spid="32"/>
                                        </p:tgtEl>
                                        <p:attrNameLst>
                                          <p:attrName>style.visibility</p:attrName>
                                        </p:attrNameLst>
                                      </p:cBhvr>
                                      <p:to>
                                        <p:strVal val="visible"/>
                                      </p:to>
                                    </p:set>
                                    <p:anim calcmode="lin" valueType="num">
                                      <p:cBhvr>
                                        <p:cTn id="62" dur="500" fill="hold"/>
                                        <p:tgtEl>
                                          <p:spTgt spid="32"/>
                                        </p:tgtEl>
                                        <p:attrNameLst>
                                          <p:attrName>ppt_w</p:attrName>
                                        </p:attrNameLst>
                                      </p:cBhvr>
                                      <p:tavLst>
                                        <p:tav tm="0">
                                          <p:val>
                                            <p:strVal val="#ppt_w+.3"/>
                                          </p:val>
                                        </p:tav>
                                        <p:tav tm="100000">
                                          <p:val>
                                            <p:strVal val="#ppt_w"/>
                                          </p:val>
                                        </p:tav>
                                      </p:tavLst>
                                    </p:anim>
                                    <p:anim calcmode="lin" valueType="num">
                                      <p:cBhvr>
                                        <p:cTn id="63" dur="500" fill="hold"/>
                                        <p:tgtEl>
                                          <p:spTgt spid="32"/>
                                        </p:tgtEl>
                                        <p:attrNameLst>
                                          <p:attrName>ppt_h</p:attrName>
                                        </p:attrNameLst>
                                      </p:cBhvr>
                                      <p:tavLst>
                                        <p:tav tm="0">
                                          <p:val>
                                            <p:strVal val="#ppt_h"/>
                                          </p:val>
                                        </p:tav>
                                        <p:tav tm="100000">
                                          <p:val>
                                            <p:strVal val="#ppt_h"/>
                                          </p:val>
                                        </p:tav>
                                      </p:tavLst>
                                    </p:anim>
                                    <p:animEffect transition="in" filter="fade">
                                      <p:cBhvr>
                                        <p:cTn id="64" dur="5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8" presetClass="entr" presetSubtype="12" fill="hold" grpId="0" nodeType="click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strips(downLeft)">
                                      <p:cBhvr>
                                        <p:cTn id="69" dur="500"/>
                                        <p:tgtEl>
                                          <p:spTgt spid="61"/>
                                        </p:tgtEl>
                                      </p:cBhvr>
                                    </p:animEffect>
                                  </p:childTnLst>
                                </p:cTn>
                              </p:par>
                            </p:childTnLst>
                          </p:cTn>
                        </p:par>
                      </p:childTnLst>
                    </p:cTn>
                  </p:par>
                  <p:par>
                    <p:cTn id="70" fill="hold">
                      <p:stCondLst>
                        <p:cond delay="indefinite"/>
                      </p:stCondLst>
                      <p:childTnLst>
                        <p:par>
                          <p:cTn id="71" fill="hold">
                            <p:stCondLst>
                              <p:cond delay="0"/>
                            </p:stCondLst>
                            <p:childTnLst>
                              <p:par>
                                <p:cTn id="72" presetID="50" presetClass="entr" presetSubtype="0" decel="100000" fill="hold" grpId="0" nodeType="clickEffect">
                                  <p:stCondLst>
                                    <p:cond delay="0"/>
                                  </p:stCondLst>
                                  <p:iterate type="lt">
                                    <p:tmPct val="5000"/>
                                  </p:iterate>
                                  <p:childTnLst>
                                    <p:set>
                                      <p:cBhvr>
                                        <p:cTn id="73" dur="1" fill="hold">
                                          <p:stCondLst>
                                            <p:cond delay="0"/>
                                          </p:stCondLst>
                                        </p:cTn>
                                        <p:tgtEl>
                                          <p:spTgt spid="62"/>
                                        </p:tgtEl>
                                        <p:attrNameLst>
                                          <p:attrName>style.visibility</p:attrName>
                                        </p:attrNameLst>
                                      </p:cBhvr>
                                      <p:to>
                                        <p:strVal val="visible"/>
                                      </p:to>
                                    </p:set>
                                    <p:anim calcmode="lin" valueType="num">
                                      <p:cBhvr>
                                        <p:cTn id="74" dur="500" fill="hold"/>
                                        <p:tgtEl>
                                          <p:spTgt spid="62"/>
                                        </p:tgtEl>
                                        <p:attrNameLst>
                                          <p:attrName>ppt_w</p:attrName>
                                        </p:attrNameLst>
                                      </p:cBhvr>
                                      <p:tavLst>
                                        <p:tav tm="0">
                                          <p:val>
                                            <p:strVal val="#ppt_w+.3"/>
                                          </p:val>
                                        </p:tav>
                                        <p:tav tm="100000">
                                          <p:val>
                                            <p:strVal val="#ppt_w"/>
                                          </p:val>
                                        </p:tav>
                                      </p:tavLst>
                                    </p:anim>
                                    <p:anim calcmode="lin" valueType="num">
                                      <p:cBhvr>
                                        <p:cTn id="75" dur="500" fill="hold"/>
                                        <p:tgtEl>
                                          <p:spTgt spid="62"/>
                                        </p:tgtEl>
                                        <p:attrNameLst>
                                          <p:attrName>ppt_h</p:attrName>
                                        </p:attrNameLst>
                                      </p:cBhvr>
                                      <p:tavLst>
                                        <p:tav tm="0">
                                          <p:val>
                                            <p:strVal val="#ppt_h"/>
                                          </p:val>
                                        </p:tav>
                                        <p:tav tm="100000">
                                          <p:val>
                                            <p:strVal val="#ppt_h"/>
                                          </p:val>
                                        </p:tav>
                                      </p:tavLst>
                                    </p:anim>
                                    <p:animEffect transition="in" filter="fade">
                                      <p:cBhvr>
                                        <p:cTn id="7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32" grpId="0"/>
      <p:bldP spid="61" grpId="0"/>
      <p:bldP spid="62" grpId="0"/>
      <p:bldP spid="45" grpId="0" animBg="1"/>
      <p:bldP spid="45" grpId="1" animBg="1"/>
      <p:bldP spid="63" grpId="0" animBg="1"/>
      <p:bldP spid="63" grpId="1" animBg="1"/>
      <p:bldP spid="63" grpId="2"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）常用分配算法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40" name="Freeform 7"/>
          <p:cNvSpPr/>
          <p:nvPr/>
        </p:nvSpPr>
        <p:spPr bwMode="auto">
          <a:xfrm rot="18900000">
            <a:off x="3219468" y="2140680"/>
            <a:ext cx="1746988" cy="1746988"/>
          </a:xfrm>
          <a:custGeom>
            <a:avLst/>
            <a:gdLst>
              <a:gd name="T0" fmla="*/ 720 w 720"/>
              <a:gd name="T1" fmla="*/ 275 h 720"/>
              <a:gd name="T2" fmla="*/ 643 w 720"/>
              <a:gd name="T3" fmla="*/ 352 h 720"/>
              <a:gd name="T4" fmla="*/ 643 w 720"/>
              <a:gd name="T5" fmla="*/ 352 h 720"/>
              <a:gd name="T6" fmla="*/ 603 w 720"/>
              <a:gd name="T7" fmla="*/ 336 h 720"/>
              <a:gd name="T8" fmla="*/ 569 w 720"/>
              <a:gd name="T9" fmla="*/ 313 h 720"/>
              <a:gd name="T10" fmla="*/ 543 w 720"/>
              <a:gd name="T11" fmla="*/ 356 h 720"/>
              <a:gd name="T12" fmla="*/ 542 w 720"/>
              <a:gd name="T13" fmla="*/ 365 h 720"/>
              <a:gd name="T14" fmla="*/ 542 w 720"/>
              <a:gd name="T15" fmla="*/ 542 h 720"/>
              <a:gd name="T16" fmla="*/ 542 w 720"/>
              <a:gd name="T17" fmla="*/ 542 h 720"/>
              <a:gd name="T18" fmla="*/ 356 w 720"/>
              <a:gd name="T19" fmla="*/ 542 h 720"/>
              <a:gd name="T20" fmla="*/ 345 w 720"/>
              <a:gd name="T21" fmla="*/ 543 h 720"/>
              <a:gd name="T22" fmla="*/ 296 w 720"/>
              <a:gd name="T23" fmla="*/ 572 h 720"/>
              <a:gd name="T24" fmla="*/ 314 w 720"/>
              <a:gd name="T25" fmla="*/ 610 h 720"/>
              <a:gd name="T26" fmla="*/ 320 w 720"/>
              <a:gd name="T27" fmla="*/ 617 h 720"/>
              <a:gd name="T28" fmla="*/ 335 w 720"/>
              <a:gd name="T29" fmla="*/ 652 h 720"/>
              <a:gd name="T30" fmla="*/ 266 w 720"/>
              <a:gd name="T31" fmla="*/ 720 h 720"/>
              <a:gd name="T32" fmla="*/ 198 w 720"/>
              <a:gd name="T33" fmla="*/ 652 h 720"/>
              <a:gd name="T34" fmla="*/ 198 w 720"/>
              <a:gd name="T35" fmla="*/ 652 h 720"/>
              <a:gd name="T36" fmla="*/ 212 w 720"/>
              <a:gd name="T37" fmla="*/ 617 h 720"/>
              <a:gd name="T38" fmla="*/ 219 w 720"/>
              <a:gd name="T39" fmla="*/ 610 h 720"/>
              <a:gd name="T40" fmla="*/ 237 w 720"/>
              <a:gd name="T41" fmla="*/ 572 h 720"/>
              <a:gd name="T42" fmla="*/ 187 w 720"/>
              <a:gd name="T43" fmla="*/ 543 h 720"/>
              <a:gd name="T44" fmla="*/ 177 w 720"/>
              <a:gd name="T45" fmla="*/ 542 h 720"/>
              <a:gd name="T46" fmla="*/ 0 w 720"/>
              <a:gd name="T47" fmla="*/ 542 h 720"/>
              <a:gd name="T48" fmla="*/ 0 w 720"/>
              <a:gd name="T49" fmla="*/ 365 h 720"/>
              <a:gd name="T50" fmla="*/ 1 w 720"/>
              <a:gd name="T51" fmla="*/ 358 h 720"/>
              <a:gd name="T52" fmla="*/ 19 w 720"/>
              <a:gd name="T53" fmla="*/ 321 h 720"/>
              <a:gd name="T54" fmla="*/ 40 w 720"/>
              <a:gd name="T55" fmla="*/ 335 h 720"/>
              <a:gd name="T56" fmla="*/ 47 w 720"/>
              <a:gd name="T57" fmla="*/ 342 h 720"/>
              <a:gd name="T58" fmla="*/ 92 w 720"/>
              <a:gd name="T59" fmla="*/ 360 h 720"/>
              <a:gd name="T60" fmla="*/ 93 w 720"/>
              <a:gd name="T61" fmla="*/ 360 h 720"/>
              <a:gd name="T62" fmla="*/ 178 w 720"/>
              <a:gd name="T63" fmla="*/ 275 h 720"/>
              <a:gd name="T64" fmla="*/ 93 w 720"/>
              <a:gd name="T65" fmla="*/ 190 h 720"/>
              <a:gd name="T66" fmla="*/ 92 w 720"/>
              <a:gd name="T67" fmla="*/ 190 h 720"/>
              <a:gd name="T68" fmla="*/ 47 w 720"/>
              <a:gd name="T69" fmla="*/ 209 h 720"/>
              <a:gd name="T70" fmla="*/ 40 w 720"/>
              <a:gd name="T71" fmla="*/ 215 h 720"/>
              <a:gd name="T72" fmla="*/ 19 w 720"/>
              <a:gd name="T73" fmla="*/ 230 h 720"/>
              <a:gd name="T74" fmla="*/ 1 w 720"/>
              <a:gd name="T75" fmla="*/ 193 h 720"/>
              <a:gd name="T76" fmla="*/ 0 w 720"/>
              <a:gd name="T77" fmla="*/ 186 h 720"/>
              <a:gd name="T78" fmla="*/ 0 w 720"/>
              <a:gd name="T79" fmla="*/ 0 h 720"/>
              <a:gd name="T80" fmla="*/ 177 w 720"/>
              <a:gd name="T81" fmla="*/ 0 h 720"/>
              <a:gd name="T82" fmla="*/ 186 w 720"/>
              <a:gd name="T83" fmla="*/ 1 h 720"/>
              <a:gd name="T84" fmla="*/ 206 w 720"/>
              <a:gd name="T85" fmla="*/ 61 h 720"/>
              <a:gd name="T86" fmla="*/ 190 w 720"/>
              <a:gd name="T87" fmla="*/ 102 h 720"/>
              <a:gd name="T88" fmla="*/ 266 w 720"/>
              <a:gd name="T89" fmla="*/ 179 h 720"/>
              <a:gd name="T90" fmla="*/ 343 w 720"/>
              <a:gd name="T91" fmla="*/ 102 h 720"/>
              <a:gd name="T92" fmla="*/ 327 w 720"/>
              <a:gd name="T93" fmla="*/ 61 h 720"/>
              <a:gd name="T94" fmla="*/ 347 w 720"/>
              <a:gd name="T95" fmla="*/ 1 h 720"/>
              <a:gd name="T96" fmla="*/ 356 w 720"/>
              <a:gd name="T97" fmla="*/ 0 h 720"/>
              <a:gd name="T98" fmla="*/ 542 w 720"/>
              <a:gd name="T99" fmla="*/ 0 h 720"/>
              <a:gd name="T100" fmla="*/ 542 w 720"/>
              <a:gd name="T101" fmla="*/ 186 h 720"/>
              <a:gd name="T102" fmla="*/ 543 w 720"/>
              <a:gd name="T103" fmla="*/ 194 h 720"/>
              <a:gd name="T104" fmla="*/ 569 w 720"/>
              <a:gd name="T105" fmla="*/ 238 h 720"/>
              <a:gd name="T106" fmla="*/ 603 w 720"/>
              <a:gd name="T107" fmla="*/ 215 h 720"/>
              <a:gd name="T108" fmla="*/ 642 w 720"/>
              <a:gd name="T109" fmla="*/ 199 h 720"/>
              <a:gd name="T110" fmla="*/ 643 w 720"/>
              <a:gd name="T111" fmla="*/ 199 h 720"/>
              <a:gd name="T112" fmla="*/ 720 w 720"/>
              <a:gd name="T113" fmla="*/ 275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275"/>
                </a:moveTo>
                <a:cubicBezTo>
                  <a:pt x="720" y="318"/>
                  <a:pt x="686" y="352"/>
                  <a:pt x="643" y="352"/>
                </a:cubicBezTo>
                <a:cubicBezTo>
                  <a:pt x="643" y="352"/>
                  <a:pt x="643" y="352"/>
                  <a:pt x="643" y="352"/>
                </a:cubicBezTo>
                <a:cubicBezTo>
                  <a:pt x="639" y="352"/>
                  <a:pt x="621" y="351"/>
                  <a:pt x="603" y="336"/>
                </a:cubicBezTo>
                <a:cubicBezTo>
                  <a:pt x="592" y="327"/>
                  <a:pt x="580" y="313"/>
                  <a:pt x="569" y="313"/>
                </a:cubicBezTo>
                <a:cubicBezTo>
                  <a:pt x="559" y="313"/>
                  <a:pt x="550" y="323"/>
                  <a:pt x="543" y="356"/>
                </a:cubicBezTo>
                <a:cubicBezTo>
                  <a:pt x="542" y="359"/>
                  <a:pt x="542" y="362"/>
                  <a:pt x="542" y="365"/>
                </a:cubicBezTo>
                <a:cubicBezTo>
                  <a:pt x="542" y="542"/>
                  <a:pt x="542" y="542"/>
                  <a:pt x="542" y="542"/>
                </a:cubicBezTo>
                <a:cubicBezTo>
                  <a:pt x="542" y="542"/>
                  <a:pt x="542" y="542"/>
                  <a:pt x="542" y="542"/>
                </a:cubicBezTo>
                <a:cubicBezTo>
                  <a:pt x="356" y="542"/>
                  <a:pt x="356" y="542"/>
                  <a:pt x="356" y="542"/>
                </a:cubicBezTo>
                <a:cubicBezTo>
                  <a:pt x="352" y="542"/>
                  <a:pt x="349" y="543"/>
                  <a:pt x="345" y="543"/>
                </a:cubicBezTo>
                <a:cubicBezTo>
                  <a:pt x="315" y="550"/>
                  <a:pt x="300" y="559"/>
                  <a:pt x="296" y="572"/>
                </a:cubicBezTo>
                <a:cubicBezTo>
                  <a:pt x="292" y="586"/>
                  <a:pt x="304" y="599"/>
                  <a:pt x="314" y="610"/>
                </a:cubicBezTo>
                <a:cubicBezTo>
                  <a:pt x="316" y="613"/>
                  <a:pt x="318" y="615"/>
                  <a:pt x="320" y="617"/>
                </a:cubicBezTo>
                <a:cubicBezTo>
                  <a:pt x="335" y="634"/>
                  <a:pt x="335" y="651"/>
                  <a:pt x="335" y="652"/>
                </a:cubicBezTo>
                <a:cubicBezTo>
                  <a:pt x="335" y="690"/>
                  <a:pt x="304" y="720"/>
                  <a:pt x="266" y="720"/>
                </a:cubicBezTo>
                <a:cubicBezTo>
                  <a:pt x="229" y="720"/>
                  <a:pt x="198" y="690"/>
                  <a:pt x="198" y="652"/>
                </a:cubicBezTo>
                <a:cubicBezTo>
                  <a:pt x="198" y="652"/>
                  <a:pt x="198" y="652"/>
                  <a:pt x="198" y="652"/>
                </a:cubicBezTo>
                <a:cubicBezTo>
                  <a:pt x="198" y="651"/>
                  <a:pt x="197" y="634"/>
                  <a:pt x="212" y="617"/>
                </a:cubicBezTo>
                <a:cubicBezTo>
                  <a:pt x="214" y="615"/>
                  <a:pt x="216" y="613"/>
                  <a:pt x="219" y="610"/>
                </a:cubicBezTo>
                <a:cubicBezTo>
                  <a:pt x="229" y="599"/>
                  <a:pt x="241" y="586"/>
                  <a:pt x="237" y="572"/>
                </a:cubicBezTo>
                <a:cubicBezTo>
                  <a:pt x="233" y="559"/>
                  <a:pt x="217" y="550"/>
                  <a:pt x="187" y="543"/>
                </a:cubicBezTo>
                <a:cubicBezTo>
                  <a:pt x="184" y="543"/>
                  <a:pt x="180" y="542"/>
                  <a:pt x="177" y="542"/>
                </a:cubicBezTo>
                <a:cubicBezTo>
                  <a:pt x="0" y="542"/>
                  <a:pt x="0" y="542"/>
                  <a:pt x="0" y="542"/>
                </a:cubicBezTo>
                <a:cubicBezTo>
                  <a:pt x="0" y="365"/>
                  <a:pt x="0" y="365"/>
                  <a:pt x="0" y="365"/>
                </a:cubicBezTo>
                <a:cubicBezTo>
                  <a:pt x="0" y="363"/>
                  <a:pt x="0" y="360"/>
                  <a:pt x="1" y="358"/>
                </a:cubicBezTo>
                <a:cubicBezTo>
                  <a:pt x="8" y="324"/>
                  <a:pt x="17" y="321"/>
                  <a:pt x="19" y="321"/>
                </a:cubicBezTo>
                <a:cubicBezTo>
                  <a:pt x="24" y="321"/>
                  <a:pt x="33" y="329"/>
                  <a:pt x="40" y="335"/>
                </a:cubicBezTo>
                <a:cubicBezTo>
                  <a:pt x="42" y="338"/>
                  <a:pt x="45" y="340"/>
                  <a:pt x="47" y="342"/>
                </a:cubicBezTo>
                <a:cubicBezTo>
                  <a:pt x="67" y="359"/>
                  <a:pt x="87" y="360"/>
                  <a:pt x="92" y="360"/>
                </a:cubicBezTo>
                <a:cubicBezTo>
                  <a:pt x="93" y="360"/>
                  <a:pt x="93" y="360"/>
                  <a:pt x="93" y="360"/>
                </a:cubicBezTo>
                <a:cubicBezTo>
                  <a:pt x="140" y="360"/>
                  <a:pt x="178" y="322"/>
                  <a:pt x="178" y="275"/>
                </a:cubicBezTo>
                <a:cubicBezTo>
                  <a:pt x="178" y="229"/>
                  <a:pt x="140" y="190"/>
                  <a:pt x="93" y="190"/>
                </a:cubicBezTo>
                <a:cubicBezTo>
                  <a:pt x="92" y="190"/>
                  <a:pt x="92" y="190"/>
                  <a:pt x="92" y="190"/>
                </a:cubicBezTo>
                <a:cubicBezTo>
                  <a:pt x="87" y="190"/>
                  <a:pt x="67" y="192"/>
                  <a:pt x="47" y="209"/>
                </a:cubicBezTo>
                <a:cubicBezTo>
                  <a:pt x="45" y="211"/>
                  <a:pt x="42" y="213"/>
                  <a:pt x="40" y="215"/>
                </a:cubicBezTo>
                <a:cubicBezTo>
                  <a:pt x="33" y="222"/>
                  <a:pt x="24" y="230"/>
                  <a:pt x="19" y="230"/>
                </a:cubicBezTo>
                <a:cubicBezTo>
                  <a:pt x="17" y="230"/>
                  <a:pt x="8" y="227"/>
                  <a:pt x="1" y="193"/>
                </a:cubicBezTo>
                <a:cubicBezTo>
                  <a:pt x="0" y="190"/>
                  <a:pt x="0" y="188"/>
                  <a:pt x="0" y="186"/>
                </a:cubicBezTo>
                <a:cubicBezTo>
                  <a:pt x="0" y="0"/>
                  <a:pt x="0" y="0"/>
                  <a:pt x="0" y="0"/>
                </a:cubicBezTo>
                <a:cubicBezTo>
                  <a:pt x="177" y="0"/>
                  <a:pt x="177" y="0"/>
                  <a:pt x="177" y="0"/>
                </a:cubicBezTo>
                <a:cubicBezTo>
                  <a:pt x="180" y="0"/>
                  <a:pt x="183" y="1"/>
                  <a:pt x="186" y="1"/>
                </a:cubicBezTo>
                <a:cubicBezTo>
                  <a:pt x="257" y="18"/>
                  <a:pt x="223" y="42"/>
                  <a:pt x="206" y="61"/>
                </a:cubicBezTo>
                <a:cubicBezTo>
                  <a:pt x="189" y="82"/>
                  <a:pt x="190" y="102"/>
                  <a:pt x="190" y="102"/>
                </a:cubicBezTo>
                <a:cubicBezTo>
                  <a:pt x="190" y="144"/>
                  <a:pt x="224" y="179"/>
                  <a:pt x="266" y="179"/>
                </a:cubicBezTo>
                <a:cubicBezTo>
                  <a:pt x="309" y="179"/>
                  <a:pt x="343" y="144"/>
                  <a:pt x="343" y="102"/>
                </a:cubicBezTo>
                <a:cubicBezTo>
                  <a:pt x="343" y="102"/>
                  <a:pt x="344" y="82"/>
                  <a:pt x="327" y="61"/>
                </a:cubicBezTo>
                <a:cubicBezTo>
                  <a:pt x="310" y="42"/>
                  <a:pt x="276" y="18"/>
                  <a:pt x="347" y="1"/>
                </a:cubicBezTo>
                <a:cubicBezTo>
                  <a:pt x="350" y="1"/>
                  <a:pt x="353" y="0"/>
                  <a:pt x="356" y="0"/>
                </a:cubicBezTo>
                <a:cubicBezTo>
                  <a:pt x="542" y="0"/>
                  <a:pt x="542" y="0"/>
                  <a:pt x="542" y="0"/>
                </a:cubicBezTo>
                <a:cubicBezTo>
                  <a:pt x="542" y="186"/>
                  <a:pt x="542" y="186"/>
                  <a:pt x="542" y="186"/>
                </a:cubicBezTo>
                <a:cubicBezTo>
                  <a:pt x="542" y="189"/>
                  <a:pt x="542" y="192"/>
                  <a:pt x="543" y="194"/>
                </a:cubicBezTo>
                <a:cubicBezTo>
                  <a:pt x="550" y="228"/>
                  <a:pt x="559" y="238"/>
                  <a:pt x="569" y="238"/>
                </a:cubicBezTo>
                <a:cubicBezTo>
                  <a:pt x="580" y="238"/>
                  <a:pt x="592" y="224"/>
                  <a:pt x="603" y="215"/>
                </a:cubicBezTo>
                <a:cubicBezTo>
                  <a:pt x="620" y="200"/>
                  <a:pt x="638" y="199"/>
                  <a:pt x="642" y="199"/>
                </a:cubicBezTo>
                <a:cubicBezTo>
                  <a:pt x="643" y="199"/>
                  <a:pt x="643" y="199"/>
                  <a:pt x="643" y="199"/>
                </a:cubicBezTo>
                <a:cubicBezTo>
                  <a:pt x="686" y="199"/>
                  <a:pt x="720" y="233"/>
                  <a:pt x="720" y="2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47" name="Freeform 6"/>
          <p:cNvSpPr/>
          <p:nvPr/>
        </p:nvSpPr>
        <p:spPr bwMode="auto">
          <a:xfrm rot="18900000">
            <a:off x="3870797" y="3405712"/>
            <a:ext cx="1750101" cy="1746988"/>
          </a:xfrm>
          <a:custGeom>
            <a:avLst/>
            <a:gdLst>
              <a:gd name="T0" fmla="*/ 720 w 721"/>
              <a:gd name="T1" fmla="*/ 356 h 720"/>
              <a:gd name="T2" fmla="*/ 721 w 721"/>
              <a:gd name="T3" fmla="*/ 542 h 720"/>
              <a:gd name="T4" fmla="*/ 535 w 721"/>
              <a:gd name="T5" fmla="*/ 542 h 720"/>
              <a:gd name="T6" fmla="*/ 526 w 721"/>
              <a:gd name="T7" fmla="*/ 543 h 720"/>
              <a:gd name="T8" fmla="*/ 506 w 721"/>
              <a:gd name="T9" fmla="*/ 603 h 720"/>
              <a:gd name="T10" fmla="*/ 522 w 721"/>
              <a:gd name="T11" fmla="*/ 643 h 720"/>
              <a:gd name="T12" fmla="*/ 445 w 721"/>
              <a:gd name="T13" fmla="*/ 720 h 720"/>
              <a:gd name="T14" fmla="*/ 369 w 721"/>
              <a:gd name="T15" fmla="*/ 643 h 720"/>
              <a:gd name="T16" fmla="*/ 385 w 721"/>
              <a:gd name="T17" fmla="*/ 603 h 720"/>
              <a:gd name="T18" fmla="*/ 365 w 721"/>
              <a:gd name="T19" fmla="*/ 543 h 720"/>
              <a:gd name="T20" fmla="*/ 356 w 721"/>
              <a:gd name="T21" fmla="*/ 542 h 720"/>
              <a:gd name="T22" fmla="*/ 179 w 721"/>
              <a:gd name="T23" fmla="*/ 542 h 720"/>
              <a:gd name="T24" fmla="*/ 179 w 721"/>
              <a:gd name="T25" fmla="*/ 356 h 720"/>
              <a:gd name="T26" fmla="*/ 177 w 721"/>
              <a:gd name="T27" fmla="*/ 346 h 720"/>
              <a:gd name="T28" fmla="*/ 143 w 721"/>
              <a:gd name="T29" fmla="*/ 296 h 720"/>
              <a:gd name="T30" fmla="*/ 110 w 721"/>
              <a:gd name="T31" fmla="*/ 314 h 720"/>
              <a:gd name="T32" fmla="*/ 104 w 721"/>
              <a:gd name="T33" fmla="*/ 321 h 720"/>
              <a:gd name="T34" fmla="*/ 69 w 721"/>
              <a:gd name="T35" fmla="*/ 335 h 720"/>
              <a:gd name="T36" fmla="*/ 68 w 721"/>
              <a:gd name="T37" fmla="*/ 335 h 720"/>
              <a:gd name="T38" fmla="*/ 0 w 721"/>
              <a:gd name="T39" fmla="*/ 267 h 720"/>
              <a:gd name="T40" fmla="*/ 68 w 721"/>
              <a:gd name="T41" fmla="*/ 198 h 720"/>
              <a:gd name="T42" fmla="*/ 69 w 721"/>
              <a:gd name="T43" fmla="*/ 198 h 720"/>
              <a:gd name="T44" fmla="*/ 82 w 721"/>
              <a:gd name="T45" fmla="*/ 200 h 720"/>
              <a:gd name="T46" fmla="*/ 104 w 721"/>
              <a:gd name="T47" fmla="*/ 213 h 720"/>
              <a:gd name="T48" fmla="*/ 110 w 721"/>
              <a:gd name="T49" fmla="*/ 219 h 720"/>
              <a:gd name="T50" fmla="*/ 143 w 721"/>
              <a:gd name="T51" fmla="*/ 238 h 720"/>
              <a:gd name="T52" fmla="*/ 177 w 721"/>
              <a:gd name="T53" fmla="*/ 188 h 720"/>
              <a:gd name="T54" fmla="*/ 179 w 721"/>
              <a:gd name="T55" fmla="*/ 177 h 720"/>
              <a:gd name="T56" fmla="*/ 179 w 721"/>
              <a:gd name="T57" fmla="*/ 0 h 720"/>
              <a:gd name="T58" fmla="*/ 179 w 721"/>
              <a:gd name="T59" fmla="*/ 0 h 720"/>
              <a:gd name="T60" fmla="*/ 179 w 721"/>
              <a:gd name="T61" fmla="*/ 0 h 720"/>
              <a:gd name="T62" fmla="*/ 356 w 721"/>
              <a:gd name="T63" fmla="*/ 0 h 720"/>
              <a:gd name="T64" fmla="*/ 363 w 721"/>
              <a:gd name="T65" fmla="*/ 1 h 720"/>
              <a:gd name="T66" fmla="*/ 400 w 721"/>
              <a:gd name="T67" fmla="*/ 18 h 720"/>
              <a:gd name="T68" fmla="*/ 386 w 721"/>
              <a:gd name="T69" fmla="*/ 40 h 720"/>
              <a:gd name="T70" fmla="*/ 379 w 721"/>
              <a:gd name="T71" fmla="*/ 47 h 720"/>
              <a:gd name="T72" fmla="*/ 360 w 721"/>
              <a:gd name="T73" fmla="*/ 93 h 720"/>
              <a:gd name="T74" fmla="*/ 445 w 721"/>
              <a:gd name="T75" fmla="*/ 178 h 720"/>
              <a:gd name="T76" fmla="*/ 530 w 721"/>
              <a:gd name="T77" fmla="*/ 93 h 720"/>
              <a:gd name="T78" fmla="*/ 512 w 721"/>
              <a:gd name="T79" fmla="*/ 47 h 720"/>
              <a:gd name="T80" fmla="*/ 505 w 721"/>
              <a:gd name="T81" fmla="*/ 40 h 720"/>
              <a:gd name="T82" fmla="*/ 491 w 721"/>
              <a:gd name="T83" fmla="*/ 18 h 720"/>
              <a:gd name="T84" fmla="*/ 528 w 721"/>
              <a:gd name="T85" fmla="*/ 1 h 720"/>
              <a:gd name="T86" fmla="*/ 535 w 721"/>
              <a:gd name="T87" fmla="*/ 0 h 720"/>
              <a:gd name="T88" fmla="*/ 721 w 721"/>
              <a:gd name="T89" fmla="*/ 0 h 720"/>
              <a:gd name="T90" fmla="*/ 720 w 721"/>
              <a:gd name="T91" fmla="*/ 177 h 720"/>
              <a:gd name="T92" fmla="*/ 719 w 721"/>
              <a:gd name="T93" fmla="*/ 186 h 720"/>
              <a:gd name="T94" fmla="*/ 693 w 721"/>
              <a:gd name="T95" fmla="*/ 229 h 720"/>
              <a:gd name="T96" fmla="*/ 659 w 721"/>
              <a:gd name="T97" fmla="*/ 206 h 720"/>
              <a:gd name="T98" fmla="*/ 620 w 721"/>
              <a:gd name="T99" fmla="*/ 190 h 720"/>
              <a:gd name="T100" fmla="*/ 619 w 721"/>
              <a:gd name="T101" fmla="*/ 190 h 720"/>
              <a:gd name="T102" fmla="*/ 542 w 721"/>
              <a:gd name="T103" fmla="*/ 267 h 720"/>
              <a:gd name="T104" fmla="*/ 619 w 721"/>
              <a:gd name="T105" fmla="*/ 343 h 720"/>
              <a:gd name="T106" fmla="*/ 620 w 721"/>
              <a:gd name="T107" fmla="*/ 343 h 720"/>
              <a:gd name="T108" fmla="*/ 659 w 721"/>
              <a:gd name="T109" fmla="*/ 327 h 720"/>
              <a:gd name="T110" fmla="*/ 693 w 721"/>
              <a:gd name="T111" fmla="*/ 304 h 720"/>
              <a:gd name="T112" fmla="*/ 719 w 721"/>
              <a:gd name="T113" fmla="*/ 348 h 720"/>
              <a:gd name="T114" fmla="*/ 720 w 721"/>
              <a:gd name="T115" fmla="*/ 356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1" h="720">
                <a:moveTo>
                  <a:pt x="720" y="356"/>
                </a:moveTo>
                <a:cubicBezTo>
                  <a:pt x="721" y="542"/>
                  <a:pt x="721" y="542"/>
                  <a:pt x="721" y="542"/>
                </a:cubicBezTo>
                <a:cubicBezTo>
                  <a:pt x="535" y="542"/>
                  <a:pt x="535" y="542"/>
                  <a:pt x="535" y="542"/>
                </a:cubicBezTo>
                <a:cubicBezTo>
                  <a:pt x="532" y="542"/>
                  <a:pt x="529" y="542"/>
                  <a:pt x="526" y="543"/>
                </a:cubicBezTo>
                <a:cubicBezTo>
                  <a:pt x="455" y="559"/>
                  <a:pt x="489" y="583"/>
                  <a:pt x="506" y="603"/>
                </a:cubicBezTo>
                <a:cubicBezTo>
                  <a:pt x="523" y="623"/>
                  <a:pt x="522" y="643"/>
                  <a:pt x="522" y="643"/>
                </a:cubicBezTo>
                <a:cubicBezTo>
                  <a:pt x="522" y="686"/>
                  <a:pt x="488" y="720"/>
                  <a:pt x="445" y="720"/>
                </a:cubicBezTo>
                <a:cubicBezTo>
                  <a:pt x="403" y="720"/>
                  <a:pt x="369" y="686"/>
                  <a:pt x="369" y="643"/>
                </a:cubicBezTo>
                <a:cubicBezTo>
                  <a:pt x="369" y="643"/>
                  <a:pt x="368" y="623"/>
                  <a:pt x="385" y="603"/>
                </a:cubicBezTo>
                <a:cubicBezTo>
                  <a:pt x="402" y="583"/>
                  <a:pt x="436" y="559"/>
                  <a:pt x="365" y="543"/>
                </a:cubicBezTo>
                <a:cubicBezTo>
                  <a:pt x="362" y="542"/>
                  <a:pt x="359" y="542"/>
                  <a:pt x="356" y="542"/>
                </a:cubicBezTo>
                <a:cubicBezTo>
                  <a:pt x="179" y="542"/>
                  <a:pt x="179" y="542"/>
                  <a:pt x="179" y="542"/>
                </a:cubicBezTo>
                <a:cubicBezTo>
                  <a:pt x="179" y="356"/>
                  <a:pt x="179" y="356"/>
                  <a:pt x="179" y="356"/>
                </a:cubicBezTo>
                <a:cubicBezTo>
                  <a:pt x="179" y="353"/>
                  <a:pt x="178" y="349"/>
                  <a:pt x="177" y="346"/>
                </a:cubicBezTo>
                <a:cubicBezTo>
                  <a:pt x="172" y="322"/>
                  <a:pt x="163" y="296"/>
                  <a:pt x="143" y="296"/>
                </a:cubicBezTo>
                <a:cubicBezTo>
                  <a:pt x="131" y="296"/>
                  <a:pt x="120" y="305"/>
                  <a:pt x="110" y="314"/>
                </a:cubicBezTo>
                <a:cubicBezTo>
                  <a:pt x="108" y="317"/>
                  <a:pt x="106" y="319"/>
                  <a:pt x="104" y="321"/>
                </a:cubicBezTo>
                <a:cubicBezTo>
                  <a:pt x="88" y="334"/>
                  <a:pt x="72" y="335"/>
                  <a:pt x="69" y="335"/>
                </a:cubicBezTo>
                <a:cubicBezTo>
                  <a:pt x="68" y="335"/>
                  <a:pt x="68" y="335"/>
                  <a:pt x="68" y="335"/>
                </a:cubicBezTo>
                <a:cubicBezTo>
                  <a:pt x="31" y="335"/>
                  <a:pt x="0" y="304"/>
                  <a:pt x="0" y="267"/>
                </a:cubicBezTo>
                <a:cubicBezTo>
                  <a:pt x="0" y="229"/>
                  <a:pt x="31" y="198"/>
                  <a:pt x="68" y="198"/>
                </a:cubicBezTo>
                <a:cubicBezTo>
                  <a:pt x="69" y="198"/>
                  <a:pt x="69" y="198"/>
                  <a:pt x="69" y="198"/>
                </a:cubicBezTo>
                <a:cubicBezTo>
                  <a:pt x="71" y="198"/>
                  <a:pt x="75" y="199"/>
                  <a:pt x="82" y="200"/>
                </a:cubicBezTo>
                <a:cubicBezTo>
                  <a:pt x="88" y="202"/>
                  <a:pt x="96" y="206"/>
                  <a:pt x="104" y="213"/>
                </a:cubicBezTo>
                <a:cubicBezTo>
                  <a:pt x="106" y="215"/>
                  <a:pt x="108" y="217"/>
                  <a:pt x="110" y="219"/>
                </a:cubicBezTo>
                <a:cubicBezTo>
                  <a:pt x="120" y="228"/>
                  <a:pt x="131" y="238"/>
                  <a:pt x="143" y="238"/>
                </a:cubicBezTo>
                <a:cubicBezTo>
                  <a:pt x="163" y="238"/>
                  <a:pt x="172" y="211"/>
                  <a:pt x="177" y="188"/>
                </a:cubicBezTo>
                <a:cubicBezTo>
                  <a:pt x="178" y="184"/>
                  <a:pt x="179" y="181"/>
                  <a:pt x="179" y="177"/>
                </a:cubicBezTo>
                <a:cubicBezTo>
                  <a:pt x="179" y="0"/>
                  <a:pt x="179" y="0"/>
                  <a:pt x="179" y="0"/>
                </a:cubicBezTo>
                <a:cubicBezTo>
                  <a:pt x="179" y="0"/>
                  <a:pt x="179" y="0"/>
                  <a:pt x="179" y="0"/>
                </a:cubicBezTo>
                <a:cubicBezTo>
                  <a:pt x="179" y="0"/>
                  <a:pt x="179" y="0"/>
                  <a:pt x="179" y="0"/>
                </a:cubicBezTo>
                <a:cubicBezTo>
                  <a:pt x="356" y="0"/>
                  <a:pt x="356" y="0"/>
                  <a:pt x="356" y="0"/>
                </a:cubicBezTo>
                <a:cubicBezTo>
                  <a:pt x="358" y="0"/>
                  <a:pt x="360" y="0"/>
                  <a:pt x="363" y="1"/>
                </a:cubicBezTo>
                <a:cubicBezTo>
                  <a:pt x="394" y="8"/>
                  <a:pt x="399" y="16"/>
                  <a:pt x="400" y="18"/>
                </a:cubicBezTo>
                <a:cubicBezTo>
                  <a:pt x="401" y="23"/>
                  <a:pt x="392" y="33"/>
                  <a:pt x="386" y="40"/>
                </a:cubicBezTo>
                <a:cubicBezTo>
                  <a:pt x="383" y="42"/>
                  <a:pt x="381" y="45"/>
                  <a:pt x="379" y="47"/>
                </a:cubicBezTo>
                <a:cubicBezTo>
                  <a:pt x="360" y="69"/>
                  <a:pt x="360" y="90"/>
                  <a:pt x="360" y="93"/>
                </a:cubicBezTo>
                <a:cubicBezTo>
                  <a:pt x="360" y="140"/>
                  <a:pt x="399" y="178"/>
                  <a:pt x="445" y="178"/>
                </a:cubicBezTo>
                <a:cubicBezTo>
                  <a:pt x="492" y="178"/>
                  <a:pt x="530" y="140"/>
                  <a:pt x="530" y="93"/>
                </a:cubicBezTo>
                <a:cubicBezTo>
                  <a:pt x="530" y="90"/>
                  <a:pt x="531" y="68"/>
                  <a:pt x="512" y="47"/>
                </a:cubicBezTo>
                <a:cubicBezTo>
                  <a:pt x="510" y="45"/>
                  <a:pt x="508" y="42"/>
                  <a:pt x="505" y="40"/>
                </a:cubicBezTo>
                <a:cubicBezTo>
                  <a:pt x="499" y="33"/>
                  <a:pt x="490" y="23"/>
                  <a:pt x="491" y="18"/>
                </a:cubicBezTo>
                <a:cubicBezTo>
                  <a:pt x="492" y="16"/>
                  <a:pt x="497" y="8"/>
                  <a:pt x="528" y="1"/>
                </a:cubicBezTo>
                <a:cubicBezTo>
                  <a:pt x="530" y="0"/>
                  <a:pt x="533" y="0"/>
                  <a:pt x="535" y="0"/>
                </a:cubicBezTo>
                <a:cubicBezTo>
                  <a:pt x="721" y="0"/>
                  <a:pt x="721" y="0"/>
                  <a:pt x="721" y="0"/>
                </a:cubicBezTo>
                <a:cubicBezTo>
                  <a:pt x="720" y="177"/>
                  <a:pt x="720" y="177"/>
                  <a:pt x="720" y="177"/>
                </a:cubicBezTo>
                <a:cubicBezTo>
                  <a:pt x="720" y="180"/>
                  <a:pt x="720" y="183"/>
                  <a:pt x="719" y="186"/>
                </a:cubicBezTo>
                <a:cubicBezTo>
                  <a:pt x="712" y="219"/>
                  <a:pt x="703" y="229"/>
                  <a:pt x="693" y="229"/>
                </a:cubicBezTo>
                <a:cubicBezTo>
                  <a:pt x="682" y="229"/>
                  <a:pt x="670" y="215"/>
                  <a:pt x="659" y="206"/>
                </a:cubicBezTo>
                <a:cubicBezTo>
                  <a:pt x="642" y="191"/>
                  <a:pt x="624" y="190"/>
                  <a:pt x="620" y="190"/>
                </a:cubicBezTo>
                <a:cubicBezTo>
                  <a:pt x="619" y="190"/>
                  <a:pt x="619" y="190"/>
                  <a:pt x="619" y="190"/>
                </a:cubicBezTo>
                <a:cubicBezTo>
                  <a:pt x="576" y="190"/>
                  <a:pt x="542" y="224"/>
                  <a:pt x="542" y="267"/>
                </a:cubicBezTo>
                <a:cubicBezTo>
                  <a:pt x="542" y="309"/>
                  <a:pt x="576" y="343"/>
                  <a:pt x="619" y="343"/>
                </a:cubicBezTo>
                <a:cubicBezTo>
                  <a:pt x="619" y="343"/>
                  <a:pt x="619" y="343"/>
                  <a:pt x="620" y="343"/>
                </a:cubicBezTo>
                <a:cubicBezTo>
                  <a:pt x="623" y="343"/>
                  <a:pt x="641" y="342"/>
                  <a:pt x="659" y="327"/>
                </a:cubicBezTo>
                <a:cubicBezTo>
                  <a:pt x="670" y="318"/>
                  <a:pt x="682" y="304"/>
                  <a:pt x="693" y="304"/>
                </a:cubicBezTo>
                <a:cubicBezTo>
                  <a:pt x="703" y="304"/>
                  <a:pt x="712" y="314"/>
                  <a:pt x="719" y="348"/>
                </a:cubicBezTo>
                <a:cubicBezTo>
                  <a:pt x="720" y="350"/>
                  <a:pt x="720" y="353"/>
                  <a:pt x="720" y="3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58" name="Freeform 5"/>
          <p:cNvSpPr/>
          <p:nvPr/>
        </p:nvSpPr>
        <p:spPr bwMode="auto">
          <a:xfrm rot="18900000">
            <a:off x="2608421" y="4059699"/>
            <a:ext cx="1746988" cy="1746988"/>
          </a:xfrm>
          <a:custGeom>
            <a:avLst/>
            <a:gdLst>
              <a:gd name="T0" fmla="*/ 720 w 720"/>
              <a:gd name="T1" fmla="*/ 534 h 720"/>
              <a:gd name="T2" fmla="*/ 720 w 720"/>
              <a:gd name="T3" fmla="*/ 720 h 720"/>
              <a:gd name="T4" fmla="*/ 720 w 720"/>
              <a:gd name="T5" fmla="*/ 720 h 720"/>
              <a:gd name="T6" fmla="*/ 543 w 720"/>
              <a:gd name="T7" fmla="*/ 720 h 720"/>
              <a:gd name="T8" fmla="*/ 534 w 720"/>
              <a:gd name="T9" fmla="*/ 719 h 720"/>
              <a:gd name="T10" fmla="*/ 513 w 720"/>
              <a:gd name="T11" fmla="*/ 659 h 720"/>
              <a:gd name="T12" fmla="*/ 530 w 720"/>
              <a:gd name="T13" fmla="*/ 618 h 720"/>
              <a:gd name="T14" fmla="*/ 453 w 720"/>
              <a:gd name="T15" fmla="*/ 541 h 720"/>
              <a:gd name="T16" fmla="*/ 376 w 720"/>
              <a:gd name="T17" fmla="*/ 618 h 720"/>
              <a:gd name="T18" fmla="*/ 393 w 720"/>
              <a:gd name="T19" fmla="*/ 659 h 720"/>
              <a:gd name="T20" fmla="*/ 372 w 720"/>
              <a:gd name="T21" fmla="*/ 719 h 720"/>
              <a:gd name="T22" fmla="*/ 363 w 720"/>
              <a:gd name="T23" fmla="*/ 720 h 720"/>
              <a:gd name="T24" fmla="*/ 178 w 720"/>
              <a:gd name="T25" fmla="*/ 720 h 720"/>
              <a:gd name="T26" fmla="*/ 178 w 720"/>
              <a:gd name="T27" fmla="*/ 534 h 720"/>
              <a:gd name="T28" fmla="*/ 177 w 720"/>
              <a:gd name="T29" fmla="*/ 526 h 720"/>
              <a:gd name="T30" fmla="*/ 150 w 720"/>
              <a:gd name="T31" fmla="*/ 482 h 720"/>
              <a:gd name="T32" fmla="*/ 117 w 720"/>
              <a:gd name="T33" fmla="*/ 505 h 720"/>
              <a:gd name="T34" fmla="*/ 77 w 720"/>
              <a:gd name="T35" fmla="*/ 521 h 720"/>
              <a:gd name="T36" fmla="*/ 76 w 720"/>
              <a:gd name="T37" fmla="*/ 521 h 720"/>
              <a:gd name="T38" fmla="*/ 0 w 720"/>
              <a:gd name="T39" fmla="*/ 445 h 720"/>
              <a:gd name="T40" fmla="*/ 76 w 720"/>
              <a:gd name="T41" fmla="*/ 368 h 720"/>
              <a:gd name="T42" fmla="*/ 77 w 720"/>
              <a:gd name="T43" fmla="*/ 368 h 720"/>
              <a:gd name="T44" fmla="*/ 117 w 720"/>
              <a:gd name="T45" fmla="*/ 384 h 720"/>
              <a:gd name="T46" fmla="*/ 150 w 720"/>
              <a:gd name="T47" fmla="*/ 407 h 720"/>
              <a:gd name="T48" fmla="*/ 177 w 720"/>
              <a:gd name="T49" fmla="*/ 364 h 720"/>
              <a:gd name="T50" fmla="*/ 178 w 720"/>
              <a:gd name="T51" fmla="*/ 355 h 720"/>
              <a:gd name="T52" fmla="*/ 178 w 720"/>
              <a:gd name="T53" fmla="*/ 178 h 720"/>
              <a:gd name="T54" fmla="*/ 363 w 720"/>
              <a:gd name="T55" fmla="*/ 178 h 720"/>
              <a:gd name="T56" fmla="*/ 374 w 720"/>
              <a:gd name="T57" fmla="*/ 177 h 720"/>
              <a:gd name="T58" fmla="*/ 423 w 720"/>
              <a:gd name="T59" fmla="*/ 148 h 720"/>
              <a:gd name="T60" fmla="*/ 405 w 720"/>
              <a:gd name="T61" fmla="*/ 110 h 720"/>
              <a:gd name="T62" fmla="*/ 399 w 720"/>
              <a:gd name="T63" fmla="*/ 103 h 720"/>
              <a:gd name="T64" fmla="*/ 385 w 720"/>
              <a:gd name="T65" fmla="*/ 68 h 720"/>
              <a:gd name="T66" fmla="*/ 453 w 720"/>
              <a:gd name="T67" fmla="*/ 0 h 720"/>
              <a:gd name="T68" fmla="*/ 521 w 720"/>
              <a:gd name="T69" fmla="*/ 68 h 720"/>
              <a:gd name="T70" fmla="*/ 521 w 720"/>
              <a:gd name="T71" fmla="*/ 68 h 720"/>
              <a:gd name="T72" fmla="*/ 507 w 720"/>
              <a:gd name="T73" fmla="*/ 103 h 720"/>
              <a:gd name="T74" fmla="*/ 501 w 720"/>
              <a:gd name="T75" fmla="*/ 110 h 720"/>
              <a:gd name="T76" fmla="*/ 483 w 720"/>
              <a:gd name="T77" fmla="*/ 148 h 720"/>
              <a:gd name="T78" fmla="*/ 532 w 720"/>
              <a:gd name="T79" fmla="*/ 177 h 720"/>
              <a:gd name="T80" fmla="*/ 543 w 720"/>
              <a:gd name="T81" fmla="*/ 178 h 720"/>
              <a:gd name="T82" fmla="*/ 720 w 720"/>
              <a:gd name="T83" fmla="*/ 178 h 720"/>
              <a:gd name="T84" fmla="*/ 720 w 720"/>
              <a:gd name="T85" fmla="*/ 355 h 720"/>
              <a:gd name="T86" fmla="*/ 719 w 720"/>
              <a:gd name="T87" fmla="*/ 362 h 720"/>
              <a:gd name="T88" fmla="*/ 701 w 720"/>
              <a:gd name="T89" fmla="*/ 399 h 720"/>
              <a:gd name="T90" fmla="*/ 680 w 720"/>
              <a:gd name="T91" fmla="*/ 385 h 720"/>
              <a:gd name="T92" fmla="*/ 672 w 720"/>
              <a:gd name="T93" fmla="*/ 378 h 720"/>
              <a:gd name="T94" fmla="*/ 627 w 720"/>
              <a:gd name="T95" fmla="*/ 360 h 720"/>
              <a:gd name="T96" fmla="*/ 626 w 720"/>
              <a:gd name="T97" fmla="*/ 360 h 720"/>
              <a:gd name="T98" fmla="*/ 541 w 720"/>
              <a:gd name="T99" fmla="*/ 445 h 720"/>
              <a:gd name="T100" fmla="*/ 626 w 720"/>
              <a:gd name="T101" fmla="*/ 530 h 720"/>
              <a:gd name="T102" fmla="*/ 627 w 720"/>
              <a:gd name="T103" fmla="*/ 530 h 720"/>
              <a:gd name="T104" fmla="*/ 673 w 720"/>
              <a:gd name="T105" fmla="*/ 511 h 720"/>
              <a:gd name="T106" fmla="*/ 680 w 720"/>
              <a:gd name="T107" fmla="*/ 505 h 720"/>
              <a:gd name="T108" fmla="*/ 701 w 720"/>
              <a:gd name="T109" fmla="*/ 490 h 720"/>
              <a:gd name="T110" fmla="*/ 719 w 720"/>
              <a:gd name="T111" fmla="*/ 527 h 720"/>
              <a:gd name="T112" fmla="*/ 720 w 720"/>
              <a:gd name="T113" fmla="*/ 53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534"/>
                </a:moveTo>
                <a:cubicBezTo>
                  <a:pt x="720" y="720"/>
                  <a:pt x="720" y="720"/>
                  <a:pt x="720" y="720"/>
                </a:cubicBezTo>
                <a:cubicBezTo>
                  <a:pt x="720" y="720"/>
                  <a:pt x="720" y="720"/>
                  <a:pt x="720" y="720"/>
                </a:cubicBezTo>
                <a:cubicBezTo>
                  <a:pt x="543" y="720"/>
                  <a:pt x="543" y="720"/>
                  <a:pt x="543" y="720"/>
                </a:cubicBezTo>
                <a:cubicBezTo>
                  <a:pt x="540" y="720"/>
                  <a:pt x="537" y="719"/>
                  <a:pt x="534" y="719"/>
                </a:cubicBezTo>
                <a:cubicBezTo>
                  <a:pt x="463" y="702"/>
                  <a:pt x="496" y="678"/>
                  <a:pt x="513" y="659"/>
                </a:cubicBezTo>
                <a:cubicBezTo>
                  <a:pt x="531" y="639"/>
                  <a:pt x="530" y="618"/>
                  <a:pt x="530" y="618"/>
                </a:cubicBezTo>
                <a:cubicBezTo>
                  <a:pt x="530" y="576"/>
                  <a:pt x="495" y="541"/>
                  <a:pt x="453" y="541"/>
                </a:cubicBezTo>
                <a:cubicBezTo>
                  <a:pt x="411" y="541"/>
                  <a:pt x="376" y="576"/>
                  <a:pt x="376" y="618"/>
                </a:cubicBezTo>
                <a:cubicBezTo>
                  <a:pt x="376" y="618"/>
                  <a:pt x="375" y="639"/>
                  <a:pt x="393" y="659"/>
                </a:cubicBezTo>
                <a:cubicBezTo>
                  <a:pt x="410" y="678"/>
                  <a:pt x="444" y="702"/>
                  <a:pt x="372" y="719"/>
                </a:cubicBezTo>
                <a:cubicBezTo>
                  <a:pt x="369" y="719"/>
                  <a:pt x="366" y="720"/>
                  <a:pt x="363" y="720"/>
                </a:cubicBezTo>
                <a:cubicBezTo>
                  <a:pt x="178" y="720"/>
                  <a:pt x="178" y="720"/>
                  <a:pt x="178" y="720"/>
                </a:cubicBezTo>
                <a:cubicBezTo>
                  <a:pt x="178" y="534"/>
                  <a:pt x="178" y="534"/>
                  <a:pt x="178" y="534"/>
                </a:cubicBezTo>
                <a:cubicBezTo>
                  <a:pt x="178" y="531"/>
                  <a:pt x="178" y="528"/>
                  <a:pt x="177" y="526"/>
                </a:cubicBezTo>
                <a:cubicBezTo>
                  <a:pt x="169" y="492"/>
                  <a:pt x="160" y="482"/>
                  <a:pt x="150" y="482"/>
                </a:cubicBezTo>
                <a:cubicBezTo>
                  <a:pt x="139" y="482"/>
                  <a:pt x="127" y="496"/>
                  <a:pt x="117" y="505"/>
                </a:cubicBezTo>
                <a:cubicBezTo>
                  <a:pt x="99" y="520"/>
                  <a:pt x="81" y="521"/>
                  <a:pt x="77" y="521"/>
                </a:cubicBezTo>
                <a:cubicBezTo>
                  <a:pt x="77" y="521"/>
                  <a:pt x="76" y="521"/>
                  <a:pt x="76" y="521"/>
                </a:cubicBezTo>
                <a:cubicBezTo>
                  <a:pt x="34" y="521"/>
                  <a:pt x="0" y="487"/>
                  <a:pt x="0" y="445"/>
                </a:cubicBezTo>
                <a:cubicBezTo>
                  <a:pt x="0" y="402"/>
                  <a:pt x="34" y="368"/>
                  <a:pt x="76" y="368"/>
                </a:cubicBezTo>
                <a:cubicBezTo>
                  <a:pt x="76" y="368"/>
                  <a:pt x="76" y="368"/>
                  <a:pt x="77" y="368"/>
                </a:cubicBezTo>
                <a:cubicBezTo>
                  <a:pt x="81" y="368"/>
                  <a:pt x="99" y="369"/>
                  <a:pt x="117" y="384"/>
                </a:cubicBezTo>
                <a:cubicBezTo>
                  <a:pt x="127" y="393"/>
                  <a:pt x="139" y="407"/>
                  <a:pt x="150" y="407"/>
                </a:cubicBezTo>
                <a:cubicBezTo>
                  <a:pt x="160" y="407"/>
                  <a:pt x="169" y="397"/>
                  <a:pt x="177" y="364"/>
                </a:cubicBezTo>
                <a:cubicBezTo>
                  <a:pt x="178" y="361"/>
                  <a:pt x="178" y="358"/>
                  <a:pt x="178" y="355"/>
                </a:cubicBezTo>
                <a:cubicBezTo>
                  <a:pt x="178" y="178"/>
                  <a:pt x="178" y="178"/>
                  <a:pt x="178" y="178"/>
                </a:cubicBezTo>
                <a:cubicBezTo>
                  <a:pt x="363" y="178"/>
                  <a:pt x="363" y="178"/>
                  <a:pt x="363" y="178"/>
                </a:cubicBezTo>
                <a:cubicBezTo>
                  <a:pt x="367" y="178"/>
                  <a:pt x="371" y="177"/>
                  <a:pt x="374" y="177"/>
                </a:cubicBezTo>
                <a:cubicBezTo>
                  <a:pt x="404" y="170"/>
                  <a:pt x="419" y="161"/>
                  <a:pt x="423" y="148"/>
                </a:cubicBezTo>
                <a:cubicBezTo>
                  <a:pt x="428" y="134"/>
                  <a:pt x="416" y="121"/>
                  <a:pt x="405" y="110"/>
                </a:cubicBezTo>
                <a:cubicBezTo>
                  <a:pt x="403" y="107"/>
                  <a:pt x="401" y="105"/>
                  <a:pt x="399" y="103"/>
                </a:cubicBezTo>
                <a:cubicBezTo>
                  <a:pt x="384" y="86"/>
                  <a:pt x="385" y="69"/>
                  <a:pt x="385" y="68"/>
                </a:cubicBezTo>
                <a:cubicBezTo>
                  <a:pt x="385" y="30"/>
                  <a:pt x="415" y="0"/>
                  <a:pt x="453" y="0"/>
                </a:cubicBezTo>
                <a:cubicBezTo>
                  <a:pt x="491" y="0"/>
                  <a:pt x="521" y="30"/>
                  <a:pt x="521" y="68"/>
                </a:cubicBezTo>
                <a:cubicBezTo>
                  <a:pt x="521" y="68"/>
                  <a:pt x="521" y="68"/>
                  <a:pt x="521" y="68"/>
                </a:cubicBezTo>
                <a:cubicBezTo>
                  <a:pt x="521" y="69"/>
                  <a:pt x="522" y="86"/>
                  <a:pt x="507" y="103"/>
                </a:cubicBezTo>
                <a:cubicBezTo>
                  <a:pt x="505" y="105"/>
                  <a:pt x="503" y="107"/>
                  <a:pt x="501" y="110"/>
                </a:cubicBezTo>
                <a:cubicBezTo>
                  <a:pt x="490" y="121"/>
                  <a:pt x="479" y="134"/>
                  <a:pt x="483" y="148"/>
                </a:cubicBezTo>
                <a:cubicBezTo>
                  <a:pt x="487" y="161"/>
                  <a:pt x="502" y="170"/>
                  <a:pt x="532" y="177"/>
                </a:cubicBezTo>
                <a:cubicBezTo>
                  <a:pt x="536" y="177"/>
                  <a:pt x="539" y="178"/>
                  <a:pt x="543" y="178"/>
                </a:cubicBezTo>
                <a:cubicBezTo>
                  <a:pt x="720" y="178"/>
                  <a:pt x="720" y="178"/>
                  <a:pt x="720" y="178"/>
                </a:cubicBezTo>
                <a:cubicBezTo>
                  <a:pt x="720" y="355"/>
                  <a:pt x="720" y="355"/>
                  <a:pt x="720" y="355"/>
                </a:cubicBezTo>
                <a:cubicBezTo>
                  <a:pt x="720" y="357"/>
                  <a:pt x="720" y="360"/>
                  <a:pt x="719" y="362"/>
                </a:cubicBezTo>
                <a:cubicBezTo>
                  <a:pt x="711" y="396"/>
                  <a:pt x="703" y="399"/>
                  <a:pt x="701" y="399"/>
                </a:cubicBezTo>
                <a:cubicBezTo>
                  <a:pt x="695" y="399"/>
                  <a:pt x="687" y="391"/>
                  <a:pt x="680" y="385"/>
                </a:cubicBezTo>
                <a:cubicBezTo>
                  <a:pt x="677" y="382"/>
                  <a:pt x="675" y="380"/>
                  <a:pt x="672" y="378"/>
                </a:cubicBezTo>
                <a:cubicBezTo>
                  <a:pt x="653" y="361"/>
                  <a:pt x="633" y="360"/>
                  <a:pt x="627" y="360"/>
                </a:cubicBezTo>
                <a:cubicBezTo>
                  <a:pt x="626" y="360"/>
                  <a:pt x="626" y="360"/>
                  <a:pt x="626" y="360"/>
                </a:cubicBezTo>
                <a:cubicBezTo>
                  <a:pt x="580" y="360"/>
                  <a:pt x="541" y="398"/>
                  <a:pt x="541" y="445"/>
                </a:cubicBezTo>
                <a:cubicBezTo>
                  <a:pt x="541" y="491"/>
                  <a:pt x="580" y="530"/>
                  <a:pt x="626" y="530"/>
                </a:cubicBezTo>
                <a:cubicBezTo>
                  <a:pt x="627" y="530"/>
                  <a:pt x="627" y="530"/>
                  <a:pt x="627" y="530"/>
                </a:cubicBezTo>
                <a:cubicBezTo>
                  <a:pt x="633" y="530"/>
                  <a:pt x="653" y="528"/>
                  <a:pt x="673" y="511"/>
                </a:cubicBezTo>
                <a:cubicBezTo>
                  <a:pt x="675" y="509"/>
                  <a:pt x="677" y="507"/>
                  <a:pt x="680" y="505"/>
                </a:cubicBezTo>
                <a:cubicBezTo>
                  <a:pt x="687" y="498"/>
                  <a:pt x="695" y="490"/>
                  <a:pt x="701" y="490"/>
                </a:cubicBezTo>
                <a:cubicBezTo>
                  <a:pt x="703" y="490"/>
                  <a:pt x="711" y="493"/>
                  <a:pt x="719" y="527"/>
                </a:cubicBezTo>
                <a:cubicBezTo>
                  <a:pt x="720" y="530"/>
                  <a:pt x="720" y="532"/>
                  <a:pt x="720" y="5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sp>
        <p:nvSpPr>
          <p:cNvPr id="59" name="Freeform 8"/>
          <p:cNvSpPr/>
          <p:nvPr/>
        </p:nvSpPr>
        <p:spPr bwMode="auto">
          <a:xfrm rot="18900000">
            <a:off x="1955536" y="2794664"/>
            <a:ext cx="1746988" cy="1746988"/>
          </a:xfrm>
          <a:custGeom>
            <a:avLst/>
            <a:gdLst>
              <a:gd name="T0" fmla="*/ 720 w 720"/>
              <a:gd name="T1" fmla="*/ 453 h 720"/>
              <a:gd name="T2" fmla="*/ 652 w 720"/>
              <a:gd name="T3" fmla="*/ 522 h 720"/>
              <a:gd name="T4" fmla="*/ 652 w 720"/>
              <a:gd name="T5" fmla="*/ 522 h 720"/>
              <a:gd name="T6" fmla="*/ 639 w 720"/>
              <a:gd name="T7" fmla="*/ 520 h 720"/>
              <a:gd name="T8" fmla="*/ 617 w 720"/>
              <a:gd name="T9" fmla="*/ 507 h 720"/>
              <a:gd name="T10" fmla="*/ 610 w 720"/>
              <a:gd name="T11" fmla="*/ 501 h 720"/>
              <a:gd name="T12" fmla="*/ 578 w 720"/>
              <a:gd name="T13" fmla="*/ 482 h 720"/>
              <a:gd name="T14" fmla="*/ 543 w 720"/>
              <a:gd name="T15" fmla="*/ 532 h 720"/>
              <a:gd name="T16" fmla="*/ 542 w 720"/>
              <a:gd name="T17" fmla="*/ 543 h 720"/>
              <a:gd name="T18" fmla="*/ 542 w 720"/>
              <a:gd name="T19" fmla="*/ 720 h 720"/>
              <a:gd name="T20" fmla="*/ 542 w 720"/>
              <a:gd name="T21" fmla="*/ 720 h 720"/>
              <a:gd name="T22" fmla="*/ 542 w 720"/>
              <a:gd name="T23" fmla="*/ 720 h 720"/>
              <a:gd name="T24" fmla="*/ 365 w 720"/>
              <a:gd name="T25" fmla="*/ 720 h 720"/>
              <a:gd name="T26" fmla="*/ 358 w 720"/>
              <a:gd name="T27" fmla="*/ 719 h 720"/>
              <a:gd name="T28" fmla="*/ 321 w 720"/>
              <a:gd name="T29" fmla="*/ 702 h 720"/>
              <a:gd name="T30" fmla="*/ 335 w 720"/>
              <a:gd name="T31" fmla="*/ 680 h 720"/>
              <a:gd name="T32" fmla="*/ 342 w 720"/>
              <a:gd name="T33" fmla="*/ 673 h 720"/>
              <a:gd name="T34" fmla="*/ 360 w 720"/>
              <a:gd name="T35" fmla="*/ 627 h 720"/>
              <a:gd name="T36" fmla="*/ 275 w 720"/>
              <a:gd name="T37" fmla="*/ 542 h 720"/>
              <a:gd name="T38" fmla="*/ 190 w 720"/>
              <a:gd name="T39" fmla="*/ 627 h 720"/>
              <a:gd name="T40" fmla="*/ 208 w 720"/>
              <a:gd name="T41" fmla="*/ 673 h 720"/>
              <a:gd name="T42" fmla="*/ 215 w 720"/>
              <a:gd name="T43" fmla="*/ 680 h 720"/>
              <a:gd name="T44" fmla="*/ 229 w 720"/>
              <a:gd name="T45" fmla="*/ 702 h 720"/>
              <a:gd name="T46" fmla="*/ 192 w 720"/>
              <a:gd name="T47" fmla="*/ 719 h 720"/>
              <a:gd name="T48" fmla="*/ 185 w 720"/>
              <a:gd name="T49" fmla="*/ 720 h 720"/>
              <a:gd name="T50" fmla="*/ 0 w 720"/>
              <a:gd name="T51" fmla="*/ 720 h 720"/>
              <a:gd name="T52" fmla="*/ 0 w 720"/>
              <a:gd name="T53" fmla="*/ 543 h 720"/>
              <a:gd name="T54" fmla="*/ 1 w 720"/>
              <a:gd name="T55" fmla="*/ 534 h 720"/>
              <a:gd name="T56" fmla="*/ 28 w 720"/>
              <a:gd name="T57" fmla="*/ 491 h 720"/>
              <a:gd name="T58" fmla="*/ 61 w 720"/>
              <a:gd name="T59" fmla="*/ 514 h 720"/>
              <a:gd name="T60" fmla="*/ 101 w 720"/>
              <a:gd name="T61" fmla="*/ 530 h 720"/>
              <a:gd name="T62" fmla="*/ 102 w 720"/>
              <a:gd name="T63" fmla="*/ 530 h 720"/>
              <a:gd name="T64" fmla="*/ 178 w 720"/>
              <a:gd name="T65" fmla="*/ 453 h 720"/>
              <a:gd name="T66" fmla="*/ 102 w 720"/>
              <a:gd name="T67" fmla="*/ 377 h 720"/>
              <a:gd name="T68" fmla="*/ 101 w 720"/>
              <a:gd name="T69" fmla="*/ 377 h 720"/>
              <a:gd name="T70" fmla="*/ 61 w 720"/>
              <a:gd name="T71" fmla="*/ 393 h 720"/>
              <a:gd name="T72" fmla="*/ 28 w 720"/>
              <a:gd name="T73" fmla="*/ 416 h 720"/>
              <a:gd name="T74" fmla="*/ 1 w 720"/>
              <a:gd name="T75" fmla="*/ 373 h 720"/>
              <a:gd name="T76" fmla="*/ 0 w 720"/>
              <a:gd name="T77" fmla="*/ 364 h 720"/>
              <a:gd name="T78" fmla="*/ 0 w 720"/>
              <a:gd name="T79" fmla="*/ 178 h 720"/>
              <a:gd name="T80" fmla="*/ 185 w 720"/>
              <a:gd name="T81" fmla="*/ 178 h 720"/>
              <a:gd name="T82" fmla="*/ 194 w 720"/>
              <a:gd name="T83" fmla="*/ 177 h 720"/>
              <a:gd name="T84" fmla="*/ 215 w 720"/>
              <a:gd name="T85" fmla="*/ 117 h 720"/>
              <a:gd name="T86" fmla="*/ 198 w 720"/>
              <a:gd name="T87" fmla="*/ 77 h 720"/>
              <a:gd name="T88" fmla="*/ 275 w 720"/>
              <a:gd name="T89" fmla="*/ 0 h 720"/>
              <a:gd name="T90" fmla="*/ 352 w 720"/>
              <a:gd name="T91" fmla="*/ 77 h 720"/>
              <a:gd name="T92" fmla="*/ 335 w 720"/>
              <a:gd name="T93" fmla="*/ 117 h 720"/>
              <a:gd name="T94" fmla="*/ 356 w 720"/>
              <a:gd name="T95" fmla="*/ 177 h 720"/>
              <a:gd name="T96" fmla="*/ 365 w 720"/>
              <a:gd name="T97" fmla="*/ 178 h 720"/>
              <a:gd name="T98" fmla="*/ 542 w 720"/>
              <a:gd name="T99" fmla="*/ 178 h 720"/>
              <a:gd name="T100" fmla="*/ 542 w 720"/>
              <a:gd name="T101" fmla="*/ 364 h 720"/>
              <a:gd name="T102" fmla="*/ 543 w 720"/>
              <a:gd name="T103" fmla="*/ 374 h 720"/>
              <a:gd name="T104" fmla="*/ 578 w 720"/>
              <a:gd name="T105" fmla="*/ 424 h 720"/>
              <a:gd name="T106" fmla="*/ 610 w 720"/>
              <a:gd name="T107" fmla="*/ 406 h 720"/>
              <a:gd name="T108" fmla="*/ 617 w 720"/>
              <a:gd name="T109" fmla="*/ 399 h 720"/>
              <a:gd name="T110" fmla="*/ 651 w 720"/>
              <a:gd name="T111" fmla="*/ 385 h 720"/>
              <a:gd name="T112" fmla="*/ 652 w 720"/>
              <a:gd name="T113" fmla="*/ 385 h 720"/>
              <a:gd name="T114" fmla="*/ 720 w 720"/>
              <a:gd name="T115" fmla="*/ 453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0" h="720">
                <a:moveTo>
                  <a:pt x="720" y="453"/>
                </a:moveTo>
                <a:cubicBezTo>
                  <a:pt x="720" y="491"/>
                  <a:pt x="690" y="522"/>
                  <a:pt x="652" y="522"/>
                </a:cubicBezTo>
                <a:cubicBezTo>
                  <a:pt x="652" y="522"/>
                  <a:pt x="652" y="522"/>
                  <a:pt x="652" y="522"/>
                </a:cubicBezTo>
                <a:cubicBezTo>
                  <a:pt x="650" y="522"/>
                  <a:pt x="645" y="522"/>
                  <a:pt x="639" y="520"/>
                </a:cubicBezTo>
                <a:cubicBezTo>
                  <a:pt x="633" y="518"/>
                  <a:pt x="625" y="514"/>
                  <a:pt x="617" y="507"/>
                </a:cubicBezTo>
                <a:cubicBezTo>
                  <a:pt x="615" y="505"/>
                  <a:pt x="612" y="503"/>
                  <a:pt x="610" y="501"/>
                </a:cubicBezTo>
                <a:cubicBezTo>
                  <a:pt x="600" y="492"/>
                  <a:pt x="590" y="482"/>
                  <a:pt x="578" y="482"/>
                </a:cubicBezTo>
                <a:cubicBezTo>
                  <a:pt x="557" y="482"/>
                  <a:pt x="549" y="509"/>
                  <a:pt x="543" y="532"/>
                </a:cubicBezTo>
                <a:cubicBezTo>
                  <a:pt x="542" y="536"/>
                  <a:pt x="542" y="539"/>
                  <a:pt x="542" y="543"/>
                </a:cubicBezTo>
                <a:cubicBezTo>
                  <a:pt x="542" y="720"/>
                  <a:pt x="542" y="720"/>
                  <a:pt x="542" y="720"/>
                </a:cubicBezTo>
                <a:cubicBezTo>
                  <a:pt x="542" y="720"/>
                  <a:pt x="542" y="720"/>
                  <a:pt x="542" y="720"/>
                </a:cubicBezTo>
                <a:cubicBezTo>
                  <a:pt x="542" y="720"/>
                  <a:pt x="542" y="720"/>
                  <a:pt x="542" y="720"/>
                </a:cubicBezTo>
                <a:cubicBezTo>
                  <a:pt x="365" y="720"/>
                  <a:pt x="365" y="720"/>
                  <a:pt x="365" y="720"/>
                </a:cubicBezTo>
                <a:cubicBezTo>
                  <a:pt x="362" y="720"/>
                  <a:pt x="360" y="720"/>
                  <a:pt x="358" y="719"/>
                </a:cubicBezTo>
                <a:cubicBezTo>
                  <a:pt x="326" y="712"/>
                  <a:pt x="322" y="704"/>
                  <a:pt x="321" y="702"/>
                </a:cubicBezTo>
                <a:cubicBezTo>
                  <a:pt x="319" y="697"/>
                  <a:pt x="328" y="687"/>
                  <a:pt x="335" y="680"/>
                </a:cubicBezTo>
                <a:cubicBezTo>
                  <a:pt x="337" y="678"/>
                  <a:pt x="340" y="675"/>
                  <a:pt x="342" y="673"/>
                </a:cubicBezTo>
                <a:cubicBezTo>
                  <a:pt x="360" y="652"/>
                  <a:pt x="360" y="630"/>
                  <a:pt x="360" y="627"/>
                </a:cubicBezTo>
                <a:cubicBezTo>
                  <a:pt x="360" y="580"/>
                  <a:pt x="322" y="542"/>
                  <a:pt x="275" y="542"/>
                </a:cubicBezTo>
                <a:cubicBezTo>
                  <a:pt x="228" y="542"/>
                  <a:pt x="190" y="580"/>
                  <a:pt x="190" y="627"/>
                </a:cubicBezTo>
                <a:cubicBezTo>
                  <a:pt x="190" y="630"/>
                  <a:pt x="190" y="652"/>
                  <a:pt x="208" y="673"/>
                </a:cubicBezTo>
                <a:cubicBezTo>
                  <a:pt x="210" y="675"/>
                  <a:pt x="213" y="678"/>
                  <a:pt x="215" y="680"/>
                </a:cubicBezTo>
                <a:cubicBezTo>
                  <a:pt x="222" y="687"/>
                  <a:pt x="231" y="697"/>
                  <a:pt x="229" y="702"/>
                </a:cubicBezTo>
                <a:cubicBezTo>
                  <a:pt x="229" y="704"/>
                  <a:pt x="224" y="712"/>
                  <a:pt x="192" y="719"/>
                </a:cubicBezTo>
                <a:cubicBezTo>
                  <a:pt x="190" y="720"/>
                  <a:pt x="188" y="720"/>
                  <a:pt x="185" y="720"/>
                </a:cubicBezTo>
                <a:cubicBezTo>
                  <a:pt x="0" y="720"/>
                  <a:pt x="0" y="720"/>
                  <a:pt x="0" y="720"/>
                </a:cubicBezTo>
                <a:cubicBezTo>
                  <a:pt x="0" y="543"/>
                  <a:pt x="0" y="543"/>
                  <a:pt x="0" y="543"/>
                </a:cubicBezTo>
                <a:cubicBezTo>
                  <a:pt x="0" y="540"/>
                  <a:pt x="0" y="537"/>
                  <a:pt x="1" y="534"/>
                </a:cubicBezTo>
                <a:cubicBezTo>
                  <a:pt x="9" y="501"/>
                  <a:pt x="18" y="491"/>
                  <a:pt x="28" y="491"/>
                </a:cubicBezTo>
                <a:cubicBezTo>
                  <a:pt x="39" y="491"/>
                  <a:pt x="51" y="505"/>
                  <a:pt x="61" y="514"/>
                </a:cubicBezTo>
                <a:cubicBezTo>
                  <a:pt x="79" y="529"/>
                  <a:pt x="97" y="530"/>
                  <a:pt x="101" y="530"/>
                </a:cubicBezTo>
                <a:cubicBezTo>
                  <a:pt x="101" y="530"/>
                  <a:pt x="102" y="530"/>
                  <a:pt x="102" y="530"/>
                </a:cubicBezTo>
                <a:cubicBezTo>
                  <a:pt x="144" y="530"/>
                  <a:pt x="178" y="496"/>
                  <a:pt x="178" y="453"/>
                </a:cubicBezTo>
                <a:cubicBezTo>
                  <a:pt x="178" y="411"/>
                  <a:pt x="144" y="377"/>
                  <a:pt x="102" y="377"/>
                </a:cubicBezTo>
                <a:cubicBezTo>
                  <a:pt x="102" y="377"/>
                  <a:pt x="101" y="377"/>
                  <a:pt x="101" y="377"/>
                </a:cubicBezTo>
                <a:cubicBezTo>
                  <a:pt x="97" y="377"/>
                  <a:pt x="79" y="378"/>
                  <a:pt x="61" y="393"/>
                </a:cubicBezTo>
                <a:cubicBezTo>
                  <a:pt x="51" y="402"/>
                  <a:pt x="39" y="416"/>
                  <a:pt x="28" y="416"/>
                </a:cubicBezTo>
                <a:cubicBezTo>
                  <a:pt x="18" y="416"/>
                  <a:pt x="9" y="406"/>
                  <a:pt x="1" y="373"/>
                </a:cubicBezTo>
                <a:cubicBezTo>
                  <a:pt x="0" y="370"/>
                  <a:pt x="0" y="367"/>
                  <a:pt x="0" y="364"/>
                </a:cubicBezTo>
                <a:cubicBezTo>
                  <a:pt x="0" y="178"/>
                  <a:pt x="0" y="178"/>
                  <a:pt x="0" y="178"/>
                </a:cubicBezTo>
                <a:cubicBezTo>
                  <a:pt x="185" y="178"/>
                  <a:pt x="185" y="178"/>
                  <a:pt x="185" y="178"/>
                </a:cubicBezTo>
                <a:cubicBezTo>
                  <a:pt x="188" y="178"/>
                  <a:pt x="191" y="178"/>
                  <a:pt x="194" y="177"/>
                </a:cubicBezTo>
                <a:cubicBezTo>
                  <a:pt x="266" y="161"/>
                  <a:pt x="232" y="137"/>
                  <a:pt x="215" y="117"/>
                </a:cubicBezTo>
                <a:cubicBezTo>
                  <a:pt x="197" y="97"/>
                  <a:pt x="198" y="77"/>
                  <a:pt x="198" y="77"/>
                </a:cubicBezTo>
                <a:cubicBezTo>
                  <a:pt x="198" y="34"/>
                  <a:pt x="233" y="0"/>
                  <a:pt x="275" y="0"/>
                </a:cubicBezTo>
                <a:cubicBezTo>
                  <a:pt x="317" y="0"/>
                  <a:pt x="352" y="34"/>
                  <a:pt x="352" y="77"/>
                </a:cubicBezTo>
                <a:cubicBezTo>
                  <a:pt x="352" y="77"/>
                  <a:pt x="353" y="97"/>
                  <a:pt x="335" y="117"/>
                </a:cubicBezTo>
                <a:cubicBezTo>
                  <a:pt x="318" y="137"/>
                  <a:pt x="285" y="161"/>
                  <a:pt x="356" y="177"/>
                </a:cubicBezTo>
                <a:cubicBezTo>
                  <a:pt x="359" y="178"/>
                  <a:pt x="362" y="178"/>
                  <a:pt x="365" y="178"/>
                </a:cubicBezTo>
                <a:cubicBezTo>
                  <a:pt x="542" y="178"/>
                  <a:pt x="542" y="178"/>
                  <a:pt x="542" y="178"/>
                </a:cubicBezTo>
                <a:cubicBezTo>
                  <a:pt x="542" y="364"/>
                  <a:pt x="542" y="364"/>
                  <a:pt x="542" y="364"/>
                </a:cubicBezTo>
                <a:cubicBezTo>
                  <a:pt x="542" y="367"/>
                  <a:pt x="542" y="371"/>
                  <a:pt x="543" y="374"/>
                </a:cubicBezTo>
                <a:cubicBezTo>
                  <a:pt x="549" y="398"/>
                  <a:pt x="557" y="424"/>
                  <a:pt x="578" y="424"/>
                </a:cubicBezTo>
                <a:cubicBezTo>
                  <a:pt x="590" y="424"/>
                  <a:pt x="600" y="415"/>
                  <a:pt x="610" y="406"/>
                </a:cubicBezTo>
                <a:cubicBezTo>
                  <a:pt x="612" y="403"/>
                  <a:pt x="615" y="401"/>
                  <a:pt x="617" y="399"/>
                </a:cubicBezTo>
                <a:cubicBezTo>
                  <a:pt x="633" y="386"/>
                  <a:pt x="648" y="385"/>
                  <a:pt x="651" y="385"/>
                </a:cubicBezTo>
                <a:cubicBezTo>
                  <a:pt x="652" y="385"/>
                  <a:pt x="652" y="385"/>
                  <a:pt x="652" y="385"/>
                </a:cubicBezTo>
                <a:cubicBezTo>
                  <a:pt x="690" y="385"/>
                  <a:pt x="720" y="416"/>
                  <a:pt x="720" y="4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solidFill>
                <a:schemeClr val="lt1"/>
              </a:solidFill>
              <a:cs typeface="+mn-ea"/>
              <a:sym typeface="+mn-lt"/>
            </a:endParaRPr>
          </a:p>
        </p:txBody>
      </p:sp>
      <p:cxnSp>
        <p:nvCxnSpPr>
          <p:cNvPr id="60" name="직선 연결선 250"/>
          <p:cNvCxnSpPr/>
          <p:nvPr/>
        </p:nvCxnSpPr>
        <p:spPr>
          <a:xfrm>
            <a:off x="1593722" y="3335120"/>
            <a:ext cx="326442"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1" name="직선 연결선 250"/>
          <p:cNvCxnSpPr/>
          <p:nvPr/>
        </p:nvCxnSpPr>
        <p:spPr>
          <a:xfrm>
            <a:off x="1665301" y="5603277"/>
            <a:ext cx="1192353" cy="0"/>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2" name="직선 연결선 250"/>
          <p:cNvCxnSpPr>
            <a:stCxn id="66" idx="0"/>
          </p:cNvCxnSpPr>
          <p:nvPr/>
        </p:nvCxnSpPr>
        <p:spPr>
          <a:xfrm flipH="1" flipV="1">
            <a:off x="4668118" y="2365594"/>
            <a:ext cx="1183630" cy="238918"/>
          </a:xfrm>
          <a:prstGeom prst="line">
            <a:avLst/>
          </a:prstGeom>
          <a:ln w="6350">
            <a:solidFill>
              <a:srgbClr val="414455"/>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64" name="Straight Connector 59"/>
          <p:cNvCxnSpPr/>
          <p:nvPr/>
        </p:nvCxnSpPr>
        <p:spPr>
          <a:xfrm flipV="1">
            <a:off x="7038722" y="2180928"/>
            <a:ext cx="0" cy="4483417"/>
          </a:xfrm>
          <a:prstGeom prst="line">
            <a:avLst/>
          </a:prstGeom>
          <a:ln w="3175">
            <a:solidFill>
              <a:srgbClr val="414455"/>
            </a:solidFill>
          </a:ln>
        </p:spPr>
        <p:style>
          <a:lnRef idx="1">
            <a:schemeClr val="dk1"/>
          </a:lnRef>
          <a:fillRef idx="0">
            <a:schemeClr val="dk1"/>
          </a:fillRef>
          <a:effectRef idx="0">
            <a:schemeClr val="dk1"/>
          </a:effectRef>
          <a:fontRef idx="minor">
            <a:schemeClr val="tx1"/>
          </a:fontRef>
        </p:style>
      </p:cxnSp>
      <p:sp>
        <p:nvSpPr>
          <p:cNvPr id="65" name="矩形 10"/>
          <p:cNvSpPr>
            <a:spLocks noChangeArrowheads="1"/>
          </p:cNvSpPr>
          <p:nvPr/>
        </p:nvSpPr>
        <p:spPr bwMode="auto">
          <a:xfrm>
            <a:off x="222548" y="3437325"/>
            <a:ext cx="2031325"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快速适应算法</a:t>
            </a:r>
            <a:endParaRPr lang="en-US" altLang="zh-CN" sz="2400" b="1" dirty="0">
              <a:solidFill>
                <a:srgbClr val="414455"/>
              </a:solidFill>
              <a:cs typeface="+mn-ea"/>
              <a:sym typeface="+mn-lt"/>
            </a:endParaRPr>
          </a:p>
        </p:txBody>
      </p:sp>
      <p:sp>
        <p:nvSpPr>
          <p:cNvPr id="66" name="矩形 10"/>
          <p:cNvSpPr>
            <a:spLocks noChangeArrowheads="1"/>
          </p:cNvSpPr>
          <p:nvPr/>
        </p:nvSpPr>
        <p:spPr bwMode="auto">
          <a:xfrm>
            <a:off x="4831276" y="2604512"/>
            <a:ext cx="1415772"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伙伴系统</a:t>
            </a:r>
            <a:endParaRPr lang="en-US" altLang="zh-CN" sz="2400" b="1" dirty="0">
              <a:solidFill>
                <a:srgbClr val="414455"/>
              </a:solidFill>
              <a:cs typeface="+mn-ea"/>
              <a:sym typeface="+mn-lt"/>
            </a:endParaRPr>
          </a:p>
        </p:txBody>
      </p:sp>
      <p:sp>
        <p:nvSpPr>
          <p:cNvPr id="67" name="矩形 10"/>
          <p:cNvSpPr>
            <a:spLocks noChangeArrowheads="1"/>
          </p:cNvSpPr>
          <p:nvPr/>
        </p:nvSpPr>
        <p:spPr bwMode="auto">
          <a:xfrm>
            <a:off x="376436" y="5238104"/>
            <a:ext cx="1415772" cy="461665"/>
          </a:xfrm>
          <a:prstGeom prst="rect">
            <a:avLst/>
          </a:prstGeom>
          <a:noFill/>
          <a:ln w="9525">
            <a:noFill/>
            <a:miter lim="800000"/>
          </a:ln>
        </p:spPr>
        <p:txBody>
          <a:bodyPr wrap="none">
            <a:spAutoFit/>
          </a:bodyPr>
          <a:lstStyle/>
          <a:p>
            <a:r>
              <a:rPr lang="zh-CN" altLang="en-US" sz="2400" b="1" dirty="0">
                <a:solidFill>
                  <a:srgbClr val="414455"/>
                </a:solidFill>
                <a:cs typeface="+mn-ea"/>
                <a:sym typeface="+mn-lt"/>
              </a:rPr>
              <a:t>哈希算法</a:t>
            </a:r>
            <a:endParaRPr lang="en-US" altLang="zh-CN" sz="2400" b="1" dirty="0">
              <a:solidFill>
                <a:srgbClr val="414455"/>
              </a:solidFill>
              <a:cs typeface="+mn-ea"/>
              <a:sym typeface="+mn-lt"/>
            </a:endParaRPr>
          </a:p>
        </p:txBody>
      </p:sp>
      <p:sp>
        <p:nvSpPr>
          <p:cNvPr id="69" name="矩形 68"/>
          <p:cNvSpPr/>
          <p:nvPr/>
        </p:nvSpPr>
        <p:spPr>
          <a:xfrm>
            <a:off x="7119556"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0" name="矩形 69"/>
          <p:cNvSpPr/>
          <p:nvPr/>
        </p:nvSpPr>
        <p:spPr>
          <a:xfrm>
            <a:off x="8027606"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1" name="文本框 55"/>
          <p:cNvSpPr txBox="1">
            <a:spLocks noChangeArrowheads="1"/>
          </p:cNvSpPr>
          <p:nvPr/>
        </p:nvSpPr>
        <p:spPr bwMode="auto">
          <a:xfrm>
            <a:off x="6973506"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）适用范围</a:t>
            </a:r>
          </a:p>
        </p:txBody>
      </p:sp>
      <p:sp>
        <p:nvSpPr>
          <p:cNvPr id="72" name="文本框 19"/>
          <p:cNvSpPr txBox="1">
            <a:spLocks noChangeArrowheads="1"/>
          </p:cNvSpPr>
          <p:nvPr/>
        </p:nvSpPr>
        <p:spPr bwMode="auto">
          <a:xfrm>
            <a:off x="7220814" y="2093844"/>
            <a:ext cx="41595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大中型系统</a:t>
            </a:r>
            <a:endParaRPr lang="en-US" altLang="zh-CN" sz="2400" dirty="0"/>
          </a:p>
        </p:txBody>
      </p:sp>
    </p:spTree>
    <p:extLst>
      <p:ext uri="{BB962C8B-B14F-4D97-AF65-F5344CB8AC3E}">
        <p14:creationId xmlns:p14="http://schemas.microsoft.com/office/powerpoint/2010/main" val="217948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 calcmode="lin" valueType="num">
                                      <p:cBhvr>
                                        <p:cTn id="9" dur="500" fill="hold"/>
                                        <p:tgtEl>
                                          <p:spTgt spid="40"/>
                                        </p:tgtEl>
                                        <p:attrNameLst>
                                          <p:attrName>style.rotation</p:attrName>
                                        </p:attrNameLst>
                                      </p:cBhvr>
                                      <p:tavLst>
                                        <p:tav tm="0">
                                          <p:val>
                                            <p:fltVal val="360"/>
                                          </p:val>
                                        </p:tav>
                                        <p:tav tm="100000">
                                          <p:val>
                                            <p:fltVal val="0"/>
                                          </p:val>
                                        </p:tav>
                                      </p:tavLst>
                                    </p:anim>
                                    <p:animEffect transition="in" filter="fade">
                                      <p:cBhvr>
                                        <p:cTn id="10" dur="500"/>
                                        <p:tgtEl>
                                          <p:spTgt spid="40"/>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wipe(left)">
                                      <p:cBhvr>
                                        <p:cTn id="14" dur="500"/>
                                        <p:tgtEl>
                                          <p:spTgt spid="62"/>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wipe(down)">
                                      <p:cBhvr>
                                        <p:cTn id="18" dur="500"/>
                                        <p:tgtEl>
                                          <p:spTgt spid="66"/>
                                        </p:tgtEl>
                                      </p:cBhvr>
                                    </p:animEffect>
                                  </p:childTnLst>
                                </p:cTn>
                              </p:par>
                            </p:childTnLst>
                          </p:cTn>
                        </p:par>
                        <p:par>
                          <p:cTn id="19" fill="hold">
                            <p:stCondLst>
                              <p:cond delay="1500"/>
                            </p:stCondLst>
                            <p:childTnLst>
                              <p:par>
                                <p:cTn id="20" presetID="49" presetClass="entr" presetSubtype="0" decel="100000" fill="hold" grpId="0" nodeType="afterEffect">
                                  <p:stCondLst>
                                    <p:cond delay="0"/>
                                  </p:stCondLst>
                                  <p:childTnLst>
                                    <p:set>
                                      <p:cBhvr>
                                        <p:cTn id="21" dur="1" fill="hold">
                                          <p:stCondLst>
                                            <p:cond delay="0"/>
                                          </p:stCondLst>
                                        </p:cTn>
                                        <p:tgtEl>
                                          <p:spTgt spid="59"/>
                                        </p:tgtEl>
                                        <p:attrNameLst>
                                          <p:attrName>style.visibility</p:attrName>
                                        </p:attrNameLst>
                                      </p:cBhvr>
                                      <p:to>
                                        <p:strVal val="visible"/>
                                      </p:to>
                                    </p:set>
                                    <p:anim calcmode="lin" valueType="num">
                                      <p:cBhvr>
                                        <p:cTn id="22" dur="500" fill="hold"/>
                                        <p:tgtEl>
                                          <p:spTgt spid="59"/>
                                        </p:tgtEl>
                                        <p:attrNameLst>
                                          <p:attrName>ppt_w</p:attrName>
                                        </p:attrNameLst>
                                      </p:cBhvr>
                                      <p:tavLst>
                                        <p:tav tm="0">
                                          <p:val>
                                            <p:fltVal val="0"/>
                                          </p:val>
                                        </p:tav>
                                        <p:tav tm="100000">
                                          <p:val>
                                            <p:strVal val="#ppt_w"/>
                                          </p:val>
                                        </p:tav>
                                      </p:tavLst>
                                    </p:anim>
                                    <p:anim calcmode="lin" valueType="num">
                                      <p:cBhvr>
                                        <p:cTn id="23" dur="500" fill="hold"/>
                                        <p:tgtEl>
                                          <p:spTgt spid="59"/>
                                        </p:tgtEl>
                                        <p:attrNameLst>
                                          <p:attrName>ppt_h</p:attrName>
                                        </p:attrNameLst>
                                      </p:cBhvr>
                                      <p:tavLst>
                                        <p:tav tm="0">
                                          <p:val>
                                            <p:fltVal val="0"/>
                                          </p:val>
                                        </p:tav>
                                        <p:tav tm="100000">
                                          <p:val>
                                            <p:strVal val="#ppt_h"/>
                                          </p:val>
                                        </p:tav>
                                      </p:tavLst>
                                    </p:anim>
                                    <p:anim calcmode="lin" valueType="num">
                                      <p:cBhvr>
                                        <p:cTn id="24" dur="500" fill="hold"/>
                                        <p:tgtEl>
                                          <p:spTgt spid="59"/>
                                        </p:tgtEl>
                                        <p:attrNameLst>
                                          <p:attrName>style.rotation</p:attrName>
                                        </p:attrNameLst>
                                      </p:cBhvr>
                                      <p:tavLst>
                                        <p:tav tm="0">
                                          <p:val>
                                            <p:fltVal val="360"/>
                                          </p:val>
                                        </p:tav>
                                        <p:tav tm="100000">
                                          <p:val>
                                            <p:fltVal val="0"/>
                                          </p:val>
                                        </p:tav>
                                      </p:tavLst>
                                    </p:anim>
                                    <p:animEffect transition="in" filter="fade">
                                      <p:cBhvr>
                                        <p:cTn id="25" dur="500"/>
                                        <p:tgtEl>
                                          <p:spTgt spid="59"/>
                                        </p:tgtEl>
                                      </p:cBhvr>
                                    </p:animEffect>
                                  </p:childTnLst>
                                </p:cTn>
                              </p:par>
                            </p:childTnLst>
                          </p:cTn>
                        </p:par>
                        <p:par>
                          <p:cTn id="26" fill="hold">
                            <p:stCondLst>
                              <p:cond delay="2000"/>
                            </p:stCondLst>
                            <p:childTnLst>
                              <p:par>
                                <p:cTn id="27" presetID="22" presetClass="entr" presetSubtype="2" fill="hold" nodeType="after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wipe(right)">
                                      <p:cBhvr>
                                        <p:cTn id="29" dur="500"/>
                                        <p:tgtEl>
                                          <p:spTgt spid="60"/>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wipe(left)">
                                      <p:cBhvr>
                                        <p:cTn id="33" dur="500"/>
                                        <p:tgtEl>
                                          <p:spTgt spid="65"/>
                                        </p:tgtEl>
                                      </p:cBhvr>
                                    </p:animEffect>
                                  </p:childTnLst>
                                </p:cTn>
                              </p:par>
                            </p:childTnLst>
                          </p:cTn>
                        </p:par>
                        <p:par>
                          <p:cTn id="34" fill="hold">
                            <p:stCondLst>
                              <p:cond delay="3000"/>
                            </p:stCondLst>
                            <p:childTnLst>
                              <p:par>
                                <p:cTn id="35" presetID="49" presetClass="entr" presetSubtype="0" decel="100000" fill="hold" grpId="0" nodeType="after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500" fill="hold"/>
                                        <p:tgtEl>
                                          <p:spTgt spid="58"/>
                                        </p:tgtEl>
                                        <p:attrNameLst>
                                          <p:attrName>ppt_w</p:attrName>
                                        </p:attrNameLst>
                                      </p:cBhvr>
                                      <p:tavLst>
                                        <p:tav tm="0">
                                          <p:val>
                                            <p:fltVal val="0"/>
                                          </p:val>
                                        </p:tav>
                                        <p:tav tm="100000">
                                          <p:val>
                                            <p:strVal val="#ppt_w"/>
                                          </p:val>
                                        </p:tav>
                                      </p:tavLst>
                                    </p:anim>
                                    <p:anim calcmode="lin" valueType="num">
                                      <p:cBhvr>
                                        <p:cTn id="38" dur="500" fill="hold"/>
                                        <p:tgtEl>
                                          <p:spTgt spid="58"/>
                                        </p:tgtEl>
                                        <p:attrNameLst>
                                          <p:attrName>ppt_h</p:attrName>
                                        </p:attrNameLst>
                                      </p:cBhvr>
                                      <p:tavLst>
                                        <p:tav tm="0">
                                          <p:val>
                                            <p:fltVal val="0"/>
                                          </p:val>
                                        </p:tav>
                                        <p:tav tm="100000">
                                          <p:val>
                                            <p:strVal val="#ppt_h"/>
                                          </p:val>
                                        </p:tav>
                                      </p:tavLst>
                                    </p:anim>
                                    <p:anim calcmode="lin" valueType="num">
                                      <p:cBhvr>
                                        <p:cTn id="39" dur="500" fill="hold"/>
                                        <p:tgtEl>
                                          <p:spTgt spid="58"/>
                                        </p:tgtEl>
                                        <p:attrNameLst>
                                          <p:attrName>style.rotation</p:attrName>
                                        </p:attrNameLst>
                                      </p:cBhvr>
                                      <p:tavLst>
                                        <p:tav tm="0">
                                          <p:val>
                                            <p:fltVal val="360"/>
                                          </p:val>
                                        </p:tav>
                                        <p:tav tm="100000">
                                          <p:val>
                                            <p:fltVal val="0"/>
                                          </p:val>
                                        </p:tav>
                                      </p:tavLst>
                                    </p:anim>
                                    <p:animEffect transition="in" filter="fade">
                                      <p:cBhvr>
                                        <p:cTn id="40" dur="500"/>
                                        <p:tgtEl>
                                          <p:spTgt spid="58"/>
                                        </p:tgtEl>
                                      </p:cBhvr>
                                    </p:animEffect>
                                  </p:childTnLst>
                                </p:cTn>
                              </p:par>
                            </p:childTnLst>
                          </p:cTn>
                        </p:par>
                        <p:par>
                          <p:cTn id="41" fill="hold">
                            <p:stCondLst>
                              <p:cond delay="3500"/>
                            </p:stCondLst>
                            <p:childTnLst>
                              <p:par>
                                <p:cTn id="42" presetID="22" presetClass="entr" presetSubtype="2" fill="hold" nodeType="after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right)">
                                      <p:cBhvr>
                                        <p:cTn id="44" dur="500"/>
                                        <p:tgtEl>
                                          <p:spTgt spid="61"/>
                                        </p:tgtEl>
                                      </p:cBhvr>
                                    </p:animEffect>
                                  </p:childTnLst>
                                </p:cTn>
                              </p:par>
                            </p:childTnLst>
                          </p:cTn>
                        </p:par>
                        <p:par>
                          <p:cTn id="45" fill="hold">
                            <p:stCondLst>
                              <p:cond delay="4000"/>
                            </p:stCondLst>
                            <p:childTnLst>
                              <p:par>
                                <p:cTn id="46" presetID="22" presetClass="entr" presetSubtype="4" fill="hold" grpId="0" nodeType="afterEffect">
                                  <p:stCondLst>
                                    <p:cond delay="0"/>
                                  </p:stCondLst>
                                  <p:childTnLst>
                                    <p:set>
                                      <p:cBhvr>
                                        <p:cTn id="47" dur="1" fill="hold">
                                          <p:stCondLst>
                                            <p:cond delay="0"/>
                                          </p:stCondLst>
                                        </p:cTn>
                                        <p:tgtEl>
                                          <p:spTgt spid="67"/>
                                        </p:tgtEl>
                                        <p:attrNameLst>
                                          <p:attrName>style.visibility</p:attrName>
                                        </p:attrNameLst>
                                      </p:cBhvr>
                                      <p:to>
                                        <p:strVal val="visible"/>
                                      </p:to>
                                    </p:set>
                                    <p:animEffect transition="in" filter="wipe(down)">
                                      <p:cBhvr>
                                        <p:cTn id="48" dur="500"/>
                                        <p:tgtEl>
                                          <p:spTgt spid="67"/>
                                        </p:tgtEl>
                                      </p:cBhvr>
                                    </p:animEffect>
                                  </p:childTnLst>
                                </p:cTn>
                              </p:par>
                            </p:childTnLst>
                          </p:cTn>
                        </p:par>
                        <p:par>
                          <p:cTn id="49" fill="hold">
                            <p:stCondLst>
                              <p:cond delay="4500"/>
                            </p:stCondLst>
                            <p:childTnLst>
                              <p:par>
                                <p:cTn id="50" presetID="49" presetClass="entr" presetSubtype="0" decel="100000" fill="hold" grpId="0" nodeType="after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p:cTn id="52" dur="500" fill="hold"/>
                                        <p:tgtEl>
                                          <p:spTgt spid="47"/>
                                        </p:tgtEl>
                                        <p:attrNameLst>
                                          <p:attrName>ppt_w</p:attrName>
                                        </p:attrNameLst>
                                      </p:cBhvr>
                                      <p:tavLst>
                                        <p:tav tm="0">
                                          <p:val>
                                            <p:fltVal val="0"/>
                                          </p:val>
                                        </p:tav>
                                        <p:tav tm="100000">
                                          <p:val>
                                            <p:strVal val="#ppt_w"/>
                                          </p:val>
                                        </p:tav>
                                      </p:tavLst>
                                    </p:anim>
                                    <p:anim calcmode="lin" valueType="num">
                                      <p:cBhvr>
                                        <p:cTn id="53" dur="500" fill="hold"/>
                                        <p:tgtEl>
                                          <p:spTgt spid="47"/>
                                        </p:tgtEl>
                                        <p:attrNameLst>
                                          <p:attrName>ppt_h</p:attrName>
                                        </p:attrNameLst>
                                      </p:cBhvr>
                                      <p:tavLst>
                                        <p:tav tm="0">
                                          <p:val>
                                            <p:fltVal val="0"/>
                                          </p:val>
                                        </p:tav>
                                        <p:tav tm="100000">
                                          <p:val>
                                            <p:strVal val="#ppt_h"/>
                                          </p:val>
                                        </p:tav>
                                      </p:tavLst>
                                    </p:anim>
                                    <p:anim calcmode="lin" valueType="num">
                                      <p:cBhvr>
                                        <p:cTn id="54" dur="500" fill="hold"/>
                                        <p:tgtEl>
                                          <p:spTgt spid="47"/>
                                        </p:tgtEl>
                                        <p:attrNameLst>
                                          <p:attrName>style.rotation</p:attrName>
                                        </p:attrNameLst>
                                      </p:cBhvr>
                                      <p:tavLst>
                                        <p:tav tm="0">
                                          <p:val>
                                            <p:fltVal val="360"/>
                                          </p:val>
                                        </p:tav>
                                        <p:tav tm="100000">
                                          <p:val>
                                            <p:fltVal val="0"/>
                                          </p:val>
                                        </p:tav>
                                      </p:tavLst>
                                    </p:anim>
                                    <p:animEffect transition="in" filter="fade">
                                      <p:cBhvr>
                                        <p:cTn id="55" dur="500"/>
                                        <p:tgtEl>
                                          <p:spTgt spid="47"/>
                                        </p:tgtEl>
                                      </p:cBhvr>
                                    </p:animEffect>
                                  </p:childTnLst>
                                </p:cTn>
                              </p:par>
                            </p:childTnLst>
                          </p:cTn>
                        </p:par>
                        <p:par>
                          <p:cTn id="56" fill="hold">
                            <p:stCondLst>
                              <p:cond delay="5000"/>
                            </p:stCondLst>
                            <p:childTnLst>
                              <p:par>
                                <p:cTn id="57" presetID="22" presetClass="entr" presetSubtype="1" fill="hold" nodeType="after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wipe(up)">
                                      <p:cBhvr>
                                        <p:cTn id="59" dur="500"/>
                                        <p:tgtEl>
                                          <p:spTgt spid="64"/>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strips(downLeft)">
                                      <p:cBhvr>
                                        <p:cTn id="64"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7" grpId="0" animBg="1"/>
      <p:bldP spid="58" grpId="0" animBg="1"/>
      <p:bldP spid="59" grpId="0" animBg="1"/>
      <p:bldP spid="65" grpId="0"/>
      <p:bldP spid="66" grpId="0"/>
      <p:bldP spid="67" grpId="0"/>
      <p:bldP spid="7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）快速适应算法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080711" y="2377066"/>
            <a:ext cx="90672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空闲分区根据其容量大小分类，每一类具有相同容量的所有空闲分区单独设立一个空闲分区链表。内存中设立一个管理索引表，每个表项对应一种空闲分区类型，记录对应空闲分区链表表头指针。</a:t>
            </a:r>
          </a:p>
        </p:txBody>
      </p:sp>
      <p:sp>
        <p:nvSpPr>
          <p:cNvPr id="25" name="文本框 52"/>
          <p:cNvSpPr txBox="1">
            <a:spLocks noChangeArrowheads="1"/>
          </p:cNvSpPr>
          <p:nvPr/>
        </p:nvSpPr>
        <p:spPr bwMode="auto">
          <a:xfrm>
            <a:off x="1065545" y="190856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算法</a:t>
            </a:r>
          </a:p>
        </p:txBody>
      </p:sp>
      <p:sp>
        <p:nvSpPr>
          <p:cNvPr id="26" name="文本框 19"/>
          <p:cNvSpPr txBox="1">
            <a:spLocks noChangeArrowheads="1"/>
          </p:cNvSpPr>
          <p:nvPr/>
        </p:nvSpPr>
        <p:spPr bwMode="auto">
          <a:xfrm>
            <a:off x="1085774" y="4120858"/>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查找效率高</a:t>
            </a:r>
          </a:p>
        </p:txBody>
      </p:sp>
      <p:sp>
        <p:nvSpPr>
          <p:cNvPr id="32" name="文本框 52"/>
          <p:cNvSpPr txBox="1">
            <a:spLocks noChangeArrowheads="1"/>
          </p:cNvSpPr>
          <p:nvPr/>
        </p:nvSpPr>
        <p:spPr bwMode="auto">
          <a:xfrm>
            <a:off x="1070609" y="3652354"/>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优点</a:t>
            </a:r>
          </a:p>
        </p:txBody>
      </p:sp>
      <p:sp>
        <p:nvSpPr>
          <p:cNvPr id="61" name="文本框 19"/>
          <p:cNvSpPr txBox="1">
            <a:spLocks noChangeArrowheads="1"/>
          </p:cNvSpPr>
          <p:nvPr/>
        </p:nvSpPr>
        <p:spPr bwMode="auto">
          <a:xfrm>
            <a:off x="1085772" y="5269895"/>
            <a:ext cx="90477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分区归还主存算法复杂，系统开销较大。</a:t>
            </a:r>
            <a:endParaRPr lang="en-US" altLang="zh-CN" sz="2400" dirty="0">
              <a:latin typeface="宋体" pitchFamily="2" charset="-122"/>
            </a:endParaRPr>
          </a:p>
          <a:p>
            <a:pPr marL="0" lvl="2" indent="0">
              <a:buBlip>
                <a:blip r:embed="rId3"/>
              </a:buBlip>
            </a:pPr>
            <a:r>
              <a:rPr lang="zh-CN" altLang="en-US" sz="2400" dirty="0">
                <a:latin typeface="宋体" pitchFamily="2" charset="-122"/>
              </a:rPr>
              <a:t>以空间换时间</a:t>
            </a:r>
          </a:p>
        </p:txBody>
      </p:sp>
      <p:sp>
        <p:nvSpPr>
          <p:cNvPr id="62" name="文本框 52"/>
          <p:cNvSpPr txBox="1">
            <a:spLocks noChangeArrowheads="1"/>
          </p:cNvSpPr>
          <p:nvPr/>
        </p:nvSpPr>
        <p:spPr bwMode="auto">
          <a:xfrm>
            <a:off x="1070607" y="4698359"/>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spTree>
    <p:extLst>
      <p:ext uri="{BB962C8B-B14F-4D97-AF65-F5344CB8AC3E}">
        <p14:creationId xmlns:p14="http://schemas.microsoft.com/office/powerpoint/2010/main" val="294334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ppt_w+.3"/>
                                          </p:val>
                                        </p:tav>
                                        <p:tav tm="100000">
                                          <p:val>
                                            <p:strVal val="#ppt_w"/>
                                          </p:val>
                                        </p:tav>
                                      </p:tavLst>
                                    </p:anim>
                                    <p:anim calcmode="lin" valueType="num">
                                      <p:cBhvr>
                                        <p:cTn id="8" dur="500" fill="hold"/>
                                        <p:tgtEl>
                                          <p:spTgt spid="25"/>
                                        </p:tgtEl>
                                        <p:attrNameLst>
                                          <p:attrName>ppt_h</p:attrName>
                                        </p:attrNameLst>
                                      </p:cBhvr>
                                      <p:tavLst>
                                        <p:tav tm="0">
                                          <p:val>
                                            <p:strVal val="#ppt_h"/>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strips(downLeft)">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strVal val="#ppt_w+.3"/>
                                          </p:val>
                                        </p:tav>
                                        <p:tav tm="100000">
                                          <p:val>
                                            <p:strVal val="#ppt_w"/>
                                          </p:val>
                                        </p:tav>
                                      </p:tavLst>
                                    </p:anim>
                                    <p:anim calcmode="lin" valueType="num">
                                      <p:cBhvr>
                                        <p:cTn id="20" dur="500" fill="hold"/>
                                        <p:tgtEl>
                                          <p:spTgt spid="32"/>
                                        </p:tgtEl>
                                        <p:attrNameLst>
                                          <p:attrName>ppt_h</p:attrName>
                                        </p:attrNameLst>
                                      </p:cBhvr>
                                      <p:tavLst>
                                        <p:tav tm="0">
                                          <p:val>
                                            <p:strVal val="#ppt_h"/>
                                          </p:val>
                                        </p:tav>
                                        <p:tav tm="100000">
                                          <p:val>
                                            <p:strVal val="#ppt_h"/>
                                          </p:val>
                                        </p:tav>
                                      </p:tavLst>
                                    </p:anim>
                                    <p:animEffect transition="in" filter="fade">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strips(downLeft)">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62"/>
                                        </p:tgtEl>
                                        <p:attrNameLst>
                                          <p:attrName>style.visibility</p:attrName>
                                        </p:attrNameLst>
                                      </p:cBhvr>
                                      <p:to>
                                        <p:strVal val="visible"/>
                                      </p:to>
                                    </p:set>
                                    <p:anim calcmode="lin" valueType="num">
                                      <p:cBhvr>
                                        <p:cTn id="31" dur="500" fill="hold"/>
                                        <p:tgtEl>
                                          <p:spTgt spid="62"/>
                                        </p:tgtEl>
                                        <p:attrNameLst>
                                          <p:attrName>ppt_w</p:attrName>
                                        </p:attrNameLst>
                                      </p:cBhvr>
                                      <p:tavLst>
                                        <p:tav tm="0">
                                          <p:val>
                                            <p:strVal val="#ppt_w+.3"/>
                                          </p:val>
                                        </p:tav>
                                        <p:tav tm="100000">
                                          <p:val>
                                            <p:strVal val="#ppt_w"/>
                                          </p:val>
                                        </p:tav>
                                      </p:tavLst>
                                    </p:anim>
                                    <p:anim calcmode="lin" valueType="num">
                                      <p:cBhvr>
                                        <p:cTn id="32" dur="500" fill="hold"/>
                                        <p:tgtEl>
                                          <p:spTgt spid="62"/>
                                        </p:tgtEl>
                                        <p:attrNameLst>
                                          <p:attrName>ppt_h</p:attrName>
                                        </p:attrNameLst>
                                      </p:cBhvr>
                                      <p:tavLst>
                                        <p:tav tm="0">
                                          <p:val>
                                            <p:strVal val="#ppt_h"/>
                                          </p:val>
                                        </p:tav>
                                        <p:tav tm="100000">
                                          <p:val>
                                            <p:strVal val="#ppt_h"/>
                                          </p:val>
                                        </p:tav>
                                      </p:tavLst>
                                    </p:anim>
                                    <p:animEffect transition="in" filter="fade">
                                      <p:cBhvr>
                                        <p:cTn id="33" dur="500"/>
                                        <p:tgtEl>
                                          <p:spTgt spid="62"/>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strips(downLeft)">
                                      <p:cBhvr>
                                        <p:cTn id="3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32" grpId="0"/>
      <p:bldP spid="61" grpId="0"/>
      <p:bldP spid="6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63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）伙伴系统（</a:t>
            </a:r>
            <a:r>
              <a:rPr lang="en-US" altLang="zh-CN" sz="2400" b="1" dirty="0">
                <a:solidFill>
                  <a:srgbClr val="4C7E51"/>
                </a:solidFill>
                <a:latin typeface="微软雅黑" panose="020B0503020204020204" pitchFamily="34" charset="-122"/>
                <a:ea typeface="微软雅黑" panose="020B0503020204020204" pitchFamily="34" charset="-122"/>
              </a:rPr>
              <a:t>buddy system</a:t>
            </a:r>
            <a:r>
              <a:rPr lang="zh-CN" altLang="en-US" sz="2400" b="1" dirty="0">
                <a:solidFill>
                  <a:srgbClr val="4C7E51"/>
                </a:solidFill>
                <a:latin typeface="微软雅黑" panose="020B0503020204020204" pitchFamily="34" charset="-122"/>
                <a:ea typeface="微软雅黑" panose="020B0503020204020204" pitchFamily="34" charset="-122"/>
              </a:rPr>
              <a:t>）</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080711" y="2377066"/>
            <a:ext cx="90672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当把一个大的存储块分为大小相等的两个小存储区时，这两个由同一个大块分裂出来的小块就称之为“互为伙伴”。</a:t>
            </a:r>
          </a:p>
        </p:txBody>
      </p:sp>
      <p:sp>
        <p:nvSpPr>
          <p:cNvPr id="25" name="文本框 52"/>
          <p:cNvSpPr txBox="1">
            <a:spLocks noChangeArrowheads="1"/>
          </p:cNvSpPr>
          <p:nvPr/>
        </p:nvSpPr>
        <p:spPr bwMode="auto">
          <a:xfrm>
            <a:off x="1065545" y="190856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伙伴</a:t>
            </a:r>
          </a:p>
        </p:txBody>
      </p:sp>
      <p:sp>
        <p:nvSpPr>
          <p:cNvPr id="26" name="文本框 19"/>
          <p:cNvSpPr txBox="1">
            <a:spLocks noChangeArrowheads="1"/>
          </p:cNvSpPr>
          <p:nvPr/>
        </p:nvSpPr>
        <p:spPr bwMode="auto">
          <a:xfrm>
            <a:off x="1085774" y="3760250"/>
            <a:ext cx="90477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在用户提出申请时，分配一块大小“恰当”的内存区给用户；反之在用户释放内存区时即回收。</a:t>
            </a:r>
          </a:p>
        </p:txBody>
      </p:sp>
      <p:sp>
        <p:nvSpPr>
          <p:cNvPr id="32" name="文本框 52"/>
          <p:cNvSpPr txBox="1">
            <a:spLocks noChangeArrowheads="1"/>
          </p:cNvSpPr>
          <p:nvPr/>
        </p:nvSpPr>
        <p:spPr bwMode="auto">
          <a:xfrm>
            <a:off x="1070608" y="3278863"/>
            <a:ext cx="18786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伙伴系统</a:t>
            </a:r>
          </a:p>
        </p:txBody>
      </p:sp>
      <p:sp>
        <p:nvSpPr>
          <p:cNvPr id="17" name="文本框 19"/>
          <p:cNvSpPr txBox="1">
            <a:spLocks noChangeArrowheads="1"/>
          </p:cNvSpPr>
          <p:nvPr/>
        </p:nvSpPr>
        <p:spPr bwMode="auto">
          <a:xfrm>
            <a:off x="1124409" y="5334290"/>
            <a:ext cx="9047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无论是占用块或空闲块，其大小均为2的k次幂（k为正整数）</a:t>
            </a:r>
          </a:p>
        </p:txBody>
      </p:sp>
      <p:sp>
        <p:nvSpPr>
          <p:cNvPr id="18" name="文本框 52"/>
          <p:cNvSpPr txBox="1">
            <a:spLocks noChangeArrowheads="1"/>
          </p:cNvSpPr>
          <p:nvPr/>
        </p:nvSpPr>
        <p:spPr bwMode="auto">
          <a:xfrm>
            <a:off x="1109244" y="4762754"/>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特点</a:t>
            </a:r>
          </a:p>
        </p:txBody>
      </p:sp>
    </p:spTree>
    <p:extLst>
      <p:ext uri="{BB962C8B-B14F-4D97-AF65-F5344CB8AC3E}">
        <p14:creationId xmlns:p14="http://schemas.microsoft.com/office/powerpoint/2010/main" val="73093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ppt_w+.3"/>
                                          </p:val>
                                        </p:tav>
                                        <p:tav tm="100000">
                                          <p:val>
                                            <p:strVal val="#ppt_w"/>
                                          </p:val>
                                        </p:tav>
                                      </p:tavLst>
                                    </p:anim>
                                    <p:anim calcmode="lin" valueType="num">
                                      <p:cBhvr>
                                        <p:cTn id="8" dur="500" fill="hold"/>
                                        <p:tgtEl>
                                          <p:spTgt spid="25"/>
                                        </p:tgtEl>
                                        <p:attrNameLst>
                                          <p:attrName>ppt_h</p:attrName>
                                        </p:attrNameLst>
                                      </p:cBhvr>
                                      <p:tavLst>
                                        <p:tav tm="0">
                                          <p:val>
                                            <p:strVal val="#ppt_h"/>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strips(downLeft)">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strVal val="#ppt_w+.3"/>
                                          </p:val>
                                        </p:tav>
                                        <p:tav tm="100000">
                                          <p:val>
                                            <p:strVal val="#ppt_w"/>
                                          </p:val>
                                        </p:tav>
                                      </p:tavLst>
                                    </p:anim>
                                    <p:anim calcmode="lin" valueType="num">
                                      <p:cBhvr>
                                        <p:cTn id="20" dur="500" fill="hold"/>
                                        <p:tgtEl>
                                          <p:spTgt spid="32"/>
                                        </p:tgtEl>
                                        <p:attrNameLst>
                                          <p:attrName>ppt_h</p:attrName>
                                        </p:attrNameLst>
                                      </p:cBhvr>
                                      <p:tavLst>
                                        <p:tav tm="0">
                                          <p:val>
                                            <p:strVal val="#ppt_h"/>
                                          </p:val>
                                        </p:tav>
                                        <p:tav tm="100000">
                                          <p:val>
                                            <p:strVal val="#ppt_h"/>
                                          </p:val>
                                        </p:tav>
                                      </p:tavLst>
                                    </p:anim>
                                    <p:animEffect transition="in" filter="fade">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strips(downLeft)">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strVal val="#ppt_w+.3"/>
                                          </p:val>
                                        </p:tav>
                                        <p:tav tm="100000">
                                          <p:val>
                                            <p:strVal val="#ppt_w"/>
                                          </p:val>
                                        </p:tav>
                                      </p:tavLst>
                                    </p:anim>
                                    <p:anim calcmode="lin" valueType="num">
                                      <p:cBhvr>
                                        <p:cTn id="32" dur="500" fill="hold"/>
                                        <p:tgtEl>
                                          <p:spTgt spid="18"/>
                                        </p:tgtEl>
                                        <p:attrNameLst>
                                          <p:attrName>ppt_h</p:attrName>
                                        </p:attrNameLst>
                                      </p:cBhvr>
                                      <p:tavLst>
                                        <p:tav tm="0">
                                          <p:val>
                                            <p:strVal val="#ppt_h"/>
                                          </p:val>
                                        </p:tav>
                                        <p:tav tm="100000">
                                          <p:val>
                                            <p:strVal val="#ppt_h"/>
                                          </p:val>
                                        </p:tav>
                                      </p:tavLst>
                                    </p:anim>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strips(downLeft)">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32" grpId="0"/>
      <p:bldP spid="17"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63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）伙伴系统（</a:t>
            </a:r>
            <a:r>
              <a:rPr lang="en-US" altLang="zh-CN" sz="2400" b="1" dirty="0">
                <a:solidFill>
                  <a:srgbClr val="4C7E51"/>
                </a:solidFill>
                <a:latin typeface="微软雅黑" panose="020B0503020204020204" pitchFamily="34" charset="-122"/>
                <a:ea typeface="微软雅黑" panose="020B0503020204020204" pitchFamily="34" charset="-122"/>
              </a:rPr>
              <a:t>buddy system</a:t>
            </a:r>
            <a:r>
              <a:rPr lang="zh-CN" altLang="en-US" sz="2400" b="1" dirty="0">
                <a:solidFill>
                  <a:srgbClr val="4C7E51"/>
                </a:solidFill>
                <a:latin typeface="微软雅黑" panose="020B0503020204020204" pitchFamily="34" charset="-122"/>
                <a:ea typeface="微软雅黑" panose="020B0503020204020204" pitchFamily="34" charset="-122"/>
              </a:rPr>
              <a:t>）</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080711" y="2377066"/>
            <a:ext cx="90672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用户提出大小为n的内存请求，计算k值（k=log2n）</a:t>
            </a:r>
            <a:endParaRPr lang="en-US" altLang="zh-CN" sz="2400" dirty="0">
              <a:latin typeface="宋体" pitchFamily="2" charset="-122"/>
            </a:endParaRPr>
          </a:p>
          <a:p>
            <a:pPr marL="0" lvl="2" indent="0">
              <a:buBlip>
                <a:blip r:embed="rId3"/>
              </a:buBlip>
            </a:pPr>
            <a:r>
              <a:rPr lang="zh-CN" altLang="en-US" sz="2400" dirty="0">
                <a:latin typeface="宋体" pitchFamily="2" charset="-122"/>
              </a:rPr>
              <a:t>从子表k开始找可用块</a:t>
            </a:r>
          </a:p>
          <a:p>
            <a:pPr marL="0" lvl="2" indent="0">
              <a:buBlip>
                <a:blip r:embed="rId3"/>
              </a:buBlip>
            </a:pPr>
            <a:endParaRPr lang="zh-CN" altLang="en-US" sz="2400" dirty="0">
              <a:latin typeface="宋体" pitchFamily="2" charset="-122"/>
            </a:endParaRPr>
          </a:p>
        </p:txBody>
      </p:sp>
      <p:sp>
        <p:nvSpPr>
          <p:cNvPr id="25" name="文本框 52"/>
          <p:cNvSpPr txBox="1">
            <a:spLocks noChangeArrowheads="1"/>
          </p:cNvSpPr>
          <p:nvPr/>
        </p:nvSpPr>
        <p:spPr bwMode="auto">
          <a:xfrm>
            <a:off x="1065545" y="1908562"/>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分配算法</a:t>
            </a:r>
          </a:p>
        </p:txBody>
      </p:sp>
      <p:graphicFrame>
        <p:nvGraphicFramePr>
          <p:cNvPr id="19" name="Group 4"/>
          <p:cNvGraphicFramePr>
            <a:graphicFrameLocks/>
          </p:cNvGraphicFramePr>
          <p:nvPr/>
        </p:nvGraphicFramePr>
        <p:xfrm>
          <a:off x="1151025" y="5211965"/>
          <a:ext cx="7989887" cy="1154113"/>
        </p:xfrm>
        <a:graphic>
          <a:graphicData uri="http://schemas.openxmlformats.org/drawingml/2006/table">
            <a:tbl>
              <a:tblPr/>
              <a:tblGrid>
                <a:gridCol w="1597025">
                  <a:extLst>
                    <a:ext uri="{9D8B030D-6E8A-4147-A177-3AD203B41FA5}">
                      <a16:colId xmlns:a16="http://schemas.microsoft.com/office/drawing/2014/main" val="20000"/>
                    </a:ext>
                  </a:extLst>
                </a:gridCol>
                <a:gridCol w="1597025">
                  <a:extLst>
                    <a:ext uri="{9D8B030D-6E8A-4147-A177-3AD203B41FA5}">
                      <a16:colId xmlns:a16="http://schemas.microsoft.com/office/drawing/2014/main" val="20001"/>
                    </a:ext>
                  </a:extLst>
                </a:gridCol>
                <a:gridCol w="1597025">
                  <a:extLst>
                    <a:ext uri="{9D8B030D-6E8A-4147-A177-3AD203B41FA5}">
                      <a16:colId xmlns:a16="http://schemas.microsoft.com/office/drawing/2014/main" val="20002"/>
                    </a:ext>
                  </a:extLst>
                </a:gridCol>
                <a:gridCol w="1598612">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577850">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1" i="0" u="none" strike="noStrike" cap="none" normalizeH="0" baseline="0" dirty="0">
                          <a:ln>
                            <a:noFill/>
                          </a:ln>
                          <a:solidFill>
                            <a:srgbClr val="FFFFFF"/>
                          </a:solidFill>
                          <a:effectLst/>
                          <a:latin typeface="Times New Roman" panose="02020603050405020304" pitchFamily="18" charset="0"/>
                          <a:ea typeface="黑体" panose="02010609060101010101" pitchFamily="49" charset="-122"/>
                        </a:rPr>
                        <a:t>大小</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1" i="0" u="none" strike="noStrike" cap="none" normalizeH="0" baseline="0">
                          <a:ln>
                            <a:noFill/>
                          </a:ln>
                          <a:solidFill>
                            <a:srgbClr val="FFFFFF"/>
                          </a:solidFill>
                          <a:effectLst/>
                          <a:latin typeface="Times New Roman" panose="02020603050405020304" pitchFamily="18" charset="0"/>
                          <a:ea typeface="黑体" panose="02010609060101010101" pitchFamily="49" charset="-122"/>
                        </a:rPr>
                        <a:t>2</a:t>
                      </a:r>
                      <a:r>
                        <a:rPr kumimoji="0" lang="zh-CN" altLang="en-US" sz="2400" b="1" i="0" u="none" strike="noStrike" cap="none" normalizeH="0" baseline="30000">
                          <a:ln>
                            <a:noFill/>
                          </a:ln>
                          <a:solidFill>
                            <a:srgbClr val="FFFFFF"/>
                          </a:solidFill>
                          <a:effectLst/>
                          <a:latin typeface="Times New Roman" panose="02020603050405020304" pitchFamily="18" charset="0"/>
                          <a:ea typeface="黑体" panose="02010609060101010101" pitchFamily="49" charset="-122"/>
                        </a:rPr>
                        <a:t>i-1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1" i="0" u="none" strike="noStrike" cap="none" normalizeH="0" baseline="0">
                          <a:ln>
                            <a:noFill/>
                          </a:ln>
                          <a:solidFill>
                            <a:srgbClr val="FFFFFF"/>
                          </a:solidFill>
                          <a:effectLst/>
                          <a:latin typeface="Times New Roman" panose="02020603050405020304" pitchFamily="18" charset="0"/>
                          <a:ea typeface="黑体" panose="02010609060101010101" pitchFamily="49" charset="-122"/>
                        </a:rPr>
                        <a:t>2</a:t>
                      </a:r>
                      <a:r>
                        <a:rPr kumimoji="0" lang="zh-CN" altLang="en-US" sz="2400" b="1" i="0" u="none" strike="noStrike" cap="none" normalizeH="0" baseline="30000">
                          <a:ln>
                            <a:noFill/>
                          </a:ln>
                          <a:solidFill>
                            <a:srgbClr val="FFFFFF"/>
                          </a:solidFill>
                          <a:effectLst/>
                          <a:latin typeface="Times New Roman" panose="02020603050405020304" pitchFamily="18" charset="0"/>
                          <a:ea typeface="黑体" panose="02010609060101010101" pitchFamily="49" charset="-122"/>
                        </a:rPr>
                        <a:t>i-2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1" i="0" u="none" strike="noStrike" cap="none" normalizeH="0" baseline="0" dirty="0">
                          <a:ln>
                            <a:noFill/>
                          </a:ln>
                          <a:solidFill>
                            <a:srgbClr val="FFFFFF"/>
                          </a:solidFill>
                          <a:effectLst/>
                          <a:latin typeface="Times New Roman" panose="02020603050405020304" pitchFamily="18" charset="0"/>
                          <a:ea typeface="黑体" panose="02010609060101010101" pitchFamily="49" charset="-122"/>
                        </a:rPr>
                        <a: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1" i="0" u="none" strike="noStrike" cap="none" normalizeH="0" baseline="0">
                          <a:ln>
                            <a:noFill/>
                          </a:ln>
                          <a:solidFill>
                            <a:srgbClr val="FFFFFF"/>
                          </a:solidFill>
                          <a:effectLst/>
                          <a:latin typeface="Times New Roman" panose="02020603050405020304" pitchFamily="18" charset="0"/>
                          <a:ea typeface="黑体" panose="02010609060101010101" pitchFamily="49" charset="-122"/>
                        </a:rPr>
                        <a:t>2</a:t>
                      </a:r>
                      <a:r>
                        <a:rPr kumimoji="0" lang="zh-CN" altLang="en-US" sz="2400" b="1" i="0" u="none" strike="noStrike" cap="none" normalizeH="0" baseline="30000">
                          <a:ln>
                            <a:noFill/>
                          </a:ln>
                          <a:solidFill>
                            <a:srgbClr val="FFFFFF"/>
                          </a:solidFill>
                          <a:effectLst/>
                          <a:latin typeface="Times New Roman" panose="02020603050405020304" pitchFamily="18" charset="0"/>
                          <a:ea typeface="黑体" panose="02010609060101010101" pitchFamily="49" charset="-122"/>
                        </a:rPr>
                        <a:t>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576263">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rPr>
                        <a:t>起始地址</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rPr>
                        <a:t>p+2</a:t>
                      </a:r>
                      <a:r>
                        <a:rPr kumimoji="0" lang="zh-CN" altLang="en-US" sz="2400" b="0" i="0" u="none" strike="noStrike" cap="none" normalizeH="0" baseline="30000">
                          <a:ln>
                            <a:noFill/>
                          </a:ln>
                          <a:solidFill>
                            <a:srgbClr val="000000"/>
                          </a:solidFill>
                          <a:effectLst/>
                          <a:latin typeface="Times New Roman" panose="02020603050405020304" pitchFamily="18" charset="0"/>
                          <a:ea typeface="黑体" panose="02010609060101010101" pitchFamily="49" charset="-122"/>
                        </a:rPr>
                        <a:t>i-1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rPr>
                        <a:t>p+2</a:t>
                      </a:r>
                      <a:r>
                        <a:rPr kumimoji="0" lang="zh-CN" altLang="en-US" sz="2400" b="0" i="0" u="none" strike="noStrike" cap="none" normalizeH="0" baseline="30000">
                          <a:ln>
                            <a:noFill/>
                          </a:ln>
                          <a:solidFill>
                            <a:srgbClr val="000000"/>
                          </a:solidFill>
                          <a:effectLst/>
                          <a:latin typeface="Times New Roman" panose="02020603050405020304" pitchFamily="18" charset="0"/>
                          <a:ea typeface="黑体" panose="02010609060101010101" pitchFamily="49" charset="-122"/>
                        </a:rPr>
                        <a:t>i-2</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rPr>
                        <a:t>......</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gn="l">
                        <a:spcBef>
                          <a:spcPct val="20000"/>
                        </a:spcBef>
                        <a:buClr>
                          <a:schemeClr val="bg2"/>
                        </a:buClr>
                        <a:buSzPct val="85000"/>
                        <a:buFont typeface="Wingdings" panose="05000000000000000000" pitchFamily="2" charset="2"/>
                        <a:defRPr sz="2800">
                          <a:solidFill>
                            <a:schemeClr val="bg2"/>
                          </a:solidFill>
                          <a:latin typeface="Arial" panose="020B0604020202020204" pitchFamily="34" charset="0"/>
                          <a:ea typeface="楷体_GB2312" pitchFamily="1" charset="-122"/>
                        </a:defRPr>
                      </a:lvl1pPr>
                      <a:lvl2pPr algn="l">
                        <a:spcBef>
                          <a:spcPct val="20000"/>
                        </a:spcBef>
                        <a:buClr>
                          <a:schemeClr val="bg2"/>
                        </a:buClr>
                        <a:buSzPct val="85000"/>
                        <a:buFont typeface="Wingdings" panose="05000000000000000000" pitchFamily="2" charset="2"/>
                        <a:defRPr sz="2400">
                          <a:solidFill>
                            <a:schemeClr val="bg2"/>
                          </a:solidFill>
                          <a:latin typeface="Arial" panose="020B0604020202020204" pitchFamily="34" charset="0"/>
                          <a:ea typeface="楷体_GB2312" pitchFamily="1" charset="-122"/>
                        </a:defRPr>
                      </a:lvl2pPr>
                      <a:lvl3pPr algn="l">
                        <a:spcBef>
                          <a:spcPct val="20000"/>
                        </a:spcBef>
                        <a:buClr>
                          <a:schemeClr val="bg2"/>
                        </a:buClr>
                        <a:buSzPct val="85000"/>
                        <a:buFont typeface="Wingdings" panose="05000000000000000000" pitchFamily="2" charset="2"/>
                        <a:defRPr sz="2000">
                          <a:solidFill>
                            <a:schemeClr val="bg2"/>
                          </a:solidFill>
                          <a:latin typeface="Arial" panose="020B0604020202020204" pitchFamily="34" charset="0"/>
                          <a:ea typeface="楷体_GB2312" pitchFamily="1" charset="-122"/>
                        </a:defRPr>
                      </a:lvl3pPr>
                      <a:lvl4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4pPr>
                      <a:lvl5pPr algn="l">
                        <a:spcBef>
                          <a:spcPct val="20000"/>
                        </a:spcBef>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5pPr>
                      <a:lvl6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6pPr>
                      <a:lvl7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7pPr>
                      <a:lvl8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8pPr>
                      <a:lvl9pPr fontAlgn="base">
                        <a:spcBef>
                          <a:spcPct val="20000"/>
                        </a:spcBef>
                        <a:spcAft>
                          <a:spcPct val="0"/>
                        </a:spcAft>
                        <a:buClr>
                          <a:schemeClr val="bg2"/>
                        </a:buClr>
                        <a:buSzPct val="85000"/>
                        <a:buFont typeface="Wingdings" panose="05000000000000000000" pitchFamily="2" charset="2"/>
                        <a:defRPr>
                          <a:solidFill>
                            <a:schemeClr val="bg2"/>
                          </a:solidFill>
                          <a:latin typeface="Arial" panose="020B0604020202020204" pitchFamily="34"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85000"/>
                        <a:buFont typeface="Wingdings" panose="05000000000000000000" pitchFamily="2" charset="2"/>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rPr>
                        <a:t>p+2</a:t>
                      </a:r>
                      <a:r>
                        <a:rPr kumimoji="0" lang="zh-CN" altLang="en-US" sz="2400" b="0" i="0" u="none" strike="noStrike" cap="none" normalizeH="0" baseline="30000" dirty="0">
                          <a:ln>
                            <a:noFill/>
                          </a:ln>
                          <a:solidFill>
                            <a:srgbClr val="000000"/>
                          </a:solidFill>
                          <a:effectLst/>
                          <a:latin typeface="Times New Roman" panose="02020603050405020304" pitchFamily="18" charset="0"/>
                          <a:ea typeface="黑体" panose="02010609060101010101" pitchFamily="49" charset="-122"/>
                        </a:rPr>
                        <a:t>k</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bl>
          </a:graphicData>
        </a:graphic>
      </p:graphicFrame>
      <p:sp>
        <p:nvSpPr>
          <p:cNvPr id="14" name="文本框 19"/>
          <p:cNvSpPr txBox="1">
            <a:spLocks noChangeArrowheads="1"/>
          </p:cNvSpPr>
          <p:nvPr/>
        </p:nvSpPr>
        <p:spPr bwMode="auto">
          <a:xfrm>
            <a:off x="1356231" y="3247910"/>
            <a:ext cx="904771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r>
              <a:rPr lang="zh-CN" altLang="en-US" sz="2400" dirty="0"/>
              <a:t>1）若子表非空，则将子表中任意一个结点分配给该用户。</a:t>
            </a:r>
            <a:endParaRPr lang="en-US" altLang="zh-CN" sz="2400" dirty="0"/>
          </a:p>
          <a:p>
            <a:pPr marL="0" lvl="2" indent="0"/>
            <a:r>
              <a:rPr lang="zh-CN" altLang="en-US" sz="2400" dirty="0"/>
              <a:t>2）否则，若从k向下找到i（i&gt;k）子表有可用块（起始地址为p），则取出2</a:t>
            </a:r>
            <a:r>
              <a:rPr lang="zh-CN" altLang="en-US" sz="2400" baseline="30000" dirty="0"/>
              <a:t>k</a:t>
            </a:r>
            <a:r>
              <a:rPr lang="zh-CN" altLang="en-US" sz="2400" dirty="0"/>
              <a:t>分配，剩余的块插入相应的子表</a:t>
            </a:r>
          </a:p>
          <a:p>
            <a:pPr marL="0" lvl="2" indent="0">
              <a:buBlip>
                <a:blip r:embed="rId3"/>
              </a:buBlip>
            </a:pPr>
            <a:endParaRPr lang="zh-CN" altLang="en-US" sz="2400" dirty="0">
              <a:latin typeface="宋体" pitchFamily="2" charset="-122"/>
            </a:endParaRPr>
          </a:p>
        </p:txBody>
      </p:sp>
    </p:spTree>
    <p:extLst>
      <p:ext uri="{BB962C8B-B14F-4D97-AF65-F5344CB8AC3E}">
        <p14:creationId xmlns:p14="http://schemas.microsoft.com/office/powerpoint/2010/main" val="315583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ppt_w+.3"/>
                                          </p:val>
                                        </p:tav>
                                        <p:tav tm="100000">
                                          <p:val>
                                            <p:strVal val="#ppt_w"/>
                                          </p:val>
                                        </p:tav>
                                      </p:tavLst>
                                    </p:anim>
                                    <p:anim calcmode="lin" valueType="num">
                                      <p:cBhvr>
                                        <p:cTn id="8" dur="500" fill="hold"/>
                                        <p:tgtEl>
                                          <p:spTgt spid="25"/>
                                        </p:tgtEl>
                                        <p:attrNameLst>
                                          <p:attrName>ppt_h</p:attrName>
                                        </p:attrNameLst>
                                      </p:cBhvr>
                                      <p:tavLst>
                                        <p:tav tm="0">
                                          <p:val>
                                            <p:strVal val="#ppt_h"/>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strips(downLeft)">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trips(downLeft)">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63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）伙伴系统（</a:t>
            </a:r>
            <a:r>
              <a:rPr lang="en-US" altLang="zh-CN" sz="2400" b="1" dirty="0">
                <a:solidFill>
                  <a:srgbClr val="4C7E51"/>
                </a:solidFill>
                <a:latin typeface="微软雅黑" panose="020B0503020204020204" pitchFamily="34" charset="-122"/>
                <a:ea typeface="微软雅黑" panose="020B0503020204020204" pitchFamily="34" charset="-122"/>
              </a:rPr>
              <a:t>buddy system</a:t>
            </a:r>
            <a:r>
              <a:rPr lang="zh-CN" altLang="en-US" sz="2400" b="1" dirty="0">
                <a:solidFill>
                  <a:srgbClr val="4C7E51"/>
                </a:solidFill>
                <a:latin typeface="微软雅黑" panose="020B0503020204020204" pitchFamily="34" charset="-122"/>
                <a:ea typeface="微软雅黑" panose="020B0503020204020204" pitchFamily="34" charset="-122"/>
              </a:rPr>
              <a:t>）</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126144" y="2687866"/>
            <a:ext cx="906729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第一步：计算p的伙伴块的地址q</a:t>
            </a:r>
            <a:endParaRPr lang="en-US" altLang="zh-CN" sz="2400" dirty="0">
              <a:latin typeface="宋体" pitchFamily="2" charset="-122"/>
            </a:endParaRPr>
          </a:p>
          <a:p>
            <a:pPr marL="0" lvl="2" indent="0">
              <a:buBlip>
                <a:blip r:embed="rId3"/>
              </a:buBlip>
            </a:pPr>
            <a:r>
              <a:rPr lang="zh-CN" altLang="en-US" sz="2400" dirty="0">
                <a:latin typeface="宋体" pitchFamily="2" charset="-122"/>
              </a:rPr>
              <a:t>第二步：若q空闲，合并出其实地址为p=min{p，q}，大小为2k+1的块，将q从k子表中删除；修改k：=k+1，转第一步</a:t>
            </a:r>
            <a:endParaRPr lang="en-US" altLang="zh-CN" sz="2400" dirty="0">
              <a:latin typeface="宋体" pitchFamily="2" charset="-122"/>
            </a:endParaRPr>
          </a:p>
          <a:p>
            <a:pPr marL="0" lvl="2" indent="0">
              <a:buBlip>
                <a:blip r:embed="rId3"/>
              </a:buBlip>
            </a:pPr>
            <a:r>
              <a:rPr lang="zh-CN" altLang="en-US" sz="2400" dirty="0">
                <a:latin typeface="宋体" pitchFamily="2" charset="-122"/>
              </a:rPr>
              <a:t>第三步：若q被占用，则将起始地址为p，大小为2k的块插入k子表中	</a:t>
            </a:r>
          </a:p>
          <a:p>
            <a:pPr marL="0" lvl="2" indent="0">
              <a:buBlip>
                <a:blip r:embed="rId3"/>
              </a:buBlip>
            </a:pPr>
            <a:endParaRPr lang="zh-CN" altLang="en-US" sz="2400" dirty="0">
              <a:latin typeface="宋体" pitchFamily="2" charset="-122"/>
            </a:endParaRPr>
          </a:p>
          <a:p>
            <a:pPr marL="0" lvl="2" indent="0">
              <a:buBlip>
                <a:blip r:embed="rId3"/>
              </a:buBlip>
            </a:pPr>
            <a:endParaRPr lang="zh-CN" altLang="en-US" sz="2400" dirty="0">
              <a:latin typeface="宋体" pitchFamily="2" charset="-122"/>
            </a:endParaRPr>
          </a:p>
        </p:txBody>
      </p:sp>
      <p:sp>
        <p:nvSpPr>
          <p:cNvPr id="25" name="文本框 52"/>
          <p:cNvSpPr txBox="1">
            <a:spLocks noChangeArrowheads="1"/>
          </p:cNvSpPr>
          <p:nvPr/>
        </p:nvSpPr>
        <p:spPr bwMode="auto">
          <a:xfrm>
            <a:off x="1065545" y="1908562"/>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回收算法</a:t>
            </a:r>
          </a:p>
        </p:txBody>
      </p:sp>
      <p:graphicFrame>
        <p:nvGraphicFramePr>
          <p:cNvPr id="15" name="Object 4">
            <a:hlinkClick r:id="" action="ppaction://ole?verb=1"/>
          </p:cNvPr>
          <p:cNvGraphicFramePr>
            <a:graphicFrameLocks noChangeAspect="1"/>
          </p:cNvGraphicFramePr>
          <p:nvPr/>
        </p:nvGraphicFramePr>
        <p:xfrm>
          <a:off x="5386994" y="1771333"/>
          <a:ext cx="6334125" cy="1006475"/>
        </p:xfrm>
        <a:graphic>
          <a:graphicData uri="http://schemas.openxmlformats.org/presentationml/2006/ole">
            <mc:AlternateContent xmlns:mc="http://schemas.openxmlformats.org/markup-compatibility/2006">
              <mc:Choice xmlns:v="urn:schemas-microsoft-com:vml" Requires="v">
                <p:oleObj r:id="rId4" imgW="2920680" imgH="482400" progId="Equation.3">
                  <p:embed/>
                </p:oleObj>
              </mc:Choice>
              <mc:Fallback>
                <p:oleObj r:id="rId4" imgW="2920680" imgH="482400" progId="Equation.3">
                  <p:embed/>
                  <p:pic>
                    <p:nvPicPr>
                      <p:cNvPr id="15" name="Object 4">
                        <a:hlinkClick r:id="" action="ppaction://ole?verb=1"/>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6994" y="1771333"/>
                        <a:ext cx="63341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3923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ppt_w+.3"/>
                                          </p:val>
                                        </p:tav>
                                        <p:tav tm="100000">
                                          <p:val>
                                            <p:strVal val="#ppt_w"/>
                                          </p:val>
                                        </p:tav>
                                      </p:tavLst>
                                    </p:anim>
                                    <p:anim calcmode="lin" valueType="num">
                                      <p:cBhvr>
                                        <p:cTn id="8" dur="500" fill="hold"/>
                                        <p:tgtEl>
                                          <p:spTgt spid="25"/>
                                        </p:tgtEl>
                                        <p:attrNameLst>
                                          <p:attrName>ppt_h</p:attrName>
                                        </p:attrNameLst>
                                      </p:cBhvr>
                                      <p:tavLst>
                                        <p:tav tm="0">
                                          <p:val>
                                            <p:strVal val="#ppt_h"/>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strips(downLeft)">
                                      <p:cBhvr>
                                        <p:cTn id="1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63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）伙伴系统（</a:t>
            </a:r>
            <a:r>
              <a:rPr lang="en-US" altLang="zh-CN" sz="2400" b="1" dirty="0">
                <a:solidFill>
                  <a:srgbClr val="4C7E51"/>
                </a:solidFill>
                <a:latin typeface="微软雅黑" panose="020B0503020204020204" pitchFamily="34" charset="-122"/>
                <a:ea typeface="微软雅黑" panose="020B0503020204020204" pitchFamily="34" charset="-122"/>
              </a:rPr>
              <a:t>buddy system</a:t>
            </a:r>
            <a:r>
              <a:rPr lang="zh-CN" altLang="en-US" sz="2400" b="1" dirty="0">
                <a:solidFill>
                  <a:srgbClr val="4C7E51"/>
                </a:solidFill>
                <a:latin typeface="微软雅黑" panose="020B0503020204020204" pitchFamily="34" charset="-122"/>
                <a:ea typeface="微软雅黑" panose="020B0503020204020204" pitchFamily="34" charset="-122"/>
              </a:rPr>
              <a:t>）</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080711" y="2377066"/>
            <a:ext cx="9067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算法简单速度快</a:t>
            </a:r>
          </a:p>
        </p:txBody>
      </p:sp>
      <p:sp>
        <p:nvSpPr>
          <p:cNvPr id="25" name="文本框 52"/>
          <p:cNvSpPr txBox="1">
            <a:spLocks noChangeArrowheads="1"/>
          </p:cNvSpPr>
          <p:nvPr/>
        </p:nvSpPr>
        <p:spPr bwMode="auto">
          <a:xfrm>
            <a:off x="1065545" y="190856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优点</a:t>
            </a:r>
          </a:p>
        </p:txBody>
      </p:sp>
      <p:sp>
        <p:nvSpPr>
          <p:cNvPr id="17" name="文本框 19"/>
          <p:cNvSpPr txBox="1">
            <a:spLocks noChangeArrowheads="1"/>
          </p:cNvSpPr>
          <p:nvPr/>
        </p:nvSpPr>
        <p:spPr bwMode="auto">
          <a:xfrm>
            <a:off x="1124409" y="3660037"/>
            <a:ext cx="90477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latin typeface="宋体" pitchFamily="2" charset="-122"/>
              </a:rPr>
              <a:t>归并伙伴易产生碎片</a:t>
            </a:r>
            <a:endParaRPr lang="en-US" altLang="zh-CN" sz="2400" dirty="0">
              <a:latin typeface="宋体" pitchFamily="2" charset="-122"/>
            </a:endParaRPr>
          </a:p>
          <a:p>
            <a:pPr marL="0" lvl="2" indent="0">
              <a:buBlip>
                <a:blip r:embed="rId3"/>
              </a:buBlip>
            </a:pPr>
            <a:r>
              <a:rPr lang="zh-CN" altLang="en-US" sz="2400" dirty="0">
                <a:latin typeface="宋体" pitchFamily="2" charset="-122"/>
              </a:rPr>
              <a:t>申请内存总是以2</a:t>
            </a:r>
            <a:r>
              <a:rPr lang="zh-CN" altLang="en-US" sz="2400" baseline="30000" dirty="0">
                <a:latin typeface="宋体" pitchFamily="2" charset="-122"/>
              </a:rPr>
              <a:t>n</a:t>
            </a:r>
            <a:r>
              <a:rPr lang="zh-CN" altLang="en-US" sz="2400" dirty="0">
                <a:latin typeface="宋体" pitchFamily="2" charset="-122"/>
              </a:rPr>
              <a:t>字节满足要求，块内浪费</a:t>
            </a:r>
            <a:endParaRPr lang="en-US" altLang="zh-CN" sz="2400" dirty="0">
              <a:latin typeface="宋体" pitchFamily="2" charset="-122"/>
            </a:endParaRPr>
          </a:p>
          <a:p>
            <a:pPr marL="0" lvl="2" indent="0">
              <a:buBlip>
                <a:blip r:embed="rId3"/>
              </a:buBlip>
            </a:pPr>
            <a:r>
              <a:rPr lang="zh-CN" altLang="en-US" sz="2400" dirty="0">
                <a:latin typeface="宋体" pitchFamily="2" charset="-122"/>
              </a:rPr>
              <a:t>申请/释放可能会导致连锁切块/合并，影响系统效率</a:t>
            </a:r>
          </a:p>
        </p:txBody>
      </p:sp>
      <p:sp>
        <p:nvSpPr>
          <p:cNvPr id="18" name="文本框 52"/>
          <p:cNvSpPr txBox="1">
            <a:spLocks noChangeArrowheads="1"/>
          </p:cNvSpPr>
          <p:nvPr/>
        </p:nvSpPr>
        <p:spPr bwMode="auto">
          <a:xfrm>
            <a:off x="1109244" y="3088501"/>
            <a:ext cx="115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特点</a:t>
            </a:r>
          </a:p>
        </p:txBody>
      </p:sp>
    </p:spTree>
    <p:extLst>
      <p:ext uri="{BB962C8B-B14F-4D97-AF65-F5344CB8AC3E}">
        <p14:creationId xmlns:p14="http://schemas.microsoft.com/office/powerpoint/2010/main" val="419748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ppt_w+.3"/>
                                          </p:val>
                                        </p:tav>
                                        <p:tav tm="100000">
                                          <p:val>
                                            <p:strVal val="#ppt_w"/>
                                          </p:val>
                                        </p:tav>
                                      </p:tavLst>
                                    </p:anim>
                                    <p:anim calcmode="lin" valueType="num">
                                      <p:cBhvr>
                                        <p:cTn id="8" dur="500" fill="hold"/>
                                        <p:tgtEl>
                                          <p:spTgt spid="25"/>
                                        </p:tgtEl>
                                        <p:attrNameLst>
                                          <p:attrName>ppt_h</p:attrName>
                                        </p:attrNameLst>
                                      </p:cBhvr>
                                      <p:tavLst>
                                        <p:tav tm="0">
                                          <p:val>
                                            <p:strVal val="#ppt_h"/>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strips(downLeft)">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strVal val="#ppt_w+.3"/>
                                          </p:val>
                                        </p:tav>
                                        <p:tav tm="100000">
                                          <p:val>
                                            <p:strVal val="#ppt_w"/>
                                          </p:val>
                                        </p:tav>
                                      </p:tavLst>
                                    </p:anim>
                                    <p:anim calcmode="lin" valueType="num">
                                      <p:cBhvr>
                                        <p:cTn id="20" dur="500" fill="hold"/>
                                        <p:tgtEl>
                                          <p:spTgt spid="18"/>
                                        </p:tgtEl>
                                        <p:attrNameLst>
                                          <p:attrName>ppt_h</p:attrName>
                                        </p:attrNameLst>
                                      </p:cBhvr>
                                      <p:tavLst>
                                        <p:tav tm="0">
                                          <p:val>
                                            <p:strVal val="#ppt_h"/>
                                          </p:val>
                                        </p:tav>
                                        <p:tav tm="100000">
                                          <p:val>
                                            <p:strVal val="#ppt_h"/>
                                          </p:val>
                                        </p:tav>
                                      </p:tavLst>
                                    </p:anim>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strips(downLeft)">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17"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51631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）哈希算法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基于索引搜索的动态分区分配算法</a:t>
            </a:r>
          </a:p>
        </p:txBody>
      </p:sp>
      <p:sp>
        <p:nvSpPr>
          <p:cNvPr id="24" name="文本框 19"/>
          <p:cNvSpPr txBox="1">
            <a:spLocks noChangeArrowheads="1"/>
          </p:cNvSpPr>
          <p:nvPr/>
        </p:nvSpPr>
        <p:spPr bwMode="auto">
          <a:xfrm>
            <a:off x="1080711" y="2377066"/>
            <a:ext cx="906729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利用哈希快速查找的优点以及空闲分区在可利用空间表中的分布规律，建立哈希函数，构造一张以空闲分区大小为关键字的哈希表，该表的每一个表项记录了一个对应的空闲分区链表表头指针。</a:t>
            </a:r>
            <a:endParaRPr lang="en-US" altLang="zh-CN" sz="2400" dirty="0"/>
          </a:p>
          <a:p>
            <a:pPr marL="0" lvl="2" indent="0">
              <a:buBlip>
                <a:blip r:embed="rId3"/>
              </a:buBlip>
            </a:pPr>
            <a:r>
              <a:rPr lang="zh-CN" altLang="en-US" sz="2400" dirty="0"/>
              <a:t>当进行空闲分区分配时，根据所需空闲分区大小，通过哈希函数计算，即得到在哈希表中的位置，从中得到相应的空闲分区链表，实现最佳分配策略。</a:t>
            </a:r>
          </a:p>
          <a:p>
            <a:pPr marL="0" lvl="2" indent="0">
              <a:buBlip>
                <a:blip r:embed="rId3"/>
              </a:buBlip>
            </a:pPr>
            <a:endParaRPr lang="zh-CN" altLang="en-US" sz="2400" dirty="0">
              <a:latin typeface="宋体" pitchFamily="2" charset="-122"/>
            </a:endParaRPr>
          </a:p>
        </p:txBody>
      </p:sp>
    </p:spTree>
    <p:extLst>
      <p:ext uri="{BB962C8B-B14F-4D97-AF65-F5344CB8AC3E}">
        <p14:creationId xmlns:p14="http://schemas.microsoft.com/office/powerpoint/2010/main" val="135884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trips(down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）紧凑</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动态可重定位分区分配</a:t>
            </a:r>
          </a:p>
        </p:txBody>
      </p:sp>
      <p:sp>
        <p:nvSpPr>
          <p:cNvPr id="22" name="文本框 19"/>
          <p:cNvSpPr txBox="1">
            <a:spLocks noChangeArrowheads="1"/>
          </p:cNvSpPr>
          <p:nvPr/>
        </p:nvSpPr>
        <p:spPr bwMode="auto">
          <a:xfrm>
            <a:off x="1068088" y="2286937"/>
            <a:ext cx="59277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连续式分配中，总量大于作业大小的多个小分区不能容纳作业。</a:t>
            </a:r>
          </a:p>
        </p:txBody>
      </p:sp>
      <p:sp>
        <p:nvSpPr>
          <p:cNvPr id="23" name="文本框 52"/>
          <p:cNvSpPr txBox="1">
            <a:spLocks noChangeArrowheads="1"/>
          </p:cNvSpPr>
          <p:nvPr/>
        </p:nvSpPr>
        <p:spPr bwMode="auto">
          <a:xfrm>
            <a:off x="1068088" y="188468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原因</a:t>
            </a:r>
          </a:p>
        </p:txBody>
      </p:sp>
      <p:sp>
        <p:nvSpPr>
          <p:cNvPr id="24" name="文本框 19"/>
          <p:cNvSpPr txBox="1">
            <a:spLocks noChangeArrowheads="1"/>
          </p:cNvSpPr>
          <p:nvPr/>
        </p:nvSpPr>
        <p:spPr bwMode="auto">
          <a:xfrm>
            <a:off x="1080711" y="3597288"/>
            <a:ext cx="61328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通过作业移动将原来分散的小分区拼接成一个大分区。</a:t>
            </a:r>
            <a:endParaRPr lang="en-US" altLang="zh-CN" sz="2400" dirty="0"/>
          </a:p>
          <a:p>
            <a:pPr marL="0" lvl="2" indent="0">
              <a:buBlip>
                <a:blip r:embed="rId3"/>
              </a:buBlip>
            </a:pPr>
            <a:r>
              <a:rPr lang="zh-CN" altLang="en-US" sz="2400" dirty="0"/>
              <a:t>作业的移动需重定位，影响到系统的效率。</a:t>
            </a:r>
          </a:p>
          <a:p>
            <a:pPr marL="0" lvl="2" indent="0">
              <a:buBlip>
                <a:blip r:embed="rId3"/>
              </a:buBlip>
            </a:pPr>
            <a:endParaRPr lang="zh-CN" altLang="en-US" sz="2400" dirty="0">
              <a:latin typeface="宋体" pitchFamily="2" charset="-122"/>
            </a:endParaRPr>
          </a:p>
        </p:txBody>
      </p:sp>
      <p:sp>
        <p:nvSpPr>
          <p:cNvPr id="25" name="文本框 52"/>
          <p:cNvSpPr txBox="1">
            <a:spLocks noChangeArrowheads="1"/>
          </p:cNvSpPr>
          <p:nvPr/>
        </p:nvSpPr>
        <p:spPr bwMode="auto">
          <a:xfrm>
            <a:off x="1065545" y="3128784"/>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方法</a:t>
            </a:r>
          </a:p>
        </p:txBody>
      </p:sp>
      <p:graphicFrame>
        <p:nvGraphicFramePr>
          <p:cNvPr id="3" name="对象 2"/>
          <p:cNvGraphicFramePr>
            <a:graphicFrameLocks noChangeAspect="1"/>
          </p:cNvGraphicFramePr>
          <p:nvPr/>
        </p:nvGraphicFramePr>
        <p:xfrm>
          <a:off x="7213600" y="1357864"/>
          <a:ext cx="4500562" cy="4233862"/>
        </p:xfrm>
        <a:graphic>
          <a:graphicData uri="http://schemas.openxmlformats.org/presentationml/2006/ole">
            <mc:AlternateContent xmlns:mc="http://schemas.openxmlformats.org/markup-compatibility/2006">
              <mc:Choice xmlns:v="urn:schemas-microsoft-com:vml" Requires="v">
                <p:oleObj name="Visio" r:id="rId4" imgW="2059534" imgH="1937004" progId="Visio.Drawing.11">
                  <p:embed/>
                </p:oleObj>
              </mc:Choice>
              <mc:Fallback>
                <p:oleObj name="Visio" r:id="rId4" imgW="2059534" imgH="1937004" progId="Visio.Drawing.11">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3600" y="1357864"/>
                        <a:ext cx="4500562"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2434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）动态重定位</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动态可重定位分区分配</a:t>
            </a:r>
          </a:p>
        </p:txBody>
      </p:sp>
      <p:sp>
        <p:nvSpPr>
          <p:cNvPr id="22" name="文本框 19"/>
          <p:cNvSpPr txBox="1">
            <a:spLocks noChangeArrowheads="1"/>
          </p:cNvSpPr>
          <p:nvPr/>
        </p:nvSpPr>
        <p:spPr bwMode="auto">
          <a:xfrm>
            <a:off x="1068088" y="2286937"/>
            <a:ext cx="102653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作业装入内存后的所有地址仍然都是相对（逻辑）地址。而将相对地址转换为绝对（物理）地址的工作被推迟到程序指令要真正执行时进行。</a:t>
            </a:r>
          </a:p>
        </p:txBody>
      </p:sp>
      <p:sp>
        <p:nvSpPr>
          <p:cNvPr id="23" name="文本框 52"/>
          <p:cNvSpPr txBox="1">
            <a:spLocks noChangeArrowheads="1"/>
          </p:cNvSpPr>
          <p:nvPr/>
        </p:nvSpPr>
        <p:spPr bwMode="auto">
          <a:xfrm>
            <a:off x="1068088" y="188468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定义</a:t>
            </a:r>
          </a:p>
        </p:txBody>
      </p:sp>
      <p:sp>
        <p:nvSpPr>
          <p:cNvPr id="24" name="文本框 19"/>
          <p:cNvSpPr txBox="1">
            <a:spLocks noChangeArrowheads="1"/>
          </p:cNvSpPr>
          <p:nvPr/>
        </p:nvSpPr>
        <p:spPr bwMode="auto">
          <a:xfrm>
            <a:off x="1080711" y="3597288"/>
            <a:ext cx="1012390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为使地址的转换不会影响到指令的执行速度，必须有硬件地址转换机构的支持，即在系统中增设一个</a:t>
            </a:r>
            <a:r>
              <a:rPr lang="zh-CN" altLang="en-US" sz="2400" b="1" dirty="0">
                <a:solidFill>
                  <a:schemeClr val="accent2"/>
                </a:solidFill>
              </a:rPr>
              <a:t>重定位寄存器</a:t>
            </a:r>
            <a:r>
              <a:rPr lang="zh-CN" altLang="en-US" sz="2400" dirty="0"/>
              <a:t>，用来存放程序（数据）在内存中的起始地址。</a:t>
            </a:r>
          </a:p>
        </p:txBody>
      </p:sp>
      <p:sp>
        <p:nvSpPr>
          <p:cNvPr id="25" name="文本框 52"/>
          <p:cNvSpPr txBox="1">
            <a:spLocks noChangeArrowheads="1"/>
          </p:cNvSpPr>
          <p:nvPr/>
        </p:nvSpPr>
        <p:spPr bwMode="auto">
          <a:xfrm>
            <a:off x="1065545" y="3128784"/>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实现</a:t>
            </a:r>
          </a:p>
        </p:txBody>
      </p:sp>
      <p:sp>
        <p:nvSpPr>
          <p:cNvPr id="16" name="Text Box 4"/>
          <p:cNvSpPr txBox="1">
            <a:spLocks noChangeArrowheads="1"/>
          </p:cNvSpPr>
          <p:nvPr/>
        </p:nvSpPr>
        <p:spPr bwMode="auto">
          <a:xfrm>
            <a:off x="2034194" y="5046138"/>
            <a:ext cx="7161321" cy="52322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ts val="600"/>
              </a:spcBef>
            </a:pPr>
            <a:r>
              <a:rPr lang="zh-CN" altLang="en-US" sz="2800" dirty="0"/>
              <a:t>内存地址 </a:t>
            </a:r>
            <a:r>
              <a:rPr lang="en-US" altLang="zh-CN" sz="2800" dirty="0"/>
              <a:t>= </a:t>
            </a:r>
            <a:r>
              <a:rPr lang="zh-CN" altLang="en-US" sz="2800" dirty="0"/>
              <a:t>相对地址 </a:t>
            </a:r>
            <a:r>
              <a:rPr lang="en-US" altLang="zh-CN" sz="2800" dirty="0"/>
              <a:t>+ </a:t>
            </a:r>
            <a:r>
              <a:rPr lang="zh-CN" altLang="en-US" sz="2800" dirty="0"/>
              <a:t>重定位寄存器中地址</a:t>
            </a:r>
            <a:endParaRPr lang="en-US" altLang="zh-CN" sz="2800" dirty="0"/>
          </a:p>
        </p:txBody>
      </p:sp>
    </p:spTree>
    <p:extLst>
      <p:ext uri="{BB962C8B-B14F-4D97-AF65-F5344CB8AC3E}">
        <p14:creationId xmlns:p14="http://schemas.microsoft.com/office/powerpoint/2010/main" val="283164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35930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）动态重定位</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动态可重定位分区分配</a:t>
            </a:r>
          </a:p>
        </p:txBody>
      </p:sp>
      <p:sp>
        <p:nvSpPr>
          <p:cNvPr id="22" name="文本框 19"/>
          <p:cNvSpPr txBox="1">
            <a:spLocks noChangeArrowheads="1"/>
          </p:cNvSpPr>
          <p:nvPr/>
        </p:nvSpPr>
        <p:spPr bwMode="auto">
          <a:xfrm>
            <a:off x="1068088" y="1866031"/>
            <a:ext cx="107320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kern="0" dirty="0"/>
              <a:t>地址变换过程是在程序执行期间，随着对每条指令或数据的访问自动进行的。</a:t>
            </a:r>
            <a:endParaRPr lang="en-US" altLang="zh-CN" sz="2400" kern="0" dirty="0"/>
          </a:p>
        </p:txBody>
      </p:sp>
      <p:pic>
        <p:nvPicPr>
          <p:cNvPr id="3" name="图片 2"/>
          <p:cNvPicPr>
            <a:picLocks noChangeAspect="1"/>
          </p:cNvPicPr>
          <p:nvPr/>
        </p:nvPicPr>
        <p:blipFill>
          <a:blip r:embed="rId4"/>
          <a:stretch>
            <a:fillRect/>
          </a:stretch>
        </p:blipFill>
        <p:spPr>
          <a:xfrm>
            <a:off x="1790251" y="2096863"/>
            <a:ext cx="7864522" cy="4633362"/>
          </a:xfrm>
          <a:prstGeom prst="rect">
            <a:avLst/>
          </a:prstGeom>
        </p:spPr>
      </p:pic>
    </p:spTree>
    <p:extLst>
      <p:ext uri="{BB962C8B-B14F-4D97-AF65-F5344CB8AC3E}">
        <p14:creationId xmlns:p14="http://schemas.microsoft.com/office/powerpoint/2010/main" val="163264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144" y="166265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4194" y="166265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80094" y="1129258"/>
            <a:ext cx="4158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）动态重定位分区分配算法</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2924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可重定位分区分配</a:t>
            </a:r>
          </a:p>
        </p:txBody>
      </p:sp>
      <p:graphicFrame>
        <p:nvGraphicFramePr>
          <p:cNvPr id="3" name="对象 2"/>
          <p:cNvGraphicFramePr>
            <a:graphicFrameLocks noChangeAspect="1"/>
          </p:cNvGraphicFramePr>
          <p:nvPr/>
        </p:nvGraphicFramePr>
        <p:xfrm>
          <a:off x="1717222" y="867393"/>
          <a:ext cx="8532813" cy="5538380"/>
        </p:xfrm>
        <a:graphic>
          <a:graphicData uri="http://schemas.openxmlformats.org/presentationml/2006/ole">
            <mc:AlternateContent xmlns:mc="http://schemas.openxmlformats.org/markup-compatibility/2006">
              <mc:Choice xmlns:v="urn:schemas-microsoft-com:vml" Requires="v">
                <p:oleObj name="Visio" r:id="rId3" imgW="5236726" imgH="3184684" progId="Visio.Drawing.11">
                  <p:embed/>
                </p:oleObj>
              </mc:Choice>
              <mc:Fallback>
                <p:oleObj name="Visio" r:id="rId3" imgW="5236726" imgH="3184684" progId="Visio.Drawing.11">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222" y="867393"/>
                        <a:ext cx="8532813" cy="553838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42369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0"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动态可重定位分区分配</a:t>
            </a:r>
          </a:p>
        </p:txBody>
      </p:sp>
      <p:sp>
        <p:nvSpPr>
          <p:cNvPr id="22" name="文本框 19"/>
          <p:cNvSpPr txBox="1">
            <a:spLocks noChangeArrowheads="1"/>
          </p:cNvSpPr>
          <p:nvPr/>
        </p:nvSpPr>
        <p:spPr bwMode="auto">
          <a:xfrm>
            <a:off x="1106725" y="2402848"/>
            <a:ext cx="10265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消除了“碎片”，提高了内存利用率，同时提高了系统效率。</a:t>
            </a:r>
          </a:p>
        </p:txBody>
      </p:sp>
      <p:sp>
        <p:nvSpPr>
          <p:cNvPr id="23" name="文本框 52"/>
          <p:cNvSpPr txBox="1">
            <a:spLocks noChangeArrowheads="1"/>
          </p:cNvSpPr>
          <p:nvPr/>
        </p:nvSpPr>
        <p:spPr bwMode="auto">
          <a:xfrm>
            <a:off x="1068088" y="188468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优点：</a:t>
            </a:r>
          </a:p>
        </p:txBody>
      </p:sp>
      <p:sp>
        <p:nvSpPr>
          <p:cNvPr id="24" name="文本框 19"/>
          <p:cNvSpPr txBox="1">
            <a:spLocks noChangeArrowheads="1"/>
          </p:cNvSpPr>
          <p:nvPr/>
        </p:nvSpPr>
        <p:spPr bwMode="auto">
          <a:xfrm>
            <a:off x="1080711" y="3597288"/>
            <a:ext cx="1012390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需要动态重定位“硬件”机构支持，增加了系统成本，并轻度降低了程序执行速度，“紧凑”处理增加了系统开销。</a:t>
            </a:r>
          </a:p>
        </p:txBody>
      </p:sp>
      <p:sp>
        <p:nvSpPr>
          <p:cNvPr id="25" name="文本框 52"/>
          <p:cNvSpPr txBox="1">
            <a:spLocks noChangeArrowheads="1"/>
          </p:cNvSpPr>
          <p:nvPr/>
        </p:nvSpPr>
        <p:spPr bwMode="auto">
          <a:xfrm>
            <a:off x="1104182" y="298711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缺点：</a:t>
            </a:r>
          </a:p>
        </p:txBody>
      </p:sp>
    </p:spTree>
    <p:extLst>
      <p:ext uri="{BB962C8B-B14F-4D97-AF65-F5344CB8AC3E}">
        <p14:creationId xmlns:p14="http://schemas.microsoft.com/office/powerpoint/2010/main" val="82595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ppt_w+.3"/>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strips(down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strVal val="#ppt_w+.3"/>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down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40013442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6698</TotalTime>
  <Words>2890</Words>
  <Application>Microsoft Office PowerPoint</Application>
  <PresentationFormat>宽屏</PresentationFormat>
  <Paragraphs>505</Paragraphs>
  <Slides>36</Slides>
  <Notes>31</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3</vt:i4>
      </vt:variant>
      <vt:variant>
        <vt:lpstr>幻灯片标题</vt:lpstr>
      </vt:variant>
      <vt:variant>
        <vt:i4>36</vt:i4>
      </vt:variant>
    </vt:vector>
  </HeadingPairs>
  <TitlesOfParts>
    <vt:vector size="58" baseType="lpstr">
      <vt:lpstr>Gill Sans</vt:lpstr>
      <vt:lpstr>等线</vt:lpstr>
      <vt:lpstr>等线 Light</vt:lpstr>
      <vt:lpstr>方正清刻本悦宋简体</vt:lpstr>
      <vt:lpstr>黑体</vt:lpstr>
      <vt:lpstr>楷体_GB2312</vt:lpstr>
      <vt:lpstr>宋体</vt:lpstr>
      <vt:lpstr>微软雅黑</vt:lpstr>
      <vt:lpstr>微软雅黑 Light</vt:lpstr>
      <vt:lpstr>Arial</vt:lpstr>
      <vt:lpstr>Calibri</vt:lpstr>
      <vt:lpstr>Impact</vt:lpstr>
      <vt:lpstr>Open Sans Light</vt:lpstr>
      <vt:lpstr>Tahoma</vt:lpstr>
      <vt:lpstr>Times New Roman</vt:lpstr>
      <vt:lpstr>Wingdings</vt:lpstr>
      <vt:lpstr>Office 主题​​</vt:lpstr>
      <vt:lpstr>1_Office 主题​​</vt:lpstr>
      <vt:lpstr>2_Office 主题​​</vt:lpstr>
      <vt:lpstr>VISIO</vt:lpstr>
      <vt:lpstr>Equation.3</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195</cp:revision>
  <dcterms:created xsi:type="dcterms:W3CDTF">2016-05-18T19:05:46Z</dcterms:created>
  <dcterms:modified xsi:type="dcterms:W3CDTF">2023-10-31T01:52:05Z</dcterms:modified>
</cp:coreProperties>
</file>