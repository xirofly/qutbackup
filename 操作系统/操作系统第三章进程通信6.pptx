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84" r:id="rId3"/>
  </p:sldMasterIdLst>
  <p:notesMasterIdLst>
    <p:notesMasterId r:id="rId17"/>
  </p:notesMasterIdLst>
  <p:handoutMasterIdLst>
    <p:handoutMasterId r:id="rId18"/>
  </p:handoutMasterIdLst>
  <p:sldIdLst>
    <p:sldId id="289" r:id="rId4"/>
    <p:sldId id="378" r:id="rId5"/>
    <p:sldId id="354" r:id="rId6"/>
    <p:sldId id="355" r:id="rId7"/>
    <p:sldId id="356" r:id="rId8"/>
    <p:sldId id="425" r:id="rId9"/>
    <p:sldId id="426" r:id="rId10"/>
    <p:sldId id="427" r:id="rId11"/>
    <p:sldId id="429" r:id="rId12"/>
    <p:sldId id="430" r:id="rId13"/>
    <p:sldId id="431" r:id="rId14"/>
    <p:sldId id="432" r:id="rId15"/>
    <p:sldId id="290"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79" autoAdjust="0"/>
    <p:restoredTop sz="94660"/>
  </p:normalViewPr>
  <p:slideViewPr>
    <p:cSldViewPr snapToGrid="0">
      <p:cViewPr varScale="1">
        <p:scale>
          <a:sx n="74" d="100"/>
          <a:sy n="74" d="100"/>
        </p:scale>
        <p:origin x="486" y="5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9CCB84B-6A00-4441-A8E6-9FCA71C6ADFF}" type="datetimeFigureOut">
              <a:rPr lang="zh-CN" altLang="en-US" smtClean="0"/>
              <a:pPr/>
              <a:t>2023-10-19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428514-98A0-40EF-8E2B-A346CE837D6C}" type="slidenum">
              <a:rPr lang="zh-CN" altLang="en-US" smtClean="0"/>
              <a:pPr/>
              <a:t>‹#›</a:t>
            </a:fld>
            <a:endParaRPr lang="zh-CN" altLang="en-US"/>
          </a:p>
        </p:txBody>
      </p:sp>
    </p:spTree>
    <p:extLst>
      <p:ext uri="{BB962C8B-B14F-4D97-AF65-F5344CB8AC3E}">
        <p14:creationId xmlns:p14="http://schemas.microsoft.com/office/powerpoint/2010/main" val="4876775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93AD-7C06-486F-9754-D5B73F7C37DE}" type="datetimeFigureOut">
              <a:rPr lang="zh-CN" altLang="en-US" smtClean="0"/>
              <a:pPr/>
              <a:t>2023-10-19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DE87-FC43-4F0C-9C51-E666AB0AC5F3}" type="slidenum">
              <a:rPr lang="zh-CN" altLang="en-US" smtClean="0"/>
              <a:pPr/>
              <a:t>‹#›</a:t>
            </a:fld>
            <a:endParaRPr lang="zh-CN" altLang="en-US"/>
          </a:p>
        </p:txBody>
      </p:sp>
    </p:spTree>
    <p:extLst>
      <p:ext uri="{BB962C8B-B14F-4D97-AF65-F5344CB8AC3E}">
        <p14:creationId xmlns:p14="http://schemas.microsoft.com/office/powerpoint/2010/main" val="164044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模板来自于 </a:t>
            </a:r>
            <a:r>
              <a:rPr lang="en-US" altLang="zh-CN"/>
              <a:t>http://www.ypppt.com</a:t>
            </a: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13</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56372478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pic>
        <p:nvPicPr>
          <p:cNvPr id="8" name="图片 7"/>
          <p:cNvPicPr>
            <a:picLocks noChangeAspect="1"/>
          </p:cNvPicPr>
          <p:nvPr userDrawn="1"/>
        </p:nvPicPr>
        <p:blipFill rotWithShape="1">
          <a:blip r:embed="rId4" cstate="print"/>
          <a:srcRect r="42146" b="48018"/>
          <a:stretch/>
        </p:blipFill>
        <p:spPr>
          <a:xfrm>
            <a:off x="7346062" y="2511276"/>
            <a:ext cx="4845938" cy="4346724"/>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txBox="1">
            <a:spLocks/>
          </p:cNvSpPr>
          <p:nvPr userDrawn="1"/>
        </p:nvSpPr>
        <p:spPr>
          <a:xfrm>
            <a:off x="848833" y="202028"/>
            <a:ext cx="3967716" cy="45719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3D7351"/>
                </a:solidFill>
                <a:effectLst/>
                <a:uLnTx/>
                <a:uFillTx/>
                <a:latin typeface="微软雅黑" panose="020B0503020204020204" pitchFamily="34" charset="-122"/>
                <a:ea typeface="微软雅黑" panose="020B0503020204020204" pitchFamily="34" charset="-122"/>
                <a:cs typeface="+mn-cs"/>
              </a:rPr>
              <a:t>单击此处编辑母版标题样式</a:t>
            </a:r>
          </a:p>
        </p:txBody>
      </p:sp>
    </p:spTree>
    <p:extLst>
      <p:ext uri="{BB962C8B-B14F-4D97-AF65-F5344CB8AC3E}">
        <p14:creationId xmlns:p14="http://schemas.microsoft.com/office/powerpoint/2010/main" val="40002027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085715"/>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1909627"/>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5715"/>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1909627"/>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10"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8862035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6020646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0932479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253051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3315586" y="545879"/>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0953898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23246790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3362328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gif"/><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14" cstate="print"/>
          <a:srcRect r="42146" b="48018"/>
          <a:stretch/>
        </p:blipFill>
        <p:spPr>
          <a:xfrm>
            <a:off x="7346062" y="2511276"/>
            <a:ext cx="4845938" cy="4346724"/>
          </a:xfrm>
          <a:prstGeom prst="rect">
            <a:avLst/>
          </a:prstGeom>
        </p:spPr>
      </p:pic>
      <p:pic>
        <p:nvPicPr>
          <p:cNvPr id="8" name="图片 7"/>
          <p:cNvPicPr>
            <a:picLocks noChangeAspect="1"/>
          </p:cNvPicPr>
          <p:nvPr userDrawn="1"/>
        </p:nvPicPr>
        <p:blipFill rotWithShape="1">
          <a:blip r:embed="rId15" cstate="print">
            <a:extLst>
              <a:ext uri="{BEBA8EAE-BF5A-486C-A8C5-ECC9F3942E4B}">
                <a14:imgProps xmlns:a14="http://schemas.microsoft.com/office/drawing/2010/main">
                  <a14:imgLayer r:embed="rId16">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49" r:id="rId1"/>
    <p:sldLayoutId id="2147483696"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sp>
        <p:nvSpPr>
          <p:cNvPr id="2" name="标题占位符 1"/>
          <p:cNvSpPr>
            <a:spLocks noGrp="1"/>
          </p:cNvSpPr>
          <p:nvPr>
            <p:ph type="title"/>
          </p:nvPr>
        </p:nvSpPr>
        <p:spPr>
          <a:xfrm>
            <a:off x="848833" y="202028"/>
            <a:ext cx="3967716" cy="457196"/>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988828"/>
            <a:ext cx="10515600" cy="5188135"/>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矩形 8"/>
          <p:cNvSpPr/>
          <p:nvPr userDrawn="1"/>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10" name="组合 9"/>
          <p:cNvGrpSpPr/>
          <p:nvPr userDrawn="1"/>
        </p:nvGrpSpPr>
        <p:grpSpPr>
          <a:xfrm>
            <a:off x="245745" y="213360"/>
            <a:ext cx="563880" cy="563880"/>
            <a:chOff x="276225" y="213360"/>
            <a:chExt cx="563880" cy="563880"/>
          </a:xfrm>
          <a:solidFill>
            <a:srgbClr val="3D7351"/>
          </a:solidFill>
        </p:grpSpPr>
        <p:sp>
          <p:nvSpPr>
            <p:cNvPr id="11" name="矩形 10"/>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12" name="椭圆 11"/>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14" name="文本框 31"/>
          <p:cNvSpPr txBox="1"/>
          <p:nvPr userDrawn="1"/>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97" r:id="rId11"/>
  </p:sldLayoutIdLst>
  <p:txStyles>
    <p:title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Tx/>
        <a:buBlip>
          <a:blip r:embed="rId13"/>
        </a:buBli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gif"/><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gif"/><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gif"/><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72862" y="2048669"/>
            <a:ext cx="7246275" cy="2760663"/>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p:cNvSpPr txBox="1"/>
          <p:nvPr/>
        </p:nvSpPr>
        <p:spPr>
          <a:xfrm>
            <a:off x="4595747" y="2251341"/>
            <a:ext cx="3109978" cy="938719"/>
          </a:xfrm>
          <a:prstGeom prst="rect">
            <a:avLst/>
          </a:prstGeom>
          <a:noFill/>
        </p:spPr>
        <p:txBody>
          <a:bodyPr wrap="square" rtlCol="0">
            <a:spAutoFit/>
          </a:bodyPr>
          <a:lstStyle/>
          <a:p>
            <a:r>
              <a:rPr lang="zh-CN" altLang="en-US" sz="5500" dirty="0">
                <a:solidFill>
                  <a:srgbClr val="3D7351"/>
                </a:solidFill>
                <a:latin typeface="方正清刻本悦宋简体" panose="02000000000000000000" pitchFamily="2" charset="-122"/>
                <a:ea typeface="方正清刻本悦宋简体" panose="02000000000000000000" pitchFamily="2" charset="-122"/>
              </a:rPr>
              <a:t>操作系统</a:t>
            </a:r>
          </a:p>
        </p:txBody>
      </p:sp>
      <p:sp>
        <p:nvSpPr>
          <p:cNvPr id="8" name="文本框 7"/>
          <p:cNvSpPr txBox="1"/>
          <p:nvPr/>
        </p:nvSpPr>
        <p:spPr>
          <a:xfrm>
            <a:off x="3939822" y="3912068"/>
            <a:ext cx="4417602" cy="276999"/>
          </a:xfrm>
          <a:prstGeom prst="rect">
            <a:avLst/>
          </a:prstGeom>
          <a:noFill/>
        </p:spPr>
        <p:txBody>
          <a:bodyPr wrap="square" rtlCol="0">
            <a:spAutoFit/>
          </a:bodyPr>
          <a:lstStyle/>
          <a:p>
            <a:pPr algn="dist"/>
            <a:r>
              <a:rPr lang="en-US" altLang="zh-CN" sz="1200" dirty="0">
                <a:solidFill>
                  <a:srgbClr val="3D7351"/>
                </a:solidFill>
                <a:latin typeface="微软雅黑" panose="020B0503020204020204" pitchFamily="34" charset="-122"/>
                <a:ea typeface="微软雅黑" panose="020B0503020204020204" pitchFamily="34" charset="-122"/>
              </a:rPr>
              <a:t>OPERATING SYSTEM</a:t>
            </a:r>
            <a:endParaRPr lang="zh-CN" altLang="en-US" sz="1200" dirty="0">
              <a:solidFill>
                <a:srgbClr val="3D7351"/>
              </a:solidFill>
              <a:latin typeface="微软雅黑" panose="020B0503020204020204" pitchFamily="34" charset="-122"/>
              <a:ea typeface="微软雅黑" panose="020B0503020204020204" pitchFamily="34" charset="-122"/>
            </a:endParaRPr>
          </a:p>
        </p:txBody>
      </p:sp>
      <p:sp>
        <p:nvSpPr>
          <p:cNvPr id="9" name="文本框 32"/>
          <p:cNvSpPr txBox="1">
            <a:spLocks noChangeArrowheads="1"/>
          </p:cNvSpPr>
          <p:nvPr/>
        </p:nvSpPr>
        <p:spPr bwMode="auto">
          <a:xfrm>
            <a:off x="5512250" y="4270955"/>
            <a:ext cx="1383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200" dirty="0">
                <a:solidFill>
                  <a:srgbClr val="3D735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主讲人：房斐斐</a:t>
            </a:r>
          </a:p>
        </p:txBody>
      </p:sp>
      <p:cxnSp>
        <p:nvCxnSpPr>
          <p:cNvPr id="11" name="直接连接符 10"/>
          <p:cNvCxnSpPr/>
          <p:nvPr/>
        </p:nvCxnSpPr>
        <p:spPr>
          <a:xfrm>
            <a:off x="4143375"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896100"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sp>
        <p:nvSpPr>
          <p:cNvPr id="14" name="文本框 6"/>
          <p:cNvSpPr txBox="1"/>
          <p:nvPr/>
        </p:nvSpPr>
        <p:spPr>
          <a:xfrm>
            <a:off x="4524875" y="3187225"/>
            <a:ext cx="3195469" cy="584775"/>
          </a:xfrm>
          <a:prstGeom prst="rect">
            <a:avLst/>
          </a:prstGeom>
          <a:noFill/>
        </p:spPr>
        <p:txBody>
          <a:bodyPr wrap="square" rtlCol="0">
            <a:spAutoFit/>
          </a:bodyPr>
          <a:lstStyle/>
          <a:p>
            <a:r>
              <a:rPr lang="zh-CN" altLang="en-US" sz="3200" dirty="0">
                <a:solidFill>
                  <a:srgbClr val="3D7351"/>
                </a:solidFill>
                <a:latin typeface="方正清刻本悦宋简体" panose="02000000000000000000" pitchFamily="2" charset="-122"/>
                <a:ea typeface="方正清刻本悦宋简体" panose="02000000000000000000" pitchFamily="2" charset="-122"/>
              </a:rPr>
              <a:t>第三章 进程管理</a:t>
            </a:r>
          </a:p>
        </p:txBody>
      </p:sp>
    </p:spTree>
    <p:extLst>
      <p:ext uri="{BB962C8B-B14F-4D97-AF65-F5344CB8AC3E}">
        <p14:creationId xmlns:p14="http://schemas.microsoft.com/office/powerpoint/2010/main" val="264625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72862" y="1930331"/>
            <a:ext cx="7246275" cy="3663642"/>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4" name="组合 13"/>
          <p:cNvGrpSpPr/>
          <p:nvPr/>
        </p:nvGrpSpPr>
        <p:grpSpPr>
          <a:xfrm>
            <a:off x="3152633" y="2191302"/>
            <a:ext cx="5887815" cy="2109625"/>
            <a:chOff x="4806642" y="2317346"/>
            <a:chExt cx="5065904" cy="2109625"/>
          </a:xfrm>
        </p:grpSpPr>
        <p:sp>
          <p:nvSpPr>
            <p:cNvPr id="15" name="文本框 13"/>
            <p:cNvSpPr txBox="1">
              <a:spLocks noChangeArrowheads="1"/>
            </p:cNvSpPr>
            <p:nvPr/>
          </p:nvSpPr>
          <p:spPr bwMode="auto">
            <a:xfrm>
              <a:off x="7948242" y="2340801"/>
              <a:ext cx="19243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000" dirty="0">
                  <a:solidFill>
                    <a:srgbClr val="595959"/>
                  </a:solidFill>
                  <a:latin typeface="微软雅黑" panose="020B0503020204020204" pitchFamily="34" charset="-122"/>
                  <a:ea typeface="微软雅黑" panose="020B0503020204020204" pitchFamily="34" charset="-122"/>
                </a:rPr>
                <a:t>前驱图和程序执行</a:t>
              </a:r>
            </a:p>
          </p:txBody>
        </p:sp>
        <p:sp>
          <p:nvSpPr>
            <p:cNvPr id="16" name="文本框 14"/>
            <p:cNvSpPr txBox="1">
              <a:spLocks noChangeArrowheads="1"/>
            </p:cNvSpPr>
            <p:nvPr/>
          </p:nvSpPr>
          <p:spPr bwMode="auto">
            <a:xfrm>
              <a:off x="7948242" y="2890121"/>
              <a:ext cx="12622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进程的描述</a:t>
              </a:r>
            </a:p>
          </p:txBody>
        </p:sp>
        <p:sp>
          <p:nvSpPr>
            <p:cNvPr id="18" name="文本框 15"/>
            <p:cNvSpPr txBox="1">
              <a:spLocks noChangeArrowheads="1"/>
            </p:cNvSpPr>
            <p:nvPr/>
          </p:nvSpPr>
          <p:spPr bwMode="auto">
            <a:xfrm>
              <a:off x="7948242" y="3439441"/>
              <a:ext cx="10415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进程控制</a:t>
              </a:r>
            </a:p>
          </p:txBody>
        </p:sp>
        <p:sp>
          <p:nvSpPr>
            <p:cNvPr id="19" name="文本框 16"/>
            <p:cNvSpPr txBox="1">
              <a:spLocks noChangeArrowheads="1"/>
            </p:cNvSpPr>
            <p:nvPr/>
          </p:nvSpPr>
          <p:spPr bwMode="auto">
            <a:xfrm>
              <a:off x="7948241" y="3988761"/>
              <a:ext cx="10415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进程同步</a:t>
              </a:r>
            </a:p>
          </p:txBody>
        </p:sp>
        <p:sp>
          <p:nvSpPr>
            <p:cNvPr id="20" name="文本框 19"/>
            <p:cNvSpPr txBox="1"/>
            <p:nvPr/>
          </p:nvSpPr>
          <p:spPr>
            <a:xfrm>
              <a:off x="7496132" y="2317346"/>
              <a:ext cx="606287"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1</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7496133" y="2866666"/>
              <a:ext cx="646430"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2</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496132" y="3415986"/>
              <a:ext cx="646429"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3</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7496132" y="3965306"/>
              <a:ext cx="646429"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4</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grpSp>
          <p:nvGrpSpPr>
            <p:cNvPr id="24" name="组合 23"/>
            <p:cNvGrpSpPr/>
            <p:nvPr/>
          </p:nvGrpSpPr>
          <p:grpSpPr>
            <a:xfrm>
              <a:off x="4806642" y="2938055"/>
              <a:ext cx="2088107" cy="992892"/>
              <a:chOff x="2995095" y="2938055"/>
              <a:chExt cx="2088107" cy="992892"/>
            </a:xfrm>
          </p:grpSpPr>
          <p:grpSp>
            <p:nvGrpSpPr>
              <p:cNvPr id="25" name="组合 24"/>
              <p:cNvGrpSpPr/>
              <p:nvPr/>
            </p:nvGrpSpPr>
            <p:grpSpPr>
              <a:xfrm>
                <a:off x="2995095" y="2938055"/>
                <a:ext cx="2088107" cy="992892"/>
                <a:chOff x="3053227" y="2938055"/>
                <a:chExt cx="2088107" cy="992892"/>
              </a:xfrm>
            </p:grpSpPr>
            <p:sp>
              <p:nvSpPr>
                <p:cNvPr id="28" name="文本框 27"/>
                <p:cNvSpPr txBox="1"/>
                <p:nvPr/>
              </p:nvSpPr>
              <p:spPr>
                <a:xfrm>
                  <a:off x="3630124" y="3469282"/>
                  <a:ext cx="1274156" cy="461665"/>
                </a:xfrm>
                <a:prstGeom prst="rect">
                  <a:avLst/>
                </a:prstGeom>
                <a:noFill/>
              </p:spPr>
              <p:txBody>
                <a:bodyPr wrap="square" rtlCol="0">
                  <a:spAutoFit/>
                </a:bodyPr>
                <a:lstStyle/>
                <a:p>
                  <a:r>
                    <a:rPr lang="en-US" altLang="zh-CN" sz="2400" dirty="0">
                      <a:solidFill>
                        <a:srgbClr val="708265"/>
                      </a:solidFill>
                      <a:latin typeface="Impact" panose="020B0806030902050204" pitchFamily="34" charset="0"/>
                      <a:ea typeface="微软雅黑 Light" panose="020B0502040204020203" pitchFamily="34" charset="-122"/>
                    </a:rPr>
                    <a:t>CHAPTER</a:t>
                  </a:r>
                  <a:endParaRPr lang="zh-CN" altLang="en-US" sz="2400" dirty="0">
                    <a:solidFill>
                      <a:srgbClr val="708265"/>
                    </a:solidFill>
                    <a:latin typeface="Impact" panose="020B0806030902050204" pitchFamily="34" charset="0"/>
                    <a:ea typeface="微软雅黑 Light" panose="020B0502040204020203" pitchFamily="34" charset="-122"/>
                  </a:endParaRPr>
                </a:p>
              </p:txBody>
            </p:sp>
            <p:sp>
              <p:nvSpPr>
                <p:cNvPr id="29" name="文本框 28"/>
                <p:cNvSpPr txBox="1"/>
                <p:nvPr/>
              </p:nvSpPr>
              <p:spPr>
                <a:xfrm>
                  <a:off x="3053227" y="2938055"/>
                  <a:ext cx="2088107" cy="646331"/>
                </a:xfrm>
                <a:prstGeom prst="rect">
                  <a:avLst/>
                </a:prstGeom>
                <a:noFill/>
              </p:spPr>
              <p:txBody>
                <a:bodyPr wrap="square" rtlCol="0">
                  <a:spAutoFit/>
                </a:bodyPr>
                <a:lstStyle/>
                <a:p>
                  <a:r>
                    <a:rPr lang="zh-CN" altLang="en-US" sz="3600" dirty="0">
                      <a:solidFill>
                        <a:srgbClr val="708265"/>
                      </a:solidFill>
                      <a:latin typeface="方正清刻本悦宋简体" panose="02000000000000000000" pitchFamily="2" charset="-122"/>
                      <a:ea typeface="方正清刻本悦宋简体" panose="02000000000000000000" pitchFamily="2" charset="-122"/>
                    </a:rPr>
                    <a:t>第三章</a:t>
                  </a:r>
                </a:p>
              </p:txBody>
            </p:sp>
          </p:grpSp>
          <p:sp>
            <p:nvSpPr>
              <p:cNvPr id="26" name="L 形 25"/>
              <p:cNvSpPr/>
              <p:nvPr/>
            </p:nvSpPr>
            <p:spPr>
              <a:xfrm rot="2493705" flipH="1" flipV="1">
                <a:off x="4575036" y="3364836"/>
                <a:ext cx="54243" cy="54244"/>
              </a:xfrm>
              <a:prstGeom prst="corner">
                <a:avLst>
                  <a:gd name="adj1" fmla="val 15149"/>
                  <a:gd name="adj2" fmla="val 17140"/>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L 形 26"/>
              <p:cNvSpPr/>
              <p:nvPr/>
            </p:nvSpPr>
            <p:spPr>
              <a:xfrm rot="2493705" flipH="1" flipV="1">
                <a:off x="4649233" y="3364836"/>
                <a:ext cx="54243" cy="54244"/>
              </a:xfrm>
              <a:prstGeom prst="corner">
                <a:avLst>
                  <a:gd name="adj1" fmla="val 15149"/>
                  <a:gd name="adj2" fmla="val 17140"/>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0" name="文本框 16"/>
          <p:cNvSpPr txBox="1">
            <a:spLocks noChangeArrowheads="1"/>
          </p:cNvSpPr>
          <p:nvPr/>
        </p:nvSpPr>
        <p:spPr bwMode="auto">
          <a:xfrm>
            <a:off x="6799945" y="4327099"/>
            <a:ext cx="24929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经典进程的同步问题</a:t>
            </a:r>
          </a:p>
        </p:txBody>
      </p:sp>
      <p:sp>
        <p:nvSpPr>
          <p:cNvPr id="31" name="文本框 22"/>
          <p:cNvSpPr txBox="1"/>
          <p:nvPr/>
        </p:nvSpPr>
        <p:spPr>
          <a:xfrm>
            <a:off x="6274484" y="4303644"/>
            <a:ext cx="751308"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5</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32" name="文本框 16"/>
          <p:cNvSpPr txBox="1">
            <a:spLocks noChangeArrowheads="1"/>
          </p:cNvSpPr>
          <p:nvPr/>
        </p:nvSpPr>
        <p:spPr bwMode="auto">
          <a:xfrm>
            <a:off x="6789187" y="4800451"/>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进程通信</a:t>
            </a:r>
          </a:p>
        </p:txBody>
      </p:sp>
      <p:sp>
        <p:nvSpPr>
          <p:cNvPr id="33" name="文本框 22"/>
          <p:cNvSpPr txBox="1"/>
          <p:nvPr/>
        </p:nvSpPr>
        <p:spPr>
          <a:xfrm>
            <a:off x="6263726" y="4776996"/>
            <a:ext cx="751308"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6</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429807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0" name="组合 29"/>
          <p:cNvGrpSpPr/>
          <p:nvPr/>
        </p:nvGrpSpPr>
        <p:grpSpPr>
          <a:xfrm>
            <a:off x="2729551" y="1483991"/>
            <a:ext cx="6989586" cy="1104503"/>
            <a:chOff x="3621789" y="2876749"/>
            <a:chExt cx="547141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进程通信</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62178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3.6</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17" name="文本框 21"/>
          <p:cNvSpPr txBox="1">
            <a:spLocks noChangeArrowheads="1"/>
          </p:cNvSpPr>
          <p:nvPr/>
        </p:nvSpPr>
        <p:spPr bwMode="auto">
          <a:xfrm>
            <a:off x="2439935" y="3258781"/>
            <a:ext cx="7279201" cy="1353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200000"/>
              </a:lnSpc>
            </a:pPr>
            <a:r>
              <a:rPr lang="zh-CN" altLang="zh-CN" sz="2400" b="1" dirty="0">
                <a:solidFill>
                  <a:srgbClr val="505050"/>
                </a:solidFill>
                <a:latin typeface="微软雅黑" panose="020B0503020204020204" pitchFamily="34" charset="-122"/>
                <a:ea typeface="微软雅黑" panose="020B0503020204020204" pitchFamily="34" charset="-122"/>
              </a:rPr>
              <a:t>进程通信IPC</a:t>
            </a:r>
            <a:r>
              <a:rPr lang="en-US" altLang="zh-CN" sz="2400" b="1" dirty="0">
                <a:solidFill>
                  <a:srgbClr val="505050"/>
                </a:solidFill>
                <a:latin typeface="微软雅黑" panose="020B0503020204020204" pitchFamily="34" charset="-122"/>
                <a:ea typeface="微软雅黑" panose="020B0503020204020204" pitchFamily="34" charset="-122"/>
              </a:rPr>
              <a:t>(</a:t>
            </a:r>
            <a:r>
              <a:rPr lang="zh-CN" altLang="zh-CN" sz="2400" b="1" dirty="0">
                <a:solidFill>
                  <a:srgbClr val="505050"/>
                </a:solidFill>
                <a:latin typeface="微软雅黑" panose="020B0503020204020204" pitchFamily="34" charset="-122"/>
                <a:ea typeface="微软雅黑" panose="020B0503020204020204" pitchFamily="34" charset="-122"/>
              </a:rPr>
              <a:t>Interprocess Communication</a:t>
            </a:r>
            <a:r>
              <a:rPr lang="en-US" altLang="zh-CN" sz="2400" b="1" dirty="0">
                <a:solidFill>
                  <a:srgbClr val="505050"/>
                </a:solidFill>
                <a:latin typeface="微软雅黑" panose="020B0503020204020204" pitchFamily="34" charset="-122"/>
                <a:ea typeface="微软雅黑" panose="020B0503020204020204" pitchFamily="34" charset="-122"/>
              </a:rPr>
              <a:t>)</a:t>
            </a:r>
            <a:r>
              <a:rPr lang="zh-CN" altLang="zh-CN" sz="2400" b="1" dirty="0">
                <a:solidFill>
                  <a:srgbClr val="505050"/>
                </a:solidFill>
                <a:latin typeface="微软雅黑" panose="020B0503020204020204" pitchFamily="34" charset="-122"/>
                <a:ea typeface="微软雅黑" panose="020B0503020204020204" pitchFamily="34" charset="-122"/>
              </a:rPr>
              <a:t>：</a:t>
            </a:r>
            <a:endParaRPr lang="en-US" altLang="zh-CN" sz="2400" b="1" dirty="0">
              <a:solidFill>
                <a:srgbClr val="505050"/>
              </a:solidFill>
              <a:latin typeface="微软雅黑" panose="020B0503020204020204" pitchFamily="34" charset="-122"/>
              <a:ea typeface="微软雅黑" panose="020B0503020204020204" pitchFamily="34" charset="-122"/>
            </a:endParaRPr>
          </a:p>
          <a:p>
            <a:pPr>
              <a:lnSpc>
                <a:spcPct val="200000"/>
              </a:lnSpc>
            </a:pPr>
            <a:r>
              <a:rPr lang="zh-CN" altLang="zh-CN" sz="2000" dirty="0">
                <a:latin typeface="楷体_GB2312" pitchFamily="49" charset="-122"/>
                <a:ea typeface="楷体_GB2312" pitchFamily="49" charset="-122"/>
              </a:rPr>
              <a:t>进程间的信息交换</a:t>
            </a:r>
            <a:endParaRPr lang="en-US" altLang="zh-CN" sz="2000" dirty="0">
              <a:latin typeface="楷体_GB2312" pitchFamily="49" charset="-122"/>
              <a:ea typeface="楷体_GB2312" pitchFamily="49" charset="-122"/>
            </a:endParaRPr>
          </a:p>
        </p:txBody>
      </p:sp>
    </p:spTree>
    <p:extLst>
      <p:ext uri="{BB962C8B-B14F-4D97-AF65-F5344CB8AC3E}">
        <p14:creationId xmlns:p14="http://schemas.microsoft.com/office/powerpoint/2010/main" val="417805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进程通信的类型</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2940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）低级通信</a:t>
            </a:r>
          </a:p>
        </p:txBody>
      </p:sp>
      <p:sp>
        <p:nvSpPr>
          <p:cNvPr id="12" name="文本框 54"/>
          <p:cNvSpPr txBox="1">
            <a:spLocks noChangeArrowheads="1"/>
          </p:cNvSpPr>
          <p:nvPr/>
        </p:nvSpPr>
        <p:spPr bwMode="auto">
          <a:xfrm>
            <a:off x="1150228" y="1982718"/>
            <a:ext cx="4529355" cy="961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sz="2000" b="1" dirty="0">
                <a:solidFill>
                  <a:srgbClr val="505050"/>
                </a:solidFill>
                <a:latin typeface="微软雅黑" panose="020B0503020204020204" pitchFamily="34" charset="-122"/>
                <a:ea typeface="微软雅黑" panose="020B0503020204020204" pitchFamily="34" charset="-122"/>
              </a:rPr>
              <a:t>少量的信息交换，没有专门的通信机制，如信号量机制</a:t>
            </a:r>
            <a:endParaRPr lang="zh-CN" altLang="en-US" sz="2000" b="1" dirty="0">
              <a:solidFill>
                <a:srgbClr val="505050"/>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64E4EE85-BF56-2EDE-E189-589E0F12EDA7}"/>
              </a:ext>
            </a:extLst>
          </p:cNvPr>
          <p:cNvSpPr/>
          <p:nvPr/>
        </p:nvSpPr>
        <p:spPr>
          <a:xfrm>
            <a:off x="6943579" y="162894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a:extLst>
              <a:ext uri="{FF2B5EF4-FFF2-40B4-BE49-F238E27FC236}">
                <a16:creationId xmlns:a16="http://schemas.microsoft.com/office/drawing/2014/main" id="{66D08D45-384B-5F21-D3D7-5CD80CEE8A82}"/>
              </a:ext>
            </a:extLst>
          </p:cNvPr>
          <p:cNvSpPr/>
          <p:nvPr/>
        </p:nvSpPr>
        <p:spPr>
          <a:xfrm>
            <a:off x="7851629" y="162894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文本框 55">
            <a:extLst>
              <a:ext uri="{FF2B5EF4-FFF2-40B4-BE49-F238E27FC236}">
                <a16:creationId xmlns:a16="http://schemas.microsoft.com/office/drawing/2014/main" id="{26D725AD-08A4-AE0F-EFB7-02B16DCAAF00}"/>
              </a:ext>
            </a:extLst>
          </p:cNvPr>
          <p:cNvSpPr txBox="1">
            <a:spLocks noChangeArrowheads="1"/>
          </p:cNvSpPr>
          <p:nvPr/>
        </p:nvSpPr>
        <p:spPr bwMode="auto">
          <a:xfrm>
            <a:off x="6797529" y="1095540"/>
            <a:ext cx="2940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）高级通信</a:t>
            </a:r>
          </a:p>
        </p:txBody>
      </p:sp>
      <p:sp>
        <p:nvSpPr>
          <p:cNvPr id="10" name="文本框 19">
            <a:extLst>
              <a:ext uri="{FF2B5EF4-FFF2-40B4-BE49-F238E27FC236}">
                <a16:creationId xmlns:a16="http://schemas.microsoft.com/office/drawing/2014/main" id="{A38F0C10-D939-9334-4A1D-9D4CE0AE3D4A}"/>
              </a:ext>
            </a:extLst>
          </p:cNvPr>
          <p:cNvSpPr txBox="1">
            <a:spLocks noChangeArrowheads="1"/>
          </p:cNvSpPr>
          <p:nvPr/>
        </p:nvSpPr>
        <p:spPr bwMode="auto">
          <a:xfrm>
            <a:off x="1150229" y="3341614"/>
            <a:ext cx="494577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t>效率低，一次一个消息</a:t>
            </a:r>
            <a:r>
              <a:rPr lang="zh-CN" altLang="en-US" sz="2400" dirty="0"/>
              <a:t>。</a:t>
            </a:r>
            <a:endParaRPr lang="en-US" altLang="zh-CN" sz="2400" dirty="0"/>
          </a:p>
          <a:p>
            <a:pPr marL="0" lvl="2" indent="0"/>
            <a:r>
              <a:rPr lang="en-US" altLang="zh-CN" sz="2400" dirty="0"/>
              <a:t>   </a:t>
            </a:r>
            <a:r>
              <a:rPr lang="zh-CN" altLang="en-US" sz="2400" dirty="0"/>
              <a:t>如：</a:t>
            </a:r>
            <a:r>
              <a:rPr lang="zh-CN" altLang="zh-CN" sz="2400" dirty="0"/>
              <a:t>生产者—消费者</a:t>
            </a:r>
          </a:p>
          <a:p>
            <a:pPr marL="0" lvl="2" indent="0"/>
            <a:endParaRPr lang="en-US" altLang="zh-CN" sz="2400" dirty="0"/>
          </a:p>
          <a:p>
            <a:pPr marL="0" lvl="2" indent="0">
              <a:buBlip>
                <a:blip r:embed="rId2"/>
              </a:buBlip>
            </a:pPr>
            <a:r>
              <a:rPr lang="zh-CN" altLang="zh-CN" sz="2400" dirty="0"/>
              <a:t>对用户不透明，用户事事亲为，OS只提供共享存储器。编写麻烦，不方便。</a:t>
            </a:r>
          </a:p>
          <a:p>
            <a:pPr marL="0" lvl="2" indent="0">
              <a:buBlip>
                <a:blip r:embed="rId2"/>
              </a:buBlip>
            </a:pPr>
            <a:endParaRPr lang="zh-CN" altLang="en-US" sz="2400" dirty="0"/>
          </a:p>
        </p:txBody>
      </p:sp>
      <p:sp>
        <p:nvSpPr>
          <p:cNvPr id="16" name="文本框 54">
            <a:extLst>
              <a:ext uri="{FF2B5EF4-FFF2-40B4-BE49-F238E27FC236}">
                <a16:creationId xmlns:a16="http://schemas.microsoft.com/office/drawing/2014/main" id="{E6D10E9B-9579-4659-FA30-0EC865BE648A}"/>
              </a:ext>
            </a:extLst>
          </p:cNvPr>
          <p:cNvSpPr txBox="1">
            <a:spLocks noChangeArrowheads="1"/>
          </p:cNvSpPr>
          <p:nvPr/>
        </p:nvSpPr>
        <p:spPr bwMode="auto">
          <a:xfrm>
            <a:off x="6943579" y="1993449"/>
            <a:ext cx="4529355" cy="961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sz="2000" b="1" dirty="0">
                <a:solidFill>
                  <a:srgbClr val="505050"/>
                </a:solidFill>
                <a:latin typeface="微软雅黑" panose="020B0503020204020204" pitchFamily="34" charset="-122"/>
                <a:ea typeface="微软雅黑" panose="020B0503020204020204" pitchFamily="34" charset="-122"/>
              </a:rPr>
              <a:t>大量的信息交换，有专门的通信机制，通信对用户透明</a:t>
            </a:r>
            <a:endParaRPr lang="zh-CN" altLang="en-US" sz="2000" b="1" dirty="0">
              <a:solidFill>
                <a:srgbClr val="50505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7417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进程通信的方式</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75860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a:t>
            </a:r>
            <a:r>
              <a:rPr lang="zh-CN" altLang="zh-CN" sz="2400" b="1" dirty="0">
                <a:solidFill>
                  <a:srgbClr val="4C7E51"/>
                </a:solidFill>
                <a:latin typeface="微软雅黑" panose="020B0503020204020204" pitchFamily="34" charset="-122"/>
                <a:ea typeface="微软雅黑" panose="020B0503020204020204" pitchFamily="34" charset="-122"/>
              </a:rPr>
              <a:t>共享存储器系统(Shared-Memory System) </a:t>
            </a:r>
            <a:endParaRPr lang="zh-CN" altLang="en-US" sz="2400" b="1" dirty="0">
              <a:solidFill>
                <a:srgbClr val="4C7E51"/>
              </a:solidFill>
              <a:latin typeface="微软雅黑" panose="020B0503020204020204" pitchFamily="34" charset="-122"/>
              <a:ea typeface="微软雅黑" panose="020B0503020204020204" pitchFamily="34" charset="-122"/>
            </a:endParaRPr>
          </a:p>
        </p:txBody>
      </p:sp>
      <p:sp>
        <p:nvSpPr>
          <p:cNvPr id="15" name="文本框 19"/>
          <p:cNvSpPr txBox="1">
            <a:spLocks noChangeArrowheads="1"/>
          </p:cNvSpPr>
          <p:nvPr/>
        </p:nvSpPr>
        <p:spPr bwMode="auto">
          <a:xfrm>
            <a:off x="1150228" y="2474753"/>
            <a:ext cx="50831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t>缺点：低效、适合传递少量数据 </a:t>
            </a:r>
            <a:endParaRPr lang="en-US" altLang="zh-CN" sz="2400" dirty="0"/>
          </a:p>
        </p:txBody>
      </p:sp>
      <p:sp>
        <p:nvSpPr>
          <p:cNvPr id="5" name="文本框 54">
            <a:extLst>
              <a:ext uri="{FF2B5EF4-FFF2-40B4-BE49-F238E27FC236}">
                <a16:creationId xmlns:a16="http://schemas.microsoft.com/office/drawing/2014/main" id="{5CEA2D3F-9E33-F87B-7519-C2C03999F89B}"/>
              </a:ext>
            </a:extLst>
          </p:cNvPr>
          <p:cNvSpPr txBox="1">
            <a:spLocks noChangeArrowheads="1"/>
          </p:cNvSpPr>
          <p:nvPr/>
        </p:nvSpPr>
        <p:spPr bwMode="auto">
          <a:xfrm>
            <a:off x="1150228" y="1828170"/>
            <a:ext cx="452935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b="1" dirty="0">
                <a:solidFill>
                  <a:srgbClr val="505050"/>
                </a:solidFill>
                <a:latin typeface="微软雅黑" panose="020B0503020204020204" pitchFamily="34" charset="-122"/>
                <a:ea typeface="微软雅黑" panose="020B0503020204020204" pitchFamily="34" charset="-122"/>
              </a:rPr>
              <a:t>基于共享数据结构的通信方式</a:t>
            </a:r>
            <a:endParaRPr lang="en-US" altLang="zh-CN" sz="2000" b="1" dirty="0">
              <a:solidFill>
                <a:srgbClr val="505050"/>
              </a:solidFill>
              <a:latin typeface="微软雅黑" panose="020B0503020204020204" pitchFamily="34" charset="-122"/>
              <a:ea typeface="微软雅黑" panose="020B0503020204020204" pitchFamily="34" charset="-122"/>
            </a:endParaRPr>
          </a:p>
        </p:txBody>
      </p:sp>
      <p:sp>
        <p:nvSpPr>
          <p:cNvPr id="6" name="文本框 54">
            <a:extLst>
              <a:ext uri="{FF2B5EF4-FFF2-40B4-BE49-F238E27FC236}">
                <a16:creationId xmlns:a16="http://schemas.microsoft.com/office/drawing/2014/main" id="{75A42151-7094-6EA5-3638-03895177CEFC}"/>
              </a:ext>
            </a:extLst>
          </p:cNvPr>
          <p:cNvSpPr txBox="1">
            <a:spLocks noChangeArrowheads="1"/>
          </p:cNvSpPr>
          <p:nvPr/>
        </p:nvSpPr>
        <p:spPr bwMode="auto">
          <a:xfrm>
            <a:off x="1150227" y="2987308"/>
            <a:ext cx="452935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b="1" dirty="0">
                <a:solidFill>
                  <a:srgbClr val="505050"/>
                </a:solidFill>
                <a:latin typeface="微软雅黑" panose="020B0503020204020204" pitchFamily="34" charset="-122"/>
                <a:ea typeface="微软雅黑" panose="020B0503020204020204" pitchFamily="34" charset="-122"/>
              </a:rPr>
              <a:t>基于共享</a:t>
            </a:r>
            <a:r>
              <a:rPr lang="zh-CN" altLang="en-US" sz="2000" b="1" dirty="0">
                <a:solidFill>
                  <a:srgbClr val="505050"/>
                </a:solidFill>
                <a:latin typeface="微软雅黑" panose="020B0503020204020204" pitchFamily="34" charset="-122"/>
                <a:ea typeface="微软雅黑" panose="020B0503020204020204" pitchFamily="34" charset="-122"/>
              </a:rPr>
              <a:t>存储区</a:t>
            </a:r>
            <a:r>
              <a:rPr lang="zh-CN" altLang="zh-CN" sz="2000" b="1" dirty="0">
                <a:solidFill>
                  <a:srgbClr val="505050"/>
                </a:solidFill>
                <a:latin typeface="微软雅黑" panose="020B0503020204020204" pitchFamily="34" charset="-122"/>
                <a:ea typeface="微软雅黑" panose="020B0503020204020204" pitchFamily="34" charset="-122"/>
              </a:rPr>
              <a:t>的通信方式</a:t>
            </a:r>
            <a:endParaRPr lang="en-US" altLang="zh-CN" sz="2000" b="1" dirty="0">
              <a:solidFill>
                <a:srgbClr val="505050"/>
              </a:solidFill>
              <a:latin typeface="微软雅黑" panose="020B0503020204020204" pitchFamily="34" charset="-122"/>
              <a:ea typeface="微软雅黑" panose="020B0503020204020204" pitchFamily="34" charset="-122"/>
            </a:endParaRPr>
          </a:p>
        </p:txBody>
      </p:sp>
      <p:grpSp>
        <p:nvGrpSpPr>
          <p:cNvPr id="12" name="Group 4">
            <a:extLst>
              <a:ext uri="{FF2B5EF4-FFF2-40B4-BE49-F238E27FC236}">
                <a16:creationId xmlns:a16="http://schemas.microsoft.com/office/drawing/2014/main" id="{06A280B2-EBB3-9D4E-7BE0-C4926BF6C12E}"/>
              </a:ext>
            </a:extLst>
          </p:cNvPr>
          <p:cNvGrpSpPr>
            <a:grpSpLocks/>
          </p:cNvGrpSpPr>
          <p:nvPr/>
        </p:nvGrpSpPr>
        <p:grpSpPr bwMode="auto">
          <a:xfrm>
            <a:off x="6233375" y="2436116"/>
            <a:ext cx="5181600" cy="4343400"/>
            <a:chOff x="0" y="0"/>
            <a:chExt cx="4990" cy="2392"/>
          </a:xfrm>
        </p:grpSpPr>
        <p:sp>
          <p:nvSpPr>
            <p:cNvPr id="13" name="Line 5">
              <a:extLst>
                <a:ext uri="{FF2B5EF4-FFF2-40B4-BE49-F238E27FC236}">
                  <a16:creationId xmlns:a16="http://schemas.microsoft.com/office/drawing/2014/main" id="{61BAB548-C450-F668-393C-09D32B0F010D}"/>
                </a:ext>
              </a:extLst>
            </p:cNvPr>
            <p:cNvSpPr>
              <a:spLocks noChangeShapeType="1"/>
            </p:cNvSpPr>
            <p:nvPr/>
          </p:nvSpPr>
          <p:spPr bwMode="auto">
            <a:xfrm flipV="1">
              <a:off x="3070" y="1535"/>
              <a:ext cx="840" cy="5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6">
              <a:extLst>
                <a:ext uri="{FF2B5EF4-FFF2-40B4-BE49-F238E27FC236}">
                  <a16:creationId xmlns:a16="http://schemas.microsoft.com/office/drawing/2014/main" id="{83BD00A0-9447-D495-D5BB-D49CFEE5C8D5}"/>
                </a:ext>
              </a:extLst>
            </p:cNvPr>
            <p:cNvSpPr>
              <a:spLocks noChangeShapeType="1"/>
            </p:cNvSpPr>
            <p:nvPr/>
          </p:nvSpPr>
          <p:spPr bwMode="auto">
            <a:xfrm flipV="1">
              <a:off x="3070" y="1083"/>
              <a:ext cx="84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Rectangle 7">
              <a:extLst>
                <a:ext uri="{FF2B5EF4-FFF2-40B4-BE49-F238E27FC236}">
                  <a16:creationId xmlns:a16="http://schemas.microsoft.com/office/drawing/2014/main" id="{8FA9C36F-4644-BA5E-D788-82F8A4B4072E}"/>
                </a:ext>
              </a:extLst>
            </p:cNvPr>
            <p:cNvSpPr>
              <a:spLocks noChangeArrowheads="1"/>
            </p:cNvSpPr>
            <p:nvPr/>
          </p:nvSpPr>
          <p:spPr bwMode="auto">
            <a:xfrm>
              <a:off x="0" y="0"/>
              <a:ext cx="1030" cy="23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1000">
                  <a:latin typeface="黑体" panose="02010609060101010101" pitchFamily="49" charset="-122"/>
                  <a:ea typeface="黑体" panose="02010609060101010101" pitchFamily="49" charset="-122"/>
                </a:rPr>
                <a:t> </a:t>
              </a:r>
              <a:r>
                <a:rPr lang="zh-CN" altLang="en-US" sz="2400">
                  <a:latin typeface="黑体" panose="02010609060101010101" pitchFamily="49" charset="-122"/>
                  <a:ea typeface="黑体" panose="02010609060101010101" pitchFamily="49" charset="-122"/>
                </a:rPr>
                <a:t>A正文</a:t>
              </a:r>
            </a:p>
            <a:p>
              <a:pPr algn="just">
                <a:spcBef>
                  <a:spcPct val="0"/>
                </a:spcBef>
                <a:buFontTx/>
                <a:buNone/>
              </a:pPr>
              <a:endParaRPr lang="zh-CN" altLang="en-US" sz="2400">
                <a:latin typeface="黑体" panose="02010609060101010101" pitchFamily="49" charset="-122"/>
                <a:ea typeface="黑体" panose="02010609060101010101" pitchFamily="49" charset="-122"/>
              </a:endParaRPr>
            </a:p>
            <a:p>
              <a:pPr algn="just">
                <a:spcBef>
                  <a:spcPct val="0"/>
                </a:spcBef>
                <a:buFontTx/>
                <a:buNone/>
              </a:pPr>
              <a:endParaRPr lang="zh-CN" altLang="en-US" sz="2400">
                <a:latin typeface="黑体" panose="02010609060101010101" pitchFamily="49" charset="-122"/>
                <a:ea typeface="黑体" panose="02010609060101010101" pitchFamily="49" charset="-122"/>
              </a:endParaRPr>
            </a:p>
            <a:p>
              <a:pPr algn="just">
                <a:spcBef>
                  <a:spcPct val="0"/>
                </a:spcBef>
                <a:buFontTx/>
                <a:buNone/>
              </a:pPr>
              <a:r>
                <a:rPr lang="zh-CN" altLang="en-US" sz="2400">
                  <a:latin typeface="黑体" panose="02010609060101010101" pitchFamily="49" charset="-122"/>
                  <a:ea typeface="黑体" panose="02010609060101010101" pitchFamily="49" charset="-122"/>
                </a:rPr>
                <a:t>A数据</a:t>
              </a:r>
            </a:p>
            <a:p>
              <a:pPr algn="just">
                <a:spcBef>
                  <a:spcPct val="0"/>
                </a:spcBef>
                <a:buFontTx/>
                <a:buNone/>
              </a:pPr>
              <a:endParaRPr lang="zh-CN" altLang="en-US" sz="2400">
                <a:latin typeface="黑体" panose="02010609060101010101" pitchFamily="49" charset="-122"/>
                <a:ea typeface="黑体" panose="02010609060101010101" pitchFamily="49" charset="-122"/>
              </a:endParaRPr>
            </a:p>
            <a:p>
              <a:pPr algn="just">
                <a:spcBef>
                  <a:spcPct val="0"/>
                </a:spcBef>
                <a:buFontTx/>
                <a:buNone/>
              </a:pPr>
              <a:endParaRPr lang="zh-CN" altLang="en-US" sz="2400">
                <a:latin typeface="黑体" panose="02010609060101010101" pitchFamily="49" charset="-122"/>
                <a:ea typeface="黑体" panose="02010609060101010101" pitchFamily="49" charset="-122"/>
              </a:endParaRPr>
            </a:p>
            <a:p>
              <a:pPr algn="just">
                <a:spcBef>
                  <a:spcPct val="0"/>
                </a:spcBef>
                <a:buFontTx/>
                <a:buNone/>
              </a:pPr>
              <a:endParaRPr lang="zh-CN" altLang="en-US" sz="2400">
                <a:latin typeface="黑体" panose="02010609060101010101" pitchFamily="49" charset="-122"/>
                <a:ea typeface="黑体" panose="02010609060101010101" pitchFamily="49" charset="-122"/>
              </a:endParaRPr>
            </a:p>
            <a:p>
              <a:pPr algn="just">
                <a:spcBef>
                  <a:spcPct val="0"/>
                </a:spcBef>
                <a:buFontTx/>
                <a:buNone/>
              </a:pPr>
              <a:endParaRPr lang="zh-CN" altLang="en-US" sz="2400">
                <a:latin typeface="黑体" panose="02010609060101010101" pitchFamily="49" charset="-122"/>
                <a:ea typeface="黑体" panose="02010609060101010101" pitchFamily="49" charset="-122"/>
              </a:endParaRPr>
            </a:p>
            <a:p>
              <a:pPr algn="just">
                <a:spcBef>
                  <a:spcPct val="0"/>
                </a:spcBef>
                <a:buFontTx/>
                <a:buNone/>
              </a:pPr>
              <a:r>
                <a:rPr lang="zh-CN" altLang="en-US" sz="2400">
                  <a:latin typeface="黑体" panose="02010609060101010101" pitchFamily="49" charset="-122"/>
                  <a:ea typeface="黑体" panose="02010609060101010101" pitchFamily="49" charset="-122"/>
                </a:rPr>
                <a:t> A栈</a:t>
              </a:r>
            </a:p>
          </p:txBody>
        </p:sp>
        <p:sp>
          <p:nvSpPr>
            <p:cNvPr id="17" name="Rectangle 8">
              <a:extLst>
                <a:ext uri="{FF2B5EF4-FFF2-40B4-BE49-F238E27FC236}">
                  <a16:creationId xmlns:a16="http://schemas.microsoft.com/office/drawing/2014/main" id="{D8F14325-4C26-EB65-EA21-18FC5DF5551C}"/>
                </a:ext>
              </a:extLst>
            </p:cNvPr>
            <p:cNvSpPr>
              <a:spLocks noChangeArrowheads="1"/>
            </p:cNvSpPr>
            <p:nvPr/>
          </p:nvSpPr>
          <p:spPr bwMode="auto">
            <a:xfrm>
              <a:off x="2110" y="0"/>
              <a:ext cx="960" cy="23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endParaRPr lang="zh-CN" altLang="zh-CN" sz="1000" dirty="0">
                <a:latin typeface="黑体" panose="02010609060101010101" pitchFamily="49" charset="-122"/>
                <a:ea typeface="黑体" panose="02010609060101010101" pitchFamily="49" charset="-122"/>
              </a:endParaRPr>
            </a:p>
            <a:p>
              <a:pPr algn="just">
                <a:spcBef>
                  <a:spcPct val="0"/>
                </a:spcBef>
                <a:buFontTx/>
                <a:buNone/>
              </a:pPr>
              <a:endParaRPr lang="zh-CN" altLang="zh-CN" sz="1000" dirty="0">
                <a:latin typeface="黑体" panose="02010609060101010101" pitchFamily="49" charset="-122"/>
                <a:ea typeface="黑体" panose="02010609060101010101" pitchFamily="49" charset="-122"/>
              </a:endParaRPr>
            </a:p>
            <a:p>
              <a:pPr algn="just">
                <a:spcBef>
                  <a:spcPct val="0"/>
                </a:spcBef>
                <a:buFontTx/>
                <a:buNone/>
              </a:pPr>
              <a:endParaRPr lang="zh-CN" altLang="zh-CN" sz="1000" dirty="0">
                <a:latin typeface="黑体" panose="02010609060101010101" pitchFamily="49" charset="-122"/>
                <a:ea typeface="黑体" panose="02010609060101010101" pitchFamily="49" charset="-122"/>
              </a:endParaRPr>
            </a:p>
            <a:p>
              <a:pPr algn="just">
                <a:spcBef>
                  <a:spcPct val="0"/>
                </a:spcBef>
                <a:buFontTx/>
                <a:buNone/>
              </a:pPr>
              <a:endParaRPr lang="zh-CN" altLang="zh-CN" sz="1000" dirty="0">
                <a:latin typeface="黑体" panose="02010609060101010101" pitchFamily="49" charset="-122"/>
                <a:ea typeface="黑体" panose="02010609060101010101" pitchFamily="49" charset="-122"/>
              </a:endParaRPr>
            </a:p>
            <a:p>
              <a:pPr algn="just">
                <a:spcBef>
                  <a:spcPct val="0"/>
                </a:spcBef>
                <a:buFontTx/>
                <a:buNone/>
              </a:pPr>
              <a:endParaRPr lang="zh-CN" altLang="zh-CN" sz="1000" dirty="0">
                <a:latin typeface="黑体" panose="02010609060101010101" pitchFamily="49" charset="-122"/>
                <a:ea typeface="黑体" panose="02010609060101010101" pitchFamily="49" charset="-122"/>
              </a:endParaRPr>
            </a:p>
            <a:p>
              <a:pPr algn="just">
                <a:spcBef>
                  <a:spcPct val="0"/>
                </a:spcBef>
                <a:buFontTx/>
                <a:buNone/>
              </a:pPr>
              <a:r>
                <a:rPr lang="zh-CN" altLang="zh-CN" sz="1000" dirty="0">
                  <a:latin typeface="黑体" panose="02010609060101010101" pitchFamily="49" charset="-122"/>
                  <a:ea typeface="黑体" panose="02010609060101010101" pitchFamily="49" charset="-122"/>
                </a:rPr>
                <a:t> </a:t>
              </a:r>
            </a:p>
            <a:p>
              <a:pPr algn="just">
                <a:spcBef>
                  <a:spcPct val="0"/>
                </a:spcBef>
                <a:buFontTx/>
                <a:buNone/>
              </a:pPr>
              <a:endParaRPr lang="zh-CN" altLang="zh-CN" sz="1000" dirty="0">
                <a:latin typeface="黑体" panose="02010609060101010101" pitchFamily="49" charset="-122"/>
                <a:ea typeface="黑体" panose="02010609060101010101" pitchFamily="49" charset="-122"/>
              </a:endParaRPr>
            </a:p>
            <a:p>
              <a:pPr algn="just">
                <a:spcBef>
                  <a:spcPct val="0"/>
                </a:spcBef>
                <a:buFontTx/>
                <a:buNone/>
              </a:pPr>
              <a:endParaRPr lang="zh-CN" altLang="zh-CN" sz="1000" dirty="0">
                <a:latin typeface="黑体" panose="02010609060101010101" pitchFamily="49" charset="-122"/>
                <a:ea typeface="黑体" panose="02010609060101010101" pitchFamily="49" charset="-122"/>
              </a:endParaRPr>
            </a:p>
            <a:p>
              <a:pPr algn="just">
                <a:spcBef>
                  <a:spcPct val="0"/>
                </a:spcBef>
                <a:buFontTx/>
                <a:buNone/>
              </a:pPr>
              <a:endParaRPr lang="zh-CN" altLang="zh-CN" sz="1000" dirty="0">
                <a:latin typeface="黑体" panose="02010609060101010101" pitchFamily="49" charset="-122"/>
                <a:ea typeface="黑体" panose="02010609060101010101" pitchFamily="49" charset="-122"/>
              </a:endParaRPr>
            </a:p>
            <a:p>
              <a:pPr algn="just">
                <a:spcBef>
                  <a:spcPct val="0"/>
                </a:spcBef>
                <a:buFontTx/>
                <a:buNone/>
              </a:pPr>
              <a:endParaRPr lang="zh-CN" altLang="zh-CN" sz="1000" dirty="0">
                <a:latin typeface="黑体" panose="02010609060101010101" pitchFamily="49" charset="-122"/>
                <a:ea typeface="黑体" panose="02010609060101010101" pitchFamily="49" charset="-122"/>
              </a:endParaRPr>
            </a:p>
            <a:p>
              <a:pPr algn="just">
                <a:spcBef>
                  <a:spcPct val="0"/>
                </a:spcBef>
                <a:buFontTx/>
                <a:buNone/>
              </a:pPr>
              <a:endParaRPr lang="zh-CN" altLang="zh-CN" sz="2400" dirty="0">
                <a:latin typeface="黑体" panose="02010609060101010101" pitchFamily="49" charset="-122"/>
                <a:ea typeface="黑体" panose="02010609060101010101" pitchFamily="49" charset="-122"/>
              </a:endParaRPr>
            </a:p>
            <a:p>
              <a:pPr algn="just">
                <a:spcBef>
                  <a:spcPct val="0"/>
                </a:spcBef>
                <a:buFontTx/>
                <a:buNone/>
              </a:pPr>
              <a:endParaRPr lang="zh-CN" altLang="zh-CN" sz="2400" dirty="0">
                <a:latin typeface="黑体" panose="02010609060101010101" pitchFamily="49" charset="-122"/>
                <a:ea typeface="黑体" panose="02010609060101010101" pitchFamily="49" charset="-122"/>
              </a:endParaRPr>
            </a:p>
            <a:p>
              <a:pPr algn="just">
                <a:spcBef>
                  <a:spcPct val="0"/>
                </a:spcBef>
                <a:buFontTx/>
                <a:buNone/>
              </a:pPr>
              <a:endParaRPr lang="zh-CN" altLang="zh-CN" sz="2400" dirty="0">
                <a:latin typeface="黑体" panose="02010609060101010101" pitchFamily="49" charset="-122"/>
                <a:ea typeface="黑体" panose="02010609060101010101" pitchFamily="49" charset="-122"/>
              </a:endParaRPr>
            </a:p>
            <a:p>
              <a:pPr algn="just">
                <a:spcBef>
                  <a:spcPct val="0"/>
                </a:spcBef>
                <a:buFontTx/>
                <a:buNone/>
              </a:pPr>
              <a:r>
                <a:rPr lang="zh-CN" altLang="zh-CN" sz="2400" dirty="0">
                  <a:latin typeface="黑体" panose="02010609060101010101" pitchFamily="49" charset="-122"/>
                  <a:ea typeface="黑体" panose="02010609060101010101" pitchFamily="49" charset="-122"/>
                </a:rPr>
                <a:t>共享</a:t>
              </a:r>
            </a:p>
            <a:p>
              <a:pPr algn="just">
                <a:spcBef>
                  <a:spcPct val="0"/>
                </a:spcBef>
                <a:buFontTx/>
                <a:buNone/>
              </a:pPr>
              <a:r>
                <a:rPr lang="zh-CN" altLang="zh-CN" sz="2400" dirty="0">
                  <a:latin typeface="黑体" panose="02010609060101010101" pitchFamily="49" charset="-122"/>
                  <a:ea typeface="黑体" panose="02010609060101010101" pitchFamily="49" charset="-122"/>
                </a:rPr>
                <a:t>存储器</a:t>
              </a:r>
              <a:endParaRPr lang="zh-CN" altLang="zh-CN" sz="1000" dirty="0">
                <a:latin typeface="黑体" panose="02010609060101010101" pitchFamily="49" charset="-122"/>
                <a:ea typeface="黑体" panose="02010609060101010101" pitchFamily="49" charset="-122"/>
              </a:endParaRPr>
            </a:p>
          </p:txBody>
        </p:sp>
        <p:sp>
          <p:nvSpPr>
            <p:cNvPr id="18" name="Line 9">
              <a:extLst>
                <a:ext uri="{FF2B5EF4-FFF2-40B4-BE49-F238E27FC236}">
                  <a16:creationId xmlns:a16="http://schemas.microsoft.com/office/drawing/2014/main" id="{A46CFBF1-0788-B5E3-0761-3DD0B3C8C045}"/>
                </a:ext>
              </a:extLst>
            </p:cNvPr>
            <p:cNvSpPr>
              <a:spLocks noChangeShapeType="1"/>
            </p:cNvSpPr>
            <p:nvPr/>
          </p:nvSpPr>
          <p:spPr bwMode="auto">
            <a:xfrm>
              <a:off x="2110" y="2129"/>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0">
              <a:extLst>
                <a:ext uri="{FF2B5EF4-FFF2-40B4-BE49-F238E27FC236}">
                  <a16:creationId xmlns:a16="http://schemas.microsoft.com/office/drawing/2014/main" id="{0580FA11-ADFD-339D-202A-FD16AE5BC7C0}"/>
                </a:ext>
              </a:extLst>
            </p:cNvPr>
            <p:cNvSpPr>
              <a:spLocks noChangeShapeType="1"/>
            </p:cNvSpPr>
            <p:nvPr/>
          </p:nvSpPr>
          <p:spPr bwMode="auto">
            <a:xfrm>
              <a:off x="2110" y="1431"/>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11">
              <a:extLst>
                <a:ext uri="{FF2B5EF4-FFF2-40B4-BE49-F238E27FC236}">
                  <a16:creationId xmlns:a16="http://schemas.microsoft.com/office/drawing/2014/main" id="{48FD32C8-E7C9-7425-F0D7-E19482A5B00A}"/>
                </a:ext>
              </a:extLst>
            </p:cNvPr>
            <p:cNvSpPr>
              <a:spLocks noChangeArrowheads="1"/>
            </p:cNvSpPr>
            <p:nvPr/>
          </p:nvSpPr>
          <p:spPr bwMode="auto">
            <a:xfrm>
              <a:off x="3910" y="0"/>
              <a:ext cx="1080" cy="2392"/>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zh-CN" sz="1000">
                  <a:latin typeface="黑体" panose="02010609060101010101" pitchFamily="49" charset="-122"/>
                  <a:ea typeface="黑体" panose="02010609060101010101" pitchFamily="49" charset="-122"/>
                </a:rPr>
                <a:t>  </a:t>
              </a:r>
              <a:r>
                <a:rPr lang="zh-CN" altLang="zh-CN" sz="2400">
                  <a:latin typeface="黑体" panose="02010609060101010101" pitchFamily="49" charset="-122"/>
                  <a:ea typeface="黑体" panose="02010609060101010101" pitchFamily="49" charset="-122"/>
                </a:rPr>
                <a:t>B正文</a:t>
              </a:r>
            </a:p>
            <a:p>
              <a:pPr algn="just">
                <a:spcBef>
                  <a:spcPct val="0"/>
                </a:spcBef>
                <a:buFontTx/>
                <a:buNone/>
              </a:pPr>
              <a:endParaRPr lang="zh-CN" altLang="zh-CN" sz="2400">
                <a:latin typeface="黑体" panose="02010609060101010101" pitchFamily="49" charset="-122"/>
                <a:ea typeface="黑体" panose="02010609060101010101" pitchFamily="49" charset="-122"/>
              </a:endParaRPr>
            </a:p>
            <a:p>
              <a:pPr algn="just">
                <a:spcBef>
                  <a:spcPct val="0"/>
                </a:spcBef>
                <a:buFontTx/>
                <a:buNone/>
              </a:pPr>
              <a:r>
                <a:rPr lang="zh-CN" altLang="zh-CN" sz="2400">
                  <a:latin typeface="黑体" panose="02010609060101010101" pitchFamily="49" charset="-122"/>
                  <a:ea typeface="黑体" panose="02010609060101010101" pitchFamily="49" charset="-122"/>
                </a:rPr>
                <a:t> </a:t>
              </a:r>
            </a:p>
            <a:p>
              <a:pPr algn="just">
                <a:spcBef>
                  <a:spcPct val="0"/>
                </a:spcBef>
                <a:buFontTx/>
                <a:buNone/>
              </a:pPr>
              <a:r>
                <a:rPr lang="zh-CN" altLang="zh-CN" sz="2400">
                  <a:latin typeface="黑体" panose="02010609060101010101" pitchFamily="49" charset="-122"/>
                  <a:ea typeface="黑体" panose="02010609060101010101" pitchFamily="49" charset="-122"/>
                </a:rPr>
                <a:t>B数据</a:t>
              </a:r>
            </a:p>
            <a:p>
              <a:pPr algn="just">
                <a:spcBef>
                  <a:spcPct val="0"/>
                </a:spcBef>
                <a:buFontTx/>
                <a:buNone/>
              </a:pPr>
              <a:endParaRPr lang="zh-CN" altLang="zh-CN" sz="2400">
                <a:latin typeface="黑体" panose="02010609060101010101" pitchFamily="49" charset="-122"/>
                <a:ea typeface="黑体" panose="02010609060101010101" pitchFamily="49" charset="-122"/>
              </a:endParaRPr>
            </a:p>
            <a:p>
              <a:pPr algn="just">
                <a:spcBef>
                  <a:spcPct val="0"/>
                </a:spcBef>
                <a:buFontTx/>
                <a:buNone/>
              </a:pPr>
              <a:endParaRPr lang="zh-CN" altLang="zh-CN" sz="2400">
                <a:latin typeface="黑体" panose="02010609060101010101" pitchFamily="49" charset="-122"/>
                <a:ea typeface="黑体" panose="02010609060101010101" pitchFamily="49" charset="-122"/>
              </a:endParaRPr>
            </a:p>
            <a:p>
              <a:pPr algn="just">
                <a:spcBef>
                  <a:spcPct val="0"/>
                </a:spcBef>
                <a:buFontTx/>
                <a:buNone/>
              </a:pPr>
              <a:endParaRPr lang="zh-CN" altLang="zh-CN" sz="2400">
                <a:latin typeface="黑体" panose="02010609060101010101" pitchFamily="49" charset="-122"/>
                <a:ea typeface="黑体" panose="02010609060101010101" pitchFamily="49" charset="-122"/>
              </a:endParaRPr>
            </a:p>
            <a:p>
              <a:pPr algn="just">
                <a:spcBef>
                  <a:spcPct val="0"/>
                </a:spcBef>
                <a:buFontTx/>
                <a:buNone/>
              </a:pPr>
              <a:endParaRPr lang="zh-CN" altLang="zh-CN" sz="2400">
                <a:latin typeface="黑体" panose="02010609060101010101" pitchFamily="49" charset="-122"/>
                <a:ea typeface="黑体" panose="02010609060101010101" pitchFamily="49" charset="-122"/>
              </a:endParaRPr>
            </a:p>
            <a:p>
              <a:pPr algn="just">
                <a:spcBef>
                  <a:spcPct val="0"/>
                </a:spcBef>
                <a:buFontTx/>
                <a:buNone/>
              </a:pPr>
              <a:r>
                <a:rPr lang="zh-CN" altLang="zh-CN" sz="2400">
                  <a:latin typeface="黑体" panose="02010609060101010101" pitchFamily="49" charset="-122"/>
                  <a:ea typeface="黑体" panose="02010609060101010101" pitchFamily="49" charset="-122"/>
                </a:rPr>
                <a:t>  B栈</a:t>
              </a:r>
            </a:p>
          </p:txBody>
        </p:sp>
        <p:sp>
          <p:nvSpPr>
            <p:cNvPr id="21" name="Line 12">
              <a:extLst>
                <a:ext uri="{FF2B5EF4-FFF2-40B4-BE49-F238E27FC236}">
                  <a16:creationId xmlns:a16="http://schemas.microsoft.com/office/drawing/2014/main" id="{EB8D6605-3951-E7E2-B41D-0C8ED7D9603C}"/>
                </a:ext>
              </a:extLst>
            </p:cNvPr>
            <p:cNvSpPr>
              <a:spLocks noChangeShapeType="1"/>
            </p:cNvSpPr>
            <p:nvPr/>
          </p:nvSpPr>
          <p:spPr bwMode="auto">
            <a:xfrm>
              <a:off x="70" y="489"/>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3">
              <a:extLst>
                <a:ext uri="{FF2B5EF4-FFF2-40B4-BE49-F238E27FC236}">
                  <a16:creationId xmlns:a16="http://schemas.microsoft.com/office/drawing/2014/main" id="{1257C09E-E4D2-6545-8077-EA3EAC6524D4}"/>
                </a:ext>
              </a:extLst>
            </p:cNvPr>
            <p:cNvSpPr>
              <a:spLocks noChangeShapeType="1"/>
            </p:cNvSpPr>
            <p:nvPr/>
          </p:nvSpPr>
          <p:spPr bwMode="auto">
            <a:xfrm>
              <a:off x="70" y="1083"/>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14">
              <a:extLst>
                <a:ext uri="{FF2B5EF4-FFF2-40B4-BE49-F238E27FC236}">
                  <a16:creationId xmlns:a16="http://schemas.microsoft.com/office/drawing/2014/main" id="{A607D0FD-D11D-7073-CB74-75BDD6B31E20}"/>
                </a:ext>
              </a:extLst>
            </p:cNvPr>
            <p:cNvSpPr>
              <a:spLocks noChangeShapeType="1"/>
            </p:cNvSpPr>
            <p:nvPr/>
          </p:nvSpPr>
          <p:spPr bwMode="auto">
            <a:xfrm>
              <a:off x="70" y="1535"/>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15">
              <a:extLst>
                <a:ext uri="{FF2B5EF4-FFF2-40B4-BE49-F238E27FC236}">
                  <a16:creationId xmlns:a16="http://schemas.microsoft.com/office/drawing/2014/main" id="{DBBC60C0-C43A-0AE1-333E-20634789F7BB}"/>
                </a:ext>
              </a:extLst>
            </p:cNvPr>
            <p:cNvSpPr>
              <a:spLocks noChangeShapeType="1"/>
            </p:cNvSpPr>
            <p:nvPr/>
          </p:nvSpPr>
          <p:spPr bwMode="auto">
            <a:xfrm>
              <a:off x="70" y="2025"/>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16">
              <a:extLst>
                <a:ext uri="{FF2B5EF4-FFF2-40B4-BE49-F238E27FC236}">
                  <a16:creationId xmlns:a16="http://schemas.microsoft.com/office/drawing/2014/main" id="{EB78B3B0-C6AB-32D8-7272-E5BE219DA102}"/>
                </a:ext>
              </a:extLst>
            </p:cNvPr>
            <p:cNvSpPr>
              <a:spLocks noChangeShapeType="1"/>
            </p:cNvSpPr>
            <p:nvPr/>
          </p:nvSpPr>
          <p:spPr bwMode="auto">
            <a:xfrm>
              <a:off x="3910" y="489"/>
              <a:ext cx="10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7">
              <a:extLst>
                <a:ext uri="{FF2B5EF4-FFF2-40B4-BE49-F238E27FC236}">
                  <a16:creationId xmlns:a16="http://schemas.microsoft.com/office/drawing/2014/main" id="{1C83BE31-6475-34D7-3CCE-1A4420966A78}"/>
                </a:ext>
              </a:extLst>
            </p:cNvPr>
            <p:cNvSpPr>
              <a:spLocks noChangeShapeType="1"/>
            </p:cNvSpPr>
            <p:nvPr/>
          </p:nvSpPr>
          <p:spPr bwMode="auto">
            <a:xfrm>
              <a:off x="3910" y="1083"/>
              <a:ext cx="10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18">
              <a:extLst>
                <a:ext uri="{FF2B5EF4-FFF2-40B4-BE49-F238E27FC236}">
                  <a16:creationId xmlns:a16="http://schemas.microsoft.com/office/drawing/2014/main" id="{A5B0D1ED-6248-6F6C-CE6B-2A00C4C3F21A}"/>
                </a:ext>
              </a:extLst>
            </p:cNvPr>
            <p:cNvSpPr>
              <a:spLocks noChangeShapeType="1"/>
            </p:cNvSpPr>
            <p:nvPr/>
          </p:nvSpPr>
          <p:spPr bwMode="auto">
            <a:xfrm>
              <a:off x="3910" y="1535"/>
              <a:ext cx="10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19">
              <a:extLst>
                <a:ext uri="{FF2B5EF4-FFF2-40B4-BE49-F238E27FC236}">
                  <a16:creationId xmlns:a16="http://schemas.microsoft.com/office/drawing/2014/main" id="{9CDF0900-7D9D-870D-92E5-5D6ADA2D788F}"/>
                </a:ext>
              </a:extLst>
            </p:cNvPr>
            <p:cNvSpPr>
              <a:spLocks noChangeShapeType="1"/>
            </p:cNvSpPr>
            <p:nvPr/>
          </p:nvSpPr>
          <p:spPr bwMode="auto">
            <a:xfrm>
              <a:off x="3910" y="2129"/>
              <a:ext cx="10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0">
              <a:extLst>
                <a:ext uri="{FF2B5EF4-FFF2-40B4-BE49-F238E27FC236}">
                  <a16:creationId xmlns:a16="http://schemas.microsoft.com/office/drawing/2014/main" id="{A750C6A6-A941-3DC4-E9E7-F17BD9ECA86B}"/>
                </a:ext>
              </a:extLst>
            </p:cNvPr>
            <p:cNvSpPr>
              <a:spLocks noChangeShapeType="1"/>
            </p:cNvSpPr>
            <p:nvPr/>
          </p:nvSpPr>
          <p:spPr bwMode="auto">
            <a:xfrm flipH="1" flipV="1">
              <a:off x="1030" y="1083"/>
              <a:ext cx="108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21">
              <a:extLst>
                <a:ext uri="{FF2B5EF4-FFF2-40B4-BE49-F238E27FC236}">
                  <a16:creationId xmlns:a16="http://schemas.microsoft.com/office/drawing/2014/main" id="{2F84E6CD-3CF7-9EFD-84DB-FF8099140C3B}"/>
                </a:ext>
              </a:extLst>
            </p:cNvPr>
            <p:cNvSpPr>
              <a:spLocks noChangeShapeType="1"/>
            </p:cNvSpPr>
            <p:nvPr/>
          </p:nvSpPr>
          <p:spPr bwMode="auto">
            <a:xfrm flipH="1" flipV="1">
              <a:off x="1030" y="1535"/>
              <a:ext cx="1080" cy="5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1" name="矩形 21">
            <a:extLst>
              <a:ext uri="{FF2B5EF4-FFF2-40B4-BE49-F238E27FC236}">
                <a16:creationId xmlns:a16="http://schemas.microsoft.com/office/drawing/2014/main" id="{EA5564F4-1BD3-4F84-BE50-906387FBD5AB}"/>
              </a:ext>
            </a:extLst>
          </p:cNvPr>
          <p:cNvSpPr>
            <a:spLocks noChangeArrowheads="1"/>
          </p:cNvSpPr>
          <p:nvPr/>
        </p:nvSpPr>
        <p:spPr bwMode="auto">
          <a:xfrm>
            <a:off x="6233375" y="1568316"/>
            <a:ext cx="10262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dirty="0">
                <a:solidFill>
                  <a:srgbClr val="800000"/>
                </a:solidFill>
              </a:rPr>
              <a:t>进程</a:t>
            </a:r>
            <a:r>
              <a:rPr lang="en-US" altLang="zh-CN" dirty="0">
                <a:solidFill>
                  <a:srgbClr val="800000"/>
                </a:solidFill>
              </a:rPr>
              <a:t>A</a:t>
            </a:r>
            <a:endParaRPr lang="zh-CN" altLang="en-US" dirty="0">
              <a:solidFill>
                <a:srgbClr val="800000"/>
              </a:solidFill>
            </a:endParaRPr>
          </a:p>
        </p:txBody>
      </p:sp>
      <p:sp>
        <p:nvSpPr>
          <p:cNvPr id="32" name="矩形 21">
            <a:extLst>
              <a:ext uri="{FF2B5EF4-FFF2-40B4-BE49-F238E27FC236}">
                <a16:creationId xmlns:a16="http://schemas.microsoft.com/office/drawing/2014/main" id="{FB3153DC-1697-9A4E-5FE9-89F5FC142386}"/>
              </a:ext>
            </a:extLst>
          </p:cNvPr>
          <p:cNvSpPr>
            <a:spLocks noChangeArrowheads="1"/>
          </p:cNvSpPr>
          <p:nvPr/>
        </p:nvSpPr>
        <p:spPr bwMode="auto">
          <a:xfrm>
            <a:off x="10341118" y="1568315"/>
            <a:ext cx="10086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dirty="0">
                <a:solidFill>
                  <a:srgbClr val="800000"/>
                </a:solidFill>
              </a:rPr>
              <a:t>进程</a:t>
            </a:r>
            <a:r>
              <a:rPr lang="en-US" altLang="zh-CN" dirty="0">
                <a:solidFill>
                  <a:srgbClr val="800000"/>
                </a:solidFill>
              </a:rPr>
              <a:t>B</a:t>
            </a:r>
            <a:endParaRPr lang="zh-CN" altLang="en-US" dirty="0">
              <a:solidFill>
                <a:srgbClr val="800000"/>
              </a:solidFill>
            </a:endParaRPr>
          </a:p>
        </p:txBody>
      </p:sp>
      <p:sp>
        <p:nvSpPr>
          <p:cNvPr id="33" name="Text Box 38">
            <a:extLst>
              <a:ext uri="{FF2B5EF4-FFF2-40B4-BE49-F238E27FC236}">
                <a16:creationId xmlns:a16="http://schemas.microsoft.com/office/drawing/2014/main" id="{C5D55502-A525-25F8-E6C1-D3AF0C2A3150}"/>
              </a:ext>
            </a:extLst>
          </p:cNvPr>
          <p:cNvSpPr txBox="1">
            <a:spLocks noChangeArrowheads="1"/>
          </p:cNvSpPr>
          <p:nvPr/>
        </p:nvSpPr>
        <p:spPr bwMode="auto">
          <a:xfrm>
            <a:off x="6233375" y="1951789"/>
            <a:ext cx="1143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zh-CN" altLang="en-US" sz="2200" b="0" dirty="0"/>
              <a:t>虚空间</a:t>
            </a:r>
          </a:p>
        </p:txBody>
      </p:sp>
      <p:sp>
        <p:nvSpPr>
          <p:cNvPr id="34" name="Text Box 38">
            <a:extLst>
              <a:ext uri="{FF2B5EF4-FFF2-40B4-BE49-F238E27FC236}">
                <a16:creationId xmlns:a16="http://schemas.microsoft.com/office/drawing/2014/main" id="{A36846C5-D2F0-8769-F705-8B430D5C2FDF}"/>
              </a:ext>
            </a:extLst>
          </p:cNvPr>
          <p:cNvSpPr txBox="1">
            <a:spLocks noChangeArrowheads="1"/>
          </p:cNvSpPr>
          <p:nvPr/>
        </p:nvSpPr>
        <p:spPr bwMode="auto">
          <a:xfrm>
            <a:off x="10273922" y="1994280"/>
            <a:ext cx="1143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zh-CN" altLang="en-US" sz="2200" b="0" dirty="0"/>
              <a:t>虚空间</a:t>
            </a:r>
          </a:p>
        </p:txBody>
      </p:sp>
      <p:sp>
        <p:nvSpPr>
          <p:cNvPr id="35" name="Text Box 38">
            <a:extLst>
              <a:ext uri="{FF2B5EF4-FFF2-40B4-BE49-F238E27FC236}">
                <a16:creationId xmlns:a16="http://schemas.microsoft.com/office/drawing/2014/main" id="{3BBF4B1F-4BE2-0B4B-5F15-840D15220BBE}"/>
              </a:ext>
            </a:extLst>
          </p:cNvPr>
          <p:cNvSpPr txBox="1">
            <a:spLocks noChangeArrowheads="1"/>
          </p:cNvSpPr>
          <p:nvPr/>
        </p:nvSpPr>
        <p:spPr bwMode="auto">
          <a:xfrm>
            <a:off x="8316166" y="1923698"/>
            <a:ext cx="13207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zh-CN" altLang="en-US" sz="2200" b="0" dirty="0"/>
              <a:t>内存空间</a:t>
            </a:r>
          </a:p>
        </p:txBody>
      </p:sp>
    </p:spTree>
    <p:extLst>
      <p:ext uri="{BB962C8B-B14F-4D97-AF65-F5344CB8AC3E}">
        <p14:creationId xmlns:p14="http://schemas.microsoft.com/office/powerpoint/2010/main" val="278808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进程通信的方式</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75860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）管道</a:t>
            </a:r>
            <a:r>
              <a:rPr lang="zh-CN" altLang="zh-CN" sz="2400" b="1" dirty="0">
                <a:solidFill>
                  <a:srgbClr val="4C7E51"/>
                </a:solidFill>
                <a:latin typeface="微软雅黑" panose="020B0503020204020204" pitchFamily="34" charset="-122"/>
                <a:ea typeface="微软雅黑" panose="020B0503020204020204" pitchFamily="34" charset="-122"/>
              </a:rPr>
              <a:t>(Pipe)</a:t>
            </a:r>
            <a:r>
              <a:rPr lang="zh-CN" altLang="en-US" sz="2400" b="1" dirty="0">
                <a:solidFill>
                  <a:srgbClr val="4C7E51"/>
                </a:solidFill>
                <a:latin typeface="微软雅黑" panose="020B0503020204020204" pitchFamily="34" charset="-122"/>
                <a:ea typeface="微软雅黑" panose="020B0503020204020204" pitchFamily="34" charset="-122"/>
              </a:rPr>
              <a:t>通信</a:t>
            </a:r>
          </a:p>
        </p:txBody>
      </p:sp>
      <p:sp>
        <p:nvSpPr>
          <p:cNvPr id="15" name="文本框 19"/>
          <p:cNvSpPr txBox="1">
            <a:spLocks noChangeArrowheads="1"/>
          </p:cNvSpPr>
          <p:nvPr/>
        </p:nvSpPr>
        <p:spPr bwMode="auto">
          <a:xfrm>
            <a:off x="1150227" y="2367356"/>
            <a:ext cx="94397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t>所谓“管道”，是指用于连接一个读进程和一个写进程以实现他们之间通信的一个共享文件，又名pipe文件。 </a:t>
            </a:r>
            <a:endParaRPr lang="en-US" altLang="zh-CN" sz="2400" dirty="0"/>
          </a:p>
        </p:txBody>
      </p:sp>
      <p:pic>
        <p:nvPicPr>
          <p:cNvPr id="7" name="图片 1">
            <a:extLst>
              <a:ext uri="{FF2B5EF4-FFF2-40B4-BE49-F238E27FC236}">
                <a16:creationId xmlns:a16="http://schemas.microsoft.com/office/drawing/2014/main" id="{204B6C48-6F0A-F346-BBD9-00078F15A2F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7881" y="5260559"/>
            <a:ext cx="8950667"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descr="E:\仝德志文件\03-参考资料\！仝个人\！PPT图片及版面资源\06-PPT精选插图\04-图标\B74562C27852F06F2A430A94546B4851.png">
            <a:extLst>
              <a:ext uri="{FF2B5EF4-FFF2-40B4-BE49-F238E27FC236}">
                <a16:creationId xmlns:a16="http://schemas.microsoft.com/office/drawing/2014/main" id="{9839DDA1-1A25-1DBD-E8DB-CCDC352EBDB6}"/>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9312275" y="4652946"/>
            <a:ext cx="2879725" cy="216024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54">
            <a:extLst>
              <a:ext uri="{FF2B5EF4-FFF2-40B4-BE49-F238E27FC236}">
                <a16:creationId xmlns:a16="http://schemas.microsoft.com/office/drawing/2014/main" id="{2583675A-144A-4653-2AA4-B53A93F828C1}"/>
              </a:ext>
            </a:extLst>
          </p:cNvPr>
          <p:cNvSpPr txBox="1">
            <a:spLocks noChangeArrowheads="1"/>
          </p:cNvSpPr>
          <p:nvPr/>
        </p:nvSpPr>
        <p:spPr bwMode="auto">
          <a:xfrm>
            <a:off x="1150227" y="1828170"/>
            <a:ext cx="1024757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a:solidFill>
                  <a:srgbClr val="505050"/>
                </a:solidFill>
                <a:latin typeface="微软雅黑" panose="020B0503020204020204" pitchFamily="34" charset="-122"/>
                <a:ea typeface="微软雅黑" panose="020B0503020204020204" pitchFamily="34" charset="-122"/>
              </a:rPr>
              <a:t>定义：</a:t>
            </a:r>
            <a:endParaRPr lang="en-US" altLang="zh-CN" sz="2000" b="1" dirty="0">
              <a:solidFill>
                <a:srgbClr val="505050"/>
              </a:solidFill>
              <a:latin typeface="微软雅黑" panose="020B0503020204020204" pitchFamily="34" charset="-122"/>
              <a:ea typeface="微软雅黑" panose="020B0503020204020204" pitchFamily="34" charset="-122"/>
            </a:endParaRPr>
          </a:p>
        </p:txBody>
      </p:sp>
      <p:sp>
        <p:nvSpPr>
          <p:cNvPr id="11" name="文本框 54">
            <a:extLst>
              <a:ext uri="{FF2B5EF4-FFF2-40B4-BE49-F238E27FC236}">
                <a16:creationId xmlns:a16="http://schemas.microsoft.com/office/drawing/2014/main" id="{D69CDA32-F801-365B-C5FA-63DD47358018}"/>
              </a:ext>
            </a:extLst>
          </p:cNvPr>
          <p:cNvSpPr txBox="1">
            <a:spLocks noChangeArrowheads="1"/>
          </p:cNvSpPr>
          <p:nvPr/>
        </p:nvSpPr>
        <p:spPr bwMode="auto">
          <a:xfrm>
            <a:off x="1150227" y="3257767"/>
            <a:ext cx="452935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a:solidFill>
                  <a:srgbClr val="505050"/>
                </a:solidFill>
                <a:latin typeface="微软雅黑" panose="020B0503020204020204" pitchFamily="34" charset="-122"/>
                <a:ea typeface="微软雅黑" panose="020B0503020204020204" pitchFamily="34" charset="-122"/>
              </a:rPr>
              <a:t>协调：</a:t>
            </a:r>
            <a:endParaRPr lang="en-US" altLang="zh-CN" sz="2000" b="1" dirty="0">
              <a:solidFill>
                <a:srgbClr val="505050"/>
              </a:solidFill>
              <a:latin typeface="微软雅黑" panose="020B0503020204020204" pitchFamily="34" charset="-122"/>
              <a:ea typeface="微软雅黑" panose="020B0503020204020204" pitchFamily="34" charset="-122"/>
            </a:endParaRPr>
          </a:p>
        </p:txBody>
      </p:sp>
      <p:sp>
        <p:nvSpPr>
          <p:cNvPr id="36" name="文本框 19">
            <a:extLst>
              <a:ext uri="{FF2B5EF4-FFF2-40B4-BE49-F238E27FC236}">
                <a16:creationId xmlns:a16="http://schemas.microsoft.com/office/drawing/2014/main" id="{152A6867-3245-8721-E755-FC68E53FB588}"/>
              </a:ext>
            </a:extLst>
          </p:cNvPr>
          <p:cNvSpPr txBox="1">
            <a:spLocks noChangeArrowheads="1"/>
          </p:cNvSpPr>
          <p:nvPr/>
        </p:nvSpPr>
        <p:spPr bwMode="auto">
          <a:xfrm>
            <a:off x="1163105" y="3906294"/>
            <a:ext cx="943976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互斥：读时不写，写时不读</a:t>
            </a:r>
            <a:endParaRPr lang="en-US" altLang="zh-CN" sz="2400" dirty="0"/>
          </a:p>
          <a:p>
            <a:pPr marL="0" lvl="2" indent="0">
              <a:buBlip>
                <a:blip r:embed="rId2"/>
              </a:buBlip>
            </a:pPr>
            <a:r>
              <a:rPr lang="zh-CN" altLang="en-US" sz="2400" dirty="0"/>
              <a:t>同步：协调读写速度等问题</a:t>
            </a:r>
            <a:endParaRPr lang="en-US" altLang="zh-CN" sz="2400" dirty="0"/>
          </a:p>
          <a:p>
            <a:pPr marL="0" lvl="2" indent="0">
              <a:buBlip>
                <a:blip r:embed="rId2"/>
              </a:buBlip>
            </a:pPr>
            <a:r>
              <a:rPr lang="zh-CN" altLang="en-US" sz="2400" dirty="0"/>
              <a:t>确定对方是否存在：只有确定对方已存在时才能进行通信</a:t>
            </a:r>
            <a:endParaRPr lang="en-US" altLang="zh-CN" sz="2400" dirty="0"/>
          </a:p>
        </p:txBody>
      </p:sp>
    </p:spTree>
    <p:extLst>
      <p:ext uri="{BB962C8B-B14F-4D97-AF65-F5344CB8AC3E}">
        <p14:creationId xmlns:p14="http://schemas.microsoft.com/office/powerpoint/2010/main" val="423859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strips(downLeft)">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进程通信的方式</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75860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）消息传递系统</a:t>
            </a:r>
            <a:r>
              <a:rPr lang="zh-CN" altLang="zh-CN" sz="2400" b="1" dirty="0">
                <a:solidFill>
                  <a:srgbClr val="4C7E51"/>
                </a:solidFill>
                <a:latin typeface="微软雅黑" panose="020B0503020204020204" pitchFamily="34" charset="-122"/>
                <a:ea typeface="微软雅黑" panose="020B0503020204020204" pitchFamily="34" charset="-122"/>
              </a:rPr>
              <a:t>(Message passing system)</a:t>
            </a:r>
            <a:endParaRPr lang="zh-CN" altLang="en-US" sz="2400" b="1" dirty="0">
              <a:solidFill>
                <a:srgbClr val="4C7E51"/>
              </a:solidFill>
              <a:latin typeface="微软雅黑" panose="020B0503020204020204" pitchFamily="34" charset="-122"/>
              <a:ea typeface="微软雅黑" panose="020B0503020204020204" pitchFamily="34" charset="-122"/>
            </a:endParaRPr>
          </a:p>
        </p:txBody>
      </p:sp>
      <p:sp>
        <p:nvSpPr>
          <p:cNvPr id="15" name="文本框 19"/>
          <p:cNvSpPr txBox="1">
            <a:spLocks noChangeArrowheads="1"/>
          </p:cNvSpPr>
          <p:nvPr/>
        </p:nvSpPr>
        <p:spPr bwMode="auto">
          <a:xfrm>
            <a:off x="1150227" y="2367356"/>
            <a:ext cx="1001575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t>在消息传递系统中，进程间的数据交换，是以格式化的消息(message)为单位的 </a:t>
            </a:r>
            <a:endParaRPr lang="en-US" altLang="zh-CN" sz="2400" dirty="0"/>
          </a:p>
        </p:txBody>
      </p:sp>
      <p:pic>
        <p:nvPicPr>
          <p:cNvPr id="9" name="Picture 3" descr="E:\仝德志文件\03-参考资料\！仝个人\！PPT图片及版面资源\06-PPT精选插图\04-图标\B74562C27852F06F2A430A94546B4851.png">
            <a:extLst>
              <a:ext uri="{FF2B5EF4-FFF2-40B4-BE49-F238E27FC236}">
                <a16:creationId xmlns:a16="http://schemas.microsoft.com/office/drawing/2014/main" id="{9839DDA1-1A25-1DBD-E8DB-CCDC352EBDB6}"/>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312275" y="4652946"/>
            <a:ext cx="2879725" cy="216024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54">
            <a:extLst>
              <a:ext uri="{FF2B5EF4-FFF2-40B4-BE49-F238E27FC236}">
                <a16:creationId xmlns:a16="http://schemas.microsoft.com/office/drawing/2014/main" id="{2583675A-144A-4653-2AA4-B53A93F828C1}"/>
              </a:ext>
            </a:extLst>
          </p:cNvPr>
          <p:cNvSpPr txBox="1">
            <a:spLocks noChangeArrowheads="1"/>
          </p:cNvSpPr>
          <p:nvPr/>
        </p:nvSpPr>
        <p:spPr bwMode="auto">
          <a:xfrm>
            <a:off x="1150227" y="1828170"/>
            <a:ext cx="1024757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a:solidFill>
                  <a:srgbClr val="505050"/>
                </a:solidFill>
                <a:latin typeface="微软雅黑" panose="020B0503020204020204" pitchFamily="34" charset="-122"/>
                <a:ea typeface="微软雅黑" panose="020B0503020204020204" pitchFamily="34" charset="-122"/>
              </a:rPr>
              <a:t>定义：</a:t>
            </a:r>
            <a:endParaRPr lang="en-US" altLang="zh-CN" sz="2000" b="1" dirty="0">
              <a:solidFill>
                <a:srgbClr val="505050"/>
              </a:solidFill>
              <a:latin typeface="微软雅黑" panose="020B0503020204020204" pitchFamily="34" charset="-122"/>
              <a:ea typeface="微软雅黑" panose="020B0503020204020204" pitchFamily="34" charset="-122"/>
            </a:endParaRPr>
          </a:p>
        </p:txBody>
      </p:sp>
      <p:sp>
        <p:nvSpPr>
          <p:cNvPr id="11" name="文本框 54">
            <a:extLst>
              <a:ext uri="{FF2B5EF4-FFF2-40B4-BE49-F238E27FC236}">
                <a16:creationId xmlns:a16="http://schemas.microsoft.com/office/drawing/2014/main" id="{D69CDA32-F801-365B-C5FA-63DD47358018}"/>
              </a:ext>
            </a:extLst>
          </p:cNvPr>
          <p:cNvSpPr txBox="1">
            <a:spLocks noChangeArrowheads="1"/>
          </p:cNvSpPr>
          <p:nvPr/>
        </p:nvSpPr>
        <p:spPr bwMode="auto">
          <a:xfrm>
            <a:off x="1150227" y="3257767"/>
            <a:ext cx="452935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a:solidFill>
                  <a:srgbClr val="505050"/>
                </a:solidFill>
                <a:latin typeface="微软雅黑" panose="020B0503020204020204" pitchFamily="34" charset="-122"/>
                <a:ea typeface="微软雅黑" panose="020B0503020204020204" pitchFamily="34" charset="-122"/>
              </a:rPr>
              <a:t>分类：</a:t>
            </a:r>
            <a:endParaRPr lang="en-US" altLang="zh-CN" sz="2000" b="1" dirty="0">
              <a:solidFill>
                <a:srgbClr val="505050"/>
              </a:solidFill>
              <a:latin typeface="微软雅黑" panose="020B0503020204020204" pitchFamily="34" charset="-122"/>
              <a:ea typeface="微软雅黑" panose="020B0503020204020204" pitchFamily="34" charset="-122"/>
            </a:endParaRPr>
          </a:p>
        </p:txBody>
      </p:sp>
      <p:sp>
        <p:nvSpPr>
          <p:cNvPr id="36" name="文本框 19">
            <a:extLst>
              <a:ext uri="{FF2B5EF4-FFF2-40B4-BE49-F238E27FC236}">
                <a16:creationId xmlns:a16="http://schemas.microsoft.com/office/drawing/2014/main" id="{152A6867-3245-8721-E755-FC68E53FB588}"/>
              </a:ext>
            </a:extLst>
          </p:cNvPr>
          <p:cNvSpPr txBox="1">
            <a:spLocks noChangeArrowheads="1"/>
          </p:cNvSpPr>
          <p:nvPr/>
        </p:nvSpPr>
        <p:spPr bwMode="auto">
          <a:xfrm>
            <a:off x="1163105" y="3906294"/>
            <a:ext cx="94397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直接通信方式</a:t>
            </a:r>
            <a:endParaRPr lang="en-US" altLang="zh-CN" sz="2400" dirty="0"/>
          </a:p>
          <a:p>
            <a:pPr marL="0" lvl="2" indent="0">
              <a:buBlip>
                <a:blip r:embed="rId2"/>
              </a:buBlip>
            </a:pPr>
            <a:r>
              <a:rPr lang="zh-CN" altLang="en-US" sz="2400" dirty="0"/>
              <a:t>间接通信方式</a:t>
            </a:r>
            <a:endParaRPr lang="en-US" altLang="zh-CN" sz="2400" dirty="0"/>
          </a:p>
        </p:txBody>
      </p:sp>
    </p:spTree>
    <p:extLst>
      <p:ext uri="{BB962C8B-B14F-4D97-AF65-F5344CB8AC3E}">
        <p14:creationId xmlns:p14="http://schemas.microsoft.com/office/powerpoint/2010/main" val="264923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strips(downLeft)">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进程通信的方式</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75860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4</a:t>
            </a:r>
            <a:r>
              <a:rPr lang="zh-CN" altLang="en-US" sz="2400" b="1" dirty="0">
                <a:solidFill>
                  <a:srgbClr val="4C7E51"/>
                </a:solidFill>
                <a:latin typeface="微软雅黑" panose="020B0503020204020204" pitchFamily="34" charset="-122"/>
                <a:ea typeface="微软雅黑" panose="020B0503020204020204" pitchFamily="34" charset="-122"/>
              </a:rPr>
              <a:t>）客户机</a:t>
            </a:r>
            <a:r>
              <a:rPr lang="en-US" altLang="zh-CN" sz="2400" b="1" dirty="0">
                <a:solidFill>
                  <a:srgbClr val="4C7E51"/>
                </a:solidFill>
                <a:latin typeface="微软雅黑" panose="020B0503020204020204" pitchFamily="34" charset="-122"/>
                <a:ea typeface="微软雅黑" panose="020B0503020204020204" pitchFamily="34" charset="-122"/>
              </a:rPr>
              <a:t>-</a:t>
            </a:r>
            <a:r>
              <a:rPr lang="zh-CN" altLang="en-US" sz="2400" b="1" dirty="0">
                <a:solidFill>
                  <a:srgbClr val="4C7E51"/>
                </a:solidFill>
                <a:latin typeface="微软雅黑" panose="020B0503020204020204" pitchFamily="34" charset="-122"/>
                <a:ea typeface="微软雅黑" panose="020B0503020204020204" pitchFamily="34" charset="-122"/>
              </a:rPr>
              <a:t>服务器系统</a:t>
            </a:r>
            <a:r>
              <a:rPr lang="zh-CN" altLang="zh-CN" sz="2400" b="1" dirty="0">
                <a:solidFill>
                  <a:srgbClr val="4C7E51"/>
                </a:solidFill>
                <a:latin typeface="微软雅黑" panose="020B0503020204020204" pitchFamily="34" charset="-122"/>
                <a:ea typeface="微软雅黑" panose="020B0503020204020204" pitchFamily="34" charset="-122"/>
              </a:rPr>
              <a:t>(</a:t>
            </a:r>
            <a:r>
              <a:rPr lang="en-US" altLang="zh-CN" sz="2400" b="1" dirty="0">
                <a:solidFill>
                  <a:srgbClr val="4C7E51"/>
                </a:solidFill>
                <a:latin typeface="微软雅黑" panose="020B0503020204020204" pitchFamily="34" charset="-122"/>
                <a:ea typeface="微软雅黑" panose="020B0503020204020204" pitchFamily="34" charset="-122"/>
              </a:rPr>
              <a:t>Client-Server</a:t>
            </a:r>
            <a:r>
              <a:rPr lang="zh-CN" altLang="zh-CN" sz="2400" b="1" dirty="0">
                <a:solidFill>
                  <a:srgbClr val="4C7E51"/>
                </a:solidFill>
                <a:latin typeface="微软雅黑" panose="020B0503020204020204" pitchFamily="34" charset="-122"/>
                <a:ea typeface="微软雅黑" panose="020B0503020204020204" pitchFamily="34" charset="-122"/>
              </a:rPr>
              <a:t> system)</a:t>
            </a:r>
            <a:endParaRPr lang="zh-CN" altLang="en-US" sz="2400" b="1" dirty="0">
              <a:solidFill>
                <a:srgbClr val="4C7E51"/>
              </a:solidFill>
              <a:latin typeface="微软雅黑" panose="020B0503020204020204" pitchFamily="34" charset="-122"/>
              <a:ea typeface="微软雅黑" panose="020B0503020204020204" pitchFamily="34" charset="-122"/>
            </a:endParaRPr>
          </a:p>
        </p:txBody>
      </p:sp>
      <p:sp>
        <p:nvSpPr>
          <p:cNvPr id="15" name="文本框 19"/>
          <p:cNvSpPr txBox="1">
            <a:spLocks noChangeArrowheads="1"/>
          </p:cNvSpPr>
          <p:nvPr/>
        </p:nvSpPr>
        <p:spPr bwMode="auto">
          <a:xfrm>
            <a:off x="1150227" y="2367356"/>
            <a:ext cx="1001575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套接字</a:t>
            </a:r>
            <a:endParaRPr lang="en-US" altLang="zh-CN" sz="2400" dirty="0"/>
          </a:p>
          <a:p>
            <a:pPr marL="0" lvl="2" indent="0">
              <a:buBlip>
                <a:blip r:embed="rId2"/>
              </a:buBlip>
            </a:pPr>
            <a:r>
              <a:rPr lang="zh-CN" altLang="en-US" sz="2400" dirty="0"/>
              <a:t>远程过程调用</a:t>
            </a:r>
            <a:endParaRPr lang="en-US" altLang="zh-CN" sz="2400" dirty="0"/>
          </a:p>
          <a:p>
            <a:pPr marL="0" lvl="2" indent="0">
              <a:buBlip>
                <a:blip r:embed="rId2"/>
              </a:buBlip>
            </a:pPr>
            <a:r>
              <a:rPr lang="zh-CN" altLang="en-US" sz="2400" dirty="0"/>
              <a:t>远程方法调用</a:t>
            </a:r>
            <a:endParaRPr lang="en-US" altLang="zh-CN" sz="2400" dirty="0"/>
          </a:p>
        </p:txBody>
      </p:sp>
      <p:pic>
        <p:nvPicPr>
          <p:cNvPr id="9" name="Picture 3" descr="E:\仝德志文件\03-参考资料\！仝个人\！PPT图片及版面资源\06-PPT精选插图\04-图标\B74562C27852F06F2A430A94546B4851.png">
            <a:extLst>
              <a:ext uri="{FF2B5EF4-FFF2-40B4-BE49-F238E27FC236}">
                <a16:creationId xmlns:a16="http://schemas.microsoft.com/office/drawing/2014/main" id="{9839DDA1-1A25-1DBD-E8DB-CCDC352EBDB6}"/>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312275" y="4652946"/>
            <a:ext cx="2879725" cy="216024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54">
            <a:extLst>
              <a:ext uri="{FF2B5EF4-FFF2-40B4-BE49-F238E27FC236}">
                <a16:creationId xmlns:a16="http://schemas.microsoft.com/office/drawing/2014/main" id="{2583675A-144A-4653-2AA4-B53A93F828C1}"/>
              </a:ext>
            </a:extLst>
          </p:cNvPr>
          <p:cNvSpPr txBox="1">
            <a:spLocks noChangeArrowheads="1"/>
          </p:cNvSpPr>
          <p:nvPr/>
        </p:nvSpPr>
        <p:spPr bwMode="auto">
          <a:xfrm>
            <a:off x="1150227" y="1828170"/>
            <a:ext cx="1024757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a:solidFill>
                  <a:srgbClr val="505050"/>
                </a:solidFill>
                <a:latin typeface="微软雅黑" panose="020B0503020204020204" pitchFamily="34" charset="-122"/>
                <a:ea typeface="微软雅黑" panose="020B0503020204020204" pitchFamily="34" charset="-122"/>
              </a:rPr>
              <a:t>方式：</a:t>
            </a:r>
            <a:endParaRPr lang="en-US" altLang="zh-CN" sz="2000" b="1" dirty="0">
              <a:solidFill>
                <a:srgbClr val="505050"/>
              </a:solidFill>
              <a:latin typeface="微软雅黑" panose="020B0503020204020204" pitchFamily="34" charset="-122"/>
              <a:ea typeface="微软雅黑" panose="020B0503020204020204" pitchFamily="34" charset="-122"/>
            </a:endParaRPr>
          </a:p>
        </p:txBody>
      </p:sp>
      <p:sp>
        <p:nvSpPr>
          <p:cNvPr id="11" name="文本框 54">
            <a:extLst>
              <a:ext uri="{FF2B5EF4-FFF2-40B4-BE49-F238E27FC236}">
                <a16:creationId xmlns:a16="http://schemas.microsoft.com/office/drawing/2014/main" id="{D69CDA32-F801-365B-C5FA-63DD47358018}"/>
              </a:ext>
            </a:extLst>
          </p:cNvPr>
          <p:cNvSpPr txBox="1">
            <a:spLocks noChangeArrowheads="1"/>
          </p:cNvSpPr>
          <p:nvPr/>
        </p:nvSpPr>
        <p:spPr bwMode="auto">
          <a:xfrm>
            <a:off x="1150227" y="3502467"/>
            <a:ext cx="452935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b="1" dirty="0">
                <a:solidFill>
                  <a:srgbClr val="505050"/>
                </a:solidFill>
                <a:latin typeface="微软雅黑" panose="020B0503020204020204" pitchFamily="34" charset="-122"/>
                <a:ea typeface="微软雅黑" panose="020B0503020204020204" pitchFamily="34" charset="-122"/>
              </a:rPr>
              <a:t>分类：</a:t>
            </a:r>
            <a:endParaRPr lang="en-US" altLang="zh-CN" sz="2000" b="1" dirty="0">
              <a:solidFill>
                <a:srgbClr val="505050"/>
              </a:solidFill>
              <a:latin typeface="微软雅黑" panose="020B0503020204020204" pitchFamily="34" charset="-122"/>
              <a:ea typeface="微软雅黑" panose="020B0503020204020204" pitchFamily="34" charset="-122"/>
            </a:endParaRPr>
          </a:p>
        </p:txBody>
      </p:sp>
      <p:sp>
        <p:nvSpPr>
          <p:cNvPr id="36" name="文本框 19">
            <a:extLst>
              <a:ext uri="{FF2B5EF4-FFF2-40B4-BE49-F238E27FC236}">
                <a16:creationId xmlns:a16="http://schemas.microsoft.com/office/drawing/2014/main" id="{152A6867-3245-8721-E755-FC68E53FB588}"/>
              </a:ext>
            </a:extLst>
          </p:cNvPr>
          <p:cNvSpPr txBox="1">
            <a:spLocks noChangeArrowheads="1"/>
          </p:cNvSpPr>
          <p:nvPr/>
        </p:nvSpPr>
        <p:spPr bwMode="auto">
          <a:xfrm>
            <a:off x="1163105" y="4073721"/>
            <a:ext cx="94397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基于文件型</a:t>
            </a:r>
            <a:endParaRPr lang="en-US" altLang="zh-CN" sz="2400" dirty="0"/>
          </a:p>
          <a:p>
            <a:pPr marL="0" lvl="2" indent="0">
              <a:buBlip>
                <a:blip r:embed="rId2"/>
              </a:buBlip>
            </a:pPr>
            <a:r>
              <a:rPr lang="zh-CN" altLang="en-US" sz="2400" dirty="0"/>
              <a:t>基于网络型</a:t>
            </a:r>
            <a:endParaRPr lang="en-US" altLang="zh-CN" sz="2400" dirty="0"/>
          </a:p>
        </p:txBody>
      </p:sp>
    </p:spTree>
    <p:extLst>
      <p:ext uri="{BB962C8B-B14F-4D97-AF65-F5344CB8AC3E}">
        <p14:creationId xmlns:p14="http://schemas.microsoft.com/office/powerpoint/2010/main" val="367532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strips(downLeft)">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8832" y="202028"/>
            <a:ext cx="4431505" cy="457196"/>
          </a:xfrm>
        </p:spPr>
        <p:txBody>
          <a:bodyPr>
            <a:normAutofit/>
          </a:bodyPr>
          <a:lstStyle/>
          <a:p>
            <a:r>
              <a:rPr lang="en-US" altLang="zh-CN" dirty="0"/>
              <a:t>3.</a:t>
            </a:r>
            <a:r>
              <a:rPr lang="zh-CN" altLang="en-US" dirty="0"/>
              <a:t>消息缓冲队列通信机制</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75860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）消息缓冲区</a:t>
            </a:r>
          </a:p>
        </p:txBody>
      </p:sp>
      <p:sp>
        <p:nvSpPr>
          <p:cNvPr id="15" name="文本框 19"/>
          <p:cNvSpPr txBox="1">
            <a:spLocks noChangeArrowheads="1"/>
          </p:cNvSpPr>
          <p:nvPr/>
        </p:nvSpPr>
        <p:spPr bwMode="auto">
          <a:xfrm>
            <a:off x="1150227" y="1890834"/>
            <a:ext cx="1001575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latin typeface="宋体" panose="02010600030101010101" pitchFamily="2" charset="-122"/>
              </a:rPr>
              <a:t>在消息缓冲队列通信方式中，主要利用的数据结构是消息缓冲区，它是一个记录结构，</a:t>
            </a:r>
            <a:endParaRPr lang="zh-CN" altLang="zh-CN" sz="2400" dirty="0"/>
          </a:p>
        </p:txBody>
      </p:sp>
      <p:pic>
        <p:nvPicPr>
          <p:cNvPr id="9" name="Picture 3" descr="E:\仝德志文件\03-参考资料\！仝个人\！PPT图片及版面资源\06-PPT精选插图\04-图标\B74562C27852F06F2A430A94546B4851.png">
            <a:extLst>
              <a:ext uri="{FF2B5EF4-FFF2-40B4-BE49-F238E27FC236}">
                <a16:creationId xmlns:a16="http://schemas.microsoft.com/office/drawing/2014/main" id="{9839DDA1-1A25-1DBD-E8DB-CCDC352EBDB6}"/>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312275" y="4652946"/>
            <a:ext cx="2879725" cy="216024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a:extLst>
              <a:ext uri="{FF2B5EF4-FFF2-40B4-BE49-F238E27FC236}">
                <a16:creationId xmlns:a16="http://schemas.microsoft.com/office/drawing/2014/main" id="{CE2059CE-9BF7-3AFE-06D3-B71973AE7113}"/>
              </a:ext>
            </a:extLst>
          </p:cNvPr>
          <p:cNvSpPr>
            <a:spLocks noChangeArrowheads="1"/>
          </p:cNvSpPr>
          <p:nvPr/>
        </p:nvSpPr>
        <p:spPr bwMode="auto">
          <a:xfrm>
            <a:off x="1264402" y="2953500"/>
            <a:ext cx="7325806" cy="18631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nSpc>
                <a:spcPct val="110000"/>
              </a:lnSpc>
              <a:spcBef>
                <a:spcPct val="20000"/>
              </a:spcBef>
            </a:pPr>
            <a:r>
              <a:rPr lang="en-US" altLang="zh-CN" dirty="0">
                <a:solidFill>
                  <a:schemeClr val="tx1"/>
                </a:solidFill>
                <a:latin typeface="宋体" panose="02010600030101010101" pitchFamily="2" charset="-122"/>
              </a:rPr>
              <a:t>sender</a:t>
            </a:r>
            <a:r>
              <a:rPr lang="zh-CN" altLang="en-US" dirty="0">
                <a:solidFill>
                  <a:schemeClr val="tx1"/>
                </a:solidFill>
                <a:latin typeface="宋体" panose="02010600030101010101" pitchFamily="2" charset="-122"/>
              </a:rPr>
              <a:t>；　　　</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发送者进程标识符</a:t>
            </a:r>
          </a:p>
          <a:p>
            <a:r>
              <a:rPr lang="en-US" altLang="zh-CN" dirty="0">
                <a:solidFill>
                  <a:schemeClr val="tx1"/>
                </a:solidFill>
                <a:latin typeface="宋体" panose="02010600030101010101" pitchFamily="2" charset="-122"/>
              </a:rPr>
              <a:t>size</a:t>
            </a:r>
            <a:r>
              <a:rPr lang="zh-CN" altLang="en-US" dirty="0">
                <a:solidFill>
                  <a:schemeClr val="tx1"/>
                </a:solidFill>
                <a:latin typeface="宋体" panose="02010600030101010101" pitchFamily="2" charset="-122"/>
              </a:rPr>
              <a:t>；        </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消息长度</a:t>
            </a:r>
          </a:p>
          <a:p>
            <a:r>
              <a:rPr lang="en-US" altLang="zh-CN" dirty="0">
                <a:solidFill>
                  <a:schemeClr val="tx1"/>
                </a:solidFill>
                <a:latin typeface="宋体" panose="02010600030101010101" pitchFamily="2" charset="-122"/>
              </a:rPr>
              <a:t>text</a:t>
            </a:r>
            <a:r>
              <a:rPr lang="zh-CN" altLang="en-US" dirty="0">
                <a:solidFill>
                  <a:schemeClr val="tx1"/>
                </a:solidFill>
                <a:latin typeface="宋体" panose="02010600030101010101" pitchFamily="2" charset="-122"/>
              </a:rPr>
              <a:t>；        </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消息正文</a:t>
            </a:r>
          </a:p>
          <a:p>
            <a:r>
              <a:rPr lang="en-US" altLang="zh-CN" dirty="0">
                <a:solidFill>
                  <a:schemeClr val="tx1"/>
                </a:solidFill>
                <a:latin typeface="宋体" panose="02010600030101010101" pitchFamily="2" charset="-122"/>
              </a:rPr>
              <a:t>next</a:t>
            </a:r>
            <a:r>
              <a:rPr lang="zh-CN" altLang="en-US" dirty="0">
                <a:solidFill>
                  <a:schemeClr val="tx1"/>
                </a:solidFill>
                <a:latin typeface="宋体" panose="02010600030101010101" pitchFamily="2" charset="-122"/>
              </a:rPr>
              <a:t>；　　　  </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指向下一个消息缓冲区的指针</a:t>
            </a:r>
          </a:p>
        </p:txBody>
      </p:sp>
    </p:spTree>
    <p:extLst>
      <p:ext uri="{BB962C8B-B14F-4D97-AF65-F5344CB8AC3E}">
        <p14:creationId xmlns:p14="http://schemas.microsoft.com/office/powerpoint/2010/main" val="147512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8832" y="202028"/>
            <a:ext cx="4431505" cy="457196"/>
          </a:xfrm>
        </p:spPr>
        <p:txBody>
          <a:bodyPr>
            <a:normAutofit/>
          </a:bodyPr>
          <a:lstStyle/>
          <a:p>
            <a:r>
              <a:rPr lang="en-US" altLang="zh-CN" dirty="0"/>
              <a:t>3.</a:t>
            </a:r>
            <a:r>
              <a:rPr lang="zh-CN" altLang="en-US" dirty="0"/>
              <a:t>消息缓冲队列通信机制</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75860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a:t>
            </a:r>
            <a:r>
              <a:rPr lang="en-US" altLang="zh-CN" sz="2400" b="1" dirty="0">
                <a:solidFill>
                  <a:srgbClr val="4C7E51"/>
                </a:solidFill>
                <a:latin typeface="微软雅黑" panose="020B0503020204020204" pitchFamily="34" charset="-122"/>
                <a:ea typeface="微软雅黑" panose="020B0503020204020204" pitchFamily="34" charset="-122"/>
              </a:rPr>
              <a:t>PCB</a:t>
            </a:r>
            <a:r>
              <a:rPr lang="zh-CN" altLang="en-US" sz="2400" b="1" dirty="0">
                <a:solidFill>
                  <a:srgbClr val="4C7E51"/>
                </a:solidFill>
                <a:latin typeface="微软雅黑" panose="020B0503020204020204" pitchFamily="34" charset="-122"/>
                <a:ea typeface="微软雅黑" panose="020B0503020204020204" pitchFamily="34" charset="-122"/>
              </a:rPr>
              <a:t>中有关通信的数据项</a:t>
            </a:r>
          </a:p>
        </p:txBody>
      </p:sp>
      <p:sp>
        <p:nvSpPr>
          <p:cNvPr id="5" name="Rectangle 5">
            <a:extLst>
              <a:ext uri="{FF2B5EF4-FFF2-40B4-BE49-F238E27FC236}">
                <a16:creationId xmlns:a16="http://schemas.microsoft.com/office/drawing/2014/main" id="{CE2059CE-9BF7-3AFE-06D3-B71973AE7113}"/>
              </a:ext>
            </a:extLst>
          </p:cNvPr>
          <p:cNvSpPr>
            <a:spLocks noChangeArrowheads="1"/>
          </p:cNvSpPr>
          <p:nvPr/>
        </p:nvSpPr>
        <p:spPr bwMode="auto">
          <a:xfrm>
            <a:off x="1150228" y="1947431"/>
            <a:ext cx="7325806" cy="1360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nSpc>
                <a:spcPct val="110000"/>
              </a:lnSpc>
              <a:spcBef>
                <a:spcPct val="20000"/>
              </a:spcBef>
            </a:pPr>
            <a:r>
              <a:rPr lang="en-US" altLang="zh-CN" dirty="0" err="1">
                <a:solidFill>
                  <a:schemeClr val="tx1"/>
                </a:solidFill>
                <a:latin typeface="宋体" panose="02010600030101010101" pitchFamily="2" charset="-122"/>
              </a:rPr>
              <a:t>mq</a:t>
            </a:r>
            <a:r>
              <a:rPr lang="en-US" altLang="zh-CN" dirty="0">
                <a:solidFill>
                  <a:schemeClr val="tx1"/>
                </a:solidFill>
                <a:latin typeface="宋体" panose="02010600030101010101" pitchFamily="2" charset="-122"/>
              </a:rPr>
              <a:t> </a:t>
            </a:r>
            <a:r>
              <a:rPr lang="zh-CN" altLang="en-US" dirty="0">
                <a:solidFill>
                  <a:schemeClr val="tx1"/>
                </a:solidFill>
                <a:latin typeface="宋体" panose="02010600030101010101" pitchFamily="2" charset="-122"/>
              </a:rPr>
              <a:t>；    </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消息队列队首指针</a:t>
            </a:r>
          </a:p>
          <a:p>
            <a:pPr>
              <a:defRPr/>
            </a:pPr>
            <a:r>
              <a:rPr lang="en-US" altLang="zh-CN" dirty="0">
                <a:solidFill>
                  <a:schemeClr val="tx1"/>
                </a:solidFill>
                <a:latin typeface="宋体" panose="02010600030101010101" pitchFamily="2" charset="-122"/>
              </a:rPr>
              <a:t>mutex </a:t>
            </a:r>
            <a:r>
              <a:rPr lang="zh-CN" altLang="en-US" dirty="0">
                <a:solidFill>
                  <a:schemeClr val="tx1"/>
                </a:solidFill>
                <a:latin typeface="宋体" panose="02010600030101010101" pitchFamily="2" charset="-122"/>
              </a:rPr>
              <a:t>； </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消息队列互斥信号量，初值为</a:t>
            </a:r>
            <a:r>
              <a:rPr lang="en-US" altLang="zh-CN" dirty="0">
                <a:solidFill>
                  <a:schemeClr val="tx1"/>
                </a:solidFill>
                <a:latin typeface="宋体" panose="02010600030101010101" pitchFamily="2" charset="-122"/>
              </a:rPr>
              <a:t>1</a:t>
            </a:r>
          </a:p>
          <a:p>
            <a:pPr>
              <a:defRPr/>
            </a:pPr>
            <a:r>
              <a:rPr lang="en-US" altLang="zh-CN" dirty="0" err="1">
                <a:solidFill>
                  <a:schemeClr val="tx1"/>
                </a:solidFill>
                <a:latin typeface="宋体" panose="02010600030101010101" pitchFamily="2" charset="-122"/>
              </a:rPr>
              <a:t>sm</a:t>
            </a:r>
            <a:r>
              <a:rPr lang="en-US" altLang="zh-CN" dirty="0">
                <a:solidFill>
                  <a:schemeClr val="tx1"/>
                </a:solidFill>
                <a:latin typeface="宋体" panose="02010600030101010101" pitchFamily="2" charset="-122"/>
              </a:rPr>
              <a:t> </a:t>
            </a:r>
            <a:r>
              <a:rPr lang="zh-CN" altLang="en-US" dirty="0">
                <a:solidFill>
                  <a:schemeClr val="tx1"/>
                </a:solidFill>
                <a:latin typeface="宋体" panose="02010600030101010101" pitchFamily="2" charset="-122"/>
              </a:rPr>
              <a:t>；    </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消息队列资源信号量，</a:t>
            </a:r>
            <a:endParaRPr lang="en-US" altLang="zh-CN" dirty="0">
              <a:solidFill>
                <a:schemeClr val="tx1"/>
              </a:solidFill>
              <a:latin typeface="宋体" panose="02010600030101010101" pitchFamily="2" charset="-122"/>
            </a:endParaRPr>
          </a:p>
        </p:txBody>
      </p:sp>
      <p:grpSp>
        <p:nvGrpSpPr>
          <p:cNvPr id="6" name="Group 60">
            <a:extLst>
              <a:ext uri="{FF2B5EF4-FFF2-40B4-BE49-F238E27FC236}">
                <a16:creationId xmlns:a16="http://schemas.microsoft.com/office/drawing/2014/main" id="{4CC7D51E-07E7-CE4A-6DBC-42A1E93594CD}"/>
              </a:ext>
            </a:extLst>
          </p:cNvPr>
          <p:cNvGrpSpPr>
            <a:grpSpLocks/>
          </p:cNvGrpSpPr>
          <p:nvPr/>
        </p:nvGrpSpPr>
        <p:grpSpPr bwMode="auto">
          <a:xfrm>
            <a:off x="5907915" y="2810099"/>
            <a:ext cx="5976938" cy="3889375"/>
            <a:chOff x="1020" y="1434"/>
            <a:chExt cx="3765" cy="2450"/>
          </a:xfrm>
        </p:grpSpPr>
        <p:sp>
          <p:nvSpPr>
            <p:cNvPr id="7" name="Text Box 16">
              <a:extLst>
                <a:ext uri="{FF2B5EF4-FFF2-40B4-BE49-F238E27FC236}">
                  <a16:creationId xmlns:a16="http://schemas.microsoft.com/office/drawing/2014/main" id="{606690AF-9268-D549-707D-7D7B1DA99A58}"/>
                </a:ext>
              </a:extLst>
            </p:cNvPr>
            <p:cNvSpPr txBox="1">
              <a:spLocks noChangeArrowheads="1"/>
            </p:cNvSpPr>
            <p:nvPr/>
          </p:nvSpPr>
          <p:spPr bwMode="auto">
            <a:xfrm>
              <a:off x="1452" y="1439"/>
              <a:ext cx="70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zh-CN" altLang="en-US" sz="1600">
                  <a:solidFill>
                    <a:schemeClr val="tx1"/>
                  </a:solidFill>
                </a:rPr>
                <a:t>进程</a:t>
              </a:r>
              <a:r>
                <a:rPr lang="en-US" altLang="zh-CN" sz="1600">
                  <a:solidFill>
                    <a:schemeClr val="tx1"/>
                  </a:solidFill>
                </a:rPr>
                <a:t>A</a:t>
              </a:r>
            </a:p>
          </p:txBody>
        </p:sp>
        <p:sp>
          <p:nvSpPr>
            <p:cNvPr id="10" name="Text Box 38">
              <a:extLst>
                <a:ext uri="{FF2B5EF4-FFF2-40B4-BE49-F238E27FC236}">
                  <a16:creationId xmlns:a16="http://schemas.microsoft.com/office/drawing/2014/main" id="{FB74DEAB-6BAF-7D37-B7CF-28B8547FC05E}"/>
                </a:ext>
              </a:extLst>
            </p:cNvPr>
            <p:cNvSpPr txBox="1">
              <a:spLocks noChangeArrowheads="1"/>
            </p:cNvSpPr>
            <p:nvPr/>
          </p:nvSpPr>
          <p:spPr bwMode="auto">
            <a:xfrm>
              <a:off x="4031" y="1434"/>
              <a:ext cx="61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zh-CN" altLang="en-US" sz="1600">
                  <a:solidFill>
                    <a:schemeClr val="tx1"/>
                  </a:solidFill>
                </a:rPr>
                <a:t>进程</a:t>
              </a:r>
              <a:r>
                <a:rPr lang="en-US" altLang="zh-CN" sz="1600">
                  <a:solidFill>
                    <a:schemeClr val="tx1"/>
                  </a:solidFill>
                </a:rPr>
                <a:t>B</a:t>
              </a:r>
            </a:p>
          </p:txBody>
        </p:sp>
        <p:sp>
          <p:nvSpPr>
            <p:cNvPr id="11" name="Rectangle 8">
              <a:extLst>
                <a:ext uri="{FF2B5EF4-FFF2-40B4-BE49-F238E27FC236}">
                  <a16:creationId xmlns:a16="http://schemas.microsoft.com/office/drawing/2014/main" id="{F83E6CFB-CA58-EF5B-A227-FC0DDB7A35E4}"/>
                </a:ext>
              </a:extLst>
            </p:cNvPr>
            <p:cNvSpPr>
              <a:spLocks noChangeArrowheads="1"/>
            </p:cNvSpPr>
            <p:nvPr/>
          </p:nvSpPr>
          <p:spPr bwMode="auto">
            <a:xfrm>
              <a:off x="1350" y="1639"/>
              <a:ext cx="688" cy="1126"/>
            </a:xfrm>
            <a:prstGeom prst="rect">
              <a:avLst/>
            </a:prstGeom>
            <a:solidFill>
              <a:srgbClr val="FFFFFF"/>
            </a:solidFill>
            <a:ln w="9525">
              <a:solidFill>
                <a:srgbClr val="000000"/>
              </a:solidFill>
              <a:miter lim="800000"/>
              <a:headEnd/>
              <a:tailEnd/>
            </a:ln>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dirty="0">
                  <a:solidFill>
                    <a:schemeClr val="tx1"/>
                  </a:solidFill>
                </a:rPr>
                <a:t>…</a:t>
              </a:r>
            </a:p>
            <a:p>
              <a:pPr algn="just"/>
              <a:r>
                <a:rPr lang="en-US" altLang="zh-CN" sz="1600" dirty="0">
                  <a:solidFill>
                    <a:schemeClr val="tx1"/>
                  </a:solidFill>
                </a:rPr>
                <a:t>Send (</a:t>
              </a:r>
              <a:r>
                <a:rPr lang="en-US" altLang="zh-CN" sz="1600" dirty="0" err="1">
                  <a:solidFill>
                    <a:schemeClr val="tx1"/>
                  </a:solidFill>
                </a:rPr>
                <a:t>B,a</a:t>
              </a:r>
              <a:r>
                <a:rPr lang="en-US" altLang="zh-CN" sz="1600" dirty="0">
                  <a:solidFill>
                    <a:schemeClr val="tx1"/>
                  </a:solidFill>
                </a:rPr>
                <a:t>) </a:t>
              </a:r>
            </a:p>
            <a:p>
              <a:pPr algn="just"/>
              <a:r>
                <a:rPr lang="en-US" altLang="zh-CN" sz="1600" dirty="0">
                  <a:solidFill>
                    <a:schemeClr val="tx1"/>
                  </a:solidFill>
                </a:rPr>
                <a:t>…</a:t>
              </a:r>
            </a:p>
          </p:txBody>
        </p:sp>
        <p:sp>
          <p:nvSpPr>
            <p:cNvPr id="12" name="Text Box 10">
              <a:extLst>
                <a:ext uri="{FF2B5EF4-FFF2-40B4-BE49-F238E27FC236}">
                  <a16:creationId xmlns:a16="http://schemas.microsoft.com/office/drawing/2014/main" id="{B8F7C46E-41EA-5311-F721-C5B326ED6FD0}"/>
                </a:ext>
              </a:extLst>
            </p:cNvPr>
            <p:cNvSpPr txBox="1">
              <a:spLocks noChangeArrowheads="1"/>
            </p:cNvSpPr>
            <p:nvPr/>
          </p:nvSpPr>
          <p:spPr bwMode="auto">
            <a:xfrm>
              <a:off x="1020" y="2267"/>
              <a:ext cx="340"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zh-CN" altLang="en-US" sz="1600">
                  <a:solidFill>
                    <a:schemeClr val="tx1"/>
                  </a:solidFill>
                </a:rPr>
                <a:t>发送区</a:t>
              </a:r>
            </a:p>
          </p:txBody>
        </p:sp>
        <p:sp>
          <p:nvSpPr>
            <p:cNvPr id="13" name="Line 11">
              <a:extLst>
                <a:ext uri="{FF2B5EF4-FFF2-40B4-BE49-F238E27FC236}">
                  <a16:creationId xmlns:a16="http://schemas.microsoft.com/office/drawing/2014/main" id="{40015FE9-FEA7-55BA-2916-D4291E8F81FB}"/>
                </a:ext>
              </a:extLst>
            </p:cNvPr>
            <p:cNvSpPr>
              <a:spLocks noChangeShapeType="1"/>
            </p:cNvSpPr>
            <p:nvPr/>
          </p:nvSpPr>
          <p:spPr bwMode="auto">
            <a:xfrm>
              <a:off x="1348" y="2200"/>
              <a:ext cx="6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2">
              <a:extLst>
                <a:ext uri="{FF2B5EF4-FFF2-40B4-BE49-F238E27FC236}">
                  <a16:creationId xmlns:a16="http://schemas.microsoft.com/office/drawing/2014/main" id="{49797626-A0A8-5FDB-6B67-A135B9C904E0}"/>
                </a:ext>
              </a:extLst>
            </p:cNvPr>
            <p:cNvSpPr>
              <a:spLocks noChangeShapeType="1"/>
            </p:cNvSpPr>
            <p:nvPr/>
          </p:nvSpPr>
          <p:spPr bwMode="auto">
            <a:xfrm>
              <a:off x="1352" y="2655"/>
              <a:ext cx="6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AutoShape 13">
              <a:extLst>
                <a:ext uri="{FF2B5EF4-FFF2-40B4-BE49-F238E27FC236}">
                  <a16:creationId xmlns:a16="http://schemas.microsoft.com/office/drawing/2014/main" id="{7694D3F7-9191-2301-C497-4DBB4639C8D4}"/>
                </a:ext>
              </a:extLst>
            </p:cNvPr>
            <p:cNvSpPr>
              <a:spLocks/>
            </p:cNvSpPr>
            <p:nvPr/>
          </p:nvSpPr>
          <p:spPr bwMode="auto">
            <a:xfrm>
              <a:off x="1249" y="2206"/>
              <a:ext cx="96" cy="448"/>
            </a:xfrm>
            <a:prstGeom prst="leftBrace">
              <a:avLst>
                <a:gd name="adj1" fmla="val 38889"/>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17" name="Text Box 14">
              <a:extLst>
                <a:ext uri="{FF2B5EF4-FFF2-40B4-BE49-F238E27FC236}">
                  <a16:creationId xmlns:a16="http://schemas.microsoft.com/office/drawing/2014/main" id="{40C3FA12-7D59-D02A-7E94-3D47C4595E04}"/>
                </a:ext>
              </a:extLst>
            </p:cNvPr>
            <p:cNvSpPr txBox="1">
              <a:spLocks noChangeArrowheads="1"/>
            </p:cNvSpPr>
            <p:nvPr/>
          </p:nvSpPr>
          <p:spPr bwMode="auto">
            <a:xfrm>
              <a:off x="1190" y="2055"/>
              <a:ext cx="22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a</a:t>
              </a:r>
            </a:p>
          </p:txBody>
        </p:sp>
        <p:sp>
          <p:nvSpPr>
            <p:cNvPr id="18" name="Text Box 15">
              <a:extLst>
                <a:ext uri="{FF2B5EF4-FFF2-40B4-BE49-F238E27FC236}">
                  <a16:creationId xmlns:a16="http://schemas.microsoft.com/office/drawing/2014/main" id="{BA28944F-1E59-9ECA-C85C-F3C73C3358EB}"/>
                </a:ext>
              </a:extLst>
            </p:cNvPr>
            <p:cNvSpPr txBox="1">
              <a:spLocks noChangeArrowheads="1"/>
            </p:cNvSpPr>
            <p:nvPr/>
          </p:nvSpPr>
          <p:spPr bwMode="auto">
            <a:xfrm>
              <a:off x="1337" y="2199"/>
              <a:ext cx="672"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Sender:A</a:t>
              </a:r>
            </a:p>
            <a:p>
              <a:pPr algn="just"/>
              <a:r>
                <a:rPr lang="en-US" altLang="zh-CN" sz="1600">
                  <a:solidFill>
                    <a:schemeClr val="tx1"/>
                  </a:solidFill>
                </a:rPr>
                <a:t>Size:5</a:t>
              </a:r>
            </a:p>
            <a:p>
              <a:pPr algn="just"/>
              <a:r>
                <a:rPr lang="en-US" altLang="zh-CN" sz="1600">
                  <a:solidFill>
                    <a:schemeClr val="tx1"/>
                  </a:solidFill>
                </a:rPr>
                <a:t>Text:Hello</a:t>
              </a:r>
            </a:p>
          </p:txBody>
        </p:sp>
        <p:sp>
          <p:nvSpPr>
            <p:cNvPr id="19" name="Rectangle 19">
              <a:extLst>
                <a:ext uri="{FF2B5EF4-FFF2-40B4-BE49-F238E27FC236}">
                  <a16:creationId xmlns:a16="http://schemas.microsoft.com/office/drawing/2014/main" id="{426B661F-3C81-306B-7AED-8A81518F5604}"/>
                </a:ext>
              </a:extLst>
            </p:cNvPr>
            <p:cNvSpPr>
              <a:spLocks noChangeArrowheads="1"/>
            </p:cNvSpPr>
            <p:nvPr/>
          </p:nvSpPr>
          <p:spPr bwMode="auto">
            <a:xfrm>
              <a:off x="2891" y="2094"/>
              <a:ext cx="370" cy="502"/>
            </a:xfrm>
            <a:prstGeom prst="rect">
              <a:avLst/>
            </a:prstGeom>
            <a:solidFill>
              <a:srgbClr val="FFFFFF"/>
            </a:solidFill>
            <a:ln w="9525">
              <a:solidFill>
                <a:srgbClr val="000000"/>
              </a:solidFill>
              <a:miter lim="800000"/>
              <a:headEnd/>
              <a:tailEnd/>
            </a:ln>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20" name="Line 20">
              <a:extLst>
                <a:ext uri="{FF2B5EF4-FFF2-40B4-BE49-F238E27FC236}">
                  <a16:creationId xmlns:a16="http://schemas.microsoft.com/office/drawing/2014/main" id="{AD3372DE-EC76-71BB-CE2E-EF3B3AD16029}"/>
                </a:ext>
              </a:extLst>
            </p:cNvPr>
            <p:cNvSpPr>
              <a:spLocks noChangeShapeType="1"/>
            </p:cNvSpPr>
            <p:nvPr/>
          </p:nvSpPr>
          <p:spPr bwMode="auto">
            <a:xfrm>
              <a:off x="2899" y="2229"/>
              <a:ext cx="3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1">
              <a:extLst>
                <a:ext uri="{FF2B5EF4-FFF2-40B4-BE49-F238E27FC236}">
                  <a16:creationId xmlns:a16="http://schemas.microsoft.com/office/drawing/2014/main" id="{777698C6-F378-4A62-FA05-222FDAF5A069}"/>
                </a:ext>
              </a:extLst>
            </p:cNvPr>
            <p:cNvSpPr>
              <a:spLocks noChangeShapeType="1"/>
            </p:cNvSpPr>
            <p:nvPr/>
          </p:nvSpPr>
          <p:spPr bwMode="auto">
            <a:xfrm>
              <a:off x="2899" y="2358"/>
              <a:ext cx="3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2">
              <a:extLst>
                <a:ext uri="{FF2B5EF4-FFF2-40B4-BE49-F238E27FC236}">
                  <a16:creationId xmlns:a16="http://schemas.microsoft.com/office/drawing/2014/main" id="{532AF13A-9BA1-9FC7-542B-87E50DEFC654}"/>
                </a:ext>
              </a:extLst>
            </p:cNvPr>
            <p:cNvSpPr>
              <a:spLocks noChangeShapeType="1"/>
            </p:cNvSpPr>
            <p:nvPr/>
          </p:nvSpPr>
          <p:spPr bwMode="auto">
            <a:xfrm>
              <a:off x="2901" y="2474"/>
              <a:ext cx="3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Text Box 23">
              <a:extLst>
                <a:ext uri="{FF2B5EF4-FFF2-40B4-BE49-F238E27FC236}">
                  <a16:creationId xmlns:a16="http://schemas.microsoft.com/office/drawing/2014/main" id="{0708F53E-F303-A894-051A-A19C19746E7A}"/>
                </a:ext>
              </a:extLst>
            </p:cNvPr>
            <p:cNvSpPr txBox="1">
              <a:spLocks noChangeArrowheads="1"/>
            </p:cNvSpPr>
            <p:nvPr/>
          </p:nvSpPr>
          <p:spPr bwMode="auto">
            <a:xfrm>
              <a:off x="2975" y="2087"/>
              <a:ext cx="185"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900" b="1">
                  <a:solidFill>
                    <a:schemeClr val="tx1"/>
                  </a:solidFill>
                </a:rPr>
                <a:t>…</a:t>
              </a:r>
              <a:endParaRPr lang="en-US" altLang="zh-CN">
                <a:solidFill>
                  <a:schemeClr val="tx1"/>
                </a:solidFill>
              </a:endParaRPr>
            </a:p>
          </p:txBody>
        </p:sp>
        <p:sp>
          <p:nvSpPr>
            <p:cNvPr id="24" name="Text Box 24">
              <a:extLst>
                <a:ext uri="{FF2B5EF4-FFF2-40B4-BE49-F238E27FC236}">
                  <a16:creationId xmlns:a16="http://schemas.microsoft.com/office/drawing/2014/main" id="{29DDFE5A-32C2-3472-6DB7-A4B1E73268A3}"/>
                </a:ext>
              </a:extLst>
            </p:cNvPr>
            <p:cNvSpPr txBox="1">
              <a:spLocks noChangeArrowheads="1"/>
            </p:cNvSpPr>
            <p:nvPr/>
          </p:nvSpPr>
          <p:spPr bwMode="auto">
            <a:xfrm>
              <a:off x="2955" y="2345"/>
              <a:ext cx="325"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mutex</a:t>
              </a:r>
            </a:p>
          </p:txBody>
        </p:sp>
        <p:sp>
          <p:nvSpPr>
            <p:cNvPr id="25" name="Text Box 25">
              <a:extLst>
                <a:ext uri="{FF2B5EF4-FFF2-40B4-BE49-F238E27FC236}">
                  <a16:creationId xmlns:a16="http://schemas.microsoft.com/office/drawing/2014/main" id="{4903C1CC-87A4-6E7F-29BF-C40274FFB833}"/>
                </a:ext>
              </a:extLst>
            </p:cNvPr>
            <p:cNvSpPr txBox="1">
              <a:spLocks noChangeArrowheads="1"/>
            </p:cNvSpPr>
            <p:nvPr/>
          </p:nvSpPr>
          <p:spPr bwMode="auto">
            <a:xfrm>
              <a:off x="2971" y="2209"/>
              <a:ext cx="229"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sm</a:t>
              </a:r>
            </a:p>
          </p:txBody>
        </p:sp>
        <p:sp>
          <p:nvSpPr>
            <p:cNvPr id="26" name="Text Box 26">
              <a:extLst>
                <a:ext uri="{FF2B5EF4-FFF2-40B4-BE49-F238E27FC236}">
                  <a16:creationId xmlns:a16="http://schemas.microsoft.com/office/drawing/2014/main" id="{D7DC924D-4C29-9CD0-F40F-0BA602C78E6E}"/>
                </a:ext>
              </a:extLst>
            </p:cNvPr>
            <p:cNvSpPr txBox="1">
              <a:spLocks noChangeArrowheads="1"/>
            </p:cNvSpPr>
            <p:nvPr/>
          </p:nvSpPr>
          <p:spPr bwMode="auto">
            <a:xfrm>
              <a:off x="2959" y="2467"/>
              <a:ext cx="221"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mq</a:t>
              </a:r>
            </a:p>
          </p:txBody>
        </p:sp>
        <p:sp>
          <p:nvSpPr>
            <p:cNvPr id="27" name="Text Box 27">
              <a:extLst>
                <a:ext uri="{FF2B5EF4-FFF2-40B4-BE49-F238E27FC236}">
                  <a16:creationId xmlns:a16="http://schemas.microsoft.com/office/drawing/2014/main" id="{7CDFF8C7-C5C5-3692-C830-A5EB512AB791}"/>
                </a:ext>
              </a:extLst>
            </p:cNvPr>
            <p:cNvSpPr txBox="1">
              <a:spLocks noChangeArrowheads="1"/>
            </p:cNvSpPr>
            <p:nvPr/>
          </p:nvSpPr>
          <p:spPr bwMode="auto">
            <a:xfrm>
              <a:off x="2744" y="1933"/>
              <a:ext cx="558"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PCB (B)</a:t>
              </a:r>
            </a:p>
          </p:txBody>
        </p:sp>
        <p:sp>
          <p:nvSpPr>
            <p:cNvPr id="28" name="Rectangle 28">
              <a:extLst>
                <a:ext uri="{FF2B5EF4-FFF2-40B4-BE49-F238E27FC236}">
                  <a16:creationId xmlns:a16="http://schemas.microsoft.com/office/drawing/2014/main" id="{D33D0F3E-A4A6-C57E-ED56-8C616F63E4C9}"/>
                </a:ext>
              </a:extLst>
            </p:cNvPr>
            <p:cNvSpPr>
              <a:spLocks noChangeArrowheads="1"/>
            </p:cNvSpPr>
            <p:nvPr/>
          </p:nvSpPr>
          <p:spPr bwMode="auto">
            <a:xfrm>
              <a:off x="1483" y="3041"/>
              <a:ext cx="716" cy="570"/>
            </a:xfrm>
            <a:prstGeom prst="rect">
              <a:avLst/>
            </a:prstGeom>
            <a:solidFill>
              <a:srgbClr val="FFFFFF"/>
            </a:solidFill>
            <a:ln w="9525">
              <a:solidFill>
                <a:srgbClr val="000000"/>
              </a:solidFill>
              <a:miter lim="800000"/>
              <a:headEnd/>
              <a:tailEnd/>
            </a:ln>
          </p:spPr>
          <p:txBody>
            <a:bodyPr lIns="72000" tIns="0" rIns="7200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Sender:A</a:t>
              </a:r>
            </a:p>
            <a:p>
              <a:pPr algn="just"/>
              <a:r>
                <a:rPr lang="en-US" altLang="zh-CN" sz="1600">
                  <a:solidFill>
                    <a:schemeClr val="tx1"/>
                  </a:solidFill>
                </a:rPr>
                <a:t>Size:5</a:t>
              </a:r>
            </a:p>
            <a:p>
              <a:pPr algn="just"/>
              <a:r>
                <a:rPr lang="en-US" altLang="zh-CN" sz="1600">
                  <a:solidFill>
                    <a:schemeClr val="tx1"/>
                  </a:solidFill>
                </a:rPr>
                <a:t>Text:Hello</a:t>
              </a:r>
            </a:p>
            <a:p>
              <a:pPr algn="just"/>
              <a:r>
                <a:rPr lang="en-US" altLang="zh-CN" sz="1600">
                  <a:solidFill>
                    <a:schemeClr val="tx1"/>
                  </a:solidFill>
                </a:rPr>
                <a:t>Next:-1</a:t>
              </a:r>
            </a:p>
          </p:txBody>
        </p:sp>
        <p:sp>
          <p:nvSpPr>
            <p:cNvPr id="29" name="Rectangle 30">
              <a:extLst>
                <a:ext uri="{FF2B5EF4-FFF2-40B4-BE49-F238E27FC236}">
                  <a16:creationId xmlns:a16="http://schemas.microsoft.com/office/drawing/2014/main" id="{A369E602-036B-C046-AB7D-C2EA558A0421}"/>
                </a:ext>
              </a:extLst>
            </p:cNvPr>
            <p:cNvSpPr>
              <a:spLocks noChangeArrowheads="1"/>
            </p:cNvSpPr>
            <p:nvPr/>
          </p:nvSpPr>
          <p:spPr bwMode="auto">
            <a:xfrm>
              <a:off x="3930" y="1633"/>
              <a:ext cx="687" cy="1126"/>
            </a:xfrm>
            <a:prstGeom prst="rect">
              <a:avLst/>
            </a:prstGeom>
            <a:solidFill>
              <a:srgbClr val="FFFFFF"/>
            </a:solidFill>
            <a:ln w="9525">
              <a:solidFill>
                <a:srgbClr val="000000"/>
              </a:solidFill>
              <a:miter lim="800000"/>
              <a:headEnd/>
              <a:tailEnd/>
            </a:ln>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a:t>
              </a:r>
            </a:p>
            <a:p>
              <a:pPr algn="just"/>
              <a:r>
                <a:rPr lang="en-US" altLang="zh-CN" sz="1600">
                  <a:solidFill>
                    <a:schemeClr val="tx1"/>
                  </a:solidFill>
                </a:rPr>
                <a:t>receive (b) </a:t>
              </a:r>
            </a:p>
            <a:p>
              <a:pPr algn="just"/>
              <a:r>
                <a:rPr lang="en-US" altLang="zh-CN" sz="1600">
                  <a:solidFill>
                    <a:schemeClr val="tx1"/>
                  </a:solidFill>
                </a:rPr>
                <a:t>…</a:t>
              </a:r>
            </a:p>
          </p:txBody>
        </p:sp>
        <p:sp>
          <p:nvSpPr>
            <p:cNvPr id="30" name="Text Box 32">
              <a:extLst>
                <a:ext uri="{FF2B5EF4-FFF2-40B4-BE49-F238E27FC236}">
                  <a16:creationId xmlns:a16="http://schemas.microsoft.com/office/drawing/2014/main" id="{A5E3CF2A-8D4E-119C-9D9D-220CB8B9ABDD}"/>
                </a:ext>
              </a:extLst>
            </p:cNvPr>
            <p:cNvSpPr txBox="1">
              <a:spLocks noChangeArrowheads="1"/>
            </p:cNvSpPr>
            <p:nvPr/>
          </p:nvSpPr>
          <p:spPr bwMode="auto">
            <a:xfrm>
              <a:off x="3600" y="2250"/>
              <a:ext cx="340"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zh-CN" altLang="en-US" sz="1600">
                  <a:solidFill>
                    <a:schemeClr val="tx1"/>
                  </a:solidFill>
                </a:rPr>
                <a:t>接收区</a:t>
              </a:r>
            </a:p>
          </p:txBody>
        </p:sp>
        <p:sp>
          <p:nvSpPr>
            <p:cNvPr id="31" name="Line 33">
              <a:extLst>
                <a:ext uri="{FF2B5EF4-FFF2-40B4-BE49-F238E27FC236}">
                  <a16:creationId xmlns:a16="http://schemas.microsoft.com/office/drawing/2014/main" id="{4FE1A075-6160-CA9B-A6E8-27EC540303DA}"/>
                </a:ext>
              </a:extLst>
            </p:cNvPr>
            <p:cNvSpPr>
              <a:spLocks noChangeShapeType="1"/>
            </p:cNvSpPr>
            <p:nvPr/>
          </p:nvSpPr>
          <p:spPr bwMode="auto">
            <a:xfrm>
              <a:off x="3928" y="2195"/>
              <a:ext cx="6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34">
              <a:extLst>
                <a:ext uri="{FF2B5EF4-FFF2-40B4-BE49-F238E27FC236}">
                  <a16:creationId xmlns:a16="http://schemas.microsoft.com/office/drawing/2014/main" id="{6238A38D-F12F-08D2-15F2-658385BF7158}"/>
                </a:ext>
              </a:extLst>
            </p:cNvPr>
            <p:cNvSpPr>
              <a:spLocks noChangeShapeType="1"/>
            </p:cNvSpPr>
            <p:nvPr/>
          </p:nvSpPr>
          <p:spPr bwMode="auto">
            <a:xfrm>
              <a:off x="3932" y="2649"/>
              <a:ext cx="6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AutoShape 35">
              <a:extLst>
                <a:ext uri="{FF2B5EF4-FFF2-40B4-BE49-F238E27FC236}">
                  <a16:creationId xmlns:a16="http://schemas.microsoft.com/office/drawing/2014/main" id="{8EE01DAA-E06A-2A50-9B03-6AD38B17D1B9}"/>
                </a:ext>
              </a:extLst>
            </p:cNvPr>
            <p:cNvSpPr>
              <a:spLocks/>
            </p:cNvSpPr>
            <p:nvPr/>
          </p:nvSpPr>
          <p:spPr bwMode="auto">
            <a:xfrm>
              <a:off x="3828" y="2201"/>
              <a:ext cx="97" cy="447"/>
            </a:xfrm>
            <a:prstGeom prst="leftBrace">
              <a:avLst>
                <a:gd name="adj1" fmla="val 38402"/>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34" name="Text Box 36">
              <a:extLst>
                <a:ext uri="{FF2B5EF4-FFF2-40B4-BE49-F238E27FC236}">
                  <a16:creationId xmlns:a16="http://schemas.microsoft.com/office/drawing/2014/main" id="{95432923-1B52-37B9-98EA-38CCB4F06337}"/>
                </a:ext>
              </a:extLst>
            </p:cNvPr>
            <p:cNvSpPr txBox="1">
              <a:spLocks noChangeArrowheads="1"/>
            </p:cNvSpPr>
            <p:nvPr/>
          </p:nvSpPr>
          <p:spPr bwMode="auto">
            <a:xfrm>
              <a:off x="3769" y="2050"/>
              <a:ext cx="229"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b</a:t>
              </a:r>
            </a:p>
          </p:txBody>
        </p:sp>
        <p:sp>
          <p:nvSpPr>
            <p:cNvPr id="35" name="Text Box 37">
              <a:extLst>
                <a:ext uri="{FF2B5EF4-FFF2-40B4-BE49-F238E27FC236}">
                  <a16:creationId xmlns:a16="http://schemas.microsoft.com/office/drawing/2014/main" id="{B9E70E7D-57ED-E096-476D-2456DC59231F}"/>
                </a:ext>
              </a:extLst>
            </p:cNvPr>
            <p:cNvSpPr txBox="1">
              <a:spLocks noChangeArrowheads="1"/>
            </p:cNvSpPr>
            <p:nvPr/>
          </p:nvSpPr>
          <p:spPr bwMode="auto">
            <a:xfrm>
              <a:off x="3917" y="2194"/>
              <a:ext cx="671"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a:solidFill>
                    <a:schemeClr val="tx1"/>
                  </a:solidFill>
                </a:rPr>
                <a:t>Sender:</a:t>
              </a:r>
            </a:p>
            <a:p>
              <a:pPr algn="just"/>
              <a:r>
                <a:rPr lang="en-US" altLang="zh-CN" sz="1600">
                  <a:solidFill>
                    <a:schemeClr val="tx1"/>
                  </a:solidFill>
                </a:rPr>
                <a:t>Size:</a:t>
              </a:r>
            </a:p>
            <a:p>
              <a:pPr algn="just"/>
              <a:r>
                <a:rPr lang="en-US" altLang="zh-CN" sz="1600">
                  <a:solidFill>
                    <a:schemeClr val="tx1"/>
                  </a:solidFill>
                </a:rPr>
                <a:t>Text:</a:t>
              </a:r>
            </a:p>
          </p:txBody>
        </p:sp>
        <p:sp>
          <p:nvSpPr>
            <p:cNvPr id="36" name="Rectangle 39">
              <a:extLst>
                <a:ext uri="{FF2B5EF4-FFF2-40B4-BE49-F238E27FC236}">
                  <a16:creationId xmlns:a16="http://schemas.microsoft.com/office/drawing/2014/main" id="{8F45A3A6-45AC-4BCF-61A4-FF8A07F254B9}"/>
                </a:ext>
              </a:extLst>
            </p:cNvPr>
            <p:cNvSpPr>
              <a:spLocks noChangeArrowheads="1"/>
            </p:cNvSpPr>
            <p:nvPr/>
          </p:nvSpPr>
          <p:spPr bwMode="auto">
            <a:xfrm>
              <a:off x="2253" y="3042"/>
              <a:ext cx="399" cy="569"/>
            </a:xfrm>
            <a:prstGeom prst="rect">
              <a:avLst/>
            </a:prstGeom>
            <a:solidFill>
              <a:srgbClr val="FFFFFF"/>
            </a:solidFill>
            <a:ln w="9525">
              <a:solidFill>
                <a:srgbClr val="000000"/>
              </a:solidFill>
              <a:miter lim="800000"/>
              <a:headEnd/>
              <a:tailEnd/>
            </a:ln>
          </p:spPr>
          <p:txBody>
            <a:bodyPr lIns="72000" tIns="0" rIns="7200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37" name="Rectangle 40">
              <a:extLst>
                <a:ext uri="{FF2B5EF4-FFF2-40B4-BE49-F238E27FC236}">
                  <a16:creationId xmlns:a16="http://schemas.microsoft.com/office/drawing/2014/main" id="{BCF7170C-A7DF-727D-AC96-04DE39C9A30E}"/>
                </a:ext>
              </a:extLst>
            </p:cNvPr>
            <p:cNvSpPr>
              <a:spLocks noChangeArrowheads="1"/>
            </p:cNvSpPr>
            <p:nvPr/>
          </p:nvSpPr>
          <p:spPr bwMode="auto">
            <a:xfrm>
              <a:off x="2807" y="3087"/>
              <a:ext cx="385" cy="569"/>
            </a:xfrm>
            <a:prstGeom prst="rect">
              <a:avLst/>
            </a:prstGeom>
            <a:solidFill>
              <a:srgbClr val="FFFFFF"/>
            </a:solidFill>
            <a:ln w="9525">
              <a:solidFill>
                <a:srgbClr val="000000"/>
              </a:solidFill>
              <a:miter lim="800000"/>
              <a:headEnd/>
              <a:tailEnd/>
            </a:ln>
          </p:spPr>
          <p:txBody>
            <a:bodyPr lIns="72000" tIns="0" rIns="7200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38" name="Rectangle 41">
              <a:extLst>
                <a:ext uri="{FF2B5EF4-FFF2-40B4-BE49-F238E27FC236}">
                  <a16:creationId xmlns:a16="http://schemas.microsoft.com/office/drawing/2014/main" id="{5EAA77EE-9592-F064-ECE1-D0A8466A2B43}"/>
                </a:ext>
              </a:extLst>
            </p:cNvPr>
            <p:cNvSpPr>
              <a:spLocks noChangeArrowheads="1"/>
            </p:cNvSpPr>
            <p:nvPr/>
          </p:nvSpPr>
          <p:spPr bwMode="auto">
            <a:xfrm>
              <a:off x="3667" y="3043"/>
              <a:ext cx="384" cy="570"/>
            </a:xfrm>
            <a:prstGeom prst="rect">
              <a:avLst/>
            </a:prstGeom>
            <a:solidFill>
              <a:srgbClr val="FFFFFF"/>
            </a:solidFill>
            <a:ln w="9525">
              <a:solidFill>
                <a:srgbClr val="000000"/>
              </a:solidFill>
              <a:miter lim="800000"/>
              <a:headEnd/>
              <a:tailEnd/>
            </a:ln>
          </p:spPr>
          <p:txBody>
            <a:bodyPr lIns="72000" tIns="0" rIns="7200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39" name="Rectangle 42">
              <a:extLst>
                <a:ext uri="{FF2B5EF4-FFF2-40B4-BE49-F238E27FC236}">
                  <a16:creationId xmlns:a16="http://schemas.microsoft.com/office/drawing/2014/main" id="{193B263F-9525-7D74-5F60-C4E09B660332}"/>
                </a:ext>
              </a:extLst>
            </p:cNvPr>
            <p:cNvSpPr>
              <a:spLocks noChangeArrowheads="1"/>
            </p:cNvSpPr>
            <p:nvPr/>
          </p:nvSpPr>
          <p:spPr bwMode="auto">
            <a:xfrm>
              <a:off x="4240" y="3052"/>
              <a:ext cx="363" cy="570"/>
            </a:xfrm>
            <a:prstGeom prst="rect">
              <a:avLst/>
            </a:prstGeom>
            <a:solidFill>
              <a:srgbClr val="FFFFFF"/>
            </a:solidFill>
            <a:ln w="9525">
              <a:solidFill>
                <a:srgbClr val="000000"/>
              </a:solidFill>
              <a:miter lim="800000"/>
              <a:headEnd/>
              <a:tailEnd/>
            </a:ln>
          </p:spPr>
          <p:txBody>
            <a:bodyPr lIns="72000" tIns="0" rIns="72000" bIns="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40" name="Rectangle 43">
              <a:extLst>
                <a:ext uri="{FF2B5EF4-FFF2-40B4-BE49-F238E27FC236}">
                  <a16:creationId xmlns:a16="http://schemas.microsoft.com/office/drawing/2014/main" id="{71AF7B02-5A71-8FC2-65BB-BB8C613AD339}"/>
                </a:ext>
              </a:extLst>
            </p:cNvPr>
            <p:cNvSpPr>
              <a:spLocks noChangeArrowheads="1"/>
            </p:cNvSpPr>
            <p:nvPr/>
          </p:nvSpPr>
          <p:spPr bwMode="auto">
            <a:xfrm>
              <a:off x="1172" y="2900"/>
              <a:ext cx="3613" cy="970"/>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41" name="Text Box 44">
              <a:extLst>
                <a:ext uri="{FF2B5EF4-FFF2-40B4-BE49-F238E27FC236}">
                  <a16:creationId xmlns:a16="http://schemas.microsoft.com/office/drawing/2014/main" id="{E2F6BD89-1A79-F7E4-055B-23F9373DDF49}"/>
                </a:ext>
              </a:extLst>
            </p:cNvPr>
            <p:cNvSpPr txBox="1">
              <a:spLocks noChangeArrowheads="1"/>
            </p:cNvSpPr>
            <p:nvPr/>
          </p:nvSpPr>
          <p:spPr bwMode="auto">
            <a:xfrm>
              <a:off x="2918" y="3687"/>
              <a:ext cx="960"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zh-CN" altLang="en-US" sz="1600">
                  <a:solidFill>
                    <a:schemeClr val="tx1"/>
                  </a:solidFill>
                </a:rPr>
                <a:t>公用消息缓冲池</a:t>
              </a:r>
            </a:p>
          </p:txBody>
        </p:sp>
        <p:sp>
          <p:nvSpPr>
            <p:cNvPr id="42" name="Line 45">
              <a:extLst>
                <a:ext uri="{FF2B5EF4-FFF2-40B4-BE49-F238E27FC236}">
                  <a16:creationId xmlns:a16="http://schemas.microsoft.com/office/drawing/2014/main" id="{18F64ED3-9868-3F6A-2FC7-E4C86470D3BE}"/>
                </a:ext>
              </a:extLst>
            </p:cNvPr>
            <p:cNvSpPr>
              <a:spLocks noChangeShapeType="1"/>
            </p:cNvSpPr>
            <p:nvPr/>
          </p:nvSpPr>
          <p:spPr bwMode="auto">
            <a:xfrm flipH="1">
              <a:off x="2676" y="3656"/>
              <a:ext cx="1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46">
              <a:extLst>
                <a:ext uri="{FF2B5EF4-FFF2-40B4-BE49-F238E27FC236}">
                  <a16:creationId xmlns:a16="http://schemas.microsoft.com/office/drawing/2014/main" id="{A07F0B61-EE44-9D76-A7B5-097409B1011F}"/>
                </a:ext>
              </a:extLst>
            </p:cNvPr>
            <p:cNvSpPr>
              <a:spLocks noChangeShapeType="1"/>
            </p:cNvSpPr>
            <p:nvPr/>
          </p:nvSpPr>
          <p:spPr bwMode="auto">
            <a:xfrm>
              <a:off x="2675" y="3650"/>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7">
              <a:extLst>
                <a:ext uri="{FF2B5EF4-FFF2-40B4-BE49-F238E27FC236}">
                  <a16:creationId xmlns:a16="http://schemas.microsoft.com/office/drawing/2014/main" id="{7D522451-3266-9D1D-5268-CBE39B0AB7D5}"/>
                </a:ext>
              </a:extLst>
            </p:cNvPr>
            <p:cNvSpPr>
              <a:spLocks noChangeShapeType="1"/>
            </p:cNvSpPr>
            <p:nvPr/>
          </p:nvSpPr>
          <p:spPr bwMode="auto">
            <a:xfrm flipH="1">
              <a:off x="1327" y="3792"/>
              <a:ext cx="134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48">
              <a:extLst>
                <a:ext uri="{FF2B5EF4-FFF2-40B4-BE49-F238E27FC236}">
                  <a16:creationId xmlns:a16="http://schemas.microsoft.com/office/drawing/2014/main" id="{1C66F747-F368-C2EA-ED5B-C7B9BF405197}"/>
                </a:ext>
              </a:extLst>
            </p:cNvPr>
            <p:cNvSpPr>
              <a:spLocks noChangeShapeType="1"/>
            </p:cNvSpPr>
            <p:nvPr/>
          </p:nvSpPr>
          <p:spPr bwMode="auto">
            <a:xfrm flipV="1">
              <a:off x="1323" y="3188"/>
              <a:ext cx="0" cy="6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9">
              <a:extLst>
                <a:ext uri="{FF2B5EF4-FFF2-40B4-BE49-F238E27FC236}">
                  <a16:creationId xmlns:a16="http://schemas.microsoft.com/office/drawing/2014/main" id="{447613F1-BA92-D070-56A8-5B733C77EC56}"/>
                </a:ext>
              </a:extLst>
            </p:cNvPr>
            <p:cNvSpPr>
              <a:spLocks noChangeShapeType="1"/>
            </p:cNvSpPr>
            <p:nvPr/>
          </p:nvSpPr>
          <p:spPr bwMode="auto">
            <a:xfrm>
              <a:off x="1325" y="3203"/>
              <a:ext cx="148"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7" name="Line 50">
              <a:extLst>
                <a:ext uri="{FF2B5EF4-FFF2-40B4-BE49-F238E27FC236}">
                  <a16:creationId xmlns:a16="http://schemas.microsoft.com/office/drawing/2014/main" id="{CE142D0B-C564-B134-0137-AFAD3E493A1B}"/>
                </a:ext>
              </a:extLst>
            </p:cNvPr>
            <p:cNvSpPr>
              <a:spLocks noChangeShapeType="1"/>
            </p:cNvSpPr>
            <p:nvPr/>
          </p:nvSpPr>
          <p:spPr bwMode="auto">
            <a:xfrm flipH="1">
              <a:off x="3441" y="3538"/>
              <a:ext cx="22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51">
              <a:extLst>
                <a:ext uri="{FF2B5EF4-FFF2-40B4-BE49-F238E27FC236}">
                  <a16:creationId xmlns:a16="http://schemas.microsoft.com/office/drawing/2014/main" id="{B3183252-5026-82E2-8707-961776E82134}"/>
                </a:ext>
              </a:extLst>
            </p:cNvPr>
            <p:cNvSpPr>
              <a:spLocks noChangeShapeType="1"/>
            </p:cNvSpPr>
            <p:nvPr/>
          </p:nvSpPr>
          <p:spPr bwMode="auto">
            <a:xfrm flipV="1">
              <a:off x="3431" y="3118"/>
              <a:ext cx="0" cy="4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52">
              <a:extLst>
                <a:ext uri="{FF2B5EF4-FFF2-40B4-BE49-F238E27FC236}">
                  <a16:creationId xmlns:a16="http://schemas.microsoft.com/office/drawing/2014/main" id="{4B9B0DFB-0315-5777-FAC7-53548F52AC40}"/>
                </a:ext>
              </a:extLst>
            </p:cNvPr>
            <p:cNvSpPr>
              <a:spLocks noChangeShapeType="1"/>
            </p:cNvSpPr>
            <p:nvPr/>
          </p:nvSpPr>
          <p:spPr bwMode="auto">
            <a:xfrm flipH="1">
              <a:off x="3189" y="3112"/>
              <a:ext cx="243"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0" name="Line 53">
              <a:extLst>
                <a:ext uri="{FF2B5EF4-FFF2-40B4-BE49-F238E27FC236}">
                  <a16:creationId xmlns:a16="http://schemas.microsoft.com/office/drawing/2014/main" id="{A993C360-D612-CD71-4013-37FFFC0D8A45}"/>
                </a:ext>
              </a:extLst>
            </p:cNvPr>
            <p:cNvSpPr>
              <a:spLocks noChangeShapeType="1"/>
            </p:cNvSpPr>
            <p:nvPr/>
          </p:nvSpPr>
          <p:spPr bwMode="auto">
            <a:xfrm>
              <a:off x="3264" y="2523"/>
              <a:ext cx="22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54">
              <a:extLst>
                <a:ext uri="{FF2B5EF4-FFF2-40B4-BE49-F238E27FC236}">
                  <a16:creationId xmlns:a16="http://schemas.microsoft.com/office/drawing/2014/main" id="{999EB683-4FF5-79C7-9E80-E6A18EED2FE2}"/>
                </a:ext>
              </a:extLst>
            </p:cNvPr>
            <p:cNvSpPr>
              <a:spLocks noChangeShapeType="1"/>
            </p:cNvSpPr>
            <p:nvPr/>
          </p:nvSpPr>
          <p:spPr bwMode="auto">
            <a:xfrm>
              <a:off x="3493" y="2527"/>
              <a:ext cx="0" cy="5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5">
              <a:extLst>
                <a:ext uri="{FF2B5EF4-FFF2-40B4-BE49-F238E27FC236}">
                  <a16:creationId xmlns:a16="http://schemas.microsoft.com/office/drawing/2014/main" id="{923BA3A3-2E8B-6DC0-63C2-077899D17B9C}"/>
                </a:ext>
              </a:extLst>
            </p:cNvPr>
            <p:cNvSpPr>
              <a:spLocks noChangeShapeType="1"/>
            </p:cNvSpPr>
            <p:nvPr/>
          </p:nvSpPr>
          <p:spPr bwMode="auto">
            <a:xfrm>
              <a:off x="3493" y="3084"/>
              <a:ext cx="178"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3" name="AutoShape 56">
              <a:extLst>
                <a:ext uri="{FF2B5EF4-FFF2-40B4-BE49-F238E27FC236}">
                  <a16:creationId xmlns:a16="http://schemas.microsoft.com/office/drawing/2014/main" id="{D7357F39-C05E-0B94-4AD8-BAFA9C57B31E}"/>
                </a:ext>
              </a:extLst>
            </p:cNvPr>
            <p:cNvSpPr>
              <a:spLocks noChangeArrowheads="1"/>
            </p:cNvSpPr>
            <p:nvPr/>
          </p:nvSpPr>
          <p:spPr bwMode="auto">
            <a:xfrm rot="2002656">
              <a:off x="3890" y="2629"/>
              <a:ext cx="93" cy="429"/>
            </a:xfrm>
            <a:prstGeom prst="upArrow">
              <a:avLst>
                <a:gd name="adj1" fmla="val 50000"/>
                <a:gd name="adj2" fmla="val 115323"/>
              </a:avLst>
            </a:prstGeom>
            <a:solidFill>
              <a:srgbClr val="FFFFFF"/>
            </a:solidFill>
            <a:ln w="9525">
              <a:solidFill>
                <a:srgbClr val="000000"/>
              </a:solidFill>
              <a:miter lim="800000"/>
              <a:headEnd/>
              <a:tailEnd/>
            </a:ln>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54" name="AutoShape 57">
              <a:extLst>
                <a:ext uri="{FF2B5EF4-FFF2-40B4-BE49-F238E27FC236}">
                  <a16:creationId xmlns:a16="http://schemas.microsoft.com/office/drawing/2014/main" id="{82A062A7-4FC3-0FBD-8FBF-8FFA0F018AEE}"/>
                </a:ext>
              </a:extLst>
            </p:cNvPr>
            <p:cNvSpPr>
              <a:spLocks noChangeArrowheads="1"/>
            </p:cNvSpPr>
            <p:nvPr/>
          </p:nvSpPr>
          <p:spPr bwMode="auto">
            <a:xfrm rot="9364330">
              <a:off x="1691" y="2648"/>
              <a:ext cx="90" cy="410"/>
            </a:xfrm>
            <a:prstGeom prst="upArrow">
              <a:avLst>
                <a:gd name="adj1" fmla="val 50000"/>
                <a:gd name="adj2" fmla="val 113889"/>
              </a:avLst>
            </a:prstGeom>
            <a:solidFill>
              <a:srgbClr val="FFFFFF"/>
            </a:solidFill>
            <a:ln w="9525">
              <a:solidFill>
                <a:srgbClr val="000000"/>
              </a:solidFill>
              <a:miter lim="800000"/>
              <a:headEnd/>
              <a:tailEnd/>
            </a:ln>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grpSp>
    </p:spTree>
    <p:extLst>
      <p:ext uri="{BB962C8B-B14F-4D97-AF65-F5344CB8AC3E}">
        <p14:creationId xmlns:p14="http://schemas.microsoft.com/office/powerpoint/2010/main" val="1711477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8832" y="202028"/>
            <a:ext cx="4431505" cy="457196"/>
          </a:xfrm>
        </p:spPr>
        <p:txBody>
          <a:bodyPr>
            <a:normAutofit/>
          </a:bodyPr>
          <a:lstStyle/>
          <a:p>
            <a:r>
              <a:rPr lang="en-US" altLang="zh-CN" dirty="0"/>
              <a:t>3.</a:t>
            </a:r>
            <a:r>
              <a:rPr lang="zh-CN" altLang="en-US" dirty="0"/>
              <a:t>消息缓冲队列通信机制</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50918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）发送原语</a:t>
            </a:r>
          </a:p>
        </p:txBody>
      </p:sp>
      <p:sp>
        <p:nvSpPr>
          <p:cNvPr id="5" name="Rectangle 5">
            <a:extLst>
              <a:ext uri="{FF2B5EF4-FFF2-40B4-BE49-F238E27FC236}">
                <a16:creationId xmlns:a16="http://schemas.microsoft.com/office/drawing/2014/main" id="{CE2059CE-9BF7-3AFE-06D3-B71973AE7113}"/>
              </a:ext>
            </a:extLst>
          </p:cNvPr>
          <p:cNvSpPr>
            <a:spLocks noChangeArrowheads="1"/>
          </p:cNvSpPr>
          <p:nvPr/>
        </p:nvSpPr>
        <p:spPr bwMode="auto">
          <a:xfrm>
            <a:off x="1150228" y="1999410"/>
            <a:ext cx="4831598" cy="45291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en-US" altLang="zh-CN" sz="2400" b="1" dirty="0">
                <a:solidFill>
                  <a:srgbClr val="0000FF"/>
                </a:solidFill>
                <a:latin typeface="宋体" panose="02010600030101010101" pitchFamily="2" charset="-122"/>
              </a:rPr>
              <a:t>send (receiver, a ){</a:t>
            </a:r>
          </a:p>
          <a:p>
            <a:r>
              <a:rPr lang="en-US" altLang="zh-CN"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getbuf</a:t>
            </a:r>
            <a:r>
              <a:rPr lang="en-US" altLang="zh-CN"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a.size</a:t>
            </a:r>
            <a:r>
              <a:rPr lang="zh-CN" altLang="en-US" sz="2400" b="1" dirty="0">
                <a:solidFill>
                  <a:srgbClr val="0000FF"/>
                </a:solidFill>
                <a:latin typeface="宋体" panose="02010600030101010101" pitchFamily="2" charset="-122"/>
              </a:rPr>
              <a:t>，</a:t>
            </a:r>
            <a:r>
              <a:rPr lang="en-US" altLang="zh-CN" sz="2400" b="1" dirty="0" err="1">
                <a:solidFill>
                  <a:srgbClr val="0000FF"/>
                </a:solidFill>
                <a:latin typeface="宋体" panose="02010600030101010101" pitchFamily="2" charset="-122"/>
              </a:rPr>
              <a:t>i</a:t>
            </a:r>
            <a:r>
              <a:rPr lang="en-US" altLang="zh-CN" sz="2400" b="1" dirty="0">
                <a:solidFill>
                  <a:srgbClr val="0000FF"/>
                </a:solidFill>
                <a:latin typeface="宋体" panose="02010600030101010101" pitchFamily="2" charset="-122"/>
              </a:rPr>
              <a:t>);</a:t>
            </a:r>
          </a:p>
          <a:p>
            <a:r>
              <a:rPr lang="en-US" altLang="zh-CN"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i.sender</a:t>
            </a:r>
            <a:r>
              <a:rPr lang="en-US" altLang="zh-CN" sz="2400" b="1" dirty="0">
                <a:solidFill>
                  <a:srgbClr val="0000FF"/>
                </a:solidFill>
                <a:latin typeface="宋体" panose="02010600030101010101" pitchFamily="2" charset="-122"/>
              </a:rPr>
              <a:t>=</a:t>
            </a:r>
            <a:r>
              <a:rPr lang="en-US" altLang="zh-CN" sz="2400" b="1" dirty="0" err="1">
                <a:solidFill>
                  <a:srgbClr val="0000FF"/>
                </a:solidFill>
                <a:latin typeface="宋体" panose="02010600030101010101" pitchFamily="2" charset="-122"/>
              </a:rPr>
              <a:t>a.sender</a:t>
            </a:r>
            <a:r>
              <a:rPr lang="en-US" altLang="zh-CN" sz="2400" b="1" dirty="0">
                <a:solidFill>
                  <a:srgbClr val="0000FF"/>
                </a:solidFill>
                <a:latin typeface="宋体" panose="02010600030101010101" pitchFamily="2" charset="-122"/>
              </a:rPr>
              <a:t>;           </a:t>
            </a:r>
            <a:endParaRPr lang="zh-CN" altLang="en-US" sz="2400" b="1" dirty="0">
              <a:solidFill>
                <a:srgbClr val="0000FF"/>
              </a:solidFill>
              <a:latin typeface="宋体" panose="02010600030101010101" pitchFamily="2" charset="-122"/>
            </a:endParaRPr>
          </a:p>
          <a:p>
            <a:r>
              <a:rPr lang="zh-CN" altLang="en-US"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i.size</a:t>
            </a:r>
            <a:r>
              <a:rPr lang="en-US" altLang="zh-CN" sz="2400" b="1" dirty="0">
                <a:solidFill>
                  <a:srgbClr val="0000FF"/>
                </a:solidFill>
                <a:latin typeface="宋体" panose="02010600030101010101" pitchFamily="2" charset="-122"/>
              </a:rPr>
              <a:t>=</a:t>
            </a:r>
            <a:r>
              <a:rPr lang="en-US" altLang="zh-CN" sz="2400" b="1" dirty="0" err="1">
                <a:solidFill>
                  <a:srgbClr val="0000FF"/>
                </a:solidFill>
                <a:latin typeface="宋体" panose="02010600030101010101" pitchFamily="2" charset="-122"/>
              </a:rPr>
              <a:t>a.size</a:t>
            </a:r>
            <a:r>
              <a:rPr lang="en-US" altLang="zh-CN" sz="2400" b="1" dirty="0">
                <a:solidFill>
                  <a:srgbClr val="0000FF"/>
                </a:solidFill>
                <a:latin typeface="宋体" panose="02010600030101010101" pitchFamily="2" charset="-122"/>
              </a:rPr>
              <a:t>;</a:t>
            </a:r>
          </a:p>
          <a:p>
            <a:r>
              <a:rPr lang="en-US" altLang="zh-CN"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i.text</a:t>
            </a:r>
            <a:r>
              <a:rPr lang="en-US" altLang="zh-CN" sz="2400" b="1" dirty="0">
                <a:solidFill>
                  <a:srgbClr val="0000FF"/>
                </a:solidFill>
                <a:latin typeface="宋体" panose="02010600030101010101" pitchFamily="2" charset="-122"/>
              </a:rPr>
              <a:t>=</a:t>
            </a:r>
            <a:r>
              <a:rPr lang="en-US" altLang="zh-CN" sz="2400" b="1" dirty="0" err="1">
                <a:solidFill>
                  <a:srgbClr val="0000FF"/>
                </a:solidFill>
                <a:latin typeface="宋体" panose="02010600030101010101" pitchFamily="2" charset="-122"/>
              </a:rPr>
              <a:t>a.text</a:t>
            </a:r>
            <a:r>
              <a:rPr lang="en-US" altLang="zh-CN" sz="2400" b="1" dirty="0">
                <a:solidFill>
                  <a:srgbClr val="0000FF"/>
                </a:solidFill>
                <a:latin typeface="宋体" panose="02010600030101010101" pitchFamily="2" charset="-122"/>
              </a:rPr>
              <a:t>;</a:t>
            </a:r>
          </a:p>
          <a:p>
            <a:r>
              <a:rPr lang="en-US" altLang="zh-CN"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i.next</a:t>
            </a:r>
            <a:r>
              <a:rPr lang="en-US" altLang="zh-CN" sz="2400" b="1" dirty="0">
                <a:solidFill>
                  <a:srgbClr val="0000FF"/>
                </a:solidFill>
                <a:latin typeface="宋体" panose="02010600030101010101" pitchFamily="2" charset="-122"/>
              </a:rPr>
              <a:t>=0;</a:t>
            </a:r>
          </a:p>
          <a:p>
            <a:r>
              <a:rPr lang="en-US" altLang="zh-CN"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getid</a:t>
            </a:r>
            <a:r>
              <a:rPr lang="en-US" altLang="zh-CN" sz="2400" b="1" dirty="0">
                <a:solidFill>
                  <a:srgbClr val="0000FF"/>
                </a:solidFill>
                <a:latin typeface="宋体" panose="02010600030101010101" pitchFamily="2" charset="-122"/>
              </a:rPr>
              <a:t>(PCB set</a:t>
            </a:r>
            <a:r>
              <a:rPr lang="zh-CN" altLang="en-US" sz="2400" b="1" dirty="0">
                <a:solidFill>
                  <a:srgbClr val="0000FF"/>
                </a:solidFill>
                <a:latin typeface="宋体" panose="02010600030101010101" pitchFamily="2" charset="-122"/>
              </a:rPr>
              <a:t>，</a:t>
            </a:r>
            <a:r>
              <a:rPr lang="en-US" altLang="zh-CN" sz="2400" b="1" dirty="0">
                <a:solidFill>
                  <a:srgbClr val="0000FF"/>
                </a:solidFill>
                <a:latin typeface="宋体" panose="02010600030101010101" pitchFamily="2" charset="-122"/>
              </a:rPr>
              <a:t>receiver</a:t>
            </a:r>
            <a:r>
              <a:rPr lang="zh-CN" altLang="en-US" sz="2400" b="1" dirty="0">
                <a:solidFill>
                  <a:srgbClr val="0000FF"/>
                </a:solidFill>
                <a:latin typeface="宋体" panose="02010600030101010101" pitchFamily="2" charset="-122"/>
              </a:rPr>
              <a:t>，</a:t>
            </a:r>
            <a:r>
              <a:rPr lang="en-US" altLang="zh-CN" sz="2400" b="1" dirty="0">
                <a:solidFill>
                  <a:srgbClr val="0000FF"/>
                </a:solidFill>
                <a:latin typeface="宋体" panose="02010600030101010101" pitchFamily="2" charset="-122"/>
              </a:rPr>
              <a:t>j); </a:t>
            </a:r>
          </a:p>
          <a:p>
            <a:r>
              <a:rPr lang="en-US" altLang="zh-CN" sz="2400" b="1" dirty="0">
                <a:solidFill>
                  <a:srgbClr val="0000FF"/>
                </a:solidFill>
                <a:latin typeface="宋体" panose="02010600030101010101" pitchFamily="2" charset="-122"/>
              </a:rPr>
              <a:t>  P(j .mutex);</a:t>
            </a:r>
          </a:p>
          <a:p>
            <a:r>
              <a:rPr lang="en-US" altLang="zh-CN" sz="2400" b="1" dirty="0">
                <a:solidFill>
                  <a:srgbClr val="0000FF"/>
                </a:solidFill>
                <a:latin typeface="宋体" panose="02010600030101010101" pitchFamily="2" charset="-122"/>
              </a:rPr>
              <a:t>  insert(j.mq</a:t>
            </a:r>
            <a:r>
              <a:rPr lang="zh-CN" altLang="en-US"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i</a:t>
            </a:r>
            <a:r>
              <a:rPr lang="en-US" altLang="zh-CN" sz="2400" b="1" dirty="0">
                <a:solidFill>
                  <a:srgbClr val="0000FF"/>
                </a:solidFill>
                <a:latin typeface="宋体" panose="02010600030101010101" pitchFamily="2" charset="-122"/>
              </a:rPr>
              <a:t>);           </a:t>
            </a:r>
            <a:endParaRPr lang="zh-CN" altLang="en-US" sz="2400" b="1" dirty="0">
              <a:solidFill>
                <a:srgbClr val="0000FF"/>
              </a:solidFill>
              <a:latin typeface="宋体" panose="02010600030101010101" pitchFamily="2" charset="-122"/>
            </a:endParaRPr>
          </a:p>
          <a:p>
            <a:r>
              <a:rPr lang="en-US" altLang="zh-CN" sz="2400" b="1" dirty="0">
                <a:solidFill>
                  <a:srgbClr val="0000FF"/>
                </a:solidFill>
                <a:latin typeface="宋体" panose="02010600030101010101" pitchFamily="2" charset="-122"/>
              </a:rPr>
              <a:t>  V(</a:t>
            </a:r>
            <a:r>
              <a:rPr lang="en-US" altLang="zh-CN" sz="2400" b="1" dirty="0" err="1">
                <a:solidFill>
                  <a:srgbClr val="0000FF"/>
                </a:solidFill>
                <a:latin typeface="宋体" panose="02010600030101010101" pitchFamily="2" charset="-122"/>
              </a:rPr>
              <a:t>j.mutex</a:t>
            </a:r>
            <a:r>
              <a:rPr lang="en-US" altLang="zh-CN" sz="2400" b="1" dirty="0">
                <a:solidFill>
                  <a:srgbClr val="0000FF"/>
                </a:solidFill>
                <a:latin typeface="宋体" panose="02010600030101010101" pitchFamily="2" charset="-122"/>
              </a:rPr>
              <a:t>);</a:t>
            </a:r>
          </a:p>
          <a:p>
            <a:r>
              <a:rPr lang="en-US" altLang="zh-CN" sz="2400" b="1" dirty="0">
                <a:solidFill>
                  <a:srgbClr val="0000FF"/>
                </a:solidFill>
                <a:latin typeface="宋体" panose="02010600030101010101" pitchFamily="2" charset="-122"/>
              </a:rPr>
              <a:t>  V(j.sm);</a:t>
            </a:r>
            <a:r>
              <a:rPr lang="en-US" altLang="zh-CN" sz="2400" dirty="0"/>
              <a:t>  </a:t>
            </a:r>
          </a:p>
          <a:p>
            <a:r>
              <a:rPr lang="en-US" altLang="zh-CN" sz="2400" b="1" dirty="0">
                <a:solidFill>
                  <a:srgbClr val="0000FF"/>
                </a:solidFill>
                <a:latin typeface="宋体" panose="02010600030101010101" pitchFamily="2" charset="-122"/>
              </a:rPr>
              <a:t>}</a:t>
            </a:r>
            <a:endParaRPr lang="zh-CN" altLang="en-US" dirty="0">
              <a:solidFill>
                <a:schemeClr val="tx1"/>
              </a:solidFill>
              <a:latin typeface="宋体" panose="02010600030101010101" pitchFamily="2" charset="-122"/>
            </a:endParaRPr>
          </a:p>
        </p:txBody>
      </p:sp>
      <p:sp>
        <p:nvSpPr>
          <p:cNvPr id="7" name="矩形 6">
            <a:extLst>
              <a:ext uri="{FF2B5EF4-FFF2-40B4-BE49-F238E27FC236}">
                <a16:creationId xmlns:a16="http://schemas.microsoft.com/office/drawing/2014/main" id="{E68EF22A-E373-0F73-F296-C7F99437C0EB}"/>
              </a:ext>
            </a:extLst>
          </p:cNvPr>
          <p:cNvSpPr/>
          <p:nvPr/>
        </p:nvSpPr>
        <p:spPr>
          <a:xfrm>
            <a:off x="6660246" y="1620988"/>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矩形 9">
            <a:extLst>
              <a:ext uri="{FF2B5EF4-FFF2-40B4-BE49-F238E27FC236}">
                <a16:creationId xmlns:a16="http://schemas.microsoft.com/office/drawing/2014/main" id="{28E230F3-5D9D-4AC8-BCB2-C5C6EB80F20D}"/>
              </a:ext>
            </a:extLst>
          </p:cNvPr>
          <p:cNvSpPr/>
          <p:nvPr/>
        </p:nvSpPr>
        <p:spPr>
          <a:xfrm>
            <a:off x="7568296" y="1620988"/>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文本框 55">
            <a:extLst>
              <a:ext uri="{FF2B5EF4-FFF2-40B4-BE49-F238E27FC236}">
                <a16:creationId xmlns:a16="http://schemas.microsoft.com/office/drawing/2014/main" id="{C84C9606-4620-CD0D-33EF-E18861077F4F}"/>
              </a:ext>
            </a:extLst>
          </p:cNvPr>
          <p:cNvSpPr txBox="1">
            <a:spLocks noChangeArrowheads="1"/>
          </p:cNvSpPr>
          <p:nvPr/>
        </p:nvSpPr>
        <p:spPr bwMode="auto">
          <a:xfrm>
            <a:off x="6514196" y="1087588"/>
            <a:ext cx="46736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4</a:t>
            </a:r>
            <a:r>
              <a:rPr lang="zh-CN" altLang="en-US" sz="2400" b="1" dirty="0">
                <a:solidFill>
                  <a:srgbClr val="4C7E51"/>
                </a:solidFill>
                <a:latin typeface="微软雅黑" panose="020B0503020204020204" pitchFamily="34" charset="-122"/>
                <a:ea typeface="微软雅黑" panose="020B0503020204020204" pitchFamily="34" charset="-122"/>
              </a:rPr>
              <a:t>）接收原语</a:t>
            </a:r>
          </a:p>
        </p:txBody>
      </p:sp>
      <p:sp>
        <p:nvSpPr>
          <p:cNvPr id="12" name="Rectangle 5">
            <a:extLst>
              <a:ext uri="{FF2B5EF4-FFF2-40B4-BE49-F238E27FC236}">
                <a16:creationId xmlns:a16="http://schemas.microsoft.com/office/drawing/2014/main" id="{5ED43051-56EF-1E9B-EF91-C7C31F955D90}"/>
              </a:ext>
            </a:extLst>
          </p:cNvPr>
          <p:cNvSpPr>
            <a:spLocks noChangeArrowheads="1"/>
          </p:cNvSpPr>
          <p:nvPr/>
        </p:nvSpPr>
        <p:spPr bwMode="auto">
          <a:xfrm>
            <a:off x="6660246" y="1963552"/>
            <a:ext cx="4831598" cy="45291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r>
              <a:rPr lang="en-US" altLang="zh-CN" sz="2400" b="1" dirty="0">
                <a:solidFill>
                  <a:srgbClr val="0000FF"/>
                </a:solidFill>
                <a:latin typeface="宋体" panose="02010600030101010101" pitchFamily="2" charset="-122"/>
              </a:rPr>
              <a:t>receive(b){</a:t>
            </a:r>
            <a:r>
              <a:rPr lang="zh-CN" altLang="en-US" sz="2400" b="1" dirty="0">
                <a:solidFill>
                  <a:srgbClr val="0000FF"/>
                </a:solidFill>
                <a:latin typeface="宋体" panose="02010600030101010101" pitchFamily="2" charset="-122"/>
              </a:rPr>
              <a:t>　　</a:t>
            </a:r>
          </a:p>
          <a:p>
            <a:r>
              <a:rPr lang="zh-CN" altLang="en-US" sz="2400" b="1" dirty="0">
                <a:solidFill>
                  <a:srgbClr val="0000FF"/>
                </a:solidFill>
                <a:latin typeface="宋体" panose="02010600030101010101" pitchFamily="2" charset="-122"/>
              </a:rPr>
              <a:t>　</a:t>
            </a:r>
            <a:r>
              <a:rPr lang="en-US" altLang="zh-CN" sz="2400" b="1" dirty="0">
                <a:solidFill>
                  <a:srgbClr val="0000FF"/>
                </a:solidFill>
                <a:latin typeface="宋体" panose="02010600030101010101" pitchFamily="2" charset="-122"/>
              </a:rPr>
              <a:t>j=</a:t>
            </a:r>
            <a:r>
              <a:rPr lang="en-US" altLang="zh-CN" sz="2400" b="1" dirty="0" err="1">
                <a:solidFill>
                  <a:srgbClr val="0000FF"/>
                </a:solidFill>
                <a:latin typeface="宋体" panose="02010600030101010101" pitchFamily="2" charset="-122"/>
              </a:rPr>
              <a:t>getid</a:t>
            </a:r>
            <a:r>
              <a:rPr lang="en-US" altLang="zh-CN" sz="2400" b="1" dirty="0">
                <a:solidFill>
                  <a:srgbClr val="0000FF"/>
                </a:solidFill>
                <a:latin typeface="宋体" panose="02010600030101010101" pitchFamily="2" charset="-122"/>
              </a:rPr>
              <a:t>( );</a:t>
            </a:r>
          </a:p>
          <a:p>
            <a:r>
              <a:rPr lang="en-US" altLang="zh-CN" sz="2400" b="1" dirty="0">
                <a:solidFill>
                  <a:srgbClr val="0000FF"/>
                </a:solidFill>
                <a:latin typeface="宋体" panose="02010600030101010101" pitchFamily="2" charset="-122"/>
              </a:rPr>
              <a:t> </a:t>
            </a:r>
            <a:r>
              <a:rPr lang="zh-CN" altLang="en-US" sz="2400" b="1" dirty="0">
                <a:solidFill>
                  <a:srgbClr val="0000FF"/>
                </a:solidFill>
                <a:latin typeface="宋体" panose="02010600030101010101" pitchFamily="2" charset="-122"/>
              </a:rPr>
              <a:t> </a:t>
            </a:r>
            <a:r>
              <a:rPr lang="en-US" altLang="zh-CN" sz="2400" b="1" dirty="0">
                <a:solidFill>
                  <a:srgbClr val="0000FF"/>
                </a:solidFill>
                <a:latin typeface="宋体" panose="02010600030101010101" pitchFamily="2" charset="-122"/>
              </a:rPr>
              <a:t>P(j.sm) ;</a:t>
            </a:r>
          </a:p>
          <a:p>
            <a:r>
              <a:rPr lang="en-US" altLang="zh-CN" sz="2400" b="1" dirty="0">
                <a:solidFill>
                  <a:srgbClr val="0000FF"/>
                </a:solidFill>
                <a:latin typeface="宋体" panose="02010600030101010101" pitchFamily="2" charset="-122"/>
              </a:rPr>
              <a:t>  p(</a:t>
            </a:r>
            <a:r>
              <a:rPr lang="en-US" altLang="zh-CN" sz="2400" b="1" dirty="0" err="1">
                <a:solidFill>
                  <a:srgbClr val="0000FF"/>
                </a:solidFill>
                <a:latin typeface="宋体" panose="02010600030101010101" pitchFamily="2" charset="-122"/>
              </a:rPr>
              <a:t>j.mutex</a:t>
            </a:r>
            <a:r>
              <a:rPr lang="en-US" altLang="zh-CN" sz="2400" b="1" dirty="0">
                <a:solidFill>
                  <a:srgbClr val="0000FF"/>
                </a:solidFill>
                <a:latin typeface="宋体" panose="02010600030101010101" pitchFamily="2" charset="-122"/>
              </a:rPr>
              <a:t>);</a:t>
            </a:r>
          </a:p>
          <a:p>
            <a:r>
              <a:rPr lang="zh-CN" altLang="en-US" sz="2400" b="1" dirty="0">
                <a:solidFill>
                  <a:srgbClr val="0000FF"/>
                </a:solidFill>
                <a:latin typeface="宋体" panose="02010600030101010101" pitchFamily="2" charset="-122"/>
              </a:rPr>
              <a:t>　</a:t>
            </a:r>
            <a:r>
              <a:rPr lang="en-US" altLang="zh-CN" sz="2400" b="1" dirty="0">
                <a:solidFill>
                  <a:srgbClr val="0000FF"/>
                </a:solidFill>
                <a:latin typeface="宋体" panose="02010600030101010101" pitchFamily="2" charset="-122"/>
              </a:rPr>
              <a:t>remove(j.mq</a:t>
            </a:r>
            <a:r>
              <a:rPr lang="zh-CN" altLang="en-US" sz="2400" b="1" dirty="0">
                <a:solidFill>
                  <a:srgbClr val="0000FF"/>
                </a:solidFill>
                <a:latin typeface="宋体" panose="02010600030101010101" pitchFamily="2" charset="-122"/>
              </a:rPr>
              <a:t>，</a:t>
            </a:r>
            <a:r>
              <a:rPr lang="en-US" altLang="zh-CN" sz="2400" b="1" dirty="0" err="1">
                <a:solidFill>
                  <a:srgbClr val="0000FF"/>
                </a:solidFill>
                <a:latin typeface="宋体" panose="02010600030101010101" pitchFamily="2" charset="-122"/>
              </a:rPr>
              <a:t>i</a:t>
            </a:r>
            <a:r>
              <a:rPr lang="en-US" altLang="zh-CN" sz="2400" b="1" dirty="0">
                <a:solidFill>
                  <a:srgbClr val="0000FF"/>
                </a:solidFill>
                <a:latin typeface="宋体" panose="02010600030101010101" pitchFamily="2" charset="-122"/>
              </a:rPr>
              <a:t>); </a:t>
            </a:r>
          </a:p>
          <a:p>
            <a:r>
              <a:rPr lang="zh-CN" altLang="en-US" sz="2400" b="1" dirty="0">
                <a:solidFill>
                  <a:srgbClr val="0000FF"/>
                </a:solidFill>
                <a:latin typeface="宋体" panose="02010600030101010101" pitchFamily="2" charset="-122"/>
              </a:rPr>
              <a:t>　</a:t>
            </a:r>
            <a:r>
              <a:rPr lang="en-US" altLang="zh-CN" sz="2400" b="1" dirty="0">
                <a:solidFill>
                  <a:srgbClr val="0000FF"/>
                </a:solidFill>
                <a:latin typeface="宋体" panose="02010600030101010101" pitchFamily="2" charset="-122"/>
              </a:rPr>
              <a:t>V(</a:t>
            </a:r>
            <a:r>
              <a:rPr lang="en-US" altLang="zh-CN" sz="2400" b="1" dirty="0" err="1">
                <a:solidFill>
                  <a:srgbClr val="0000FF"/>
                </a:solidFill>
                <a:latin typeface="宋体" panose="02010600030101010101" pitchFamily="2" charset="-122"/>
              </a:rPr>
              <a:t>j.mutex</a:t>
            </a:r>
            <a:r>
              <a:rPr lang="en-US" altLang="zh-CN" sz="2400" b="1" dirty="0">
                <a:solidFill>
                  <a:srgbClr val="0000FF"/>
                </a:solidFill>
                <a:latin typeface="宋体" panose="02010600030101010101" pitchFamily="2" charset="-122"/>
              </a:rPr>
              <a:t>);</a:t>
            </a:r>
          </a:p>
          <a:p>
            <a:r>
              <a:rPr lang="zh-CN" altLang="en-US"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b.sender</a:t>
            </a:r>
            <a:r>
              <a:rPr lang="en-US" altLang="zh-CN" sz="2400" b="1" dirty="0">
                <a:solidFill>
                  <a:srgbClr val="0000FF"/>
                </a:solidFill>
                <a:latin typeface="宋体" panose="02010600030101010101" pitchFamily="2" charset="-122"/>
              </a:rPr>
              <a:t>=</a:t>
            </a:r>
            <a:r>
              <a:rPr lang="en-US" altLang="zh-CN" sz="2400" b="1" dirty="0" err="1">
                <a:solidFill>
                  <a:srgbClr val="0000FF"/>
                </a:solidFill>
                <a:latin typeface="宋体" panose="02010600030101010101" pitchFamily="2" charset="-122"/>
              </a:rPr>
              <a:t>i.sender</a:t>
            </a:r>
            <a:r>
              <a:rPr lang="en-US" altLang="zh-CN" sz="2400" b="1" dirty="0">
                <a:solidFill>
                  <a:srgbClr val="0000FF"/>
                </a:solidFill>
                <a:latin typeface="宋体" panose="02010600030101010101" pitchFamily="2" charset="-122"/>
              </a:rPr>
              <a:t> ; </a:t>
            </a:r>
          </a:p>
          <a:p>
            <a:r>
              <a:rPr lang="zh-CN" altLang="en-US"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b.size</a:t>
            </a:r>
            <a:r>
              <a:rPr lang="en-US" altLang="zh-CN" sz="2400" b="1" dirty="0">
                <a:solidFill>
                  <a:srgbClr val="0000FF"/>
                </a:solidFill>
                <a:latin typeface="宋体" panose="02010600030101010101" pitchFamily="2" charset="-122"/>
              </a:rPr>
              <a:t>=</a:t>
            </a:r>
            <a:r>
              <a:rPr lang="en-US" altLang="zh-CN" sz="2400" b="1" dirty="0" err="1">
                <a:solidFill>
                  <a:srgbClr val="0000FF"/>
                </a:solidFill>
                <a:latin typeface="宋体" panose="02010600030101010101" pitchFamily="2" charset="-122"/>
              </a:rPr>
              <a:t>i.size</a:t>
            </a:r>
            <a:r>
              <a:rPr lang="en-US" altLang="zh-CN" sz="2400" b="1" dirty="0">
                <a:solidFill>
                  <a:srgbClr val="0000FF"/>
                </a:solidFill>
                <a:latin typeface="宋体" panose="02010600030101010101" pitchFamily="2" charset="-122"/>
              </a:rPr>
              <a:t>;</a:t>
            </a:r>
          </a:p>
          <a:p>
            <a:r>
              <a:rPr lang="zh-CN" altLang="en-US"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b.text</a:t>
            </a:r>
            <a:r>
              <a:rPr lang="en-US" altLang="zh-CN"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i.text</a:t>
            </a:r>
            <a:r>
              <a:rPr lang="en-US" altLang="zh-CN" sz="2400" b="1" dirty="0">
                <a:solidFill>
                  <a:srgbClr val="0000FF"/>
                </a:solidFill>
                <a:latin typeface="宋体" panose="02010600030101010101" pitchFamily="2" charset="-122"/>
              </a:rPr>
              <a:t>;</a:t>
            </a:r>
          </a:p>
          <a:p>
            <a:r>
              <a:rPr lang="zh-CN" altLang="en-US" sz="2400" b="1" dirty="0">
                <a:solidFill>
                  <a:srgbClr val="0000FF"/>
                </a:solidFill>
                <a:latin typeface="宋体" panose="02010600030101010101" pitchFamily="2" charset="-122"/>
              </a:rPr>
              <a:t>　</a:t>
            </a:r>
            <a:r>
              <a:rPr lang="en-US" altLang="zh-CN" sz="2400" b="1" dirty="0" err="1">
                <a:solidFill>
                  <a:srgbClr val="0000FF"/>
                </a:solidFill>
                <a:latin typeface="宋体" panose="02010600030101010101" pitchFamily="2" charset="-122"/>
              </a:rPr>
              <a:t>releasebuf</a:t>
            </a:r>
            <a:r>
              <a:rPr lang="en-US" altLang="zh-CN" sz="2400" b="1" dirty="0">
                <a:solidFill>
                  <a:srgbClr val="0000FF"/>
                </a:solidFill>
                <a:latin typeface="宋体" panose="02010600030101010101" pitchFamily="2" charset="-122"/>
              </a:rPr>
              <a:t>(</a:t>
            </a:r>
            <a:r>
              <a:rPr lang="en-US" altLang="zh-CN" sz="2400" b="1" dirty="0" err="1">
                <a:solidFill>
                  <a:srgbClr val="0000FF"/>
                </a:solidFill>
                <a:latin typeface="宋体" panose="02010600030101010101" pitchFamily="2" charset="-122"/>
              </a:rPr>
              <a:t>i</a:t>
            </a:r>
            <a:r>
              <a:rPr lang="en-US" altLang="zh-CN" sz="2400" b="1" dirty="0">
                <a:solidFill>
                  <a:srgbClr val="0000FF"/>
                </a:solidFill>
                <a:latin typeface="宋体" panose="02010600030101010101" pitchFamily="2" charset="-122"/>
              </a:rPr>
              <a:t>);</a:t>
            </a:r>
          </a:p>
          <a:p>
            <a:r>
              <a:rPr lang="en-US" altLang="zh-CN" sz="2400" b="1" dirty="0">
                <a:solidFill>
                  <a:srgbClr val="0000FF"/>
                </a:solidFill>
                <a:latin typeface="宋体" panose="02010600030101010101" pitchFamily="2" charset="-122"/>
              </a:rPr>
              <a:t>}</a:t>
            </a:r>
            <a:endParaRPr lang="zh-CN" altLang="en-US" dirty="0">
              <a:solidFill>
                <a:schemeClr val="tx1"/>
              </a:solidFill>
              <a:latin typeface="宋体" panose="02010600030101010101" pitchFamily="2" charset="-122"/>
            </a:endParaRPr>
          </a:p>
        </p:txBody>
      </p:sp>
    </p:spTree>
    <p:extLst>
      <p:ext uri="{BB962C8B-B14F-4D97-AF65-F5344CB8AC3E}">
        <p14:creationId xmlns:p14="http://schemas.microsoft.com/office/powerpoint/2010/main" val="3173828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8832" y="202028"/>
            <a:ext cx="4431505" cy="457196"/>
          </a:xfrm>
        </p:spPr>
        <p:txBody>
          <a:bodyPr>
            <a:normAutofit/>
          </a:bodyPr>
          <a:lstStyle/>
          <a:p>
            <a:r>
              <a:rPr lang="en-US" altLang="zh-CN" dirty="0"/>
              <a:t>4.</a:t>
            </a:r>
            <a:r>
              <a:rPr lang="zh-CN" altLang="en-US" dirty="0"/>
              <a:t>邮箱通信</a:t>
            </a:r>
          </a:p>
        </p:txBody>
      </p:sp>
      <p:pic>
        <p:nvPicPr>
          <p:cNvPr id="9" name="Picture 3" descr="E:\仝德志文件\03-参考资料\！仝个人\！PPT图片及版面资源\06-PPT精选插图\04-图标\B74562C27852F06F2A430A94546B4851.png">
            <a:extLst>
              <a:ext uri="{FF2B5EF4-FFF2-40B4-BE49-F238E27FC236}">
                <a16:creationId xmlns:a16="http://schemas.microsoft.com/office/drawing/2014/main" id="{9839DDA1-1A25-1DBD-E8DB-CCDC352EBDB6}"/>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9312275" y="4652946"/>
            <a:ext cx="2879725" cy="216024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26">
            <a:extLst>
              <a:ext uri="{FF2B5EF4-FFF2-40B4-BE49-F238E27FC236}">
                <a16:creationId xmlns:a16="http://schemas.microsoft.com/office/drawing/2014/main" id="{4499D035-E607-D490-BFEF-14B0AA61F1FA}"/>
              </a:ext>
            </a:extLst>
          </p:cNvPr>
          <p:cNvGrpSpPr>
            <a:grpSpLocks/>
          </p:cNvGrpSpPr>
          <p:nvPr/>
        </p:nvGrpSpPr>
        <p:grpSpPr bwMode="auto">
          <a:xfrm>
            <a:off x="1387654" y="2713932"/>
            <a:ext cx="6893461" cy="1008062"/>
            <a:chOff x="2018" y="3294"/>
            <a:chExt cx="3538" cy="635"/>
          </a:xfrm>
        </p:grpSpPr>
        <p:grpSp>
          <p:nvGrpSpPr>
            <p:cNvPr id="7" name="Group 9">
              <a:extLst>
                <a:ext uri="{FF2B5EF4-FFF2-40B4-BE49-F238E27FC236}">
                  <a16:creationId xmlns:a16="http://schemas.microsoft.com/office/drawing/2014/main" id="{35260BA5-D0E0-3378-C9C3-BDC8A1C4BBF3}"/>
                </a:ext>
              </a:extLst>
            </p:cNvPr>
            <p:cNvGrpSpPr>
              <a:grpSpLocks/>
            </p:cNvGrpSpPr>
            <p:nvPr/>
          </p:nvGrpSpPr>
          <p:grpSpPr bwMode="auto">
            <a:xfrm>
              <a:off x="2018" y="3312"/>
              <a:ext cx="583" cy="572"/>
              <a:chOff x="3256" y="1854"/>
              <a:chExt cx="758" cy="777"/>
            </a:xfrm>
          </p:grpSpPr>
          <p:sp>
            <p:nvSpPr>
              <p:cNvPr id="23" name="Text Box 10">
                <a:extLst>
                  <a:ext uri="{FF2B5EF4-FFF2-40B4-BE49-F238E27FC236}">
                    <a16:creationId xmlns:a16="http://schemas.microsoft.com/office/drawing/2014/main" id="{A13ECCDE-4344-4B15-C4F4-C63D6A0223B8}"/>
                  </a:ext>
                </a:extLst>
              </p:cNvPr>
              <p:cNvSpPr txBox="1">
                <a:spLocks noChangeArrowheads="1"/>
              </p:cNvSpPr>
              <p:nvPr/>
            </p:nvSpPr>
            <p:spPr bwMode="auto">
              <a:xfrm>
                <a:off x="3294" y="1926"/>
                <a:ext cx="720"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lnSpc>
                    <a:spcPct val="96000"/>
                  </a:lnSpc>
                </a:pPr>
                <a:r>
                  <a:rPr lang="zh-CN" altLang="en-US" sz="1600" b="1">
                    <a:solidFill>
                      <a:schemeClr val="tx1"/>
                    </a:solidFill>
                  </a:rPr>
                  <a:t>发送</a:t>
                </a:r>
              </a:p>
              <a:p>
                <a:pPr algn="just">
                  <a:lnSpc>
                    <a:spcPct val="96000"/>
                  </a:lnSpc>
                </a:pPr>
                <a:r>
                  <a:rPr lang="zh-CN" altLang="en-US" sz="1600" b="1">
                    <a:solidFill>
                      <a:schemeClr val="tx1"/>
                    </a:solidFill>
                  </a:rPr>
                  <a:t>进程</a:t>
                </a:r>
              </a:p>
            </p:txBody>
          </p:sp>
          <p:sp>
            <p:nvSpPr>
              <p:cNvPr id="24" name="Oval 11">
                <a:extLst>
                  <a:ext uri="{FF2B5EF4-FFF2-40B4-BE49-F238E27FC236}">
                    <a16:creationId xmlns:a16="http://schemas.microsoft.com/office/drawing/2014/main" id="{FD012DF2-DF1F-78F7-7783-0092B5D7DE7E}"/>
                  </a:ext>
                </a:extLst>
              </p:cNvPr>
              <p:cNvSpPr>
                <a:spLocks noChangeArrowheads="1"/>
              </p:cNvSpPr>
              <p:nvPr/>
            </p:nvSpPr>
            <p:spPr bwMode="auto">
              <a:xfrm>
                <a:off x="3256" y="1854"/>
                <a:ext cx="720" cy="72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grpSp>
        <p:sp>
          <p:nvSpPr>
            <p:cNvPr id="10" name="Line 12">
              <a:extLst>
                <a:ext uri="{FF2B5EF4-FFF2-40B4-BE49-F238E27FC236}">
                  <a16:creationId xmlns:a16="http://schemas.microsoft.com/office/drawing/2014/main" id="{13310225-F159-39BB-F215-8C90AA2BB4B6}"/>
                </a:ext>
              </a:extLst>
            </p:cNvPr>
            <p:cNvSpPr>
              <a:spLocks noChangeShapeType="1"/>
            </p:cNvSpPr>
            <p:nvPr/>
          </p:nvSpPr>
          <p:spPr bwMode="auto">
            <a:xfrm>
              <a:off x="2587" y="3499"/>
              <a:ext cx="711"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 name="Rectangle 14">
              <a:extLst>
                <a:ext uri="{FF2B5EF4-FFF2-40B4-BE49-F238E27FC236}">
                  <a16:creationId xmlns:a16="http://schemas.microsoft.com/office/drawing/2014/main" id="{AF6ED1D5-FFF4-5D68-1E64-AEF0561489B1}"/>
                </a:ext>
              </a:extLst>
            </p:cNvPr>
            <p:cNvSpPr>
              <a:spLocks noChangeArrowheads="1"/>
            </p:cNvSpPr>
            <p:nvPr/>
          </p:nvSpPr>
          <p:spPr bwMode="auto">
            <a:xfrm>
              <a:off x="3291" y="3307"/>
              <a:ext cx="972" cy="457"/>
            </a:xfrm>
            <a:prstGeom prst="rect">
              <a:avLst/>
            </a:prstGeom>
            <a:solidFill>
              <a:srgbClr val="FFFFFF"/>
            </a:solidFill>
            <a:ln w="9525">
              <a:solidFill>
                <a:srgbClr val="000000"/>
              </a:solidFill>
              <a:miter lim="800000"/>
              <a:headEnd/>
              <a:tailEnd/>
            </a:ln>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sp>
          <p:nvSpPr>
            <p:cNvPr id="12" name="Line 15">
              <a:extLst>
                <a:ext uri="{FF2B5EF4-FFF2-40B4-BE49-F238E27FC236}">
                  <a16:creationId xmlns:a16="http://schemas.microsoft.com/office/drawing/2014/main" id="{CA0274E4-D999-6BED-2C31-19431A673FBC}"/>
                </a:ext>
              </a:extLst>
            </p:cNvPr>
            <p:cNvSpPr>
              <a:spLocks noChangeShapeType="1"/>
            </p:cNvSpPr>
            <p:nvPr/>
          </p:nvSpPr>
          <p:spPr bwMode="auto">
            <a:xfrm>
              <a:off x="3291" y="3491"/>
              <a:ext cx="97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Text Box 16">
              <a:extLst>
                <a:ext uri="{FF2B5EF4-FFF2-40B4-BE49-F238E27FC236}">
                  <a16:creationId xmlns:a16="http://schemas.microsoft.com/office/drawing/2014/main" id="{43552587-C559-ACC6-3A91-3A3E3E6128A6}"/>
                </a:ext>
              </a:extLst>
            </p:cNvPr>
            <p:cNvSpPr txBox="1">
              <a:spLocks noChangeArrowheads="1"/>
            </p:cNvSpPr>
            <p:nvPr/>
          </p:nvSpPr>
          <p:spPr bwMode="auto">
            <a:xfrm>
              <a:off x="3545" y="3294"/>
              <a:ext cx="741"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zh-CN" altLang="en-US" sz="1600" b="1">
                  <a:solidFill>
                    <a:schemeClr val="tx1"/>
                  </a:solidFill>
                </a:rPr>
                <a:t>信箱头</a:t>
              </a:r>
            </a:p>
          </p:txBody>
        </p:sp>
        <p:sp>
          <p:nvSpPr>
            <p:cNvPr id="14" name="Line 17">
              <a:extLst>
                <a:ext uri="{FF2B5EF4-FFF2-40B4-BE49-F238E27FC236}">
                  <a16:creationId xmlns:a16="http://schemas.microsoft.com/office/drawing/2014/main" id="{6D777743-AC72-7A37-1A79-B10985928580}"/>
                </a:ext>
              </a:extLst>
            </p:cNvPr>
            <p:cNvSpPr>
              <a:spLocks noChangeShapeType="1"/>
            </p:cNvSpPr>
            <p:nvPr/>
          </p:nvSpPr>
          <p:spPr bwMode="auto">
            <a:xfrm>
              <a:off x="3376" y="3491"/>
              <a:ext cx="0" cy="2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8">
              <a:extLst>
                <a:ext uri="{FF2B5EF4-FFF2-40B4-BE49-F238E27FC236}">
                  <a16:creationId xmlns:a16="http://schemas.microsoft.com/office/drawing/2014/main" id="{6607AB76-680C-D70B-371A-07EEB5E99FCA}"/>
                </a:ext>
              </a:extLst>
            </p:cNvPr>
            <p:cNvSpPr>
              <a:spLocks noChangeShapeType="1"/>
            </p:cNvSpPr>
            <p:nvPr/>
          </p:nvSpPr>
          <p:spPr bwMode="auto">
            <a:xfrm>
              <a:off x="3453" y="3491"/>
              <a:ext cx="0" cy="2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9">
              <a:extLst>
                <a:ext uri="{FF2B5EF4-FFF2-40B4-BE49-F238E27FC236}">
                  <a16:creationId xmlns:a16="http://schemas.microsoft.com/office/drawing/2014/main" id="{B53501A4-D219-A4C6-995A-F5E334E88B6D}"/>
                </a:ext>
              </a:extLst>
            </p:cNvPr>
            <p:cNvSpPr>
              <a:spLocks noChangeShapeType="1"/>
            </p:cNvSpPr>
            <p:nvPr/>
          </p:nvSpPr>
          <p:spPr bwMode="auto">
            <a:xfrm>
              <a:off x="3538" y="3491"/>
              <a:ext cx="0" cy="2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 Box 20">
              <a:extLst>
                <a:ext uri="{FF2B5EF4-FFF2-40B4-BE49-F238E27FC236}">
                  <a16:creationId xmlns:a16="http://schemas.microsoft.com/office/drawing/2014/main" id="{141E71B3-0BF1-46AD-A87B-9ABD56BE92CA}"/>
                </a:ext>
              </a:extLst>
            </p:cNvPr>
            <p:cNvSpPr txBox="1">
              <a:spLocks noChangeArrowheads="1"/>
            </p:cNvSpPr>
            <p:nvPr/>
          </p:nvSpPr>
          <p:spPr bwMode="auto">
            <a:xfrm>
              <a:off x="3545" y="3521"/>
              <a:ext cx="66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r>
                <a:rPr lang="en-US" altLang="zh-CN" sz="1600" b="1">
                  <a:solidFill>
                    <a:schemeClr val="tx1"/>
                  </a:solidFill>
                </a:rPr>
                <a:t>···  </a:t>
              </a:r>
              <a:r>
                <a:rPr lang="zh-CN" altLang="en-US" sz="1600" b="1">
                  <a:solidFill>
                    <a:schemeClr val="tx1"/>
                  </a:solidFill>
                </a:rPr>
                <a:t>信箱体</a:t>
              </a:r>
            </a:p>
          </p:txBody>
        </p:sp>
        <p:sp>
          <p:nvSpPr>
            <p:cNvPr id="19" name="Line 21">
              <a:extLst>
                <a:ext uri="{FF2B5EF4-FFF2-40B4-BE49-F238E27FC236}">
                  <a16:creationId xmlns:a16="http://schemas.microsoft.com/office/drawing/2014/main" id="{B427F5AF-23B1-2101-9FED-AD5A2BF03AF8}"/>
                </a:ext>
              </a:extLst>
            </p:cNvPr>
            <p:cNvSpPr>
              <a:spLocks noChangeShapeType="1"/>
            </p:cNvSpPr>
            <p:nvPr/>
          </p:nvSpPr>
          <p:spPr bwMode="auto">
            <a:xfrm>
              <a:off x="4263" y="3493"/>
              <a:ext cx="711"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0" name="Group 22">
              <a:extLst>
                <a:ext uri="{FF2B5EF4-FFF2-40B4-BE49-F238E27FC236}">
                  <a16:creationId xmlns:a16="http://schemas.microsoft.com/office/drawing/2014/main" id="{A4244619-C2FF-4B3F-37DB-7DCFE7929B81}"/>
                </a:ext>
              </a:extLst>
            </p:cNvPr>
            <p:cNvGrpSpPr>
              <a:grpSpLocks/>
            </p:cNvGrpSpPr>
            <p:nvPr/>
          </p:nvGrpSpPr>
          <p:grpSpPr bwMode="auto">
            <a:xfrm>
              <a:off x="4973" y="3313"/>
              <a:ext cx="583" cy="616"/>
              <a:chOff x="3256" y="1854"/>
              <a:chExt cx="758" cy="777"/>
            </a:xfrm>
          </p:grpSpPr>
          <p:sp>
            <p:nvSpPr>
              <p:cNvPr id="21" name="Text Box 23">
                <a:extLst>
                  <a:ext uri="{FF2B5EF4-FFF2-40B4-BE49-F238E27FC236}">
                    <a16:creationId xmlns:a16="http://schemas.microsoft.com/office/drawing/2014/main" id="{CA3E8241-EAB3-57FE-72C0-E7CA2BFD73A5}"/>
                  </a:ext>
                </a:extLst>
              </p:cNvPr>
              <p:cNvSpPr txBox="1">
                <a:spLocks noChangeArrowheads="1"/>
              </p:cNvSpPr>
              <p:nvPr/>
            </p:nvSpPr>
            <p:spPr bwMode="auto">
              <a:xfrm>
                <a:off x="3294" y="1926"/>
                <a:ext cx="720"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pPr algn="just">
                  <a:lnSpc>
                    <a:spcPct val="96000"/>
                  </a:lnSpc>
                </a:pPr>
                <a:r>
                  <a:rPr lang="zh-CN" altLang="en-US" sz="1600" b="1">
                    <a:solidFill>
                      <a:schemeClr val="tx1"/>
                    </a:solidFill>
                  </a:rPr>
                  <a:t>接收</a:t>
                </a:r>
              </a:p>
              <a:p>
                <a:pPr algn="just">
                  <a:lnSpc>
                    <a:spcPct val="96000"/>
                  </a:lnSpc>
                </a:pPr>
                <a:r>
                  <a:rPr lang="zh-CN" altLang="en-US" sz="1600" b="1">
                    <a:solidFill>
                      <a:schemeClr val="tx1"/>
                    </a:solidFill>
                  </a:rPr>
                  <a:t>进程</a:t>
                </a:r>
              </a:p>
            </p:txBody>
          </p:sp>
          <p:sp>
            <p:nvSpPr>
              <p:cNvPr id="22" name="Oval 24">
                <a:extLst>
                  <a:ext uri="{FF2B5EF4-FFF2-40B4-BE49-F238E27FC236}">
                    <a16:creationId xmlns:a16="http://schemas.microsoft.com/office/drawing/2014/main" id="{30C18866-029B-65F5-BFE5-B55B48E03D5D}"/>
                  </a:ext>
                </a:extLst>
              </p:cNvPr>
              <p:cNvSpPr>
                <a:spLocks noChangeArrowheads="1"/>
              </p:cNvSpPr>
              <p:nvPr/>
            </p:nvSpPr>
            <p:spPr bwMode="auto">
              <a:xfrm>
                <a:off x="3256" y="1854"/>
                <a:ext cx="720" cy="72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bg2"/>
                    </a:solidFill>
                    <a:latin typeface="Times New Roman" panose="02020603050405020304" pitchFamily="18" charset="0"/>
                    <a:ea typeface="宋体" panose="02010600030101010101" pitchFamily="2" charset="-122"/>
                  </a:defRPr>
                </a:lvl1pPr>
                <a:lvl2pPr marL="742950" indent="-285750">
                  <a:defRPr kumimoji="1" sz="2400">
                    <a:solidFill>
                      <a:schemeClr val="bg2"/>
                    </a:solidFill>
                    <a:latin typeface="Times New Roman" panose="02020603050405020304" pitchFamily="18" charset="0"/>
                    <a:ea typeface="宋体" panose="02010600030101010101" pitchFamily="2" charset="-122"/>
                  </a:defRPr>
                </a:lvl2pPr>
                <a:lvl3pPr marL="1143000" indent="-228600">
                  <a:defRPr kumimoji="1" sz="2400">
                    <a:solidFill>
                      <a:schemeClr val="bg2"/>
                    </a:solidFill>
                    <a:latin typeface="Times New Roman" panose="02020603050405020304" pitchFamily="18" charset="0"/>
                    <a:ea typeface="宋体" panose="02010600030101010101" pitchFamily="2" charset="-122"/>
                  </a:defRPr>
                </a:lvl3pPr>
                <a:lvl4pPr marL="1600200" indent="-228600">
                  <a:defRPr kumimoji="1" sz="2400">
                    <a:solidFill>
                      <a:schemeClr val="bg2"/>
                    </a:solidFill>
                    <a:latin typeface="Times New Roman" panose="02020603050405020304" pitchFamily="18" charset="0"/>
                    <a:ea typeface="宋体" panose="02010600030101010101" pitchFamily="2" charset="-122"/>
                  </a:defRPr>
                </a:lvl4pPr>
                <a:lvl5pPr marL="2057400" indent="-228600">
                  <a:defRPr kumimoji="1" sz="2400">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bg2"/>
                    </a:solidFill>
                    <a:latin typeface="Times New Roman" panose="02020603050405020304" pitchFamily="18" charset="0"/>
                    <a:ea typeface="宋体" panose="02010600030101010101" pitchFamily="2" charset="-122"/>
                  </a:defRPr>
                </a:lvl9pPr>
              </a:lstStyle>
              <a:p>
                <a:endParaRPr lang="zh-CN" altLang="en-US">
                  <a:solidFill>
                    <a:schemeClr val="tx1"/>
                  </a:solidFill>
                </a:endParaRPr>
              </a:p>
            </p:txBody>
          </p:sp>
        </p:grpSp>
      </p:grpSp>
    </p:spTree>
    <p:extLst>
      <p:ext uri="{BB962C8B-B14F-4D97-AF65-F5344CB8AC3E}">
        <p14:creationId xmlns:p14="http://schemas.microsoft.com/office/powerpoint/2010/main" val="229495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ctr">
              <a:defRPr/>
            </a:pPr>
            <a:r>
              <a:rPr lang="zh-CN" altLang="en-US" sz="28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谢谢收看！</a:t>
            </a:r>
            <a:endParaRPr lang="zh-CN" altLang="en-US" sz="28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3200" spc="20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本节结束！</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2581830" y="3921022"/>
            <a:ext cx="6906409" cy="1692771"/>
          </a:xfrm>
          <a:prstGeom prst="rect">
            <a:avLst/>
          </a:prstGeom>
          <a:noFill/>
          <a:ln w="25400" cap="flat" cmpd="sng" algn="ctr">
            <a:noFill/>
            <a:prstDash val="solid"/>
          </a:ln>
          <a:effectLst/>
        </p:spPr>
        <p:txBody>
          <a:bodyPr rtlCol="0" anchor="ctr"/>
          <a:lstStyle/>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40013442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14070</TotalTime>
  <Words>731</Words>
  <Application>Microsoft Office PowerPoint</Application>
  <PresentationFormat>宽屏</PresentationFormat>
  <Paragraphs>177</Paragraphs>
  <Slides>13</Slides>
  <Notes>1</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13</vt:i4>
      </vt:variant>
    </vt:vector>
  </HeadingPairs>
  <TitlesOfParts>
    <vt:vector size="28" baseType="lpstr">
      <vt:lpstr>等线</vt:lpstr>
      <vt:lpstr>等线 Light</vt:lpstr>
      <vt:lpstr>方正清刻本悦宋简体</vt:lpstr>
      <vt:lpstr>黑体</vt:lpstr>
      <vt:lpstr>楷体_GB2312</vt:lpstr>
      <vt:lpstr>宋体</vt:lpstr>
      <vt:lpstr>微软雅黑</vt:lpstr>
      <vt:lpstr>微软雅黑 Light</vt:lpstr>
      <vt:lpstr>Arial</vt:lpstr>
      <vt:lpstr>Calibri</vt:lpstr>
      <vt:lpstr>Impact</vt:lpstr>
      <vt:lpstr>Times New Roman</vt:lpstr>
      <vt:lpstr>Office 主题​​</vt:lpstr>
      <vt:lpstr>1_Office 主题​​</vt:lpstr>
      <vt:lpstr>2_Office 主题​​</vt:lpstr>
      <vt:lpstr>PowerPoint 演示文稿</vt:lpstr>
      <vt:lpstr>PowerPoint 演示文稿</vt:lpstr>
      <vt:lpstr>PowerPoint 演示文稿</vt:lpstr>
      <vt:lpstr>1.进程通信的类型</vt:lpstr>
      <vt:lpstr>2.进程通信的方式</vt:lpstr>
      <vt:lpstr>2.进程通信的方式</vt:lpstr>
      <vt:lpstr>2.进程通信的方式</vt:lpstr>
      <vt:lpstr>2.进程通信的方式</vt:lpstr>
      <vt:lpstr>3.消息缓冲队列通信机制</vt:lpstr>
      <vt:lpstr>3.消息缓冲队列通信机制</vt:lpstr>
      <vt:lpstr>3.消息缓冲队列通信机制</vt:lpstr>
      <vt:lpstr>4.邮箱通信</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子 麦</cp:lastModifiedBy>
  <cp:revision>223</cp:revision>
  <dcterms:created xsi:type="dcterms:W3CDTF">2016-05-18T19:05:46Z</dcterms:created>
  <dcterms:modified xsi:type="dcterms:W3CDTF">2023-10-19T01:06:55Z</dcterms:modified>
</cp:coreProperties>
</file>