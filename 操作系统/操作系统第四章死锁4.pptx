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6" r:id="rId2"/>
    <p:sldMasterId id="2147483698" r:id="rId3"/>
  </p:sldMasterIdLst>
  <p:notesMasterIdLst>
    <p:notesMasterId r:id="rId47"/>
  </p:notesMasterIdLst>
  <p:sldIdLst>
    <p:sldId id="328" r:id="rId4"/>
    <p:sldId id="341" r:id="rId5"/>
    <p:sldId id="376" r:id="rId6"/>
    <p:sldId id="367" r:id="rId7"/>
    <p:sldId id="377" r:id="rId8"/>
    <p:sldId id="378" r:id="rId9"/>
    <p:sldId id="379" r:id="rId10"/>
    <p:sldId id="380" r:id="rId11"/>
    <p:sldId id="381" r:id="rId12"/>
    <p:sldId id="382" r:id="rId13"/>
    <p:sldId id="383" r:id="rId14"/>
    <p:sldId id="384" r:id="rId15"/>
    <p:sldId id="385" r:id="rId16"/>
    <p:sldId id="343" r:id="rId17"/>
    <p:sldId id="386" r:id="rId18"/>
    <p:sldId id="387" r:id="rId19"/>
    <p:sldId id="388" r:id="rId20"/>
    <p:sldId id="389" r:id="rId21"/>
    <p:sldId id="390" r:id="rId22"/>
    <p:sldId id="391" r:id="rId23"/>
    <p:sldId id="392" r:id="rId24"/>
    <p:sldId id="393" r:id="rId25"/>
    <p:sldId id="394" r:id="rId26"/>
    <p:sldId id="395" r:id="rId27"/>
    <p:sldId id="396" r:id="rId28"/>
    <p:sldId id="397" r:id="rId29"/>
    <p:sldId id="398" r:id="rId30"/>
    <p:sldId id="399" r:id="rId31"/>
    <p:sldId id="400" r:id="rId32"/>
    <p:sldId id="401" r:id="rId33"/>
    <p:sldId id="402" r:id="rId34"/>
    <p:sldId id="403" r:id="rId35"/>
    <p:sldId id="404" r:id="rId36"/>
    <p:sldId id="405" r:id="rId37"/>
    <p:sldId id="342" r:id="rId38"/>
    <p:sldId id="354" r:id="rId39"/>
    <p:sldId id="366" r:id="rId40"/>
    <p:sldId id="406" r:id="rId41"/>
    <p:sldId id="368" r:id="rId42"/>
    <p:sldId id="355" r:id="rId43"/>
    <p:sldId id="344" r:id="rId44"/>
    <p:sldId id="369" r:id="rId45"/>
    <p:sldId id="353"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EA"/>
    <a:srgbClr val="FF33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139" autoAdjust="0"/>
  </p:normalViewPr>
  <p:slideViewPr>
    <p:cSldViewPr snapToGrid="0">
      <p:cViewPr varScale="1">
        <p:scale>
          <a:sx n="65" d="100"/>
          <a:sy n="65" d="100"/>
        </p:scale>
        <p:origin x="900"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93AD-7C06-486F-9754-D5B73F7C37DE}" type="datetimeFigureOut">
              <a:rPr lang="zh-CN" altLang="en-US" smtClean="0"/>
              <a:pPr/>
              <a:t>2023-10-24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DE87-FC43-4F0C-9C51-E666AB0AC5F3}" type="slidenum">
              <a:rPr lang="zh-CN" altLang="en-US" smtClean="0"/>
              <a:pPr/>
              <a:t>‹#›</a:t>
            </a:fld>
            <a:endParaRPr lang="zh-CN" altLang="en-US"/>
          </a:p>
        </p:txBody>
      </p:sp>
    </p:spTree>
    <p:extLst>
      <p:ext uri="{BB962C8B-B14F-4D97-AF65-F5344CB8AC3E}">
        <p14:creationId xmlns:p14="http://schemas.microsoft.com/office/powerpoint/2010/main" val="164044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13EDE87-FC43-4F0C-9C51-E666AB0AC5F3}"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8</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13EDE87-FC43-4F0C-9C51-E666AB0AC5F3}" type="slidenum">
              <a:rPr lang="zh-CN" altLang="en-US" smtClean="0"/>
              <a:pPr/>
              <a:t>13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13EDE87-FC43-4F0C-9C51-E666AB0AC5F3}" type="slidenum">
              <a:rPr lang="zh-CN" altLang="en-US" smtClean="0"/>
              <a:pPr/>
              <a:t>17</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13EDE87-FC43-4F0C-9C51-E666AB0AC5F3}" type="slidenum">
              <a:rPr lang="zh-CN" altLang="en-US" smtClean="0"/>
              <a:pPr/>
              <a:t>33</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38</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159474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39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6905053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41</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42</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60937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a:t>
            </a:r>
            <a:r>
              <a:rPr lang="en-US" altLang="zh-CN"/>
              <a:t>http://www.ypppt.com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43</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6372478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pic>
        <p:nvPicPr>
          <p:cNvPr id="8" name="图片 7"/>
          <p:cNvPicPr>
            <a:picLocks noChangeAspect="1"/>
          </p:cNvPicPr>
          <p:nvPr userDrawn="1"/>
        </p:nvPicPr>
        <p:blipFill rotWithShape="1">
          <a:blip r:embed="rId4" cstate="print"/>
          <a:srcRect r="42146" b="48018"/>
          <a:stretch/>
        </p:blipFill>
        <p:spPr>
          <a:xfrm>
            <a:off x="7346062" y="2511276"/>
            <a:ext cx="4845938" cy="4346724"/>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1479587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602064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txBox="1">
            <a:spLocks/>
          </p:cNvSpPr>
          <p:nvPr userDrawn="1"/>
        </p:nvSpPr>
        <p:spPr>
          <a:xfrm>
            <a:off x="848833" y="202028"/>
            <a:ext cx="3967716" cy="45719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3D7351"/>
                </a:solidFill>
                <a:effectLst/>
                <a:uLnTx/>
                <a:uFillTx/>
                <a:latin typeface="微软雅黑" panose="020B0503020204020204" pitchFamily="34" charset="-122"/>
                <a:ea typeface="微软雅黑" panose="020B0503020204020204" pitchFamily="34" charset="-122"/>
                <a:cs typeface="+mn-cs"/>
              </a:rPr>
              <a:t>单击此处编辑母版标题样式</a:t>
            </a:r>
          </a:p>
        </p:txBody>
      </p:sp>
    </p:spTree>
    <p:extLst>
      <p:ext uri="{BB962C8B-B14F-4D97-AF65-F5344CB8AC3E}">
        <p14:creationId xmlns:p14="http://schemas.microsoft.com/office/powerpoint/2010/main" val="4000202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08571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1909627"/>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571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1909627"/>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10"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886203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6020646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0932479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253051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3315586" y="545879"/>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0953898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23246790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2023-10-24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002829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3362328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3.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16" cstate="print"/>
          <a:srcRect r="42146" b="48018"/>
          <a:stretch/>
        </p:blipFill>
        <p:spPr>
          <a:xfrm>
            <a:off x="7346062" y="2511276"/>
            <a:ext cx="4845938" cy="4346724"/>
          </a:xfrm>
          <a:prstGeom prst="rect">
            <a:avLst/>
          </a:prstGeom>
        </p:spPr>
      </p:pic>
      <p:pic>
        <p:nvPicPr>
          <p:cNvPr id="8" name="图片 7"/>
          <p:cNvPicPr>
            <a:picLocks noChangeAspect="1"/>
          </p:cNvPicPr>
          <p:nvPr userDrawn="1"/>
        </p:nvPicPr>
        <p:blipFill rotWithShape="1">
          <a:blip r:embed="rId17" cstate="print">
            <a:extLst>
              <a:ext uri="{BEBA8EAE-BF5A-486C-A8C5-ECC9F3942E4B}">
                <a14:imgProps xmlns:a14="http://schemas.microsoft.com/office/drawing/2010/main">
                  <a14:imgLayer r:embed="rId18">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71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sp>
        <p:nvSpPr>
          <p:cNvPr id="2" name="标题占位符 1"/>
          <p:cNvSpPr>
            <a:spLocks noGrp="1"/>
          </p:cNvSpPr>
          <p:nvPr>
            <p:ph type="title"/>
          </p:nvPr>
        </p:nvSpPr>
        <p:spPr>
          <a:xfrm>
            <a:off x="848833" y="202028"/>
            <a:ext cx="3967716" cy="457196"/>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988828"/>
            <a:ext cx="10515600" cy="5188135"/>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矩形 8"/>
          <p:cNvSpPr/>
          <p:nvPr userDrawn="1"/>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7" name="组合 9"/>
          <p:cNvGrpSpPr/>
          <p:nvPr userDrawn="1"/>
        </p:nvGrpSpPr>
        <p:grpSpPr>
          <a:xfrm>
            <a:off x="245745" y="213360"/>
            <a:ext cx="563880" cy="563880"/>
            <a:chOff x="276225" y="213360"/>
            <a:chExt cx="563880" cy="563880"/>
          </a:xfrm>
          <a:solidFill>
            <a:srgbClr val="3D7351"/>
          </a:solidFill>
        </p:grpSpPr>
        <p:sp>
          <p:nvSpPr>
            <p:cNvPr id="11" name="矩形 10"/>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12" name="椭圆 11"/>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14" name="文本框 31"/>
          <p:cNvSpPr txBox="1"/>
          <p:nvPr userDrawn="1"/>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711" r:id="rId12"/>
  </p:sldLayoutIdLst>
  <p:txStyles>
    <p:title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Tx/>
        <a:buBlip>
          <a:blip r:embed="rId14"/>
        </a:buBli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0.x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0.xml"/><Relationship Id="rId5" Type="http://schemas.openxmlformats.org/officeDocument/2006/relationships/image" Target="../media/image7.emf"/><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g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g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2.bin"/><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6.xml"/><Relationship Id="rId1" Type="http://schemas.openxmlformats.org/officeDocument/2006/relationships/slideLayout" Target="../slideLayouts/slideLayout20.xml"/><Relationship Id="rId4" Type="http://schemas.openxmlformats.org/officeDocument/2006/relationships/image" Target="../media/image12.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72862" y="2048669"/>
            <a:ext cx="7246275" cy="2760663"/>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4595747" y="2251341"/>
            <a:ext cx="3109978" cy="938719"/>
          </a:xfrm>
          <a:prstGeom prst="rect">
            <a:avLst/>
          </a:prstGeom>
          <a:noFill/>
        </p:spPr>
        <p:txBody>
          <a:bodyPr wrap="square" rtlCol="0">
            <a:spAutoFit/>
          </a:bodyPr>
          <a:lstStyle/>
          <a:p>
            <a:r>
              <a:rPr lang="zh-CN" altLang="en-US" sz="5500" dirty="0">
                <a:solidFill>
                  <a:srgbClr val="3D7351"/>
                </a:solidFill>
                <a:latin typeface="方正清刻本悦宋简体" panose="02000000000000000000" pitchFamily="2" charset="-122"/>
                <a:ea typeface="方正清刻本悦宋简体" panose="02000000000000000000" pitchFamily="2" charset="-122"/>
              </a:rPr>
              <a:t>操作系统</a:t>
            </a:r>
          </a:p>
        </p:txBody>
      </p:sp>
      <p:sp>
        <p:nvSpPr>
          <p:cNvPr id="8" name="文本框 7"/>
          <p:cNvSpPr txBox="1"/>
          <p:nvPr/>
        </p:nvSpPr>
        <p:spPr>
          <a:xfrm>
            <a:off x="3939822" y="3912068"/>
            <a:ext cx="4417602" cy="276999"/>
          </a:xfrm>
          <a:prstGeom prst="rect">
            <a:avLst/>
          </a:prstGeom>
          <a:noFill/>
        </p:spPr>
        <p:txBody>
          <a:bodyPr wrap="square" rtlCol="0">
            <a:spAutoFit/>
          </a:bodyPr>
          <a:lstStyle/>
          <a:p>
            <a:pPr algn="dist"/>
            <a:r>
              <a:rPr lang="en-US" altLang="zh-CN" sz="1200" dirty="0">
                <a:solidFill>
                  <a:srgbClr val="3D7351"/>
                </a:solidFill>
                <a:latin typeface="微软雅黑" panose="020B0503020204020204" pitchFamily="34" charset="-122"/>
                <a:ea typeface="微软雅黑" panose="020B0503020204020204" pitchFamily="34" charset="-122"/>
              </a:rPr>
              <a:t>OPERATING SYSTEM</a:t>
            </a:r>
            <a:endParaRPr lang="zh-CN" altLang="en-US" sz="1200" dirty="0">
              <a:solidFill>
                <a:srgbClr val="3D7351"/>
              </a:solidFill>
              <a:latin typeface="微软雅黑" panose="020B0503020204020204" pitchFamily="34" charset="-122"/>
              <a:ea typeface="微软雅黑" panose="020B0503020204020204" pitchFamily="34" charset="-122"/>
            </a:endParaRPr>
          </a:p>
        </p:txBody>
      </p:sp>
      <p:sp>
        <p:nvSpPr>
          <p:cNvPr id="9" name="文本框 32"/>
          <p:cNvSpPr txBox="1">
            <a:spLocks noChangeArrowheads="1"/>
          </p:cNvSpPr>
          <p:nvPr/>
        </p:nvSpPr>
        <p:spPr bwMode="auto">
          <a:xfrm>
            <a:off x="5512250" y="4270955"/>
            <a:ext cx="1383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200" dirty="0">
                <a:solidFill>
                  <a:srgbClr val="3D735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主讲人：房斐斐</a:t>
            </a:r>
          </a:p>
        </p:txBody>
      </p:sp>
      <p:cxnSp>
        <p:nvCxnSpPr>
          <p:cNvPr id="11" name="直接连接符 10"/>
          <p:cNvCxnSpPr/>
          <p:nvPr/>
        </p:nvCxnSpPr>
        <p:spPr>
          <a:xfrm>
            <a:off x="4143375"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896100"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sp>
        <p:nvSpPr>
          <p:cNvPr id="14" name="文本框 6"/>
          <p:cNvSpPr txBox="1"/>
          <p:nvPr/>
        </p:nvSpPr>
        <p:spPr>
          <a:xfrm>
            <a:off x="3668362" y="3208741"/>
            <a:ext cx="4948518" cy="584775"/>
          </a:xfrm>
          <a:prstGeom prst="rect">
            <a:avLst/>
          </a:prstGeom>
          <a:noFill/>
        </p:spPr>
        <p:txBody>
          <a:bodyPr wrap="square" rtlCol="0">
            <a:spAutoFit/>
          </a:bodyPr>
          <a:lstStyle/>
          <a:p>
            <a:r>
              <a:rPr lang="zh-CN" altLang="en-US" sz="3200" dirty="0">
                <a:solidFill>
                  <a:srgbClr val="3D7351"/>
                </a:solidFill>
                <a:latin typeface="方正清刻本悦宋简体" panose="02000000000000000000" pitchFamily="2" charset="-122"/>
                <a:ea typeface="方正清刻本悦宋简体" panose="02000000000000000000" pitchFamily="2" charset="-122"/>
              </a:rPr>
              <a:t>第三章 处理机调度与死锁</a:t>
            </a:r>
          </a:p>
        </p:txBody>
      </p:sp>
    </p:spTree>
    <p:extLst>
      <p:ext uri="{BB962C8B-B14F-4D97-AF65-F5344CB8AC3E}">
        <p14:creationId xmlns:p14="http://schemas.microsoft.com/office/powerpoint/2010/main" val="264625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死锁概述</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4.5</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22" name="文本框 21"/>
          <p:cNvSpPr txBox="1">
            <a:spLocks noChangeArrowheads="1"/>
          </p:cNvSpPr>
          <p:nvPr/>
        </p:nvSpPr>
        <p:spPr bwMode="auto">
          <a:xfrm>
            <a:off x="2439935" y="3217837"/>
            <a:ext cx="727920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         指多个进程因竞争资源而造成的一种僵局，若无外力作用，这些进程都将永远不能再向前推进。</a:t>
            </a:r>
          </a:p>
        </p:txBody>
      </p:sp>
      <p:pic>
        <p:nvPicPr>
          <p:cNvPr id="1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3702" y="4282439"/>
            <a:ext cx="2245313" cy="241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562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1.</a:t>
            </a:r>
            <a:r>
              <a:rPr lang="zh-CN" altLang="en-US" dirty="0"/>
              <a:t>资源问题</a:t>
            </a:r>
          </a:p>
        </p:txBody>
      </p:sp>
      <p:grpSp>
        <p:nvGrpSpPr>
          <p:cNvPr id="5" name="组合 4"/>
          <p:cNvGrpSpPr>
            <a:grpSpLocks/>
          </p:cNvGrpSpPr>
          <p:nvPr/>
        </p:nvGrpSpPr>
        <p:grpSpPr bwMode="auto">
          <a:xfrm>
            <a:off x="5083969" y="848519"/>
            <a:ext cx="715963" cy="2792413"/>
            <a:chOff x="5358714" y="1088571"/>
            <a:chExt cx="716454" cy="2793646"/>
          </a:xfrm>
        </p:grpSpPr>
        <p:sp>
          <p:nvSpPr>
            <p:cNvPr id="93" name="Freeform 5"/>
            <p:cNvSpPr/>
            <p:nvPr/>
          </p:nvSpPr>
          <p:spPr bwMode="auto">
            <a:xfrm>
              <a:off x="5358714" y="1088571"/>
              <a:ext cx="716454" cy="2793646"/>
            </a:xfrm>
            <a:custGeom>
              <a:avLst/>
              <a:gdLst>
                <a:gd name="T0" fmla="*/ 234 w 234"/>
                <a:gd name="T1" fmla="*/ 1196 h 1196"/>
                <a:gd name="T2" fmla="*/ 0 w 234"/>
                <a:gd name="T3" fmla="*/ 1196 h 1196"/>
                <a:gd name="T4" fmla="*/ 0 w 234"/>
                <a:gd name="T5" fmla="*/ 34 h 1196"/>
                <a:gd name="T6" fmla="*/ 118 w 234"/>
                <a:gd name="T7" fmla="*/ 0 h 1196"/>
                <a:gd name="T8" fmla="*/ 234 w 234"/>
                <a:gd name="T9" fmla="*/ 34 h 1196"/>
                <a:gd name="T10" fmla="*/ 234 w 234"/>
                <a:gd name="T11" fmla="*/ 1196 h 1196"/>
              </a:gdLst>
              <a:ahLst/>
              <a:cxnLst>
                <a:cxn ang="0">
                  <a:pos x="T0" y="T1"/>
                </a:cxn>
                <a:cxn ang="0">
                  <a:pos x="T2" y="T3"/>
                </a:cxn>
                <a:cxn ang="0">
                  <a:pos x="T4" y="T5"/>
                </a:cxn>
                <a:cxn ang="0">
                  <a:pos x="T6" y="T7"/>
                </a:cxn>
                <a:cxn ang="0">
                  <a:pos x="T8" y="T9"/>
                </a:cxn>
                <a:cxn ang="0">
                  <a:pos x="T10" y="T11"/>
                </a:cxn>
              </a:cxnLst>
              <a:rect l="0" t="0" r="r" b="b"/>
              <a:pathLst>
                <a:path w="234" h="1196">
                  <a:moveTo>
                    <a:pt x="234" y="1196"/>
                  </a:moveTo>
                  <a:lnTo>
                    <a:pt x="0" y="1196"/>
                  </a:lnTo>
                  <a:lnTo>
                    <a:pt x="0" y="34"/>
                  </a:lnTo>
                  <a:lnTo>
                    <a:pt x="118" y="0"/>
                  </a:lnTo>
                  <a:lnTo>
                    <a:pt x="234" y="34"/>
                  </a:lnTo>
                  <a:lnTo>
                    <a:pt x="234" y="1196"/>
                  </a:lnTo>
                  <a:close/>
                </a:path>
              </a:pathLst>
            </a:custGeom>
            <a:solidFill>
              <a:srgbClr val="19751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fontAlgn="auto"/>
              <a:endParaRPr lang="zh-CN" altLang="en-US" noProof="1"/>
            </a:p>
          </p:txBody>
        </p:sp>
        <p:grpSp>
          <p:nvGrpSpPr>
            <p:cNvPr id="94" name="组合 93"/>
            <p:cNvGrpSpPr>
              <a:grpSpLocks/>
            </p:cNvGrpSpPr>
            <p:nvPr/>
          </p:nvGrpSpPr>
          <p:grpSpPr bwMode="auto">
            <a:xfrm>
              <a:off x="5641483" y="1498327"/>
              <a:ext cx="150916" cy="1626317"/>
              <a:chOff x="5667364" y="1564758"/>
              <a:chExt cx="150916" cy="1626317"/>
            </a:xfrm>
          </p:grpSpPr>
          <p:cxnSp>
            <p:nvCxnSpPr>
              <p:cNvPr id="95" name="直接连接符 94"/>
              <p:cNvCxnSpPr/>
              <p:nvPr/>
            </p:nvCxnSpPr>
            <p:spPr>
              <a:xfrm flipV="1">
                <a:off x="5818280" y="1779165"/>
                <a:ext cx="0" cy="121020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5667364" y="1564758"/>
                <a:ext cx="0" cy="16263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6" name="组合 5"/>
          <p:cNvGrpSpPr>
            <a:grpSpLocks/>
          </p:cNvGrpSpPr>
          <p:nvPr/>
        </p:nvGrpSpPr>
        <p:grpSpPr bwMode="auto">
          <a:xfrm>
            <a:off x="5811044" y="3656807"/>
            <a:ext cx="725488" cy="2560637"/>
            <a:chOff x="6086956" y="3897262"/>
            <a:chExt cx="725638" cy="2560908"/>
          </a:xfrm>
        </p:grpSpPr>
        <p:sp>
          <p:nvSpPr>
            <p:cNvPr id="90" name="Freeform 8"/>
            <p:cNvSpPr/>
            <p:nvPr/>
          </p:nvSpPr>
          <p:spPr bwMode="auto">
            <a:xfrm>
              <a:off x="6086956" y="3897262"/>
              <a:ext cx="725638" cy="2560908"/>
            </a:xfrm>
            <a:custGeom>
              <a:avLst/>
              <a:gdLst>
                <a:gd name="T0" fmla="*/ 237 w 237"/>
                <a:gd name="T1" fmla="*/ 974 h 1007"/>
                <a:gd name="T2" fmla="*/ 119 w 237"/>
                <a:gd name="T3" fmla="*/ 1007 h 1007"/>
                <a:gd name="T4" fmla="*/ 0 w 237"/>
                <a:gd name="T5" fmla="*/ 974 h 1007"/>
                <a:gd name="T6" fmla="*/ 0 w 237"/>
                <a:gd name="T7" fmla="*/ 0 h 1007"/>
                <a:gd name="T8" fmla="*/ 237 w 237"/>
                <a:gd name="T9" fmla="*/ 0 h 1007"/>
                <a:gd name="T10" fmla="*/ 237 w 237"/>
                <a:gd name="T11" fmla="*/ 974 h 1007"/>
              </a:gdLst>
              <a:ahLst/>
              <a:cxnLst>
                <a:cxn ang="0">
                  <a:pos x="T0" y="T1"/>
                </a:cxn>
                <a:cxn ang="0">
                  <a:pos x="T2" y="T3"/>
                </a:cxn>
                <a:cxn ang="0">
                  <a:pos x="T4" y="T5"/>
                </a:cxn>
                <a:cxn ang="0">
                  <a:pos x="T6" y="T7"/>
                </a:cxn>
                <a:cxn ang="0">
                  <a:pos x="T8" y="T9"/>
                </a:cxn>
                <a:cxn ang="0">
                  <a:pos x="T10" y="T11"/>
                </a:cxn>
              </a:cxnLst>
              <a:rect l="0" t="0" r="r" b="b"/>
              <a:pathLst>
                <a:path w="237" h="1007">
                  <a:moveTo>
                    <a:pt x="237" y="974"/>
                  </a:moveTo>
                  <a:lnTo>
                    <a:pt x="119" y="1007"/>
                  </a:lnTo>
                  <a:lnTo>
                    <a:pt x="0" y="974"/>
                  </a:lnTo>
                  <a:lnTo>
                    <a:pt x="0" y="0"/>
                  </a:lnTo>
                  <a:lnTo>
                    <a:pt x="237" y="0"/>
                  </a:lnTo>
                  <a:lnTo>
                    <a:pt x="237" y="974"/>
                  </a:lnTo>
                  <a:close/>
                </a:path>
              </a:pathLst>
            </a:custGeom>
            <a:solidFill>
              <a:srgbClr val="19751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fontAlgn="auto"/>
              <a:endParaRPr lang="zh-CN" altLang="en-US" noProof="1"/>
            </a:p>
          </p:txBody>
        </p:sp>
        <p:cxnSp>
          <p:nvCxnSpPr>
            <p:cNvPr id="91" name="直接连接符 90"/>
            <p:cNvCxnSpPr/>
            <p:nvPr/>
          </p:nvCxnSpPr>
          <p:spPr>
            <a:xfrm flipV="1">
              <a:off x="6515670" y="4830811"/>
              <a:ext cx="0" cy="12367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6383880" y="4652992"/>
              <a:ext cx="0" cy="1243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 name="组合 6"/>
          <p:cNvGrpSpPr>
            <a:grpSpLocks/>
          </p:cNvGrpSpPr>
          <p:nvPr/>
        </p:nvGrpSpPr>
        <p:grpSpPr bwMode="auto">
          <a:xfrm>
            <a:off x="5811044" y="2883694"/>
            <a:ext cx="4816475" cy="760413"/>
            <a:chOff x="6086956" y="3124444"/>
            <a:chExt cx="4816475" cy="760776"/>
          </a:xfrm>
        </p:grpSpPr>
        <p:sp>
          <p:nvSpPr>
            <p:cNvPr id="86" name="Freeform 6"/>
            <p:cNvSpPr/>
            <p:nvPr/>
          </p:nvSpPr>
          <p:spPr bwMode="auto">
            <a:xfrm>
              <a:off x="6086956" y="3124444"/>
              <a:ext cx="4816475" cy="760776"/>
            </a:xfrm>
            <a:custGeom>
              <a:avLst/>
              <a:gdLst>
                <a:gd name="T0" fmla="*/ 702 w 735"/>
                <a:gd name="T1" fmla="*/ 236 h 236"/>
                <a:gd name="T2" fmla="*/ 0 w 735"/>
                <a:gd name="T3" fmla="*/ 236 h 236"/>
                <a:gd name="T4" fmla="*/ 0 w 735"/>
                <a:gd name="T5" fmla="*/ 0 h 236"/>
                <a:gd name="T6" fmla="*/ 702 w 735"/>
                <a:gd name="T7" fmla="*/ 0 h 236"/>
                <a:gd name="T8" fmla="*/ 735 w 735"/>
                <a:gd name="T9" fmla="*/ 118 h 236"/>
                <a:gd name="T10" fmla="*/ 702 w 735"/>
                <a:gd name="T11" fmla="*/ 236 h 236"/>
              </a:gdLst>
              <a:ahLst/>
              <a:cxnLst>
                <a:cxn ang="0">
                  <a:pos x="T0" y="T1"/>
                </a:cxn>
                <a:cxn ang="0">
                  <a:pos x="T2" y="T3"/>
                </a:cxn>
                <a:cxn ang="0">
                  <a:pos x="T4" y="T5"/>
                </a:cxn>
                <a:cxn ang="0">
                  <a:pos x="T6" y="T7"/>
                </a:cxn>
                <a:cxn ang="0">
                  <a:pos x="T8" y="T9"/>
                </a:cxn>
                <a:cxn ang="0">
                  <a:pos x="T10" y="T11"/>
                </a:cxn>
              </a:cxnLst>
              <a:rect l="0" t="0" r="r" b="b"/>
              <a:pathLst>
                <a:path w="735" h="236">
                  <a:moveTo>
                    <a:pt x="702" y="236"/>
                  </a:moveTo>
                  <a:lnTo>
                    <a:pt x="0" y="236"/>
                  </a:lnTo>
                  <a:lnTo>
                    <a:pt x="0" y="0"/>
                  </a:lnTo>
                  <a:lnTo>
                    <a:pt x="702" y="0"/>
                  </a:lnTo>
                  <a:lnTo>
                    <a:pt x="735" y="118"/>
                  </a:lnTo>
                  <a:lnTo>
                    <a:pt x="702" y="236"/>
                  </a:lnTo>
                  <a:close/>
                </a:path>
              </a:pathLst>
            </a:custGeom>
            <a:solidFill>
              <a:srgbClr val="19751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fontAlgn="auto"/>
              <a:endParaRPr lang="zh-CN" altLang="en-US" noProof="1"/>
            </a:p>
          </p:txBody>
        </p:sp>
        <p:grpSp>
          <p:nvGrpSpPr>
            <p:cNvPr id="87" name="组合 86"/>
            <p:cNvGrpSpPr>
              <a:grpSpLocks/>
            </p:cNvGrpSpPr>
            <p:nvPr/>
          </p:nvGrpSpPr>
          <p:grpSpPr bwMode="auto">
            <a:xfrm rot="5400000">
              <a:off x="8504684" y="2084813"/>
              <a:ext cx="150885" cy="2840038"/>
              <a:chOff x="5667380" y="1363723"/>
              <a:chExt cx="150885" cy="1825930"/>
            </a:xfrm>
          </p:grpSpPr>
          <p:cxnSp>
            <p:nvCxnSpPr>
              <p:cNvPr id="88" name="直接连接符 87"/>
              <p:cNvCxnSpPr/>
              <p:nvPr/>
            </p:nvCxnSpPr>
            <p:spPr>
              <a:xfrm flipV="1">
                <a:off x="5818265" y="1363723"/>
                <a:ext cx="0" cy="162486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5667380" y="1564790"/>
                <a:ext cx="0" cy="162486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8" name="组合 7"/>
          <p:cNvGrpSpPr>
            <a:grpSpLocks/>
          </p:cNvGrpSpPr>
          <p:nvPr/>
        </p:nvGrpSpPr>
        <p:grpSpPr bwMode="auto">
          <a:xfrm>
            <a:off x="1013619" y="3650457"/>
            <a:ext cx="4786313" cy="765175"/>
            <a:chOff x="1288569" y="3891743"/>
            <a:chExt cx="4786599" cy="764000"/>
          </a:xfrm>
        </p:grpSpPr>
        <p:sp>
          <p:nvSpPr>
            <p:cNvPr id="82" name="Freeform 7"/>
            <p:cNvSpPr/>
            <p:nvPr/>
          </p:nvSpPr>
          <p:spPr bwMode="auto">
            <a:xfrm>
              <a:off x="1288569" y="3891743"/>
              <a:ext cx="4786599" cy="764000"/>
            </a:xfrm>
            <a:custGeom>
              <a:avLst/>
              <a:gdLst>
                <a:gd name="T0" fmla="*/ 900 w 900"/>
                <a:gd name="T1" fmla="*/ 237 h 237"/>
                <a:gd name="T2" fmla="*/ 33 w 900"/>
                <a:gd name="T3" fmla="*/ 237 h 237"/>
                <a:gd name="T4" fmla="*/ 0 w 900"/>
                <a:gd name="T5" fmla="*/ 119 h 237"/>
                <a:gd name="T6" fmla="*/ 33 w 900"/>
                <a:gd name="T7" fmla="*/ 0 h 237"/>
                <a:gd name="T8" fmla="*/ 900 w 900"/>
                <a:gd name="T9" fmla="*/ 0 h 237"/>
                <a:gd name="T10" fmla="*/ 900 w 900"/>
                <a:gd name="T11" fmla="*/ 237 h 237"/>
              </a:gdLst>
              <a:ahLst/>
              <a:cxnLst>
                <a:cxn ang="0">
                  <a:pos x="T0" y="T1"/>
                </a:cxn>
                <a:cxn ang="0">
                  <a:pos x="T2" y="T3"/>
                </a:cxn>
                <a:cxn ang="0">
                  <a:pos x="T4" y="T5"/>
                </a:cxn>
                <a:cxn ang="0">
                  <a:pos x="T6" y="T7"/>
                </a:cxn>
                <a:cxn ang="0">
                  <a:pos x="T8" y="T9"/>
                </a:cxn>
                <a:cxn ang="0">
                  <a:pos x="T10" y="T11"/>
                </a:cxn>
              </a:cxnLst>
              <a:rect l="0" t="0" r="r" b="b"/>
              <a:pathLst>
                <a:path w="900" h="237">
                  <a:moveTo>
                    <a:pt x="900" y="237"/>
                  </a:moveTo>
                  <a:lnTo>
                    <a:pt x="33" y="237"/>
                  </a:lnTo>
                  <a:lnTo>
                    <a:pt x="0" y="119"/>
                  </a:lnTo>
                  <a:lnTo>
                    <a:pt x="33" y="0"/>
                  </a:lnTo>
                  <a:lnTo>
                    <a:pt x="900" y="0"/>
                  </a:lnTo>
                  <a:lnTo>
                    <a:pt x="900" y="237"/>
                  </a:lnTo>
                  <a:close/>
                </a:path>
              </a:pathLst>
            </a:custGeom>
            <a:solidFill>
              <a:srgbClr val="19751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fontAlgn="auto"/>
              <a:endParaRPr lang="zh-CN" altLang="en-US" noProof="1"/>
            </a:p>
          </p:txBody>
        </p:sp>
        <p:grpSp>
          <p:nvGrpSpPr>
            <p:cNvPr id="83" name="组合 82"/>
            <p:cNvGrpSpPr>
              <a:grpSpLocks/>
            </p:cNvGrpSpPr>
            <p:nvPr/>
          </p:nvGrpSpPr>
          <p:grpSpPr bwMode="auto">
            <a:xfrm rot="5400000">
              <a:off x="3356532" y="2853641"/>
              <a:ext cx="148995" cy="2840206"/>
              <a:chOff x="5668326" y="1363749"/>
              <a:chExt cx="148995" cy="1826038"/>
            </a:xfrm>
          </p:grpSpPr>
          <p:cxnSp>
            <p:nvCxnSpPr>
              <p:cNvPr id="84" name="直接连接符 83"/>
              <p:cNvCxnSpPr/>
              <p:nvPr/>
            </p:nvCxnSpPr>
            <p:spPr>
              <a:xfrm flipV="1">
                <a:off x="5817321" y="1363749"/>
                <a:ext cx="0" cy="16249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V="1">
                <a:off x="5668326" y="1564827"/>
                <a:ext cx="0" cy="16249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9" name="组合 8"/>
          <p:cNvGrpSpPr>
            <a:grpSpLocks/>
          </p:cNvGrpSpPr>
          <p:nvPr/>
        </p:nvGrpSpPr>
        <p:grpSpPr bwMode="auto">
          <a:xfrm>
            <a:off x="5177632" y="3786982"/>
            <a:ext cx="495300" cy="492125"/>
            <a:chOff x="5547107" y="4005405"/>
            <a:chExt cx="495634" cy="493181"/>
          </a:xfrm>
        </p:grpSpPr>
        <p:sp>
          <p:nvSpPr>
            <p:cNvPr id="68" name="Oval 1603"/>
            <p:cNvSpPr>
              <a:spLocks noChangeArrowheads="1"/>
            </p:cNvSpPr>
            <p:nvPr/>
          </p:nvSpPr>
          <p:spPr bwMode="auto">
            <a:xfrm>
              <a:off x="5547107" y="4005405"/>
              <a:ext cx="495634" cy="493181"/>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9" name="Oval 1604"/>
            <p:cNvSpPr>
              <a:spLocks noChangeArrowheads="1"/>
            </p:cNvSpPr>
            <p:nvPr/>
          </p:nvSpPr>
          <p:spPr bwMode="auto">
            <a:xfrm>
              <a:off x="5564282" y="4027488"/>
              <a:ext cx="453923" cy="45392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70" name="组合 69"/>
            <p:cNvGrpSpPr>
              <a:grpSpLocks/>
            </p:cNvGrpSpPr>
            <p:nvPr/>
          </p:nvGrpSpPr>
          <p:grpSpPr bwMode="auto">
            <a:xfrm>
              <a:off x="5682057" y="4086375"/>
              <a:ext cx="225734" cy="331241"/>
              <a:chOff x="5682057" y="3603931"/>
              <a:chExt cx="225734" cy="331241"/>
            </a:xfrm>
          </p:grpSpPr>
          <p:sp>
            <p:nvSpPr>
              <p:cNvPr id="71" name="Freeform 407"/>
              <p:cNvSpPr>
                <a:spLocks noChangeArrowheads="1"/>
              </p:cNvSpPr>
              <p:nvPr/>
            </p:nvSpPr>
            <p:spPr bwMode="auto">
              <a:xfrm>
                <a:off x="5775295" y="3756056"/>
                <a:ext cx="29444" cy="29444"/>
              </a:xfrm>
              <a:custGeom>
                <a:avLst/>
                <a:gdLst>
                  <a:gd name="T0" fmla="*/ 2 w 5"/>
                  <a:gd name="T1" fmla="*/ 5 h 5"/>
                  <a:gd name="T2" fmla="*/ 1 w 5"/>
                  <a:gd name="T3" fmla="*/ 5 h 5"/>
                  <a:gd name="T4" fmla="*/ 1 w 5"/>
                  <a:gd name="T5" fmla="*/ 3 h 5"/>
                  <a:gd name="T6" fmla="*/ 3 w 5"/>
                  <a:gd name="T7" fmla="*/ 1 h 5"/>
                  <a:gd name="T8" fmla="*/ 4 w 5"/>
                  <a:gd name="T9" fmla="*/ 0 h 5"/>
                  <a:gd name="T10" fmla="*/ 5 w 5"/>
                  <a:gd name="T11" fmla="*/ 2 h 5"/>
                  <a:gd name="T12" fmla="*/ 3 w 5"/>
                  <a:gd name="T13" fmla="*/ 5 h 5"/>
                  <a:gd name="T14" fmla="*/ 2 w 5"/>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5">
                    <a:moveTo>
                      <a:pt x="2" y="5"/>
                    </a:moveTo>
                    <a:cubicBezTo>
                      <a:pt x="2" y="5"/>
                      <a:pt x="1" y="5"/>
                      <a:pt x="1" y="5"/>
                    </a:cubicBezTo>
                    <a:cubicBezTo>
                      <a:pt x="1" y="5"/>
                      <a:pt x="0" y="4"/>
                      <a:pt x="1" y="3"/>
                    </a:cubicBezTo>
                    <a:cubicBezTo>
                      <a:pt x="3" y="1"/>
                      <a:pt x="3" y="1"/>
                      <a:pt x="3" y="1"/>
                    </a:cubicBezTo>
                    <a:cubicBezTo>
                      <a:pt x="3" y="0"/>
                      <a:pt x="4" y="0"/>
                      <a:pt x="4" y="0"/>
                    </a:cubicBezTo>
                    <a:cubicBezTo>
                      <a:pt x="5" y="1"/>
                      <a:pt x="5" y="1"/>
                      <a:pt x="5" y="2"/>
                    </a:cubicBezTo>
                    <a:cubicBezTo>
                      <a:pt x="3" y="5"/>
                      <a:pt x="3" y="5"/>
                      <a:pt x="3" y="5"/>
                    </a:cubicBezTo>
                    <a:cubicBezTo>
                      <a:pt x="3" y="5"/>
                      <a:pt x="2" y="5"/>
                      <a:pt x="2" y="5"/>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2" name="Oval 1605"/>
              <p:cNvSpPr>
                <a:spLocks noChangeArrowheads="1"/>
              </p:cNvSpPr>
              <p:nvPr/>
            </p:nvSpPr>
            <p:spPr bwMode="auto">
              <a:xfrm>
                <a:off x="5775295" y="3900821"/>
                <a:ext cx="34351" cy="34351"/>
              </a:xfrm>
              <a:prstGeom prst="ellipse">
                <a:avLst/>
              </a:pr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3" name="Freeform 1606"/>
              <p:cNvSpPr>
                <a:spLocks noChangeArrowheads="1"/>
              </p:cNvSpPr>
              <p:nvPr/>
            </p:nvSpPr>
            <p:spPr bwMode="auto">
              <a:xfrm>
                <a:off x="5745851" y="3778139"/>
                <a:ext cx="98145" cy="144765"/>
              </a:xfrm>
              <a:custGeom>
                <a:avLst/>
                <a:gdLst>
                  <a:gd name="T0" fmla="*/ 17 w 17"/>
                  <a:gd name="T1" fmla="*/ 14 h 25"/>
                  <a:gd name="T2" fmla="*/ 10 w 17"/>
                  <a:gd name="T3" fmla="*/ 25 h 25"/>
                  <a:gd name="T4" fmla="*/ 7 w 17"/>
                  <a:gd name="T5" fmla="*/ 25 h 25"/>
                  <a:gd name="T6" fmla="*/ 0 w 17"/>
                  <a:gd name="T7" fmla="*/ 14 h 25"/>
                  <a:gd name="T8" fmla="*/ 0 w 17"/>
                  <a:gd name="T9" fmla="*/ 0 h 25"/>
                  <a:gd name="T10" fmla="*/ 17 w 17"/>
                  <a:gd name="T11" fmla="*/ 0 h 25"/>
                  <a:gd name="T12" fmla="*/ 17 w 17"/>
                  <a:gd name="T13" fmla="*/ 14 h 25"/>
                </a:gdLst>
                <a:ahLst/>
                <a:cxnLst>
                  <a:cxn ang="0">
                    <a:pos x="T0" y="T1"/>
                  </a:cxn>
                  <a:cxn ang="0">
                    <a:pos x="T2" y="T3"/>
                  </a:cxn>
                  <a:cxn ang="0">
                    <a:pos x="T4" y="T5"/>
                  </a:cxn>
                  <a:cxn ang="0">
                    <a:pos x="T6" y="T7"/>
                  </a:cxn>
                  <a:cxn ang="0">
                    <a:pos x="T8" y="T9"/>
                  </a:cxn>
                  <a:cxn ang="0">
                    <a:pos x="T10" y="T11"/>
                  </a:cxn>
                  <a:cxn ang="0">
                    <a:pos x="T12" y="T13"/>
                  </a:cxn>
                </a:cxnLst>
                <a:rect l="0" t="0" r="r" b="b"/>
                <a:pathLst>
                  <a:path w="17" h="25">
                    <a:moveTo>
                      <a:pt x="17" y="14"/>
                    </a:moveTo>
                    <a:cubicBezTo>
                      <a:pt x="17" y="20"/>
                      <a:pt x="14" y="25"/>
                      <a:pt x="10" y="25"/>
                    </a:cubicBezTo>
                    <a:cubicBezTo>
                      <a:pt x="7" y="25"/>
                      <a:pt x="7" y="25"/>
                      <a:pt x="7" y="25"/>
                    </a:cubicBezTo>
                    <a:cubicBezTo>
                      <a:pt x="3" y="25"/>
                      <a:pt x="0" y="20"/>
                      <a:pt x="0" y="14"/>
                    </a:cubicBezTo>
                    <a:cubicBezTo>
                      <a:pt x="0" y="0"/>
                      <a:pt x="0" y="0"/>
                      <a:pt x="0" y="0"/>
                    </a:cubicBezTo>
                    <a:cubicBezTo>
                      <a:pt x="17" y="0"/>
                      <a:pt x="17" y="0"/>
                      <a:pt x="17" y="0"/>
                    </a:cubicBezTo>
                    <a:lnTo>
                      <a:pt x="17" y="14"/>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4" name="Freeform 1607"/>
              <p:cNvSpPr>
                <a:spLocks noChangeArrowheads="1"/>
              </p:cNvSpPr>
              <p:nvPr/>
            </p:nvSpPr>
            <p:spPr bwMode="auto">
              <a:xfrm>
                <a:off x="5745851" y="3778139"/>
                <a:ext cx="98145" cy="58887"/>
              </a:xfrm>
              <a:custGeom>
                <a:avLst/>
                <a:gdLst>
                  <a:gd name="T0" fmla="*/ 0 w 17"/>
                  <a:gd name="T1" fmla="*/ 10 h 10"/>
                  <a:gd name="T2" fmla="*/ 17 w 17"/>
                  <a:gd name="T3" fmla="*/ 3 h 10"/>
                  <a:gd name="T4" fmla="*/ 17 w 17"/>
                  <a:gd name="T5" fmla="*/ 0 h 10"/>
                  <a:gd name="T6" fmla="*/ 17 w 17"/>
                  <a:gd name="T7" fmla="*/ 0 h 10"/>
                  <a:gd name="T8" fmla="*/ 0 w 17"/>
                  <a:gd name="T9" fmla="*/ 7 h 10"/>
                  <a:gd name="T10" fmla="*/ 0 w 17"/>
                  <a:gd name="T11" fmla="*/ 10 h 10"/>
                </a:gdLst>
                <a:ahLst/>
                <a:cxnLst>
                  <a:cxn ang="0">
                    <a:pos x="T0" y="T1"/>
                  </a:cxn>
                  <a:cxn ang="0">
                    <a:pos x="T2" y="T3"/>
                  </a:cxn>
                  <a:cxn ang="0">
                    <a:pos x="T4" y="T5"/>
                  </a:cxn>
                  <a:cxn ang="0">
                    <a:pos x="T6" y="T7"/>
                  </a:cxn>
                  <a:cxn ang="0">
                    <a:pos x="T8" y="T9"/>
                  </a:cxn>
                  <a:cxn ang="0">
                    <a:pos x="T10" y="T11"/>
                  </a:cxn>
                </a:cxnLst>
                <a:rect l="0" t="0" r="r" b="b"/>
                <a:pathLst>
                  <a:path w="17" h="10">
                    <a:moveTo>
                      <a:pt x="0" y="10"/>
                    </a:moveTo>
                    <a:cubicBezTo>
                      <a:pt x="17" y="3"/>
                      <a:pt x="17" y="3"/>
                      <a:pt x="17" y="3"/>
                    </a:cubicBezTo>
                    <a:cubicBezTo>
                      <a:pt x="17" y="0"/>
                      <a:pt x="17" y="0"/>
                      <a:pt x="17" y="0"/>
                    </a:cubicBezTo>
                    <a:cubicBezTo>
                      <a:pt x="17" y="0"/>
                      <a:pt x="17" y="0"/>
                      <a:pt x="17" y="0"/>
                    </a:cubicBezTo>
                    <a:cubicBezTo>
                      <a:pt x="0" y="7"/>
                      <a:pt x="0" y="7"/>
                      <a:pt x="0" y="7"/>
                    </a:cubicBezTo>
                    <a:lnTo>
                      <a:pt x="0" y="10"/>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5" name="Freeform 1608"/>
              <p:cNvSpPr>
                <a:spLocks noChangeArrowheads="1"/>
              </p:cNvSpPr>
              <p:nvPr/>
            </p:nvSpPr>
            <p:spPr bwMode="auto">
              <a:xfrm>
                <a:off x="5745851" y="3812490"/>
                <a:ext cx="98145" cy="58887"/>
              </a:xfrm>
              <a:custGeom>
                <a:avLst/>
                <a:gdLst>
                  <a:gd name="T0" fmla="*/ 0 w 17"/>
                  <a:gd name="T1" fmla="*/ 8 h 10"/>
                  <a:gd name="T2" fmla="*/ 0 w 17"/>
                  <a:gd name="T3" fmla="*/ 10 h 10"/>
                  <a:gd name="T4" fmla="*/ 17 w 17"/>
                  <a:gd name="T5" fmla="*/ 3 h 10"/>
                  <a:gd name="T6" fmla="*/ 17 w 17"/>
                  <a:gd name="T7" fmla="*/ 0 h 10"/>
                  <a:gd name="T8" fmla="*/ 0 w 17"/>
                  <a:gd name="T9" fmla="*/ 7 h 10"/>
                  <a:gd name="T10" fmla="*/ 0 w 17"/>
                  <a:gd name="T11" fmla="*/ 8 h 10"/>
                </a:gdLst>
                <a:ahLst/>
                <a:cxnLst>
                  <a:cxn ang="0">
                    <a:pos x="T0" y="T1"/>
                  </a:cxn>
                  <a:cxn ang="0">
                    <a:pos x="T2" y="T3"/>
                  </a:cxn>
                  <a:cxn ang="0">
                    <a:pos x="T4" y="T5"/>
                  </a:cxn>
                  <a:cxn ang="0">
                    <a:pos x="T6" y="T7"/>
                  </a:cxn>
                  <a:cxn ang="0">
                    <a:pos x="T8" y="T9"/>
                  </a:cxn>
                  <a:cxn ang="0">
                    <a:pos x="T10" y="T11"/>
                  </a:cxn>
                </a:cxnLst>
                <a:rect l="0" t="0" r="r" b="b"/>
                <a:pathLst>
                  <a:path w="17" h="10">
                    <a:moveTo>
                      <a:pt x="0" y="8"/>
                    </a:moveTo>
                    <a:cubicBezTo>
                      <a:pt x="0" y="8"/>
                      <a:pt x="0" y="9"/>
                      <a:pt x="0" y="10"/>
                    </a:cubicBezTo>
                    <a:cubicBezTo>
                      <a:pt x="17" y="3"/>
                      <a:pt x="17" y="3"/>
                      <a:pt x="17" y="3"/>
                    </a:cubicBezTo>
                    <a:cubicBezTo>
                      <a:pt x="17" y="0"/>
                      <a:pt x="17" y="0"/>
                      <a:pt x="17" y="0"/>
                    </a:cubicBezTo>
                    <a:cubicBezTo>
                      <a:pt x="0" y="7"/>
                      <a:pt x="0" y="7"/>
                      <a:pt x="0" y="7"/>
                    </a:cubicBezTo>
                    <a:lnTo>
                      <a:pt x="0" y="8"/>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6" name="Freeform 1609"/>
              <p:cNvSpPr>
                <a:spLocks noChangeArrowheads="1"/>
              </p:cNvSpPr>
              <p:nvPr/>
            </p:nvSpPr>
            <p:spPr bwMode="auto">
              <a:xfrm>
                <a:off x="5745851" y="3841934"/>
                <a:ext cx="98145" cy="58887"/>
              </a:xfrm>
              <a:custGeom>
                <a:avLst/>
                <a:gdLst>
                  <a:gd name="T0" fmla="*/ 1 w 17"/>
                  <a:gd name="T1" fmla="*/ 10 h 10"/>
                  <a:gd name="T2" fmla="*/ 17 w 17"/>
                  <a:gd name="T3" fmla="*/ 3 h 10"/>
                  <a:gd name="T4" fmla="*/ 17 w 17"/>
                  <a:gd name="T5" fmla="*/ 3 h 10"/>
                  <a:gd name="T6" fmla="*/ 17 w 17"/>
                  <a:gd name="T7" fmla="*/ 0 h 10"/>
                  <a:gd name="T8" fmla="*/ 0 w 17"/>
                  <a:gd name="T9" fmla="*/ 7 h 10"/>
                  <a:gd name="T10" fmla="*/ 1 w 17"/>
                  <a:gd name="T11" fmla="*/ 10 h 10"/>
                </a:gdLst>
                <a:ahLst/>
                <a:cxnLst>
                  <a:cxn ang="0">
                    <a:pos x="T0" y="T1"/>
                  </a:cxn>
                  <a:cxn ang="0">
                    <a:pos x="T2" y="T3"/>
                  </a:cxn>
                  <a:cxn ang="0">
                    <a:pos x="T4" y="T5"/>
                  </a:cxn>
                  <a:cxn ang="0">
                    <a:pos x="T6" y="T7"/>
                  </a:cxn>
                  <a:cxn ang="0">
                    <a:pos x="T8" y="T9"/>
                  </a:cxn>
                  <a:cxn ang="0">
                    <a:pos x="T10" y="T11"/>
                  </a:cxn>
                </a:cxnLst>
                <a:rect l="0" t="0" r="r" b="b"/>
                <a:pathLst>
                  <a:path w="17" h="10">
                    <a:moveTo>
                      <a:pt x="1" y="10"/>
                    </a:moveTo>
                    <a:cubicBezTo>
                      <a:pt x="17" y="3"/>
                      <a:pt x="17" y="3"/>
                      <a:pt x="17" y="3"/>
                    </a:cubicBezTo>
                    <a:cubicBezTo>
                      <a:pt x="17" y="3"/>
                      <a:pt x="17" y="3"/>
                      <a:pt x="17" y="3"/>
                    </a:cubicBezTo>
                    <a:cubicBezTo>
                      <a:pt x="17" y="0"/>
                      <a:pt x="17" y="0"/>
                      <a:pt x="17" y="0"/>
                    </a:cubicBezTo>
                    <a:cubicBezTo>
                      <a:pt x="0" y="7"/>
                      <a:pt x="0" y="7"/>
                      <a:pt x="0" y="7"/>
                    </a:cubicBezTo>
                    <a:cubicBezTo>
                      <a:pt x="0" y="8"/>
                      <a:pt x="1" y="9"/>
                      <a:pt x="1" y="10"/>
                    </a:cubicBez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7" name="Freeform 1610"/>
              <p:cNvSpPr>
                <a:spLocks noChangeArrowheads="1"/>
              </p:cNvSpPr>
              <p:nvPr/>
            </p:nvSpPr>
            <p:spPr bwMode="auto">
              <a:xfrm>
                <a:off x="5758120" y="3871377"/>
                <a:ext cx="85877" cy="46619"/>
              </a:xfrm>
              <a:custGeom>
                <a:avLst/>
                <a:gdLst>
                  <a:gd name="T0" fmla="*/ 3 w 15"/>
                  <a:gd name="T1" fmla="*/ 8 h 8"/>
                  <a:gd name="T2" fmla="*/ 14 w 15"/>
                  <a:gd name="T3" fmla="*/ 4 h 8"/>
                  <a:gd name="T4" fmla="*/ 15 w 15"/>
                  <a:gd name="T5" fmla="*/ 0 h 8"/>
                  <a:gd name="T6" fmla="*/ 0 w 15"/>
                  <a:gd name="T7" fmla="*/ 6 h 8"/>
                  <a:gd name="T8" fmla="*/ 3 w 15"/>
                  <a:gd name="T9" fmla="*/ 8 h 8"/>
                </a:gdLst>
                <a:ahLst/>
                <a:cxnLst>
                  <a:cxn ang="0">
                    <a:pos x="T0" y="T1"/>
                  </a:cxn>
                  <a:cxn ang="0">
                    <a:pos x="T2" y="T3"/>
                  </a:cxn>
                  <a:cxn ang="0">
                    <a:pos x="T4" y="T5"/>
                  </a:cxn>
                  <a:cxn ang="0">
                    <a:pos x="T6" y="T7"/>
                  </a:cxn>
                  <a:cxn ang="0">
                    <a:pos x="T8" y="T9"/>
                  </a:cxn>
                </a:cxnLst>
                <a:rect l="0" t="0" r="r" b="b"/>
                <a:pathLst>
                  <a:path w="15" h="8">
                    <a:moveTo>
                      <a:pt x="3" y="8"/>
                    </a:moveTo>
                    <a:cubicBezTo>
                      <a:pt x="14" y="4"/>
                      <a:pt x="14" y="4"/>
                      <a:pt x="14" y="4"/>
                    </a:cubicBezTo>
                    <a:cubicBezTo>
                      <a:pt x="14" y="3"/>
                      <a:pt x="15" y="2"/>
                      <a:pt x="15" y="0"/>
                    </a:cubicBezTo>
                    <a:cubicBezTo>
                      <a:pt x="0" y="6"/>
                      <a:pt x="0" y="6"/>
                      <a:pt x="0" y="6"/>
                    </a:cubicBezTo>
                    <a:cubicBezTo>
                      <a:pt x="1" y="7"/>
                      <a:pt x="2" y="8"/>
                      <a:pt x="3" y="8"/>
                    </a:cubicBez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8" name="Oval 1611"/>
              <p:cNvSpPr>
                <a:spLocks noChangeArrowheads="1"/>
              </p:cNvSpPr>
              <p:nvPr/>
            </p:nvSpPr>
            <p:spPr bwMode="auto">
              <a:xfrm>
                <a:off x="5682057" y="3603931"/>
                <a:ext cx="225734" cy="233096"/>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9" name="Oval 1613"/>
              <p:cNvSpPr>
                <a:spLocks noChangeArrowheads="1"/>
              </p:cNvSpPr>
              <p:nvPr/>
            </p:nvSpPr>
            <p:spPr bwMode="auto">
              <a:xfrm>
                <a:off x="5686964" y="3616199"/>
                <a:ext cx="215920" cy="20855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80" name="Freeform 1614"/>
              <p:cNvSpPr>
                <a:spLocks noChangeArrowheads="1"/>
              </p:cNvSpPr>
              <p:nvPr/>
            </p:nvSpPr>
            <p:spPr bwMode="auto">
              <a:xfrm>
                <a:off x="5775295" y="3709437"/>
                <a:ext cx="51526" cy="115321"/>
              </a:xfrm>
              <a:custGeom>
                <a:avLst/>
                <a:gdLst>
                  <a:gd name="T0" fmla="*/ 8 w 9"/>
                  <a:gd name="T1" fmla="*/ 0 h 20"/>
                  <a:gd name="T2" fmla="*/ 8 w 9"/>
                  <a:gd name="T3" fmla="*/ 0 h 20"/>
                  <a:gd name="T4" fmla="*/ 8 w 9"/>
                  <a:gd name="T5" fmla="*/ 0 h 20"/>
                  <a:gd name="T6" fmla="*/ 6 w 9"/>
                  <a:gd name="T7" fmla="*/ 1 h 20"/>
                  <a:gd name="T8" fmla="*/ 5 w 9"/>
                  <a:gd name="T9" fmla="*/ 1 h 20"/>
                  <a:gd name="T10" fmla="*/ 3 w 9"/>
                  <a:gd name="T11" fmla="*/ 1 h 20"/>
                  <a:gd name="T12" fmla="*/ 1 w 9"/>
                  <a:gd name="T13" fmla="*/ 0 h 20"/>
                  <a:gd name="T14" fmla="*/ 0 w 9"/>
                  <a:gd name="T15" fmla="*/ 1 h 20"/>
                  <a:gd name="T16" fmla="*/ 1 w 9"/>
                  <a:gd name="T17" fmla="*/ 0 h 20"/>
                  <a:gd name="T18" fmla="*/ 3 w 9"/>
                  <a:gd name="T19" fmla="*/ 1 h 20"/>
                  <a:gd name="T20" fmla="*/ 5 w 9"/>
                  <a:gd name="T21" fmla="*/ 1 h 20"/>
                  <a:gd name="T22" fmla="*/ 6 w 9"/>
                  <a:gd name="T23" fmla="*/ 2 h 20"/>
                  <a:gd name="T24" fmla="*/ 7 w 9"/>
                  <a:gd name="T25" fmla="*/ 1 h 20"/>
                  <a:gd name="T26" fmla="*/ 7 w 9"/>
                  <a:gd name="T27" fmla="*/ 1 h 20"/>
                  <a:gd name="T28" fmla="*/ 8 w 9"/>
                  <a:gd name="T29" fmla="*/ 1 h 20"/>
                  <a:gd name="T30" fmla="*/ 4 w 9"/>
                  <a:gd name="T31" fmla="*/ 20 h 20"/>
                  <a:gd name="T32" fmla="*/ 5 w 9"/>
                  <a:gd name="T33" fmla="*/ 20 h 20"/>
                  <a:gd name="T34" fmla="*/ 8 w 9"/>
                  <a:gd name="T35" fmla="*/ 3 h 20"/>
                  <a:gd name="T36" fmla="*/ 8 w 9"/>
                  <a:gd name="T37" fmla="*/ 1 h 20"/>
                  <a:gd name="T38" fmla="*/ 9 w 9"/>
                  <a:gd name="T39" fmla="*/ 1 h 20"/>
                  <a:gd name="T40" fmla="*/ 8 w 9"/>
                  <a:gd name="T41"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20">
                    <a:moveTo>
                      <a:pt x="8" y="0"/>
                    </a:moveTo>
                    <a:cubicBezTo>
                      <a:pt x="8" y="0"/>
                      <a:pt x="8" y="0"/>
                      <a:pt x="8" y="0"/>
                    </a:cubicBezTo>
                    <a:cubicBezTo>
                      <a:pt x="8" y="0"/>
                      <a:pt x="8" y="0"/>
                      <a:pt x="8" y="0"/>
                    </a:cubicBezTo>
                    <a:cubicBezTo>
                      <a:pt x="6" y="1"/>
                      <a:pt x="6" y="1"/>
                      <a:pt x="6" y="1"/>
                    </a:cubicBezTo>
                    <a:cubicBezTo>
                      <a:pt x="5" y="1"/>
                      <a:pt x="5" y="1"/>
                      <a:pt x="5" y="1"/>
                    </a:cubicBezTo>
                    <a:cubicBezTo>
                      <a:pt x="3" y="1"/>
                      <a:pt x="3" y="1"/>
                      <a:pt x="3" y="1"/>
                    </a:cubicBezTo>
                    <a:cubicBezTo>
                      <a:pt x="1" y="0"/>
                      <a:pt x="1" y="0"/>
                      <a:pt x="1" y="0"/>
                    </a:cubicBezTo>
                    <a:cubicBezTo>
                      <a:pt x="0" y="1"/>
                      <a:pt x="0" y="1"/>
                      <a:pt x="0" y="1"/>
                    </a:cubicBezTo>
                    <a:cubicBezTo>
                      <a:pt x="1" y="0"/>
                      <a:pt x="1" y="0"/>
                      <a:pt x="1" y="0"/>
                    </a:cubicBezTo>
                    <a:cubicBezTo>
                      <a:pt x="3" y="1"/>
                      <a:pt x="3" y="1"/>
                      <a:pt x="3" y="1"/>
                    </a:cubicBezTo>
                    <a:cubicBezTo>
                      <a:pt x="5" y="1"/>
                      <a:pt x="5" y="1"/>
                      <a:pt x="5" y="1"/>
                    </a:cubicBezTo>
                    <a:cubicBezTo>
                      <a:pt x="6" y="2"/>
                      <a:pt x="6" y="2"/>
                      <a:pt x="6" y="2"/>
                    </a:cubicBezTo>
                    <a:cubicBezTo>
                      <a:pt x="7" y="1"/>
                      <a:pt x="7" y="1"/>
                      <a:pt x="7" y="1"/>
                    </a:cubicBezTo>
                    <a:cubicBezTo>
                      <a:pt x="7" y="1"/>
                      <a:pt x="7" y="1"/>
                      <a:pt x="7" y="1"/>
                    </a:cubicBezTo>
                    <a:cubicBezTo>
                      <a:pt x="7" y="1"/>
                      <a:pt x="8" y="1"/>
                      <a:pt x="8" y="1"/>
                    </a:cubicBezTo>
                    <a:cubicBezTo>
                      <a:pt x="4" y="20"/>
                      <a:pt x="4" y="20"/>
                      <a:pt x="4" y="20"/>
                    </a:cubicBezTo>
                    <a:cubicBezTo>
                      <a:pt x="5" y="20"/>
                      <a:pt x="5" y="20"/>
                      <a:pt x="5" y="20"/>
                    </a:cubicBezTo>
                    <a:cubicBezTo>
                      <a:pt x="8" y="3"/>
                      <a:pt x="8" y="3"/>
                      <a:pt x="8" y="3"/>
                    </a:cubicBezTo>
                    <a:cubicBezTo>
                      <a:pt x="8" y="1"/>
                      <a:pt x="8" y="1"/>
                      <a:pt x="8" y="1"/>
                    </a:cubicBezTo>
                    <a:cubicBezTo>
                      <a:pt x="9" y="1"/>
                      <a:pt x="9" y="1"/>
                      <a:pt x="9" y="1"/>
                    </a:cubicBezTo>
                    <a:cubicBezTo>
                      <a:pt x="9" y="0"/>
                      <a:pt x="9" y="0"/>
                      <a:pt x="8" y="0"/>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81" name="Freeform 1615"/>
              <p:cNvSpPr>
                <a:spLocks noChangeArrowheads="1"/>
              </p:cNvSpPr>
              <p:nvPr/>
            </p:nvSpPr>
            <p:spPr bwMode="auto">
              <a:xfrm>
                <a:off x="5758120" y="3709437"/>
                <a:ext cx="26990" cy="115321"/>
              </a:xfrm>
              <a:custGeom>
                <a:avLst/>
                <a:gdLst>
                  <a:gd name="T0" fmla="*/ 2 w 5"/>
                  <a:gd name="T1" fmla="*/ 0 h 20"/>
                  <a:gd name="T2" fmla="*/ 2 w 5"/>
                  <a:gd name="T3" fmla="*/ 0 h 20"/>
                  <a:gd name="T4" fmla="*/ 2 w 5"/>
                  <a:gd name="T5" fmla="*/ 0 h 20"/>
                  <a:gd name="T6" fmla="*/ 1 w 5"/>
                  <a:gd name="T7" fmla="*/ 0 h 20"/>
                  <a:gd name="T8" fmla="*/ 0 w 5"/>
                  <a:gd name="T9" fmla="*/ 1 h 20"/>
                  <a:gd name="T10" fmla="*/ 1 w 5"/>
                  <a:gd name="T11" fmla="*/ 1 h 20"/>
                  <a:gd name="T12" fmla="*/ 4 w 5"/>
                  <a:gd name="T13" fmla="*/ 20 h 20"/>
                  <a:gd name="T14" fmla="*/ 5 w 5"/>
                  <a:gd name="T15" fmla="*/ 20 h 20"/>
                  <a:gd name="T16" fmla="*/ 1 w 5"/>
                  <a:gd name="T17" fmla="*/ 1 h 20"/>
                  <a:gd name="T18" fmla="*/ 2 w 5"/>
                  <a:gd name="T19" fmla="*/ 1 h 20"/>
                  <a:gd name="T20" fmla="*/ 3 w 5"/>
                  <a:gd name="T21" fmla="*/ 1 h 20"/>
                  <a:gd name="T22" fmla="*/ 3 w 5"/>
                  <a:gd name="T23" fmla="*/ 1 h 20"/>
                  <a:gd name="T24" fmla="*/ 3 w 5"/>
                  <a:gd name="T25" fmla="*/ 1 h 20"/>
                  <a:gd name="T26" fmla="*/ 2 w 5"/>
                  <a:gd name="T2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 h="20">
                    <a:moveTo>
                      <a:pt x="2" y="0"/>
                    </a:moveTo>
                    <a:cubicBezTo>
                      <a:pt x="2" y="0"/>
                      <a:pt x="2" y="0"/>
                      <a:pt x="2" y="0"/>
                    </a:cubicBezTo>
                    <a:cubicBezTo>
                      <a:pt x="2" y="0"/>
                      <a:pt x="2" y="0"/>
                      <a:pt x="2" y="0"/>
                    </a:cubicBezTo>
                    <a:cubicBezTo>
                      <a:pt x="2" y="0"/>
                      <a:pt x="1" y="0"/>
                      <a:pt x="1" y="0"/>
                    </a:cubicBezTo>
                    <a:cubicBezTo>
                      <a:pt x="0" y="0"/>
                      <a:pt x="0" y="0"/>
                      <a:pt x="0" y="1"/>
                    </a:cubicBezTo>
                    <a:cubicBezTo>
                      <a:pt x="0" y="1"/>
                      <a:pt x="1" y="1"/>
                      <a:pt x="1" y="1"/>
                    </a:cubicBezTo>
                    <a:cubicBezTo>
                      <a:pt x="4" y="20"/>
                      <a:pt x="4" y="20"/>
                      <a:pt x="4" y="20"/>
                    </a:cubicBezTo>
                    <a:cubicBezTo>
                      <a:pt x="5" y="20"/>
                      <a:pt x="5" y="20"/>
                      <a:pt x="5" y="20"/>
                    </a:cubicBezTo>
                    <a:cubicBezTo>
                      <a:pt x="1" y="1"/>
                      <a:pt x="1" y="1"/>
                      <a:pt x="1" y="1"/>
                    </a:cubicBezTo>
                    <a:cubicBezTo>
                      <a:pt x="2" y="1"/>
                      <a:pt x="2" y="1"/>
                      <a:pt x="2" y="1"/>
                    </a:cubicBezTo>
                    <a:cubicBezTo>
                      <a:pt x="3" y="1"/>
                      <a:pt x="3" y="1"/>
                      <a:pt x="3" y="1"/>
                    </a:cubicBezTo>
                    <a:cubicBezTo>
                      <a:pt x="3" y="1"/>
                      <a:pt x="3" y="1"/>
                      <a:pt x="3" y="1"/>
                    </a:cubicBezTo>
                    <a:cubicBezTo>
                      <a:pt x="3" y="1"/>
                      <a:pt x="3" y="1"/>
                      <a:pt x="3" y="1"/>
                    </a:cubicBezTo>
                    <a:lnTo>
                      <a:pt x="2" y="0"/>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grpSp>
      <p:grpSp>
        <p:nvGrpSpPr>
          <p:cNvPr id="10" name="组合 9"/>
          <p:cNvGrpSpPr>
            <a:grpSpLocks/>
          </p:cNvGrpSpPr>
          <p:nvPr/>
        </p:nvGrpSpPr>
        <p:grpSpPr bwMode="auto">
          <a:xfrm>
            <a:off x="5193518" y="3024955"/>
            <a:ext cx="495301" cy="501646"/>
            <a:chOff x="5547107" y="3406717"/>
            <a:chExt cx="495634" cy="500542"/>
          </a:xfrm>
        </p:grpSpPr>
        <p:sp>
          <p:nvSpPr>
            <p:cNvPr id="58" name="Freeform 1205"/>
            <p:cNvSpPr>
              <a:spLocks noChangeArrowheads="1"/>
            </p:cNvSpPr>
            <p:nvPr/>
          </p:nvSpPr>
          <p:spPr bwMode="auto">
            <a:xfrm>
              <a:off x="5605994" y="3504863"/>
              <a:ext cx="41712" cy="41712"/>
            </a:xfrm>
            <a:custGeom>
              <a:avLst/>
              <a:gdLst>
                <a:gd name="T0" fmla="*/ 7 w 7"/>
                <a:gd name="T1" fmla="*/ 7 h 7"/>
                <a:gd name="T2" fmla="*/ 7 w 7"/>
                <a:gd name="T3" fmla="*/ 5 h 7"/>
                <a:gd name="T4" fmla="*/ 2 w 7"/>
                <a:gd name="T5" fmla="*/ 1 h 7"/>
                <a:gd name="T6" fmla="*/ 0 w 7"/>
                <a:gd name="T7" fmla="*/ 1 h 7"/>
                <a:gd name="T8" fmla="*/ 0 w 7"/>
                <a:gd name="T9" fmla="*/ 1 h 7"/>
                <a:gd name="T10" fmla="*/ 1 w 7"/>
                <a:gd name="T11" fmla="*/ 3 h 7"/>
                <a:gd name="T12" fmla="*/ 5 w 7"/>
                <a:gd name="T13" fmla="*/ 7 h 7"/>
                <a:gd name="T14" fmla="*/ 7 w 7"/>
                <a:gd name="T15" fmla="*/ 7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7">
                  <a:moveTo>
                    <a:pt x="7" y="7"/>
                  </a:moveTo>
                  <a:cubicBezTo>
                    <a:pt x="7" y="6"/>
                    <a:pt x="7" y="5"/>
                    <a:pt x="7" y="5"/>
                  </a:cubicBezTo>
                  <a:cubicBezTo>
                    <a:pt x="2" y="1"/>
                    <a:pt x="2" y="1"/>
                    <a:pt x="2" y="1"/>
                  </a:cubicBezTo>
                  <a:cubicBezTo>
                    <a:pt x="2" y="0"/>
                    <a:pt x="1" y="0"/>
                    <a:pt x="0" y="1"/>
                  </a:cubicBezTo>
                  <a:cubicBezTo>
                    <a:pt x="0" y="1"/>
                    <a:pt x="0" y="1"/>
                    <a:pt x="0" y="1"/>
                  </a:cubicBezTo>
                  <a:cubicBezTo>
                    <a:pt x="0" y="2"/>
                    <a:pt x="0" y="2"/>
                    <a:pt x="1" y="3"/>
                  </a:cubicBezTo>
                  <a:cubicBezTo>
                    <a:pt x="5" y="7"/>
                    <a:pt x="5" y="7"/>
                    <a:pt x="5" y="7"/>
                  </a:cubicBezTo>
                  <a:cubicBezTo>
                    <a:pt x="6" y="7"/>
                    <a:pt x="7" y="7"/>
                    <a:pt x="7" y="7"/>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9" name="Oval 1616"/>
            <p:cNvSpPr>
              <a:spLocks noChangeArrowheads="1"/>
            </p:cNvSpPr>
            <p:nvPr/>
          </p:nvSpPr>
          <p:spPr bwMode="auto">
            <a:xfrm>
              <a:off x="5547107" y="3406717"/>
              <a:ext cx="495634" cy="500542"/>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0" name="Oval 1617"/>
            <p:cNvSpPr>
              <a:spLocks noChangeArrowheads="1"/>
            </p:cNvSpPr>
            <p:nvPr/>
          </p:nvSpPr>
          <p:spPr bwMode="auto">
            <a:xfrm>
              <a:off x="5564282" y="3431254"/>
              <a:ext cx="453923" cy="45146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61" name="组合 60"/>
            <p:cNvGrpSpPr>
              <a:grpSpLocks/>
            </p:cNvGrpSpPr>
            <p:nvPr/>
          </p:nvGrpSpPr>
          <p:grpSpPr bwMode="auto">
            <a:xfrm>
              <a:off x="5610901" y="3482780"/>
              <a:ext cx="368046" cy="348417"/>
              <a:chOff x="5610901" y="3000336"/>
              <a:chExt cx="368046" cy="348417"/>
            </a:xfrm>
          </p:grpSpPr>
          <p:sp>
            <p:nvSpPr>
              <p:cNvPr id="62" name="Freeform 1618"/>
              <p:cNvSpPr>
                <a:spLocks noChangeArrowheads="1"/>
              </p:cNvSpPr>
              <p:nvPr/>
            </p:nvSpPr>
            <p:spPr bwMode="auto">
              <a:xfrm>
                <a:off x="5682057" y="3000336"/>
                <a:ext cx="169301" cy="110414"/>
              </a:xfrm>
              <a:custGeom>
                <a:avLst/>
                <a:gdLst>
                  <a:gd name="T0" fmla="*/ 11 w 29"/>
                  <a:gd name="T1" fmla="*/ 0 h 19"/>
                  <a:gd name="T2" fmla="*/ 0 w 29"/>
                  <a:gd name="T3" fmla="*/ 11 h 19"/>
                  <a:gd name="T4" fmla="*/ 9 w 29"/>
                  <a:gd name="T5" fmla="*/ 19 h 19"/>
                  <a:gd name="T6" fmla="*/ 29 w 29"/>
                  <a:gd name="T7" fmla="*/ 0 h 19"/>
                  <a:gd name="T8" fmla="*/ 11 w 29"/>
                  <a:gd name="T9" fmla="*/ 0 h 19"/>
                </a:gdLst>
                <a:ahLst/>
                <a:cxnLst>
                  <a:cxn ang="0">
                    <a:pos x="T0" y="T1"/>
                  </a:cxn>
                  <a:cxn ang="0">
                    <a:pos x="T2" y="T3"/>
                  </a:cxn>
                  <a:cxn ang="0">
                    <a:pos x="T4" y="T5"/>
                  </a:cxn>
                  <a:cxn ang="0">
                    <a:pos x="T6" y="T7"/>
                  </a:cxn>
                  <a:cxn ang="0">
                    <a:pos x="T8" y="T9"/>
                  </a:cxn>
                </a:cxnLst>
                <a:rect l="0" t="0" r="r" b="b"/>
                <a:pathLst>
                  <a:path w="29" h="19">
                    <a:moveTo>
                      <a:pt x="11" y="0"/>
                    </a:moveTo>
                    <a:cubicBezTo>
                      <a:pt x="7" y="2"/>
                      <a:pt x="0" y="11"/>
                      <a:pt x="0" y="11"/>
                    </a:cubicBezTo>
                    <a:cubicBezTo>
                      <a:pt x="9" y="19"/>
                      <a:pt x="9" y="19"/>
                      <a:pt x="9" y="19"/>
                    </a:cubicBezTo>
                    <a:cubicBezTo>
                      <a:pt x="9" y="19"/>
                      <a:pt x="20" y="4"/>
                      <a:pt x="29" y="0"/>
                    </a:cubicBezTo>
                    <a:lnTo>
                      <a:pt x="11" y="0"/>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3" name="Freeform 1619"/>
              <p:cNvSpPr>
                <a:spLocks noChangeArrowheads="1"/>
              </p:cNvSpPr>
              <p:nvPr/>
            </p:nvSpPr>
            <p:spPr bwMode="auto">
              <a:xfrm>
                <a:off x="5745851" y="3000336"/>
                <a:ext cx="179115" cy="122682"/>
              </a:xfrm>
              <a:custGeom>
                <a:avLst/>
                <a:gdLst>
                  <a:gd name="T0" fmla="*/ 31 w 31"/>
                  <a:gd name="T1" fmla="*/ 4 h 21"/>
                  <a:gd name="T2" fmla="*/ 28 w 31"/>
                  <a:gd name="T3" fmla="*/ 21 h 21"/>
                  <a:gd name="T4" fmla="*/ 11 w 31"/>
                  <a:gd name="T5" fmla="*/ 18 h 21"/>
                  <a:gd name="T6" fmla="*/ 16 w 31"/>
                  <a:gd name="T7" fmla="*/ 14 h 21"/>
                  <a:gd name="T8" fmla="*/ 0 w 31"/>
                  <a:gd name="T9" fmla="*/ 0 h 21"/>
                  <a:gd name="T10" fmla="*/ 18 w 31"/>
                  <a:gd name="T11" fmla="*/ 0 h 21"/>
                  <a:gd name="T12" fmla="*/ 26 w 31"/>
                  <a:gd name="T13" fmla="*/ 7 h 21"/>
                  <a:gd name="T14" fmla="*/ 31 w 31"/>
                  <a:gd name="T15" fmla="*/ 4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21">
                    <a:moveTo>
                      <a:pt x="31" y="4"/>
                    </a:moveTo>
                    <a:cubicBezTo>
                      <a:pt x="28" y="21"/>
                      <a:pt x="28" y="21"/>
                      <a:pt x="28" y="21"/>
                    </a:cubicBezTo>
                    <a:cubicBezTo>
                      <a:pt x="11" y="18"/>
                      <a:pt x="11" y="18"/>
                      <a:pt x="11" y="18"/>
                    </a:cubicBezTo>
                    <a:cubicBezTo>
                      <a:pt x="16" y="14"/>
                      <a:pt x="16" y="14"/>
                      <a:pt x="16" y="14"/>
                    </a:cubicBezTo>
                    <a:cubicBezTo>
                      <a:pt x="12" y="10"/>
                      <a:pt x="4" y="1"/>
                      <a:pt x="0" y="0"/>
                    </a:cubicBezTo>
                    <a:cubicBezTo>
                      <a:pt x="18" y="0"/>
                      <a:pt x="18" y="0"/>
                      <a:pt x="18" y="0"/>
                    </a:cubicBezTo>
                    <a:cubicBezTo>
                      <a:pt x="21" y="2"/>
                      <a:pt x="24" y="5"/>
                      <a:pt x="26" y="7"/>
                    </a:cubicBezTo>
                    <a:lnTo>
                      <a:pt x="31" y="4"/>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4" name="Freeform 1620"/>
              <p:cNvSpPr>
                <a:spLocks noChangeArrowheads="1"/>
              </p:cNvSpPr>
              <p:nvPr/>
            </p:nvSpPr>
            <p:spPr bwMode="auto">
              <a:xfrm>
                <a:off x="5630531" y="3208895"/>
                <a:ext cx="149672" cy="117775"/>
              </a:xfrm>
              <a:custGeom>
                <a:avLst/>
                <a:gdLst>
                  <a:gd name="T0" fmla="*/ 9 w 26"/>
                  <a:gd name="T1" fmla="*/ 16 h 20"/>
                  <a:gd name="T2" fmla="*/ 24 w 26"/>
                  <a:gd name="T3" fmla="*/ 20 h 20"/>
                  <a:gd name="T4" fmla="*/ 26 w 26"/>
                  <a:gd name="T5" fmla="*/ 8 h 20"/>
                  <a:gd name="T6" fmla="*/ 0 w 26"/>
                  <a:gd name="T7" fmla="*/ 0 h 20"/>
                  <a:gd name="T8" fmla="*/ 9 w 26"/>
                  <a:gd name="T9" fmla="*/ 16 h 20"/>
                </a:gdLst>
                <a:ahLst/>
                <a:cxnLst>
                  <a:cxn ang="0">
                    <a:pos x="T0" y="T1"/>
                  </a:cxn>
                  <a:cxn ang="0">
                    <a:pos x="T2" y="T3"/>
                  </a:cxn>
                  <a:cxn ang="0">
                    <a:pos x="T4" y="T5"/>
                  </a:cxn>
                  <a:cxn ang="0">
                    <a:pos x="T6" y="T7"/>
                  </a:cxn>
                  <a:cxn ang="0">
                    <a:pos x="T8" y="T9"/>
                  </a:cxn>
                </a:cxnLst>
                <a:rect l="0" t="0" r="r" b="b"/>
                <a:pathLst>
                  <a:path w="26" h="20">
                    <a:moveTo>
                      <a:pt x="9" y="16"/>
                    </a:moveTo>
                    <a:cubicBezTo>
                      <a:pt x="12" y="19"/>
                      <a:pt x="24" y="20"/>
                      <a:pt x="24" y="20"/>
                    </a:cubicBezTo>
                    <a:cubicBezTo>
                      <a:pt x="26" y="8"/>
                      <a:pt x="26" y="8"/>
                      <a:pt x="26" y="8"/>
                    </a:cubicBezTo>
                    <a:cubicBezTo>
                      <a:pt x="26" y="8"/>
                      <a:pt x="7" y="6"/>
                      <a:pt x="0" y="0"/>
                    </a:cubicBezTo>
                    <a:lnTo>
                      <a:pt x="9" y="16"/>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5" name="Freeform 1621"/>
              <p:cNvSpPr>
                <a:spLocks noChangeArrowheads="1"/>
              </p:cNvSpPr>
              <p:nvPr/>
            </p:nvSpPr>
            <p:spPr bwMode="auto">
              <a:xfrm>
                <a:off x="5610901" y="3098481"/>
                <a:ext cx="130043" cy="203652"/>
              </a:xfrm>
              <a:custGeom>
                <a:avLst/>
                <a:gdLst>
                  <a:gd name="T0" fmla="*/ 0 w 22"/>
                  <a:gd name="T1" fmla="*/ 7 h 35"/>
                  <a:gd name="T2" fmla="*/ 16 w 22"/>
                  <a:gd name="T3" fmla="*/ 0 h 35"/>
                  <a:gd name="T4" fmla="*/ 22 w 22"/>
                  <a:gd name="T5" fmla="*/ 17 h 35"/>
                  <a:gd name="T6" fmla="*/ 16 w 22"/>
                  <a:gd name="T7" fmla="*/ 14 h 35"/>
                  <a:gd name="T8" fmla="*/ 12 w 22"/>
                  <a:gd name="T9" fmla="*/ 35 h 35"/>
                  <a:gd name="T10" fmla="*/ 3 w 22"/>
                  <a:gd name="T11" fmla="*/ 19 h 35"/>
                  <a:gd name="T12" fmla="*/ 5 w 22"/>
                  <a:gd name="T13" fmla="*/ 9 h 35"/>
                  <a:gd name="T14" fmla="*/ 0 w 22"/>
                  <a:gd name="T15" fmla="*/ 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5">
                    <a:moveTo>
                      <a:pt x="0" y="7"/>
                    </a:moveTo>
                    <a:cubicBezTo>
                      <a:pt x="16" y="0"/>
                      <a:pt x="16" y="0"/>
                      <a:pt x="16" y="0"/>
                    </a:cubicBezTo>
                    <a:cubicBezTo>
                      <a:pt x="22" y="17"/>
                      <a:pt x="22" y="17"/>
                      <a:pt x="22" y="17"/>
                    </a:cubicBezTo>
                    <a:cubicBezTo>
                      <a:pt x="16" y="14"/>
                      <a:pt x="16" y="14"/>
                      <a:pt x="16" y="14"/>
                    </a:cubicBezTo>
                    <a:cubicBezTo>
                      <a:pt x="14" y="20"/>
                      <a:pt x="11" y="31"/>
                      <a:pt x="12" y="35"/>
                    </a:cubicBezTo>
                    <a:cubicBezTo>
                      <a:pt x="3" y="19"/>
                      <a:pt x="3" y="19"/>
                      <a:pt x="3" y="19"/>
                    </a:cubicBezTo>
                    <a:cubicBezTo>
                      <a:pt x="3" y="15"/>
                      <a:pt x="4" y="11"/>
                      <a:pt x="5" y="9"/>
                    </a:cubicBezTo>
                    <a:lnTo>
                      <a:pt x="0" y="7"/>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6" name="Freeform 1622"/>
              <p:cNvSpPr>
                <a:spLocks noChangeArrowheads="1"/>
              </p:cNvSpPr>
              <p:nvPr/>
            </p:nvSpPr>
            <p:spPr bwMode="auto">
              <a:xfrm>
                <a:off x="5885709" y="3115657"/>
                <a:ext cx="93238" cy="181569"/>
              </a:xfrm>
              <a:custGeom>
                <a:avLst/>
                <a:gdLst>
                  <a:gd name="T0" fmla="*/ 15 w 16"/>
                  <a:gd name="T1" fmla="*/ 15 h 31"/>
                  <a:gd name="T2" fmla="*/ 11 w 16"/>
                  <a:gd name="T3" fmla="*/ 0 h 31"/>
                  <a:gd name="T4" fmla="*/ 0 w 16"/>
                  <a:gd name="T5" fmla="*/ 4 h 31"/>
                  <a:gd name="T6" fmla="*/ 6 w 16"/>
                  <a:gd name="T7" fmla="*/ 31 h 31"/>
                  <a:gd name="T8" fmla="*/ 15 w 16"/>
                  <a:gd name="T9" fmla="*/ 15 h 31"/>
                </a:gdLst>
                <a:ahLst/>
                <a:cxnLst>
                  <a:cxn ang="0">
                    <a:pos x="T0" y="T1"/>
                  </a:cxn>
                  <a:cxn ang="0">
                    <a:pos x="T2" y="T3"/>
                  </a:cxn>
                  <a:cxn ang="0">
                    <a:pos x="T4" y="T5"/>
                  </a:cxn>
                  <a:cxn ang="0">
                    <a:pos x="T6" y="T7"/>
                  </a:cxn>
                  <a:cxn ang="0">
                    <a:pos x="T8" y="T9"/>
                  </a:cxn>
                </a:cxnLst>
                <a:rect l="0" t="0" r="r" b="b"/>
                <a:pathLst>
                  <a:path w="16" h="31">
                    <a:moveTo>
                      <a:pt x="15" y="15"/>
                    </a:moveTo>
                    <a:cubicBezTo>
                      <a:pt x="16" y="11"/>
                      <a:pt x="11" y="0"/>
                      <a:pt x="11" y="0"/>
                    </a:cubicBezTo>
                    <a:cubicBezTo>
                      <a:pt x="0" y="4"/>
                      <a:pt x="0" y="4"/>
                      <a:pt x="0" y="4"/>
                    </a:cubicBezTo>
                    <a:cubicBezTo>
                      <a:pt x="0" y="4"/>
                      <a:pt x="8" y="22"/>
                      <a:pt x="6" y="31"/>
                    </a:cubicBezTo>
                    <a:lnTo>
                      <a:pt x="15" y="15"/>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7" name="Freeform 1623"/>
              <p:cNvSpPr>
                <a:spLocks noChangeArrowheads="1"/>
              </p:cNvSpPr>
              <p:nvPr/>
            </p:nvSpPr>
            <p:spPr bwMode="auto">
              <a:xfrm>
                <a:off x="5785110" y="3203988"/>
                <a:ext cx="186476" cy="144765"/>
              </a:xfrm>
              <a:custGeom>
                <a:avLst/>
                <a:gdLst>
                  <a:gd name="T0" fmla="*/ 14 w 32"/>
                  <a:gd name="T1" fmla="*/ 25 h 25"/>
                  <a:gd name="T2" fmla="*/ 0 w 32"/>
                  <a:gd name="T3" fmla="*/ 15 h 25"/>
                  <a:gd name="T4" fmla="*/ 11 w 32"/>
                  <a:gd name="T5" fmla="*/ 1 h 25"/>
                  <a:gd name="T6" fmla="*/ 12 w 32"/>
                  <a:gd name="T7" fmla="*/ 7 h 25"/>
                  <a:gd name="T8" fmla="*/ 32 w 32"/>
                  <a:gd name="T9" fmla="*/ 0 h 25"/>
                  <a:gd name="T10" fmla="*/ 23 w 32"/>
                  <a:gd name="T11" fmla="*/ 16 h 25"/>
                  <a:gd name="T12" fmla="*/ 13 w 32"/>
                  <a:gd name="T13" fmla="*/ 20 h 25"/>
                  <a:gd name="T14" fmla="*/ 14 w 32"/>
                  <a:gd name="T15" fmla="*/ 25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25">
                    <a:moveTo>
                      <a:pt x="14" y="25"/>
                    </a:moveTo>
                    <a:cubicBezTo>
                      <a:pt x="0" y="15"/>
                      <a:pt x="0" y="15"/>
                      <a:pt x="0" y="15"/>
                    </a:cubicBezTo>
                    <a:cubicBezTo>
                      <a:pt x="11" y="1"/>
                      <a:pt x="11" y="1"/>
                      <a:pt x="11" y="1"/>
                    </a:cubicBezTo>
                    <a:cubicBezTo>
                      <a:pt x="12" y="7"/>
                      <a:pt x="12" y="7"/>
                      <a:pt x="12" y="7"/>
                    </a:cubicBezTo>
                    <a:cubicBezTo>
                      <a:pt x="18" y="6"/>
                      <a:pt x="30" y="3"/>
                      <a:pt x="32" y="0"/>
                    </a:cubicBezTo>
                    <a:cubicBezTo>
                      <a:pt x="23" y="16"/>
                      <a:pt x="23" y="16"/>
                      <a:pt x="23" y="16"/>
                    </a:cubicBezTo>
                    <a:cubicBezTo>
                      <a:pt x="20" y="18"/>
                      <a:pt x="16" y="19"/>
                      <a:pt x="13" y="20"/>
                    </a:cubicBezTo>
                    <a:lnTo>
                      <a:pt x="14" y="25"/>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grpSp>
      <p:grpSp>
        <p:nvGrpSpPr>
          <p:cNvPr id="11" name="组合 10"/>
          <p:cNvGrpSpPr>
            <a:grpSpLocks/>
          </p:cNvGrpSpPr>
          <p:nvPr/>
        </p:nvGrpSpPr>
        <p:grpSpPr bwMode="auto">
          <a:xfrm>
            <a:off x="5911057" y="3013869"/>
            <a:ext cx="495300" cy="500063"/>
            <a:chOff x="6145794" y="3406717"/>
            <a:chExt cx="495634" cy="500542"/>
          </a:xfrm>
        </p:grpSpPr>
        <p:sp>
          <p:nvSpPr>
            <p:cNvPr id="36" name="Oval 1624"/>
            <p:cNvSpPr>
              <a:spLocks noChangeArrowheads="1"/>
            </p:cNvSpPr>
            <p:nvPr/>
          </p:nvSpPr>
          <p:spPr bwMode="auto">
            <a:xfrm>
              <a:off x="6145794" y="3406717"/>
              <a:ext cx="495634" cy="500542"/>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7" name="Oval 1625"/>
            <p:cNvSpPr>
              <a:spLocks noChangeArrowheads="1"/>
            </p:cNvSpPr>
            <p:nvPr/>
          </p:nvSpPr>
          <p:spPr bwMode="auto">
            <a:xfrm>
              <a:off x="6162970" y="3431254"/>
              <a:ext cx="453923" cy="45146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38" name="组合 37"/>
            <p:cNvGrpSpPr>
              <a:grpSpLocks/>
            </p:cNvGrpSpPr>
            <p:nvPr/>
          </p:nvGrpSpPr>
          <p:grpSpPr bwMode="auto">
            <a:xfrm>
              <a:off x="6263569" y="3470512"/>
              <a:ext cx="260085" cy="338602"/>
              <a:chOff x="6263569" y="2988068"/>
              <a:chExt cx="260085" cy="338602"/>
            </a:xfrm>
          </p:grpSpPr>
          <p:sp>
            <p:nvSpPr>
              <p:cNvPr id="39" name="Rectangle 1626"/>
              <p:cNvSpPr>
                <a:spLocks noChangeArrowheads="1"/>
              </p:cNvSpPr>
              <p:nvPr/>
            </p:nvSpPr>
            <p:spPr bwMode="auto">
              <a:xfrm>
                <a:off x="6293012" y="3115657"/>
                <a:ext cx="201198" cy="203652"/>
              </a:xfrm>
              <a:prstGeom prst="rect">
                <a:avLst/>
              </a:prstGeom>
              <a:solidFill>
                <a:srgbClr val="6397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0" name="Rectangle 1627"/>
              <p:cNvSpPr>
                <a:spLocks noChangeArrowheads="1"/>
              </p:cNvSpPr>
              <p:nvPr/>
            </p:nvSpPr>
            <p:spPr bwMode="auto">
              <a:xfrm>
                <a:off x="6315095" y="3145101"/>
                <a:ext cx="58887" cy="76063"/>
              </a:xfrm>
              <a:prstGeom prst="rect">
                <a:avLst/>
              </a:prstGeom>
              <a:solidFill>
                <a:srgbClr val="82C2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1" name="Rectangle 1628"/>
              <p:cNvSpPr>
                <a:spLocks noChangeArrowheads="1"/>
              </p:cNvSpPr>
              <p:nvPr/>
            </p:nvSpPr>
            <p:spPr bwMode="auto">
              <a:xfrm>
                <a:off x="6413240" y="3145101"/>
                <a:ext cx="53980" cy="76063"/>
              </a:xfrm>
              <a:prstGeom prst="rect">
                <a:avLst/>
              </a:prstGeom>
              <a:solidFill>
                <a:srgbClr val="82C2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2" name="Rectangle 1629"/>
              <p:cNvSpPr>
                <a:spLocks noChangeArrowheads="1"/>
              </p:cNvSpPr>
              <p:nvPr/>
            </p:nvSpPr>
            <p:spPr bwMode="auto">
              <a:xfrm>
                <a:off x="6320002" y="3150008"/>
                <a:ext cx="24536" cy="29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3" name="Rectangle 1630"/>
              <p:cNvSpPr>
                <a:spLocks noChangeArrowheads="1"/>
              </p:cNvSpPr>
              <p:nvPr/>
            </p:nvSpPr>
            <p:spPr bwMode="auto">
              <a:xfrm>
                <a:off x="6344539" y="3150008"/>
                <a:ext cx="22083" cy="29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4" name="Rectangle 1631"/>
              <p:cNvSpPr>
                <a:spLocks noChangeArrowheads="1"/>
              </p:cNvSpPr>
              <p:nvPr/>
            </p:nvSpPr>
            <p:spPr bwMode="auto">
              <a:xfrm>
                <a:off x="6320002" y="3186812"/>
                <a:ext cx="24536" cy="343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5" name="Rectangle 1632"/>
              <p:cNvSpPr>
                <a:spLocks noChangeArrowheads="1"/>
              </p:cNvSpPr>
              <p:nvPr/>
            </p:nvSpPr>
            <p:spPr bwMode="auto">
              <a:xfrm>
                <a:off x="6344539" y="3186812"/>
                <a:ext cx="22083" cy="343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6" name="Rectangle 1633"/>
              <p:cNvSpPr>
                <a:spLocks noChangeArrowheads="1"/>
              </p:cNvSpPr>
              <p:nvPr/>
            </p:nvSpPr>
            <p:spPr bwMode="auto">
              <a:xfrm>
                <a:off x="6420601" y="3150008"/>
                <a:ext cx="17175" cy="29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7" name="Rectangle 1634"/>
              <p:cNvSpPr>
                <a:spLocks noChangeArrowheads="1"/>
              </p:cNvSpPr>
              <p:nvPr/>
            </p:nvSpPr>
            <p:spPr bwMode="auto">
              <a:xfrm>
                <a:off x="6442684" y="3150008"/>
                <a:ext cx="17175" cy="29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8" name="Rectangle 1635"/>
              <p:cNvSpPr>
                <a:spLocks noChangeArrowheads="1"/>
              </p:cNvSpPr>
              <p:nvPr/>
            </p:nvSpPr>
            <p:spPr bwMode="auto">
              <a:xfrm>
                <a:off x="6420601" y="3186812"/>
                <a:ext cx="17175" cy="343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9" name="Rectangle 1636"/>
              <p:cNvSpPr>
                <a:spLocks noChangeArrowheads="1"/>
              </p:cNvSpPr>
              <p:nvPr/>
            </p:nvSpPr>
            <p:spPr bwMode="auto">
              <a:xfrm>
                <a:off x="6442684" y="3186812"/>
                <a:ext cx="17175" cy="343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0" name="Rectangle 1637"/>
              <p:cNvSpPr>
                <a:spLocks noChangeArrowheads="1"/>
              </p:cNvSpPr>
              <p:nvPr/>
            </p:nvSpPr>
            <p:spPr bwMode="auto">
              <a:xfrm>
                <a:off x="6366621" y="3238339"/>
                <a:ext cx="53980" cy="76063"/>
              </a:xfrm>
              <a:prstGeom prst="rect">
                <a:avLst/>
              </a:prstGeom>
              <a:solidFill>
                <a:srgbClr val="82C2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1" name="Rectangle 1638"/>
              <p:cNvSpPr>
                <a:spLocks noChangeArrowheads="1"/>
              </p:cNvSpPr>
              <p:nvPr/>
            </p:nvSpPr>
            <p:spPr bwMode="auto">
              <a:xfrm>
                <a:off x="6373982" y="3243246"/>
                <a:ext cx="39258" cy="63795"/>
              </a:xfrm>
              <a:prstGeom prst="rect">
                <a:avLst/>
              </a:prstGeom>
              <a:solidFill>
                <a:srgbClr val="6397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2" name="Rectangle 1639"/>
              <p:cNvSpPr>
                <a:spLocks noChangeArrowheads="1"/>
              </p:cNvSpPr>
              <p:nvPr/>
            </p:nvSpPr>
            <p:spPr bwMode="auto">
              <a:xfrm>
                <a:off x="6356807" y="3307041"/>
                <a:ext cx="68702" cy="19629"/>
              </a:xfrm>
              <a:prstGeom prst="rect">
                <a:avLst/>
              </a:prstGeom>
              <a:solidFill>
                <a:srgbClr val="82C2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3" name="Oval 1640"/>
              <p:cNvSpPr>
                <a:spLocks noChangeArrowheads="1"/>
              </p:cNvSpPr>
              <p:nvPr/>
            </p:nvSpPr>
            <p:spPr bwMode="auto">
              <a:xfrm>
                <a:off x="6408333" y="3280051"/>
                <a:ext cx="4907" cy="4907"/>
              </a:xfrm>
              <a:prstGeom prst="ellipse">
                <a:avLst/>
              </a:pr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4" name="Freeform 1641"/>
              <p:cNvSpPr>
                <a:spLocks noChangeArrowheads="1"/>
              </p:cNvSpPr>
              <p:nvPr/>
            </p:nvSpPr>
            <p:spPr bwMode="auto">
              <a:xfrm>
                <a:off x="6263569" y="2988068"/>
                <a:ext cx="260085" cy="139857"/>
              </a:xfrm>
              <a:custGeom>
                <a:avLst/>
                <a:gdLst>
                  <a:gd name="T0" fmla="*/ 0 w 106"/>
                  <a:gd name="T1" fmla="*/ 57 h 57"/>
                  <a:gd name="T2" fmla="*/ 52 w 106"/>
                  <a:gd name="T3" fmla="*/ 0 h 57"/>
                  <a:gd name="T4" fmla="*/ 106 w 106"/>
                  <a:gd name="T5" fmla="*/ 57 h 57"/>
                  <a:gd name="T6" fmla="*/ 0 w 106"/>
                  <a:gd name="T7" fmla="*/ 57 h 57"/>
                </a:gdLst>
                <a:ahLst/>
                <a:cxnLst>
                  <a:cxn ang="0">
                    <a:pos x="T0" y="T1"/>
                  </a:cxn>
                  <a:cxn ang="0">
                    <a:pos x="T2" y="T3"/>
                  </a:cxn>
                  <a:cxn ang="0">
                    <a:pos x="T4" y="T5"/>
                  </a:cxn>
                  <a:cxn ang="0">
                    <a:pos x="T6" y="T7"/>
                  </a:cxn>
                </a:cxnLst>
                <a:rect l="0" t="0" r="r" b="b"/>
                <a:pathLst>
                  <a:path w="106" h="57">
                    <a:moveTo>
                      <a:pt x="0" y="57"/>
                    </a:moveTo>
                    <a:lnTo>
                      <a:pt x="52" y="0"/>
                    </a:lnTo>
                    <a:lnTo>
                      <a:pt x="106" y="57"/>
                    </a:lnTo>
                    <a:lnTo>
                      <a:pt x="0" y="57"/>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5" name="Freeform 1642"/>
              <p:cNvSpPr>
                <a:spLocks noChangeArrowheads="1"/>
              </p:cNvSpPr>
              <p:nvPr/>
            </p:nvSpPr>
            <p:spPr bwMode="auto">
              <a:xfrm>
                <a:off x="6293012" y="3005243"/>
                <a:ext cx="201198" cy="110414"/>
              </a:xfrm>
              <a:custGeom>
                <a:avLst/>
                <a:gdLst>
                  <a:gd name="T0" fmla="*/ 0 w 82"/>
                  <a:gd name="T1" fmla="*/ 45 h 45"/>
                  <a:gd name="T2" fmla="*/ 40 w 82"/>
                  <a:gd name="T3" fmla="*/ 0 h 45"/>
                  <a:gd name="T4" fmla="*/ 82 w 82"/>
                  <a:gd name="T5" fmla="*/ 45 h 45"/>
                  <a:gd name="T6" fmla="*/ 0 w 82"/>
                  <a:gd name="T7" fmla="*/ 45 h 45"/>
                </a:gdLst>
                <a:ahLst/>
                <a:cxnLst>
                  <a:cxn ang="0">
                    <a:pos x="T0" y="T1"/>
                  </a:cxn>
                  <a:cxn ang="0">
                    <a:pos x="T2" y="T3"/>
                  </a:cxn>
                  <a:cxn ang="0">
                    <a:pos x="T4" y="T5"/>
                  </a:cxn>
                  <a:cxn ang="0">
                    <a:pos x="T6" y="T7"/>
                  </a:cxn>
                </a:cxnLst>
                <a:rect l="0" t="0" r="r" b="b"/>
                <a:pathLst>
                  <a:path w="82" h="45">
                    <a:moveTo>
                      <a:pt x="0" y="45"/>
                    </a:moveTo>
                    <a:lnTo>
                      <a:pt x="40" y="0"/>
                    </a:lnTo>
                    <a:lnTo>
                      <a:pt x="82" y="45"/>
                    </a:lnTo>
                    <a:lnTo>
                      <a:pt x="0" y="45"/>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6" name="Freeform 1643"/>
              <p:cNvSpPr>
                <a:spLocks noChangeArrowheads="1"/>
              </p:cNvSpPr>
              <p:nvPr/>
            </p:nvSpPr>
            <p:spPr bwMode="auto">
              <a:xfrm>
                <a:off x="6361714" y="3069038"/>
                <a:ext cx="58887" cy="29444"/>
              </a:xfrm>
              <a:custGeom>
                <a:avLst/>
                <a:gdLst>
                  <a:gd name="T0" fmla="*/ 10 w 10"/>
                  <a:gd name="T1" fmla="*/ 5 h 5"/>
                  <a:gd name="T2" fmla="*/ 0 w 10"/>
                  <a:gd name="T3" fmla="*/ 5 h 5"/>
                  <a:gd name="T4" fmla="*/ 5 w 10"/>
                  <a:gd name="T5" fmla="*/ 0 h 5"/>
                  <a:gd name="T6" fmla="*/ 10 w 10"/>
                  <a:gd name="T7" fmla="*/ 5 h 5"/>
                </a:gdLst>
                <a:ahLst/>
                <a:cxnLst>
                  <a:cxn ang="0">
                    <a:pos x="T0" y="T1"/>
                  </a:cxn>
                  <a:cxn ang="0">
                    <a:pos x="T2" y="T3"/>
                  </a:cxn>
                  <a:cxn ang="0">
                    <a:pos x="T4" y="T5"/>
                  </a:cxn>
                  <a:cxn ang="0">
                    <a:pos x="T6" y="T7"/>
                  </a:cxn>
                </a:cxnLst>
                <a:rect l="0" t="0" r="r" b="b"/>
                <a:pathLst>
                  <a:path w="10" h="5">
                    <a:moveTo>
                      <a:pt x="10" y="5"/>
                    </a:moveTo>
                    <a:cubicBezTo>
                      <a:pt x="0" y="5"/>
                      <a:pt x="0" y="5"/>
                      <a:pt x="0" y="5"/>
                    </a:cubicBezTo>
                    <a:cubicBezTo>
                      <a:pt x="0" y="2"/>
                      <a:pt x="3" y="0"/>
                      <a:pt x="5" y="0"/>
                    </a:cubicBezTo>
                    <a:cubicBezTo>
                      <a:pt x="8" y="0"/>
                      <a:pt x="10" y="2"/>
                      <a:pt x="10" y="5"/>
                    </a:cubicBez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7" name="Freeform 1644"/>
              <p:cNvSpPr>
                <a:spLocks noChangeArrowheads="1"/>
              </p:cNvSpPr>
              <p:nvPr/>
            </p:nvSpPr>
            <p:spPr bwMode="auto">
              <a:xfrm>
                <a:off x="6366621" y="3076399"/>
                <a:ext cx="46619" cy="17175"/>
              </a:xfrm>
              <a:custGeom>
                <a:avLst/>
                <a:gdLst>
                  <a:gd name="T0" fmla="*/ 8 w 8"/>
                  <a:gd name="T1" fmla="*/ 3 h 3"/>
                  <a:gd name="T2" fmla="*/ 0 w 8"/>
                  <a:gd name="T3" fmla="*/ 3 h 3"/>
                  <a:gd name="T4" fmla="*/ 4 w 8"/>
                  <a:gd name="T5" fmla="*/ 0 h 3"/>
                  <a:gd name="T6" fmla="*/ 8 w 8"/>
                  <a:gd name="T7" fmla="*/ 3 h 3"/>
                </a:gdLst>
                <a:ahLst/>
                <a:cxnLst>
                  <a:cxn ang="0">
                    <a:pos x="T0" y="T1"/>
                  </a:cxn>
                  <a:cxn ang="0">
                    <a:pos x="T2" y="T3"/>
                  </a:cxn>
                  <a:cxn ang="0">
                    <a:pos x="T4" y="T5"/>
                  </a:cxn>
                  <a:cxn ang="0">
                    <a:pos x="T6" y="T7"/>
                  </a:cxn>
                </a:cxnLst>
                <a:rect l="0" t="0" r="r" b="b"/>
                <a:pathLst>
                  <a:path w="8" h="3">
                    <a:moveTo>
                      <a:pt x="8" y="3"/>
                    </a:moveTo>
                    <a:cubicBezTo>
                      <a:pt x="0" y="3"/>
                      <a:pt x="0" y="3"/>
                      <a:pt x="0" y="3"/>
                    </a:cubicBezTo>
                    <a:cubicBezTo>
                      <a:pt x="0" y="1"/>
                      <a:pt x="2" y="0"/>
                      <a:pt x="4" y="0"/>
                    </a:cubicBezTo>
                    <a:cubicBezTo>
                      <a:pt x="6" y="0"/>
                      <a:pt x="8" y="1"/>
                      <a:pt x="8" y="3"/>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grpSp>
      <p:grpSp>
        <p:nvGrpSpPr>
          <p:cNvPr id="12" name="组合 11"/>
          <p:cNvGrpSpPr>
            <a:grpSpLocks/>
          </p:cNvGrpSpPr>
          <p:nvPr/>
        </p:nvGrpSpPr>
        <p:grpSpPr bwMode="auto">
          <a:xfrm>
            <a:off x="5926932" y="3761582"/>
            <a:ext cx="495300" cy="493712"/>
            <a:chOff x="6239032" y="4069199"/>
            <a:chExt cx="495634" cy="493181"/>
          </a:xfrm>
        </p:grpSpPr>
        <p:sp>
          <p:nvSpPr>
            <p:cNvPr id="26" name="Oval 1645"/>
            <p:cNvSpPr>
              <a:spLocks noChangeArrowheads="1"/>
            </p:cNvSpPr>
            <p:nvPr/>
          </p:nvSpPr>
          <p:spPr bwMode="auto">
            <a:xfrm>
              <a:off x="6239032" y="4069199"/>
              <a:ext cx="495634" cy="493181"/>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7" name="Oval 1646"/>
            <p:cNvSpPr>
              <a:spLocks noChangeArrowheads="1"/>
            </p:cNvSpPr>
            <p:nvPr/>
          </p:nvSpPr>
          <p:spPr bwMode="auto">
            <a:xfrm>
              <a:off x="6256208" y="4091281"/>
              <a:ext cx="453923" cy="45392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28" name="组合 27"/>
            <p:cNvGrpSpPr>
              <a:grpSpLocks/>
            </p:cNvGrpSpPr>
            <p:nvPr/>
          </p:nvGrpSpPr>
          <p:grpSpPr bwMode="auto">
            <a:xfrm>
              <a:off x="6332270" y="4196788"/>
              <a:ext cx="309158" cy="245363"/>
              <a:chOff x="6239032" y="3650550"/>
              <a:chExt cx="309158" cy="245363"/>
            </a:xfrm>
          </p:grpSpPr>
          <p:sp>
            <p:nvSpPr>
              <p:cNvPr id="29" name="Freeform 1647"/>
              <p:cNvSpPr>
                <a:spLocks noChangeArrowheads="1"/>
              </p:cNvSpPr>
              <p:nvPr/>
            </p:nvSpPr>
            <p:spPr bwMode="auto">
              <a:xfrm>
                <a:off x="6273383" y="3650550"/>
                <a:ext cx="240456" cy="174208"/>
              </a:xfrm>
              <a:custGeom>
                <a:avLst/>
                <a:gdLst>
                  <a:gd name="T0" fmla="*/ 41 w 41"/>
                  <a:gd name="T1" fmla="*/ 15 h 30"/>
                  <a:gd name="T2" fmla="*/ 20 w 41"/>
                  <a:gd name="T3" fmla="*/ 30 h 30"/>
                  <a:gd name="T4" fmla="*/ 0 w 41"/>
                  <a:gd name="T5" fmla="*/ 15 h 30"/>
                  <a:gd name="T6" fmla="*/ 20 w 41"/>
                  <a:gd name="T7" fmla="*/ 0 h 30"/>
                  <a:gd name="T8" fmla="*/ 41 w 41"/>
                  <a:gd name="T9" fmla="*/ 15 h 30"/>
                </a:gdLst>
                <a:ahLst/>
                <a:cxnLst>
                  <a:cxn ang="0">
                    <a:pos x="T0" y="T1"/>
                  </a:cxn>
                  <a:cxn ang="0">
                    <a:pos x="T2" y="T3"/>
                  </a:cxn>
                  <a:cxn ang="0">
                    <a:pos x="T4" y="T5"/>
                  </a:cxn>
                  <a:cxn ang="0">
                    <a:pos x="T6" y="T7"/>
                  </a:cxn>
                  <a:cxn ang="0">
                    <a:pos x="T8" y="T9"/>
                  </a:cxn>
                </a:cxnLst>
                <a:rect l="0" t="0" r="r" b="b"/>
                <a:pathLst>
                  <a:path w="41" h="30">
                    <a:moveTo>
                      <a:pt x="41" y="15"/>
                    </a:moveTo>
                    <a:cubicBezTo>
                      <a:pt x="41" y="23"/>
                      <a:pt x="32" y="30"/>
                      <a:pt x="20" y="30"/>
                    </a:cubicBezTo>
                    <a:cubicBezTo>
                      <a:pt x="9" y="30"/>
                      <a:pt x="0" y="23"/>
                      <a:pt x="0" y="15"/>
                    </a:cubicBezTo>
                    <a:cubicBezTo>
                      <a:pt x="0" y="6"/>
                      <a:pt x="5" y="0"/>
                      <a:pt x="20" y="0"/>
                    </a:cubicBezTo>
                    <a:cubicBezTo>
                      <a:pt x="36" y="0"/>
                      <a:pt x="41" y="6"/>
                      <a:pt x="41" y="15"/>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0" name="Freeform 1648"/>
              <p:cNvSpPr>
                <a:spLocks noChangeArrowheads="1"/>
              </p:cNvSpPr>
              <p:nvPr/>
            </p:nvSpPr>
            <p:spPr bwMode="auto">
              <a:xfrm>
                <a:off x="6285651" y="3655457"/>
                <a:ext cx="208559" cy="157033"/>
              </a:xfrm>
              <a:custGeom>
                <a:avLst/>
                <a:gdLst>
                  <a:gd name="T0" fmla="*/ 36 w 36"/>
                  <a:gd name="T1" fmla="*/ 14 h 27"/>
                  <a:gd name="T2" fmla="*/ 18 w 36"/>
                  <a:gd name="T3" fmla="*/ 27 h 27"/>
                  <a:gd name="T4" fmla="*/ 0 w 36"/>
                  <a:gd name="T5" fmla="*/ 14 h 27"/>
                  <a:gd name="T6" fmla="*/ 18 w 36"/>
                  <a:gd name="T7" fmla="*/ 0 h 27"/>
                  <a:gd name="T8" fmla="*/ 36 w 36"/>
                  <a:gd name="T9" fmla="*/ 14 h 27"/>
                </a:gdLst>
                <a:ahLst/>
                <a:cxnLst>
                  <a:cxn ang="0">
                    <a:pos x="T0" y="T1"/>
                  </a:cxn>
                  <a:cxn ang="0">
                    <a:pos x="T2" y="T3"/>
                  </a:cxn>
                  <a:cxn ang="0">
                    <a:pos x="T4" y="T5"/>
                  </a:cxn>
                  <a:cxn ang="0">
                    <a:pos x="T6" y="T7"/>
                  </a:cxn>
                  <a:cxn ang="0">
                    <a:pos x="T8" y="T9"/>
                  </a:cxn>
                </a:cxnLst>
                <a:rect l="0" t="0" r="r" b="b"/>
                <a:pathLst>
                  <a:path w="36" h="27">
                    <a:moveTo>
                      <a:pt x="36" y="14"/>
                    </a:moveTo>
                    <a:cubicBezTo>
                      <a:pt x="36" y="21"/>
                      <a:pt x="28" y="27"/>
                      <a:pt x="18" y="27"/>
                    </a:cubicBezTo>
                    <a:cubicBezTo>
                      <a:pt x="8" y="27"/>
                      <a:pt x="0" y="21"/>
                      <a:pt x="0" y="14"/>
                    </a:cubicBezTo>
                    <a:cubicBezTo>
                      <a:pt x="0" y="6"/>
                      <a:pt x="4" y="0"/>
                      <a:pt x="18" y="0"/>
                    </a:cubicBezTo>
                    <a:cubicBezTo>
                      <a:pt x="32" y="0"/>
                      <a:pt x="36" y="6"/>
                      <a:pt x="36" y="1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1" name="Freeform 1649"/>
              <p:cNvSpPr>
                <a:spLocks noChangeArrowheads="1"/>
              </p:cNvSpPr>
              <p:nvPr/>
            </p:nvSpPr>
            <p:spPr bwMode="auto">
              <a:xfrm>
                <a:off x="6263569" y="3773231"/>
                <a:ext cx="51526" cy="122682"/>
              </a:xfrm>
              <a:custGeom>
                <a:avLst/>
                <a:gdLst>
                  <a:gd name="T0" fmla="*/ 9 w 9"/>
                  <a:gd name="T1" fmla="*/ 17 h 21"/>
                  <a:gd name="T2" fmla="*/ 4 w 9"/>
                  <a:gd name="T3" fmla="*/ 21 h 21"/>
                  <a:gd name="T4" fmla="*/ 4 w 9"/>
                  <a:gd name="T5" fmla="*/ 21 h 21"/>
                  <a:gd name="T6" fmla="*/ 0 w 9"/>
                  <a:gd name="T7" fmla="*/ 17 h 21"/>
                  <a:gd name="T8" fmla="*/ 0 w 9"/>
                  <a:gd name="T9" fmla="*/ 5 h 21"/>
                  <a:gd name="T10" fmla="*/ 4 w 9"/>
                  <a:gd name="T11" fmla="*/ 0 h 21"/>
                  <a:gd name="T12" fmla="*/ 4 w 9"/>
                  <a:gd name="T13" fmla="*/ 0 h 21"/>
                  <a:gd name="T14" fmla="*/ 9 w 9"/>
                  <a:gd name="T15" fmla="*/ 5 h 21"/>
                  <a:gd name="T16" fmla="*/ 9 w 9"/>
                  <a:gd name="T17"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1">
                    <a:moveTo>
                      <a:pt x="9" y="17"/>
                    </a:moveTo>
                    <a:cubicBezTo>
                      <a:pt x="9" y="19"/>
                      <a:pt x="7" y="21"/>
                      <a:pt x="4" y="21"/>
                    </a:cubicBezTo>
                    <a:cubicBezTo>
                      <a:pt x="4" y="21"/>
                      <a:pt x="4" y="21"/>
                      <a:pt x="4" y="21"/>
                    </a:cubicBezTo>
                    <a:cubicBezTo>
                      <a:pt x="2" y="21"/>
                      <a:pt x="0" y="19"/>
                      <a:pt x="0" y="17"/>
                    </a:cubicBezTo>
                    <a:cubicBezTo>
                      <a:pt x="0" y="5"/>
                      <a:pt x="0" y="5"/>
                      <a:pt x="0" y="5"/>
                    </a:cubicBezTo>
                    <a:cubicBezTo>
                      <a:pt x="0" y="2"/>
                      <a:pt x="2" y="0"/>
                      <a:pt x="4" y="0"/>
                    </a:cubicBezTo>
                    <a:cubicBezTo>
                      <a:pt x="4" y="0"/>
                      <a:pt x="4" y="0"/>
                      <a:pt x="4" y="0"/>
                    </a:cubicBezTo>
                    <a:cubicBezTo>
                      <a:pt x="7" y="0"/>
                      <a:pt x="9" y="2"/>
                      <a:pt x="9" y="5"/>
                    </a:cubicBezTo>
                    <a:lnTo>
                      <a:pt x="9" y="17"/>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2" name="Freeform 1650"/>
              <p:cNvSpPr>
                <a:spLocks noChangeArrowheads="1"/>
              </p:cNvSpPr>
              <p:nvPr/>
            </p:nvSpPr>
            <p:spPr bwMode="auto">
              <a:xfrm>
                <a:off x="6472128" y="3773231"/>
                <a:ext cx="51526" cy="122682"/>
              </a:xfrm>
              <a:custGeom>
                <a:avLst/>
                <a:gdLst>
                  <a:gd name="T0" fmla="*/ 9 w 9"/>
                  <a:gd name="T1" fmla="*/ 17 h 21"/>
                  <a:gd name="T2" fmla="*/ 4 w 9"/>
                  <a:gd name="T3" fmla="*/ 21 h 21"/>
                  <a:gd name="T4" fmla="*/ 4 w 9"/>
                  <a:gd name="T5" fmla="*/ 21 h 21"/>
                  <a:gd name="T6" fmla="*/ 0 w 9"/>
                  <a:gd name="T7" fmla="*/ 17 h 21"/>
                  <a:gd name="T8" fmla="*/ 0 w 9"/>
                  <a:gd name="T9" fmla="*/ 5 h 21"/>
                  <a:gd name="T10" fmla="*/ 4 w 9"/>
                  <a:gd name="T11" fmla="*/ 0 h 21"/>
                  <a:gd name="T12" fmla="*/ 4 w 9"/>
                  <a:gd name="T13" fmla="*/ 0 h 21"/>
                  <a:gd name="T14" fmla="*/ 9 w 9"/>
                  <a:gd name="T15" fmla="*/ 5 h 21"/>
                  <a:gd name="T16" fmla="*/ 9 w 9"/>
                  <a:gd name="T17"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1">
                    <a:moveTo>
                      <a:pt x="9" y="17"/>
                    </a:moveTo>
                    <a:cubicBezTo>
                      <a:pt x="9" y="19"/>
                      <a:pt x="7" y="21"/>
                      <a:pt x="4" y="21"/>
                    </a:cubicBezTo>
                    <a:cubicBezTo>
                      <a:pt x="4" y="21"/>
                      <a:pt x="4" y="21"/>
                      <a:pt x="4" y="21"/>
                    </a:cubicBezTo>
                    <a:cubicBezTo>
                      <a:pt x="2" y="21"/>
                      <a:pt x="0" y="19"/>
                      <a:pt x="0" y="17"/>
                    </a:cubicBezTo>
                    <a:cubicBezTo>
                      <a:pt x="0" y="5"/>
                      <a:pt x="0" y="5"/>
                      <a:pt x="0" y="5"/>
                    </a:cubicBezTo>
                    <a:cubicBezTo>
                      <a:pt x="0" y="2"/>
                      <a:pt x="2" y="0"/>
                      <a:pt x="4" y="0"/>
                    </a:cubicBezTo>
                    <a:cubicBezTo>
                      <a:pt x="4" y="0"/>
                      <a:pt x="4" y="0"/>
                      <a:pt x="4" y="0"/>
                    </a:cubicBezTo>
                    <a:cubicBezTo>
                      <a:pt x="7" y="0"/>
                      <a:pt x="9" y="2"/>
                      <a:pt x="9" y="5"/>
                    </a:cubicBezTo>
                    <a:lnTo>
                      <a:pt x="9" y="17"/>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3" name="Freeform 1651"/>
              <p:cNvSpPr>
                <a:spLocks noChangeArrowheads="1"/>
              </p:cNvSpPr>
              <p:nvPr/>
            </p:nvSpPr>
            <p:spPr bwMode="auto">
              <a:xfrm>
                <a:off x="6239032" y="3731520"/>
                <a:ext cx="309158" cy="105506"/>
              </a:xfrm>
              <a:custGeom>
                <a:avLst/>
                <a:gdLst>
                  <a:gd name="T0" fmla="*/ 53 w 53"/>
                  <a:gd name="T1" fmla="*/ 12 h 18"/>
                  <a:gd name="T2" fmla="*/ 46 w 53"/>
                  <a:gd name="T3" fmla="*/ 18 h 18"/>
                  <a:gd name="T4" fmla="*/ 6 w 53"/>
                  <a:gd name="T5" fmla="*/ 18 h 18"/>
                  <a:gd name="T6" fmla="*/ 0 w 53"/>
                  <a:gd name="T7" fmla="*/ 12 h 18"/>
                  <a:gd name="T8" fmla="*/ 0 w 53"/>
                  <a:gd name="T9" fmla="*/ 6 h 18"/>
                  <a:gd name="T10" fmla="*/ 6 w 53"/>
                  <a:gd name="T11" fmla="*/ 0 h 18"/>
                  <a:gd name="T12" fmla="*/ 46 w 53"/>
                  <a:gd name="T13" fmla="*/ 0 h 18"/>
                  <a:gd name="T14" fmla="*/ 53 w 53"/>
                  <a:gd name="T15" fmla="*/ 6 h 18"/>
                  <a:gd name="T16" fmla="*/ 53 w 53"/>
                  <a:gd name="T17"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18">
                    <a:moveTo>
                      <a:pt x="53" y="12"/>
                    </a:moveTo>
                    <a:cubicBezTo>
                      <a:pt x="53" y="15"/>
                      <a:pt x="50" y="18"/>
                      <a:pt x="46" y="18"/>
                    </a:cubicBezTo>
                    <a:cubicBezTo>
                      <a:pt x="6" y="18"/>
                      <a:pt x="6" y="18"/>
                      <a:pt x="6" y="18"/>
                    </a:cubicBezTo>
                    <a:cubicBezTo>
                      <a:pt x="3" y="18"/>
                      <a:pt x="0" y="15"/>
                      <a:pt x="0" y="12"/>
                    </a:cubicBezTo>
                    <a:cubicBezTo>
                      <a:pt x="0" y="6"/>
                      <a:pt x="0" y="6"/>
                      <a:pt x="0" y="6"/>
                    </a:cubicBezTo>
                    <a:cubicBezTo>
                      <a:pt x="0" y="2"/>
                      <a:pt x="3" y="0"/>
                      <a:pt x="6" y="0"/>
                    </a:cubicBezTo>
                    <a:cubicBezTo>
                      <a:pt x="46" y="0"/>
                      <a:pt x="46" y="0"/>
                      <a:pt x="46" y="0"/>
                    </a:cubicBezTo>
                    <a:cubicBezTo>
                      <a:pt x="50" y="0"/>
                      <a:pt x="53" y="2"/>
                      <a:pt x="53" y="6"/>
                    </a:cubicBezTo>
                    <a:lnTo>
                      <a:pt x="53" y="12"/>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4" name="Oval 1652"/>
              <p:cNvSpPr>
                <a:spLocks noChangeArrowheads="1"/>
              </p:cNvSpPr>
              <p:nvPr/>
            </p:nvSpPr>
            <p:spPr bwMode="auto">
              <a:xfrm>
                <a:off x="6268476" y="3756056"/>
                <a:ext cx="46619" cy="46619"/>
              </a:xfrm>
              <a:prstGeom prst="ellipse">
                <a:avLst/>
              </a:pr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5" name="Oval 1653"/>
              <p:cNvSpPr>
                <a:spLocks noChangeArrowheads="1"/>
              </p:cNvSpPr>
              <p:nvPr/>
            </p:nvSpPr>
            <p:spPr bwMode="auto">
              <a:xfrm>
                <a:off x="6467220" y="3756056"/>
                <a:ext cx="51526" cy="46619"/>
              </a:xfrm>
              <a:prstGeom prst="ellipse">
                <a:avLst/>
              </a:pr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grpSp>
      <p:sp>
        <p:nvSpPr>
          <p:cNvPr id="13" name="矩形 12"/>
          <p:cNvSpPr>
            <a:spLocks noChangeArrowheads="1"/>
          </p:cNvSpPr>
          <p:nvPr/>
        </p:nvSpPr>
        <p:spPr bwMode="auto">
          <a:xfrm>
            <a:off x="569624" y="1372972"/>
            <a:ext cx="4544323" cy="2249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285750" indent="-285750">
              <a:lnSpc>
                <a:spcPct val="110000"/>
              </a:lnSpc>
              <a:spcBef>
                <a:spcPts val="600"/>
              </a:spcBef>
              <a:buFont typeface="Arial" pitchFamily="34" charset="0"/>
              <a:buChar char="–"/>
              <a:defRPr/>
            </a:pPr>
            <a:r>
              <a:rPr kumimoji="1" lang="zh-CN" altLang="en-US" sz="2400" dirty="0"/>
              <a:t>独占使用，不允许共享</a:t>
            </a:r>
            <a:endParaRPr kumimoji="1" lang="en-US" altLang="zh-CN" sz="2400" dirty="0"/>
          </a:p>
          <a:p>
            <a:pPr marL="285750" indent="-285750">
              <a:lnSpc>
                <a:spcPct val="110000"/>
              </a:lnSpc>
              <a:spcBef>
                <a:spcPts val="600"/>
              </a:spcBef>
              <a:buFont typeface="Arial" pitchFamily="34" charset="0"/>
              <a:buChar char="–"/>
              <a:defRPr/>
            </a:pPr>
            <a:r>
              <a:rPr kumimoji="1" lang="zh-CN" altLang="en-US" sz="2400" dirty="0"/>
              <a:t>使用方法：请求资源</a:t>
            </a:r>
            <a:r>
              <a:rPr kumimoji="1" lang="zh-CN" altLang="en-US" sz="2400" dirty="0">
                <a:latin typeface="Times New Roman"/>
                <a:cs typeface="Times New Roman"/>
              </a:rPr>
              <a:t>→使用资源→释放资源</a:t>
            </a:r>
            <a:endParaRPr kumimoji="1" lang="en-US" altLang="zh-CN" sz="2400" dirty="0"/>
          </a:p>
          <a:p>
            <a:pPr marL="285750" indent="-285750">
              <a:lnSpc>
                <a:spcPct val="110000"/>
              </a:lnSpc>
              <a:spcBef>
                <a:spcPts val="600"/>
              </a:spcBef>
              <a:buFont typeface="Arial" pitchFamily="34" charset="0"/>
              <a:buChar char="–"/>
              <a:defRPr/>
            </a:pPr>
            <a:r>
              <a:rPr kumimoji="1" lang="zh-CN" altLang="en-US" sz="2400" dirty="0"/>
              <a:t>在系统中数量相对固定，进程在运行期间不能创建和删除</a:t>
            </a:r>
            <a:endParaRPr kumimoji="1" lang="en-US" altLang="zh-CN" sz="2400" dirty="0"/>
          </a:p>
        </p:txBody>
      </p:sp>
      <p:sp>
        <p:nvSpPr>
          <p:cNvPr id="19" name="矩形 18"/>
          <p:cNvSpPr>
            <a:spLocks noChangeArrowheads="1"/>
          </p:cNvSpPr>
          <p:nvPr/>
        </p:nvSpPr>
        <p:spPr bwMode="auto">
          <a:xfrm>
            <a:off x="5929951" y="1324892"/>
            <a:ext cx="4603750" cy="1359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285750" indent="-285750">
              <a:lnSpc>
                <a:spcPct val="110000"/>
              </a:lnSpc>
              <a:spcBef>
                <a:spcPts val="600"/>
              </a:spcBef>
              <a:buFont typeface="Arial" pitchFamily="34" charset="0"/>
              <a:buChar char="–"/>
              <a:defRPr/>
            </a:pPr>
            <a:r>
              <a:rPr kumimoji="1" lang="zh-CN" altLang="en-US" sz="2400" dirty="0"/>
              <a:t>在系统中数量可以不断变化</a:t>
            </a:r>
            <a:endParaRPr kumimoji="1" lang="en-US" altLang="zh-CN" sz="2400" dirty="0"/>
          </a:p>
          <a:p>
            <a:pPr marL="285750" indent="-285750">
              <a:lnSpc>
                <a:spcPct val="110000"/>
              </a:lnSpc>
              <a:spcBef>
                <a:spcPts val="600"/>
              </a:spcBef>
              <a:buFont typeface="Arial" pitchFamily="34" charset="0"/>
              <a:buChar char="–"/>
              <a:defRPr/>
            </a:pPr>
            <a:r>
              <a:rPr kumimoji="1" lang="zh-CN" altLang="en-US" sz="2400" dirty="0"/>
              <a:t>进程在运行过程中可以（生产者）创造和（消费者）消耗</a:t>
            </a:r>
          </a:p>
        </p:txBody>
      </p:sp>
      <p:sp>
        <p:nvSpPr>
          <p:cNvPr id="20" name="矩形 19"/>
          <p:cNvSpPr>
            <a:spLocks noChangeArrowheads="1"/>
          </p:cNvSpPr>
          <p:nvPr/>
        </p:nvSpPr>
        <p:spPr bwMode="auto">
          <a:xfrm>
            <a:off x="6777832" y="3883819"/>
            <a:ext cx="3338512" cy="14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285750" indent="-285750">
              <a:lnSpc>
                <a:spcPct val="110000"/>
              </a:lnSpc>
              <a:spcBef>
                <a:spcPts val="600"/>
              </a:spcBef>
              <a:buFont typeface="Arial" pitchFamily="34" charset="0"/>
              <a:buChar char="–"/>
              <a:defRPr/>
            </a:pPr>
            <a:r>
              <a:rPr kumimoji="1" lang="zh-CN" altLang="en-US" sz="2400" dirty="0"/>
              <a:t>磁带机</a:t>
            </a:r>
            <a:endParaRPr kumimoji="1" lang="en-US" altLang="zh-CN" sz="2400" dirty="0"/>
          </a:p>
          <a:p>
            <a:pPr marL="285750" indent="-285750">
              <a:lnSpc>
                <a:spcPct val="110000"/>
              </a:lnSpc>
              <a:spcBef>
                <a:spcPts val="600"/>
              </a:spcBef>
              <a:buFont typeface="Arial" pitchFamily="34" charset="0"/>
              <a:buChar char="–"/>
              <a:defRPr/>
            </a:pPr>
            <a:r>
              <a:rPr kumimoji="1" lang="zh-CN" altLang="en-US" sz="2400" dirty="0"/>
              <a:t>刻录机</a:t>
            </a:r>
            <a:endParaRPr kumimoji="1" lang="en-US" altLang="zh-CN" sz="2400" dirty="0"/>
          </a:p>
          <a:p>
            <a:pPr marL="285750" indent="-285750">
              <a:lnSpc>
                <a:spcPct val="110000"/>
              </a:lnSpc>
              <a:spcBef>
                <a:spcPts val="600"/>
              </a:spcBef>
              <a:buFont typeface="Arial" pitchFamily="34" charset="0"/>
              <a:buChar char="–"/>
              <a:defRPr/>
            </a:pPr>
            <a:r>
              <a:rPr kumimoji="1" lang="zh-CN" altLang="en-US" sz="2400" dirty="0"/>
              <a:t>打印机</a:t>
            </a:r>
            <a:endParaRPr kumimoji="1" lang="en-US" altLang="zh-CN" sz="2400" dirty="0"/>
          </a:p>
        </p:txBody>
      </p:sp>
      <p:sp>
        <p:nvSpPr>
          <p:cNvPr id="21" name="矩形 20"/>
          <p:cNvSpPr>
            <a:spLocks noChangeArrowheads="1"/>
          </p:cNvSpPr>
          <p:nvPr/>
        </p:nvSpPr>
        <p:spPr bwMode="auto">
          <a:xfrm>
            <a:off x="2177257" y="4610770"/>
            <a:ext cx="3338512" cy="95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742950" lvl="1" indent="-285750" algn="r">
              <a:lnSpc>
                <a:spcPct val="110000"/>
              </a:lnSpc>
              <a:spcBef>
                <a:spcPts val="600"/>
              </a:spcBef>
              <a:buFont typeface="Arial" pitchFamily="34" charset="0"/>
              <a:buChar char="–"/>
              <a:defRPr/>
            </a:pPr>
            <a:r>
              <a:rPr kumimoji="1" lang="zh-CN" altLang="en-US" sz="2400" dirty="0"/>
              <a:t>处理机</a:t>
            </a:r>
            <a:endParaRPr kumimoji="1" lang="en-US" altLang="zh-CN" sz="2400" dirty="0"/>
          </a:p>
          <a:p>
            <a:pPr marL="742950" lvl="1" indent="-285750" algn="r">
              <a:lnSpc>
                <a:spcPct val="110000"/>
              </a:lnSpc>
              <a:spcBef>
                <a:spcPts val="600"/>
              </a:spcBef>
              <a:buFont typeface="Arial" pitchFamily="34" charset="0"/>
              <a:buChar char="–"/>
              <a:defRPr/>
            </a:pPr>
            <a:r>
              <a:rPr kumimoji="1" lang="zh-CN" altLang="en-US" sz="2400" dirty="0"/>
              <a:t>内存</a:t>
            </a:r>
          </a:p>
        </p:txBody>
      </p:sp>
      <p:sp>
        <p:nvSpPr>
          <p:cNvPr id="24" name="等腰三角形 23"/>
          <p:cNvSpPr>
            <a:spLocks noChangeArrowheads="1"/>
          </p:cNvSpPr>
          <p:nvPr/>
        </p:nvSpPr>
        <p:spPr bwMode="auto">
          <a:xfrm>
            <a:off x="484982" y="456407"/>
            <a:ext cx="265112" cy="228600"/>
          </a:xfrm>
          <a:prstGeom prst="triangle">
            <a:avLst>
              <a:gd name="adj" fmla="val 50000"/>
            </a:avLst>
          </a:prstGeom>
          <a:solidFill>
            <a:srgbClr val="197519">
              <a:alpha val="8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5" name="等腰三角形 24"/>
          <p:cNvSpPr>
            <a:spLocks noChangeArrowheads="1"/>
          </p:cNvSpPr>
          <p:nvPr/>
        </p:nvSpPr>
        <p:spPr bwMode="auto">
          <a:xfrm>
            <a:off x="558007" y="250032"/>
            <a:ext cx="177800" cy="152400"/>
          </a:xfrm>
          <a:prstGeom prst="triangle">
            <a:avLst>
              <a:gd name="adj" fmla="val 50000"/>
            </a:avLst>
          </a:prstGeom>
          <a:solidFill>
            <a:srgbClr val="197519">
              <a:alpha val="71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97" name="矩形 96"/>
          <p:cNvSpPr>
            <a:spLocks noChangeArrowheads="1"/>
          </p:cNvSpPr>
          <p:nvPr/>
        </p:nvSpPr>
        <p:spPr bwMode="auto">
          <a:xfrm>
            <a:off x="2516483" y="691212"/>
            <a:ext cx="2339102" cy="58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25000"/>
              </a:lnSpc>
            </a:pPr>
            <a:r>
              <a:rPr lang="zh-CN" altLang="en-US" sz="2800" b="1" dirty="0">
                <a:solidFill>
                  <a:srgbClr val="197519"/>
                </a:solidFill>
              </a:rPr>
              <a:t>可重用性资源</a:t>
            </a:r>
            <a:endParaRPr lang="en-US" altLang="zh-CN" sz="2800" b="1" dirty="0">
              <a:solidFill>
                <a:srgbClr val="197519"/>
              </a:solidFill>
            </a:endParaRPr>
          </a:p>
        </p:txBody>
      </p:sp>
      <p:sp>
        <p:nvSpPr>
          <p:cNvPr id="99" name="矩形 98"/>
          <p:cNvSpPr>
            <a:spLocks noChangeArrowheads="1"/>
          </p:cNvSpPr>
          <p:nvPr/>
        </p:nvSpPr>
        <p:spPr bwMode="auto">
          <a:xfrm>
            <a:off x="5840239" y="687859"/>
            <a:ext cx="2339102" cy="58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25000"/>
              </a:lnSpc>
            </a:pPr>
            <a:r>
              <a:rPr lang="zh-CN" altLang="en-US" sz="2800" b="1" dirty="0">
                <a:solidFill>
                  <a:srgbClr val="197519"/>
                </a:solidFill>
              </a:rPr>
              <a:t>可消耗性资源</a:t>
            </a:r>
            <a:endParaRPr lang="en-US" altLang="zh-CN" sz="2800" b="1" dirty="0">
              <a:solidFill>
                <a:srgbClr val="197519"/>
              </a:solidFill>
            </a:endParaRPr>
          </a:p>
        </p:txBody>
      </p:sp>
      <p:sp>
        <p:nvSpPr>
          <p:cNvPr id="100" name="矩形 99"/>
          <p:cNvSpPr>
            <a:spLocks noChangeArrowheads="1"/>
          </p:cNvSpPr>
          <p:nvPr/>
        </p:nvSpPr>
        <p:spPr bwMode="auto">
          <a:xfrm>
            <a:off x="3215504" y="5585026"/>
            <a:ext cx="2339102" cy="58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25000"/>
              </a:lnSpc>
            </a:pPr>
            <a:r>
              <a:rPr lang="zh-CN" altLang="en-US" sz="2800" b="1" dirty="0">
                <a:solidFill>
                  <a:srgbClr val="197519"/>
                </a:solidFill>
              </a:rPr>
              <a:t>可抢占性资源</a:t>
            </a:r>
            <a:endParaRPr lang="en-US" altLang="zh-CN" sz="2800" b="1" dirty="0">
              <a:solidFill>
                <a:srgbClr val="197519"/>
              </a:solidFill>
            </a:endParaRPr>
          </a:p>
        </p:txBody>
      </p:sp>
      <p:sp>
        <p:nvSpPr>
          <p:cNvPr id="101" name="矩形 100"/>
          <p:cNvSpPr>
            <a:spLocks noChangeArrowheads="1"/>
          </p:cNvSpPr>
          <p:nvPr/>
        </p:nvSpPr>
        <p:spPr bwMode="auto">
          <a:xfrm>
            <a:off x="6870193" y="5655469"/>
            <a:ext cx="2698175" cy="58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25000"/>
              </a:lnSpc>
            </a:pPr>
            <a:r>
              <a:rPr lang="zh-CN" altLang="en-US" sz="2800" b="1" dirty="0">
                <a:solidFill>
                  <a:srgbClr val="197519"/>
                </a:solidFill>
              </a:rPr>
              <a:t>不可抢占性资源</a:t>
            </a:r>
            <a:endParaRPr lang="en-US" altLang="zh-CN" sz="2800" b="1" dirty="0">
              <a:solidFill>
                <a:srgbClr val="197519"/>
              </a:solidFill>
            </a:endParaRPr>
          </a:p>
        </p:txBody>
      </p:sp>
    </p:spTree>
    <p:extLst>
      <p:ext uri="{BB962C8B-B14F-4D97-AF65-F5344CB8AC3E}">
        <p14:creationId xmlns:p14="http://schemas.microsoft.com/office/powerpoint/2010/main" val="310348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circle(in)">
                                      <p:cBhvr>
                                        <p:cTn id="12" dur="20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arn(inVertical)">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arn(inVertical)">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0"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计算机系统中的死锁</a:t>
            </a: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死锁的起因</a:t>
              </a:r>
            </a:p>
          </p:txBody>
        </p:sp>
      </p:grpSp>
      <p:sp>
        <p:nvSpPr>
          <p:cNvPr id="34" name="文本框 19"/>
          <p:cNvSpPr txBox="1">
            <a:spLocks noChangeArrowheads="1"/>
          </p:cNvSpPr>
          <p:nvPr/>
        </p:nvSpPr>
        <p:spPr bwMode="auto">
          <a:xfrm>
            <a:off x="1080452" y="1904879"/>
            <a:ext cx="102917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800" dirty="0">
                <a:latin typeface="Times New Roman" pitchFamily="18" charset="0"/>
              </a:rPr>
              <a:t>源于多个进程对资源的竞争，包括不可抢占性资源和可消耗性资源。</a:t>
            </a:r>
          </a:p>
        </p:txBody>
      </p:sp>
      <p:sp>
        <p:nvSpPr>
          <p:cNvPr id="35" name="文本框 54"/>
          <p:cNvSpPr txBox="1">
            <a:spLocks noChangeArrowheads="1"/>
          </p:cNvSpPr>
          <p:nvPr/>
        </p:nvSpPr>
        <p:spPr bwMode="auto">
          <a:xfrm>
            <a:off x="1107897" y="2855821"/>
            <a:ext cx="4682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595959"/>
                </a:solidFill>
                <a:latin typeface="微软雅黑" panose="020B0503020204020204" pitchFamily="34" charset="-122"/>
                <a:ea typeface="微软雅黑" panose="020B0503020204020204" pitchFamily="34" charset="-122"/>
              </a:rPr>
              <a:t>1</a:t>
            </a:r>
            <a:r>
              <a:rPr lang="zh-CN" altLang="en-US" sz="2400" b="1" dirty="0">
                <a:solidFill>
                  <a:srgbClr val="595959"/>
                </a:solidFill>
                <a:latin typeface="微软雅黑" panose="020B0503020204020204" pitchFamily="34" charset="-122"/>
                <a:ea typeface="微软雅黑" panose="020B0503020204020204" pitchFamily="34" charset="-122"/>
              </a:rPr>
              <a:t>）竞争不可抢占性资源引起死锁</a:t>
            </a:r>
          </a:p>
        </p:txBody>
      </p:sp>
      <p:graphicFrame>
        <p:nvGraphicFramePr>
          <p:cNvPr id="2" name="对象 1"/>
          <p:cNvGraphicFramePr>
            <a:graphicFrameLocks noChangeAspect="1"/>
          </p:cNvGraphicFramePr>
          <p:nvPr>
            <p:extLst>
              <p:ext uri="{D42A27DB-BD31-4B8C-83A1-F6EECF244321}">
                <p14:modId xmlns:p14="http://schemas.microsoft.com/office/powerpoint/2010/main" val="2251927363"/>
              </p:ext>
            </p:extLst>
          </p:nvPr>
        </p:nvGraphicFramePr>
        <p:xfrm>
          <a:off x="6746240" y="2836211"/>
          <a:ext cx="3529013" cy="3257550"/>
        </p:xfrm>
        <a:graphic>
          <a:graphicData uri="http://schemas.openxmlformats.org/presentationml/2006/ole">
            <mc:AlternateContent xmlns:mc="http://schemas.openxmlformats.org/markup-compatibility/2006">
              <mc:Choice xmlns:v="urn:schemas-microsoft-com:vml" Requires="v">
                <p:oleObj name="Visio" r:id="rId4" imgW="1402318" imgH="1294090" progId="Visio.Drawing.11">
                  <p:embed/>
                </p:oleObj>
              </mc:Choice>
              <mc:Fallback>
                <p:oleObj name="Visio" r:id="rId4" imgW="1402318" imgH="1294090" progId="Visio.Drawing.11">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6240" y="2836211"/>
                        <a:ext cx="3529013"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 name="AutoShape 21"/>
          <p:cNvSpPr>
            <a:spLocks noChangeArrowheads="1"/>
          </p:cNvSpPr>
          <p:nvPr/>
        </p:nvSpPr>
        <p:spPr bwMode="auto">
          <a:xfrm>
            <a:off x="9765367" y="3073400"/>
            <a:ext cx="1451273" cy="668973"/>
          </a:xfrm>
          <a:prstGeom prst="wedgeRectCallout">
            <a:avLst>
              <a:gd name="adj1" fmla="val -47719"/>
              <a:gd name="adj2" fmla="val 126298"/>
            </a:avLst>
          </a:prstGeom>
          <a:gradFill rotWithShape="1">
            <a:gsLst>
              <a:gs pos="0">
                <a:srgbClr val="FFFFFF"/>
              </a:gs>
              <a:gs pos="7001">
                <a:srgbClr val="E6E6E6"/>
              </a:gs>
              <a:gs pos="32001">
                <a:srgbClr val="7D8496"/>
              </a:gs>
              <a:gs pos="47000">
                <a:srgbClr val="E6E6E6"/>
              </a:gs>
              <a:gs pos="85001">
                <a:srgbClr val="7D8496"/>
              </a:gs>
              <a:gs pos="100000">
                <a:srgbClr val="E6E6E6"/>
              </a:gs>
            </a:gsLst>
            <a:lin ang="5400000"/>
          </a:gradFill>
          <a:ln w="9525">
            <a:solidFill>
              <a:schemeClr val="tx1"/>
            </a:solidFill>
            <a:miter lim="800000"/>
            <a:headEnd/>
            <a:tailEnd/>
          </a:ln>
        </p:spPr>
        <p:txBody>
          <a:bodyPr/>
          <a:lstStyle>
            <a:lvl1pPr algn="l" eaLnBrk="0" hangingPunct="0">
              <a:defRPr>
                <a:solidFill>
                  <a:schemeClr val="tx1"/>
                </a:solidFill>
                <a:latin typeface="Arial" pitchFamily="34" charset="0"/>
                <a:ea typeface="宋体" pitchFamily="2" charset="-122"/>
              </a:defRPr>
            </a:lvl1pPr>
            <a:lvl2pPr marL="742950" indent="-285750" algn="l" eaLnBrk="0" hangingPunct="0">
              <a:defRPr>
                <a:solidFill>
                  <a:schemeClr val="tx1"/>
                </a:solidFill>
                <a:latin typeface="Arial" pitchFamily="34" charset="0"/>
                <a:ea typeface="宋体" pitchFamily="2" charset="-122"/>
              </a:defRPr>
            </a:lvl2pPr>
            <a:lvl3pPr marL="1143000" indent="-228600" algn="l" eaLnBrk="0" hangingPunct="0">
              <a:defRPr>
                <a:solidFill>
                  <a:schemeClr val="tx1"/>
                </a:solidFill>
                <a:latin typeface="Arial" pitchFamily="34" charset="0"/>
                <a:ea typeface="宋体" pitchFamily="2" charset="-122"/>
              </a:defRPr>
            </a:lvl3pPr>
            <a:lvl4pPr marL="1600200" indent="-228600" algn="l" eaLnBrk="0" hangingPunct="0">
              <a:defRPr>
                <a:solidFill>
                  <a:schemeClr val="tx1"/>
                </a:solidFill>
                <a:latin typeface="Arial" pitchFamily="34" charset="0"/>
                <a:ea typeface="宋体" pitchFamily="2" charset="-122"/>
              </a:defRPr>
            </a:lvl4pPr>
            <a:lvl5pPr marL="2057400" indent="-228600" algn="l"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dirty="0"/>
              <a:t>可重用不可抢占性资源</a:t>
            </a:r>
          </a:p>
        </p:txBody>
      </p:sp>
      <p:sp>
        <p:nvSpPr>
          <p:cNvPr id="14" name="Text Box 4"/>
          <p:cNvSpPr txBox="1">
            <a:spLocks noChangeArrowheads="1"/>
          </p:cNvSpPr>
          <p:nvPr/>
        </p:nvSpPr>
        <p:spPr bwMode="auto">
          <a:xfrm>
            <a:off x="1629909" y="3416832"/>
            <a:ext cx="2271532" cy="230832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t>P1</a:t>
            </a:r>
          </a:p>
          <a:p>
            <a:pPr marL="285750" indent="-285750">
              <a:lnSpc>
                <a:spcPct val="110000"/>
              </a:lnSpc>
              <a:spcBef>
                <a:spcPct val="20000"/>
              </a:spcBef>
              <a:defRPr/>
            </a:pPr>
            <a:r>
              <a:rPr lang="en-US" altLang="zh-CN" dirty="0"/>
              <a:t>…</a:t>
            </a:r>
          </a:p>
          <a:p>
            <a:pPr marL="285750" indent="-285750">
              <a:lnSpc>
                <a:spcPct val="110000"/>
              </a:lnSpc>
              <a:spcBef>
                <a:spcPct val="20000"/>
              </a:spcBef>
              <a:defRPr/>
            </a:pPr>
            <a:r>
              <a:rPr lang="en-US" altLang="zh-CN" dirty="0"/>
              <a:t>Open(F1,w);</a:t>
            </a:r>
          </a:p>
          <a:p>
            <a:pPr marL="285750" indent="-285750">
              <a:lnSpc>
                <a:spcPct val="110000"/>
              </a:lnSpc>
              <a:spcBef>
                <a:spcPct val="20000"/>
              </a:spcBef>
              <a:defRPr/>
            </a:pPr>
            <a:r>
              <a:rPr lang="en-US" altLang="zh-CN" dirty="0"/>
              <a:t>Open(F2,w);</a:t>
            </a:r>
            <a:endParaRPr lang="zh-CN" altLang="en-US" dirty="0"/>
          </a:p>
          <a:p>
            <a:pPr eaLnBrk="1" hangingPunct="1">
              <a:spcBef>
                <a:spcPct val="10000"/>
              </a:spcBef>
            </a:pPr>
            <a:endParaRPr lang="en-US" altLang="zh-CN" dirty="0"/>
          </a:p>
        </p:txBody>
      </p:sp>
      <p:sp>
        <p:nvSpPr>
          <p:cNvPr id="15" name="Text Box 4"/>
          <p:cNvSpPr txBox="1">
            <a:spLocks noChangeArrowheads="1"/>
          </p:cNvSpPr>
          <p:nvPr/>
        </p:nvSpPr>
        <p:spPr bwMode="auto">
          <a:xfrm>
            <a:off x="4053841" y="3432488"/>
            <a:ext cx="2271532" cy="230832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t>P2</a:t>
            </a:r>
          </a:p>
          <a:p>
            <a:pPr marL="285750" indent="-285750">
              <a:lnSpc>
                <a:spcPct val="110000"/>
              </a:lnSpc>
              <a:spcBef>
                <a:spcPct val="20000"/>
              </a:spcBef>
              <a:defRPr/>
            </a:pPr>
            <a:r>
              <a:rPr lang="en-US" altLang="zh-CN" dirty="0"/>
              <a:t>…</a:t>
            </a:r>
          </a:p>
          <a:p>
            <a:pPr marL="285750" indent="-285750">
              <a:lnSpc>
                <a:spcPct val="110000"/>
              </a:lnSpc>
              <a:spcBef>
                <a:spcPct val="20000"/>
              </a:spcBef>
              <a:defRPr/>
            </a:pPr>
            <a:r>
              <a:rPr lang="en-US" altLang="zh-CN" dirty="0"/>
              <a:t>Open(F2,w);</a:t>
            </a:r>
          </a:p>
          <a:p>
            <a:pPr marL="285750" indent="-285750">
              <a:lnSpc>
                <a:spcPct val="110000"/>
              </a:lnSpc>
              <a:spcBef>
                <a:spcPct val="20000"/>
              </a:spcBef>
              <a:defRPr/>
            </a:pPr>
            <a:r>
              <a:rPr lang="en-US" altLang="zh-CN" dirty="0"/>
              <a:t>Open(F1,w);</a:t>
            </a:r>
            <a:endParaRPr lang="zh-CN" altLang="en-US" dirty="0"/>
          </a:p>
          <a:p>
            <a:pPr eaLnBrk="1" hangingPunct="1">
              <a:spcBef>
                <a:spcPct val="10000"/>
              </a:spcBef>
            </a:pPr>
            <a:endParaRPr lang="en-US" altLang="zh-CN" dirty="0"/>
          </a:p>
        </p:txBody>
      </p:sp>
    </p:spTree>
    <p:extLst>
      <p:ext uri="{BB962C8B-B14F-4D97-AF65-F5344CB8AC3E}">
        <p14:creationId xmlns:p14="http://schemas.microsoft.com/office/powerpoint/2010/main" val="14855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strVal val="#ppt_w+.3"/>
                                          </p:val>
                                        </p:tav>
                                        <p:tav tm="100000">
                                          <p:val>
                                            <p:strVal val="#ppt_w"/>
                                          </p:val>
                                        </p:tav>
                                      </p:tavLst>
                                    </p:anim>
                                    <p:anim calcmode="lin" valueType="num">
                                      <p:cBhvr>
                                        <p:cTn id="8" dur="500" fill="hold"/>
                                        <p:tgtEl>
                                          <p:spTgt spid="35"/>
                                        </p:tgtEl>
                                        <p:attrNameLst>
                                          <p:attrName>ppt_h</p:attrName>
                                        </p:attrNameLst>
                                      </p:cBhvr>
                                      <p:tavLst>
                                        <p:tav tm="0">
                                          <p:val>
                                            <p:strVal val="#ppt_h"/>
                                          </p:val>
                                        </p:tav>
                                        <p:tav tm="100000">
                                          <p:val>
                                            <p:strVal val="#ppt_h"/>
                                          </p:val>
                                        </p:tav>
                                      </p:tavLst>
                                    </p:anim>
                                    <p:animEffect transition="in" filter="fade">
                                      <p:cBhvr>
                                        <p:cTn id="9" dur="500"/>
                                        <p:tgtEl>
                                          <p:spTgt spid="3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down)">
                                      <p:cBhvr>
                                        <p:cTn id="14" dur="500"/>
                                        <p:tgtEl>
                                          <p:spTgt spid="6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65"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计算机系统中的死锁</a:t>
            </a: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死锁的起因</a:t>
              </a:r>
            </a:p>
          </p:txBody>
        </p:sp>
      </p:grpSp>
      <p:sp>
        <p:nvSpPr>
          <p:cNvPr id="34" name="文本框 19"/>
          <p:cNvSpPr txBox="1">
            <a:spLocks noChangeArrowheads="1"/>
          </p:cNvSpPr>
          <p:nvPr/>
        </p:nvSpPr>
        <p:spPr bwMode="auto">
          <a:xfrm>
            <a:off x="1080452" y="1904879"/>
            <a:ext cx="102917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800" dirty="0">
                <a:latin typeface="Times New Roman" pitchFamily="18" charset="0"/>
              </a:rPr>
              <a:t>源于多个进程对资源的竞争，包括不可抢占性资源和可消耗性资源。</a:t>
            </a:r>
          </a:p>
        </p:txBody>
      </p:sp>
      <p:sp>
        <p:nvSpPr>
          <p:cNvPr id="35" name="文本框 54"/>
          <p:cNvSpPr txBox="1">
            <a:spLocks noChangeArrowheads="1"/>
          </p:cNvSpPr>
          <p:nvPr/>
        </p:nvSpPr>
        <p:spPr bwMode="auto">
          <a:xfrm>
            <a:off x="1107897" y="2825842"/>
            <a:ext cx="4682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595959"/>
                </a:solidFill>
                <a:latin typeface="微软雅黑" panose="020B0503020204020204" pitchFamily="34" charset="-122"/>
                <a:ea typeface="微软雅黑" panose="020B0503020204020204" pitchFamily="34" charset="-122"/>
              </a:rPr>
              <a:t>1</a:t>
            </a:r>
            <a:r>
              <a:rPr lang="zh-CN" altLang="en-US" sz="2400" b="1" dirty="0">
                <a:solidFill>
                  <a:srgbClr val="595959"/>
                </a:solidFill>
                <a:latin typeface="微软雅黑" panose="020B0503020204020204" pitchFamily="34" charset="-122"/>
                <a:ea typeface="微软雅黑" panose="020B0503020204020204" pitchFamily="34" charset="-122"/>
              </a:rPr>
              <a:t>）竞争不可抢占性资源引起死锁</a:t>
            </a:r>
          </a:p>
        </p:txBody>
      </p:sp>
      <p:sp>
        <p:nvSpPr>
          <p:cNvPr id="66" name="文本框 54"/>
          <p:cNvSpPr txBox="1">
            <a:spLocks noChangeArrowheads="1"/>
          </p:cNvSpPr>
          <p:nvPr/>
        </p:nvSpPr>
        <p:spPr bwMode="auto">
          <a:xfrm>
            <a:off x="1108479" y="3363361"/>
            <a:ext cx="4374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595959"/>
                </a:solidFill>
                <a:latin typeface="微软雅黑" panose="020B0503020204020204" pitchFamily="34" charset="-122"/>
                <a:ea typeface="微软雅黑" panose="020B0503020204020204" pitchFamily="34" charset="-122"/>
              </a:rPr>
              <a:t>2</a:t>
            </a:r>
            <a:r>
              <a:rPr lang="zh-CN" altLang="en-US" sz="2400" b="1" dirty="0">
                <a:solidFill>
                  <a:srgbClr val="595959"/>
                </a:solidFill>
                <a:latin typeface="微软雅黑" panose="020B0503020204020204" pitchFamily="34" charset="-122"/>
                <a:ea typeface="微软雅黑" panose="020B0503020204020204" pitchFamily="34" charset="-122"/>
              </a:rPr>
              <a:t>）竞争可消耗性资源引起死锁</a:t>
            </a:r>
          </a:p>
        </p:txBody>
      </p:sp>
      <p:sp>
        <p:nvSpPr>
          <p:cNvPr id="55" name="Oval 1041"/>
          <p:cNvSpPr>
            <a:spLocks noChangeArrowheads="1"/>
          </p:cNvSpPr>
          <p:nvPr/>
        </p:nvSpPr>
        <p:spPr bwMode="auto">
          <a:xfrm>
            <a:off x="8262938" y="2731453"/>
            <a:ext cx="1285875" cy="571500"/>
          </a:xfrm>
          <a:prstGeom prst="ellipse">
            <a:avLst/>
          </a:prstGeom>
          <a:solidFill>
            <a:schemeClr val="bg2">
              <a:lumMod val="90000"/>
            </a:schemeClr>
          </a:solidFill>
          <a:ln w="12700">
            <a:solidFill>
              <a:schemeClr val="tx1"/>
            </a:solidFill>
            <a:round/>
            <a:headEnd type="none" w="sm" len="sm"/>
            <a:tailEnd type="none" w="sm" len="sm"/>
          </a:ln>
          <a:effectLst/>
        </p:spPr>
        <p:txBody>
          <a:bodyPr wrap="none" anchor="ctr"/>
          <a:lstStyle/>
          <a:p>
            <a:pPr>
              <a:defRPr/>
            </a:pPr>
            <a:r>
              <a:rPr lang="zh-CN" altLang="en-US" sz="2000" b="1" dirty="0">
                <a:solidFill>
                  <a:schemeClr val="tx1"/>
                </a:solidFill>
              </a:rPr>
              <a:t>进程</a:t>
            </a:r>
            <a:r>
              <a:rPr lang="en-US" altLang="zh-CN" sz="2000" b="1" dirty="0">
                <a:solidFill>
                  <a:schemeClr val="tx1"/>
                </a:solidFill>
              </a:rPr>
              <a:t>P</a:t>
            </a:r>
            <a:r>
              <a:rPr lang="en-US" altLang="zh-CN" sz="2000" b="1" baseline="-25000" dirty="0">
                <a:solidFill>
                  <a:schemeClr val="tx1"/>
                </a:solidFill>
              </a:rPr>
              <a:t>1</a:t>
            </a:r>
          </a:p>
        </p:txBody>
      </p:sp>
      <p:sp>
        <p:nvSpPr>
          <p:cNvPr id="56" name="Oval 1042"/>
          <p:cNvSpPr>
            <a:spLocks noChangeArrowheads="1"/>
          </p:cNvSpPr>
          <p:nvPr/>
        </p:nvSpPr>
        <p:spPr bwMode="auto">
          <a:xfrm>
            <a:off x="9906000" y="4660265"/>
            <a:ext cx="1428750" cy="544513"/>
          </a:xfrm>
          <a:prstGeom prst="ellipse">
            <a:avLst/>
          </a:prstGeom>
          <a:solidFill>
            <a:schemeClr val="bg2">
              <a:lumMod val="90000"/>
            </a:schemeClr>
          </a:solidFill>
          <a:ln w="12700">
            <a:solidFill>
              <a:schemeClr val="tx1"/>
            </a:solidFill>
            <a:round/>
            <a:headEnd type="none" w="sm" len="sm"/>
            <a:tailEnd type="none" w="sm" len="sm"/>
          </a:ln>
          <a:effectLst/>
        </p:spPr>
        <p:txBody>
          <a:bodyPr wrap="none" anchor="ctr"/>
          <a:lstStyle/>
          <a:p>
            <a:pPr>
              <a:defRPr/>
            </a:pPr>
            <a:r>
              <a:rPr lang="zh-CN" altLang="en-US" sz="2000" b="1" dirty="0">
                <a:solidFill>
                  <a:schemeClr val="tx1"/>
                </a:solidFill>
              </a:rPr>
              <a:t>进程</a:t>
            </a:r>
            <a:r>
              <a:rPr lang="en-US" altLang="zh-CN" sz="2000" b="1" dirty="0">
                <a:solidFill>
                  <a:schemeClr val="tx1"/>
                </a:solidFill>
              </a:rPr>
              <a:t>P</a:t>
            </a:r>
            <a:r>
              <a:rPr lang="en-US" altLang="zh-CN" sz="2000" b="1" baseline="-25000" dirty="0">
                <a:solidFill>
                  <a:schemeClr val="tx1"/>
                </a:solidFill>
              </a:rPr>
              <a:t>2</a:t>
            </a:r>
          </a:p>
        </p:txBody>
      </p:sp>
      <p:sp>
        <p:nvSpPr>
          <p:cNvPr id="57" name="Rectangle 1043"/>
          <p:cNvSpPr>
            <a:spLocks noChangeArrowheads="1"/>
          </p:cNvSpPr>
          <p:nvPr/>
        </p:nvSpPr>
        <p:spPr bwMode="auto">
          <a:xfrm>
            <a:off x="6483350" y="3742690"/>
            <a:ext cx="1447800" cy="417513"/>
          </a:xfrm>
          <a:prstGeom prst="rect">
            <a:avLst/>
          </a:prstGeom>
          <a:solidFill>
            <a:srgbClr val="CC3399"/>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dirty="0">
                <a:solidFill>
                  <a:schemeClr val="tx1"/>
                </a:solidFill>
              </a:rPr>
              <a:t>S3</a:t>
            </a:r>
          </a:p>
        </p:txBody>
      </p:sp>
      <p:sp>
        <p:nvSpPr>
          <p:cNvPr id="59" name="Rectangle 1044"/>
          <p:cNvSpPr>
            <a:spLocks noChangeArrowheads="1"/>
          </p:cNvSpPr>
          <p:nvPr/>
        </p:nvSpPr>
        <p:spPr bwMode="auto">
          <a:xfrm>
            <a:off x="9906000" y="3731578"/>
            <a:ext cx="1447800" cy="428625"/>
          </a:xfrm>
          <a:prstGeom prst="rect">
            <a:avLst/>
          </a:prstGeom>
          <a:solidFill>
            <a:srgbClr val="CC3399"/>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b="1" dirty="0">
                <a:solidFill>
                  <a:schemeClr val="tx1"/>
                </a:solidFill>
              </a:rPr>
              <a:t>S1</a:t>
            </a:r>
          </a:p>
        </p:txBody>
      </p:sp>
      <p:sp>
        <p:nvSpPr>
          <p:cNvPr id="60" name="Oval 1045"/>
          <p:cNvSpPr>
            <a:spLocks noChangeArrowheads="1"/>
          </p:cNvSpPr>
          <p:nvPr/>
        </p:nvSpPr>
        <p:spPr bwMode="auto">
          <a:xfrm>
            <a:off x="6477000" y="4731703"/>
            <a:ext cx="1428750" cy="549275"/>
          </a:xfrm>
          <a:prstGeom prst="ellipse">
            <a:avLst/>
          </a:prstGeom>
          <a:solidFill>
            <a:schemeClr val="bg2">
              <a:lumMod val="90000"/>
            </a:schemeClr>
          </a:solidFill>
          <a:ln w="12700">
            <a:solidFill>
              <a:schemeClr val="tx1"/>
            </a:solidFill>
            <a:round/>
            <a:headEnd type="none" w="sm" len="sm"/>
            <a:tailEnd type="none" w="sm" len="sm"/>
          </a:ln>
          <a:effectLst/>
        </p:spPr>
        <p:txBody>
          <a:bodyPr wrap="none" anchor="ctr"/>
          <a:lstStyle/>
          <a:p>
            <a:pPr>
              <a:defRPr/>
            </a:pPr>
            <a:r>
              <a:rPr lang="zh-CN" altLang="en-US" sz="2000" b="1" dirty="0">
                <a:solidFill>
                  <a:schemeClr val="tx1"/>
                </a:solidFill>
              </a:rPr>
              <a:t>进程</a:t>
            </a:r>
            <a:r>
              <a:rPr lang="en-US" altLang="zh-CN" sz="2000" b="1" dirty="0">
                <a:solidFill>
                  <a:schemeClr val="tx1"/>
                </a:solidFill>
              </a:rPr>
              <a:t>P</a:t>
            </a:r>
            <a:r>
              <a:rPr lang="en-US" altLang="zh-CN" sz="2000" b="1" baseline="-25000" dirty="0">
                <a:solidFill>
                  <a:schemeClr val="tx1"/>
                </a:solidFill>
              </a:rPr>
              <a:t>3</a:t>
            </a:r>
          </a:p>
        </p:txBody>
      </p:sp>
      <p:sp>
        <p:nvSpPr>
          <p:cNvPr id="61" name="Rectangle 1046"/>
          <p:cNvSpPr>
            <a:spLocks noChangeArrowheads="1"/>
          </p:cNvSpPr>
          <p:nvPr/>
        </p:nvSpPr>
        <p:spPr bwMode="auto">
          <a:xfrm>
            <a:off x="8083550" y="5568315"/>
            <a:ext cx="1543050" cy="449263"/>
          </a:xfrm>
          <a:prstGeom prst="rect">
            <a:avLst/>
          </a:prstGeom>
          <a:solidFill>
            <a:srgbClr val="CC3399"/>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200" b="1" dirty="0">
                <a:solidFill>
                  <a:schemeClr val="tx1"/>
                </a:solidFill>
              </a:rPr>
              <a:t>S2</a:t>
            </a:r>
          </a:p>
        </p:txBody>
      </p:sp>
      <p:grpSp>
        <p:nvGrpSpPr>
          <p:cNvPr id="63" name="组合 29"/>
          <p:cNvGrpSpPr>
            <a:grpSpLocks/>
          </p:cNvGrpSpPr>
          <p:nvPr/>
        </p:nvGrpSpPr>
        <p:grpSpPr bwMode="auto">
          <a:xfrm>
            <a:off x="9548817" y="2979102"/>
            <a:ext cx="1446320" cy="767714"/>
            <a:chOff x="5357814" y="1516722"/>
            <a:chExt cx="1446542" cy="767396"/>
          </a:xfrm>
        </p:grpSpPr>
        <p:cxnSp>
          <p:nvCxnSpPr>
            <p:cNvPr id="64" name="AutoShape 1047"/>
            <p:cNvCxnSpPr>
              <a:cxnSpLocks noChangeShapeType="1"/>
              <a:stCxn id="59" idx="0"/>
              <a:endCxn id="55" idx="6"/>
            </p:cNvCxnSpPr>
            <p:nvPr/>
          </p:nvCxnSpPr>
          <p:spPr bwMode="auto">
            <a:xfrm rot="16200000" flipV="1">
              <a:off x="5541401" y="1386452"/>
              <a:ext cx="714079" cy="1081254"/>
            </a:xfrm>
            <a:prstGeom prst="curvedConnector2">
              <a:avLst/>
            </a:prstGeom>
            <a:noFill/>
            <a:ln w="38100">
              <a:solidFill>
                <a:srgbClr val="3333FF"/>
              </a:solidFill>
              <a:round/>
              <a:headEnd type="none" w="sm" len="sm"/>
              <a:tailEnd type="triangle" w="med" len="med"/>
            </a:ln>
            <a:extLst>
              <a:ext uri="{909E8E84-426E-40DD-AFC4-6F175D3DCCD1}">
                <a14:hiddenFill xmlns:a14="http://schemas.microsoft.com/office/drawing/2010/main">
                  <a:noFill/>
                </a14:hiddenFill>
              </a:ext>
            </a:extLst>
          </p:spPr>
        </p:cxnSp>
        <p:sp>
          <p:nvSpPr>
            <p:cNvPr id="67" name="矩形 27"/>
            <p:cNvSpPr>
              <a:spLocks noChangeArrowheads="1"/>
            </p:cNvSpPr>
            <p:nvPr/>
          </p:nvSpPr>
          <p:spPr bwMode="auto">
            <a:xfrm>
              <a:off x="6103415" y="1516722"/>
              <a:ext cx="700941" cy="39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zh-CN" altLang="en-US" sz="2000" b="1" dirty="0">
                  <a:solidFill>
                    <a:schemeClr val="tx1"/>
                  </a:solidFill>
                  <a:latin typeface="Times New Roman" pitchFamily="18" charset="0"/>
                </a:rPr>
                <a:t>释放</a:t>
              </a:r>
              <a:endParaRPr lang="zh-CN" altLang="en-US" sz="2000" dirty="0"/>
            </a:p>
          </p:txBody>
        </p:sp>
      </p:grpSp>
      <p:grpSp>
        <p:nvGrpSpPr>
          <p:cNvPr id="68" name="组合 36"/>
          <p:cNvGrpSpPr>
            <a:grpSpLocks/>
          </p:cNvGrpSpPr>
          <p:nvPr/>
        </p:nvGrpSpPr>
        <p:grpSpPr bwMode="auto">
          <a:xfrm>
            <a:off x="10582285" y="4175444"/>
            <a:ext cx="700833" cy="500332"/>
            <a:chOff x="6391447" y="2712736"/>
            <a:chExt cx="699991" cy="499875"/>
          </a:xfrm>
        </p:grpSpPr>
        <p:cxnSp>
          <p:nvCxnSpPr>
            <p:cNvPr id="69" name="AutoShape 1051"/>
            <p:cNvCxnSpPr>
              <a:cxnSpLocks noChangeShapeType="1"/>
              <a:stCxn id="56" idx="0"/>
              <a:endCxn id="59" idx="2"/>
            </p:cNvCxnSpPr>
            <p:nvPr/>
          </p:nvCxnSpPr>
          <p:spPr bwMode="auto">
            <a:xfrm flipV="1">
              <a:off x="6429501" y="2712736"/>
              <a:ext cx="9514" cy="499605"/>
            </a:xfrm>
            <a:prstGeom prst="straightConnector1">
              <a:avLst/>
            </a:prstGeom>
            <a:noFill/>
            <a:ln w="38100">
              <a:solidFill>
                <a:srgbClr val="CC3300"/>
              </a:solidFill>
              <a:round/>
              <a:headEnd type="none" w="sm" len="sm"/>
              <a:tailEnd type="triangle" w="med" len="med"/>
            </a:ln>
            <a:extLst>
              <a:ext uri="{909E8E84-426E-40DD-AFC4-6F175D3DCCD1}">
                <a14:hiddenFill xmlns:a14="http://schemas.microsoft.com/office/drawing/2010/main">
                  <a:noFill/>
                </a14:hiddenFill>
              </a:ext>
            </a:extLst>
          </p:spPr>
        </p:cxnSp>
        <p:sp>
          <p:nvSpPr>
            <p:cNvPr id="70" name="矩形 28"/>
            <p:cNvSpPr>
              <a:spLocks noChangeArrowheads="1"/>
            </p:cNvSpPr>
            <p:nvPr/>
          </p:nvSpPr>
          <p:spPr bwMode="auto">
            <a:xfrm>
              <a:off x="6391447" y="2812866"/>
              <a:ext cx="699991" cy="399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sz="2000" b="1" dirty="0">
                  <a:solidFill>
                    <a:schemeClr val="tx1"/>
                  </a:solidFill>
                </a:rPr>
                <a:t>请求</a:t>
              </a:r>
            </a:p>
          </p:txBody>
        </p:sp>
      </p:grpSp>
      <p:grpSp>
        <p:nvGrpSpPr>
          <p:cNvPr id="71" name="组合 32"/>
          <p:cNvGrpSpPr>
            <a:grpSpLocks/>
          </p:cNvGrpSpPr>
          <p:nvPr/>
        </p:nvGrpSpPr>
        <p:grpSpPr bwMode="auto">
          <a:xfrm>
            <a:off x="6550027" y="4175443"/>
            <a:ext cx="700833" cy="571500"/>
            <a:chOff x="2358999" y="2712750"/>
            <a:chExt cx="701578" cy="571500"/>
          </a:xfrm>
        </p:grpSpPr>
        <p:cxnSp>
          <p:nvCxnSpPr>
            <p:cNvPr id="72" name="AutoShape 1049"/>
            <p:cNvCxnSpPr>
              <a:cxnSpLocks noChangeShapeType="1"/>
              <a:stCxn id="57" idx="2"/>
              <a:endCxn id="60" idx="0"/>
            </p:cNvCxnSpPr>
            <p:nvPr/>
          </p:nvCxnSpPr>
          <p:spPr bwMode="auto">
            <a:xfrm flipH="1">
              <a:off x="3001031" y="2712750"/>
              <a:ext cx="15892" cy="571500"/>
            </a:xfrm>
            <a:prstGeom prst="straightConnector1">
              <a:avLst/>
            </a:prstGeom>
            <a:noFill/>
            <a:ln w="38100">
              <a:solidFill>
                <a:srgbClr val="3333FF"/>
              </a:solidFill>
              <a:round/>
              <a:headEnd type="none" w="sm" len="sm"/>
              <a:tailEnd type="triangle" w="med" len="med"/>
            </a:ln>
            <a:extLst>
              <a:ext uri="{909E8E84-426E-40DD-AFC4-6F175D3DCCD1}">
                <a14:hiddenFill xmlns:a14="http://schemas.microsoft.com/office/drawing/2010/main">
                  <a:noFill/>
                </a14:hiddenFill>
              </a:ext>
            </a:extLst>
          </p:spPr>
        </p:cxnSp>
        <p:sp>
          <p:nvSpPr>
            <p:cNvPr id="73" name="矩形 30"/>
            <p:cNvSpPr>
              <a:spLocks noChangeArrowheads="1"/>
            </p:cNvSpPr>
            <p:nvPr/>
          </p:nvSpPr>
          <p:spPr bwMode="auto">
            <a:xfrm>
              <a:off x="2358999" y="2780928"/>
              <a:ext cx="70157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zh-CN" altLang="en-US" sz="2000" b="1" dirty="0">
                  <a:solidFill>
                    <a:schemeClr val="tx1"/>
                  </a:solidFill>
                  <a:latin typeface="Times New Roman" pitchFamily="18" charset="0"/>
                </a:rPr>
                <a:t>释放</a:t>
              </a:r>
              <a:endParaRPr lang="zh-CN" altLang="en-US" sz="2000" dirty="0"/>
            </a:p>
          </p:txBody>
        </p:sp>
      </p:grpSp>
      <p:grpSp>
        <p:nvGrpSpPr>
          <p:cNvPr id="74" name="组合 33"/>
          <p:cNvGrpSpPr>
            <a:grpSpLocks/>
          </p:cNvGrpSpPr>
          <p:nvPr/>
        </p:nvGrpSpPr>
        <p:grpSpPr bwMode="auto">
          <a:xfrm>
            <a:off x="9626601" y="5220018"/>
            <a:ext cx="1205187" cy="751662"/>
            <a:chOff x="5435600" y="3757333"/>
            <a:chExt cx="1205659" cy="751930"/>
          </a:xfrm>
        </p:grpSpPr>
        <p:cxnSp>
          <p:nvCxnSpPr>
            <p:cNvPr id="75" name="AutoShape 1052"/>
            <p:cNvCxnSpPr>
              <a:cxnSpLocks noChangeShapeType="1"/>
              <a:stCxn id="61" idx="3"/>
              <a:endCxn id="56" idx="4"/>
            </p:cNvCxnSpPr>
            <p:nvPr/>
          </p:nvCxnSpPr>
          <p:spPr bwMode="auto">
            <a:xfrm flipV="1">
              <a:off x="5435600" y="3757333"/>
              <a:ext cx="994164" cy="588379"/>
            </a:xfrm>
            <a:prstGeom prst="curvedConnector2">
              <a:avLst/>
            </a:prstGeom>
            <a:noFill/>
            <a:ln w="38100">
              <a:solidFill>
                <a:srgbClr val="3333FF"/>
              </a:solidFill>
              <a:round/>
              <a:headEnd type="none" w="sm" len="sm"/>
              <a:tailEnd type="triangle" w="med" len="med"/>
            </a:ln>
            <a:extLst>
              <a:ext uri="{909E8E84-426E-40DD-AFC4-6F175D3DCCD1}">
                <a14:hiddenFill xmlns:a14="http://schemas.microsoft.com/office/drawing/2010/main">
                  <a:noFill/>
                </a14:hiddenFill>
              </a:ext>
            </a:extLst>
          </p:spPr>
        </p:cxnSp>
        <p:sp>
          <p:nvSpPr>
            <p:cNvPr id="76" name="矩形 31"/>
            <p:cNvSpPr>
              <a:spLocks noChangeArrowheads="1"/>
            </p:cNvSpPr>
            <p:nvPr/>
          </p:nvSpPr>
          <p:spPr bwMode="auto">
            <a:xfrm>
              <a:off x="5940152" y="4109010"/>
              <a:ext cx="701107" cy="40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zh-CN" altLang="en-US" sz="2000" b="1" dirty="0">
                  <a:solidFill>
                    <a:schemeClr val="tx1"/>
                  </a:solidFill>
                  <a:latin typeface="Times New Roman" pitchFamily="18" charset="0"/>
                </a:rPr>
                <a:t>释放</a:t>
              </a:r>
              <a:endParaRPr lang="zh-CN" altLang="en-US" sz="2000" dirty="0"/>
            </a:p>
          </p:txBody>
        </p:sp>
      </p:grpSp>
      <p:grpSp>
        <p:nvGrpSpPr>
          <p:cNvPr id="77" name="组合 37"/>
          <p:cNvGrpSpPr>
            <a:grpSpLocks/>
          </p:cNvGrpSpPr>
          <p:nvPr/>
        </p:nvGrpSpPr>
        <p:grpSpPr bwMode="auto">
          <a:xfrm>
            <a:off x="6891338" y="2979103"/>
            <a:ext cx="1371600" cy="778826"/>
            <a:chOff x="2699792" y="1516722"/>
            <a:chExt cx="1372146" cy="778508"/>
          </a:xfrm>
        </p:grpSpPr>
        <p:cxnSp>
          <p:nvCxnSpPr>
            <p:cNvPr id="78" name="AutoShape 1048"/>
            <p:cNvCxnSpPr>
              <a:cxnSpLocks noChangeShapeType="1"/>
              <a:stCxn id="55" idx="2"/>
              <a:endCxn id="57" idx="0"/>
            </p:cNvCxnSpPr>
            <p:nvPr/>
          </p:nvCxnSpPr>
          <p:spPr bwMode="auto">
            <a:xfrm rot="10800000" flipV="1">
              <a:off x="3015830" y="1570039"/>
              <a:ext cx="1056108" cy="725191"/>
            </a:xfrm>
            <a:prstGeom prst="curvedConnector2">
              <a:avLst/>
            </a:prstGeom>
            <a:noFill/>
            <a:ln w="38100">
              <a:solidFill>
                <a:srgbClr val="CC3300"/>
              </a:solidFill>
              <a:round/>
              <a:headEnd type="none" w="sm" len="sm"/>
              <a:tailEnd type="triangle" w="med" len="med"/>
            </a:ln>
            <a:extLst>
              <a:ext uri="{909E8E84-426E-40DD-AFC4-6F175D3DCCD1}">
                <a14:hiddenFill xmlns:a14="http://schemas.microsoft.com/office/drawing/2010/main">
                  <a:noFill/>
                </a14:hiddenFill>
              </a:ext>
            </a:extLst>
          </p:spPr>
        </p:cxnSp>
        <p:sp>
          <p:nvSpPr>
            <p:cNvPr id="79" name="矩形 34"/>
            <p:cNvSpPr>
              <a:spLocks noChangeArrowheads="1"/>
            </p:cNvSpPr>
            <p:nvPr/>
          </p:nvSpPr>
          <p:spPr bwMode="auto">
            <a:xfrm>
              <a:off x="2699792" y="1516722"/>
              <a:ext cx="701112" cy="399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sz="2000" b="1" dirty="0">
                  <a:solidFill>
                    <a:schemeClr val="tx1"/>
                  </a:solidFill>
                </a:rPr>
                <a:t>请求</a:t>
              </a:r>
            </a:p>
          </p:txBody>
        </p:sp>
      </p:grpSp>
      <p:grpSp>
        <p:nvGrpSpPr>
          <p:cNvPr id="80" name="组合 38"/>
          <p:cNvGrpSpPr>
            <a:grpSpLocks/>
          </p:cNvGrpSpPr>
          <p:nvPr/>
        </p:nvGrpSpPr>
        <p:grpSpPr bwMode="auto">
          <a:xfrm>
            <a:off x="6765925" y="5296217"/>
            <a:ext cx="1317625" cy="643625"/>
            <a:chOff x="2575023" y="3833526"/>
            <a:chExt cx="1317527" cy="643708"/>
          </a:xfrm>
        </p:grpSpPr>
        <p:cxnSp>
          <p:nvCxnSpPr>
            <p:cNvPr id="81" name="AutoShape 1050"/>
            <p:cNvCxnSpPr>
              <a:cxnSpLocks noChangeShapeType="1"/>
              <a:stCxn id="60" idx="4"/>
              <a:endCxn id="61" idx="1"/>
            </p:cNvCxnSpPr>
            <p:nvPr/>
          </p:nvCxnSpPr>
          <p:spPr bwMode="auto">
            <a:xfrm rot="16200000" flipH="1">
              <a:off x="3190478" y="3643489"/>
              <a:ext cx="512035" cy="892109"/>
            </a:xfrm>
            <a:prstGeom prst="curvedConnector2">
              <a:avLst/>
            </a:prstGeom>
            <a:noFill/>
            <a:ln w="38100">
              <a:solidFill>
                <a:srgbClr val="CC3300"/>
              </a:solidFill>
              <a:round/>
              <a:headEnd type="none" w="sm" len="sm"/>
              <a:tailEnd type="triangle" w="med" len="med"/>
            </a:ln>
            <a:extLst>
              <a:ext uri="{909E8E84-426E-40DD-AFC4-6F175D3DCCD1}">
                <a14:hiddenFill xmlns:a14="http://schemas.microsoft.com/office/drawing/2010/main">
                  <a:noFill/>
                </a14:hiddenFill>
              </a:ext>
            </a:extLst>
          </p:spPr>
        </p:cxnSp>
        <p:sp>
          <p:nvSpPr>
            <p:cNvPr id="82" name="矩形 35"/>
            <p:cNvSpPr>
              <a:spLocks noChangeArrowheads="1"/>
            </p:cNvSpPr>
            <p:nvPr/>
          </p:nvSpPr>
          <p:spPr bwMode="auto">
            <a:xfrm>
              <a:off x="2575023" y="4077072"/>
              <a:ext cx="700781" cy="4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sz="2000" b="1" dirty="0">
                  <a:solidFill>
                    <a:schemeClr val="tx1"/>
                  </a:solidFill>
                </a:rPr>
                <a:t>请求</a:t>
              </a:r>
            </a:p>
          </p:txBody>
        </p:sp>
      </p:grpSp>
      <p:sp>
        <p:nvSpPr>
          <p:cNvPr id="88" name="Rectangle 1055"/>
          <p:cNvSpPr>
            <a:spLocks noChangeArrowheads="1"/>
          </p:cNvSpPr>
          <p:nvPr/>
        </p:nvSpPr>
        <p:spPr bwMode="auto">
          <a:xfrm>
            <a:off x="5264000" y="4917281"/>
            <a:ext cx="578391" cy="914400"/>
          </a:xfrm>
          <a:prstGeom prst="rect">
            <a:avLst/>
          </a:prstGeom>
          <a:solidFill>
            <a:srgbClr val="FFFFFF"/>
          </a:solidFill>
          <a:ln w="28575">
            <a:solidFill>
              <a:srgbClr val="FF3300"/>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b="1">
                <a:solidFill>
                  <a:srgbClr val="FF3300"/>
                </a:solidFill>
              </a:rPr>
              <a:t>死</a:t>
            </a:r>
          </a:p>
          <a:p>
            <a:pPr eaLnBrk="1" hangingPunct="1"/>
            <a:r>
              <a:rPr lang="zh-CN" altLang="en-US" b="1">
                <a:solidFill>
                  <a:srgbClr val="FF3300"/>
                </a:solidFill>
              </a:rPr>
              <a:t>锁</a:t>
            </a:r>
          </a:p>
        </p:txBody>
      </p:sp>
      <p:sp>
        <p:nvSpPr>
          <p:cNvPr id="89" name="Line 1056"/>
          <p:cNvSpPr>
            <a:spLocks noChangeShapeType="1"/>
          </p:cNvSpPr>
          <p:nvPr/>
        </p:nvSpPr>
        <p:spPr bwMode="auto">
          <a:xfrm flipH="1" flipV="1">
            <a:off x="4735815" y="5380830"/>
            <a:ext cx="507474" cy="0"/>
          </a:xfrm>
          <a:prstGeom prst="line">
            <a:avLst/>
          </a:prstGeom>
          <a:noFill/>
          <a:ln w="57150">
            <a:solidFill>
              <a:srgbClr val="FF33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Rectangle 1053"/>
          <p:cNvSpPr>
            <a:spLocks noChangeArrowheads="1"/>
          </p:cNvSpPr>
          <p:nvPr/>
        </p:nvSpPr>
        <p:spPr bwMode="auto">
          <a:xfrm>
            <a:off x="1616378" y="4019181"/>
            <a:ext cx="3263900" cy="1008063"/>
          </a:xfrm>
          <a:prstGeom prst="rect">
            <a:avLst/>
          </a:prstGeom>
          <a:solidFill>
            <a:srgbClr val="3333FF"/>
          </a:solidFill>
          <a:ln w="12700">
            <a:solidFill>
              <a:schemeClr val="tx1"/>
            </a:solidFill>
            <a:miter lim="800000"/>
            <a:headEnd type="none" w="sm" len="sm"/>
            <a:tailEnd type="none" w="sm" len="sm"/>
          </a:ln>
          <a:effectLst>
            <a:outerShdw dist="53882" dir="2700000" algn="ctr" rotWithShape="0">
              <a:schemeClr val="tx1"/>
            </a:outerShdw>
          </a:effectLst>
        </p:spPr>
        <p:txBody>
          <a:bodyPr wrap="none" anchor="ctr"/>
          <a:lstStyle/>
          <a:p>
            <a:pPr algn="l">
              <a:defRPr/>
            </a:pPr>
            <a:r>
              <a:rPr lang="en-US" altLang="zh-CN" sz="2000" b="1" dirty="0">
                <a:solidFill>
                  <a:srgbClr val="FFFAEA"/>
                </a:solidFill>
                <a:effectLst>
                  <a:outerShdw blurRad="38100" dist="38100" dir="2700000" algn="tl">
                    <a:srgbClr val="000000"/>
                  </a:outerShdw>
                </a:effectLst>
                <a:ea typeface="幼圆" pitchFamily="49" charset="-122"/>
              </a:rPr>
              <a:t>P1:   … </a:t>
            </a:r>
            <a:r>
              <a:rPr lang="zh-CN" altLang="zh-CN" sz="2000" b="1" dirty="0">
                <a:solidFill>
                  <a:srgbClr val="FFFAEA"/>
                </a:solidFill>
                <a:effectLst>
                  <a:outerShdw blurRad="38100" dist="38100" dir="2700000" algn="tl">
                    <a:srgbClr val="000000"/>
                  </a:outerShdw>
                </a:effectLst>
                <a:ea typeface="幼圆" pitchFamily="49" charset="-122"/>
              </a:rPr>
              <a:t>释放</a:t>
            </a:r>
            <a:r>
              <a:rPr lang="en-US" altLang="zh-CN" sz="2000" b="1" dirty="0">
                <a:solidFill>
                  <a:srgbClr val="FFFAEA"/>
                </a:solidFill>
                <a:effectLst>
                  <a:outerShdw blurRad="38100" dist="38100" dir="2700000" algn="tl">
                    <a:srgbClr val="000000"/>
                  </a:outerShdw>
                </a:effectLst>
                <a:ea typeface="幼圆" pitchFamily="49" charset="-122"/>
              </a:rPr>
              <a:t>S1</a:t>
            </a:r>
            <a:r>
              <a:rPr lang="zh-CN" altLang="en-US" sz="2000" b="1" dirty="0">
                <a:solidFill>
                  <a:srgbClr val="FFFAEA"/>
                </a:solidFill>
                <a:effectLst>
                  <a:outerShdw blurRad="38100" dist="38100" dir="2700000" algn="tl">
                    <a:srgbClr val="000000"/>
                  </a:outerShdw>
                </a:effectLst>
                <a:ea typeface="幼圆" pitchFamily="49" charset="-122"/>
              </a:rPr>
              <a:t>；</a:t>
            </a:r>
            <a:r>
              <a:rPr lang="zh-CN" altLang="zh-CN" sz="2000" b="1" dirty="0">
                <a:solidFill>
                  <a:srgbClr val="FFFAEA"/>
                </a:solidFill>
                <a:effectLst>
                  <a:outerShdw blurRad="38100" dist="38100" dir="2700000" algn="tl">
                    <a:srgbClr val="000000"/>
                  </a:outerShdw>
                </a:effectLst>
                <a:ea typeface="幼圆" pitchFamily="49" charset="-122"/>
              </a:rPr>
              <a:t>请求</a:t>
            </a:r>
            <a:r>
              <a:rPr lang="en-US" altLang="zh-CN" sz="2000" b="1" dirty="0">
                <a:solidFill>
                  <a:srgbClr val="FFFAEA"/>
                </a:solidFill>
                <a:effectLst>
                  <a:outerShdw blurRad="38100" dist="38100" dir="2700000" algn="tl">
                    <a:srgbClr val="000000"/>
                  </a:outerShdw>
                </a:effectLst>
                <a:ea typeface="幼圆" pitchFamily="49" charset="-122"/>
              </a:rPr>
              <a:t>S3</a:t>
            </a:r>
          </a:p>
          <a:p>
            <a:pPr algn="l">
              <a:defRPr/>
            </a:pPr>
            <a:r>
              <a:rPr lang="en-US" altLang="zh-CN" sz="2000" b="1" dirty="0">
                <a:solidFill>
                  <a:srgbClr val="FFFAEA"/>
                </a:solidFill>
                <a:effectLst>
                  <a:outerShdw blurRad="38100" dist="38100" dir="2700000" algn="tl">
                    <a:srgbClr val="000000"/>
                  </a:outerShdw>
                </a:effectLst>
                <a:ea typeface="幼圆" pitchFamily="49" charset="-122"/>
              </a:rPr>
              <a:t>P2:   … </a:t>
            </a:r>
            <a:r>
              <a:rPr lang="zh-CN" altLang="zh-CN" sz="2000" b="1" dirty="0">
                <a:solidFill>
                  <a:srgbClr val="FFFAEA"/>
                </a:solidFill>
                <a:effectLst>
                  <a:outerShdw blurRad="38100" dist="38100" dir="2700000" algn="tl">
                    <a:srgbClr val="000000"/>
                  </a:outerShdw>
                </a:effectLst>
                <a:ea typeface="幼圆" pitchFamily="49" charset="-122"/>
              </a:rPr>
              <a:t>释放</a:t>
            </a:r>
            <a:r>
              <a:rPr lang="en-US" altLang="zh-CN" sz="2000" b="1" dirty="0">
                <a:solidFill>
                  <a:srgbClr val="FFFAEA"/>
                </a:solidFill>
                <a:effectLst>
                  <a:outerShdw blurRad="38100" dist="38100" dir="2700000" algn="tl">
                    <a:srgbClr val="000000"/>
                  </a:outerShdw>
                </a:effectLst>
                <a:ea typeface="幼圆" pitchFamily="49" charset="-122"/>
              </a:rPr>
              <a:t>S2</a:t>
            </a:r>
            <a:r>
              <a:rPr lang="zh-CN" altLang="en-US" sz="2000" b="1" dirty="0">
                <a:solidFill>
                  <a:srgbClr val="FFFAEA"/>
                </a:solidFill>
                <a:effectLst>
                  <a:outerShdw blurRad="38100" dist="38100" dir="2700000" algn="tl">
                    <a:srgbClr val="000000"/>
                  </a:outerShdw>
                </a:effectLst>
                <a:ea typeface="幼圆" pitchFamily="49" charset="-122"/>
              </a:rPr>
              <a:t>；</a:t>
            </a:r>
            <a:r>
              <a:rPr lang="zh-CN" altLang="zh-CN" sz="2000" b="1" dirty="0">
                <a:solidFill>
                  <a:srgbClr val="FFFAEA"/>
                </a:solidFill>
                <a:effectLst>
                  <a:outerShdw blurRad="38100" dist="38100" dir="2700000" algn="tl">
                    <a:srgbClr val="000000"/>
                  </a:outerShdw>
                </a:effectLst>
                <a:ea typeface="幼圆" pitchFamily="49" charset="-122"/>
              </a:rPr>
              <a:t>请</a:t>
            </a:r>
            <a:r>
              <a:rPr lang="zh-CN" altLang="en-US" sz="2000" b="1" dirty="0">
                <a:solidFill>
                  <a:srgbClr val="FFFAEA"/>
                </a:solidFill>
                <a:effectLst>
                  <a:outerShdw blurRad="38100" dist="38100" dir="2700000" algn="tl">
                    <a:srgbClr val="000000"/>
                  </a:outerShdw>
                </a:effectLst>
                <a:ea typeface="幼圆" pitchFamily="49" charset="-122"/>
              </a:rPr>
              <a:t>求</a:t>
            </a:r>
            <a:r>
              <a:rPr lang="en-US" altLang="zh-CN" sz="2000" b="1" dirty="0">
                <a:solidFill>
                  <a:srgbClr val="FFFAEA"/>
                </a:solidFill>
                <a:effectLst>
                  <a:outerShdw blurRad="38100" dist="38100" dir="2700000" algn="tl">
                    <a:srgbClr val="000000"/>
                  </a:outerShdw>
                </a:effectLst>
                <a:ea typeface="幼圆" pitchFamily="49" charset="-122"/>
              </a:rPr>
              <a:t>S1</a:t>
            </a:r>
          </a:p>
          <a:p>
            <a:pPr algn="l">
              <a:defRPr/>
            </a:pPr>
            <a:r>
              <a:rPr lang="en-US" altLang="zh-CN" sz="2000" b="1" dirty="0">
                <a:solidFill>
                  <a:srgbClr val="FFFAEA"/>
                </a:solidFill>
                <a:effectLst>
                  <a:outerShdw blurRad="38100" dist="38100" dir="2700000" algn="tl">
                    <a:srgbClr val="000000"/>
                  </a:outerShdw>
                </a:effectLst>
                <a:ea typeface="幼圆" pitchFamily="49" charset="-122"/>
              </a:rPr>
              <a:t>P3:   … </a:t>
            </a:r>
            <a:r>
              <a:rPr lang="zh-CN" altLang="zh-CN" sz="2000" b="1" dirty="0">
                <a:solidFill>
                  <a:srgbClr val="FFFAEA"/>
                </a:solidFill>
                <a:effectLst>
                  <a:outerShdw blurRad="38100" dist="38100" dir="2700000" algn="tl">
                    <a:srgbClr val="000000"/>
                  </a:outerShdw>
                </a:effectLst>
                <a:ea typeface="幼圆" pitchFamily="49" charset="-122"/>
              </a:rPr>
              <a:t>释放</a:t>
            </a:r>
            <a:r>
              <a:rPr lang="en-US" altLang="zh-CN" sz="2000" b="1" dirty="0">
                <a:solidFill>
                  <a:srgbClr val="FFFAEA"/>
                </a:solidFill>
                <a:effectLst>
                  <a:outerShdw blurRad="38100" dist="38100" dir="2700000" algn="tl">
                    <a:srgbClr val="000000"/>
                  </a:outerShdw>
                </a:effectLst>
                <a:ea typeface="幼圆" pitchFamily="49" charset="-122"/>
              </a:rPr>
              <a:t>S3</a:t>
            </a:r>
            <a:r>
              <a:rPr lang="zh-CN" altLang="en-US" sz="2000" b="1" dirty="0">
                <a:solidFill>
                  <a:srgbClr val="FFFAEA"/>
                </a:solidFill>
                <a:effectLst>
                  <a:outerShdw blurRad="38100" dist="38100" dir="2700000" algn="tl">
                    <a:srgbClr val="000000"/>
                  </a:outerShdw>
                </a:effectLst>
                <a:ea typeface="幼圆" pitchFamily="49" charset="-122"/>
              </a:rPr>
              <a:t>；</a:t>
            </a:r>
            <a:r>
              <a:rPr lang="zh-CN" altLang="zh-CN" sz="2000" b="1" dirty="0">
                <a:solidFill>
                  <a:srgbClr val="FFFAEA"/>
                </a:solidFill>
                <a:effectLst>
                  <a:outerShdw blurRad="38100" dist="38100" dir="2700000" algn="tl">
                    <a:srgbClr val="000000"/>
                  </a:outerShdw>
                </a:effectLst>
                <a:ea typeface="幼圆" pitchFamily="49" charset="-122"/>
              </a:rPr>
              <a:t>请</a:t>
            </a:r>
            <a:r>
              <a:rPr lang="zh-CN" altLang="en-US" sz="2000" b="1" dirty="0">
                <a:solidFill>
                  <a:srgbClr val="FFFAEA"/>
                </a:solidFill>
                <a:effectLst>
                  <a:outerShdw blurRad="38100" dist="38100" dir="2700000" algn="tl">
                    <a:srgbClr val="000000"/>
                  </a:outerShdw>
                </a:effectLst>
                <a:ea typeface="幼圆" pitchFamily="49" charset="-122"/>
              </a:rPr>
              <a:t>求</a:t>
            </a:r>
            <a:r>
              <a:rPr lang="en-US" altLang="zh-CN" sz="2000" b="1" dirty="0">
                <a:solidFill>
                  <a:srgbClr val="FFFAEA"/>
                </a:solidFill>
                <a:effectLst>
                  <a:outerShdw blurRad="38100" dist="38100" dir="2700000" algn="tl">
                    <a:srgbClr val="000000"/>
                  </a:outerShdw>
                </a:effectLst>
                <a:ea typeface="幼圆" pitchFamily="49" charset="-122"/>
              </a:rPr>
              <a:t>S2</a:t>
            </a:r>
          </a:p>
        </p:txBody>
      </p:sp>
      <p:sp>
        <p:nvSpPr>
          <p:cNvPr id="91" name="Rectangle 1054"/>
          <p:cNvSpPr>
            <a:spLocks noChangeArrowheads="1"/>
          </p:cNvSpPr>
          <p:nvPr/>
        </p:nvSpPr>
        <p:spPr bwMode="auto">
          <a:xfrm>
            <a:off x="1616378" y="5214778"/>
            <a:ext cx="3119437" cy="1008063"/>
          </a:xfrm>
          <a:prstGeom prst="rect">
            <a:avLst/>
          </a:prstGeom>
          <a:solidFill>
            <a:srgbClr val="3333FF"/>
          </a:solidFill>
          <a:ln w="12700">
            <a:solidFill>
              <a:schemeClr val="tx1"/>
            </a:solidFill>
            <a:miter lim="800000"/>
            <a:headEnd type="none" w="sm" len="sm"/>
            <a:tailEnd type="none" w="sm" len="sm"/>
          </a:ln>
          <a:effectLst>
            <a:outerShdw dist="53882" dir="2700000" algn="ctr" rotWithShape="0">
              <a:schemeClr val="tx1"/>
            </a:outerShdw>
          </a:effectLst>
        </p:spPr>
        <p:txBody>
          <a:bodyPr wrap="none" anchor="ctr"/>
          <a:lstStyle/>
          <a:p>
            <a:pPr algn="l">
              <a:defRPr/>
            </a:pPr>
            <a:r>
              <a:rPr lang="en-US" altLang="zh-CN" sz="2000" b="1" dirty="0">
                <a:solidFill>
                  <a:srgbClr val="FFFAEA"/>
                </a:solidFill>
                <a:effectLst>
                  <a:outerShdw blurRad="38100" dist="38100" dir="2700000" algn="tl">
                    <a:srgbClr val="000000"/>
                  </a:outerShdw>
                </a:effectLst>
                <a:ea typeface="幼圆" pitchFamily="49" charset="-122"/>
              </a:rPr>
              <a:t>P1:   …</a:t>
            </a:r>
            <a:r>
              <a:rPr lang="zh-CN" altLang="zh-CN" sz="2000" b="1" dirty="0">
                <a:solidFill>
                  <a:srgbClr val="FFFAEA"/>
                </a:solidFill>
                <a:effectLst>
                  <a:outerShdw blurRad="38100" dist="38100" dir="2700000" algn="tl">
                    <a:srgbClr val="000000"/>
                  </a:outerShdw>
                </a:effectLst>
                <a:ea typeface="幼圆" pitchFamily="49" charset="-122"/>
              </a:rPr>
              <a:t>请求</a:t>
            </a:r>
            <a:r>
              <a:rPr lang="en-US" altLang="zh-CN" sz="2000" b="1" dirty="0">
                <a:solidFill>
                  <a:srgbClr val="FFFAEA"/>
                </a:solidFill>
                <a:effectLst>
                  <a:outerShdw blurRad="38100" dist="38100" dir="2700000" algn="tl">
                    <a:srgbClr val="000000"/>
                  </a:outerShdw>
                </a:effectLst>
                <a:ea typeface="幼圆" pitchFamily="49" charset="-122"/>
              </a:rPr>
              <a:t>S3</a:t>
            </a:r>
            <a:r>
              <a:rPr lang="zh-CN" altLang="en-US" sz="2000" b="1" dirty="0">
                <a:solidFill>
                  <a:srgbClr val="FFFAEA"/>
                </a:solidFill>
                <a:effectLst>
                  <a:outerShdw blurRad="38100" dist="38100" dir="2700000" algn="tl">
                    <a:srgbClr val="000000"/>
                  </a:outerShdw>
                </a:effectLst>
                <a:ea typeface="幼圆" pitchFamily="49" charset="-122"/>
              </a:rPr>
              <a:t>；</a:t>
            </a:r>
            <a:r>
              <a:rPr lang="zh-CN" altLang="zh-CN" sz="2000" b="1" dirty="0">
                <a:solidFill>
                  <a:srgbClr val="FFFAEA"/>
                </a:solidFill>
                <a:effectLst>
                  <a:outerShdw blurRad="38100" dist="38100" dir="2700000" algn="tl">
                    <a:srgbClr val="000000"/>
                  </a:outerShdw>
                </a:effectLst>
                <a:ea typeface="幼圆" pitchFamily="49" charset="-122"/>
              </a:rPr>
              <a:t>释放</a:t>
            </a:r>
            <a:r>
              <a:rPr lang="en-US" altLang="zh-CN" sz="2000" b="1" dirty="0">
                <a:solidFill>
                  <a:srgbClr val="FFFAEA"/>
                </a:solidFill>
                <a:effectLst>
                  <a:outerShdw blurRad="38100" dist="38100" dir="2700000" algn="tl">
                    <a:srgbClr val="000000"/>
                  </a:outerShdw>
                </a:effectLst>
                <a:ea typeface="幼圆" pitchFamily="49" charset="-122"/>
              </a:rPr>
              <a:t>S1</a:t>
            </a:r>
          </a:p>
          <a:p>
            <a:pPr algn="l">
              <a:defRPr/>
            </a:pPr>
            <a:r>
              <a:rPr lang="en-US" altLang="zh-CN" sz="2000" b="1" dirty="0">
                <a:solidFill>
                  <a:srgbClr val="FFFAEA"/>
                </a:solidFill>
                <a:effectLst>
                  <a:outerShdw blurRad="38100" dist="38100" dir="2700000" algn="tl">
                    <a:srgbClr val="000000"/>
                  </a:outerShdw>
                </a:effectLst>
                <a:ea typeface="幼圆" pitchFamily="49" charset="-122"/>
              </a:rPr>
              <a:t>P2:   …</a:t>
            </a:r>
            <a:r>
              <a:rPr lang="zh-CN" altLang="zh-CN" sz="2000" b="1" dirty="0">
                <a:solidFill>
                  <a:srgbClr val="FFFAEA"/>
                </a:solidFill>
                <a:effectLst>
                  <a:outerShdw blurRad="38100" dist="38100" dir="2700000" algn="tl">
                    <a:srgbClr val="000000"/>
                  </a:outerShdw>
                </a:effectLst>
                <a:ea typeface="幼圆" pitchFamily="49" charset="-122"/>
              </a:rPr>
              <a:t>请求</a:t>
            </a:r>
            <a:r>
              <a:rPr lang="en-US" altLang="zh-CN" sz="2000" b="1" dirty="0">
                <a:solidFill>
                  <a:srgbClr val="FFFAEA"/>
                </a:solidFill>
                <a:effectLst>
                  <a:outerShdw blurRad="38100" dist="38100" dir="2700000" algn="tl">
                    <a:srgbClr val="000000"/>
                  </a:outerShdw>
                </a:effectLst>
                <a:ea typeface="幼圆" pitchFamily="49" charset="-122"/>
              </a:rPr>
              <a:t>S1</a:t>
            </a:r>
            <a:r>
              <a:rPr lang="zh-CN" altLang="en-US" sz="2000" b="1" dirty="0">
                <a:solidFill>
                  <a:srgbClr val="FFFAEA"/>
                </a:solidFill>
                <a:effectLst>
                  <a:outerShdw blurRad="38100" dist="38100" dir="2700000" algn="tl">
                    <a:srgbClr val="000000"/>
                  </a:outerShdw>
                </a:effectLst>
                <a:ea typeface="幼圆" pitchFamily="49" charset="-122"/>
              </a:rPr>
              <a:t>；</a:t>
            </a:r>
            <a:r>
              <a:rPr lang="zh-CN" altLang="zh-CN" sz="2000" b="1" dirty="0">
                <a:solidFill>
                  <a:srgbClr val="FFFAEA"/>
                </a:solidFill>
                <a:effectLst>
                  <a:outerShdw blurRad="38100" dist="38100" dir="2700000" algn="tl">
                    <a:srgbClr val="000000"/>
                  </a:outerShdw>
                </a:effectLst>
                <a:ea typeface="幼圆" pitchFamily="49" charset="-122"/>
              </a:rPr>
              <a:t>释放</a:t>
            </a:r>
            <a:r>
              <a:rPr lang="en-US" altLang="zh-CN" sz="2000" b="1" dirty="0">
                <a:solidFill>
                  <a:srgbClr val="FFFAEA"/>
                </a:solidFill>
                <a:effectLst>
                  <a:outerShdw blurRad="38100" dist="38100" dir="2700000" algn="tl">
                    <a:srgbClr val="000000"/>
                  </a:outerShdw>
                </a:effectLst>
                <a:ea typeface="幼圆" pitchFamily="49" charset="-122"/>
              </a:rPr>
              <a:t>S2 </a:t>
            </a:r>
          </a:p>
          <a:p>
            <a:pPr algn="l">
              <a:defRPr/>
            </a:pPr>
            <a:r>
              <a:rPr lang="en-US" altLang="zh-CN" sz="2000" b="1" dirty="0">
                <a:solidFill>
                  <a:srgbClr val="FFFAEA"/>
                </a:solidFill>
                <a:effectLst>
                  <a:outerShdw blurRad="38100" dist="38100" dir="2700000" algn="tl">
                    <a:srgbClr val="000000"/>
                  </a:outerShdw>
                </a:effectLst>
                <a:ea typeface="幼圆" pitchFamily="49" charset="-122"/>
              </a:rPr>
              <a:t>P3:   …</a:t>
            </a:r>
            <a:r>
              <a:rPr lang="zh-CN" altLang="zh-CN" sz="2000" b="1" dirty="0">
                <a:solidFill>
                  <a:srgbClr val="FFFAEA"/>
                </a:solidFill>
                <a:effectLst>
                  <a:outerShdw blurRad="38100" dist="38100" dir="2700000" algn="tl">
                    <a:srgbClr val="000000"/>
                  </a:outerShdw>
                </a:effectLst>
                <a:ea typeface="幼圆" pitchFamily="49" charset="-122"/>
              </a:rPr>
              <a:t>请求</a:t>
            </a:r>
            <a:r>
              <a:rPr lang="en-US" altLang="zh-CN" sz="2000" b="1" dirty="0">
                <a:solidFill>
                  <a:srgbClr val="FFFAEA"/>
                </a:solidFill>
                <a:effectLst>
                  <a:outerShdw blurRad="38100" dist="38100" dir="2700000" algn="tl">
                    <a:srgbClr val="000000"/>
                  </a:outerShdw>
                </a:effectLst>
                <a:ea typeface="幼圆" pitchFamily="49" charset="-122"/>
              </a:rPr>
              <a:t>S2</a:t>
            </a:r>
            <a:r>
              <a:rPr lang="zh-CN" altLang="en-US" sz="2000" b="1" dirty="0">
                <a:solidFill>
                  <a:srgbClr val="FFFAEA"/>
                </a:solidFill>
                <a:effectLst>
                  <a:outerShdw blurRad="38100" dist="38100" dir="2700000" algn="tl">
                    <a:srgbClr val="000000"/>
                  </a:outerShdw>
                </a:effectLst>
                <a:ea typeface="幼圆" pitchFamily="49" charset="-122"/>
              </a:rPr>
              <a:t>；</a:t>
            </a:r>
            <a:r>
              <a:rPr lang="zh-CN" altLang="zh-CN" sz="2000" b="1" dirty="0">
                <a:solidFill>
                  <a:srgbClr val="FFFAEA"/>
                </a:solidFill>
                <a:effectLst>
                  <a:outerShdw blurRad="38100" dist="38100" dir="2700000" algn="tl">
                    <a:srgbClr val="000000"/>
                  </a:outerShdw>
                </a:effectLst>
                <a:ea typeface="幼圆" pitchFamily="49" charset="-122"/>
              </a:rPr>
              <a:t>释放</a:t>
            </a:r>
            <a:r>
              <a:rPr lang="en-US" altLang="zh-CN" sz="2000" b="1" dirty="0">
                <a:solidFill>
                  <a:srgbClr val="FFFAEA"/>
                </a:solidFill>
                <a:effectLst>
                  <a:outerShdw blurRad="38100" dist="38100" dir="2700000" algn="tl">
                    <a:srgbClr val="000000"/>
                  </a:outerShdw>
                </a:effectLst>
                <a:ea typeface="幼圆" pitchFamily="49" charset="-122"/>
              </a:rPr>
              <a:t>S3</a:t>
            </a:r>
          </a:p>
        </p:txBody>
      </p:sp>
    </p:spTree>
    <p:extLst>
      <p:ext uri="{BB962C8B-B14F-4D97-AF65-F5344CB8AC3E}">
        <p14:creationId xmlns:p14="http://schemas.microsoft.com/office/powerpoint/2010/main" val="202950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strVal val="#ppt_w+.3"/>
                                          </p:val>
                                        </p:tav>
                                        <p:tav tm="100000">
                                          <p:val>
                                            <p:strVal val="#ppt_w"/>
                                          </p:val>
                                        </p:tav>
                                      </p:tavLst>
                                    </p:anim>
                                    <p:anim calcmode="lin" valueType="num">
                                      <p:cBhvr>
                                        <p:cTn id="8" dur="500" fill="hold"/>
                                        <p:tgtEl>
                                          <p:spTgt spid="66"/>
                                        </p:tgtEl>
                                        <p:attrNameLst>
                                          <p:attrName>ppt_h</p:attrName>
                                        </p:attrNameLst>
                                      </p:cBhvr>
                                      <p:tavLst>
                                        <p:tav tm="0">
                                          <p:val>
                                            <p:strVal val="#ppt_h"/>
                                          </p:val>
                                        </p:tav>
                                        <p:tav tm="100000">
                                          <p:val>
                                            <p:strVal val="#ppt_h"/>
                                          </p:val>
                                        </p:tav>
                                      </p:tavLst>
                                    </p:anim>
                                    <p:animEffect transition="in" filter="fade">
                                      <p:cBhvr>
                                        <p:cTn id="9" dur="500"/>
                                        <p:tgtEl>
                                          <p:spTgt spid="66"/>
                                        </p:tgtEl>
                                      </p:cBhvr>
                                    </p:animEffect>
                                  </p:childTnLst>
                                </p:cTn>
                              </p:par>
                            </p:childTnLst>
                          </p:cTn>
                        </p:par>
                      </p:childTnLst>
                    </p:cTn>
                  </p:par>
                  <p:par>
                    <p:cTn id="10" fill="hold">
                      <p:stCondLst>
                        <p:cond delay="indefinite"/>
                      </p:stCondLst>
                      <p:childTnLst>
                        <p:par>
                          <p:cTn id="11" fill="hold">
                            <p:stCondLst>
                              <p:cond delay="0"/>
                            </p:stCondLst>
                            <p:childTnLst>
                              <p:par>
                                <p:cTn id="12" presetID="23" presetClass="entr" presetSubtype="16"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anim calcmode="lin" valueType="num">
                                      <p:cBhvr>
                                        <p:cTn id="14" dur="500" fill="hold"/>
                                        <p:tgtEl>
                                          <p:spTgt spid="55"/>
                                        </p:tgtEl>
                                        <p:attrNameLst>
                                          <p:attrName>ppt_w</p:attrName>
                                        </p:attrNameLst>
                                      </p:cBhvr>
                                      <p:tavLst>
                                        <p:tav tm="0">
                                          <p:val>
                                            <p:fltVal val="0"/>
                                          </p:val>
                                        </p:tav>
                                        <p:tav tm="100000">
                                          <p:val>
                                            <p:strVal val="#ppt_w"/>
                                          </p:val>
                                        </p:tav>
                                      </p:tavLst>
                                    </p:anim>
                                    <p:anim calcmode="lin" valueType="num">
                                      <p:cBhvr>
                                        <p:cTn id="15" dur="500" fill="hold"/>
                                        <p:tgtEl>
                                          <p:spTgt spid="55"/>
                                        </p:tgtEl>
                                        <p:attrNameLst>
                                          <p:attrName>ppt_h</p:attrName>
                                        </p:attrNameLst>
                                      </p:cBhvr>
                                      <p:tavLst>
                                        <p:tav tm="0">
                                          <p:val>
                                            <p:fltVal val="0"/>
                                          </p:val>
                                        </p:tav>
                                        <p:tav tm="100000">
                                          <p:val>
                                            <p:strVal val="#ppt_h"/>
                                          </p:val>
                                        </p:tav>
                                      </p:tavLst>
                                    </p:anim>
                                  </p:childTnLst>
                                </p:cTn>
                              </p:par>
                            </p:childTnLst>
                          </p:cTn>
                        </p:par>
                        <p:par>
                          <p:cTn id="16" fill="hold">
                            <p:stCondLst>
                              <p:cond delay="500"/>
                            </p:stCondLst>
                            <p:childTnLst>
                              <p:par>
                                <p:cTn id="17" presetID="23" presetClass="entr" presetSubtype="16" fill="hold" grpId="0" nodeType="afterEffect">
                                  <p:stCondLst>
                                    <p:cond delay="0"/>
                                  </p:stCondLst>
                                  <p:childTnLst>
                                    <p:set>
                                      <p:cBhvr>
                                        <p:cTn id="18" dur="1" fill="hold">
                                          <p:stCondLst>
                                            <p:cond delay="0"/>
                                          </p:stCondLst>
                                        </p:cTn>
                                        <p:tgtEl>
                                          <p:spTgt spid="56"/>
                                        </p:tgtEl>
                                        <p:attrNameLst>
                                          <p:attrName>style.visibility</p:attrName>
                                        </p:attrNameLst>
                                      </p:cBhvr>
                                      <p:to>
                                        <p:strVal val="visible"/>
                                      </p:to>
                                    </p:set>
                                    <p:anim calcmode="lin" valueType="num">
                                      <p:cBhvr>
                                        <p:cTn id="19" dur="500" fill="hold"/>
                                        <p:tgtEl>
                                          <p:spTgt spid="56"/>
                                        </p:tgtEl>
                                        <p:attrNameLst>
                                          <p:attrName>ppt_w</p:attrName>
                                        </p:attrNameLst>
                                      </p:cBhvr>
                                      <p:tavLst>
                                        <p:tav tm="0">
                                          <p:val>
                                            <p:fltVal val="0"/>
                                          </p:val>
                                        </p:tav>
                                        <p:tav tm="100000">
                                          <p:val>
                                            <p:strVal val="#ppt_w"/>
                                          </p:val>
                                        </p:tav>
                                      </p:tavLst>
                                    </p:anim>
                                    <p:anim calcmode="lin" valueType="num">
                                      <p:cBhvr>
                                        <p:cTn id="20" dur="500" fill="hold"/>
                                        <p:tgtEl>
                                          <p:spTgt spid="56"/>
                                        </p:tgtEl>
                                        <p:attrNameLst>
                                          <p:attrName>ppt_h</p:attrName>
                                        </p:attrNameLst>
                                      </p:cBhvr>
                                      <p:tavLst>
                                        <p:tav tm="0">
                                          <p:val>
                                            <p:fltVal val="0"/>
                                          </p:val>
                                        </p:tav>
                                        <p:tav tm="100000">
                                          <p:val>
                                            <p:strVal val="#ppt_h"/>
                                          </p:val>
                                        </p:tav>
                                      </p:tavLst>
                                    </p:anim>
                                  </p:childTnLst>
                                </p:cTn>
                              </p:par>
                            </p:childTnLst>
                          </p:cTn>
                        </p:par>
                        <p:par>
                          <p:cTn id="21" fill="hold">
                            <p:stCondLst>
                              <p:cond delay="1000"/>
                            </p:stCondLst>
                            <p:childTnLst>
                              <p:par>
                                <p:cTn id="22" presetID="23" presetClass="entr" presetSubtype="16" fill="hold" grpId="0" nodeType="afterEffect">
                                  <p:stCondLst>
                                    <p:cond delay="0"/>
                                  </p:stCondLst>
                                  <p:childTnLst>
                                    <p:set>
                                      <p:cBhvr>
                                        <p:cTn id="23" dur="1" fill="hold">
                                          <p:stCondLst>
                                            <p:cond delay="0"/>
                                          </p:stCondLst>
                                        </p:cTn>
                                        <p:tgtEl>
                                          <p:spTgt spid="60"/>
                                        </p:tgtEl>
                                        <p:attrNameLst>
                                          <p:attrName>style.visibility</p:attrName>
                                        </p:attrNameLst>
                                      </p:cBhvr>
                                      <p:to>
                                        <p:strVal val="visible"/>
                                      </p:to>
                                    </p:set>
                                    <p:anim calcmode="lin" valueType="num">
                                      <p:cBhvr>
                                        <p:cTn id="24" dur="500" fill="hold"/>
                                        <p:tgtEl>
                                          <p:spTgt spid="60"/>
                                        </p:tgtEl>
                                        <p:attrNameLst>
                                          <p:attrName>ppt_w</p:attrName>
                                        </p:attrNameLst>
                                      </p:cBhvr>
                                      <p:tavLst>
                                        <p:tav tm="0">
                                          <p:val>
                                            <p:fltVal val="0"/>
                                          </p:val>
                                        </p:tav>
                                        <p:tav tm="100000">
                                          <p:val>
                                            <p:strVal val="#ppt_w"/>
                                          </p:val>
                                        </p:tav>
                                      </p:tavLst>
                                    </p:anim>
                                    <p:anim calcmode="lin" valueType="num">
                                      <p:cBhvr>
                                        <p:cTn id="25" dur="500" fill="hold"/>
                                        <p:tgtEl>
                                          <p:spTgt spid="60"/>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59"/>
                                        </p:tgtEl>
                                        <p:attrNameLst>
                                          <p:attrName>style.visibility</p:attrName>
                                        </p:attrNameLst>
                                      </p:cBhvr>
                                      <p:to>
                                        <p:strVal val="visible"/>
                                      </p:to>
                                    </p:set>
                                    <p:anim calcmode="lin" valueType="num">
                                      <p:cBhvr>
                                        <p:cTn id="30" dur="500" fill="hold"/>
                                        <p:tgtEl>
                                          <p:spTgt spid="59"/>
                                        </p:tgtEl>
                                        <p:attrNameLst>
                                          <p:attrName>ppt_w</p:attrName>
                                        </p:attrNameLst>
                                      </p:cBhvr>
                                      <p:tavLst>
                                        <p:tav tm="0">
                                          <p:val>
                                            <p:fltVal val="0"/>
                                          </p:val>
                                        </p:tav>
                                        <p:tav tm="100000">
                                          <p:val>
                                            <p:strVal val="#ppt_w"/>
                                          </p:val>
                                        </p:tav>
                                      </p:tavLst>
                                    </p:anim>
                                    <p:anim calcmode="lin" valueType="num">
                                      <p:cBhvr>
                                        <p:cTn id="31" dur="500" fill="hold"/>
                                        <p:tgtEl>
                                          <p:spTgt spid="59"/>
                                        </p:tgtEl>
                                        <p:attrNameLst>
                                          <p:attrName>ppt_h</p:attrName>
                                        </p:attrNameLst>
                                      </p:cBhvr>
                                      <p:tavLst>
                                        <p:tav tm="0">
                                          <p:val>
                                            <p:fltVal val="0"/>
                                          </p:val>
                                        </p:tav>
                                        <p:tav tm="100000">
                                          <p:val>
                                            <p:strVal val="#ppt_h"/>
                                          </p:val>
                                        </p:tav>
                                      </p:tavLst>
                                    </p:anim>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dissolve">
                                      <p:cBhvr>
                                        <p:cTn id="35" dur="500"/>
                                        <p:tgtEl>
                                          <p:spTgt spid="63"/>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61"/>
                                        </p:tgtEl>
                                        <p:attrNameLst>
                                          <p:attrName>style.visibility</p:attrName>
                                        </p:attrNameLst>
                                      </p:cBhvr>
                                      <p:to>
                                        <p:strVal val="visible"/>
                                      </p:to>
                                    </p:set>
                                    <p:anim calcmode="lin" valueType="num">
                                      <p:cBhvr>
                                        <p:cTn id="40" dur="500" fill="hold"/>
                                        <p:tgtEl>
                                          <p:spTgt spid="61"/>
                                        </p:tgtEl>
                                        <p:attrNameLst>
                                          <p:attrName>ppt_w</p:attrName>
                                        </p:attrNameLst>
                                      </p:cBhvr>
                                      <p:tavLst>
                                        <p:tav tm="0">
                                          <p:val>
                                            <p:fltVal val="0"/>
                                          </p:val>
                                        </p:tav>
                                        <p:tav tm="100000">
                                          <p:val>
                                            <p:strVal val="#ppt_w"/>
                                          </p:val>
                                        </p:tav>
                                      </p:tavLst>
                                    </p:anim>
                                    <p:anim calcmode="lin" valueType="num">
                                      <p:cBhvr>
                                        <p:cTn id="41" dur="500" fill="hold"/>
                                        <p:tgtEl>
                                          <p:spTgt spid="61"/>
                                        </p:tgtEl>
                                        <p:attrNameLst>
                                          <p:attrName>ppt_h</p:attrName>
                                        </p:attrNameLst>
                                      </p:cBhvr>
                                      <p:tavLst>
                                        <p:tav tm="0">
                                          <p:val>
                                            <p:fltVal val="0"/>
                                          </p:val>
                                        </p:tav>
                                        <p:tav tm="100000">
                                          <p:val>
                                            <p:strVal val="#ppt_h"/>
                                          </p:val>
                                        </p:tav>
                                      </p:tavLst>
                                    </p:anim>
                                  </p:childTnLst>
                                </p:cTn>
                              </p:par>
                            </p:childTnLst>
                          </p:cTn>
                        </p:par>
                        <p:par>
                          <p:cTn id="42" fill="hold">
                            <p:stCondLst>
                              <p:cond delay="500"/>
                            </p:stCondLst>
                            <p:childTnLst>
                              <p:par>
                                <p:cTn id="43" presetID="9" presetClass="entr" presetSubtype="0" fill="hold" nodeType="after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dissolve">
                                      <p:cBhvr>
                                        <p:cTn id="45" dur="500"/>
                                        <p:tgtEl>
                                          <p:spTgt spid="74"/>
                                        </p:tgtEl>
                                      </p:cBhvr>
                                    </p:animEffect>
                                  </p:childTnLst>
                                </p:cTn>
                              </p:par>
                            </p:childTnLst>
                          </p:cTn>
                        </p:par>
                      </p:childTnLst>
                    </p:cTn>
                  </p:par>
                  <p:par>
                    <p:cTn id="46" fill="hold">
                      <p:stCondLst>
                        <p:cond delay="indefinite"/>
                      </p:stCondLst>
                      <p:childTnLst>
                        <p:par>
                          <p:cTn id="47" fill="hold">
                            <p:stCondLst>
                              <p:cond delay="0"/>
                            </p:stCondLst>
                            <p:childTnLst>
                              <p:par>
                                <p:cTn id="48" presetID="23" presetClass="entr" presetSubtype="16" fill="hold" nodeType="clickEffect">
                                  <p:stCondLst>
                                    <p:cond delay="0"/>
                                  </p:stCondLst>
                                  <p:childTnLst>
                                    <p:set>
                                      <p:cBhvr>
                                        <p:cTn id="49" dur="1" fill="hold">
                                          <p:stCondLst>
                                            <p:cond delay="0"/>
                                          </p:stCondLst>
                                        </p:cTn>
                                        <p:tgtEl>
                                          <p:spTgt spid="57"/>
                                        </p:tgtEl>
                                        <p:attrNameLst>
                                          <p:attrName>style.visibility</p:attrName>
                                        </p:attrNameLst>
                                      </p:cBhvr>
                                      <p:to>
                                        <p:strVal val="visible"/>
                                      </p:to>
                                    </p:set>
                                    <p:anim calcmode="lin" valueType="num">
                                      <p:cBhvr>
                                        <p:cTn id="50" dur="500" fill="hold"/>
                                        <p:tgtEl>
                                          <p:spTgt spid="57"/>
                                        </p:tgtEl>
                                        <p:attrNameLst>
                                          <p:attrName>ppt_w</p:attrName>
                                        </p:attrNameLst>
                                      </p:cBhvr>
                                      <p:tavLst>
                                        <p:tav tm="0">
                                          <p:val>
                                            <p:fltVal val="0"/>
                                          </p:val>
                                        </p:tav>
                                        <p:tav tm="100000">
                                          <p:val>
                                            <p:strVal val="#ppt_w"/>
                                          </p:val>
                                        </p:tav>
                                      </p:tavLst>
                                    </p:anim>
                                    <p:anim calcmode="lin" valueType="num">
                                      <p:cBhvr>
                                        <p:cTn id="51" dur="500" fill="hold"/>
                                        <p:tgtEl>
                                          <p:spTgt spid="57"/>
                                        </p:tgtEl>
                                        <p:attrNameLst>
                                          <p:attrName>ppt_h</p:attrName>
                                        </p:attrNameLst>
                                      </p:cBhvr>
                                      <p:tavLst>
                                        <p:tav tm="0">
                                          <p:val>
                                            <p:fltVal val="0"/>
                                          </p:val>
                                        </p:tav>
                                        <p:tav tm="100000">
                                          <p:val>
                                            <p:strVal val="#ppt_h"/>
                                          </p:val>
                                        </p:tav>
                                      </p:tavLst>
                                    </p:anim>
                                  </p:childTnLst>
                                </p:cTn>
                              </p:par>
                            </p:childTnLst>
                          </p:cTn>
                        </p:par>
                        <p:par>
                          <p:cTn id="52" fill="hold">
                            <p:stCondLst>
                              <p:cond delay="500"/>
                            </p:stCondLst>
                            <p:childTnLst>
                              <p:par>
                                <p:cTn id="53" presetID="23" presetClass="entr" presetSubtype="16" fill="hold" nodeType="afterEffect">
                                  <p:stCondLst>
                                    <p:cond delay="0"/>
                                  </p:stCondLst>
                                  <p:childTnLst>
                                    <p:set>
                                      <p:cBhvr>
                                        <p:cTn id="54" dur="1" fill="hold">
                                          <p:stCondLst>
                                            <p:cond delay="0"/>
                                          </p:stCondLst>
                                        </p:cTn>
                                        <p:tgtEl>
                                          <p:spTgt spid="71"/>
                                        </p:tgtEl>
                                        <p:attrNameLst>
                                          <p:attrName>style.visibility</p:attrName>
                                        </p:attrNameLst>
                                      </p:cBhvr>
                                      <p:to>
                                        <p:strVal val="visible"/>
                                      </p:to>
                                    </p:set>
                                    <p:anim calcmode="lin" valueType="num">
                                      <p:cBhvr>
                                        <p:cTn id="55" dur="500" fill="hold"/>
                                        <p:tgtEl>
                                          <p:spTgt spid="71"/>
                                        </p:tgtEl>
                                        <p:attrNameLst>
                                          <p:attrName>ppt_w</p:attrName>
                                        </p:attrNameLst>
                                      </p:cBhvr>
                                      <p:tavLst>
                                        <p:tav tm="0">
                                          <p:val>
                                            <p:fltVal val="0"/>
                                          </p:val>
                                        </p:tav>
                                        <p:tav tm="100000">
                                          <p:val>
                                            <p:strVal val="#ppt_w"/>
                                          </p:val>
                                        </p:tav>
                                      </p:tavLst>
                                    </p:anim>
                                    <p:anim calcmode="lin" valueType="num">
                                      <p:cBhvr>
                                        <p:cTn id="56" dur="500" fill="hold"/>
                                        <p:tgtEl>
                                          <p:spTgt spid="71"/>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dissolve">
                                      <p:cBhvr>
                                        <p:cTn id="61" dur="500"/>
                                        <p:tgtEl>
                                          <p:spTgt spid="68"/>
                                        </p:tgtEl>
                                      </p:cBhvr>
                                    </p:animEffect>
                                  </p:childTnLst>
                                </p:cTn>
                              </p:par>
                            </p:childTnLst>
                          </p:cTn>
                        </p:par>
                        <p:par>
                          <p:cTn id="62" fill="hold">
                            <p:stCondLst>
                              <p:cond delay="500"/>
                            </p:stCondLst>
                            <p:childTnLst>
                              <p:par>
                                <p:cTn id="63" presetID="23" presetClass="entr" presetSubtype="16" fill="hold" nodeType="afterEffect">
                                  <p:stCondLst>
                                    <p:cond delay="0"/>
                                  </p:stCondLst>
                                  <p:childTnLst>
                                    <p:set>
                                      <p:cBhvr>
                                        <p:cTn id="64" dur="1" fill="hold">
                                          <p:stCondLst>
                                            <p:cond delay="0"/>
                                          </p:stCondLst>
                                        </p:cTn>
                                        <p:tgtEl>
                                          <p:spTgt spid="77"/>
                                        </p:tgtEl>
                                        <p:attrNameLst>
                                          <p:attrName>style.visibility</p:attrName>
                                        </p:attrNameLst>
                                      </p:cBhvr>
                                      <p:to>
                                        <p:strVal val="visible"/>
                                      </p:to>
                                    </p:set>
                                    <p:anim calcmode="lin" valueType="num">
                                      <p:cBhvr>
                                        <p:cTn id="65" dur="500" fill="hold"/>
                                        <p:tgtEl>
                                          <p:spTgt spid="77"/>
                                        </p:tgtEl>
                                        <p:attrNameLst>
                                          <p:attrName>ppt_w</p:attrName>
                                        </p:attrNameLst>
                                      </p:cBhvr>
                                      <p:tavLst>
                                        <p:tav tm="0">
                                          <p:val>
                                            <p:fltVal val="0"/>
                                          </p:val>
                                        </p:tav>
                                        <p:tav tm="100000">
                                          <p:val>
                                            <p:strVal val="#ppt_w"/>
                                          </p:val>
                                        </p:tav>
                                      </p:tavLst>
                                    </p:anim>
                                    <p:anim calcmode="lin" valueType="num">
                                      <p:cBhvr>
                                        <p:cTn id="66" dur="500" fill="hold"/>
                                        <p:tgtEl>
                                          <p:spTgt spid="77"/>
                                        </p:tgtEl>
                                        <p:attrNameLst>
                                          <p:attrName>ppt_h</p:attrName>
                                        </p:attrNameLst>
                                      </p:cBhvr>
                                      <p:tavLst>
                                        <p:tav tm="0">
                                          <p:val>
                                            <p:fltVal val="0"/>
                                          </p:val>
                                        </p:tav>
                                        <p:tav tm="100000">
                                          <p:val>
                                            <p:strVal val="#ppt_h"/>
                                          </p:val>
                                        </p:tav>
                                      </p:tavLst>
                                    </p:anim>
                                  </p:childTnLst>
                                </p:cTn>
                              </p:par>
                            </p:childTnLst>
                          </p:cTn>
                        </p:par>
                        <p:par>
                          <p:cTn id="67" fill="hold">
                            <p:stCondLst>
                              <p:cond delay="1000"/>
                            </p:stCondLst>
                            <p:childTnLst>
                              <p:par>
                                <p:cTn id="68" presetID="23" presetClass="entr" presetSubtype="16" fill="hold" nodeType="afterEffect">
                                  <p:stCondLst>
                                    <p:cond delay="0"/>
                                  </p:stCondLst>
                                  <p:childTnLst>
                                    <p:set>
                                      <p:cBhvr>
                                        <p:cTn id="69" dur="1" fill="hold">
                                          <p:stCondLst>
                                            <p:cond delay="0"/>
                                          </p:stCondLst>
                                        </p:cTn>
                                        <p:tgtEl>
                                          <p:spTgt spid="80"/>
                                        </p:tgtEl>
                                        <p:attrNameLst>
                                          <p:attrName>style.visibility</p:attrName>
                                        </p:attrNameLst>
                                      </p:cBhvr>
                                      <p:to>
                                        <p:strVal val="visible"/>
                                      </p:to>
                                    </p:set>
                                    <p:anim calcmode="lin" valueType="num">
                                      <p:cBhvr>
                                        <p:cTn id="70" dur="500" fill="hold"/>
                                        <p:tgtEl>
                                          <p:spTgt spid="80"/>
                                        </p:tgtEl>
                                        <p:attrNameLst>
                                          <p:attrName>ppt_w</p:attrName>
                                        </p:attrNameLst>
                                      </p:cBhvr>
                                      <p:tavLst>
                                        <p:tav tm="0">
                                          <p:val>
                                            <p:fltVal val="0"/>
                                          </p:val>
                                        </p:tav>
                                        <p:tav tm="100000">
                                          <p:val>
                                            <p:strVal val="#ppt_w"/>
                                          </p:val>
                                        </p:tav>
                                      </p:tavLst>
                                    </p:anim>
                                    <p:anim calcmode="lin" valueType="num">
                                      <p:cBhvr>
                                        <p:cTn id="71" dur="500" fill="hold"/>
                                        <p:tgtEl>
                                          <p:spTgt spid="80"/>
                                        </p:tgtEl>
                                        <p:attrNameLst>
                                          <p:attrName>ppt_h</p:attrName>
                                        </p:attrNameLst>
                                      </p:cBhvr>
                                      <p:tavLst>
                                        <p:tav tm="0">
                                          <p:val>
                                            <p:fltVal val="0"/>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90"/>
                                        </p:tgtEl>
                                        <p:attrNameLst>
                                          <p:attrName>style.visibility</p:attrName>
                                        </p:attrNameLst>
                                      </p:cBhvr>
                                      <p:to>
                                        <p:strVal val="visible"/>
                                      </p:to>
                                    </p:set>
                                    <p:animEffect transition="in" filter="dissolve">
                                      <p:cBhvr>
                                        <p:cTn id="76" dur="500"/>
                                        <p:tgtEl>
                                          <p:spTgt spid="90"/>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91"/>
                                        </p:tgtEl>
                                        <p:attrNameLst>
                                          <p:attrName>style.visibility</p:attrName>
                                        </p:attrNameLst>
                                      </p:cBhvr>
                                      <p:to>
                                        <p:strVal val="visible"/>
                                      </p:to>
                                    </p:set>
                                    <p:animEffect transition="in" filter="dissolve">
                                      <p:cBhvr>
                                        <p:cTn id="81" dur="500"/>
                                        <p:tgtEl>
                                          <p:spTgt spid="91"/>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88"/>
                                        </p:tgtEl>
                                        <p:attrNameLst>
                                          <p:attrName>style.visibility</p:attrName>
                                        </p:attrNameLst>
                                      </p:cBhvr>
                                      <p:to>
                                        <p:strVal val="visible"/>
                                      </p:to>
                                    </p:set>
                                    <p:animEffect transition="in" filter="dissolve">
                                      <p:cBhvr>
                                        <p:cTn id="86" dur="500"/>
                                        <p:tgtEl>
                                          <p:spTgt spid="88"/>
                                        </p:tgtEl>
                                      </p:cBhvr>
                                    </p:animEffect>
                                  </p:childTnLst>
                                </p:cTn>
                              </p:par>
                            </p:childTnLst>
                          </p:cTn>
                        </p:par>
                        <p:par>
                          <p:cTn id="87" fill="hold">
                            <p:stCondLst>
                              <p:cond delay="500"/>
                            </p:stCondLst>
                            <p:childTnLst>
                              <p:par>
                                <p:cTn id="88" presetID="12" presetClass="entr" presetSubtype="1" fill="hold" grpId="0" nodeType="afterEffect">
                                  <p:stCondLst>
                                    <p:cond delay="0"/>
                                  </p:stCondLst>
                                  <p:childTnLst>
                                    <p:set>
                                      <p:cBhvr>
                                        <p:cTn id="89" dur="1" fill="hold">
                                          <p:stCondLst>
                                            <p:cond delay="0"/>
                                          </p:stCondLst>
                                        </p:cTn>
                                        <p:tgtEl>
                                          <p:spTgt spid="89"/>
                                        </p:tgtEl>
                                        <p:attrNameLst>
                                          <p:attrName>style.visibility</p:attrName>
                                        </p:attrNameLst>
                                      </p:cBhvr>
                                      <p:to>
                                        <p:strVal val="visible"/>
                                      </p:to>
                                    </p:set>
                                    <p:animEffect transition="in" filter="slide(fromTop)">
                                      <p:cBhvr>
                                        <p:cTn id="90"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55" grpId="0" animBg="1" autoUpdateAnimBg="0"/>
      <p:bldP spid="56" grpId="0" animBg="1" autoUpdateAnimBg="0"/>
      <p:bldP spid="59" grpId="0" animBg="1" autoUpdateAnimBg="0"/>
      <p:bldP spid="60" grpId="0" animBg="1" autoUpdateAnimBg="0"/>
      <p:bldP spid="61" grpId="0" animBg="1" autoUpdateAnimBg="0"/>
      <p:bldP spid="88" grpId="0" animBg="1" autoUpdateAnimBg="0"/>
      <p:bldP spid="89" grpId="0" animBg="1"/>
      <p:bldP spid="90" grpId="0" animBg="1" autoUpdateAnimBg="0"/>
      <p:bldP spid="91"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计算机系统中的死锁</a:t>
            </a: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死锁的起因</a:t>
              </a:r>
            </a:p>
          </p:txBody>
        </p:sp>
      </p:grpSp>
      <p:sp>
        <p:nvSpPr>
          <p:cNvPr id="34" name="文本框 19"/>
          <p:cNvSpPr txBox="1">
            <a:spLocks noChangeArrowheads="1"/>
          </p:cNvSpPr>
          <p:nvPr/>
        </p:nvSpPr>
        <p:spPr bwMode="auto">
          <a:xfrm>
            <a:off x="1080452" y="1904879"/>
            <a:ext cx="102917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800" dirty="0">
                <a:latin typeface="Times New Roman" pitchFamily="18" charset="0"/>
              </a:rPr>
              <a:t>源于多个进程对资源的竞争，包括不可抢占性资源和可消耗性资源。</a:t>
            </a:r>
          </a:p>
        </p:txBody>
      </p:sp>
      <p:sp>
        <p:nvSpPr>
          <p:cNvPr id="35" name="文本框 54"/>
          <p:cNvSpPr txBox="1">
            <a:spLocks noChangeArrowheads="1"/>
          </p:cNvSpPr>
          <p:nvPr/>
        </p:nvSpPr>
        <p:spPr bwMode="auto">
          <a:xfrm>
            <a:off x="1107897" y="3050696"/>
            <a:ext cx="4682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595959"/>
                </a:solidFill>
                <a:latin typeface="微软雅黑" panose="020B0503020204020204" pitchFamily="34" charset="-122"/>
                <a:ea typeface="微软雅黑" panose="020B0503020204020204" pitchFamily="34" charset="-122"/>
              </a:rPr>
              <a:t>1</a:t>
            </a:r>
            <a:r>
              <a:rPr lang="zh-CN" altLang="en-US" sz="2400" b="1" dirty="0">
                <a:solidFill>
                  <a:srgbClr val="595959"/>
                </a:solidFill>
                <a:latin typeface="微软雅黑" panose="020B0503020204020204" pitchFamily="34" charset="-122"/>
                <a:ea typeface="微软雅黑" panose="020B0503020204020204" pitchFamily="34" charset="-122"/>
              </a:rPr>
              <a:t>）竞争不可抢占性资源引起死锁</a:t>
            </a:r>
          </a:p>
        </p:txBody>
      </p:sp>
      <p:sp>
        <p:nvSpPr>
          <p:cNvPr id="66" name="文本框 54"/>
          <p:cNvSpPr txBox="1">
            <a:spLocks noChangeArrowheads="1"/>
          </p:cNvSpPr>
          <p:nvPr/>
        </p:nvSpPr>
        <p:spPr bwMode="auto">
          <a:xfrm>
            <a:off x="1108479" y="3603206"/>
            <a:ext cx="4374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595959"/>
                </a:solidFill>
                <a:latin typeface="微软雅黑" panose="020B0503020204020204" pitchFamily="34" charset="-122"/>
                <a:ea typeface="微软雅黑" panose="020B0503020204020204" pitchFamily="34" charset="-122"/>
              </a:rPr>
              <a:t>2</a:t>
            </a:r>
            <a:r>
              <a:rPr lang="zh-CN" altLang="en-US" sz="2400" b="1" dirty="0">
                <a:solidFill>
                  <a:srgbClr val="595959"/>
                </a:solidFill>
                <a:latin typeface="微软雅黑" panose="020B0503020204020204" pitchFamily="34" charset="-122"/>
                <a:ea typeface="微软雅黑" panose="020B0503020204020204" pitchFamily="34" charset="-122"/>
              </a:rPr>
              <a:t>）竞争可消耗性资源引起死锁</a:t>
            </a:r>
          </a:p>
        </p:txBody>
      </p:sp>
      <p:sp>
        <p:nvSpPr>
          <p:cNvPr id="39" name="文本框 54"/>
          <p:cNvSpPr txBox="1">
            <a:spLocks noChangeArrowheads="1"/>
          </p:cNvSpPr>
          <p:nvPr/>
        </p:nvSpPr>
        <p:spPr bwMode="auto">
          <a:xfrm>
            <a:off x="1114217" y="4182326"/>
            <a:ext cx="3759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595959"/>
                </a:solidFill>
                <a:latin typeface="微软雅黑" panose="020B0503020204020204" pitchFamily="34" charset="-122"/>
                <a:ea typeface="微软雅黑" panose="020B0503020204020204" pitchFamily="34" charset="-122"/>
              </a:rPr>
              <a:t>3</a:t>
            </a:r>
            <a:r>
              <a:rPr lang="zh-CN" altLang="en-US" sz="2400" b="1" dirty="0">
                <a:solidFill>
                  <a:srgbClr val="595959"/>
                </a:solidFill>
                <a:latin typeface="微软雅黑" panose="020B0503020204020204" pitchFamily="34" charset="-122"/>
                <a:ea typeface="微软雅黑" panose="020B0503020204020204" pitchFamily="34" charset="-122"/>
              </a:rPr>
              <a:t>）进程推进不当引起死锁</a:t>
            </a:r>
          </a:p>
        </p:txBody>
      </p:sp>
    </p:spTree>
    <p:extLst>
      <p:ext uri="{BB962C8B-B14F-4D97-AF65-F5344CB8AC3E}">
        <p14:creationId xmlns:p14="http://schemas.microsoft.com/office/powerpoint/2010/main" val="52374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strVal val="#ppt_w+.3"/>
                                          </p:val>
                                        </p:tav>
                                        <p:tav tm="100000">
                                          <p:val>
                                            <p:strVal val="#ppt_w"/>
                                          </p:val>
                                        </p:tav>
                                      </p:tavLst>
                                    </p:anim>
                                    <p:anim calcmode="lin" valueType="num">
                                      <p:cBhvr>
                                        <p:cTn id="8" dur="500" fill="hold"/>
                                        <p:tgtEl>
                                          <p:spTgt spid="39"/>
                                        </p:tgtEl>
                                        <p:attrNameLst>
                                          <p:attrName>ppt_h</p:attrName>
                                        </p:attrNameLst>
                                      </p:cBhvr>
                                      <p:tavLst>
                                        <p:tav tm="0">
                                          <p:val>
                                            <p:strVal val="#ppt_h"/>
                                          </p:val>
                                        </p:tav>
                                        <p:tav tm="100000">
                                          <p:val>
                                            <p:strVal val="#ppt_h"/>
                                          </p:val>
                                        </p:tav>
                                      </p:tavLst>
                                    </p:anim>
                                    <p:animEffect transition="in" filter="fade">
                                      <p:cBhvr>
                                        <p:cTn id="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231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计算机系统中的死锁</a:t>
            </a:r>
          </a:p>
        </p:txBody>
      </p:sp>
      <p:sp>
        <p:nvSpPr>
          <p:cNvPr id="12" name="Line 6"/>
          <p:cNvSpPr>
            <a:spLocks noChangeShapeType="1"/>
          </p:cNvSpPr>
          <p:nvPr/>
        </p:nvSpPr>
        <p:spPr bwMode="auto">
          <a:xfrm>
            <a:off x="2484438" y="5423218"/>
            <a:ext cx="74676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7"/>
          <p:cNvSpPr>
            <a:spLocks noChangeShapeType="1"/>
          </p:cNvSpPr>
          <p:nvPr/>
        </p:nvSpPr>
        <p:spPr bwMode="auto">
          <a:xfrm flipV="1">
            <a:off x="2484438" y="927418"/>
            <a:ext cx="0" cy="44958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8"/>
          <p:cNvSpPr>
            <a:spLocks noChangeShapeType="1"/>
          </p:cNvSpPr>
          <p:nvPr/>
        </p:nvSpPr>
        <p:spPr bwMode="auto">
          <a:xfrm>
            <a:off x="2789238" y="5042218"/>
            <a:ext cx="6629400" cy="0"/>
          </a:xfrm>
          <a:prstGeom prst="line">
            <a:avLst/>
          </a:prstGeom>
          <a:noFill/>
          <a:ln w="38100">
            <a:solidFill>
              <a:schemeClr val="accent2">
                <a:lumMod val="75000"/>
              </a:schemeClr>
            </a:solidFill>
            <a:round/>
            <a:headEnd type="none" w="sm" len="sm"/>
            <a:tailEnd type="none" w="sm" len="sm"/>
          </a:ln>
          <a:effectLst/>
        </p:spPr>
        <p:txBody>
          <a:bodyPr wrap="none" anchor="ctr"/>
          <a:lstStyle/>
          <a:p>
            <a:pPr algn="l">
              <a:defRPr/>
            </a:pPr>
            <a:endParaRPr lang="zh-CN" altLang="en-US" sz="1400">
              <a:solidFill>
                <a:schemeClr val="tx1"/>
              </a:solidFill>
              <a:latin typeface="Arial" charset="0"/>
            </a:endParaRPr>
          </a:p>
        </p:txBody>
      </p:sp>
      <p:sp>
        <p:nvSpPr>
          <p:cNvPr id="16" name="Line 9"/>
          <p:cNvSpPr>
            <a:spLocks noChangeShapeType="1"/>
          </p:cNvSpPr>
          <p:nvPr/>
        </p:nvSpPr>
        <p:spPr bwMode="auto">
          <a:xfrm flipV="1">
            <a:off x="9418638" y="1384618"/>
            <a:ext cx="0" cy="3657600"/>
          </a:xfrm>
          <a:prstGeom prst="line">
            <a:avLst/>
          </a:prstGeom>
          <a:noFill/>
          <a:ln w="38100">
            <a:solidFill>
              <a:schemeClr val="accent2">
                <a:lumMod val="75000"/>
              </a:schemeClr>
            </a:solidFill>
            <a:round/>
            <a:headEnd type="none" w="sm" len="sm"/>
            <a:tailEnd type="none" w="sm" len="sm"/>
          </a:ln>
          <a:effectLst/>
        </p:spPr>
        <p:txBody>
          <a:bodyPr wrap="none" anchor="ctr"/>
          <a:lstStyle/>
          <a:p>
            <a:pPr algn="l">
              <a:defRPr/>
            </a:pPr>
            <a:endParaRPr lang="zh-CN" altLang="en-US" sz="1400">
              <a:solidFill>
                <a:schemeClr val="tx1"/>
              </a:solidFill>
              <a:latin typeface="Arial" charset="0"/>
            </a:endParaRPr>
          </a:p>
        </p:txBody>
      </p:sp>
      <p:sp>
        <p:nvSpPr>
          <p:cNvPr id="17" name="Line 10"/>
          <p:cNvSpPr>
            <a:spLocks noChangeShapeType="1"/>
          </p:cNvSpPr>
          <p:nvPr/>
        </p:nvSpPr>
        <p:spPr bwMode="auto">
          <a:xfrm flipV="1">
            <a:off x="2789238" y="1384618"/>
            <a:ext cx="0" cy="3657600"/>
          </a:xfrm>
          <a:prstGeom prst="line">
            <a:avLst/>
          </a:prstGeom>
          <a:noFill/>
          <a:ln w="38100">
            <a:solidFill>
              <a:schemeClr val="bg2">
                <a:lumMod val="50000"/>
              </a:schemeClr>
            </a:solidFill>
            <a:round/>
            <a:headEnd type="none" w="sm" len="sm"/>
            <a:tailEnd type="none" w="sm" len="sm"/>
          </a:ln>
          <a:effectLst/>
        </p:spPr>
        <p:txBody>
          <a:bodyPr wrap="none" anchor="ctr"/>
          <a:lstStyle/>
          <a:p>
            <a:pPr algn="l">
              <a:defRPr/>
            </a:pPr>
            <a:endParaRPr lang="zh-CN" altLang="en-US" sz="1400">
              <a:solidFill>
                <a:schemeClr val="tx1"/>
              </a:solidFill>
              <a:latin typeface="Arial" charset="0"/>
            </a:endParaRPr>
          </a:p>
        </p:txBody>
      </p:sp>
      <p:sp>
        <p:nvSpPr>
          <p:cNvPr id="18" name="Line 11"/>
          <p:cNvSpPr>
            <a:spLocks noChangeShapeType="1"/>
          </p:cNvSpPr>
          <p:nvPr/>
        </p:nvSpPr>
        <p:spPr bwMode="auto">
          <a:xfrm>
            <a:off x="2789238" y="1384618"/>
            <a:ext cx="6629400" cy="0"/>
          </a:xfrm>
          <a:prstGeom prst="line">
            <a:avLst/>
          </a:prstGeom>
          <a:noFill/>
          <a:ln w="38100">
            <a:solidFill>
              <a:schemeClr val="bg2">
                <a:lumMod val="50000"/>
              </a:schemeClr>
            </a:solidFill>
            <a:round/>
            <a:headEnd type="none" w="sm" len="sm"/>
            <a:tailEnd type="none" w="sm" len="sm"/>
          </a:ln>
          <a:effectLst/>
        </p:spPr>
        <p:txBody>
          <a:bodyPr wrap="none" anchor="ctr"/>
          <a:lstStyle/>
          <a:p>
            <a:pPr algn="l">
              <a:defRPr/>
            </a:pPr>
            <a:endParaRPr lang="zh-CN" altLang="en-US" sz="1400">
              <a:solidFill>
                <a:schemeClr val="tx1"/>
              </a:solidFill>
              <a:latin typeface="Arial" charset="0"/>
            </a:endParaRPr>
          </a:p>
        </p:txBody>
      </p:sp>
      <p:sp>
        <p:nvSpPr>
          <p:cNvPr id="19" name="Line 12"/>
          <p:cNvSpPr>
            <a:spLocks noChangeShapeType="1"/>
          </p:cNvSpPr>
          <p:nvPr/>
        </p:nvSpPr>
        <p:spPr bwMode="auto">
          <a:xfrm>
            <a:off x="3475038" y="4585018"/>
            <a:ext cx="4419600" cy="0"/>
          </a:xfrm>
          <a:prstGeom prst="line">
            <a:avLst/>
          </a:prstGeom>
          <a:noFill/>
          <a:ln w="38100">
            <a:solidFill>
              <a:srgbClr val="CC33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3"/>
          <p:cNvSpPr>
            <a:spLocks noChangeShapeType="1"/>
          </p:cNvSpPr>
          <p:nvPr/>
        </p:nvSpPr>
        <p:spPr bwMode="auto">
          <a:xfrm flipV="1">
            <a:off x="7894638" y="3518218"/>
            <a:ext cx="0" cy="1066800"/>
          </a:xfrm>
          <a:prstGeom prst="line">
            <a:avLst/>
          </a:prstGeom>
          <a:noFill/>
          <a:ln w="38100">
            <a:solidFill>
              <a:srgbClr val="CC33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4"/>
          <p:cNvSpPr>
            <a:spLocks noChangeShapeType="1"/>
          </p:cNvSpPr>
          <p:nvPr/>
        </p:nvSpPr>
        <p:spPr bwMode="auto">
          <a:xfrm flipV="1">
            <a:off x="9037638" y="1384618"/>
            <a:ext cx="0" cy="2133600"/>
          </a:xfrm>
          <a:prstGeom prst="line">
            <a:avLst/>
          </a:prstGeom>
          <a:noFill/>
          <a:ln w="38100">
            <a:solidFill>
              <a:srgbClr val="CC33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5"/>
          <p:cNvSpPr>
            <a:spLocks noChangeShapeType="1"/>
          </p:cNvSpPr>
          <p:nvPr/>
        </p:nvSpPr>
        <p:spPr bwMode="auto">
          <a:xfrm>
            <a:off x="2484438" y="3518218"/>
            <a:ext cx="6934200" cy="0"/>
          </a:xfrm>
          <a:prstGeom prst="line">
            <a:avLst/>
          </a:prstGeom>
          <a:noFill/>
          <a:ln w="381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16"/>
          <p:cNvSpPr>
            <a:spLocks noChangeShapeType="1"/>
          </p:cNvSpPr>
          <p:nvPr/>
        </p:nvSpPr>
        <p:spPr bwMode="auto">
          <a:xfrm>
            <a:off x="2484438" y="2603818"/>
            <a:ext cx="6934200" cy="0"/>
          </a:xfrm>
          <a:prstGeom prst="line">
            <a:avLst/>
          </a:prstGeom>
          <a:noFill/>
          <a:ln w="381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17"/>
          <p:cNvSpPr>
            <a:spLocks noChangeShapeType="1"/>
          </p:cNvSpPr>
          <p:nvPr/>
        </p:nvSpPr>
        <p:spPr bwMode="auto">
          <a:xfrm flipV="1">
            <a:off x="4313238" y="1765618"/>
            <a:ext cx="0" cy="3657600"/>
          </a:xfrm>
          <a:prstGeom prst="line">
            <a:avLst/>
          </a:prstGeom>
          <a:noFill/>
          <a:ln w="381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8"/>
          <p:cNvSpPr>
            <a:spLocks noChangeShapeType="1"/>
          </p:cNvSpPr>
          <p:nvPr/>
        </p:nvSpPr>
        <p:spPr bwMode="auto">
          <a:xfrm flipV="1">
            <a:off x="6142038" y="1765618"/>
            <a:ext cx="0" cy="3657600"/>
          </a:xfrm>
          <a:prstGeom prst="line">
            <a:avLst/>
          </a:prstGeom>
          <a:noFill/>
          <a:ln w="381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9"/>
          <p:cNvSpPr>
            <a:spLocks noChangeShapeType="1"/>
          </p:cNvSpPr>
          <p:nvPr/>
        </p:nvSpPr>
        <p:spPr bwMode="auto">
          <a:xfrm>
            <a:off x="8123238" y="4670743"/>
            <a:ext cx="0" cy="7620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0"/>
          <p:cNvSpPr>
            <a:spLocks noChangeShapeType="1"/>
          </p:cNvSpPr>
          <p:nvPr/>
        </p:nvSpPr>
        <p:spPr bwMode="auto">
          <a:xfrm>
            <a:off x="9037638" y="4670743"/>
            <a:ext cx="0" cy="7620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1"/>
          <p:cNvSpPr>
            <a:spLocks noChangeShapeType="1"/>
          </p:cNvSpPr>
          <p:nvPr/>
        </p:nvSpPr>
        <p:spPr bwMode="auto">
          <a:xfrm>
            <a:off x="2484438" y="1384618"/>
            <a:ext cx="228600" cy="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2"/>
          <p:cNvSpPr>
            <a:spLocks noChangeShapeType="1"/>
          </p:cNvSpPr>
          <p:nvPr/>
        </p:nvSpPr>
        <p:spPr bwMode="auto">
          <a:xfrm>
            <a:off x="2484438" y="1994218"/>
            <a:ext cx="228600" cy="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23"/>
          <p:cNvSpPr>
            <a:spLocks noChangeShapeType="1"/>
          </p:cNvSpPr>
          <p:nvPr/>
        </p:nvSpPr>
        <p:spPr bwMode="auto">
          <a:xfrm>
            <a:off x="7894638" y="3518218"/>
            <a:ext cx="1066800" cy="0"/>
          </a:xfrm>
          <a:prstGeom prst="line">
            <a:avLst/>
          </a:prstGeom>
          <a:noFill/>
          <a:ln w="38100">
            <a:solidFill>
              <a:srgbClr val="CC33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24"/>
          <p:cNvSpPr>
            <a:spLocks noChangeShapeType="1"/>
          </p:cNvSpPr>
          <p:nvPr/>
        </p:nvSpPr>
        <p:spPr bwMode="auto">
          <a:xfrm flipV="1">
            <a:off x="3475038" y="4127818"/>
            <a:ext cx="0" cy="457200"/>
          </a:xfrm>
          <a:prstGeom prst="line">
            <a:avLst/>
          </a:prstGeom>
          <a:noFill/>
          <a:ln w="5715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25"/>
          <p:cNvSpPr>
            <a:spLocks noChangeShapeType="1"/>
          </p:cNvSpPr>
          <p:nvPr/>
        </p:nvSpPr>
        <p:spPr bwMode="auto">
          <a:xfrm>
            <a:off x="3475038" y="4127818"/>
            <a:ext cx="381000" cy="0"/>
          </a:xfrm>
          <a:prstGeom prst="line">
            <a:avLst/>
          </a:prstGeom>
          <a:noFill/>
          <a:ln w="5715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26"/>
          <p:cNvSpPr>
            <a:spLocks noChangeShapeType="1"/>
          </p:cNvSpPr>
          <p:nvPr/>
        </p:nvSpPr>
        <p:spPr bwMode="auto">
          <a:xfrm flipV="1">
            <a:off x="3856038" y="3670618"/>
            <a:ext cx="0" cy="457200"/>
          </a:xfrm>
          <a:prstGeom prst="line">
            <a:avLst/>
          </a:prstGeom>
          <a:noFill/>
          <a:ln w="5715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27"/>
          <p:cNvSpPr>
            <a:spLocks noChangeShapeType="1"/>
          </p:cNvSpPr>
          <p:nvPr/>
        </p:nvSpPr>
        <p:spPr bwMode="auto">
          <a:xfrm>
            <a:off x="3856038" y="3670618"/>
            <a:ext cx="1066800" cy="0"/>
          </a:xfrm>
          <a:prstGeom prst="line">
            <a:avLst/>
          </a:prstGeom>
          <a:noFill/>
          <a:ln w="5715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30"/>
          <p:cNvSpPr>
            <a:spLocks noChangeShapeType="1"/>
          </p:cNvSpPr>
          <p:nvPr/>
        </p:nvSpPr>
        <p:spPr bwMode="auto">
          <a:xfrm>
            <a:off x="4313238" y="5347018"/>
            <a:ext cx="3810000" cy="0"/>
          </a:xfrm>
          <a:prstGeom prst="line">
            <a:avLst/>
          </a:prstGeom>
          <a:noFill/>
          <a:ln w="76200">
            <a:solidFill>
              <a:srgbClr val="CC33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31"/>
          <p:cNvSpPr>
            <a:spLocks noChangeShapeType="1"/>
          </p:cNvSpPr>
          <p:nvPr/>
        </p:nvSpPr>
        <p:spPr bwMode="auto">
          <a:xfrm>
            <a:off x="6142038" y="5499418"/>
            <a:ext cx="2895600" cy="0"/>
          </a:xfrm>
          <a:prstGeom prst="line">
            <a:avLst/>
          </a:prstGeom>
          <a:noFill/>
          <a:ln w="76200">
            <a:solidFill>
              <a:schemeClr val="bg2">
                <a:lumMod val="75000"/>
              </a:schemeClr>
            </a:solidFill>
            <a:round/>
            <a:headEnd type="none" w="sm" len="sm"/>
            <a:tailEnd type="none" w="sm" len="sm"/>
          </a:ln>
          <a:effectLst/>
        </p:spPr>
        <p:txBody>
          <a:bodyPr wrap="none" anchor="ctr"/>
          <a:lstStyle/>
          <a:p>
            <a:pPr algn="l">
              <a:defRPr/>
            </a:pPr>
            <a:endParaRPr lang="zh-CN" altLang="en-US" sz="1400">
              <a:solidFill>
                <a:schemeClr val="tx1"/>
              </a:solidFill>
              <a:latin typeface="Arial" charset="0"/>
            </a:endParaRPr>
          </a:p>
        </p:txBody>
      </p:sp>
      <p:sp>
        <p:nvSpPr>
          <p:cNvPr id="44" name="Text Box 32"/>
          <p:cNvSpPr txBox="1">
            <a:spLocks noChangeArrowheads="1"/>
          </p:cNvSpPr>
          <p:nvPr/>
        </p:nvSpPr>
        <p:spPr bwMode="auto">
          <a:xfrm>
            <a:off x="1008063" y="2384743"/>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lang="en-US" altLang="zh-CN" sz="2000" b="1">
                <a:solidFill>
                  <a:srgbClr val="CC3399"/>
                </a:solidFill>
              </a:rPr>
              <a:t>P</a:t>
            </a:r>
            <a:r>
              <a:rPr lang="en-US" altLang="zh-CN" sz="2000" b="1" baseline="-25000">
                <a:solidFill>
                  <a:srgbClr val="CC3399"/>
                </a:solidFill>
              </a:rPr>
              <a:t>2</a:t>
            </a:r>
            <a:r>
              <a:rPr lang="en-US" altLang="zh-CN" sz="2000" b="1">
                <a:solidFill>
                  <a:srgbClr val="CC3399"/>
                </a:solidFill>
              </a:rPr>
              <a:t>Req(R</a:t>
            </a:r>
            <a:r>
              <a:rPr lang="en-US" altLang="zh-CN" sz="2000" b="1" baseline="-25000">
                <a:solidFill>
                  <a:srgbClr val="CC3399"/>
                </a:solidFill>
              </a:rPr>
              <a:t>1</a:t>
            </a:r>
            <a:r>
              <a:rPr lang="en-US" altLang="zh-CN" sz="2000">
                <a:solidFill>
                  <a:srgbClr val="CC3399"/>
                </a:solidFill>
              </a:rPr>
              <a:t>)</a:t>
            </a:r>
            <a:endParaRPr lang="en-US" altLang="zh-CN" sz="2000">
              <a:solidFill>
                <a:srgbClr val="46385C"/>
              </a:solidFill>
            </a:endParaRPr>
          </a:p>
        </p:txBody>
      </p:sp>
      <p:sp>
        <p:nvSpPr>
          <p:cNvPr id="45" name="Text Box 33"/>
          <p:cNvSpPr txBox="1">
            <a:spLocks noChangeArrowheads="1"/>
          </p:cNvSpPr>
          <p:nvPr/>
        </p:nvSpPr>
        <p:spPr bwMode="auto">
          <a:xfrm>
            <a:off x="1008063" y="3275330"/>
            <a:ext cx="1676400" cy="457200"/>
          </a:xfrm>
          <a:prstGeom prst="rect">
            <a:avLst/>
          </a:prstGeom>
          <a:noFill/>
          <a:ln w="12700">
            <a:noFill/>
            <a:miter lim="800000"/>
            <a:headEnd type="none" w="sm" len="sm"/>
            <a:tailEnd type="none" w="sm" len="sm"/>
          </a:ln>
          <a:effectLst/>
        </p:spPr>
        <p:txBody>
          <a:bodyPr>
            <a:spAutoFit/>
          </a:bodyPr>
          <a:lstStyle/>
          <a:p>
            <a:pPr algn="l">
              <a:spcBef>
                <a:spcPct val="50000"/>
              </a:spcBef>
              <a:defRPr/>
            </a:pPr>
            <a:r>
              <a:rPr lang="en-US" altLang="zh-CN" sz="2000" b="1" dirty="0">
                <a:solidFill>
                  <a:srgbClr val="CC3399"/>
                </a:solidFill>
                <a:latin typeface="Arial" charset="0"/>
              </a:rPr>
              <a:t>P</a:t>
            </a:r>
            <a:r>
              <a:rPr lang="en-US" altLang="zh-CN" sz="2000" b="1" baseline="-25000" dirty="0">
                <a:solidFill>
                  <a:srgbClr val="CC3399"/>
                </a:solidFill>
                <a:latin typeface="Arial" charset="0"/>
              </a:rPr>
              <a:t>2</a:t>
            </a:r>
            <a:r>
              <a:rPr lang="en-US" altLang="zh-CN" sz="2000" b="1" dirty="0">
                <a:solidFill>
                  <a:schemeClr val="bg2">
                    <a:lumMod val="75000"/>
                  </a:schemeClr>
                </a:solidFill>
                <a:latin typeface="Arial" charset="0"/>
              </a:rPr>
              <a:t>Req(R</a:t>
            </a:r>
            <a:r>
              <a:rPr lang="en-US" altLang="zh-CN" sz="2000" b="1" baseline="-25000" dirty="0">
                <a:solidFill>
                  <a:schemeClr val="bg2">
                    <a:lumMod val="75000"/>
                  </a:schemeClr>
                </a:solidFill>
                <a:latin typeface="Arial" charset="0"/>
              </a:rPr>
              <a:t>2</a:t>
            </a:r>
            <a:r>
              <a:rPr lang="en-US" altLang="zh-CN" b="1" dirty="0">
                <a:solidFill>
                  <a:schemeClr val="bg2">
                    <a:lumMod val="75000"/>
                  </a:schemeClr>
                </a:solidFill>
                <a:latin typeface="Arial" charset="0"/>
              </a:rPr>
              <a:t>)</a:t>
            </a:r>
          </a:p>
        </p:txBody>
      </p:sp>
      <p:sp>
        <p:nvSpPr>
          <p:cNvPr id="46" name="Text Box 34"/>
          <p:cNvSpPr txBox="1">
            <a:spLocks noChangeArrowheads="1"/>
          </p:cNvSpPr>
          <p:nvPr/>
        </p:nvSpPr>
        <p:spPr bwMode="auto">
          <a:xfrm>
            <a:off x="7208838" y="1322705"/>
            <a:ext cx="609600" cy="519113"/>
          </a:xfrm>
          <a:prstGeom prst="rect">
            <a:avLst/>
          </a:prstGeom>
          <a:noFill/>
          <a:ln w="12700">
            <a:noFill/>
            <a:miter lim="800000"/>
            <a:headEnd type="none" w="sm" len="sm"/>
            <a:tailEnd type="none" w="sm" len="sm"/>
          </a:ln>
          <a:effectLst/>
        </p:spPr>
        <p:txBody>
          <a:bodyPr>
            <a:spAutoFit/>
          </a:bodyPr>
          <a:lstStyle/>
          <a:p>
            <a:pPr algn="l">
              <a:spcBef>
                <a:spcPct val="50000"/>
              </a:spcBef>
              <a:defRPr/>
            </a:pPr>
            <a:r>
              <a:rPr lang="en-US" altLang="zh-CN" sz="2800" dirty="0">
                <a:solidFill>
                  <a:schemeClr val="bg2">
                    <a:lumMod val="50000"/>
                  </a:schemeClr>
                </a:solidFill>
                <a:latin typeface="Arial" charset="0"/>
                <a:sym typeface="Wingdings" pitchFamily="2" charset="2"/>
              </a:rPr>
              <a:t></a:t>
            </a:r>
            <a:endParaRPr lang="en-US" altLang="zh-CN" sz="2800" dirty="0">
              <a:solidFill>
                <a:schemeClr val="bg2">
                  <a:lumMod val="50000"/>
                </a:schemeClr>
              </a:solidFill>
              <a:latin typeface="Arial" charset="0"/>
            </a:endParaRPr>
          </a:p>
        </p:txBody>
      </p:sp>
      <p:sp>
        <p:nvSpPr>
          <p:cNvPr id="47" name="Text Box 35"/>
          <p:cNvSpPr txBox="1">
            <a:spLocks noChangeArrowheads="1"/>
          </p:cNvSpPr>
          <p:nvPr/>
        </p:nvSpPr>
        <p:spPr bwMode="auto">
          <a:xfrm>
            <a:off x="8961438" y="2784793"/>
            <a:ext cx="609600" cy="519112"/>
          </a:xfrm>
          <a:prstGeom prst="rect">
            <a:avLst/>
          </a:prstGeom>
          <a:noFill/>
          <a:ln w="12700">
            <a:noFill/>
            <a:miter lim="800000"/>
            <a:headEnd type="none" w="sm" len="sm"/>
            <a:tailEnd type="none" w="sm" len="sm"/>
          </a:ln>
          <a:effectLst/>
        </p:spPr>
        <p:txBody>
          <a:bodyPr>
            <a:spAutoFit/>
          </a:bodyPr>
          <a:lstStyle/>
          <a:p>
            <a:pPr algn="l">
              <a:spcBef>
                <a:spcPct val="50000"/>
              </a:spcBef>
              <a:defRPr/>
            </a:pPr>
            <a:r>
              <a:rPr lang="en-US" altLang="zh-CN" sz="2800" dirty="0">
                <a:solidFill>
                  <a:schemeClr val="accent2">
                    <a:lumMod val="75000"/>
                  </a:schemeClr>
                </a:solidFill>
                <a:latin typeface="Arial" charset="0"/>
                <a:sym typeface="Wingdings" pitchFamily="2" charset="2"/>
              </a:rPr>
              <a:t></a:t>
            </a:r>
            <a:endParaRPr lang="en-US" altLang="zh-CN" sz="2800" dirty="0">
              <a:solidFill>
                <a:schemeClr val="accent2">
                  <a:lumMod val="75000"/>
                </a:schemeClr>
              </a:solidFill>
              <a:latin typeface="Arial" charset="0"/>
            </a:endParaRPr>
          </a:p>
        </p:txBody>
      </p:sp>
      <p:sp>
        <p:nvSpPr>
          <p:cNvPr id="48" name="Text Box 36"/>
          <p:cNvSpPr txBox="1">
            <a:spLocks noChangeArrowheads="1"/>
          </p:cNvSpPr>
          <p:nvPr/>
        </p:nvSpPr>
        <p:spPr bwMode="auto">
          <a:xfrm>
            <a:off x="7970838" y="3456305"/>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lang="en-US" altLang="zh-CN" sz="2800">
                <a:solidFill>
                  <a:srgbClr val="CC3399"/>
                </a:solidFill>
                <a:sym typeface="Wingdings" pitchFamily="2" charset="2"/>
              </a:rPr>
              <a:t></a:t>
            </a:r>
            <a:endParaRPr lang="en-US" altLang="zh-CN" sz="2800">
              <a:solidFill>
                <a:srgbClr val="CC3399"/>
              </a:solidFill>
            </a:endParaRPr>
          </a:p>
        </p:txBody>
      </p:sp>
      <p:sp>
        <p:nvSpPr>
          <p:cNvPr id="49" name="Text Box 37"/>
          <p:cNvSpPr txBox="1">
            <a:spLocks noChangeArrowheads="1"/>
          </p:cNvSpPr>
          <p:nvPr/>
        </p:nvSpPr>
        <p:spPr bwMode="auto">
          <a:xfrm>
            <a:off x="4389438" y="3622993"/>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lang="en-US" altLang="zh-CN" sz="2800">
                <a:solidFill>
                  <a:srgbClr val="FF3300"/>
                </a:solidFill>
                <a:sym typeface="Wingdings" pitchFamily="2" charset="2"/>
              </a:rPr>
              <a:t></a:t>
            </a:r>
            <a:endParaRPr lang="en-US" altLang="zh-CN" sz="2800">
              <a:solidFill>
                <a:srgbClr val="FF3300"/>
              </a:solidFill>
            </a:endParaRPr>
          </a:p>
        </p:txBody>
      </p:sp>
      <p:sp>
        <p:nvSpPr>
          <p:cNvPr id="50" name="Line 39"/>
          <p:cNvSpPr>
            <a:spLocks noChangeShapeType="1"/>
          </p:cNvSpPr>
          <p:nvPr/>
        </p:nvSpPr>
        <p:spPr bwMode="auto">
          <a:xfrm flipH="1" flipV="1">
            <a:off x="2560638" y="1384618"/>
            <a:ext cx="0" cy="1219200"/>
          </a:xfrm>
          <a:prstGeom prst="line">
            <a:avLst/>
          </a:prstGeom>
          <a:noFill/>
          <a:ln w="76200">
            <a:solidFill>
              <a:srgbClr val="CC33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40"/>
          <p:cNvSpPr>
            <a:spLocks noChangeShapeType="1"/>
          </p:cNvSpPr>
          <p:nvPr/>
        </p:nvSpPr>
        <p:spPr bwMode="auto">
          <a:xfrm flipV="1">
            <a:off x="2636838" y="1994218"/>
            <a:ext cx="0" cy="1524000"/>
          </a:xfrm>
          <a:prstGeom prst="line">
            <a:avLst/>
          </a:prstGeom>
          <a:noFill/>
          <a:ln w="76200">
            <a:solidFill>
              <a:schemeClr val="bg2">
                <a:lumMod val="75000"/>
              </a:schemeClr>
            </a:solidFill>
            <a:round/>
            <a:headEnd type="none" w="sm" len="sm"/>
            <a:tailEnd type="none" w="sm" len="sm"/>
          </a:ln>
          <a:effectLst/>
        </p:spPr>
        <p:txBody>
          <a:bodyPr wrap="none" anchor="ctr"/>
          <a:lstStyle/>
          <a:p>
            <a:pPr algn="l">
              <a:defRPr/>
            </a:pPr>
            <a:endParaRPr lang="zh-CN" altLang="en-US" sz="1400">
              <a:solidFill>
                <a:schemeClr val="tx1"/>
              </a:solidFill>
              <a:latin typeface="Arial" charset="0"/>
            </a:endParaRPr>
          </a:p>
        </p:txBody>
      </p:sp>
      <p:sp>
        <p:nvSpPr>
          <p:cNvPr id="52" name="Text Box 41"/>
          <p:cNvSpPr txBox="1">
            <a:spLocks noChangeArrowheads="1"/>
          </p:cNvSpPr>
          <p:nvPr/>
        </p:nvSpPr>
        <p:spPr bwMode="auto">
          <a:xfrm>
            <a:off x="1093788" y="1165543"/>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lang="en-US" altLang="zh-CN" sz="2000" b="1">
                <a:solidFill>
                  <a:srgbClr val="CC3399"/>
                </a:solidFill>
              </a:rPr>
              <a:t>P</a:t>
            </a:r>
            <a:r>
              <a:rPr lang="en-US" altLang="zh-CN" sz="2000" b="1" baseline="-25000">
                <a:solidFill>
                  <a:srgbClr val="CC3399"/>
                </a:solidFill>
              </a:rPr>
              <a:t>2</a:t>
            </a:r>
            <a:r>
              <a:rPr lang="en-US" altLang="zh-CN" sz="2000" b="1">
                <a:solidFill>
                  <a:srgbClr val="CC3399"/>
                </a:solidFill>
              </a:rPr>
              <a:t>Rel(R</a:t>
            </a:r>
            <a:r>
              <a:rPr lang="en-US" altLang="zh-CN" sz="2000" b="1" baseline="-25000">
                <a:solidFill>
                  <a:srgbClr val="CC3399"/>
                </a:solidFill>
              </a:rPr>
              <a:t>1</a:t>
            </a:r>
            <a:r>
              <a:rPr lang="en-US" altLang="zh-CN" sz="2000" b="1">
                <a:solidFill>
                  <a:srgbClr val="CC3399"/>
                </a:solidFill>
              </a:rPr>
              <a:t>)</a:t>
            </a:r>
            <a:endParaRPr lang="en-US" altLang="zh-CN" sz="2000" b="1">
              <a:solidFill>
                <a:srgbClr val="46385C"/>
              </a:solidFill>
            </a:endParaRPr>
          </a:p>
        </p:txBody>
      </p:sp>
      <p:sp>
        <p:nvSpPr>
          <p:cNvPr id="53" name="Text Box 42"/>
          <p:cNvSpPr txBox="1">
            <a:spLocks noChangeArrowheads="1"/>
          </p:cNvSpPr>
          <p:nvPr/>
        </p:nvSpPr>
        <p:spPr bwMode="auto">
          <a:xfrm>
            <a:off x="1112838" y="1784668"/>
            <a:ext cx="1676400" cy="396875"/>
          </a:xfrm>
          <a:prstGeom prst="rect">
            <a:avLst/>
          </a:prstGeom>
          <a:noFill/>
          <a:ln w="12700">
            <a:noFill/>
            <a:miter lim="800000"/>
            <a:headEnd type="none" w="sm" len="sm"/>
            <a:tailEnd type="none" w="sm" len="sm"/>
          </a:ln>
          <a:effectLst/>
        </p:spPr>
        <p:txBody>
          <a:bodyPr>
            <a:spAutoFit/>
          </a:bodyPr>
          <a:lstStyle/>
          <a:p>
            <a:pPr algn="l">
              <a:spcBef>
                <a:spcPct val="50000"/>
              </a:spcBef>
              <a:defRPr/>
            </a:pPr>
            <a:r>
              <a:rPr lang="en-US" altLang="zh-CN" sz="2000" b="1" dirty="0">
                <a:solidFill>
                  <a:srgbClr val="CC3399"/>
                </a:solidFill>
                <a:latin typeface="Arial" charset="0"/>
              </a:rPr>
              <a:t>P</a:t>
            </a:r>
            <a:r>
              <a:rPr lang="en-US" altLang="zh-CN" sz="2000" b="1" baseline="-25000" dirty="0">
                <a:solidFill>
                  <a:srgbClr val="CC3399"/>
                </a:solidFill>
                <a:latin typeface="Arial" charset="0"/>
              </a:rPr>
              <a:t>2</a:t>
            </a:r>
            <a:r>
              <a:rPr lang="en-US" altLang="zh-CN" sz="2000" b="1" dirty="0">
                <a:solidFill>
                  <a:schemeClr val="bg2">
                    <a:lumMod val="75000"/>
                  </a:schemeClr>
                </a:solidFill>
                <a:latin typeface="Arial" charset="0"/>
              </a:rPr>
              <a:t>Rel(R</a:t>
            </a:r>
            <a:r>
              <a:rPr lang="en-US" altLang="zh-CN" sz="2000" b="1" baseline="-25000" dirty="0">
                <a:solidFill>
                  <a:schemeClr val="bg2">
                    <a:lumMod val="75000"/>
                  </a:schemeClr>
                </a:solidFill>
                <a:latin typeface="Arial" charset="0"/>
              </a:rPr>
              <a:t>2</a:t>
            </a:r>
            <a:r>
              <a:rPr lang="en-US" altLang="zh-CN" sz="2000" dirty="0">
                <a:solidFill>
                  <a:schemeClr val="bg2">
                    <a:lumMod val="75000"/>
                  </a:schemeClr>
                </a:solidFill>
                <a:latin typeface="Arial" charset="0"/>
              </a:rPr>
              <a:t>)</a:t>
            </a:r>
          </a:p>
        </p:txBody>
      </p:sp>
      <p:sp>
        <p:nvSpPr>
          <p:cNvPr id="54" name="AutoShape 46"/>
          <p:cNvSpPr>
            <a:spLocks noChangeArrowheads="1"/>
          </p:cNvSpPr>
          <p:nvPr/>
        </p:nvSpPr>
        <p:spPr bwMode="auto">
          <a:xfrm>
            <a:off x="6446838" y="2222818"/>
            <a:ext cx="2133600" cy="914400"/>
          </a:xfrm>
          <a:prstGeom prst="wedgeRoundRectCallout">
            <a:avLst>
              <a:gd name="adj1" fmla="val -67708"/>
              <a:gd name="adj2" fmla="val 48611"/>
              <a:gd name="adj3" fmla="val 16667"/>
            </a:avLst>
          </a:prstGeom>
          <a:solidFill>
            <a:schemeClr val="accent1"/>
          </a:solidFill>
          <a:ln w="12700">
            <a:solidFill>
              <a:schemeClr val="tx1"/>
            </a:solidFill>
            <a:miter lim="800000"/>
            <a:headEnd/>
            <a:tailEnd/>
          </a:ln>
          <a:effectLst>
            <a:outerShdw dist="53882" dir="2700000" algn="ctr" rotWithShape="0">
              <a:schemeClr val="tx1"/>
            </a:outerShdw>
          </a:effectLst>
        </p:spPr>
        <p:txBody>
          <a:bodyPr anchor="ctr"/>
          <a:lstStyle/>
          <a:p>
            <a:pPr>
              <a:defRPr/>
            </a:pPr>
            <a:r>
              <a:rPr lang="zh-CN" altLang="en-US" b="1" dirty="0">
                <a:solidFill>
                  <a:schemeClr val="tx1"/>
                </a:solidFill>
                <a:latin typeface="+mn-ea"/>
                <a:ea typeface="+mn-ea"/>
              </a:rPr>
              <a:t>不安全区</a:t>
            </a:r>
          </a:p>
        </p:txBody>
      </p:sp>
      <p:sp>
        <p:nvSpPr>
          <p:cNvPr id="55" name="Rectangle 58"/>
          <p:cNvSpPr>
            <a:spLocks noChangeArrowheads="1"/>
          </p:cNvSpPr>
          <p:nvPr/>
        </p:nvSpPr>
        <p:spPr bwMode="auto">
          <a:xfrm>
            <a:off x="4313238" y="2603818"/>
            <a:ext cx="1828800" cy="838200"/>
          </a:xfrm>
          <a:prstGeom prst="rect">
            <a:avLst/>
          </a:prstGeom>
          <a:solidFill>
            <a:srgbClr val="FFC000"/>
          </a:solidFill>
          <a:ln w="12700">
            <a:solidFill>
              <a:schemeClr val="bg1"/>
            </a:solidFill>
            <a:miter lim="800000"/>
            <a:headEnd/>
            <a:tailEnd/>
          </a:ln>
          <a:effectLst/>
        </p:spPr>
        <p:txBody>
          <a:bodyPr wrap="none" anchor="ctr"/>
          <a:lstStyle/>
          <a:p>
            <a:pPr>
              <a:defRPr/>
            </a:pPr>
            <a:r>
              <a:rPr lang="en-US" altLang="zh-CN" dirty="0">
                <a:solidFill>
                  <a:srgbClr val="FF3300"/>
                </a:solidFill>
                <a:effectLst>
                  <a:outerShdw blurRad="38100" dist="38100" dir="2700000" algn="tl">
                    <a:srgbClr val="000000"/>
                  </a:outerShdw>
                </a:effectLst>
                <a:latin typeface="Arial" charset="0"/>
                <a:ea typeface="幼圆" pitchFamily="49" charset="-122"/>
              </a:rPr>
              <a:t>   </a:t>
            </a:r>
            <a:r>
              <a:rPr lang="en-US" altLang="zh-CN" dirty="0">
                <a:solidFill>
                  <a:schemeClr val="bg1"/>
                </a:solidFill>
                <a:effectLst>
                  <a:outerShdw blurRad="38100" dist="38100" dir="2700000" algn="tl">
                    <a:srgbClr val="000000"/>
                  </a:outerShdw>
                </a:effectLst>
                <a:latin typeface="Arial" charset="0"/>
                <a:ea typeface="幼圆" pitchFamily="49" charset="-122"/>
              </a:rPr>
              <a:t> </a:t>
            </a:r>
            <a:r>
              <a:rPr lang="en-US" altLang="zh-CN" b="1" dirty="0">
                <a:solidFill>
                  <a:schemeClr val="bg1"/>
                </a:solidFill>
                <a:latin typeface="Arial" charset="0"/>
                <a:ea typeface="幼圆" pitchFamily="49" charset="-122"/>
              </a:rPr>
              <a:t>D</a:t>
            </a:r>
          </a:p>
        </p:txBody>
      </p:sp>
      <p:sp>
        <p:nvSpPr>
          <p:cNvPr id="56" name="Text Box 29"/>
          <p:cNvSpPr txBox="1">
            <a:spLocks noChangeArrowheads="1"/>
          </p:cNvSpPr>
          <p:nvPr/>
        </p:nvSpPr>
        <p:spPr bwMode="auto">
          <a:xfrm>
            <a:off x="2713038" y="5596255"/>
            <a:ext cx="7345362" cy="457200"/>
          </a:xfrm>
          <a:prstGeom prst="rect">
            <a:avLst/>
          </a:prstGeom>
          <a:solidFill>
            <a:schemeClr val="bg1"/>
          </a:solidFill>
          <a:ln w="12700">
            <a:noFill/>
            <a:miter lim="800000"/>
            <a:headEnd type="none" w="sm" len="sm"/>
            <a:tailEnd type="none" w="sm" len="sm"/>
          </a:ln>
        </p:spPr>
        <p:txBody>
          <a:bodyPr>
            <a:spAutoFit/>
          </a:bodyPr>
          <a:lstStyle/>
          <a:p>
            <a:pPr algn="l">
              <a:spcBef>
                <a:spcPct val="50000"/>
              </a:spcBef>
              <a:defRPr/>
            </a:pPr>
            <a:r>
              <a:rPr lang="en-US" altLang="zh-CN" sz="2000" b="1" dirty="0">
                <a:solidFill>
                  <a:srgbClr val="CC3399"/>
                </a:solidFill>
                <a:latin typeface="Arial" charset="0"/>
              </a:rPr>
              <a:t>            P</a:t>
            </a:r>
            <a:r>
              <a:rPr lang="en-US" altLang="zh-CN" sz="2000" b="1" baseline="-25000" dirty="0">
                <a:solidFill>
                  <a:srgbClr val="CC3399"/>
                </a:solidFill>
                <a:latin typeface="Arial" charset="0"/>
              </a:rPr>
              <a:t>1</a:t>
            </a:r>
            <a:r>
              <a:rPr lang="en-US" altLang="zh-CN" sz="2000" b="1" dirty="0">
                <a:solidFill>
                  <a:srgbClr val="CC3399"/>
                </a:solidFill>
                <a:latin typeface="Arial" charset="0"/>
              </a:rPr>
              <a:t>Req(R</a:t>
            </a:r>
            <a:r>
              <a:rPr lang="en-US" altLang="zh-CN" sz="2000" b="1" baseline="-25000" dirty="0">
                <a:solidFill>
                  <a:srgbClr val="CC3399"/>
                </a:solidFill>
                <a:latin typeface="Arial" charset="0"/>
              </a:rPr>
              <a:t>1</a:t>
            </a:r>
            <a:r>
              <a:rPr lang="en-US" altLang="zh-CN" sz="2000" b="1" dirty="0">
                <a:solidFill>
                  <a:srgbClr val="CC3399"/>
                </a:solidFill>
                <a:latin typeface="Arial" charset="0"/>
              </a:rPr>
              <a:t>)</a:t>
            </a:r>
            <a:r>
              <a:rPr lang="en-US" altLang="zh-CN" sz="2000" b="1" dirty="0">
                <a:solidFill>
                  <a:srgbClr val="46385C"/>
                </a:solidFill>
                <a:latin typeface="Arial" charset="0"/>
              </a:rPr>
              <a:t>          </a:t>
            </a:r>
            <a:r>
              <a:rPr lang="en-US" altLang="zh-CN" sz="2000" b="1" dirty="0">
                <a:solidFill>
                  <a:srgbClr val="CC3399"/>
                </a:solidFill>
                <a:latin typeface="Arial" charset="0"/>
              </a:rPr>
              <a:t>P</a:t>
            </a:r>
            <a:r>
              <a:rPr lang="en-US" altLang="zh-CN" sz="2000" b="1" baseline="-25000" dirty="0">
                <a:solidFill>
                  <a:srgbClr val="CC3399"/>
                </a:solidFill>
                <a:latin typeface="Arial" charset="0"/>
              </a:rPr>
              <a:t>1</a:t>
            </a:r>
            <a:r>
              <a:rPr lang="en-US" altLang="zh-CN" sz="2000" b="1" dirty="0">
                <a:solidFill>
                  <a:schemeClr val="bg2">
                    <a:lumMod val="75000"/>
                  </a:schemeClr>
                </a:solidFill>
                <a:latin typeface="Arial" charset="0"/>
              </a:rPr>
              <a:t>Req(R</a:t>
            </a:r>
            <a:r>
              <a:rPr lang="en-US" altLang="zh-CN" sz="2000" b="1" baseline="-25000" dirty="0">
                <a:solidFill>
                  <a:schemeClr val="bg2">
                    <a:lumMod val="75000"/>
                  </a:schemeClr>
                </a:solidFill>
                <a:latin typeface="Arial" charset="0"/>
              </a:rPr>
              <a:t>2</a:t>
            </a:r>
            <a:r>
              <a:rPr lang="en-US" altLang="zh-CN" b="1" dirty="0">
                <a:solidFill>
                  <a:schemeClr val="bg2">
                    <a:lumMod val="75000"/>
                  </a:schemeClr>
                </a:solidFill>
                <a:latin typeface="Arial" charset="0"/>
              </a:rPr>
              <a:t>)</a:t>
            </a:r>
            <a:r>
              <a:rPr lang="en-US" altLang="zh-CN" sz="2000" b="1" dirty="0">
                <a:solidFill>
                  <a:schemeClr val="bg2"/>
                </a:solidFill>
                <a:latin typeface="Arial" charset="0"/>
              </a:rPr>
              <a:t>         </a:t>
            </a:r>
            <a:r>
              <a:rPr lang="en-US" altLang="zh-CN" sz="2000" b="1" dirty="0">
                <a:solidFill>
                  <a:srgbClr val="CC3399"/>
                </a:solidFill>
                <a:latin typeface="Arial" charset="0"/>
              </a:rPr>
              <a:t>P</a:t>
            </a:r>
            <a:r>
              <a:rPr lang="en-US" altLang="zh-CN" sz="2000" b="1" baseline="-25000" dirty="0">
                <a:solidFill>
                  <a:srgbClr val="CC3399"/>
                </a:solidFill>
                <a:latin typeface="Arial" charset="0"/>
              </a:rPr>
              <a:t>1</a:t>
            </a:r>
            <a:r>
              <a:rPr lang="en-US" altLang="zh-CN" sz="2000" b="1" dirty="0">
                <a:solidFill>
                  <a:srgbClr val="CC3399"/>
                </a:solidFill>
                <a:latin typeface="Arial" charset="0"/>
              </a:rPr>
              <a:t>Rel(R</a:t>
            </a:r>
            <a:r>
              <a:rPr lang="en-US" altLang="zh-CN" sz="2000" b="1" baseline="-25000" dirty="0">
                <a:solidFill>
                  <a:srgbClr val="CC3399"/>
                </a:solidFill>
                <a:latin typeface="Arial" charset="0"/>
              </a:rPr>
              <a:t>1</a:t>
            </a:r>
            <a:r>
              <a:rPr lang="en-US" altLang="zh-CN" sz="2000" b="1" dirty="0">
                <a:solidFill>
                  <a:srgbClr val="CC3399"/>
                </a:solidFill>
                <a:latin typeface="Arial" charset="0"/>
              </a:rPr>
              <a:t>)</a:t>
            </a:r>
            <a:r>
              <a:rPr lang="en-US" altLang="zh-CN" sz="2000" b="1" dirty="0">
                <a:solidFill>
                  <a:srgbClr val="46385C"/>
                </a:solidFill>
                <a:latin typeface="Arial" charset="0"/>
              </a:rPr>
              <a:t>   </a:t>
            </a:r>
            <a:r>
              <a:rPr lang="en-US" altLang="zh-CN" sz="2000" b="1" dirty="0">
                <a:solidFill>
                  <a:srgbClr val="CC3399"/>
                </a:solidFill>
                <a:latin typeface="Arial" charset="0"/>
              </a:rPr>
              <a:t>P</a:t>
            </a:r>
            <a:r>
              <a:rPr lang="en-US" altLang="zh-CN" sz="2000" b="1" baseline="-25000" dirty="0">
                <a:solidFill>
                  <a:srgbClr val="CC3399"/>
                </a:solidFill>
                <a:latin typeface="Arial" charset="0"/>
              </a:rPr>
              <a:t>1</a:t>
            </a:r>
            <a:r>
              <a:rPr lang="en-US" altLang="zh-CN" sz="2000" b="1" dirty="0">
                <a:solidFill>
                  <a:schemeClr val="bg2">
                    <a:lumMod val="75000"/>
                  </a:schemeClr>
                </a:solidFill>
                <a:latin typeface="Arial" charset="0"/>
              </a:rPr>
              <a:t>Rel(R</a:t>
            </a:r>
            <a:r>
              <a:rPr lang="en-US" altLang="zh-CN" sz="2000" b="1" baseline="-25000" dirty="0">
                <a:solidFill>
                  <a:schemeClr val="bg2">
                    <a:lumMod val="75000"/>
                  </a:schemeClr>
                </a:solidFill>
                <a:latin typeface="Arial" charset="0"/>
              </a:rPr>
              <a:t>2</a:t>
            </a:r>
            <a:r>
              <a:rPr lang="en-US" altLang="zh-CN" sz="2000" b="1" dirty="0">
                <a:solidFill>
                  <a:schemeClr val="bg2">
                    <a:lumMod val="75000"/>
                  </a:schemeClr>
                </a:solidFill>
                <a:latin typeface="Arial" charset="0"/>
              </a:rPr>
              <a:t>)</a:t>
            </a:r>
          </a:p>
        </p:txBody>
      </p:sp>
      <p:sp>
        <p:nvSpPr>
          <p:cNvPr id="57" name="Line 31"/>
          <p:cNvSpPr>
            <a:spLocks noChangeShapeType="1"/>
          </p:cNvSpPr>
          <p:nvPr/>
        </p:nvSpPr>
        <p:spPr bwMode="auto">
          <a:xfrm>
            <a:off x="6210300" y="5499418"/>
            <a:ext cx="2895600" cy="0"/>
          </a:xfrm>
          <a:prstGeom prst="line">
            <a:avLst/>
          </a:prstGeom>
          <a:noFill/>
          <a:ln w="76200">
            <a:solidFill>
              <a:schemeClr val="bg2">
                <a:lumMod val="75000"/>
              </a:schemeClr>
            </a:solidFill>
            <a:round/>
            <a:headEnd type="none" w="sm" len="sm"/>
            <a:tailEnd type="none" w="sm" len="sm"/>
          </a:ln>
          <a:effectLst/>
        </p:spPr>
        <p:txBody>
          <a:bodyPr wrap="none" anchor="ctr"/>
          <a:lstStyle/>
          <a:p>
            <a:pPr algn="l">
              <a:defRPr/>
            </a:pPr>
            <a:endParaRPr lang="zh-CN" altLang="en-US" sz="1400">
              <a:solidFill>
                <a:schemeClr val="tx1"/>
              </a:solidFill>
              <a:latin typeface="Arial" charset="0"/>
            </a:endParaRPr>
          </a:p>
        </p:txBody>
      </p:sp>
      <p:sp>
        <p:nvSpPr>
          <p:cNvPr id="58" name="Line 28"/>
          <p:cNvSpPr>
            <a:spLocks noChangeShapeType="1"/>
          </p:cNvSpPr>
          <p:nvPr/>
        </p:nvSpPr>
        <p:spPr bwMode="auto">
          <a:xfrm flipV="1">
            <a:off x="4922838" y="2832418"/>
            <a:ext cx="0" cy="838200"/>
          </a:xfrm>
          <a:prstGeom prst="line">
            <a:avLst/>
          </a:prstGeom>
          <a:noFill/>
          <a:ln w="57150">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65381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500"/>
                                        <p:tgtEl>
                                          <p:spTgt spid="14"/>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dissolve">
                                      <p:cBhvr>
                                        <p:cTn id="15" dur="500"/>
                                        <p:tgtEl>
                                          <p:spTgt spid="2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dissolve">
                                      <p:cBhvr>
                                        <p:cTn id="19" dur="500"/>
                                        <p:tgtEl>
                                          <p:spTgt spid="29"/>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dissolve">
                                      <p:cBhvr>
                                        <p:cTn id="23" dur="500"/>
                                        <p:tgtEl>
                                          <p:spTgt spid="30"/>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dissolve">
                                      <p:cBhvr>
                                        <p:cTn id="27" dur="500"/>
                                        <p:tgtEl>
                                          <p:spTgt spid="31"/>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dissolve">
                                      <p:cBhvr>
                                        <p:cTn id="31" dur="500"/>
                                        <p:tgtEl>
                                          <p:spTgt spid="32"/>
                                        </p:tgtEl>
                                      </p:cBhvr>
                                    </p:animEffect>
                                  </p:childTnLst>
                                </p:cTn>
                              </p:par>
                            </p:childTnLst>
                          </p:cTn>
                        </p:par>
                        <p:par>
                          <p:cTn id="32" fill="hold">
                            <p:stCondLst>
                              <p:cond delay="3500"/>
                            </p:stCondLst>
                            <p:childTnLst>
                              <p:par>
                                <p:cTn id="33" presetID="16" presetClass="entr" presetSubtype="37" fill="hold" grpId="0" nodeType="afterEffect">
                                  <p:stCondLst>
                                    <p:cond delay="0"/>
                                  </p:stCondLst>
                                  <p:childTnLst>
                                    <p:set>
                                      <p:cBhvr>
                                        <p:cTn id="34" dur="1" fill="hold">
                                          <p:stCondLst>
                                            <p:cond delay="0"/>
                                          </p:stCondLst>
                                        </p:cTn>
                                        <p:tgtEl>
                                          <p:spTgt spid="52">
                                            <p:txEl>
                                              <p:pRg st="0" end="0"/>
                                            </p:txEl>
                                          </p:spTgt>
                                        </p:tgtEl>
                                        <p:attrNameLst>
                                          <p:attrName>style.visibility</p:attrName>
                                        </p:attrNameLst>
                                      </p:cBhvr>
                                      <p:to>
                                        <p:strVal val="visible"/>
                                      </p:to>
                                    </p:set>
                                    <p:animEffect transition="in" filter="barn(outVertical)">
                                      <p:cBhvr>
                                        <p:cTn id="35" dur="500"/>
                                        <p:tgtEl>
                                          <p:spTgt spid="52">
                                            <p:txEl>
                                              <p:pRg st="0" end="0"/>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dissolve">
                                      <p:cBhvr>
                                        <p:cTn id="39" dur="500"/>
                                        <p:tgtEl>
                                          <p:spTgt spid="33"/>
                                        </p:tgtEl>
                                      </p:cBhvr>
                                    </p:animEffect>
                                  </p:childTnLst>
                                </p:cTn>
                              </p:par>
                            </p:childTnLst>
                          </p:cTn>
                        </p:par>
                        <p:par>
                          <p:cTn id="40" fill="hold">
                            <p:stCondLst>
                              <p:cond delay="4500"/>
                            </p:stCondLst>
                            <p:childTnLst>
                              <p:par>
                                <p:cTn id="41" presetID="9" presetClass="entr" presetSubtype="0"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dissolve">
                                      <p:cBhvr>
                                        <p:cTn id="43" dur="500"/>
                                        <p:tgtEl>
                                          <p:spTgt spid="27"/>
                                        </p:tgtEl>
                                      </p:cBhvr>
                                    </p:animEffect>
                                  </p:childTnLst>
                                </p:cTn>
                              </p:par>
                            </p:childTnLst>
                          </p:cTn>
                        </p:par>
                        <p:par>
                          <p:cTn id="44" fill="hold">
                            <p:stCondLst>
                              <p:cond delay="5000"/>
                            </p:stCondLst>
                            <p:childTnLst>
                              <p:par>
                                <p:cTn id="45" presetID="16" presetClass="entr" presetSubtype="37" fill="hold" grpId="0" nodeType="afterEffect">
                                  <p:stCondLst>
                                    <p:cond delay="0"/>
                                  </p:stCondLst>
                                  <p:childTnLst>
                                    <p:set>
                                      <p:cBhvr>
                                        <p:cTn id="46" dur="1" fill="hold">
                                          <p:stCondLst>
                                            <p:cond delay="0"/>
                                          </p:stCondLst>
                                        </p:cTn>
                                        <p:tgtEl>
                                          <p:spTgt spid="44">
                                            <p:txEl>
                                              <p:pRg st="0" end="0"/>
                                            </p:txEl>
                                          </p:spTgt>
                                        </p:tgtEl>
                                        <p:attrNameLst>
                                          <p:attrName>style.visibility</p:attrName>
                                        </p:attrNameLst>
                                      </p:cBhvr>
                                      <p:to>
                                        <p:strVal val="visible"/>
                                      </p:to>
                                    </p:set>
                                    <p:animEffect transition="in" filter="barn(outVertical)">
                                      <p:cBhvr>
                                        <p:cTn id="47" dur="500"/>
                                        <p:tgtEl>
                                          <p:spTgt spid="44">
                                            <p:txEl>
                                              <p:pRg st="0" end="0"/>
                                            </p:txEl>
                                          </p:spTgt>
                                        </p:tgtEl>
                                      </p:cBhvr>
                                    </p:animEffect>
                                  </p:childTnLst>
                                </p:cTn>
                              </p:par>
                            </p:childTnLst>
                          </p:cTn>
                        </p:par>
                        <p:par>
                          <p:cTn id="48" fill="hold">
                            <p:stCondLst>
                              <p:cond delay="5500"/>
                            </p:stCondLst>
                            <p:childTnLst>
                              <p:par>
                                <p:cTn id="49" presetID="9" presetClass="entr" presetSubtype="0" fill="hold" grpId="0"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dissolve">
                                      <p:cBhvr>
                                        <p:cTn id="51" dur="500"/>
                                        <p:tgtEl>
                                          <p:spTgt spid="24"/>
                                        </p:tgtEl>
                                      </p:cBhvr>
                                    </p:animEffect>
                                  </p:childTnLst>
                                </p:cTn>
                              </p:par>
                            </p:childTnLst>
                          </p:cTn>
                        </p:par>
                        <p:par>
                          <p:cTn id="52" fill="hold">
                            <p:stCondLst>
                              <p:cond delay="6000"/>
                            </p:stCondLst>
                            <p:childTnLst>
                              <p:par>
                                <p:cTn id="53" presetID="16" presetClass="entr" presetSubtype="37" fill="hold" grpId="0" nodeType="afterEffect">
                                  <p:stCondLst>
                                    <p:cond delay="0"/>
                                  </p:stCondLst>
                                  <p:childTnLst>
                                    <p:set>
                                      <p:cBhvr>
                                        <p:cTn id="54" dur="1" fill="hold">
                                          <p:stCondLst>
                                            <p:cond delay="0"/>
                                          </p:stCondLst>
                                        </p:cTn>
                                        <p:tgtEl>
                                          <p:spTgt spid="45">
                                            <p:txEl>
                                              <p:pRg st="0" end="0"/>
                                            </p:txEl>
                                          </p:spTgt>
                                        </p:tgtEl>
                                        <p:attrNameLst>
                                          <p:attrName>style.visibility</p:attrName>
                                        </p:attrNameLst>
                                      </p:cBhvr>
                                      <p:to>
                                        <p:strVal val="visible"/>
                                      </p:to>
                                    </p:set>
                                    <p:animEffect transition="in" filter="barn(outVertical)">
                                      <p:cBhvr>
                                        <p:cTn id="55" dur="500"/>
                                        <p:tgtEl>
                                          <p:spTgt spid="45">
                                            <p:txEl>
                                              <p:pRg st="0" end="0"/>
                                            </p:txEl>
                                          </p:spTgt>
                                        </p:tgtEl>
                                      </p:cBhvr>
                                    </p:animEffect>
                                  </p:childTnLst>
                                </p:cTn>
                              </p:par>
                            </p:childTnLst>
                          </p:cTn>
                        </p:par>
                        <p:par>
                          <p:cTn id="56" fill="hold">
                            <p:stCondLst>
                              <p:cond delay="6500"/>
                            </p:stCondLst>
                            <p:childTnLst>
                              <p:par>
                                <p:cTn id="57" presetID="9" presetClass="entr" presetSubtype="0" fill="hold" grpId="0" nodeType="after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dissolve">
                                      <p:cBhvr>
                                        <p:cTn id="59" dur="500"/>
                                        <p:tgtEl>
                                          <p:spTgt spid="56"/>
                                        </p:tgtEl>
                                      </p:cBhvr>
                                    </p:animEffect>
                                  </p:childTnLst>
                                </p:cTn>
                              </p:par>
                            </p:childTnLst>
                          </p:cTn>
                        </p:par>
                        <p:par>
                          <p:cTn id="60" fill="hold">
                            <p:stCondLst>
                              <p:cond delay="7000"/>
                            </p:stCondLst>
                            <p:childTnLst>
                              <p:par>
                                <p:cTn id="61" presetID="2" presetClass="entr" presetSubtype="8"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 calcmode="lin" valueType="num">
                                      <p:cBhvr additive="base">
                                        <p:cTn id="63" dur="500" fill="hold"/>
                                        <p:tgtEl>
                                          <p:spTgt spid="53"/>
                                        </p:tgtEl>
                                        <p:attrNameLst>
                                          <p:attrName>ppt_x</p:attrName>
                                        </p:attrNameLst>
                                      </p:cBhvr>
                                      <p:tavLst>
                                        <p:tav tm="0">
                                          <p:val>
                                            <p:strVal val="0-#ppt_w/2"/>
                                          </p:val>
                                        </p:tav>
                                        <p:tav tm="100000">
                                          <p:val>
                                            <p:strVal val="#ppt_x"/>
                                          </p:val>
                                        </p:tav>
                                      </p:tavLst>
                                    </p:anim>
                                    <p:anim calcmode="lin" valueType="num">
                                      <p:cBhvr additive="base">
                                        <p:cTn id="64"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dissolve">
                                      <p:cBhvr>
                                        <p:cTn id="69" dur="500"/>
                                        <p:tgtEl>
                                          <p:spTgt spid="42"/>
                                        </p:tgtEl>
                                      </p:cBhvr>
                                    </p:animEffect>
                                  </p:childTnLst>
                                </p:cTn>
                              </p:par>
                            </p:childTnLst>
                          </p:cTn>
                        </p:par>
                        <p:par>
                          <p:cTn id="70" fill="hold">
                            <p:stCondLst>
                              <p:cond delay="500"/>
                            </p:stCondLst>
                            <p:childTnLst>
                              <p:par>
                                <p:cTn id="71" presetID="9" presetClass="entr" presetSubtype="0" fill="hold"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dissolve">
                                      <p:cBhvr>
                                        <p:cTn id="73" dur="500"/>
                                        <p:tgtEl>
                                          <p:spTgt spid="43"/>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dissolve">
                                      <p:cBhvr>
                                        <p:cTn id="78" dur="500"/>
                                        <p:tgtEl>
                                          <p:spTgt spid="50"/>
                                        </p:tgtEl>
                                      </p:cBhvr>
                                    </p:animEffect>
                                  </p:childTnLst>
                                </p:cTn>
                              </p:par>
                            </p:childTnLst>
                          </p:cTn>
                        </p:par>
                        <p:par>
                          <p:cTn id="79" fill="hold">
                            <p:stCondLst>
                              <p:cond delay="500"/>
                            </p:stCondLst>
                            <p:childTnLst>
                              <p:par>
                                <p:cTn id="80" presetID="9" presetClass="entr" presetSubtype="0" fill="hold" nodeType="after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dissolve">
                                      <p:cBhvr>
                                        <p:cTn id="82" dur="500"/>
                                        <p:tgtEl>
                                          <p:spTgt spid="51"/>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dissolve">
                                      <p:cBhvr>
                                        <p:cTn id="87" dur="500"/>
                                        <p:tgtEl>
                                          <p:spTgt spid="15"/>
                                        </p:tgtEl>
                                      </p:cBhvr>
                                    </p:animEffect>
                                  </p:childTnLst>
                                </p:cTn>
                              </p:par>
                            </p:childTnLst>
                          </p:cTn>
                        </p:par>
                        <p:par>
                          <p:cTn id="88" fill="hold">
                            <p:stCondLst>
                              <p:cond delay="500"/>
                            </p:stCondLst>
                            <p:childTnLst>
                              <p:par>
                                <p:cTn id="89" presetID="9" presetClass="entr" presetSubtype="0" fill="hold" nodeType="after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dissolve">
                                      <p:cBhvr>
                                        <p:cTn id="91" dur="500"/>
                                        <p:tgtEl>
                                          <p:spTgt spid="16"/>
                                        </p:tgtEl>
                                      </p:cBhvr>
                                    </p:animEffect>
                                  </p:childTnLst>
                                </p:cTn>
                              </p:par>
                            </p:childTnLst>
                          </p:cTn>
                        </p:par>
                        <p:par>
                          <p:cTn id="92" fill="hold">
                            <p:stCondLst>
                              <p:cond delay="1000"/>
                            </p:stCondLst>
                            <p:childTnLst>
                              <p:par>
                                <p:cTn id="93" presetID="16" presetClass="entr" presetSubtype="37" fill="hold" grpId="0" nodeType="afterEffect">
                                  <p:stCondLst>
                                    <p:cond delay="0"/>
                                  </p:stCondLst>
                                  <p:childTnLst>
                                    <p:set>
                                      <p:cBhvr>
                                        <p:cTn id="94" dur="1" fill="hold">
                                          <p:stCondLst>
                                            <p:cond delay="0"/>
                                          </p:stCondLst>
                                        </p:cTn>
                                        <p:tgtEl>
                                          <p:spTgt spid="47">
                                            <p:txEl>
                                              <p:pRg st="0" end="0"/>
                                            </p:txEl>
                                          </p:spTgt>
                                        </p:tgtEl>
                                        <p:attrNameLst>
                                          <p:attrName>style.visibility</p:attrName>
                                        </p:attrNameLst>
                                      </p:cBhvr>
                                      <p:to>
                                        <p:strVal val="visible"/>
                                      </p:to>
                                    </p:set>
                                    <p:animEffect transition="in" filter="barn(outVertical)">
                                      <p:cBhvr>
                                        <p:cTn id="95" dur="500"/>
                                        <p:tgtEl>
                                          <p:spTgt spid="47">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nodeType="click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dissolve">
                                      <p:cBhvr>
                                        <p:cTn id="100" dur="500"/>
                                        <p:tgtEl>
                                          <p:spTgt spid="17"/>
                                        </p:tgtEl>
                                      </p:cBhvr>
                                    </p:animEffect>
                                  </p:childTnLst>
                                </p:cTn>
                              </p:par>
                            </p:childTnLst>
                          </p:cTn>
                        </p:par>
                        <p:par>
                          <p:cTn id="101" fill="hold">
                            <p:stCondLst>
                              <p:cond delay="500"/>
                            </p:stCondLst>
                            <p:childTnLst>
                              <p:par>
                                <p:cTn id="102" presetID="9" presetClass="entr" presetSubtype="0" fill="hold" nodeType="after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dissolve">
                                      <p:cBhvr>
                                        <p:cTn id="104" dur="500"/>
                                        <p:tgtEl>
                                          <p:spTgt spid="18"/>
                                        </p:tgtEl>
                                      </p:cBhvr>
                                    </p:animEffect>
                                  </p:childTnLst>
                                </p:cTn>
                              </p:par>
                            </p:childTnLst>
                          </p:cTn>
                        </p:par>
                        <p:par>
                          <p:cTn id="105" fill="hold">
                            <p:stCondLst>
                              <p:cond delay="1000"/>
                            </p:stCondLst>
                            <p:childTnLst>
                              <p:par>
                                <p:cTn id="106" presetID="16" presetClass="entr" presetSubtype="37" fill="hold" grpId="0" nodeType="afterEffect">
                                  <p:stCondLst>
                                    <p:cond delay="0"/>
                                  </p:stCondLst>
                                  <p:childTnLst>
                                    <p:set>
                                      <p:cBhvr>
                                        <p:cTn id="107" dur="1" fill="hold">
                                          <p:stCondLst>
                                            <p:cond delay="0"/>
                                          </p:stCondLst>
                                        </p:cTn>
                                        <p:tgtEl>
                                          <p:spTgt spid="46">
                                            <p:txEl>
                                              <p:pRg st="0" end="0"/>
                                            </p:txEl>
                                          </p:spTgt>
                                        </p:tgtEl>
                                        <p:attrNameLst>
                                          <p:attrName>style.visibility</p:attrName>
                                        </p:attrNameLst>
                                      </p:cBhvr>
                                      <p:to>
                                        <p:strVal val="visible"/>
                                      </p:to>
                                    </p:set>
                                    <p:animEffect transition="in" filter="barn(outVertical)">
                                      <p:cBhvr>
                                        <p:cTn id="108" dur="500"/>
                                        <p:tgtEl>
                                          <p:spTgt spid="46">
                                            <p:txEl>
                                              <p:pRg st="0" end="0"/>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grpId="0" nodeType="clickEffect">
                                  <p:stCondLst>
                                    <p:cond delay="0"/>
                                  </p:stCondLst>
                                  <p:childTnLst>
                                    <p:set>
                                      <p:cBhvr>
                                        <p:cTn id="112" dur="1" fill="hold">
                                          <p:stCondLst>
                                            <p:cond delay="0"/>
                                          </p:stCondLst>
                                        </p:cTn>
                                        <p:tgtEl>
                                          <p:spTgt spid="19"/>
                                        </p:tgtEl>
                                        <p:attrNameLst>
                                          <p:attrName>style.visibility</p:attrName>
                                        </p:attrNameLst>
                                      </p:cBhvr>
                                      <p:to>
                                        <p:strVal val="visible"/>
                                      </p:to>
                                    </p:set>
                                    <p:animEffect transition="in" filter="dissolve">
                                      <p:cBhvr>
                                        <p:cTn id="113" dur="500"/>
                                        <p:tgtEl>
                                          <p:spTgt spid="19"/>
                                        </p:tgtEl>
                                      </p:cBhvr>
                                    </p:animEffect>
                                  </p:childTnLst>
                                </p:cTn>
                              </p:par>
                            </p:childTnLst>
                          </p:cTn>
                        </p:par>
                        <p:par>
                          <p:cTn id="114" fill="hold">
                            <p:stCondLst>
                              <p:cond delay="500"/>
                            </p:stCondLst>
                            <p:childTnLst>
                              <p:par>
                                <p:cTn id="115" presetID="9" presetClass="entr" presetSubtype="0" fill="hold" grpId="0" nodeType="afterEffect">
                                  <p:stCondLst>
                                    <p:cond delay="0"/>
                                  </p:stCondLst>
                                  <p:childTnLst>
                                    <p:set>
                                      <p:cBhvr>
                                        <p:cTn id="116" dur="1" fill="hold">
                                          <p:stCondLst>
                                            <p:cond delay="0"/>
                                          </p:stCondLst>
                                        </p:cTn>
                                        <p:tgtEl>
                                          <p:spTgt spid="20"/>
                                        </p:tgtEl>
                                        <p:attrNameLst>
                                          <p:attrName>style.visibility</p:attrName>
                                        </p:attrNameLst>
                                      </p:cBhvr>
                                      <p:to>
                                        <p:strVal val="visible"/>
                                      </p:to>
                                    </p:set>
                                    <p:animEffect transition="in" filter="dissolve">
                                      <p:cBhvr>
                                        <p:cTn id="117" dur="500"/>
                                        <p:tgtEl>
                                          <p:spTgt spid="20"/>
                                        </p:tgtEl>
                                      </p:cBhvr>
                                    </p:animEffect>
                                  </p:childTnLst>
                                </p:cTn>
                              </p:par>
                            </p:childTnLst>
                          </p:cTn>
                        </p:par>
                        <p:par>
                          <p:cTn id="118" fill="hold">
                            <p:stCondLst>
                              <p:cond delay="1000"/>
                            </p:stCondLst>
                            <p:childTnLst>
                              <p:par>
                                <p:cTn id="119" presetID="9" presetClass="entr" presetSubtype="0" fill="hold" grpId="0" nodeType="afterEffect">
                                  <p:stCondLst>
                                    <p:cond delay="0"/>
                                  </p:stCondLst>
                                  <p:childTnLst>
                                    <p:set>
                                      <p:cBhvr>
                                        <p:cTn id="120" dur="1" fill="hold">
                                          <p:stCondLst>
                                            <p:cond delay="0"/>
                                          </p:stCondLst>
                                        </p:cTn>
                                        <p:tgtEl>
                                          <p:spTgt spid="36"/>
                                        </p:tgtEl>
                                        <p:attrNameLst>
                                          <p:attrName>style.visibility</p:attrName>
                                        </p:attrNameLst>
                                      </p:cBhvr>
                                      <p:to>
                                        <p:strVal val="visible"/>
                                      </p:to>
                                    </p:set>
                                    <p:animEffect transition="in" filter="dissolve">
                                      <p:cBhvr>
                                        <p:cTn id="121" dur="500"/>
                                        <p:tgtEl>
                                          <p:spTgt spid="36"/>
                                        </p:tgtEl>
                                      </p:cBhvr>
                                    </p:animEffect>
                                  </p:childTnLst>
                                </p:cTn>
                              </p:par>
                            </p:childTnLst>
                          </p:cTn>
                        </p:par>
                        <p:par>
                          <p:cTn id="122" fill="hold">
                            <p:stCondLst>
                              <p:cond delay="1500"/>
                            </p:stCondLst>
                            <p:childTnLst>
                              <p:par>
                                <p:cTn id="123" presetID="9" presetClass="entr" presetSubtype="0" fill="hold" grpId="0" nodeType="afterEffect">
                                  <p:stCondLst>
                                    <p:cond delay="0"/>
                                  </p:stCondLst>
                                  <p:childTnLst>
                                    <p:set>
                                      <p:cBhvr>
                                        <p:cTn id="124" dur="1" fill="hold">
                                          <p:stCondLst>
                                            <p:cond delay="0"/>
                                          </p:stCondLst>
                                        </p:cTn>
                                        <p:tgtEl>
                                          <p:spTgt spid="22"/>
                                        </p:tgtEl>
                                        <p:attrNameLst>
                                          <p:attrName>style.visibility</p:attrName>
                                        </p:attrNameLst>
                                      </p:cBhvr>
                                      <p:to>
                                        <p:strVal val="visible"/>
                                      </p:to>
                                    </p:set>
                                    <p:animEffect transition="in" filter="dissolve">
                                      <p:cBhvr>
                                        <p:cTn id="125" dur="500"/>
                                        <p:tgtEl>
                                          <p:spTgt spid="22"/>
                                        </p:tgtEl>
                                      </p:cBhvr>
                                    </p:animEffect>
                                  </p:childTnLst>
                                </p:cTn>
                              </p:par>
                            </p:childTnLst>
                          </p:cTn>
                        </p:par>
                        <p:par>
                          <p:cTn id="126" fill="hold">
                            <p:stCondLst>
                              <p:cond delay="2000"/>
                            </p:stCondLst>
                            <p:childTnLst>
                              <p:par>
                                <p:cTn id="127" presetID="16" presetClass="entr" presetSubtype="37" fill="hold" grpId="0" nodeType="afterEffect">
                                  <p:stCondLst>
                                    <p:cond delay="0"/>
                                  </p:stCondLst>
                                  <p:childTnLst>
                                    <p:set>
                                      <p:cBhvr>
                                        <p:cTn id="128" dur="1" fill="hold">
                                          <p:stCondLst>
                                            <p:cond delay="0"/>
                                          </p:stCondLst>
                                        </p:cTn>
                                        <p:tgtEl>
                                          <p:spTgt spid="48">
                                            <p:txEl>
                                              <p:pRg st="0" end="0"/>
                                            </p:txEl>
                                          </p:spTgt>
                                        </p:tgtEl>
                                        <p:attrNameLst>
                                          <p:attrName>style.visibility</p:attrName>
                                        </p:attrNameLst>
                                      </p:cBhvr>
                                      <p:to>
                                        <p:strVal val="visible"/>
                                      </p:to>
                                    </p:set>
                                    <p:animEffect transition="in" filter="barn(outVertical)">
                                      <p:cBhvr>
                                        <p:cTn id="129" dur="500"/>
                                        <p:tgtEl>
                                          <p:spTgt spid="48">
                                            <p:txEl>
                                              <p:pRg st="0" end="0"/>
                                            </p:txEl>
                                          </p:spTgt>
                                        </p:tgtEl>
                                      </p:cBhvr>
                                    </p:animEffect>
                                  </p:childTnLst>
                                </p:cTn>
                              </p:par>
                            </p:childTnLst>
                          </p:cTn>
                        </p:par>
                      </p:childTnLst>
                    </p:cTn>
                  </p:par>
                  <p:par>
                    <p:cTn id="130" fill="hold">
                      <p:stCondLst>
                        <p:cond delay="indefinite"/>
                      </p:stCondLst>
                      <p:childTnLst>
                        <p:par>
                          <p:cTn id="131" fill="hold">
                            <p:stCondLst>
                              <p:cond delay="0"/>
                            </p:stCondLst>
                            <p:childTnLst>
                              <p:par>
                                <p:cTn id="132" presetID="9" presetClass="entr" presetSubtype="0" fill="hold" grpId="0" nodeType="clickEffect">
                                  <p:stCondLst>
                                    <p:cond delay="0"/>
                                  </p:stCondLst>
                                  <p:childTnLst>
                                    <p:set>
                                      <p:cBhvr>
                                        <p:cTn id="133" dur="1" fill="hold">
                                          <p:stCondLst>
                                            <p:cond delay="0"/>
                                          </p:stCondLst>
                                        </p:cTn>
                                        <p:tgtEl>
                                          <p:spTgt spid="37"/>
                                        </p:tgtEl>
                                        <p:attrNameLst>
                                          <p:attrName>style.visibility</p:attrName>
                                        </p:attrNameLst>
                                      </p:cBhvr>
                                      <p:to>
                                        <p:strVal val="visible"/>
                                      </p:to>
                                    </p:set>
                                    <p:animEffect transition="in" filter="dissolve">
                                      <p:cBhvr>
                                        <p:cTn id="134" dur="500"/>
                                        <p:tgtEl>
                                          <p:spTgt spid="37"/>
                                        </p:tgtEl>
                                      </p:cBhvr>
                                    </p:animEffect>
                                  </p:childTnLst>
                                </p:cTn>
                              </p:par>
                            </p:childTnLst>
                          </p:cTn>
                        </p:par>
                        <p:par>
                          <p:cTn id="135" fill="hold">
                            <p:stCondLst>
                              <p:cond delay="500"/>
                            </p:stCondLst>
                            <p:childTnLst>
                              <p:par>
                                <p:cTn id="136" presetID="9" presetClass="entr" presetSubtype="0" fill="hold" grpId="0" nodeType="afterEffect">
                                  <p:stCondLst>
                                    <p:cond delay="0"/>
                                  </p:stCondLst>
                                  <p:childTnLst>
                                    <p:set>
                                      <p:cBhvr>
                                        <p:cTn id="137" dur="1" fill="hold">
                                          <p:stCondLst>
                                            <p:cond delay="0"/>
                                          </p:stCondLst>
                                        </p:cTn>
                                        <p:tgtEl>
                                          <p:spTgt spid="38"/>
                                        </p:tgtEl>
                                        <p:attrNameLst>
                                          <p:attrName>style.visibility</p:attrName>
                                        </p:attrNameLst>
                                      </p:cBhvr>
                                      <p:to>
                                        <p:strVal val="visible"/>
                                      </p:to>
                                    </p:set>
                                    <p:animEffect transition="in" filter="dissolve">
                                      <p:cBhvr>
                                        <p:cTn id="138" dur="500"/>
                                        <p:tgtEl>
                                          <p:spTgt spid="38"/>
                                        </p:tgtEl>
                                      </p:cBhvr>
                                    </p:animEffect>
                                  </p:childTnLst>
                                </p:cTn>
                              </p:par>
                            </p:childTnLst>
                          </p:cTn>
                        </p:par>
                        <p:par>
                          <p:cTn id="139" fill="hold">
                            <p:stCondLst>
                              <p:cond delay="1000"/>
                            </p:stCondLst>
                            <p:childTnLst>
                              <p:par>
                                <p:cTn id="140" presetID="9" presetClass="entr" presetSubtype="0" fill="hold" grpId="0" nodeType="after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dissolve">
                                      <p:cBhvr>
                                        <p:cTn id="142" dur="500"/>
                                        <p:tgtEl>
                                          <p:spTgt spid="40"/>
                                        </p:tgtEl>
                                      </p:cBhvr>
                                    </p:animEffect>
                                  </p:childTnLst>
                                </p:cTn>
                              </p:par>
                            </p:childTnLst>
                          </p:cTn>
                        </p:par>
                        <p:par>
                          <p:cTn id="143" fill="hold">
                            <p:stCondLst>
                              <p:cond delay="1500"/>
                            </p:stCondLst>
                            <p:childTnLst>
                              <p:par>
                                <p:cTn id="144" presetID="9" presetClass="entr" presetSubtype="0" fill="hold" grpId="0" nodeType="afterEffect">
                                  <p:stCondLst>
                                    <p:cond delay="0"/>
                                  </p:stCondLst>
                                  <p:childTnLst>
                                    <p:set>
                                      <p:cBhvr>
                                        <p:cTn id="145" dur="1" fill="hold">
                                          <p:stCondLst>
                                            <p:cond delay="0"/>
                                          </p:stCondLst>
                                        </p:cTn>
                                        <p:tgtEl>
                                          <p:spTgt spid="41"/>
                                        </p:tgtEl>
                                        <p:attrNameLst>
                                          <p:attrName>style.visibility</p:attrName>
                                        </p:attrNameLst>
                                      </p:cBhvr>
                                      <p:to>
                                        <p:strVal val="visible"/>
                                      </p:to>
                                    </p:set>
                                    <p:animEffect transition="in" filter="dissolve">
                                      <p:cBhvr>
                                        <p:cTn id="146" dur="500"/>
                                        <p:tgtEl>
                                          <p:spTgt spid="41"/>
                                        </p:tgtEl>
                                      </p:cBhvr>
                                    </p:animEffect>
                                  </p:childTnLst>
                                </p:cTn>
                              </p:par>
                            </p:childTnLst>
                          </p:cTn>
                        </p:par>
                        <p:par>
                          <p:cTn id="147" fill="hold">
                            <p:stCondLst>
                              <p:cond delay="2000"/>
                            </p:stCondLst>
                            <p:childTnLst>
                              <p:par>
                                <p:cTn id="148" presetID="9" presetClass="entr" presetSubtype="0" fill="hold" grpId="0" nodeType="afterEffect">
                                  <p:stCondLst>
                                    <p:cond delay="0"/>
                                  </p:stCondLst>
                                  <p:childTnLst>
                                    <p:set>
                                      <p:cBhvr>
                                        <p:cTn id="149" dur="1" fill="hold">
                                          <p:stCondLst>
                                            <p:cond delay="0"/>
                                          </p:stCondLst>
                                        </p:cTn>
                                        <p:tgtEl>
                                          <p:spTgt spid="58"/>
                                        </p:tgtEl>
                                        <p:attrNameLst>
                                          <p:attrName>style.visibility</p:attrName>
                                        </p:attrNameLst>
                                      </p:cBhvr>
                                      <p:to>
                                        <p:strVal val="visible"/>
                                      </p:to>
                                    </p:set>
                                    <p:animEffect transition="in" filter="dissolve">
                                      <p:cBhvr>
                                        <p:cTn id="150" dur="500"/>
                                        <p:tgtEl>
                                          <p:spTgt spid="58"/>
                                        </p:tgtEl>
                                      </p:cBhvr>
                                    </p:animEffect>
                                  </p:childTnLst>
                                </p:cTn>
                              </p:par>
                            </p:childTnLst>
                          </p:cTn>
                        </p:par>
                        <p:par>
                          <p:cTn id="151" fill="hold">
                            <p:stCondLst>
                              <p:cond delay="2500"/>
                            </p:stCondLst>
                            <p:childTnLst>
                              <p:par>
                                <p:cTn id="152" presetID="16" presetClass="entr" presetSubtype="37" fill="hold" grpId="0" nodeType="afterEffect">
                                  <p:stCondLst>
                                    <p:cond delay="0"/>
                                  </p:stCondLst>
                                  <p:childTnLst>
                                    <p:set>
                                      <p:cBhvr>
                                        <p:cTn id="153" dur="1" fill="hold">
                                          <p:stCondLst>
                                            <p:cond delay="0"/>
                                          </p:stCondLst>
                                        </p:cTn>
                                        <p:tgtEl>
                                          <p:spTgt spid="49">
                                            <p:txEl>
                                              <p:pRg st="0" end="0"/>
                                            </p:txEl>
                                          </p:spTgt>
                                        </p:tgtEl>
                                        <p:attrNameLst>
                                          <p:attrName>style.visibility</p:attrName>
                                        </p:attrNameLst>
                                      </p:cBhvr>
                                      <p:to>
                                        <p:strVal val="visible"/>
                                      </p:to>
                                    </p:set>
                                    <p:animEffect transition="in" filter="barn(outVertical)">
                                      <p:cBhvr>
                                        <p:cTn id="154" dur="500"/>
                                        <p:tgtEl>
                                          <p:spTgt spid="49">
                                            <p:txEl>
                                              <p:pRg st="0" end="0"/>
                                            </p:txEl>
                                          </p:spTgt>
                                        </p:tgtEl>
                                      </p:cBhvr>
                                    </p:animEffect>
                                  </p:childTnLst>
                                </p:cTn>
                              </p:par>
                            </p:childTnLst>
                          </p:cTn>
                        </p:par>
                      </p:childTnLst>
                    </p:cTn>
                  </p:par>
                  <p:par>
                    <p:cTn id="155" fill="hold">
                      <p:stCondLst>
                        <p:cond delay="indefinite"/>
                      </p:stCondLst>
                      <p:childTnLst>
                        <p:par>
                          <p:cTn id="156" fill="hold">
                            <p:stCondLst>
                              <p:cond delay="0"/>
                            </p:stCondLst>
                            <p:childTnLst>
                              <p:par>
                                <p:cTn id="157" presetID="16" presetClass="entr" presetSubtype="21" fill="hold" grpId="0" nodeType="clickEffect">
                                  <p:stCondLst>
                                    <p:cond delay="0"/>
                                  </p:stCondLst>
                                  <p:childTnLst>
                                    <p:set>
                                      <p:cBhvr>
                                        <p:cTn id="158" dur="1" fill="hold">
                                          <p:stCondLst>
                                            <p:cond delay="0"/>
                                          </p:stCondLst>
                                        </p:cTn>
                                        <p:tgtEl>
                                          <p:spTgt spid="55"/>
                                        </p:tgtEl>
                                        <p:attrNameLst>
                                          <p:attrName>style.visibility</p:attrName>
                                        </p:attrNameLst>
                                      </p:cBhvr>
                                      <p:to>
                                        <p:strVal val="visible"/>
                                      </p:to>
                                    </p:set>
                                    <p:animEffect transition="in" filter="barn(inVertical)">
                                      <p:cBhvr>
                                        <p:cTn id="159" dur="500"/>
                                        <p:tgtEl>
                                          <p:spTgt spid="55"/>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4" fill="hold" grpId="0" nodeType="clickEffect">
                                  <p:stCondLst>
                                    <p:cond delay="0"/>
                                  </p:stCondLst>
                                  <p:childTnLst>
                                    <p:set>
                                      <p:cBhvr>
                                        <p:cTn id="163" dur="1" fill="hold">
                                          <p:stCondLst>
                                            <p:cond delay="0"/>
                                          </p:stCondLst>
                                        </p:cTn>
                                        <p:tgtEl>
                                          <p:spTgt spid="54"/>
                                        </p:tgtEl>
                                        <p:attrNameLst>
                                          <p:attrName>style.visibility</p:attrName>
                                        </p:attrNameLst>
                                      </p:cBhvr>
                                      <p:to>
                                        <p:strVal val="visible"/>
                                      </p:to>
                                    </p:set>
                                    <p:animEffect transition="in" filter="wipe(down)">
                                      <p:cBhvr>
                                        <p:cTn id="164" dur="500"/>
                                        <p:tgtEl>
                                          <p:spTgt spid="54"/>
                                        </p:tgtEl>
                                      </p:cBhvr>
                                    </p:animEffect>
                                  </p:childTnLst>
                                </p:cTn>
                              </p:par>
                            </p:childTnLst>
                          </p:cTn>
                        </p:par>
                        <p:par>
                          <p:cTn id="165" fill="hold">
                            <p:stCondLst>
                              <p:cond delay="500"/>
                            </p:stCondLst>
                            <p:childTnLst>
                              <p:par>
                                <p:cTn id="166" presetID="9" presetClass="entr" presetSubtype="0" fill="hold" nodeType="after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dissolve">
                                      <p:cBhvr>
                                        <p:cTn id="16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2" grpId="0" animBg="1"/>
      <p:bldP spid="24" grpId="0" animBg="1"/>
      <p:bldP spid="27" grpId="0" animBg="1"/>
      <p:bldP spid="28" grpId="0" animBg="1"/>
      <p:bldP spid="29" grpId="0" animBg="1"/>
      <p:bldP spid="30" grpId="0" animBg="1"/>
      <p:bldP spid="31" grpId="0" animBg="1"/>
      <p:bldP spid="32" grpId="0" animBg="1"/>
      <p:bldP spid="33" grpId="0" animBg="1"/>
      <p:bldP spid="36" grpId="0" animBg="1"/>
      <p:bldP spid="37" grpId="0" animBg="1"/>
      <p:bldP spid="38" grpId="0" animBg="1"/>
      <p:bldP spid="40" grpId="0" animBg="1"/>
      <p:bldP spid="41" grpId="0" animBg="1"/>
      <p:bldP spid="42" grpId="0" animBg="1"/>
      <p:bldP spid="44" grpId="0" build="p" autoUpdateAnimBg="0" advAuto="0"/>
      <p:bldP spid="45" grpId="0" build="p" autoUpdateAnimBg="0" advAuto="0"/>
      <p:bldP spid="46" grpId="0" build="p" autoUpdateAnimBg="0" advAuto="0"/>
      <p:bldP spid="47" grpId="0" build="p" autoUpdateAnimBg="0" advAuto="0"/>
      <p:bldP spid="48" grpId="0" build="p" autoUpdateAnimBg="0" advAuto="0"/>
      <p:bldP spid="49" grpId="0" build="p" autoUpdateAnimBg="0" advAuto="0"/>
      <p:bldP spid="50" grpId="0" animBg="1"/>
      <p:bldP spid="52" grpId="0" build="p" autoUpdateAnimBg="0" advAuto="0"/>
      <p:bldP spid="53" grpId="0" autoUpdateAnimBg="0"/>
      <p:bldP spid="54" grpId="0" animBg="1"/>
      <p:bldP spid="55" grpId="0" animBg="1"/>
      <p:bldP spid="56" grpId="0" animBg="1" autoUpdateAnimBg="0"/>
      <p:bldP spid="5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死锁的定义、必要条件和处理方法</a:t>
            </a: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）死锁的定义</a:t>
              </a:r>
            </a:p>
          </p:txBody>
        </p:sp>
      </p:grpSp>
      <p:sp>
        <p:nvSpPr>
          <p:cNvPr id="34" name="文本框 19"/>
          <p:cNvSpPr txBox="1">
            <a:spLocks noChangeArrowheads="1"/>
          </p:cNvSpPr>
          <p:nvPr/>
        </p:nvSpPr>
        <p:spPr bwMode="auto">
          <a:xfrm>
            <a:off x="1080452" y="1904879"/>
            <a:ext cx="102917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800" dirty="0">
                <a:latin typeface="Times New Roman" pitchFamily="18" charset="0"/>
              </a:rPr>
              <a:t>如果一组进程中的每一个进程都在等待仅由该组进程中的其他进程才能引发的事件，那么该组进程就是死锁的（</a:t>
            </a:r>
            <a:r>
              <a:rPr kumimoji="1" lang="en-US" altLang="zh-CN" sz="2800" dirty="0">
                <a:latin typeface="Times New Roman" pitchFamily="18" charset="0"/>
              </a:rPr>
              <a:t>Deadlock</a:t>
            </a:r>
            <a:r>
              <a:rPr kumimoji="1" lang="zh-CN" altLang="en-US" sz="2800" dirty="0">
                <a:latin typeface="Times New Roman" pitchFamily="18" charset="0"/>
              </a:rPr>
              <a:t>）。</a:t>
            </a: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2512" y="4411345"/>
            <a:ext cx="4795838"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6870" y="3968750"/>
            <a:ext cx="3101975"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768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strips(downLeft)">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死锁的定义、必要条件和处理方法</a:t>
            </a: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）产生死锁的必要条件</a:t>
              </a:r>
            </a:p>
          </p:txBody>
        </p:sp>
      </p:grpSp>
      <p:sp>
        <p:nvSpPr>
          <p:cNvPr id="15" name="新月形 4"/>
          <p:cNvSpPr>
            <a:spLocks noChangeArrowheads="1"/>
          </p:cNvSpPr>
          <p:nvPr/>
        </p:nvSpPr>
        <p:spPr bwMode="auto">
          <a:xfrm rot="20751297">
            <a:off x="4364038" y="2060575"/>
            <a:ext cx="1589087" cy="3178175"/>
          </a:xfrm>
          <a:prstGeom prst="moon">
            <a:avLst>
              <a:gd name="adj" fmla="val 15190"/>
            </a:avLst>
          </a:prstGeom>
          <a:solidFill>
            <a:srgbClr val="8EB453"/>
          </a:solidFill>
          <a:ln w="3175" cmpd="sng">
            <a:solidFill>
              <a:srgbClr val="8EB453"/>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FFFFF"/>
              </a:solidFill>
              <a:ea typeface="微软雅黑" panose="020B0503020204020204" pitchFamily="34" charset="-122"/>
              <a:cs typeface="+mn-ea"/>
              <a:sym typeface="Arial" panose="020B0604020202020204" pitchFamily="34" charset="0"/>
            </a:endParaRPr>
          </a:p>
        </p:txBody>
      </p:sp>
      <p:sp>
        <p:nvSpPr>
          <p:cNvPr id="16" name="新月形 5"/>
          <p:cNvSpPr>
            <a:spLocks noChangeArrowheads="1"/>
          </p:cNvSpPr>
          <p:nvPr/>
        </p:nvSpPr>
        <p:spPr bwMode="auto">
          <a:xfrm rot="4551297">
            <a:off x="5176838" y="1025525"/>
            <a:ext cx="1589088" cy="3176587"/>
          </a:xfrm>
          <a:prstGeom prst="moon">
            <a:avLst>
              <a:gd name="adj" fmla="val 15190"/>
            </a:avLst>
          </a:prstGeom>
          <a:solidFill>
            <a:srgbClr val="4C7E51"/>
          </a:solidFill>
          <a:ln w="3175" cmpd="sng">
            <a:solidFill>
              <a:srgbClr val="F8F8F8"/>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FFFFF"/>
              </a:solidFill>
              <a:ea typeface="微软雅黑" panose="020B0503020204020204" pitchFamily="34" charset="-122"/>
              <a:cs typeface="+mn-ea"/>
              <a:sym typeface="Arial" panose="020B0604020202020204" pitchFamily="34" charset="0"/>
            </a:endParaRPr>
          </a:p>
        </p:txBody>
      </p:sp>
      <p:sp>
        <p:nvSpPr>
          <p:cNvPr id="17" name="新月形 6"/>
          <p:cNvSpPr>
            <a:spLocks noChangeArrowheads="1"/>
          </p:cNvSpPr>
          <p:nvPr/>
        </p:nvSpPr>
        <p:spPr bwMode="auto">
          <a:xfrm rot="9951297">
            <a:off x="6213475" y="1839913"/>
            <a:ext cx="1589088" cy="3178175"/>
          </a:xfrm>
          <a:prstGeom prst="moon">
            <a:avLst>
              <a:gd name="adj" fmla="val 15190"/>
            </a:avLst>
          </a:prstGeom>
          <a:solidFill>
            <a:srgbClr val="8EB453"/>
          </a:solidFill>
          <a:ln w="3175" cmpd="sng">
            <a:solidFill>
              <a:srgbClr val="8EB453"/>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FFFFF"/>
              </a:solidFill>
              <a:ea typeface="微软雅黑" panose="020B0503020204020204" pitchFamily="34" charset="-122"/>
              <a:cs typeface="+mn-ea"/>
              <a:sym typeface="Arial" panose="020B0604020202020204" pitchFamily="34" charset="0"/>
            </a:endParaRPr>
          </a:p>
        </p:txBody>
      </p:sp>
      <p:sp>
        <p:nvSpPr>
          <p:cNvPr id="18" name="新月形 7"/>
          <p:cNvSpPr>
            <a:spLocks noChangeArrowheads="1"/>
          </p:cNvSpPr>
          <p:nvPr/>
        </p:nvSpPr>
        <p:spPr bwMode="auto">
          <a:xfrm rot="15351297">
            <a:off x="5413375" y="2863850"/>
            <a:ext cx="1589088" cy="3176588"/>
          </a:xfrm>
          <a:prstGeom prst="moon">
            <a:avLst>
              <a:gd name="adj" fmla="val 15190"/>
            </a:avLst>
          </a:prstGeom>
          <a:solidFill>
            <a:srgbClr val="4C7E51"/>
          </a:solidFill>
          <a:ln w="3175" cmpd="sng">
            <a:solidFill>
              <a:srgbClr val="F8F8F8"/>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FFFFF"/>
              </a:solidFill>
              <a:ea typeface="微软雅黑" panose="020B0503020204020204" pitchFamily="34" charset="-122"/>
              <a:cs typeface="+mn-ea"/>
              <a:sym typeface="Arial" panose="020B0604020202020204" pitchFamily="34" charset="0"/>
            </a:endParaRPr>
          </a:p>
        </p:txBody>
      </p:sp>
      <p:sp>
        <p:nvSpPr>
          <p:cNvPr id="19" name="TextBox 11"/>
          <p:cNvSpPr>
            <a:spLocks noChangeArrowheads="1"/>
          </p:cNvSpPr>
          <p:nvPr/>
        </p:nvSpPr>
        <p:spPr bwMode="auto">
          <a:xfrm flipH="1">
            <a:off x="5076825" y="3236913"/>
            <a:ext cx="21113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r>
              <a:rPr lang="zh-CN" altLang="en-US" sz="3200" b="1" dirty="0">
                <a:solidFill>
                  <a:srgbClr val="445469"/>
                </a:solidFill>
                <a:ea typeface="微软雅黑" panose="020B0503020204020204" pitchFamily="34" charset="-122"/>
                <a:cs typeface="+mn-ea"/>
                <a:sym typeface="Arial" panose="020B0604020202020204" pitchFamily="34" charset="0"/>
              </a:rPr>
              <a:t>同时具备</a:t>
            </a:r>
            <a:endParaRPr lang="en-US" sz="3200" b="1" dirty="0">
              <a:solidFill>
                <a:srgbClr val="445469"/>
              </a:solidFill>
              <a:ea typeface="微软雅黑" panose="020B0503020204020204" pitchFamily="34" charset="-122"/>
              <a:cs typeface="+mn-ea"/>
              <a:sym typeface="Arial" panose="020B0604020202020204" pitchFamily="34" charset="0"/>
            </a:endParaRPr>
          </a:p>
        </p:txBody>
      </p:sp>
      <p:sp>
        <p:nvSpPr>
          <p:cNvPr id="20" name="直接连接符 24"/>
          <p:cNvSpPr>
            <a:spLocks noChangeShapeType="1"/>
          </p:cNvSpPr>
          <p:nvPr/>
        </p:nvSpPr>
        <p:spPr bwMode="auto">
          <a:xfrm flipH="1">
            <a:off x="3465513" y="2903538"/>
            <a:ext cx="1049337"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直接连接符 24"/>
          <p:cNvSpPr>
            <a:spLocks noChangeShapeType="1"/>
          </p:cNvSpPr>
          <p:nvPr/>
        </p:nvSpPr>
        <p:spPr bwMode="auto">
          <a:xfrm flipH="1">
            <a:off x="4211638" y="5046663"/>
            <a:ext cx="1033462"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TextBox 13"/>
          <p:cNvSpPr txBox="1"/>
          <p:nvPr/>
        </p:nvSpPr>
        <p:spPr>
          <a:xfrm>
            <a:off x="1295400" y="2590800"/>
            <a:ext cx="1952625" cy="369332"/>
          </a:xfrm>
          <a:prstGeom prst="rect">
            <a:avLst/>
          </a:prstGeom>
          <a:noFill/>
        </p:spPr>
        <p:txBody>
          <a:bodyPr lIns="0" tIns="0" rIns="0" bIns="0">
            <a:spAutoFit/>
          </a:bodyPr>
          <a:lstStyle/>
          <a:p>
            <a:pPr marL="457200" indent="-457200" algn="r" defTabSz="1216817">
              <a:spcBef>
                <a:spcPct val="20000"/>
              </a:spcBef>
              <a:buFont typeface="+mj-ea"/>
              <a:buAutoNum type="circleNumDbPlain"/>
              <a:defRPr/>
            </a:pPr>
            <a:r>
              <a:rPr lang="zh-CN" altLang="en-US" sz="2400" b="1" dirty="0">
                <a:solidFill>
                  <a:srgbClr val="445469"/>
                </a:solidFill>
                <a:latin typeface="Arial" panose="020B0604020202020204" pitchFamily="34" charset="0"/>
                <a:ea typeface="微软雅黑" panose="020B0503020204020204" pitchFamily="34" charset="-122"/>
                <a:cs typeface="+mn-ea"/>
              </a:rPr>
              <a:t>互斥条件</a:t>
            </a:r>
            <a:endParaRPr 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TextBox 13"/>
          <p:cNvSpPr txBox="1"/>
          <p:nvPr/>
        </p:nvSpPr>
        <p:spPr>
          <a:xfrm>
            <a:off x="7600950" y="1045647"/>
            <a:ext cx="2620962" cy="369332"/>
          </a:xfrm>
          <a:prstGeom prst="rect">
            <a:avLst/>
          </a:prstGeom>
          <a:noFill/>
        </p:spPr>
        <p:txBody>
          <a:bodyPr wrap="square" lIns="0" tIns="0" rIns="0" bIns="0">
            <a:spAutoFit/>
          </a:bodyPr>
          <a:lstStyle/>
          <a:p>
            <a:pPr marL="457200" indent="-457200" defTabSz="1216817">
              <a:spcBef>
                <a:spcPct val="20000"/>
              </a:spcBef>
              <a:buFont typeface="+mj-ea"/>
              <a:buAutoNum type="circleNumDbPlain" startAt="2"/>
              <a:defRPr/>
            </a:pPr>
            <a:r>
              <a:rPr lang="zh-CN" altLang="en-US" sz="2400" b="1" dirty="0">
                <a:solidFill>
                  <a:srgbClr val="445469"/>
                </a:solidFill>
                <a:latin typeface="Arial" panose="020B0604020202020204" pitchFamily="34" charset="0"/>
                <a:ea typeface="微软雅黑" panose="020B0503020204020204" pitchFamily="34" charset="-122"/>
                <a:cs typeface="+mn-ea"/>
              </a:rPr>
              <a:t>请求和保持条件</a:t>
            </a:r>
            <a:endParaRPr 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TextBox 13"/>
          <p:cNvSpPr txBox="1"/>
          <p:nvPr/>
        </p:nvSpPr>
        <p:spPr>
          <a:xfrm>
            <a:off x="1295401" y="4787146"/>
            <a:ext cx="2552156" cy="369332"/>
          </a:xfrm>
          <a:prstGeom prst="rect">
            <a:avLst/>
          </a:prstGeom>
          <a:noFill/>
        </p:spPr>
        <p:txBody>
          <a:bodyPr wrap="square" lIns="0" tIns="0" rIns="0" bIns="0">
            <a:spAutoFit/>
          </a:bodyPr>
          <a:lstStyle/>
          <a:p>
            <a:pPr marL="457200" indent="-457200" algn="r" defTabSz="1216817">
              <a:spcBef>
                <a:spcPct val="20000"/>
              </a:spcBef>
              <a:buFont typeface="+mj-ea"/>
              <a:buAutoNum type="circleNumDbPlain" startAt="3"/>
              <a:defRPr/>
            </a:pPr>
            <a:r>
              <a:rPr lang="zh-CN" altLang="en-US" sz="2400" b="1" dirty="0">
                <a:solidFill>
                  <a:srgbClr val="445469"/>
                </a:solidFill>
                <a:latin typeface="Arial" panose="020B0604020202020204" pitchFamily="34" charset="0"/>
                <a:ea typeface="微软雅黑" panose="020B0503020204020204" pitchFamily="34" charset="-122"/>
                <a:cs typeface="+mn-ea"/>
              </a:rPr>
              <a:t>不可抢占条件</a:t>
            </a:r>
            <a:endParaRPr 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TextBox 13"/>
          <p:cNvSpPr txBox="1"/>
          <p:nvPr/>
        </p:nvSpPr>
        <p:spPr>
          <a:xfrm>
            <a:off x="8828088" y="3944938"/>
            <a:ext cx="2540952" cy="369332"/>
          </a:xfrm>
          <a:prstGeom prst="rect">
            <a:avLst/>
          </a:prstGeom>
          <a:noFill/>
        </p:spPr>
        <p:txBody>
          <a:bodyPr wrap="square" lIns="0" tIns="0" rIns="0" bIns="0">
            <a:spAutoFit/>
          </a:bodyPr>
          <a:lstStyle/>
          <a:p>
            <a:pPr marL="457200" indent="-457200" defTabSz="1216817">
              <a:spcBef>
                <a:spcPct val="20000"/>
              </a:spcBef>
              <a:buFont typeface="+mj-ea"/>
              <a:buAutoNum type="circleNumDbPlain" startAt="4"/>
              <a:defRPr/>
            </a:pPr>
            <a:r>
              <a:rPr lang="zh-CN" altLang="en-US" sz="2400" b="1" dirty="0">
                <a:solidFill>
                  <a:srgbClr val="445469"/>
                </a:solidFill>
                <a:latin typeface="Arial" panose="020B0604020202020204" pitchFamily="34" charset="0"/>
                <a:ea typeface="微软雅黑" panose="020B0503020204020204" pitchFamily="34" charset="-122"/>
                <a:cs typeface="+mn-ea"/>
              </a:rPr>
              <a:t>循环等待条件</a:t>
            </a:r>
            <a:endParaRPr 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直接连接符 24"/>
          <p:cNvSpPr>
            <a:spLocks noChangeShapeType="1"/>
          </p:cNvSpPr>
          <p:nvPr/>
        </p:nvSpPr>
        <p:spPr bwMode="auto">
          <a:xfrm flipH="1">
            <a:off x="7600950" y="4264025"/>
            <a:ext cx="1033463"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矩形 25"/>
          <p:cNvSpPr>
            <a:spLocks noChangeArrowheads="1"/>
          </p:cNvSpPr>
          <p:nvPr/>
        </p:nvSpPr>
        <p:spPr bwMode="auto">
          <a:xfrm>
            <a:off x="1193801" y="5384738"/>
            <a:ext cx="3017837" cy="1285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ts val="675"/>
              </a:spcBef>
            </a:pPr>
            <a:r>
              <a:rPr lang="zh-CN" altLang="en-US" sz="2400" dirty="0"/>
              <a:t>进程已获得的资源，只能在使用完时自行释放。 </a:t>
            </a:r>
          </a:p>
        </p:txBody>
      </p:sp>
      <p:sp>
        <p:nvSpPr>
          <p:cNvPr id="32" name="矩形 25"/>
          <p:cNvSpPr>
            <a:spLocks noChangeArrowheads="1"/>
          </p:cNvSpPr>
          <p:nvPr/>
        </p:nvSpPr>
        <p:spPr bwMode="auto">
          <a:xfrm>
            <a:off x="7894637" y="1505822"/>
            <a:ext cx="3757613"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ts val="675"/>
              </a:spcBef>
            </a:pPr>
            <a:r>
              <a:rPr lang="zh-CN" altLang="en-US" sz="2400" dirty="0"/>
              <a:t>当前已拥有资源的进程，仍能申请新的资源；而且，当该进程因新的资源被其他进程占用而阻塞时，对已获得的资源保持不放。</a:t>
            </a:r>
          </a:p>
        </p:txBody>
      </p:sp>
      <p:sp>
        <p:nvSpPr>
          <p:cNvPr id="33" name="矩形 25"/>
          <p:cNvSpPr>
            <a:spLocks noChangeArrowheads="1"/>
          </p:cNvSpPr>
          <p:nvPr/>
        </p:nvSpPr>
        <p:spPr bwMode="auto">
          <a:xfrm>
            <a:off x="829718" y="2988163"/>
            <a:ext cx="3017838" cy="84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400" dirty="0"/>
              <a:t>要求在一段时间内某资源仅被一进程占用。</a:t>
            </a:r>
          </a:p>
        </p:txBody>
      </p:sp>
      <p:sp>
        <p:nvSpPr>
          <p:cNvPr id="35" name="矩形 25"/>
          <p:cNvSpPr>
            <a:spLocks noChangeArrowheads="1"/>
          </p:cNvSpPr>
          <p:nvPr/>
        </p:nvSpPr>
        <p:spPr bwMode="auto">
          <a:xfrm>
            <a:off x="7705688" y="4421664"/>
            <a:ext cx="3946563"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ts val="675"/>
              </a:spcBef>
            </a:pPr>
            <a:r>
              <a:rPr lang="zh-CN" altLang="en-US" sz="2400" dirty="0"/>
              <a:t>发生死锁时，必然存在一个进程 </a:t>
            </a:r>
            <a:r>
              <a:rPr lang="en-US" altLang="zh-CN" sz="2400" dirty="0"/>
              <a:t>—</a:t>
            </a:r>
            <a:r>
              <a:rPr lang="zh-CN" altLang="en-US" sz="2400" dirty="0"/>
              <a:t>资源的环行链。即进程集合｛ </a:t>
            </a:r>
            <a:r>
              <a:rPr lang="en-US" altLang="zh-CN" sz="2400" dirty="0"/>
              <a:t>P</a:t>
            </a:r>
            <a:r>
              <a:rPr lang="en-US" altLang="zh-CN" sz="2400" baseline="-25000" dirty="0"/>
              <a:t>0</a:t>
            </a:r>
            <a:r>
              <a:rPr lang="zh-CN" altLang="en-US" sz="2400" dirty="0"/>
              <a:t>，</a:t>
            </a:r>
            <a:r>
              <a:rPr lang="en-US" altLang="zh-CN" sz="2400" dirty="0"/>
              <a:t>P</a:t>
            </a:r>
            <a:r>
              <a:rPr lang="en-US" altLang="zh-CN" sz="2400" baseline="-25000" dirty="0"/>
              <a:t>1</a:t>
            </a:r>
            <a:r>
              <a:rPr lang="zh-CN" altLang="en-US" sz="2400" dirty="0"/>
              <a:t>，</a:t>
            </a:r>
            <a:r>
              <a:rPr lang="en-US" altLang="zh-CN" sz="2400" dirty="0"/>
              <a:t>…</a:t>
            </a:r>
            <a:r>
              <a:rPr lang="zh-CN" altLang="en-US" sz="2400" dirty="0"/>
              <a:t> ，</a:t>
            </a:r>
            <a:r>
              <a:rPr lang="en-US" altLang="zh-CN" sz="2400" dirty="0" err="1"/>
              <a:t>P</a:t>
            </a:r>
            <a:r>
              <a:rPr lang="en-US" altLang="zh-CN" sz="2400" baseline="-25000" dirty="0" err="1"/>
              <a:t>n</a:t>
            </a:r>
            <a:r>
              <a:rPr lang="en-US" altLang="zh-CN" sz="2400" dirty="0"/>
              <a:t> </a:t>
            </a:r>
            <a:r>
              <a:rPr lang="zh-CN" altLang="en-US" sz="2400" dirty="0"/>
              <a:t>｝对资源的请求成环状：</a:t>
            </a:r>
            <a:r>
              <a:rPr lang="en-US" altLang="zh-CN" sz="2400" dirty="0"/>
              <a:t>P</a:t>
            </a:r>
            <a:r>
              <a:rPr lang="en-US" altLang="zh-CN" sz="2400" baseline="-25000" dirty="0"/>
              <a:t>0</a:t>
            </a:r>
            <a:r>
              <a:rPr lang="en-US" altLang="zh-CN" sz="2400" dirty="0"/>
              <a:t>→ P</a:t>
            </a:r>
            <a:r>
              <a:rPr lang="en-US" altLang="zh-CN" sz="2400" baseline="-25000" dirty="0"/>
              <a:t>1</a:t>
            </a:r>
            <a:r>
              <a:rPr lang="en-US" altLang="zh-CN" sz="2400" dirty="0"/>
              <a:t> →P</a:t>
            </a:r>
            <a:r>
              <a:rPr lang="en-US" altLang="zh-CN" sz="2400" baseline="-25000" dirty="0"/>
              <a:t>2</a:t>
            </a:r>
            <a:r>
              <a:rPr lang="en-US" altLang="zh-CN" sz="2400" dirty="0"/>
              <a:t> →…</a:t>
            </a:r>
            <a:r>
              <a:rPr lang="en-US" altLang="zh-CN" sz="2400" dirty="0" err="1"/>
              <a:t>P</a:t>
            </a:r>
            <a:r>
              <a:rPr lang="en-US" altLang="zh-CN" sz="2400" baseline="-25000" dirty="0" err="1"/>
              <a:t>n</a:t>
            </a:r>
            <a:r>
              <a:rPr lang="en-US" altLang="zh-CN" sz="2400" dirty="0"/>
              <a:t> →P</a:t>
            </a:r>
            <a:r>
              <a:rPr lang="en-US" altLang="zh-CN" sz="2400" baseline="-25000" dirty="0"/>
              <a:t>0</a:t>
            </a:r>
          </a:p>
        </p:txBody>
      </p:sp>
      <p:sp>
        <p:nvSpPr>
          <p:cNvPr id="36" name="直接连接符 24"/>
          <p:cNvSpPr>
            <a:spLocks noChangeShapeType="1"/>
          </p:cNvSpPr>
          <p:nvPr/>
        </p:nvSpPr>
        <p:spPr bwMode="auto">
          <a:xfrm flipV="1">
            <a:off x="6504879" y="1414979"/>
            <a:ext cx="850415" cy="385444"/>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222131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inVertic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circle(in)">
                                      <p:cBhvr>
                                        <p:cTn id="12" dur="20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circle(in)">
                                      <p:cBhvr>
                                        <p:cTn id="17" dur="2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down)">
                                      <p:cBhvr>
                                        <p:cTn id="2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死锁的定义、必要条件和处理方法</a:t>
            </a:r>
          </a:p>
        </p:txBody>
      </p:sp>
      <p:pic>
        <p:nvPicPr>
          <p:cNvPr id="103426" name="Picture 6"/>
          <p:cNvPicPr>
            <a:picLocks noChangeAspect="1" noChangeArrowheads="1"/>
          </p:cNvPicPr>
          <p:nvPr/>
        </p:nvPicPr>
        <p:blipFill>
          <a:blip r:embed="rId2">
            <a:extLst>
              <a:ext uri="{28A0092B-C50C-407E-A947-70E740481C1C}">
                <a14:useLocalDpi xmlns:a14="http://schemas.microsoft.com/office/drawing/2010/main" val="0"/>
              </a:ext>
            </a:extLst>
          </a:blip>
          <a:srcRect b="42796"/>
          <a:stretch>
            <a:fillRect/>
          </a:stretch>
        </p:blipFill>
        <p:spPr bwMode="auto">
          <a:xfrm>
            <a:off x="2712720" y="768290"/>
            <a:ext cx="9479280" cy="6183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Text Box 7"/>
          <p:cNvSpPr txBox="1">
            <a:spLocks noChangeArrowheads="1"/>
          </p:cNvSpPr>
          <p:nvPr/>
        </p:nvSpPr>
        <p:spPr bwMode="auto">
          <a:xfrm>
            <a:off x="5577840" y="611197"/>
            <a:ext cx="5821680"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lang="en-US" altLang="zh-CN" sz="1600" dirty="0">
                <a:solidFill>
                  <a:schemeClr val="tx1"/>
                </a:solidFill>
                <a:latin typeface="Tahoma" pitchFamily="34" charset="0"/>
              </a:rPr>
              <a:t>A                                      B                                     C</a:t>
            </a:r>
          </a:p>
        </p:txBody>
      </p:sp>
    </p:spTree>
    <p:extLst>
      <p:ext uri="{BB962C8B-B14F-4D97-AF65-F5344CB8AC3E}">
        <p14:creationId xmlns:p14="http://schemas.microsoft.com/office/powerpoint/2010/main" val="2625289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6"/>
          <p:cNvPicPr>
            <a:picLocks noChangeAspect="1" noChangeArrowheads="1"/>
          </p:cNvPicPr>
          <p:nvPr/>
        </p:nvPicPr>
        <p:blipFill>
          <a:blip r:embed="rId2">
            <a:extLst>
              <a:ext uri="{28A0092B-C50C-407E-A947-70E740481C1C}">
                <a14:useLocalDpi xmlns:a14="http://schemas.microsoft.com/office/drawing/2010/main" val="0"/>
              </a:ext>
            </a:extLst>
          </a:blip>
          <a:srcRect t="59518"/>
          <a:stretch>
            <a:fillRect/>
          </a:stretch>
        </p:blipFill>
        <p:spPr bwMode="auto">
          <a:xfrm>
            <a:off x="2590800" y="850265"/>
            <a:ext cx="9420013" cy="55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5" name="Text Box 7"/>
          <p:cNvSpPr txBox="1">
            <a:spLocks noChangeArrowheads="1"/>
          </p:cNvSpPr>
          <p:nvPr/>
        </p:nvSpPr>
        <p:spPr bwMode="auto">
          <a:xfrm>
            <a:off x="3482764" y="6216015"/>
            <a:ext cx="8092016"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spcBef>
                <a:spcPct val="50000"/>
              </a:spcBef>
            </a:pPr>
            <a:r>
              <a:rPr lang="en-US" altLang="zh-CN" sz="1800">
                <a:solidFill>
                  <a:schemeClr val="tx1"/>
                </a:solidFill>
                <a:latin typeface="Tahoma" pitchFamily="34" charset="0"/>
              </a:rPr>
              <a:t>(o)                                  (p)                             (q)</a:t>
            </a:r>
          </a:p>
        </p:txBody>
      </p:sp>
      <p:sp>
        <p:nvSpPr>
          <p:cNvPr id="4" name="文本框 25"/>
          <p:cNvSpPr txBox="1">
            <a:spLocks noChangeArrowheads="1"/>
          </p:cNvSpPr>
          <p:nvPr/>
        </p:nvSpPr>
        <p:spPr bwMode="auto">
          <a:xfrm>
            <a:off x="902970" y="212725"/>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死锁的定义、必要条件和处理方法</a:t>
            </a:r>
          </a:p>
        </p:txBody>
      </p:sp>
    </p:spTree>
    <p:extLst>
      <p:ext uri="{BB962C8B-B14F-4D97-AF65-F5344CB8AC3E}">
        <p14:creationId xmlns:p14="http://schemas.microsoft.com/office/powerpoint/2010/main" val="3385172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a:grpSpLocks/>
          </p:cNvGrpSpPr>
          <p:nvPr/>
        </p:nvGrpSpPr>
        <p:grpSpPr bwMode="auto">
          <a:xfrm>
            <a:off x="5663089" y="1381919"/>
            <a:ext cx="715963" cy="2792413"/>
            <a:chOff x="5358714" y="1088571"/>
            <a:chExt cx="716454" cy="2793646"/>
          </a:xfrm>
        </p:grpSpPr>
        <p:sp>
          <p:nvSpPr>
            <p:cNvPr id="93" name="Freeform 5"/>
            <p:cNvSpPr/>
            <p:nvPr/>
          </p:nvSpPr>
          <p:spPr bwMode="auto">
            <a:xfrm>
              <a:off x="5358714" y="1088571"/>
              <a:ext cx="716454" cy="2793646"/>
            </a:xfrm>
            <a:custGeom>
              <a:avLst/>
              <a:gdLst>
                <a:gd name="T0" fmla="*/ 234 w 234"/>
                <a:gd name="T1" fmla="*/ 1196 h 1196"/>
                <a:gd name="T2" fmla="*/ 0 w 234"/>
                <a:gd name="T3" fmla="*/ 1196 h 1196"/>
                <a:gd name="T4" fmla="*/ 0 w 234"/>
                <a:gd name="T5" fmla="*/ 34 h 1196"/>
                <a:gd name="T6" fmla="*/ 118 w 234"/>
                <a:gd name="T7" fmla="*/ 0 h 1196"/>
                <a:gd name="T8" fmla="*/ 234 w 234"/>
                <a:gd name="T9" fmla="*/ 34 h 1196"/>
                <a:gd name="T10" fmla="*/ 234 w 234"/>
                <a:gd name="T11" fmla="*/ 1196 h 1196"/>
              </a:gdLst>
              <a:ahLst/>
              <a:cxnLst>
                <a:cxn ang="0">
                  <a:pos x="T0" y="T1"/>
                </a:cxn>
                <a:cxn ang="0">
                  <a:pos x="T2" y="T3"/>
                </a:cxn>
                <a:cxn ang="0">
                  <a:pos x="T4" y="T5"/>
                </a:cxn>
                <a:cxn ang="0">
                  <a:pos x="T6" y="T7"/>
                </a:cxn>
                <a:cxn ang="0">
                  <a:pos x="T8" y="T9"/>
                </a:cxn>
                <a:cxn ang="0">
                  <a:pos x="T10" y="T11"/>
                </a:cxn>
              </a:cxnLst>
              <a:rect l="0" t="0" r="r" b="b"/>
              <a:pathLst>
                <a:path w="234" h="1196">
                  <a:moveTo>
                    <a:pt x="234" y="1196"/>
                  </a:moveTo>
                  <a:lnTo>
                    <a:pt x="0" y="1196"/>
                  </a:lnTo>
                  <a:lnTo>
                    <a:pt x="0" y="34"/>
                  </a:lnTo>
                  <a:lnTo>
                    <a:pt x="118" y="0"/>
                  </a:lnTo>
                  <a:lnTo>
                    <a:pt x="234" y="34"/>
                  </a:lnTo>
                  <a:lnTo>
                    <a:pt x="234" y="1196"/>
                  </a:lnTo>
                  <a:close/>
                </a:path>
              </a:pathLst>
            </a:custGeom>
            <a:solidFill>
              <a:srgbClr val="19751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fontAlgn="auto"/>
              <a:endParaRPr lang="zh-CN" altLang="en-US" noProof="1"/>
            </a:p>
          </p:txBody>
        </p:sp>
        <p:grpSp>
          <p:nvGrpSpPr>
            <p:cNvPr id="94" name="组合 93"/>
            <p:cNvGrpSpPr>
              <a:grpSpLocks/>
            </p:cNvGrpSpPr>
            <p:nvPr/>
          </p:nvGrpSpPr>
          <p:grpSpPr bwMode="auto">
            <a:xfrm>
              <a:off x="5641483" y="1498327"/>
              <a:ext cx="150916" cy="1626317"/>
              <a:chOff x="5667364" y="1564758"/>
              <a:chExt cx="150916" cy="1626317"/>
            </a:xfrm>
          </p:grpSpPr>
          <p:cxnSp>
            <p:nvCxnSpPr>
              <p:cNvPr id="95" name="直接连接符 94"/>
              <p:cNvCxnSpPr/>
              <p:nvPr/>
            </p:nvCxnSpPr>
            <p:spPr>
              <a:xfrm flipV="1">
                <a:off x="5818280" y="1779165"/>
                <a:ext cx="0" cy="121020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5667364" y="1564758"/>
                <a:ext cx="0" cy="16263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6" name="组合 5"/>
          <p:cNvGrpSpPr>
            <a:grpSpLocks/>
          </p:cNvGrpSpPr>
          <p:nvPr/>
        </p:nvGrpSpPr>
        <p:grpSpPr bwMode="auto">
          <a:xfrm>
            <a:off x="6390164" y="4190207"/>
            <a:ext cx="725488" cy="2560637"/>
            <a:chOff x="6086956" y="3897262"/>
            <a:chExt cx="725638" cy="2560908"/>
          </a:xfrm>
        </p:grpSpPr>
        <p:sp>
          <p:nvSpPr>
            <p:cNvPr id="90" name="Freeform 8"/>
            <p:cNvSpPr/>
            <p:nvPr/>
          </p:nvSpPr>
          <p:spPr bwMode="auto">
            <a:xfrm>
              <a:off x="6086956" y="3897262"/>
              <a:ext cx="725638" cy="2560908"/>
            </a:xfrm>
            <a:custGeom>
              <a:avLst/>
              <a:gdLst>
                <a:gd name="T0" fmla="*/ 237 w 237"/>
                <a:gd name="T1" fmla="*/ 974 h 1007"/>
                <a:gd name="T2" fmla="*/ 119 w 237"/>
                <a:gd name="T3" fmla="*/ 1007 h 1007"/>
                <a:gd name="T4" fmla="*/ 0 w 237"/>
                <a:gd name="T5" fmla="*/ 974 h 1007"/>
                <a:gd name="T6" fmla="*/ 0 w 237"/>
                <a:gd name="T7" fmla="*/ 0 h 1007"/>
                <a:gd name="T8" fmla="*/ 237 w 237"/>
                <a:gd name="T9" fmla="*/ 0 h 1007"/>
                <a:gd name="T10" fmla="*/ 237 w 237"/>
                <a:gd name="T11" fmla="*/ 974 h 1007"/>
              </a:gdLst>
              <a:ahLst/>
              <a:cxnLst>
                <a:cxn ang="0">
                  <a:pos x="T0" y="T1"/>
                </a:cxn>
                <a:cxn ang="0">
                  <a:pos x="T2" y="T3"/>
                </a:cxn>
                <a:cxn ang="0">
                  <a:pos x="T4" y="T5"/>
                </a:cxn>
                <a:cxn ang="0">
                  <a:pos x="T6" y="T7"/>
                </a:cxn>
                <a:cxn ang="0">
                  <a:pos x="T8" y="T9"/>
                </a:cxn>
                <a:cxn ang="0">
                  <a:pos x="T10" y="T11"/>
                </a:cxn>
              </a:cxnLst>
              <a:rect l="0" t="0" r="r" b="b"/>
              <a:pathLst>
                <a:path w="237" h="1007">
                  <a:moveTo>
                    <a:pt x="237" y="974"/>
                  </a:moveTo>
                  <a:lnTo>
                    <a:pt x="119" y="1007"/>
                  </a:lnTo>
                  <a:lnTo>
                    <a:pt x="0" y="974"/>
                  </a:lnTo>
                  <a:lnTo>
                    <a:pt x="0" y="0"/>
                  </a:lnTo>
                  <a:lnTo>
                    <a:pt x="237" y="0"/>
                  </a:lnTo>
                  <a:lnTo>
                    <a:pt x="237" y="974"/>
                  </a:lnTo>
                  <a:close/>
                </a:path>
              </a:pathLst>
            </a:custGeom>
            <a:solidFill>
              <a:srgbClr val="19751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fontAlgn="auto"/>
              <a:endParaRPr lang="zh-CN" altLang="en-US" noProof="1"/>
            </a:p>
          </p:txBody>
        </p:sp>
        <p:cxnSp>
          <p:nvCxnSpPr>
            <p:cNvPr id="91" name="直接连接符 90"/>
            <p:cNvCxnSpPr/>
            <p:nvPr/>
          </p:nvCxnSpPr>
          <p:spPr>
            <a:xfrm flipV="1">
              <a:off x="6515670" y="4830811"/>
              <a:ext cx="0" cy="12367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V="1">
              <a:off x="6383880" y="4652992"/>
              <a:ext cx="0" cy="1243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 name="组合 6"/>
          <p:cNvGrpSpPr>
            <a:grpSpLocks/>
          </p:cNvGrpSpPr>
          <p:nvPr/>
        </p:nvGrpSpPr>
        <p:grpSpPr bwMode="auto">
          <a:xfrm>
            <a:off x="6390164" y="3417094"/>
            <a:ext cx="4816475" cy="760413"/>
            <a:chOff x="6086956" y="3124444"/>
            <a:chExt cx="4816475" cy="760776"/>
          </a:xfrm>
        </p:grpSpPr>
        <p:sp>
          <p:nvSpPr>
            <p:cNvPr id="86" name="Freeform 6"/>
            <p:cNvSpPr/>
            <p:nvPr/>
          </p:nvSpPr>
          <p:spPr bwMode="auto">
            <a:xfrm>
              <a:off x="6086956" y="3124444"/>
              <a:ext cx="4816475" cy="760776"/>
            </a:xfrm>
            <a:custGeom>
              <a:avLst/>
              <a:gdLst>
                <a:gd name="T0" fmla="*/ 702 w 735"/>
                <a:gd name="T1" fmla="*/ 236 h 236"/>
                <a:gd name="T2" fmla="*/ 0 w 735"/>
                <a:gd name="T3" fmla="*/ 236 h 236"/>
                <a:gd name="T4" fmla="*/ 0 w 735"/>
                <a:gd name="T5" fmla="*/ 0 h 236"/>
                <a:gd name="T6" fmla="*/ 702 w 735"/>
                <a:gd name="T7" fmla="*/ 0 h 236"/>
                <a:gd name="T8" fmla="*/ 735 w 735"/>
                <a:gd name="T9" fmla="*/ 118 h 236"/>
                <a:gd name="T10" fmla="*/ 702 w 735"/>
                <a:gd name="T11" fmla="*/ 236 h 236"/>
              </a:gdLst>
              <a:ahLst/>
              <a:cxnLst>
                <a:cxn ang="0">
                  <a:pos x="T0" y="T1"/>
                </a:cxn>
                <a:cxn ang="0">
                  <a:pos x="T2" y="T3"/>
                </a:cxn>
                <a:cxn ang="0">
                  <a:pos x="T4" y="T5"/>
                </a:cxn>
                <a:cxn ang="0">
                  <a:pos x="T6" y="T7"/>
                </a:cxn>
                <a:cxn ang="0">
                  <a:pos x="T8" y="T9"/>
                </a:cxn>
                <a:cxn ang="0">
                  <a:pos x="T10" y="T11"/>
                </a:cxn>
              </a:cxnLst>
              <a:rect l="0" t="0" r="r" b="b"/>
              <a:pathLst>
                <a:path w="735" h="236">
                  <a:moveTo>
                    <a:pt x="702" y="236"/>
                  </a:moveTo>
                  <a:lnTo>
                    <a:pt x="0" y="236"/>
                  </a:lnTo>
                  <a:lnTo>
                    <a:pt x="0" y="0"/>
                  </a:lnTo>
                  <a:lnTo>
                    <a:pt x="702" y="0"/>
                  </a:lnTo>
                  <a:lnTo>
                    <a:pt x="735" y="118"/>
                  </a:lnTo>
                  <a:lnTo>
                    <a:pt x="702" y="236"/>
                  </a:lnTo>
                  <a:close/>
                </a:path>
              </a:pathLst>
            </a:custGeom>
            <a:solidFill>
              <a:srgbClr val="19751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fontAlgn="auto"/>
              <a:endParaRPr lang="zh-CN" altLang="en-US" noProof="1"/>
            </a:p>
          </p:txBody>
        </p:sp>
        <p:grpSp>
          <p:nvGrpSpPr>
            <p:cNvPr id="87" name="组合 86"/>
            <p:cNvGrpSpPr>
              <a:grpSpLocks/>
            </p:cNvGrpSpPr>
            <p:nvPr/>
          </p:nvGrpSpPr>
          <p:grpSpPr bwMode="auto">
            <a:xfrm rot="5400000">
              <a:off x="8504684" y="2084813"/>
              <a:ext cx="150885" cy="2840038"/>
              <a:chOff x="5667380" y="1363723"/>
              <a:chExt cx="150885" cy="1825930"/>
            </a:xfrm>
          </p:grpSpPr>
          <p:cxnSp>
            <p:nvCxnSpPr>
              <p:cNvPr id="88" name="直接连接符 87"/>
              <p:cNvCxnSpPr/>
              <p:nvPr/>
            </p:nvCxnSpPr>
            <p:spPr>
              <a:xfrm flipV="1">
                <a:off x="5818265" y="1363723"/>
                <a:ext cx="0" cy="162486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5667380" y="1564790"/>
                <a:ext cx="0" cy="162486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8" name="组合 7"/>
          <p:cNvGrpSpPr>
            <a:grpSpLocks/>
          </p:cNvGrpSpPr>
          <p:nvPr/>
        </p:nvGrpSpPr>
        <p:grpSpPr bwMode="auto">
          <a:xfrm>
            <a:off x="1592739" y="4183857"/>
            <a:ext cx="4786313" cy="765175"/>
            <a:chOff x="1288569" y="3891743"/>
            <a:chExt cx="4786599" cy="764000"/>
          </a:xfrm>
        </p:grpSpPr>
        <p:sp>
          <p:nvSpPr>
            <p:cNvPr id="82" name="Freeform 7"/>
            <p:cNvSpPr/>
            <p:nvPr/>
          </p:nvSpPr>
          <p:spPr bwMode="auto">
            <a:xfrm>
              <a:off x="1288569" y="3891743"/>
              <a:ext cx="4786599" cy="764000"/>
            </a:xfrm>
            <a:custGeom>
              <a:avLst/>
              <a:gdLst>
                <a:gd name="T0" fmla="*/ 900 w 900"/>
                <a:gd name="T1" fmla="*/ 237 h 237"/>
                <a:gd name="T2" fmla="*/ 33 w 900"/>
                <a:gd name="T3" fmla="*/ 237 h 237"/>
                <a:gd name="T4" fmla="*/ 0 w 900"/>
                <a:gd name="T5" fmla="*/ 119 h 237"/>
                <a:gd name="T6" fmla="*/ 33 w 900"/>
                <a:gd name="T7" fmla="*/ 0 h 237"/>
                <a:gd name="T8" fmla="*/ 900 w 900"/>
                <a:gd name="T9" fmla="*/ 0 h 237"/>
                <a:gd name="T10" fmla="*/ 900 w 900"/>
                <a:gd name="T11" fmla="*/ 237 h 237"/>
              </a:gdLst>
              <a:ahLst/>
              <a:cxnLst>
                <a:cxn ang="0">
                  <a:pos x="T0" y="T1"/>
                </a:cxn>
                <a:cxn ang="0">
                  <a:pos x="T2" y="T3"/>
                </a:cxn>
                <a:cxn ang="0">
                  <a:pos x="T4" y="T5"/>
                </a:cxn>
                <a:cxn ang="0">
                  <a:pos x="T6" y="T7"/>
                </a:cxn>
                <a:cxn ang="0">
                  <a:pos x="T8" y="T9"/>
                </a:cxn>
                <a:cxn ang="0">
                  <a:pos x="T10" y="T11"/>
                </a:cxn>
              </a:cxnLst>
              <a:rect l="0" t="0" r="r" b="b"/>
              <a:pathLst>
                <a:path w="900" h="237">
                  <a:moveTo>
                    <a:pt x="900" y="237"/>
                  </a:moveTo>
                  <a:lnTo>
                    <a:pt x="33" y="237"/>
                  </a:lnTo>
                  <a:lnTo>
                    <a:pt x="0" y="119"/>
                  </a:lnTo>
                  <a:lnTo>
                    <a:pt x="33" y="0"/>
                  </a:lnTo>
                  <a:lnTo>
                    <a:pt x="900" y="0"/>
                  </a:lnTo>
                  <a:lnTo>
                    <a:pt x="900" y="237"/>
                  </a:lnTo>
                  <a:close/>
                </a:path>
              </a:pathLst>
            </a:custGeom>
            <a:solidFill>
              <a:srgbClr val="197519"/>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fontAlgn="auto"/>
              <a:endParaRPr lang="zh-CN" altLang="en-US" noProof="1"/>
            </a:p>
          </p:txBody>
        </p:sp>
        <p:grpSp>
          <p:nvGrpSpPr>
            <p:cNvPr id="83" name="组合 82"/>
            <p:cNvGrpSpPr>
              <a:grpSpLocks/>
            </p:cNvGrpSpPr>
            <p:nvPr/>
          </p:nvGrpSpPr>
          <p:grpSpPr bwMode="auto">
            <a:xfrm rot="5400000">
              <a:off x="3356532" y="2853641"/>
              <a:ext cx="148995" cy="2840206"/>
              <a:chOff x="5668326" y="1363749"/>
              <a:chExt cx="148995" cy="1826038"/>
            </a:xfrm>
          </p:grpSpPr>
          <p:cxnSp>
            <p:nvCxnSpPr>
              <p:cNvPr id="84" name="直接连接符 83"/>
              <p:cNvCxnSpPr/>
              <p:nvPr/>
            </p:nvCxnSpPr>
            <p:spPr>
              <a:xfrm flipV="1">
                <a:off x="5817321" y="1363749"/>
                <a:ext cx="0" cy="16249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V="1">
                <a:off x="5668326" y="1564827"/>
                <a:ext cx="0" cy="16249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9" name="组合 8"/>
          <p:cNvGrpSpPr>
            <a:grpSpLocks/>
          </p:cNvGrpSpPr>
          <p:nvPr/>
        </p:nvGrpSpPr>
        <p:grpSpPr bwMode="auto">
          <a:xfrm>
            <a:off x="5756752" y="4320382"/>
            <a:ext cx="495300" cy="492125"/>
            <a:chOff x="5547107" y="4005405"/>
            <a:chExt cx="495634" cy="493181"/>
          </a:xfrm>
        </p:grpSpPr>
        <p:sp>
          <p:nvSpPr>
            <p:cNvPr id="68" name="Oval 1603"/>
            <p:cNvSpPr>
              <a:spLocks noChangeArrowheads="1"/>
            </p:cNvSpPr>
            <p:nvPr/>
          </p:nvSpPr>
          <p:spPr bwMode="auto">
            <a:xfrm>
              <a:off x="5547107" y="4005405"/>
              <a:ext cx="495634" cy="493181"/>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9" name="Oval 1604"/>
            <p:cNvSpPr>
              <a:spLocks noChangeArrowheads="1"/>
            </p:cNvSpPr>
            <p:nvPr/>
          </p:nvSpPr>
          <p:spPr bwMode="auto">
            <a:xfrm>
              <a:off x="5564282" y="4027488"/>
              <a:ext cx="453923" cy="45392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70" name="组合 69"/>
            <p:cNvGrpSpPr>
              <a:grpSpLocks/>
            </p:cNvGrpSpPr>
            <p:nvPr/>
          </p:nvGrpSpPr>
          <p:grpSpPr bwMode="auto">
            <a:xfrm>
              <a:off x="5682057" y="4086375"/>
              <a:ext cx="225734" cy="331241"/>
              <a:chOff x="5682057" y="3603931"/>
              <a:chExt cx="225734" cy="331241"/>
            </a:xfrm>
          </p:grpSpPr>
          <p:sp>
            <p:nvSpPr>
              <p:cNvPr id="71" name="Freeform 407"/>
              <p:cNvSpPr>
                <a:spLocks noChangeArrowheads="1"/>
              </p:cNvSpPr>
              <p:nvPr/>
            </p:nvSpPr>
            <p:spPr bwMode="auto">
              <a:xfrm>
                <a:off x="5775295" y="3756056"/>
                <a:ext cx="29444" cy="29444"/>
              </a:xfrm>
              <a:custGeom>
                <a:avLst/>
                <a:gdLst>
                  <a:gd name="T0" fmla="*/ 2 w 5"/>
                  <a:gd name="T1" fmla="*/ 5 h 5"/>
                  <a:gd name="T2" fmla="*/ 1 w 5"/>
                  <a:gd name="T3" fmla="*/ 5 h 5"/>
                  <a:gd name="T4" fmla="*/ 1 w 5"/>
                  <a:gd name="T5" fmla="*/ 3 h 5"/>
                  <a:gd name="T6" fmla="*/ 3 w 5"/>
                  <a:gd name="T7" fmla="*/ 1 h 5"/>
                  <a:gd name="T8" fmla="*/ 4 w 5"/>
                  <a:gd name="T9" fmla="*/ 0 h 5"/>
                  <a:gd name="T10" fmla="*/ 5 w 5"/>
                  <a:gd name="T11" fmla="*/ 2 h 5"/>
                  <a:gd name="T12" fmla="*/ 3 w 5"/>
                  <a:gd name="T13" fmla="*/ 5 h 5"/>
                  <a:gd name="T14" fmla="*/ 2 w 5"/>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5">
                    <a:moveTo>
                      <a:pt x="2" y="5"/>
                    </a:moveTo>
                    <a:cubicBezTo>
                      <a:pt x="2" y="5"/>
                      <a:pt x="1" y="5"/>
                      <a:pt x="1" y="5"/>
                    </a:cubicBezTo>
                    <a:cubicBezTo>
                      <a:pt x="1" y="5"/>
                      <a:pt x="0" y="4"/>
                      <a:pt x="1" y="3"/>
                    </a:cubicBezTo>
                    <a:cubicBezTo>
                      <a:pt x="3" y="1"/>
                      <a:pt x="3" y="1"/>
                      <a:pt x="3" y="1"/>
                    </a:cubicBezTo>
                    <a:cubicBezTo>
                      <a:pt x="3" y="0"/>
                      <a:pt x="4" y="0"/>
                      <a:pt x="4" y="0"/>
                    </a:cubicBezTo>
                    <a:cubicBezTo>
                      <a:pt x="5" y="1"/>
                      <a:pt x="5" y="1"/>
                      <a:pt x="5" y="2"/>
                    </a:cubicBezTo>
                    <a:cubicBezTo>
                      <a:pt x="3" y="5"/>
                      <a:pt x="3" y="5"/>
                      <a:pt x="3" y="5"/>
                    </a:cubicBezTo>
                    <a:cubicBezTo>
                      <a:pt x="3" y="5"/>
                      <a:pt x="2" y="5"/>
                      <a:pt x="2" y="5"/>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2" name="Oval 1605"/>
              <p:cNvSpPr>
                <a:spLocks noChangeArrowheads="1"/>
              </p:cNvSpPr>
              <p:nvPr/>
            </p:nvSpPr>
            <p:spPr bwMode="auto">
              <a:xfrm>
                <a:off x="5775295" y="3900821"/>
                <a:ext cx="34351" cy="34351"/>
              </a:xfrm>
              <a:prstGeom prst="ellipse">
                <a:avLst/>
              </a:pr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3" name="Freeform 1606"/>
              <p:cNvSpPr>
                <a:spLocks noChangeArrowheads="1"/>
              </p:cNvSpPr>
              <p:nvPr/>
            </p:nvSpPr>
            <p:spPr bwMode="auto">
              <a:xfrm>
                <a:off x="5745851" y="3778139"/>
                <a:ext cx="98145" cy="144765"/>
              </a:xfrm>
              <a:custGeom>
                <a:avLst/>
                <a:gdLst>
                  <a:gd name="T0" fmla="*/ 17 w 17"/>
                  <a:gd name="T1" fmla="*/ 14 h 25"/>
                  <a:gd name="T2" fmla="*/ 10 w 17"/>
                  <a:gd name="T3" fmla="*/ 25 h 25"/>
                  <a:gd name="T4" fmla="*/ 7 w 17"/>
                  <a:gd name="T5" fmla="*/ 25 h 25"/>
                  <a:gd name="T6" fmla="*/ 0 w 17"/>
                  <a:gd name="T7" fmla="*/ 14 h 25"/>
                  <a:gd name="T8" fmla="*/ 0 w 17"/>
                  <a:gd name="T9" fmla="*/ 0 h 25"/>
                  <a:gd name="T10" fmla="*/ 17 w 17"/>
                  <a:gd name="T11" fmla="*/ 0 h 25"/>
                  <a:gd name="T12" fmla="*/ 17 w 17"/>
                  <a:gd name="T13" fmla="*/ 14 h 25"/>
                </a:gdLst>
                <a:ahLst/>
                <a:cxnLst>
                  <a:cxn ang="0">
                    <a:pos x="T0" y="T1"/>
                  </a:cxn>
                  <a:cxn ang="0">
                    <a:pos x="T2" y="T3"/>
                  </a:cxn>
                  <a:cxn ang="0">
                    <a:pos x="T4" y="T5"/>
                  </a:cxn>
                  <a:cxn ang="0">
                    <a:pos x="T6" y="T7"/>
                  </a:cxn>
                  <a:cxn ang="0">
                    <a:pos x="T8" y="T9"/>
                  </a:cxn>
                  <a:cxn ang="0">
                    <a:pos x="T10" y="T11"/>
                  </a:cxn>
                  <a:cxn ang="0">
                    <a:pos x="T12" y="T13"/>
                  </a:cxn>
                </a:cxnLst>
                <a:rect l="0" t="0" r="r" b="b"/>
                <a:pathLst>
                  <a:path w="17" h="25">
                    <a:moveTo>
                      <a:pt x="17" y="14"/>
                    </a:moveTo>
                    <a:cubicBezTo>
                      <a:pt x="17" y="20"/>
                      <a:pt x="14" y="25"/>
                      <a:pt x="10" y="25"/>
                    </a:cubicBezTo>
                    <a:cubicBezTo>
                      <a:pt x="7" y="25"/>
                      <a:pt x="7" y="25"/>
                      <a:pt x="7" y="25"/>
                    </a:cubicBezTo>
                    <a:cubicBezTo>
                      <a:pt x="3" y="25"/>
                      <a:pt x="0" y="20"/>
                      <a:pt x="0" y="14"/>
                    </a:cubicBezTo>
                    <a:cubicBezTo>
                      <a:pt x="0" y="0"/>
                      <a:pt x="0" y="0"/>
                      <a:pt x="0" y="0"/>
                    </a:cubicBezTo>
                    <a:cubicBezTo>
                      <a:pt x="17" y="0"/>
                      <a:pt x="17" y="0"/>
                      <a:pt x="17" y="0"/>
                    </a:cubicBezTo>
                    <a:lnTo>
                      <a:pt x="17" y="14"/>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4" name="Freeform 1607"/>
              <p:cNvSpPr>
                <a:spLocks noChangeArrowheads="1"/>
              </p:cNvSpPr>
              <p:nvPr/>
            </p:nvSpPr>
            <p:spPr bwMode="auto">
              <a:xfrm>
                <a:off x="5745851" y="3778139"/>
                <a:ext cx="98145" cy="58887"/>
              </a:xfrm>
              <a:custGeom>
                <a:avLst/>
                <a:gdLst>
                  <a:gd name="T0" fmla="*/ 0 w 17"/>
                  <a:gd name="T1" fmla="*/ 10 h 10"/>
                  <a:gd name="T2" fmla="*/ 17 w 17"/>
                  <a:gd name="T3" fmla="*/ 3 h 10"/>
                  <a:gd name="T4" fmla="*/ 17 w 17"/>
                  <a:gd name="T5" fmla="*/ 0 h 10"/>
                  <a:gd name="T6" fmla="*/ 17 w 17"/>
                  <a:gd name="T7" fmla="*/ 0 h 10"/>
                  <a:gd name="T8" fmla="*/ 0 w 17"/>
                  <a:gd name="T9" fmla="*/ 7 h 10"/>
                  <a:gd name="T10" fmla="*/ 0 w 17"/>
                  <a:gd name="T11" fmla="*/ 10 h 10"/>
                </a:gdLst>
                <a:ahLst/>
                <a:cxnLst>
                  <a:cxn ang="0">
                    <a:pos x="T0" y="T1"/>
                  </a:cxn>
                  <a:cxn ang="0">
                    <a:pos x="T2" y="T3"/>
                  </a:cxn>
                  <a:cxn ang="0">
                    <a:pos x="T4" y="T5"/>
                  </a:cxn>
                  <a:cxn ang="0">
                    <a:pos x="T6" y="T7"/>
                  </a:cxn>
                  <a:cxn ang="0">
                    <a:pos x="T8" y="T9"/>
                  </a:cxn>
                  <a:cxn ang="0">
                    <a:pos x="T10" y="T11"/>
                  </a:cxn>
                </a:cxnLst>
                <a:rect l="0" t="0" r="r" b="b"/>
                <a:pathLst>
                  <a:path w="17" h="10">
                    <a:moveTo>
                      <a:pt x="0" y="10"/>
                    </a:moveTo>
                    <a:cubicBezTo>
                      <a:pt x="17" y="3"/>
                      <a:pt x="17" y="3"/>
                      <a:pt x="17" y="3"/>
                    </a:cubicBezTo>
                    <a:cubicBezTo>
                      <a:pt x="17" y="0"/>
                      <a:pt x="17" y="0"/>
                      <a:pt x="17" y="0"/>
                    </a:cubicBezTo>
                    <a:cubicBezTo>
                      <a:pt x="17" y="0"/>
                      <a:pt x="17" y="0"/>
                      <a:pt x="17" y="0"/>
                    </a:cubicBezTo>
                    <a:cubicBezTo>
                      <a:pt x="0" y="7"/>
                      <a:pt x="0" y="7"/>
                      <a:pt x="0" y="7"/>
                    </a:cubicBezTo>
                    <a:lnTo>
                      <a:pt x="0" y="10"/>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5" name="Freeform 1608"/>
              <p:cNvSpPr>
                <a:spLocks noChangeArrowheads="1"/>
              </p:cNvSpPr>
              <p:nvPr/>
            </p:nvSpPr>
            <p:spPr bwMode="auto">
              <a:xfrm>
                <a:off x="5745851" y="3812490"/>
                <a:ext cx="98145" cy="58887"/>
              </a:xfrm>
              <a:custGeom>
                <a:avLst/>
                <a:gdLst>
                  <a:gd name="T0" fmla="*/ 0 w 17"/>
                  <a:gd name="T1" fmla="*/ 8 h 10"/>
                  <a:gd name="T2" fmla="*/ 0 w 17"/>
                  <a:gd name="T3" fmla="*/ 10 h 10"/>
                  <a:gd name="T4" fmla="*/ 17 w 17"/>
                  <a:gd name="T5" fmla="*/ 3 h 10"/>
                  <a:gd name="T6" fmla="*/ 17 w 17"/>
                  <a:gd name="T7" fmla="*/ 0 h 10"/>
                  <a:gd name="T8" fmla="*/ 0 w 17"/>
                  <a:gd name="T9" fmla="*/ 7 h 10"/>
                  <a:gd name="T10" fmla="*/ 0 w 17"/>
                  <a:gd name="T11" fmla="*/ 8 h 10"/>
                </a:gdLst>
                <a:ahLst/>
                <a:cxnLst>
                  <a:cxn ang="0">
                    <a:pos x="T0" y="T1"/>
                  </a:cxn>
                  <a:cxn ang="0">
                    <a:pos x="T2" y="T3"/>
                  </a:cxn>
                  <a:cxn ang="0">
                    <a:pos x="T4" y="T5"/>
                  </a:cxn>
                  <a:cxn ang="0">
                    <a:pos x="T6" y="T7"/>
                  </a:cxn>
                  <a:cxn ang="0">
                    <a:pos x="T8" y="T9"/>
                  </a:cxn>
                  <a:cxn ang="0">
                    <a:pos x="T10" y="T11"/>
                  </a:cxn>
                </a:cxnLst>
                <a:rect l="0" t="0" r="r" b="b"/>
                <a:pathLst>
                  <a:path w="17" h="10">
                    <a:moveTo>
                      <a:pt x="0" y="8"/>
                    </a:moveTo>
                    <a:cubicBezTo>
                      <a:pt x="0" y="8"/>
                      <a:pt x="0" y="9"/>
                      <a:pt x="0" y="10"/>
                    </a:cubicBezTo>
                    <a:cubicBezTo>
                      <a:pt x="17" y="3"/>
                      <a:pt x="17" y="3"/>
                      <a:pt x="17" y="3"/>
                    </a:cubicBezTo>
                    <a:cubicBezTo>
                      <a:pt x="17" y="0"/>
                      <a:pt x="17" y="0"/>
                      <a:pt x="17" y="0"/>
                    </a:cubicBezTo>
                    <a:cubicBezTo>
                      <a:pt x="0" y="7"/>
                      <a:pt x="0" y="7"/>
                      <a:pt x="0" y="7"/>
                    </a:cubicBezTo>
                    <a:lnTo>
                      <a:pt x="0" y="8"/>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6" name="Freeform 1609"/>
              <p:cNvSpPr>
                <a:spLocks noChangeArrowheads="1"/>
              </p:cNvSpPr>
              <p:nvPr/>
            </p:nvSpPr>
            <p:spPr bwMode="auto">
              <a:xfrm>
                <a:off x="5745851" y="3841934"/>
                <a:ext cx="98145" cy="58887"/>
              </a:xfrm>
              <a:custGeom>
                <a:avLst/>
                <a:gdLst>
                  <a:gd name="T0" fmla="*/ 1 w 17"/>
                  <a:gd name="T1" fmla="*/ 10 h 10"/>
                  <a:gd name="T2" fmla="*/ 17 w 17"/>
                  <a:gd name="T3" fmla="*/ 3 h 10"/>
                  <a:gd name="T4" fmla="*/ 17 w 17"/>
                  <a:gd name="T5" fmla="*/ 3 h 10"/>
                  <a:gd name="T6" fmla="*/ 17 w 17"/>
                  <a:gd name="T7" fmla="*/ 0 h 10"/>
                  <a:gd name="T8" fmla="*/ 0 w 17"/>
                  <a:gd name="T9" fmla="*/ 7 h 10"/>
                  <a:gd name="T10" fmla="*/ 1 w 17"/>
                  <a:gd name="T11" fmla="*/ 10 h 10"/>
                </a:gdLst>
                <a:ahLst/>
                <a:cxnLst>
                  <a:cxn ang="0">
                    <a:pos x="T0" y="T1"/>
                  </a:cxn>
                  <a:cxn ang="0">
                    <a:pos x="T2" y="T3"/>
                  </a:cxn>
                  <a:cxn ang="0">
                    <a:pos x="T4" y="T5"/>
                  </a:cxn>
                  <a:cxn ang="0">
                    <a:pos x="T6" y="T7"/>
                  </a:cxn>
                  <a:cxn ang="0">
                    <a:pos x="T8" y="T9"/>
                  </a:cxn>
                  <a:cxn ang="0">
                    <a:pos x="T10" y="T11"/>
                  </a:cxn>
                </a:cxnLst>
                <a:rect l="0" t="0" r="r" b="b"/>
                <a:pathLst>
                  <a:path w="17" h="10">
                    <a:moveTo>
                      <a:pt x="1" y="10"/>
                    </a:moveTo>
                    <a:cubicBezTo>
                      <a:pt x="17" y="3"/>
                      <a:pt x="17" y="3"/>
                      <a:pt x="17" y="3"/>
                    </a:cubicBezTo>
                    <a:cubicBezTo>
                      <a:pt x="17" y="3"/>
                      <a:pt x="17" y="3"/>
                      <a:pt x="17" y="3"/>
                    </a:cubicBezTo>
                    <a:cubicBezTo>
                      <a:pt x="17" y="0"/>
                      <a:pt x="17" y="0"/>
                      <a:pt x="17" y="0"/>
                    </a:cubicBezTo>
                    <a:cubicBezTo>
                      <a:pt x="0" y="7"/>
                      <a:pt x="0" y="7"/>
                      <a:pt x="0" y="7"/>
                    </a:cubicBezTo>
                    <a:cubicBezTo>
                      <a:pt x="0" y="8"/>
                      <a:pt x="1" y="9"/>
                      <a:pt x="1" y="10"/>
                    </a:cubicBez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7" name="Freeform 1610"/>
              <p:cNvSpPr>
                <a:spLocks noChangeArrowheads="1"/>
              </p:cNvSpPr>
              <p:nvPr/>
            </p:nvSpPr>
            <p:spPr bwMode="auto">
              <a:xfrm>
                <a:off x="5758120" y="3871377"/>
                <a:ext cx="85877" cy="46619"/>
              </a:xfrm>
              <a:custGeom>
                <a:avLst/>
                <a:gdLst>
                  <a:gd name="T0" fmla="*/ 3 w 15"/>
                  <a:gd name="T1" fmla="*/ 8 h 8"/>
                  <a:gd name="T2" fmla="*/ 14 w 15"/>
                  <a:gd name="T3" fmla="*/ 4 h 8"/>
                  <a:gd name="T4" fmla="*/ 15 w 15"/>
                  <a:gd name="T5" fmla="*/ 0 h 8"/>
                  <a:gd name="T6" fmla="*/ 0 w 15"/>
                  <a:gd name="T7" fmla="*/ 6 h 8"/>
                  <a:gd name="T8" fmla="*/ 3 w 15"/>
                  <a:gd name="T9" fmla="*/ 8 h 8"/>
                </a:gdLst>
                <a:ahLst/>
                <a:cxnLst>
                  <a:cxn ang="0">
                    <a:pos x="T0" y="T1"/>
                  </a:cxn>
                  <a:cxn ang="0">
                    <a:pos x="T2" y="T3"/>
                  </a:cxn>
                  <a:cxn ang="0">
                    <a:pos x="T4" y="T5"/>
                  </a:cxn>
                  <a:cxn ang="0">
                    <a:pos x="T6" y="T7"/>
                  </a:cxn>
                  <a:cxn ang="0">
                    <a:pos x="T8" y="T9"/>
                  </a:cxn>
                </a:cxnLst>
                <a:rect l="0" t="0" r="r" b="b"/>
                <a:pathLst>
                  <a:path w="15" h="8">
                    <a:moveTo>
                      <a:pt x="3" y="8"/>
                    </a:moveTo>
                    <a:cubicBezTo>
                      <a:pt x="14" y="4"/>
                      <a:pt x="14" y="4"/>
                      <a:pt x="14" y="4"/>
                    </a:cubicBezTo>
                    <a:cubicBezTo>
                      <a:pt x="14" y="3"/>
                      <a:pt x="15" y="2"/>
                      <a:pt x="15" y="0"/>
                    </a:cubicBezTo>
                    <a:cubicBezTo>
                      <a:pt x="0" y="6"/>
                      <a:pt x="0" y="6"/>
                      <a:pt x="0" y="6"/>
                    </a:cubicBezTo>
                    <a:cubicBezTo>
                      <a:pt x="1" y="7"/>
                      <a:pt x="2" y="8"/>
                      <a:pt x="3" y="8"/>
                    </a:cubicBez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8" name="Oval 1611"/>
              <p:cNvSpPr>
                <a:spLocks noChangeArrowheads="1"/>
              </p:cNvSpPr>
              <p:nvPr/>
            </p:nvSpPr>
            <p:spPr bwMode="auto">
              <a:xfrm>
                <a:off x="5682057" y="3603931"/>
                <a:ext cx="225734" cy="233096"/>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79" name="Oval 1613"/>
              <p:cNvSpPr>
                <a:spLocks noChangeArrowheads="1"/>
              </p:cNvSpPr>
              <p:nvPr/>
            </p:nvSpPr>
            <p:spPr bwMode="auto">
              <a:xfrm>
                <a:off x="5686964" y="3616199"/>
                <a:ext cx="215920" cy="20855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80" name="Freeform 1614"/>
              <p:cNvSpPr>
                <a:spLocks noChangeArrowheads="1"/>
              </p:cNvSpPr>
              <p:nvPr/>
            </p:nvSpPr>
            <p:spPr bwMode="auto">
              <a:xfrm>
                <a:off x="5775295" y="3709437"/>
                <a:ext cx="51526" cy="115321"/>
              </a:xfrm>
              <a:custGeom>
                <a:avLst/>
                <a:gdLst>
                  <a:gd name="T0" fmla="*/ 8 w 9"/>
                  <a:gd name="T1" fmla="*/ 0 h 20"/>
                  <a:gd name="T2" fmla="*/ 8 w 9"/>
                  <a:gd name="T3" fmla="*/ 0 h 20"/>
                  <a:gd name="T4" fmla="*/ 8 w 9"/>
                  <a:gd name="T5" fmla="*/ 0 h 20"/>
                  <a:gd name="T6" fmla="*/ 6 w 9"/>
                  <a:gd name="T7" fmla="*/ 1 h 20"/>
                  <a:gd name="T8" fmla="*/ 5 w 9"/>
                  <a:gd name="T9" fmla="*/ 1 h 20"/>
                  <a:gd name="T10" fmla="*/ 3 w 9"/>
                  <a:gd name="T11" fmla="*/ 1 h 20"/>
                  <a:gd name="T12" fmla="*/ 1 w 9"/>
                  <a:gd name="T13" fmla="*/ 0 h 20"/>
                  <a:gd name="T14" fmla="*/ 0 w 9"/>
                  <a:gd name="T15" fmla="*/ 1 h 20"/>
                  <a:gd name="T16" fmla="*/ 1 w 9"/>
                  <a:gd name="T17" fmla="*/ 0 h 20"/>
                  <a:gd name="T18" fmla="*/ 3 w 9"/>
                  <a:gd name="T19" fmla="*/ 1 h 20"/>
                  <a:gd name="T20" fmla="*/ 5 w 9"/>
                  <a:gd name="T21" fmla="*/ 1 h 20"/>
                  <a:gd name="T22" fmla="*/ 6 w 9"/>
                  <a:gd name="T23" fmla="*/ 2 h 20"/>
                  <a:gd name="T24" fmla="*/ 7 w 9"/>
                  <a:gd name="T25" fmla="*/ 1 h 20"/>
                  <a:gd name="T26" fmla="*/ 7 w 9"/>
                  <a:gd name="T27" fmla="*/ 1 h 20"/>
                  <a:gd name="T28" fmla="*/ 8 w 9"/>
                  <a:gd name="T29" fmla="*/ 1 h 20"/>
                  <a:gd name="T30" fmla="*/ 4 w 9"/>
                  <a:gd name="T31" fmla="*/ 20 h 20"/>
                  <a:gd name="T32" fmla="*/ 5 w 9"/>
                  <a:gd name="T33" fmla="*/ 20 h 20"/>
                  <a:gd name="T34" fmla="*/ 8 w 9"/>
                  <a:gd name="T35" fmla="*/ 3 h 20"/>
                  <a:gd name="T36" fmla="*/ 8 w 9"/>
                  <a:gd name="T37" fmla="*/ 1 h 20"/>
                  <a:gd name="T38" fmla="*/ 9 w 9"/>
                  <a:gd name="T39" fmla="*/ 1 h 20"/>
                  <a:gd name="T40" fmla="*/ 8 w 9"/>
                  <a:gd name="T41"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20">
                    <a:moveTo>
                      <a:pt x="8" y="0"/>
                    </a:moveTo>
                    <a:cubicBezTo>
                      <a:pt x="8" y="0"/>
                      <a:pt x="8" y="0"/>
                      <a:pt x="8" y="0"/>
                    </a:cubicBezTo>
                    <a:cubicBezTo>
                      <a:pt x="8" y="0"/>
                      <a:pt x="8" y="0"/>
                      <a:pt x="8" y="0"/>
                    </a:cubicBezTo>
                    <a:cubicBezTo>
                      <a:pt x="6" y="1"/>
                      <a:pt x="6" y="1"/>
                      <a:pt x="6" y="1"/>
                    </a:cubicBezTo>
                    <a:cubicBezTo>
                      <a:pt x="5" y="1"/>
                      <a:pt x="5" y="1"/>
                      <a:pt x="5" y="1"/>
                    </a:cubicBezTo>
                    <a:cubicBezTo>
                      <a:pt x="3" y="1"/>
                      <a:pt x="3" y="1"/>
                      <a:pt x="3" y="1"/>
                    </a:cubicBezTo>
                    <a:cubicBezTo>
                      <a:pt x="1" y="0"/>
                      <a:pt x="1" y="0"/>
                      <a:pt x="1" y="0"/>
                    </a:cubicBezTo>
                    <a:cubicBezTo>
                      <a:pt x="0" y="1"/>
                      <a:pt x="0" y="1"/>
                      <a:pt x="0" y="1"/>
                    </a:cubicBezTo>
                    <a:cubicBezTo>
                      <a:pt x="1" y="0"/>
                      <a:pt x="1" y="0"/>
                      <a:pt x="1" y="0"/>
                    </a:cubicBezTo>
                    <a:cubicBezTo>
                      <a:pt x="3" y="1"/>
                      <a:pt x="3" y="1"/>
                      <a:pt x="3" y="1"/>
                    </a:cubicBezTo>
                    <a:cubicBezTo>
                      <a:pt x="5" y="1"/>
                      <a:pt x="5" y="1"/>
                      <a:pt x="5" y="1"/>
                    </a:cubicBezTo>
                    <a:cubicBezTo>
                      <a:pt x="6" y="2"/>
                      <a:pt x="6" y="2"/>
                      <a:pt x="6" y="2"/>
                    </a:cubicBezTo>
                    <a:cubicBezTo>
                      <a:pt x="7" y="1"/>
                      <a:pt x="7" y="1"/>
                      <a:pt x="7" y="1"/>
                    </a:cubicBezTo>
                    <a:cubicBezTo>
                      <a:pt x="7" y="1"/>
                      <a:pt x="7" y="1"/>
                      <a:pt x="7" y="1"/>
                    </a:cubicBezTo>
                    <a:cubicBezTo>
                      <a:pt x="7" y="1"/>
                      <a:pt x="8" y="1"/>
                      <a:pt x="8" y="1"/>
                    </a:cubicBezTo>
                    <a:cubicBezTo>
                      <a:pt x="4" y="20"/>
                      <a:pt x="4" y="20"/>
                      <a:pt x="4" y="20"/>
                    </a:cubicBezTo>
                    <a:cubicBezTo>
                      <a:pt x="5" y="20"/>
                      <a:pt x="5" y="20"/>
                      <a:pt x="5" y="20"/>
                    </a:cubicBezTo>
                    <a:cubicBezTo>
                      <a:pt x="8" y="3"/>
                      <a:pt x="8" y="3"/>
                      <a:pt x="8" y="3"/>
                    </a:cubicBezTo>
                    <a:cubicBezTo>
                      <a:pt x="8" y="1"/>
                      <a:pt x="8" y="1"/>
                      <a:pt x="8" y="1"/>
                    </a:cubicBezTo>
                    <a:cubicBezTo>
                      <a:pt x="9" y="1"/>
                      <a:pt x="9" y="1"/>
                      <a:pt x="9" y="1"/>
                    </a:cubicBezTo>
                    <a:cubicBezTo>
                      <a:pt x="9" y="0"/>
                      <a:pt x="9" y="0"/>
                      <a:pt x="8" y="0"/>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81" name="Freeform 1615"/>
              <p:cNvSpPr>
                <a:spLocks noChangeArrowheads="1"/>
              </p:cNvSpPr>
              <p:nvPr/>
            </p:nvSpPr>
            <p:spPr bwMode="auto">
              <a:xfrm>
                <a:off x="5758120" y="3709437"/>
                <a:ext cx="26990" cy="115321"/>
              </a:xfrm>
              <a:custGeom>
                <a:avLst/>
                <a:gdLst>
                  <a:gd name="T0" fmla="*/ 2 w 5"/>
                  <a:gd name="T1" fmla="*/ 0 h 20"/>
                  <a:gd name="T2" fmla="*/ 2 w 5"/>
                  <a:gd name="T3" fmla="*/ 0 h 20"/>
                  <a:gd name="T4" fmla="*/ 2 w 5"/>
                  <a:gd name="T5" fmla="*/ 0 h 20"/>
                  <a:gd name="T6" fmla="*/ 1 w 5"/>
                  <a:gd name="T7" fmla="*/ 0 h 20"/>
                  <a:gd name="T8" fmla="*/ 0 w 5"/>
                  <a:gd name="T9" fmla="*/ 1 h 20"/>
                  <a:gd name="T10" fmla="*/ 1 w 5"/>
                  <a:gd name="T11" fmla="*/ 1 h 20"/>
                  <a:gd name="T12" fmla="*/ 4 w 5"/>
                  <a:gd name="T13" fmla="*/ 20 h 20"/>
                  <a:gd name="T14" fmla="*/ 5 w 5"/>
                  <a:gd name="T15" fmla="*/ 20 h 20"/>
                  <a:gd name="T16" fmla="*/ 1 w 5"/>
                  <a:gd name="T17" fmla="*/ 1 h 20"/>
                  <a:gd name="T18" fmla="*/ 2 w 5"/>
                  <a:gd name="T19" fmla="*/ 1 h 20"/>
                  <a:gd name="T20" fmla="*/ 3 w 5"/>
                  <a:gd name="T21" fmla="*/ 1 h 20"/>
                  <a:gd name="T22" fmla="*/ 3 w 5"/>
                  <a:gd name="T23" fmla="*/ 1 h 20"/>
                  <a:gd name="T24" fmla="*/ 3 w 5"/>
                  <a:gd name="T25" fmla="*/ 1 h 20"/>
                  <a:gd name="T26" fmla="*/ 2 w 5"/>
                  <a:gd name="T2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 h="20">
                    <a:moveTo>
                      <a:pt x="2" y="0"/>
                    </a:moveTo>
                    <a:cubicBezTo>
                      <a:pt x="2" y="0"/>
                      <a:pt x="2" y="0"/>
                      <a:pt x="2" y="0"/>
                    </a:cubicBezTo>
                    <a:cubicBezTo>
                      <a:pt x="2" y="0"/>
                      <a:pt x="2" y="0"/>
                      <a:pt x="2" y="0"/>
                    </a:cubicBezTo>
                    <a:cubicBezTo>
                      <a:pt x="2" y="0"/>
                      <a:pt x="1" y="0"/>
                      <a:pt x="1" y="0"/>
                    </a:cubicBezTo>
                    <a:cubicBezTo>
                      <a:pt x="0" y="0"/>
                      <a:pt x="0" y="0"/>
                      <a:pt x="0" y="1"/>
                    </a:cubicBezTo>
                    <a:cubicBezTo>
                      <a:pt x="0" y="1"/>
                      <a:pt x="1" y="1"/>
                      <a:pt x="1" y="1"/>
                    </a:cubicBezTo>
                    <a:cubicBezTo>
                      <a:pt x="4" y="20"/>
                      <a:pt x="4" y="20"/>
                      <a:pt x="4" y="20"/>
                    </a:cubicBezTo>
                    <a:cubicBezTo>
                      <a:pt x="5" y="20"/>
                      <a:pt x="5" y="20"/>
                      <a:pt x="5" y="20"/>
                    </a:cubicBezTo>
                    <a:cubicBezTo>
                      <a:pt x="1" y="1"/>
                      <a:pt x="1" y="1"/>
                      <a:pt x="1" y="1"/>
                    </a:cubicBezTo>
                    <a:cubicBezTo>
                      <a:pt x="2" y="1"/>
                      <a:pt x="2" y="1"/>
                      <a:pt x="2" y="1"/>
                    </a:cubicBezTo>
                    <a:cubicBezTo>
                      <a:pt x="3" y="1"/>
                      <a:pt x="3" y="1"/>
                      <a:pt x="3" y="1"/>
                    </a:cubicBezTo>
                    <a:cubicBezTo>
                      <a:pt x="3" y="1"/>
                      <a:pt x="3" y="1"/>
                      <a:pt x="3" y="1"/>
                    </a:cubicBezTo>
                    <a:cubicBezTo>
                      <a:pt x="3" y="1"/>
                      <a:pt x="3" y="1"/>
                      <a:pt x="3" y="1"/>
                    </a:cubicBezTo>
                    <a:lnTo>
                      <a:pt x="2" y="0"/>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grpSp>
      <p:grpSp>
        <p:nvGrpSpPr>
          <p:cNvPr id="10" name="组合 9"/>
          <p:cNvGrpSpPr>
            <a:grpSpLocks/>
          </p:cNvGrpSpPr>
          <p:nvPr/>
        </p:nvGrpSpPr>
        <p:grpSpPr bwMode="auto">
          <a:xfrm>
            <a:off x="5772638" y="3558355"/>
            <a:ext cx="495301" cy="501646"/>
            <a:chOff x="5547107" y="3406717"/>
            <a:chExt cx="495634" cy="500542"/>
          </a:xfrm>
        </p:grpSpPr>
        <p:sp>
          <p:nvSpPr>
            <p:cNvPr id="58" name="Freeform 1205"/>
            <p:cNvSpPr>
              <a:spLocks noChangeArrowheads="1"/>
            </p:cNvSpPr>
            <p:nvPr/>
          </p:nvSpPr>
          <p:spPr bwMode="auto">
            <a:xfrm>
              <a:off x="5605994" y="3504863"/>
              <a:ext cx="41712" cy="41712"/>
            </a:xfrm>
            <a:custGeom>
              <a:avLst/>
              <a:gdLst>
                <a:gd name="T0" fmla="*/ 7 w 7"/>
                <a:gd name="T1" fmla="*/ 7 h 7"/>
                <a:gd name="T2" fmla="*/ 7 w 7"/>
                <a:gd name="T3" fmla="*/ 5 h 7"/>
                <a:gd name="T4" fmla="*/ 2 w 7"/>
                <a:gd name="T5" fmla="*/ 1 h 7"/>
                <a:gd name="T6" fmla="*/ 0 w 7"/>
                <a:gd name="T7" fmla="*/ 1 h 7"/>
                <a:gd name="T8" fmla="*/ 0 w 7"/>
                <a:gd name="T9" fmla="*/ 1 h 7"/>
                <a:gd name="T10" fmla="*/ 1 w 7"/>
                <a:gd name="T11" fmla="*/ 3 h 7"/>
                <a:gd name="T12" fmla="*/ 5 w 7"/>
                <a:gd name="T13" fmla="*/ 7 h 7"/>
                <a:gd name="T14" fmla="*/ 7 w 7"/>
                <a:gd name="T15" fmla="*/ 7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7">
                  <a:moveTo>
                    <a:pt x="7" y="7"/>
                  </a:moveTo>
                  <a:cubicBezTo>
                    <a:pt x="7" y="6"/>
                    <a:pt x="7" y="5"/>
                    <a:pt x="7" y="5"/>
                  </a:cubicBezTo>
                  <a:cubicBezTo>
                    <a:pt x="2" y="1"/>
                    <a:pt x="2" y="1"/>
                    <a:pt x="2" y="1"/>
                  </a:cubicBezTo>
                  <a:cubicBezTo>
                    <a:pt x="2" y="0"/>
                    <a:pt x="1" y="0"/>
                    <a:pt x="0" y="1"/>
                  </a:cubicBezTo>
                  <a:cubicBezTo>
                    <a:pt x="0" y="1"/>
                    <a:pt x="0" y="1"/>
                    <a:pt x="0" y="1"/>
                  </a:cubicBezTo>
                  <a:cubicBezTo>
                    <a:pt x="0" y="2"/>
                    <a:pt x="0" y="2"/>
                    <a:pt x="1" y="3"/>
                  </a:cubicBezTo>
                  <a:cubicBezTo>
                    <a:pt x="5" y="7"/>
                    <a:pt x="5" y="7"/>
                    <a:pt x="5" y="7"/>
                  </a:cubicBezTo>
                  <a:cubicBezTo>
                    <a:pt x="6" y="7"/>
                    <a:pt x="7" y="7"/>
                    <a:pt x="7" y="7"/>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9" name="Oval 1616"/>
            <p:cNvSpPr>
              <a:spLocks noChangeArrowheads="1"/>
            </p:cNvSpPr>
            <p:nvPr/>
          </p:nvSpPr>
          <p:spPr bwMode="auto">
            <a:xfrm>
              <a:off x="5547107" y="3406717"/>
              <a:ext cx="495634" cy="500542"/>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0" name="Oval 1617"/>
            <p:cNvSpPr>
              <a:spLocks noChangeArrowheads="1"/>
            </p:cNvSpPr>
            <p:nvPr/>
          </p:nvSpPr>
          <p:spPr bwMode="auto">
            <a:xfrm>
              <a:off x="5564282" y="3431254"/>
              <a:ext cx="453923" cy="45146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61" name="组合 60"/>
            <p:cNvGrpSpPr>
              <a:grpSpLocks/>
            </p:cNvGrpSpPr>
            <p:nvPr/>
          </p:nvGrpSpPr>
          <p:grpSpPr bwMode="auto">
            <a:xfrm>
              <a:off x="5610901" y="3482780"/>
              <a:ext cx="368046" cy="348417"/>
              <a:chOff x="5610901" y="3000336"/>
              <a:chExt cx="368046" cy="348417"/>
            </a:xfrm>
          </p:grpSpPr>
          <p:sp>
            <p:nvSpPr>
              <p:cNvPr id="62" name="Freeform 1618"/>
              <p:cNvSpPr>
                <a:spLocks noChangeArrowheads="1"/>
              </p:cNvSpPr>
              <p:nvPr/>
            </p:nvSpPr>
            <p:spPr bwMode="auto">
              <a:xfrm>
                <a:off x="5682057" y="3000336"/>
                <a:ext cx="169301" cy="110414"/>
              </a:xfrm>
              <a:custGeom>
                <a:avLst/>
                <a:gdLst>
                  <a:gd name="T0" fmla="*/ 11 w 29"/>
                  <a:gd name="T1" fmla="*/ 0 h 19"/>
                  <a:gd name="T2" fmla="*/ 0 w 29"/>
                  <a:gd name="T3" fmla="*/ 11 h 19"/>
                  <a:gd name="T4" fmla="*/ 9 w 29"/>
                  <a:gd name="T5" fmla="*/ 19 h 19"/>
                  <a:gd name="T6" fmla="*/ 29 w 29"/>
                  <a:gd name="T7" fmla="*/ 0 h 19"/>
                  <a:gd name="T8" fmla="*/ 11 w 29"/>
                  <a:gd name="T9" fmla="*/ 0 h 19"/>
                </a:gdLst>
                <a:ahLst/>
                <a:cxnLst>
                  <a:cxn ang="0">
                    <a:pos x="T0" y="T1"/>
                  </a:cxn>
                  <a:cxn ang="0">
                    <a:pos x="T2" y="T3"/>
                  </a:cxn>
                  <a:cxn ang="0">
                    <a:pos x="T4" y="T5"/>
                  </a:cxn>
                  <a:cxn ang="0">
                    <a:pos x="T6" y="T7"/>
                  </a:cxn>
                  <a:cxn ang="0">
                    <a:pos x="T8" y="T9"/>
                  </a:cxn>
                </a:cxnLst>
                <a:rect l="0" t="0" r="r" b="b"/>
                <a:pathLst>
                  <a:path w="29" h="19">
                    <a:moveTo>
                      <a:pt x="11" y="0"/>
                    </a:moveTo>
                    <a:cubicBezTo>
                      <a:pt x="7" y="2"/>
                      <a:pt x="0" y="11"/>
                      <a:pt x="0" y="11"/>
                    </a:cubicBezTo>
                    <a:cubicBezTo>
                      <a:pt x="9" y="19"/>
                      <a:pt x="9" y="19"/>
                      <a:pt x="9" y="19"/>
                    </a:cubicBezTo>
                    <a:cubicBezTo>
                      <a:pt x="9" y="19"/>
                      <a:pt x="20" y="4"/>
                      <a:pt x="29" y="0"/>
                    </a:cubicBezTo>
                    <a:lnTo>
                      <a:pt x="11" y="0"/>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3" name="Freeform 1619"/>
              <p:cNvSpPr>
                <a:spLocks noChangeArrowheads="1"/>
              </p:cNvSpPr>
              <p:nvPr/>
            </p:nvSpPr>
            <p:spPr bwMode="auto">
              <a:xfrm>
                <a:off x="5745851" y="3000336"/>
                <a:ext cx="179115" cy="122682"/>
              </a:xfrm>
              <a:custGeom>
                <a:avLst/>
                <a:gdLst>
                  <a:gd name="T0" fmla="*/ 31 w 31"/>
                  <a:gd name="T1" fmla="*/ 4 h 21"/>
                  <a:gd name="T2" fmla="*/ 28 w 31"/>
                  <a:gd name="T3" fmla="*/ 21 h 21"/>
                  <a:gd name="T4" fmla="*/ 11 w 31"/>
                  <a:gd name="T5" fmla="*/ 18 h 21"/>
                  <a:gd name="T6" fmla="*/ 16 w 31"/>
                  <a:gd name="T7" fmla="*/ 14 h 21"/>
                  <a:gd name="T8" fmla="*/ 0 w 31"/>
                  <a:gd name="T9" fmla="*/ 0 h 21"/>
                  <a:gd name="T10" fmla="*/ 18 w 31"/>
                  <a:gd name="T11" fmla="*/ 0 h 21"/>
                  <a:gd name="T12" fmla="*/ 26 w 31"/>
                  <a:gd name="T13" fmla="*/ 7 h 21"/>
                  <a:gd name="T14" fmla="*/ 31 w 31"/>
                  <a:gd name="T15" fmla="*/ 4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21">
                    <a:moveTo>
                      <a:pt x="31" y="4"/>
                    </a:moveTo>
                    <a:cubicBezTo>
                      <a:pt x="28" y="21"/>
                      <a:pt x="28" y="21"/>
                      <a:pt x="28" y="21"/>
                    </a:cubicBezTo>
                    <a:cubicBezTo>
                      <a:pt x="11" y="18"/>
                      <a:pt x="11" y="18"/>
                      <a:pt x="11" y="18"/>
                    </a:cubicBezTo>
                    <a:cubicBezTo>
                      <a:pt x="16" y="14"/>
                      <a:pt x="16" y="14"/>
                      <a:pt x="16" y="14"/>
                    </a:cubicBezTo>
                    <a:cubicBezTo>
                      <a:pt x="12" y="10"/>
                      <a:pt x="4" y="1"/>
                      <a:pt x="0" y="0"/>
                    </a:cubicBezTo>
                    <a:cubicBezTo>
                      <a:pt x="18" y="0"/>
                      <a:pt x="18" y="0"/>
                      <a:pt x="18" y="0"/>
                    </a:cubicBezTo>
                    <a:cubicBezTo>
                      <a:pt x="21" y="2"/>
                      <a:pt x="24" y="5"/>
                      <a:pt x="26" y="7"/>
                    </a:cubicBezTo>
                    <a:lnTo>
                      <a:pt x="31" y="4"/>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4" name="Freeform 1620"/>
              <p:cNvSpPr>
                <a:spLocks noChangeArrowheads="1"/>
              </p:cNvSpPr>
              <p:nvPr/>
            </p:nvSpPr>
            <p:spPr bwMode="auto">
              <a:xfrm>
                <a:off x="5630531" y="3208895"/>
                <a:ext cx="149672" cy="117775"/>
              </a:xfrm>
              <a:custGeom>
                <a:avLst/>
                <a:gdLst>
                  <a:gd name="T0" fmla="*/ 9 w 26"/>
                  <a:gd name="T1" fmla="*/ 16 h 20"/>
                  <a:gd name="T2" fmla="*/ 24 w 26"/>
                  <a:gd name="T3" fmla="*/ 20 h 20"/>
                  <a:gd name="T4" fmla="*/ 26 w 26"/>
                  <a:gd name="T5" fmla="*/ 8 h 20"/>
                  <a:gd name="T6" fmla="*/ 0 w 26"/>
                  <a:gd name="T7" fmla="*/ 0 h 20"/>
                  <a:gd name="T8" fmla="*/ 9 w 26"/>
                  <a:gd name="T9" fmla="*/ 16 h 20"/>
                </a:gdLst>
                <a:ahLst/>
                <a:cxnLst>
                  <a:cxn ang="0">
                    <a:pos x="T0" y="T1"/>
                  </a:cxn>
                  <a:cxn ang="0">
                    <a:pos x="T2" y="T3"/>
                  </a:cxn>
                  <a:cxn ang="0">
                    <a:pos x="T4" y="T5"/>
                  </a:cxn>
                  <a:cxn ang="0">
                    <a:pos x="T6" y="T7"/>
                  </a:cxn>
                  <a:cxn ang="0">
                    <a:pos x="T8" y="T9"/>
                  </a:cxn>
                </a:cxnLst>
                <a:rect l="0" t="0" r="r" b="b"/>
                <a:pathLst>
                  <a:path w="26" h="20">
                    <a:moveTo>
                      <a:pt x="9" y="16"/>
                    </a:moveTo>
                    <a:cubicBezTo>
                      <a:pt x="12" y="19"/>
                      <a:pt x="24" y="20"/>
                      <a:pt x="24" y="20"/>
                    </a:cubicBezTo>
                    <a:cubicBezTo>
                      <a:pt x="26" y="8"/>
                      <a:pt x="26" y="8"/>
                      <a:pt x="26" y="8"/>
                    </a:cubicBezTo>
                    <a:cubicBezTo>
                      <a:pt x="26" y="8"/>
                      <a:pt x="7" y="6"/>
                      <a:pt x="0" y="0"/>
                    </a:cubicBezTo>
                    <a:lnTo>
                      <a:pt x="9" y="16"/>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5" name="Freeform 1621"/>
              <p:cNvSpPr>
                <a:spLocks noChangeArrowheads="1"/>
              </p:cNvSpPr>
              <p:nvPr/>
            </p:nvSpPr>
            <p:spPr bwMode="auto">
              <a:xfrm>
                <a:off x="5610901" y="3098481"/>
                <a:ext cx="130043" cy="203652"/>
              </a:xfrm>
              <a:custGeom>
                <a:avLst/>
                <a:gdLst>
                  <a:gd name="T0" fmla="*/ 0 w 22"/>
                  <a:gd name="T1" fmla="*/ 7 h 35"/>
                  <a:gd name="T2" fmla="*/ 16 w 22"/>
                  <a:gd name="T3" fmla="*/ 0 h 35"/>
                  <a:gd name="T4" fmla="*/ 22 w 22"/>
                  <a:gd name="T5" fmla="*/ 17 h 35"/>
                  <a:gd name="T6" fmla="*/ 16 w 22"/>
                  <a:gd name="T7" fmla="*/ 14 h 35"/>
                  <a:gd name="T8" fmla="*/ 12 w 22"/>
                  <a:gd name="T9" fmla="*/ 35 h 35"/>
                  <a:gd name="T10" fmla="*/ 3 w 22"/>
                  <a:gd name="T11" fmla="*/ 19 h 35"/>
                  <a:gd name="T12" fmla="*/ 5 w 22"/>
                  <a:gd name="T13" fmla="*/ 9 h 35"/>
                  <a:gd name="T14" fmla="*/ 0 w 22"/>
                  <a:gd name="T15" fmla="*/ 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5">
                    <a:moveTo>
                      <a:pt x="0" y="7"/>
                    </a:moveTo>
                    <a:cubicBezTo>
                      <a:pt x="16" y="0"/>
                      <a:pt x="16" y="0"/>
                      <a:pt x="16" y="0"/>
                    </a:cubicBezTo>
                    <a:cubicBezTo>
                      <a:pt x="22" y="17"/>
                      <a:pt x="22" y="17"/>
                      <a:pt x="22" y="17"/>
                    </a:cubicBezTo>
                    <a:cubicBezTo>
                      <a:pt x="16" y="14"/>
                      <a:pt x="16" y="14"/>
                      <a:pt x="16" y="14"/>
                    </a:cubicBezTo>
                    <a:cubicBezTo>
                      <a:pt x="14" y="20"/>
                      <a:pt x="11" y="31"/>
                      <a:pt x="12" y="35"/>
                    </a:cubicBezTo>
                    <a:cubicBezTo>
                      <a:pt x="3" y="19"/>
                      <a:pt x="3" y="19"/>
                      <a:pt x="3" y="19"/>
                    </a:cubicBezTo>
                    <a:cubicBezTo>
                      <a:pt x="3" y="15"/>
                      <a:pt x="4" y="11"/>
                      <a:pt x="5" y="9"/>
                    </a:cubicBezTo>
                    <a:lnTo>
                      <a:pt x="0" y="7"/>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6" name="Freeform 1622"/>
              <p:cNvSpPr>
                <a:spLocks noChangeArrowheads="1"/>
              </p:cNvSpPr>
              <p:nvPr/>
            </p:nvSpPr>
            <p:spPr bwMode="auto">
              <a:xfrm>
                <a:off x="5885709" y="3115657"/>
                <a:ext cx="93238" cy="181569"/>
              </a:xfrm>
              <a:custGeom>
                <a:avLst/>
                <a:gdLst>
                  <a:gd name="T0" fmla="*/ 15 w 16"/>
                  <a:gd name="T1" fmla="*/ 15 h 31"/>
                  <a:gd name="T2" fmla="*/ 11 w 16"/>
                  <a:gd name="T3" fmla="*/ 0 h 31"/>
                  <a:gd name="T4" fmla="*/ 0 w 16"/>
                  <a:gd name="T5" fmla="*/ 4 h 31"/>
                  <a:gd name="T6" fmla="*/ 6 w 16"/>
                  <a:gd name="T7" fmla="*/ 31 h 31"/>
                  <a:gd name="T8" fmla="*/ 15 w 16"/>
                  <a:gd name="T9" fmla="*/ 15 h 31"/>
                </a:gdLst>
                <a:ahLst/>
                <a:cxnLst>
                  <a:cxn ang="0">
                    <a:pos x="T0" y="T1"/>
                  </a:cxn>
                  <a:cxn ang="0">
                    <a:pos x="T2" y="T3"/>
                  </a:cxn>
                  <a:cxn ang="0">
                    <a:pos x="T4" y="T5"/>
                  </a:cxn>
                  <a:cxn ang="0">
                    <a:pos x="T6" y="T7"/>
                  </a:cxn>
                  <a:cxn ang="0">
                    <a:pos x="T8" y="T9"/>
                  </a:cxn>
                </a:cxnLst>
                <a:rect l="0" t="0" r="r" b="b"/>
                <a:pathLst>
                  <a:path w="16" h="31">
                    <a:moveTo>
                      <a:pt x="15" y="15"/>
                    </a:moveTo>
                    <a:cubicBezTo>
                      <a:pt x="16" y="11"/>
                      <a:pt x="11" y="0"/>
                      <a:pt x="11" y="0"/>
                    </a:cubicBezTo>
                    <a:cubicBezTo>
                      <a:pt x="0" y="4"/>
                      <a:pt x="0" y="4"/>
                      <a:pt x="0" y="4"/>
                    </a:cubicBezTo>
                    <a:cubicBezTo>
                      <a:pt x="0" y="4"/>
                      <a:pt x="8" y="22"/>
                      <a:pt x="6" y="31"/>
                    </a:cubicBezTo>
                    <a:lnTo>
                      <a:pt x="15" y="15"/>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67" name="Freeform 1623"/>
              <p:cNvSpPr>
                <a:spLocks noChangeArrowheads="1"/>
              </p:cNvSpPr>
              <p:nvPr/>
            </p:nvSpPr>
            <p:spPr bwMode="auto">
              <a:xfrm>
                <a:off x="5785110" y="3203988"/>
                <a:ext cx="186476" cy="144765"/>
              </a:xfrm>
              <a:custGeom>
                <a:avLst/>
                <a:gdLst>
                  <a:gd name="T0" fmla="*/ 14 w 32"/>
                  <a:gd name="T1" fmla="*/ 25 h 25"/>
                  <a:gd name="T2" fmla="*/ 0 w 32"/>
                  <a:gd name="T3" fmla="*/ 15 h 25"/>
                  <a:gd name="T4" fmla="*/ 11 w 32"/>
                  <a:gd name="T5" fmla="*/ 1 h 25"/>
                  <a:gd name="T6" fmla="*/ 12 w 32"/>
                  <a:gd name="T7" fmla="*/ 7 h 25"/>
                  <a:gd name="T8" fmla="*/ 32 w 32"/>
                  <a:gd name="T9" fmla="*/ 0 h 25"/>
                  <a:gd name="T10" fmla="*/ 23 w 32"/>
                  <a:gd name="T11" fmla="*/ 16 h 25"/>
                  <a:gd name="T12" fmla="*/ 13 w 32"/>
                  <a:gd name="T13" fmla="*/ 20 h 25"/>
                  <a:gd name="T14" fmla="*/ 14 w 32"/>
                  <a:gd name="T15" fmla="*/ 25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25">
                    <a:moveTo>
                      <a:pt x="14" y="25"/>
                    </a:moveTo>
                    <a:cubicBezTo>
                      <a:pt x="0" y="15"/>
                      <a:pt x="0" y="15"/>
                      <a:pt x="0" y="15"/>
                    </a:cubicBezTo>
                    <a:cubicBezTo>
                      <a:pt x="11" y="1"/>
                      <a:pt x="11" y="1"/>
                      <a:pt x="11" y="1"/>
                    </a:cubicBezTo>
                    <a:cubicBezTo>
                      <a:pt x="12" y="7"/>
                      <a:pt x="12" y="7"/>
                      <a:pt x="12" y="7"/>
                    </a:cubicBezTo>
                    <a:cubicBezTo>
                      <a:pt x="18" y="6"/>
                      <a:pt x="30" y="3"/>
                      <a:pt x="32" y="0"/>
                    </a:cubicBezTo>
                    <a:cubicBezTo>
                      <a:pt x="23" y="16"/>
                      <a:pt x="23" y="16"/>
                      <a:pt x="23" y="16"/>
                    </a:cubicBezTo>
                    <a:cubicBezTo>
                      <a:pt x="20" y="18"/>
                      <a:pt x="16" y="19"/>
                      <a:pt x="13" y="20"/>
                    </a:cubicBezTo>
                    <a:lnTo>
                      <a:pt x="14" y="25"/>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grpSp>
      <p:grpSp>
        <p:nvGrpSpPr>
          <p:cNvPr id="11" name="组合 10"/>
          <p:cNvGrpSpPr>
            <a:grpSpLocks/>
          </p:cNvGrpSpPr>
          <p:nvPr/>
        </p:nvGrpSpPr>
        <p:grpSpPr bwMode="auto">
          <a:xfrm>
            <a:off x="6490177" y="3547269"/>
            <a:ext cx="495300" cy="500063"/>
            <a:chOff x="6145794" y="3406717"/>
            <a:chExt cx="495634" cy="500542"/>
          </a:xfrm>
        </p:grpSpPr>
        <p:sp>
          <p:nvSpPr>
            <p:cNvPr id="36" name="Oval 1624"/>
            <p:cNvSpPr>
              <a:spLocks noChangeArrowheads="1"/>
            </p:cNvSpPr>
            <p:nvPr/>
          </p:nvSpPr>
          <p:spPr bwMode="auto">
            <a:xfrm>
              <a:off x="6145794" y="3406717"/>
              <a:ext cx="495634" cy="500542"/>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7" name="Oval 1625"/>
            <p:cNvSpPr>
              <a:spLocks noChangeArrowheads="1"/>
            </p:cNvSpPr>
            <p:nvPr/>
          </p:nvSpPr>
          <p:spPr bwMode="auto">
            <a:xfrm>
              <a:off x="6162970" y="3431254"/>
              <a:ext cx="453923" cy="45146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38" name="组合 37"/>
            <p:cNvGrpSpPr>
              <a:grpSpLocks/>
            </p:cNvGrpSpPr>
            <p:nvPr/>
          </p:nvGrpSpPr>
          <p:grpSpPr bwMode="auto">
            <a:xfrm>
              <a:off x="6263569" y="3470512"/>
              <a:ext cx="260085" cy="338602"/>
              <a:chOff x="6263569" y="2988068"/>
              <a:chExt cx="260085" cy="338602"/>
            </a:xfrm>
          </p:grpSpPr>
          <p:sp>
            <p:nvSpPr>
              <p:cNvPr id="39" name="Rectangle 1626"/>
              <p:cNvSpPr>
                <a:spLocks noChangeArrowheads="1"/>
              </p:cNvSpPr>
              <p:nvPr/>
            </p:nvSpPr>
            <p:spPr bwMode="auto">
              <a:xfrm>
                <a:off x="6293012" y="3115657"/>
                <a:ext cx="201198" cy="203652"/>
              </a:xfrm>
              <a:prstGeom prst="rect">
                <a:avLst/>
              </a:prstGeom>
              <a:solidFill>
                <a:srgbClr val="6397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0" name="Rectangle 1627"/>
              <p:cNvSpPr>
                <a:spLocks noChangeArrowheads="1"/>
              </p:cNvSpPr>
              <p:nvPr/>
            </p:nvSpPr>
            <p:spPr bwMode="auto">
              <a:xfrm>
                <a:off x="6315095" y="3145101"/>
                <a:ext cx="58887" cy="76063"/>
              </a:xfrm>
              <a:prstGeom prst="rect">
                <a:avLst/>
              </a:prstGeom>
              <a:solidFill>
                <a:srgbClr val="82C2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1" name="Rectangle 1628"/>
              <p:cNvSpPr>
                <a:spLocks noChangeArrowheads="1"/>
              </p:cNvSpPr>
              <p:nvPr/>
            </p:nvSpPr>
            <p:spPr bwMode="auto">
              <a:xfrm>
                <a:off x="6413240" y="3145101"/>
                <a:ext cx="53980" cy="76063"/>
              </a:xfrm>
              <a:prstGeom prst="rect">
                <a:avLst/>
              </a:prstGeom>
              <a:solidFill>
                <a:srgbClr val="82C2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2" name="Rectangle 1629"/>
              <p:cNvSpPr>
                <a:spLocks noChangeArrowheads="1"/>
              </p:cNvSpPr>
              <p:nvPr/>
            </p:nvSpPr>
            <p:spPr bwMode="auto">
              <a:xfrm>
                <a:off x="6320002" y="3150008"/>
                <a:ext cx="24536" cy="29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3" name="Rectangle 1630"/>
              <p:cNvSpPr>
                <a:spLocks noChangeArrowheads="1"/>
              </p:cNvSpPr>
              <p:nvPr/>
            </p:nvSpPr>
            <p:spPr bwMode="auto">
              <a:xfrm>
                <a:off x="6344539" y="3150008"/>
                <a:ext cx="22083" cy="29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4" name="Rectangle 1631"/>
              <p:cNvSpPr>
                <a:spLocks noChangeArrowheads="1"/>
              </p:cNvSpPr>
              <p:nvPr/>
            </p:nvSpPr>
            <p:spPr bwMode="auto">
              <a:xfrm>
                <a:off x="6320002" y="3186812"/>
                <a:ext cx="24536" cy="343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5" name="Rectangle 1632"/>
              <p:cNvSpPr>
                <a:spLocks noChangeArrowheads="1"/>
              </p:cNvSpPr>
              <p:nvPr/>
            </p:nvSpPr>
            <p:spPr bwMode="auto">
              <a:xfrm>
                <a:off x="6344539" y="3186812"/>
                <a:ext cx="22083" cy="343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6" name="Rectangle 1633"/>
              <p:cNvSpPr>
                <a:spLocks noChangeArrowheads="1"/>
              </p:cNvSpPr>
              <p:nvPr/>
            </p:nvSpPr>
            <p:spPr bwMode="auto">
              <a:xfrm>
                <a:off x="6420601" y="3150008"/>
                <a:ext cx="17175" cy="29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7" name="Rectangle 1634"/>
              <p:cNvSpPr>
                <a:spLocks noChangeArrowheads="1"/>
              </p:cNvSpPr>
              <p:nvPr/>
            </p:nvSpPr>
            <p:spPr bwMode="auto">
              <a:xfrm>
                <a:off x="6442684" y="3150008"/>
                <a:ext cx="17175" cy="29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8" name="Rectangle 1635"/>
              <p:cNvSpPr>
                <a:spLocks noChangeArrowheads="1"/>
              </p:cNvSpPr>
              <p:nvPr/>
            </p:nvSpPr>
            <p:spPr bwMode="auto">
              <a:xfrm>
                <a:off x="6420601" y="3186812"/>
                <a:ext cx="17175" cy="343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49" name="Rectangle 1636"/>
              <p:cNvSpPr>
                <a:spLocks noChangeArrowheads="1"/>
              </p:cNvSpPr>
              <p:nvPr/>
            </p:nvSpPr>
            <p:spPr bwMode="auto">
              <a:xfrm>
                <a:off x="6442684" y="3186812"/>
                <a:ext cx="17175" cy="343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0" name="Rectangle 1637"/>
              <p:cNvSpPr>
                <a:spLocks noChangeArrowheads="1"/>
              </p:cNvSpPr>
              <p:nvPr/>
            </p:nvSpPr>
            <p:spPr bwMode="auto">
              <a:xfrm>
                <a:off x="6366621" y="3238339"/>
                <a:ext cx="53980" cy="76063"/>
              </a:xfrm>
              <a:prstGeom prst="rect">
                <a:avLst/>
              </a:prstGeom>
              <a:solidFill>
                <a:srgbClr val="82C2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1" name="Rectangle 1638"/>
              <p:cNvSpPr>
                <a:spLocks noChangeArrowheads="1"/>
              </p:cNvSpPr>
              <p:nvPr/>
            </p:nvSpPr>
            <p:spPr bwMode="auto">
              <a:xfrm>
                <a:off x="6373982" y="3243246"/>
                <a:ext cx="39258" cy="63795"/>
              </a:xfrm>
              <a:prstGeom prst="rect">
                <a:avLst/>
              </a:prstGeom>
              <a:solidFill>
                <a:srgbClr val="6397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2" name="Rectangle 1639"/>
              <p:cNvSpPr>
                <a:spLocks noChangeArrowheads="1"/>
              </p:cNvSpPr>
              <p:nvPr/>
            </p:nvSpPr>
            <p:spPr bwMode="auto">
              <a:xfrm>
                <a:off x="6356807" y="3307041"/>
                <a:ext cx="68702" cy="19629"/>
              </a:xfrm>
              <a:prstGeom prst="rect">
                <a:avLst/>
              </a:prstGeom>
              <a:solidFill>
                <a:srgbClr val="82C24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3" name="Oval 1640"/>
              <p:cNvSpPr>
                <a:spLocks noChangeArrowheads="1"/>
              </p:cNvSpPr>
              <p:nvPr/>
            </p:nvSpPr>
            <p:spPr bwMode="auto">
              <a:xfrm>
                <a:off x="6408333" y="3280051"/>
                <a:ext cx="4907" cy="4907"/>
              </a:xfrm>
              <a:prstGeom prst="ellipse">
                <a:avLst/>
              </a:pr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4" name="Freeform 1641"/>
              <p:cNvSpPr>
                <a:spLocks noChangeArrowheads="1"/>
              </p:cNvSpPr>
              <p:nvPr/>
            </p:nvSpPr>
            <p:spPr bwMode="auto">
              <a:xfrm>
                <a:off x="6263569" y="2988068"/>
                <a:ext cx="260085" cy="139857"/>
              </a:xfrm>
              <a:custGeom>
                <a:avLst/>
                <a:gdLst>
                  <a:gd name="T0" fmla="*/ 0 w 106"/>
                  <a:gd name="T1" fmla="*/ 57 h 57"/>
                  <a:gd name="T2" fmla="*/ 52 w 106"/>
                  <a:gd name="T3" fmla="*/ 0 h 57"/>
                  <a:gd name="T4" fmla="*/ 106 w 106"/>
                  <a:gd name="T5" fmla="*/ 57 h 57"/>
                  <a:gd name="T6" fmla="*/ 0 w 106"/>
                  <a:gd name="T7" fmla="*/ 57 h 57"/>
                </a:gdLst>
                <a:ahLst/>
                <a:cxnLst>
                  <a:cxn ang="0">
                    <a:pos x="T0" y="T1"/>
                  </a:cxn>
                  <a:cxn ang="0">
                    <a:pos x="T2" y="T3"/>
                  </a:cxn>
                  <a:cxn ang="0">
                    <a:pos x="T4" y="T5"/>
                  </a:cxn>
                  <a:cxn ang="0">
                    <a:pos x="T6" y="T7"/>
                  </a:cxn>
                </a:cxnLst>
                <a:rect l="0" t="0" r="r" b="b"/>
                <a:pathLst>
                  <a:path w="106" h="57">
                    <a:moveTo>
                      <a:pt x="0" y="57"/>
                    </a:moveTo>
                    <a:lnTo>
                      <a:pt x="52" y="0"/>
                    </a:lnTo>
                    <a:lnTo>
                      <a:pt x="106" y="57"/>
                    </a:lnTo>
                    <a:lnTo>
                      <a:pt x="0" y="57"/>
                    </a:ln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5" name="Freeform 1642"/>
              <p:cNvSpPr>
                <a:spLocks noChangeArrowheads="1"/>
              </p:cNvSpPr>
              <p:nvPr/>
            </p:nvSpPr>
            <p:spPr bwMode="auto">
              <a:xfrm>
                <a:off x="6293012" y="3005243"/>
                <a:ext cx="201198" cy="110414"/>
              </a:xfrm>
              <a:custGeom>
                <a:avLst/>
                <a:gdLst>
                  <a:gd name="T0" fmla="*/ 0 w 82"/>
                  <a:gd name="T1" fmla="*/ 45 h 45"/>
                  <a:gd name="T2" fmla="*/ 40 w 82"/>
                  <a:gd name="T3" fmla="*/ 0 h 45"/>
                  <a:gd name="T4" fmla="*/ 82 w 82"/>
                  <a:gd name="T5" fmla="*/ 45 h 45"/>
                  <a:gd name="T6" fmla="*/ 0 w 82"/>
                  <a:gd name="T7" fmla="*/ 45 h 45"/>
                </a:gdLst>
                <a:ahLst/>
                <a:cxnLst>
                  <a:cxn ang="0">
                    <a:pos x="T0" y="T1"/>
                  </a:cxn>
                  <a:cxn ang="0">
                    <a:pos x="T2" y="T3"/>
                  </a:cxn>
                  <a:cxn ang="0">
                    <a:pos x="T4" y="T5"/>
                  </a:cxn>
                  <a:cxn ang="0">
                    <a:pos x="T6" y="T7"/>
                  </a:cxn>
                </a:cxnLst>
                <a:rect l="0" t="0" r="r" b="b"/>
                <a:pathLst>
                  <a:path w="82" h="45">
                    <a:moveTo>
                      <a:pt x="0" y="45"/>
                    </a:moveTo>
                    <a:lnTo>
                      <a:pt x="40" y="0"/>
                    </a:lnTo>
                    <a:lnTo>
                      <a:pt x="82" y="45"/>
                    </a:lnTo>
                    <a:lnTo>
                      <a:pt x="0" y="45"/>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6" name="Freeform 1643"/>
              <p:cNvSpPr>
                <a:spLocks noChangeArrowheads="1"/>
              </p:cNvSpPr>
              <p:nvPr/>
            </p:nvSpPr>
            <p:spPr bwMode="auto">
              <a:xfrm>
                <a:off x="6361714" y="3069038"/>
                <a:ext cx="58887" cy="29444"/>
              </a:xfrm>
              <a:custGeom>
                <a:avLst/>
                <a:gdLst>
                  <a:gd name="T0" fmla="*/ 10 w 10"/>
                  <a:gd name="T1" fmla="*/ 5 h 5"/>
                  <a:gd name="T2" fmla="*/ 0 w 10"/>
                  <a:gd name="T3" fmla="*/ 5 h 5"/>
                  <a:gd name="T4" fmla="*/ 5 w 10"/>
                  <a:gd name="T5" fmla="*/ 0 h 5"/>
                  <a:gd name="T6" fmla="*/ 10 w 10"/>
                  <a:gd name="T7" fmla="*/ 5 h 5"/>
                </a:gdLst>
                <a:ahLst/>
                <a:cxnLst>
                  <a:cxn ang="0">
                    <a:pos x="T0" y="T1"/>
                  </a:cxn>
                  <a:cxn ang="0">
                    <a:pos x="T2" y="T3"/>
                  </a:cxn>
                  <a:cxn ang="0">
                    <a:pos x="T4" y="T5"/>
                  </a:cxn>
                  <a:cxn ang="0">
                    <a:pos x="T6" y="T7"/>
                  </a:cxn>
                </a:cxnLst>
                <a:rect l="0" t="0" r="r" b="b"/>
                <a:pathLst>
                  <a:path w="10" h="5">
                    <a:moveTo>
                      <a:pt x="10" y="5"/>
                    </a:moveTo>
                    <a:cubicBezTo>
                      <a:pt x="0" y="5"/>
                      <a:pt x="0" y="5"/>
                      <a:pt x="0" y="5"/>
                    </a:cubicBezTo>
                    <a:cubicBezTo>
                      <a:pt x="0" y="2"/>
                      <a:pt x="3" y="0"/>
                      <a:pt x="5" y="0"/>
                    </a:cubicBezTo>
                    <a:cubicBezTo>
                      <a:pt x="8" y="0"/>
                      <a:pt x="10" y="2"/>
                      <a:pt x="10" y="5"/>
                    </a:cubicBezTo>
                    <a:close/>
                  </a:path>
                </a:pathLst>
              </a:cu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7" name="Freeform 1644"/>
              <p:cNvSpPr>
                <a:spLocks noChangeArrowheads="1"/>
              </p:cNvSpPr>
              <p:nvPr/>
            </p:nvSpPr>
            <p:spPr bwMode="auto">
              <a:xfrm>
                <a:off x="6366621" y="3076399"/>
                <a:ext cx="46619" cy="17175"/>
              </a:xfrm>
              <a:custGeom>
                <a:avLst/>
                <a:gdLst>
                  <a:gd name="T0" fmla="*/ 8 w 8"/>
                  <a:gd name="T1" fmla="*/ 3 h 3"/>
                  <a:gd name="T2" fmla="*/ 0 w 8"/>
                  <a:gd name="T3" fmla="*/ 3 h 3"/>
                  <a:gd name="T4" fmla="*/ 4 w 8"/>
                  <a:gd name="T5" fmla="*/ 0 h 3"/>
                  <a:gd name="T6" fmla="*/ 8 w 8"/>
                  <a:gd name="T7" fmla="*/ 3 h 3"/>
                </a:gdLst>
                <a:ahLst/>
                <a:cxnLst>
                  <a:cxn ang="0">
                    <a:pos x="T0" y="T1"/>
                  </a:cxn>
                  <a:cxn ang="0">
                    <a:pos x="T2" y="T3"/>
                  </a:cxn>
                  <a:cxn ang="0">
                    <a:pos x="T4" y="T5"/>
                  </a:cxn>
                  <a:cxn ang="0">
                    <a:pos x="T6" y="T7"/>
                  </a:cxn>
                </a:cxnLst>
                <a:rect l="0" t="0" r="r" b="b"/>
                <a:pathLst>
                  <a:path w="8" h="3">
                    <a:moveTo>
                      <a:pt x="8" y="3"/>
                    </a:moveTo>
                    <a:cubicBezTo>
                      <a:pt x="0" y="3"/>
                      <a:pt x="0" y="3"/>
                      <a:pt x="0" y="3"/>
                    </a:cubicBezTo>
                    <a:cubicBezTo>
                      <a:pt x="0" y="1"/>
                      <a:pt x="2" y="0"/>
                      <a:pt x="4" y="0"/>
                    </a:cubicBezTo>
                    <a:cubicBezTo>
                      <a:pt x="6" y="0"/>
                      <a:pt x="8" y="1"/>
                      <a:pt x="8" y="3"/>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grpSp>
      <p:grpSp>
        <p:nvGrpSpPr>
          <p:cNvPr id="12" name="组合 11"/>
          <p:cNvGrpSpPr>
            <a:grpSpLocks/>
          </p:cNvGrpSpPr>
          <p:nvPr/>
        </p:nvGrpSpPr>
        <p:grpSpPr bwMode="auto">
          <a:xfrm>
            <a:off x="6506052" y="4294982"/>
            <a:ext cx="495300" cy="493712"/>
            <a:chOff x="6239032" y="4069199"/>
            <a:chExt cx="495634" cy="493181"/>
          </a:xfrm>
        </p:grpSpPr>
        <p:sp>
          <p:nvSpPr>
            <p:cNvPr id="26" name="Oval 1645"/>
            <p:cNvSpPr>
              <a:spLocks noChangeArrowheads="1"/>
            </p:cNvSpPr>
            <p:nvPr/>
          </p:nvSpPr>
          <p:spPr bwMode="auto">
            <a:xfrm>
              <a:off x="6239032" y="4069199"/>
              <a:ext cx="495634" cy="493181"/>
            </a:xfrm>
            <a:prstGeom prst="ellipse">
              <a:avLst/>
            </a:pr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7" name="Oval 1646"/>
            <p:cNvSpPr>
              <a:spLocks noChangeArrowheads="1"/>
            </p:cNvSpPr>
            <p:nvPr/>
          </p:nvSpPr>
          <p:spPr bwMode="auto">
            <a:xfrm>
              <a:off x="6256208" y="4091281"/>
              <a:ext cx="453923" cy="45392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28" name="组合 27"/>
            <p:cNvGrpSpPr>
              <a:grpSpLocks/>
            </p:cNvGrpSpPr>
            <p:nvPr/>
          </p:nvGrpSpPr>
          <p:grpSpPr bwMode="auto">
            <a:xfrm>
              <a:off x="6332270" y="4196788"/>
              <a:ext cx="309158" cy="245363"/>
              <a:chOff x="6239032" y="3650550"/>
              <a:chExt cx="309158" cy="245363"/>
            </a:xfrm>
          </p:grpSpPr>
          <p:sp>
            <p:nvSpPr>
              <p:cNvPr id="29" name="Freeform 1647"/>
              <p:cNvSpPr>
                <a:spLocks noChangeArrowheads="1"/>
              </p:cNvSpPr>
              <p:nvPr/>
            </p:nvSpPr>
            <p:spPr bwMode="auto">
              <a:xfrm>
                <a:off x="6273383" y="3650550"/>
                <a:ext cx="240456" cy="174208"/>
              </a:xfrm>
              <a:custGeom>
                <a:avLst/>
                <a:gdLst>
                  <a:gd name="T0" fmla="*/ 41 w 41"/>
                  <a:gd name="T1" fmla="*/ 15 h 30"/>
                  <a:gd name="T2" fmla="*/ 20 w 41"/>
                  <a:gd name="T3" fmla="*/ 30 h 30"/>
                  <a:gd name="T4" fmla="*/ 0 w 41"/>
                  <a:gd name="T5" fmla="*/ 15 h 30"/>
                  <a:gd name="T6" fmla="*/ 20 w 41"/>
                  <a:gd name="T7" fmla="*/ 0 h 30"/>
                  <a:gd name="T8" fmla="*/ 41 w 41"/>
                  <a:gd name="T9" fmla="*/ 15 h 30"/>
                </a:gdLst>
                <a:ahLst/>
                <a:cxnLst>
                  <a:cxn ang="0">
                    <a:pos x="T0" y="T1"/>
                  </a:cxn>
                  <a:cxn ang="0">
                    <a:pos x="T2" y="T3"/>
                  </a:cxn>
                  <a:cxn ang="0">
                    <a:pos x="T4" y="T5"/>
                  </a:cxn>
                  <a:cxn ang="0">
                    <a:pos x="T6" y="T7"/>
                  </a:cxn>
                  <a:cxn ang="0">
                    <a:pos x="T8" y="T9"/>
                  </a:cxn>
                </a:cxnLst>
                <a:rect l="0" t="0" r="r" b="b"/>
                <a:pathLst>
                  <a:path w="41" h="30">
                    <a:moveTo>
                      <a:pt x="41" y="15"/>
                    </a:moveTo>
                    <a:cubicBezTo>
                      <a:pt x="41" y="23"/>
                      <a:pt x="32" y="30"/>
                      <a:pt x="20" y="30"/>
                    </a:cubicBezTo>
                    <a:cubicBezTo>
                      <a:pt x="9" y="30"/>
                      <a:pt x="0" y="23"/>
                      <a:pt x="0" y="15"/>
                    </a:cubicBezTo>
                    <a:cubicBezTo>
                      <a:pt x="0" y="6"/>
                      <a:pt x="5" y="0"/>
                      <a:pt x="20" y="0"/>
                    </a:cubicBezTo>
                    <a:cubicBezTo>
                      <a:pt x="36" y="0"/>
                      <a:pt x="41" y="6"/>
                      <a:pt x="41" y="15"/>
                    </a:cubicBez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0" name="Freeform 1648"/>
              <p:cNvSpPr>
                <a:spLocks noChangeArrowheads="1"/>
              </p:cNvSpPr>
              <p:nvPr/>
            </p:nvSpPr>
            <p:spPr bwMode="auto">
              <a:xfrm>
                <a:off x="6285651" y="3655457"/>
                <a:ext cx="208559" cy="157033"/>
              </a:xfrm>
              <a:custGeom>
                <a:avLst/>
                <a:gdLst>
                  <a:gd name="T0" fmla="*/ 36 w 36"/>
                  <a:gd name="T1" fmla="*/ 14 h 27"/>
                  <a:gd name="T2" fmla="*/ 18 w 36"/>
                  <a:gd name="T3" fmla="*/ 27 h 27"/>
                  <a:gd name="T4" fmla="*/ 0 w 36"/>
                  <a:gd name="T5" fmla="*/ 14 h 27"/>
                  <a:gd name="T6" fmla="*/ 18 w 36"/>
                  <a:gd name="T7" fmla="*/ 0 h 27"/>
                  <a:gd name="T8" fmla="*/ 36 w 36"/>
                  <a:gd name="T9" fmla="*/ 14 h 27"/>
                </a:gdLst>
                <a:ahLst/>
                <a:cxnLst>
                  <a:cxn ang="0">
                    <a:pos x="T0" y="T1"/>
                  </a:cxn>
                  <a:cxn ang="0">
                    <a:pos x="T2" y="T3"/>
                  </a:cxn>
                  <a:cxn ang="0">
                    <a:pos x="T4" y="T5"/>
                  </a:cxn>
                  <a:cxn ang="0">
                    <a:pos x="T6" y="T7"/>
                  </a:cxn>
                  <a:cxn ang="0">
                    <a:pos x="T8" y="T9"/>
                  </a:cxn>
                </a:cxnLst>
                <a:rect l="0" t="0" r="r" b="b"/>
                <a:pathLst>
                  <a:path w="36" h="27">
                    <a:moveTo>
                      <a:pt x="36" y="14"/>
                    </a:moveTo>
                    <a:cubicBezTo>
                      <a:pt x="36" y="21"/>
                      <a:pt x="28" y="27"/>
                      <a:pt x="18" y="27"/>
                    </a:cubicBezTo>
                    <a:cubicBezTo>
                      <a:pt x="8" y="27"/>
                      <a:pt x="0" y="21"/>
                      <a:pt x="0" y="14"/>
                    </a:cubicBezTo>
                    <a:cubicBezTo>
                      <a:pt x="0" y="6"/>
                      <a:pt x="4" y="0"/>
                      <a:pt x="18" y="0"/>
                    </a:cubicBezTo>
                    <a:cubicBezTo>
                      <a:pt x="32" y="0"/>
                      <a:pt x="36" y="6"/>
                      <a:pt x="36" y="1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1" name="Freeform 1649"/>
              <p:cNvSpPr>
                <a:spLocks noChangeArrowheads="1"/>
              </p:cNvSpPr>
              <p:nvPr/>
            </p:nvSpPr>
            <p:spPr bwMode="auto">
              <a:xfrm>
                <a:off x="6263569" y="3773231"/>
                <a:ext cx="51526" cy="122682"/>
              </a:xfrm>
              <a:custGeom>
                <a:avLst/>
                <a:gdLst>
                  <a:gd name="T0" fmla="*/ 9 w 9"/>
                  <a:gd name="T1" fmla="*/ 17 h 21"/>
                  <a:gd name="T2" fmla="*/ 4 w 9"/>
                  <a:gd name="T3" fmla="*/ 21 h 21"/>
                  <a:gd name="T4" fmla="*/ 4 w 9"/>
                  <a:gd name="T5" fmla="*/ 21 h 21"/>
                  <a:gd name="T6" fmla="*/ 0 w 9"/>
                  <a:gd name="T7" fmla="*/ 17 h 21"/>
                  <a:gd name="T8" fmla="*/ 0 w 9"/>
                  <a:gd name="T9" fmla="*/ 5 h 21"/>
                  <a:gd name="T10" fmla="*/ 4 w 9"/>
                  <a:gd name="T11" fmla="*/ 0 h 21"/>
                  <a:gd name="T12" fmla="*/ 4 w 9"/>
                  <a:gd name="T13" fmla="*/ 0 h 21"/>
                  <a:gd name="T14" fmla="*/ 9 w 9"/>
                  <a:gd name="T15" fmla="*/ 5 h 21"/>
                  <a:gd name="T16" fmla="*/ 9 w 9"/>
                  <a:gd name="T17"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1">
                    <a:moveTo>
                      <a:pt x="9" y="17"/>
                    </a:moveTo>
                    <a:cubicBezTo>
                      <a:pt x="9" y="19"/>
                      <a:pt x="7" y="21"/>
                      <a:pt x="4" y="21"/>
                    </a:cubicBezTo>
                    <a:cubicBezTo>
                      <a:pt x="4" y="21"/>
                      <a:pt x="4" y="21"/>
                      <a:pt x="4" y="21"/>
                    </a:cubicBezTo>
                    <a:cubicBezTo>
                      <a:pt x="2" y="21"/>
                      <a:pt x="0" y="19"/>
                      <a:pt x="0" y="17"/>
                    </a:cubicBezTo>
                    <a:cubicBezTo>
                      <a:pt x="0" y="5"/>
                      <a:pt x="0" y="5"/>
                      <a:pt x="0" y="5"/>
                    </a:cubicBezTo>
                    <a:cubicBezTo>
                      <a:pt x="0" y="2"/>
                      <a:pt x="2" y="0"/>
                      <a:pt x="4" y="0"/>
                    </a:cubicBezTo>
                    <a:cubicBezTo>
                      <a:pt x="4" y="0"/>
                      <a:pt x="4" y="0"/>
                      <a:pt x="4" y="0"/>
                    </a:cubicBezTo>
                    <a:cubicBezTo>
                      <a:pt x="7" y="0"/>
                      <a:pt x="9" y="2"/>
                      <a:pt x="9" y="5"/>
                    </a:cubicBezTo>
                    <a:lnTo>
                      <a:pt x="9" y="17"/>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2" name="Freeform 1650"/>
              <p:cNvSpPr>
                <a:spLocks noChangeArrowheads="1"/>
              </p:cNvSpPr>
              <p:nvPr/>
            </p:nvSpPr>
            <p:spPr bwMode="auto">
              <a:xfrm>
                <a:off x="6472128" y="3773231"/>
                <a:ext cx="51526" cy="122682"/>
              </a:xfrm>
              <a:custGeom>
                <a:avLst/>
                <a:gdLst>
                  <a:gd name="T0" fmla="*/ 9 w 9"/>
                  <a:gd name="T1" fmla="*/ 17 h 21"/>
                  <a:gd name="T2" fmla="*/ 4 w 9"/>
                  <a:gd name="T3" fmla="*/ 21 h 21"/>
                  <a:gd name="T4" fmla="*/ 4 w 9"/>
                  <a:gd name="T5" fmla="*/ 21 h 21"/>
                  <a:gd name="T6" fmla="*/ 0 w 9"/>
                  <a:gd name="T7" fmla="*/ 17 h 21"/>
                  <a:gd name="T8" fmla="*/ 0 w 9"/>
                  <a:gd name="T9" fmla="*/ 5 h 21"/>
                  <a:gd name="T10" fmla="*/ 4 w 9"/>
                  <a:gd name="T11" fmla="*/ 0 h 21"/>
                  <a:gd name="T12" fmla="*/ 4 w 9"/>
                  <a:gd name="T13" fmla="*/ 0 h 21"/>
                  <a:gd name="T14" fmla="*/ 9 w 9"/>
                  <a:gd name="T15" fmla="*/ 5 h 21"/>
                  <a:gd name="T16" fmla="*/ 9 w 9"/>
                  <a:gd name="T17"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21">
                    <a:moveTo>
                      <a:pt x="9" y="17"/>
                    </a:moveTo>
                    <a:cubicBezTo>
                      <a:pt x="9" y="19"/>
                      <a:pt x="7" y="21"/>
                      <a:pt x="4" y="21"/>
                    </a:cubicBezTo>
                    <a:cubicBezTo>
                      <a:pt x="4" y="21"/>
                      <a:pt x="4" y="21"/>
                      <a:pt x="4" y="21"/>
                    </a:cubicBezTo>
                    <a:cubicBezTo>
                      <a:pt x="2" y="21"/>
                      <a:pt x="0" y="19"/>
                      <a:pt x="0" y="17"/>
                    </a:cubicBezTo>
                    <a:cubicBezTo>
                      <a:pt x="0" y="5"/>
                      <a:pt x="0" y="5"/>
                      <a:pt x="0" y="5"/>
                    </a:cubicBezTo>
                    <a:cubicBezTo>
                      <a:pt x="0" y="2"/>
                      <a:pt x="2" y="0"/>
                      <a:pt x="4" y="0"/>
                    </a:cubicBezTo>
                    <a:cubicBezTo>
                      <a:pt x="4" y="0"/>
                      <a:pt x="4" y="0"/>
                      <a:pt x="4" y="0"/>
                    </a:cubicBezTo>
                    <a:cubicBezTo>
                      <a:pt x="7" y="0"/>
                      <a:pt x="9" y="2"/>
                      <a:pt x="9" y="5"/>
                    </a:cubicBezTo>
                    <a:lnTo>
                      <a:pt x="9" y="17"/>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3" name="Freeform 1651"/>
              <p:cNvSpPr>
                <a:spLocks noChangeArrowheads="1"/>
              </p:cNvSpPr>
              <p:nvPr/>
            </p:nvSpPr>
            <p:spPr bwMode="auto">
              <a:xfrm>
                <a:off x="6239032" y="3731520"/>
                <a:ext cx="309158" cy="105506"/>
              </a:xfrm>
              <a:custGeom>
                <a:avLst/>
                <a:gdLst>
                  <a:gd name="T0" fmla="*/ 53 w 53"/>
                  <a:gd name="T1" fmla="*/ 12 h 18"/>
                  <a:gd name="T2" fmla="*/ 46 w 53"/>
                  <a:gd name="T3" fmla="*/ 18 h 18"/>
                  <a:gd name="T4" fmla="*/ 6 w 53"/>
                  <a:gd name="T5" fmla="*/ 18 h 18"/>
                  <a:gd name="T6" fmla="*/ 0 w 53"/>
                  <a:gd name="T7" fmla="*/ 12 h 18"/>
                  <a:gd name="T8" fmla="*/ 0 w 53"/>
                  <a:gd name="T9" fmla="*/ 6 h 18"/>
                  <a:gd name="T10" fmla="*/ 6 w 53"/>
                  <a:gd name="T11" fmla="*/ 0 h 18"/>
                  <a:gd name="T12" fmla="*/ 46 w 53"/>
                  <a:gd name="T13" fmla="*/ 0 h 18"/>
                  <a:gd name="T14" fmla="*/ 53 w 53"/>
                  <a:gd name="T15" fmla="*/ 6 h 18"/>
                  <a:gd name="T16" fmla="*/ 53 w 53"/>
                  <a:gd name="T17"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18">
                    <a:moveTo>
                      <a:pt x="53" y="12"/>
                    </a:moveTo>
                    <a:cubicBezTo>
                      <a:pt x="53" y="15"/>
                      <a:pt x="50" y="18"/>
                      <a:pt x="46" y="18"/>
                    </a:cubicBezTo>
                    <a:cubicBezTo>
                      <a:pt x="6" y="18"/>
                      <a:pt x="6" y="18"/>
                      <a:pt x="6" y="18"/>
                    </a:cubicBezTo>
                    <a:cubicBezTo>
                      <a:pt x="3" y="18"/>
                      <a:pt x="0" y="15"/>
                      <a:pt x="0" y="12"/>
                    </a:cubicBezTo>
                    <a:cubicBezTo>
                      <a:pt x="0" y="6"/>
                      <a:pt x="0" y="6"/>
                      <a:pt x="0" y="6"/>
                    </a:cubicBezTo>
                    <a:cubicBezTo>
                      <a:pt x="0" y="2"/>
                      <a:pt x="3" y="0"/>
                      <a:pt x="6" y="0"/>
                    </a:cubicBezTo>
                    <a:cubicBezTo>
                      <a:pt x="46" y="0"/>
                      <a:pt x="46" y="0"/>
                      <a:pt x="46" y="0"/>
                    </a:cubicBezTo>
                    <a:cubicBezTo>
                      <a:pt x="50" y="0"/>
                      <a:pt x="53" y="2"/>
                      <a:pt x="53" y="6"/>
                    </a:cubicBezTo>
                    <a:lnTo>
                      <a:pt x="53" y="12"/>
                    </a:lnTo>
                    <a:close/>
                  </a:path>
                </a:pathLst>
              </a:custGeom>
              <a:solidFill>
                <a:srgbClr val="63973F"/>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4" name="Oval 1652"/>
              <p:cNvSpPr>
                <a:spLocks noChangeArrowheads="1"/>
              </p:cNvSpPr>
              <p:nvPr/>
            </p:nvSpPr>
            <p:spPr bwMode="auto">
              <a:xfrm>
                <a:off x="6268476" y="3756056"/>
                <a:ext cx="46619" cy="46619"/>
              </a:xfrm>
              <a:prstGeom prst="ellipse">
                <a:avLst/>
              </a:pr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5" name="Oval 1653"/>
              <p:cNvSpPr>
                <a:spLocks noChangeArrowheads="1"/>
              </p:cNvSpPr>
              <p:nvPr/>
            </p:nvSpPr>
            <p:spPr bwMode="auto">
              <a:xfrm>
                <a:off x="6467220" y="3756056"/>
                <a:ext cx="51526" cy="46619"/>
              </a:xfrm>
              <a:prstGeom prst="ellipse">
                <a:avLst/>
              </a:prstGeom>
              <a:solidFill>
                <a:srgbClr val="82C24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grpSp>
      <p:sp>
        <p:nvSpPr>
          <p:cNvPr id="13" name="矩形 12"/>
          <p:cNvSpPr>
            <a:spLocks noChangeArrowheads="1"/>
          </p:cNvSpPr>
          <p:nvPr/>
        </p:nvSpPr>
        <p:spPr bwMode="auto">
          <a:xfrm>
            <a:off x="1017661" y="2268379"/>
            <a:ext cx="4645428"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285750" indent="-285750">
              <a:lnSpc>
                <a:spcPct val="110000"/>
              </a:lnSpc>
              <a:spcBef>
                <a:spcPts val="600"/>
              </a:spcBef>
              <a:buFont typeface="Arial" pitchFamily="34" charset="0"/>
              <a:buChar char="–"/>
              <a:defRPr/>
            </a:pPr>
            <a:r>
              <a:rPr kumimoji="1" lang="zh-CN" altLang="en-US" sz="2000" dirty="0"/>
              <a:t>通过设置某些限制条件，以破坏产生死锁的四个必要条件之一的一个或几个条件，来防止发生死锁。</a:t>
            </a:r>
            <a:endParaRPr kumimoji="1" lang="en-US" altLang="zh-CN" sz="2000" dirty="0"/>
          </a:p>
          <a:p>
            <a:pPr marL="285750" indent="-285750">
              <a:lnSpc>
                <a:spcPct val="110000"/>
              </a:lnSpc>
              <a:spcBef>
                <a:spcPts val="600"/>
              </a:spcBef>
              <a:buFont typeface="Arial" pitchFamily="34" charset="0"/>
              <a:buChar char="–"/>
              <a:defRPr/>
            </a:pPr>
            <a:r>
              <a:rPr kumimoji="1" lang="zh-CN" altLang="en-US" sz="2000" dirty="0"/>
              <a:t>易实现，但可能导致资源利用率和系统吞吐量降低。</a:t>
            </a:r>
            <a:endParaRPr kumimoji="1" lang="en-US" altLang="zh-CN" sz="2000" dirty="0"/>
          </a:p>
        </p:txBody>
      </p:sp>
      <p:sp>
        <p:nvSpPr>
          <p:cNvPr id="19" name="矩形 18"/>
          <p:cNvSpPr>
            <a:spLocks noChangeArrowheads="1"/>
          </p:cNvSpPr>
          <p:nvPr/>
        </p:nvSpPr>
        <p:spPr bwMode="auto">
          <a:xfrm>
            <a:off x="6507341" y="1488003"/>
            <a:ext cx="4709318" cy="183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285750" indent="-285750">
              <a:lnSpc>
                <a:spcPct val="110000"/>
              </a:lnSpc>
              <a:spcBef>
                <a:spcPts val="600"/>
              </a:spcBef>
              <a:buFont typeface="Arial" pitchFamily="34" charset="0"/>
              <a:buChar char="–"/>
              <a:defRPr/>
            </a:pPr>
            <a:r>
              <a:rPr kumimoji="1" lang="zh-CN" altLang="en-US" sz="2000" dirty="0"/>
              <a:t>在资源的动态分配过程中，用某种方法去防止系统进入不安全状态，从而避免发生死锁。</a:t>
            </a:r>
            <a:endParaRPr kumimoji="1" lang="en-US" altLang="zh-CN" sz="2000" dirty="0"/>
          </a:p>
          <a:p>
            <a:pPr marL="285750" indent="-285750">
              <a:lnSpc>
                <a:spcPct val="110000"/>
              </a:lnSpc>
              <a:spcBef>
                <a:spcPts val="600"/>
              </a:spcBef>
              <a:buFont typeface="Arial" pitchFamily="34" charset="0"/>
              <a:buChar char="–"/>
              <a:defRPr/>
            </a:pPr>
            <a:r>
              <a:rPr kumimoji="1" lang="zh-CN" altLang="en-US" sz="2000" dirty="0"/>
              <a:t>可获得较高的资源利用率和系统吞吐量，但难度较大。  </a:t>
            </a:r>
          </a:p>
        </p:txBody>
      </p:sp>
      <p:sp>
        <p:nvSpPr>
          <p:cNvPr id="20" name="矩形 19"/>
          <p:cNvSpPr>
            <a:spLocks noChangeArrowheads="1"/>
          </p:cNvSpPr>
          <p:nvPr/>
        </p:nvSpPr>
        <p:spPr bwMode="auto">
          <a:xfrm>
            <a:off x="852158" y="5051678"/>
            <a:ext cx="5139932" cy="152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285750" indent="-285750">
              <a:lnSpc>
                <a:spcPct val="110000"/>
              </a:lnSpc>
              <a:spcBef>
                <a:spcPts val="600"/>
              </a:spcBef>
              <a:buFont typeface="Arial" pitchFamily="34" charset="0"/>
              <a:buChar char="–"/>
              <a:defRPr/>
            </a:pPr>
            <a:r>
              <a:rPr kumimoji="1" lang="zh-CN" altLang="en-US" sz="2000" dirty="0"/>
              <a:t>常用方法：撤消或挂起一些进程，回收资源分配给其他处于阻塞的进程。</a:t>
            </a:r>
            <a:endParaRPr kumimoji="1" lang="en-US" altLang="zh-CN" sz="2000" dirty="0"/>
          </a:p>
          <a:p>
            <a:pPr marL="285750" indent="-285750">
              <a:lnSpc>
                <a:spcPct val="110000"/>
              </a:lnSpc>
              <a:spcBef>
                <a:spcPts val="600"/>
              </a:spcBef>
              <a:buFont typeface="Arial" pitchFamily="34" charset="0"/>
              <a:buChar char="–"/>
              <a:defRPr/>
            </a:pPr>
            <a:r>
              <a:rPr kumimoji="1" lang="zh-CN" altLang="en-US" sz="2000" dirty="0"/>
              <a:t>特点：资源利用率好，系统吞吐量大。实现难度最大！</a:t>
            </a:r>
          </a:p>
        </p:txBody>
      </p:sp>
      <p:sp>
        <p:nvSpPr>
          <p:cNvPr id="21" name="矩形 20"/>
          <p:cNvSpPr>
            <a:spLocks noChangeArrowheads="1"/>
          </p:cNvSpPr>
          <p:nvPr/>
        </p:nvSpPr>
        <p:spPr bwMode="auto">
          <a:xfrm>
            <a:off x="7115653" y="4317088"/>
            <a:ext cx="4603907"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285750" indent="-285750" algn="r">
              <a:lnSpc>
                <a:spcPct val="110000"/>
              </a:lnSpc>
              <a:spcBef>
                <a:spcPts val="600"/>
              </a:spcBef>
              <a:buFont typeface="Arial" pitchFamily="34" charset="0"/>
              <a:buChar char="–"/>
              <a:defRPr/>
            </a:pPr>
            <a:r>
              <a:rPr kumimoji="1" lang="zh-CN" altLang="en-US" sz="2000" dirty="0"/>
              <a:t>内存</a:t>
            </a:r>
            <a:r>
              <a:rPr lang="zh-CN" altLang="en-US" sz="2000" dirty="0"/>
              <a:t>及时地检测出死锁的发生，并精确地确定与死锁有关的进程和资源。</a:t>
            </a:r>
            <a:endParaRPr lang="en-US" altLang="zh-CN" sz="2000" dirty="0"/>
          </a:p>
          <a:p>
            <a:pPr marL="285750" indent="-285750" algn="r">
              <a:lnSpc>
                <a:spcPct val="110000"/>
              </a:lnSpc>
              <a:spcBef>
                <a:spcPts val="600"/>
              </a:spcBef>
              <a:buFont typeface="Arial" pitchFamily="34" charset="0"/>
              <a:buChar char="–"/>
              <a:defRPr/>
            </a:pPr>
            <a:r>
              <a:rPr lang="zh-CN" altLang="en-US" sz="2000" dirty="0"/>
              <a:t>清除已发生的死锁，需要采用一些用于强制性抢夺资源或者中止任务的技术。</a:t>
            </a:r>
            <a:endParaRPr kumimoji="1" lang="zh-CN" altLang="en-US" sz="2000" dirty="0"/>
          </a:p>
        </p:txBody>
      </p:sp>
      <p:sp>
        <p:nvSpPr>
          <p:cNvPr id="97" name="矩形 96"/>
          <p:cNvSpPr>
            <a:spLocks noChangeArrowheads="1"/>
          </p:cNvSpPr>
          <p:nvPr/>
        </p:nvSpPr>
        <p:spPr bwMode="auto">
          <a:xfrm>
            <a:off x="3978777" y="1705793"/>
            <a:ext cx="1415772" cy="5118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25000"/>
              </a:lnSpc>
            </a:pPr>
            <a:r>
              <a:rPr lang="zh-CN" altLang="en-US" sz="2400" b="1" dirty="0">
                <a:solidFill>
                  <a:srgbClr val="197519"/>
                </a:solidFill>
              </a:rPr>
              <a:t>预防死锁</a:t>
            </a:r>
            <a:endParaRPr lang="en-US" altLang="zh-CN" sz="2400" b="1" dirty="0">
              <a:solidFill>
                <a:srgbClr val="197519"/>
              </a:solidFill>
            </a:endParaRPr>
          </a:p>
        </p:txBody>
      </p:sp>
      <p:sp>
        <p:nvSpPr>
          <p:cNvPr id="99" name="矩形 98"/>
          <p:cNvSpPr>
            <a:spLocks noChangeArrowheads="1"/>
          </p:cNvSpPr>
          <p:nvPr/>
        </p:nvSpPr>
        <p:spPr bwMode="auto">
          <a:xfrm>
            <a:off x="6872724" y="962255"/>
            <a:ext cx="1415772" cy="5118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25000"/>
              </a:lnSpc>
            </a:pPr>
            <a:r>
              <a:rPr lang="zh-CN" altLang="en-US" sz="2400" b="1" dirty="0">
                <a:solidFill>
                  <a:srgbClr val="197519"/>
                </a:solidFill>
              </a:rPr>
              <a:t>避免死锁</a:t>
            </a:r>
            <a:endParaRPr lang="en-US" altLang="zh-CN" sz="2400" b="1" dirty="0">
              <a:solidFill>
                <a:srgbClr val="197519"/>
              </a:solidFill>
            </a:endParaRPr>
          </a:p>
        </p:txBody>
      </p:sp>
      <p:sp>
        <p:nvSpPr>
          <p:cNvPr id="100" name="矩形 99"/>
          <p:cNvSpPr>
            <a:spLocks noChangeArrowheads="1"/>
          </p:cNvSpPr>
          <p:nvPr/>
        </p:nvSpPr>
        <p:spPr bwMode="auto">
          <a:xfrm>
            <a:off x="7559972" y="6122986"/>
            <a:ext cx="1415772" cy="5118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25000"/>
              </a:lnSpc>
            </a:pPr>
            <a:r>
              <a:rPr lang="zh-CN" altLang="en-US" sz="2400" b="1" dirty="0">
                <a:solidFill>
                  <a:srgbClr val="197519"/>
                </a:solidFill>
              </a:rPr>
              <a:t>检测死锁</a:t>
            </a:r>
            <a:endParaRPr lang="en-US" altLang="zh-CN" sz="2400" b="1" dirty="0">
              <a:solidFill>
                <a:srgbClr val="197519"/>
              </a:solidFill>
            </a:endParaRPr>
          </a:p>
        </p:txBody>
      </p:sp>
      <p:sp>
        <p:nvSpPr>
          <p:cNvPr id="101" name="矩形 100"/>
          <p:cNvSpPr>
            <a:spLocks noChangeArrowheads="1"/>
          </p:cNvSpPr>
          <p:nvPr/>
        </p:nvSpPr>
        <p:spPr bwMode="auto">
          <a:xfrm>
            <a:off x="4635949" y="6243834"/>
            <a:ext cx="1415772" cy="5118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25000"/>
              </a:lnSpc>
            </a:pPr>
            <a:r>
              <a:rPr lang="zh-CN" altLang="en-US" sz="2400" b="1" dirty="0">
                <a:solidFill>
                  <a:srgbClr val="197519"/>
                </a:solidFill>
              </a:rPr>
              <a:t>解除死锁</a:t>
            </a:r>
            <a:endParaRPr lang="en-US" altLang="zh-CN" sz="2400" b="1" dirty="0">
              <a:solidFill>
                <a:srgbClr val="197519"/>
              </a:solidFill>
            </a:endParaRPr>
          </a:p>
        </p:txBody>
      </p:sp>
      <p:sp>
        <p:nvSpPr>
          <p:cNvPr id="102" name="文本框 25"/>
          <p:cNvSpPr txBox="1">
            <a:spLocks noChangeArrowheads="1"/>
          </p:cNvSpPr>
          <p:nvPr/>
        </p:nvSpPr>
        <p:spPr bwMode="auto">
          <a:xfrm>
            <a:off x="852158" y="225732"/>
            <a:ext cx="50786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死锁的定义、必要条件和处理方法</a:t>
            </a:r>
          </a:p>
        </p:txBody>
      </p:sp>
      <p:grpSp>
        <p:nvGrpSpPr>
          <p:cNvPr id="103" name="组合 102"/>
          <p:cNvGrpSpPr/>
          <p:nvPr/>
        </p:nvGrpSpPr>
        <p:grpSpPr>
          <a:xfrm>
            <a:off x="871610" y="952381"/>
            <a:ext cx="6377004" cy="665162"/>
            <a:chOff x="978290" y="1120021"/>
            <a:chExt cx="6377004" cy="665162"/>
          </a:xfrm>
        </p:grpSpPr>
        <p:sp>
          <p:nvSpPr>
            <p:cNvPr id="104" name="矩形 103"/>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5" name="矩形 10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）死锁的处理方法</a:t>
              </a:r>
            </a:p>
          </p:txBody>
        </p:sp>
      </p:grpSp>
    </p:spTree>
    <p:extLst>
      <p:ext uri="{BB962C8B-B14F-4D97-AF65-F5344CB8AC3E}">
        <p14:creationId xmlns:p14="http://schemas.microsoft.com/office/powerpoint/2010/main" val="154957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0"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 name="组合 29"/>
          <p:cNvGrpSpPr/>
          <p:nvPr/>
        </p:nvGrpSpPr>
        <p:grpSpPr>
          <a:xfrm>
            <a:off x="2405073" y="1483991"/>
            <a:ext cx="7314042" cy="1104503"/>
            <a:chOff x="3367799" y="2876749"/>
            <a:chExt cx="572540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解决死锁问题的方法</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36779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4.6.1</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22" name="文本框 21"/>
          <p:cNvSpPr txBox="1">
            <a:spLocks noChangeArrowheads="1"/>
          </p:cNvSpPr>
          <p:nvPr/>
        </p:nvSpPr>
        <p:spPr bwMode="auto">
          <a:xfrm>
            <a:off x="2439935" y="3217837"/>
            <a:ext cx="727920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         预防死锁的方法是通过破坏产生死锁的四个必要条件中的一个或几个，以避免发生死锁。由于互斥条件是非共享设备所必须的，不仅不能改变，还应加以保证，因此主要是破坏产生死锁的后三个条件。</a:t>
            </a:r>
          </a:p>
        </p:txBody>
      </p:sp>
    </p:spTree>
    <p:extLst>
      <p:ext uri="{BB962C8B-B14F-4D97-AF65-F5344CB8AC3E}">
        <p14:creationId xmlns:p14="http://schemas.microsoft.com/office/powerpoint/2010/main" val="3022033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847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破坏“请求和保持”条件</a:t>
            </a:r>
          </a:p>
        </p:txBody>
      </p:sp>
      <p:sp>
        <p:nvSpPr>
          <p:cNvPr id="14" name="箭头3"/>
          <p:cNvSpPr/>
          <p:nvPr/>
        </p:nvSpPr>
        <p:spPr bwMode="gray">
          <a:xfrm flipV="1">
            <a:off x="1331014" y="3778567"/>
            <a:ext cx="1320746" cy="1453237"/>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15" name="箭头1"/>
          <p:cNvSpPr/>
          <p:nvPr/>
        </p:nvSpPr>
        <p:spPr bwMode="gray">
          <a:xfrm>
            <a:off x="1320664" y="2556169"/>
            <a:ext cx="1331096" cy="165444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16" name="文本1"/>
          <p:cNvSpPr>
            <a:spLocks noChangeArrowheads="1"/>
          </p:cNvSpPr>
          <p:nvPr/>
        </p:nvSpPr>
        <p:spPr bwMode="gray">
          <a:xfrm>
            <a:off x="3854737" y="1786645"/>
            <a:ext cx="7776782" cy="2178532"/>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kumimoji="0" lang="zh-CN" altLang="zh-CN" sz="1600" i="0" u="none" strike="noStrike" kern="1200" cap="none" spc="0" normalizeH="0" baseline="0" noProof="0" dirty="0">
              <a:ln>
                <a:noFill/>
              </a:ln>
              <a:solidFill>
                <a:srgbClr val="4D4D4D"/>
              </a:solidFill>
              <a:effectLst/>
              <a:uLnTx/>
              <a:uFillTx/>
              <a:cs typeface="+mn-ea"/>
              <a:sym typeface="+mn-lt"/>
            </a:endParaRPr>
          </a:p>
        </p:txBody>
      </p:sp>
      <p:sp>
        <p:nvSpPr>
          <p:cNvPr id="17" name="标题1"/>
          <p:cNvSpPr>
            <a:spLocks noChangeArrowheads="1"/>
          </p:cNvSpPr>
          <p:nvPr/>
        </p:nvSpPr>
        <p:spPr bwMode="gray">
          <a:xfrm>
            <a:off x="2647736" y="2224484"/>
            <a:ext cx="1192744" cy="1155600"/>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静态分配法</a:t>
            </a:r>
            <a:endParaRPr kumimoji="0" lang="zh-CN" altLang="zh-CN" sz="2400" b="1" i="0" u="none" strike="noStrike" kern="1200" cap="none" spc="0" normalizeH="0" baseline="0" noProof="0" dirty="0">
              <a:ln>
                <a:noFill/>
              </a:ln>
              <a:solidFill>
                <a:sysClr val="window" lastClr="FFFFFF">
                  <a:lumMod val="95000"/>
                </a:sysClr>
              </a:solidFill>
              <a:effectLst/>
              <a:uLnTx/>
              <a:uFillTx/>
              <a:cs typeface="+mn-ea"/>
              <a:sym typeface="+mn-lt"/>
            </a:endParaRPr>
          </a:p>
        </p:txBody>
      </p:sp>
      <p:sp>
        <p:nvSpPr>
          <p:cNvPr id="20" name="Oval 19"/>
          <p:cNvSpPr>
            <a:spLocks noChangeArrowheads="1"/>
          </p:cNvSpPr>
          <p:nvPr/>
        </p:nvSpPr>
        <p:spPr bwMode="auto">
          <a:xfrm>
            <a:off x="804055" y="3245177"/>
            <a:ext cx="1440000" cy="1440000"/>
          </a:xfrm>
          <a:prstGeom prst="roundRect">
            <a:avLst/>
          </a:prstGeom>
          <a:ln/>
        </p:spPr>
        <p:style>
          <a:lnRef idx="3">
            <a:schemeClr val="lt1"/>
          </a:lnRef>
          <a:fillRef idx="1">
            <a:schemeClr val="accent6"/>
          </a:fillRef>
          <a:effectRef idx="1">
            <a:schemeClr val="accent6"/>
          </a:effectRef>
          <a:fontRef idx="minor">
            <a:schemeClr val="lt1"/>
          </a:fontRef>
        </p:style>
        <p:txBody>
          <a:bodyPr lIns="126000" rIns="126000" bIns="180000" anchor="ctr"/>
          <a:lstStyle/>
          <a:p>
            <a:pPr algn="ctr">
              <a:lnSpc>
                <a:spcPct val="120000"/>
              </a:lnSpc>
            </a:pPr>
            <a:r>
              <a:rPr lang="zh-CN" altLang="en-US" sz="2400" b="1" kern="0" dirty="0">
                <a:solidFill>
                  <a:srgbClr val="F9F9F9"/>
                </a:solidFill>
                <a:cs typeface="+mn-ea"/>
                <a:sym typeface="+mn-lt"/>
              </a:rPr>
              <a:t>两种协议实现</a:t>
            </a:r>
            <a:endParaRPr lang="en-US" altLang="zh-CN" sz="2400" b="1" kern="0" dirty="0">
              <a:solidFill>
                <a:srgbClr val="F9F9F9"/>
              </a:solidFill>
              <a:cs typeface="+mn-ea"/>
              <a:sym typeface="+mn-lt"/>
            </a:endParaRPr>
          </a:p>
        </p:txBody>
      </p:sp>
      <p:sp>
        <p:nvSpPr>
          <p:cNvPr id="22" name="文本框 19"/>
          <p:cNvSpPr txBox="1">
            <a:spLocks noChangeArrowheads="1"/>
          </p:cNvSpPr>
          <p:nvPr/>
        </p:nvSpPr>
        <p:spPr bwMode="auto">
          <a:xfrm>
            <a:off x="3897773" y="1901726"/>
            <a:ext cx="7776782" cy="201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10000"/>
              </a:lnSpc>
            </a:pPr>
            <a:r>
              <a:rPr lang="zh-CN" altLang="en-US" sz="2400" dirty="0"/>
              <a:t>系统要求所有进程在开始运行之前，必须一次性地申请在整个运行过程所需要的全部资源。</a:t>
            </a:r>
          </a:p>
          <a:p>
            <a:pPr marL="0" lvl="2" indent="0">
              <a:buBlip>
                <a:blip r:embed="rId3"/>
              </a:buBlip>
            </a:pPr>
            <a:r>
              <a:rPr lang="zh-CN" altLang="en-US" sz="2400" b="1" dirty="0">
                <a:solidFill>
                  <a:schemeClr val="accent2"/>
                </a:solidFill>
              </a:rPr>
              <a:t>破坏“请求”条件：</a:t>
            </a:r>
            <a:r>
              <a:rPr lang="zh-CN" altLang="en-US" sz="2400" dirty="0"/>
              <a:t>进程在整个运行期间，不会再提出资源要求；</a:t>
            </a:r>
            <a:endParaRPr lang="en-US" altLang="zh-CN" sz="2400" dirty="0"/>
          </a:p>
          <a:p>
            <a:pPr marL="0" lvl="2" indent="0">
              <a:buBlip>
                <a:blip r:embed="rId3"/>
              </a:buBlip>
            </a:pPr>
            <a:r>
              <a:rPr lang="zh-CN" altLang="en-US" sz="2400" b="1" dirty="0">
                <a:solidFill>
                  <a:schemeClr val="accent2"/>
                </a:solidFill>
              </a:rPr>
              <a:t>破坏“保持”条件：</a:t>
            </a:r>
            <a:r>
              <a:rPr lang="zh-CN" altLang="en-US" sz="2400" dirty="0"/>
              <a:t>等待期间的进程未占有任何资源；</a:t>
            </a:r>
          </a:p>
        </p:txBody>
      </p:sp>
      <p:grpSp>
        <p:nvGrpSpPr>
          <p:cNvPr id="13" name="组合 12"/>
          <p:cNvGrpSpPr/>
          <p:nvPr/>
        </p:nvGrpSpPr>
        <p:grpSpPr>
          <a:xfrm>
            <a:off x="978290" y="1120021"/>
            <a:ext cx="10207870" cy="665162"/>
            <a:chOff x="978290" y="1120021"/>
            <a:chExt cx="10207870"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102078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b="1" dirty="0">
                  <a:solidFill>
                    <a:srgbClr val="4C7E51"/>
                  </a:solidFill>
                  <a:latin typeface="微软雅黑" panose="020B0503020204020204" pitchFamily="34" charset="-122"/>
                  <a:ea typeface="微软雅黑" panose="020B0503020204020204" pitchFamily="34" charset="-122"/>
                </a:rPr>
                <a:t>系统确保当一个进程在请求资源时，它不能持有不可抢占资源</a:t>
              </a:r>
              <a:r>
                <a:rPr lang="en-US" altLang="zh-CN" sz="2400" b="1" dirty="0">
                  <a:solidFill>
                    <a:srgbClr val="4C7E51"/>
                  </a:solidFill>
                  <a:latin typeface="微软雅黑" panose="020B0503020204020204" pitchFamily="34" charset="-122"/>
                  <a:ea typeface="微软雅黑" panose="020B0503020204020204" pitchFamily="34" charset="-122"/>
                </a:rPr>
                <a:t>。</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grpSp>
      <p:sp>
        <p:nvSpPr>
          <p:cNvPr id="27" name="文本1"/>
          <p:cNvSpPr>
            <a:spLocks noChangeArrowheads="1"/>
          </p:cNvSpPr>
          <p:nvPr/>
        </p:nvSpPr>
        <p:spPr bwMode="gray">
          <a:xfrm>
            <a:off x="3854737" y="4028914"/>
            <a:ext cx="7776782" cy="2178532"/>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kumimoji="0" lang="zh-CN" altLang="zh-CN" sz="1600" i="0" u="none" strike="noStrike" kern="1200" cap="none" spc="0" normalizeH="0" baseline="0" noProof="0" dirty="0">
              <a:ln>
                <a:noFill/>
              </a:ln>
              <a:solidFill>
                <a:srgbClr val="4D4D4D"/>
              </a:solidFill>
              <a:effectLst/>
              <a:uLnTx/>
              <a:uFillTx/>
              <a:cs typeface="+mn-ea"/>
              <a:sym typeface="+mn-lt"/>
            </a:endParaRPr>
          </a:p>
        </p:txBody>
      </p:sp>
      <p:sp>
        <p:nvSpPr>
          <p:cNvPr id="28" name="标题1"/>
          <p:cNvSpPr>
            <a:spLocks noChangeArrowheads="1"/>
          </p:cNvSpPr>
          <p:nvPr/>
        </p:nvSpPr>
        <p:spPr bwMode="gray">
          <a:xfrm>
            <a:off x="2647736" y="4466753"/>
            <a:ext cx="1192744" cy="1155600"/>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noProof="0" dirty="0">
                <a:solidFill>
                  <a:sysClr val="window" lastClr="FFFFFF">
                    <a:lumMod val="95000"/>
                  </a:sysClr>
                </a:solidFill>
                <a:cs typeface="+mn-ea"/>
                <a:sym typeface="+mn-lt"/>
              </a:rPr>
              <a:t>阶段性分配</a:t>
            </a:r>
            <a:endParaRPr kumimoji="0" lang="zh-CN" altLang="zh-CN" sz="2400" b="1" i="0" u="none" strike="noStrike" kern="1200" cap="none" spc="0" normalizeH="0" baseline="0" noProof="0" dirty="0">
              <a:ln>
                <a:noFill/>
              </a:ln>
              <a:solidFill>
                <a:sysClr val="window" lastClr="FFFFFF">
                  <a:lumMod val="95000"/>
                </a:sysClr>
              </a:solidFill>
              <a:effectLst/>
              <a:uLnTx/>
              <a:uFillTx/>
              <a:cs typeface="+mn-ea"/>
              <a:sym typeface="+mn-lt"/>
            </a:endParaRPr>
          </a:p>
        </p:txBody>
      </p:sp>
      <p:sp>
        <p:nvSpPr>
          <p:cNvPr id="29" name="文本框 19"/>
          <p:cNvSpPr txBox="1">
            <a:spLocks noChangeArrowheads="1"/>
          </p:cNvSpPr>
          <p:nvPr/>
        </p:nvSpPr>
        <p:spPr bwMode="auto">
          <a:xfrm>
            <a:off x="3897773" y="4403075"/>
            <a:ext cx="7776782" cy="1284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10000"/>
              </a:lnSpc>
            </a:pPr>
            <a:r>
              <a:rPr lang="zh-CN" altLang="en-US" sz="2400" dirty="0"/>
              <a:t>允许一个进程只获得运行初期所需的资源后便开始运行，进程运行过程中再逐步释放已经分配给自己、且已用毕的全部资源，然后再请求新的所需资源。</a:t>
            </a:r>
          </a:p>
        </p:txBody>
      </p:sp>
      <p:sp>
        <p:nvSpPr>
          <p:cNvPr id="30" name="AutoShape 22"/>
          <p:cNvSpPr>
            <a:spLocks noChangeArrowheads="1"/>
          </p:cNvSpPr>
          <p:nvPr/>
        </p:nvSpPr>
        <p:spPr bwMode="auto">
          <a:xfrm>
            <a:off x="4217098" y="1047312"/>
            <a:ext cx="6435662" cy="994848"/>
          </a:xfrm>
          <a:prstGeom prst="wedgeRoundRectCallout">
            <a:avLst>
              <a:gd name="adj1" fmla="val -56286"/>
              <a:gd name="adj2" fmla="val 108158"/>
              <a:gd name="adj3" fmla="val 16667"/>
            </a:avLst>
          </a:prstGeom>
          <a:solidFill>
            <a:srgbClr val="FFFF99"/>
          </a:solidFill>
          <a:ln w="9525">
            <a:solidFill>
              <a:schemeClr val="tx1"/>
            </a:solidFill>
            <a:miter lim="800000"/>
            <a:headEnd/>
            <a:tailEnd/>
          </a:ln>
        </p:spPr>
        <p:txBody>
          <a:bodyPr/>
          <a:lstStyle/>
          <a:p>
            <a:pPr>
              <a:lnSpc>
                <a:spcPct val="110000"/>
              </a:lnSpc>
            </a:pPr>
            <a:r>
              <a:rPr lang="zh-CN" altLang="en-US" sz="2400" b="1" dirty="0">
                <a:solidFill>
                  <a:schemeClr val="accent2"/>
                </a:solidFill>
              </a:rPr>
              <a:t>优点：</a:t>
            </a:r>
            <a:r>
              <a:rPr lang="zh-CN" altLang="en-US" sz="2400" dirty="0"/>
              <a:t>简单、易于实现、且安全</a:t>
            </a:r>
          </a:p>
          <a:p>
            <a:pPr>
              <a:lnSpc>
                <a:spcPct val="110000"/>
              </a:lnSpc>
            </a:pPr>
            <a:r>
              <a:rPr lang="zh-CN" altLang="en-US" sz="2400" b="1" dirty="0">
                <a:solidFill>
                  <a:schemeClr val="accent2"/>
                </a:solidFill>
              </a:rPr>
              <a:t>缺点：</a:t>
            </a:r>
            <a:r>
              <a:rPr lang="zh-CN" altLang="en-US" sz="2400" dirty="0"/>
              <a:t>资源严重浪费；进程经常发生饥饿现象。</a:t>
            </a:r>
          </a:p>
        </p:txBody>
      </p:sp>
    </p:spTree>
    <p:extLst>
      <p:ext uri="{BB962C8B-B14F-4D97-AF65-F5344CB8AC3E}">
        <p14:creationId xmlns:p14="http://schemas.microsoft.com/office/powerpoint/2010/main" val="170094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500"/>
                                        <p:tgtEl>
                                          <p:spTgt spid="2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strips(downLeft)">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left)">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500"/>
                                        <p:tgtEl>
                                          <p:spTgt spid="27"/>
                                        </p:tgtEl>
                                      </p:cBhvr>
                                    </p:animEffect>
                                  </p:childTnLst>
                                </p:cTn>
                              </p:par>
                              <p:par>
                                <p:cTn id="36" presetID="18" presetClass="entr" presetSubtype="12"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strips(downLeft)">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up)">
                                      <p:cBhvr>
                                        <p:cTn id="4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20" grpId="0" animBg="1"/>
      <p:bldP spid="22" grpId="0"/>
      <p:bldP spid="27" grpId="0" animBg="1"/>
      <p:bldP spid="28" grpId="0" animBg="1"/>
      <p:bldP spid="29" grpId="0"/>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破坏“不可抢占”条件</a:t>
            </a:r>
          </a:p>
        </p:txBody>
      </p:sp>
      <p:sp>
        <p:nvSpPr>
          <p:cNvPr id="18" name="文本框 10"/>
          <p:cNvSpPr txBox="1">
            <a:spLocks noChangeArrowheads="1"/>
          </p:cNvSpPr>
          <p:nvPr/>
        </p:nvSpPr>
        <p:spPr bwMode="auto">
          <a:xfrm>
            <a:off x="659567" y="1642573"/>
            <a:ext cx="7008057" cy="148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r">
              <a:lnSpc>
                <a:spcPct val="130000"/>
              </a:lnSpc>
            </a:pPr>
            <a:r>
              <a:rPr lang="zh-CN" altLang="en-US" sz="2400" dirty="0"/>
              <a:t>当一个已经保持了某些不可被抢占资源的进程，提出新的资源请求而不能得到满足时，它必须释放已经保持的所有资源，待以后需要时再重新申请。</a:t>
            </a:r>
            <a:endParaRPr lang="en-US" altLang="zh-CN" sz="2400" dirty="0"/>
          </a:p>
        </p:txBody>
      </p:sp>
      <p:sp>
        <p:nvSpPr>
          <p:cNvPr id="19" name="空心弧 12"/>
          <p:cNvSpPr>
            <a:spLocks noChangeArrowheads="1"/>
          </p:cNvSpPr>
          <p:nvPr/>
        </p:nvSpPr>
        <p:spPr bwMode="auto">
          <a:xfrm>
            <a:off x="7761287" y="1328896"/>
            <a:ext cx="4057650" cy="4095750"/>
          </a:xfrm>
          <a:custGeom>
            <a:avLst/>
            <a:gdLst>
              <a:gd name="T0" fmla="*/ 4057281 w 4057966"/>
              <a:gd name="T1" fmla="*/ 1994398 h 4095198"/>
              <a:gd name="T2" fmla="*/ 4057966 w 4057966"/>
              <a:gd name="T3" fmla="*/ 2047598 h 4095198"/>
              <a:gd name="T4" fmla="*/ 2028983 w 4057966"/>
              <a:gd name="T5" fmla="*/ 4095197 h 4095198"/>
              <a:gd name="T6" fmla="*/ 0 w 4057966"/>
              <a:gd name="T7" fmla="*/ 2047598 h 4095198"/>
              <a:gd name="T8" fmla="*/ 1986128 w 4057966"/>
              <a:gd name="T9" fmla="*/ 447 h 4095198"/>
              <a:gd name="T10" fmla="*/ 2002254 w 4057966"/>
              <a:gd name="T11" fmla="*/ 764360 h 4095198"/>
              <a:gd name="T12" fmla="*/ 764074 w 4057966"/>
              <a:gd name="T13" fmla="*/ 2047597 h 4095198"/>
              <a:gd name="T14" fmla="*/ 2028982 w 4057966"/>
              <a:gd name="T15" fmla="*/ 3331121 h 4095198"/>
              <a:gd name="T16" fmla="*/ 3293890 w 4057966"/>
              <a:gd name="T17" fmla="*/ 2047597 h 4095198"/>
              <a:gd name="T18" fmla="*/ 3293472 w 4057966"/>
              <a:gd name="T19" fmla="*/ 2014266 h 4095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57966" h="4095198">
                <a:moveTo>
                  <a:pt x="4057281" y="1994398"/>
                </a:moveTo>
                <a:cubicBezTo>
                  <a:pt x="4057741" y="2012065"/>
                  <a:pt x="4057966" y="2029805"/>
                  <a:pt x="4057966" y="2047598"/>
                </a:cubicBezTo>
                <a:cubicBezTo>
                  <a:pt x="4057966" y="3178456"/>
                  <a:pt x="3149559" y="4095197"/>
                  <a:pt x="2028983" y="4095197"/>
                </a:cubicBezTo>
                <a:cubicBezTo>
                  <a:pt x="908407" y="4095197"/>
                  <a:pt x="0" y="3178456"/>
                  <a:pt x="0" y="2047598"/>
                </a:cubicBezTo>
                <a:cubicBezTo>
                  <a:pt x="0" y="931123"/>
                  <a:pt x="885447" y="23352"/>
                  <a:pt x="1986128" y="447"/>
                </a:cubicBezTo>
                <a:lnTo>
                  <a:pt x="2002254" y="764360"/>
                </a:lnTo>
                <a:cubicBezTo>
                  <a:pt x="1315932" y="778863"/>
                  <a:pt x="764074" y="1347835"/>
                  <a:pt x="764074" y="2047597"/>
                </a:cubicBezTo>
                <a:cubicBezTo>
                  <a:pt x="764074" y="2756468"/>
                  <a:pt x="1330393" y="3331121"/>
                  <a:pt x="2028982" y="3331121"/>
                </a:cubicBezTo>
                <a:cubicBezTo>
                  <a:pt x="2727571" y="3331121"/>
                  <a:pt x="3293890" y="2756468"/>
                  <a:pt x="3293890" y="2047597"/>
                </a:cubicBezTo>
                <a:cubicBezTo>
                  <a:pt x="3293890" y="2036453"/>
                  <a:pt x="3293750" y="2025342"/>
                  <a:pt x="3293472" y="2014266"/>
                </a:cubicBezTo>
                <a:close/>
              </a:path>
            </a:pathLst>
          </a:cu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4" name="椭圆 23"/>
          <p:cNvSpPr>
            <a:spLocks noChangeArrowheads="1"/>
          </p:cNvSpPr>
          <p:nvPr/>
        </p:nvSpPr>
        <p:spPr bwMode="auto">
          <a:xfrm>
            <a:off x="8556624" y="2143284"/>
            <a:ext cx="2466975" cy="2466975"/>
          </a:xfrm>
          <a:prstGeom prst="ellipse">
            <a:avLst/>
          </a:prstGeom>
          <a:noFill/>
          <a:ln w="34925">
            <a:solidFill>
              <a:srgbClr val="3B7327"/>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1" name="Freeform 5"/>
          <p:cNvSpPr>
            <a:spLocks noEditPoints="1" noChangeArrowheads="1"/>
          </p:cNvSpPr>
          <p:nvPr/>
        </p:nvSpPr>
        <p:spPr bwMode="auto">
          <a:xfrm>
            <a:off x="8959849" y="2646521"/>
            <a:ext cx="1670050" cy="1497013"/>
          </a:xfrm>
          <a:custGeom>
            <a:avLst/>
            <a:gdLst>
              <a:gd name="T0" fmla="*/ 0 w 139"/>
              <a:gd name="T1" fmla="*/ 44 h 124"/>
              <a:gd name="T2" fmla="*/ 24 w 139"/>
              <a:gd name="T3" fmla="*/ 24 h 124"/>
              <a:gd name="T4" fmla="*/ 15 w 139"/>
              <a:gd name="T5" fmla="*/ 45 h 124"/>
              <a:gd name="T6" fmla="*/ 8 w 139"/>
              <a:gd name="T7" fmla="*/ 62 h 124"/>
              <a:gd name="T8" fmla="*/ 12 w 139"/>
              <a:gd name="T9" fmla="*/ 58 h 124"/>
              <a:gd name="T10" fmla="*/ 32 w 139"/>
              <a:gd name="T11" fmla="*/ 36 h 124"/>
              <a:gd name="T12" fmla="*/ 54 w 139"/>
              <a:gd name="T13" fmla="*/ 27 h 124"/>
              <a:gd name="T14" fmla="*/ 36 w 139"/>
              <a:gd name="T15" fmla="*/ 61 h 124"/>
              <a:gd name="T16" fmla="*/ 56 w 139"/>
              <a:gd name="T17" fmla="*/ 44 h 124"/>
              <a:gd name="T18" fmla="*/ 56 w 139"/>
              <a:gd name="T19" fmla="*/ 49 h 124"/>
              <a:gd name="T20" fmla="*/ 62 w 139"/>
              <a:gd name="T21" fmla="*/ 55 h 124"/>
              <a:gd name="T22" fmla="*/ 25 w 139"/>
              <a:gd name="T23" fmla="*/ 87 h 124"/>
              <a:gd name="T24" fmla="*/ 18 w 139"/>
              <a:gd name="T25" fmla="*/ 88 h 124"/>
              <a:gd name="T26" fmla="*/ 31 w 139"/>
              <a:gd name="T27" fmla="*/ 58 h 124"/>
              <a:gd name="T28" fmla="*/ 36 w 139"/>
              <a:gd name="T29" fmla="*/ 39 h 124"/>
              <a:gd name="T30" fmla="*/ 14 w 139"/>
              <a:gd name="T31" fmla="*/ 61 h 124"/>
              <a:gd name="T32" fmla="*/ 6 w 139"/>
              <a:gd name="T33" fmla="*/ 64 h 124"/>
              <a:gd name="T34" fmla="*/ 12 w 139"/>
              <a:gd name="T35" fmla="*/ 43 h 124"/>
              <a:gd name="T36" fmla="*/ 20 w 139"/>
              <a:gd name="T37" fmla="*/ 23 h 124"/>
              <a:gd name="T38" fmla="*/ 1 w 139"/>
              <a:gd name="T39" fmla="*/ 45 h 124"/>
              <a:gd name="T40" fmla="*/ 0 w 139"/>
              <a:gd name="T41" fmla="*/ 44 h 124"/>
              <a:gd name="T42" fmla="*/ 70 w 139"/>
              <a:gd name="T43" fmla="*/ 70 h 124"/>
              <a:gd name="T44" fmla="*/ 88 w 139"/>
              <a:gd name="T45" fmla="*/ 54 h 124"/>
              <a:gd name="T46" fmla="*/ 92 w 139"/>
              <a:gd name="T47" fmla="*/ 54 h 124"/>
              <a:gd name="T48" fmla="*/ 137 w 139"/>
              <a:gd name="T49" fmla="*/ 101 h 124"/>
              <a:gd name="T50" fmla="*/ 136 w 139"/>
              <a:gd name="T51" fmla="*/ 105 h 124"/>
              <a:gd name="T52" fmla="*/ 119 w 139"/>
              <a:gd name="T53" fmla="*/ 122 h 124"/>
              <a:gd name="T54" fmla="*/ 115 w 139"/>
              <a:gd name="T55" fmla="*/ 122 h 124"/>
              <a:gd name="T56" fmla="*/ 70 w 139"/>
              <a:gd name="T57" fmla="*/ 74 h 124"/>
              <a:gd name="T58" fmla="*/ 70 w 139"/>
              <a:gd name="T59" fmla="*/ 70 h 124"/>
              <a:gd name="T60" fmla="*/ 61 w 139"/>
              <a:gd name="T61" fmla="*/ 37 h 124"/>
              <a:gd name="T62" fmla="*/ 59 w 139"/>
              <a:gd name="T63" fmla="*/ 47 h 124"/>
              <a:gd name="T64" fmla="*/ 67 w 139"/>
              <a:gd name="T65" fmla="*/ 56 h 124"/>
              <a:gd name="T66" fmla="*/ 63 w 139"/>
              <a:gd name="T67" fmla="*/ 59 h 124"/>
              <a:gd name="T68" fmla="*/ 70 w 139"/>
              <a:gd name="T69" fmla="*/ 67 h 124"/>
              <a:gd name="T70" fmla="*/ 85 w 139"/>
              <a:gd name="T71" fmla="*/ 53 h 124"/>
              <a:gd name="T72" fmla="*/ 78 w 139"/>
              <a:gd name="T73" fmla="*/ 46 h 124"/>
              <a:gd name="T74" fmla="*/ 73 w 139"/>
              <a:gd name="T75" fmla="*/ 50 h 124"/>
              <a:gd name="T76" fmla="*/ 61 w 139"/>
              <a:gd name="T77" fmla="*/ 37 h 124"/>
              <a:gd name="T78" fmla="*/ 121 w 139"/>
              <a:gd name="T79" fmla="*/ 123 h 124"/>
              <a:gd name="T80" fmla="*/ 122 w 139"/>
              <a:gd name="T81" fmla="*/ 124 h 124"/>
              <a:gd name="T82" fmla="*/ 139 w 139"/>
              <a:gd name="T83" fmla="*/ 108 h 124"/>
              <a:gd name="T84" fmla="*/ 138 w 139"/>
              <a:gd name="T85" fmla="*/ 107 h 124"/>
              <a:gd name="T86" fmla="*/ 121 w 139"/>
              <a:gd name="T87" fmla="*/ 12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9" h="124">
                <a:moveTo>
                  <a:pt x="0" y="44"/>
                </a:moveTo>
                <a:cubicBezTo>
                  <a:pt x="0" y="44"/>
                  <a:pt x="31" y="0"/>
                  <a:pt x="24" y="24"/>
                </a:cubicBezTo>
                <a:cubicBezTo>
                  <a:pt x="22" y="30"/>
                  <a:pt x="19" y="38"/>
                  <a:pt x="15" y="45"/>
                </a:cubicBezTo>
                <a:cubicBezTo>
                  <a:pt x="11" y="53"/>
                  <a:pt x="8" y="61"/>
                  <a:pt x="8" y="62"/>
                </a:cubicBezTo>
                <a:cubicBezTo>
                  <a:pt x="8" y="62"/>
                  <a:pt x="9" y="61"/>
                  <a:pt x="12" y="58"/>
                </a:cubicBezTo>
                <a:cubicBezTo>
                  <a:pt x="18" y="52"/>
                  <a:pt x="25" y="43"/>
                  <a:pt x="32" y="36"/>
                </a:cubicBezTo>
                <a:cubicBezTo>
                  <a:pt x="48" y="15"/>
                  <a:pt x="55" y="17"/>
                  <a:pt x="54" y="27"/>
                </a:cubicBezTo>
                <a:cubicBezTo>
                  <a:pt x="52" y="36"/>
                  <a:pt x="41" y="51"/>
                  <a:pt x="36" y="61"/>
                </a:cubicBezTo>
                <a:cubicBezTo>
                  <a:pt x="21" y="84"/>
                  <a:pt x="45" y="50"/>
                  <a:pt x="56" y="44"/>
                </a:cubicBezTo>
                <a:cubicBezTo>
                  <a:pt x="56" y="49"/>
                  <a:pt x="56" y="49"/>
                  <a:pt x="56" y="49"/>
                </a:cubicBezTo>
                <a:cubicBezTo>
                  <a:pt x="62" y="55"/>
                  <a:pt x="62" y="55"/>
                  <a:pt x="62" y="55"/>
                </a:cubicBezTo>
                <a:cubicBezTo>
                  <a:pt x="62" y="55"/>
                  <a:pt x="45" y="73"/>
                  <a:pt x="25" y="87"/>
                </a:cubicBezTo>
                <a:cubicBezTo>
                  <a:pt x="21" y="90"/>
                  <a:pt x="19" y="90"/>
                  <a:pt x="18" y="88"/>
                </a:cubicBezTo>
                <a:cubicBezTo>
                  <a:pt x="16" y="85"/>
                  <a:pt x="23" y="72"/>
                  <a:pt x="31" y="58"/>
                </a:cubicBezTo>
                <a:cubicBezTo>
                  <a:pt x="40" y="42"/>
                  <a:pt x="57" y="12"/>
                  <a:pt x="36" y="39"/>
                </a:cubicBezTo>
                <a:cubicBezTo>
                  <a:pt x="29" y="47"/>
                  <a:pt x="21" y="55"/>
                  <a:pt x="14" y="61"/>
                </a:cubicBezTo>
                <a:cubicBezTo>
                  <a:pt x="10" y="65"/>
                  <a:pt x="7" y="66"/>
                  <a:pt x="6" y="64"/>
                </a:cubicBezTo>
                <a:cubicBezTo>
                  <a:pt x="4" y="62"/>
                  <a:pt x="8" y="53"/>
                  <a:pt x="12" y="43"/>
                </a:cubicBezTo>
                <a:cubicBezTo>
                  <a:pt x="15" y="36"/>
                  <a:pt x="19" y="29"/>
                  <a:pt x="20" y="23"/>
                </a:cubicBezTo>
                <a:cubicBezTo>
                  <a:pt x="22" y="17"/>
                  <a:pt x="1" y="45"/>
                  <a:pt x="1" y="45"/>
                </a:cubicBezTo>
                <a:cubicBezTo>
                  <a:pt x="0" y="44"/>
                  <a:pt x="0" y="44"/>
                  <a:pt x="0" y="44"/>
                </a:cubicBezTo>
                <a:close/>
                <a:moveTo>
                  <a:pt x="70" y="70"/>
                </a:moveTo>
                <a:cubicBezTo>
                  <a:pt x="88" y="54"/>
                  <a:pt x="88" y="54"/>
                  <a:pt x="88" y="54"/>
                </a:cubicBezTo>
                <a:cubicBezTo>
                  <a:pt x="89" y="52"/>
                  <a:pt x="91" y="52"/>
                  <a:pt x="92" y="54"/>
                </a:cubicBezTo>
                <a:cubicBezTo>
                  <a:pt x="137" y="101"/>
                  <a:pt x="137" y="101"/>
                  <a:pt x="137" y="101"/>
                </a:cubicBezTo>
                <a:cubicBezTo>
                  <a:pt x="138" y="102"/>
                  <a:pt x="137" y="104"/>
                  <a:pt x="136" y="105"/>
                </a:cubicBezTo>
                <a:cubicBezTo>
                  <a:pt x="119" y="122"/>
                  <a:pt x="119" y="122"/>
                  <a:pt x="119" y="122"/>
                </a:cubicBezTo>
                <a:cubicBezTo>
                  <a:pt x="118" y="123"/>
                  <a:pt x="116" y="123"/>
                  <a:pt x="115" y="122"/>
                </a:cubicBezTo>
                <a:cubicBezTo>
                  <a:pt x="70" y="74"/>
                  <a:pt x="70" y="74"/>
                  <a:pt x="70" y="74"/>
                </a:cubicBezTo>
                <a:cubicBezTo>
                  <a:pt x="69" y="73"/>
                  <a:pt x="69" y="71"/>
                  <a:pt x="70" y="70"/>
                </a:cubicBezTo>
                <a:close/>
                <a:moveTo>
                  <a:pt x="61" y="37"/>
                </a:moveTo>
                <a:cubicBezTo>
                  <a:pt x="59" y="47"/>
                  <a:pt x="59" y="47"/>
                  <a:pt x="59" y="47"/>
                </a:cubicBezTo>
                <a:cubicBezTo>
                  <a:pt x="67" y="56"/>
                  <a:pt x="67" y="56"/>
                  <a:pt x="67" y="56"/>
                </a:cubicBezTo>
                <a:cubicBezTo>
                  <a:pt x="63" y="59"/>
                  <a:pt x="63" y="59"/>
                  <a:pt x="63" y="59"/>
                </a:cubicBezTo>
                <a:cubicBezTo>
                  <a:pt x="70" y="67"/>
                  <a:pt x="70" y="67"/>
                  <a:pt x="70" y="67"/>
                </a:cubicBezTo>
                <a:cubicBezTo>
                  <a:pt x="85" y="53"/>
                  <a:pt x="85" y="53"/>
                  <a:pt x="85" y="53"/>
                </a:cubicBezTo>
                <a:cubicBezTo>
                  <a:pt x="78" y="46"/>
                  <a:pt x="78" y="46"/>
                  <a:pt x="78" y="46"/>
                </a:cubicBezTo>
                <a:cubicBezTo>
                  <a:pt x="73" y="50"/>
                  <a:pt x="73" y="50"/>
                  <a:pt x="73" y="50"/>
                </a:cubicBezTo>
                <a:cubicBezTo>
                  <a:pt x="61" y="37"/>
                  <a:pt x="61" y="37"/>
                  <a:pt x="61" y="37"/>
                </a:cubicBezTo>
                <a:close/>
                <a:moveTo>
                  <a:pt x="121" y="123"/>
                </a:moveTo>
                <a:cubicBezTo>
                  <a:pt x="122" y="124"/>
                  <a:pt x="122" y="124"/>
                  <a:pt x="122" y="124"/>
                </a:cubicBezTo>
                <a:cubicBezTo>
                  <a:pt x="139" y="108"/>
                  <a:pt x="139" y="108"/>
                  <a:pt x="139" y="108"/>
                </a:cubicBezTo>
                <a:cubicBezTo>
                  <a:pt x="138" y="107"/>
                  <a:pt x="138" y="107"/>
                  <a:pt x="138" y="107"/>
                </a:cubicBezTo>
                <a:lnTo>
                  <a:pt x="121" y="123"/>
                </a:lnTo>
                <a:close/>
              </a:path>
            </a:pathLst>
          </a:cu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2" name="椭圆 31"/>
          <p:cNvSpPr/>
          <p:nvPr/>
        </p:nvSpPr>
        <p:spPr>
          <a:xfrm>
            <a:off x="7832724" y="1705134"/>
            <a:ext cx="655638" cy="654050"/>
          </a:xfrm>
          <a:prstGeom prst="ellipse">
            <a:avLst/>
          </a:prstGeom>
          <a:solidFill>
            <a:schemeClr val="bg1"/>
          </a:solidFill>
          <a:ln w="47625">
            <a:solidFill>
              <a:srgbClr val="19751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r>
              <a:rPr lang="en-US" altLang="zh-CN" sz="2400" noProof="1">
                <a:solidFill>
                  <a:srgbClr val="197519"/>
                </a:solidFill>
              </a:rPr>
              <a:t>1</a:t>
            </a:r>
            <a:endParaRPr lang="zh-CN" altLang="en-US" sz="2400" noProof="1">
              <a:solidFill>
                <a:srgbClr val="197519"/>
              </a:solidFill>
            </a:endParaRPr>
          </a:p>
        </p:txBody>
      </p:sp>
      <p:sp>
        <p:nvSpPr>
          <p:cNvPr id="33" name="椭圆 32"/>
          <p:cNvSpPr/>
          <p:nvPr/>
        </p:nvSpPr>
        <p:spPr>
          <a:xfrm>
            <a:off x="7354887" y="3100546"/>
            <a:ext cx="654050" cy="655638"/>
          </a:xfrm>
          <a:prstGeom prst="ellipse">
            <a:avLst/>
          </a:prstGeom>
          <a:solidFill>
            <a:schemeClr val="bg1"/>
          </a:solidFill>
          <a:ln w="47625">
            <a:solidFill>
              <a:srgbClr val="19751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r>
              <a:rPr lang="en-US" altLang="zh-CN" sz="2400" noProof="1">
                <a:solidFill>
                  <a:srgbClr val="197519"/>
                </a:solidFill>
              </a:rPr>
              <a:t>2</a:t>
            </a:r>
            <a:endParaRPr lang="zh-CN" altLang="en-US" sz="2400" noProof="1">
              <a:solidFill>
                <a:srgbClr val="197519"/>
              </a:solidFill>
            </a:endParaRPr>
          </a:p>
        </p:txBody>
      </p:sp>
      <p:sp>
        <p:nvSpPr>
          <p:cNvPr id="34" name="椭圆 33"/>
          <p:cNvSpPr/>
          <p:nvPr/>
        </p:nvSpPr>
        <p:spPr>
          <a:xfrm>
            <a:off x="7832724" y="4497546"/>
            <a:ext cx="655638" cy="655638"/>
          </a:xfrm>
          <a:prstGeom prst="ellipse">
            <a:avLst/>
          </a:prstGeom>
          <a:solidFill>
            <a:schemeClr val="bg1"/>
          </a:solidFill>
          <a:ln w="47625">
            <a:solidFill>
              <a:srgbClr val="19751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r>
              <a:rPr lang="en-US" altLang="zh-CN" sz="2400" noProof="1">
                <a:solidFill>
                  <a:srgbClr val="197519"/>
                </a:solidFill>
              </a:rPr>
              <a:t>3</a:t>
            </a:r>
            <a:endParaRPr lang="zh-CN" altLang="en-US" sz="2400" noProof="1">
              <a:solidFill>
                <a:srgbClr val="197519"/>
              </a:solidFill>
            </a:endParaRPr>
          </a:p>
        </p:txBody>
      </p:sp>
      <p:sp>
        <p:nvSpPr>
          <p:cNvPr id="35" name="矩形 34"/>
          <p:cNvSpPr>
            <a:spLocks noChangeArrowheads="1"/>
          </p:cNvSpPr>
          <p:nvPr/>
        </p:nvSpPr>
        <p:spPr bwMode="auto">
          <a:xfrm>
            <a:off x="7077110" y="1034715"/>
            <a:ext cx="163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400" b="1" dirty="0">
                <a:solidFill>
                  <a:srgbClr val="197519"/>
                </a:solidFill>
              </a:rPr>
              <a:t>实现方法</a:t>
            </a:r>
          </a:p>
        </p:txBody>
      </p:sp>
      <p:sp>
        <p:nvSpPr>
          <p:cNvPr id="36" name="文本框 23"/>
          <p:cNvSpPr txBox="1">
            <a:spLocks noChangeArrowheads="1"/>
          </p:cNvSpPr>
          <p:nvPr/>
        </p:nvSpPr>
        <p:spPr bwMode="auto">
          <a:xfrm>
            <a:off x="373062" y="3605344"/>
            <a:ext cx="6823075" cy="100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r">
              <a:lnSpc>
                <a:spcPct val="130000"/>
              </a:lnSpc>
            </a:pPr>
            <a:r>
              <a:rPr lang="zh-CN" altLang="en-US" sz="2400" dirty="0"/>
              <a:t>实现难度较大，且要付出很大代价。（如用打印机输出信息）。</a:t>
            </a:r>
          </a:p>
        </p:txBody>
      </p:sp>
      <p:sp>
        <p:nvSpPr>
          <p:cNvPr id="37" name="矩形 36"/>
          <p:cNvSpPr>
            <a:spLocks noChangeArrowheads="1"/>
          </p:cNvSpPr>
          <p:nvPr/>
        </p:nvSpPr>
        <p:spPr bwMode="auto">
          <a:xfrm>
            <a:off x="6363124" y="3213231"/>
            <a:ext cx="1084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400" b="1" dirty="0">
                <a:solidFill>
                  <a:srgbClr val="197519"/>
                </a:solidFill>
              </a:rPr>
              <a:t>特点</a:t>
            </a:r>
          </a:p>
        </p:txBody>
      </p:sp>
      <p:sp>
        <p:nvSpPr>
          <p:cNvPr id="38" name="文本框 28"/>
          <p:cNvSpPr txBox="1">
            <a:spLocks noChangeArrowheads="1"/>
          </p:cNvSpPr>
          <p:nvPr/>
        </p:nvSpPr>
        <p:spPr bwMode="auto">
          <a:xfrm>
            <a:off x="868362" y="5154716"/>
            <a:ext cx="6823075" cy="148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r">
              <a:lnSpc>
                <a:spcPct val="130000"/>
              </a:lnSpc>
            </a:pPr>
            <a:r>
              <a:rPr lang="zh-CN" altLang="en-US" sz="2400" dirty="0"/>
              <a:t>反复申请和释放资源，使进程的执行无限地推迟。延长进程的周转时间，增加系统开销，降低系统吞吐量。</a:t>
            </a:r>
          </a:p>
        </p:txBody>
      </p:sp>
      <p:sp>
        <p:nvSpPr>
          <p:cNvPr id="39" name="矩形 38"/>
          <p:cNvSpPr>
            <a:spLocks noChangeArrowheads="1"/>
          </p:cNvSpPr>
          <p:nvPr/>
        </p:nvSpPr>
        <p:spPr bwMode="auto">
          <a:xfrm>
            <a:off x="6812792" y="4662402"/>
            <a:ext cx="10842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400" b="1" dirty="0">
                <a:solidFill>
                  <a:srgbClr val="197519"/>
                </a:solidFill>
              </a:rPr>
              <a:t>缺点</a:t>
            </a:r>
          </a:p>
        </p:txBody>
      </p:sp>
    </p:spTree>
    <p:extLst>
      <p:ext uri="{BB962C8B-B14F-4D97-AF65-F5344CB8AC3E}">
        <p14:creationId xmlns:p14="http://schemas.microsoft.com/office/powerpoint/2010/main" val="61713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inVertical)">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arn(inVertic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6" grpId="0"/>
      <p:bldP spid="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5397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破坏“循环等待”条件</a:t>
            </a:r>
          </a:p>
        </p:txBody>
      </p:sp>
      <p:sp>
        <p:nvSpPr>
          <p:cNvPr id="18" name="文本框 10"/>
          <p:cNvSpPr txBox="1">
            <a:spLocks noChangeArrowheads="1"/>
          </p:cNvSpPr>
          <p:nvPr/>
        </p:nvSpPr>
        <p:spPr bwMode="auto">
          <a:xfrm>
            <a:off x="879919" y="1550537"/>
            <a:ext cx="6823075" cy="168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nSpc>
                <a:spcPct val="110000"/>
              </a:lnSpc>
            </a:pPr>
            <a:r>
              <a:rPr lang="zh-CN" altLang="en-US" sz="2400" dirty="0"/>
              <a:t>系统将所有资源类型按线性排序，并赋予不同的序号，所有进程对资源的请求必须严格按资源序号递增的次序提出。这样，在资源分配图中，不会出现环路，因此摒弃了“环路等待”条件。</a:t>
            </a:r>
          </a:p>
        </p:txBody>
      </p:sp>
      <p:sp>
        <p:nvSpPr>
          <p:cNvPr id="19" name="空心弧 12"/>
          <p:cNvSpPr>
            <a:spLocks noChangeArrowheads="1"/>
          </p:cNvSpPr>
          <p:nvPr/>
        </p:nvSpPr>
        <p:spPr bwMode="auto">
          <a:xfrm>
            <a:off x="7761287" y="1328896"/>
            <a:ext cx="4057650" cy="4095750"/>
          </a:xfrm>
          <a:custGeom>
            <a:avLst/>
            <a:gdLst>
              <a:gd name="T0" fmla="*/ 4057281 w 4057966"/>
              <a:gd name="T1" fmla="*/ 1994398 h 4095198"/>
              <a:gd name="T2" fmla="*/ 4057966 w 4057966"/>
              <a:gd name="T3" fmla="*/ 2047598 h 4095198"/>
              <a:gd name="T4" fmla="*/ 2028983 w 4057966"/>
              <a:gd name="T5" fmla="*/ 4095197 h 4095198"/>
              <a:gd name="T6" fmla="*/ 0 w 4057966"/>
              <a:gd name="T7" fmla="*/ 2047598 h 4095198"/>
              <a:gd name="T8" fmla="*/ 1986128 w 4057966"/>
              <a:gd name="T9" fmla="*/ 447 h 4095198"/>
              <a:gd name="T10" fmla="*/ 2002254 w 4057966"/>
              <a:gd name="T11" fmla="*/ 764360 h 4095198"/>
              <a:gd name="T12" fmla="*/ 764074 w 4057966"/>
              <a:gd name="T13" fmla="*/ 2047597 h 4095198"/>
              <a:gd name="T14" fmla="*/ 2028982 w 4057966"/>
              <a:gd name="T15" fmla="*/ 3331121 h 4095198"/>
              <a:gd name="T16" fmla="*/ 3293890 w 4057966"/>
              <a:gd name="T17" fmla="*/ 2047597 h 4095198"/>
              <a:gd name="T18" fmla="*/ 3293472 w 4057966"/>
              <a:gd name="T19" fmla="*/ 2014266 h 4095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57966" h="4095198">
                <a:moveTo>
                  <a:pt x="4057281" y="1994398"/>
                </a:moveTo>
                <a:cubicBezTo>
                  <a:pt x="4057741" y="2012065"/>
                  <a:pt x="4057966" y="2029805"/>
                  <a:pt x="4057966" y="2047598"/>
                </a:cubicBezTo>
                <a:cubicBezTo>
                  <a:pt x="4057966" y="3178456"/>
                  <a:pt x="3149559" y="4095197"/>
                  <a:pt x="2028983" y="4095197"/>
                </a:cubicBezTo>
                <a:cubicBezTo>
                  <a:pt x="908407" y="4095197"/>
                  <a:pt x="0" y="3178456"/>
                  <a:pt x="0" y="2047598"/>
                </a:cubicBezTo>
                <a:cubicBezTo>
                  <a:pt x="0" y="931123"/>
                  <a:pt x="885447" y="23352"/>
                  <a:pt x="1986128" y="447"/>
                </a:cubicBezTo>
                <a:lnTo>
                  <a:pt x="2002254" y="764360"/>
                </a:lnTo>
                <a:cubicBezTo>
                  <a:pt x="1315932" y="778863"/>
                  <a:pt x="764074" y="1347835"/>
                  <a:pt x="764074" y="2047597"/>
                </a:cubicBezTo>
                <a:cubicBezTo>
                  <a:pt x="764074" y="2756468"/>
                  <a:pt x="1330393" y="3331121"/>
                  <a:pt x="2028982" y="3331121"/>
                </a:cubicBezTo>
                <a:cubicBezTo>
                  <a:pt x="2727571" y="3331121"/>
                  <a:pt x="3293890" y="2756468"/>
                  <a:pt x="3293890" y="2047597"/>
                </a:cubicBezTo>
                <a:cubicBezTo>
                  <a:pt x="3293890" y="2036453"/>
                  <a:pt x="3293750" y="2025342"/>
                  <a:pt x="3293472" y="2014266"/>
                </a:cubicBezTo>
                <a:close/>
              </a:path>
            </a:pathLst>
          </a:cu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4" name="椭圆 23"/>
          <p:cNvSpPr>
            <a:spLocks noChangeArrowheads="1"/>
          </p:cNvSpPr>
          <p:nvPr/>
        </p:nvSpPr>
        <p:spPr bwMode="auto">
          <a:xfrm>
            <a:off x="8556624" y="2143284"/>
            <a:ext cx="2466975" cy="2466975"/>
          </a:xfrm>
          <a:prstGeom prst="ellipse">
            <a:avLst/>
          </a:prstGeom>
          <a:noFill/>
          <a:ln w="34925">
            <a:solidFill>
              <a:srgbClr val="3B7327"/>
            </a:solidFill>
            <a:round/>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1" name="Freeform 5"/>
          <p:cNvSpPr>
            <a:spLocks noEditPoints="1" noChangeArrowheads="1"/>
          </p:cNvSpPr>
          <p:nvPr/>
        </p:nvSpPr>
        <p:spPr bwMode="auto">
          <a:xfrm>
            <a:off x="8959849" y="2646521"/>
            <a:ext cx="1670050" cy="1497013"/>
          </a:xfrm>
          <a:custGeom>
            <a:avLst/>
            <a:gdLst>
              <a:gd name="T0" fmla="*/ 0 w 139"/>
              <a:gd name="T1" fmla="*/ 44 h 124"/>
              <a:gd name="T2" fmla="*/ 24 w 139"/>
              <a:gd name="T3" fmla="*/ 24 h 124"/>
              <a:gd name="T4" fmla="*/ 15 w 139"/>
              <a:gd name="T5" fmla="*/ 45 h 124"/>
              <a:gd name="T6" fmla="*/ 8 w 139"/>
              <a:gd name="T7" fmla="*/ 62 h 124"/>
              <a:gd name="T8" fmla="*/ 12 w 139"/>
              <a:gd name="T9" fmla="*/ 58 h 124"/>
              <a:gd name="T10" fmla="*/ 32 w 139"/>
              <a:gd name="T11" fmla="*/ 36 h 124"/>
              <a:gd name="T12" fmla="*/ 54 w 139"/>
              <a:gd name="T13" fmla="*/ 27 h 124"/>
              <a:gd name="T14" fmla="*/ 36 w 139"/>
              <a:gd name="T15" fmla="*/ 61 h 124"/>
              <a:gd name="T16" fmla="*/ 56 w 139"/>
              <a:gd name="T17" fmla="*/ 44 h 124"/>
              <a:gd name="T18" fmla="*/ 56 w 139"/>
              <a:gd name="T19" fmla="*/ 49 h 124"/>
              <a:gd name="T20" fmla="*/ 62 w 139"/>
              <a:gd name="T21" fmla="*/ 55 h 124"/>
              <a:gd name="T22" fmla="*/ 25 w 139"/>
              <a:gd name="T23" fmla="*/ 87 h 124"/>
              <a:gd name="T24" fmla="*/ 18 w 139"/>
              <a:gd name="T25" fmla="*/ 88 h 124"/>
              <a:gd name="T26" fmla="*/ 31 w 139"/>
              <a:gd name="T27" fmla="*/ 58 h 124"/>
              <a:gd name="T28" fmla="*/ 36 w 139"/>
              <a:gd name="T29" fmla="*/ 39 h 124"/>
              <a:gd name="T30" fmla="*/ 14 w 139"/>
              <a:gd name="T31" fmla="*/ 61 h 124"/>
              <a:gd name="T32" fmla="*/ 6 w 139"/>
              <a:gd name="T33" fmla="*/ 64 h 124"/>
              <a:gd name="T34" fmla="*/ 12 w 139"/>
              <a:gd name="T35" fmla="*/ 43 h 124"/>
              <a:gd name="T36" fmla="*/ 20 w 139"/>
              <a:gd name="T37" fmla="*/ 23 h 124"/>
              <a:gd name="T38" fmla="*/ 1 w 139"/>
              <a:gd name="T39" fmla="*/ 45 h 124"/>
              <a:gd name="T40" fmla="*/ 0 w 139"/>
              <a:gd name="T41" fmla="*/ 44 h 124"/>
              <a:gd name="T42" fmla="*/ 70 w 139"/>
              <a:gd name="T43" fmla="*/ 70 h 124"/>
              <a:gd name="T44" fmla="*/ 88 w 139"/>
              <a:gd name="T45" fmla="*/ 54 h 124"/>
              <a:gd name="T46" fmla="*/ 92 w 139"/>
              <a:gd name="T47" fmla="*/ 54 h 124"/>
              <a:gd name="T48" fmla="*/ 137 w 139"/>
              <a:gd name="T49" fmla="*/ 101 h 124"/>
              <a:gd name="T50" fmla="*/ 136 w 139"/>
              <a:gd name="T51" fmla="*/ 105 h 124"/>
              <a:gd name="T52" fmla="*/ 119 w 139"/>
              <a:gd name="T53" fmla="*/ 122 h 124"/>
              <a:gd name="T54" fmla="*/ 115 w 139"/>
              <a:gd name="T55" fmla="*/ 122 h 124"/>
              <a:gd name="T56" fmla="*/ 70 w 139"/>
              <a:gd name="T57" fmla="*/ 74 h 124"/>
              <a:gd name="T58" fmla="*/ 70 w 139"/>
              <a:gd name="T59" fmla="*/ 70 h 124"/>
              <a:gd name="T60" fmla="*/ 61 w 139"/>
              <a:gd name="T61" fmla="*/ 37 h 124"/>
              <a:gd name="T62" fmla="*/ 59 w 139"/>
              <a:gd name="T63" fmla="*/ 47 h 124"/>
              <a:gd name="T64" fmla="*/ 67 w 139"/>
              <a:gd name="T65" fmla="*/ 56 h 124"/>
              <a:gd name="T66" fmla="*/ 63 w 139"/>
              <a:gd name="T67" fmla="*/ 59 h 124"/>
              <a:gd name="T68" fmla="*/ 70 w 139"/>
              <a:gd name="T69" fmla="*/ 67 h 124"/>
              <a:gd name="T70" fmla="*/ 85 w 139"/>
              <a:gd name="T71" fmla="*/ 53 h 124"/>
              <a:gd name="T72" fmla="*/ 78 w 139"/>
              <a:gd name="T73" fmla="*/ 46 h 124"/>
              <a:gd name="T74" fmla="*/ 73 w 139"/>
              <a:gd name="T75" fmla="*/ 50 h 124"/>
              <a:gd name="T76" fmla="*/ 61 w 139"/>
              <a:gd name="T77" fmla="*/ 37 h 124"/>
              <a:gd name="T78" fmla="*/ 121 w 139"/>
              <a:gd name="T79" fmla="*/ 123 h 124"/>
              <a:gd name="T80" fmla="*/ 122 w 139"/>
              <a:gd name="T81" fmla="*/ 124 h 124"/>
              <a:gd name="T82" fmla="*/ 139 w 139"/>
              <a:gd name="T83" fmla="*/ 108 h 124"/>
              <a:gd name="T84" fmla="*/ 138 w 139"/>
              <a:gd name="T85" fmla="*/ 107 h 124"/>
              <a:gd name="T86" fmla="*/ 121 w 139"/>
              <a:gd name="T87" fmla="*/ 12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9" h="124">
                <a:moveTo>
                  <a:pt x="0" y="44"/>
                </a:moveTo>
                <a:cubicBezTo>
                  <a:pt x="0" y="44"/>
                  <a:pt x="31" y="0"/>
                  <a:pt x="24" y="24"/>
                </a:cubicBezTo>
                <a:cubicBezTo>
                  <a:pt x="22" y="30"/>
                  <a:pt x="19" y="38"/>
                  <a:pt x="15" y="45"/>
                </a:cubicBezTo>
                <a:cubicBezTo>
                  <a:pt x="11" y="53"/>
                  <a:pt x="8" y="61"/>
                  <a:pt x="8" y="62"/>
                </a:cubicBezTo>
                <a:cubicBezTo>
                  <a:pt x="8" y="62"/>
                  <a:pt x="9" y="61"/>
                  <a:pt x="12" y="58"/>
                </a:cubicBezTo>
                <a:cubicBezTo>
                  <a:pt x="18" y="52"/>
                  <a:pt x="25" y="43"/>
                  <a:pt x="32" y="36"/>
                </a:cubicBezTo>
                <a:cubicBezTo>
                  <a:pt x="48" y="15"/>
                  <a:pt x="55" y="17"/>
                  <a:pt x="54" y="27"/>
                </a:cubicBezTo>
                <a:cubicBezTo>
                  <a:pt x="52" y="36"/>
                  <a:pt x="41" y="51"/>
                  <a:pt x="36" y="61"/>
                </a:cubicBezTo>
                <a:cubicBezTo>
                  <a:pt x="21" y="84"/>
                  <a:pt x="45" y="50"/>
                  <a:pt x="56" y="44"/>
                </a:cubicBezTo>
                <a:cubicBezTo>
                  <a:pt x="56" y="49"/>
                  <a:pt x="56" y="49"/>
                  <a:pt x="56" y="49"/>
                </a:cubicBezTo>
                <a:cubicBezTo>
                  <a:pt x="62" y="55"/>
                  <a:pt x="62" y="55"/>
                  <a:pt x="62" y="55"/>
                </a:cubicBezTo>
                <a:cubicBezTo>
                  <a:pt x="62" y="55"/>
                  <a:pt x="45" y="73"/>
                  <a:pt x="25" y="87"/>
                </a:cubicBezTo>
                <a:cubicBezTo>
                  <a:pt x="21" y="90"/>
                  <a:pt x="19" y="90"/>
                  <a:pt x="18" y="88"/>
                </a:cubicBezTo>
                <a:cubicBezTo>
                  <a:pt x="16" y="85"/>
                  <a:pt x="23" y="72"/>
                  <a:pt x="31" y="58"/>
                </a:cubicBezTo>
                <a:cubicBezTo>
                  <a:pt x="40" y="42"/>
                  <a:pt x="57" y="12"/>
                  <a:pt x="36" y="39"/>
                </a:cubicBezTo>
                <a:cubicBezTo>
                  <a:pt x="29" y="47"/>
                  <a:pt x="21" y="55"/>
                  <a:pt x="14" y="61"/>
                </a:cubicBezTo>
                <a:cubicBezTo>
                  <a:pt x="10" y="65"/>
                  <a:pt x="7" y="66"/>
                  <a:pt x="6" y="64"/>
                </a:cubicBezTo>
                <a:cubicBezTo>
                  <a:pt x="4" y="62"/>
                  <a:pt x="8" y="53"/>
                  <a:pt x="12" y="43"/>
                </a:cubicBezTo>
                <a:cubicBezTo>
                  <a:pt x="15" y="36"/>
                  <a:pt x="19" y="29"/>
                  <a:pt x="20" y="23"/>
                </a:cubicBezTo>
                <a:cubicBezTo>
                  <a:pt x="22" y="17"/>
                  <a:pt x="1" y="45"/>
                  <a:pt x="1" y="45"/>
                </a:cubicBezTo>
                <a:cubicBezTo>
                  <a:pt x="0" y="44"/>
                  <a:pt x="0" y="44"/>
                  <a:pt x="0" y="44"/>
                </a:cubicBezTo>
                <a:close/>
                <a:moveTo>
                  <a:pt x="70" y="70"/>
                </a:moveTo>
                <a:cubicBezTo>
                  <a:pt x="88" y="54"/>
                  <a:pt x="88" y="54"/>
                  <a:pt x="88" y="54"/>
                </a:cubicBezTo>
                <a:cubicBezTo>
                  <a:pt x="89" y="52"/>
                  <a:pt x="91" y="52"/>
                  <a:pt x="92" y="54"/>
                </a:cubicBezTo>
                <a:cubicBezTo>
                  <a:pt x="137" y="101"/>
                  <a:pt x="137" y="101"/>
                  <a:pt x="137" y="101"/>
                </a:cubicBezTo>
                <a:cubicBezTo>
                  <a:pt x="138" y="102"/>
                  <a:pt x="137" y="104"/>
                  <a:pt x="136" y="105"/>
                </a:cubicBezTo>
                <a:cubicBezTo>
                  <a:pt x="119" y="122"/>
                  <a:pt x="119" y="122"/>
                  <a:pt x="119" y="122"/>
                </a:cubicBezTo>
                <a:cubicBezTo>
                  <a:pt x="118" y="123"/>
                  <a:pt x="116" y="123"/>
                  <a:pt x="115" y="122"/>
                </a:cubicBezTo>
                <a:cubicBezTo>
                  <a:pt x="70" y="74"/>
                  <a:pt x="70" y="74"/>
                  <a:pt x="70" y="74"/>
                </a:cubicBezTo>
                <a:cubicBezTo>
                  <a:pt x="69" y="73"/>
                  <a:pt x="69" y="71"/>
                  <a:pt x="70" y="70"/>
                </a:cubicBezTo>
                <a:close/>
                <a:moveTo>
                  <a:pt x="61" y="37"/>
                </a:moveTo>
                <a:cubicBezTo>
                  <a:pt x="59" y="47"/>
                  <a:pt x="59" y="47"/>
                  <a:pt x="59" y="47"/>
                </a:cubicBezTo>
                <a:cubicBezTo>
                  <a:pt x="67" y="56"/>
                  <a:pt x="67" y="56"/>
                  <a:pt x="67" y="56"/>
                </a:cubicBezTo>
                <a:cubicBezTo>
                  <a:pt x="63" y="59"/>
                  <a:pt x="63" y="59"/>
                  <a:pt x="63" y="59"/>
                </a:cubicBezTo>
                <a:cubicBezTo>
                  <a:pt x="70" y="67"/>
                  <a:pt x="70" y="67"/>
                  <a:pt x="70" y="67"/>
                </a:cubicBezTo>
                <a:cubicBezTo>
                  <a:pt x="85" y="53"/>
                  <a:pt x="85" y="53"/>
                  <a:pt x="85" y="53"/>
                </a:cubicBezTo>
                <a:cubicBezTo>
                  <a:pt x="78" y="46"/>
                  <a:pt x="78" y="46"/>
                  <a:pt x="78" y="46"/>
                </a:cubicBezTo>
                <a:cubicBezTo>
                  <a:pt x="73" y="50"/>
                  <a:pt x="73" y="50"/>
                  <a:pt x="73" y="50"/>
                </a:cubicBezTo>
                <a:cubicBezTo>
                  <a:pt x="61" y="37"/>
                  <a:pt x="61" y="37"/>
                  <a:pt x="61" y="37"/>
                </a:cubicBezTo>
                <a:close/>
                <a:moveTo>
                  <a:pt x="121" y="123"/>
                </a:moveTo>
                <a:cubicBezTo>
                  <a:pt x="122" y="124"/>
                  <a:pt x="122" y="124"/>
                  <a:pt x="122" y="124"/>
                </a:cubicBezTo>
                <a:cubicBezTo>
                  <a:pt x="139" y="108"/>
                  <a:pt x="139" y="108"/>
                  <a:pt x="139" y="108"/>
                </a:cubicBezTo>
                <a:cubicBezTo>
                  <a:pt x="138" y="107"/>
                  <a:pt x="138" y="107"/>
                  <a:pt x="138" y="107"/>
                </a:cubicBezTo>
                <a:lnTo>
                  <a:pt x="121" y="123"/>
                </a:lnTo>
                <a:close/>
              </a:path>
            </a:pathLst>
          </a:cu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2" name="椭圆 31"/>
          <p:cNvSpPr/>
          <p:nvPr/>
        </p:nvSpPr>
        <p:spPr>
          <a:xfrm>
            <a:off x="7832724" y="1705134"/>
            <a:ext cx="655638" cy="654050"/>
          </a:xfrm>
          <a:prstGeom prst="ellipse">
            <a:avLst/>
          </a:prstGeom>
          <a:solidFill>
            <a:schemeClr val="bg1"/>
          </a:solidFill>
          <a:ln w="47625">
            <a:solidFill>
              <a:srgbClr val="19751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r>
              <a:rPr lang="en-US" altLang="zh-CN" sz="2400" noProof="1">
                <a:solidFill>
                  <a:srgbClr val="197519"/>
                </a:solidFill>
              </a:rPr>
              <a:t>1</a:t>
            </a:r>
            <a:endParaRPr lang="zh-CN" altLang="en-US" sz="2400" noProof="1">
              <a:solidFill>
                <a:srgbClr val="197519"/>
              </a:solidFill>
            </a:endParaRPr>
          </a:p>
        </p:txBody>
      </p:sp>
      <p:sp>
        <p:nvSpPr>
          <p:cNvPr id="33" name="椭圆 32"/>
          <p:cNvSpPr/>
          <p:nvPr/>
        </p:nvSpPr>
        <p:spPr>
          <a:xfrm>
            <a:off x="7354887" y="3100546"/>
            <a:ext cx="654050" cy="655638"/>
          </a:xfrm>
          <a:prstGeom prst="ellipse">
            <a:avLst/>
          </a:prstGeom>
          <a:solidFill>
            <a:schemeClr val="bg1"/>
          </a:solidFill>
          <a:ln w="47625">
            <a:solidFill>
              <a:srgbClr val="19751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r>
              <a:rPr lang="en-US" altLang="zh-CN" sz="2400" noProof="1">
                <a:solidFill>
                  <a:srgbClr val="197519"/>
                </a:solidFill>
              </a:rPr>
              <a:t>2</a:t>
            </a:r>
            <a:endParaRPr lang="zh-CN" altLang="en-US" sz="2400" noProof="1">
              <a:solidFill>
                <a:srgbClr val="197519"/>
              </a:solidFill>
            </a:endParaRPr>
          </a:p>
        </p:txBody>
      </p:sp>
      <p:sp>
        <p:nvSpPr>
          <p:cNvPr id="34" name="椭圆 33"/>
          <p:cNvSpPr/>
          <p:nvPr/>
        </p:nvSpPr>
        <p:spPr>
          <a:xfrm>
            <a:off x="7832724" y="4497546"/>
            <a:ext cx="655638" cy="655638"/>
          </a:xfrm>
          <a:prstGeom prst="ellipse">
            <a:avLst/>
          </a:prstGeom>
          <a:solidFill>
            <a:schemeClr val="bg1"/>
          </a:solidFill>
          <a:ln w="47625">
            <a:solidFill>
              <a:srgbClr val="19751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r>
              <a:rPr lang="en-US" altLang="zh-CN" sz="2400" noProof="1">
                <a:solidFill>
                  <a:srgbClr val="197519"/>
                </a:solidFill>
              </a:rPr>
              <a:t>3</a:t>
            </a:r>
            <a:endParaRPr lang="zh-CN" altLang="en-US" sz="2400" noProof="1">
              <a:solidFill>
                <a:srgbClr val="197519"/>
              </a:solidFill>
            </a:endParaRPr>
          </a:p>
        </p:txBody>
      </p:sp>
      <p:sp>
        <p:nvSpPr>
          <p:cNvPr id="35" name="矩形 34"/>
          <p:cNvSpPr>
            <a:spLocks noChangeArrowheads="1"/>
          </p:cNvSpPr>
          <p:nvPr/>
        </p:nvSpPr>
        <p:spPr bwMode="auto">
          <a:xfrm>
            <a:off x="6748462" y="1069897"/>
            <a:ext cx="16889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400" b="1" dirty="0">
                <a:solidFill>
                  <a:srgbClr val="197519"/>
                </a:solidFill>
              </a:rPr>
              <a:t>实现方法</a:t>
            </a:r>
          </a:p>
        </p:txBody>
      </p:sp>
      <p:sp>
        <p:nvSpPr>
          <p:cNvPr id="36" name="文本框 23"/>
          <p:cNvSpPr txBox="1">
            <a:spLocks noChangeArrowheads="1"/>
          </p:cNvSpPr>
          <p:nvPr/>
        </p:nvSpPr>
        <p:spPr bwMode="auto">
          <a:xfrm>
            <a:off x="525462" y="3570294"/>
            <a:ext cx="6823075" cy="100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r">
              <a:lnSpc>
                <a:spcPct val="130000"/>
              </a:lnSpc>
            </a:pPr>
            <a:r>
              <a:rPr lang="zh-CN" altLang="en-US" sz="2400" dirty="0"/>
              <a:t>与前两种策略相比，资源利用率和系统吞吐量都有明显提高。</a:t>
            </a:r>
          </a:p>
        </p:txBody>
      </p:sp>
      <p:sp>
        <p:nvSpPr>
          <p:cNvPr id="37" name="矩形 36"/>
          <p:cNvSpPr>
            <a:spLocks noChangeArrowheads="1"/>
          </p:cNvSpPr>
          <p:nvPr/>
        </p:nvSpPr>
        <p:spPr bwMode="auto">
          <a:xfrm>
            <a:off x="6263957" y="3179581"/>
            <a:ext cx="1084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400" b="1" dirty="0">
                <a:solidFill>
                  <a:srgbClr val="197519"/>
                </a:solidFill>
              </a:rPr>
              <a:t>优点</a:t>
            </a:r>
          </a:p>
        </p:txBody>
      </p:sp>
      <p:sp>
        <p:nvSpPr>
          <p:cNvPr id="38" name="文本框 28"/>
          <p:cNvSpPr txBox="1">
            <a:spLocks noChangeArrowheads="1"/>
          </p:cNvSpPr>
          <p:nvPr/>
        </p:nvSpPr>
        <p:spPr bwMode="auto">
          <a:xfrm>
            <a:off x="868362" y="4884896"/>
            <a:ext cx="6823075" cy="168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800100" lvl="1" indent="-342900">
              <a:lnSpc>
                <a:spcPct val="110000"/>
              </a:lnSpc>
              <a:buFont typeface="Wingdings" panose="05000000000000000000" pitchFamily="2" charset="2"/>
              <a:buChar char="Ø"/>
            </a:pPr>
            <a:r>
              <a:rPr lang="zh-CN" altLang="en-US" sz="2400" dirty="0"/>
              <a:t>限制了新设备类型的增加。</a:t>
            </a:r>
            <a:endParaRPr lang="en-US" altLang="zh-CN" sz="2400" dirty="0"/>
          </a:p>
          <a:p>
            <a:pPr marL="800100" lvl="1" indent="-342900">
              <a:lnSpc>
                <a:spcPct val="110000"/>
              </a:lnSpc>
              <a:buFont typeface="Wingdings" panose="05000000000000000000" pitchFamily="2" charset="2"/>
              <a:buChar char="Ø"/>
            </a:pPr>
            <a:r>
              <a:rPr lang="zh-CN" altLang="en-US" sz="2400" dirty="0"/>
              <a:t>作业（进程）使用各类资源的顺序，与系统规定的顺序不同而造成资源的浪费。</a:t>
            </a:r>
            <a:endParaRPr lang="en-US" altLang="zh-CN" sz="2400" dirty="0"/>
          </a:p>
          <a:p>
            <a:pPr marL="800100" lvl="1" indent="-342900">
              <a:lnSpc>
                <a:spcPct val="110000"/>
              </a:lnSpc>
              <a:buFont typeface="Wingdings" panose="05000000000000000000" pitchFamily="2" charset="2"/>
              <a:buChar char="Ø"/>
            </a:pPr>
            <a:r>
              <a:rPr lang="zh-CN" altLang="en-US" sz="2400" dirty="0"/>
              <a:t>限制用户的自主编程。</a:t>
            </a:r>
            <a:endParaRPr lang="en-US" altLang="zh-CN" sz="2400" dirty="0"/>
          </a:p>
        </p:txBody>
      </p:sp>
      <p:sp>
        <p:nvSpPr>
          <p:cNvPr id="39" name="矩形 38"/>
          <p:cNvSpPr>
            <a:spLocks noChangeArrowheads="1"/>
          </p:cNvSpPr>
          <p:nvPr/>
        </p:nvSpPr>
        <p:spPr bwMode="auto">
          <a:xfrm>
            <a:off x="6641306" y="4577740"/>
            <a:ext cx="10842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400" b="1" dirty="0">
                <a:solidFill>
                  <a:srgbClr val="197519"/>
                </a:solidFill>
              </a:rPr>
              <a:t>缺点</a:t>
            </a:r>
          </a:p>
        </p:txBody>
      </p:sp>
    </p:spTree>
    <p:extLst>
      <p:ext uri="{BB962C8B-B14F-4D97-AF65-F5344CB8AC3E}">
        <p14:creationId xmlns:p14="http://schemas.microsoft.com/office/powerpoint/2010/main" val="2161028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 name="组合 29"/>
          <p:cNvGrpSpPr/>
          <p:nvPr/>
        </p:nvGrpSpPr>
        <p:grpSpPr>
          <a:xfrm>
            <a:off x="2405084" y="1483991"/>
            <a:ext cx="7314050" cy="1104503"/>
            <a:chOff x="3367799" y="2876749"/>
            <a:chExt cx="572540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避免死锁</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36779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4.6.2</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22" name="文本框 21"/>
          <p:cNvSpPr txBox="1">
            <a:spLocks noChangeArrowheads="1"/>
          </p:cNvSpPr>
          <p:nvPr/>
        </p:nvSpPr>
        <p:spPr bwMode="auto">
          <a:xfrm>
            <a:off x="2439935" y="3217837"/>
            <a:ext cx="727920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         避免死锁同样属于事先预防的策略，是在资源动态分配过程中，防止系统进入不安全状态，以避免发生死锁。</a:t>
            </a:r>
          </a:p>
        </p:txBody>
      </p:sp>
    </p:spTree>
    <p:extLst>
      <p:ext uri="{BB962C8B-B14F-4D97-AF65-F5344CB8AC3E}">
        <p14:creationId xmlns:p14="http://schemas.microsoft.com/office/powerpoint/2010/main" val="12197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1.</a:t>
            </a:r>
            <a:r>
              <a:rPr lang="zh-CN" altLang="en-US" dirty="0"/>
              <a:t>系统安全状态</a:t>
            </a:r>
          </a:p>
        </p:txBody>
      </p:sp>
      <p:sp>
        <p:nvSpPr>
          <p:cNvPr id="24" name="等腰三角形 23"/>
          <p:cNvSpPr>
            <a:spLocks noChangeArrowheads="1"/>
          </p:cNvSpPr>
          <p:nvPr/>
        </p:nvSpPr>
        <p:spPr bwMode="auto">
          <a:xfrm>
            <a:off x="484982" y="456407"/>
            <a:ext cx="265112" cy="228600"/>
          </a:xfrm>
          <a:prstGeom prst="triangle">
            <a:avLst>
              <a:gd name="adj" fmla="val 50000"/>
            </a:avLst>
          </a:prstGeom>
          <a:solidFill>
            <a:srgbClr val="197519">
              <a:alpha val="8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5" name="等腰三角形 24"/>
          <p:cNvSpPr>
            <a:spLocks noChangeArrowheads="1"/>
          </p:cNvSpPr>
          <p:nvPr/>
        </p:nvSpPr>
        <p:spPr bwMode="auto">
          <a:xfrm>
            <a:off x="558007" y="250032"/>
            <a:ext cx="177800" cy="152400"/>
          </a:xfrm>
          <a:prstGeom prst="triangle">
            <a:avLst>
              <a:gd name="adj" fmla="val 50000"/>
            </a:avLst>
          </a:prstGeom>
          <a:solidFill>
            <a:srgbClr val="197519">
              <a:alpha val="71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102" name="矩形 101"/>
          <p:cNvSpPr/>
          <p:nvPr/>
        </p:nvSpPr>
        <p:spPr>
          <a:xfrm>
            <a:off x="1003039" y="1672164"/>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3" name="矩形 102"/>
          <p:cNvSpPr/>
          <p:nvPr/>
        </p:nvSpPr>
        <p:spPr>
          <a:xfrm>
            <a:off x="1911089" y="1672164"/>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4" name="矩形 103"/>
          <p:cNvSpPr/>
          <p:nvPr/>
        </p:nvSpPr>
        <p:spPr>
          <a:xfrm>
            <a:off x="1003039" y="3658811"/>
            <a:ext cx="794556"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5" name="矩形 104"/>
          <p:cNvSpPr/>
          <p:nvPr/>
        </p:nvSpPr>
        <p:spPr>
          <a:xfrm>
            <a:off x="1911089" y="3658811"/>
            <a:ext cx="3431702"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7" name="文本框 55"/>
          <p:cNvSpPr txBox="1">
            <a:spLocks noChangeArrowheads="1"/>
          </p:cNvSpPr>
          <p:nvPr/>
        </p:nvSpPr>
        <p:spPr bwMode="auto">
          <a:xfrm>
            <a:off x="856989" y="1138764"/>
            <a:ext cx="2769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避免死锁的方法</a:t>
            </a:r>
          </a:p>
        </p:txBody>
      </p:sp>
      <p:sp>
        <p:nvSpPr>
          <p:cNvPr id="108" name="文本框 56"/>
          <p:cNvSpPr txBox="1">
            <a:spLocks noChangeArrowheads="1"/>
          </p:cNvSpPr>
          <p:nvPr/>
        </p:nvSpPr>
        <p:spPr bwMode="auto">
          <a:xfrm>
            <a:off x="856989" y="3126359"/>
            <a:ext cx="3264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资源分配方法</a:t>
            </a:r>
          </a:p>
        </p:txBody>
      </p:sp>
      <p:sp>
        <p:nvSpPr>
          <p:cNvPr id="111" name="文本框 19"/>
          <p:cNvSpPr txBox="1">
            <a:spLocks noChangeArrowheads="1"/>
          </p:cNvSpPr>
          <p:nvPr/>
        </p:nvSpPr>
        <p:spPr bwMode="auto">
          <a:xfrm>
            <a:off x="1080452" y="1904879"/>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将系统的状态分为</a:t>
            </a:r>
            <a:r>
              <a:rPr lang="zh-CN" altLang="en-US" sz="2400" b="1" dirty="0">
                <a:solidFill>
                  <a:schemeClr val="accent2"/>
                </a:solidFill>
              </a:rPr>
              <a:t>安全状态</a:t>
            </a:r>
            <a:r>
              <a:rPr lang="zh-CN" altLang="en-US" sz="2400" dirty="0"/>
              <a:t>和</a:t>
            </a:r>
            <a:r>
              <a:rPr lang="zh-CN" altLang="en-US" sz="2400" b="1" dirty="0">
                <a:solidFill>
                  <a:schemeClr val="accent2"/>
                </a:solidFill>
              </a:rPr>
              <a:t>不安全状态</a:t>
            </a:r>
            <a:r>
              <a:rPr lang="zh-CN" altLang="en-US" sz="2400" dirty="0"/>
              <a:t>，只要系统的状态始终处于安全状态，便可避免发生死锁。</a:t>
            </a:r>
            <a:endParaRPr kumimoji="1" lang="zh-CN" altLang="en-US" sz="2400" dirty="0">
              <a:latin typeface="Times New Roman" pitchFamily="18" charset="0"/>
            </a:endParaRPr>
          </a:p>
        </p:txBody>
      </p:sp>
      <p:sp>
        <p:nvSpPr>
          <p:cNvPr id="112" name="文本框 19"/>
          <p:cNvSpPr txBox="1">
            <a:spLocks noChangeArrowheads="1"/>
          </p:cNvSpPr>
          <p:nvPr/>
        </p:nvSpPr>
        <p:spPr bwMode="auto">
          <a:xfrm>
            <a:off x="1095692" y="3931799"/>
            <a:ext cx="102917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允许进程动态地申请资源，系统在进行分配前，先计算资源分配的安全性。若此次分配不会导致系统进入不安全状态，便将资源分配给进程；否则，进程等待。</a:t>
            </a:r>
          </a:p>
        </p:txBody>
      </p:sp>
    </p:spTree>
    <p:extLst>
      <p:ext uri="{BB962C8B-B14F-4D97-AF65-F5344CB8AC3E}">
        <p14:creationId xmlns:p14="http://schemas.microsoft.com/office/powerpoint/2010/main" val="361621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strips(downLeft)">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12"/>
                                        </p:tgtEl>
                                        <p:attrNameLst>
                                          <p:attrName>style.visibility</p:attrName>
                                        </p:attrNameLst>
                                      </p:cBhvr>
                                      <p:to>
                                        <p:strVal val="visible"/>
                                      </p:to>
                                    </p:set>
                                    <p:animEffect transition="in" filter="strips(downLeft)">
                                      <p:cBhvr>
                                        <p:cTn id="1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1.</a:t>
            </a:r>
            <a:r>
              <a:rPr lang="zh-CN" altLang="en-US" dirty="0"/>
              <a:t>系统安全状态</a:t>
            </a:r>
          </a:p>
        </p:txBody>
      </p:sp>
      <p:sp>
        <p:nvSpPr>
          <p:cNvPr id="24" name="等腰三角形 23"/>
          <p:cNvSpPr>
            <a:spLocks noChangeArrowheads="1"/>
          </p:cNvSpPr>
          <p:nvPr/>
        </p:nvSpPr>
        <p:spPr bwMode="auto">
          <a:xfrm>
            <a:off x="484982" y="456407"/>
            <a:ext cx="265112" cy="228600"/>
          </a:xfrm>
          <a:prstGeom prst="triangle">
            <a:avLst>
              <a:gd name="adj" fmla="val 50000"/>
            </a:avLst>
          </a:prstGeom>
          <a:solidFill>
            <a:srgbClr val="197519">
              <a:alpha val="8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5" name="等腰三角形 24"/>
          <p:cNvSpPr>
            <a:spLocks noChangeArrowheads="1"/>
          </p:cNvSpPr>
          <p:nvPr/>
        </p:nvSpPr>
        <p:spPr bwMode="auto">
          <a:xfrm>
            <a:off x="558007" y="250032"/>
            <a:ext cx="177800" cy="152400"/>
          </a:xfrm>
          <a:prstGeom prst="triangle">
            <a:avLst>
              <a:gd name="adj" fmla="val 50000"/>
            </a:avLst>
          </a:prstGeom>
          <a:solidFill>
            <a:srgbClr val="197519">
              <a:alpha val="71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cxnSp>
        <p:nvCxnSpPr>
          <p:cNvPr id="18" name="直接连接符 17"/>
          <p:cNvCxnSpPr/>
          <p:nvPr/>
        </p:nvCxnSpPr>
        <p:spPr>
          <a:xfrm>
            <a:off x="843273" y="2443120"/>
            <a:ext cx="4224080" cy="0"/>
          </a:xfrm>
          <a:prstGeom prst="line">
            <a:avLst/>
          </a:prstGeom>
          <a:ln>
            <a:solidFill>
              <a:schemeClr val="bg1">
                <a:lumMod val="75000"/>
              </a:schemeClr>
            </a:solidFill>
            <a:headEnd type="ova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1927997" y="2155088"/>
            <a:ext cx="1699196" cy="576064"/>
            <a:chOff x="4470401" y="1124744"/>
            <a:chExt cx="1699196" cy="576064"/>
          </a:xfrm>
        </p:grpSpPr>
        <p:sp>
          <p:nvSpPr>
            <p:cNvPr id="20" name="圆角矩形 19"/>
            <p:cNvSpPr/>
            <p:nvPr/>
          </p:nvSpPr>
          <p:spPr>
            <a:xfrm>
              <a:off x="4470401" y="1124744"/>
              <a:ext cx="1699196" cy="576064"/>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4585420" y="1211486"/>
              <a:ext cx="1584176" cy="461665"/>
            </a:xfrm>
            <a:prstGeom prst="rect">
              <a:avLst/>
            </a:prstGeom>
            <a:noFill/>
          </p:spPr>
          <p:txBody>
            <a:bodyPr wrap="square" lIns="0" rtlCol="0">
              <a:spAutoFit/>
            </a:bodyPr>
            <a:lstStyle/>
            <a:p>
              <a:pPr algn="ctr"/>
              <a:r>
                <a:rPr lang="zh-CN" altLang="en-US" sz="2400" b="1" dirty="0">
                  <a:solidFill>
                    <a:schemeClr val="bg1"/>
                  </a:solidFill>
                  <a:latin typeface="微软雅黑" pitchFamily="34" charset="-122"/>
                  <a:ea typeface="微软雅黑" pitchFamily="34" charset="-122"/>
                </a:rPr>
                <a:t>安全状态</a:t>
              </a:r>
            </a:p>
          </p:txBody>
        </p:sp>
      </p:grpSp>
      <p:cxnSp>
        <p:nvCxnSpPr>
          <p:cNvPr id="23" name="直接连接符 22"/>
          <p:cNvCxnSpPr/>
          <p:nvPr/>
        </p:nvCxnSpPr>
        <p:spPr>
          <a:xfrm>
            <a:off x="5067354" y="4640910"/>
            <a:ext cx="4224079" cy="0"/>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6152076" y="4352878"/>
            <a:ext cx="2124622" cy="576064"/>
            <a:chOff x="4470401" y="1124744"/>
            <a:chExt cx="1819883" cy="576064"/>
          </a:xfrm>
        </p:grpSpPr>
        <p:sp>
          <p:nvSpPr>
            <p:cNvPr id="27" name="圆角矩形 26"/>
            <p:cNvSpPr/>
            <p:nvPr/>
          </p:nvSpPr>
          <p:spPr>
            <a:xfrm>
              <a:off x="4470401" y="1124744"/>
              <a:ext cx="1699196" cy="576064"/>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TextBox 27"/>
            <p:cNvSpPr txBox="1"/>
            <p:nvPr/>
          </p:nvSpPr>
          <p:spPr>
            <a:xfrm>
              <a:off x="4494041" y="1189489"/>
              <a:ext cx="1796243" cy="461665"/>
            </a:xfrm>
            <a:prstGeom prst="rect">
              <a:avLst/>
            </a:prstGeom>
            <a:noFill/>
          </p:spPr>
          <p:txBody>
            <a:bodyPr wrap="square" lIns="0" rtlCol="0">
              <a:spAutoFit/>
            </a:bodyPr>
            <a:lstStyle/>
            <a:p>
              <a:pPr algn="ctr"/>
              <a:r>
                <a:rPr lang="zh-CN" altLang="en-US" sz="2400" b="1" dirty="0">
                  <a:solidFill>
                    <a:schemeClr val="bg1"/>
                  </a:solidFill>
                  <a:latin typeface="微软雅黑" pitchFamily="34" charset="-122"/>
                  <a:ea typeface="微软雅黑" pitchFamily="34" charset="-122"/>
                </a:rPr>
                <a:t>不安全状态</a:t>
              </a:r>
            </a:p>
          </p:txBody>
        </p:sp>
      </p:grpSp>
      <p:cxnSp>
        <p:nvCxnSpPr>
          <p:cNvPr id="29" name="直接连接符 28"/>
          <p:cNvCxnSpPr/>
          <p:nvPr/>
        </p:nvCxnSpPr>
        <p:spPr>
          <a:xfrm>
            <a:off x="5067353" y="2443120"/>
            <a:ext cx="1" cy="21977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文本框 19"/>
          <p:cNvSpPr txBox="1">
            <a:spLocks noChangeArrowheads="1"/>
          </p:cNvSpPr>
          <p:nvPr/>
        </p:nvSpPr>
        <p:spPr bwMode="auto">
          <a:xfrm>
            <a:off x="843273" y="2822635"/>
            <a:ext cx="391298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指系统能按某种进程推进顺序如﹤</a:t>
            </a:r>
            <a:r>
              <a:rPr lang="en-US" altLang="zh-CN" sz="2400" dirty="0"/>
              <a:t>P</a:t>
            </a:r>
            <a:r>
              <a:rPr lang="en-US" altLang="zh-CN" sz="2400" baseline="-25000" dirty="0"/>
              <a:t>1</a:t>
            </a:r>
            <a:r>
              <a:rPr lang="zh-CN" altLang="en-US" sz="2400" dirty="0"/>
              <a:t>，</a:t>
            </a:r>
            <a:r>
              <a:rPr lang="en-US" altLang="zh-CN" sz="2400" dirty="0"/>
              <a:t>P</a:t>
            </a:r>
            <a:r>
              <a:rPr lang="en-US" altLang="zh-CN" sz="2400" baseline="-25000" dirty="0"/>
              <a:t>2</a:t>
            </a:r>
            <a:r>
              <a:rPr lang="zh-CN" altLang="en-US" sz="2400" dirty="0"/>
              <a:t>， </a:t>
            </a:r>
            <a:r>
              <a:rPr lang="en-US" altLang="zh-CN" sz="2400" dirty="0"/>
              <a:t>…</a:t>
            </a:r>
            <a:r>
              <a:rPr lang="zh-CN" altLang="en-US" sz="2400" dirty="0"/>
              <a:t>，</a:t>
            </a:r>
            <a:r>
              <a:rPr lang="en-US" altLang="zh-CN" sz="2400" dirty="0" err="1"/>
              <a:t>P</a:t>
            </a:r>
            <a:r>
              <a:rPr lang="en-US" altLang="zh-CN" sz="2400" baseline="-25000" dirty="0" err="1"/>
              <a:t>n</a:t>
            </a:r>
            <a:r>
              <a:rPr lang="en-US" altLang="zh-CN" sz="2400" dirty="0"/>
              <a:t>﹥</a:t>
            </a:r>
            <a:r>
              <a:rPr lang="zh-CN" altLang="en-US" sz="2400" dirty="0"/>
              <a:t>（ 称﹤</a:t>
            </a:r>
            <a:r>
              <a:rPr lang="en-US" altLang="zh-CN" sz="2400" dirty="0"/>
              <a:t>P</a:t>
            </a:r>
            <a:r>
              <a:rPr lang="en-US" altLang="zh-CN" sz="2400" baseline="-25000" dirty="0"/>
              <a:t>1</a:t>
            </a:r>
            <a:r>
              <a:rPr lang="zh-CN" altLang="en-US" sz="2400" dirty="0"/>
              <a:t>，</a:t>
            </a:r>
            <a:r>
              <a:rPr lang="en-US" altLang="zh-CN" sz="2400" dirty="0"/>
              <a:t>P</a:t>
            </a:r>
            <a:r>
              <a:rPr lang="en-US" altLang="zh-CN" sz="2400" baseline="-25000" dirty="0"/>
              <a:t>2</a:t>
            </a:r>
            <a:r>
              <a:rPr lang="zh-CN" altLang="en-US" sz="2400" dirty="0"/>
              <a:t>， </a:t>
            </a:r>
            <a:r>
              <a:rPr lang="en-US" altLang="zh-CN" sz="2400" dirty="0"/>
              <a:t>…</a:t>
            </a:r>
            <a:r>
              <a:rPr lang="zh-CN" altLang="en-US" sz="2400" dirty="0"/>
              <a:t>，</a:t>
            </a:r>
            <a:r>
              <a:rPr lang="en-US" altLang="zh-CN" sz="2400" dirty="0" err="1"/>
              <a:t>P</a:t>
            </a:r>
            <a:r>
              <a:rPr lang="en-US" altLang="zh-CN" sz="2400" baseline="-25000" dirty="0" err="1"/>
              <a:t>n</a:t>
            </a:r>
            <a:r>
              <a:rPr lang="en-US" altLang="zh-CN" sz="2400" dirty="0"/>
              <a:t>﹥</a:t>
            </a:r>
            <a:r>
              <a:rPr lang="zh-CN" altLang="en-US" sz="2400" dirty="0"/>
              <a:t>为安全序列 ），来为每个进程分配其所需资源，直至最大需求，使每个进程都能顺利完成。</a:t>
            </a:r>
          </a:p>
        </p:txBody>
      </p:sp>
      <p:sp>
        <p:nvSpPr>
          <p:cNvPr id="31" name="文本框 19"/>
          <p:cNvSpPr txBox="1">
            <a:spLocks noChangeArrowheads="1"/>
          </p:cNvSpPr>
          <p:nvPr/>
        </p:nvSpPr>
        <p:spPr bwMode="auto">
          <a:xfrm>
            <a:off x="5210537" y="5084105"/>
            <a:ext cx="39377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不存在安全序列的状态</a:t>
            </a:r>
          </a:p>
        </p:txBody>
      </p:sp>
      <p:grpSp>
        <p:nvGrpSpPr>
          <p:cNvPr id="32" name="组合 31"/>
          <p:cNvGrpSpPr/>
          <p:nvPr/>
        </p:nvGrpSpPr>
        <p:grpSpPr>
          <a:xfrm>
            <a:off x="5263889" y="2373794"/>
            <a:ext cx="1060851" cy="1037957"/>
            <a:chOff x="1428488" y="4393466"/>
            <a:chExt cx="1236411" cy="1186916"/>
          </a:xfrm>
        </p:grpSpPr>
        <p:sp>
          <p:nvSpPr>
            <p:cNvPr id="33" name="Oval 35"/>
            <p:cNvSpPr>
              <a:spLocks noChangeAspect="1"/>
            </p:cNvSpPr>
            <p:nvPr/>
          </p:nvSpPr>
          <p:spPr>
            <a:xfrm rot="16200000">
              <a:off x="1453236" y="4368718"/>
              <a:ext cx="1186916" cy="123641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1093"/>
              <a:endParaRPr lang="en-JM" sz="1900" dirty="0">
                <a:solidFill>
                  <a:prstClr val="white"/>
                </a:solidFill>
                <a:latin typeface="Franklin Gothic Demi" pitchFamily="34" charset="0"/>
              </a:endParaRPr>
            </a:p>
          </p:txBody>
        </p:sp>
        <p:pic>
          <p:nvPicPr>
            <p:cNvPr id="34" name="Picture 2" descr="bulb.png"/>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741020" y="4542423"/>
              <a:ext cx="611347" cy="889000"/>
            </a:xfrm>
            <a:prstGeom prst="rect">
              <a:avLst/>
            </a:prstGeom>
          </p:spPr>
        </p:pic>
      </p:grpSp>
      <p:sp>
        <p:nvSpPr>
          <p:cNvPr id="35" name="TextBox 34"/>
          <p:cNvSpPr txBox="1"/>
          <p:nvPr/>
        </p:nvSpPr>
        <p:spPr>
          <a:xfrm>
            <a:off x="6324740" y="2366897"/>
            <a:ext cx="5059540" cy="1200329"/>
          </a:xfrm>
          <a:prstGeom prst="rect">
            <a:avLst/>
          </a:prstGeom>
          <a:noFill/>
        </p:spPr>
        <p:txBody>
          <a:bodyPr wrap="square" rtlCol="0">
            <a:spAutoFit/>
          </a:bodyPr>
          <a:lstStyle/>
          <a:p>
            <a:r>
              <a:rPr lang="zh-CN" altLang="en-US" sz="2400" b="1" dirty="0"/>
              <a:t>结论：</a:t>
            </a:r>
            <a:r>
              <a:rPr lang="zh-CN" altLang="en-US" sz="2400" dirty="0"/>
              <a:t>并非所有不安全状态都是死锁状态，但只要系统处于安全状态便可避免死锁状态。</a:t>
            </a:r>
          </a:p>
        </p:txBody>
      </p:sp>
      <p:grpSp>
        <p:nvGrpSpPr>
          <p:cNvPr id="40" name="组合 39"/>
          <p:cNvGrpSpPr/>
          <p:nvPr/>
        </p:nvGrpSpPr>
        <p:grpSpPr>
          <a:xfrm>
            <a:off x="856989" y="1138764"/>
            <a:ext cx="4406900" cy="665162"/>
            <a:chOff x="856989" y="1138764"/>
            <a:chExt cx="4406900" cy="665162"/>
          </a:xfrm>
        </p:grpSpPr>
        <p:sp>
          <p:nvSpPr>
            <p:cNvPr id="41" name="矩形 40"/>
            <p:cNvSpPr/>
            <p:nvPr/>
          </p:nvSpPr>
          <p:spPr>
            <a:xfrm>
              <a:off x="1003039" y="1672164"/>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2" name="矩形 41"/>
            <p:cNvSpPr/>
            <p:nvPr/>
          </p:nvSpPr>
          <p:spPr>
            <a:xfrm>
              <a:off x="1911089" y="1672164"/>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3" name="文本框 55"/>
            <p:cNvSpPr txBox="1">
              <a:spLocks noChangeArrowheads="1"/>
            </p:cNvSpPr>
            <p:nvPr/>
          </p:nvSpPr>
          <p:spPr bwMode="auto">
            <a:xfrm>
              <a:off x="856989" y="1138764"/>
              <a:ext cx="2769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）安全状态</a:t>
              </a:r>
            </a:p>
          </p:txBody>
        </p:sp>
      </p:grpSp>
    </p:spTree>
    <p:extLst>
      <p:ext uri="{BB962C8B-B14F-4D97-AF65-F5344CB8AC3E}">
        <p14:creationId xmlns:p14="http://schemas.microsoft.com/office/powerpoint/2010/main" val="316679828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14:presetBounceEnd="64000">
                                      <p:stCondLst>
                                        <p:cond delay="200"/>
                                      </p:stCondLst>
                                      <p:childTnLst>
                                        <p:set>
                                          <p:cBhvr>
                                            <p:cTn id="6" dur="1" fill="hold">
                                              <p:stCondLst>
                                                <p:cond delay="0"/>
                                              </p:stCondLst>
                                            </p:cTn>
                                            <p:tgtEl>
                                              <p:spTgt spid="19"/>
                                            </p:tgtEl>
                                            <p:attrNameLst>
                                              <p:attrName>style.visibility</p:attrName>
                                            </p:attrNameLst>
                                          </p:cBhvr>
                                          <p:to>
                                            <p:strVal val="visible"/>
                                          </p:to>
                                        </p:set>
                                        <p:anim calcmode="lin" valueType="num" p14:bounceEnd="64000">
                                          <p:cBhvr additive="base">
                                            <p:cTn id="7" dur="500" fill="hold"/>
                                            <p:tgtEl>
                                              <p:spTgt spid="19"/>
                                            </p:tgtEl>
                                            <p:attrNameLst>
                                              <p:attrName>ppt_x</p:attrName>
                                            </p:attrNameLst>
                                          </p:cBhvr>
                                          <p:tavLst>
                                            <p:tav tm="0">
                                              <p:val>
                                                <p:strVal val="#ppt_x"/>
                                              </p:val>
                                            </p:tav>
                                            <p:tav tm="100000">
                                              <p:val>
                                                <p:strVal val="#ppt_x"/>
                                              </p:val>
                                            </p:tav>
                                          </p:tavLst>
                                        </p:anim>
                                        <p:anim calcmode="lin" valueType="num" p14:bounceEnd="64000">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14:presetBounceEnd="64000">
                                      <p:stCondLst>
                                        <p:cond delay="400"/>
                                      </p:stCondLst>
                                      <p:childTnLst>
                                        <p:set>
                                          <p:cBhvr>
                                            <p:cTn id="10" dur="1" fill="hold">
                                              <p:stCondLst>
                                                <p:cond delay="0"/>
                                              </p:stCondLst>
                                            </p:cTn>
                                            <p:tgtEl>
                                              <p:spTgt spid="26"/>
                                            </p:tgtEl>
                                            <p:attrNameLst>
                                              <p:attrName>style.visibility</p:attrName>
                                            </p:attrNameLst>
                                          </p:cBhvr>
                                          <p:to>
                                            <p:strVal val="visible"/>
                                          </p:to>
                                        </p:set>
                                        <p:anim calcmode="lin" valueType="num" p14:bounceEnd="64000">
                                          <p:cBhvr additive="base">
                                            <p:cTn id="11" dur="500" fill="hold"/>
                                            <p:tgtEl>
                                              <p:spTgt spid="26"/>
                                            </p:tgtEl>
                                            <p:attrNameLst>
                                              <p:attrName>ppt_x</p:attrName>
                                            </p:attrNameLst>
                                          </p:cBhvr>
                                          <p:tavLst>
                                            <p:tav tm="0">
                                              <p:val>
                                                <p:strVal val="#ppt_x"/>
                                              </p:val>
                                            </p:tav>
                                            <p:tav tm="100000">
                                              <p:val>
                                                <p:strVal val="#ppt_x"/>
                                              </p:val>
                                            </p:tav>
                                          </p:tavLst>
                                        </p:anim>
                                        <p:anim calcmode="lin" valueType="num" p14:bounceEnd="64000">
                                          <p:cBhvr additive="base">
                                            <p:cTn id="12" dur="500" fill="hold"/>
                                            <p:tgtEl>
                                              <p:spTgt spid="26"/>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strips(down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strips(down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20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4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strips(down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strips(down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5"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1.</a:t>
            </a:r>
            <a:r>
              <a:rPr lang="zh-CN" altLang="en-US" dirty="0"/>
              <a:t>系统安全状态</a:t>
            </a:r>
          </a:p>
        </p:txBody>
      </p:sp>
      <p:sp>
        <p:nvSpPr>
          <p:cNvPr id="24" name="等腰三角形 23"/>
          <p:cNvSpPr>
            <a:spLocks noChangeArrowheads="1"/>
          </p:cNvSpPr>
          <p:nvPr/>
        </p:nvSpPr>
        <p:spPr bwMode="auto">
          <a:xfrm>
            <a:off x="484982" y="456407"/>
            <a:ext cx="265112" cy="228600"/>
          </a:xfrm>
          <a:prstGeom prst="triangle">
            <a:avLst>
              <a:gd name="adj" fmla="val 50000"/>
            </a:avLst>
          </a:prstGeom>
          <a:solidFill>
            <a:srgbClr val="197519">
              <a:alpha val="8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5" name="等腰三角形 24"/>
          <p:cNvSpPr>
            <a:spLocks noChangeArrowheads="1"/>
          </p:cNvSpPr>
          <p:nvPr/>
        </p:nvSpPr>
        <p:spPr bwMode="auto">
          <a:xfrm>
            <a:off x="558007" y="250032"/>
            <a:ext cx="177800" cy="152400"/>
          </a:xfrm>
          <a:prstGeom prst="triangle">
            <a:avLst>
              <a:gd name="adj" fmla="val 50000"/>
            </a:avLst>
          </a:prstGeom>
          <a:solidFill>
            <a:srgbClr val="197519">
              <a:alpha val="71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5" name="组合 4"/>
          <p:cNvGrpSpPr/>
          <p:nvPr/>
        </p:nvGrpSpPr>
        <p:grpSpPr>
          <a:xfrm>
            <a:off x="856989" y="1138764"/>
            <a:ext cx="4406900" cy="665162"/>
            <a:chOff x="856989" y="1138764"/>
            <a:chExt cx="4406900" cy="665162"/>
          </a:xfrm>
        </p:grpSpPr>
        <p:sp>
          <p:nvSpPr>
            <p:cNvPr id="102" name="矩形 101"/>
            <p:cNvSpPr/>
            <p:nvPr/>
          </p:nvSpPr>
          <p:spPr>
            <a:xfrm>
              <a:off x="1003039" y="1672164"/>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3" name="矩形 102"/>
            <p:cNvSpPr/>
            <p:nvPr/>
          </p:nvSpPr>
          <p:spPr>
            <a:xfrm>
              <a:off x="1911089" y="1672164"/>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7" name="文本框 55"/>
            <p:cNvSpPr txBox="1">
              <a:spLocks noChangeArrowheads="1"/>
            </p:cNvSpPr>
            <p:nvPr/>
          </p:nvSpPr>
          <p:spPr bwMode="auto">
            <a:xfrm>
              <a:off x="856989" y="1138764"/>
              <a:ext cx="2769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）安全状态之例</a:t>
              </a:r>
            </a:p>
          </p:txBody>
        </p:sp>
      </p:grpSp>
      <p:sp>
        <p:nvSpPr>
          <p:cNvPr id="111" name="文本框 19"/>
          <p:cNvSpPr txBox="1">
            <a:spLocks noChangeArrowheads="1"/>
          </p:cNvSpPr>
          <p:nvPr/>
        </p:nvSpPr>
        <p:spPr bwMode="auto">
          <a:xfrm>
            <a:off x="1080452" y="1904879"/>
            <a:ext cx="1053242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系统中有三个进程P1、 P2和P3，共有12台磁带机。进程P1总共要求10台磁带机，P2和P3分别要求4台和9台。假设在T0时刻，进程P1、P2和P3已分别获得5台、2台和2台磁带机，尚有3台空闲未分配，如下表所示： </a:t>
            </a:r>
          </a:p>
        </p:txBody>
      </p:sp>
      <p:graphicFrame>
        <p:nvGraphicFramePr>
          <p:cNvPr id="20" name="Group 3"/>
          <p:cNvGraphicFramePr>
            <a:graphicFrameLocks noGrp="1"/>
          </p:cNvGraphicFramePr>
          <p:nvPr/>
        </p:nvGraphicFramePr>
        <p:xfrm>
          <a:off x="2117090" y="3395980"/>
          <a:ext cx="7010400" cy="2219326"/>
        </p:xfrm>
        <a:graphic>
          <a:graphicData uri="http://schemas.openxmlformats.org/drawingml/2006/table">
            <a:tbl>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82292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进 程 </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最 大 需 求 </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已 分 配 </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可 用 </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9640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4</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9</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3</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1" name="文本框 19"/>
          <p:cNvSpPr txBox="1">
            <a:spLocks noChangeArrowheads="1"/>
          </p:cNvSpPr>
          <p:nvPr/>
        </p:nvSpPr>
        <p:spPr bwMode="auto">
          <a:xfrm>
            <a:off x="2086337" y="5907065"/>
            <a:ext cx="71795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en-US" altLang="zh-CN" sz="2400" b="1" dirty="0">
                <a:latin typeface="Times New Roman" pitchFamily="18" charset="0"/>
              </a:rPr>
              <a:t>T</a:t>
            </a:r>
            <a:r>
              <a:rPr lang="en-US" altLang="zh-CN" sz="2400" b="1" baseline="-25000" dirty="0">
                <a:latin typeface="Times New Roman" pitchFamily="18" charset="0"/>
              </a:rPr>
              <a:t>0</a:t>
            </a:r>
            <a:r>
              <a:rPr lang="zh-CN" altLang="en-US" sz="2400" b="1" dirty="0">
                <a:latin typeface="Times New Roman" pitchFamily="18" charset="0"/>
              </a:rPr>
              <a:t>时刻系统存在一个安全序列：</a:t>
            </a:r>
            <a:r>
              <a:rPr lang="en-US" altLang="zh-CN" sz="2400" b="1" dirty="0">
                <a:latin typeface="Times New Roman" pitchFamily="18" charset="0"/>
              </a:rPr>
              <a:t>p2→p1 →p3 </a:t>
            </a:r>
          </a:p>
        </p:txBody>
      </p:sp>
    </p:spTree>
    <p:extLst>
      <p:ext uri="{BB962C8B-B14F-4D97-AF65-F5344CB8AC3E}">
        <p14:creationId xmlns:p14="http://schemas.microsoft.com/office/powerpoint/2010/main" val="4124216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strips(downLeft)">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strips(downLeft)">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1.</a:t>
            </a:r>
            <a:r>
              <a:rPr lang="zh-CN" altLang="en-US" dirty="0"/>
              <a:t>系统安全状态</a:t>
            </a:r>
          </a:p>
        </p:txBody>
      </p:sp>
      <p:sp>
        <p:nvSpPr>
          <p:cNvPr id="24" name="等腰三角形 23"/>
          <p:cNvSpPr>
            <a:spLocks noChangeArrowheads="1"/>
          </p:cNvSpPr>
          <p:nvPr/>
        </p:nvSpPr>
        <p:spPr bwMode="auto">
          <a:xfrm>
            <a:off x="484982" y="456407"/>
            <a:ext cx="265112" cy="228600"/>
          </a:xfrm>
          <a:prstGeom prst="triangle">
            <a:avLst>
              <a:gd name="adj" fmla="val 50000"/>
            </a:avLst>
          </a:prstGeom>
          <a:solidFill>
            <a:srgbClr val="197519">
              <a:alpha val="89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25" name="等腰三角形 24"/>
          <p:cNvSpPr>
            <a:spLocks noChangeArrowheads="1"/>
          </p:cNvSpPr>
          <p:nvPr/>
        </p:nvSpPr>
        <p:spPr bwMode="auto">
          <a:xfrm>
            <a:off x="558007" y="250032"/>
            <a:ext cx="177800" cy="152400"/>
          </a:xfrm>
          <a:prstGeom prst="triangle">
            <a:avLst>
              <a:gd name="adj" fmla="val 50000"/>
            </a:avLst>
          </a:prstGeom>
          <a:solidFill>
            <a:srgbClr val="197519">
              <a:alpha val="71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grpSp>
        <p:nvGrpSpPr>
          <p:cNvPr id="5" name="组合 4"/>
          <p:cNvGrpSpPr/>
          <p:nvPr/>
        </p:nvGrpSpPr>
        <p:grpSpPr>
          <a:xfrm>
            <a:off x="856989" y="1138764"/>
            <a:ext cx="6260091" cy="665162"/>
            <a:chOff x="856989" y="1138764"/>
            <a:chExt cx="6260091" cy="665162"/>
          </a:xfrm>
        </p:grpSpPr>
        <p:sp>
          <p:nvSpPr>
            <p:cNvPr id="102" name="矩形 101"/>
            <p:cNvSpPr/>
            <p:nvPr/>
          </p:nvSpPr>
          <p:spPr>
            <a:xfrm>
              <a:off x="1003039" y="1672164"/>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3" name="矩形 102"/>
            <p:cNvSpPr/>
            <p:nvPr/>
          </p:nvSpPr>
          <p:spPr>
            <a:xfrm>
              <a:off x="1911089" y="1672164"/>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7" name="文本框 55"/>
            <p:cNvSpPr txBox="1">
              <a:spLocks noChangeArrowheads="1"/>
            </p:cNvSpPr>
            <p:nvPr/>
          </p:nvSpPr>
          <p:spPr bwMode="auto">
            <a:xfrm>
              <a:off x="856989" y="1138764"/>
              <a:ext cx="62600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）由安全状态向不安全状态的转换</a:t>
              </a:r>
            </a:p>
          </p:txBody>
        </p:sp>
      </p:grpSp>
      <p:sp>
        <p:nvSpPr>
          <p:cNvPr id="21" name="文本框 19"/>
          <p:cNvSpPr txBox="1">
            <a:spLocks noChangeArrowheads="1"/>
          </p:cNvSpPr>
          <p:nvPr/>
        </p:nvSpPr>
        <p:spPr bwMode="auto">
          <a:xfrm>
            <a:off x="2098993" y="5308240"/>
            <a:ext cx="85816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latin typeface="黑体" pitchFamily="49" charset="-122"/>
                <a:ea typeface="黑体" pitchFamily="49" charset="-122"/>
              </a:rPr>
              <a:t>如果不按照安全序列分配资源，则系统可能会由安全状态进入不安全状态。</a:t>
            </a:r>
          </a:p>
        </p:txBody>
      </p:sp>
      <p:graphicFrame>
        <p:nvGraphicFramePr>
          <p:cNvPr id="13" name="Group 6"/>
          <p:cNvGraphicFramePr>
            <a:graphicFrameLocks noGrp="1"/>
          </p:cNvGraphicFramePr>
          <p:nvPr/>
        </p:nvGraphicFramePr>
        <p:xfrm>
          <a:off x="5720080" y="2394585"/>
          <a:ext cx="3960813" cy="2219326"/>
        </p:xfrm>
        <a:graphic>
          <a:graphicData uri="http://schemas.openxmlformats.org/drawingml/2006/table">
            <a:tbl>
              <a:tblPr/>
              <a:tblGrid>
                <a:gridCol w="936625">
                  <a:extLst>
                    <a:ext uri="{9D8B030D-6E8A-4147-A177-3AD203B41FA5}">
                      <a16:colId xmlns:a16="http://schemas.microsoft.com/office/drawing/2014/main" val="20000"/>
                    </a:ext>
                  </a:extLst>
                </a:gridCol>
                <a:gridCol w="1044575">
                  <a:extLst>
                    <a:ext uri="{9D8B030D-6E8A-4147-A177-3AD203B41FA5}">
                      <a16:colId xmlns:a16="http://schemas.microsoft.com/office/drawing/2014/main" val="20001"/>
                    </a:ext>
                  </a:extLst>
                </a:gridCol>
                <a:gridCol w="1081088">
                  <a:extLst>
                    <a:ext uri="{9D8B030D-6E8A-4147-A177-3AD203B41FA5}">
                      <a16:colId xmlns:a16="http://schemas.microsoft.com/office/drawing/2014/main" val="20002"/>
                    </a:ext>
                  </a:extLst>
                </a:gridCol>
                <a:gridCol w="898525">
                  <a:extLst>
                    <a:ext uri="{9D8B030D-6E8A-4147-A177-3AD203B41FA5}">
                      <a16:colId xmlns:a16="http://schemas.microsoft.com/office/drawing/2014/main" val="20003"/>
                    </a:ext>
                  </a:extLst>
                </a:gridCol>
              </a:tblGrid>
              <a:tr h="82292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进 程 </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最 大 需 求 </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已 分 配 </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可 用 </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9640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4</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9</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3</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2</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4" name="Group 23"/>
          <p:cNvGraphicFramePr>
            <a:graphicFrameLocks noGrp="1"/>
          </p:cNvGraphicFramePr>
          <p:nvPr/>
        </p:nvGraphicFramePr>
        <p:xfrm>
          <a:off x="1159828" y="2415540"/>
          <a:ext cx="3959225" cy="2220914"/>
        </p:xfrm>
        <a:graphic>
          <a:graphicData uri="http://schemas.openxmlformats.org/drawingml/2006/table">
            <a:tbl>
              <a:tblPr/>
              <a:tblGrid>
                <a:gridCol w="935037">
                  <a:extLst>
                    <a:ext uri="{9D8B030D-6E8A-4147-A177-3AD203B41FA5}">
                      <a16:colId xmlns:a16="http://schemas.microsoft.com/office/drawing/2014/main" val="20000"/>
                    </a:ext>
                  </a:extLst>
                </a:gridCol>
                <a:gridCol w="108108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935038">
                  <a:extLst>
                    <a:ext uri="{9D8B030D-6E8A-4147-A177-3AD203B41FA5}">
                      <a16:colId xmlns:a16="http://schemas.microsoft.com/office/drawing/2014/main" val="20003"/>
                    </a:ext>
                  </a:extLst>
                </a:gridCol>
              </a:tblGrid>
              <a:tr h="82292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进 程 </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最 大 需 求 </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已 分 配 </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可 用 </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9799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P</a:t>
                      </a:r>
                      <a:r>
                        <a:rPr kumimoji="0" lang="zh-CN" altLang="zh-CN" sz="24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4</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9</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rPr>
                        <a:t>2</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3</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5" name="Rectangle 41"/>
          <p:cNvSpPr>
            <a:spLocks noChangeArrowheads="1"/>
          </p:cNvSpPr>
          <p:nvPr/>
        </p:nvSpPr>
        <p:spPr bwMode="auto">
          <a:xfrm>
            <a:off x="6776403" y="468757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a:latin typeface="黑体" pitchFamily="49" charset="-122"/>
                <a:ea typeface="黑体" pitchFamily="49" charset="-122"/>
              </a:rPr>
              <a:t>T1时刻</a:t>
            </a:r>
          </a:p>
        </p:txBody>
      </p:sp>
      <p:sp>
        <p:nvSpPr>
          <p:cNvPr id="16" name="Line 42"/>
          <p:cNvSpPr>
            <a:spLocks noChangeShapeType="1"/>
          </p:cNvSpPr>
          <p:nvPr/>
        </p:nvSpPr>
        <p:spPr bwMode="auto">
          <a:xfrm>
            <a:off x="5192078" y="3352165"/>
            <a:ext cx="431800" cy="0"/>
          </a:xfrm>
          <a:prstGeom prst="line">
            <a:avLst/>
          </a:prstGeom>
          <a:noFill/>
          <a:ln w="76200" cmpd="tri">
            <a:solidFill>
              <a:schemeClr val="tx1"/>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Rectangle 40"/>
          <p:cNvSpPr>
            <a:spLocks noChangeArrowheads="1"/>
          </p:cNvSpPr>
          <p:nvPr/>
        </p:nvSpPr>
        <p:spPr bwMode="auto">
          <a:xfrm>
            <a:off x="2098993" y="470916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itchFamily="34" charset="0"/>
                <a:ea typeface="宋体" pitchFamily="2" charset="-122"/>
              </a:defRPr>
            </a:lvl1pPr>
            <a:lvl2pPr marL="742950" indent="-285750">
              <a:spcBef>
                <a:spcPct val="20000"/>
              </a:spcBef>
              <a:buChar char="–"/>
              <a:defRPr sz="2800">
                <a:solidFill>
                  <a:schemeClr val="tx1"/>
                </a:solidFill>
                <a:latin typeface="Arial" pitchFamily="34" charset="0"/>
                <a:ea typeface="宋体" pitchFamily="2" charset="-122"/>
              </a:defRPr>
            </a:lvl2pPr>
            <a:lvl3pPr marL="1143000" indent="-228600">
              <a:spcBef>
                <a:spcPct val="20000"/>
              </a:spcBef>
              <a:buChar char="•"/>
              <a:defRPr sz="2400">
                <a:solidFill>
                  <a:schemeClr val="tx1"/>
                </a:solidFill>
                <a:latin typeface="Arial" pitchFamily="34" charset="0"/>
                <a:ea typeface="宋体" pitchFamily="2" charset="-122"/>
              </a:defRPr>
            </a:lvl3pPr>
            <a:lvl4pPr marL="1600200" indent="-228600">
              <a:spcBef>
                <a:spcPct val="20000"/>
              </a:spcBef>
              <a:buChar char="–"/>
              <a:defRPr sz="2000">
                <a:solidFill>
                  <a:schemeClr val="tx1"/>
                </a:solidFill>
                <a:latin typeface="Arial" pitchFamily="34" charset="0"/>
                <a:ea typeface="宋体" pitchFamily="2" charset="-122"/>
              </a:defRPr>
            </a:lvl4pPr>
            <a:lvl5pPr marL="2057400" indent="-22860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dirty="0">
                <a:latin typeface="黑体" pitchFamily="49" charset="-122"/>
                <a:ea typeface="黑体" pitchFamily="49" charset="-122"/>
              </a:rPr>
              <a:t>T0时刻</a:t>
            </a:r>
          </a:p>
        </p:txBody>
      </p:sp>
      <p:grpSp>
        <p:nvGrpSpPr>
          <p:cNvPr id="18" name="组合 17"/>
          <p:cNvGrpSpPr/>
          <p:nvPr/>
        </p:nvGrpSpPr>
        <p:grpSpPr>
          <a:xfrm>
            <a:off x="1038142" y="5166360"/>
            <a:ext cx="1060851" cy="1037957"/>
            <a:chOff x="1428488" y="4393466"/>
            <a:chExt cx="1236411" cy="1186916"/>
          </a:xfrm>
        </p:grpSpPr>
        <p:sp>
          <p:nvSpPr>
            <p:cNvPr id="19" name="Oval 35"/>
            <p:cNvSpPr>
              <a:spLocks noChangeAspect="1"/>
            </p:cNvSpPr>
            <p:nvPr/>
          </p:nvSpPr>
          <p:spPr>
            <a:xfrm rot="16200000">
              <a:off x="1453236" y="4368718"/>
              <a:ext cx="1186916" cy="123641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1093"/>
              <a:endParaRPr lang="en-JM" sz="1900" dirty="0">
                <a:solidFill>
                  <a:prstClr val="white"/>
                </a:solidFill>
                <a:latin typeface="Franklin Gothic Demi" pitchFamily="34" charset="0"/>
              </a:endParaRPr>
            </a:p>
          </p:txBody>
        </p:sp>
        <p:pic>
          <p:nvPicPr>
            <p:cNvPr id="22" name="Picture 2" descr="bulb.png"/>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741020" y="4542423"/>
              <a:ext cx="611347" cy="889000"/>
            </a:xfrm>
            <a:prstGeom prst="rect">
              <a:avLst/>
            </a:prstGeom>
          </p:spPr>
        </p:pic>
      </p:grpSp>
    </p:spTree>
    <p:extLst>
      <p:ext uri="{BB962C8B-B14F-4D97-AF65-F5344CB8AC3E}">
        <p14:creationId xmlns:p14="http://schemas.microsoft.com/office/powerpoint/2010/main" val="258995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down)">
                                      <p:cBhvr>
                                        <p:cTn id="23" dur="500"/>
                                        <p:tgtEl>
                                          <p:spTgt spid="21"/>
                                        </p:tgtEl>
                                      </p:cBhvr>
                                    </p:animEffect>
                                  </p:childTnLst>
                                </p:cTn>
                              </p:par>
                              <p:par>
                                <p:cTn id="24" presetID="22" presetClass="entr" presetSubtype="4"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5" grpId="0" autoUpdateAnimBg="0"/>
      <p:bldP spid="16" grpId="0" animBg="1"/>
      <p:bldP spid="1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9295510" y="1908623"/>
            <a:ext cx="1323975" cy="19553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861998" y="1908623"/>
            <a:ext cx="1323975" cy="19553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306248" y="1908623"/>
            <a:ext cx="1439862" cy="19553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0714735" y="1933584"/>
            <a:ext cx="1323975"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847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利用银行家算法避免死锁</a:t>
            </a:r>
          </a:p>
        </p:txBody>
      </p:sp>
      <p:grpSp>
        <p:nvGrpSpPr>
          <p:cNvPr id="13" name="组合 12"/>
          <p:cNvGrpSpPr/>
          <p:nvPr/>
        </p:nvGrpSpPr>
        <p:grpSpPr>
          <a:xfrm>
            <a:off x="978290" y="8914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）银行家算法中数据结构</a:t>
              </a:r>
            </a:p>
          </p:txBody>
        </p:sp>
      </p:grpSp>
      <p:grpSp>
        <p:nvGrpSpPr>
          <p:cNvPr id="9" name="组合 8"/>
          <p:cNvGrpSpPr/>
          <p:nvPr/>
        </p:nvGrpSpPr>
        <p:grpSpPr>
          <a:xfrm>
            <a:off x="1075201" y="4527851"/>
            <a:ext cx="10291796" cy="1617974"/>
            <a:chOff x="983761" y="4893611"/>
            <a:chExt cx="10291796" cy="1617974"/>
          </a:xfrm>
        </p:grpSpPr>
        <p:sp>
          <p:nvSpPr>
            <p:cNvPr id="34" name="文本框 19"/>
            <p:cNvSpPr txBox="1">
              <a:spLocks noChangeArrowheads="1"/>
            </p:cNvSpPr>
            <p:nvPr/>
          </p:nvSpPr>
          <p:spPr bwMode="auto">
            <a:xfrm>
              <a:off x="983761" y="5311256"/>
              <a:ext cx="1029179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是一个含有</a:t>
              </a:r>
              <a:r>
                <a:rPr lang="en-US" altLang="zh-CN" sz="2400" dirty="0"/>
                <a:t>m</a:t>
              </a:r>
              <a:r>
                <a:rPr lang="zh-CN" altLang="en-US" sz="2400" dirty="0"/>
                <a:t>个元素的数组，其中每一个元素代表一类可利用的资源数目，其初始值是系统中所配置的该类全部可用资源数目。其值随资源的分配和回收而动态地改变。</a:t>
              </a:r>
              <a:endParaRPr kumimoji="1" lang="zh-CN" altLang="en-US" sz="2400" dirty="0">
                <a:latin typeface="Times New Roman" pitchFamily="18" charset="0"/>
              </a:endParaRPr>
            </a:p>
          </p:txBody>
        </p:sp>
        <p:sp>
          <p:nvSpPr>
            <p:cNvPr id="95" name="文本框 54"/>
            <p:cNvSpPr txBox="1">
              <a:spLocks noChangeArrowheads="1"/>
            </p:cNvSpPr>
            <p:nvPr/>
          </p:nvSpPr>
          <p:spPr bwMode="auto">
            <a:xfrm>
              <a:off x="1027650" y="4893611"/>
              <a:ext cx="31510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可利用资源向量</a:t>
              </a:r>
              <a:r>
                <a:rPr lang="en-US" altLang="zh-CN" sz="2000" b="1" dirty="0">
                  <a:solidFill>
                    <a:srgbClr val="FFC000"/>
                  </a:solidFill>
                  <a:latin typeface="微软雅黑" panose="020B0503020204020204" pitchFamily="34" charset="-122"/>
                  <a:ea typeface="微软雅黑" panose="020B0503020204020204" pitchFamily="34" charset="-122"/>
                </a:rPr>
                <a:t>Available</a:t>
              </a:r>
              <a:endParaRPr lang="zh-CN" altLang="en-US" sz="2000" b="1" dirty="0">
                <a:solidFill>
                  <a:srgbClr val="FFC000"/>
                </a:solidFill>
                <a:latin typeface="微软雅黑" panose="020B0503020204020204" pitchFamily="34" charset="-122"/>
                <a:ea typeface="微软雅黑" panose="020B0503020204020204" pitchFamily="34" charset="-122"/>
              </a:endParaRPr>
            </a:p>
          </p:txBody>
        </p:sp>
      </p:grpSp>
      <p:grpSp>
        <p:nvGrpSpPr>
          <p:cNvPr id="102" name="Group 54"/>
          <p:cNvGrpSpPr>
            <a:grpSpLocks/>
          </p:cNvGrpSpPr>
          <p:nvPr/>
        </p:nvGrpSpPr>
        <p:grpSpPr bwMode="auto">
          <a:xfrm>
            <a:off x="4723510" y="1068397"/>
            <a:ext cx="7315200" cy="2881312"/>
            <a:chOff x="576" y="1728"/>
            <a:chExt cx="4608" cy="2256"/>
          </a:xfrm>
        </p:grpSpPr>
        <p:sp>
          <p:nvSpPr>
            <p:cNvPr id="103" name="Rectangle 55"/>
            <p:cNvSpPr>
              <a:spLocks noChangeArrowheads="1"/>
            </p:cNvSpPr>
            <p:nvPr/>
          </p:nvSpPr>
          <p:spPr bwMode="auto">
            <a:xfrm>
              <a:off x="576" y="1728"/>
              <a:ext cx="4608" cy="2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04" name="Line 56"/>
            <p:cNvSpPr>
              <a:spLocks noChangeShapeType="1"/>
            </p:cNvSpPr>
            <p:nvPr/>
          </p:nvSpPr>
          <p:spPr bwMode="auto">
            <a:xfrm>
              <a:off x="576" y="2352"/>
              <a:ext cx="46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5" name="Line 57"/>
            <p:cNvSpPr>
              <a:spLocks noChangeShapeType="1"/>
            </p:cNvSpPr>
            <p:nvPr/>
          </p:nvSpPr>
          <p:spPr bwMode="auto">
            <a:xfrm>
              <a:off x="153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6" name="Line 58"/>
            <p:cNvSpPr>
              <a:spLocks noChangeShapeType="1"/>
            </p:cNvSpPr>
            <p:nvPr/>
          </p:nvSpPr>
          <p:spPr bwMode="auto">
            <a:xfrm>
              <a:off x="3408"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7" name="Line 59"/>
            <p:cNvSpPr>
              <a:spLocks noChangeShapeType="1"/>
            </p:cNvSpPr>
            <p:nvPr/>
          </p:nvSpPr>
          <p:spPr bwMode="auto">
            <a:xfrm>
              <a:off x="249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8" name="Line 60"/>
            <p:cNvSpPr>
              <a:spLocks noChangeShapeType="1"/>
            </p:cNvSpPr>
            <p:nvPr/>
          </p:nvSpPr>
          <p:spPr bwMode="auto">
            <a:xfrm>
              <a:off x="4320"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9" name="Line 61"/>
            <p:cNvSpPr>
              <a:spLocks noChangeShapeType="1"/>
            </p:cNvSpPr>
            <p:nvPr/>
          </p:nvSpPr>
          <p:spPr bwMode="auto">
            <a:xfrm>
              <a:off x="576" y="1728"/>
              <a:ext cx="960" cy="62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10" name="Text Box 62"/>
          <p:cNvSpPr txBox="1">
            <a:spLocks noChangeArrowheads="1"/>
          </p:cNvSpPr>
          <p:nvPr/>
        </p:nvSpPr>
        <p:spPr bwMode="auto">
          <a:xfrm>
            <a:off x="5210873" y="1114434"/>
            <a:ext cx="10953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800">
                <a:solidFill>
                  <a:schemeClr val="tx1"/>
                </a:solidFill>
                <a:latin typeface="Times New Roman" pitchFamily="18" charset="0"/>
              </a:rPr>
              <a:t>资源情况</a:t>
            </a:r>
          </a:p>
        </p:txBody>
      </p:sp>
      <p:sp>
        <p:nvSpPr>
          <p:cNvPr id="111" name="Text Box 63"/>
          <p:cNvSpPr txBox="1">
            <a:spLocks noChangeArrowheads="1"/>
          </p:cNvSpPr>
          <p:nvPr/>
        </p:nvSpPr>
        <p:spPr bwMode="auto">
          <a:xfrm>
            <a:off x="4802885" y="1493847"/>
            <a:ext cx="638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800">
                <a:solidFill>
                  <a:schemeClr val="tx1"/>
                </a:solidFill>
                <a:latin typeface="Times New Roman" pitchFamily="18" charset="0"/>
              </a:rPr>
              <a:t>进程</a:t>
            </a:r>
          </a:p>
        </p:txBody>
      </p:sp>
      <p:sp>
        <p:nvSpPr>
          <p:cNvPr id="112" name="Text Box 64"/>
          <p:cNvSpPr txBox="1">
            <a:spLocks noChangeArrowheads="1"/>
          </p:cNvSpPr>
          <p:nvPr/>
        </p:nvSpPr>
        <p:spPr bwMode="auto">
          <a:xfrm>
            <a:off x="7746110" y="1038234"/>
            <a:ext cx="1465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a:solidFill>
                  <a:schemeClr val="tx1"/>
                </a:solidFill>
                <a:latin typeface="Times New Roman" pitchFamily="18" charset="0"/>
              </a:rPr>
              <a:t>Allocation</a:t>
            </a:r>
          </a:p>
          <a:p>
            <a:pPr eaLnBrk="1" hangingPunct="1"/>
            <a:r>
              <a:rPr kumimoji="1" lang="en-US" altLang="zh-CN">
                <a:solidFill>
                  <a:schemeClr val="tx1"/>
                </a:solidFill>
                <a:latin typeface="Times New Roman" pitchFamily="18" charset="0"/>
              </a:rPr>
              <a:t>A   B   C</a:t>
            </a:r>
          </a:p>
        </p:txBody>
      </p:sp>
      <p:sp>
        <p:nvSpPr>
          <p:cNvPr id="113" name="Text Box 65"/>
          <p:cNvSpPr txBox="1">
            <a:spLocks noChangeArrowheads="1"/>
          </p:cNvSpPr>
          <p:nvPr/>
        </p:nvSpPr>
        <p:spPr bwMode="auto">
          <a:xfrm>
            <a:off x="6323710" y="1038234"/>
            <a:ext cx="12652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a:solidFill>
                  <a:schemeClr val="tx1"/>
                </a:solidFill>
                <a:latin typeface="Times New Roman" pitchFamily="18" charset="0"/>
              </a:rPr>
              <a:t>Max</a:t>
            </a:r>
          </a:p>
          <a:p>
            <a:pPr eaLnBrk="1" hangingPunct="1"/>
            <a:r>
              <a:rPr kumimoji="1" lang="en-US" altLang="zh-CN">
                <a:solidFill>
                  <a:schemeClr val="tx1"/>
                </a:solidFill>
                <a:latin typeface="Times New Roman" pitchFamily="18" charset="0"/>
              </a:rPr>
              <a:t>A   B   C</a:t>
            </a:r>
          </a:p>
        </p:txBody>
      </p:sp>
      <p:sp>
        <p:nvSpPr>
          <p:cNvPr id="114" name="Text Box 66"/>
          <p:cNvSpPr txBox="1">
            <a:spLocks noChangeArrowheads="1"/>
          </p:cNvSpPr>
          <p:nvPr/>
        </p:nvSpPr>
        <p:spPr bwMode="auto">
          <a:xfrm>
            <a:off x="9289160" y="1038234"/>
            <a:ext cx="12652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a:solidFill>
                  <a:schemeClr val="tx1"/>
                </a:solidFill>
                <a:latin typeface="Times New Roman" pitchFamily="18" charset="0"/>
              </a:rPr>
              <a:t>Need</a:t>
            </a:r>
          </a:p>
          <a:p>
            <a:pPr eaLnBrk="1" hangingPunct="1"/>
            <a:r>
              <a:rPr kumimoji="1" lang="en-US" altLang="zh-CN">
                <a:solidFill>
                  <a:schemeClr val="tx1"/>
                </a:solidFill>
                <a:latin typeface="Times New Roman" pitchFamily="18" charset="0"/>
              </a:rPr>
              <a:t>A   B   C</a:t>
            </a:r>
          </a:p>
        </p:txBody>
      </p:sp>
      <p:sp>
        <p:nvSpPr>
          <p:cNvPr id="115" name="Text Box 67"/>
          <p:cNvSpPr txBox="1">
            <a:spLocks noChangeArrowheads="1"/>
          </p:cNvSpPr>
          <p:nvPr/>
        </p:nvSpPr>
        <p:spPr bwMode="auto">
          <a:xfrm>
            <a:off x="10702035" y="1038234"/>
            <a:ext cx="13636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a:solidFill>
                  <a:schemeClr val="tx1"/>
                </a:solidFill>
                <a:latin typeface="Times New Roman" pitchFamily="18" charset="0"/>
              </a:rPr>
              <a:t>Available</a:t>
            </a:r>
          </a:p>
          <a:p>
            <a:pPr eaLnBrk="1" hangingPunct="1"/>
            <a:r>
              <a:rPr kumimoji="1" lang="en-US" altLang="zh-CN">
                <a:solidFill>
                  <a:schemeClr val="tx1"/>
                </a:solidFill>
                <a:latin typeface="Times New Roman" pitchFamily="18" charset="0"/>
              </a:rPr>
              <a:t>A   B   C</a:t>
            </a:r>
          </a:p>
        </p:txBody>
      </p:sp>
      <p:sp>
        <p:nvSpPr>
          <p:cNvPr id="116" name="Text Box 68"/>
          <p:cNvSpPr txBox="1">
            <a:spLocks noChangeArrowheads="1"/>
          </p:cNvSpPr>
          <p:nvPr/>
        </p:nvSpPr>
        <p:spPr bwMode="auto">
          <a:xfrm>
            <a:off x="5277548" y="1946284"/>
            <a:ext cx="4524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0</a:t>
            </a:r>
            <a:endParaRPr kumimoji="1" lang="en-US" altLang="zh-CN">
              <a:solidFill>
                <a:schemeClr val="tx1"/>
              </a:solidFill>
              <a:latin typeface="Times New Roman" pitchFamily="18" charset="0"/>
            </a:endParaRPr>
          </a:p>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1</a:t>
            </a:r>
            <a:endParaRPr kumimoji="1" lang="en-US" altLang="zh-CN">
              <a:solidFill>
                <a:schemeClr val="tx1"/>
              </a:solidFill>
              <a:latin typeface="Times New Roman" pitchFamily="18" charset="0"/>
            </a:endParaRPr>
          </a:p>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2</a:t>
            </a:r>
          </a:p>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3</a:t>
            </a:r>
          </a:p>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4</a:t>
            </a:r>
          </a:p>
        </p:txBody>
      </p:sp>
      <p:sp>
        <p:nvSpPr>
          <p:cNvPr id="117" name="Text Box 69"/>
          <p:cNvSpPr txBox="1">
            <a:spLocks noChangeArrowheads="1"/>
          </p:cNvSpPr>
          <p:nvPr/>
        </p:nvSpPr>
        <p:spPr bwMode="auto">
          <a:xfrm>
            <a:off x="7866760" y="1933584"/>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0    1     0</a:t>
            </a:r>
          </a:p>
        </p:txBody>
      </p:sp>
      <p:sp>
        <p:nvSpPr>
          <p:cNvPr id="118" name="Text Box 70"/>
          <p:cNvSpPr txBox="1">
            <a:spLocks noChangeArrowheads="1"/>
          </p:cNvSpPr>
          <p:nvPr/>
        </p:nvSpPr>
        <p:spPr bwMode="auto">
          <a:xfrm>
            <a:off x="6306248" y="2292359"/>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3     2     2</a:t>
            </a:r>
          </a:p>
        </p:txBody>
      </p:sp>
      <p:sp>
        <p:nvSpPr>
          <p:cNvPr id="119" name="Text Box 71"/>
          <p:cNvSpPr txBox="1">
            <a:spLocks noChangeArrowheads="1"/>
          </p:cNvSpPr>
          <p:nvPr/>
        </p:nvSpPr>
        <p:spPr bwMode="auto">
          <a:xfrm>
            <a:off x="6272910" y="2700347"/>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9     0     2</a:t>
            </a:r>
          </a:p>
        </p:txBody>
      </p:sp>
      <p:sp>
        <p:nvSpPr>
          <p:cNvPr id="120" name="Text Box 72"/>
          <p:cNvSpPr txBox="1">
            <a:spLocks noChangeArrowheads="1"/>
          </p:cNvSpPr>
          <p:nvPr/>
        </p:nvSpPr>
        <p:spPr bwMode="auto">
          <a:xfrm>
            <a:off x="6272910" y="3059122"/>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2     2     2</a:t>
            </a:r>
          </a:p>
        </p:txBody>
      </p:sp>
      <p:sp>
        <p:nvSpPr>
          <p:cNvPr id="121" name="Text Box 73"/>
          <p:cNvSpPr txBox="1">
            <a:spLocks noChangeArrowheads="1"/>
          </p:cNvSpPr>
          <p:nvPr/>
        </p:nvSpPr>
        <p:spPr bwMode="auto">
          <a:xfrm>
            <a:off x="6272910" y="3444884"/>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4     3     3</a:t>
            </a:r>
          </a:p>
        </p:txBody>
      </p:sp>
      <p:sp>
        <p:nvSpPr>
          <p:cNvPr id="122" name="Text Box 74"/>
          <p:cNvSpPr txBox="1">
            <a:spLocks noChangeArrowheads="1"/>
          </p:cNvSpPr>
          <p:nvPr/>
        </p:nvSpPr>
        <p:spPr bwMode="auto">
          <a:xfrm>
            <a:off x="7866760" y="2292359"/>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2    0     0</a:t>
            </a:r>
          </a:p>
        </p:txBody>
      </p:sp>
      <p:sp>
        <p:nvSpPr>
          <p:cNvPr id="123" name="Text Box 76"/>
          <p:cNvSpPr txBox="1">
            <a:spLocks noChangeArrowheads="1"/>
          </p:cNvSpPr>
          <p:nvPr/>
        </p:nvSpPr>
        <p:spPr bwMode="auto">
          <a:xfrm>
            <a:off x="7861998" y="2700347"/>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3    0     2</a:t>
            </a:r>
          </a:p>
        </p:txBody>
      </p:sp>
      <p:sp>
        <p:nvSpPr>
          <p:cNvPr id="124" name="Text Box 77"/>
          <p:cNvSpPr txBox="1">
            <a:spLocks noChangeArrowheads="1"/>
          </p:cNvSpPr>
          <p:nvPr/>
        </p:nvSpPr>
        <p:spPr bwMode="auto">
          <a:xfrm>
            <a:off x="7888985" y="3059122"/>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2    1     1</a:t>
            </a:r>
          </a:p>
        </p:txBody>
      </p:sp>
      <p:sp>
        <p:nvSpPr>
          <p:cNvPr id="125" name="Text Box 78"/>
          <p:cNvSpPr txBox="1">
            <a:spLocks noChangeArrowheads="1"/>
          </p:cNvSpPr>
          <p:nvPr/>
        </p:nvSpPr>
        <p:spPr bwMode="auto">
          <a:xfrm>
            <a:off x="7861998" y="3444884"/>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dirty="0">
                <a:solidFill>
                  <a:schemeClr val="tx1"/>
                </a:solidFill>
                <a:latin typeface="Times New Roman" pitchFamily="18" charset="0"/>
              </a:rPr>
              <a:t>0     0    2</a:t>
            </a:r>
          </a:p>
        </p:txBody>
      </p:sp>
      <p:sp>
        <p:nvSpPr>
          <p:cNvPr id="126" name="Text Box 79"/>
          <p:cNvSpPr txBox="1">
            <a:spLocks noChangeArrowheads="1"/>
          </p:cNvSpPr>
          <p:nvPr/>
        </p:nvSpPr>
        <p:spPr bwMode="auto">
          <a:xfrm>
            <a:off x="9295510" y="1933584"/>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7    4     3</a:t>
            </a:r>
          </a:p>
        </p:txBody>
      </p:sp>
      <p:sp>
        <p:nvSpPr>
          <p:cNvPr id="127" name="Text Box 80"/>
          <p:cNvSpPr txBox="1">
            <a:spLocks noChangeArrowheads="1"/>
          </p:cNvSpPr>
          <p:nvPr/>
        </p:nvSpPr>
        <p:spPr bwMode="auto">
          <a:xfrm>
            <a:off x="9295510" y="2292359"/>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1    2     2</a:t>
            </a:r>
          </a:p>
        </p:txBody>
      </p:sp>
      <p:sp>
        <p:nvSpPr>
          <p:cNvPr id="128" name="Text Box 82"/>
          <p:cNvSpPr txBox="1">
            <a:spLocks noChangeArrowheads="1"/>
          </p:cNvSpPr>
          <p:nvPr/>
        </p:nvSpPr>
        <p:spPr bwMode="auto">
          <a:xfrm>
            <a:off x="9295510" y="2700347"/>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buFontTx/>
              <a:buAutoNum type="arabicPlain" startAt="6"/>
            </a:pPr>
            <a:r>
              <a:rPr kumimoji="1" lang="en-US" altLang="zh-CN">
                <a:solidFill>
                  <a:schemeClr val="tx1"/>
                </a:solidFill>
                <a:latin typeface="Times New Roman" pitchFamily="18" charset="0"/>
              </a:rPr>
              <a:t>0     0</a:t>
            </a:r>
          </a:p>
        </p:txBody>
      </p:sp>
      <p:sp>
        <p:nvSpPr>
          <p:cNvPr id="129" name="Text Box 83"/>
          <p:cNvSpPr txBox="1">
            <a:spLocks noChangeArrowheads="1"/>
          </p:cNvSpPr>
          <p:nvPr/>
        </p:nvSpPr>
        <p:spPr bwMode="auto">
          <a:xfrm>
            <a:off x="9295510" y="3059122"/>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0    1     1</a:t>
            </a:r>
          </a:p>
        </p:txBody>
      </p:sp>
      <p:sp>
        <p:nvSpPr>
          <p:cNvPr id="130" name="Text Box 84"/>
          <p:cNvSpPr txBox="1">
            <a:spLocks noChangeArrowheads="1"/>
          </p:cNvSpPr>
          <p:nvPr/>
        </p:nvSpPr>
        <p:spPr bwMode="auto">
          <a:xfrm>
            <a:off x="9295510" y="3444884"/>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4    3     1</a:t>
            </a:r>
          </a:p>
        </p:txBody>
      </p:sp>
      <p:sp>
        <p:nvSpPr>
          <p:cNvPr id="131" name="Text Box 85"/>
          <p:cNvSpPr txBox="1">
            <a:spLocks noChangeArrowheads="1"/>
          </p:cNvSpPr>
          <p:nvPr/>
        </p:nvSpPr>
        <p:spPr bwMode="auto">
          <a:xfrm>
            <a:off x="10714735" y="1933584"/>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3    3     2</a:t>
            </a:r>
          </a:p>
        </p:txBody>
      </p:sp>
      <p:sp>
        <p:nvSpPr>
          <p:cNvPr id="132" name="Text Box 87"/>
          <p:cNvSpPr txBox="1">
            <a:spLocks noChangeArrowheads="1"/>
          </p:cNvSpPr>
          <p:nvPr/>
        </p:nvSpPr>
        <p:spPr bwMode="auto">
          <a:xfrm>
            <a:off x="6306248" y="1933584"/>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7     5     3</a:t>
            </a:r>
          </a:p>
        </p:txBody>
      </p:sp>
      <p:sp>
        <p:nvSpPr>
          <p:cNvPr id="133" name="文本框 19"/>
          <p:cNvSpPr txBox="1">
            <a:spLocks noChangeArrowheads="1"/>
          </p:cNvSpPr>
          <p:nvPr/>
        </p:nvSpPr>
        <p:spPr bwMode="auto">
          <a:xfrm>
            <a:off x="1124340" y="2122347"/>
            <a:ext cx="359916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400" dirty="0">
                <a:latin typeface="Times New Roman" pitchFamily="18" charset="0"/>
              </a:rPr>
              <a:t>假定系统中有五个进程｛</a:t>
            </a:r>
            <a:r>
              <a:rPr kumimoji="1" lang="en-US" altLang="zh-CN" sz="2400" dirty="0">
                <a:latin typeface="Times New Roman" pitchFamily="18" charset="0"/>
              </a:rPr>
              <a:t>P</a:t>
            </a:r>
            <a:r>
              <a:rPr kumimoji="1" lang="en-US" altLang="zh-CN" sz="2400" baseline="-25000" dirty="0">
                <a:latin typeface="Times New Roman" pitchFamily="18" charset="0"/>
              </a:rPr>
              <a:t>0</a:t>
            </a:r>
            <a:r>
              <a:rPr kumimoji="1" lang="en-US" altLang="zh-CN" sz="2400" dirty="0">
                <a:latin typeface="Times New Roman" pitchFamily="18" charset="0"/>
              </a:rPr>
              <a:t>, P</a:t>
            </a:r>
            <a:r>
              <a:rPr kumimoji="1" lang="en-US" altLang="zh-CN" sz="2400" baseline="-25000" dirty="0">
                <a:latin typeface="Times New Roman" pitchFamily="18" charset="0"/>
              </a:rPr>
              <a:t>1</a:t>
            </a:r>
            <a:r>
              <a:rPr kumimoji="1" lang="en-US" altLang="zh-CN" sz="2400" dirty="0">
                <a:latin typeface="Times New Roman" pitchFamily="18" charset="0"/>
              </a:rPr>
              <a:t>, P</a:t>
            </a:r>
            <a:r>
              <a:rPr kumimoji="1" lang="en-US" altLang="zh-CN" sz="2400" baseline="-25000" dirty="0">
                <a:latin typeface="Times New Roman" pitchFamily="18" charset="0"/>
              </a:rPr>
              <a:t>2</a:t>
            </a:r>
            <a:r>
              <a:rPr kumimoji="1" lang="en-US" altLang="zh-CN" sz="2400" dirty="0">
                <a:latin typeface="Times New Roman" pitchFamily="18" charset="0"/>
              </a:rPr>
              <a:t>, P</a:t>
            </a:r>
            <a:r>
              <a:rPr kumimoji="1" lang="en-US" altLang="zh-CN" sz="2400" baseline="-25000" dirty="0">
                <a:latin typeface="Times New Roman" pitchFamily="18" charset="0"/>
              </a:rPr>
              <a:t>3</a:t>
            </a:r>
            <a:r>
              <a:rPr kumimoji="1" lang="en-US" altLang="zh-CN" sz="2400" dirty="0">
                <a:latin typeface="Times New Roman" pitchFamily="18" charset="0"/>
              </a:rPr>
              <a:t>, P</a:t>
            </a:r>
            <a:r>
              <a:rPr kumimoji="1" lang="en-US" altLang="zh-CN" sz="2400" baseline="-25000" dirty="0">
                <a:latin typeface="Times New Roman" pitchFamily="18" charset="0"/>
              </a:rPr>
              <a:t>4</a:t>
            </a:r>
            <a:r>
              <a:rPr kumimoji="1" lang="zh-CN" altLang="en-US" sz="2400" dirty="0">
                <a:latin typeface="Times New Roman" pitchFamily="18" charset="0"/>
              </a:rPr>
              <a:t>｝和三类资源｛</a:t>
            </a:r>
            <a:r>
              <a:rPr kumimoji="1" lang="en-US" altLang="zh-CN" sz="2400" dirty="0">
                <a:latin typeface="Times New Roman" pitchFamily="18" charset="0"/>
              </a:rPr>
              <a:t>A, B, C</a:t>
            </a:r>
            <a:r>
              <a:rPr kumimoji="1" lang="zh-CN" altLang="en-US" sz="2400" dirty="0">
                <a:latin typeface="Times New Roman" pitchFamily="18" charset="0"/>
              </a:rPr>
              <a:t>｝，各种资源的数量分别为</a:t>
            </a:r>
            <a:r>
              <a:rPr kumimoji="1" lang="en-US" altLang="zh-CN" sz="2400" dirty="0">
                <a:latin typeface="Times New Roman" pitchFamily="18" charset="0"/>
              </a:rPr>
              <a:t>10</a:t>
            </a:r>
            <a:r>
              <a:rPr kumimoji="1" lang="zh-CN" altLang="en-US" sz="2400" dirty="0">
                <a:latin typeface="Times New Roman" pitchFamily="18" charset="0"/>
              </a:rPr>
              <a:t>、</a:t>
            </a:r>
            <a:r>
              <a:rPr kumimoji="1" lang="en-US" altLang="zh-CN" sz="2400" dirty="0">
                <a:latin typeface="Times New Roman" pitchFamily="18" charset="0"/>
              </a:rPr>
              <a:t>5</a:t>
            </a:r>
            <a:r>
              <a:rPr kumimoji="1" lang="zh-CN" altLang="en-US" sz="2400" dirty="0">
                <a:latin typeface="Times New Roman" pitchFamily="18" charset="0"/>
              </a:rPr>
              <a:t>、</a:t>
            </a:r>
            <a:r>
              <a:rPr kumimoji="1" lang="en-US" altLang="zh-CN" sz="2400" dirty="0">
                <a:latin typeface="Times New Roman" pitchFamily="18" charset="0"/>
              </a:rPr>
              <a:t>7</a:t>
            </a:r>
            <a:r>
              <a:rPr kumimoji="1" lang="zh-CN" altLang="en-US" sz="2400" dirty="0">
                <a:latin typeface="Times New Roman" pitchFamily="18" charset="0"/>
              </a:rPr>
              <a:t>，在</a:t>
            </a:r>
            <a:r>
              <a:rPr kumimoji="1" lang="en-US" altLang="zh-CN" sz="2400" i="1" dirty="0">
                <a:latin typeface="Times New Roman" pitchFamily="18" charset="0"/>
              </a:rPr>
              <a:t>T</a:t>
            </a:r>
            <a:r>
              <a:rPr kumimoji="1" lang="en-US" altLang="zh-CN" sz="2400" baseline="-25000" dirty="0">
                <a:latin typeface="Times New Roman" pitchFamily="18" charset="0"/>
              </a:rPr>
              <a:t>0</a:t>
            </a:r>
            <a:r>
              <a:rPr kumimoji="1" lang="zh-CN" altLang="en-US" sz="2400" dirty="0">
                <a:latin typeface="Times New Roman" pitchFamily="18" charset="0"/>
              </a:rPr>
              <a:t>时刻的资源分配情况。</a:t>
            </a:r>
          </a:p>
        </p:txBody>
      </p:sp>
      <p:sp>
        <p:nvSpPr>
          <p:cNvPr id="134" name="文本框 54"/>
          <p:cNvSpPr txBox="1">
            <a:spLocks noChangeArrowheads="1"/>
          </p:cNvSpPr>
          <p:nvPr/>
        </p:nvSpPr>
        <p:spPr bwMode="auto">
          <a:xfrm>
            <a:off x="1124341" y="1708568"/>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例：</a:t>
            </a:r>
            <a:endParaRPr lang="zh-CN" altLang="en-US" sz="2000" b="1" dirty="0">
              <a:solidFill>
                <a:srgbClr val="FFC000"/>
              </a:solidFill>
              <a:latin typeface="微软雅黑" panose="020B0503020204020204" pitchFamily="34" charset="-122"/>
              <a:ea typeface="微软雅黑" panose="020B0503020204020204" pitchFamily="34" charset="-122"/>
            </a:endParaRPr>
          </a:p>
        </p:txBody>
      </p:sp>
      <p:grpSp>
        <p:nvGrpSpPr>
          <p:cNvPr id="135" name="组合 134"/>
          <p:cNvGrpSpPr/>
          <p:nvPr/>
        </p:nvGrpSpPr>
        <p:grpSpPr>
          <a:xfrm>
            <a:off x="1081292" y="4513255"/>
            <a:ext cx="10291796" cy="1279122"/>
            <a:chOff x="1161186" y="2033008"/>
            <a:chExt cx="10291796" cy="1279122"/>
          </a:xfrm>
        </p:grpSpPr>
        <p:sp>
          <p:nvSpPr>
            <p:cNvPr id="136" name="文本框 19"/>
            <p:cNvSpPr txBox="1">
              <a:spLocks noChangeArrowheads="1"/>
            </p:cNvSpPr>
            <p:nvPr/>
          </p:nvSpPr>
          <p:spPr bwMode="auto">
            <a:xfrm>
              <a:off x="1161186" y="2481133"/>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是一个</a:t>
              </a:r>
              <a:r>
                <a:rPr lang="en-US" altLang="zh-CN" sz="2400" dirty="0" err="1">
                  <a:solidFill>
                    <a:srgbClr val="C00000"/>
                  </a:solidFill>
                </a:rPr>
                <a:t>n×m</a:t>
              </a:r>
              <a:r>
                <a:rPr lang="zh-CN" altLang="en-US" sz="2400" dirty="0"/>
                <a:t>的矩阵，定义了系统中</a:t>
              </a:r>
              <a:r>
                <a:rPr lang="en-US" altLang="zh-CN" sz="2400" dirty="0"/>
                <a:t>n</a:t>
              </a:r>
              <a:r>
                <a:rPr lang="zh-CN" altLang="en-US" sz="2400" dirty="0"/>
                <a:t>个进程中的每一个进程对</a:t>
              </a:r>
              <a:r>
                <a:rPr lang="en-US" altLang="zh-CN" sz="2400" dirty="0"/>
                <a:t>m</a:t>
              </a:r>
              <a:r>
                <a:rPr lang="zh-CN" altLang="en-US" sz="2400" dirty="0"/>
                <a:t>类资源的最大需求。</a:t>
              </a:r>
            </a:p>
          </p:txBody>
        </p:sp>
        <p:sp>
          <p:nvSpPr>
            <p:cNvPr id="137" name="文本框 54"/>
            <p:cNvSpPr txBox="1">
              <a:spLocks noChangeArrowheads="1"/>
            </p:cNvSpPr>
            <p:nvPr/>
          </p:nvSpPr>
          <p:spPr bwMode="auto">
            <a:xfrm>
              <a:off x="1205075" y="2033008"/>
              <a:ext cx="22862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最大需求矩阵</a:t>
              </a:r>
              <a:r>
                <a:rPr lang="en-US" altLang="zh-CN" sz="2000" b="1" dirty="0">
                  <a:solidFill>
                    <a:srgbClr val="FFC000"/>
                  </a:solidFill>
                  <a:latin typeface="微软雅黑" panose="020B0503020204020204" pitchFamily="34" charset="-122"/>
                  <a:ea typeface="微软雅黑" panose="020B0503020204020204" pitchFamily="34" charset="-122"/>
                </a:rPr>
                <a:t>Max</a:t>
              </a:r>
              <a:endParaRPr lang="zh-CN" altLang="en-US" sz="2000" b="1" dirty="0">
                <a:solidFill>
                  <a:srgbClr val="FFC000"/>
                </a:solidFill>
                <a:latin typeface="微软雅黑" panose="020B0503020204020204" pitchFamily="34" charset="-122"/>
                <a:ea typeface="微软雅黑" panose="020B0503020204020204" pitchFamily="34" charset="-122"/>
              </a:endParaRPr>
            </a:p>
          </p:txBody>
        </p:sp>
      </p:grpSp>
      <p:grpSp>
        <p:nvGrpSpPr>
          <p:cNvPr id="138" name="组合 137"/>
          <p:cNvGrpSpPr/>
          <p:nvPr/>
        </p:nvGrpSpPr>
        <p:grpSpPr>
          <a:xfrm>
            <a:off x="1083155" y="4512611"/>
            <a:ext cx="10291796" cy="1286325"/>
            <a:chOff x="1189835" y="3595744"/>
            <a:chExt cx="10291796" cy="1286325"/>
          </a:xfrm>
        </p:grpSpPr>
        <p:sp>
          <p:nvSpPr>
            <p:cNvPr id="139" name="文本框 19"/>
            <p:cNvSpPr txBox="1">
              <a:spLocks noChangeArrowheads="1"/>
            </p:cNvSpPr>
            <p:nvPr/>
          </p:nvSpPr>
          <p:spPr bwMode="auto">
            <a:xfrm>
              <a:off x="1189835" y="4051072"/>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是一个</a:t>
              </a:r>
              <a:r>
                <a:rPr lang="en-US" altLang="zh-CN" sz="2400" dirty="0" err="1">
                  <a:solidFill>
                    <a:srgbClr val="C00000"/>
                  </a:solidFill>
                </a:rPr>
                <a:t>n×m</a:t>
              </a:r>
              <a:r>
                <a:rPr lang="zh-CN" altLang="en-US" sz="2400" dirty="0"/>
                <a:t>的矩阵，定义了系统中每一类资源当前已分配给每一进程的资源数。</a:t>
              </a:r>
            </a:p>
          </p:txBody>
        </p:sp>
        <p:sp>
          <p:nvSpPr>
            <p:cNvPr id="140" name="文本框 54"/>
            <p:cNvSpPr txBox="1">
              <a:spLocks noChangeArrowheads="1"/>
            </p:cNvSpPr>
            <p:nvPr/>
          </p:nvSpPr>
          <p:spPr bwMode="auto">
            <a:xfrm>
              <a:off x="1190153" y="3595744"/>
              <a:ext cx="25186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分配矩阵</a:t>
              </a:r>
              <a:r>
                <a:rPr lang="en-US" altLang="zh-CN" sz="2000" b="1" dirty="0">
                  <a:solidFill>
                    <a:srgbClr val="FFC000"/>
                  </a:solidFill>
                  <a:latin typeface="微软雅黑" panose="020B0503020204020204" pitchFamily="34" charset="-122"/>
                  <a:ea typeface="微软雅黑" panose="020B0503020204020204" pitchFamily="34" charset="-122"/>
                </a:rPr>
                <a:t>Allocation</a:t>
              </a:r>
              <a:endParaRPr lang="zh-CN" altLang="en-US" sz="2000" b="1" dirty="0">
                <a:solidFill>
                  <a:srgbClr val="FFC000"/>
                </a:solidFill>
                <a:latin typeface="微软雅黑" panose="020B0503020204020204" pitchFamily="34" charset="-122"/>
                <a:ea typeface="微软雅黑" panose="020B0503020204020204" pitchFamily="34" charset="-122"/>
              </a:endParaRPr>
            </a:p>
          </p:txBody>
        </p:sp>
      </p:grpSp>
      <p:grpSp>
        <p:nvGrpSpPr>
          <p:cNvPr id="141" name="组合 140"/>
          <p:cNvGrpSpPr/>
          <p:nvPr/>
        </p:nvGrpSpPr>
        <p:grpSpPr>
          <a:xfrm>
            <a:off x="1076689" y="4516117"/>
            <a:ext cx="10306718" cy="916993"/>
            <a:chOff x="1190153" y="3595744"/>
            <a:chExt cx="10306718" cy="916993"/>
          </a:xfrm>
        </p:grpSpPr>
        <p:sp>
          <p:nvSpPr>
            <p:cNvPr id="142" name="文本框 19"/>
            <p:cNvSpPr txBox="1">
              <a:spLocks noChangeArrowheads="1"/>
            </p:cNvSpPr>
            <p:nvPr/>
          </p:nvSpPr>
          <p:spPr bwMode="auto">
            <a:xfrm>
              <a:off x="1205075" y="4051072"/>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是一个</a:t>
              </a:r>
              <a:r>
                <a:rPr lang="en-US" altLang="zh-CN" sz="2400" dirty="0" err="1">
                  <a:solidFill>
                    <a:srgbClr val="C00000"/>
                  </a:solidFill>
                </a:rPr>
                <a:t>n×m</a:t>
              </a:r>
              <a:r>
                <a:rPr lang="zh-CN" altLang="en-US" sz="2400" dirty="0"/>
                <a:t>的矩阵，表示每一个进程尚需的该类资源数。</a:t>
              </a:r>
            </a:p>
          </p:txBody>
        </p:sp>
        <p:sp>
          <p:nvSpPr>
            <p:cNvPr id="143" name="文本框 54"/>
            <p:cNvSpPr txBox="1">
              <a:spLocks noChangeArrowheads="1"/>
            </p:cNvSpPr>
            <p:nvPr/>
          </p:nvSpPr>
          <p:spPr bwMode="auto">
            <a:xfrm>
              <a:off x="1190153" y="3595744"/>
              <a:ext cx="18966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需求矩阵</a:t>
              </a:r>
              <a:r>
                <a:rPr lang="en-US" altLang="zh-CN" sz="2000" b="1" dirty="0">
                  <a:solidFill>
                    <a:srgbClr val="FFC000"/>
                  </a:solidFill>
                  <a:latin typeface="微软雅黑" panose="020B0503020204020204" pitchFamily="34" charset="-122"/>
                  <a:ea typeface="微软雅黑" panose="020B0503020204020204" pitchFamily="34" charset="-122"/>
                </a:rPr>
                <a:t>Need</a:t>
              </a:r>
              <a:endParaRPr lang="zh-CN" altLang="en-US" sz="2000" b="1" dirty="0">
                <a:solidFill>
                  <a:srgbClr val="FFC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956540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134"/>
                                        </p:tgtEl>
                                        <p:attrNameLst>
                                          <p:attrName>style.visibility</p:attrName>
                                        </p:attrNameLst>
                                      </p:cBhvr>
                                      <p:to>
                                        <p:strVal val="visible"/>
                                      </p:to>
                                    </p:set>
                                    <p:anim calcmode="lin" valueType="num">
                                      <p:cBhvr>
                                        <p:cTn id="7" dur="500" fill="hold"/>
                                        <p:tgtEl>
                                          <p:spTgt spid="134"/>
                                        </p:tgtEl>
                                        <p:attrNameLst>
                                          <p:attrName>ppt_w</p:attrName>
                                        </p:attrNameLst>
                                      </p:cBhvr>
                                      <p:tavLst>
                                        <p:tav tm="0">
                                          <p:val>
                                            <p:strVal val="#ppt_w+.3"/>
                                          </p:val>
                                        </p:tav>
                                        <p:tav tm="100000">
                                          <p:val>
                                            <p:strVal val="#ppt_w"/>
                                          </p:val>
                                        </p:tav>
                                      </p:tavLst>
                                    </p:anim>
                                    <p:anim calcmode="lin" valueType="num">
                                      <p:cBhvr>
                                        <p:cTn id="8" dur="500" fill="hold"/>
                                        <p:tgtEl>
                                          <p:spTgt spid="134"/>
                                        </p:tgtEl>
                                        <p:attrNameLst>
                                          <p:attrName>ppt_h</p:attrName>
                                        </p:attrNameLst>
                                      </p:cBhvr>
                                      <p:tavLst>
                                        <p:tav tm="0">
                                          <p:val>
                                            <p:strVal val="#ppt_h"/>
                                          </p:val>
                                        </p:tav>
                                        <p:tav tm="100000">
                                          <p:val>
                                            <p:strVal val="#ppt_h"/>
                                          </p:val>
                                        </p:tav>
                                      </p:tavLst>
                                    </p:anim>
                                    <p:animEffect transition="in" filter="fade">
                                      <p:cBhvr>
                                        <p:cTn id="9" dur="500"/>
                                        <p:tgtEl>
                                          <p:spTgt spid="134"/>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133"/>
                                        </p:tgtEl>
                                        <p:attrNameLst>
                                          <p:attrName>style.visibility</p:attrName>
                                        </p:attrNameLst>
                                      </p:cBhvr>
                                      <p:to>
                                        <p:strVal val="visible"/>
                                      </p:to>
                                    </p:set>
                                    <p:animEffect transition="in" filter="strips(downLeft)">
                                      <p:cBhvr>
                                        <p:cTn id="14" dur="500"/>
                                        <p:tgtEl>
                                          <p:spTgt spid="13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inVertic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35"/>
                                        </p:tgtEl>
                                        <p:attrNameLst>
                                          <p:attrName>style.visibility</p:attrName>
                                        </p:attrNameLst>
                                      </p:cBhvr>
                                      <p:to>
                                        <p:strVal val="visible"/>
                                      </p:to>
                                    </p:set>
                                    <p:animEffect transition="in" filter="wipe(down)">
                                      <p:cBhvr>
                                        <p:cTn id="33" dur="500"/>
                                        <p:tgtEl>
                                          <p:spTgt spid="13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3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138"/>
                                        </p:tgtEl>
                                        <p:attrNameLst>
                                          <p:attrName>style.visibility</p:attrName>
                                        </p:attrNameLst>
                                      </p:cBhvr>
                                      <p:to>
                                        <p:strVal val="visible"/>
                                      </p:to>
                                    </p:set>
                                    <p:animEffect transition="in" filter="barn(inVertical)">
                                      <p:cBhvr>
                                        <p:cTn id="47" dur="500"/>
                                        <p:tgtEl>
                                          <p:spTgt spid="13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down)">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13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6" presetClass="entr" presetSubtype="16" fill="hold" nodeType="clickEffect">
                                  <p:stCondLst>
                                    <p:cond delay="0"/>
                                  </p:stCondLst>
                                  <p:childTnLst>
                                    <p:set>
                                      <p:cBhvr>
                                        <p:cTn id="60" dur="1" fill="hold">
                                          <p:stCondLst>
                                            <p:cond delay="0"/>
                                          </p:stCondLst>
                                        </p:cTn>
                                        <p:tgtEl>
                                          <p:spTgt spid="141"/>
                                        </p:tgtEl>
                                        <p:attrNameLst>
                                          <p:attrName>style.visibility</p:attrName>
                                        </p:attrNameLst>
                                      </p:cBhvr>
                                      <p:to>
                                        <p:strVal val="visible"/>
                                      </p:to>
                                    </p:set>
                                    <p:animEffect transition="in" filter="circle(in)">
                                      <p:cBhvr>
                                        <p:cTn id="61" dur="2000"/>
                                        <p:tgtEl>
                                          <p:spTgt spid="14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down)">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12" grpId="0" animBg="1"/>
      <p:bldP spid="10" grpId="0" animBg="1"/>
      <p:bldP spid="133" grpId="0"/>
      <p:bldP spid="13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）银行家算法中的数据结构</a:t>
              </a:r>
            </a:p>
          </p:txBody>
        </p:sp>
      </p:grpSp>
      <p:sp>
        <p:nvSpPr>
          <p:cNvPr id="34" name="文本框 19"/>
          <p:cNvSpPr txBox="1">
            <a:spLocks noChangeArrowheads="1"/>
          </p:cNvSpPr>
          <p:nvPr/>
        </p:nvSpPr>
        <p:spPr bwMode="auto">
          <a:xfrm>
            <a:off x="1080452" y="1904879"/>
            <a:ext cx="10291796"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en-US" altLang="zh-CN" sz="3200" dirty="0" err="1">
                <a:solidFill>
                  <a:srgbClr val="FF0000"/>
                </a:solidFill>
                <a:latin typeface="Times New Roman" pitchFamily="18" charset="0"/>
              </a:rPr>
              <a:t>int</a:t>
            </a:r>
            <a:r>
              <a:rPr kumimoji="1" lang="en-US" altLang="zh-CN" sz="3200" dirty="0">
                <a:solidFill>
                  <a:srgbClr val="FF0000"/>
                </a:solidFill>
                <a:latin typeface="Times New Roman" pitchFamily="18" charset="0"/>
              </a:rPr>
              <a:t> n;</a:t>
            </a:r>
            <a:r>
              <a:rPr kumimoji="1" lang="en-US" altLang="zh-CN" sz="3200" dirty="0">
                <a:solidFill>
                  <a:srgbClr val="FFC000"/>
                </a:solidFill>
                <a:latin typeface="Times New Roman" pitchFamily="18" charset="0"/>
              </a:rPr>
              <a:t> </a:t>
            </a:r>
            <a:r>
              <a:rPr kumimoji="1" lang="zh-CN" altLang="en-US" sz="3200" dirty="0">
                <a:latin typeface="Times New Roman" pitchFamily="18" charset="0"/>
              </a:rPr>
              <a:t>系统中进程的总数</a:t>
            </a:r>
            <a:endParaRPr kumimoji="1" lang="en-US" altLang="zh-CN" sz="3200" dirty="0">
              <a:latin typeface="Times New Roman" pitchFamily="18" charset="0"/>
            </a:endParaRPr>
          </a:p>
          <a:p>
            <a:pPr marL="0" lvl="2" indent="0">
              <a:buBlip>
                <a:blip r:embed="rId3"/>
              </a:buBlip>
            </a:pPr>
            <a:r>
              <a:rPr kumimoji="1" lang="en-US" altLang="zh-CN" sz="3200" dirty="0" err="1">
                <a:solidFill>
                  <a:srgbClr val="FF0000"/>
                </a:solidFill>
                <a:latin typeface="Times New Roman" pitchFamily="18" charset="0"/>
              </a:rPr>
              <a:t>int</a:t>
            </a:r>
            <a:r>
              <a:rPr kumimoji="1" lang="en-US" altLang="zh-CN" sz="3200" dirty="0">
                <a:solidFill>
                  <a:srgbClr val="FF0000"/>
                </a:solidFill>
                <a:latin typeface="Times New Roman" pitchFamily="18" charset="0"/>
              </a:rPr>
              <a:t> m; </a:t>
            </a:r>
            <a:r>
              <a:rPr kumimoji="1" lang="zh-CN" altLang="en-US" sz="3200" dirty="0">
                <a:latin typeface="Times New Roman" pitchFamily="18" charset="0"/>
              </a:rPr>
              <a:t>资源类总数</a:t>
            </a:r>
            <a:endParaRPr kumimoji="1" lang="en-US" altLang="zh-CN" sz="3200" dirty="0">
              <a:latin typeface="Times New Roman" pitchFamily="18" charset="0"/>
            </a:endParaRPr>
          </a:p>
          <a:p>
            <a:pPr marL="0" lvl="2" indent="0">
              <a:buBlip>
                <a:blip r:embed="rId3"/>
              </a:buBlip>
            </a:pPr>
            <a:r>
              <a:rPr kumimoji="1" lang="en-US" altLang="zh-CN" sz="3200" dirty="0" err="1">
                <a:solidFill>
                  <a:srgbClr val="FF0000"/>
                </a:solidFill>
                <a:latin typeface="Times New Roman" pitchFamily="18" charset="0"/>
              </a:rPr>
              <a:t>int</a:t>
            </a:r>
            <a:r>
              <a:rPr kumimoji="1" lang="en-US" altLang="zh-CN" sz="3200" dirty="0">
                <a:solidFill>
                  <a:srgbClr val="FF0000"/>
                </a:solidFill>
                <a:latin typeface="Times New Roman" pitchFamily="18" charset="0"/>
              </a:rPr>
              <a:t> Available[m];</a:t>
            </a:r>
          </a:p>
          <a:p>
            <a:pPr marL="0" lvl="2" indent="0">
              <a:buBlip>
                <a:blip r:embed="rId3"/>
              </a:buBlip>
            </a:pPr>
            <a:r>
              <a:rPr kumimoji="1" lang="en-US" altLang="zh-CN" sz="3200" dirty="0" err="1">
                <a:solidFill>
                  <a:srgbClr val="FF0000"/>
                </a:solidFill>
                <a:latin typeface="Times New Roman" pitchFamily="18" charset="0"/>
              </a:rPr>
              <a:t>int</a:t>
            </a:r>
            <a:r>
              <a:rPr kumimoji="1" lang="en-US" altLang="zh-CN" sz="3200" dirty="0">
                <a:solidFill>
                  <a:srgbClr val="FF0000"/>
                </a:solidFill>
                <a:latin typeface="Times New Roman" pitchFamily="18" charset="0"/>
              </a:rPr>
              <a:t> Max[</a:t>
            </a:r>
            <a:r>
              <a:rPr kumimoji="1" lang="en-US" altLang="zh-CN" sz="3200" dirty="0" err="1">
                <a:solidFill>
                  <a:srgbClr val="FF0000"/>
                </a:solidFill>
                <a:latin typeface="Times New Roman" pitchFamily="18" charset="0"/>
              </a:rPr>
              <a:t>n,m</a:t>
            </a:r>
            <a:r>
              <a:rPr kumimoji="1" lang="en-US" altLang="zh-CN" sz="3200" dirty="0">
                <a:solidFill>
                  <a:srgbClr val="FF0000"/>
                </a:solidFill>
                <a:latin typeface="Times New Roman" pitchFamily="18" charset="0"/>
              </a:rPr>
              <a:t>];               </a:t>
            </a:r>
          </a:p>
          <a:p>
            <a:pPr marL="0" lvl="2" indent="0">
              <a:buBlip>
                <a:blip r:embed="rId3"/>
              </a:buBlip>
            </a:pPr>
            <a:r>
              <a:rPr kumimoji="1" lang="en-US" altLang="zh-CN" sz="3200" dirty="0" err="1">
                <a:solidFill>
                  <a:srgbClr val="FF0000"/>
                </a:solidFill>
                <a:latin typeface="Times New Roman" pitchFamily="18" charset="0"/>
              </a:rPr>
              <a:t>int</a:t>
            </a:r>
            <a:r>
              <a:rPr kumimoji="1" lang="en-US" altLang="zh-CN" sz="3200" dirty="0">
                <a:solidFill>
                  <a:srgbClr val="FF0000"/>
                </a:solidFill>
                <a:latin typeface="Times New Roman" pitchFamily="18" charset="0"/>
              </a:rPr>
              <a:t> Allocation[</a:t>
            </a:r>
            <a:r>
              <a:rPr kumimoji="1" lang="en-US" altLang="zh-CN" sz="3200" dirty="0" err="1">
                <a:solidFill>
                  <a:srgbClr val="FF0000"/>
                </a:solidFill>
                <a:latin typeface="Times New Roman" pitchFamily="18" charset="0"/>
              </a:rPr>
              <a:t>n,m</a:t>
            </a:r>
            <a:r>
              <a:rPr kumimoji="1" lang="en-US" altLang="zh-CN" sz="3200" dirty="0">
                <a:solidFill>
                  <a:srgbClr val="FF0000"/>
                </a:solidFill>
                <a:latin typeface="Times New Roman" pitchFamily="18" charset="0"/>
              </a:rPr>
              <a:t>];     </a:t>
            </a:r>
          </a:p>
          <a:p>
            <a:pPr marL="0" lvl="2" indent="0">
              <a:buBlip>
                <a:blip r:embed="rId3"/>
              </a:buBlip>
            </a:pPr>
            <a:r>
              <a:rPr kumimoji="1" lang="en-US" altLang="zh-CN" sz="3200" dirty="0" err="1">
                <a:solidFill>
                  <a:srgbClr val="FF0000"/>
                </a:solidFill>
                <a:latin typeface="Times New Roman" pitchFamily="18" charset="0"/>
              </a:rPr>
              <a:t>int</a:t>
            </a:r>
            <a:r>
              <a:rPr kumimoji="1" lang="en-US" altLang="zh-CN" sz="3200" dirty="0">
                <a:solidFill>
                  <a:srgbClr val="FF0000"/>
                </a:solidFill>
                <a:latin typeface="Times New Roman" pitchFamily="18" charset="0"/>
              </a:rPr>
              <a:t> Need[</a:t>
            </a:r>
            <a:r>
              <a:rPr kumimoji="1" lang="en-US" altLang="zh-CN" sz="3200" dirty="0" err="1">
                <a:solidFill>
                  <a:srgbClr val="FF0000"/>
                </a:solidFill>
                <a:latin typeface="Times New Roman" pitchFamily="18" charset="0"/>
              </a:rPr>
              <a:t>n,m</a:t>
            </a:r>
            <a:r>
              <a:rPr kumimoji="1" lang="en-US" altLang="zh-CN" sz="3200" dirty="0">
                <a:solidFill>
                  <a:srgbClr val="FF0000"/>
                </a:solidFill>
                <a:latin typeface="Times New Roman" pitchFamily="18" charset="0"/>
              </a:rPr>
              <a:t>];             </a:t>
            </a:r>
          </a:p>
          <a:p>
            <a:pPr marL="0" lvl="2" indent="0">
              <a:buBlip>
                <a:blip r:embed="rId3"/>
              </a:buBlip>
            </a:pPr>
            <a:r>
              <a:rPr kumimoji="1" lang="en-US" altLang="zh-CN" sz="3200" dirty="0" err="1">
                <a:solidFill>
                  <a:srgbClr val="FF0000"/>
                </a:solidFill>
                <a:latin typeface="Times New Roman" pitchFamily="18" charset="0"/>
              </a:rPr>
              <a:t>int</a:t>
            </a:r>
            <a:r>
              <a:rPr kumimoji="1" lang="en-US" altLang="zh-CN" sz="3200" dirty="0">
                <a:solidFill>
                  <a:srgbClr val="FF0000"/>
                </a:solidFill>
                <a:latin typeface="Times New Roman" pitchFamily="18" charset="0"/>
              </a:rPr>
              <a:t> Request[</a:t>
            </a:r>
            <a:r>
              <a:rPr kumimoji="1" lang="en-US" altLang="zh-CN" sz="3200" dirty="0" err="1">
                <a:solidFill>
                  <a:srgbClr val="FF0000"/>
                </a:solidFill>
                <a:latin typeface="Times New Roman" pitchFamily="18" charset="0"/>
              </a:rPr>
              <a:t>n,m</a:t>
            </a:r>
            <a:r>
              <a:rPr kumimoji="1" lang="en-US" altLang="zh-CN" sz="3200" dirty="0">
                <a:solidFill>
                  <a:srgbClr val="FF0000"/>
                </a:solidFill>
                <a:latin typeface="Times New Roman" pitchFamily="18" charset="0"/>
              </a:rPr>
              <a:t>];        </a:t>
            </a:r>
          </a:p>
        </p:txBody>
      </p:sp>
      <p:sp>
        <p:nvSpPr>
          <p:cNvPr id="108" name="文本框 25"/>
          <p:cNvSpPr txBox="1">
            <a:spLocks noChangeArrowheads="1"/>
          </p:cNvSpPr>
          <p:nvPr/>
        </p:nvSpPr>
        <p:spPr bwMode="auto">
          <a:xfrm>
            <a:off x="902970" y="212725"/>
            <a:ext cx="3847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利用银行家算法避免死锁</a:t>
            </a:r>
          </a:p>
        </p:txBody>
      </p:sp>
    </p:spTree>
    <p:extLst>
      <p:ext uri="{BB962C8B-B14F-4D97-AF65-F5344CB8AC3E}">
        <p14:creationId xmlns:p14="http://schemas.microsoft.com/office/powerpoint/2010/main" val="341281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left)">
                                      <p:cBhvr>
                                        <p:cTn id="7" dur="500"/>
                                        <p:tgtEl>
                                          <p:spTgt spid="34">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4">
                                            <p:txEl>
                                              <p:pRg st="1" end="1"/>
                                            </p:txEl>
                                          </p:spTgt>
                                        </p:tgtEl>
                                        <p:attrNameLst>
                                          <p:attrName>style.visibility</p:attrName>
                                        </p:attrNameLst>
                                      </p:cBhvr>
                                      <p:to>
                                        <p:strVal val="visible"/>
                                      </p:to>
                                    </p:set>
                                    <p:animEffect transition="in" filter="wipe(left)">
                                      <p:cBhvr>
                                        <p:cTn id="10" dur="500"/>
                                        <p:tgtEl>
                                          <p:spTgt spid="3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4">
                                            <p:txEl>
                                              <p:pRg st="2" end="2"/>
                                            </p:txEl>
                                          </p:spTgt>
                                        </p:tgtEl>
                                        <p:attrNameLst>
                                          <p:attrName>style.visibility</p:attrName>
                                        </p:attrNameLst>
                                      </p:cBhvr>
                                      <p:to>
                                        <p:strVal val="visible"/>
                                      </p:to>
                                    </p:set>
                                    <p:animEffect transition="in" filter="wipe(down)">
                                      <p:cBhvr>
                                        <p:cTn id="15" dur="500"/>
                                        <p:tgtEl>
                                          <p:spTgt spid="3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4">
                                            <p:txEl>
                                              <p:pRg st="3" end="3"/>
                                            </p:txEl>
                                          </p:spTgt>
                                        </p:tgtEl>
                                        <p:attrNameLst>
                                          <p:attrName>style.visibility</p:attrName>
                                        </p:attrNameLst>
                                      </p:cBhvr>
                                      <p:to>
                                        <p:strVal val="visible"/>
                                      </p:to>
                                    </p:set>
                                    <p:animEffect transition="in" filter="wipe(down)">
                                      <p:cBhvr>
                                        <p:cTn id="20" dur="500"/>
                                        <p:tgtEl>
                                          <p:spTgt spid="3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4">
                                            <p:txEl>
                                              <p:pRg st="4" end="4"/>
                                            </p:txEl>
                                          </p:spTgt>
                                        </p:tgtEl>
                                        <p:attrNameLst>
                                          <p:attrName>style.visibility</p:attrName>
                                        </p:attrNameLst>
                                      </p:cBhvr>
                                      <p:to>
                                        <p:strVal val="visible"/>
                                      </p:to>
                                    </p:set>
                                    <p:animEffect transition="in" filter="wipe(down)">
                                      <p:cBhvr>
                                        <p:cTn id="25" dur="500"/>
                                        <p:tgtEl>
                                          <p:spTgt spid="3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4">
                                            <p:txEl>
                                              <p:pRg st="5" end="5"/>
                                            </p:txEl>
                                          </p:spTgt>
                                        </p:tgtEl>
                                        <p:attrNameLst>
                                          <p:attrName>style.visibility</p:attrName>
                                        </p:attrNameLst>
                                      </p:cBhvr>
                                      <p:to>
                                        <p:strVal val="visible"/>
                                      </p:to>
                                    </p:set>
                                    <p:animEffect transition="in" filter="wipe(down)">
                                      <p:cBhvr>
                                        <p:cTn id="30" dur="500"/>
                                        <p:tgtEl>
                                          <p:spTgt spid="3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）上述三个矩阵的关系</a:t>
              </a:r>
            </a:p>
          </p:txBody>
        </p:sp>
      </p:grpSp>
      <p:sp>
        <p:nvSpPr>
          <p:cNvPr id="34" name="文本框 19"/>
          <p:cNvSpPr txBox="1">
            <a:spLocks noChangeArrowheads="1"/>
          </p:cNvSpPr>
          <p:nvPr/>
        </p:nvSpPr>
        <p:spPr bwMode="auto">
          <a:xfrm>
            <a:off x="1080452" y="2614310"/>
            <a:ext cx="1029179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r>
              <a:rPr lang="zh-CN" altLang="en-US" sz="3200" dirty="0"/>
              <a:t>其中</a:t>
            </a:r>
            <a:endParaRPr lang="en-US" altLang="zh-CN" sz="3200" dirty="0"/>
          </a:p>
          <a:p>
            <a:pPr marL="0" lvl="2" indent="0">
              <a:buBlip>
                <a:blip r:embed="rId3"/>
              </a:buBlip>
            </a:pPr>
            <a:r>
              <a:rPr lang="en-US" altLang="zh-CN" sz="3200" dirty="0">
                <a:solidFill>
                  <a:schemeClr val="accent2"/>
                </a:solidFill>
              </a:rPr>
              <a:t>Need[ </a:t>
            </a:r>
            <a:r>
              <a:rPr lang="en-US" altLang="zh-CN" sz="3200" dirty="0" err="1">
                <a:solidFill>
                  <a:schemeClr val="accent2"/>
                </a:solidFill>
              </a:rPr>
              <a:t>i</a:t>
            </a:r>
            <a:r>
              <a:rPr lang="en-US" altLang="zh-CN" sz="3200" dirty="0">
                <a:solidFill>
                  <a:schemeClr val="accent2"/>
                </a:solidFill>
              </a:rPr>
              <a:t>, j ] = k </a:t>
            </a:r>
            <a:r>
              <a:rPr lang="zh-CN" altLang="en-US" sz="3200" dirty="0"/>
              <a:t>表示进程</a:t>
            </a:r>
            <a:r>
              <a:rPr lang="en-US" altLang="zh-CN" sz="3200" dirty="0" err="1"/>
              <a:t>i</a:t>
            </a:r>
            <a:r>
              <a:rPr lang="zh-CN" altLang="en-US" sz="3200" dirty="0"/>
              <a:t>还需要 </a:t>
            </a:r>
            <a:r>
              <a:rPr lang="en-US" altLang="zh-CN" sz="3200" dirty="0" err="1"/>
              <a:t>R</a:t>
            </a:r>
            <a:r>
              <a:rPr lang="en-US" altLang="zh-CN" sz="3200" baseline="-25000" dirty="0" err="1"/>
              <a:t>j</a:t>
            </a:r>
            <a:r>
              <a:rPr lang="en-US" altLang="zh-CN" sz="3200" dirty="0"/>
              <a:t> </a:t>
            </a:r>
            <a:r>
              <a:rPr lang="zh-CN" altLang="en-US" sz="3200" dirty="0"/>
              <a:t>类资源 </a:t>
            </a:r>
            <a:r>
              <a:rPr lang="en-US" altLang="zh-CN" sz="3200" dirty="0"/>
              <a:t>k </a:t>
            </a:r>
            <a:r>
              <a:rPr lang="zh-CN" altLang="en-US" sz="3200" dirty="0"/>
              <a:t>个。</a:t>
            </a:r>
            <a:endParaRPr lang="en-US" altLang="zh-CN" sz="3200" dirty="0"/>
          </a:p>
          <a:p>
            <a:pPr marL="0" lvl="2" indent="0">
              <a:buBlip>
                <a:blip r:embed="rId3"/>
              </a:buBlip>
            </a:pPr>
            <a:r>
              <a:rPr lang="en-US" altLang="zh-CN" sz="3200" dirty="0">
                <a:solidFill>
                  <a:schemeClr val="accent2"/>
                </a:solidFill>
              </a:rPr>
              <a:t>Max[ </a:t>
            </a:r>
            <a:r>
              <a:rPr lang="en-US" altLang="zh-CN" sz="3200" dirty="0" err="1">
                <a:solidFill>
                  <a:schemeClr val="accent2"/>
                </a:solidFill>
              </a:rPr>
              <a:t>i</a:t>
            </a:r>
            <a:r>
              <a:rPr lang="en-US" altLang="zh-CN" sz="3200" dirty="0">
                <a:solidFill>
                  <a:schemeClr val="accent2"/>
                </a:solidFill>
              </a:rPr>
              <a:t> , j ] = k </a:t>
            </a:r>
            <a:r>
              <a:rPr lang="zh-CN" altLang="en-US" sz="3200" dirty="0"/>
              <a:t>表示进程</a:t>
            </a:r>
            <a:r>
              <a:rPr lang="en-US" altLang="zh-CN" sz="3200" dirty="0" err="1"/>
              <a:t>i</a:t>
            </a:r>
            <a:r>
              <a:rPr lang="en-US" altLang="zh-CN" sz="3200" dirty="0"/>
              <a:t> </a:t>
            </a:r>
            <a:r>
              <a:rPr lang="zh-CN" altLang="en-US" sz="3200" dirty="0"/>
              <a:t>需要 </a:t>
            </a:r>
            <a:r>
              <a:rPr lang="en-US" altLang="zh-CN" sz="3200" dirty="0" err="1"/>
              <a:t>R</a:t>
            </a:r>
            <a:r>
              <a:rPr lang="en-US" altLang="zh-CN" sz="3200" baseline="-25000" dirty="0" err="1"/>
              <a:t>j</a:t>
            </a:r>
            <a:r>
              <a:rPr lang="en-US" altLang="zh-CN" sz="3200" baseline="-25000" dirty="0"/>
              <a:t> </a:t>
            </a:r>
            <a:r>
              <a:rPr lang="zh-CN" altLang="en-US" sz="3200" dirty="0"/>
              <a:t>类资源的最大数目为 </a:t>
            </a:r>
            <a:r>
              <a:rPr lang="en-US" altLang="zh-CN" sz="3200" dirty="0"/>
              <a:t>k</a:t>
            </a:r>
            <a:r>
              <a:rPr lang="zh-CN" altLang="en-US" sz="3200" dirty="0"/>
              <a:t>。</a:t>
            </a:r>
            <a:endParaRPr lang="en-US" altLang="zh-CN" sz="3200" dirty="0"/>
          </a:p>
          <a:p>
            <a:pPr marL="0" lvl="2" indent="0">
              <a:buBlip>
                <a:blip r:embed="rId3"/>
              </a:buBlip>
            </a:pPr>
            <a:r>
              <a:rPr lang="en-US" altLang="zh-CN" sz="3200" dirty="0">
                <a:solidFill>
                  <a:schemeClr val="accent2"/>
                </a:solidFill>
              </a:rPr>
              <a:t>Allocation[ </a:t>
            </a:r>
            <a:r>
              <a:rPr lang="en-US" altLang="zh-CN" sz="3200" dirty="0" err="1">
                <a:solidFill>
                  <a:schemeClr val="accent2"/>
                </a:solidFill>
              </a:rPr>
              <a:t>i</a:t>
            </a:r>
            <a:r>
              <a:rPr lang="en-US" altLang="zh-CN" sz="3200" dirty="0">
                <a:solidFill>
                  <a:schemeClr val="accent2"/>
                </a:solidFill>
              </a:rPr>
              <a:t> ,  j ] = k </a:t>
            </a:r>
            <a:r>
              <a:rPr lang="zh-CN" altLang="en-US" sz="3200" dirty="0"/>
              <a:t>表示进程</a:t>
            </a:r>
            <a:r>
              <a:rPr lang="en-US" altLang="zh-CN" sz="3200" dirty="0" err="1"/>
              <a:t>i</a:t>
            </a:r>
            <a:r>
              <a:rPr lang="en-US" altLang="zh-CN" sz="3200" dirty="0"/>
              <a:t> </a:t>
            </a:r>
            <a:r>
              <a:rPr lang="zh-CN" altLang="en-US" sz="3200" dirty="0"/>
              <a:t>当前已分得 </a:t>
            </a:r>
            <a:r>
              <a:rPr lang="en-US" altLang="zh-CN" sz="3200" dirty="0" err="1"/>
              <a:t>R</a:t>
            </a:r>
            <a:r>
              <a:rPr lang="en-US" altLang="zh-CN" sz="3200" baseline="-25000" dirty="0" err="1"/>
              <a:t>j</a:t>
            </a:r>
            <a:r>
              <a:rPr lang="zh-CN" altLang="en-US" sz="3200" dirty="0"/>
              <a:t>类资源的数目为 </a:t>
            </a:r>
            <a:r>
              <a:rPr lang="en-US" altLang="zh-CN" sz="3200" dirty="0"/>
              <a:t>k </a:t>
            </a:r>
            <a:r>
              <a:rPr lang="zh-CN" altLang="en-US" sz="3200" dirty="0"/>
              <a:t>。 </a:t>
            </a:r>
            <a:endParaRPr lang="en-US" altLang="zh-CN" sz="3200" dirty="0"/>
          </a:p>
          <a:p>
            <a:pPr marL="0" lvl="2" indent="0">
              <a:buBlip>
                <a:blip r:embed="rId3"/>
              </a:buBlip>
            </a:pPr>
            <a:r>
              <a:rPr lang="en-US" altLang="zh-CN" sz="3200" dirty="0">
                <a:solidFill>
                  <a:schemeClr val="accent2"/>
                </a:solidFill>
              </a:rPr>
              <a:t>Available[j] = k </a:t>
            </a:r>
            <a:r>
              <a:rPr lang="zh-CN" altLang="en-US" sz="3200" dirty="0"/>
              <a:t>表示系统中现有</a:t>
            </a:r>
            <a:r>
              <a:rPr lang="en-US" altLang="zh-CN" sz="3200" dirty="0" err="1"/>
              <a:t>R</a:t>
            </a:r>
            <a:r>
              <a:rPr lang="en-US" altLang="zh-CN" sz="3200" baseline="-25000" dirty="0" err="1"/>
              <a:t>j</a:t>
            </a:r>
            <a:r>
              <a:rPr lang="zh-CN" altLang="en-US" sz="3200" dirty="0"/>
              <a:t>类资源</a:t>
            </a:r>
            <a:r>
              <a:rPr lang="en-US" altLang="zh-CN" sz="3200" dirty="0"/>
              <a:t>k</a:t>
            </a:r>
            <a:r>
              <a:rPr lang="zh-CN" altLang="en-US" sz="3200" dirty="0"/>
              <a:t>个。</a:t>
            </a:r>
          </a:p>
          <a:p>
            <a:pPr marL="0" lvl="2" indent="0">
              <a:buBlip>
                <a:blip r:embed="rId3"/>
              </a:buBlip>
            </a:pPr>
            <a:endParaRPr kumimoji="1" lang="zh-CN" altLang="en-US" sz="2400" dirty="0">
              <a:latin typeface="Times New Roman" pitchFamily="18" charset="0"/>
            </a:endParaRPr>
          </a:p>
        </p:txBody>
      </p:sp>
      <p:sp>
        <p:nvSpPr>
          <p:cNvPr id="108" name="文本框 25"/>
          <p:cNvSpPr txBox="1">
            <a:spLocks noChangeArrowheads="1"/>
          </p:cNvSpPr>
          <p:nvPr/>
        </p:nvSpPr>
        <p:spPr bwMode="auto">
          <a:xfrm>
            <a:off x="902970" y="212725"/>
            <a:ext cx="3847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利用银行家算法避免死锁</a:t>
            </a:r>
          </a:p>
        </p:txBody>
      </p:sp>
      <p:sp>
        <p:nvSpPr>
          <p:cNvPr id="9" name="Rectangle 3"/>
          <p:cNvSpPr txBox="1">
            <a:spLocks noChangeArrowheads="1"/>
          </p:cNvSpPr>
          <p:nvPr/>
        </p:nvSpPr>
        <p:spPr>
          <a:xfrm>
            <a:off x="1080452" y="1967007"/>
            <a:ext cx="8441551" cy="639315"/>
          </a:xfrm>
          <a:prstGeom prst="rect">
            <a:avLst/>
          </a:prstGeom>
        </p:spPr>
        <p:txBody>
          <a:bodyPr/>
          <a:lstStyle>
            <a:lvl1pPr marL="228600" indent="-228600" algn="l" defTabSz="914400" rtl="0" eaLnBrk="1" latinLnBrk="0" hangingPunct="1">
              <a:lnSpc>
                <a:spcPct val="90000"/>
              </a:lnSpc>
              <a:spcBef>
                <a:spcPts val="1000"/>
              </a:spcBef>
              <a:buFontTx/>
              <a:buBlip>
                <a:blip r:embed="rId3"/>
              </a:buBli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altLang="zh-CN" b="1" dirty="0">
                <a:solidFill>
                  <a:srgbClr val="0070C0"/>
                </a:solidFill>
              </a:rPr>
              <a:t>Need[</a:t>
            </a:r>
            <a:r>
              <a:rPr lang="en-US" altLang="zh-CN" b="1" dirty="0" err="1">
                <a:solidFill>
                  <a:srgbClr val="0070C0"/>
                </a:solidFill>
              </a:rPr>
              <a:t>i,j</a:t>
            </a:r>
            <a:r>
              <a:rPr lang="en-US" altLang="zh-CN" b="1" dirty="0">
                <a:solidFill>
                  <a:srgbClr val="0070C0"/>
                </a:solidFill>
              </a:rPr>
              <a:t> ] = Max[</a:t>
            </a:r>
            <a:r>
              <a:rPr lang="en-US" altLang="zh-CN" b="1" dirty="0" err="1">
                <a:solidFill>
                  <a:srgbClr val="0070C0"/>
                </a:solidFill>
              </a:rPr>
              <a:t>i</a:t>
            </a:r>
            <a:r>
              <a:rPr lang="en-US" altLang="zh-CN" b="1" dirty="0">
                <a:solidFill>
                  <a:srgbClr val="0070C0"/>
                </a:solidFill>
              </a:rPr>
              <a:t> ,j ] – Allocation[</a:t>
            </a:r>
            <a:r>
              <a:rPr lang="en-US" altLang="zh-CN" b="1" dirty="0" err="1">
                <a:solidFill>
                  <a:srgbClr val="0070C0"/>
                </a:solidFill>
              </a:rPr>
              <a:t>i</a:t>
            </a:r>
            <a:r>
              <a:rPr lang="en-US" altLang="zh-CN" b="1" dirty="0">
                <a:solidFill>
                  <a:srgbClr val="0070C0"/>
                </a:solidFill>
              </a:rPr>
              <a:t> ,j ]</a:t>
            </a:r>
          </a:p>
        </p:txBody>
      </p:sp>
    </p:spTree>
    <p:extLst>
      <p:ext uri="{BB962C8B-B14F-4D97-AF65-F5344CB8AC3E}">
        <p14:creationId xmlns:p14="http://schemas.microsoft.com/office/powerpoint/2010/main" val="120519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
                                            <p:txEl>
                                              <p:pRg st="1" end="1"/>
                                            </p:txEl>
                                          </p:spTgt>
                                        </p:tgtEl>
                                        <p:attrNameLst>
                                          <p:attrName>style.visibility</p:attrName>
                                        </p:attrNameLst>
                                      </p:cBhvr>
                                      <p:to>
                                        <p:strVal val="visible"/>
                                      </p:to>
                                    </p:set>
                                    <p:animEffect transition="in" filter="wipe(down)">
                                      <p:cBhvr>
                                        <p:cTn id="7" dur="500"/>
                                        <p:tgtEl>
                                          <p:spTgt spid="3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barn(inVertical)">
                                      <p:cBhvr>
                                        <p:cTn id="12" dur="500"/>
                                        <p:tgtEl>
                                          <p:spTgt spid="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4">
                                            <p:txEl>
                                              <p:pRg st="3" end="3"/>
                                            </p:txEl>
                                          </p:spTgt>
                                        </p:tgtEl>
                                        <p:attrNameLst>
                                          <p:attrName>style.visibility</p:attrName>
                                        </p:attrNameLst>
                                      </p:cBhvr>
                                      <p:to>
                                        <p:strVal val="visible"/>
                                      </p:to>
                                    </p:set>
                                    <p:animEffect transition="in" filter="barn(inVertical)">
                                      <p:cBhvr>
                                        <p:cTn id="17" dur="500"/>
                                        <p:tgtEl>
                                          <p:spTgt spid="3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4">
                                            <p:txEl>
                                              <p:pRg st="4" end="4"/>
                                            </p:txEl>
                                          </p:spTgt>
                                        </p:tgtEl>
                                        <p:attrNameLst>
                                          <p:attrName>style.visibility</p:attrName>
                                        </p:attrNameLst>
                                      </p:cBhvr>
                                      <p:to>
                                        <p:strVal val="visible"/>
                                      </p:to>
                                    </p:set>
                                    <p:animEffect transition="in" filter="barn(inVertical)">
                                      <p:cBhvr>
                                        <p:cTn id="22" dur="500"/>
                                        <p:tgtEl>
                                          <p:spTgt spid="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）银行家算法</a:t>
              </a:r>
            </a:p>
          </p:txBody>
        </p:sp>
      </p:grpSp>
      <p:sp>
        <p:nvSpPr>
          <p:cNvPr id="34" name="文本框 19"/>
          <p:cNvSpPr txBox="1">
            <a:spLocks noChangeArrowheads="1"/>
          </p:cNvSpPr>
          <p:nvPr/>
        </p:nvSpPr>
        <p:spPr bwMode="auto">
          <a:xfrm>
            <a:off x="1124341" y="1815663"/>
            <a:ext cx="102917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3200" dirty="0"/>
              <a:t>设</a:t>
            </a:r>
            <a:r>
              <a:rPr lang="en-US" altLang="zh-CN" sz="3200" dirty="0" err="1"/>
              <a:t>Request</a:t>
            </a:r>
            <a:r>
              <a:rPr lang="en-US" altLang="zh-CN" sz="3200" baseline="-25000" dirty="0" err="1"/>
              <a:t>i</a:t>
            </a:r>
            <a:r>
              <a:rPr lang="en-US" altLang="zh-CN" sz="3200" dirty="0"/>
              <a:t> </a:t>
            </a:r>
            <a:r>
              <a:rPr lang="zh-CN" altLang="en-US" sz="3200" dirty="0"/>
              <a:t>是进程</a:t>
            </a:r>
            <a:r>
              <a:rPr lang="en-US" altLang="zh-CN" sz="3200" dirty="0"/>
              <a:t>P</a:t>
            </a:r>
            <a:r>
              <a:rPr lang="en-US" altLang="zh-CN" sz="3200" baseline="-25000" dirty="0"/>
              <a:t>i</a:t>
            </a:r>
            <a:r>
              <a:rPr lang="zh-CN" altLang="en-US" sz="3200" dirty="0"/>
              <a:t>的请求向量。</a:t>
            </a:r>
            <a:r>
              <a:rPr lang="zh-CN" altLang="en-US" sz="2800" dirty="0"/>
              <a:t>例：</a:t>
            </a:r>
            <a:r>
              <a:rPr lang="en-US" altLang="zh-CN" sz="2800" dirty="0" err="1"/>
              <a:t>Request</a:t>
            </a:r>
            <a:r>
              <a:rPr lang="en-US" altLang="zh-CN" sz="3200" baseline="-25000" dirty="0" err="1"/>
              <a:t>i</a:t>
            </a:r>
            <a:r>
              <a:rPr lang="en-US" altLang="zh-CN" sz="2800" dirty="0"/>
              <a:t> [ j ] = k</a:t>
            </a:r>
            <a:endParaRPr lang="zh-CN" altLang="en-US" sz="3200" dirty="0"/>
          </a:p>
        </p:txBody>
      </p:sp>
      <p:sp>
        <p:nvSpPr>
          <p:cNvPr id="108" name="文本框 25"/>
          <p:cNvSpPr txBox="1">
            <a:spLocks noChangeArrowheads="1"/>
          </p:cNvSpPr>
          <p:nvPr/>
        </p:nvSpPr>
        <p:spPr bwMode="auto">
          <a:xfrm>
            <a:off x="902970" y="212725"/>
            <a:ext cx="3847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利用银行家算法避免死锁</a:t>
            </a:r>
          </a:p>
        </p:txBody>
      </p:sp>
      <p:grpSp>
        <p:nvGrpSpPr>
          <p:cNvPr id="10" name="Group 53"/>
          <p:cNvGrpSpPr>
            <a:grpSpLocks/>
          </p:cNvGrpSpPr>
          <p:nvPr/>
        </p:nvGrpSpPr>
        <p:grpSpPr bwMode="auto">
          <a:xfrm>
            <a:off x="1800314" y="2505075"/>
            <a:ext cx="2286000" cy="533400"/>
            <a:chOff x="528" y="1632"/>
            <a:chExt cx="1440" cy="336"/>
          </a:xfrm>
        </p:grpSpPr>
        <p:sp>
          <p:nvSpPr>
            <p:cNvPr id="11" name="AutoShape 7"/>
            <p:cNvSpPr>
              <a:spLocks noChangeArrowheads="1"/>
            </p:cNvSpPr>
            <p:nvPr/>
          </p:nvSpPr>
          <p:spPr bwMode="auto">
            <a:xfrm>
              <a:off x="528" y="1632"/>
              <a:ext cx="1056" cy="336"/>
            </a:xfrm>
            <a:prstGeom prst="flowChartProcess">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a:t>等  待</a:t>
              </a:r>
            </a:p>
          </p:txBody>
        </p:sp>
        <p:sp>
          <p:nvSpPr>
            <p:cNvPr id="12" name="Line 15"/>
            <p:cNvSpPr>
              <a:spLocks noChangeShapeType="1"/>
            </p:cNvSpPr>
            <p:nvPr/>
          </p:nvSpPr>
          <p:spPr bwMode="auto">
            <a:xfrm flipH="1">
              <a:off x="1584" y="1824"/>
              <a:ext cx="33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Rectangle 21"/>
            <p:cNvSpPr>
              <a:spLocks noChangeArrowheads="1"/>
            </p:cNvSpPr>
            <p:nvPr/>
          </p:nvSpPr>
          <p:spPr bwMode="auto">
            <a:xfrm>
              <a:off x="1632" y="1632"/>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a:solidFill>
                    <a:srgbClr val="FF0000"/>
                  </a:solidFill>
                </a:rPr>
                <a:t>N</a:t>
              </a:r>
            </a:p>
          </p:txBody>
        </p:sp>
      </p:grpSp>
      <p:grpSp>
        <p:nvGrpSpPr>
          <p:cNvPr id="15" name="Group 44"/>
          <p:cNvGrpSpPr>
            <a:grpSpLocks/>
          </p:cNvGrpSpPr>
          <p:nvPr/>
        </p:nvGrpSpPr>
        <p:grpSpPr bwMode="auto">
          <a:xfrm>
            <a:off x="3857714" y="1514475"/>
            <a:ext cx="6683375" cy="838200"/>
            <a:chOff x="1824" y="1008"/>
            <a:chExt cx="4210" cy="528"/>
          </a:xfrm>
        </p:grpSpPr>
        <p:sp>
          <p:nvSpPr>
            <p:cNvPr id="16" name="Oval 29"/>
            <p:cNvSpPr>
              <a:spLocks noChangeArrowheads="1"/>
            </p:cNvSpPr>
            <p:nvPr/>
          </p:nvSpPr>
          <p:spPr bwMode="auto">
            <a:xfrm>
              <a:off x="4430" y="1008"/>
              <a:ext cx="1604" cy="528"/>
            </a:xfrm>
            <a:prstGeom prst="ellipse">
              <a:avLst/>
            </a:prstGeom>
            <a:solidFill>
              <a:srgbClr val="FF6600"/>
            </a:solidFill>
            <a:ln w="12700">
              <a:solidFill>
                <a:schemeClr val="tx1"/>
              </a:solidFill>
              <a:round/>
              <a:headEnd/>
              <a:tailEnd/>
            </a:ln>
            <a:effectLst>
              <a:outerShdw dist="53882" dir="2700000" algn="ctr" rotWithShape="0">
                <a:schemeClr val="tx1"/>
              </a:outerShdw>
            </a:effectLst>
          </p:spPr>
          <p:txBody>
            <a:bodyPr wrap="none" anchor="ctr"/>
            <a:lstStyle/>
            <a:p>
              <a:pPr>
                <a:defRPr/>
              </a:pPr>
              <a:r>
                <a:rPr lang="zh-CN" altLang="en-US" sz="1800" dirty="0">
                  <a:latin typeface="+mn-ea"/>
                  <a:ea typeface="+mn-ea"/>
                </a:rPr>
                <a:t>进程尚需要的资源</a:t>
              </a:r>
            </a:p>
          </p:txBody>
        </p:sp>
        <p:sp>
          <p:nvSpPr>
            <p:cNvPr id="17" name="AutoShape 5"/>
            <p:cNvSpPr>
              <a:spLocks noChangeArrowheads="1"/>
            </p:cNvSpPr>
            <p:nvPr/>
          </p:nvSpPr>
          <p:spPr bwMode="auto">
            <a:xfrm>
              <a:off x="1824" y="1056"/>
              <a:ext cx="2448" cy="336"/>
            </a:xfrm>
            <a:prstGeom prst="flowChartPreparation">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dirty="0" err="1"/>
                <a:t>Request</a:t>
              </a:r>
              <a:r>
                <a:rPr lang="en-US" altLang="zh-CN" sz="2000" baseline="-25000" dirty="0" err="1"/>
                <a:t>i</a:t>
              </a:r>
              <a:r>
                <a:rPr lang="en-US" altLang="zh-CN" sz="2000" dirty="0"/>
                <a:t> [j]&lt;= </a:t>
              </a:r>
              <a:r>
                <a:rPr lang="en-US" altLang="zh-CN" sz="2000" dirty="0" err="1"/>
                <a:t>Need</a:t>
              </a:r>
              <a:r>
                <a:rPr lang="en-US" altLang="zh-CN" sz="2000" baseline="-25000" dirty="0" err="1"/>
                <a:t>i</a:t>
              </a:r>
              <a:r>
                <a:rPr lang="en-US" altLang="zh-CN" sz="2000" dirty="0"/>
                <a:t>[</a:t>
              </a:r>
              <a:r>
                <a:rPr lang="en-US" altLang="zh-CN" sz="2000" dirty="0" err="1"/>
                <a:t>i,j</a:t>
              </a:r>
              <a:r>
                <a:rPr lang="en-US" altLang="zh-CN" sz="2000" dirty="0"/>
                <a:t>]</a:t>
              </a:r>
              <a:endParaRPr lang="en-US" altLang="zh-CN" sz="2000" baseline="-25000" dirty="0"/>
            </a:p>
          </p:txBody>
        </p:sp>
        <p:sp>
          <p:nvSpPr>
            <p:cNvPr id="18" name="Line 30"/>
            <p:cNvSpPr>
              <a:spLocks noChangeShapeType="1"/>
            </p:cNvSpPr>
            <p:nvPr/>
          </p:nvSpPr>
          <p:spPr bwMode="auto">
            <a:xfrm flipH="1" flipV="1">
              <a:off x="4272" y="1248"/>
              <a:ext cx="192" cy="29"/>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19" name="Oval 33"/>
            <p:cNvSpPr>
              <a:spLocks noChangeArrowheads="1"/>
            </p:cNvSpPr>
            <p:nvPr/>
          </p:nvSpPr>
          <p:spPr bwMode="auto">
            <a:xfrm>
              <a:off x="3888" y="1008"/>
              <a:ext cx="240" cy="192"/>
            </a:xfrm>
            <a:prstGeom prst="ellipse">
              <a:avLst/>
            </a:prstGeom>
            <a:solidFill>
              <a:srgbClr val="FF6699"/>
            </a:solidFill>
            <a:ln w="12700">
              <a:solidFill>
                <a:schemeClr val="tx1"/>
              </a:solidFill>
              <a:round/>
              <a:headEnd/>
              <a:tailEnd/>
            </a:ln>
            <a:effectLst>
              <a:outerShdw dist="53882" dir="2700000" algn="ctr" rotWithShape="0">
                <a:schemeClr val="tx1"/>
              </a:outerShdw>
            </a:effectLst>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a:ea typeface="幼圆" pitchFamily="49" charset="-122"/>
                </a:rPr>
                <a:t>1</a:t>
              </a:r>
            </a:p>
          </p:txBody>
        </p:sp>
      </p:grpSp>
      <p:grpSp>
        <p:nvGrpSpPr>
          <p:cNvPr id="20" name="Group 52"/>
          <p:cNvGrpSpPr>
            <a:grpSpLocks/>
          </p:cNvGrpSpPr>
          <p:nvPr/>
        </p:nvGrpSpPr>
        <p:grpSpPr bwMode="auto">
          <a:xfrm>
            <a:off x="1724114" y="1514475"/>
            <a:ext cx="2286000" cy="609600"/>
            <a:chOff x="528" y="1008"/>
            <a:chExt cx="1440" cy="384"/>
          </a:xfrm>
        </p:grpSpPr>
        <p:sp>
          <p:nvSpPr>
            <p:cNvPr id="22" name="AutoShape 16"/>
            <p:cNvSpPr>
              <a:spLocks noChangeArrowheads="1"/>
            </p:cNvSpPr>
            <p:nvPr/>
          </p:nvSpPr>
          <p:spPr bwMode="auto">
            <a:xfrm>
              <a:off x="528" y="1056"/>
              <a:ext cx="1056" cy="336"/>
            </a:xfrm>
            <a:prstGeom prst="flowChartProcess">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a:t>出  错</a:t>
              </a:r>
            </a:p>
          </p:txBody>
        </p:sp>
        <p:sp>
          <p:nvSpPr>
            <p:cNvPr id="24" name="Line 17"/>
            <p:cNvSpPr>
              <a:spLocks noChangeShapeType="1"/>
            </p:cNvSpPr>
            <p:nvPr/>
          </p:nvSpPr>
          <p:spPr bwMode="auto">
            <a:xfrm flipH="1">
              <a:off x="1584" y="1248"/>
              <a:ext cx="33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Rectangle 20"/>
            <p:cNvSpPr>
              <a:spLocks noChangeArrowheads="1"/>
            </p:cNvSpPr>
            <p:nvPr/>
          </p:nvSpPr>
          <p:spPr bwMode="auto">
            <a:xfrm>
              <a:off x="1632" y="1008"/>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a:solidFill>
                    <a:srgbClr val="FF0000"/>
                  </a:solidFill>
                </a:rPr>
                <a:t>N</a:t>
              </a:r>
            </a:p>
          </p:txBody>
        </p:sp>
      </p:grpSp>
      <p:grpSp>
        <p:nvGrpSpPr>
          <p:cNvPr id="28" name="Group 45"/>
          <p:cNvGrpSpPr>
            <a:grpSpLocks/>
          </p:cNvGrpSpPr>
          <p:nvPr/>
        </p:nvGrpSpPr>
        <p:grpSpPr bwMode="auto">
          <a:xfrm>
            <a:off x="3876853" y="2108050"/>
            <a:ext cx="6635750" cy="1447800"/>
            <a:chOff x="1694" y="1392"/>
            <a:chExt cx="4180" cy="912"/>
          </a:xfrm>
        </p:grpSpPr>
        <p:sp>
          <p:nvSpPr>
            <p:cNvPr id="29" name="AutoShape 6"/>
            <p:cNvSpPr>
              <a:spLocks noChangeArrowheads="1"/>
            </p:cNvSpPr>
            <p:nvPr/>
          </p:nvSpPr>
          <p:spPr bwMode="auto">
            <a:xfrm>
              <a:off x="1694" y="1672"/>
              <a:ext cx="2544" cy="336"/>
            </a:xfrm>
            <a:prstGeom prst="flowChartPreparation">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a:t>Request</a:t>
              </a:r>
              <a:r>
                <a:rPr lang="en-US" altLang="zh-CN" sz="2000" baseline="-25000"/>
                <a:t>i</a:t>
              </a:r>
              <a:r>
                <a:rPr lang="en-US" altLang="zh-CN" sz="2000"/>
                <a:t> [j]&lt;= Available[j]</a:t>
              </a:r>
            </a:p>
          </p:txBody>
        </p:sp>
        <p:sp>
          <p:nvSpPr>
            <p:cNvPr id="30" name="Line 11"/>
            <p:cNvSpPr>
              <a:spLocks noChangeShapeType="1"/>
            </p:cNvSpPr>
            <p:nvPr/>
          </p:nvSpPr>
          <p:spPr bwMode="auto">
            <a:xfrm>
              <a:off x="2880" y="1392"/>
              <a:ext cx="0"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Rectangle 18"/>
            <p:cNvSpPr>
              <a:spLocks noChangeArrowheads="1"/>
            </p:cNvSpPr>
            <p:nvPr/>
          </p:nvSpPr>
          <p:spPr bwMode="auto">
            <a:xfrm>
              <a:off x="2832" y="1440"/>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a:solidFill>
                    <a:srgbClr val="FF0066"/>
                  </a:solidFill>
                </a:rPr>
                <a:t>Y</a:t>
              </a:r>
            </a:p>
          </p:txBody>
        </p:sp>
        <p:sp>
          <p:nvSpPr>
            <p:cNvPr id="32" name="Oval 27"/>
            <p:cNvSpPr>
              <a:spLocks noChangeArrowheads="1"/>
            </p:cNvSpPr>
            <p:nvPr/>
          </p:nvSpPr>
          <p:spPr bwMode="auto">
            <a:xfrm>
              <a:off x="4368" y="1632"/>
              <a:ext cx="1506" cy="672"/>
            </a:xfrm>
            <a:prstGeom prst="ellipse">
              <a:avLst/>
            </a:prstGeom>
            <a:solidFill>
              <a:srgbClr val="FF6600"/>
            </a:solidFill>
            <a:ln w="12700">
              <a:solidFill>
                <a:schemeClr val="tx1"/>
              </a:solidFill>
              <a:round/>
              <a:headEnd/>
              <a:tailEnd/>
            </a:ln>
            <a:effectLst>
              <a:outerShdw dist="53882" dir="2700000" algn="ctr" rotWithShape="0">
                <a:schemeClr val="tx1"/>
              </a:outerShdw>
            </a:effectLst>
          </p:spPr>
          <p:txBody>
            <a:bodyPr anchor="ctr"/>
            <a:lstStyle/>
            <a:p>
              <a:pPr>
                <a:defRPr/>
              </a:pPr>
              <a:r>
                <a:rPr lang="zh-CN" altLang="en-US" sz="1800" b="1" dirty="0">
                  <a:latin typeface="+mn-ea"/>
                  <a:ea typeface="+mn-ea"/>
                </a:rPr>
                <a:t>是否有足够的可利用资源</a:t>
              </a:r>
            </a:p>
          </p:txBody>
        </p:sp>
        <p:sp>
          <p:nvSpPr>
            <p:cNvPr id="33" name="Line 28"/>
            <p:cNvSpPr>
              <a:spLocks noChangeShapeType="1"/>
            </p:cNvSpPr>
            <p:nvPr/>
          </p:nvSpPr>
          <p:spPr bwMode="auto">
            <a:xfrm flipH="1" flipV="1">
              <a:off x="4238" y="1840"/>
              <a:ext cx="178" cy="176"/>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35" name="Oval 34"/>
            <p:cNvSpPr>
              <a:spLocks noChangeArrowheads="1"/>
            </p:cNvSpPr>
            <p:nvPr/>
          </p:nvSpPr>
          <p:spPr bwMode="auto">
            <a:xfrm>
              <a:off x="3792" y="1488"/>
              <a:ext cx="240" cy="240"/>
            </a:xfrm>
            <a:prstGeom prst="ellipse">
              <a:avLst/>
            </a:prstGeom>
            <a:solidFill>
              <a:srgbClr val="FF6699"/>
            </a:solidFill>
            <a:ln w="12700">
              <a:solidFill>
                <a:schemeClr val="tx1"/>
              </a:solidFill>
              <a:round/>
              <a:headEnd/>
              <a:tailEnd/>
            </a:ln>
            <a:effectLst>
              <a:outerShdw dist="53882" dir="2700000" algn="ctr" rotWithShape="0">
                <a:schemeClr val="tx1"/>
              </a:outerShdw>
            </a:effectLst>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a:ea typeface="幼圆" pitchFamily="49" charset="-122"/>
                </a:rPr>
                <a:t>2</a:t>
              </a:r>
            </a:p>
          </p:txBody>
        </p:sp>
      </p:grpSp>
      <p:grpSp>
        <p:nvGrpSpPr>
          <p:cNvPr id="36" name="Group 39"/>
          <p:cNvGrpSpPr>
            <a:grpSpLocks/>
          </p:cNvGrpSpPr>
          <p:nvPr/>
        </p:nvGrpSpPr>
        <p:grpSpPr bwMode="auto">
          <a:xfrm>
            <a:off x="3248114" y="3038475"/>
            <a:ext cx="5029200" cy="2743200"/>
            <a:chOff x="1440" y="1968"/>
            <a:chExt cx="3168" cy="1728"/>
          </a:xfrm>
        </p:grpSpPr>
        <p:sp>
          <p:nvSpPr>
            <p:cNvPr id="37" name="AutoShape 8"/>
            <p:cNvSpPr>
              <a:spLocks noChangeArrowheads="1"/>
            </p:cNvSpPr>
            <p:nvPr/>
          </p:nvSpPr>
          <p:spPr bwMode="auto">
            <a:xfrm>
              <a:off x="1440" y="2304"/>
              <a:ext cx="3168" cy="336"/>
            </a:xfrm>
            <a:prstGeom prst="flowChartProcess">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a:t>系统把要求的资源试探分配给进程</a:t>
              </a:r>
              <a:r>
                <a:rPr lang="en-US" altLang="zh-CN"/>
                <a:t>Pi</a:t>
              </a:r>
            </a:p>
          </p:txBody>
        </p:sp>
        <p:sp>
          <p:nvSpPr>
            <p:cNvPr id="38" name="AutoShape 9"/>
            <p:cNvSpPr>
              <a:spLocks noChangeArrowheads="1"/>
            </p:cNvSpPr>
            <p:nvPr/>
          </p:nvSpPr>
          <p:spPr bwMode="auto">
            <a:xfrm>
              <a:off x="1440" y="2976"/>
              <a:ext cx="3168" cy="720"/>
            </a:xfrm>
            <a:prstGeom prst="flowChartProcess">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sz="2000"/>
                <a:t>Available[j] = Available[j] – Request</a:t>
              </a:r>
              <a:r>
                <a:rPr lang="en-US" altLang="zh-CN" sz="2000" baseline="-25000"/>
                <a:t>i</a:t>
              </a:r>
              <a:r>
                <a:rPr lang="en-US" altLang="zh-CN" sz="2000"/>
                <a:t>[j];</a:t>
              </a:r>
            </a:p>
            <a:p>
              <a:pPr eaLnBrk="1" hangingPunct="1"/>
              <a:r>
                <a:rPr lang="en-US" altLang="zh-CN" sz="2000"/>
                <a:t>Allocation[i,j] = Allocation[i,j] + Request</a:t>
              </a:r>
              <a:r>
                <a:rPr lang="en-US" altLang="zh-CN" sz="2000" baseline="-25000"/>
                <a:t>i</a:t>
              </a:r>
              <a:r>
                <a:rPr lang="en-US" altLang="zh-CN" sz="2000"/>
                <a:t>[j];</a:t>
              </a:r>
            </a:p>
            <a:p>
              <a:pPr eaLnBrk="1" hangingPunct="1"/>
              <a:r>
                <a:rPr lang="en-US" altLang="zh-CN" sz="2000"/>
                <a:t>Need[i,j]</a:t>
              </a:r>
              <a:r>
                <a:rPr lang="en-US" altLang="zh-CN" sz="2000" baseline="-25000"/>
                <a:t> </a:t>
              </a:r>
              <a:r>
                <a:rPr lang="en-US" altLang="zh-CN" sz="2000"/>
                <a:t>=Need[i,j] - Request</a:t>
              </a:r>
              <a:r>
                <a:rPr lang="en-US" altLang="zh-CN" sz="2000" baseline="-25000"/>
                <a:t>i</a:t>
              </a:r>
              <a:r>
                <a:rPr lang="en-US" altLang="zh-CN"/>
                <a:t>[j];</a:t>
              </a:r>
            </a:p>
          </p:txBody>
        </p:sp>
        <p:sp>
          <p:nvSpPr>
            <p:cNvPr id="39" name="Line 12"/>
            <p:cNvSpPr>
              <a:spLocks noChangeShapeType="1"/>
            </p:cNvSpPr>
            <p:nvPr/>
          </p:nvSpPr>
          <p:spPr bwMode="auto">
            <a:xfrm>
              <a:off x="2880" y="1968"/>
              <a:ext cx="0" cy="33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13"/>
            <p:cNvSpPr>
              <a:spLocks noChangeShapeType="1"/>
            </p:cNvSpPr>
            <p:nvPr/>
          </p:nvSpPr>
          <p:spPr bwMode="auto">
            <a:xfrm>
              <a:off x="2880" y="2640"/>
              <a:ext cx="0" cy="33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Rectangle 19"/>
            <p:cNvSpPr>
              <a:spLocks noChangeArrowheads="1"/>
            </p:cNvSpPr>
            <p:nvPr/>
          </p:nvSpPr>
          <p:spPr bwMode="auto">
            <a:xfrm>
              <a:off x="2832" y="2064"/>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a:solidFill>
                    <a:srgbClr val="FF0000"/>
                  </a:solidFill>
                </a:rPr>
                <a:t>Y</a:t>
              </a:r>
            </a:p>
          </p:txBody>
        </p:sp>
        <p:sp>
          <p:nvSpPr>
            <p:cNvPr id="42" name="Oval 35"/>
            <p:cNvSpPr>
              <a:spLocks noChangeArrowheads="1"/>
            </p:cNvSpPr>
            <p:nvPr/>
          </p:nvSpPr>
          <p:spPr bwMode="auto">
            <a:xfrm>
              <a:off x="3960" y="2016"/>
              <a:ext cx="240" cy="240"/>
            </a:xfrm>
            <a:prstGeom prst="ellipse">
              <a:avLst/>
            </a:prstGeom>
            <a:solidFill>
              <a:srgbClr val="FF6699"/>
            </a:solidFill>
            <a:ln w="12700">
              <a:solidFill>
                <a:schemeClr val="tx1"/>
              </a:solidFill>
              <a:round/>
              <a:headEnd/>
              <a:tailEnd/>
            </a:ln>
            <a:effectLst>
              <a:outerShdw dist="53882" dir="2700000" algn="ctr" rotWithShape="0">
                <a:schemeClr val="tx1"/>
              </a:outerShdw>
            </a:effectLst>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a:solidFill>
                    <a:schemeClr val="tx1"/>
                  </a:solidFill>
                  <a:ea typeface="幼圆" pitchFamily="49" charset="-122"/>
                </a:rPr>
                <a:t>3</a:t>
              </a:r>
            </a:p>
          </p:txBody>
        </p:sp>
      </p:grpSp>
      <p:grpSp>
        <p:nvGrpSpPr>
          <p:cNvPr id="43" name="Group 40"/>
          <p:cNvGrpSpPr>
            <a:grpSpLocks/>
          </p:cNvGrpSpPr>
          <p:nvPr/>
        </p:nvGrpSpPr>
        <p:grpSpPr bwMode="auto">
          <a:xfrm>
            <a:off x="4162514" y="5781675"/>
            <a:ext cx="3276600" cy="914400"/>
            <a:chOff x="2016" y="3696"/>
            <a:chExt cx="2064" cy="576"/>
          </a:xfrm>
        </p:grpSpPr>
        <p:sp>
          <p:nvSpPr>
            <p:cNvPr id="44" name="AutoShape 10"/>
            <p:cNvSpPr>
              <a:spLocks noChangeArrowheads="1"/>
            </p:cNvSpPr>
            <p:nvPr/>
          </p:nvSpPr>
          <p:spPr bwMode="auto">
            <a:xfrm>
              <a:off x="2016" y="3936"/>
              <a:ext cx="1824" cy="336"/>
            </a:xfrm>
            <a:prstGeom prst="flowChartProcess">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a:t>系统执行</a:t>
              </a:r>
              <a:r>
                <a:rPr lang="zh-CN" altLang="en-US">
                  <a:solidFill>
                    <a:srgbClr val="FFC000"/>
                  </a:solidFill>
                </a:rPr>
                <a:t>安全性算法</a:t>
              </a:r>
            </a:p>
          </p:txBody>
        </p:sp>
        <p:sp>
          <p:nvSpPr>
            <p:cNvPr id="45" name="Line 14"/>
            <p:cNvSpPr>
              <a:spLocks noChangeShapeType="1"/>
            </p:cNvSpPr>
            <p:nvPr/>
          </p:nvSpPr>
          <p:spPr bwMode="auto">
            <a:xfrm>
              <a:off x="2880" y="3696"/>
              <a:ext cx="0"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Oval 36"/>
            <p:cNvSpPr>
              <a:spLocks noChangeArrowheads="1"/>
            </p:cNvSpPr>
            <p:nvPr/>
          </p:nvSpPr>
          <p:spPr bwMode="auto">
            <a:xfrm>
              <a:off x="3840" y="3792"/>
              <a:ext cx="240" cy="240"/>
            </a:xfrm>
            <a:prstGeom prst="ellipse">
              <a:avLst/>
            </a:prstGeom>
            <a:solidFill>
              <a:srgbClr val="FF6699"/>
            </a:solidFill>
            <a:ln w="12700">
              <a:solidFill>
                <a:schemeClr val="tx1"/>
              </a:solidFill>
              <a:round/>
              <a:headEnd/>
              <a:tailEnd/>
            </a:ln>
            <a:effectLst>
              <a:outerShdw dist="53882" dir="2700000" algn="ctr" rotWithShape="0">
                <a:schemeClr val="tx1"/>
              </a:outerShdw>
            </a:effectLst>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en-US" altLang="zh-CN">
                  <a:solidFill>
                    <a:schemeClr val="tx1"/>
                  </a:solidFill>
                  <a:ea typeface="幼圆" pitchFamily="49" charset="-122"/>
                </a:rPr>
                <a:t>4</a:t>
              </a:r>
            </a:p>
          </p:txBody>
        </p:sp>
      </p:grpSp>
      <p:grpSp>
        <p:nvGrpSpPr>
          <p:cNvPr id="47" name="Group 51"/>
          <p:cNvGrpSpPr>
            <a:grpSpLocks/>
          </p:cNvGrpSpPr>
          <p:nvPr/>
        </p:nvGrpSpPr>
        <p:grpSpPr bwMode="auto">
          <a:xfrm>
            <a:off x="7058114" y="6086475"/>
            <a:ext cx="2895600" cy="609600"/>
            <a:chOff x="3840" y="3888"/>
            <a:chExt cx="1824" cy="384"/>
          </a:xfrm>
        </p:grpSpPr>
        <p:grpSp>
          <p:nvGrpSpPr>
            <p:cNvPr id="48" name="Group 41"/>
            <p:cNvGrpSpPr>
              <a:grpSpLocks/>
            </p:cNvGrpSpPr>
            <p:nvPr/>
          </p:nvGrpSpPr>
          <p:grpSpPr bwMode="auto">
            <a:xfrm>
              <a:off x="3840" y="3936"/>
              <a:ext cx="1824" cy="336"/>
              <a:chOff x="3840" y="3936"/>
              <a:chExt cx="1824" cy="336"/>
            </a:xfrm>
          </p:grpSpPr>
          <p:sp>
            <p:nvSpPr>
              <p:cNvPr id="50" name="AutoShape 22"/>
              <p:cNvSpPr>
                <a:spLocks noChangeArrowheads="1"/>
              </p:cNvSpPr>
              <p:nvPr/>
            </p:nvSpPr>
            <p:spPr bwMode="auto">
              <a:xfrm>
                <a:off x="4272" y="3936"/>
                <a:ext cx="1392" cy="336"/>
              </a:xfrm>
              <a:prstGeom prst="flowChartProcess">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a:t>分配资源给进程</a:t>
                </a:r>
              </a:p>
            </p:txBody>
          </p:sp>
          <p:sp>
            <p:nvSpPr>
              <p:cNvPr id="51" name="Line 24"/>
              <p:cNvSpPr>
                <a:spLocks noChangeShapeType="1"/>
              </p:cNvSpPr>
              <p:nvPr/>
            </p:nvSpPr>
            <p:spPr bwMode="auto">
              <a:xfrm>
                <a:off x="3840" y="4128"/>
                <a:ext cx="43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9" name="Text Box 46"/>
            <p:cNvSpPr txBox="1">
              <a:spLocks noChangeArrowheads="1"/>
            </p:cNvSpPr>
            <p:nvPr/>
          </p:nvSpPr>
          <p:spPr bwMode="auto">
            <a:xfrm>
              <a:off x="4032" y="388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spcBef>
                  <a:spcPct val="50000"/>
                </a:spcBef>
              </a:pPr>
              <a:r>
                <a:rPr lang="en-US" altLang="zh-CN">
                  <a:solidFill>
                    <a:srgbClr val="FF0000"/>
                  </a:solidFill>
                  <a:ea typeface="幼圆" pitchFamily="49" charset="-122"/>
                </a:rPr>
                <a:t>Y</a:t>
              </a:r>
            </a:p>
          </p:txBody>
        </p:sp>
      </p:grpSp>
      <p:grpSp>
        <p:nvGrpSpPr>
          <p:cNvPr id="52" name="Group 50"/>
          <p:cNvGrpSpPr>
            <a:grpSpLocks/>
          </p:cNvGrpSpPr>
          <p:nvPr/>
        </p:nvGrpSpPr>
        <p:grpSpPr bwMode="auto">
          <a:xfrm>
            <a:off x="1495514" y="3038475"/>
            <a:ext cx="2667000" cy="3657600"/>
            <a:chOff x="336" y="1968"/>
            <a:chExt cx="1680" cy="2304"/>
          </a:xfrm>
        </p:grpSpPr>
        <p:grpSp>
          <p:nvGrpSpPr>
            <p:cNvPr id="53" name="Group 42"/>
            <p:cNvGrpSpPr>
              <a:grpSpLocks/>
            </p:cNvGrpSpPr>
            <p:nvPr/>
          </p:nvGrpSpPr>
          <p:grpSpPr bwMode="auto">
            <a:xfrm>
              <a:off x="336" y="1968"/>
              <a:ext cx="1680" cy="2304"/>
              <a:chOff x="336" y="1968"/>
              <a:chExt cx="1680" cy="2304"/>
            </a:xfrm>
          </p:grpSpPr>
          <p:sp>
            <p:nvSpPr>
              <p:cNvPr id="55" name="AutoShape 23"/>
              <p:cNvSpPr>
                <a:spLocks noChangeArrowheads="1"/>
              </p:cNvSpPr>
              <p:nvPr/>
            </p:nvSpPr>
            <p:spPr bwMode="auto">
              <a:xfrm>
                <a:off x="336" y="3936"/>
                <a:ext cx="1296" cy="336"/>
              </a:xfrm>
              <a:prstGeom prst="flowChartProcess">
                <a:avLst/>
              </a:prstGeom>
              <a:solidFill>
                <a:srgbClr val="3333FF"/>
              </a:solidFill>
              <a:ln w="12700">
                <a:solidFill>
                  <a:schemeClr val="tx1"/>
                </a:solidFill>
                <a:miter lim="800000"/>
                <a:headEnd type="none" w="sm" len="sm"/>
                <a:tailEnd type="none" w="sm" len="sm"/>
              </a:ln>
            </p:spPr>
            <p:txBody>
              <a:bodyPr wrap="none"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lang="zh-CN" altLang="en-US"/>
                  <a:t>试探分配作废</a:t>
                </a:r>
              </a:p>
            </p:txBody>
          </p:sp>
          <p:sp>
            <p:nvSpPr>
              <p:cNvPr id="56" name="Line 25"/>
              <p:cNvSpPr>
                <a:spLocks noChangeShapeType="1"/>
              </p:cNvSpPr>
              <p:nvPr/>
            </p:nvSpPr>
            <p:spPr bwMode="auto">
              <a:xfrm flipH="1">
                <a:off x="1632" y="4080"/>
                <a:ext cx="384"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6"/>
              <p:cNvSpPr>
                <a:spLocks noChangeShapeType="1"/>
              </p:cNvSpPr>
              <p:nvPr/>
            </p:nvSpPr>
            <p:spPr bwMode="auto">
              <a:xfrm flipH="1">
                <a:off x="1008" y="1968"/>
                <a:ext cx="0" cy="1968"/>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4" name="Text Box 47"/>
            <p:cNvSpPr txBox="1">
              <a:spLocks noChangeArrowheads="1"/>
            </p:cNvSpPr>
            <p:nvPr/>
          </p:nvSpPr>
          <p:spPr bwMode="auto">
            <a:xfrm>
              <a:off x="1680" y="3792"/>
              <a:ext cx="240" cy="288"/>
            </a:xfrm>
            <a:prstGeom prst="rect">
              <a:avLst/>
            </a:prstGeom>
            <a:noFill/>
            <a:ln w="12700">
              <a:noFill/>
              <a:miter lim="800000"/>
              <a:headEnd/>
              <a:tailEnd/>
            </a:ln>
            <a:effectLst>
              <a:outerShdw dist="53882" dir="2700000" algn="ctr" rotWithShape="0">
                <a:schemeClr val="tx1"/>
              </a:outerShdw>
            </a:effec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spcBef>
                  <a:spcPct val="50000"/>
                </a:spcBef>
              </a:pPr>
              <a:r>
                <a:rPr lang="en-US" altLang="zh-CN">
                  <a:solidFill>
                    <a:srgbClr val="FF0000"/>
                  </a:solidFill>
                  <a:ea typeface="幼圆" pitchFamily="49" charset="-122"/>
                </a:rPr>
                <a:t>N</a:t>
              </a:r>
            </a:p>
          </p:txBody>
        </p:sp>
      </p:grpSp>
    </p:spTree>
    <p:extLst>
      <p:ext uri="{BB962C8B-B14F-4D97-AF65-F5344CB8AC3E}">
        <p14:creationId xmlns:p14="http://schemas.microsoft.com/office/powerpoint/2010/main" val="3242325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strips(downLeft)">
                                      <p:cBhvr>
                                        <p:cTn id="7" dur="500"/>
                                        <p:tgtEl>
                                          <p:spTgt spid="34"/>
                                        </p:tgtEl>
                                      </p:cBhvr>
                                    </p:animEffec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out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1+#ppt_w/2"/>
                                          </p:val>
                                        </p:tav>
                                        <p:tav tm="100000">
                                          <p:val>
                                            <p:strVal val="#ppt_x"/>
                                          </p:val>
                                        </p:tav>
                                      </p:tavLst>
                                    </p:anim>
                                    <p:anim calcmode="lin" valueType="num">
                                      <p:cBhvr additive="base">
                                        <p:cTn id="1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diamond(in)">
                                      <p:cBhvr>
                                        <p:cTn id="23" dur="10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blinds(horizontal)">
                                      <p:cBhvr>
                                        <p:cTn id="34" dur="5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box(in)">
                                      <p:cBhvr>
                                        <p:cTn id="39" dur="500"/>
                                        <p:tgtEl>
                                          <p:spTgt spid="43"/>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nodeType="clickEffect">
                                  <p:stCondLst>
                                    <p:cond delay="0"/>
                                  </p:stCondLst>
                                  <p:childTnLst>
                                    <p:set>
                                      <p:cBhvr>
                                        <p:cTn id="43" dur="1" fill="hold">
                                          <p:stCondLst>
                                            <p:cond delay="0"/>
                                          </p:stCondLst>
                                        </p:cTn>
                                        <p:tgtEl>
                                          <p:spTgt spid="47"/>
                                        </p:tgtEl>
                                        <p:attrNameLst>
                                          <p:attrName>style.visibility</p:attrName>
                                        </p:attrNameLst>
                                      </p:cBhvr>
                                      <p:to>
                                        <p:strVal val="visible"/>
                                      </p:to>
                                    </p:set>
                                    <p:anim calcmode="lin" valueType="num">
                                      <p:cBhvr additive="base">
                                        <p:cTn id="44" dur="500" fill="hold"/>
                                        <p:tgtEl>
                                          <p:spTgt spid="47"/>
                                        </p:tgtEl>
                                        <p:attrNameLst>
                                          <p:attrName>ppt_x</p:attrName>
                                        </p:attrNameLst>
                                      </p:cBhvr>
                                      <p:tavLst>
                                        <p:tav tm="0">
                                          <p:val>
                                            <p:strVal val="0-#ppt_w/2"/>
                                          </p:val>
                                        </p:tav>
                                        <p:tav tm="100000">
                                          <p:val>
                                            <p:strVal val="#ppt_x"/>
                                          </p:val>
                                        </p:tav>
                                      </p:tavLst>
                                    </p:anim>
                                    <p:anim calcmode="lin" valueType="num">
                                      <p:cBhvr additive="base">
                                        <p:cTn id="45"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52"/>
                                        </p:tgtEl>
                                        <p:attrNameLst>
                                          <p:attrName>style.visibility</p:attrName>
                                        </p:attrNameLst>
                                      </p:cBhvr>
                                      <p:to>
                                        <p:strVal val="visible"/>
                                      </p:to>
                                    </p:set>
                                    <p:anim calcmode="lin" valueType="num">
                                      <p:cBhvr additive="base">
                                        <p:cTn id="50" dur="500" fill="hold"/>
                                        <p:tgtEl>
                                          <p:spTgt spid="52"/>
                                        </p:tgtEl>
                                        <p:attrNameLst>
                                          <p:attrName>ppt_x</p:attrName>
                                        </p:attrNameLst>
                                      </p:cBhvr>
                                      <p:tavLst>
                                        <p:tav tm="0">
                                          <p:val>
                                            <p:strVal val="#ppt_x"/>
                                          </p:val>
                                        </p:tav>
                                        <p:tav tm="100000">
                                          <p:val>
                                            <p:strVal val="#ppt_x"/>
                                          </p:val>
                                        </p:tav>
                                      </p:tavLst>
                                    </p:anim>
                                    <p:anim calcmode="lin" valueType="num">
                                      <p:cBhvr additive="base">
                                        <p:cTn id="51"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978290" y="11200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5</a:t>
              </a:r>
              <a:r>
                <a:rPr lang="zh-CN" altLang="en-US" sz="2400" b="1" dirty="0">
                  <a:solidFill>
                    <a:srgbClr val="4C7E51"/>
                  </a:solidFill>
                  <a:latin typeface="微软雅黑" panose="020B0503020204020204" pitchFamily="34" charset="-122"/>
                  <a:ea typeface="微软雅黑" panose="020B0503020204020204" pitchFamily="34" charset="-122"/>
                </a:rPr>
                <a:t>）安全性算法</a:t>
              </a:r>
            </a:p>
          </p:txBody>
        </p:sp>
      </p:grpSp>
      <p:sp>
        <p:nvSpPr>
          <p:cNvPr id="108" name="文本框 25"/>
          <p:cNvSpPr txBox="1">
            <a:spLocks noChangeArrowheads="1"/>
          </p:cNvSpPr>
          <p:nvPr/>
        </p:nvSpPr>
        <p:spPr bwMode="auto">
          <a:xfrm>
            <a:off x="902970" y="212725"/>
            <a:ext cx="3847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利用银行家算法避免死锁</a:t>
            </a:r>
          </a:p>
        </p:txBody>
      </p:sp>
      <p:sp>
        <p:nvSpPr>
          <p:cNvPr id="10" name="文本框 54"/>
          <p:cNvSpPr txBox="1">
            <a:spLocks noChangeArrowheads="1"/>
          </p:cNvSpPr>
          <p:nvPr/>
        </p:nvSpPr>
        <p:spPr bwMode="auto">
          <a:xfrm>
            <a:off x="1409308" y="1936998"/>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数据结构定义</a:t>
            </a:r>
          </a:p>
        </p:txBody>
      </p:sp>
      <p:sp>
        <p:nvSpPr>
          <p:cNvPr id="11" name="Freeform 93"/>
          <p:cNvSpPr>
            <a:spLocks noEditPoints="1"/>
          </p:cNvSpPr>
          <p:nvPr/>
        </p:nvSpPr>
        <p:spPr bwMode="auto">
          <a:xfrm>
            <a:off x="1154673" y="1982718"/>
            <a:ext cx="193675" cy="260350"/>
          </a:xfrm>
          <a:custGeom>
            <a:avLst/>
            <a:gdLst>
              <a:gd name="T0" fmla="*/ 188 w 216"/>
              <a:gd name="T1" fmla="*/ 126 h 288"/>
              <a:gd name="T2" fmla="*/ 188 w 216"/>
              <a:gd name="T3" fmla="*/ 79 h 288"/>
              <a:gd name="T4" fmla="*/ 109 w 216"/>
              <a:gd name="T5" fmla="*/ 0 h 288"/>
              <a:gd name="T6" fmla="*/ 108 w 216"/>
              <a:gd name="T7" fmla="*/ 0 h 288"/>
              <a:gd name="T8" fmla="*/ 106 w 216"/>
              <a:gd name="T9" fmla="*/ 0 h 288"/>
              <a:gd name="T10" fmla="*/ 28 w 216"/>
              <a:gd name="T11" fmla="*/ 79 h 288"/>
              <a:gd name="T12" fmla="*/ 28 w 216"/>
              <a:gd name="T13" fmla="*/ 126 h 288"/>
              <a:gd name="T14" fmla="*/ 0 w 216"/>
              <a:gd name="T15" fmla="*/ 126 h 288"/>
              <a:gd name="T16" fmla="*/ 0 w 216"/>
              <a:gd name="T17" fmla="*/ 288 h 288"/>
              <a:gd name="T18" fmla="*/ 216 w 216"/>
              <a:gd name="T19" fmla="*/ 288 h 288"/>
              <a:gd name="T20" fmla="*/ 216 w 216"/>
              <a:gd name="T21" fmla="*/ 126 h 288"/>
              <a:gd name="T22" fmla="*/ 188 w 216"/>
              <a:gd name="T23" fmla="*/ 126 h 288"/>
              <a:gd name="T24" fmla="*/ 133 w 216"/>
              <a:gd name="T25" fmla="*/ 259 h 288"/>
              <a:gd name="T26" fmla="*/ 84 w 216"/>
              <a:gd name="T27" fmla="*/ 259 h 288"/>
              <a:gd name="T28" fmla="*/ 96 w 216"/>
              <a:gd name="T29" fmla="*/ 206 h 288"/>
              <a:gd name="T30" fmla="*/ 84 w 216"/>
              <a:gd name="T31" fmla="*/ 185 h 288"/>
              <a:gd name="T32" fmla="*/ 108 w 216"/>
              <a:gd name="T33" fmla="*/ 161 h 288"/>
              <a:gd name="T34" fmla="*/ 133 w 216"/>
              <a:gd name="T35" fmla="*/ 185 h 288"/>
              <a:gd name="T36" fmla="*/ 120 w 216"/>
              <a:gd name="T37" fmla="*/ 206 h 288"/>
              <a:gd name="T38" fmla="*/ 133 w 216"/>
              <a:gd name="T39" fmla="*/ 259 h 288"/>
              <a:gd name="T40" fmla="*/ 148 w 216"/>
              <a:gd name="T41" fmla="*/ 126 h 288"/>
              <a:gd name="T42" fmla="*/ 67 w 216"/>
              <a:gd name="T43" fmla="*/ 126 h 288"/>
              <a:gd name="T44" fmla="*/ 67 w 216"/>
              <a:gd name="T45" fmla="*/ 79 h 288"/>
              <a:gd name="T46" fmla="*/ 106 w 216"/>
              <a:gd name="T47" fmla="*/ 40 h 288"/>
              <a:gd name="T48" fmla="*/ 108 w 216"/>
              <a:gd name="T49" fmla="*/ 40 h 288"/>
              <a:gd name="T50" fmla="*/ 109 w 216"/>
              <a:gd name="T51" fmla="*/ 40 h 288"/>
              <a:gd name="T52" fmla="*/ 148 w 216"/>
              <a:gd name="T53" fmla="*/ 79 h 288"/>
              <a:gd name="T54" fmla="*/ 148 w 216"/>
              <a:gd name="T55" fmla="*/ 12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6" h="288">
                <a:moveTo>
                  <a:pt x="188" y="126"/>
                </a:moveTo>
                <a:cubicBezTo>
                  <a:pt x="188" y="79"/>
                  <a:pt x="188" y="79"/>
                  <a:pt x="188" y="79"/>
                </a:cubicBezTo>
                <a:cubicBezTo>
                  <a:pt x="188" y="36"/>
                  <a:pt x="152" y="0"/>
                  <a:pt x="109" y="0"/>
                </a:cubicBezTo>
                <a:cubicBezTo>
                  <a:pt x="109" y="0"/>
                  <a:pt x="108" y="0"/>
                  <a:pt x="108" y="0"/>
                </a:cubicBezTo>
                <a:cubicBezTo>
                  <a:pt x="107" y="0"/>
                  <a:pt x="107" y="0"/>
                  <a:pt x="106" y="0"/>
                </a:cubicBezTo>
                <a:cubicBezTo>
                  <a:pt x="63" y="0"/>
                  <a:pt x="28" y="36"/>
                  <a:pt x="28" y="79"/>
                </a:cubicBezTo>
                <a:cubicBezTo>
                  <a:pt x="28" y="126"/>
                  <a:pt x="28" y="126"/>
                  <a:pt x="28" y="126"/>
                </a:cubicBezTo>
                <a:cubicBezTo>
                  <a:pt x="0" y="126"/>
                  <a:pt x="0" y="126"/>
                  <a:pt x="0" y="126"/>
                </a:cubicBezTo>
                <a:cubicBezTo>
                  <a:pt x="0" y="288"/>
                  <a:pt x="0" y="288"/>
                  <a:pt x="0" y="288"/>
                </a:cubicBezTo>
                <a:cubicBezTo>
                  <a:pt x="216" y="288"/>
                  <a:pt x="216" y="288"/>
                  <a:pt x="216" y="288"/>
                </a:cubicBezTo>
                <a:cubicBezTo>
                  <a:pt x="216" y="126"/>
                  <a:pt x="216" y="126"/>
                  <a:pt x="216" y="126"/>
                </a:cubicBezTo>
                <a:lnTo>
                  <a:pt x="188" y="126"/>
                </a:lnTo>
                <a:close/>
                <a:moveTo>
                  <a:pt x="133" y="259"/>
                </a:moveTo>
                <a:cubicBezTo>
                  <a:pt x="84" y="259"/>
                  <a:pt x="84" y="259"/>
                  <a:pt x="84" y="259"/>
                </a:cubicBezTo>
                <a:cubicBezTo>
                  <a:pt x="96" y="206"/>
                  <a:pt x="96" y="206"/>
                  <a:pt x="96" y="206"/>
                </a:cubicBezTo>
                <a:cubicBezTo>
                  <a:pt x="88" y="202"/>
                  <a:pt x="84" y="194"/>
                  <a:pt x="84" y="185"/>
                </a:cubicBezTo>
                <a:cubicBezTo>
                  <a:pt x="84" y="172"/>
                  <a:pt x="95" y="161"/>
                  <a:pt x="108" y="161"/>
                </a:cubicBezTo>
                <a:cubicBezTo>
                  <a:pt x="122" y="161"/>
                  <a:pt x="133" y="172"/>
                  <a:pt x="133" y="185"/>
                </a:cubicBezTo>
                <a:cubicBezTo>
                  <a:pt x="133" y="194"/>
                  <a:pt x="128" y="202"/>
                  <a:pt x="120" y="206"/>
                </a:cubicBezTo>
                <a:lnTo>
                  <a:pt x="133" y="259"/>
                </a:lnTo>
                <a:close/>
                <a:moveTo>
                  <a:pt x="148" y="126"/>
                </a:moveTo>
                <a:cubicBezTo>
                  <a:pt x="67" y="126"/>
                  <a:pt x="67" y="126"/>
                  <a:pt x="67" y="126"/>
                </a:cubicBezTo>
                <a:cubicBezTo>
                  <a:pt x="67" y="79"/>
                  <a:pt x="67" y="79"/>
                  <a:pt x="67" y="79"/>
                </a:cubicBezTo>
                <a:cubicBezTo>
                  <a:pt x="67" y="57"/>
                  <a:pt x="85" y="40"/>
                  <a:pt x="106" y="40"/>
                </a:cubicBezTo>
                <a:cubicBezTo>
                  <a:pt x="107" y="40"/>
                  <a:pt x="108" y="40"/>
                  <a:pt x="108" y="40"/>
                </a:cubicBezTo>
                <a:cubicBezTo>
                  <a:pt x="108" y="40"/>
                  <a:pt x="109" y="40"/>
                  <a:pt x="109" y="40"/>
                </a:cubicBezTo>
                <a:cubicBezTo>
                  <a:pt x="131" y="40"/>
                  <a:pt x="148" y="57"/>
                  <a:pt x="148" y="79"/>
                </a:cubicBezTo>
                <a:lnTo>
                  <a:pt x="148" y="126"/>
                </a:lnTo>
                <a:close/>
              </a:path>
            </a:pathLst>
          </a:custGeom>
          <a:noFill/>
          <a:ln w="9525">
            <a:solidFill>
              <a:srgbClr val="3D7351"/>
            </a:solidFill>
            <a:round/>
            <a:headEnd/>
            <a:tailEnd/>
          </a:ln>
        </p:spPr>
        <p:txBody>
          <a:bodyPr vert="horz" wrap="square" lIns="91440" tIns="45720" rIns="91440" bIns="45720" numCol="1" anchor="t" anchorCtr="0" compatLnSpc="1">
            <a:prstTxWarp prst="textNoShape">
              <a:avLst/>
            </a:prstTxWarp>
          </a:bodyPr>
          <a:lstStyle/>
          <a:p>
            <a:endParaRPr lang="zh-CN" altLang="en-US" b="1">
              <a:solidFill>
                <a:srgbClr val="3D7351"/>
              </a:solidFill>
            </a:endParaRPr>
          </a:p>
        </p:txBody>
      </p:sp>
      <p:sp>
        <p:nvSpPr>
          <p:cNvPr id="12" name="文本框 19"/>
          <p:cNvSpPr txBox="1">
            <a:spLocks noChangeArrowheads="1"/>
          </p:cNvSpPr>
          <p:nvPr/>
        </p:nvSpPr>
        <p:spPr bwMode="auto">
          <a:xfrm>
            <a:off x="1032900" y="2396667"/>
            <a:ext cx="105342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en-US" altLang="zh-CN" sz="2400" dirty="0" err="1">
                <a:latin typeface="Times New Roman" pitchFamily="18" charset="0"/>
              </a:rPr>
              <a:t>int</a:t>
            </a:r>
            <a:r>
              <a:rPr kumimoji="1" lang="en-US" altLang="zh-CN" sz="2400" dirty="0">
                <a:latin typeface="Times New Roman" pitchFamily="18" charset="0"/>
              </a:rPr>
              <a:t> Work[m];</a:t>
            </a:r>
          </a:p>
          <a:p>
            <a:pPr marL="0" lvl="2" indent="0">
              <a:buBlip>
                <a:blip r:embed="rId3"/>
              </a:buBlip>
            </a:pPr>
            <a:r>
              <a:rPr kumimoji="1" lang="en-US" altLang="zh-CN" sz="2400" dirty="0" err="1">
                <a:latin typeface="Times New Roman" pitchFamily="18" charset="0"/>
              </a:rPr>
              <a:t>int</a:t>
            </a:r>
            <a:r>
              <a:rPr kumimoji="1" lang="en-US" altLang="zh-CN" sz="2400" dirty="0">
                <a:latin typeface="Times New Roman" pitchFamily="18" charset="0"/>
              </a:rPr>
              <a:t> Finish[n];</a:t>
            </a:r>
          </a:p>
        </p:txBody>
      </p:sp>
      <p:sp>
        <p:nvSpPr>
          <p:cNvPr id="14" name="文本框 54"/>
          <p:cNvSpPr txBox="1">
            <a:spLocks noChangeArrowheads="1"/>
          </p:cNvSpPr>
          <p:nvPr/>
        </p:nvSpPr>
        <p:spPr bwMode="auto">
          <a:xfrm>
            <a:off x="1415658" y="3308598"/>
            <a:ext cx="29429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安全性检查的步骤</a:t>
            </a:r>
          </a:p>
        </p:txBody>
      </p:sp>
      <p:sp>
        <p:nvSpPr>
          <p:cNvPr id="15" name="Freeform 93"/>
          <p:cNvSpPr>
            <a:spLocks noEditPoints="1"/>
          </p:cNvSpPr>
          <p:nvPr/>
        </p:nvSpPr>
        <p:spPr bwMode="auto">
          <a:xfrm>
            <a:off x="1161023" y="3354318"/>
            <a:ext cx="193675" cy="260350"/>
          </a:xfrm>
          <a:custGeom>
            <a:avLst/>
            <a:gdLst>
              <a:gd name="T0" fmla="*/ 188 w 216"/>
              <a:gd name="T1" fmla="*/ 126 h 288"/>
              <a:gd name="T2" fmla="*/ 188 w 216"/>
              <a:gd name="T3" fmla="*/ 79 h 288"/>
              <a:gd name="T4" fmla="*/ 109 w 216"/>
              <a:gd name="T5" fmla="*/ 0 h 288"/>
              <a:gd name="T6" fmla="*/ 108 w 216"/>
              <a:gd name="T7" fmla="*/ 0 h 288"/>
              <a:gd name="T8" fmla="*/ 106 w 216"/>
              <a:gd name="T9" fmla="*/ 0 h 288"/>
              <a:gd name="T10" fmla="*/ 28 w 216"/>
              <a:gd name="T11" fmla="*/ 79 h 288"/>
              <a:gd name="T12" fmla="*/ 28 w 216"/>
              <a:gd name="T13" fmla="*/ 126 h 288"/>
              <a:gd name="T14" fmla="*/ 0 w 216"/>
              <a:gd name="T15" fmla="*/ 126 h 288"/>
              <a:gd name="T16" fmla="*/ 0 w 216"/>
              <a:gd name="T17" fmla="*/ 288 h 288"/>
              <a:gd name="T18" fmla="*/ 216 w 216"/>
              <a:gd name="T19" fmla="*/ 288 h 288"/>
              <a:gd name="T20" fmla="*/ 216 w 216"/>
              <a:gd name="T21" fmla="*/ 126 h 288"/>
              <a:gd name="T22" fmla="*/ 188 w 216"/>
              <a:gd name="T23" fmla="*/ 126 h 288"/>
              <a:gd name="T24" fmla="*/ 133 w 216"/>
              <a:gd name="T25" fmla="*/ 259 h 288"/>
              <a:gd name="T26" fmla="*/ 84 w 216"/>
              <a:gd name="T27" fmla="*/ 259 h 288"/>
              <a:gd name="T28" fmla="*/ 96 w 216"/>
              <a:gd name="T29" fmla="*/ 206 h 288"/>
              <a:gd name="T30" fmla="*/ 84 w 216"/>
              <a:gd name="T31" fmla="*/ 185 h 288"/>
              <a:gd name="T32" fmla="*/ 108 w 216"/>
              <a:gd name="T33" fmla="*/ 161 h 288"/>
              <a:gd name="T34" fmla="*/ 133 w 216"/>
              <a:gd name="T35" fmla="*/ 185 h 288"/>
              <a:gd name="T36" fmla="*/ 120 w 216"/>
              <a:gd name="T37" fmla="*/ 206 h 288"/>
              <a:gd name="T38" fmla="*/ 133 w 216"/>
              <a:gd name="T39" fmla="*/ 259 h 288"/>
              <a:gd name="T40" fmla="*/ 148 w 216"/>
              <a:gd name="T41" fmla="*/ 126 h 288"/>
              <a:gd name="T42" fmla="*/ 67 w 216"/>
              <a:gd name="T43" fmla="*/ 126 h 288"/>
              <a:gd name="T44" fmla="*/ 67 w 216"/>
              <a:gd name="T45" fmla="*/ 79 h 288"/>
              <a:gd name="T46" fmla="*/ 106 w 216"/>
              <a:gd name="T47" fmla="*/ 40 h 288"/>
              <a:gd name="T48" fmla="*/ 108 w 216"/>
              <a:gd name="T49" fmla="*/ 40 h 288"/>
              <a:gd name="T50" fmla="*/ 109 w 216"/>
              <a:gd name="T51" fmla="*/ 40 h 288"/>
              <a:gd name="T52" fmla="*/ 148 w 216"/>
              <a:gd name="T53" fmla="*/ 79 h 288"/>
              <a:gd name="T54" fmla="*/ 148 w 216"/>
              <a:gd name="T55" fmla="*/ 12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6" h="288">
                <a:moveTo>
                  <a:pt x="188" y="126"/>
                </a:moveTo>
                <a:cubicBezTo>
                  <a:pt x="188" y="79"/>
                  <a:pt x="188" y="79"/>
                  <a:pt x="188" y="79"/>
                </a:cubicBezTo>
                <a:cubicBezTo>
                  <a:pt x="188" y="36"/>
                  <a:pt x="152" y="0"/>
                  <a:pt x="109" y="0"/>
                </a:cubicBezTo>
                <a:cubicBezTo>
                  <a:pt x="109" y="0"/>
                  <a:pt x="108" y="0"/>
                  <a:pt x="108" y="0"/>
                </a:cubicBezTo>
                <a:cubicBezTo>
                  <a:pt x="107" y="0"/>
                  <a:pt x="107" y="0"/>
                  <a:pt x="106" y="0"/>
                </a:cubicBezTo>
                <a:cubicBezTo>
                  <a:pt x="63" y="0"/>
                  <a:pt x="28" y="36"/>
                  <a:pt x="28" y="79"/>
                </a:cubicBezTo>
                <a:cubicBezTo>
                  <a:pt x="28" y="126"/>
                  <a:pt x="28" y="126"/>
                  <a:pt x="28" y="126"/>
                </a:cubicBezTo>
                <a:cubicBezTo>
                  <a:pt x="0" y="126"/>
                  <a:pt x="0" y="126"/>
                  <a:pt x="0" y="126"/>
                </a:cubicBezTo>
                <a:cubicBezTo>
                  <a:pt x="0" y="288"/>
                  <a:pt x="0" y="288"/>
                  <a:pt x="0" y="288"/>
                </a:cubicBezTo>
                <a:cubicBezTo>
                  <a:pt x="216" y="288"/>
                  <a:pt x="216" y="288"/>
                  <a:pt x="216" y="288"/>
                </a:cubicBezTo>
                <a:cubicBezTo>
                  <a:pt x="216" y="126"/>
                  <a:pt x="216" y="126"/>
                  <a:pt x="216" y="126"/>
                </a:cubicBezTo>
                <a:lnTo>
                  <a:pt x="188" y="126"/>
                </a:lnTo>
                <a:close/>
                <a:moveTo>
                  <a:pt x="133" y="259"/>
                </a:moveTo>
                <a:cubicBezTo>
                  <a:pt x="84" y="259"/>
                  <a:pt x="84" y="259"/>
                  <a:pt x="84" y="259"/>
                </a:cubicBezTo>
                <a:cubicBezTo>
                  <a:pt x="96" y="206"/>
                  <a:pt x="96" y="206"/>
                  <a:pt x="96" y="206"/>
                </a:cubicBezTo>
                <a:cubicBezTo>
                  <a:pt x="88" y="202"/>
                  <a:pt x="84" y="194"/>
                  <a:pt x="84" y="185"/>
                </a:cubicBezTo>
                <a:cubicBezTo>
                  <a:pt x="84" y="172"/>
                  <a:pt x="95" y="161"/>
                  <a:pt x="108" y="161"/>
                </a:cubicBezTo>
                <a:cubicBezTo>
                  <a:pt x="122" y="161"/>
                  <a:pt x="133" y="172"/>
                  <a:pt x="133" y="185"/>
                </a:cubicBezTo>
                <a:cubicBezTo>
                  <a:pt x="133" y="194"/>
                  <a:pt x="128" y="202"/>
                  <a:pt x="120" y="206"/>
                </a:cubicBezTo>
                <a:lnTo>
                  <a:pt x="133" y="259"/>
                </a:lnTo>
                <a:close/>
                <a:moveTo>
                  <a:pt x="148" y="126"/>
                </a:moveTo>
                <a:cubicBezTo>
                  <a:pt x="67" y="126"/>
                  <a:pt x="67" y="126"/>
                  <a:pt x="67" y="126"/>
                </a:cubicBezTo>
                <a:cubicBezTo>
                  <a:pt x="67" y="79"/>
                  <a:pt x="67" y="79"/>
                  <a:pt x="67" y="79"/>
                </a:cubicBezTo>
                <a:cubicBezTo>
                  <a:pt x="67" y="57"/>
                  <a:pt x="85" y="40"/>
                  <a:pt x="106" y="40"/>
                </a:cubicBezTo>
                <a:cubicBezTo>
                  <a:pt x="107" y="40"/>
                  <a:pt x="108" y="40"/>
                  <a:pt x="108" y="40"/>
                </a:cubicBezTo>
                <a:cubicBezTo>
                  <a:pt x="108" y="40"/>
                  <a:pt x="109" y="40"/>
                  <a:pt x="109" y="40"/>
                </a:cubicBezTo>
                <a:cubicBezTo>
                  <a:pt x="131" y="40"/>
                  <a:pt x="148" y="57"/>
                  <a:pt x="148" y="79"/>
                </a:cubicBezTo>
                <a:lnTo>
                  <a:pt x="148" y="126"/>
                </a:lnTo>
                <a:close/>
              </a:path>
            </a:pathLst>
          </a:custGeom>
          <a:noFill/>
          <a:ln w="9525">
            <a:solidFill>
              <a:srgbClr val="3D7351"/>
            </a:solidFill>
            <a:round/>
            <a:headEnd/>
            <a:tailEnd/>
          </a:ln>
        </p:spPr>
        <p:txBody>
          <a:bodyPr vert="horz" wrap="square" lIns="91440" tIns="45720" rIns="91440" bIns="45720" numCol="1" anchor="t" anchorCtr="0" compatLnSpc="1">
            <a:prstTxWarp prst="textNoShape">
              <a:avLst/>
            </a:prstTxWarp>
          </a:bodyPr>
          <a:lstStyle/>
          <a:p>
            <a:endParaRPr lang="zh-CN" altLang="en-US" b="1">
              <a:solidFill>
                <a:srgbClr val="3D7351"/>
              </a:solidFill>
            </a:endParaRPr>
          </a:p>
        </p:txBody>
      </p:sp>
      <p:sp>
        <p:nvSpPr>
          <p:cNvPr id="16" name="文本框 19"/>
          <p:cNvSpPr txBox="1">
            <a:spLocks noChangeArrowheads="1"/>
          </p:cNvSpPr>
          <p:nvPr/>
        </p:nvSpPr>
        <p:spPr bwMode="auto">
          <a:xfrm>
            <a:off x="1039250" y="3768267"/>
            <a:ext cx="10534260" cy="27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457200" lvl="2" indent="-457200">
              <a:buAutoNum type="arabicParenBoth"/>
            </a:pPr>
            <a:r>
              <a:rPr kumimoji="1" lang="en-US" altLang="zh-CN" sz="2400" dirty="0">
                <a:latin typeface="Times New Roman" pitchFamily="18" charset="0"/>
              </a:rPr>
              <a:t>Work=Available;   Finish[</a:t>
            </a:r>
            <a:r>
              <a:rPr kumimoji="1" lang="en-US" altLang="zh-CN" sz="2400" dirty="0" err="1">
                <a:latin typeface="Times New Roman" pitchFamily="18" charset="0"/>
              </a:rPr>
              <a:t>i</a:t>
            </a:r>
            <a:r>
              <a:rPr kumimoji="1" lang="en-US" altLang="zh-CN" sz="2400" dirty="0">
                <a:latin typeface="Times New Roman" pitchFamily="18" charset="0"/>
              </a:rPr>
              <a:t>]=false;</a:t>
            </a:r>
          </a:p>
          <a:p>
            <a:pPr marL="457200" lvl="2" indent="-457200">
              <a:buAutoNum type="arabicParenBoth"/>
            </a:pPr>
            <a:r>
              <a:rPr kumimoji="1" lang="zh-CN" altLang="en-US" sz="2400" dirty="0">
                <a:latin typeface="Times New Roman" pitchFamily="18" charset="0"/>
              </a:rPr>
              <a:t>寻找满足条件的</a:t>
            </a:r>
            <a:r>
              <a:rPr kumimoji="1" lang="en-US" altLang="zh-CN" sz="2400" dirty="0" err="1">
                <a:latin typeface="Times New Roman" pitchFamily="18" charset="0"/>
              </a:rPr>
              <a:t>i</a:t>
            </a:r>
            <a:r>
              <a:rPr kumimoji="1" lang="zh-CN" altLang="en-US" sz="2400" dirty="0">
                <a:latin typeface="Times New Roman" pitchFamily="18" charset="0"/>
              </a:rPr>
              <a:t>：</a:t>
            </a:r>
            <a:endParaRPr kumimoji="1" lang="en-US" altLang="zh-CN" sz="2400" dirty="0">
              <a:latin typeface="Times New Roman" pitchFamily="18" charset="0"/>
            </a:endParaRPr>
          </a:p>
          <a:p>
            <a:pPr marL="0" lvl="2" indent="0"/>
            <a:r>
              <a:rPr kumimoji="1" lang="en-US" altLang="zh-CN" sz="2400" dirty="0">
                <a:latin typeface="Times New Roman" pitchFamily="18" charset="0"/>
              </a:rPr>
              <a:t>       </a:t>
            </a:r>
            <a:r>
              <a:rPr kumimoji="1" lang="zh-CN" altLang="en-US" sz="2400" dirty="0">
                <a:latin typeface="宋体" pitchFamily="2" charset="-122"/>
              </a:rPr>
              <a:t>①</a:t>
            </a:r>
            <a:r>
              <a:rPr kumimoji="1" lang="zh-CN" altLang="en-US" sz="2400" dirty="0">
                <a:latin typeface="Times New Roman" pitchFamily="18" charset="0"/>
              </a:rPr>
              <a:t> </a:t>
            </a:r>
            <a:r>
              <a:rPr kumimoji="1" lang="en-US" altLang="zh-CN" sz="2400" dirty="0">
                <a:latin typeface="Times New Roman" pitchFamily="18" charset="0"/>
              </a:rPr>
              <a:t>Finish[</a:t>
            </a:r>
            <a:r>
              <a:rPr kumimoji="1" lang="en-US" altLang="zh-CN" sz="2400" dirty="0" err="1">
                <a:latin typeface="Times New Roman" pitchFamily="18" charset="0"/>
              </a:rPr>
              <a:t>i</a:t>
            </a:r>
            <a:r>
              <a:rPr kumimoji="1" lang="en-US" altLang="zh-CN" sz="2400" dirty="0">
                <a:latin typeface="Times New Roman" pitchFamily="18" charset="0"/>
              </a:rPr>
              <a:t>]=false;   </a:t>
            </a:r>
            <a:r>
              <a:rPr kumimoji="1" lang="en-US" altLang="zh-CN" sz="2400" dirty="0">
                <a:latin typeface="宋体" pitchFamily="2" charset="-122"/>
              </a:rPr>
              <a:t>②</a:t>
            </a:r>
            <a:r>
              <a:rPr kumimoji="1" lang="en-US" altLang="zh-CN" sz="2400" dirty="0">
                <a:latin typeface="Times New Roman" pitchFamily="18" charset="0"/>
              </a:rPr>
              <a:t> Need[</a:t>
            </a:r>
            <a:r>
              <a:rPr kumimoji="1" lang="en-US" altLang="zh-CN" sz="2400" dirty="0" err="1">
                <a:latin typeface="Times New Roman" pitchFamily="18" charset="0"/>
              </a:rPr>
              <a:t>i,j</a:t>
            </a:r>
            <a:r>
              <a:rPr kumimoji="1" lang="en-US" altLang="zh-CN" sz="2400" dirty="0">
                <a:latin typeface="Times New Roman" pitchFamily="18" charset="0"/>
              </a:rPr>
              <a:t>]≤Work[j];</a:t>
            </a:r>
          </a:p>
          <a:p>
            <a:pPr lvl="2">
              <a:lnSpc>
                <a:spcPct val="110000"/>
              </a:lnSpc>
              <a:spcBef>
                <a:spcPct val="20000"/>
              </a:spcBef>
            </a:pPr>
            <a:r>
              <a:rPr kumimoji="1" lang="en-US" altLang="zh-CN" sz="2400" dirty="0">
                <a:latin typeface="Times New Roman" pitchFamily="18" charset="0"/>
              </a:rPr>
              <a:t>   </a:t>
            </a:r>
            <a:r>
              <a:rPr kumimoji="1" lang="zh-CN" altLang="en-US" sz="2400" dirty="0">
                <a:latin typeface="Times New Roman" pitchFamily="18" charset="0"/>
              </a:rPr>
              <a:t>如果不存在，则转</a:t>
            </a:r>
            <a:r>
              <a:rPr kumimoji="1" lang="en-US" altLang="zh-CN" sz="2400" dirty="0">
                <a:latin typeface="Times New Roman" pitchFamily="18" charset="0"/>
              </a:rPr>
              <a:t>(4)</a:t>
            </a:r>
          </a:p>
          <a:p>
            <a:pPr marL="457200" lvl="2" indent="-457200">
              <a:buFont typeface="Wingdings" panose="05000000000000000000" pitchFamily="2" charset="2"/>
              <a:buAutoNum type="arabicParenBoth" startAt="3"/>
            </a:pPr>
            <a:r>
              <a:rPr kumimoji="1" lang="en-US" altLang="zh-CN" sz="2400" dirty="0">
                <a:latin typeface="Times New Roman" pitchFamily="18" charset="0"/>
              </a:rPr>
              <a:t>Work[</a:t>
            </a:r>
            <a:r>
              <a:rPr kumimoji="1" lang="en-US" altLang="zh-CN" sz="2400" dirty="0" err="1">
                <a:latin typeface="Times New Roman" pitchFamily="18" charset="0"/>
              </a:rPr>
              <a:t>i</a:t>
            </a:r>
            <a:r>
              <a:rPr kumimoji="1" lang="en-US" altLang="zh-CN" sz="2400" dirty="0">
                <a:latin typeface="Times New Roman" pitchFamily="18" charset="0"/>
              </a:rPr>
              <a:t>]=Work[</a:t>
            </a:r>
            <a:r>
              <a:rPr kumimoji="1" lang="en-US" altLang="zh-CN" sz="2400" dirty="0" err="1">
                <a:latin typeface="Times New Roman" pitchFamily="18" charset="0"/>
              </a:rPr>
              <a:t>i</a:t>
            </a:r>
            <a:r>
              <a:rPr kumimoji="1" lang="en-US" altLang="zh-CN" sz="2400" dirty="0">
                <a:latin typeface="Times New Roman" pitchFamily="18" charset="0"/>
              </a:rPr>
              <a:t>]+Allocation[</a:t>
            </a:r>
            <a:r>
              <a:rPr kumimoji="1" lang="en-US" altLang="zh-CN" sz="2400" dirty="0" err="1">
                <a:latin typeface="Times New Roman" pitchFamily="18" charset="0"/>
              </a:rPr>
              <a:t>i,j</a:t>
            </a:r>
            <a:r>
              <a:rPr kumimoji="1" lang="en-US" altLang="zh-CN" sz="2400" dirty="0">
                <a:latin typeface="Times New Roman" pitchFamily="18" charset="0"/>
              </a:rPr>
              <a:t>];  Finish[</a:t>
            </a:r>
            <a:r>
              <a:rPr kumimoji="1" lang="en-US" altLang="zh-CN" sz="2400" dirty="0" err="1">
                <a:latin typeface="Times New Roman" pitchFamily="18" charset="0"/>
              </a:rPr>
              <a:t>i</a:t>
            </a:r>
            <a:r>
              <a:rPr kumimoji="1" lang="en-US" altLang="zh-CN" sz="2400" dirty="0">
                <a:latin typeface="Times New Roman" pitchFamily="18" charset="0"/>
              </a:rPr>
              <a:t>]=true;   </a:t>
            </a:r>
            <a:r>
              <a:rPr kumimoji="1" lang="zh-CN" altLang="en-US" sz="2400" dirty="0">
                <a:latin typeface="Times New Roman" pitchFamily="18" charset="0"/>
              </a:rPr>
              <a:t>转</a:t>
            </a:r>
            <a:r>
              <a:rPr kumimoji="1" lang="en-US" altLang="zh-CN" sz="2400" dirty="0">
                <a:latin typeface="Times New Roman" pitchFamily="18" charset="0"/>
              </a:rPr>
              <a:t>(2)</a:t>
            </a:r>
          </a:p>
          <a:p>
            <a:pPr marL="457200" lvl="2" indent="-457200">
              <a:buAutoNum type="arabicParenBoth" startAt="3"/>
            </a:pPr>
            <a:r>
              <a:rPr kumimoji="1" lang="zh-CN" altLang="en-US" sz="2400" dirty="0">
                <a:latin typeface="Times New Roman" pitchFamily="18" charset="0"/>
              </a:rPr>
              <a:t>若对所有</a:t>
            </a:r>
            <a:r>
              <a:rPr kumimoji="1" lang="en-US" altLang="zh-CN" sz="2400" dirty="0" err="1">
                <a:latin typeface="Times New Roman" pitchFamily="18" charset="0"/>
              </a:rPr>
              <a:t>i</a:t>
            </a:r>
            <a:r>
              <a:rPr kumimoji="1" lang="zh-CN" altLang="en-US" sz="2400" dirty="0">
                <a:latin typeface="Times New Roman" pitchFamily="18" charset="0"/>
              </a:rPr>
              <a:t>，</a:t>
            </a:r>
            <a:r>
              <a:rPr kumimoji="1" lang="en-US" altLang="zh-CN" sz="2400" dirty="0">
                <a:latin typeface="Times New Roman" pitchFamily="18" charset="0"/>
              </a:rPr>
              <a:t>Finish[</a:t>
            </a:r>
            <a:r>
              <a:rPr kumimoji="1" lang="en-US" altLang="zh-CN" sz="2400" dirty="0" err="1">
                <a:latin typeface="Times New Roman" pitchFamily="18" charset="0"/>
              </a:rPr>
              <a:t>i</a:t>
            </a:r>
            <a:r>
              <a:rPr kumimoji="1" lang="en-US" altLang="zh-CN" sz="2400" dirty="0">
                <a:latin typeface="Times New Roman" pitchFamily="18" charset="0"/>
              </a:rPr>
              <a:t>]=true</a:t>
            </a:r>
            <a:r>
              <a:rPr kumimoji="1" lang="zh-CN" altLang="en-US" sz="2400" dirty="0">
                <a:latin typeface="Times New Roman" pitchFamily="18" charset="0"/>
              </a:rPr>
              <a:t>都满足，则系统处于安全状态，否则处于不安全状态</a:t>
            </a:r>
          </a:p>
        </p:txBody>
      </p:sp>
    </p:spTree>
    <p:extLst>
      <p:ext uri="{BB962C8B-B14F-4D97-AF65-F5344CB8AC3E}">
        <p14:creationId xmlns:p14="http://schemas.microsoft.com/office/powerpoint/2010/main" val="1063231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barn(inVertical)">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Effect transition="in" filter="barn(inVertical)">
                                      <p:cBhvr>
                                        <p:cTn id="17" dur="500"/>
                                        <p:tgtEl>
                                          <p:spTgt spid="16">
                                            <p:txEl>
                                              <p:pRg st="1" end="1"/>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16">
                                            <p:txEl>
                                              <p:pRg st="2" end="2"/>
                                            </p:txEl>
                                          </p:spTgt>
                                        </p:tgtEl>
                                        <p:attrNameLst>
                                          <p:attrName>style.visibility</p:attrName>
                                        </p:attrNameLst>
                                      </p:cBhvr>
                                      <p:to>
                                        <p:strVal val="visible"/>
                                      </p:to>
                                    </p:set>
                                    <p:animEffect transition="in" filter="barn(inVertical)">
                                      <p:cBhvr>
                                        <p:cTn id="20" dur="500"/>
                                        <p:tgtEl>
                                          <p:spTgt spid="16">
                                            <p:txEl>
                                              <p:pRg st="2" end="2"/>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16">
                                            <p:txEl>
                                              <p:pRg st="3" end="3"/>
                                            </p:txEl>
                                          </p:spTgt>
                                        </p:tgtEl>
                                        <p:attrNameLst>
                                          <p:attrName>style.visibility</p:attrName>
                                        </p:attrNameLst>
                                      </p:cBhvr>
                                      <p:to>
                                        <p:strVal val="visible"/>
                                      </p:to>
                                    </p:set>
                                    <p:animEffect transition="in" filter="barn(inVertical)">
                                      <p:cBhvr>
                                        <p:cTn id="23" dur="500"/>
                                        <p:tgtEl>
                                          <p:spTgt spid="16">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16">
                                            <p:txEl>
                                              <p:pRg st="4" end="4"/>
                                            </p:txEl>
                                          </p:spTgt>
                                        </p:tgtEl>
                                        <p:attrNameLst>
                                          <p:attrName>style.visibility</p:attrName>
                                        </p:attrNameLst>
                                      </p:cBhvr>
                                      <p:to>
                                        <p:strVal val="visible"/>
                                      </p:to>
                                    </p:set>
                                    <p:animEffect transition="in" filter="barn(inVertical)">
                                      <p:cBhvr>
                                        <p:cTn id="28" dur="500"/>
                                        <p:tgtEl>
                                          <p:spTgt spid="16">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6">
                                            <p:txEl>
                                              <p:pRg st="5" end="5"/>
                                            </p:txEl>
                                          </p:spTgt>
                                        </p:tgtEl>
                                        <p:attrNameLst>
                                          <p:attrName>style.visibility</p:attrName>
                                        </p:attrNameLst>
                                      </p:cBhvr>
                                      <p:to>
                                        <p:strVal val="visible"/>
                                      </p:to>
                                    </p:set>
                                    <p:animEffect transition="in" filter="barn(inVertical)">
                                      <p:cBhvr>
                                        <p:cTn id="33" dur="5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38475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利用银行家算法避免死锁</a:t>
            </a:r>
          </a:p>
        </p:txBody>
      </p:sp>
      <p:grpSp>
        <p:nvGrpSpPr>
          <p:cNvPr id="13" name="组合 12"/>
          <p:cNvGrpSpPr/>
          <p:nvPr/>
        </p:nvGrpSpPr>
        <p:grpSpPr>
          <a:xfrm>
            <a:off x="978290" y="891421"/>
            <a:ext cx="6377004" cy="665162"/>
            <a:chOff x="978290" y="1120021"/>
            <a:chExt cx="6377004" cy="665162"/>
          </a:xfrm>
        </p:grpSpPr>
        <p:sp>
          <p:nvSpPr>
            <p:cNvPr id="23" name="矩形 2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矩形 2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6</a:t>
              </a:r>
              <a:r>
                <a:rPr lang="zh-CN" altLang="en-US" sz="2400" b="1" dirty="0">
                  <a:solidFill>
                    <a:srgbClr val="4C7E51"/>
                  </a:solidFill>
                  <a:latin typeface="微软雅黑" panose="020B0503020204020204" pitchFamily="34" charset="-122"/>
                  <a:ea typeface="微软雅黑" panose="020B0503020204020204" pitchFamily="34" charset="-122"/>
                </a:rPr>
                <a:t>）银行家算法之例</a:t>
              </a:r>
            </a:p>
          </p:txBody>
        </p:sp>
      </p:grpSp>
      <p:sp>
        <p:nvSpPr>
          <p:cNvPr id="133" name="文本框 19"/>
          <p:cNvSpPr txBox="1">
            <a:spLocks noChangeArrowheads="1"/>
          </p:cNvSpPr>
          <p:nvPr/>
        </p:nvSpPr>
        <p:spPr bwMode="auto">
          <a:xfrm>
            <a:off x="1124340" y="2122347"/>
            <a:ext cx="92693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2400" dirty="0">
                <a:latin typeface="Times New Roman" pitchFamily="18" charset="0"/>
              </a:rPr>
              <a:t>假定系统中有五个进程｛</a:t>
            </a:r>
            <a:r>
              <a:rPr kumimoji="1" lang="en-US" altLang="zh-CN" sz="2400" dirty="0">
                <a:latin typeface="Times New Roman" pitchFamily="18" charset="0"/>
              </a:rPr>
              <a:t>P</a:t>
            </a:r>
            <a:r>
              <a:rPr kumimoji="1" lang="en-US" altLang="zh-CN" sz="2400" baseline="-25000" dirty="0">
                <a:latin typeface="Times New Roman" pitchFamily="18" charset="0"/>
              </a:rPr>
              <a:t>0</a:t>
            </a:r>
            <a:r>
              <a:rPr kumimoji="1" lang="en-US" altLang="zh-CN" sz="2400" dirty="0">
                <a:latin typeface="Times New Roman" pitchFamily="18" charset="0"/>
              </a:rPr>
              <a:t>, P</a:t>
            </a:r>
            <a:r>
              <a:rPr kumimoji="1" lang="en-US" altLang="zh-CN" sz="2400" baseline="-25000" dirty="0">
                <a:latin typeface="Times New Roman" pitchFamily="18" charset="0"/>
              </a:rPr>
              <a:t>1</a:t>
            </a:r>
            <a:r>
              <a:rPr kumimoji="1" lang="en-US" altLang="zh-CN" sz="2400" dirty="0">
                <a:latin typeface="Times New Roman" pitchFamily="18" charset="0"/>
              </a:rPr>
              <a:t>, P</a:t>
            </a:r>
            <a:r>
              <a:rPr kumimoji="1" lang="en-US" altLang="zh-CN" sz="2400" baseline="-25000" dirty="0">
                <a:latin typeface="Times New Roman" pitchFamily="18" charset="0"/>
              </a:rPr>
              <a:t>2</a:t>
            </a:r>
            <a:r>
              <a:rPr kumimoji="1" lang="en-US" altLang="zh-CN" sz="2400" dirty="0">
                <a:latin typeface="Times New Roman" pitchFamily="18" charset="0"/>
              </a:rPr>
              <a:t>, P</a:t>
            </a:r>
            <a:r>
              <a:rPr kumimoji="1" lang="en-US" altLang="zh-CN" sz="2400" baseline="-25000" dirty="0">
                <a:latin typeface="Times New Roman" pitchFamily="18" charset="0"/>
              </a:rPr>
              <a:t>3</a:t>
            </a:r>
            <a:r>
              <a:rPr kumimoji="1" lang="en-US" altLang="zh-CN" sz="2400" dirty="0">
                <a:latin typeface="Times New Roman" pitchFamily="18" charset="0"/>
              </a:rPr>
              <a:t>, P</a:t>
            </a:r>
            <a:r>
              <a:rPr kumimoji="1" lang="en-US" altLang="zh-CN" sz="2400" baseline="-25000" dirty="0">
                <a:latin typeface="Times New Roman" pitchFamily="18" charset="0"/>
              </a:rPr>
              <a:t>4</a:t>
            </a:r>
            <a:r>
              <a:rPr kumimoji="1" lang="zh-CN" altLang="en-US" sz="2400" dirty="0">
                <a:latin typeface="Times New Roman" pitchFamily="18" charset="0"/>
              </a:rPr>
              <a:t>｝和三类资源｛</a:t>
            </a:r>
            <a:r>
              <a:rPr kumimoji="1" lang="en-US" altLang="zh-CN" sz="2400" dirty="0">
                <a:latin typeface="Times New Roman" pitchFamily="18" charset="0"/>
              </a:rPr>
              <a:t>A, B, C</a:t>
            </a:r>
            <a:r>
              <a:rPr kumimoji="1" lang="zh-CN" altLang="en-US" sz="2400" dirty="0">
                <a:latin typeface="Times New Roman" pitchFamily="18" charset="0"/>
              </a:rPr>
              <a:t>｝，各种资源的数量分别为</a:t>
            </a:r>
            <a:r>
              <a:rPr kumimoji="1" lang="en-US" altLang="zh-CN" sz="2400" dirty="0">
                <a:latin typeface="Times New Roman" pitchFamily="18" charset="0"/>
              </a:rPr>
              <a:t>10</a:t>
            </a:r>
            <a:r>
              <a:rPr kumimoji="1" lang="zh-CN" altLang="en-US" sz="2400" dirty="0">
                <a:latin typeface="Times New Roman" pitchFamily="18" charset="0"/>
              </a:rPr>
              <a:t>、</a:t>
            </a:r>
            <a:r>
              <a:rPr kumimoji="1" lang="en-US" altLang="zh-CN" sz="2400" dirty="0">
                <a:latin typeface="Times New Roman" pitchFamily="18" charset="0"/>
              </a:rPr>
              <a:t>5</a:t>
            </a:r>
            <a:r>
              <a:rPr kumimoji="1" lang="zh-CN" altLang="en-US" sz="2400" dirty="0">
                <a:latin typeface="Times New Roman" pitchFamily="18" charset="0"/>
              </a:rPr>
              <a:t>、</a:t>
            </a:r>
            <a:r>
              <a:rPr kumimoji="1" lang="en-US" altLang="zh-CN" sz="2400" dirty="0">
                <a:latin typeface="Times New Roman" pitchFamily="18" charset="0"/>
              </a:rPr>
              <a:t>7</a:t>
            </a:r>
            <a:r>
              <a:rPr kumimoji="1" lang="zh-CN" altLang="en-US" sz="2400" dirty="0">
                <a:latin typeface="Times New Roman" pitchFamily="18" charset="0"/>
              </a:rPr>
              <a:t>，在</a:t>
            </a:r>
            <a:r>
              <a:rPr kumimoji="1" lang="en-US" altLang="zh-CN" sz="2400" i="1" dirty="0">
                <a:latin typeface="Times New Roman" pitchFamily="18" charset="0"/>
              </a:rPr>
              <a:t>T</a:t>
            </a:r>
            <a:r>
              <a:rPr kumimoji="1" lang="en-US" altLang="zh-CN" sz="2400" baseline="-25000" dirty="0">
                <a:latin typeface="Times New Roman" pitchFamily="18" charset="0"/>
              </a:rPr>
              <a:t>0</a:t>
            </a:r>
            <a:r>
              <a:rPr kumimoji="1" lang="zh-CN" altLang="en-US" sz="2400" dirty="0">
                <a:latin typeface="Times New Roman" pitchFamily="18" charset="0"/>
              </a:rPr>
              <a:t>时刻的资源分配情况。</a:t>
            </a:r>
          </a:p>
        </p:txBody>
      </p:sp>
      <p:sp>
        <p:nvSpPr>
          <p:cNvPr id="134" name="文本框 54"/>
          <p:cNvSpPr txBox="1">
            <a:spLocks noChangeArrowheads="1"/>
          </p:cNvSpPr>
          <p:nvPr/>
        </p:nvSpPr>
        <p:spPr bwMode="auto">
          <a:xfrm>
            <a:off x="1124341" y="1708568"/>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例：</a:t>
            </a:r>
            <a:endParaRPr lang="zh-CN" altLang="en-US" sz="2000" b="1" dirty="0">
              <a:solidFill>
                <a:srgbClr val="FFC000"/>
              </a:solidFill>
              <a:latin typeface="微软雅黑" panose="020B0503020204020204" pitchFamily="34" charset="-122"/>
              <a:ea typeface="微软雅黑" panose="020B0503020204020204" pitchFamily="34" charset="-122"/>
            </a:endParaRPr>
          </a:p>
        </p:txBody>
      </p:sp>
      <p:grpSp>
        <p:nvGrpSpPr>
          <p:cNvPr id="65" name="Group 54"/>
          <p:cNvGrpSpPr>
            <a:grpSpLocks/>
          </p:cNvGrpSpPr>
          <p:nvPr/>
        </p:nvGrpSpPr>
        <p:grpSpPr bwMode="auto">
          <a:xfrm>
            <a:off x="2032391" y="3252062"/>
            <a:ext cx="7315200" cy="2881312"/>
            <a:chOff x="576" y="1728"/>
            <a:chExt cx="4608" cy="2256"/>
          </a:xfrm>
        </p:grpSpPr>
        <p:sp>
          <p:nvSpPr>
            <p:cNvPr id="66" name="Rectangle 55"/>
            <p:cNvSpPr>
              <a:spLocks noChangeArrowheads="1"/>
            </p:cNvSpPr>
            <p:nvPr/>
          </p:nvSpPr>
          <p:spPr bwMode="auto">
            <a:xfrm>
              <a:off x="576" y="1728"/>
              <a:ext cx="4608" cy="2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67" name="Line 56"/>
            <p:cNvSpPr>
              <a:spLocks noChangeShapeType="1"/>
            </p:cNvSpPr>
            <p:nvPr/>
          </p:nvSpPr>
          <p:spPr bwMode="auto">
            <a:xfrm>
              <a:off x="576" y="2352"/>
              <a:ext cx="46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68" name="Line 57"/>
            <p:cNvSpPr>
              <a:spLocks noChangeShapeType="1"/>
            </p:cNvSpPr>
            <p:nvPr/>
          </p:nvSpPr>
          <p:spPr bwMode="auto">
            <a:xfrm>
              <a:off x="153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69" name="Line 58"/>
            <p:cNvSpPr>
              <a:spLocks noChangeShapeType="1"/>
            </p:cNvSpPr>
            <p:nvPr/>
          </p:nvSpPr>
          <p:spPr bwMode="auto">
            <a:xfrm>
              <a:off x="3408"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0" name="Line 59"/>
            <p:cNvSpPr>
              <a:spLocks noChangeShapeType="1"/>
            </p:cNvSpPr>
            <p:nvPr/>
          </p:nvSpPr>
          <p:spPr bwMode="auto">
            <a:xfrm>
              <a:off x="249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1" name="Line 60"/>
            <p:cNvSpPr>
              <a:spLocks noChangeShapeType="1"/>
            </p:cNvSpPr>
            <p:nvPr/>
          </p:nvSpPr>
          <p:spPr bwMode="auto">
            <a:xfrm>
              <a:off x="4320"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2" name="Line 61"/>
            <p:cNvSpPr>
              <a:spLocks noChangeShapeType="1"/>
            </p:cNvSpPr>
            <p:nvPr/>
          </p:nvSpPr>
          <p:spPr bwMode="auto">
            <a:xfrm>
              <a:off x="576" y="1728"/>
              <a:ext cx="960" cy="62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73" name="Text Box 62"/>
          <p:cNvSpPr txBox="1">
            <a:spLocks noChangeArrowheads="1"/>
          </p:cNvSpPr>
          <p:nvPr/>
        </p:nvSpPr>
        <p:spPr bwMode="auto">
          <a:xfrm>
            <a:off x="2519754" y="3298099"/>
            <a:ext cx="10953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800">
                <a:solidFill>
                  <a:schemeClr val="tx1"/>
                </a:solidFill>
                <a:latin typeface="Times New Roman" pitchFamily="18" charset="0"/>
              </a:rPr>
              <a:t>资源情况</a:t>
            </a:r>
          </a:p>
        </p:txBody>
      </p:sp>
      <p:sp>
        <p:nvSpPr>
          <p:cNvPr id="74" name="Text Box 63"/>
          <p:cNvSpPr txBox="1">
            <a:spLocks noChangeArrowheads="1"/>
          </p:cNvSpPr>
          <p:nvPr/>
        </p:nvSpPr>
        <p:spPr bwMode="auto">
          <a:xfrm>
            <a:off x="2111766" y="3677512"/>
            <a:ext cx="638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800">
                <a:solidFill>
                  <a:schemeClr val="tx1"/>
                </a:solidFill>
                <a:latin typeface="Times New Roman" pitchFamily="18" charset="0"/>
              </a:rPr>
              <a:t>进程</a:t>
            </a:r>
          </a:p>
        </p:txBody>
      </p:sp>
      <p:sp>
        <p:nvSpPr>
          <p:cNvPr id="75" name="Text Box 64"/>
          <p:cNvSpPr txBox="1">
            <a:spLocks noChangeArrowheads="1"/>
          </p:cNvSpPr>
          <p:nvPr/>
        </p:nvSpPr>
        <p:spPr bwMode="auto">
          <a:xfrm>
            <a:off x="5054991" y="3221899"/>
            <a:ext cx="1465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a:solidFill>
                  <a:schemeClr val="tx1"/>
                </a:solidFill>
                <a:latin typeface="Times New Roman" pitchFamily="18" charset="0"/>
              </a:rPr>
              <a:t>Allocation</a:t>
            </a:r>
          </a:p>
          <a:p>
            <a:pPr eaLnBrk="1" hangingPunct="1"/>
            <a:r>
              <a:rPr kumimoji="1" lang="en-US" altLang="zh-CN">
                <a:solidFill>
                  <a:schemeClr val="tx1"/>
                </a:solidFill>
                <a:latin typeface="Times New Roman" pitchFamily="18" charset="0"/>
              </a:rPr>
              <a:t>A   B   C</a:t>
            </a:r>
          </a:p>
        </p:txBody>
      </p:sp>
      <p:sp>
        <p:nvSpPr>
          <p:cNvPr id="76" name="Text Box 65"/>
          <p:cNvSpPr txBox="1">
            <a:spLocks noChangeArrowheads="1"/>
          </p:cNvSpPr>
          <p:nvPr/>
        </p:nvSpPr>
        <p:spPr bwMode="auto">
          <a:xfrm>
            <a:off x="3632591" y="3221899"/>
            <a:ext cx="12652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a:solidFill>
                  <a:schemeClr val="tx1"/>
                </a:solidFill>
                <a:latin typeface="Times New Roman" pitchFamily="18" charset="0"/>
              </a:rPr>
              <a:t>Max</a:t>
            </a:r>
          </a:p>
          <a:p>
            <a:pPr eaLnBrk="1" hangingPunct="1"/>
            <a:r>
              <a:rPr kumimoji="1" lang="en-US" altLang="zh-CN">
                <a:solidFill>
                  <a:schemeClr val="tx1"/>
                </a:solidFill>
                <a:latin typeface="Times New Roman" pitchFamily="18" charset="0"/>
              </a:rPr>
              <a:t>A   B   C</a:t>
            </a:r>
          </a:p>
        </p:txBody>
      </p:sp>
      <p:sp>
        <p:nvSpPr>
          <p:cNvPr id="77" name="Text Box 66"/>
          <p:cNvSpPr txBox="1">
            <a:spLocks noChangeArrowheads="1"/>
          </p:cNvSpPr>
          <p:nvPr/>
        </p:nvSpPr>
        <p:spPr bwMode="auto">
          <a:xfrm>
            <a:off x="6598041" y="3221899"/>
            <a:ext cx="12652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a:solidFill>
                  <a:schemeClr val="tx1"/>
                </a:solidFill>
                <a:latin typeface="Times New Roman" pitchFamily="18" charset="0"/>
              </a:rPr>
              <a:t>Need</a:t>
            </a:r>
          </a:p>
          <a:p>
            <a:pPr eaLnBrk="1" hangingPunct="1"/>
            <a:r>
              <a:rPr kumimoji="1" lang="en-US" altLang="zh-CN">
                <a:solidFill>
                  <a:schemeClr val="tx1"/>
                </a:solidFill>
                <a:latin typeface="Times New Roman" pitchFamily="18" charset="0"/>
              </a:rPr>
              <a:t>A   B   C</a:t>
            </a:r>
          </a:p>
        </p:txBody>
      </p:sp>
      <p:sp>
        <p:nvSpPr>
          <p:cNvPr id="78" name="Text Box 67"/>
          <p:cNvSpPr txBox="1">
            <a:spLocks noChangeArrowheads="1"/>
          </p:cNvSpPr>
          <p:nvPr/>
        </p:nvSpPr>
        <p:spPr bwMode="auto">
          <a:xfrm>
            <a:off x="8010916" y="3221899"/>
            <a:ext cx="13636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a:solidFill>
                  <a:schemeClr val="tx1"/>
                </a:solidFill>
                <a:latin typeface="Times New Roman" pitchFamily="18" charset="0"/>
              </a:rPr>
              <a:t>Available</a:t>
            </a:r>
          </a:p>
          <a:p>
            <a:pPr eaLnBrk="1" hangingPunct="1"/>
            <a:r>
              <a:rPr kumimoji="1" lang="en-US" altLang="zh-CN">
                <a:solidFill>
                  <a:schemeClr val="tx1"/>
                </a:solidFill>
                <a:latin typeface="Times New Roman" pitchFamily="18" charset="0"/>
              </a:rPr>
              <a:t>A   B   C</a:t>
            </a:r>
          </a:p>
        </p:txBody>
      </p:sp>
      <p:sp>
        <p:nvSpPr>
          <p:cNvPr id="79" name="Text Box 68"/>
          <p:cNvSpPr txBox="1">
            <a:spLocks noChangeArrowheads="1"/>
          </p:cNvSpPr>
          <p:nvPr/>
        </p:nvSpPr>
        <p:spPr bwMode="auto">
          <a:xfrm>
            <a:off x="2586429" y="4129949"/>
            <a:ext cx="4524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0</a:t>
            </a:r>
            <a:endParaRPr kumimoji="1" lang="en-US" altLang="zh-CN">
              <a:solidFill>
                <a:schemeClr val="tx1"/>
              </a:solidFill>
              <a:latin typeface="Times New Roman" pitchFamily="18" charset="0"/>
            </a:endParaRPr>
          </a:p>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1</a:t>
            </a:r>
            <a:endParaRPr kumimoji="1" lang="en-US" altLang="zh-CN">
              <a:solidFill>
                <a:schemeClr val="tx1"/>
              </a:solidFill>
              <a:latin typeface="Times New Roman" pitchFamily="18" charset="0"/>
            </a:endParaRPr>
          </a:p>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2</a:t>
            </a:r>
          </a:p>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3</a:t>
            </a:r>
          </a:p>
          <a:p>
            <a:pPr algn="l" eaLnBrk="1" hangingPunct="1"/>
            <a:r>
              <a:rPr kumimoji="1" lang="en-US" altLang="zh-CN">
                <a:solidFill>
                  <a:schemeClr val="tx1"/>
                </a:solidFill>
                <a:latin typeface="Times New Roman" pitchFamily="18" charset="0"/>
              </a:rPr>
              <a:t>P</a:t>
            </a:r>
            <a:r>
              <a:rPr kumimoji="1" lang="en-US" altLang="zh-CN" baseline="-25000">
                <a:solidFill>
                  <a:schemeClr val="tx1"/>
                </a:solidFill>
                <a:latin typeface="Times New Roman" pitchFamily="18" charset="0"/>
              </a:rPr>
              <a:t>4</a:t>
            </a:r>
          </a:p>
        </p:txBody>
      </p:sp>
      <p:sp>
        <p:nvSpPr>
          <p:cNvPr id="80" name="Text Box 69"/>
          <p:cNvSpPr txBox="1">
            <a:spLocks noChangeArrowheads="1"/>
          </p:cNvSpPr>
          <p:nvPr/>
        </p:nvSpPr>
        <p:spPr bwMode="auto">
          <a:xfrm>
            <a:off x="5175641" y="4117249"/>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0    1     0</a:t>
            </a:r>
          </a:p>
        </p:txBody>
      </p:sp>
      <p:sp>
        <p:nvSpPr>
          <p:cNvPr id="81" name="Text Box 70"/>
          <p:cNvSpPr txBox="1">
            <a:spLocks noChangeArrowheads="1"/>
          </p:cNvSpPr>
          <p:nvPr/>
        </p:nvSpPr>
        <p:spPr bwMode="auto">
          <a:xfrm>
            <a:off x="3615129" y="4476024"/>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3     2     2</a:t>
            </a:r>
          </a:p>
        </p:txBody>
      </p:sp>
      <p:sp>
        <p:nvSpPr>
          <p:cNvPr id="82" name="Text Box 71"/>
          <p:cNvSpPr txBox="1">
            <a:spLocks noChangeArrowheads="1"/>
          </p:cNvSpPr>
          <p:nvPr/>
        </p:nvSpPr>
        <p:spPr bwMode="auto">
          <a:xfrm>
            <a:off x="3581791" y="4884012"/>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9     0     2</a:t>
            </a:r>
          </a:p>
        </p:txBody>
      </p:sp>
      <p:sp>
        <p:nvSpPr>
          <p:cNvPr id="83" name="Text Box 72"/>
          <p:cNvSpPr txBox="1">
            <a:spLocks noChangeArrowheads="1"/>
          </p:cNvSpPr>
          <p:nvPr/>
        </p:nvSpPr>
        <p:spPr bwMode="auto">
          <a:xfrm>
            <a:off x="3581791" y="5242787"/>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2     2     2</a:t>
            </a:r>
          </a:p>
        </p:txBody>
      </p:sp>
      <p:sp>
        <p:nvSpPr>
          <p:cNvPr id="84" name="Text Box 73"/>
          <p:cNvSpPr txBox="1">
            <a:spLocks noChangeArrowheads="1"/>
          </p:cNvSpPr>
          <p:nvPr/>
        </p:nvSpPr>
        <p:spPr bwMode="auto">
          <a:xfrm>
            <a:off x="3581791" y="5628549"/>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4     3     3</a:t>
            </a:r>
          </a:p>
        </p:txBody>
      </p:sp>
      <p:sp>
        <p:nvSpPr>
          <p:cNvPr id="85" name="Text Box 74"/>
          <p:cNvSpPr txBox="1">
            <a:spLocks noChangeArrowheads="1"/>
          </p:cNvSpPr>
          <p:nvPr/>
        </p:nvSpPr>
        <p:spPr bwMode="auto">
          <a:xfrm>
            <a:off x="5175641" y="4476024"/>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2    0     0</a:t>
            </a:r>
          </a:p>
        </p:txBody>
      </p:sp>
      <p:sp>
        <p:nvSpPr>
          <p:cNvPr id="86" name="Text Box 76"/>
          <p:cNvSpPr txBox="1">
            <a:spLocks noChangeArrowheads="1"/>
          </p:cNvSpPr>
          <p:nvPr/>
        </p:nvSpPr>
        <p:spPr bwMode="auto">
          <a:xfrm>
            <a:off x="5170879" y="4884012"/>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3    0     2</a:t>
            </a:r>
          </a:p>
        </p:txBody>
      </p:sp>
      <p:sp>
        <p:nvSpPr>
          <p:cNvPr id="87" name="Text Box 77"/>
          <p:cNvSpPr txBox="1">
            <a:spLocks noChangeArrowheads="1"/>
          </p:cNvSpPr>
          <p:nvPr/>
        </p:nvSpPr>
        <p:spPr bwMode="auto">
          <a:xfrm>
            <a:off x="5197866" y="5242787"/>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2    1     1</a:t>
            </a:r>
          </a:p>
        </p:txBody>
      </p:sp>
      <p:sp>
        <p:nvSpPr>
          <p:cNvPr id="88" name="Text Box 78"/>
          <p:cNvSpPr txBox="1">
            <a:spLocks noChangeArrowheads="1"/>
          </p:cNvSpPr>
          <p:nvPr/>
        </p:nvSpPr>
        <p:spPr bwMode="auto">
          <a:xfrm>
            <a:off x="5170879" y="5628549"/>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dirty="0">
                <a:solidFill>
                  <a:schemeClr val="tx1"/>
                </a:solidFill>
                <a:latin typeface="Times New Roman" pitchFamily="18" charset="0"/>
              </a:rPr>
              <a:t>0     0    2</a:t>
            </a:r>
          </a:p>
        </p:txBody>
      </p:sp>
      <p:sp>
        <p:nvSpPr>
          <p:cNvPr id="89" name="Text Box 79"/>
          <p:cNvSpPr txBox="1">
            <a:spLocks noChangeArrowheads="1"/>
          </p:cNvSpPr>
          <p:nvPr/>
        </p:nvSpPr>
        <p:spPr bwMode="auto">
          <a:xfrm>
            <a:off x="6604391" y="4117249"/>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7    4     3</a:t>
            </a:r>
          </a:p>
        </p:txBody>
      </p:sp>
      <p:sp>
        <p:nvSpPr>
          <p:cNvPr id="90" name="Text Box 80"/>
          <p:cNvSpPr txBox="1">
            <a:spLocks noChangeArrowheads="1"/>
          </p:cNvSpPr>
          <p:nvPr/>
        </p:nvSpPr>
        <p:spPr bwMode="auto">
          <a:xfrm>
            <a:off x="6604391" y="4476024"/>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1    2     2</a:t>
            </a:r>
          </a:p>
        </p:txBody>
      </p:sp>
      <p:sp>
        <p:nvSpPr>
          <p:cNvPr id="91" name="Text Box 82"/>
          <p:cNvSpPr txBox="1">
            <a:spLocks noChangeArrowheads="1"/>
          </p:cNvSpPr>
          <p:nvPr/>
        </p:nvSpPr>
        <p:spPr bwMode="auto">
          <a:xfrm>
            <a:off x="6604391" y="4884012"/>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buFontTx/>
              <a:buAutoNum type="arabicPlain" startAt="6"/>
            </a:pPr>
            <a:r>
              <a:rPr kumimoji="1" lang="en-US" altLang="zh-CN">
                <a:solidFill>
                  <a:schemeClr val="tx1"/>
                </a:solidFill>
                <a:latin typeface="Times New Roman" pitchFamily="18" charset="0"/>
              </a:rPr>
              <a:t>0     0</a:t>
            </a:r>
          </a:p>
        </p:txBody>
      </p:sp>
      <p:sp>
        <p:nvSpPr>
          <p:cNvPr id="92" name="Text Box 83"/>
          <p:cNvSpPr txBox="1">
            <a:spLocks noChangeArrowheads="1"/>
          </p:cNvSpPr>
          <p:nvPr/>
        </p:nvSpPr>
        <p:spPr bwMode="auto">
          <a:xfrm>
            <a:off x="6604391" y="5242787"/>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0    1     1</a:t>
            </a:r>
          </a:p>
        </p:txBody>
      </p:sp>
      <p:sp>
        <p:nvSpPr>
          <p:cNvPr id="93" name="Text Box 84"/>
          <p:cNvSpPr txBox="1">
            <a:spLocks noChangeArrowheads="1"/>
          </p:cNvSpPr>
          <p:nvPr/>
        </p:nvSpPr>
        <p:spPr bwMode="auto">
          <a:xfrm>
            <a:off x="6604391" y="5628549"/>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4    3     1</a:t>
            </a:r>
          </a:p>
        </p:txBody>
      </p:sp>
      <p:sp>
        <p:nvSpPr>
          <p:cNvPr id="94" name="Text Box 85"/>
          <p:cNvSpPr txBox="1">
            <a:spLocks noChangeArrowheads="1"/>
          </p:cNvSpPr>
          <p:nvPr/>
        </p:nvSpPr>
        <p:spPr bwMode="auto">
          <a:xfrm>
            <a:off x="8023616" y="4117249"/>
            <a:ext cx="132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3    3     2</a:t>
            </a:r>
          </a:p>
        </p:txBody>
      </p:sp>
      <p:sp>
        <p:nvSpPr>
          <p:cNvPr id="96" name="Text Box 87"/>
          <p:cNvSpPr txBox="1">
            <a:spLocks noChangeArrowheads="1"/>
          </p:cNvSpPr>
          <p:nvPr/>
        </p:nvSpPr>
        <p:spPr bwMode="auto">
          <a:xfrm>
            <a:off x="3615129" y="4117249"/>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a:solidFill>
                  <a:schemeClr val="tx1"/>
                </a:solidFill>
                <a:latin typeface="Times New Roman" pitchFamily="18" charset="0"/>
              </a:rPr>
              <a:t>7     5     3</a:t>
            </a:r>
          </a:p>
        </p:txBody>
      </p:sp>
    </p:spTree>
    <p:extLst>
      <p:ext uri="{BB962C8B-B14F-4D97-AF65-F5344CB8AC3E}">
        <p14:creationId xmlns:p14="http://schemas.microsoft.com/office/powerpoint/2010/main" val="115099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134"/>
                                        </p:tgtEl>
                                        <p:attrNameLst>
                                          <p:attrName>style.visibility</p:attrName>
                                        </p:attrNameLst>
                                      </p:cBhvr>
                                      <p:to>
                                        <p:strVal val="visible"/>
                                      </p:to>
                                    </p:set>
                                    <p:anim calcmode="lin" valueType="num">
                                      <p:cBhvr>
                                        <p:cTn id="7" dur="500" fill="hold"/>
                                        <p:tgtEl>
                                          <p:spTgt spid="134"/>
                                        </p:tgtEl>
                                        <p:attrNameLst>
                                          <p:attrName>ppt_w</p:attrName>
                                        </p:attrNameLst>
                                      </p:cBhvr>
                                      <p:tavLst>
                                        <p:tav tm="0">
                                          <p:val>
                                            <p:strVal val="#ppt_w+.3"/>
                                          </p:val>
                                        </p:tav>
                                        <p:tav tm="100000">
                                          <p:val>
                                            <p:strVal val="#ppt_w"/>
                                          </p:val>
                                        </p:tav>
                                      </p:tavLst>
                                    </p:anim>
                                    <p:anim calcmode="lin" valueType="num">
                                      <p:cBhvr>
                                        <p:cTn id="8" dur="500" fill="hold"/>
                                        <p:tgtEl>
                                          <p:spTgt spid="134"/>
                                        </p:tgtEl>
                                        <p:attrNameLst>
                                          <p:attrName>ppt_h</p:attrName>
                                        </p:attrNameLst>
                                      </p:cBhvr>
                                      <p:tavLst>
                                        <p:tav tm="0">
                                          <p:val>
                                            <p:strVal val="#ppt_h"/>
                                          </p:val>
                                        </p:tav>
                                        <p:tav tm="100000">
                                          <p:val>
                                            <p:strVal val="#ppt_h"/>
                                          </p:val>
                                        </p:tav>
                                      </p:tavLst>
                                    </p:anim>
                                    <p:animEffect transition="in" filter="fade">
                                      <p:cBhvr>
                                        <p:cTn id="9" dur="500"/>
                                        <p:tgtEl>
                                          <p:spTgt spid="134"/>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grpId="0" nodeType="clickEffect">
                                  <p:stCondLst>
                                    <p:cond delay="0"/>
                                  </p:stCondLst>
                                  <p:childTnLst>
                                    <p:set>
                                      <p:cBhvr>
                                        <p:cTn id="13" dur="1" fill="hold">
                                          <p:stCondLst>
                                            <p:cond delay="0"/>
                                          </p:stCondLst>
                                        </p:cTn>
                                        <p:tgtEl>
                                          <p:spTgt spid="133"/>
                                        </p:tgtEl>
                                        <p:attrNameLst>
                                          <p:attrName>style.visibility</p:attrName>
                                        </p:attrNameLst>
                                      </p:cBhvr>
                                      <p:to>
                                        <p:strVal val="visible"/>
                                      </p:to>
                                    </p:set>
                                    <p:animEffect transition="in" filter="strips(downLeft)">
                                      <p:cBhvr>
                                        <p:cTn id="14"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35"/>
          <p:cNvSpPr txBox="1">
            <a:spLocks noChangeArrowheads="1"/>
          </p:cNvSpPr>
          <p:nvPr/>
        </p:nvSpPr>
        <p:spPr bwMode="auto">
          <a:xfrm>
            <a:off x="7467600" y="1804988"/>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1      2      2</a:t>
            </a:r>
          </a:p>
        </p:txBody>
      </p:sp>
      <p:grpSp>
        <p:nvGrpSpPr>
          <p:cNvPr id="124932" name="Group 8"/>
          <p:cNvGrpSpPr>
            <a:grpSpLocks/>
          </p:cNvGrpSpPr>
          <p:nvPr/>
        </p:nvGrpSpPr>
        <p:grpSpPr bwMode="auto">
          <a:xfrm>
            <a:off x="1117600" y="201613"/>
            <a:ext cx="9772651" cy="3048000"/>
            <a:chOff x="663" y="240"/>
            <a:chExt cx="4617" cy="1920"/>
          </a:xfrm>
        </p:grpSpPr>
        <p:sp>
          <p:nvSpPr>
            <p:cNvPr id="124986" name="Text Box 35"/>
            <p:cNvSpPr txBox="1">
              <a:spLocks noChangeArrowheads="1"/>
            </p:cNvSpPr>
            <p:nvPr/>
          </p:nvSpPr>
          <p:spPr bwMode="auto">
            <a:xfrm>
              <a:off x="3624" y="119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1      2      2</a:t>
              </a:r>
            </a:p>
          </p:txBody>
        </p:sp>
        <p:grpSp>
          <p:nvGrpSpPr>
            <p:cNvPr id="124987" name="Group 9"/>
            <p:cNvGrpSpPr>
              <a:grpSpLocks/>
            </p:cNvGrpSpPr>
            <p:nvPr/>
          </p:nvGrpSpPr>
          <p:grpSpPr bwMode="auto">
            <a:xfrm>
              <a:off x="672" y="240"/>
              <a:ext cx="4608" cy="1920"/>
              <a:chOff x="576" y="1728"/>
              <a:chExt cx="4608" cy="2256"/>
            </a:xfrm>
          </p:grpSpPr>
          <p:sp>
            <p:nvSpPr>
              <p:cNvPr id="125013" name="Rectangle 10"/>
              <p:cNvSpPr>
                <a:spLocks noChangeArrowheads="1"/>
              </p:cNvSpPr>
              <p:nvPr/>
            </p:nvSpPr>
            <p:spPr bwMode="auto">
              <a:xfrm>
                <a:off x="576" y="1728"/>
                <a:ext cx="4608" cy="2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5014" name="Line 11"/>
              <p:cNvSpPr>
                <a:spLocks noChangeShapeType="1"/>
              </p:cNvSpPr>
              <p:nvPr/>
            </p:nvSpPr>
            <p:spPr bwMode="auto">
              <a:xfrm>
                <a:off x="576" y="2352"/>
                <a:ext cx="46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5015" name="Line 12"/>
              <p:cNvSpPr>
                <a:spLocks noChangeShapeType="1"/>
              </p:cNvSpPr>
              <p:nvPr/>
            </p:nvSpPr>
            <p:spPr bwMode="auto">
              <a:xfrm>
                <a:off x="153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5016" name="Line 13"/>
              <p:cNvSpPr>
                <a:spLocks noChangeShapeType="1"/>
              </p:cNvSpPr>
              <p:nvPr/>
            </p:nvSpPr>
            <p:spPr bwMode="auto">
              <a:xfrm>
                <a:off x="3408"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5017" name="Line 14"/>
              <p:cNvSpPr>
                <a:spLocks noChangeShapeType="1"/>
              </p:cNvSpPr>
              <p:nvPr/>
            </p:nvSpPr>
            <p:spPr bwMode="auto">
              <a:xfrm>
                <a:off x="249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5018" name="Line 15"/>
              <p:cNvSpPr>
                <a:spLocks noChangeShapeType="1"/>
              </p:cNvSpPr>
              <p:nvPr/>
            </p:nvSpPr>
            <p:spPr bwMode="auto">
              <a:xfrm>
                <a:off x="4320"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5019" name="Line 16"/>
              <p:cNvSpPr>
                <a:spLocks noChangeShapeType="1"/>
              </p:cNvSpPr>
              <p:nvPr/>
            </p:nvSpPr>
            <p:spPr bwMode="auto">
              <a:xfrm>
                <a:off x="576" y="1728"/>
                <a:ext cx="960" cy="62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24988" name="Text Box 17"/>
            <p:cNvSpPr txBox="1">
              <a:spLocks noChangeArrowheads="1"/>
            </p:cNvSpPr>
            <p:nvPr/>
          </p:nvSpPr>
          <p:spPr bwMode="auto">
            <a:xfrm>
              <a:off x="1006" y="240"/>
              <a:ext cx="47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资源情况</a:t>
              </a:r>
            </a:p>
          </p:txBody>
        </p:sp>
        <p:sp>
          <p:nvSpPr>
            <p:cNvPr id="124989" name="Text Box 18"/>
            <p:cNvSpPr txBox="1">
              <a:spLocks noChangeArrowheads="1"/>
            </p:cNvSpPr>
            <p:nvPr/>
          </p:nvSpPr>
          <p:spPr bwMode="auto">
            <a:xfrm>
              <a:off x="663" y="528"/>
              <a:ext cx="28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进程</a:t>
              </a:r>
            </a:p>
          </p:txBody>
        </p:sp>
        <p:sp>
          <p:nvSpPr>
            <p:cNvPr id="124990" name="Text Box 19"/>
            <p:cNvSpPr txBox="1">
              <a:spLocks noChangeArrowheads="1"/>
            </p:cNvSpPr>
            <p:nvPr/>
          </p:nvSpPr>
          <p:spPr bwMode="auto">
            <a:xfrm>
              <a:off x="2610" y="336"/>
              <a:ext cx="883"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Allocation</a:t>
              </a:r>
            </a:p>
            <a:p>
              <a:pPr eaLnBrk="1" hangingPunct="1"/>
              <a:r>
                <a:rPr kumimoji="1" lang="en-US" altLang="zh-CN" sz="1600" b="1">
                  <a:solidFill>
                    <a:schemeClr val="tx1"/>
                  </a:solidFill>
                  <a:latin typeface="Times New Roman" pitchFamily="18" charset="0"/>
                </a:rPr>
                <a:t>A      B      C</a:t>
              </a:r>
            </a:p>
          </p:txBody>
        </p:sp>
        <p:sp>
          <p:nvSpPr>
            <p:cNvPr id="124991" name="Text Box 20"/>
            <p:cNvSpPr txBox="1">
              <a:spLocks noChangeArrowheads="1"/>
            </p:cNvSpPr>
            <p:nvPr/>
          </p:nvSpPr>
          <p:spPr bwMode="auto">
            <a:xfrm>
              <a:off x="1665" y="336"/>
              <a:ext cx="900"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Max</a:t>
              </a:r>
            </a:p>
            <a:p>
              <a:pPr eaLnBrk="1" hangingPunct="1"/>
              <a:r>
                <a:rPr kumimoji="1" lang="en-US" altLang="zh-CN" sz="1600" b="1">
                  <a:solidFill>
                    <a:schemeClr val="tx1"/>
                  </a:solidFill>
                  <a:latin typeface="Times New Roman" pitchFamily="18" charset="0"/>
                </a:rPr>
                <a:t>A      B      C</a:t>
              </a:r>
            </a:p>
          </p:txBody>
        </p:sp>
        <p:sp>
          <p:nvSpPr>
            <p:cNvPr id="124992" name="Text Box 21"/>
            <p:cNvSpPr txBox="1">
              <a:spLocks noChangeArrowheads="1"/>
            </p:cNvSpPr>
            <p:nvPr/>
          </p:nvSpPr>
          <p:spPr bwMode="auto">
            <a:xfrm>
              <a:off x="3510" y="336"/>
              <a:ext cx="90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Need</a:t>
              </a:r>
            </a:p>
            <a:p>
              <a:pPr eaLnBrk="1" hangingPunct="1"/>
              <a:r>
                <a:rPr kumimoji="1" lang="en-US" altLang="zh-CN" sz="1600" b="1">
                  <a:solidFill>
                    <a:schemeClr val="tx1"/>
                  </a:solidFill>
                  <a:latin typeface="Times New Roman" pitchFamily="18" charset="0"/>
                </a:rPr>
                <a:t>A      B      C</a:t>
              </a:r>
            </a:p>
          </p:txBody>
        </p:sp>
        <p:sp>
          <p:nvSpPr>
            <p:cNvPr id="124993" name="Text Box 22"/>
            <p:cNvSpPr txBox="1">
              <a:spLocks noChangeArrowheads="1"/>
            </p:cNvSpPr>
            <p:nvPr/>
          </p:nvSpPr>
          <p:spPr bwMode="auto">
            <a:xfrm>
              <a:off x="4410" y="336"/>
              <a:ext cx="855"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EA30EA"/>
                  </a:solidFill>
                  <a:latin typeface="Times New Roman" pitchFamily="18" charset="0"/>
                </a:rPr>
                <a:t>Available</a:t>
              </a:r>
            </a:p>
            <a:p>
              <a:pPr eaLnBrk="1" hangingPunct="1"/>
              <a:r>
                <a:rPr kumimoji="1" lang="en-US" altLang="zh-CN" sz="1600" b="1">
                  <a:solidFill>
                    <a:schemeClr val="tx1"/>
                  </a:solidFill>
                  <a:latin typeface="Times New Roman" pitchFamily="18" charset="0"/>
                </a:rPr>
                <a:t>A      B      C</a:t>
              </a:r>
            </a:p>
          </p:txBody>
        </p:sp>
        <p:sp>
          <p:nvSpPr>
            <p:cNvPr id="124994" name="Text Box 23"/>
            <p:cNvSpPr txBox="1">
              <a:spLocks noChangeArrowheads="1"/>
            </p:cNvSpPr>
            <p:nvPr/>
          </p:nvSpPr>
          <p:spPr bwMode="auto">
            <a:xfrm>
              <a:off x="1004" y="834"/>
              <a:ext cx="256" cy="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0</a:t>
              </a:r>
            </a:p>
            <a:p>
              <a:pPr algn="l" eaLnBrk="1" hangingPunct="1">
                <a:lnSpc>
                  <a:spcPts val="2200"/>
                </a:lnSpc>
              </a:pPr>
              <a:endParaRPr kumimoji="1" lang="en-US" altLang="zh-CN" sz="1600" b="1">
                <a:solidFill>
                  <a:schemeClr val="tx1"/>
                </a:solidFill>
                <a:latin typeface="Times New Roman" pitchFamily="18" charset="0"/>
              </a:endParaRPr>
            </a:p>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1</a:t>
              </a:r>
            </a:p>
            <a:p>
              <a:pPr algn="l" eaLnBrk="1" hangingPunct="1">
                <a:lnSpc>
                  <a:spcPts val="2200"/>
                </a:lnSpc>
              </a:pPr>
              <a:endParaRPr kumimoji="1" lang="en-US" altLang="zh-CN" sz="1600" b="1">
                <a:solidFill>
                  <a:schemeClr val="tx1"/>
                </a:solidFill>
                <a:latin typeface="Times New Roman" pitchFamily="18" charset="0"/>
              </a:endParaRPr>
            </a:p>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2</a:t>
              </a:r>
            </a:p>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3</a:t>
              </a:r>
            </a:p>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4</a:t>
              </a:r>
            </a:p>
          </p:txBody>
        </p:sp>
        <p:sp>
          <p:nvSpPr>
            <p:cNvPr id="124995" name="Text Box 24"/>
            <p:cNvSpPr txBox="1">
              <a:spLocks noChangeArrowheads="1"/>
            </p:cNvSpPr>
            <p:nvPr/>
          </p:nvSpPr>
          <p:spPr bwMode="auto">
            <a:xfrm>
              <a:off x="2724" y="83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0      1      0</a:t>
              </a:r>
            </a:p>
          </p:txBody>
        </p:sp>
        <p:sp>
          <p:nvSpPr>
            <p:cNvPr id="124996" name="Text Box 25"/>
            <p:cNvSpPr txBox="1">
              <a:spLocks noChangeArrowheads="1"/>
            </p:cNvSpPr>
            <p:nvPr/>
          </p:nvSpPr>
          <p:spPr bwMode="auto">
            <a:xfrm>
              <a:off x="1779" y="119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3      2      2</a:t>
              </a:r>
            </a:p>
          </p:txBody>
        </p:sp>
        <p:sp>
          <p:nvSpPr>
            <p:cNvPr id="124997" name="Text Box 26"/>
            <p:cNvSpPr txBox="1">
              <a:spLocks noChangeArrowheads="1"/>
            </p:cNvSpPr>
            <p:nvPr/>
          </p:nvSpPr>
          <p:spPr bwMode="auto">
            <a:xfrm>
              <a:off x="1779" y="1545"/>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9      0      2</a:t>
              </a:r>
            </a:p>
          </p:txBody>
        </p:sp>
        <p:sp>
          <p:nvSpPr>
            <p:cNvPr id="124998" name="Text Box 27"/>
            <p:cNvSpPr txBox="1">
              <a:spLocks noChangeArrowheads="1"/>
            </p:cNvSpPr>
            <p:nvPr/>
          </p:nvSpPr>
          <p:spPr bwMode="auto">
            <a:xfrm>
              <a:off x="1779" y="1714"/>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2      2      2</a:t>
              </a:r>
            </a:p>
          </p:txBody>
        </p:sp>
        <p:sp>
          <p:nvSpPr>
            <p:cNvPr id="124999" name="Text Box 28"/>
            <p:cNvSpPr txBox="1">
              <a:spLocks noChangeArrowheads="1"/>
            </p:cNvSpPr>
            <p:nvPr/>
          </p:nvSpPr>
          <p:spPr bwMode="auto">
            <a:xfrm>
              <a:off x="1779" y="1894"/>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4      3      3</a:t>
              </a:r>
            </a:p>
          </p:txBody>
        </p:sp>
        <p:sp>
          <p:nvSpPr>
            <p:cNvPr id="125000" name="Text Box 29"/>
            <p:cNvSpPr txBox="1">
              <a:spLocks noChangeArrowheads="1"/>
            </p:cNvSpPr>
            <p:nvPr/>
          </p:nvSpPr>
          <p:spPr bwMode="auto">
            <a:xfrm>
              <a:off x="2724" y="119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2      0      0</a:t>
              </a:r>
            </a:p>
          </p:txBody>
        </p:sp>
        <p:sp>
          <p:nvSpPr>
            <p:cNvPr id="125001" name="Text Box 30"/>
            <p:cNvSpPr txBox="1">
              <a:spLocks noChangeArrowheads="1"/>
            </p:cNvSpPr>
            <p:nvPr/>
          </p:nvSpPr>
          <p:spPr bwMode="auto">
            <a:xfrm>
              <a:off x="2688" y="1412"/>
              <a:ext cx="8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endParaRPr kumimoji="1" lang="zh-CN" altLang="zh-CN" sz="1600" b="1">
                <a:solidFill>
                  <a:schemeClr val="hlink"/>
                </a:solidFill>
                <a:latin typeface="Times New Roman" pitchFamily="18" charset="0"/>
              </a:endParaRPr>
            </a:p>
          </p:txBody>
        </p:sp>
        <p:sp>
          <p:nvSpPr>
            <p:cNvPr id="125002" name="Text Box 31"/>
            <p:cNvSpPr txBox="1">
              <a:spLocks noChangeArrowheads="1"/>
            </p:cNvSpPr>
            <p:nvPr/>
          </p:nvSpPr>
          <p:spPr bwMode="auto">
            <a:xfrm>
              <a:off x="2724" y="1545"/>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sp>
          <p:nvSpPr>
            <p:cNvPr id="125003" name="Text Box 32"/>
            <p:cNvSpPr txBox="1">
              <a:spLocks noChangeArrowheads="1"/>
            </p:cNvSpPr>
            <p:nvPr/>
          </p:nvSpPr>
          <p:spPr bwMode="auto">
            <a:xfrm>
              <a:off x="2724" y="1718"/>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2      1      1</a:t>
              </a:r>
            </a:p>
          </p:txBody>
        </p:sp>
        <p:sp>
          <p:nvSpPr>
            <p:cNvPr id="125004" name="Text Box 33"/>
            <p:cNvSpPr txBox="1">
              <a:spLocks noChangeArrowheads="1"/>
            </p:cNvSpPr>
            <p:nvPr/>
          </p:nvSpPr>
          <p:spPr bwMode="auto">
            <a:xfrm>
              <a:off x="2724" y="1898"/>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0      0      2</a:t>
              </a:r>
            </a:p>
          </p:txBody>
        </p:sp>
        <p:sp>
          <p:nvSpPr>
            <p:cNvPr id="125005" name="Text Box 34"/>
            <p:cNvSpPr txBox="1">
              <a:spLocks noChangeArrowheads="1"/>
            </p:cNvSpPr>
            <p:nvPr/>
          </p:nvSpPr>
          <p:spPr bwMode="auto">
            <a:xfrm>
              <a:off x="3624" y="83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25006" name="Text Box 36"/>
            <p:cNvSpPr txBox="1">
              <a:spLocks noChangeArrowheads="1"/>
            </p:cNvSpPr>
            <p:nvPr/>
          </p:nvSpPr>
          <p:spPr bwMode="auto">
            <a:xfrm>
              <a:off x="3592" y="1412"/>
              <a:ext cx="8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endParaRPr kumimoji="1" lang="zh-CN" altLang="zh-CN" sz="1600" b="1">
                <a:solidFill>
                  <a:schemeClr val="hlink"/>
                </a:solidFill>
                <a:latin typeface="Times New Roman" pitchFamily="18" charset="0"/>
              </a:endParaRPr>
            </a:p>
          </p:txBody>
        </p:sp>
        <p:sp>
          <p:nvSpPr>
            <p:cNvPr id="125007" name="Text Box 37"/>
            <p:cNvSpPr txBox="1">
              <a:spLocks noChangeArrowheads="1"/>
            </p:cNvSpPr>
            <p:nvPr/>
          </p:nvSpPr>
          <p:spPr bwMode="auto">
            <a:xfrm>
              <a:off x="3624" y="155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6      0      0</a:t>
              </a:r>
            </a:p>
          </p:txBody>
        </p:sp>
        <p:sp>
          <p:nvSpPr>
            <p:cNvPr id="125008" name="Text Box 38"/>
            <p:cNvSpPr txBox="1">
              <a:spLocks noChangeArrowheads="1"/>
            </p:cNvSpPr>
            <p:nvPr/>
          </p:nvSpPr>
          <p:spPr bwMode="auto">
            <a:xfrm>
              <a:off x="3624" y="1718"/>
              <a:ext cx="74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0      1      1</a:t>
              </a:r>
            </a:p>
          </p:txBody>
        </p:sp>
        <p:sp>
          <p:nvSpPr>
            <p:cNvPr id="125009" name="Text Box 39"/>
            <p:cNvSpPr txBox="1">
              <a:spLocks noChangeArrowheads="1"/>
            </p:cNvSpPr>
            <p:nvPr/>
          </p:nvSpPr>
          <p:spPr bwMode="auto">
            <a:xfrm>
              <a:off x="3624" y="1895"/>
              <a:ext cx="69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4      3      1</a:t>
              </a:r>
            </a:p>
          </p:txBody>
        </p:sp>
        <p:sp>
          <p:nvSpPr>
            <p:cNvPr id="125010" name="Text Box 40"/>
            <p:cNvSpPr txBox="1">
              <a:spLocks noChangeArrowheads="1"/>
            </p:cNvSpPr>
            <p:nvPr/>
          </p:nvSpPr>
          <p:spPr bwMode="auto">
            <a:xfrm>
              <a:off x="4524" y="83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3      3      2</a:t>
              </a:r>
            </a:p>
          </p:txBody>
        </p:sp>
        <p:sp>
          <p:nvSpPr>
            <p:cNvPr id="125011" name="Text Box 41"/>
            <p:cNvSpPr txBox="1">
              <a:spLocks noChangeArrowheads="1"/>
            </p:cNvSpPr>
            <p:nvPr/>
          </p:nvSpPr>
          <p:spPr bwMode="auto">
            <a:xfrm>
              <a:off x="4552" y="1096"/>
              <a:ext cx="8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endParaRPr kumimoji="1" lang="zh-CN" altLang="zh-CN" sz="1600" b="1">
                <a:solidFill>
                  <a:schemeClr val="hlink"/>
                </a:solidFill>
                <a:latin typeface="Times New Roman" pitchFamily="18" charset="0"/>
              </a:endParaRPr>
            </a:p>
          </p:txBody>
        </p:sp>
        <p:sp>
          <p:nvSpPr>
            <p:cNvPr id="125012" name="Text Box 42"/>
            <p:cNvSpPr txBox="1">
              <a:spLocks noChangeArrowheads="1"/>
            </p:cNvSpPr>
            <p:nvPr/>
          </p:nvSpPr>
          <p:spPr bwMode="auto">
            <a:xfrm>
              <a:off x="1779" y="83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7      5      3</a:t>
              </a:r>
            </a:p>
          </p:txBody>
        </p:sp>
      </p:grpSp>
      <p:sp>
        <p:nvSpPr>
          <p:cNvPr id="122917" name="Text Box 43"/>
          <p:cNvSpPr txBox="1">
            <a:spLocks noChangeArrowheads="1"/>
          </p:cNvSpPr>
          <p:nvPr/>
        </p:nvSpPr>
        <p:spPr bwMode="auto">
          <a:xfrm>
            <a:off x="1583267" y="3567113"/>
            <a:ext cx="1008907"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资源情况</a:t>
            </a:r>
          </a:p>
        </p:txBody>
      </p:sp>
      <p:sp>
        <p:nvSpPr>
          <p:cNvPr id="122918" name="Text Box 44"/>
          <p:cNvSpPr txBox="1">
            <a:spLocks noChangeArrowheads="1"/>
          </p:cNvSpPr>
          <p:nvPr/>
        </p:nvSpPr>
        <p:spPr bwMode="auto">
          <a:xfrm>
            <a:off x="1100667" y="4025900"/>
            <a:ext cx="59533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进程</a:t>
            </a:r>
          </a:p>
        </p:txBody>
      </p:sp>
      <p:sp>
        <p:nvSpPr>
          <p:cNvPr id="122919" name="Text Box 45"/>
          <p:cNvSpPr txBox="1">
            <a:spLocks noChangeArrowheads="1"/>
          </p:cNvSpPr>
          <p:nvPr/>
        </p:nvSpPr>
        <p:spPr bwMode="auto">
          <a:xfrm>
            <a:off x="5048251" y="3627439"/>
            <a:ext cx="1809749"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Need</a:t>
            </a:r>
          </a:p>
          <a:p>
            <a:pPr eaLnBrk="1" hangingPunct="1"/>
            <a:r>
              <a:rPr kumimoji="1" lang="en-US" altLang="zh-CN" sz="1600" b="1">
                <a:solidFill>
                  <a:schemeClr val="tx1"/>
                </a:solidFill>
                <a:latin typeface="Times New Roman" pitchFamily="18" charset="0"/>
              </a:rPr>
              <a:t>A      B      C</a:t>
            </a:r>
          </a:p>
        </p:txBody>
      </p:sp>
      <p:sp>
        <p:nvSpPr>
          <p:cNvPr id="122920" name="Text Box 46"/>
          <p:cNvSpPr txBox="1">
            <a:spLocks noChangeArrowheads="1"/>
          </p:cNvSpPr>
          <p:nvPr/>
        </p:nvSpPr>
        <p:spPr bwMode="auto">
          <a:xfrm>
            <a:off x="2952752" y="3627439"/>
            <a:ext cx="2000249"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EA30EA"/>
                </a:solidFill>
                <a:latin typeface="Times New Roman" pitchFamily="18" charset="0"/>
              </a:rPr>
              <a:t>work</a:t>
            </a:r>
          </a:p>
          <a:p>
            <a:pPr eaLnBrk="1" hangingPunct="1"/>
            <a:r>
              <a:rPr kumimoji="1" lang="en-US" altLang="zh-CN" sz="1600" b="1">
                <a:solidFill>
                  <a:schemeClr val="tx1"/>
                </a:solidFill>
                <a:latin typeface="Times New Roman" pitchFamily="18" charset="0"/>
              </a:rPr>
              <a:t>A      B      C</a:t>
            </a:r>
          </a:p>
        </p:txBody>
      </p:sp>
      <p:sp>
        <p:nvSpPr>
          <p:cNvPr id="122921" name="Text Box 47"/>
          <p:cNvSpPr txBox="1">
            <a:spLocks noChangeArrowheads="1"/>
          </p:cNvSpPr>
          <p:nvPr/>
        </p:nvSpPr>
        <p:spPr bwMode="auto">
          <a:xfrm>
            <a:off x="8801100" y="3656013"/>
            <a:ext cx="2169584"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400" b="1">
                <a:solidFill>
                  <a:srgbClr val="EA30EA"/>
                </a:solidFill>
                <a:latin typeface="Times New Roman" pitchFamily="18" charset="0"/>
              </a:rPr>
              <a:t>Work</a:t>
            </a:r>
            <a:r>
              <a:rPr kumimoji="1" lang="zh-CN" altLang="en-US" sz="1400" b="1">
                <a:solidFill>
                  <a:schemeClr val="tx1"/>
                </a:solidFill>
                <a:latin typeface="Times New Roman" pitchFamily="18" charset="0"/>
              </a:rPr>
              <a:t>＋</a:t>
            </a:r>
            <a:r>
              <a:rPr kumimoji="1" lang="en-US" altLang="zh-CN" sz="1400" b="1">
                <a:solidFill>
                  <a:srgbClr val="3DAD27"/>
                </a:solidFill>
                <a:latin typeface="Times New Roman" pitchFamily="18" charset="0"/>
              </a:rPr>
              <a:t>Allocation</a:t>
            </a:r>
          </a:p>
          <a:p>
            <a:pPr eaLnBrk="1" hangingPunct="1"/>
            <a:r>
              <a:rPr kumimoji="1" lang="en-US" altLang="zh-CN" sz="1600" b="1">
                <a:solidFill>
                  <a:schemeClr val="tx1"/>
                </a:solidFill>
                <a:latin typeface="Times New Roman" pitchFamily="18" charset="0"/>
              </a:rPr>
              <a:t>     A      B      C</a:t>
            </a:r>
          </a:p>
        </p:txBody>
      </p:sp>
      <p:sp>
        <p:nvSpPr>
          <p:cNvPr id="122922" name="Text Box 48"/>
          <p:cNvSpPr txBox="1">
            <a:spLocks noChangeArrowheads="1"/>
          </p:cNvSpPr>
          <p:nvPr/>
        </p:nvSpPr>
        <p:spPr bwMode="auto">
          <a:xfrm>
            <a:off x="6978651" y="3630613"/>
            <a:ext cx="195368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3DAD27"/>
                </a:solidFill>
                <a:latin typeface="Times New Roman" pitchFamily="18" charset="0"/>
              </a:rPr>
              <a:t>   Allocation</a:t>
            </a:r>
          </a:p>
          <a:p>
            <a:pPr eaLnBrk="1" hangingPunct="1"/>
            <a:r>
              <a:rPr kumimoji="1" lang="en-US" altLang="zh-CN" sz="1600" b="1">
                <a:solidFill>
                  <a:schemeClr val="tx1"/>
                </a:solidFill>
                <a:latin typeface="Times New Roman" pitchFamily="18" charset="0"/>
              </a:rPr>
              <a:t>   A      B      C</a:t>
            </a:r>
          </a:p>
        </p:txBody>
      </p:sp>
      <p:grpSp>
        <p:nvGrpSpPr>
          <p:cNvPr id="4" name="Group 50"/>
          <p:cNvGrpSpPr>
            <a:grpSpLocks/>
          </p:cNvGrpSpPr>
          <p:nvPr/>
        </p:nvGrpSpPr>
        <p:grpSpPr bwMode="auto">
          <a:xfrm>
            <a:off x="812800" y="3554413"/>
            <a:ext cx="10871200" cy="3014662"/>
            <a:chOff x="384" y="2256"/>
            <a:chExt cx="5136" cy="1899"/>
          </a:xfrm>
        </p:grpSpPr>
        <p:grpSp>
          <p:nvGrpSpPr>
            <p:cNvPr id="124974" name="Group 51"/>
            <p:cNvGrpSpPr>
              <a:grpSpLocks/>
            </p:cNvGrpSpPr>
            <p:nvPr/>
          </p:nvGrpSpPr>
          <p:grpSpPr bwMode="auto">
            <a:xfrm>
              <a:off x="384" y="2256"/>
              <a:ext cx="4727" cy="1899"/>
              <a:chOff x="576" y="1728"/>
              <a:chExt cx="4608" cy="2256"/>
            </a:xfrm>
          </p:grpSpPr>
          <p:sp>
            <p:nvSpPr>
              <p:cNvPr id="124979" name="Rectangle 52"/>
              <p:cNvSpPr>
                <a:spLocks noChangeArrowheads="1"/>
              </p:cNvSpPr>
              <p:nvPr/>
            </p:nvSpPr>
            <p:spPr bwMode="auto">
              <a:xfrm>
                <a:off x="576" y="1728"/>
                <a:ext cx="4608" cy="2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4980" name="Line 53"/>
              <p:cNvSpPr>
                <a:spLocks noChangeShapeType="1"/>
              </p:cNvSpPr>
              <p:nvPr/>
            </p:nvSpPr>
            <p:spPr bwMode="auto">
              <a:xfrm>
                <a:off x="576" y="2352"/>
                <a:ext cx="46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981" name="Line 54"/>
              <p:cNvSpPr>
                <a:spLocks noChangeShapeType="1"/>
              </p:cNvSpPr>
              <p:nvPr/>
            </p:nvSpPr>
            <p:spPr bwMode="auto">
              <a:xfrm>
                <a:off x="153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982" name="Line 55"/>
              <p:cNvSpPr>
                <a:spLocks noChangeShapeType="1"/>
              </p:cNvSpPr>
              <p:nvPr/>
            </p:nvSpPr>
            <p:spPr bwMode="auto">
              <a:xfrm>
                <a:off x="3408"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983" name="Line 56"/>
              <p:cNvSpPr>
                <a:spLocks noChangeShapeType="1"/>
              </p:cNvSpPr>
              <p:nvPr/>
            </p:nvSpPr>
            <p:spPr bwMode="auto">
              <a:xfrm>
                <a:off x="249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984" name="Line 57"/>
              <p:cNvSpPr>
                <a:spLocks noChangeShapeType="1"/>
              </p:cNvSpPr>
              <p:nvPr/>
            </p:nvSpPr>
            <p:spPr bwMode="auto">
              <a:xfrm>
                <a:off x="4320"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985" name="Line 58"/>
              <p:cNvSpPr>
                <a:spLocks noChangeShapeType="1"/>
              </p:cNvSpPr>
              <p:nvPr/>
            </p:nvSpPr>
            <p:spPr bwMode="auto">
              <a:xfrm>
                <a:off x="576" y="1728"/>
                <a:ext cx="960" cy="62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24975" name="Line 59"/>
            <p:cNvSpPr>
              <a:spLocks noChangeShapeType="1"/>
            </p:cNvSpPr>
            <p:nvPr/>
          </p:nvSpPr>
          <p:spPr bwMode="auto">
            <a:xfrm>
              <a:off x="5065" y="2256"/>
              <a:ext cx="45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976" name="Line 60"/>
            <p:cNvSpPr>
              <a:spLocks noChangeShapeType="1"/>
            </p:cNvSpPr>
            <p:nvPr/>
          </p:nvSpPr>
          <p:spPr bwMode="auto">
            <a:xfrm>
              <a:off x="5520" y="2256"/>
              <a:ext cx="0" cy="1899"/>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977" name="Line 61"/>
            <p:cNvSpPr>
              <a:spLocks noChangeShapeType="1"/>
            </p:cNvSpPr>
            <p:nvPr/>
          </p:nvSpPr>
          <p:spPr bwMode="auto">
            <a:xfrm>
              <a:off x="5111" y="4155"/>
              <a:ext cx="409"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978" name="Line 62"/>
            <p:cNvSpPr>
              <a:spLocks noChangeShapeType="1"/>
            </p:cNvSpPr>
            <p:nvPr/>
          </p:nvSpPr>
          <p:spPr bwMode="auto">
            <a:xfrm>
              <a:off x="5111" y="2784"/>
              <a:ext cx="409"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22925" name="Text Box 63"/>
          <p:cNvSpPr txBox="1">
            <a:spLocks noChangeArrowheads="1"/>
          </p:cNvSpPr>
          <p:nvPr/>
        </p:nvSpPr>
        <p:spPr bwMode="auto">
          <a:xfrm>
            <a:off x="10720918" y="3692525"/>
            <a:ext cx="781281"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 Finish</a:t>
            </a:r>
          </a:p>
        </p:txBody>
      </p:sp>
      <p:sp>
        <p:nvSpPr>
          <p:cNvPr id="436316" name="Rectangle 92"/>
          <p:cNvSpPr>
            <a:spLocks noChangeArrowheads="1"/>
          </p:cNvSpPr>
          <p:nvPr/>
        </p:nvSpPr>
        <p:spPr bwMode="auto">
          <a:xfrm>
            <a:off x="609601" y="3249613"/>
            <a:ext cx="685025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a:solidFill>
                  <a:srgbClr val="000000"/>
                </a:solidFill>
                <a:latin typeface="宋体" pitchFamily="2" charset="-122"/>
              </a:rPr>
              <a:t>工作向量</a:t>
            </a:r>
            <a:r>
              <a:rPr kumimoji="1" lang="en-US" altLang="zh-CN" sz="1600">
                <a:solidFill>
                  <a:srgbClr val="EA30EA"/>
                </a:solidFill>
                <a:latin typeface="宋体" pitchFamily="2" charset="-122"/>
              </a:rPr>
              <a:t>Work</a:t>
            </a:r>
            <a:r>
              <a:rPr kumimoji="1" lang="en-US" altLang="zh-CN" sz="1600">
                <a:solidFill>
                  <a:srgbClr val="000000"/>
                </a:solidFill>
                <a:latin typeface="宋体" pitchFamily="2" charset="-122"/>
              </a:rPr>
              <a:t>.</a:t>
            </a:r>
            <a:r>
              <a:rPr kumimoji="1" lang="zh-CN" altLang="en-US" sz="1600">
                <a:solidFill>
                  <a:srgbClr val="000000"/>
                </a:solidFill>
                <a:latin typeface="宋体" pitchFamily="2" charset="-122"/>
              </a:rPr>
              <a:t>它表示系统可提供给进程继续运行所需要的各类资源的数目</a:t>
            </a:r>
          </a:p>
        </p:txBody>
      </p:sp>
      <p:sp>
        <p:nvSpPr>
          <p:cNvPr id="124942" name="Text Box 93"/>
          <p:cNvSpPr txBox="1">
            <a:spLocks noChangeArrowheads="1"/>
          </p:cNvSpPr>
          <p:nvPr/>
        </p:nvSpPr>
        <p:spPr bwMode="auto">
          <a:xfrm>
            <a:off x="1" y="951866"/>
            <a:ext cx="822959"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2000" dirty="0">
                <a:solidFill>
                  <a:schemeClr val="tx1"/>
                </a:solidFill>
                <a:latin typeface="Times New Roman" pitchFamily="18" charset="0"/>
              </a:rPr>
              <a:t>10,5 7</a:t>
            </a:r>
          </a:p>
        </p:txBody>
      </p:sp>
      <p:sp>
        <p:nvSpPr>
          <p:cNvPr id="99" name="Text Box 49"/>
          <p:cNvSpPr txBox="1">
            <a:spLocks noChangeArrowheads="1"/>
          </p:cNvSpPr>
          <p:nvPr/>
        </p:nvSpPr>
        <p:spPr bwMode="auto">
          <a:xfrm>
            <a:off x="1625600" y="4316413"/>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1</a:t>
            </a:r>
          </a:p>
        </p:txBody>
      </p:sp>
      <p:sp>
        <p:nvSpPr>
          <p:cNvPr id="101" name="Text Box 65"/>
          <p:cNvSpPr txBox="1">
            <a:spLocks noChangeArrowheads="1"/>
          </p:cNvSpPr>
          <p:nvPr/>
        </p:nvSpPr>
        <p:spPr bwMode="auto">
          <a:xfrm>
            <a:off x="10902951" y="4414838"/>
            <a:ext cx="54724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02" name="Text Box 66"/>
          <p:cNvSpPr txBox="1">
            <a:spLocks noChangeArrowheads="1"/>
          </p:cNvSpPr>
          <p:nvPr/>
        </p:nvSpPr>
        <p:spPr bwMode="auto">
          <a:xfrm>
            <a:off x="10902951" y="4805363"/>
            <a:ext cx="825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03" name="Text Box 67"/>
          <p:cNvSpPr txBox="1">
            <a:spLocks noChangeArrowheads="1"/>
          </p:cNvSpPr>
          <p:nvPr/>
        </p:nvSpPr>
        <p:spPr bwMode="auto">
          <a:xfrm>
            <a:off x="10890251" y="5214938"/>
            <a:ext cx="825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04" name="Text Box 68"/>
          <p:cNvSpPr txBox="1">
            <a:spLocks noChangeArrowheads="1"/>
          </p:cNvSpPr>
          <p:nvPr/>
        </p:nvSpPr>
        <p:spPr bwMode="auto">
          <a:xfrm>
            <a:off x="10890251" y="5643563"/>
            <a:ext cx="825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05" name="Text Box 69"/>
          <p:cNvSpPr txBox="1">
            <a:spLocks noChangeArrowheads="1"/>
          </p:cNvSpPr>
          <p:nvPr/>
        </p:nvSpPr>
        <p:spPr bwMode="auto">
          <a:xfrm>
            <a:off x="10890251" y="6072188"/>
            <a:ext cx="825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08" name="Text Box 72"/>
          <p:cNvSpPr txBox="1">
            <a:spLocks noChangeArrowheads="1"/>
          </p:cNvSpPr>
          <p:nvPr/>
        </p:nvSpPr>
        <p:spPr bwMode="auto">
          <a:xfrm>
            <a:off x="9241367" y="4429126"/>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5      3      2</a:t>
            </a:r>
          </a:p>
        </p:txBody>
      </p:sp>
      <p:sp>
        <p:nvSpPr>
          <p:cNvPr id="109" name="Text Box 73"/>
          <p:cNvSpPr txBox="1">
            <a:spLocks noChangeArrowheads="1"/>
          </p:cNvSpPr>
          <p:nvPr/>
        </p:nvSpPr>
        <p:spPr bwMode="auto">
          <a:xfrm>
            <a:off x="9239251" y="4824413"/>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13" name="Text Box 77"/>
          <p:cNvSpPr txBox="1">
            <a:spLocks noChangeArrowheads="1"/>
          </p:cNvSpPr>
          <p:nvPr/>
        </p:nvSpPr>
        <p:spPr bwMode="auto">
          <a:xfrm>
            <a:off x="9239251" y="522605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7      4      5</a:t>
            </a:r>
          </a:p>
        </p:txBody>
      </p:sp>
      <p:sp>
        <p:nvSpPr>
          <p:cNvPr id="114" name="Text Box 78"/>
          <p:cNvSpPr txBox="1">
            <a:spLocks noChangeArrowheads="1"/>
          </p:cNvSpPr>
          <p:nvPr/>
        </p:nvSpPr>
        <p:spPr bwMode="auto">
          <a:xfrm>
            <a:off x="3143251" y="5672138"/>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7      4      5</a:t>
            </a:r>
          </a:p>
        </p:txBody>
      </p:sp>
      <p:sp>
        <p:nvSpPr>
          <p:cNvPr id="117" name="Text Box 81"/>
          <p:cNvSpPr txBox="1">
            <a:spLocks noChangeArrowheads="1"/>
          </p:cNvSpPr>
          <p:nvPr/>
        </p:nvSpPr>
        <p:spPr bwMode="auto">
          <a:xfrm>
            <a:off x="9222317" y="5672138"/>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7      5      5</a:t>
            </a:r>
          </a:p>
        </p:txBody>
      </p:sp>
      <p:sp>
        <p:nvSpPr>
          <p:cNvPr id="118" name="Text Box 82"/>
          <p:cNvSpPr txBox="1">
            <a:spLocks noChangeArrowheads="1"/>
          </p:cNvSpPr>
          <p:nvPr/>
        </p:nvSpPr>
        <p:spPr bwMode="auto">
          <a:xfrm>
            <a:off x="3143251" y="6091238"/>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7      5      5</a:t>
            </a:r>
          </a:p>
        </p:txBody>
      </p:sp>
      <p:sp>
        <p:nvSpPr>
          <p:cNvPr id="121" name="Text Box 85"/>
          <p:cNvSpPr txBox="1">
            <a:spLocks noChangeArrowheads="1"/>
          </p:cNvSpPr>
          <p:nvPr/>
        </p:nvSpPr>
        <p:spPr bwMode="auto">
          <a:xfrm>
            <a:off x="9144000" y="6091238"/>
            <a:ext cx="1156384"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10     5      7</a:t>
            </a:r>
          </a:p>
        </p:txBody>
      </p:sp>
      <p:sp>
        <p:nvSpPr>
          <p:cNvPr id="122" name="Text Box 49"/>
          <p:cNvSpPr txBox="1">
            <a:spLocks noChangeArrowheads="1"/>
          </p:cNvSpPr>
          <p:nvPr/>
        </p:nvSpPr>
        <p:spPr bwMode="auto">
          <a:xfrm>
            <a:off x="1625600" y="4702175"/>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3</a:t>
            </a:r>
          </a:p>
        </p:txBody>
      </p:sp>
      <p:sp>
        <p:nvSpPr>
          <p:cNvPr id="123" name="Text Box 49"/>
          <p:cNvSpPr txBox="1">
            <a:spLocks noChangeArrowheads="1"/>
          </p:cNvSpPr>
          <p:nvPr/>
        </p:nvSpPr>
        <p:spPr bwMode="auto">
          <a:xfrm>
            <a:off x="1619251" y="5114925"/>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4</a:t>
            </a:r>
          </a:p>
        </p:txBody>
      </p:sp>
      <p:sp>
        <p:nvSpPr>
          <p:cNvPr id="124" name="Text Box 49"/>
          <p:cNvSpPr txBox="1">
            <a:spLocks noChangeArrowheads="1"/>
          </p:cNvSpPr>
          <p:nvPr/>
        </p:nvSpPr>
        <p:spPr bwMode="auto">
          <a:xfrm>
            <a:off x="1619251" y="5543550"/>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0</a:t>
            </a:r>
          </a:p>
        </p:txBody>
      </p:sp>
      <p:sp>
        <p:nvSpPr>
          <p:cNvPr id="125" name="Text Box 49"/>
          <p:cNvSpPr txBox="1">
            <a:spLocks noChangeArrowheads="1"/>
          </p:cNvSpPr>
          <p:nvPr/>
        </p:nvSpPr>
        <p:spPr bwMode="auto">
          <a:xfrm>
            <a:off x="1619251" y="5972175"/>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2</a:t>
            </a:r>
          </a:p>
        </p:txBody>
      </p:sp>
      <p:sp>
        <p:nvSpPr>
          <p:cNvPr id="128" name="Text Box 40"/>
          <p:cNvSpPr txBox="1">
            <a:spLocks noChangeArrowheads="1"/>
          </p:cNvSpPr>
          <p:nvPr/>
        </p:nvSpPr>
        <p:spPr bwMode="auto">
          <a:xfrm>
            <a:off x="9290051" y="11430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3      3      2</a:t>
            </a:r>
          </a:p>
        </p:txBody>
      </p:sp>
      <p:sp>
        <p:nvSpPr>
          <p:cNvPr id="129" name="Text Box 35"/>
          <p:cNvSpPr txBox="1">
            <a:spLocks noChangeArrowheads="1"/>
          </p:cNvSpPr>
          <p:nvPr/>
        </p:nvSpPr>
        <p:spPr bwMode="auto">
          <a:xfrm>
            <a:off x="7385051" y="1714500"/>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1      2      2</a:t>
            </a:r>
          </a:p>
        </p:txBody>
      </p:sp>
      <p:sp>
        <p:nvSpPr>
          <p:cNvPr id="130" name="Text Box 29"/>
          <p:cNvSpPr txBox="1">
            <a:spLocks noChangeArrowheads="1"/>
          </p:cNvSpPr>
          <p:nvPr/>
        </p:nvSpPr>
        <p:spPr bwMode="auto">
          <a:xfrm>
            <a:off x="5480051" y="1714500"/>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2      0      0</a:t>
            </a:r>
          </a:p>
        </p:txBody>
      </p:sp>
      <p:sp>
        <p:nvSpPr>
          <p:cNvPr id="132" name="Text Box 72"/>
          <p:cNvSpPr txBox="1">
            <a:spLocks noChangeArrowheads="1"/>
          </p:cNvSpPr>
          <p:nvPr/>
        </p:nvSpPr>
        <p:spPr bwMode="auto">
          <a:xfrm>
            <a:off x="3155951" y="4821238"/>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5      3      2</a:t>
            </a:r>
          </a:p>
        </p:txBody>
      </p:sp>
      <p:sp>
        <p:nvSpPr>
          <p:cNvPr id="133" name="Text Box 38"/>
          <p:cNvSpPr txBox="1">
            <a:spLocks noChangeArrowheads="1"/>
          </p:cNvSpPr>
          <p:nvPr/>
        </p:nvSpPr>
        <p:spPr bwMode="auto">
          <a:xfrm>
            <a:off x="7385051" y="2540001"/>
            <a:ext cx="14732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0      1      1</a:t>
            </a:r>
          </a:p>
        </p:txBody>
      </p:sp>
      <p:sp>
        <p:nvSpPr>
          <p:cNvPr id="134" name="Text Box 32"/>
          <p:cNvSpPr txBox="1">
            <a:spLocks noChangeArrowheads="1"/>
          </p:cNvSpPr>
          <p:nvPr/>
        </p:nvSpPr>
        <p:spPr bwMode="auto">
          <a:xfrm>
            <a:off x="5480051" y="25400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2      1      1</a:t>
            </a:r>
          </a:p>
        </p:txBody>
      </p:sp>
      <p:sp>
        <p:nvSpPr>
          <p:cNvPr id="135" name="Text Box 73"/>
          <p:cNvSpPr txBox="1">
            <a:spLocks noChangeArrowheads="1"/>
          </p:cNvSpPr>
          <p:nvPr/>
        </p:nvSpPr>
        <p:spPr bwMode="auto">
          <a:xfrm>
            <a:off x="3143251" y="5233988"/>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37" name="Text Box 39"/>
          <p:cNvSpPr txBox="1">
            <a:spLocks noChangeArrowheads="1"/>
          </p:cNvSpPr>
          <p:nvPr/>
        </p:nvSpPr>
        <p:spPr bwMode="auto">
          <a:xfrm>
            <a:off x="7385051" y="2828926"/>
            <a:ext cx="14732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4      3      1</a:t>
            </a:r>
          </a:p>
        </p:txBody>
      </p:sp>
      <p:sp>
        <p:nvSpPr>
          <p:cNvPr id="138" name="Text Box 33"/>
          <p:cNvSpPr txBox="1">
            <a:spLocks noChangeArrowheads="1"/>
          </p:cNvSpPr>
          <p:nvPr/>
        </p:nvSpPr>
        <p:spPr bwMode="auto">
          <a:xfrm>
            <a:off x="5480051" y="2828926"/>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0      0      2</a:t>
            </a:r>
          </a:p>
        </p:txBody>
      </p:sp>
      <p:sp>
        <p:nvSpPr>
          <p:cNvPr id="139" name="Text Box 34"/>
          <p:cNvSpPr txBox="1">
            <a:spLocks noChangeArrowheads="1"/>
          </p:cNvSpPr>
          <p:nvPr/>
        </p:nvSpPr>
        <p:spPr bwMode="auto">
          <a:xfrm>
            <a:off x="7385051" y="11430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40" name="Text Box 24"/>
          <p:cNvSpPr txBox="1">
            <a:spLocks noChangeArrowheads="1"/>
          </p:cNvSpPr>
          <p:nvPr/>
        </p:nvSpPr>
        <p:spPr bwMode="auto">
          <a:xfrm>
            <a:off x="5480051" y="11430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0      1      0</a:t>
            </a:r>
          </a:p>
        </p:txBody>
      </p:sp>
      <p:sp>
        <p:nvSpPr>
          <p:cNvPr id="141" name="Text Box 37"/>
          <p:cNvSpPr txBox="1">
            <a:spLocks noChangeArrowheads="1"/>
          </p:cNvSpPr>
          <p:nvPr/>
        </p:nvSpPr>
        <p:spPr bwMode="auto">
          <a:xfrm>
            <a:off x="7385051" y="22860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6      0      0</a:t>
            </a:r>
          </a:p>
        </p:txBody>
      </p:sp>
      <p:sp>
        <p:nvSpPr>
          <p:cNvPr id="142" name="Text Box 31"/>
          <p:cNvSpPr txBox="1">
            <a:spLocks noChangeArrowheads="1"/>
          </p:cNvSpPr>
          <p:nvPr/>
        </p:nvSpPr>
        <p:spPr bwMode="auto">
          <a:xfrm>
            <a:off x="5480051" y="2276476"/>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spTree>
    <p:extLst>
      <p:ext uri="{BB962C8B-B14F-4D97-AF65-F5344CB8AC3E}">
        <p14:creationId xmlns:p14="http://schemas.microsoft.com/office/powerpoint/2010/main" val="4158079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7"/>
                                        </p:tgtEl>
                                        <p:attrNameLst>
                                          <p:attrName>style.visibility</p:attrName>
                                        </p:attrNameLst>
                                      </p:cBhvr>
                                      <p:to>
                                        <p:strVal val="visible"/>
                                      </p:to>
                                    </p:set>
                                    <p:anim calcmode="lin" valueType="num">
                                      <p:cBhvr additive="base">
                                        <p:cTn id="7" dur="500" fill="hold"/>
                                        <p:tgtEl>
                                          <p:spTgt spid="122917"/>
                                        </p:tgtEl>
                                        <p:attrNameLst>
                                          <p:attrName>ppt_x</p:attrName>
                                        </p:attrNameLst>
                                      </p:cBhvr>
                                      <p:tavLst>
                                        <p:tav tm="0">
                                          <p:val>
                                            <p:strVal val="#ppt_x"/>
                                          </p:val>
                                        </p:tav>
                                        <p:tav tm="100000">
                                          <p:val>
                                            <p:strVal val="#ppt_x"/>
                                          </p:val>
                                        </p:tav>
                                      </p:tavLst>
                                    </p:anim>
                                    <p:anim calcmode="lin" valueType="num">
                                      <p:cBhvr additive="base">
                                        <p:cTn id="8" dur="500" fill="hold"/>
                                        <p:tgtEl>
                                          <p:spTgt spid="1229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2918"/>
                                        </p:tgtEl>
                                        <p:attrNameLst>
                                          <p:attrName>style.visibility</p:attrName>
                                        </p:attrNameLst>
                                      </p:cBhvr>
                                      <p:to>
                                        <p:strVal val="visible"/>
                                      </p:to>
                                    </p:set>
                                    <p:anim calcmode="lin" valueType="num">
                                      <p:cBhvr additive="base">
                                        <p:cTn id="11" dur="500" fill="hold"/>
                                        <p:tgtEl>
                                          <p:spTgt spid="122918"/>
                                        </p:tgtEl>
                                        <p:attrNameLst>
                                          <p:attrName>ppt_x</p:attrName>
                                        </p:attrNameLst>
                                      </p:cBhvr>
                                      <p:tavLst>
                                        <p:tav tm="0">
                                          <p:val>
                                            <p:strVal val="#ppt_x"/>
                                          </p:val>
                                        </p:tav>
                                        <p:tav tm="100000">
                                          <p:val>
                                            <p:strVal val="#ppt_x"/>
                                          </p:val>
                                        </p:tav>
                                      </p:tavLst>
                                    </p:anim>
                                    <p:anim calcmode="lin" valueType="num">
                                      <p:cBhvr additive="base">
                                        <p:cTn id="12" dur="500" fill="hold"/>
                                        <p:tgtEl>
                                          <p:spTgt spid="12291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2919"/>
                                        </p:tgtEl>
                                        <p:attrNameLst>
                                          <p:attrName>style.visibility</p:attrName>
                                        </p:attrNameLst>
                                      </p:cBhvr>
                                      <p:to>
                                        <p:strVal val="visible"/>
                                      </p:to>
                                    </p:set>
                                    <p:anim calcmode="lin" valueType="num">
                                      <p:cBhvr additive="base">
                                        <p:cTn id="15" dur="500" fill="hold"/>
                                        <p:tgtEl>
                                          <p:spTgt spid="122919"/>
                                        </p:tgtEl>
                                        <p:attrNameLst>
                                          <p:attrName>ppt_x</p:attrName>
                                        </p:attrNameLst>
                                      </p:cBhvr>
                                      <p:tavLst>
                                        <p:tav tm="0">
                                          <p:val>
                                            <p:strVal val="#ppt_x"/>
                                          </p:val>
                                        </p:tav>
                                        <p:tav tm="100000">
                                          <p:val>
                                            <p:strVal val="#ppt_x"/>
                                          </p:val>
                                        </p:tav>
                                      </p:tavLst>
                                    </p:anim>
                                    <p:anim calcmode="lin" valueType="num">
                                      <p:cBhvr additive="base">
                                        <p:cTn id="16" dur="500" fill="hold"/>
                                        <p:tgtEl>
                                          <p:spTgt spid="12291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2920"/>
                                        </p:tgtEl>
                                        <p:attrNameLst>
                                          <p:attrName>style.visibility</p:attrName>
                                        </p:attrNameLst>
                                      </p:cBhvr>
                                      <p:to>
                                        <p:strVal val="visible"/>
                                      </p:to>
                                    </p:set>
                                    <p:anim calcmode="lin" valueType="num">
                                      <p:cBhvr additive="base">
                                        <p:cTn id="19" dur="500" fill="hold"/>
                                        <p:tgtEl>
                                          <p:spTgt spid="122920"/>
                                        </p:tgtEl>
                                        <p:attrNameLst>
                                          <p:attrName>ppt_x</p:attrName>
                                        </p:attrNameLst>
                                      </p:cBhvr>
                                      <p:tavLst>
                                        <p:tav tm="0">
                                          <p:val>
                                            <p:strVal val="#ppt_x"/>
                                          </p:val>
                                        </p:tav>
                                        <p:tav tm="100000">
                                          <p:val>
                                            <p:strVal val="#ppt_x"/>
                                          </p:val>
                                        </p:tav>
                                      </p:tavLst>
                                    </p:anim>
                                    <p:anim calcmode="lin" valueType="num">
                                      <p:cBhvr additive="base">
                                        <p:cTn id="20" dur="500" fill="hold"/>
                                        <p:tgtEl>
                                          <p:spTgt spid="12292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2921"/>
                                        </p:tgtEl>
                                        <p:attrNameLst>
                                          <p:attrName>style.visibility</p:attrName>
                                        </p:attrNameLst>
                                      </p:cBhvr>
                                      <p:to>
                                        <p:strVal val="visible"/>
                                      </p:to>
                                    </p:set>
                                    <p:anim calcmode="lin" valueType="num">
                                      <p:cBhvr additive="base">
                                        <p:cTn id="23" dur="500" fill="hold"/>
                                        <p:tgtEl>
                                          <p:spTgt spid="122921"/>
                                        </p:tgtEl>
                                        <p:attrNameLst>
                                          <p:attrName>ppt_x</p:attrName>
                                        </p:attrNameLst>
                                      </p:cBhvr>
                                      <p:tavLst>
                                        <p:tav tm="0">
                                          <p:val>
                                            <p:strVal val="#ppt_x"/>
                                          </p:val>
                                        </p:tav>
                                        <p:tav tm="100000">
                                          <p:val>
                                            <p:strVal val="#ppt_x"/>
                                          </p:val>
                                        </p:tav>
                                      </p:tavLst>
                                    </p:anim>
                                    <p:anim calcmode="lin" valueType="num">
                                      <p:cBhvr additive="base">
                                        <p:cTn id="24" dur="500" fill="hold"/>
                                        <p:tgtEl>
                                          <p:spTgt spid="1229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2922"/>
                                        </p:tgtEl>
                                        <p:attrNameLst>
                                          <p:attrName>style.visibility</p:attrName>
                                        </p:attrNameLst>
                                      </p:cBhvr>
                                      <p:to>
                                        <p:strVal val="visible"/>
                                      </p:to>
                                    </p:set>
                                    <p:anim calcmode="lin" valueType="num">
                                      <p:cBhvr additive="base">
                                        <p:cTn id="27" dur="500" fill="hold"/>
                                        <p:tgtEl>
                                          <p:spTgt spid="122922"/>
                                        </p:tgtEl>
                                        <p:attrNameLst>
                                          <p:attrName>ppt_x</p:attrName>
                                        </p:attrNameLst>
                                      </p:cBhvr>
                                      <p:tavLst>
                                        <p:tav tm="0">
                                          <p:val>
                                            <p:strVal val="#ppt_x"/>
                                          </p:val>
                                        </p:tav>
                                        <p:tav tm="100000">
                                          <p:val>
                                            <p:strVal val="#ppt_x"/>
                                          </p:val>
                                        </p:tav>
                                      </p:tavLst>
                                    </p:anim>
                                    <p:anim calcmode="lin" valueType="num">
                                      <p:cBhvr additive="base">
                                        <p:cTn id="28" dur="500" fill="hold"/>
                                        <p:tgtEl>
                                          <p:spTgt spid="12292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2925"/>
                                        </p:tgtEl>
                                        <p:attrNameLst>
                                          <p:attrName>style.visibility</p:attrName>
                                        </p:attrNameLst>
                                      </p:cBhvr>
                                      <p:to>
                                        <p:strVal val="visible"/>
                                      </p:to>
                                    </p:set>
                                    <p:anim calcmode="lin" valueType="num">
                                      <p:cBhvr additive="base">
                                        <p:cTn id="35" dur="500" fill="hold"/>
                                        <p:tgtEl>
                                          <p:spTgt spid="122925"/>
                                        </p:tgtEl>
                                        <p:attrNameLst>
                                          <p:attrName>ppt_x</p:attrName>
                                        </p:attrNameLst>
                                      </p:cBhvr>
                                      <p:tavLst>
                                        <p:tav tm="0">
                                          <p:val>
                                            <p:strVal val="#ppt_x"/>
                                          </p:val>
                                        </p:tav>
                                        <p:tav tm="100000">
                                          <p:val>
                                            <p:strVal val="#ppt_x"/>
                                          </p:val>
                                        </p:tav>
                                      </p:tavLst>
                                    </p:anim>
                                    <p:anim calcmode="lin" valueType="num">
                                      <p:cBhvr additive="base">
                                        <p:cTn id="36" dur="500" fill="hold"/>
                                        <p:tgtEl>
                                          <p:spTgt spid="122925"/>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36316"/>
                                        </p:tgtEl>
                                        <p:attrNameLst>
                                          <p:attrName>style.visibility</p:attrName>
                                        </p:attrNameLst>
                                      </p:cBhvr>
                                      <p:to>
                                        <p:strVal val="visible"/>
                                      </p:to>
                                    </p:set>
                                    <p:animEffect transition="in" filter="wipe(left)">
                                      <p:cBhvr>
                                        <p:cTn id="41" dur="500"/>
                                        <p:tgtEl>
                                          <p:spTgt spid="43631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99"/>
                                        </p:tgtEl>
                                        <p:attrNameLst>
                                          <p:attrName>style.visibility</p:attrName>
                                        </p:attrNameLst>
                                      </p:cBhvr>
                                      <p:to>
                                        <p:strVal val="visible"/>
                                      </p:to>
                                    </p:set>
                                    <p:anim calcmode="lin" valueType="num">
                                      <p:cBhvr additive="base">
                                        <p:cTn id="46" dur="500" fill="hold"/>
                                        <p:tgtEl>
                                          <p:spTgt spid="99"/>
                                        </p:tgtEl>
                                        <p:attrNameLst>
                                          <p:attrName>ppt_x</p:attrName>
                                        </p:attrNameLst>
                                      </p:cBhvr>
                                      <p:tavLst>
                                        <p:tav tm="0">
                                          <p:val>
                                            <p:strVal val="#ppt_x"/>
                                          </p:val>
                                        </p:tav>
                                        <p:tav tm="100000">
                                          <p:val>
                                            <p:strVal val="#ppt_x"/>
                                          </p:val>
                                        </p:tav>
                                      </p:tavLst>
                                    </p:anim>
                                    <p:anim calcmode="lin" valueType="num">
                                      <p:cBhvr additive="base">
                                        <p:cTn id="47"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0" presetClass="path" presetSubtype="0" accel="50000" decel="50000" fill="hold" grpId="0" nodeType="clickEffect">
                                  <p:stCondLst>
                                    <p:cond delay="0"/>
                                  </p:stCondLst>
                                  <p:childTnLst>
                                    <p:animMotion origin="layout" path="M -0.0625 0.025 L -0.50348 0.47662 " pathEditMode="relative" rAng="0" ptsTypes="AA">
                                      <p:cBhvr>
                                        <p:cTn id="51" dur="2000" fill="hold"/>
                                        <p:tgtEl>
                                          <p:spTgt spid="128"/>
                                        </p:tgtEl>
                                        <p:attrNameLst>
                                          <p:attrName>ppt_x</p:attrName>
                                          <p:attrName>ppt_y</p:attrName>
                                        </p:attrNameLst>
                                      </p:cBhvr>
                                      <p:rCtr x="-22049" y="22569"/>
                                    </p:animMotion>
                                  </p:childTnLst>
                                </p:cTn>
                              </p:par>
                            </p:childTnLst>
                          </p:cTn>
                        </p:par>
                      </p:childTnLst>
                    </p:cTn>
                  </p:par>
                  <p:par>
                    <p:cTn id="52" fill="hold" nodeType="clickPar">
                      <p:stCondLst>
                        <p:cond delay="indefinite"/>
                      </p:stCondLst>
                      <p:childTnLst>
                        <p:par>
                          <p:cTn id="53" fill="hold" nodeType="withGroup">
                            <p:stCondLst>
                              <p:cond delay="0"/>
                            </p:stCondLst>
                            <p:childTnLst>
                              <p:par>
                                <p:cTn id="54" presetID="0" presetClass="path" presetSubtype="0" accel="50000" decel="50000" fill="hold" grpId="0" nodeType="clickEffect">
                                  <p:stCondLst>
                                    <p:cond delay="0"/>
                                  </p:stCondLst>
                                  <p:childTnLst>
                                    <p:animMotion origin="layout" path="M -0.06372 0.02569 L -0.17396 0.39329 " pathEditMode="relative" rAng="0" ptsTypes="AA">
                                      <p:cBhvr>
                                        <p:cTn id="55" dur="2000" fill="hold"/>
                                        <p:tgtEl>
                                          <p:spTgt spid="129"/>
                                        </p:tgtEl>
                                        <p:attrNameLst>
                                          <p:attrName>ppt_x</p:attrName>
                                          <p:attrName>ppt_y</p:attrName>
                                        </p:attrNameLst>
                                      </p:cBhvr>
                                      <p:rCtr x="-5521" y="18380"/>
                                    </p:animMotion>
                                  </p:childTnLst>
                                </p:cTn>
                              </p:par>
                            </p:childTnLst>
                          </p:cTn>
                        </p:par>
                      </p:childTnLst>
                    </p:cTn>
                  </p:par>
                  <p:par>
                    <p:cTn id="56" fill="hold" nodeType="clickPar">
                      <p:stCondLst>
                        <p:cond delay="indefinite"/>
                      </p:stCondLst>
                      <p:childTnLst>
                        <p:par>
                          <p:cTn id="57" fill="hold" nodeType="withGroup">
                            <p:stCondLst>
                              <p:cond delay="0"/>
                            </p:stCondLst>
                            <p:childTnLst>
                              <p:par>
                                <p:cTn id="58" presetID="0" presetClass="path" presetSubtype="0" accel="50000" decel="50000" fill="hold" grpId="0" nodeType="clickEffect">
                                  <p:stCondLst>
                                    <p:cond delay="0"/>
                                  </p:stCondLst>
                                  <p:childTnLst>
                                    <p:animMotion origin="layout" path="M 1.38889E-6 4.85549E-6 L 0.13385 0.38867 " pathEditMode="relative" rAng="0" ptsTypes="AA">
                                      <p:cBhvr>
                                        <p:cTn id="59" dur="2000" fill="hold"/>
                                        <p:tgtEl>
                                          <p:spTgt spid="130"/>
                                        </p:tgtEl>
                                        <p:attrNameLst>
                                          <p:attrName>ppt_x</p:attrName>
                                          <p:attrName>ppt_y</p:attrName>
                                        </p:attrNameLst>
                                      </p:cBhvr>
                                      <p:rCtr x="6684" y="19422"/>
                                    </p:animMotion>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08"/>
                                        </p:tgtEl>
                                        <p:attrNameLst>
                                          <p:attrName>style.visibility</p:attrName>
                                        </p:attrNameLst>
                                      </p:cBhvr>
                                      <p:to>
                                        <p:strVal val="visible"/>
                                      </p:to>
                                    </p:set>
                                    <p:anim calcmode="lin" valueType="num">
                                      <p:cBhvr additive="base">
                                        <p:cTn id="64" dur="500" fill="hold"/>
                                        <p:tgtEl>
                                          <p:spTgt spid="108"/>
                                        </p:tgtEl>
                                        <p:attrNameLst>
                                          <p:attrName>ppt_x</p:attrName>
                                        </p:attrNameLst>
                                      </p:cBhvr>
                                      <p:tavLst>
                                        <p:tav tm="0">
                                          <p:val>
                                            <p:strVal val="#ppt_x"/>
                                          </p:val>
                                        </p:tav>
                                        <p:tav tm="100000">
                                          <p:val>
                                            <p:strVal val="#ppt_x"/>
                                          </p:val>
                                        </p:tav>
                                      </p:tavLst>
                                    </p:anim>
                                    <p:anim calcmode="lin" valueType="num">
                                      <p:cBhvr additive="base">
                                        <p:cTn id="65"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01"/>
                                        </p:tgtEl>
                                        <p:attrNameLst>
                                          <p:attrName>style.visibility</p:attrName>
                                        </p:attrNameLst>
                                      </p:cBhvr>
                                      <p:to>
                                        <p:strVal val="visible"/>
                                      </p:to>
                                    </p:set>
                                    <p:anim calcmode="lin" valueType="num">
                                      <p:cBhvr additive="base">
                                        <p:cTn id="70" dur="500" fill="hold"/>
                                        <p:tgtEl>
                                          <p:spTgt spid="101"/>
                                        </p:tgtEl>
                                        <p:attrNameLst>
                                          <p:attrName>ppt_x</p:attrName>
                                        </p:attrNameLst>
                                      </p:cBhvr>
                                      <p:tavLst>
                                        <p:tav tm="0">
                                          <p:val>
                                            <p:strVal val="#ppt_x"/>
                                          </p:val>
                                        </p:tav>
                                        <p:tav tm="100000">
                                          <p:val>
                                            <p:strVal val="#ppt_x"/>
                                          </p:val>
                                        </p:tav>
                                      </p:tavLst>
                                    </p:anim>
                                    <p:anim calcmode="lin" valueType="num">
                                      <p:cBhvr additive="base">
                                        <p:cTn id="71"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22"/>
                                        </p:tgtEl>
                                        <p:attrNameLst>
                                          <p:attrName>style.visibility</p:attrName>
                                        </p:attrNameLst>
                                      </p:cBhvr>
                                      <p:to>
                                        <p:strVal val="visible"/>
                                      </p:to>
                                    </p:set>
                                    <p:anim calcmode="lin" valueType="num">
                                      <p:cBhvr additive="base">
                                        <p:cTn id="76" dur="500" fill="hold"/>
                                        <p:tgtEl>
                                          <p:spTgt spid="122"/>
                                        </p:tgtEl>
                                        <p:attrNameLst>
                                          <p:attrName>ppt_x</p:attrName>
                                        </p:attrNameLst>
                                      </p:cBhvr>
                                      <p:tavLst>
                                        <p:tav tm="0">
                                          <p:val>
                                            <p:strVal val="#ppt_x"/>
                                          </p:val>
                                        </p:tav>
                                        <p:tav tm="100000">
                                          <p:val>
                                            <p:strVal val="#ppt_x"/>
                                          </p:val>
                                        </p:tav>
                                      </p:tavLst>
                                    </p:anim>
                                    <p:anim calcmode="lin" valueType="num">
                                      <p:cBhvr additive="base">
                                        <p:cTn id="77" dur="500" fill="hold"/>
                                        <p:tgtEl>
                                          <p:spTgt spid="122"/>
                                        </p:tgtEl>
                                        <p:attrNameLst>
                                          <p:attrName>ppt_y</p:attrName>
                                        </p:attrNameLst>
                                      </p:cBhvr>
                                      <p:tavLst>
                                        <p:tav tm="0">
                                          <p:val>
                                            <p:strVal val="1+#ppt_h/2"/>
                                          </p:val>
                                        </p:tav>
                                        <p:tav tm="100000">
                                          <p:val>
                                            <p:strVal val="#ppt_y"/>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132"/>
                                        </p:tgtEl>
                                        <p:attrNameLst>
                                          <p:attrName>style.visibility</p:attrName>
                                        </p:attrNameLst>
                                      </p:cBhvr>
                                      <p:to>
                                        <p:strVal val="visible"/>
                                      </p:to>
                                    </p:set>
                                    <p:anim calcmode="lin" valueType="num">
                                      <p:cBhvr additive="base">
                                        <p:cTn id="82" dur="500" fill="hold"/>
                                        <p:tgtEl>
                                          <p:spTgt spid="132"/>
                                        </p:tgtEl>
                                        <p:attrNameLst>
                                          <p:attrName>ppt_x</p:attrName>
                                        </p:attrNameLst>
                                      </p:cBhvr>
                                      <p:tavLst>
                                        <p:tav tm="0">
                                          <p:val>
                                            <p:strVal val="#ppt_x"/>
                                          </p:val>
                                        </p:tav>
                                        <p:tav tm="100000">
                                          <p:val>
                                            <p:strVal val="#ppt_x"/>
                                          </p:val>
                                        </p:tav>
                                      </p:tavLst>
                                    </p:anim>
                                    <p:anim calcmode="lin" valueType="num">
                                      <p:cBhvr additive="base">
                                        <p:cTn id="83" dur="500" fill="hold"/>
                                        <p:tgtEl>
                                          <p:spTgt spid="132"/>
                                        </p:tgtEl>
                                        <p:attrNameLst>
                                          <p:attrName>ppt_y</p:attrName>
                                        </p:attrNameLst>
                                      </p:cBhvr>
                                      <p:tavLst>
                                        <p:tav tm="0">
                                          <p:val>
                                            <p:strVal val="1+#ppt_h/2"/>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0" presetClass="path" presetSubtype="0" accel="50000" decel="50000" fill="hold" grpId="0" nodeType="clickEffect">
                                  <p:stCondLst>
                                    <p:cond delay="0"/>
                                  </p:stCondLst>
                                  <p:childTnLst>
                                    <p:animMotion origin="layout" path="M -0.06754 0.02083 L -0.17396 0.33588 " pathEditMode="relative" rAng="0" ptsTypes="AA">
                                      <p:cBhvr>
                                        <p:cTn id="87" dur="2000" fill="hold"/>
                                        <p:tgtEl>
                                          <p:spTgt spid="133"/>
                                        </p:tgtEl>
                                        <p:attrNameLst>
                                          <p:attrName>ppt_x</p:attrName>
                                          <p:attrName>ppt_y</p:attrName>
                                        </p:attrNameLst>
                                      </p:cBhvr>
                                      <p:rCtr x="-5330" y="15741"/>
                                    </p:animMotion>
                                  </p:childTnLst>
                                </p:cTn>
                              </p:par>
                            </p:childTnLst>
                          </p:cTn>
                        </p:par>
                      </p:childTnLst>
                    </p:cTn>
                  </p:par>
                  <p:par>
                    <p:cTn id="88" fill="hold" nodeType="clickPar">
                      <p:stCondLst>
                        <p:cond delay="indefinite"/>
                      </p:stCondLst>
                      <p:childTnLst>
                        <p:par>
                          <p:cTn id="89" fill="hold" nodeType="withGroup">
                            <p:stCondLst>
                              <p:cond delay="0"/>
                            </p:stCondLst>
                            <p:childTnLst>
                              <p:par>
                                <p:cTn id="90" presetID="0" presetClass="path" presetSubtype="0" accel="50000" decel="50000" fill="hold" grpId="0" nodeType="clickEffect">
                                  <p:stCondLst>
                                    <p:cond delay="0"/>
                                  </p:stCondLst>
                                  <p:childTnLst>
                                    <p:animMotion origin="layout" path="M -0.06511 0.03125 L 0.13975 0.33588 " pathEditMode="relative" rAng="0" ptsTypes="AA">
                                      <p:cBhvr>
                                        <p:cTn id="91" dur="2000" fill="hold"/>
                                        <p:tgtEl>
                                          <p:spTgt spid="134"/>
                                        </p:tgtEl>
                                        <p:attrNameLst>
                                          <p:attrName>ppt_x</p:attrName>
                                          <p:attrName>ppt_y</p:attrName>
                                        </p:attrNameLst>
                                      </p:cBhvr>
                                      <p:rCtr x="10243" y="15231"/>
                                    </p:animMotion>
                                  </p:childTnLst>
                                </p:cTn>
                              </p:par>
                            </p:childTnLst>
                          </p:cTn>
                        </p:par>
                      </p:childTnLst>
                    </p:cTn>
                  </p:par>
                  <p:par>
                    <p:cTn id="92" fill="hold" nodeType="clickPar">
                      <p:stCondLst>
                        <p:cond delay="indefinite"/>
                      </p:stCondLst>
                      <p:childTnLst>
                        <p:par>
                          <p:cTn id="93" fill="hold" nodeType="withGroup">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109"/>
                                        </p:tgtEl>
                                        <p:attrNameLst>
                                          <p:attrName>style.visibility</p:attrName>
                                        </p:attrNameLst>
                                      </p:cBhvr>
                                      <p:to>
                                        <p:strVal val="visible"/>
                                      </p:to>
                                    </p:set>
                                    <p:anim calcmode="lin" valueType="num">
                                      <p:cBhvr additive="base">
                                        <p:cTn id="96" dur="500" fill="hold"/>
                                        <p:tgtEl>
                                          <p:spTgt spid="109"/>
                                        </p:tgtEl>
                                        <p:attrNameLst>
                                          <p:attrName>ppt_x</p:attrName>
                                        </p:attrNameLst>
                                      </p:cBhvr>
                                      <p:tavLst>
                                        <p:tav tm="0">
                                          <p:val>
                                            <p:strVal val="#ppt_x"/>
                                          </p:val>
                                        </p:tav>
                                        <p:tav tm="100000">
                                          <p:val>
                                            <p:strVal val="#ppt_x"/>
                                          </p:val>
                                        </p:tav>
                                      </p:tavLst>
                                    </p:anim>
                                    <p:anim calcmode="lin" valueType="num">
                                      <p:cBhvr additive="base">
                                        <p:cTn id="97"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102"/>
                                        </p:tgtEl>
                                        <p:attrNameLst>
                                          <p:attrName>style.visibility</p:attrName>
                                        </p:attrNameLst>
                                      </p:cBhvr>
                                      <p:to>
                                        <p:strVal val="visible"/>
                                      </p:to>
                                    </p:set>
                                    <p:anim calcmode="lin" valueType="num">
                                      <p:cBhvr additive="base">
                                        <p:cTn id="102" dur="500" fill="hold"/>
                                        <p:tgtEl>
                                          <p:spTgt spid="102"/>
                                        </p:tgtEl>
                                        <p:attrNameLst>
                                          <p:attrName>ppt_x</p:attrName>
                                        </p:attrNameLst>
                                      </p:cBhvr>
                                      <p:tavLst>
                                        <p:tav tm="0">
                                          <p:val>
                                            <p:strVal val="#ppt_x"/>
                                          </p:val>
                                        </p:tav>
                                        <p:tav tm="100000">
                                          <p:val>
                                            <p:strVal val="#ppt_x"/>
                                          </p:val>
                                        </p:tav>
                                      </p:tavLst>
                                    </p:anim>
                                    <p:anim calcmode="lin" valueType="num">
                                      <p:cBhvr additive="base">
                                        <p:cTn id="103"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123"/>
                                        </p:tgtEl>
                                        <p:attrNameLst>
                                          <p:attrName>style.visibility</p:attrName>
                                        </p:attrNameLst>
                                      </p:cBhvr>
                                      <p:to>
                                        <p:strVal val="visible"/>
                                      </p:to>
                                    </p:set>
                                    <p:anim calcmode="lin" valueType="num">
                                      <p:cBhvr additive="base">
                                        <p:cTn id="108" dur="500" fill="hold"/>
                                        <p:tgtEl>
                                          <p:spTgt spid="123"/>
                                        </p:tgtEl>
                                        <p:attrNameLst>
                                          <p:attrName>ppt_x</p:attrName>
                                        </p:attrNameLst>
                                      </p:cBhvr>
                                      <p:tavLst>
                                        <p:tav tm="0">
                                          <p:val>
                                            <p:strVal val="#ppt_x"/>
                                          </p:val>
                                        </p:tav>
                                        <p:tav tm="100000">
                                          <p:val>
                                            <p:strVal val="#ppt_x"/>
                                          </p:val>
                                        </p:tav>
                                      </p:tavLst>
                                    </p:anim>
                                    <p:anim calcmode="lin" valueType="num">
                                      <p:cBhvr additive="base">
                                        <p:cTn id="109" dur="500" fill="hold"/>
                                        <p:tgtEl>
                                          <p:spTgt spid="123"/>
                                        </p:tgtEl>
                                        <p:attrNameLst>
                                          <p:attrName>ppt_y</p:attrName>
                                        </p:attrNameLst>
                                      </p:cBhvr>
                                      <p:tavLst>
                                        <p:tav tm="0">
                                          <p:val>
                                            <p:strVal val="1+#ppt_h/2"/>
                                          </p:val>
                                        </p:tav>
                                        <p:tav tm="100000">
                                          <p:val>
                                            <p:strVal val="#ppt_y"/>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 presetClass="entr" presetSubtype="4" fill="hold" grpId="0" nodeType="clickEffect">
                                  <p:stCondLst>
                                    <p:cond delay="0"/>
                                  </p:stCondLst>
                                  <p:childTnLst>
                                    <p:set>
                                      <p:cBhvr>
                                        <p:cTn id="113" dur="1" fill="hold">
                                          <p:stCondLst>
                                            <p:cond delay="0"/>
                                          </p:stCondLst>
                                        </p:cTn>
                                        <p:tgtEl>
                                          <p:spTgt spid="135"/>
                                        </p:tgtEl>
                                        <p:attrNameLst>
                                          <p:attrName>style.visibility</p:attrName>
                                        </p:attrNameLst>
                                      </p:cBhvr>
                                      <p:to>
                                        <p:strVal val="visible"/>
                                      </p:to>
                                    </p:set>
                                    <p:anim calcmode="lin" valueType="num">
                                      <p:cBhvr additive="base">
                                        <p:cTn id="114" dur="500" fill="hold"/>
                                        <p:tgtEl>
                                          <p:spTgt spid="135"/>
                                        </p:tgtEl>
                                        <p:attrNameLst>
                                          <p:attrName>ppt_x</p:attrName>
                                        </p:attrNameLst>
                                      </p:cBhvr>
                                      <p:tavLst>
                                        <p:tav tm="0">
                                          <p:val>
                                            <p:strVal val="#ppt_x"/>
                                          </p:val>
                                        </p:tav>
                                        <p:tav tm="100000">
                                          <p:val>
                                            <p:strVal val="#ppt_x"/>
                                          </p:val>
                                        </p:tav>
                                      </p:tavLst>
                                    </p:anim>
                                    <p:anim calcmode="lin" valueType="num">
                                      <p:cBhvr additive="base">
                                        <p:cTn id="115" dur="500" fill="hold"/>
                                        <p:tgtEl>
                                          <p:spTgt spid="135"/>
                                        </p:tgtEl>
                                        <p:attrNameLst>
                                          <p:attrName>ppt_y</p:attrName>
                                        </p:attrNameLst>
                                      </p:cBhvr>
                                      <p:tavLst>
                                        <p:tav tm="0">
                                          <p:val>
                                            <p:strVal val="1+#ppt_h/2"/>
                                          </p:val>
                                        </p:tav>
                                        <p:tav tm="100000">
                                          <p:val>
                                            <p:strVal val="#ppt_y"/>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0" presetClass="path" presetSubtype="0" accel="50000" decel="50000" fill="hold" grpId="0" nodeType="clickEffect">
                                  <p:stCondLst>
                                    <p:cond delay="0"/>
                                  </p:stCondLst>
                                  <p:childTnLst>
                                    <p:animMotion origin="layout" path="M -0.06372 0.02083 L -0.17396 0.35663 " pathEditMode="relative" rAng="0" ptsTypes="AA">
                                      <p:cBhvr>
                                        <p:cTn id="119" dur="2000" fill="hold"/>
                                        <p:tgtEl>
                                          <p:spTgt spid="137"/>
                                        </p:tgtEl>
                                        <p:attrNameLst>
                                          <p:attrName>ppt_x</p:attrName>
                                          <p:attrName>ppt_y</p:attrName>
                                        </p:attrNameLst>
                                      </p:cBhvr>
                                      <p:rCtr x="-5521" y="16779"/>
                                    </p:animMotion>
                                  </p:childTnLst>
                                </p:cTn>
                              </p:par>
                            </p:childTnLst>
                          </p:cTn>
                        </p:par>
                      </p:childTnLst>
                    </p:cTn>
                  </p:par>
                  <p:par>
                    <p:cTn id="120" fill="hold" nodeType="clickPar">
                      <p:stCondLst>
                        <p:cond delay="indefinite"/>
                      </p:stCondLst>
                      <p:childTnLst>
                        <p:par>
                          <p:cTn id="121" fill="hold" nodeType="withGroup">
                            <p:stCondLst>
                              <p:cond delay="0"/>
                            </p:stCondLst>
                            <p:childTnLst>
                              <p:par>
                                <p:cTn id="122" presetID="0" presetClass="path" presetSubtype="0" accel="50000" decel="50000" fill="hold" grpId="0" nodeType="clickEffect">
                                  <p:stCondLst>
                                    <p:cond delay="0"/>
                                  </p:stCondLst>
                                  <p:childTnLst>
                                    <p:animMotion origin="layout" path="M 4.16667E-6 1.48148E-6 L 0.13975 0.35671 " pathEditMode="relative" rAng="0" ptsTypes="AA">
                                      <p:cBhvr>
                                        <p:cTn id="123" dur="2000" fill="hold"/>
                                        <p:tgtEl>
                                          <p:spTgt spid="138"/>
                                        </p:tgtEl>
                                        <p:attrNameLst>
                                          <p:attrName>ppt_x</p:attrName>
                                          <p:attrName>ppt_y</p:attrName>
                                        </p:attrNameLst>
                                      </p:cBhvr>
                                      <p:rCtr x="6979" y="17824"/>
                                    </p:animMotion>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113"/>
                                        </p:tgtEl>
                                        <p:attrNameLst>
                                          <p:attrName>style.visibility</p:attrName>
                                        </p:attrNameLst>
                                      </p:cBhvr>
                                      <p:to>
                                        <p:strVal val="visible"/>
                                      </p:to>
                                    </p:set>
                                    <p:anim calcmode="lin" valueType="num">
                                      <p:cBhvr additive="base">
                                        <p:cTn id="128" dur="500" fill="hold"/>
                                        <p:tgtEl>
                                          <p:spTgt spid="113"/>
                                        </p:tgtEl>
                                        <p:attrNameLst>
                                          <p:attrName>ppt_x</p:attrName>
                                        </p:attrNameLst>
                                      </p:cBhvr>
                                      <p:tavLst>
                                        <p:tav tm="0">
                                          <p:val>
                                            <p:strVal val="#ppt_x"/>
                                          </p:val>
                                        </p:tav>
                                        <p:tav tm="100000">
                                          <p:val>
                                            <p:strVal val="#ppt_x"/>
                                          </p:val>
                                        </p:tav>
                                      </p:tavLst>
                                    </p:anim>
                                    <p:anim calcmode="lin" valueType="num">
                                      <p:cBhvr additive="base">
                                        <p:cTn id="129"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 presetClass="entr" presetSubtype="4" fill="hold" grpId="0" nodeType="clickEffect">
                                  <p:stCondLst>
                                    <p:cond delay="0"/>
                                  </p:stCondLst>
                                  <p:childTnLst>
                                    <p:set>
                                      <p:cBhvr>
                                        <p:cTn id="133" dur="1" fill="hold">
                                          <p:stCondLst>
                                            <p:cond delay="0"/>
                                          </p:stCondLst>
                                        </p:cTn>
                                        <p:tgtEl>
                                          <p:spTgt spid="103"/>
                                        </p:tgtEl>
                                        <p:attrNameLst>
                                          <p:attrName>style.visibility</p:attrName>
                                        </p:attrNameLst>
                                      </p:cBhvr>
                                      <p:to>
                                        <p:strVal val="visible"/>
                                      </p:to>
                                    </p:set>
                                    <p:anim calcmode="lin" valueType="num">
                                      <p:cBhvr additive="base">
                                        <p:cTn id="134" dur="500" fill="hold"/>
                                        <p:tgtEl>
                                          <p:spTgt spid="103"/>
                                        </p:tgtEl>
                                        <p:attrNameLst>
                                          <p:attrName>ppt_x</p:attrName>
                                        </p:attrNameLst>
                                      </p:cBhvr>
                                      <p:tavLst>
                                        <p:tav tm="0">
                                          <p:val>
                                            <p:strVal val="#ppt_x"/>
                                          </p:val>
                                        </p:tav>
                                        <p:tav tm="100000">
                                          <p:val>
                                            <p:strVal val="#ppt_x"/>
                                          </p:val>
                                        </p:tav>
                                      </p:tavLst>
                                    </p:anim>
                                    <p:anim calcmode="lin" valueType="num">
                                      <p:cBhvr additive="base">
                                        <p:cTn id="135"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 presetClass="entr" presetSubtype="4" fill="hold" grpId="0" nodeType="clickEffect">
                                  <p:stCondLst>
                                    <p:cond delay="0"/>
                                  </p:stCondLst>
                                  <p:childTnLst>
                                    <p:set>
                                      <p:cBhvr>
                                        <p:cTn id="139" dur="1" fill="hold">
                                          <p:stCondLst>
                                            <p:cond delay="0"/>
                                          </p:stCondLst>
                                        </p:cTn>
                                        <p:tgtEl>
                                          <p:spTgt spid="124"/>
                                        </p:tgtEl>
                                        <p:attrNameLst>
                                          <p:attrName>style.visibility</p:attrName>
                                        </p:attrNameLst>
                                      </p:cBhvr>
                                      <p:to>
                                        <p:strVal val="visible"/>
                                      </p:to>
                                    </p:set>
                                    <p:anim calcmode="lin" valueType="num">
                                      <p:cBhvr additive="base">
                                        <p:cTn id="140" dur="500" fill="hold"/>
                                        <p:tgtEl>
                                          <p:spTgt spid="124"/>
                                        </p:tgtEl>
                                        <p:attrNameLst>
                                          <p:attrName>ppt_x</p:attrName>
                                        </p:attrNameLst>
                                      </p:cBhvr>
                                      <p:tavLst>
                                        <p:tav tm="0">
                                          <p:val>
                                            <p:strVal val="#ppt_x"/>
                                          </p:val>
                                        </p:tav>
                                        <p:tav tm="100000">
                                          <p:val>
                                            <p:strVal val="#ppt_x"/>
                                          </p:val>
                                        </p:tav>
                                      </p:tavLst>
                                    </p:anim>
                                    <p:anim calcmode="lin" valueType="num">
                                      <p:cBhvr additive="base">
                                        <p:cTn id="141" dur="500" fill="hold"/>
                                        <p:tgtEl>
                                          <p:spTgt spid="124"/>
                                        </p:tgtEl>
                                        <p:attrNameLst>
                                          <p:attrName>ppt_y</p:attrName>
                                        </p:attrNameLst>
                                      </p:cBhvr>
                                      <p:tavLst>
                                        <p:tav tm="0">
                                          <p:val>
                                            <p:strVal val="1+#ppt_h/2"/>
                                          </p:val>
                                        </p:tav>
                                        <p:tav tm="100000">
                                          <p:val>
                                            <p:strVal val="#ppt_y"/>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 presetClass="entr" presetSubtype="4" fill="hold" grpId="0" nodeType="clickEffect">
                                  <p:stCondLst>
                                    <p:cond delay="0"/>
                                  </p:stCondLst>
                                  <p:childTnLst>
                                    <p:set>
                                      <p:cBhvr>
                                        <p:cTn id="145" dur="1" fill="hold">
                                          <p:stCondLst>
                                            <p:cond delay="0"/>
                                          </p:stCondLst>
                                        </p:cTn>
                                        <p:tgtEl>
                                          <p:spTgt spid="114"/>
                                        </p:tgtEl>
                                        <p:attrNameLst>
                                          <p:attrName>style.visibility</p:attrName>
                                        </p:attrNameLst>
                                      </p:cBhvr>
                                      <p:to>
                                        <p:strVal val="visible"/>
                                      </p:to>
                                    </p:set>
                                    <p:anim calcmode="lin" valueType="num">
                                      <p:cBhvr additive="base">
                                        <p:cTn id="146" dur="500" fill="hold"/>
                                        <p:tgtEl>
                                          <p:spTgt spid="114"/>
                                        </p:tgtEl>
                                        <p:attrNameLst>
                                          <p:attrName>ppt_x</p:attrName>
                                        </p:attrNameLst>
                                      </p:cBhvr>
                                      <p:tavLst>
                                        <p:tav tm="0">
                                          <p:val>
                                            <p:strVal val="#ppt_x"/>
                                          </p:val>
                                        </p:tav>
                                        <p:tav tm="100000">
                                          <p:val>
                                            <p:strVal val="#ppt_x"/>
                                          </p:val>
                                        </p:tav>
                                      </p:tavLst>
                                    </p:anim>
                                    <p:anim calcmode="lin" valueType="num">
                                      <p:cBhvr additive="base">
                                        <p:cTn id="147" dur="500" fill="hold"/>
                                        <p:tgtEl>
                                          <p:spTgt spid="114"/>
                                        </p:tgtEl>
                                        <p:attrNameLst>
                                          <p:attrName>ppt_y</p:attrName>
                                        </p:attrNameLst>
                                      </p:cBhvr>
                                      <p:tavLst>
                                        <p:tav tm="0">
                                          <p:val>
                                            <p:strVal val="1+#ppt_h/2"/>
                                          </p:val>
                                        </p:tav>
                                        <p:tav tm="100000">
                                          <p:val>
                                            <p:strVal val="#ppt_y"/>
                                          </p:val>
                                        </p:tav>
                                      </p:tavLst>
                                    </p:anim>
                                  </p:childTnLst>
                                </p:cTn>
                              </p:par>
                            </p:childTnLst>
                          </p:cTn>
                        </p:par>
                      </p:childTnLst>
                    </p:cTn>
                  </p:par>
                  <p:par>
                    <p:cTn id="148" fill="hold" nodeType="clickPar">
                      <p:stCondLst>
                        <p:cond delay="indefinite"/>
                      </p:stCondLst>
                      <p:childTnLst>
                        <p:par>
                          <p:cTn id="149" fill="hold" nodeType="withGroup">
                            <p:stCondLst>
                              <p:cond delay="0"/>
                            </p:stCondLst>
                            <p:childTnLst>
                              <p:par>
                                <p:cTn id="150" presetID="0" presetClass="path" presetSubtype="0" accel="50000" decel="50000" fill="hold" grpId="0" nodeType="clickEffect">
                                  <p:stCondLst>
                                    <p:cond delay="0"/>
                                  </p:stCondLst>
                                  <p:childTnLst>
                                    <p:animMotion origin="layout" path="M -0.06372 0.025 L -0.17396 0.6655 " pathEditMode="relative" rAng="0" ptsTypes="AA">
                                      <p:cBhvr>
                                        <p:cTn id="151" dur="2000" fill="hold"/>
                                        <p:tgtEl>
                                          <p:spTgt spid="139"/>
                                        </p:tgtEl>
                                        <p:attrNameLst>
                                          <p:attrName>ppt_x</p:attrName>
                                          <p:attrName>ppt_y</p:attrName>
                                        </p:attrNameLst>
                                      </p:cBhvr>
                                      <p:rCtr x="-5521" y="32014"/>
                                    </p:animMotion>
                                  </p:childTnLst>
                                </p:cTn>
                              </p:par>
                            </p:childTnLst>
                          </p:cTn>
                        </p:par>
                      </p:childTnLst>
                    </p:cTn>
                  </p:par>
                  <p:par>
                    <p:cTn id="152" fill="hold" nodeType="clickPar">
                      <p:stCondLst>
                        <p:cond delay="indefinite"/>
                      </p:stCondLst>
                      <p:childTnLst>
                        <p:par>
                          <p:cTn id="153" fill="hold" nodeType="withGroup">
                            <p:stCondLst>
                              <p:cond delay="0"/>
                            </p:stCondLst>
                            <p:childTnLst>
                              <p:par>
                                <p:cTn id="154" presetID="0" presetClass="path" presetSubtype="0" accel="50000" decel="50000" fill="hold" grpId="0" nodeType="clickEffect">
                                  <p:stCondLst>
                                    <p:cond delay="0"/>
                                  </p:stCondLst>
                                  <p:childTnLst>
                                    <p:animMotion origin="layout" path="M 4.16667E-6 4.81481E-6 L 0.13975 0.6655 " pathEditMode="relative" rAng="0" ptsTypes="AA">
                                      <p:cBhvr>
                                        <p:cTn id="155" dur="2000" fill="hold"/>
                                        <p:tgtEl>
                                          <p:spTgt spid="140"/>
                                        </p:tgtEl>
                                        <p:attrNameLst>
                                          <p:attrName>ppt_x</p:attrName>
                                          <p:attrName>ppt_y</p:attrName>
                                        </p:attrNameLst>
                                      </p:cBhvr>
                                      <p:rCtr x="6979" y="33264"/>
                                    </p:animMotion>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 presetClass="entr" presetSubtype="4" fill="hold" grpId="0" nodeType="clickEffect">
                                  <p:stCondLst>
                                    <p:cond delay="0"/>
                                  </p:stCondLst>
                                  <p:childTnLst>
                                    <p:set>
                                      <p:cBhvr>
                                        <p:cTn id="159" dur="1" fill="hold">
                                          <p:stCondLst>
                                            <p:cond delay="0"/>
                                          </p:stCondLst>
                                        </p:cTn>
                                        <p:tgtEl>
                                          <p:spTgt spid="117"/>
                                        </p:tgtEl>
                                        <p:attrNameLst>
                                          <p:attrName>style.visibility</p:attrName>
                                        </p:attrNameLst>
                                      </p:cBhvr>
                                      <p:to>
                                        <p:strVal val="visible"/>
                                      </p:to>
                                    </p:set>
                                    <p:anim calcmode="lin" valueType="num">
                                      <p:cBhvr additive="base">
                                        <p:cTn id="160" dur="500" fill="hold"/>
                                        <p:tgtEl>
                                          <p:spTgt spid="117"/>
                                        </p:tgtEl>
                                        <p:attrNameLst>
                                          <p:attrName>ppt_x</p:attrName>
                                        </p:attrNameLst>
                                      </p:cBhvr>
                                      <p:tavLst>
                                        <p:tav tm="0">
                                          <p:val>
                                            <p:strVal val="#ppt_x"/>
                                          </p:val>
                                        </p:tav>
                                        <p:tav tm="100000">
                                          <p:val>
                                            <p:strVal val="#ppt_x"/>
                                          </p:val>
                                        </p:tav>
                                      </p:tavLst>
                                    </p:anim>
                                    <p:anim calcmode="lin" valueType="num">
                                      <p:cBhvr additive="base">
                                        <p:cTn id="161"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 presetClass="entr" presetSubtype="4" fill="hold" grpId="0" nodeType="clickEffect">
                                  <p:stCondLst>
                                    <p:cond delay="0"/>
                                  </p:stCondLst>
                                  <p:childTnLst>
                                    <p:set>
                                      <p:cBhvr>
                                        <p:cTn id="165" dur="1" fill="hold">
                                          <p:stCondLst>
                                            <p:cond delay="0"/>
                                          </p:stCondLst>
                                        </p:cTn>
                                        <p:tgtEl>
                                          <p:spTgt spid="104"/>
                                        </p:tgtEl>
                                        <p:attrNameLst>
                                          <p:attrName>style.visibility</p:attrName>
                                        </p:attrNameLst>
                                      </p:cBhvr>
                                      <p:to>
                                        <p:strVal val="visible"/>
                                      </p:to>
                                    </p:set>
                                    <p:anim calcmode="lin" valueType="num">
                                      <p:cBhvr additive="base">
                                        <p:cTn id="166" dur="500" fill="hold"/>
                                        <p:tgtEl>
                                          <p:spTgt spid="104"/>
                                        </p:tgtEl>
                                        <p:attrNameLst>
                                          <p:attrName>ppt_x</p:attrName>
                                        </p:attrNameLst>
                                      </p:cBhvr>
                                      <p:tavLst>
                                        <p:tav tm="0">
                                          <p:val>
                                            <p:strVal val="#ppt_x"/>
                                          </p:val>
                                        </p:tav>
                                        <p:tav tm="100000">
                                          <p:val>
                                            <p:strVal val="#ppt_x"/>
                                          </p:val>
                                        </p:tav>
                                      </p:tavLst>
                                    </p:anim>
                                    <p:anim calcmode="lin" valueType="num">
                                      <p:cBhvr additive="base">
                                        <p:cTn id="167"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 presetClass="entr" presetSubtype="4" fill="hold" grpId="0" nodeType="clickEffect">
                                  <p:stCondLst>
                                    <p:cond delay="0"/>
                                  </p:stCondLst>
                                  <p:childTnLst>
                                    <p:set>
                                      <p:cBhvr>
                                        <p:cTn id="171" dur="1" fill="hold">
                                          <p:stCondLst>
                                            <p:cond delay="0"/>
                                          </p:stCondLst>
                                        </p:cTn>
                                        <p:tgtEl>
                                          <p:spTgt spid="125"/>
                                        </p:tgtEl>
                                        <p:attrNameLst>
                                          <p:attrName>style.visibility</p:attrName>
                                        </p:attrNameLst>
                                      </p:cBhvr>
                                      <p:to>
                                        <p:strVal val="visible"/>
                                      </p:to>
                                    </p:set>
                                    <p:anim calcmode="lin" valueType="num">
                                      <p:cBhvr additive="base">
                                        <p:cTn id="172" dur="500" fill="hold"/>
                                        <p:tgtEl>
                                          <p:spTgt spid="125"/>
                                        </p:tgtEl>
                                        <p:attrNameLst>
                                          <p:attrName>ppt_x</p:attrName>
                                        </p:attrNameLst>
                                      </p:cBhvr>
                                      <p:tavLst>
                                        <p:tav tm="0">
                                          <p:val>
                                            <p:strVal val="#ppt_x"/>
                                          </p:val>
                                        </p:tav>
                                        <p:tav tm="100000">
                                          <p:val>
                                            <p:strVal val="#ppt_x"/>
                                          </p:val>
                                        </p:tav>
                                      </p:tavLst>
                                    </p:anim>
                                    <p:anim calcmode="lin" valueType="num">
                                      <p:cBhvr additive="base">
                                        <p:cTn id="173" dur="500" fill="hold"/>
                                        <p:tgtEl>
                                          <p:spTgt spid="125"/>
                                        </p:tgtEl>
                                        <p:attrNameLst>
                                          <p:attrName>ppt_y</p:attrName>
                                        </p:attrNameLst>
                                      </p:cBhvr>
                                      <p:tavLst>
                                        <p:tav tm="0">
                                          <p:val>
                                            <p:strVal val="1+#ppt_h/2"/>
                                          </p:val>
                                        </p:tav>
                                        <p:tav tm="100000">
                                          <p:val>
                                            <p:strVal val="#ppt_y"/>
                                          </p:val>
                                        </p:tav>
                                      </p:tavLst>
                                    </p:anim>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 presetClass="entr" presetSubtype="4" fill="hold" grpId="0" nodeType="clickEffect">
                                  <p:stCondLst>
                                    <p:cond delay="0"/>
                                  </p:stCondLst>
                                  <p:childTnLst>
                                    <p:set>
                                      <p:cBhvr>
                                        <p:cTn id="177" dur="1" fill="hold">
                                          <p:stCondLst>
                                            <p:cond delay="0"/>
                                          </p:stCondLst>
                                        </p:cTn>
                                        <p:tgtEl>
                                          <p:spTgt spid="118"/>
                                        </p:tgtEl>
                                        <p:attrNameLst>
                                          <p:attrName>style.visibility</p:attrName>
                                        </p:attrNameLst>
                                      </p:cBhvr>
                                      <p:to>
                                        <p:strVal val="visible"/>
                                      </p:to>
                                    </p:set>
                                    <p:anim calcmode="lin" valueType="num">
                                      <p:cBhvr additive="base">
                                        <p:cTn id="178" dur="500" fill="hold"/>
                                        <p:tgtEl>
                                          <p:spTgt spid="118"/>
                                        </p:tgtEl>
                                        <p:attrNameLst>
                                          <p:attrName>ppt_x</p:attrName>
                                        </p:attrNameLst>
                                      </p:cBhvr>
                                      <p:tavLst>
                                        <p:tav tm="0">
                                          <p:val>
                                            <p:strVal val="#ppt_x"/>
                                          </p:val>
                                        </p:tav>
                                        <p:tav tm="100000">
                                          <p:val>
                                            <p:strVal val="#ppt_x"/>
                                          </p:val>
                                        </p:tav>
                                      </p:tavLst>
                                    </p:anim>
                                    <p:anim calcmode="lin" valueType="num">
                                      <p:cBhvr additive="base">
                                        <p:cTn id="179"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par>
                    <p:cTn id="180" fill="hold" nodeType="clickPar">
                      <p:stCondLst>
                        <p:cond delay="indefinite"/>
                      </p:stCondLst>
                      <p:childTnLst>
                        <p:par>
                          <p:cTn id="181" fill="hold" nodeType="withGroup">
                            <p:stCondLst>
                              <p:cond delay="0"/>
                            </p:stCondLst>
                            <p:childTnLst>
                              <p:par>
                                <p:cTn id="182" presetID="0" presetClass="path" presetSubtype="0" accel="50000" decel="50000" fill="hold" grpId="0" nodeType="clickEffect">
                                  <p:stCondLst>
                                    <p:cond delay="0"/>
                                  </p:stCondLst>
                                  <p:childTnLst>
                                    <p:animMotion origin="layout" path="M -0.06372 0.02639 L -0.17396 0.56181 " pathEditMode="relative" rAng="0" ptsTypes="AA">
                                      <p:cBhvr>
                                        <p:cTn id="183" dur="2000" fill="hold"/>
                                        <p:tgtEl>
                                          <p:spTgt spid="141"/>
                                        </p:tgtEl>
                                        <p:attrNameLst>
                                          <p:attrName>ppt_x</p:attrName>
                                          <p:attrName>ppt_y</p:attrName>
                                        </p:attrNameLst>
                                      </p:cBhvr>
                                      <p:rCtr x="-5521" y="26759"/>
                                    </p:animMotion>
                                  </p:childTnLst>
                                </p:cTn>
                              </p:par>
                            </p:childTnLst>
                          </p:cTn>
                        </p:par>
                      </p:childTnLst>
                    </p:cTn>
                  </p:par>
                  <p:par>
                    <p:cTn id="184" fill="hold" nodeType="clickPar">
                      <p:stCondLst>
                        <p:cond delay="indefinite"/>
                      </p:stCondLst>
                      <p:childTnLst>
                        <p:par>
                          <p:cTn id="185" fill="hold" nodeType="withGroup">
                            <p:stCondLst>
                              <p:cond delay="0"/>
                            </p:stCondLst>
                            <p:childTnLst>
                              <p:par>
                                <p:cTn id="186" presetID="0" presetClass="path" presetSubtype="0" accel="50000" decel="50000" fill="hold" grpId="0" nodeType="clickEffect">
                                  <p:stCondLst>
                                    <p:cond delay="0"/>
                                  </p:stCondLst>
                                  <p:childTnLst>
                                    <p:animMotion origin="layout" path="M -0.06511 0.02778 L 0.13975 0.55278 " pathEditMode="relative" ptsTypes="AA">
                                      <p:cBhvr>
                                        <p:cTn id="187" dur="2000" fill="hold"/>
                                        <p:tgtEl>
                                          <p:spTgt spid="142"/>
                                        </p:tgtEl>
                                        <p:attrNameLst>
                                          <p:attrName>ppt_x</p:attrName>
                                          <p:attrName>ppt_y</p:attrName>
                                        </p:attrNameLst>
                                      </p:cBhvr>
                                    </p:animMotion>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 presetClass="entr" presetSubtype="4" fill="hold" grpId="0" nodeType="clickEffect">
                                  <p:stCondLst>
                                    <p:cond delay="0"/>
                                  </p:stCondLst>
                                  <p:childTnLst>
                                    <p:set>
                                      <p:cBhvr>
                                        <p:cTn id="191" dur="1" fill="hold">
                                          <p:stCondLst>
                                            <p:cond delay="0"/>
                                          </p:stCondLst>
                                        </p:cTn>
                                        <p:tgtEl>
                                          <p:spTgt spid="121"/>
                                        </p:tgtEl>
                                        <p:attrNameLst>
                                          <p:attrName>style.visibility</p:attrName>
                                        </p:attrNameLst>
                                      </p:cBhvr>
                                      <p:to>
                                        <p:strVal val="visible"/>
                                      </p:to>
                                    </p:set>
                                    <p:anim calcmode="lin" valueType="num">
                                      <p:cBhvr additive="base">
                                        <p:cTn id="192" dur="500" fill="hold"/>
                                        <p:tgtEl>
                                          <p:spTgt spid="121"/>
                                        </p:tgtEl>
                                        <p:attrNameLst>
                                          <p:attrName>ppt_x</p:attrName>
                                        </p:attrNameLst>
                                      </p:cBhvr>
                                      <p:tavLst>
                                        <p:tav tm="0">
                                          <p:val>
                                            <p:strVal val="#ppt_x"/>
                                          </p:val>
                                        </p:tav>
                                        <p:tav tm="100000">
                                          <p:val>
                                            <p:strVal val="#ppt_x"/>
                                          </p:val>
                                        </p:tav>
                                      </p:tavLst>
                                    </p:anim>
                                    <p:anim calcmode="lin" valueType="num">
                                      <p:cBhvr additive="base">
                                        <p:cTn id="193" dur="500" fill="hold"/>
                                        <p:tgtEl>
                                          <p:spTgt spid="121"/>
                                        </p:tgtEl>
                                        <p:attrNameLst>
                                          <p:attrName>ppt_y</p:attrName>
                                        </p:attrNameLst>
                                      </p:cBhvr>
                                      <p:tavLst>
                                        <p:tav tm="0">
                                          <p:val>
                                            <p:strVal val="1+#ppt_h/2"/>
                                          </p:val>
                                        </p:tav>
                                        <p:tav tm="100000">
                                          <p:val>
                                            <p:strVal val="#ppt_y"/>
                                          </p:val>
                                        </p:tav>
                                      </p:tavLst>
                                    </p:anim>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 presetClass="entr" presetSubtype="4" fill="hold" grpId="0" nodeType="clickEffect">
                                  <p:stCondLst>
                                    <p:cond delay="0"/>
                                  </p:stCondLst>
                                  <p:childTnLst>
                                    <p:set>
                                      <p:cBhvr>
                                        <p:cTn id="197" dur="1" fill="hold">
                                          <p:stCondLst>
                                            <p:cond delay="0"/>
                                          </p:stCondLst>
                                        </p:cTn>
                                        <p:tgtEl>
                                          <p:spTgt spid="105"/>
                                        </p:tgtEl>
                                        <p:attrNameLst>
                                          <p:attrName>style.visibility</p:attrName>
                                        </p:attrNameLst>
                                      </p:cBhvr>
                                      <p:to>
                                        <p:strVal val="visible"/>
                                      </p:to>
                                    </p:set>
                                    <p:anim calcmode="lin" valueType="num">
                                      <p:cBhvr additive="base">
                                        <p:cTn id="198" dur="500" fill="hold"/>
                                        <p:tgtEl>
                                          <p:spTgt spid="105"/>
                                        </p:tgtEl>
                                        <p:attrNameLst>
                                          <p:attrName>ppt_x</p:attrName>
                                        </p:attrNameLst>
                                      </p:cBhvr>
                                      <p:tavLst>
                                        <p:tav tm="0">
                                          <p:val>
                                            <p:strVal val="#ppt_x"/>
                                          </p:val>
                                        </p:tav>
                                        <p:tav tm="100000">
                                          <p:val>
                                            <p:strVal val="#ppt_x"/>
                                          </p:val>
                                        </p:tav>
                                      </p:tavLst>
                                    </p:anim>
                                    <p:anim calcmode="lin" valueType="num">
                                      <p:cBhvr additive="base">
                                        <p:cTn id="199"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7" grpId="0"/>
      <p:bldP spid="122918" grpId="0"/>
      <p:bldP spid="122919" grpId="0"/>
      <p:bldP spid="122920" grpId="0"/>
      <p:bldP spid="122921" grpId="0"/>
      <p:bldP spid="122922" grpId="0"/>
      <p:bldP spid="122925" grpId="0"/>
      <p:bldP spid="436316" grpId="0"/>
      <p:bldP spid="99" grpId="0"/>
      <p:bldP spid="101" grpId="0"/>
      <p:bldP spid="102" grpId="0"/>
      <p:bldP spid="103" grpId="0"/>
      <p:bldP spid="104" grpId="0"/>
      <p:bldP spid="105" grpId="0"/>
      <p:bldP spid="108" grpId="0"/>
      <p:bldP spid="109" grpId="0"/>
      <p:bldP spid="113" grpId="0"/>
      <p:bldP spid="114" grpId="0"/>
      <p:bldP spid="117" grpId="0"/>
      <p:bldP spid="118" grpId="0"/>
      <p:bldP spid="121" grpId="0"/>
      <p:bldP spid="122" grpId="0"/>
      <p:bldP spid="123" grpId="0"/>
      <p:bldP spid="124" grpId="0"/>
      <p:bldP spid="125" grpId="0"/>
      <p:bldP spid="128" grpId="0"/>
      <p:bldP spid="129" grpId="0"/>
      <p:bldP spid="130" grpId="0"/>
      <p:bldP spid="132" grpId="0"/>
      <p:bldP spid="133" grpId="0"/>
      <p:bldP spid="134" grpId="0"/>
      <p:bldP spid="135" grpId="0"/>
      <p:bldP spid="137" grpId="0"/>
      <p:bldP spid="138" grpId="0"/>
      <p:bldP spid="139" grpId="0"/>
      <p:bldP spid="140" grpId="0"/>
      <p:bldP spid="141" grpId="0"/>
      <p:bldP spid="14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35"/>
          <p:cNvSpPr txBox="1">
            <a:spLocks noChangeArrowheads="1"/>
          </p:cNvSpPr>
          <p:nvPr/>
        </p:nvSpPr>
        <p:spPr bwMode="auto">
          <a:xfrm>
            <a:off x="6650567" y="1804988"/>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1      2      2</a:t>
            </a:r>
          </a:p>
        </p:txBody>
      </p:sp>
      <p:grpSp>
        <p:nvGrpSpPr>
          <p:cNvPr id="125956" name="Group 8"/>
          <p:cNvGrpSpPr>
            <a:grpSpLocks/>
          </p:cNvGrpSpPr>
          <p:nvPr/>
        </p:nvGrpSpPr>
        <p:grpSpPr bwMode="auto">
          <a:xfrm>
            <a:off x="300567" y="201613"/>
            <a:ext cx="9772651" cy="3048000"/>
            <a:chOff x="663" y="240"/>
            <a:chExt cx="4617" cy="1920"/>
          </a:xfrm>
        </p:grpSpPr>
        <p:sp>
          <p:nvSpPr>
            <p:cNvPr id="126017" name="Text Box 35"/>
            <p:cNvSpPr txBox="1">
              <a:spLocks noChangeArrowheads="1"/>
            </p:cNvSpPr>
            <p:nvPr/>
          </p:nvSpPr>
          <p:spPr bwMode="auto">
            <a:xfrm>
              <a:off x="3624" y="119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1      2      2</a:t>
              </a:r>
            </a:p>
          </p:txBody>
        </p:sp>
        <p:grpSp>
          <p:nvGrpSpPr>
            <p:cNvPr id="126018" name="Group 9"/>
            <p:cNvGrpSpPr>
              <a:grpSpLocks/>
            </p:cNvGrpSpPr>
            <p:nvPr/>
          </p:nvGrpSpPr>
          <p:grpSpPr bwMode="auto">
            <a:xfrm>
              <a:off x="672" y="240"/>
              <a:ext cx="4608" cy="1920"/>
              <a:chOff x="576" y="1728"/>
              <a:chExt cx="4608" cy="2256"/>
            </a:xfrm>
          </p:grpSpPr>
          <p:sp>
            <p:nvSpPr>
              <p:cNvPr id="126044" name="Rectangle 10"/>
              <p:cNvSpPr>
                <a:spLocks noChangeArrowheads="1"/>
              </p:cNvSpPr>
              <p:nvPr/>
            </p:nvSpPr>
            <p:spPr bwMode="auto">
              <a:xfrm>
                <a:off x="576" y="1728"/>
                <a:ext cx="4608" cy="2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6045" name="Line 11"/>
              <p:cNvSpPr>
                <a:spLocks noChangeShapeType="1"/>
              </p:cNvSpPr>
              <p:nvPr/>
            </p:nvSpPr>
            <p:spPr bwMode="auto">
              <a:xfrm>
                <a:off x="576" y="2352"/>
                <a:ext cx="46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46" name="Line 12"/>
              <p:cNvSpPr>
                <a:spLocks noChangeShapeType="1"/>
              </p:cNvSpPr>
              <p:nvPr/>
            </p:nvSpPr>
            <p:spPr bwMode="auto">
              <a:xfrm>
                <a:off x="153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47" name="Line 13"/>
              <p:cNvSpPr>
                <a:spLocks noChangeShapeType="1"/>
              </p:cNvSpPr>
              <p:nvPr/>
            </p:nvSpPr>
            <p:spPr bwMode="auto">
              <a:xfrm>
                <a:off x="3408"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48" name="Line 14"/>
              <p:cNvSpPr>
                <a:spLocks noChangeShapeType="1"/>
              </p:cNvSpPr>
              <p:nvPr/>
            </p:nvSpPr>
            <p:spPr bwMode="auto">
              <a:xfrm>
                <a:off x="249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49" name="Line 15"/>
              <p:cNvSpPr>
                <a:spLocks noChangeShapeType="1"/>
              </p:cNvSpPr>
              <p:nvPr/>
            </p:nvSpPr>
            <p:spPr bwMode="auto">
              <a:xfrm>
                <a:off x="4320"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50" name="Line 16"/>
              <p:cNvSpPr>
                <a:spLocks noChangeShapeType="1"/>
              </p:cNvSpPr>
              <p:nvPr/>
            </p:nvSpPr>
            <p:spPr bwMode="auto">
              <a:xfrm>
                <a:off x="576" y="1728"/>
                <a:ext cx="960" cy="62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26019" name="Text Box 17"/>
            <p:cNvSpPr txBox="1">
              <a:spLocks noChangeArrowheads="1"/>
            </p:cNvSpPr>
            <p:nvPr/>
          </p:nvSpPr>
          <p:spPr bwMode="auto">
            <a:xfrm>
              <a:off x="1006" y="240"/>
              <a:ext cx="47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资源情况</a:t>
              </a:r>
            </a:p>
          </p:txBody>
        </p:sp>
        <p:sp>
          <p:nvSpPr>
            <p:cNvPr id="126020" name="Text Box 18"/>
            <p:cNvSpPr txBox="1">
              <a:spLocks noChangeArrowheads="1"/>
            </p:cNvSpPr>
            <p:nvPr/>
          </p:nvSpPr>
          <p:spPr bwMode="auto">
            <a:xfrm>
              <a:off x="663" y="528"/>
              <a:ext cx="28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进程</a:t>
              </a:r>
            </a:p>
          </p:txBody>
        </p:sp>
        <p:sp>
          <p:nvSpPr>
            <p:cNvPr id="126021" name="Text Box 19"/>
            <p:cNvSpPr txBox="1">
              <a:spLocks noChangeArrowheads="1"/>
            </p:cNvSpPr>
            <p:nvPr/>
          </p:nvSpPr>
          <p:spPr bwMode="auto">
            <a:xfrm>
              <a:off x="2610" y="336"/>
              <a:ext cx="883"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Allocation</a:t>
              </a:r>
            </a:p>
            <a:p>
              <a:pPr eaLnBrk="1" hangingPunct="1"/>
              <a:r>
                <a:rPr kumimoji="1" lang="en-US" altLang="zh-CN" sz="1600" b="1">
                  <a:solidFill>
                    <a:schemeClr val="tx1"/>
                  </a:solidFill>
                  <a:latin typeface="Times New Roman" pitchFamily="18" charset="0"/>
                </a:rPr>
                <a:t>A      B      C</a:t>
              </a:r>
            </a:p>
          </p:txBody>
        </p:sp>
        <p:sp>
          <p:nvSpPr>
            <p:cNvPr id="126022" name="Text Box 20"/>
            <p:cNvSpPr txBox="1">
              <a:spLocks noChangeArrowheads="1"/>
            </p:cNvSpPr>
            <p:nvPr/>
          </p:nvSpPr>
          <p:spPr bwMode="auto">
            <a:xfrm>
              <a:off x="1665" y="336"/>
              <a:ext cx="900"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Max</a:t>
              </a:r>
            </a:p>
            <a:p>
              <a:pPr eaLnBrk="1" hangingPunct="1"/>
              <a:r>
                <a:rPr kumimoji="1" lang="en-US" altLang="zh-CN" sz="1600" b="1">
                  <a:solidFill>
                    <a:schemeClr val="tx1"/>
                  </a:solidFill>
                  <a:latin typeface="Times New Roman" pitchFamily="18" charset="0"/>
                </a:rPr>
                <a:t>A      B      C</a:t>
              </a:r>
            </a:p>
          </p:txBody>
        </p:sp>
        <p:sp>
          <p:nvSpPr>
            <p:cNvPr id="126023" name="Text Box 21"/>
            <p:cNvSpPr txBox="1">
              <a:spLocks noChangeArrowheads="1"/>
            </p:cNvSpPr>
            <p:nvPr/>
          </p:nvSpPr>
          <p:spPr bwMode="auto">
            <a:xfrm>
              <a:off x="3510" y="336"/>
              <a:ext cx="90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Need</a:t>
              </a:r>
            </a:p>
            <a:p>
              <a:pPr eaLnBrk="1" hangingPunct="1"/>
              <a:r>
                <a:rPr kumimoji="1" lang="en-US" altLang="zh-CN" sz="1600" b="1">
                  <a:solidFill>
                    <a:schemeClr val="tx1"/>
                  </a:solidFill>
                  <a:latin typeface="Times New Roman" pitchFamily="18" charset="0"/>
                </a:rPr>
                <a:t>A      B      C</a:t>
              </a:r>
            </a:p>
          </p:txBody>
        </p:sp>
        <p:sp>
          <p:nvSpPr>
            <p:cNvPr id="126024" name="Text Box 22"/>
            <p:cNvSpPr txBox="1">
              <a:spLocks noChangeArrowheads="1"/>
            </p:cNvSpPr>
            <p:nvPr/>
          </p:nvSpPr>
          <p:spPr bwMode="auto">
            <a:xfrm>
              <a:off x="4410" y="336"/>
              <a:ext cx="855"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EA30EA"/>
                  </a:solidFill>
                  <a:latin typeface="Times New Roman" pitchFamily="18" charset="0"/>
                </a:rPr>
                <a:t>Available</a:t>
              </a:r>
            </a:p>
            <a:p>
              <a:pPr eaLnBrk="1" hangingPunct="1"/>
              <a:r>
                <a:rPr kumimoji="1" lang="en-US" altLang="zh-CN" sz="1600" b="1">
                  <a:solidFill>
                    <a:schemeClr val="tx1"/>
                  </a:solidFill>
                  <a:latin typeface="Times New Roman" pitchFamily="18" charset="0"/>
                </a:rPr>
                <a:t>A      B      C</a:t>
              </a:r>
            </a:p>
          </p:txBody>
        </p:sp>
        <p:sp>
          <p:nvSpPr>
            <p:cNvPr id="126025" name="Text Box 23"/>
            <p:cNvSpPr txBox="1">
              <a:spLocks noChangeArrowheads="1"/>
            </p:cNvSpPr>
            <p:nvPr/>
          </p:nvSpPr>
          <p:spPr bwMode="auto">
            <a:xfrm>
              <a:off x="1004" y="834"/>
              <a:ext cx="256" cy="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0</a:t>
              </a:r>
            </a:p>
            <a:p>
              <a:pPr algn="l" eaLnBrk="1" hangingPunct="1">
                <a:lnSpc>
                  <a:spcPts val="2200"/>
                </a:lnSpc>
              </a:pPr>
              <a:endParaRPr kumimoji="1" lang="en-US" altLang="zh-CN" sz="1600" b="1">
                <a:solidFill>
                  <a:schemeClr val="tx1"/>
                </a:solidFill>
                <a:latin typeface="Times New Roman" pitchFamily="18" charset="0"/>
              </a:endParaRPr>
            </a:p>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1</a:t>
              </a:r>
            </a:p>
            <a:p>
              <a:pPr algn="l" eaLnBrk="1" hangingPunct="1">
                <a:lnSpc>
                  <a:spcPts val="2200"/>
                </a:lnSpc>
              </a:pPr>
              <a:endParaRPr kumimoji="1" lang="en-US" altLang="zh-CN" sz="1600" b="1">
                <a:solidFill>
                  <a:schemeClr val="tx1"/>
                </a:solidFill>
                <a:latin typeface="Times New Roman" pitchFamily="18" charset="0"/>
              </a:endParaRPr>
            </a:p>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2</a:t>
              </a:r>
            </a:p>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3</a:t>
              </a:r>
            </a:p>
            <a:p>
              <a:pPr algn="l" eaLnBrk="1" hangingPunct="1">
                <a:lnSpc>
                  <a:spcPts val="22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4</a:t>
              </a:r>
            </a:p>
          </p:txBody>
        </p:sp>
        <p:sp>
          <p:nvSpPr>
            <p:cNvPr id="126026" name="Text Box 24"/>
            <p:cNvSpPr txBox="1">
              <a:spLocks noChangeArrowheads="1"/>
            </p:cNvSpPr>
            <p:nvPr/>
          </p:nvSpPr>
          <p:spPr bwMode="auto">
            <a:xfrm>
              <a:off x="2724" y="83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0      1      0</a:t>
              </a:r>
            </a:p>
          </p:txBody>
        </p:sp>
        <p:sp>
          <p:nvSpPr>
            <p:cNvPr id="126027" name="Text Box 25"/>
            <p:cNvSpPr txBox="1">
              <a:spLocks noChangeArrowheads="1"/>
            </p:cNvSpPr>
            <p:nvPr/>
          </p:nvSpPr>
          <p:spPr bwMode="auto">
            <a:xfrm>
              <a:off x="1779" y="119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3      2      2</a:t>
              </a:r>
            </a:p>
          </p:txBody>
        </p:sp>
        <p:sp>
          <p:nvSpPr>
            <p:cNvPr id="126028" name="Text Box 26"/>
            <p:cNvSpPr txBox="1">
              <a:spLocks noChangeArrowheads="1"/>
            </p:cNvSpPr>
            <p:nvPr/>
          </p:nvSpPr>
          <p:spPr bwMode="auto">
            <a:xfrm>
              <a:off x="1779" y="1545"/>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9      0      2</a:t>
              </a:r>
            </a:p>
          </p:txBody>
        </p:sp>
        <p:sp>
          <p:nvSpPr>
            <p:cNvPr id="126029" name="Text Box 27"/>
            <p:cNvSpPr txBox="1">
              <a:spLocks noChangeArrowheads="1"/>
            </p:cNvSpPr>
            <p:nvPr/>
          </p:nvSpPr>
          <p:spPr bwMode="auto">
            <a:xfrm>
              <a:off x="1779" y="1714"/>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2      2      2</a:t>
              </a:r>
            </a:p>
          </p:txBody>
        </p:sp>
        <p:sp>
          <p:nvSpPr>
            <p:cNvPr id="126030" name="Text Box 28"/>
            <p:cNvSpPr txBox="1">
              <a:spLocks noChangeArrowheads="1"/>
            </p:cNvSpPr>
            <p:nvPr/>
          </p:nvSpPr>
          <p:spPr bwMode="auto">
            <a:xfrm>
              <a:off x="1779" y="1894"/>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4      3      3</a:t>
              </a:r>
            </a:p>
          </p:txBody>
        </p:sp>
        <p:sp>
          <p:nvSpPr>
            <p:cNvPr id="126031" name="Text Box 29"/>
            <p:cNvSpPr txBox="1">
              <a:spLocks noChangeArrowheads="1"/>
            </p:cNvSpPr>
            <p:nvPr/>
          </p:nvSpPr>
          <p:spPr bwMode="auto">
            <a:xfrm>
              <a:off x="2724" y="119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2      0      0</a:t>
              </a:r>
            </a:p>
          </p:txBody>
        </p:sp>
        <p:sp>
          <p:nvSpPr>
            <p:cNvPr id="126032" name="Text Box 30"/>
            <p:cNvSpPr txBox="1">
              <a:spLocks noChangeArrowheads="1"/>
            </p:cNvSpPr>
            <p:nvPr/>
          </p:nvSpPr>
          <p:spPr bwMode="auto">
            <a:xfrm>
              <a:off x="2688" y="1412"/>
              <a:ext cx="8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endParaRPr kumimoji="1" lang="zh-CN" altLang="zh-CN" sz="1600" b="1">
                <a:solidFill>
                  <a:schemeClr val="hlink"/>
                </a:solidFill>
                <a:latin typeface="Times New Roman" pitchFamily="18" charset="0"/>
              </a:endParaRPr>
            </a:p>
          </p:txBody>
        </p:sp>
        <p:sp>
          <p:nvSpPr>
            <p:cNvPr id="126033" name="Text Box 31"/>
            <p:cNvSpPr txBox="1">
              <a:spLocks noChangeArrowheads="1"/>
            </p:cNvSpPr>
            <p:nvPr/>
          </p:nvSpPr>
          <p:spPr bwMode="auto">
            <a:xfrm>
              <a:off x="2724" y="1545"/>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sp>
          <p:nvSpPr>
            <p:cNvPr id="126034" name="Text Box 32"/>
            <p:cNvSpPr txBox="1">
              <a:spLocks noChangeArrowheads="1"/>
            </p:cNvSpPr>
            <p:nvPr/>
          </p:nvSpPr>
          <p:spPr bwMode="auto">
            <a:xfrm>
              <a:off x="2724" y="1718"/>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2      1      1</a:t>
              </a:r>
            </a:p>
          </p:txBody>
        </p:sp>
        <p:sp>
          <p:nvSpPr>
            <p:cNvPr id="126035" name="Text Box 33"/>
            <p:cNvSpPr txBox="1">
              <a:spLocks noChangeArrowheads="1"/>
            </p:cNvSpPr>
            <p:nvPr/>
          </p:nvSpPr>
          <p:spPr bwMode="auto">
            <a:xfrm>
              <a:off x="2724" y="1898"/>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0      0      2</a:t>
              </a:r>
            </a:p>
          </p:txBody>
        </p:sp>
        <p:sp>
          <p:nvSpPr>
            <p:cNvPr id="126036" name="Text Box 34"/>
            <p:cNvSpPr txBox="1">
              <a:spLocks noChangeArrowheads="1"/>
            </p:cNvSpPr>
            <p:nvPr/>
          </p:nvSpPr>
          <p:spPr bwMode="auto">
            <a:xfrm>
              <a:off x="3624" y="83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26037" name="Text Box 36"/>
            <p:cNvSpPr txBox="1">
              <a:spLocks noChangeArrowheads="1"/>
            </p:cNvSpPr>
            <p:nvPr/>
          </p:nvSpPr>
          <p:spPr bwMode="auto">
            <a:xfrm>
              <a:off x="3592" y="1412"/>
              <a:ext cx="8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endParaRPr kumimoji="1" lang="zh-CN" altLang="zh-CN" sz="1600" b="1">
                <a:solidFill>
                  <a:schemeClr val="hlink"/>
                </a:solidFill>
                <a:latin typeface="Times New Roman" pitchFamily="18" charset="0"/>
              </a:endParaRPr>
            </a:p>
          </p:txBody>
        </p:sp>
        <p:sp>
          <p:nvSpPr>
            <p:cNvPr id="126038" name="Text Box 37"/>
            <p:cNvSpPr txBox="1">
              <a:spLocks noChangeArrowheads="1"/>
            </p:cNvSpPr>
            <p:nvPr/>
          </p:nvSpPr>
          <p:spPr bwMode="auto">
            <a:xfrm>
              <a:off x="3624" y="155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6      0      0</a:t>
              </a:r>
            </a:p>
          </p:txBody>
        </p:sp>
        <p:sp>
          <p:nvSpPr>
            <p:cNvPr id="126039" name="Text Box 38"/>
            <p:cNvSpPr txBox="1">
              <a:spLocks noChangeArrowheads="1"/>
            </p:cNvSpPr>
            <p:nvPr/>
          </p:nvSpPr>
          <p:spPr bwMode="auto">
            <a:xfrm>
              <a:off x="3624" y="1718"/>
              <a:ext cx="74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0      1      1</a:t>
              </a:r>
            </a:p>
          </p:txBody>
        </p:sp>
        <p:sp>
          <p:nvSpPr>
            <p:cNvPr id="126040" name="Text Box 39"/>
            <p:cNvSpPr txBox="1">
              <a:spLocks noChangeArrowheads="1"/>
            </p:cNvSpPr>
            <p:nvPr/>
          </p:nvSpPr>
          <p:spPr bwMode="auto">
            <a:xfrm>
              <a:off x="3624" y="1895"/>
              <a:ext cx="69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4      3      1</a:t>
              </a:r>
            </a:p>
          </p:txBody>
        </p:sp>
        <p:sp>
          <p:nvSpPr>
            <p:cNvPr id="126041" name="Text Box 40"/>
            <p:cNvSpPr txBox="1">
              <a:spLocks noChangeArrowheads="1"/>
            </p:cNvSpPr>
            <p:nvPr/>
          </p:nvSpPr>
          <p:spPr bwMode="auto">
            <a:xfrm>
              <a:off x="4524" y="83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3      3      2</a:t>
              </a:r>
            </a:p>
          </p:txBody>
        </p:sp>
        <p:sp>
          <p:nvSpPr>
            <p:cNvPr id="126042" name="Text Box 41"/>
            <p:cNvSpPr txBox="1">
              <a:spLocks noChangeArrowheads="1"/>
            </p:cNvSpPr>
            <p:nvPr/>
          </p:nvSpPr>
          <p:spPr bwMode="auto">
            <a:xfrm>
              <a:off x="4552" y="1096"/>
              <a:ext cx="8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endParaRPr kumimoji="1" lang="zh-CN" altLang="zh-CN" sz="1600" b="1">
                <a:solidFill>
                  <a:schemeClr val="hlink"/>
                </a:solidFill>
                <a:latin typeface="Times New Roman" pitchFamily="18" charset="0"/>
              </a:endParaRPr>
            </a:p>
          </p:txBody>
        </p:sp>
        <p:sp>
          <p:nvSpPr>
            <p:cNvPr id="126043" name="Text Box 42"/>
            <p:cNvSpPr txBox="1">
              <a:spLocks noChangeArrowheads="1"/>
            </p:cNvSpPr>
            <p:nvPr/>
          </p:nvSpPr>
          <p:spPr bwMode="auto">
            <a:xfrm>
              <a:off x="1779" y="833"/>
              <a:ext cx="52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7      5      3</a:t>
              </a:r>
            </a:p>
          </p:txBody>
        </p:sp>
      </p:grpSp>
      <p:sp>
        <p:nvSpPr>
          <p:cNvPr id="96" name="Rectangle 91"/>
          <p:cNvSpPr>
            <a:spLocks noChangeArrowheads="1"/>
          </p:cNvSpPr>
          <p:nvPr/>
        </p:nvSpPr>
        <p:spPr bwMode="auto">
          <a:xfrm>
            <a:off x="8841317" y="1916113"/>
            <a:ext cx="2438400" cy="990600"/>
          </a:xfrm>
          <a:prstGeom prst="rect">
            <a:avLst/>
          </a:prstGeom>
          <a:solidFill>
            <a:srgbClr val="CCFFFF"/>
          </a:solidFill>
          <a:ln w="9525">
            <a:solidFill>
              <a:schemeClr val="tx1"/>
            </a:solidFill>
            <a:miter lim="800000"/>
            <a:headEnd/>
            <a:tailEnd/>
          </a:ln>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zh-CN" altLang="en-US" sz="1600">
                <a:solidFill>
                  <a:schemeClr val="tx1"/>
                </a:solidFill>
                <a:latin typeface="Times New Roman" pitchFamily="18" charset="0"/>
              </a:rPr>
              <a:t>若</a:t>
            </a:r>
            <a:r>
              <a:rPr kumimoji="1" lang="en-US" altLang="zh-CN" sz="1600">
                <a:solidFill>
                  <a:schemeClr val="tx1"/>
                </a:solidFill>
                <a:latin typeface="Times New Roman" pitchFamily="18" charset="0"/>
              </a:rPr>
              <a:t>P</a:t>
            </a:r>
            <a:r>
              <a:rPr kumimoji="1" lang="en-US" altLang="zh-CN" sz="1600" b="1" baseline="-25000">
                <a:solidFill>
                  <a:schemeClr val="tx1"/>
                </a:solidFill>
                <a:latin typeface="Times New Roman" pitchFamily="18" charset="0"/>
              </a:rPr>
              <a:t>1</a:t>
            </a:r>
            <a:r>
              <a:rPr kumimoji="1" lang="zh-CN" altLang="en-US" sz="1600">
                <a:solidFill>
                  <a:schemeClr val="tx1"/>
                </a:solidFill>
                <a:latin typeface="Times New Roman" pitchFamily="18" charset="0"/>
              </a:rPr>
              <a:t>发出请求向量</a:t>
            </a:r>
          </a:p>
          <a:p>
            <a:pPr eaLnBrk="1" hangingPunct="1"/>
            <a:r>
              <a:rPr kumimoji="1" lang="en-US" altLang="zh-CN" sz="1600">
                <a:solidFill>
                  <a:schemeClr val="tx1"/>
                </a:solidFill>
                <a:latin typeface="Times New Roman" pitchFamily="18" charset="0"/>
              </a:rPr>
              <a:t>Request</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1</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0</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2</a:t>
            </a:r>
            <a:r>
              <a:rPr kumimoji="1" lang="zh-CN" altLang="en-US" sz="1600">
                <a:solidFill>
                  <a:schemeClr val="tx1"/>
                </a:solidFill>
                <a:latin typeface="Times New Roman" pitchFamily="18" charset="0"/>
              </a:rPr>
              <a:t>）</a:t>
            </a:r>
          </a:p>
        </p:txBody>
      </p:sp>
      <p:sp>
        <p:nvSpPr>
          <p:cNvPr id="97" name="Text Box 42"/>
          <p:cNvSpPr txBox="1">
            <a:spLocks noChangeArrowheads="1"/>
          </p:cNvSpPr>
          <p:nvPr/>
        </p:nvSpPr>
        <p:spPr bwMode="auto">
          <a:xfrm>
            <a:off x="8326967" y="1373188"/>
            <a:ext cx="134553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hlink"/>
                </a:solidFill>
                <a:latin typeface="Times New Roman" pitchFamily="18" charset="0"/>
              </a:rPr>
              <a:t>( 2      3      0 )</a:t>
            </a:r>
          </a:p>
        </p:txBody>
      </p:sp>
      <p:sp>
        <p:nvSpPr>
          <p:cNvPr id="98" name="Text Box 37"/>
          <p:cNvSpPr txBox="1">
            <a:spLocks noChangeArrowheads="1"/>
          </p:cNvSpPr>
          <p:nvPr/>
        </p:nvSpPr>
        <p:spPr bwMode="auto">
          <a:xfrm>
            <a:off x="6421967" y="1928813"/>
            <a:ext cx="134553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hlink"/>
                </a:solidFill>
                <a:latin typeface="Times New Roman" pitchFamily="18" charset="0"/>
              </a:rPr>
              <a:t>( 0      2      0 )</a:t>
            </a:r>
          </a:p>
        </p:txBody>
      </p:sp>
      <p:sp>
        <p:nvSpPr>
          <p:cNvPr id="100" name="Text Box 31"/>
          <p:cNvSpPr txBox="1">
            <a:spLocks noChangeArrowheads="1"/>
          </p:cNvSpPr>
          <p:nvPr/>
        </p:nvSpPr>
        <p:spPr bwMode="auto">
          <a:xfrm>
            <a:off x="4516967" y="1928813"/>
            <a:ext cx="134553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hlink"/>
                </a:solidFill>
                <a:latin typeface="Times New Roman" pitchFamily="18" charset="0"/>
              </a:rPr>
              <a:t>( 3      0      2 )</a:t>
            </a:r>
          </a:p>
        </p:txBody>
      </p:sp>
      <p:sp>
        <p:nvSpPr>
          <p:cNvPr id="158" name="Text Box 5"/>
          <p:cNvSpPr txBox="1">
            <a:spLocks noChangeArrowheads="1"/>
          </p:cNvSpPr>
          <p:nvPr/>
        </p:nvSpPr>
        <p:spPr bwMode="auto">
          <a:xfrm>
            <a:off x="2772833" y="43434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2      3      0</a:t>
            </a:r>
          </a:p>
        </p:txBody>
      </p:sp>
      <p:sp>
        <p:nvSpPr>
          <p:cNvPr id="159" name="Text Box 6"/>
          <p:cNvSpPr txBox="1">
            <a:spLocks noChangeArrowheads="1"/>
          </p:cNvSpPr>
          <p:nvPr/>
        </p:nvSpPr>
        <p:spPr bwMode="auto">
          <a:xfrm>
            <a:off x="4800600" y="43434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0      2      0</a:t>
            </a:r>
          </a:p>
        </p:txBody>
      </p:sp>
      <p:sp>
        <p:nvSpPr>
          <p:cNvPr id="160" name="Text Box 7"/>
          <p:cNvSpPr txBox="1">
            <a:spLocks noChangeArrowheads="1"/>
          </p:cNvSpPr>
          <p:nvPr/>
        </p:nvSpPr>
        <p:spPr bwMode="auto">
          <a:xfrm>
            <a:off x="6832600" y="43434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grpSp>
        <p:nvGrpSpPr>
          <p:cNvPr id="4" name="组合 204"/>
          <p:cNvGrpSpPr>
            <a:grpSpLocks/>
          </p:cNvGrpSpPr>
          <p:nvPr/>
        </p:nvGrpSpPr>
        <p:grpSpPr bwMode="auto">
          <a:xfrm>
            <a:off x="334433" y="3429001"/>
            <a:ext cx="10871200" cy="3014663"/>
            <a:chOff x="609600" y="3495675"/>
            <a:chExt cx="8153400" cy="3014663"/>
          </a:xfrm>
        </p:grpSpPr>
        <p:sp>
          <p:nvSpPr>
            <p:cNvPr id="125997" name="Text Box 44"/>
            <p:cNvSpPr txBox="1">
              <a:spLocks noChangeArrowheads="1"/>
            </p:cNvSpPr>
            <p:nvPr/>
          </p:nvSpPr>
          <p:spPr bwMode="auto">
            <a:xfrm>
              <a:off x="1187450" y="3508375"/>
              <a:ext cx="75668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资源情况</a:t>
              </a:r>
            </a:p>
          </p:txBody>
        </p:sp>
        <p:sp>
          <p:nvSpPr>
            <p:cNvPr id="125998" name="Text Box 45"/>
            <p:cNvSpPr txBox="1">
              <a:spLocks noChangeArrowheads="1"/>
            </p:cNvSpPr>
            <p:nvPr/>
          </p:nvSpPr>
          <p:spPr bwMode="auto">
            <a:xfrm>
              <a:off x="825500" y="3967163"/>
              <a:ext cx="446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进程</a:t>
              </a:r>
            </a:p>
          </p:txBody>
        </p:sp>
        <p:sp>
          <p:nvSpPr>
            <p:cNvPr id="125999" name="Text Box 46"/>
            <p:cNvSpPr txBox="1">
              <a:spLocks noChangeArrowheads="1"/>
            </p:cNvSpPr>
            <p:nvPr/>
          </p:nvSpPr>
          <p:spPr bwMode="auto">
            <a:xfrm>
              <a:off x="3857620" y="3568700"/>
              <a:ext cx="1288608"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Need</a:t>
              </a:r>
            </a:p>
            <a:p>
              <a:pPr eaLnBrk="1" hangingPunct="1"/>
              <a:r>
                <a:rPr kumimoji="1" lang="en-US" altLang="zh-CN" sz="1600" b="1">
                  <a:solidFill>
                    <a:schemeClr val="tx1"/>
                  </a:solidFill>
                  <a:latin typeface="Times New Roman" pitchFamily="18" charset="0"/>
                </a:rPr>
                <a:t>A      B      C</a:t>
              </a:r>
            </a:p>
          </p:txBody>
        </p:sp>
        <p:sp>
          <p:nvSpPr>
            <p:cNvPr id="126000" name="Text Box 47"/>
            <p:cNvSpPr txBox="1">
              <a:spLocks noChangeArrowheads="1"/>
            </p:cNvSpPr>
            <p:nvPr/>
          </p:nvSpPr>
          <p:spPr bwMode="auto">
            <a:xfrm>
              <a:off x="2214546" y="3568700"/>
              <a:ext cx="1499762"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EA30EA"/>
                  </a:solidFill>
                  <a:latin typeface="Times New Roman" pitchFamily="18" charset="0"/>
                </a:rPr>
                <a:t>work</a:t>
              </a:r>
            </a:p>
            <a:p>
              <a:pPr eaLnBrk="1" hangingPunct="1"/>
              <a:r>
                <a:rPr kumimoji="1" lang="en-US" altLang="zh-CN" sz="1600" b="1">
                  <a:solidFill>
                    <a:schemeClr val="tx1"/>
                  </a:solidFill>
                  <a:latin typeface="Times New Roman" pitchFamily="18" charset="0"/>
                </a:rPr>
                <a:t>A      B      C</a:t>
              </a:r>
            </a:p>
          </p:txBody>
        </p:sp>
        <p:sp>
          <p:nvSpPr>
            <p:cNvPr id="126001" name="Text Box 48"/>
            <p:cNvSpPr txBox="1">
              <a:spLocks noChangeArrowheads="1"/>
            </p:cNvSpPr>
            <p:nvPr/>
          </p:nvSpPr>
          <p:spPr bwMode="auto">
            <a:xfrm>
              <a:off x="6391275" y="3597275"/>
              <a:ext cx="1356364" cy="55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400" b="1">
                  <a:solidFill>
                    <a:srgbClr val="EA30EA"/>
                  </a:solidFill>
                  <a:latin typeface="Times New Roman" pitchFamily="18" charset="0"/>
                </a:rPr>
                <a:t>     Work</a:t>
              </a:r>
              <a:r>
                <a:rPr kumimoji="1" lang="zh-CN" altLang="en-US" sz="1400" b="1">
                  <a:solidFill>
                    <a:schemeClr val="tx1"/>
                  </a:solidFill>
                  <a:latin typeface="Times New Roman" pitchFamily="18" charset="0"/>
                </a:rPr>
                <a:t>＋</a:t>
              </a:r>
              <a:r>
                <a:rPr kumimoji="1" lang="en-US" altLang="zh-CN" sz="1400" b="1">
                  <a:solidFill>
                    <a:srgbClr val="3DAD27"/>
                  </a:solidFill>
                  <a:latin typeface="Times New Roman" pitchFamily="18" charset="0"/>
                </a:rPr>
                <a:t>Allocation</a:t>
              </a:r>
            </a:p>
            <a:p>
              <a:pPr eaLnBrk="1" hangingPunct="1"/>
              <a:r>
                <a:rPr kumimoji="1" lang="en-US" altLang="zh-CN" sz="1600" b="1">
                  <a:solidFill>
                    <a:schemeClr val="tx1"/>
                  </a:solidFill>
                  <a:latin typeface="Times New Roman" pitchFamily="18" charset="0"/>
                </a:rPr>
                <a:t>     A      B      C</a:t>
              </a:r>
            </a:p>
          </p:txBody>
        </p:sp>
        <p:sp>
          <p:nvSpPr>
            <p:cNvPr id="126002" name="Text Box 49"/>
            <p:cNvSpPr txBox="1">
              <a:spLocks noChangeArrowheads="1"/>
            </p:cNvSpPr>
            <p:nvPr/>
          </p:nvSpPr>
          <p:spPr bwMode="auto">
            <a:xfrm>
              <a:off x="5249863" y="3571875"/>
              <a:ext cx="139383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3DAD27"/>
                  </a:solidFill>
                  <a:latin typeface="Times New Roman" pitchFamily="18" charset="0"/>
                </a:rPr>
                <a:t>   Allocation</a:t>
              </a:r>
            </a:p>
            <a:p>
              <a:pPr eaLnBrk="1" hangingPunct="1"/>
              <a:r>
                <a:rPr kumimoji="1" lang="en-US" altLang="zh-CN" sz="1600" b="1">
                  <a:solidFill>
                    <a:schemeClr val="tx1"/>
                  </a:solidFill>
                  <a:latin typeface="Times New Roman" pitchFamily="18" charset="0"/>
                </a:rPr>
                <a:t>   A      B      C</a:t>
              </a:r>
            </a:p>
          </p:txBody>
        </p:sp>
        <p:grpSp>
          <p:nvGrpSpPr>
            <p:cNvPr id="126003" name="Group 51"/>
            <p:cNvGrpSpPr>
              <a:grpSpLocks/>
            </p:cNvGrpSpPr>
            <p:nvPr/>
          </p:nvGrpSpPr>
          <p:grpSpPr bwMode="auto">
            <a:xfrm>
              <a:off x="609600" y="3495675"/>
              <a:ext cx="8153400" cy="3014663"/>
              <a:chOff x="384" y="2256"/>
              <a:chExt cx="5136" cy="1899"/>
            </a:xfrm>
          </p:grpSpPr>
          <p:grpSp>
            <p:nvGrpSpPr>
              <p:cNvPr id="126005" name="Group 52"/>
              <p:cNvGrpSpPr>
                <a:grpSpLocks/>
              </p:cNvGrpSpPr>
              <p:nvPr/>
            </p:nvGrpSpPr>
            <p:grpSpPr bwMode="auto">
              <a:xfrm>
                <a:off x="384" y="2256"/>
                <a:ext cx="4727" cy="1899"/>
                <a:chOff x="576" y="1728"/>
                <a:chExt cx="4608" cy="2256"/>
              </a:xfrm>
            </p:grpSpPr>
            <p:sp>
              <p:nvSpPr>
                <p:cNvPr id="126010" name="Rectangle 53"/>
                <p:cNvSpPr>
                  <a:spLocks noChangeArrowheads="1"/>
                </p:cNvSpPr>
                <p:nvPr/>
              </p:nvSpPr>
              <p:spPr bwMode="auto">
                <a:xfrm>
                  <a:off x="576" y="1728"/>
                  <a:ext cx="4608" cy="2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6011" name="Line 54"/>
                <p:cNvSpPr>
                  <a:spLocks noChangeShapeType="1"/>
                </p:cNvSpPr>
                <p:nvPr/>
              </p:nvSpPr>
              <p:spPr bwMode="auto">
                <a:xfrm>
                  <a:off x="576" y="2352"/>
                  <a:ext cx="46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12" name="Line 55"/>
                <p:cNvSpPr>
                  <a:spLocks noChangeShapeType="1"/>
                </p:cNvSpPr>
                <p:nvPr/>
              </p:nvSpPr>
              <p:spPr bwMode="auto">
                <a:xfrm>
                  <a:off x="153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13" name="Line 56"/>
                <p:cNvSpPr>
                  <a:spLocks noChangeShapeType="1"/>
                </p:cNvSpPr>
                <p:nvPr/>
              </p:nvSpPr>
              <p:spPr bwMode="auto">
                <a:xfrm>
                  <a:off x="3408"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14" name="Line 57"/>
                <p:cNvSpPr>
                  <a:spLocks noChangeShapeType="1"/>
                </p:cNvSpPr>
                <p:nvPr/>
              </p:nvSpPr>
              <p:spPr bwMode="auto">
                <a:xfrm>
                  <a:off x="249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15" name="Line 58"/>
                <p:cNvSpPr>
                  <a:spLocks noChangeShapeType="1"/>
                </p:cNvSpPr>
                <p:nvPr/>
              </p:nvSpPr>
              <p:spPr bwMode="auto">
                <a:xfrm>
                  <a:off x="4320"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16" name="Line 59"/>
                <p:cNvSpPr>
                  <a:spLocks noChangeShapeType="1"/>
                </p:cNvSpPr>
                <p:nvPr/>
              </p:nvSpPr>
              <p:spPr bwMode="auto">
                <a:xfrm>
                  <a:off x="576" y="1728"/>
                  <a:ext cx="960" cy="62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26006" name="Line 60"/>
              <p:cNvSpPr>
                <a:spLocks noChangeShapeType="1"/>
              </p:cNvSpPr>
              <p:nvPr/>
            </p:nvSpPr>
            <p:spPr bwMode="auto">
              <a:xfrm>
                <a:off x="5065" y="2256"/>
                <a:ext cx="455"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07" name="Line 61"/>
              <p:cNvSpPr>
                <a:spLocks noChangeShapeType="1"/>
              </p:cNvSpPr>
              <p:nvPr/>
            </p:nvSpPr>
            <p:spPr bwMode="auto">
              <a:xfrm>
                <a:off x="5520" y="2256"/>
                <a:ext cx="0" cy="1899"/>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08" name="Line 62"/>
              <p:cNvSpPr>
                <a:spLocks noChangeShapeType="1"/>
              </p:cNvSpPr>
              <p:nvPr/>
            </p:nvSpPr>
            <p:spPr bwMode="auto">
              <a:xfrm>
                <a:off x="5111" y="4155"/>
                <a:ext cx="409"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6009" name="Line 63"/>
              <p:cNvSpPr>
                <a:spLocks noChangeShapeType="1"/>
              </p:cNvSpPr>
              <p:nvPr/>
            </p:nvSpPr>
            <p:spPr bwMode="auto">
              <a:xfrm>
                <a:off x="5111" y="2784"/>
                <a:ext cx="409"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26004" name="Text Box 64"/>
            <p:cNvSpPr txBox="1">
              <a:spLocks noChangeArrowheads="1"/>
            </p:cNvSpPr>
            <p:nvPr/>
          </p:nvSpPr>
          <p:spPr bwMode="auto">
            <a:xfrm>
              <a:off x="8040688" y="3633788"/>
              <a:ext cx="585961"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 Finish</a:t>
              </a:r>
            </a:p>
          </p:txBody>
        </p:sp>
      </p:grpSp>
      <p:sp>
        <p:nvSpPr>
          <p:cNvPr id="182" name="Text Box 65"/>
          <p:cNvSpPr txBox="1">
            <a:spLocks noChangeArrowheads="1"/>
          </p:cNvSpPr>
          <p:nvPr/>
        </p:nvSpPr>
        <p:spPr bwMode="auto">
          <a:xfrm>
            <a:off x="2768600" y="48006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5      3      2</a:t>
            </a:r>
          </a:p>
        </p:txBody>
      </p:sp>
      <p:sp>
        <p:nvSpPr>
          <p:cNvPr id="183" name="Text Box 66"/>
          <p:cNvSpPr txBox="1">
            <a:spLocks noChangeArrowheads="1"/>
          </p:cNvSpPr>
          <p:nvPr/>
        </p:nvSpPr>
        <p:spPr bwMode="auto">
          <a:xfrm>
            <a:off x="10418234" y="4311650"/>
            <a:ext cx="54724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84" name="Text Box 67"/>
          <p:cNvSpPr txBox="1">
            <a:spLocks noChangeArrowheads="1"/>
          </p:cNvSpPr>
          <p:nvPr/>
        </p:nvSpPr>
        <p:spPr bwMode="auto">
          <a:xfrm>
            <a:off x="10411885" y="4768850"/>
            <a:ext cx="825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85" name="Text Box 68"/>
          <p:cNvSpPr txBox="1">
            <a:spLocks noChangeArrowheads="1"/>
          </p:cNvSpPr>
          <p:nvPr/>
        </p:nvSpPr>
        <p:spPr bwMode="auto">
          <a:xfrm>
            <a:off x="10411885" y="5168900"/>
            <a:ext cx="825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86" name="Text Box 69"/>
          <p:cNvSpPr txBox="1">
            <a:spLocks noChangeArrowheads="1"/>
          </p:cNvSpPr>
          <p:nvPr/>
        </p:nvSpPr>
        <p:spPr bwMode="auto">
          <a:xfrm>
            <a:off x="10411885" y="5638800"/>
            <a:ext cx="825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87" name="Text Box 70"/>
          <p:cNvSpPr txBox="1">
            <a:spLocks noChangeArrowheads="1"/>
          </p:cNvSpPr>
          <p:nvPr/>
        </p:nvSpPr>
        <p:spPr bwMode="auto">
          <a:xfrm>
            <a:off x="10411885" y="6019800"/>
            <a:ext cx="82550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true</a:t>
            </a:r>
          </a:p>
        </p:txBody>
      </p:sp>
      <p:sp>
        <p:nvSpPr>
          <p:cNvPr id="188" name="Text Box 71"/>
          <p:cNvSpPr txBox="1">
            <a:spLocks noChangeArrowheads="1"/>
          </p:cNvSpPr>
          <p:nvPr/>
        </p:nvSpPr>
        <p:spPr bwMode="auto">
          <a:xfrm>
            <a:off x="4804833" y="48006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0      1      1</a:t>
            </a:r>
          </a:p>
        </p:txBody>
      </p:sp>
      <p:sp>
        <p:nvSpPr>
          <p:cNvPr id="189" name="Text Box 72"/>
          <p:cNvSpPr txBox="1">
            <a:spLocks noChangeArrowheads="1"/>
          </p:cNvSpPr>
          <p:nvPr/>
        </p:nvSpPr>
        <p:spPr bwMode="auto">
          <a:xfrm>
            <a:off x="6832600" y="48006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2      1      1</a:t>
            </a:r>
          </a:p>
        </p:txBody>
      </p:sp>
      <p:sp>
        <p:nvSpPr>
          <p:cNvPr id="190" name="Text Box 73"/>
          <p:cNvSpPr txBox="1">
            <a:spLocks noChangeArrowheads="1"/>
          </p:cNvSpPr>
          <p:nvPr/>
        </p:nvSpPr>
        <p:spPr bwMode="auto">
          <a:xfrm>
            <a:off x="8763000" y="43434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5      3      2</a:t>
            </a:r>
          </a:p>
        </p:txBody>
      </p:sp>
      <p:sp>
        <p:nvSpPr>
          <p:cNvPr id="191" name="Text Box 74"/>
          <p:cNvSpPr txBox="1">
            <a:spLocks noChangeArrowheads="1"/>
          </p:cNvSpPr>
          <p:nvPr/>
        </p:nvSpPr>
        <p:spPr bwMode="auto">
          <a:xfrm>
            <a:off x="8763000" y="476885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92" name="Text Box 75"/>
          <p:cNvSpPr txBox="1">
            <a:spLocks noChangeArrowheads="1"/>
          </p:cNvSpPr>
          <p:nvPr/>
        </p:nvSpPr>
        <p:spPr bwMode="auto">
          <a:xfrm>
            <a:off x="2738967" y="51816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93" name="Text Box 76"/>
          <p:cNvSpPr txBox="1">
            <a:spLocks noChangeArrowheads="1"/>
          </p:cNvSpPr>
          <p:nvPr/>
        </p:nvSpPr>
        <p:spPr bwMode="auto">
          <a:xfrm>
            <a:off x="4802718" y="5181601"/>
            <a:ext cx="1479549"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4      3      1</a:t>
            </a:r>
          </a:p>
        </p:txBody>
      </p:sp>
      <p:sp>
        <p:nvSpPr>
          <p:cNvPr id="194" name="Text Box 77"/>
          <p:cNvSpPr txBox="1">
            <a:spLocks noChangeArrowheads="1"/>
          </p:cNvSpPr>
          <p:nvPr/>
        </p:nvSpPr>
        <p:spPr bwMode="auto">
          <a:xfrm>
            <a:off x="6832600" y="517525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0      0      2</a:t>
            </a:r>
          </a:p>
        </p:txBody>
      </p:sp>
      <p:sp>
        <p:nvSpPr>
          <p:cNvPr id="195" name="Text Box 78"/>
          <p:cNvSpPr txBox="1">
            <a:spLocks noChangeArrowheads="1"/>
          </p:cNvSpPr>
          <p:nvPr/>
        </p:nvSpPr>
        <p:spPr bwMode="auto">
          <a:xfrm>
            <a:off x="8760884" y="5205413"/>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7      4      5</a:t>
            </a:r>
          </a:p>
        </p:txBody>
      </p:sp>
      <p:sp>
        <p:nvSpPr>
          <p:cNvPr id="196" name="Text Box 79"/>
          <p:cNvSpPr txBox="1">
            <a:spLocks noChangeArrowheads="1"/>
          </p:cNvSpPr>
          <p:nvPr/>
        </p:nvSpPr>
        <p:spPr bwMode="auto">
          <a:xfrm>
            <a:off x="2738967" y="56388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7      4      5</a:t>
            </a:r>
          </a:p>
        </p:txBody>
      </p:sp>
      <p:sp>
        <p:nvSpPr>
          <p:cNvPr id="197" name="Text Box 80"/>
          <p:cNvSpPr txBox="1">
            <a:spLocks noChangeArrowheads="1"/>
          </p:cNvSpPr>
          <p:nvPr/>
        </p:nvSpPr>
        <p:spPr bwMode="auto">
          <a:xfrm>
            <a:off x="4800600" y="563880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98" name="Text Box 81"/>
          <p:cNvSpPr txBox="1">
            <a:spLocks noChangeArrowheads="1"/>
          </p:cNvSpPr>
          <p:nvPr/>
        </p:nvSpPr>
        <p:spPr bwMode="auto">
          <a:xfrm>
            <a:off x="6832600" y="5608638"/>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0      1      0</a:t>
            </a:r>
          </a:p>
        </p:txBody>
      </p:sp>
      <p:sp>
        <p:nvSpPr>
          <p:cNvPr id="199" name="Text Box 82"/>
          <p:cNvSpPr txBox="1">
            <a:spLocks noChangeArrowheads="1"/>
          </p:cNvSpPr>
          <p:nvPr/>
        </p:nvSpPr>
        <p:spPr bwMode="auto">
          <a:xfrm>
            <a:off x="8760884" y="5648326"/>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7      5      5</a:t>
            </a:r>
          </a:p>
        </p:txBody>
      </p:sp>
      <p:sp>
        <p:nvSpPr>
          <p:cNvPr id="200" name="Text Box 83"/>
          <p:cNvSpPr txBox="1">
            <a:spLocks noChangeArrowheads="1"/>
          </p:cNvSpPr>
          <p:nvPr/>
        </p:nvSpPr>
        <p:spPr bwMode="auto">
          <a:xfrm>
            <a:off x="2700867" y="606425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7      5      5</a:t>
            </a:r>
          </a:p>
        </p:txBody>
      </p:sp>
      <p:sp>
        <p:nvSpPr>
          <p:cNvPr id="201" name="Text Box 84"/>
          <p:cNvSpPr txBox="1">
            <a:spLocks noChangeArrowheads="1"/>
          </p:cNvSpPr>
          <p:nvPr/>
        </p:nvSpPr>
        <p:spPr bwMode="auto">
          <a:xfrm>
            <a:off x="4760384" y="606425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6      0      0</a:t>
            </a:r>
          </a:p>
        </p:txBody>
      </p:sp>
      <p:sp>
        <p:nvSpPr>
          <p:cNvPr id="202" name="Text Box 85"/>
          <p:cNvSpPr txBox="1">
            <a:spLocks noChangeArrowheads="1"/>
          </p:cNvSpPr>
          <p:nvPr/>
        </p:nvSpPr>
        <p:spPr bwMode="auto">
          <a:xfrm>
            <a:off x="6832600" y="6064251"/>
            <a:ext cx="110508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sp>
        <p:nvSpPr>
          <p:cNvPr id="203" name="Text Box 86"/>
          <p:cNvSpPr txBox="1">
            <a:spLocks noChangeArrowheads="1"/>
          </p:cNvSpPr>
          <p:nvPr/>
        </p:nvSpPr>
        <p:spPr bwMode="auto">
          <a:xfrm>
            <a:off x="8695267" y="6062663"/>
            <a:ext cx="1156384"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10     5      7</a:t>
            </a:r>
          </a:p>
        </p:txBody>
      </p:sp>
      <p:sp>
        <p:nvSpPr>
          <p:cNvPr id="211" name="Text Box 49"/>
          <p:cNvSpPr txBox="1">
            <a:spLocks noChangeArrowheads="1"/>
          </p:cNvSpPr>
          <p:nvPr/>
        </p:nvSpPr>
        <p:spPr bwMode="auto">
          <a:xfrm>
            <a:off x="1147233" y="4249738"/>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1</a:t>
            </a:r>
          </a:p>
        </p:txBody>
      </p:sp>
      <p:sp>
        <p:nvSpPr>
          <p:cNvPr id="212" name="Text Box 49"/>
          <p:cNvSpPr txBox="1">
            <a:spLocks noChangeArrowheads="1"/>
          </p:cNvSpPr>
          <p:nvPr/>
        </p:nvSpPr>
        <p:spPr bwMode="auto">
          <a:xfrm>
            <a:off x="1147233" y="4635500"/>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3</a:t>
            </a:r>
          </a:p>
        </p:txBody>
      </p:sp>
      <p:sp>
        <p:nvSpPr>
          <p:cNvPr id="213" name="Text Box 49"/>
          <p:cNvSpPr txBox="1">
            <a:spLocks noChangeArrowheads="1"/>
          </p:cNvSpPr>
          <p:nvPr/>
        </p:nvSpPr>
        <p:spPr bwMode="auto">
          <a:xfrm>
            <a:off x="1140884" y="5048250"/>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4</a:t>
            </a:r>
          </a:p>
        </p:txBody>
      </p:sp>
      <p:sp>
        <p:nvSpPr>
          <p:cNvPr id="214" name="Text Box 49"/>
          <p:cNvSpPr txBox="1">
            <a:spLocks noChangeArrowheads="1"/>
          </p:cNvSpPr>
          <p:nvPr/>
        </p:nvSpPr>
        <p:spPr bwMode="auto">
          <a:xfrm>
            <a:off x="1140884" y="5476876"/>
            <a:ext cx="812800"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0</a:t>
            </a:r>
          </a:p>
        </p:txBody>
      </p:sp>
      <p:sp>
        <p:nvSpPr>
          <p:cNvPr id="215" name="Text Box 49"/>
          <p:cNvSpPr txBox="1">
            <a:spLocks noChangeArrowheads="1"/>
          </p:cNvSpPr>
          <p:nvPr/>
        </p:nvSpPr>
        <p:spPr bwMode="auto">
          <a:xfrm>
            <a:off x="1140884" y="5905500"/>
            <a:ext cx="812800" cy="5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70000"/>
              </a:lnSpc>
            </a:pPr>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2</a:t>
            </a:r>
          </a:p>
        </p:txBody>
      </p:sp>
      <p:sp>
        <p:nvSpPr>
          <p:cNvPr id="99" name="Rectangle 91"/>
          <p:cNvSpPr>
            <a:spLocks noChangeArrowheads="1"/>
          </p:cNvSpPr>
          <p:nvPr/>
        </p:nvSpPr>
        <p:spPr bwMode="auto">
          <a:xfrm>
            <a:off x="8591551" y="2997200"/>
            <a:ext cx="3494616" cy="647700"/>
          </a:xfrm>
          <a:prstGeom prst="rect">
            <a:avLst/>
          </a:prstGeom>
          <a:solidFill>
            <a:srgbClr val="CCFFFF"/>
          </a:solidFill>
          <a:ln w="9525">
            <a:solidFill>
              <a:schemeClr val="tx1"/>
            </a:solidFill>
            <a:miter lim="800000"/>
            <a:headEnd/>
            <a:tailEnd/>
          </a:ln>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C00000"/>
                </a:solidFill>
                <a:latin typeface="Times New Roman" pitchFamily="18" charset="0"/>
              </a:rPr>
              <a:t>1</a:t>
            </a:r>
            <a:r>
              <a:rPr kumimoji="1" lang="zh-CN" altLang="en-US" sz="1600" b="1">
                <a:solidFill>
                  <a:srgbClr val="C00000"/>
                </a:solidFill>
                <a:latin typeface="Times New Roman" pitchFamily="18" charset="0"/>
              </a:rPr>
              <a:t>）合理性检查：</a:t>
            </a:r>
            <a:endParaRPr kumimoji="1" lang="en-US" altLang="zh-CN" sz="1600" b="1">
              <a:solidFill>
                <a:srgbClr val="C00000"/>
              </a:solidFill>
              <a:latin typeface="Times New Roman" pitchFamily="18" charset="0"/>
            </a:endParaRPr>
          </a:p>
          <a:p>
            <a:pPr eaLnBrk="1" hangingPunct="1"/>
            <a:r>
              <a:rPr kumimoji="1" lang="en-US" altLang="zh-CN" sz="1600">
                <a:solidFill>
                  <a:schemeClr val="tx1"/>
                </a:solidFill>
                <a:latin typeface="Times New Roman" pitchFamily="18" charset="0"/>
              </a:rPr>
              <a:t>Request</a:t>
            </a:r>
            <a:r>
              <a:rPr kumimoji="1" lang="en-US" altLang="zh-CN" sz="1600" baseline="-25000">
                <a:solidFill>
                  <a:schemeClr val="tx1"/>
                </a:solidFill>
                <a:latin typeface="Times New Roman" pitchFamily="18" charset="0"/>
              </a:rPr>
              <a:t>i</a:t>
            </a:r>
            <a:r>
              <a:rPr kumimoji="1" lang="en-US" altLang="zh-CN" sz="1600">
                <a:solidFill>
                  <a:schemeClr val="tx1"/>
                </a:solidFill>
                <a:latin typeface="Times New Roman" pitchFamily="18" charset="0"/>
              </a:rPr>
              <a:t>(1,0,2)&lt;=Need</a:t>
            </a:r>
            <a:r>
              <a:rPr kumimoji="1" lang="en-US" altLang="zh-CN" sz="1600" baseline="-25000">
                <a:solidFill>
                  <a:schemeClr val="tx1"/>
                </a:solidFill>
                <a:latin typeface="Times New Roman" pitchFamily="18" charset="0"/>
              </a:rPr>
              <a:t>i</a:t>
            </a:r>
            <a:r>
              <a:rPr kumimoji="1" lang="en-US" altLang="zh-CN" sz="1600">
                <a:solidFill>
                  <a:schemeClr val="tx1"/>
                </a:solidFill>
                <a:latin typeface="Times New Roman" pitchFamily="18" charset="0"/>
              </a:rPr>
              <a:t>(1,2,2)</a:t>
            </a:r>
            <a:endParaRPr kumimoji="1" lang="zh-CN" altLang="en-US" sz="1600">
              <a:solidFill>
                <a:schemeClr val="tx1"/>
              </a:solidFill>
              <a:latin typeface="Times New Roman" pitchFamily="18" charset="0"/>
            </a:endParaRPr>
          </a:p>
        </p:txBody>
      </p:sp>
      <p:sp>
        <p:nvSpPr>
          <p:cNvPr id="101" name="Rectangle 91"/>
          <p:cNvSpPr>
            <a:spLocks noChangeArrowheads="1"/>
          </p:cNvSpPr>
          <p:nvPr/>
        </p:nvSpPr>
        <p:spPr bwMode="auto">
          <a:xfrm>
            <a:off x="8015818" y="2997200"/>
            <a:ext cx="4070349" cy="647700"/>
          </a:xfrm>
          <a:prstGeom prst="rect">
            <a:avLst/>
          </a:prstGeom>
          <a:solidFill>
            <a:srgbClr val="CCFFFF"/>
          </a:solidFill>
          <a:ln w="9525">
            <a:solidFill>
              <a:schemeClr val="tx1"/>
            </a:solidFill>
            <a:miter lim="800000"/>
            <a:headEnd/>
            <a:tailEnd/>
          </a:ln>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C00000"/>
                </a:solidFill>
                <a:latin typeface="Times New Roman" pitchFamily="18" charset="0"/>
              </a:rPr>
              <a:t>2</a:t>
            </a:r>
            <a:r>
              <a:rPr kumimoji="1" lang="zh-CN" altLang="en-US" sz="1600" b="1">
                <a:solidFill>
                  <a:srgbClr val="C00000"/>
                </a:solidFill>
                <a:latin typeface="Times New Roman" pitchFamily="18" charset="0"/>
              </a:rPr>
              <a:t>）查库存：</a:t>
            </a:r>
            <a:endParaRPr kumimoji="1" lang="en-US" altLang="zh-CN" sz="1600" b="1">
              <a:solidFill>
                <a:srgbClr val="C00000"/>
              </a:solidFill>
              <a:latin typeface="Times New Roman" pitchFamily="18" charset="0"/>
            </a:endParaRPr>
          </a:p>
          <a:p>
            <a:pPr eaLnBrk="1" hangingPunct="1"/>
            <a:r>
              <a:rPr kumimoji="1" lang="en-US" altLang="zh-CN" sz="1600">
                <a:solidFill>
                  <a:schemeClr val="tx1"/>
                </a:solidFill>
                <a:latin typeface="Times New Roman" pitchFamily="18" charset="0"/>
              </a:rPr>
              <a:t>Request</a:t>
            </a:r>
            <a:r>
              <a:rPr kumimoji="1" lang="en-US" altLang="zh-CN" sz="1600" baseline="-25000">
                <a:solidFill>
                  <a:schemeClr val="tx1"/>
                </a:solidFill>
                <a:latin typeface="Times New Roman" pitchFamily="18" charset="0"/>
              </a:rPr>
              <a:t>i</a:t>
            </a:r>
            <a:r>
              <a:rPr kumimoji="1" lang="en-US" altLang="zh-CN" sz="1600">
                <a:solidFill>
                  <a:schemeClr val="tx1"/>
                </a:solidFill>
                <a:latin typeface="Times New Roman" pitchFamily="18" charset="0"/>
              </a:rPr>
              <a:t>(1,0,2)&lt;=Available(1,2,2)</a:t>
            </a:r>
            <a:endParaRPr kumimoji="1" lang="zh-CN" altLang="en-US" sz="1600">
              <a:solidFill>
                <a:schemeClr val="tx1"/>
              </a:solidFill>
              <a:latin typeface="Times New Roman" pitchFamily="18" charset="0"/>
            </a:endParaRPr>
          </a:p>
        </p:txBody>
      </p:sp>
      <p:sp>
        <p:nvSpPr>
          <p:cNvPr id="102" name="Rectangle 91"/>
          <p:cNvSpPr>
            <a:spLocks noChangeArrowheads="1"/>
          </p:cNvSpPr>
          <p:nvPr/>
        </p:nvSpPr>
        <p:spPr bwMode="auto">
          <a:xfrm>
            <a:off x="10128251" y="44451"/>
            <a:ext cx="2017183" cy="404813"/>
          </a:xfrm>
          <a:prstGeom prst="rect">
            <a:avLst/>
          </a:prstGeom>
          <a:solidFill>
            <a:srgbClr val="CCFFFF"/>
          </a:solidFill>
          <a:ln w="9525">
            <a:solidFill>
              <a:schemeClr val="tx1"/>
            </a:solidFill>
            <a:miter lim="800000"/>
            <a:headEnd/>
            <a:tailEnd/>
          </a:ln>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C00000"/>
                </a:solidFill>
                <a:latin typeface="Times New Roman" pitchFamily="18" charset="0"/>
              </a:rPr>
              <a:t>3</a:t>
            </a:r>
            <a:r>
              <a:rPr kumimoji="1" lang="zh-CN" altLang="en-US" sz="1600" b="1">
                <a:solidFill>
                  <a:srgbClr val="C00000"/>
                </a:solidFill>
                <a:latin typeface="Times New Roman" pitchFamily="18" charset="0"/>
              </a:rPr>
              <a:t>）试分配</a:t>
            </a:r>
          </a:p>
        </p:txBody>
      </p:sp>
      <p:sp>
        <p:nvSpPr>
          <p:cNvPr id="103" name="Rectangle 91"/>
          <p:cNvSpPr>
            <a:spLocks noChangeArrowheads="1"/>
          </p:cNvSpPr>
          <p:nvPr/>
        </p:nvSpPr>
        <p:spPr bwMode="auto">
          <a:xfrm>
            <a:off x="4751918" y="3313114"/>
            <a:ext cx="2017183" cy="403225"/>
          </a:xfrm>
          <a:prstGeom prst="rect">
            <a:avLst/>
          </a:prstGeom>
          <a:solidFill>
            <a:srgbClr val="CCFFFF"/>
          </a:solidFill>
          <a:ln w="9525">
            <a:solidFill>
              <a:schemeClr val="tx1"/>
            </a:solidFill>
            <a:miter lim="800000"/>
            <a:headEnd/>
            <a:tailEnd/>
          </a:ln>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C00000"/>
                </a:solidFill>
                <a:latin typeface="Times New Roman" pitchFamily="18" charset="0"/>
              </a:rPr>
              <a:t>4</a:t>
            </a:r>
            <a:r>
              <a:rPr kumimoji="1" lang="zh-CN" altLang="en-US" sz="1600" b="1">
                <a:solidFill>
                  <a:srgbClr val="C00000"/>
                </a:solidFill>
                <a:latin typeface="Times New Roman" pitchFamily="18" charset="0"/>
              </a:rPr>
              <a:t>）安全性检查</a:t>
            </a:r>
          </a:p>
        </p:txBody>
      </p:sp>
      <p:sp>
        <p:nvSpPr>
          <p:cNvPr id="104" name="Rectangle 91"/>
          <p:cNvSpPr>
            <a:spLocks noChangeArrowheads="1"/>
          </p:cNvSpPr>
          <p:nvPr/>
        </p:nvSpPr>
        <p:spPr bwMode="auto">
          <a:xfrm>
            <a:off x="0" y="6453188"/>
            <a:ext cx="12192000" cy="404812"/>
          </a:xfrm>
          <a:prstGeom prst="rect">
            <a:avLst/>
          </a:prstGeom>
          <a:solidFill>
            <a:srgbClr val="CCFFFF"/>
          </a:solidFill>
          <a:ln w="9525">
            <a:solidFill>
              <a:schemeClr val="tx1"/>
            </a:solidFill>
            <a:miter lim="800000"/>
            <a:headEnd/>
            <a:tailEnd/>
          </a:ln>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C00000"/>
                </a:solidFill>
                <a:latin typeface="Times New Roman" pitchFamily="18" charset="0"/>
              </a:rPr>
              <a:t>5</a:t>
            </a:r>
            <a:r>
              <a:rPr kumimoji="1" lang="zh-CN" altLang="en-US" sz="1600" b="1">
                <a:solidFill>
                  <a:srgbClr val="C00000"/>
                </a:solidFill>
                <a:latin typeface="Times New Roman" pitchFamily="18" charset="0"/>
              </a:rPr>
              <a:t>）结论：</a:t>
            </a:r>
            <a:r>
              <a:rPr kumimoji="1" lang="zh-CN" altLang="en-US" sz="1600">
                <a:solidFill>
                  <a:schemeClr val="tx1"/>
                </a:solidFill>
                <a:latin typeface="Times New Roman" pitchFamily="18" charset="0"/>
              </a:rPr>
              <a:t>因为可以找到一个安全序列</a:t>
            </a:r>
            <a:r>
              <a:rPr kumimoji="1" lang="en-US" altLang="zh-CN" sz="1600">
                <a:solidFill>
                  <a:schemeClr val="tx1"/>
                </a:solidFill>
                <a:latin typeface="Times New Roman" pitchFamily="18" charset="0"/>
              </a:rPr>
              <a:t>{P</a:t>
            </a:r>
            <a:r>
              <a:rPr kumimoji="1" lang="en-US" altLang="zh-CN" sz="1600" baseline="-25000">
                <a:solidFill>
                  <a:schemeClr val="tx1"/>
                </a:solidFill>
                <a:latin typeface="Times New Roman" pitchFamily="18" charset="0"/>
              </a:rPr>
              <a:t>1</a:t>
            </a:r>
            <a:r>
              <a:rPr kumimoji="1" lang="en-US" altLang="zh-CN" sz="1600">
                <a:solidFill>
                  <a:schemeClr val="tx1"/>
                </a:solidFill>
                <a:latin typeface="Times New Roman" pitchFamily="18" charset="0"/>
              </a:rPr>
              <a:t>, P</a:t>
            </a:r>
            <a:r>
              <a:rPr kumimoji="1" lang="en-US" altLang="zh-CN" sz="1600" baseline="-25000">
                <a:solidFill>
                  <a:schemeClr val="tx1"/>
                </a:solidFill>
                <a:latin typeface="Times New Roman" pitchFamily="18" charset="0"/>
              </a:rPr>
              <a:t>2</a:t>
            </a:r>
            <a:r>
              <a:rPr kumimoji="1" lang="en-US" altLang="zh-CN" sz="1600">
                <a:solidFill>
                  <a:schemeClr val="tx1"/>
                </a:solidFill>
                <a:latin typeface="Times New Roman" pitchFamily="18" charset="0"/>
              </a:rPr>
              <a:t>, P</a:t>
            </a:r>
            <a:r>
              <a:rPr kumimoji="1" lang="en-US" altLang="zh-CN" sz="1600" baseline="-25000">
                <a:solidFill>
                  <a:schemeClr val="tx1"/>
                </a:solidFill>
                <a:latin typeface="Times New Roman" pitchFamily="18" charset="0"/>
              </a:rPr>
              <a:t>4</a:t>
            </a:r>
            <a:r>
              <a:rPr kumimoji="1" lang="en-US" altLang="zh-CN" sz="1600">
                <a:solidFill>
                  <a:schemeClr val="tx1"/>
                </a:solidFill>
                <a:latin typeface="Times New Roman" pitchFamily="18" charset="0"/>
              </a:rPr>
              <a:t>, P</a:t>
            </a:r>
            <a:r>
              <a:rPr kumimoji="1" lang="en-US" altLang="zh-CN" sz="1600" baseline="-25000">
                <a:solidFill>
                  <a:schemeClr val="tx1"/>
                </a:solidFill>
                <a:latin typeface="Times New Roman" pitchFamily="18" charset="0"/>
              </a:rPr>
              <a:t>0</a:t>
            </a:r>
            <a:r>
              <a:rPr kumimoji="1" lang="en-US" altLang="zh-CN" sz="1600">
                <a:solidFill>
                  <a:schemeClr val="tx1"/>
                </a:solidFill>
                <a:latin typeface="Times New Roman" pitchFamily="18" charset="0"/>
              </a:rPr>
              <a:t>, P</a:t>
            </a:r>
            <a:r>
              <a:rPr kumimoji="1" lang="en-US" altLang="zh-CN" sz="1600" baseline="-25000">
                <a:solidFill>
                  <a:schemeClr val="tx1"/>
                </a:solidFill>
                <a:latin typeface="Times New Roman" pitchFamily="18" charset="0"/>
              </a:rPr>
              <a:t>2</a:t>
            </a:r>
            <a:r>
              <a:rPr kumimoji="1" lang="en-US" altLang="zh-CN" sz="1600">
                <a:solidFill>
                  <a:schemeClr val="tx1"/>
                </a:solidFill>
                <a:latin typeface="Times New Roman" pitchFamily="18" charset="0"/>
              </a:rPr>
              <a:t>}</a:t>
            </a:r>
            <a:r>
              <a:rPr kumimoji="1" lang="zh-CN" altLang="en-US" sz="1600">
                <a:solidFill>
                  <a:schemeClr val="tx1"/>
                </a:solidFill>
                <a:latin typeface="Times New Roman" pitchFamily="18" charset="0"/>
              </a:rPr>
              <a:t>，系统是安全的，所以可以满足</a:t>
            </a:r>
            <a:r>
              <a:rPr kumimoji="1" lang="en-US" altLang="zh-CN" sz="1600">
                <a:solidFill>
                  <a:schemeClr val="tx1"/>
                </a:solidFill>
                <a:latin typeface="Times New Roman" pitchFamily="18" charset="0"/>
              </a:rPr>
              <a:t>P</a:t>
            </a:r>
            <a:r>
              <a:rPr kumimoji="1" lang="en-US" altLang="zh-CN" sz="1600" baseline="-25000">
                <a:solidFill>
                  <a:schemeClr val="tx1"/>
                </a:solidFill>
                <a:latin typeface="Times New Roman" pitchFamily="18" charset="0"/>
              </a:rPr>
              <a:t>1</a:t>
            </a:r>
            <a:r>
              <a:rPr kumimoji="1" lang="zh-CN" altLang="en-US" sz="1600">
                <a:solidFill>
                  <a:schemeClr val="tx1"/>
                </a:solidFill>
                <a:latin typeface="Times New Roman" pitchFamily="18" charset="0"/>
              </a:rPr>
              <a:t>的资源申请</a:t>
            </a:r>
          </a:p>
        </p:txBody>
      </p:sp>
    </p:spTree>
    <p:extLst>
      <p:ext uri="{BB962C8B-B14F-4D97-AF65-F5344CB8AC3E}">
        <p14:creationId xmlns:p14="http://schemas.microsoft.com/office/powerpoint/2010/main" val="9371412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barn(inHorizontal)">
                                      <p:cBhvr>
                                        <p:cTn id="7" dur="500"/>
                                        <p:tgtEl>
                                          <p:spTgt spid="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dissolve">
                                      <p:cBhvr>
                                        <p:cTn id="12" dur="500"/>
                                        <p:tgtEl>
                                          <p:spTgt spid="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grpId="1" nodeType="clickEffect">
                                  <p:stCondLst>
                                    <p:cond delay="0"/>
                                  </p:stCondLst>
                                  <p:childTnLst>
                                    <p:animEffect transition="out" filter="fade">
                                      <p:cBhvr>
                                        <p:cTn id="16" dur="2000"/>
                                        <p:tgtEl>
                                          <p:spTgt spid="99"/>
                                        </p:tgtEl>
                                      </p:cBhvr>
                                    </p:animEffect>
                                    <p:set>
                                      <p:cBhvr>
                                        <p:cTn id="17" dur="1" fill="hold">
                                          <p:stCondLst>
                                            <p:cond delay="1999"/>
                                          </p:stCondLst>
                                        </p:cTn>
                                        <p:tgtEl>
                                          <p:spTgt spid="99"/>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1"/>
                                        </p:tgtEl>
                                        <p:attrNameLst>
                                          <p:attrName>style.visibility</p:attrName>
                                        </p:attrNameLst>
                                      </p:cBhvr>
                                      <p:to>
                                        <p:strVal val="visible"/>
                                      </p:to>
                                    </p:set>
                                    <p:animEffect transition="in" filter="dissolve">
                                      <p:cBhvr>
                                        <p:cTn id="22" dur="1000"/>
                                        <p:tgtEl>
                                          <p:spTgt spid="1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xit" presetSubtype="0" fill="hold" grpId="1" nodeType="clickEffect">
                                  <p:stCondLst>
                                    <p:cond delay="0"/>
                                  </p:stCondLst>
                                  <p:childTnLst>
                                    <p:animEffect transition="out" filter="fade">
                                      <p:cBhvr>
                                        <p:cTn id="26" dur="1000"/>
                                        <p:tgtEl>
                                          <p:spTgt spid="101"/>
                                        </p:tgtEl>
                                      </p:cBhvr>
                                    </p:animEffect>
                                    <p:set>
                                      <p:cBhvr>
                                        <p:cTn id="27" dur="1" fill="hold">
                                          <p:stCondLst>
                                            <p:cond delay="999"/>
                                          </p:stCondLst>
                                        </p:cTn>
                                        <p:tgtEl>
                                          <p:spTgt spid="101"/>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2"/>
                                        </p:tgtEl>
                                        <p:attrNameLst>
                                          <p:attrName>style.visibility</p:attrName>
                                        </p:attrNameLst>
                                      </p:cBhvr>
                                      <p:to>
                                        <p:strVal val="visible"/>
                                      </p:to>
                                    </p:set>
                                    <p:animEffect transition="in" filter="dissolve">
                                      <p:cBhvr>
                                        <p:cTn id="32" dur="1000"/>
                                        <p:tgtEl>
                                          <p:spTgt spid="1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xit" presetSubtype="0" fill="hold" grpId="1" nodeType="clickEffect">
                                  <p:stCondLst>
                                    <p:cond delay="0"/>
                                  </p:stCondLst>
                                  <p:childTnLst>
                                    <p:animEffect transition="out" filter="fade">
                                      <p:cBhvr>
                                        <p:cTn id="36" dur="1000"/>
                                        <p:tgtEl>
                                          <p:spTgt spid="102"/>
                                        </p:tgtEl>
                                      </p:cBhvr>
                                    </p:animEffect>
                                    <p:set>
                                      <p:cBhvr>
                                        <p:cTn id="37" dur="1" fill="hold">
                                          <p:stCondLst>
                                            <p:cond delay="999"/>
                                          </p:stCondLst>
                                        </p:cTn>
                                        <p:tgtEl>
                                          <p:spTgt spid="102"/>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45" presetClass="entr" presetSubtype="0" fill="hold" grpId="0" nodeType="clickEffect">
                                  <p:stCondLst>
                                    <p:cond delay="0"/>
                                  </p:stCondLst>
                                  <p:iterate type="lt">
                                    <p:tmPct val="10000"/>
                                  </p:iterate>
                                  <p:childTnLst>
                                    <p:set>
                                      <p:cBhvr>
                                        <p:cTn id="41" dur="1" fill="hold">
                                          <p:stCondLst>
                                            <p:cond delay="0"/>
                                          </p:stCondLst>
                                        </p:cTn>
                                        <p:tgtEl>
                                          <p:spTgt spid="97"/>
                                        </p:tgtEl>
                                        <p:attrNameLst>
                                          <p:attrName>style.visibility</p:attrName>
                                        </p:attrNameLst>
                                      </p:cBhvr>
                                      <p:to>
                                        <p:strVal val="visible"/>
                                      </p:to>
                                    </p:set>
                                    <p:animEffect transition="in" filter="fade">
                                      <p:cBhvr>
                                        <p:cTn id="42" dur="1000"/>
                                        <p:tgtEl>
                                          <p:spTgt spid="97"/>
                                        </p:tgtEl>
                                      </p:cBhvr>
                                    </p:animEffect>
                                    <p:anim calcmode="lin" valueType="num">
                                      <p:cBhvr>
                                        <p:cTn id="43" dur="1000" fill="hold"/>
                                        <p:tgtEl>
                                          <p:spTgt spid="97"/>
                                        </p:tgtEl>
                                        <p:attrNameLst>
                                          <p:attrName>ppt_w</p:attrName>
                                        </p:attrNameLst>
                                      </p:cBhvr>
                                      <p:tavLst>
                                        <p:tav tm="0" fmla="#ppt_w*sin(2.5*pi*$)">
                                          <p:val>
                                            <p:fltVal val="0"/>
                                          </p:val>
                                        </p:tav>
                                        <p:tav tm="100000">
                                          <p:val>
                                            <p:fltVal val="1"/>
                                          </p:val>
                                        </p:tav>
                                      </p:tavLst>
                                    </p:anim>
                                    <p:anim calcmode="lin" valueType="num">
                                      <p:cBhvr>
                                        <p:cTn id="44" dur="1000" fill="hold"/>
                                        <p:tgtEl>
                                          <p:spTgt spid="97"/>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100"/>
                                        </p:tgtEl>
                                        <p:attrNameLst>
                                          <p:attrName>style.visibility</p:attrName>
                                        </p:attrNameLst>
                                      </p:cBhvr>
                                      <p:to>
                                        <p:strVal val="visible"/>
                                      </p:to>
                                    </p:set>
                                    <p:animEffect transition="in" filter="slide(fromBottom)">
                                      <p:cBhvr>
                                        <p:cTn id="49" dur="500"/>
                                        <p:tgtEl>
                                          <p:spTgt spid="10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4" presetClass="entr" presetSubtype="0" accel="100000" fill="hold" grpId="0" nodeType="clickEffect">
                                  <p:stCondLst>
                                    <p:cond delay="0"/>
                                  </p:stCondLst>
                                  <p:childTnLst>
                                    <p:set>
                                      <p:cBhvr>
                                        <p:cTn id="53" dur="1" fill="hold">
                                          <p:stCondLst>
                                            <p:cond delay="0"/>
                                          </p:stCondLst>
                                        </p:cTn>
                                        <p:tgtEl>
                                          <p:spTgt spid="98"/>
                                        </p:tgtEl>
                                        <p:attrNameLst>
                                          <p:attrName>style.visibility</p:attrName>
                                        </p:attrNameLst>
                                      </p:cBhvr>
                                      <p:to>
                                        <p:strVal val="visible"/>
                                      </p:to>
                                    </p:set>
                                    <p:anim calcmode="lin" valueType="num">
                                      <p:cBhvr>
                                        <p:cTn id="54" dur="500" fill="hold"/>
                                        <p:tgtEl>
                                          <p:spTgt spid="98"/>
                                        </p:tgtEl>
                                        <p:attrNameLst>
                                          <p:attrName>ppt_w</p:attrName>
                                        </p:attrNameLst>
                                      </p:cBhvr>
                                      <p:tavLst>
                                        <p:tav tm="0">
                                          <p:val>
                                            <p:strVal val="#ppt_w*0.05"/>
                                          </p:val>
                                        </p:tav>
                                        <p:tav tm="100000">
                                          <p:val>
                                            <p:strVal val="#ppt_w"/>
                                          </p:val>
                                        </p:tav>
                                      </p:tavLst>
                                    </p:anim>
                                    <p:anim calcmode="lin" valueType="num">
                                      <p:cBhvr>
                                        <p:cTn id="55" dur="500" fill="hold"/>
                                        <p:tgtEl>
                                          <p:spTgt spid="98"/>
                                        </p:tgtEl>
                                        <p:attrNameLst>
                                          <p:attrName>ppt_h</p:attrName>
                                        </p:attrNameLst>
                                      </p:cBhvr>
                                      <p:tavLst>
                                        <p:tav tm="0">
                                          <p:val>
                                            <p:strVal val="#ppt_h"/>
                                          </p:val>
                                        </p:tav>
                                        <p:tav tm="100000">
                                          <p:val>
                                            <p:strVal val="#ppt_h"/>
                                          </p:val>
                                        </p:tav>
                                      </p:tavLst>
                                    </p:anim>
                                    <p:anim calcmode="lin" valueType="num">
                                      <p:cBhvr>
                                        <p:cTn id="56" dur="500" fill="hold"/>
                                        <p:tgtEl>
                                          <p:spTgt spid="98"/>
                                        </p:tgtEl>
                                        <p:attrNameLst>
                                          <p:attrName>ppt_x</p:attrName>
                                        </p:attrNameLst>
                                      </p:cBhvr>
                                      <p:tavLst>
                                        <p:tav tm="0">
                                          <p:val>
                                            <p:strVal val="#ppt_x-.2"/>
                                          </p:val>
                                        </p:tav>
                                        <p:tav tm="100000">
                                          <p:val>
                                            <p:strVal val="#ppt_x"/>
                                          </p:val>
                                        </p:tav>
                                      </p:tavLst>
                                    </p:anim>
                                    <p:anim calcmode="lin" valueType="num">
                                      <p:cBhvr>
                                        <p:cTn id="57" dur="500" fill="hold"/>
                                        <p:tgtEl>
                                          <p:spTgt spid="98"/>
                                        </p:tgtEl>
                                        <p:attrNameLst>
                                          <p:attrName>ppt_y</p:attrName>
                                        </p:attrNameLst>
                                      </p:cBhvr>
                                      <p:tavLst>
                                        <p:tav tm="0">
                                          <p:val>
                                            <p:strVal val="#ppt_y"/>
                                          </p:val>
                                        </p:tav>
                                        <p:tav tm="100000">
                                          <p:val>
                                            <p:strVal val="#ppt_y"/>
                                          </p:val>
                                        </p:tav>
                                      </p:tavLst>
                                    </p:anim>
                                    <p:animEffect transition="in" filter="fade">
                                      <p:cBhvr>
                                        <p:cTn id="58" dur="500"/>
                                        <p:tgtEl>
                                          <p:spTgt spid="9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103"/>
                                        </p:tgtEl>
                                        <p:attrNameLst>
                                          <p:attrName>style.visibility</p:attrName>
                                        </p:attrNameLst>
                                      </p:cBhvr>
                                      <p:to>
                                        <p:strVal val="visible"/>
                                      </p:to>
                                    </p:set>
                                    <p:animEffect transition="in" filter="dissolve">
                                      <p:cBhvr>
                                        <p:cTn id="63" dur="1000"/>
                                        <p:tgtEl>
                                          <p:spTgt spid="10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0" presetClass="exit" presetSubtype="0" fill="hold" grpId="1" nodeType="clickEffect">
                                  <p:stCondLst>
                                    <p:cond delay="0"/>
                                  </p:stCondLst>
                                  <p:childTnLst>
                                    <p:animEffect transition="out" filter="fade">
                                      <p:cBhvr>
                                        <p:cTn id="67" dur="1000"/>
                                        <p:tgtEl>
                                          <p:spTgt spid="103"/>
                                        </p:tgtEl>
                                      </p:cBhvr>
                                    </p:animEffect>
                                    <p:set>
                                      <p:cBhvr>
                                        <p:cTn id="68" dur="1" fill="hold">
                                          <p:stCondLst>
                                            <p:cond delay="999"/>
                                          </p:stCondLst>
                                        </p:cTn>
                                        <p:tgtEl>
                                          <p:spTgt spid="103"/>
                                        </p:tgtEl>
                                        <p:attrNameLst>
                                          <p:attrName>style.visibility</p:attrName>
                                        </p:attrNameLst>
                                      </p:cBhvr>
                                      <p:to>
                                        <p:strVal val="hidden"/>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dissolve">
                                      <p:cBhvr>
                                        <p:cTn id="73" dur="500"/>
                                        <p:tgtEl>
                                          <p:spTgt spid="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211"/>
                                        </p:tgtEl>
                                        <p:attrNameLst>
                                          <p:attrName>style.visibility</p:attrName>
                                        </p:attrNameLst>
                                      </p:cBhvr>
                                      <p:to>
                                        <p:strVal val="visible"/>
                                      </p:to>
                                    </p:set>
                                    <p:anim calcmode="lin" valueType="num">
                                      <p:cBhvr additive="base">
                                        <p:cTn id="78" dur="500" fill="hold"/>
                                        <p:tgtEl>
                                          <p:spTgt spid="211"/>
                                        </p:tgtEl>
                                        <p:attrNameLst>
                                          <p:attrName>ppt_x</p:attrName>
                                        </p:attrNameLst>
                                      </p:cBhvr>
                                      <p:tavLst>
                                        <p:tav tm="0">
                                          <p:val>
                                            <p:strVal val="#ppt_x"/>
                                          </p:val>
                                        </p:tav>
                                        <p:tav tm="100000">
                                          <p:val>
                                            <p:strVal val="#ppt_x"/>
                                          </p:val>
                                        </p:tav>
                                      </p:tavLst>
                                    </p:anim>
                                    <p:anim calcmode="lin" valueType="num">
                                      <p:cBhvr additive="base">
                                        <p:cTn id="79" dur="500" fill="hold"/>
                                        <p:tgtEl>
                                          <p:spTgt spid="211"/>
                                        </p:tgtEl>
                                        <p:attrNameLst>
                                          <p:attrName>ppt_y</p:attrName>
                                        </p:attrNameLst>
                                      </p:cBhvr>
                                      <p:tavLst>
                                        <p:tav tm="0">
                                          <p:val>
                                            <p:strVal val="1+#ppt_h/2"/>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158"/>
                                        </p:tgtEl>
                                        <p:attrNameLst>
                                          <p:attrName>style.visibility</p:attrName>
                                        </p:attrNameLst>
                                      </p:cBhvr>
                                      <p:to>
                                        <p:strVal val="visible"/>
                                      </p:to>
                                    </p:set>
                                    <p:animEffect transition="in" filter="dissolve">
                                      <p:cBhvr>
                                        <p:cTn id="84" dur="500"/>
                                        <p:tgtEl>
                                          <p:spTgt spid="158"/>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4" presetClass="entr" presetSubtype="16" fill="hold" grpId="0" nodeType="clickEffect">
                                  <p:stCondLst>
                                    <p:cond delay="0"/>
                                  </p:stCondLst>
                                  <p:childTnLst>
                                    <p:set>
                                      <p:cBhvr>
                                        <p:cTn id="88" dur="1" fill="hold">
                                          <p:stCondLst>
                                            <p:cond delay="0"/>
                                          </p:stCondLst>
                                        </p:cTn>
                                        <p:tgtEl>
                                          <p:spTgt spid="159"/>
                                        </p:tgtEl>
                                        <p:attrNameLst>
                                          <p:attrName>style.visibility</p:attrName>
                                        </p:attrNameLst>
                                      </p:cBhvr>
                                      <p:to>
                                        <p:strVal val="visible"/>
                                      </p:to>
                                    </p:set>
                                    <p:animEffect transition="in" filter="box(in)">
                                      <p:cBhvr>
                                        <p:cTn id="89" dur="500"/>
                                        <p:tgtEl>
                                          <p:spTgt spid="159"/>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160"/>
                                        </p:tgtEl>
                                        <p:attrNameLst>
                                          <p:attrName>style.visibility</p:attrName>
                                        </p:attrNameLst>
                                      </p:cBhvr>
                                      <p:to>
                                        <p:strVal val="visible"/>
                                      </p:to>
                                    </p:set>
                                    <p:animEffect transition="in" filter="dissolve">
                                      <p:cBhvr>
                                        <p:cTn id="94" dur="500"/>
                                        <p:tgtEl>
                                          <p:spTgt spid="160"/>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8" fill="hold" grpId="0" nodeType="clickEffect">
                                  <p:stCondLst>
                                    <p:cond delay="0"/>
                                  </p:stCondLst>
                                  <p:childTnLst>
                                    <p:set>
                                      <p:cBhvr>
                                        <p:cTn id="98" dur="1" fill="hold">
                                          <p:stCondLst>
                                            <p:cond delay="0"/>
                                          </p:stCondLst>
                                        </p:cTn>
                                        <p:tgtEl>
                                          <p:spTgt spid="190"/>
                                        </p:tgtEl>
                                        <p:attrNameLst>
                                          <p:attrName>style.visibility</p:attrName>
                                        </p:attrNameLst>
                                      </p:cBhvr>
                                      <p:to>
                                        <p:strVal val="visible"/>
                                      </p:to>
                                    </p:set>
                                    <p:anim calcmode="lin" valueType="num">
                                      <p:cBhvr additive="base">
                                        <p:cTn id="99" dur="500" fill="hold"/>
                                        <p:tgtEl>
                                          <p:spTgt spid="190"/>
                                        </p:tgtEl>
                                        <p:attrNameLst>
                                          <p:attrName>ppt_x</p:attrName>
                                        </p:attrNameLst>
                                      </p:cBhvr>
                                      <p:tavLst>
                                        <p:tav tm="0">
                                          <p:val>
                                            <p:strVal val="0-#ppt_w/2"/>
                                          </p:val>
                                        </p:tav>
                                        <p:tav tm="100000">
                                          <p:val>
                                            <p:strVal val="#ppt_x"/>
                                          </p:val>
                                        </p:tav>
                                      </p:tavLst>
                                    </p:anim>
                                    <p:anim calcmode="lin" valueType="num">
                                      <p:cBhvr additive="base">
                                        <p:cTn id="100" dur="500" fill="hold"/>
                                        <p:tgtEl>
                                          <p:spTgt spid="190"/>
                                        </p:tgtEl>
                                        <p:attrNameLst>
                                          <p:attrName>ppt_y</p:attrName>
                                        </p:attrNameLst>
                                      </p:cBhvr>
                                      <p:tavLst>
                                        <p:tav tm="0">
                                          <p:val>
                                            <p:strVal val="#ppt_y"/>
                                          </p:val>
                                        </p:tav>
                                        <p:tav tm="100000">
                                          <p:val>
                                            <p:strVal val="#ppt_y"/>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5" presetClass="entr" presetSubtype="0" fill="hold" grpId="0" nodeType="clickEffect">
                                  <p:stCondLst>
                                    <p:cond delay="0"/>
                                  </p:stCondLst>
                                  <p:childTnLst>
                                    <p:set>
                                      <p:cBhvr>
                                        <p:cTn id="104" dur="1" fill="hold">
                                          <p:stCondLst>
                                            <p:cond delay="0"/>
                                          </p:stCondLst>
                                        </p:cTn>
                                        <p:tgtEl>
                                          <p:spTgt spid="183"/>
                                        </p:tgtEl>
                                        <p:attrNameLst>
                                          <p:attrName>style.visibility</p:attrName>
                                        </p:attrNameLst>
                                      </p:cBhvr>
                                      <p:to>
                                        <p:strVal val="visible"/>
                                      </p:to>
                                    </p:set>
                                    <p:anim calcmode="lin" valueType="num">
                                      <p:cBhvr>
                                        <p:cTn id="105" dur="1000" fill="hold"/>
                                        <p:tgtEl>
                                          <p:spTgt spid="183"/>
                                        </p:tgtEl>
                                        <p:attrNameLst>
                                          <p:attrName>ppt_w</p:attrName>
                                        </p:attrNameLst>
                                      </p:cBhvr>
                                      <p:tavLst>
                                        <p:tav tm="0">
                                          <p:val>
                                            <p:strVal val="#ppt_w*0.70"/>
                                          </p:val>
                                        </p:tav>
                                        <p:tav tm="100000">
                                          <p:val>
                                            <p:strVal val="#ppt_w"/>
                                          </p:val>
                                        </p:tav>
                                      </p:tavLst>
                                    </p:anim>
                                    <p:anim calcmode="lin" valueType="num">
                                      <p:cBhvr>
                                        <p:cTn id="106" dur="1000" fill="hold"/>
                                        <p:tgtEl>
                                          <p:spTgt spid="183"/>
                                        </p:tgtEl>
                                        <p:attrNameLst>
                                          <p:attrName>ppt_h</p:attrName>
                                        </p:attrNameLst>
                                      </p:cBhvr>
                                      <p:tavLst>
                                        <p:tav tm="0">
                                          <p:val>
                                            <p:strVal val="#ppt_h"/>
                                          </p:val>
                                        </p:tav>
                                        <p:tav tm="100000">
                                          <p:val>
                                            <p:strVal val="#ppt_h"/>
                                          </p:val>
                                        </p:tav>
                                      </p:tavLst>
                                    </p:anim>
                                    <p:animEffect transition="in" filter="fade">
                                      <p:cBhvr>
                                        <p:cTn id="107" dur="1000"/>
                                        <p:tgtEl>
                                          <p:spTgt spid="18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212"/>
                                        </p:tgtEl>
                                        <p:attrNameLst>
                                          <p:attrName>style.visibility</p:attrName>
                                        </p:attrNameLst>
                                      </p:cBhvr>
                                      <p:to>
                                        <p:strVal val="visible"/>
                                      </p:to>
                                    </p:set>
                                    <p:anim calcmode="lin" valueType="num">
                                      <p:cBhvr additive="base">
                                        <p:cTn id="112" dur="500" fill="hold"/>
                                        <p:tgtEl>
                                          <p:spTgt spid="212"/>
                                        </p:tgtEl>
                                        <p:attrNameLst>
                                          <p:attrName>ppt_x</p:attrName>
                                        </p:attrNameLst>
                                      </p:cBhvr>
                                      <p:tavLst>
                                        <p:tav tm="0">
                                          <p:val>
                                            <p:strVal val="#ppt_x"/>
                                          </p:val>
                                        </p:tav>
                                        <p:tav tm="100000">
                                          <p:val>
                                            <p:strVal val="#ppt_x"/>
                                          </p:val>
                                        </p:tav>
                                      </p:tavLst>
                                    </p:anim>
                                    <p:anim calcmode="lin" valueType="num">
                                      <p:cBhvr additive="base">
                                        <p:cTn id="113" dur="500" fill="hold"/>
                                        <p:tgtEl>
                                          <p:spTgt spid="212"/>
                                        </p:tgtEl>
                                        <p:attrNameLst>
                                          <p:attrName>ppt_y</p:attrName>
                                        </p:attrNameLst>
                                      </p:cBhvr>
                                      <p:tavLst>
                                        <p:tav tm="0">
                                          <p:val>
                                            <p:strVal val="1+#ppt_h/2"/>
                                          </p:val>
                                        </p:tav>
                                        <p:tav tm="100000">
                                          <p:val>
                                            <p:strVal val="#ppt_y"/>
                                          </p:val>
                                        </p:tav>
                                      </p:tavLst>
                                    </p:anim>
                                  </p:childTnLst>
                                </p:cTn>
                              </p:par>
                            </p:childTnLst>
                          </p:cTn>
                        </p:par>
                      </p:childTnLst>
                    </p:cTn>
                  </p:par>
                  <p:par>
                    <p:cTn id="114" fill="hold" nodeType="clickPar">
                      <p:stCondLst>
                        <p:cond delay="indefinite"/>
                      </p:stCondLst>
                      <p:childTnLst>
                        <p:par>
                          <p:cTn id="115" fill="hold" nodeType="withGroup">
                            <p:stCondLst>
                              <p:cond delay="0"/>
                            </p:stCondLst>
                            <p:childTnLst>
                              <p:par>
                                <p:cTn id="116" presetID="5" presetClass="entr" presetSubtype="10" fill="hold" grpId="0" nodeType="clickEffect">
                                  <p:stCondLst>
                                    <p:cond delay="0"/>
                                  </p:stCondLst>
                                  <p:childTnLst>
                                    <p:set>
                                      <p:cBhvr>
                                        <p:cTn id="117" dur="1" fill="hold">
                                          <p:stCondLst>
                                            <p:cond delay="0"/>
                                          </p:stCondLst>
                                        </p:cTn>
                                        <p:tgtEl>
                                          <p:spTgt spid="182"/>
                                        </p:tgtEl>
                                        <p:attrNameLst>
                                          <p:attrName>style.visibility</p:attrName>
                                        </p:attrNameLst>
                                      </p:cBhvr>
                                      <p:to>
                                        <p:strVal val="visible"/>
                                      </p:to>
                                    </p:set>
                                    <p:animEffect transition="in" filter="checkerboard(across)">
                                      <p:cBhvr>
                                        <p:cTn id="118" dur="500"/>
                                        <p:tgtEl>
                                          <p:spTgt spid="182"/>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4" presetClass="entr" presetSubtype="10" fill="hold" grpId="0" nodeType="clickEffect">
                                  <p:stCondLst>
                                    <p:cond delay="0"/>
                                  </p:stCondLst>
                                  <p:childTnLst>
                                    <p:set>
                                      <p:cBhvr>
                                        <p:cTn id="122" dur="1" fill="hold">
                                          <p:stCondLst>
                                            <p:cond delay="0"/>
                                          </p:stCondLst>
                                        </p:cTn>
                                        <p:tgtEl>
                                          <p:spTgt spid="188"/>
                                        </p:tgtEl>
                                        <p:attrNameLst>
                                          <p:attrName>style.visibility</p:attrName>
                                        </p:attrNameLst>
                                      </p:cBhvr>
                                      <p:to>
                                        <p:strVal val="visible"/>
                                      </p:to>
                                    </p:set>
                                    <p:animEffect transition="in" filter="randombar(horizontal)">
                                      <p:cBhvr>
                                        <p:cTn id="123" dur="500"/>
                                        <p:tgtEl>
                                          <p:spTgt spid="188"/>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 presetClass="entr" presetSubtype="8" fill="hold" grpId="0" nodeType="clickEffect">
                                  <p:stCondLst>
                                    <p:cond delay="0"/>
                                  </p:stCondLst>
                                  <p:childTnLst>
                                    <p:set>
                                      <p:cBhvr>
                                        <p:cTn id="127" dur="1" fill="hold">
                                          <p:stCondLst>
                                            <p:cond delay="0"/>
                                          </p:stCondLst>
                                        </p:cTn>
                                        <p:tgtEl>
                                          <p:spTgt spid="189"/>
                                        </p:tgtEl>
                                        <p:attrNameLst>
                                          <p:attrName>style.visibility</p:attrName>
                                        </p:attrNameLst>
                                      </p:cBhvr>
                                      <p:to>
                                        <p:strVal val="visible"/>
                                      </p:to>
                                    </p:set>
                                    <p:anim calcmode="lin" valueType="num">
                                      <p:cBhvr additive="base">
                                        <p:cTn id="128" dur="500" fill="hold"/>
                                        <p:tgtEl>
                                          <p:spTgt spid="189"/>
                                        </p:tgtEl>
                                        <p:attrNameLst>
                                          <p:attrName>ppt_x</p:attrName>
                                        </p:attrNameLst>
                                      </p:cBhvr>
                                      <p:tavLst>
                                        <p:tav tm="0">
                                          <p:val>
                                            <p:strVal val="0-#ppt_w/2"/>
                                          </p:val>
                                        </p:tav>
                                        <p:tav tm="100000">
                                          <p:val>
                                            <p:strVal val="#ppt_x"/>
                                          </p:val>
                                        </p:tav>
                                      </p:tavLst>
                                    </p:anim>
                                    <p:anim calcmode="lin" valueType="num">
                                      <p:cBhvr additive="base">
                                        <p:cTn id="129" dur="500" fill="hold"/>
                                        <p:tgtEl>
                                          <p:spTgt spid="189"/>
                                        </p:tgtEl>
                                        <p:attrNameLst>
                                          <p:attrName>ppt_y</p:attrName>
                                        </p:attrNameLst>
                                      </p:cBhvr>
                                      <p:tavLst>
                                        <p:tav tm="0">
                                          <p:val>
                                            <p:strVal val="#ppt_y"/>
                                          </p:val>
                                        </p:tav>
                                        <p:tav tm="100000">
                                          <p:val>
                                            <p:strVal val="#ppt_y"/>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 presetClass="entr" presetSubtype="8" fill="hold" grpId="0" nodeType="clickEffect">
                                  <p:stCondLst>
                                    <p:cond delay="0"/>
                                  </p:stCondLst>
                                  <p:childTnLst>
                                    <p:set>
                                      <p:cBhvr>
                                        <p:cTn id="133" dur="1" fill="hold">
                                          <p:stCondLst>
                                            <p:cond delay="0"/>
                                          </p:stCondLst>
                                        </p:cTn>
                                        <p:tgtEl>
                                          <p:spTgt spid="191"/>
                                        </p:tgtEl>
                                        <p:attrNameLst>
                                          <p:attrName>style.visibility</p:attrName>
                                        </p:attrNameLst>
                                      </p:cBhvr>
                                      <p:to>
                                        <p:strVal val="visible"/>
                                      </p:to>
                                    </p:set>
                                    <p:anim calcmode="lin" valueType="num">
                                      <p:cBhvr additive="base">
                                        <p:cTn id="134" dur="500" fill="hold"/>
                                        <p:tgtEl>
                                          <p:spTgt spid="191"/>
                                        </p:tgtEl>
                                        <p:attrNameLst>
                                          <p:attrName>ppt_x</p:attrName>
                                        </p:attrNameLst>
                                      </p:cBhvr>
                                      <p:tavLst>
                                        <p:tav tm="0">
                                          <p:val>
                                            <p:strVal val="0-#ppt_w/2"/>
                                          </p:val>
                                        </p:tav>
                                        <p:tav tm="100000">
                                          <p:val>
                                            <p:strVal val="#ppt_x"/>
                                          </p:val>
                                        </p:tav>
                                      </p:tavLst>
                                    </p:anim>
                                    <p:anim calcmode="lin" valueType="num">
                                      <p:cBhvr additive="base">
                                        <p:cTn id="135" dur="500" fill="hold"/>
                                        <p:tgtEl>
                                          <p:spTgt spid="191"/>
                                        </p:tgtEl>
                                        <p:attrNameLst>
                                          <p:attrName>ppt_y</p:attrName>
                                        </p:attrNameLst>
                                      </p:cBhvr>
                                      <p:tavLst>
                                        <p:tav tm="0">
                                          <p:val>
                                            <p:strVal val="#ppt_y"/>
                                          </p:val>
                                        </p:tav>
                                        <p:tav tm="100000">
                                          <p:val>
                                            <p:strVal val="#ppt_y"/>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4" presetClass="entr" presetSubtype="0" fill="hold" grpId="0" nodeType="clickEffect">
                                  <p:stCondLst>
                                    <p:cond delay="0"/>
                                  </p:stCondLst>
                                  <p:childTnLst>
                                    <p:set>
                                      <p:cBhvr>
                                        <p:cTn id="139" dur="1" fill="hold">
                                          <p:stCondLst>
                                            <p:cond delay="499"/>
                                          </p:stCondLst>
                                        </p:cTn>
                                        <p:tgtEl>
                                          <p:spTgt spid="184"/>
                                        </p:tgtEl>
                                        <p:attrNameLst>
                                          <p:attrName>style.visibility</p:attrName>
                                        </p:attrNameLst>
                                      </p:cBhvr>
                                      <p:to>
                                        <p:strVal val="visible"/>
                                      </p:to>
                                    </p:set>
                                    <p:anim to="" calcmode="lin" valueType="num">
                                      <p:cBhvr>
                                        <p:cTn id="140" dur="1" fill="hold"/>
                                        <p:tgtEl>
                                          <p:spTgt spid="184"/>
                                        </p:tgtEl>
                                        <p:attrNameLst>
                                          <p:attrName/>
                                        </p:attrNameLst>
                                      </p:cBhvr>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213"/>
                                        </p:tgtEl>
                                        <p:attrNameLst>
                                          <p:attrName>style.visibility</p:attrName>
                                        </p:attrNameLst>
                                      </p:cBhvr>
                                      <p:to>
                                        <p:strVal val="visible"/>
                                      </p:to>
                                    </p:set>
                                    <p:anim calcmode="lin" valueType="num">
                                      <p:cBhvr additive="base">
                                        <p:cTn id="145" dur="500" fill="hold"/>
                                        <p:tgtEl>
                                          <p:spTgt spid="213"/>
                                        </p:tgtEl>
                                        <p:attrNameLst>
                                          <p:attrName>ppt_x</p:attrName>
                                        </p:attrNameLst>
                                      </p:cBhvr>
                                      <p:tavLst>
                                        <p:tav tm="0">
                                          <p:val>
                                            <p:strVal val="#ppt_x"/>
                                          </p:val>
                                        </p:tav>
                                        <p:tav tm="100000">
                                          <p:val>
                                            <p:strVal val="#ppt_x"/>
                                          </p:val>
                                        </p:tav>
                                      </p:tavLst>
                                    </p:anim>
                                    <p:anim calcmode="lin" valueType="num">
                                      <p:cBhvr additive="base">
                                        <p:cTn id="146" dur="500" fill="hold"/>
                                        <p:tgtEl>
                                          <p:spTgt spid="213"/>
                                        </p:tgtEl>
                                        <p:attrNameLst>
                                          <p:attrName>ppt_y</p:attrName>
                                        </p:attrNameLst>
                                      </p:cBhvr>
                                      <p:tavLst>
                                        <p:tav tm="0">
                                          <p:val>
                                            <p:strVal val="1+#ppt_h/2"/>
                                          </p:val>
                                        </p:tav>
                                        <p:tav tm="100000">
                                          <p:val>
                                            <p:strVal val="#ppt_y"/>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 presetClass="entr" presetSubtype="8" fill="hold" grpId="0" nodeType="clickEffect">
                                  <p:stCondLst>
                                    <p:cond delay="0"/>
                                  </p:stCondLst>
                                  <p:childTnLst>
                                    <p:set>
                                      <p:cBhvr>
                                        <p:cTn id="150" dur="1" fill="hold">
                                          <p:stCondLst>
                                            <p:cond delay="0"/>
                                          </p:stCondLst>
                                        </p:cTn>
                                        <p:tgtEl>
                                          <p:spTgt spid="192"/>
                                        </p:tgtEl>
                                        <p:attrNameLst>
                                          <p:attrName>style.visibility</p:attrName>
                                        </p:attrNameLst>
                                      </p:cBhvr>
                                      <p:to>
                                        <p:strVal val="visible"/>
                                      </p:to>
                                    </p:set>
                                    <p:anim calcmode="lin" valueType="num">
                                      <p:cBhvr additive="base">
                                        <p:cTn id="151" dur="500" fill="hold"/>
                                        <p:tgtEl>
                                          <p:spTgt spid="192"/>
                                        </p:tgtEl>
                                        <p:attrNameLst>
                                          <p:attrName>ppt_x</p:attrName>
                                        </p:attrNameLst>
                                      </p:cBhvr>
                                      <p:tavLst>
                                        <p:tav tm="0">
                                          <p:val>
                                            <p:strVal val="0-#ppt_w/2"/>
                                          </p:val>
                                        </p:tav>
                                        <p:tav tm="100000">
                                          <p:val>
                                            <p:strVal val="#ppt_x"/>
                                          </p:val>
                                        </p:tav>
                                      </p:tavLst>
                                    </p:anim>
                                    <p:anim calcmode="lin" valueType="num">
                                      <p:cBhvr additive="base">
                                        <p:cTn id="152" dur="500" fill="hold"/>
                                        <p:tgtEl>
                                          <p:spTgt spid="192"/>
                                        </p:tgtEl>
                                        <p:attrNameLst>
                                          <p:attrName>ppt_y</p:attrName>
                                        </p:attrNameLst>
                                      </p:cBhvr>
                                      <p:tavLst>
                                        <p:tav tm="0">
                                          <p:val>
                                            <p:strVal val="#ppt_y"/>
                                          </p:val>
                                        </p:tav>
                                        <p:tav tm="100000">
                                          <p:val>
                                            <p:strVal val="#ppt_y"/>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 presetClass="entr" presetSubtype="8" fill="hold" grpId="0" nodeType="clickEffect">
                                  <p:stCondLst>
                                    <p:cond delay="0"/>
                                  </p:stCondLst>
                                  <p:childTnLst>
                                    <p:set>
                                      <p:cBhvr>
                                        <p:cTn id="156" dur="1" fill="hold">
                                          <p:stCondLst>
                                            <p:cond delay="0"/>
                                          </p:stCondLst>
                                        </p:cTn>
                                        <p:tgtEl>
                                          <p:spTgt spid="193"/>
                                        </p:tgtEl>
                                        <p:attrNameLst>
                                          <p:attrName>style.visibility</p:attrName>
                                        </p:attrNameLst>
                                      </p:cBhvr>
                                      <p:to>
                                        <p:strVal val="visible"/>
                                      </p:to>
                                    </p:set>
                                    <p:anim calcmode="lin" valueType="num">
                                      <p:cBhvr additive="base">
                                        <p:cTn id="157" dur="500" fill="hold"/>
                                        <p:tgtEl>
                                          <p:spTgt spid="193"/>
                                        </p:tgtEl>
                                        <p:attrNameLst>
                                          <p:attrName>ppt_x</p:attrName>
                                        </p:attrNameLst>
                                      </p:cBhvr>
                                      <p:tavLst>
                                        <p:tav tm="0">
                                          <p:val>
                                            <p:strVal val="0-#ppt_w/2"/>
                                          </p:val>
                                        </p:tav>
                                        <p:tav tm="100000">
                                          <p:val>
                                            <p:strVal val="#ppt_x"/>
                                          </p:val>
                                        </p:tav>
                                      </p:tavLst>
                                    </p:anim>
                                    <p:anim calcmode="lin" valueType="num">
                                      <p:cBhvr additive="base">
                                        <p:cTn id="158" dur="500" fill="hold"/>
                                        <p:tgtEl>
                                          <p:spTgt spid="193"/>
                                        </p:tgtEl>
                                        <p:attrNameLst>
                                          <p:attrName>ppt_y</p:attrName>
                                        </p:attrNameLst>
                                      </p:cBhvr>
                                      <p:tavLst>
                                        <p:tav tm="0">
                                          <p:val>
                                            <p:strVal val="#ppt_y"/>
                                          </p:val>
                                        </p:tav>
                                        <p:tav tm="100000">
                                          <p:val>
                                            <p:strVal val="#ppt_y"/>
                                          </p:val>
                                        </p:tav>
                                      </p:tavLst>
                                    </p:anim>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194"/>
                                        </p:tgtEl>
                                        <p:attrNameLst>
                                          <p:attrName>style.visibility</p:attrName>
                                        </p:attrNameLst>
                                      </p:cBhvr>
                                      <p:to>
                                        <p:strVal val="visible"/>
                                      </p:to>
                                    </p:set>
                                    <p:anim calcmode="lin" valueType="num">
                                      <p:cBhvr additive="base">
                                        <p:cTn id="163" dur="500" fill="hold"/>
                                        <p:tgtEl>
                                          <p:spTgt spid="194"/>
                                        </p:tgtEl>
                                        <p:attrNameLst>
                                          <p:attrName>ppt_x</p:attrName>
                                        </p:attrNameLst>
                                      </p:cBhvr>
                                      <p:tavLst>
                                        <p:tav tm="0">
                                          <p:val>
                                            <p:strVal val="0-#ppt_w/2"/>
                                          </p:val>
                                        </p:tav>
                                        <p:tav tm="100000">
                                          <p:val>
                                            <p:strVal val="#ppt_x"/>
                                          </p:val>
                                        </p:tav>
                                      </p:tavLst>
                                    </p:anim>
                                    <p:anim calcmode="lin" valueType="num">
                                      <p:cBhvr additive="base">
                                        <p:cTn id="164" dur="500" fill="hold"/>
                                        <p:tgtEl>
                                          <p:spTgt spid="194"/>
                                        </p:tgtEl>
                                        <p:attrNameLst>
                                          <p:attrName>ppt_y</p:attrName>
                                        </p:attrNameLst>
                                      </p:cBhvr>
                                      <p:tavLst>
                                        <p:tav tm="0">
                                          <p:val>
                                            <p:strVal val="#ppt_y"/>
                                          </p:val>
                                        </p:tav>
                                        <p:tav tm="100000">
                                          <p:val>
                                            <p:strVal val="#ppt_y"/>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195"/>
                                        </p:tgtEl>
                                        <p:attrNameLst>
                                          <p:attrName>style.visibility</p:attrName>
                                        </p:attrNameLst>
                                      </p:cBhvr>
                                      <p:to>
                                        <p:strVal val="visible"/>
                                      </p:to>
                                    </p:set>
                                    <p:anim calcmode="lin" valueType="num">
                                      <p:cBhvr additive="base">
                                        <p:cTn id="169" dur="500" fill="hold"/>
                                        <p:tgtEl>
                                          <p:spTgt spid="195"/>
                                        </p:tgtEl>
                                        <p:attrNameLst>
                                          <p:attrName>ppt_x</p:attrName>
                                        </p:attrNameLst>
                                      </p:cBhvr>
                                      <p:tavLst>
                                        <p:tav tm="0">
                                          <p:val>
                                            <p:strVal val="0-#ppt_w/2"/>
                                          </p:val>
                                        </p:tav>
                                        <p:tav tm="100000">
                                          <p:val>
                                            <p:strVal val="#ppt_x"/>
                                          </p:val>
                                        </p:tav>
                                      </p:tavLst>
                                    </p:anim>
                                    <p:anim calcmode="lin" valueType="num">
                                      <p:cBhvr additive="base">
                                        <p:cTn id="170" dur="500" fill="hold"/>
                                        <p:tgtEl>
                                          <p:spTgt spid="195"/>
                                        </p:tgtEl>
                                        <p:attrNameLst>
                                          <p:attrName>ppt_y</p:attrName>
                                        </p:attrNameLst>
                                      </p:cBhvr>
                                      <p:tavLst>
                                        <p:tav tm="0">
                                          <p:val>
                                            <p:strVal val="#ppt_y"/>
                                          </p:val>
                                        </p:tav>
                                        <p:tav tm="100000">
                                          <p:val>
                                            <p:strVal val="#ppt_y"/>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24" presetClass="entr" presetSubtype="0" fill="hold" grpId="0" nodeType="clickEffect">
                                  <p:stCondLst>
                                    <p:cond delay="0"/>
                                  </p:stCondLst>
                                  <p:childTnLst>
                                    <p:set>
                                      <p:cBhvr>
                                        <p:cTn id="174" dur="1" fill="hold">
                                          <p:stCondLst>
                                            <p:cond delay="499"/>
                                          </p:stCondLst>
                                        </p:cTn>
                                        <p:tgtEl>
                                          <p:spTgt spid="185"/>
                                        </p:tgtEl>
                                        <p:attrNameLst>
                                          <p:attrName>style.visibility</p:attrName>
                                        </p:attrNameLst>
                                      </p:cBhvr>
                                      <p:to>
                                        <p:strVal val="visible"/>
                                      </p:to>
                                    </p:set>
                                    <p:anim to="" calcmode="lin" valueType="num">
                                      <p:cBhvr>
                                        <p:cTn id="175" dur="1" fill="hold"/>
                                        <p:tgtEl>
                                          <p:spTgt spid="185"/>
                                        </p:tgtEl>
                                        <p:attrNameLst>
                                          <p:attrName/>
                                        </p:attrNameLst>
                                      </p:cBhvr>
                                    </p:anim>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 presetClass="entr" presetSubtype="4" fill="hold" grpId="0" nodeType="clickEffect">
                                  <p:stCondLst>
                                    <p:cond delay="0"/>
                                  </p:stCondLst>
                                  <p:childTnLst>
                                    <p:set>
                                      <p:cBhvr>
                                        <p:cTn id="179" dur="1" fill="hold">
                                          <p:stCondLst>
                                            <p:cond delay="0"/>
                                          </p:stCondLst>
                                        </p:cTn>
                                        <p:tgtEl>
                                          <p:spTgt spid="214"/>
                                        </p:tgtEl>
                                        <p:attrNameLst>
                                          <p:attrName>style.visibility</p:attrName>
                                        </p:attrNameLst>
                                      </p:cBhvr>
                                      <p:to>
                                        <p:strVal val="visible"/>
                                      </p:to>
                                    </p:set>
                                    <p:anim calcmode="lin" valueType="num">
                                      <p:cBhvr additive="base">
                                        <p:cTn id="180" dur="500" fill="hold"/>
                                        <p:tgtEl>
                                          <p:spTgt spid="214"/>
                                        </p:tgtEl>
                                        <p:attrNameLst>
                                          <p:attrName>ppt_x</p:attrName>
                                        </p:attrNameLst>
                                      </p:cBhvr>
                                      <p:tavLst>
                                        <p:tav tm="0">
                                          <p:val>
                                            <p:strVal val="#ppt_x"/>
                                          </p:val>
                                        </p:tav>
                                        <p:tav tm="100000">
                                          <p:val>
                                            <p:strVal val="#ppt_x"/>
                                          </p:val>
                                        </p:tav>
                                      </p:tavLst>
                                    </p:anim>
                                    <p:anim calcmode="lin" valueType="num">
                                      <p:cBhvr additive="base">
                                        <p:cTn id="181" dur="500" fill="hold"/>
                                        <p:tgtEl>
                                          <p:spTgt spid="214"/>
                                        </p:tgtEl>
                                        <p:attrNameLst>
                                          <p:attrName>ppt_y</p:attrName>
                                        </p:attrNameLst>
                                      </p:cBhvr>
                                      <p:tavLst>
                                        <p:tav tm="0">
                                          <p:val>
                                            <p:strVal val="1+#ppt_h/2"/>
                                          </p:val>
                                        </p:tav>
                                        <p:tav tm="100000">
                                          <p:val>
                                            <p:strVal val="#ppt_y"/>
                                          </p:val>
                                        </p:tav>
                                      </p:tavLst>
                                    </p:anim>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 presetClass="entr" presetSubtype="8" fill="hold" grpId="0" nodeType="clickEffect">
                                  <p:stCondLst>
                                    <p:cond delay="0"/>
                                  </p:stCondLst>
                                  <p:childTnLst>
                                    <p:set>
                                      <p:cBhvr>
                                        <p:cTn id="185" dur="1" fill="hold">
                                          <p:stCondLst>
                                            <p:cond delay="0"/>
                                          </p:stCondLst>
                                        </p:cTn>
                                        <p:tgtEl>
                                          <p:spTgt spid="196"/>
                                        </p:tgtEl>
                                        <p:attrNameLst>
                                          <p:attrName>style.visibility</p:attrName>
                                        </p:attrNameLst>
                                      </p:cBhvr>
                                      <p:to>
                                        <p:strVal val="visible"/>
                                      </p:to>
                                    </p:set>
                                    <p:anim calcmode="lin" valueType="num">
                                      <p:cBhvr additive="base">
                                        <p:cTn id="186" dur="500" fill="hold"/>
                                        <p:tgtEl>
                                          <p:spTgt spid="196"/>
                                        </p:tgtEl>
                                        <p:attrNameLst>
                                          <p:attrName>ppt_x</p:attrName>
                                        </p:attrNameLst>
                                      </p:cBhvr>
                                      <p:tavLst>
                                        <p:tav tm="0">
                                          <p:val>
                                            <p:strVal val="0-#ppt_w/2"/>
                                          </p:val>
                                        </p:tav>
                                        <p:tav tm="100000">
                                          <p:val>
                                            <p:strVal val="#ppt_x"/>
                                          </p:val>
                                        </p:tav>
                                      </p:tavLst>
                                    </p:anim>
                                    <p:anim calcmode="lin" valueType="num">
                                      <p:cBhvr additive="base">
                                        <p:cTn id="187" dur="500" fill="hold"/>
                                        <p:tgtEl>
                                          <p:spTgt spid="196"/>
                                        </p:tgtEl>
                                        <p:attrNameLst>
                                          <p:attrName>ppt_y</p:attrName>
                                        </p:attrNameLst>
                                      </p:cBhvr>
                                      <p:tavLst>
                                        <p:tav tm="0">
                                          <p:val>
                                            <p:strVal val="#ppt_y"/>
                                          </p:val>
                                        </p:tav>
                                        <p:tav tm="100000">
                                          <p:val>
                                            <p:strVal val="#ppt_y"/>
                                          </p:val>
                                        </p:tav>
                                      </p:tavLst>
                                    </p:anim>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 presetClass="entr" presetSubtype="8" fill="hold" grpId="0" nodeType="clickEffect">
                                  <p:stCondLst>
                                    <p:cond delay="0"/>
                                  </p:stCondLst>
                                  <p:childTnLst>
                                    <p:set>
                                      <p:cBhvr>
                                        <p:cTn id="191" dur="1" fill="hold">
                                          <p:stCondLst>
                                            <p:cond delay="0"/>
                                          </p:stCondLst>
                                        </p:cTn>
                                        <p:tgtEl>
                                          <p:spTgt spid="197"/>
                                        </p:tgtEl>
                                        <p:attrNameLst>
                                          <p:attrName>style.visibility</p:attrName>
                                        </p:attrNameLst>
                                      </p:cBhvr>
                                      <p:to>
                                        <p:strVal val="visible"/>
                                      </p:to>
                                    </p:set>
                                    <p:anim calcmode="lin" valueType="num">
                                      <p:cBhvr additive="base">
                                        <p:cTn id="192" dur="500" fill="hold"/>
                                        <p:tgtEl>
                                          <p:spTgt spid="197"/>
                                        </p:tgtEl>
                                        <p:attrNameLst>
                                          <p:attrName>ppt_x</p:attrName>
                                        </p:attrNameLst>
                                      </p:cBhvr>
                                      <p:tavLst>
                                        <p:tav tm="0">
                                          <p:val>
                                            <p:strVal val="0-#ppt_w/2"/>
                                          </p:val>
                                        </p:tav>
                                        <p:tav tm="100000">
                                          <p:val>
                                            <p:strVal val="#ppt_x"/>
                                          </p:val>
                                        </p:tav>
                                      </p:tavLst>
                                    </p:anim>
                                    <p:anim calcmode="lin" valueType="num">
                                      <p:cBhvr additive="base">
                                        <p:cTn id="193"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194" fill="hold" nodeType="clickPar">
                      <p:stCondLst>
                        <p:cond delay="indefinite"/>
                      </p:stCondLst>
                      <p:childTnLst>
                        <p:par>
                          <p:cTn id="195" fill="hold" nodeType="withGroup">
                            <p:stCondLst>
                              <p:cond delay="0"/>
                            </p:stCondLst>
                            <p:childTnLst>
                              <p:par>
                                <p:cTn id="196" presetID="3" presetClass="entr" presetSubtype="10" fill="hold" grpId="0" nodeType="clickEffect">
                                  <p:stCondLst>
                                    <p:cond delay="0"/>
                                  </p:stCondLst>
                                  <p:childTnLst>
                                    <p:set>
                                      <p:cBhvr>
                                        <p:cTn id="197" dur="1" fill="hold">
                                          <p:stCondLst>
                                            <p:cond delay="0"/>
                                          </p:stCondLst>
                                        </p:cTn>
                                        <p:tgtEl>
                                          <p:spTgt spid="198"/>
                                        </p:tgtEl>
                                        <p:attrNameLst>
                                          <p:attrName>style.visibility</p:attrName>
                                        </p:attrNameLst>
                                      </p:cBhvr>
                                      <p:to>
                                        <p:strVal val="visible"/>
                                      </p:to>
                                    </p:set>
                                    <p:animEffect transition="in" filter="blinds(horizontal)">
                                      <p:cBhvr>
                                        <p:cTn id="198" dur="500"/>
                                        <p:tgtEl>
                                          <p:spTgt spid="198"/>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4" presetClass="entr" presetSubtype="16" fill="hold" grpId="0" nodeType="clickEffect">
                                  <p:stCondLst>
                                    <p:cond delay="0"/>
                                  </p:stCondLst>
                                  <p:childTnLst>
                                    <p:set>
                                      <p:cBhvr>
                                        <p:cTn id="202" dur="1" fill="hold">
                                          <p:stCondLst>
                                            <p:cond delay="0"/>
                                          </p:stCondLst>
                                        </p:cTn>
                                        <p:tgtEl>
                                          <p:spTgt spid="199"/>
                                        </p:tgtEl>
                                        <p:attrNameLst>
                                          <p:attrName>style.visibility</p:attrName>
                                        </p:attrNameLst>
                                      </p:cBhvr>
                                      <p:to>
                                        <p:strVal val="visible"/>
                                      </p:to>
                                    </p:set>
                                    <p:animEffect transition="in" filter="box(in)">
                                      <p:cBhvr>
                                        <p:cTn id="203" dur="500"/>
                                        <p:tgtEl>
                                          <p:spTgt spid="199"/>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4" presetClass="entr" presetSubtype="0" fill="hold" grpId="0" nodeType="clickEffect">
                                  <p:stCondLst>
                                    <p:cond delay="0"/>
                                  </p:stCondLst>
                                  <p:childTnLst>
                                    <p:set>
                                      <p:cBhvr>
                                        <p:cTn id="207" dur="1" fill="hold">
                                          <p:stCondLst>
                                            <p:cond delay="499"/>
                                          </p:stCondLst>
                                        </p:cTn>
                                        <p:tgtEl>
                                          <p:spTgt spid="186"/>
                                        </p:tgtEl>
                                        <p:attrNameLst>
                                          <p:attrName>style.visibility</p:attrName>
                                        </p:attrNameLst>
                                      </p:cBhvr>
                                      <p:to>
                                        <p:strVal val="visible"/>
                                      </p:to>
                                    </p:set>
                                    <p:anim to="" calcmode="lin" valueType="num">
                                      <p:cBhvr>
                                        <p:cTn id="208" dur="1" fill="hold"/>
                                        <p:tgtEl>
                                          <p:spTgt spid="186"/>
                                        </p:tgtEl>
                                        <p:attrNameLst>
                                          <p:attrName/>
                                        </p:attrNameLst>
                                      </p:cBhvr>
                                    </p:anim>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 presetClass="entr" presetSubtype="4" fill="hold" grpId="0" nodeType="clickEffect">
                                  <p:stCondLst>
                                    <p:cond delay="0"/>
                                  </p:stCondLst>
                                  <p:childTnLst>
                                    <p:set>
                                      <p:cBhvr>
                                        <p:cTn id="212" dur="1" fill="hold">
                                          <p:stCondLst>
                                            <p:cond delay="0"/>
                                          </p:stCondLst>
                                        </p:cTn>
                                        <p:tgtEl>
                                          <p:spTgt spid="215"/>
                                        </p:tgtEl>
                                        <p:attrNameLst>
                                          <p:attrName>style.visibility</p:attrName>
                                        </p:attrNameLst>
                                      </p:cBhvr>
                                      <p:to>
                                        <p:strVal val="visible"/>
                                      </p:to>
                                    </p:set>
                                    <p:anim calcmode="lin" valueType="num">
                                      <p:cBhvr additive="base">
                                        <p:cTn id="213" dur="500" fill="hold"/>
                                        <p:tgtEl>
                                          <p:spTgt spid="215"/>
                                        </p:tgtEl>
                                        <p:attrNameLst>
                                          <p:attrName>ppt_x</p:attrName>
                                        </p:attrNameLst>
                                      </p:cBhvr>
                                      <p:tavLst>
                                        <p:tav tm="0">
                                          <p:val>
                                            <p:strVal val="#ppt_x"/>
                                          </p:val>
                                        </p:tav>
                                        <p:tav tm="100000">
                                          <p:val>
                                            <p:strVal val="#ppt_x"/>
                                          </p:val>
                                        </p:tav>
                                      </p:tavLst>
                                    </p:anim>
                                    <p:anim calcmode="lin" valueType="num">
                                      <p:cBhvr additive="base">
                                        <p:cTn id="214" dur="500" fill="hold"/>
                                        <p:tgtEl>
                                          <p:spTgt spid="215"/>
                                        </p:tgtEl>
                                        <p:attrNameLst>
                                          <p:attrName>ppt_y</p:attrName>
                                        </p:attrNameLst>
                                      </p:cBhvr>
                                      <p:tavLst>
                                        <p:tav tm="0">
                                          <p:val>
                                            <p:strVal val="1+#ppt_h/2"/>
                                          </p:val>
                                        </p:tav>
                                        <p:tav tm="100000">
                                          <p:val>
                                            <p:strVal val="#ppt_y"/>
                                          </p:val>
                                        </p:tav>
                                      </p:tavLst>
                                    </p:anim>
                                  </p:childTnLst>
                                </p:cTn>
                              </p:par>
                            </p:childTnLst>
                          </p:cTn>
                        </p:par>
                      </p:childTnLst>
                    </p:cTn>
                  </p:par>
                  <p:par>
                    <p:cTn id="215" fill="hold" nodeType="clickPar">
                      <p:stCondLst>
                        <p:cond delay="indefinite"/>
                      </p:stCondLst>
                      <p:childTnLst>
                        <p:par>
                          <p:cTn id="216" fill="hold" nodeType="withGroup">
                            <p:stCondLst>
                              <p:cond delay="0"/>
                            </p:stCondLst>
                            <p:childTnLst>
                              <p:par>
                                <p:cTn id="217" presetID="4" presetClass="entr" presetSubtype="16" fill="hold" grpId="0" nodeType="clickEffect">
                                  <p:stCondLst>
                                    <p:cond delay="0"/>
                                  </p:stCondLst>
                                  <p:childTnLst>
                                    <p:set>
                                      <p:cBhvr>
                                        <p:cTn id="218" dur="1" fill="hold">
                                          <p:stCondLst>
                                            <p:cond delay="0"/>
                                          </p:stCondLst>
                                        </p:cTn>
                                        <p:tgtEl>
                                          <p:spTgt spid="200"/>
                                        </p:tgtEl>
                                        <p:attrNameLst>
                                          <p:attrName>style.visibility</p:attrName>
                                        </p:attrNameLst>
                                      </p:cBhvr>
                                      <p:to>
                                        <p:strVal val="visible"/>
                                      </p:to>
                                    </p:set>
                                    <p:animEffect transition="in" filter="box(in)">
                                      <p:cBhvr>
                                        <p:cTn id="219" dur="500"/>
                                        <p:tgtEl>
                                          <p:spTgt spid="200"/>
                                        </p:tgtEl>
                                      </p:cBhvr>
                                    </p:animEffect>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 presetClass="entr" presetSubtype="0" fill="hold" grpId="0" nodeType="clickEffect">
                                  <p:stCondLst>
                                    <p:cond delay="0"/>
                                  </p:stCondLst>
                                  <p:childTnLst>
                                    <p:set>
                                      <p:cBhvr>
                                        <p:cTn id="223" dur="1" fill="hold">
                                          <p:stCondLst>
                                            <p:cond delay="499"/>
                                          </p:stCondLst>
                                        </p:cTn>
                                        <p:tgtEl>
                                          <p:spTgt spid="201"/>
                                        </p:tgtEl>
                                        <p:attrNameLst>
                                          <p:attrName>style.visibility</p:attrName>
                                        </p:attrNameLst>
                                      </p:cBhvr>
                                      <p:to>
                                        <p:strVal val="visible"/>
                                      </p:to>
                                    </p:se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9" presetClass="entr" presetSubtype="0" fill="hold" grpId="0" nodeType="clickEffect">
                                  <p:stCondLst>
                                    <p:cond delay="0"/>
                                  </p:stCondLst>
                                  <p:childTnLst>
                                    <p:set>
                                      <p:cBhvr>
                                        <p:cTn id="227" dur="1" fill="hold">
                                          <p:stCondLst>
                                            <p:cond delay="0"/>
                                          </p:stCondLst>
                                        </p:cTn>
                                        <p:tgtEl>
                                          <p:spTgt spid="202"/>
                                        </p:tgtEl>
                                        <p:attrNameLst>
                                          <p:attrName>style.visibility</p:attrName>
                                        </p:attrNameLst>
                                      </p:cBhvr>
                                      <p:to>
                                        <p:strVal val="visible"/>
                                      </p:to>
                                    </p:set>
                                    <p:animEffect transition="in" filter="dissolve">
                                      <p:cBhvr>
                                        <p:cTn id="228" dur="500"/>
                                        <p:tgtEl>
                                          <p:spTgt spid="202"/>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3" presetClass="entr" presetSubtype="10" fill="hold" grpId="0" nodeType="clickEffect">
                                  <p:stCondLst>
                                    <p:cond delay="0"/>
                                  </p:stCondLst>
                                  <p:childTnLst>
                                    <p:set>
                                      <p:cBhvr>
                                        <p:cTn id="232" dur="1" fill="hold">
                                          <p:stCondLst>
                                            <p:cond delay="0"/>
                                          </p:stCondLst>
                                        </p:cTn>
                                        <p:tgtEl>
                                          <p:spTgt spid="203"/>
                                        </p:tgtEl>
                                        <p:attrNameLst>
                                          <p:attrName>style.visibility</p:attrName>
                                        </p:attrNameLst>
                                      </p:cBhvr>
                                      <p:to>
                                        <p:strVal val="visible"/>
                                      </p:to>
                                    </p:set>
                                    <p:animEffect transition="in" filter="blinds(horizontal)">
                                      <p:cBhvr>
                                        <p:cTn id="233" dur="500"/>
                                        <p:tgtEl>
                                          <p:spTgt spid="203"/>
                                        </p:tgtEl>
                                      </p:cBhvr>
                                    </p:animEffect>
                                  </p:childTnLst>
                                </p:cTn>
                              </p:par>
                            </p:childTnLst>
                          </p:cTn>
                        </p:par>
                      </p:childTnLst>
                    </p:cTn>
                  </p:par>
                  <p:par>
                    <p:cTn id="234" fill="hold" nodeType="clickPar">
                      <p:stCondLst>
                        <p:cond delay="indefinite"/>
                      </p:stCondLst>
                      <p:childTnLst>
                        <p:par>
                          <p:cTn id="235" fill="hold" nodeType="withGroup">
                            <p:stCondLst>
                              <p:cond delay="0"/>
                            </p:stCondLst>
                            <p:childTnLst>
                              <p:par>
                                <p:cTn id="236" presetID="24" presetClass="entr" presetSubtype="0" fill="hold" grpId="0" nodeType="clickEffect">
                                  <p:stCondLst>
                                    <p:cond delay="0"/>
                                  </p:stCondLst>
                                  <p:childTnLst>
                                    <p:set>
                                      <p:cBhvr>
                                        <p:cTn id="237" dur="1" fill="hold">
                                          <p:stCondLst>
                                            <p:cond delay="499"/>
                                          </p:stCondLst>
                                        </p:cTn>
                                        <p:tgtEl>
                                          <p:spTgt spid="187"/>
                                        </p:tgtEl>
                                        <p:attrNameLst>
                                          <p:attrName>style.visibility</p:attrName>
                                        </p:attrNameLst>
                                      </p:cBhvr>
                                      <p:to>
                                        <p:strVal val="visible"/>
                                      </p:to>
                                    </p:set>
                                    <p:anim to="" calcmode="lin" valueType="num">
                                      <p:cBhvr>
                                        <p:cTn id="238" dur="1" fill="hold"/>
                                        <p:tgtEl>
                                          <p:spTgt spid="187"/>
                                        </p:tgtEl>
                                        <p:attrNameLst>
                                          <p:attrName/>
                                        </p:attrNameLst>
                                      </p:cBhvr>
                                    </p:anim>
                                  </p:childTnLst>
                                </p:cTn>
                              </p:par>
                            </p:childTnLst>
                          </p:cTn>
                        </p:par>
                      </p:childTnLst>
                    </p:cTn>
                  </p:par>
                  <p:par>
                    <p:cTn id="239" fill="hold" nodeType="clickPar">
                      <p:stCondLst>
                        <p:cond delay="indefinite"/>
                      </p:stCondLst>
                      <p:childTnLst>
                        <p:par>
                          <p:cTn id="240" fill="hold" nodeType="withGroup">
                            <p:stCondLst>
                              <p:cond delay="0"/>
                            </p:stCondLst>
                            <p:childTnLst>
                              <p:par>
                                <p:cTn id="241" presetID="9" presetClass="entr" presetSubtype="0" fill="hold" grpId="0" nodeType="clickEffect">
                                  <p:stCondLst>
                                    <p:cond delay="0"/>
                                  </p:stCondLst>
                                  <p:childTnLst>
                                    <p:set>
                                      <p:cBhvr>
                                        <p:cTn id="242" dur="1" fill="hold">
                                          <p:stCondLst>
                                            <p:cond delay="0"/>
                                          </p:stCondLst>
                                        </p:cTn>
                                        <p:tgtEl>
                                          <p:spTgt spid="104"/>
                                        </p:tgtEl>
                                        <p:attrNameLst>
                                          <p:attrName>style.visibility</p:attrName>
                                        </p:attrNameLst>
                                      </p:cBhvr>
                                      <p:to>
                                        <p:strVal val="visible"/>
                                      </p:to>
                                    </p:set>
                                    <p:animEffect transition="in" filter="dissolve">
                                      <p:cBhvr>
                                        <p:cTn id="243" dur="1000"/>
                                        <p:tgtEl>
                                          <p:spTgt spid="104"/>
                                        </p:tgtEl>
                                      </p:cBhvr>
                                    </p:animEffec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0" presetClass="exit" presetSubtype="0" fill="hold" grpId="1" nodeType="clickEffect">
                                  <p:stCondLst>
                                    <p:cond delay="0"/>
                                  </p:stCondLst>
                                  <p:childTnLst>
                                    <p:animEffect transition="out" filter="fade">
                                      <p:cBhvr>
                                        <p:cTn id="247" dur="1000"/>
                                        <p:tgtEl>
                                          <p:spTgt spid="104"/>
                                        </p:tgtEl>
                                      </p:cBhvr>
                                    </p:animEffect>
                                    <p:set>
                                      <p:cBhvr>
                                        <p:cTn id="248" dur="1" fill="hold">
                                          <p:stCondLst>
                                            <p:cond delay="999"/>
                                          </p:stCondLst>
                                        </p:cTn>
                                        <p:tgtEl>
                                          <p:spTgt spid="1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autoUpdateAnimBg="0"/>
      <p:bldP spid="97" grpId="0"/>
      <p:bldP spid="98" grpId="0"/>
      <p:bldP spid="100" grpId="0"/>
      <p:bldP spid="158" grpId="0" autoUpdateAnimBg="0"/>
      <p:bldP spid="159" grpId="0" autoUpdateAnimBg="0"/>
      <p:bldP spid="160" grpId="0" autoUpdateAnimBg="0"/>
      <p:bldP spid="182" grpId="0" autoUpdateAnimBg="0"/>
      <p:bldP spid="183" grpId="0"/>
      <p:bldP spid="184" grpId="0" autoUpdateAnimBg="0"/>
      <p:bldP spid="185" grpId="0" autoUpdateAnimBg="0"/>
      <p:bldP spid="186" grpId="0" autoUpdateAnimBg="0"/>
      <p:bldP spid="187" grpId="0" autoUpdateAnimBg="0"/>
      <p:bldP spid="188" grpId="0" autoUpdateAnimBg="0"/>
      <p:bldP spid="189" grpId="0" autoUpdateAnimBg="0"/>
      <p:bldP spid="190" grpId="0" autoUpdateAnimBg="0"/>
      <p:bldP spid="191" grpId="0" autoUpdateAnimBg="0"/>
      <p:bldP spid="192" grpId="0" autoUpdateAnimBg="0"/>
      <p:bldP spid="193" grpId="0" autoUpdateAnimBg="0"/>
      <p:bldP spid="194" grpId="0" autoUpdateAnimBg="0"/>
      <p:bldP spid="195" grpId="0" autoUpdateAnimBg="0"/>
      <p:bldP spid="196" grpId="0" autoUpdateAnimBg="0"/>
      <p:bldP spid="197" grpId="0" autoUpdateAnimBg="0"/>
      <p:bldP spid="198" grpId="0" autoUpdateAnimBg="0"/>
      <p:bldP spid="199" grpId="0" autoUpdateAnimBg="0"/>
      <p:bldP spid="200" grpId="0" autoUpdateAnimBg="0"/>
      <p:bldP spid="201" grpId="0" autoUpdateAnimBg="0"/>
      <p:bldP spid="202" grpId="0" autoUpdateAnimBg="0"/>
      <p:bldP spid="203" grpId="0" autoUpdateAnimBg="0"/>
      <p:bldP spid="211" grpId="0"/>
      <p:bldP spid="212" grpId="0"/>
      <p:bldP spid="213" grpId="0"/>
      <p:bldP spid="214" grpId="0"/>
      <p:bldP spid="215" grpId="0"/>
      <p:bldP spid="99" grpId="0" animBg="1" autoUpdateAnimBg="0"/>
      <p:bldP spid="99" grpId="1" animBg="1"/>
      <p:bldP spid="101" grpId="0" animBg="1" autoUpdateAnimBg="0"/>
      <p:bldP spid="101" grpId="1" animBg="1"/>
      <p:bldP spid="102" grpId="0" animBg="1" autoUpdateAnimBg="0"/>
      <p:bldP spid="102" grpId="1" animBg="1"/>
      <p:bldP spid="103" grpId="0" animBg="1" autoUpdateAnimBg="0"/>
      <p:bldP spid="103" grpId="1" animBg="1"/>
      <p:bldP spid="104" grpId="0" animBg="1" autoUpdateAnimBg="0"/>
      <p:bldP spid="104"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6978" name="Group 6"/>
          <p:cNvGrpSpPr>
            <a:grpSpLocks/>
          </p:cNvGrpSpPr>
          <p:nvPr/>
        </p:nvGrpSpPr>
        <p:grpSpPr bwMode="auto">
          <a:xfrm>
            <a:off x="1183217" y="668338"/>
            <a:ext cx="9753600" cy="3048000"/>
            <a:chOff x="576" y="1728"/>
            <a:chExt cx="4608" cy="2256"/>
          </a:xfrm>
        </p:grpSpPr>
        <p:sp>
          <p:nvSpPr>
            <p:cNvPr id="127008" name="Rectangle 7"/>
            <p:cNvSpPr>
              <a:spLocks noChangeArrowheads="1"/>
            </p:cNvSpPr>
            <p:nvPr/>
          </p:nvSpPr>
          <p:spPr bwMode="auto">
            <a:xfrm>
              <a:off x="576" y="1728"/>
              <a:ext cx="4608" cy="2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7009" name="Line 8"/>
            <p:cNvSpPr>
              <a:spLocks noChangeShapeType="1"/>
            </p:cNvSpPr>
            <p:nvPr/>
          </p:nvSpPr>
          <p:spPr bwMode="auto">
            <a:xfrm>
              <a:off x="576" y="2352"/>
              <a:ext cx="46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7010" name="Line 9"/>
            <p:cNvSpPr>
              <a:spLocks noChangeShapeType="1"/>
            </p:cNvSpPr>
            <p:nvPr/>
          </p:nvSpPr>
          <p:spPr bwMode="auto">
            <a:xfrm>
              <a:off x="153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7011" name="Line 10"/>
            <p:cNvSpPr>
              <a:spLocks noChangeShapeType="1"/>
            </p:cNvSpPr>
            <p:nvPr/>
          </p:nvSpPr>
          <p:spPr bwMode="auto">
            <a:xfrm>
              <a:off x="3408"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7012" name="Line 11"/>
            <p:cNvSpPr>
              <a:spLocks noChangeShapeType="1"/>
            </p:cNvSpPr>
            <p:nvPr/>
          </p:nvSpPr>
          <p:spPr bwMode="auto">
            <a:xfrm>
              <a:off x="249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7013" name="Line 12"/>
            <p:cNvSpPr>
              <a:spLocks noChangeShapeType="1"/>
            </p:cNvSpPr>
            <p:nvPr/>
          </p:nvSpPr>
          <p:spPr bwMode="auto">
            <a:xfrm>
              <a:off x="4320"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7014" name="Line 13"/>
            <p:cNvSpPr>
              <a:spLocks noChangeShapeType="1"/>
            </p:cNvSpPr>
            <p:nvPr/>
          </p:nvSpPr>
          <p:spPr bwMode="auto">
            <a:xfrm>
              <a:off x="576" y="1728"/>
              <a:ext cx="960" cy="62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26979" name="Text Box 14"/>
          <p:cNvSpPr txBox="1">
            <a:spLocks noChangeArrowheads="1"/>
          </p:cNvSpPr>
          <p:nvPr/>
        </p:nvSpPr>
        <p:spPr bwMode="auto">
          <a:xfrm>
            <a:off x="1890185" y="668338"/>
            <a:ext cx="1008907"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资源情况</a:t>
            </a:r>
          </a:p>
        </p:txBody>
      </p:sp>
      <p:sp>
        <p:nvSpPr>
          <p:cNvPr id="126980" name="Text Box 15"/>
          <p:cNvSpPr txBox="1">
            <a:spLocks noChangeArrowheads="1"/>
          </p:cNvSpPr>
          <p:nvPr/>
        </p:nvSpPr>
        <p:spPr bwMode="auto">
          <a:xfrm>
            <a:off x="1164167" y="1125538"/>
            <a:ext cx="59533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进程</a:t>
            </a:r>
          </a:p>
        </p:txBody>
      </p:sp>
      <p:sp>
        <p:nvSpPr>
          <p:cNvPr id="126981" name="Text Box 16"/>
          <p:cNvSpPr txBox="1">
            <a:spLocks noChangeArrowheads="1"/>
          </p:cNvSpPr>
          <p:nvPr/>
        </p:nvSpPr>
        <p:spPr bwMode="auto">
          <a:xfrm>
            <a:off x="5530851" y="820739"/>
            <a:ext cx="108424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Allocation</a:t>
            </a:r>
          </a:p>
          <a:p>
            <a:pPr eaLnBrk="1" hangingPunct="1"/>
            <a:r>
              <a:rPr kumimoji="1" lang="en-US" altLang="zh-CN" sz="1600" b="1">
                <a:solidFill>
                  <a:schemeClr val="tx1"/>
                </a:solidFill>
                <a:latin typeface="Times New Roman" pitchFamily="18" charset="0"/>
              </a:rPr>
              <a:t>A   B   C</a:t>
            </a:r>
          </a:p>
        </p:txBody>
      </p:sp>
      <p:sp>
        <p:nvSpPr>
          <p:cNvPr id="126982" name="Text Box 17"/>
          <p:cNvSpPr txBox="1">
            <a:spLocks noChangeArrowheads="1"/>
          </p:cNvSpPr>
          <p:nvPr/>
        </p:nvSpPr>
        <p:spPr bwMode="auto">
          <a:xfrm>
            <a:off x="3615267" y="820739"/>
            <a:ext cx="909393"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Max</a:t>
            </a:r>
          </a:p>
          <a:p>
            <a:pPr eaLnBrk="1" hangingPunct="1"/>
            <a:r>
              <a:rPr kumimoji="1" lang="en-US" altLang="zh-CN" sz="1600" b="1">
                <a:solidFill>
                  <a:schemeClr val="tx1"/>
                </a:solidFill>
                <a:latin typeface="Times New Roman" pitchFamily="18" charset="0"/>
              </a:rPr>
              <a:t>A   B   C</a:t>
            </a:r>
          </a:p>
        </p:txBody>
      </p:sp>
      <p:sp>
        <p:nvSpPr>
          <p:cNvPr id="126983" name="Text Box 18"/>
          <p:cNvSpPr txBox="1">
            <a:spLocks noChangeArrowheads="1"/>
          </p:cNvSpPr>
          <p:nvPr/>
        </p:nvSpPr>
        <p:spPr bwMode="auto">
          <a:xfrm>
            <a:off x="7476067" y="820739"/>
            <a:ext cx="909393"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Need</a:t>
            </a:r>
          </a:p>
          <a:p>
            <a:pPr eaLnBrk="1" hangingPunct="1"/>
            <a:r>
              <a:rPr kumimoji="1" lang="en-US" altLang="zh-CN" sz="1600" b="1">
                <a:solidFill>
                  <a:schemeClr val="tx1"/>
                </a:solidFill>
                <a:latin typeface="Times New Roman" pitchFamily="18" charset="0"/>
              </a:rPr>
              <a:t>A   B   C</a:t>
            </a:r>
          </a:p>
        </p:txBody>
      </p:sp>
      <p:sp>
        <p:nvSpPr>
          <p:cNvPr id="126984" name="Text Box 19"/>
          <p:cNvSpPr txBox="1">
            <a:spLocks noChangeArrowheads="1"/>
          </p:cNvSpPr>
          <p:nvPr/>
        </p:nvSpPr>
        <p:spPr bwMode="auto">
          <a:xfrm>
            <a:off x="9391651" y="820739"/>
            <a:ext cx="100005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EA30EA"/>
                </a:solidFill>
                <a:latin typeface="Times New Roman" pitchFamily="18" charset="0"/>
              </a:rPr>
              <a:t>Available</a:t>
            </a:r>
          </a:p>
          <a:p>
            <a:pPr eaLnBrk="1" hangingPunct="1"/>
            <a:r>
              <a:rPr kumimoji="1" lang="en-US" altLang="zh-CN" sz="1600" b="1">
                <a:solidFill>
                  <a:schemeClr val="tx1"/>
                </a:solidFill>
                <a:latin typeface="Times New Roman" pitchFamily="18" charset="0"/>
              </a:rPr>
              <a:t>A   B   C</a:t>
            </a:r>
          </a:p>
        </p:txBody>
      </p:sp>
      <p:sp>
        <p:nvSpPr>
          <p:cNvPr id="126985" name="Text Box 20"/>
          <p:cNvSpPr txBox="1">
            <a:spLocks noChangeArrowheads="1"/>
          </p:cNvSpPr>
          <p:nvPr/>
        </p:nvSpPr>
        <p:spPr bwMode="auto">
          <a:xfrm>
            <a:off x="1691218" y="1760539"/>
            <a:ext cx="375722" cy="1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0</a:t>
            </a:r>
          </a:p>
          <a:p>
            <a:pPr algn="l" eaLnBrk="1" hangingPunct="1"/>
            <a:endParaRPr kumimoji="1" lang="en-US" altLang="zh-CN" sz="1600" b="1">
              <a:solidFill>
                <a:schemeClr val="tx1"/>
              </a:solidFill>
              <a:latin typeface="Times New Roman" pitchFamily="18" charset="0"/>
            </a:endParaRPr>
          </a:p>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1</a:t>
            </a:r>
          </a:p>
          <a:p>
            <a:pPr algn="l" eaLnBrk="1" hangingPunct="1"/>
            <a:endParaRPr kumimoji="1" lang="en-US" altLang="zh-CN" sz="1600" b="1">
              <a:solidFill>
                <a:schemeClr val="tx1"/>
              </a:solidFill>
              <a:latin typeface="Times New Roman" pitchFamily="18" charset="0"/>
            </a:endParaRPr>
          </a:p>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2</a:t>
            </a:r>
          </a:p>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3</a:t>
            </a:r>
          </a:p>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4</a:t>
            </a:r>
          </a:p>
        </p:txBody>
      </p:sp>
      <p:sp>
        <p:nvSpPr>
          <p:cNvPr id="126986" name="Text Box 21"/>
          <p:cNvSpPr txBox="1">
            <a:spLocks noChangeArrowheads="1"/>
          </p:cNvSpPr>
          <p:nvPr/>
        </p:nvSpPr>
        <p:spPr bwMode="auto">
          <a:xfrm>
            <a:off x="5581651" y="1703388"/>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0   1     0</a:t>
            </a:r>
          </a:p>
        </p:txBody>
      </p:sp>
      <p:sp>
        <p:nvSpPr>
          <p:cNvPr id="126987" name="Text Box 22"/>
          <p:cNvSpPr txBox="1">
            <a:spLocks noChangeArrowheads="1"/>
          </p:cNvSpPr>
          <p:nvPr/>
        </p:nvSpPr>
        <p:spPr bwMode="auto">
          <a:xfrm>
            <a:off x="3316818" y="2236788"/>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3     2     2</a:t>
            </a:r>
          </a:p>
        </p:txBody>
      </p:sp>
      <p:sp>
        <p:nvSpPr>
          <p:cNvPr id="126988" name="Text Box 23"/>
          <p:cNvSpPr txBox="1">
            <a:spLocks noChangeArrowheads="1"/>
          </p:cNvSpPr>
          <p:nvPr/>
        </p:nvSpPr>
        <p:spPr bwMode="auto">
          <a:xfrm>
            <a:off x="3312585" y="2770188"/>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9     0     2</a:t>
            </a:r>
          </a:p>
        </p:txBody>
      </p:sp>
      <p:sp>
        <p:nvSpPr>
          <p:cNvPr id="126989" name="Text Box 24"/>
          <p:cNvSpPr txBox="1">
            <a:spLocks noChangeArrowheads="1"/>
          </p:cNvSpPr>
          <p:nvPr/>
        </p:nvSpPr>
        <p:spPr bwMode="auto">
          <a:xfrm>
            <a:off x="3293534" y="2998788"/>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2     2     2</a:t>
            </a:r>
          </a:p>
        </p:txBody>
      </p:sp>
      <p:sp>
        <p:nvSpPr>
          <p:cNvPr id="126990" name="Text Box 25"/>
          <p:cNvSpPr txBox="1">
            <a:spLocks noChangeArrowheads="1"/>
          </p:cNvSpPr>
          <p:nvPr/>
        </p:nvSpPr>
        <p:spPr bwMode="auto">
          <a:xfrm>
            <a:off x="3312585" y="3303588"/>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4     3     3</a:t>
            </a:r>
          </a:p>
        </p:txBody>
      </p:sp>
      <p:sp>
        <p:nvSpPr>
          <p:cNvPr id="126991" name="Text Box 26"/>
          <p:cNvSpPr txBox="1">
            <a:spLocks noChangeArrowheads="1"/>
          </p:cNvSpPr>
          <p:nvPr/>
        </p:nvSpPr>
        <p:spPr bwMode="auto">
          <a:xfrm>
            <a:off x="5581651" y="2236788"/>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sp>
        <p:nvSpPr>
          <p:cNvPr id="126992" name="Text Box 27"/>
          <p:cNvSpPr txBox="1">
            <a:spLocks noChangeArrowheads="1"/>
          </p:cNvSpPr>
          <p:nvPr/>
        </p:nvSpPr>
        <p:spPr bwMode="auto">
          <a:xfrm>
            <a:off x="5450418" y="2528888"/>
            <a:ext cx="18182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endParaRPr kumimoji="1" lang="zh-CN" altLang="zh-CN" sz="1600" b="1">
              <a:solidFill>
                <a:schemeClr val="hlink"/>
              </a:solidFill>
              <a:latin typeface="Times New Roman" pitchFamily="18" charset="0"/>
            </a:endParaRPr>
          </a:p>
        </p:txBody>
      </p:sp>
      <p:sp>
        <p:nvSpPr>
          <p:cNvPr id="126993" name="Text Box 28"/>
          <p:cNvSpPr txBox="1">
            <a:spLocks noChangeArrowheads="1"/>
          </p:cNvSpPr>
          <p:nvPr/>
        </p:nvSpPr>
        <p:spPr bwMode="auto">
          <a:xfrm>
            <a:off x="5513918" y="2801938"/>
            <a:ext cx="95119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sp>
        <p:nvSpPr>
          <p:cNvPr id="126994" name="Text Box 29"/>
          <p:cNvSpPr txBox="1">
            <a:spLocks noChangeArrowheads="1"/>
          </p:cNvSpPr>
          <p:nvPr/>
        </p:nvSpPr>
        <p:spPr bwMode="auto">
          <a:xfrm>
            <a:off x="5513918" y="3030538"/>
            <a:ext cx="95119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2    1     1</a:t>
            </a:r>
          </a:p>
        </p:txBody>
      </p:sp>
      <p:sp>
        <p:nvSpPr>
          <p:cNvPr id="126995" name="Text Box 30"/>
          <p:cNvSpPr txBox="1">
            <a:spLocks noChangeArrowheads="1"/>
          </p:cNvSpPr>
          <p:nvPr/>
        </p:nvSpPr>
        <p:spPr bwMode="auto">
          <a:xfrm>
            <a:off x="5513918" y="3335338"/>
            <a:ext cx="95119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0    0     2</a:t>
            </a:r>
          </a:p>
        </p:txBody>
      </p:sp>
      <p:sp>
        <p:nvSpPr>
          <p:cNvPr id="126996" name="Text Box 31"/>
          <p:cNvSpPr txBox="1">
            <a:spLocks noChangeArrowheads="1"/>
          </p:cNvSpPr>
          <p:nvPr/>
        </p:nvSpPr>
        <p:spPr bwMode="auto">
          <a:xfrm>
            <a:off x="7512051" y="1735138"/>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26997" name="Text Box 32"/>
          <p:cNvSpPr txBox="1">
            <a:spLocks noChangeArrowheads="1"/>
          </p:cNvSpPr>
          <p:nvPr/>
        </p:nvSpPr>
        <p:spPr bwMode="auto">
          <a:xfrm>
            <a:off x="7512051" y="2268538"/>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0   2     0</a:t>
            </a:r>
          </a:p>
        </p:txBody>
      </p:sp>
      <p:sp>
        <p:nvSpPr>
          <p:cNvPr id="126998" name="Text Box 33"/>
          <p:cNvSpPr txBox="1">
            <a:spLocks noChangeArrowheads="1"/>
          </p:cNvSpPr>
          <p:nvPr/>
        </p:nvSpPr>
        <p:spPr bwMode="auto">
          <a:xfrm>
            <a:off x="7363885" y="2528888"/>
            <a:ext cx="18182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endParaRPr kumimoji="1" lang="zh-CN" altLang="zh-CN" sz="1600" b="1">
              <a:solidFill>
                <a:schemeClr val="hlink"/>
              </a:solidFill>
              <a:latin typeface="Times New Roman" pitchFamily="18" charset="0"/>
            </a:endParaRPr>
          </a:p>
        </p:txBody>
      </p:sp>
      <p:sp>
        <p:nvSpPr>
          <p:cNvPr id="126999" name="Text Box 34"/>
          <p:cNvSpPr txBox="1">
            <a:spLocks noChangeArrowheads="1"/>
          </p:cNvSpPr>
          <p:nvPr/>
        </p:nvSpPr>
        <p:spPr bwMode="auto">
          <a:xfrm>
            <a:off x="7482418" y="2801938"/>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6    0    0</a:t>
            </a:r>
          </a:p>
        </p:txBody>
      </p:sp>
      <p:sp>
        <p:nvSpPr>
          <p:cNvPr id="127000" name="Text Box 35"/>
          <p:cNvSpPr txBox="1">
            <a:spLocks noChangeArrowheads="1"/>
          </p:cNvSpPr>
          <p:nvPr/>
        </p:nvSpPr>
        <p:spPr bwMode="auto">
          <a:xfrm>
            <a:off x="7501467" y="3030538"/>
            <a:ext cx="1809751"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0    1     1</a:t>
            </a:r>
          </a:p>
        </p:txBody>
      </p:sp>
      <p:sp>
        <p:nvSpPr>
          <p:cNvPr id="127001" name="Text Box 36"/>
          <p:cNvSpPr txBox="1">
            <a:spLocks noChangeArrowheads="1"/>
          </p:cNvSpPr>
          <p:nvPr/>
        </p:nvSpPr>
        <p:spPr bwMode="auto">
          <a:xfrm>
            <a:off x="7482418" y="3357563"/>
            <a:ext cx="180974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4    3     1</a:t>
            </a:r>
          </a:p>
        </p:txBody>
      </p:sp>
      <p:sp>
        <p:nvSpPr>
          <p:cNvPr id="127002" name="Text Box 37"/>
          <p:cNvSpPr txBox="1">
            <a:spLocks noChangeArrowheads="1"/>
          </p:cNvSpPr>
          <p:nvPr/>
        </p:nvSpPr>
        <p:spPr bwMode="auto">
          <a:xfrm>
            <a:off x="9408585" y="1735138"/>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2     3     0</a:t>
            </a:r>
          </a:p>
        </p:txBody>
      </p:sp>
      <p:sp>
        <p:nvSpPr>
          <p:cNvPr id="127003" name="Text Box 39"/>
          <p:cNvSpPr txBox="1">
            <a:spLocks noChangeArrowheads="1"/>
          </p:cNvSpPr>
          <p:nvPr/>
        </p:nvSpPr>
        <p:spPr bwMode="auto">
          <a:xfrm>
            <a:off x="3316818" y="1735138"/>
            <a:ext cx="95119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7    5     3</a:t>
            </a:r>
          </a:p>
        </p:txBody>
      </p:sp>
      <p:sp>
        <p:nvSpPr>
          <p:cNvPr id="442429" name="Rectangle 61"/>
          <p:cNvSpPr>
            <a:spLocks noChangeArrowheads="1"/>
          </p:cNvSpPr>
          <p:nvPr/>
        </p:nvSpPr>
        <p:spPr bwMode="auto">
          <a:xfrm>
            <a:off x="9698567" y="2649538"/>
            <a:ext cx="2438400" cy="990600"/>
          </a:xfrm>
          <a:prstGeom prst="rect">
            <a:avLst/>
          </a:prstGeom>
          <a:solidFill>
            <a:srgbClr val="CCFFFF"/>
          </a:solidFill>
          <a:ln w="9525">
            <a:solidFill>
              <a:schemeClr val="tx1"/>
            </a:solidFill>
            <a:miter lim="800000"/>
            <a:headEnd/>
            <a:tailEnd/>
          </a:ln>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zh-CN" altLang="en-US" sz="1600">
                <a:solidFill>
                  <a:schemeClr val="tx1"/>
                </a:solidFill>
                <a:latin typeface="Times New Roman" pitchFamily="18" charset="0"/>
              </a:rPr>
              <a:t>若</a:t>
            </a:r>
            <a:r>
              <a:rPr kumimoji="1" lang="en-US" altLang="zh-CN" sz="1600">
                <a:solidFill>
                  <a:schemeClr val="tx1"/>
                </a:solidFill>
                <a:latin typeface="Times New Roman" pitchFamily="18" charset="0"/>
              </a:rPr>
              <a:t>P</a:t>
            </a:r>
            <a:r>
              <a:rPr kumimoji="1" lang="en-US" altLang="zh-CN" sz="1600" baseline="-25000">
                <a:solidFill>
                  <a:schemeClr val="tx1"/>
                </a:solidFill>
                <a:latin typeface="Times New Roman" pitchFamily="18" charset="0"/>
              </a:rPr>
              <a:t>4</a:t>
            </a:r>
            <a:r>
              <a:rPr kumimoji="1" lang="zh-CN" altLang="en-US" sz="1600">
                <a:solidFill>
                  <a:schemeClr val="tx1"/>
                </a:solidFill>
                <a:latin typeface="Times New Roman" pitchFamily="18" charset="0"/>
              </a:rPr>
              <a:t>发出请求向量</a:t>
            </a:r>
          </a:p>
          <a:p>
            <a:pPr eaLnBrk="1" hangingPunct="1"/>
            <a:r>
              <a:rPr kumimoji="1" lang="en-US" altLang="zh-CN" sz="1600">
                <a:solidFill>
                  <a:schemeClr val="tx1"/>
                </a:solidFill>
                <a:latin typeface="Times New Roman" pitchFamily="18" charset="0"/>
              </a:rPr>
              <a:t>Request</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3</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3</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0</a:t>
            </a:r>
            <a:r>
              <a:rPr kumimoji="1" lang="zh-CN" altLang="en-US" sz="1600">
                <a:solidFill>
                  <a:schemeClr val="tx1"/>
                </a:solidFill>
                <a:latin typeface="Times New Roman" pitchFamily="18" charset="0"/>
              </a:rPr>
              <a:t>）</a:t>
            </a:r>
          </a:p>
        </p:txBody>
      </p:sp>
      <p:sp>
        <p:nvSpPr>
          <p:cNvPr id="127005" name="Text Box 62"/>
          <p:cNvSpPr txBox="1">
            <a:spLocks noChangeArrowheads="1"/>
          </p:cNvSpPr>
          <p:nvPr/>
        </p:nvSpPr>
        <p:spPr bwMode="auto">
          <a:xfrm>
            <a:off x="46567" y="924392"/>
            <a:ext cx="822959"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2000" dirty="0">
                <a:solidFill>
                  <a:schemeClr val="tx1"/>
                </a:solidFill>
                <a:latin typeface="Times New Roman" pitchFamily="18" charset="0"/>
              </a:rPr>
              <a:t>10,5 7</a:t>
            </a:r>
          </a:p>
        </p:txBody>
      </p:sp>
      <p:sp>
        <p:nvSpPr>
          <p:cNvPr id="41" name="矩形 40"/>
          <p:cNvSpPr>
            <a:spLocks noChangeArrowheads="1"/>
          </p:cNvSpPr>
          <p:nvPr/>
        </p:nvSpPr>
        <p:spPr bwMode="auto">
          <a:xfrm>
            <a:off x="1295400" y="3789363"/>
            <a:ext cx="998431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rgbClr val="C00000"/>
                </a:solidFill>
              </a:rPr>
              <a:t>① </a:t>
            </a:r>
            <a:r>
              <a:rPr kumimoji="1" lang="zh-CN" altLang="en-US" b="1">
                <a:solidFill>
                  <a:srgbClr val="C00000"/>
                </a:solidFill>
              </a:rPr>
              <a:t>合理性检查：</a:t>
            </a:r>
            <a:r>
              <a:rPr kumimoji="1" lang="en-US" altLang="zh-CN">
                <a:solidFill>
                  <a:schemeClr val="tx1"/>
                </a:solidFill>
              </a:rPr>
              <a:t>Request</a:t>
            </a:r>
            <a:r>
              <a:rPr kumimoji="1" lang="en-US" altLang="zh-CN" baseline="-25000">
                <a:solidFill>
                  <a:schemeClr val="tx1"/>
                </a:solidFill>
              </a:rPr>
              <a:t>4</a:t>
            </a:r>
            <a:r>
              <a:rPr kumimoji="1" lang="en-US" altLang="zh-CN">
                <a:solidFill>
                  <a:schemeClr val="tx1"/>
                </a:solidFill>
              </a:rPr>
              <a:t>(3, 3, 0)≤Need</a:t>
            </a:r>
            <a:r>
              <a:rPr kumimoji="1" lang="en-US" altLang="zh-CN" baseline="-25000">
                <a:solidFill>
                  <a:schemeClr val="tx1"/>
                </a:solidFill>
              </a:rPr>
              <a:t>4</a:t>
            </a:r>
            <a:r>
              <a:rPr kumimoji="1" lang="en-US" altLang="zh-CN">
                <a:solidFill>
                  <a:schemeClr val="tx1"/>
                </a:solidFill>
              </a:rPr>
              <a:t>(4, 3, 1);</a:t>
            </a:r>
            <a:endParaRPr lang="zh-CN" altLang="en-US"/>
          </a:p>
        </p:txBody>
      </p:sp>
      <p:sp>
        <p:nvSpPr>
          <p:cNvPr id="42" name="矩形 41"/>
          <p:cNvSpPr>
            <a:spLocks noChangeArrowheads="1"/>
          </p:cNvSpPr>
          <p:nvPr/>
        </p:nvSpPr>
        <p:spPr bwMode="auto">
          <a:xfrm>
            <a:off x="1295400" y="4221164"/>
            <a:ext cx="9889067"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30000"/>
              </a:lnSpc>
            </a:pPr>
            <a:r>
              <a:rPr kumimoji="1" lang="en-US" altLang="zh-CN" b="1">
                <a:solidFill>
                  <a:srgbClr val="C00000"/>
                </a:solidFill>
              </a:rPr>
              <a:t>② </a:t>
            </a:r>
            <a:r>
              <a:rPr kumimoji="1" lang="zh-CN" altLang="en-US" b="1">
                <a:solidFill>
                  <a:srgbClr val="C00000"/>
                </a:solidFill>
              </a:rPr>
              <a:t>查库存</a:t>
            </a:r>
            <a:r>
              <a:rPr kumimoji="1" lang="zh-CN" altLang="en-US">
                <a:solidFill>
                  <a:schemeClr val="tx1"/>
                </a:solidFill>
              </a:rPr>
              <a:t>：</a:t>
            </a:r>
            <a:r>
              <a:rPr kumimoji="1" lang="en-US" altLang="zh-CN">
                <a:solidFill>
                  <a:schemeClr val="tx1"/>
                </a:solidFill>
              </a:rPr>
              <a:t>Request</a:t>
            </a:r>
            <a:r>
              <a:rPr kumimoji="1" lang="en-US" altLang="zh-CN" baseline="-25000">
                <a:solidFill>
                  <a:schemeClr val="tx1"/>
                </a:solidFill>
              </a:rPr>
              <a:t>4</a:t>
            </a:r>
            <a:r>
              <a:rPr kumimoji="1" lang="en-US" altLang="zh-CN">
                <a:solidFill>
                  <a:schemeClr val="tx1"/>
                </a:solidFill>
              </a:rPr>
              <a:t>(3, 3, 0) &gt;</a:t>
            </a:r>
            <a:r>
              <a:rPr kumimoji="1" lang="en-US" altLang="zh-CN"/>
              <a:t> </a:t>
            </a:r>
            <a:r>
              <a:rPr kumimoji="1" lang="en-US" altLang="zh-CN">
                <a:solidFill>
                  <a:schemeClr val="tx1"/>
                </a:solidFill>
              </a:rPr>
              <a:t>Available(2, 3, 0)</a:t>
            </a:r>
          </a:p>
          <a:p>
            <a:pPr algn="l" eaLnBrk="1" hangingPunct="1">
              <a:lnSpc>
                <a:spcPct val="130000"/>
              </a:lnSpc>
            </a:pPr>
            <a:r>
              <a:rPr kumimoji="1" lang="zh-CN" altLang="en-US" b="1">
                <a:solidFill>
                  <a:srgbClr val="C00000"/>
                </a:solidFill>
              </a:rPr>
              <a:t>结论：</a:t>
            </a:r>
            <a:r>
              <a:rPr kumimoji="1" lang="zh-CN" altLang="en-US">
                <a:solidFill>
                  <a:schemeClr val="tx1"/>
                </a:solidFill>
              </a:rPr>
              <a:t>因为</a:t>
            </a:r>
            <a:r>
              <a:rPr kumimoji="1" lang="en-US" altLang="zh-CN">
                <a:solidFill>
                  <a:schemeClr val="tx1"/>
                </a:solidFill>
              </a:rPr>
              <a:t>Available</a:t>
            </a:r>
            <a:r>
              <a:rPr kumimoji="1" lang="zh-CN" altLang="en-US">
                <a:solidFill>
                  <a:schemeClr val="tx1"/>
                </a:solidFill>
              </a:rPr>
              <a:t>不能满足要求，所以让</a:t>
            </a:r>
            <a:r>
              <a:rPr kumimoji="1" lang="en-US" altLang="zh-CN">
                <a:solidFill>
                  <a:schemeClr val="tx1"/>
                </a:solidFill>
              </a:rPr>
              <a:t>P</a:t>
            </a:r>
            <a:r>
              <a:rPr kumimoji="1" lang="en-US" altLang="zh-CN" baseline="-25000">
                <a:solidFill>
                  <a:schemeClr val="tx1"/>
                </a:solidFill>
              </a:rPr>
              <a:t>4</a:t>
            </a:r>
            <a:r>
              <a:rPr kumimoji="1" lang="zh-CN" altLang="en-US">
                <a:solidFill>
                  <a:schemeClr val="tx1"/>
                </a:solidFill>
              </a:rPr>
              <a:t>等待。</a:t>
            </a:r>
          </a:p>
        </p:txBody>
      </p:sp>
    </p:spTree>
    <p:extLst>
      <p:ext uri="{BB962C8B-B14F-4D97-AF65-F5344CB8AC3E}">
        <p14:creationId xmlns:p14="http://schemas.microsoft.com/office/powerpoint/2010/main" val="37438879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42429"/>
                                        </p:tgtEl>
                                        <p:attrNameLst>
                                          <p:attrName>style.visibility</p:attrName>
                                        </p:attrNameLst>
                                      </p:cBhvr>
                                      <p:to>
                                        <p:strVal val="visible"/>
                                      </p:to>
                                    </p:set>
                                    <p:animEffect transition="in" filter="barn(inHorizontal)">
                                      <p:cBhvr>
                                        <p:cTn id="7" dur="500"/>
                                        <p:tgtEl>
                                          <p:spTgt spid="4424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additive="base">
                                        <p:cTn id="12" dur="500" fill="hold"/>
                                        <p:tgtEl>
                                          <p:spTgt spid="41"/>
                                        </p:tgtEl>
                                        <p:attrNameLst>
                                          <p:attrName>ppt_x</p:attrName>
                                        </p:attrNameLst>
                                      </p:cBhvr>
                                      <p:tavLst>
                                        <p:tav tm="0">
                                          <p:val>
                                            <p:strVal val="#ppt_x"/>
                                          </p:val>
                                        </p:tav>
                                        <p:tav tm="100000">
                                          <p:val>
                                            <p:strVal val="#ppt_x"/>
                                          </p:val>
                                        </p:tav>
                                      </p:tavLst>
                                    </p:anim>
                                    <p:anim calcmode="lin" valueType="num">
                                      <p:cBhvr additive="base">
                                        <p:cTn id="13"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2"/>
                                        </p:tgtEl>
                                        <p:attrNameLst>
                                          <p:attrName>style.visibility</p:attrName>
                                        </p:attrNameLst>
                                      </p:cBhvr>
                                      <p:to>
                                        <p:strVal val="visible"/>
                                      </p:to>
                                    </p:set>
                                    <p:anim calcmode="lin" valueType="num">
                                      <p:cBhvr additive="base">
                                        <p:cTn id="18" dur="500" fill="hold"/>
                                        <p:tgtEl>
                                          <p:spTgt spid="42"/>
                                        </p:tgtEl>
                                        <p:attrNameLst>
                                          <p:attrName>ppt_x</p:attrName>
                                        </p:attrNameLst>
                                      </p:cBhvr>
                                      <p:tavLst>
                                        <p:tav tm="0">
                                          <p:val>
                                            <p:strVal val="#ppt_x"/>
                                          </p:val>
                                        </p:tav>
                                        <p:tav tm="100000">
                                          <p:val>
                                            <p:strVal val="#ppt_x"/>
                                          </p:val>
                                        </p:tav>
                                      </p:tavLst>
                                    </p:anim>
                                    <p:anim calcmode="lin" valueType="num">
                                      <p:cBhvr additive="base">
                                        <p:cTn id="19"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429" grpId="0" animBg="1" autoUpdateAnimBg="0"/>
      <p:bldP spid="41" grpId="0"/>
      <p:bldP spid="4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003" name="Group 10"/>
          <p:cNvGrpSpPr>
            <a:grpSpLocks/>
          </p:cNvGrpSpPr>
          <p:nvPr/>
        </p:nvGrpSpPr>
        <p:grpSpPr bwMode="auto">
          <a:xfrm>
            <a:off x="1136651" y="142875"/>
            <a:ext cx="9753600" cy="3048000"/>
            <a:chOff x="576" y="1728"/>
            <a:chExt cx="4608" cy="2256"/>
          </a:xfrm>
        </p:grpSpPr>
        <p:sp>
          <p:nvSpPr>
            <p:cNvPr id="128038" name="Rectangle 11"/>
            <p:cNvSpPr>
              <a:spLocks noChangeArrowheads="1"/>
            </p:cNvSpPr>
            <p:nvPr/>
          </p:nvSpPr>
          <p:spPr bwMode="auto">
            <a:xfrm>
              <a:off x="576" y="1728"/>
              <a:ext cx="4608" cy="2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endParaRPr lang="zh-CN" altLang="en-US"/>
            </a:p>
          </p:txBody>
        </p:sp>
        <p:sp>
          <p:nvSpPr>
            <p:cNvPr id="128039" name="Line 12"/>
            <p:cNvSpPr>
              <a:spLocks noChangeShapeType="1"/>
            </p:cNvSpPr>
            <p:nvPr/>
          </p:nvSpPr>
          <p:spPr bwMode="auto">
            <a:xfrm>
              <a:off x="576" y="2352"/>
              <a:ext cx="46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8040" name="Line 13"/>
            <p:cNvSpPr>
              <a:spLocks noChangeShapeType="1"/>
            </p:cNvSpPr>
            <p:nvPr/>
          </p:nvSpPr>
          <p:spPr bwMode="auto">
            <a:xfrm>
              <a:off x="153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8041" name="Line 14"/>
            <p:cNvSpPr>
              <a:spLocks noChangeShapeType="1"/>
            </p:cNvSpPr>
            <p:nvPr/>
          </p:nvSpPr>
          <p:spPr bwMode="auto">
            <a:xfrm>
              <a:off x="3408"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8042" name="Line 15"/>
            <p:cNvSpPr>
              <a:spLocks noChangeShapeType="1"/>
            </p:cNvSpPr>
            <p:nvPr/>
          </p:nvSpPr>
          <p:spPr bwMode="auto">
            <a:xfrm>
              <a:off x="2496"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8043" name="Line 16"/>
            <p:cNvSpPr>
              <a:spLocks noChangeShapeType="1"/>
            </p:cNvSpPr>
            <p:nvPr/>
          </p:nvSpPr>
          <p:spPr bwMode="auto">
            <a:xfrm>
              <a:off x="4320" y="1728"/>
              <a:ext cx="0" cy="225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8044" name="Line 17"/>
            <p:cNvSpPr>
              <a:spLocks noChangeShapeType="1"/>
            </p:cNvSpPr>
            <p:nvPr/>
          </p:nvSpPr>
          <p:spPr bwMode="auto">
            <a:xfrm>
              <a:off x="576" y="1728"/>
              <a:ext cx="960" cy="62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28004" name="Text Box 18"/>
          <p:cNvSpPr txBox="1">
            <a:spLocks noChangeArrowheads="1"/>
          </p:cNvSpPr>
          <p:nvPr/>
        </p:nvSpPr>
        <p:spPr bwMode="auto">
          <a:xfrm>
            <a:off x="1843618" y="142875"/>
            <a:ext cx="1008907"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资源情况</a:t>
            </a:r>
          </a:p>
        </p:txBody>
      </p:sp>
      <p:sp>
        <p:nvSpPr>
          <p:cNvPr id="128005" name="Text Box 19"/>
          <p:cNvSpPr txBox="1">
            <a:spLocks noChangeArrowheads="1"/>
          </p:cNvSpPr>
          <p:nvPr/>
        </p:nvSpPr>
        <p:spPr bwMode="auto">
          <a:xfrm>
            <a:off x="1117600" y="600075"/>
            <a:ext cx="59533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sz="1600" b="1">
                <a:solidFill>
                  <a:schemeClr val="tx1"/>
                </a:solidFill>
                <a:latin typeface="Times New Roman" pitchFamily="18" charset="0"/>
              </a:rPr>
              <a:t>进程</a:t>
            </a:r>
          </a:p>
        </p:txBody>
      </p:sp>
      <p:sp>
        <p:nvSpPr>
          <p:cNvPr id="128006" name="Text Box 20"/>
          <p:cNvSpPr txBox="1">
            <a:spLocks noChangeArrowheads="1"/>
          </p:cNvSpPr>
          <p:nvPr/>
        </p:nvSpPr>
        <p:spPr bwMode="auto">
          <a:xfrm>
            <a:off x="5484285" y="295276"/>
            <a:ext cx="108424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Allocation</a:t>
            </a:r>
          </a:p>
          <a:p>
            <a:pPr eaLnBrk="1" hangingPunct="1"/>
            <a:r>
              <a:rPr kumimoji="1" lang="en-US" altLang="zh-CN" sz="1600" b="1">
                <a:solidFill>
                  <a:schemeClr val="tx1"/>
                </a:solidFill>
                <a:latin typeface="Times New Roman" pitchFamily="18" charset="0"/>
              </a:rPr>
              <a:t>A   B   C</a:t>
            </a:r>
          </a:p>
        </p:txBody>
      </p:sp>
      <p:sp>
        <p:nvSpPr>
          <p:cNvPr id="128007" name="Text Box 21"/>
          <p:cNvSpPr txBox="1">
            <a:spLocks noChangeArrowheads="1"/>
          </p:cNvSpPr>
          <p:nvPr/>
        </p:nvSpPr>
        <p:spPr bwMode="auto">
          <a:xfrm>
            <a:off x="3568701" y="295276"/>
            <a:ext cx="909393"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Max</a:t>
            </a:r>
          </a:p>
          <a:p>
            <a:pPr eaLnBrk="1" hangingPunct="1"/>
            <a:r>
              <a:rPr kumimoji="1" lang="en-US" altLang="zh-CN" sz="1600" b="1">
                <a:solidFill>
                  <a:schemeClr val="tx1"/>
                </a:solidFill>
                <a:latin typeface="Times New Roman" pitchFamily="18" charset="0"/>
              </a:rPr>
              <a:t>A   B   C</a:t>
            </a:r>
          </a:p>
        </p:txBody>
      </p:sp>
      <p:sp>
        <p:nvSpPr>
          <p:cNvPr id="128008" name="Text Box 22"/>
          <p:cNvSpPr txBox="1">
            <a:spLocks noChangeArrowheads="1"/>
          </p:cNvSpPr>
          <p:nvPr/>
        </p:nvSpPr>
        <p:spPr bwMode="auto">
          <a:xfrm>
            <a:off x="7429501" y="295276"/>
            <a:ext cx="909393"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chemeClr val="tx1"/>
                </a:solidFill>
                <a:latin typeface="Times New Roman" pitchFamily="18" charset="0"/>
              </a:rPr>
              <a:t>Need</a:t>
            </a:r>
          </a:p>
          <a:p>
            <a:pPr eaLnBrk="1" hangingPunct="1"/>
            <a:r>
              <a:rPr kumimoji="1" lang="en-US" altLang="zh-CN" sz="1600" b="1">
                <a:solidFill>
                  <a:schemeClr val="tx1"/>
                </a:solidFill>
                <a:latin typeface="Times New Roman" pitchFamily="18" charset="0"/>
              </a:rPr>
              <a:t>A   B   C</a:t>
            </a:r>
          </a:p>
        </p:txBody>
      </p:sp>
      <p:sp>
        <p:nvSpPr>
          <p:cNvPr id="128009" name="Text Box 23"/>
          <p:cNvSpPr txBox="1">
            <a:spLocks noChangeArrowheads="1"/>
          </p:cNvSpPr>
          <p:nvPr/>
        </p:nvSpPr>
        <p:spPr bwMode="auto">
          <a:xfrm>
            <a:off x="9345085" y="295276"/>
            <a:ext cx="100005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en-US" altLang="zh-CN" sz="1600" b="1">
                <a:solidFill>
                  <a:srgbClr val="EA30EA"/>
                </a:solidFill>
                <a:latin typeface="Times New Roman" pitchFamily="18" charset="0"/>
              </a:rPr>
              <a:t>Available</a:t>
            </a:r>
          </a:p>
          <a:p>
            <a:pPr eaLnBrk="1" hangingPunct="1"/>
            <a:r>
              <a:rPr kumimoji="1" lang="en-US" altLang="zh-CN" sz="1600" b="1">
                <a:solidFill>
                  <a:schemeClr val="tx1"/>
                </a:solidFill>
                <a:latin typeface="Times New Roman" pitchFamily="18" charset="0"/>
              </a:rPr>
              <a:t>A   B   C</a:t>
            </a:r>
          </a:p>
        </p:txBody>
      </p:sp>
      <p:sp>
        <p:nvSpPr>
          <p:cNvPr id="128010" name="Text Box 24"/>
          <p:cNvSpPr txBox="1">
            <a:spLocks noChangeArrowheads="1"/>
          </p:cNvSpPr>
          <p:nvPr/>
        </p:nvSpPr>
        <p:spPr bwMode="auto">
          <a:xfrm>
            <a:off x="1644652" y="1235076"/>
            <a:ext cx="375722" cy="1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0</a:t>
            </a:r>
          </a:p>
          <a:p>
            <a:pPr algn="l" eaLnBrk="1" hangingPunct="1"/>
            <a:endParaRPr kumimoji="1" lang="en-US" altLang="zh-CN" sz="1600" b="1">
              <a:solidFill>
                <a:schemeClr val="tx1"/>
              </a:solidFill>
              <a:latin typeface="Times New Roman" pitchFamily="18" charset="0"/>
            </a:endParaRPr>
          </a:p>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1</a:t>
            </a:r>
          </a:p>
          <a:p>
            <a:pPr algn="l" eaLnBrk="1" hangingPunct="1"/>
            <a:endParaRPr kumimoji="1" lang="en-US" altLang="zh-CN" sz="1600" b="1">
              <a:solidFill>
                <a:schemeClr val="tx1"/>
              </a:solidFill>
              <a:latin typeface="Times New Roman" pitchFamily="18" charset="0"/>
            </a:endParaRPr>
          </a:p>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2</a:t>
            </a:r>
          </a:p>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3</a:t>
            </a:r>
          </a:p>
          <a:p>
            <a:pPr algn="l" eaLnBrk="1" hangingPunct="1"/>
            <a:r>
              <a:rPr kumimoji="1" lang="en-US" altLang="zh-CN" sz="1600" b="1">
                <a:solidFill>
                  <a:schemeClr val="tx1"/>
                </a:solidFill>
                <a:latin typeface="Times New Roman" pitchFamily="18" charset="0"/>
              </a:rPr>
              <a:t>P</a:t>
            </a:r>
            <a:r>
              <a:rPr kumimoji="1" lang="en-US" altLang="zh-CN" sz="1600" b="1" baseline="-25000">
                <a:solidFill>
                  <a:schemeClr val="tx1"/>
                </a:solidFill>
                <a:latin typeface="Times New Roman" pitchFamily="18" charset="0"/>
              </a:rPr>
              <a:t>4</a:t>
            </a:r>
          </a:p>
        </p:txBody>
      </p:sp>
      <p:sp>
        <p:nvSpPr>
          <p:cNvPr id="128011" name="Text Box 25"/>
          <p:cNvSpPr txBox="1">
            <a:spLocks noChangeArrowheads="1"/>
          </p:cNvSpPr>
          <p:nvPr/>
        </p:nvSpPr>
        <p:spPr bwMode="auto">
          <a:xfrm>
            <a:off x="5535085" y="1177925"/>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0   1     0</a:t>
            </a:r>
          </a:p>
        </p:txBody>
      </p:sp>
      <p:sp>
        <p:nvSpPr>
          <p:cNvPr id="128012" name="Text Box 26"/>
          <p:cNvSpPr txBox="1">
            <a:spLocks noChangeArrowheads="1"/>
          </p:cNvSpPr>
          <p:nvPr/>
        </p:nvSpPr>
        <p:spPr bwMode="auto">
          <a:xfrm>
            <a:off x="3270252" y="1711325"/>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3     2     2</a:t>
            </a:r>
          </a:p>
        </p:txBody>
      </p:sp>
      <p:sp>
        <p:nvSpPr>
          <p:cNvPr id="128013" name="Text Box 27"/>
          <p:cNvSpPr txBox="1">
            <a:spLocks noChangeArrowheads="1"/>
          </p:cNvSpPr>
          <p:nvPr/>
        </p:nvSpPr>
        <p:spPr bwMode="auto">
          <a:xfrm>
            <a:off x="3266018" y="2244725"/>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9     0     2</a:t>
            </a:r>
          </a:p>
        </p:txBody>
      </p:sp>
      <p:sp>
        <p:nvSpPr>
          <p:cNvPr id="128014" name="Text Box 28"/>
          <p:cNvSpPr txBox="1">
            <a:spLocks noChangeArrowheads="1"/>
          </p:cNvSpPr>
          <p:nvPr/>
        </p:nvSpPr>
        <p:spPr bwMode="auto">
          <a:xfrm>
            <a:off x="3246968" y="2473325"/>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2     2     2</a:t>
            </a:r>
          </a:p>
        </p:txBody>
      </p:sp>
      <p:sp>
        <p:nvSpPr>
          <p:cNvPr id="128015" name="Text Box 29"/>
          <p:cNvSpPr txBox="1">
            <a:spLocks noChangeArrowheads="1"/>
          </p:cNvSpPr>
          <p:nvPr/>
        </p:nvSpPr>
        <p:spPr bwMode="auto">
          <a:xfrm>
            <a:off x="3266018" y="2778125"/>
            <a:ext cx="100249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4     3     3</a:t>
            </a:r>
          </a:p>
        </p:txBody>
      </p:sp>
      <p:sp>
        <p:nvSpPr>
          <p:cNvPr id="128016" name="Text Box 30"/>
          <p:cNvSpPr txBox="1">
            <a:spLocks noChangeArrowheads="1"/>
          </p:cNvSpPr>
          <p:nvPr/>
        </p:nvSpPr>
        <p:spPr bwMode="auto">
          <a:xfrm>
            <a:off x="5535085" y="1711325"/>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sp>
        <p:nvSpPr>
          <p:cNvPr id="125975" name="Text Box 31"/>
          <p:cNvSpPr txBox="1">
            <a:spLocks noChangeArrowheads="1"/>
          </p:cNvSpPr>
          <p:nvPr/>
        </p:nvSpPr>
        <p:spPr bwMode="auto">
          <a:xfrm>
            <a:off x="5435600" y="1436688"/>
            <a:ext cx="1037761"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hlink"/>
                </a:solidFill>
                <a:latin typeface="Times New Roman" pitchFamily="18" charset="0"/>
              </a:rPr>
              <a:t>(0    3    0)</a:t>
            </a:r>
          </a:p>
        </p:txBody>
      </p:sp>
      <p:sp>
        <p:nvSpPr>
          <p:cNvPr id="128018" name="Text Box 32"/>
          <p:cNvSpPr txBox="1">
            <a:spLocks noChangeArrowheads="1"/>
          </p:cNvSpPr>
          <p:nvPr/>
        </p:nvSpPr>
        <p:spPr bwMode="auto">
          <a:xfrm>
            <a:off x="5467351" y="2276475"/>
            <a:ext cx="95119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3    0     2</a:t>
            </a:r>
          </a:p>
        </p:txBody>
      </p:sp>
      <p:sp>
        <p:nvSpPr>
          <p:cNvPr id="128019" name="Text Box 33"/>
          <p:cNvSpPr txBox="1">
            <a:spLocks noChangeArrowheads="1"/>
          </p:cNvSpPr>
          <p:nvPr/>
        </p:nvSpPr>
        <p:spPr bwMode="auto">
          <a:xfrm>
            <a:off x="5467351" y="2505075"/>
            <a:ext cx="95119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2    1     1</a:t>
            </a:r>
          </a:p>
        </p:txBody>
      </p:sp>
      <p:sp>
        <p:nvSpPr>
          <p:cNvPr id="128020" name="Text Box 34"/>
          <p:cNvSpPr txBox="1">
            <a:spLocks noChangeArrowheads="1"/>
          </p:cNvSpPr>
          <p:nvPr/>
        </p:nvSpPr>
        <p:spPr bwMode="auto">
          <a:xfrm>
            <a:off x="5467351" y="2809875"/>
            <a:ext cx="95119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0    0     2</a:t>
            </a:r>
          </a:p>
        </p:txBody>
      </p:sp>
      <p:sp>
        <p:nvSpPr>
          <p:cNvPr id="128021" name="Text Box 35"/>
          <p:cNvSpPr txBox="1">
            <a:spLocks noChangeArrowheads="1"/>
          </p:cNvSpPr>
          <p:nvPr/>
        </p:nvSpPr>
        <p:spPr bwMode="auto">
          <a:xfrm>
            <a:off x="7465485" y="1209675"/>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7   4     3</a:t>
            </a:r>
          </a:p>
        </p:txBody>
      </p:sp>
      <p:sp>
        <p:nvSpPr>
          <p:cNvPr id="128022" name="Text Box 36"/>
          <p:cNvSpPr txBox="1">
            <a:spLocks noChangeArrowheads="1"/>
          </p:cNvSpPr>
          <p:nvPr/>
        </p:nvSpPr>
        <p:spPr bwMode="auto">
          <a:xfrm>
            <a:off x="7465485" y="1743075"/>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0   2     0</a:t>
            </a:r>
          </a:p>
        </p:txBody>
      </p:sp>
      <p:sp>
        <p:nvSpPr>
          <p:cNvPr id="125981" name="Text Box 37"/>
          <p:cNvSpPr txBox="1">
            <a:spLocks noChangeArrowheads="1"/>
          </p:cNvSpPr>
          <p:nvPr/>
        </p:nvSpPr>
        <p:spPr bwMode="auto">
          <a:xfrm>
            <a:off x="7412567" y="1449388"/>
            <a:ext cx="98646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hlink"/>
                </a:solidFill>
                <a:latin typeface="Times New Roman" pitchFamily="18" charset="0"/>
              </a:rPr>
              <a:t>(7   2    3)</a:t>
            </a:r>
          </a:p>
        </p:txBody>
      </p:sp>
      <p:sp>
        <p:nvSpPr>
          <p:cNvPr id="128024" name="Text Box 38"/>
          <p:cNvSpPr txBox="1">
            <a:spLocks noChangeArrowheads="1"/>
          </p:cNvSpPr>
          <p:nvPr/>
        </p:nvSpPr>
        <p:spPr bwMode="auto">
          <a:xfrm>
            <a:off x="7435851" y="2276475"/>
            <a:ext cx="899903"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6    0    0</a:t>
            </a:r>
          </a:p>
        </p:txBody>
      </p:sp>
      <p:sp>
        <p:nvSpPr>
          <p:cNvPr id="128025" name="Text Box 39"/>
          <p:cNvSpPr txBox="1">
            <a:spLocks noChangeArrowheads="1"/>
          </p:cNvSpPr>
          <p:nvPr/>
        </p:nvSpPr>
        <p:spPr bwMode="auto">
          <a:xfrm>
            <a:off x="7454900" y="2505075"/>
            <a:ext cx="1809751"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0    1     1</a:t>
            </a:r>
          </a:p>
        </p:txBody>
      </p:sp>
      <p:sp>
        <p:nvSpPr>
          <p:cNvPr id="128026" name="Text Box 40"/>
          <p:cNvSpPr txBox="1">
            <a:spLocks noChangeArrowheads="1"/>
          </p:cNvSpPr>
          <p:nvPr/>
        </p:nvSpPr>
        <p:spPr bwMode="auto">
          <a:xfrm>
            <a:off x="7435851" y="2854325"/>
            <a:ext cx="180974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4    3     1</a:t>
            </a:r>
          </a:p>
        </p:txBody>
      </p:sp>
      <p:sp>
        <p:nvSpPr>
          <p:cNvPr id="128027" name="Text Box 41"/>
          <p:cNvSpPr txBox="1">
            <a:spLocks noChangeArrowheads="1"/>
          </p:cNvSpPr>
          <p:nvPr/>
        </p:nvSpPr>
        <p:spPr bwMode="auto">
          <a:xfrm>
            <a:off x="9362018" y="1209675"/>
            <a:ext cx="1053791"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marL="457200" indent="-457200"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2     3      0</a:t>
            </a:r>
          </a:p>
        </p:txBody>
      </p:sp>
      <p:sp>
        <p:nvSpPr>
          <p:cNvPr id="125986" name="Text Box 42"/>
          <p:cNvSpPr txBox="1">
            <a:spLocks noChangeArrowheads="1"/>
          </p:cNvSpPr>
          <p:nvPr/>
        </p:nvSpPr>
        <p:spPr bwMode="auto">
          <a:xfrm>
            <a:off x="9323918" y="1460500"/>
            <a:ext cx="1089057"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hlink"/>
                </a:solidFill>
                <a:latin typeface="Times New Roman" pitchFamily="18" charset="0"/>
              </a:rPr>
              <a:t>( 2   1    0 )</a:t>
            </a:r>
          </a:p>
        </p:txBody>
      </p:sp>
      <p:sp>
        <p:nvSpPr>
          <p:cNvPr id="128029" name="Text Box 43"/>
          <p:cNvSpPr txBox="1">
            <a:spLocks noChangeArrowheads="1"/>
          </p:cNvSpPr>
          <p:nvPr/>
        </p:nvSpPr>
        <p:spPr bwMode="auto">
          <a:xfrm>
            <a:off x="3270251" y="1209675"/>
            <a:ext cx="95119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1600" b="1">
                <a:solidFill>
                  <a:schemeClr val="tx1"/>
                </a:solidFill>
                <a:latin typeface="Times New Roman" pitchFamily="18" charset="0"/>
              </a:rPr>
              <a:t>7    5     3</a:t>
            </a:r>
          </a:p>
        </p:txBody>
      </p:sp>
      <p:sp>
        <p:nvSpPr>
          <p:cNvPr id="441431" name="Rectangle 87"/>
          <p:cNvSpPr>
            <a:spLocks noChangeArrowheads="1"/>
          </p:cNvSpPr>
          <p:nvPr/>
        </p:nvSpPr>
        <p:spPr bwMode="auto">
          <a:xfrm>
            <a:off x="9652000" y="2124075"/>
            <a:ext cx="2438400" cy="990600"/>
          </a:xfrm>
          <a:prstGeom prst="rect">
            <a:avLst/>
          </a:prstGeom>
          <a:solidFill>
            <a:srgbClr val="CCFFFF"/>
          </a:solidFill>
          <a:ln w="9525">
            <a:solidFill>
              <a:schemeClr val="tx1"/>
            </a:solidFill>
            <a:miter lim="800000"/>
            <a:headEnd/>
            <a:tailEnd/>
          </a:ln>
        </p:spPr>
        <p:txBody>
          <a:bodyPr wrap="none" lIns="90000" tIns="46800" rIns="90000" bIns="46800" anchor="ct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eaLnBrk="1" hangingPunct="1"/>
            <a:r>
              <a:rPr kumimoji="1" lang="zh-CN" altLang="en-US" sz="1600">
                <a:solidFill>
                  <a:schemeClr val="tx1"/>
                </a:solidFill>
                <a:latin typeface="Times New Roman" pitchFamily="18" charset="0"/>
              </a:rPr>
              <a:t>若</a:t>
            </a:r>
            <a:r>
              <a:rPr kumimoji="1" lang="en-US" altLang="zh-CN" sz="1600">
                <a:solidFill>
                  <a:schemeClr val="tx1"/>
                </a:solidFill>
                <a:latin typeface="Times New Roman" pitchFamily="18" charset="0"/>
              </a:rPr>
              <a:t>P</a:t>
            </a:r>
            <a:r>
              <a:rPr kumimoji="1" lang="en-US" altLang="zh-CN" sz="1600" b="1" baseline="-25000">
                <a:solidFill>
                  <a:schemeClr val="tx1"/>
                </a:solidFill>
                <a:latin typeface="Times New Roman" pitchFamily="18" charset="0"/>
              </a:rPr>
              <a:t>0</a:t>
            </a:r>
            <a:r>
              <a:rPr kumimoji="1" lang="zh-CN" altLang="en-US" sz="1600">
                <a:solidFill>
                  <a:schemeClr val="tx1"/>
                </a:solidFill>
                <a:latin typeface="Times New Roman" pitchFamily="18" charset="0"/>
              </a:rPr>
              <a:t>发出请求向量</a:t>
            </a:r>
          </a:p>
          <a:p>
            <a:pPr eaLnBrk="1" hangingPunct="1"/>
            <a:r>
              <a:rPr kumimoji="1" lang="en-US" altLang="zh-CN" sz="1600">
                <a:solidFill>
                  <a:schemeClr val="tx1"/>
                </a:solidFill>
                <a:latin typeface="Times New Roman" pitchFamily="18" charset="0"/>
              </a:rPr>
              <a:t>Request</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0</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2</a:t>
            </a:r>
            <a:r>
              <a:rPr kumimoji="1" lang="zh-CN" altLang="en-US" sz="1600">
                <a:solidFill>
                  <a:schemeClr val="tx1"/>
                </a:solidFill>
                <a:latin typeface="Times New Roman" pitchFamily="18" charset="0"/>
              </a:rPr>
              <a:t>，</a:t>
            </a:r>
            <a:r>
              <a:rPr kumimoji="1" lang="en-US" altLang="zh-CN" sz="1600">
                <a:solidFill>
                  <a:schemeClr val="tx1"/>
                </a:solidFill>
                <a:latin typeface="Times New Roman" pitchFamily="18" charset="0"/>
              </a:rPr>
              <a:t>0</a:t>
            </a:r>
            <a:r>
              <a:rPr kumimoji="1" lang="zh-CN" altLang="en-US" sz="1600">
                <a:solidFill>
                  <a:schemeClr val="tx1"/>
                </a:solidFill>
                <a:latin typeface="Times New Roman" pitchFamily="18" charset="0"/>
              </a:rPr>
              <a:t>）</a:t>
            </a:r>
          </a:p>
        </p:txBody>
      </p:sp>
      <p:sp>
        <p:nvSpPr>
          <p:cNvPr id="128031" name="Text Box 88"/>
          <p:cNvSpPr txBox="1">
            <a:spLocks noChangeArrowheads="1"/>
          </p:cNvSpPr>
          <p:nvPr/>
        </p:nvSpPr>
        <p:spPr bwMode="auto">
          <a:xfrm>
            <a:off x="95251" y="976779"/>
            <a:ext cx="822959"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sz="2000" dirty="0">
                <a:solidFill>
                  <a:schemeClr val="tx1"/>
                </a:solidFill>
                <a:latin typeface="Times New Roman" pitchFamily="18" charset="0"/>
              </a:rPr>
              <a:t>10,5 7</a:t>
            </a:r>
          </a:p>
        </p:txBody>
      </p:sp>
      <p:pic>
        <p:nvPicPr>
          <p:cNvPr id="122913" name="Picture 92" descr="未标题-1 拷贝"/>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085" y="3213101"/>
            <a:ext cx="9072033" cy="29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1437" name="Rectangle 93"/>
          <p:cNvSpPr>
            <a:spLocks noChangeArrowheads="1"/>
          </p:cNvSpPr>
          <p:nvPr/>
        </p:nvSpPr>
        <p:spPr bwMode="auto">
          <a:xfrm>
            <a:off x="95251" y="6061075"/>
            <a:ext cx="11952816"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zh-CN" altLang="en-US" b="1">
                <a:solidFill>
                  <a:srgbClr val="C00000"/>
                </a:solidFill>
              </a:rPr>
              <a:t>⑤结论：</a:t>
            </a:r>
            <a:r>
              <a:rPr kumimoji="1" lang="zh-CN" altLang="en-US">
                <a:solidFill>
                  <a:srgbClr val="000000"/>
                </a:solidFill>
                <a:latin typeface="宋体" pitchFamily="2" charset="-122"/>
              </a:rPr>
              <a:t>可用资源</a:t>
            </a:r>
            <a:r>
              <a:rPr kumimoji="1" lang="en-US" altLang="zh-CN">
                <a:solidFill>
                  <a:srgbClr val="000000"/>
                </a:solidFill>
                <a:latin typeface="宋体" pitchFamily="2" charset="-122"/>
              </a:rPr>
              <a:t>Available(2,1,0)</a:t>
            </a:r>
            <a:r>
              <a:rPr kumimoji="1" lang="zh-CN" altLang="en-US">
                <a:solidFill>
                  <a:srgbClr val="000000"/>
                </a:solidFill>
                <a:latin typeface="宋体" pitchFamily="2" charset="-122"/>
              </a:rPr>
              <a:t>已不能满足任何进程的需要，系统进入不安全状态，拒绝</a:t>
            </a:r>
            <a:r>
              <a:rPr kumimoji="1" lang="en-US" altLang="zh-CN">
                <a:solidFill>
                  <a:srgbClr val="000000"/>
                </a:solidFill>
                <a:latin typeface="宋体" pitchFamily="2" charset="-122"/>
              </a:rPr>
              <a:t>P</a:t>
            </a:r>
            <a:r>
              <a:rPr kumimoji="1" lang="en-US" altLang="zh-CN" baseline="-25000">
                <a:solidFill>
                  <a:srgbClr val="000000"/>
                </a:solidFill>
                <a:latin typeface="宋体" pitchFamily="2" charset="-122"/>
              </a:rPr>
              <a:t>0</a:t>
            </a:r>
            <a:r>
              <a:rPr kumimoji="1" lang="zh-CN" altLang="en-US">
                <a:solidFill>
                  <a:srgbClr val="000000"/>
                </a:solidFill>
                <a:latin typeface="宋体" pitchFamily="2" charset="-122"/>
              </a:rPr>
              <a:t>的资源申请。</a:t>
            </a:r>
          </a:p>
        </p:txBody>
      </p:sp>
      <p:sp>
        <p:nvSpPr>
          <p:cNvPr id="42" name="矩形 41"/>
          <p:cNvSpPr>
            <a:spLocks noChangeArrowheads="1"/>
          </p:cNvSpPr>
          <p:nvPr/>
        </p:nvSpPr>
        <p:spPr bwMode="auto">
          <a:xfrm>
            <a:off x="912285" y="3557588"/>
            <a:ext cx="9984316"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r>
              <a:rPr kumimoji="1" lang="en-US" altLang="zh-CN" b="1">
                <a:solidFill>
                  <a:srgbClr val="C00000"/>
                </a:solidFill>
              </a:rPr>
              <a:t>① </a:t>
            </a:r>
            <a:r>
              <a:rPr kumimoji="1" lang="zh-CN" altLang="en-US" b="1">
                <a:solidFill>
                  <a:srgbClr val="C00000"/>
                </a:solidFill>
              </a:rPr>
              <a:t>合理性检查：</a:t>
            </a:r>
            <a:r>
              <a:rPr kumimoji="1" lang="en-US" altLang="zh-CN">
                <a:solidFill>
                  <a:schemeClr val="tx1"/>
                </a:solidFill>
              </a:rPr>
              <a:t>Request</a:t>
            </a:r>
            <a:r>
              <a:rPr kumimoji="1" lang="en-US" altLang="zh-CN" baseline="-25000">
                <a:solidFill>
                  <a:schemeClr val="tx1"/>
                </a:solidFill>
              </a:rPr>
              <a:t>0</a:t>
            </a:r>
            <a:r>
              <a:rPr kumimoji="1" lang="en-US" altLang="zh-CN">
                <a:solidFill>
                  <a:schemeClr val="tx1"/>
                </a:solidFill>
              </a:rPr>
              <a:t>(0, 2, 0)≤Need</a:t>
            </a:r>
            <a:r>
              <a:rPr kumimoji="1" lang="en-US" altLang="zh-CN" baseline="-25000">
                <a:solidFill>
                  <a:schemeClr val="tx1"/>
                </a:solidFill>
              </a:rPr>
              <a:t>0</a:t>
            </a:r>
            <a:r>
              <a:rPr kumimoji="1" lang="en-US" altLang="zh-CN">
                <a:solidFill>
                  <a:schemeClr val="tx1"/>
                </a:solidFill>
              </a:rPr>
              <a:t>(7, 4, 3);</a:t>
            </a:r>
            <a:endParaRPr lang="zh-CN" altLang="en-US"/>
          </a:p>
        </p:txBody>
      </p:sp>
      <p:sp>
        <p:nvSpPr>
          <p:cNvPr id="43" name="矩形 42"/>
          <p:cNvSpPr>
            <a:spLocks noChangeArrowheads="1"/>
          </p:cNvSpPr>
          <p:nvPr/>
        </p:nvSpPr>
        <p:spPr bwMode="auto">
          <a:xfrm>
            <a:off x="912284" y="3500438"/>
            <a:ext cx="9889067"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30000"/>
              </a:lnSpc>
            </a:pPr>
            <a:r>
              <a:rPr kumimoji="1" lang="en-US" altLang="zh-CN" b="1">
                <a:solidFill>
                  <a:srgbClr val="C00000"/>
                </a:solidFill>
              </a:rPr>
              <a:t>② </a:t>
            </a:r>
            <a:r>
              <a:rPr kumimoji="1" lang="zh-CN" altLang="en-US" b="1">
                <a:solidFill>
                  <a:srgbClr val="C00000"/>
                </a:solidFill>
              </a:rPr>
              <a:t>查库存</a:t>
            </a:r>
            <a:r>
              <a:rPr kumimoji="1" lang="zh-CN" altLang="en-US">
                <a:solidFill>
                  <a:schemeClr val="tx1"/>
                </a:solidFill>
              </a:rPr>
              <a:t>：</a:t>
            </a:r>
            <a:r>
              <a:rPr kumimoji="1" lang="en-US" altLang="zh-CN">
                <a:solidFill>
                  <a:schemeClr val="tx1"/>
                </a:solidFill>
              </a:rPr>
              <a:t>Request</a:t>
            </a:r>
            <a:r>
              <a:rPr kumimoji="1" lang="en-US" altLang="zh-CN" baseline="-25000">
                <a:solidFill>
                  <a:schemeClr val="tx1"/>
                </a:solidFill>
              </a:rPr>
              <a:t>0</a:t>
            </a:r>
            <a:r>
              <a:rPr kumimoji="1" lang="en-US" altLang="zh-CN">
                <a:solidFill>
                  <a:schemeClr val="tx1"/>
                </a:solidFill>
              </a:rPr>
              <a:t>(0, 2, 0) &lt;=</a:t>
            </a:r>
            <a:r>
              <a:rPr kumimoji="1" lang="en-US" altLang="zh-CN"/>
              <a:t> </a:t>
            </a:r>
            <a:r>
              <a:rPr kumimoji="1" lang="en-US" altLang="zh-CN">
                <a:solidFill>
                  <a:schemeClr val="tx1"/>
                </a:solidFill>
              </a:rPr>
              <a:t>Available(2, 3, 0)</a:t>
            </a:r>
          </a:p>
        </p:txBody>
      </p:sp>
      <p:sp>
        <p:nvSpPr>
          <p:cNvPr id="44" name="矩形 43"/>
          <p:cNvSpPr>
            <a:spLocks noChangeArrowheads="1"/>
          </p:cNvSpPr>
          <p:nvPr/>
        </p:nvSpPr>
        <p:spPr bwMode="auto">
          <a:xfrm>
            <a:off x="10223500" y="-23813"/>
            <a:ext cx="2017184"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30000"/>
              </a:lnSpc>
            </a:pPr>
            <a:r>
              <a:rPr kumimoji="1" lang="en-US" altLang="zh-CN" b="1">
                <a:solidFill>
                  <a:srgbClr val="C00000"/>
                </a:solidFill>
              </a:rPr>
              <a:t>③ </a:t>
            </a:r>
            <a:r>
              <a:rPr kumimoji="1" lang="zh-CN" altLang="en-US" b="1">
                <a:solidFill>
                  <a:srgbClr val="C00000"/>
                </a:solidFill>
              </a:rPr>
              <a:t>试分配</a:t>
            </a:r>
            <a:endParaRPr kumimoji="1" lang="en-US" altLang="zh-CN">
              <a:solidFill>
                <a:schemeClr val="tx1"/>
              </a:solidFill>
            </a:endParaRPr>
          </a:p>
        </p:txBody>
      </p:sp>
      <p:sp>
        <p:nvSpPr>
          <p:cNvPr id="45" name="矩形 44"/>
          <p:cNvSpPr>
            <a:spLocks noChangeArrowheads="1"/>
          </p:cNvSpPr>
          <p:nvPr/>
        </p:nvSpPr>
        <p:spPr bwMode="auto">
          <a:xfrm>
            <a:off x="4559300" y="3255964"/>
            <a:ext cx="4607984"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rgbClr val="FFFFFF"/>
                </a:solidFill>
                <a:latin typeface="Arial" pitchFamily="34" charset="0"/>
                <a:ea typeface="宋体" pitchFamily="2" charset="-122"/>
              </a:defRPr>
            </a:lvl1pPr>
            <a:lvl2pPr marL="742950" indent="-285750" eaLnBrk="0" hangingPunct="0">
              <a:defRPr sz="2400">
                <a:solidFill>
                  <a:srgbClr val="FFFFFF"/>
                </a:solidFill>
                <a:latin typeface="Arial" pitchFamily="34" charset="0"/>
                <a:ea typeface="宋体" pitchFamily="2" charset="-122"/>
              </a:defRPr>
            </a:lvl2pPr>
            <a:lvl3pPr marL="1143000" indent="-228600" eaLnBrk="0" hangingPunct="0">
              <a:defRPr sz="2400">
                <a:solidFill>
                  <a:srgbClr val="FFFFFF"/>
                </a:solidFill>
                <a:latin typeface="Arial" pitchFamily="34" charset="0"/>
                <a:ea typeface="宋体" pitchFamily="2" charset="-122"/>
              </a:defRPr>
            </a:lvl3pPr>
            <a:lvl4pPr marL="1600200" indent="-228600" eaLnBrk="0" hangingPunct="0">
              <a:defRPr sz="2400">
                <a:solidFill>
                  <a:srgbClr val="FFFFFF"/>
                </a:solidFill>
                <a:latin typeface="Arial" pitchFamily="34" charset="0"/>
                <a:ea typeface="宋体" pitchFamily="2" charset="-122"/>
              </a:defRPr>
            </a:lvl4pPr>
            <a:lvl5pPr marL="2057400" indent="-228600" eaLnBrk="0" hangingPunct="0">
              <a:defRPr sz="2400">
                <a:solidFill>
                  <a:srgbClr val="FFFFFF"/>
                </a:solidFill>
                <a:latin typeface="Arial" pitchFamily="34" charset="0"/>
                <a:ea typeface="宋体" pitchFamily="2" charset="-122"/>
              </a:defRPr>
            </a:lvl5pPr>
            <a:lvl6pPr marL="2514600" indent="-228600" algn="ctr" eaLnBrk="0" fontAlgn="base" hangingPunct="0">
              <a:spcBef>
                <a:spcPct val="0"/>
              </a:spcBef>
              <a:spcAft>
                <a:spcPct val="0"/>
              </a:spcAft>
              <a:defRPr sz="2400">
                <a:solidFill>
                  <a:srgbClr val="FFFFFF"/>
                </a:solidFill>
                <a:latin typeface="Arial" pitchFamily="34" charset="0"/>
                <a:ea typeface="宋体" pitchFamily="2" charset="-122"/>
              </a:defRPr>
            </a:lvl6pPr>
            <a:lvl7pPr marL="2971800" indent="-228600" algn="ctr" eaLnBrk="0" fontAlgn="base" hangingPunct="0">
              <a:spcBef>
                <a:spcPct val="0"/>
              </a:spcBef>
              <a:spcAft>
                <a:spcPct val="0"/>
              </a:spcAft>
              <a:defRPr sz="2400">
                <a:solidFill>
                  <a:srgbClr val="FFFFFF"/>
                </a:solidFill>
                <a:latin typeface="Arial" pitchFamily="34" charset="0"/>
                <a:ea typeface="宋体" pitchFamily="2" charset="-122"/>
              </a:defRPr>
            </a:lvl7pPr>
            <a:lvl8pPr marL="3429000" indent="-228600" algn="ctr" eaLnBrk="0" fontAlgn="base" hangingPunct="0">
              <a:spcBef>
                <a:spcPct val="0"/>
              </a:spcBef>
              <a:spcAft>
                <a:spcPct val="0"/>
              </a:spcAft>
              <a:defRPr sz="2400">
                <a:solidFill>
                  <a:srgbClr val="FFFFFF"/>
                </a:solidFill>
                <a:latin typeface="Arial" pitchFamily="34" charset="0"/>
                <a:ea typeface="宋体" pitchFamily="2" charset="-122"/>
              </a:defRPr>
            </a:lvl8pPr>
            <a:lvl9pPr marL="3886200" indent="-228600" algn="ctr" eaLnBrk="0" fontAlgn="base" hangingPunct="0">
              <a:spcBef>
                <a:spcPct val="0"/>
              </a:spcBef>
              <a:spcAft>
                <a:spcPct val="0"/>
              </a:spcAft>
              <a:defRPr sz="2400">
                <a:solidFill>
                  <a:srgbClr val="FFFFFF"/>
                </a:solidFill>
                <a:latin typeface="Arial" pitchFamily="34" charset="0"/>
                <a:ea typeface="宋体" pitchFamily="2" charset="-122"/>
              </a:defRPr>
            </a:lvl9pPr>
          </a:lstStyle>
          <a:p>
            <a:pPr algn="l" eaLnBrk="1" hangingPunct="1">
              <a:lnSpc>
                <a:spcPct val="130000"/>
              </a:lnSpc>
            </a:pPr>
            <a:r>
              <a:rPr kumimoji="1" lang="en-US" altLang="zh-CN" b="1">
                <a:solidFill>
                  <a:srgbClr val="C00000"/>
                </a:solidFill>
              </a:rPr>
              <a:t>④</a:t>
            </a:r>
            <a:r>
              <a:rPr kumimoji="1" lang="zh-CN" altLang="en-US" b="1">
                <a:solidFill>
                  <a:srgbClr val="C00000"/>
                </a:solidFill>
              </a:rPr>
              <a:t>安全性检查</a:t>
            </a:r>
            <a:endParaRPr kumimoji="1" lang="en-US" altLang="zh-CN">
              <a:solidFill>
                <a:schemeClr val="tx1"/>
              </a:solidFill>
            </a:endParaRPr>
          </a:p>
        </p:txBody>
      </p:sp>
    </p:spTree>
    <p:extLst>
      <p:ext uri="{BB962C8B-B14F-4D97-AF65-F5344CB8AC3E}">
        <p14:creationId xmlns:p14="http://schemas.microsoft.com/office/powerpoint/2010/main" val="3006028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41431"/>
                                        </p:tgtEl>
                                        <p:attrNameLst>
                                          <p:attrName>style.visibility</p:attrName>
                                        </p:attrNameLst>
                                      </p:cBhvr>
                                      <p:to>
                                        <p:strVal val="visible"/>
                                      </p:to>
                                    </p:set>
                                    <p:animEffect transition="in" filter="barn(inHorizontal)">
                                      <p:cBhvr>
                                        <p:cTn id="7" dur="500"/>
                                        <p:tgtEl>
                                          <p:spTgt spid="4414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additive="base">
                                        <p:cTn id="12" dur="500" fill="hold"/>
                                        <p:tgtEl>
                                          <p:spTgt spid="42"/>
                                        </p:tgtEl>
                                        <p:attrNameLst>
                                          <p:attrName>ppt_x</p:attrName>
                                        </p:attrNameLst>
                                      </p:cBhvr>
                                      <p:tavLst>
                                        <p:tav tm="0">
                                          <p:val>
                                            <p:strVal val="#ppt_x"/>
                                          </p:val>
                                        </p:tav>
                                        <p:tav tm="100000">
                                          <p:val>
                                            <p:strVal val="#ppt_x"/>
                                          </p:val>
                                        </p:tav>
                                      </p:tavLst>
                                    </p:anim>
                                    <p:anim calcmode="lin" valueType="num">
                                      <p:cBhvr additive="base">
                                        <p:cTn id="13"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7" presetClass="exit" presetSubtype="0" fill="hold" grpId="1" nodeType="clickEffect">
                                  <p:stCondLst>
                                    <p:cond delay="0"/>
                                  </p:stCondLst>
                                  <p:childTnLst>
                                    <p:animEffect transition="out" filter="fade">
                                      <p:cBhvr>
                                        <p:cTn id="17" dur="1000"/>
                                        <p:tgtEl>
                                          <p:spTgt spid="42"/>
                                        </p:tgtEl>
                                      </p:cBhvr>
                                    </p:animEffect>
                                    <p:anim calcmode="lin" valueType="num">
                                      <p:cBhvr>
                                        <p:cTn id="18" dur="1000"/>
                                        <p:tgtEl>
                                          <p:spTgt spid="42"/>
                                        </p:tgtEl>
                                        <p:attrNameLst>
                                          <p:attrName>ppt_x</p:attrName>
                                        </p:attrNameLst>
                                      </p:cBhvr>
                                      <p:tavLst>
                                        <p:tav tm="0">
                                          <p:val>
                                            <p:strVal val="ppt_x"/>
                                          </p:val>
                                        </p:tav>
                                        <p:tav tm="100000">
                                          <p:val>
                                            <p:strVal val="ppt_x"/>
                                          </p:val>
                                        </p:tav>
                                      </p:tavLst>
                                    </p:anim>
                                    <p:anim calcmode="lin" valueType="num">
                                      <p:cBhvr>
                                        <p:cTn id="19" dur="100" decel="100000"/>
                                        <p:tgtEl>
                                          <p:spTgt spid="42"/>
                                        </p:tgtEl>
                                        <p:attrNameLst>
                                          <p:attrName>ppt_y</p:attrName>
                                        </p:attrNameLst>
                                      </p:cBhvr>
                                      <p:tavLst>
                                        <p:tav tm="0">
                                          <p:val>
                                            <p:strVal val="ppt_y"/>
                                          </p:val>
                                        </p:tav>
                                        <p:tav tm="100000">
                                          <p:val>
                                            <p:strVal val="ppt_y-.03"/>
                                          </p:val>
                                        </p:tav>
                                      </p:tavLst>
                                    </p:anim>
                                    <p:anim calcmode="lin" valueType="num">
                                      <p:cBhvr>
                                        <p:cTn id="20" dur="900" accel="100000">
                                          <p:stCondLst>
                                            <p:cond delay="100"/>
                                          </p:stCondLst>
                                        </p:cTn>
                                        <p:tgtEl>
                                          <p:spTgt spid="42"/>
                                        </p:tgtEl>
                                        <p:attrNameLst>
                                          <p:attrName>ppt_y</p:attrName>
                                        </p:attrNameLst>
                                      </p:cBhvr>
                                      <p:tavLst>
                                        <p:tav tm="0">
                                          <p:val>
                                            <p:strVal val="ppt_y"/>
                                          </p:val>
                                        </p:tav>
                                        <p:tav tm="100000">
                                          <p:val>
                                            <p:strVal val="ppt_y+1"/>
                                          </p:val>
                                        </p:tav>
                                      </p:tavLst>
                                    </p:anim>
                                    <p:set>
                                      <p:cBhvr>
                                        <p:cTn id="21" dur="1" fill="hold">
                                          <p:stCondLst>
                                            <p:cond delay="999"/>
                                          </p:stCondLst>
                                        </p:cTn>
                                        <p:tgtEl>
                                          <p:spTgt spid="42"/>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500" fill="hold"/>
                                        <p:tgtEl>
                                          <p:spTgt spid="43"/>
                                        </p:tgtEl>
                                        <p:attrNameLst>
                                          <p:attrName>ppt_x</p:attrName>
                                        </p:attrNameLst>
                                      </p:cBhvr>
                                      <p:tavLst>
                                        <p:tav tm="0">
                                          <p:val>
                                            <p:strVal val="#ppt_x"/>
                                          </p:val>
                                        </p:tav>
                                        <p:tav tm="100000">
                                          <p:val>
                                            <p:strVal val="#ppt_x"/>
                                          </p:val>
                                        </p:tav>
                                      </p:tavLst>
                                    </p:anim>
                                    <p:anim calcmode="lin" valueType="num">
                                      <p:cBhvr additive="base">
                                        <p:cTn id="27"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xit" presetSubtype="0" fill="hold" grpId="1" nodeType="clickEffect">
                                  <p:stCondLst>
                                    <p:cond delay="0"/>
                                  </p:stCondLst>
                                  <p:childTnLst>
                                    <p:animEffect transition="out" filter="fade">
                                      <p:cBhvr>
                                        <p:cTn id="31" dur="2000"/>
                                        <p:tgtEl>
                                          <p:spTgt spid="43"/>
                                        </p:tgtEl>
                                      </p:cBhvr>
                                    </p:animEffect>
                                    <p:set>
                                      <p:cBhvr>
                                        <p:cTn id="32" dur="1" fill="hold">
                                          <p:stCondLst>
                                            <p:cond delay="1999"/>
                                          </p:stCondLst>
                                        </p:cTn>
                                        <p:tgtEl>
                                          <p:spTgt spid="43"/>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additive="base">
                                        <p:cTn id="37" dur="500" fill="hold"/>
                                        <p:tgtEl>
                                          <p:spTgt spid="44"/>
                                        </p:tgtEl>
                                        <p:attrNameLst>
                                          <p:attrName>ppt_x</p:attrName>
                                        </p:attrNameLst>
                                      </p:cBhvr>
                                      <p:tavLst>
                                        <p:tav tm="0">
                                          <p:val>
                                            <p:strVal val="#ppt_x"/>
                                          </p:val>
                                        </p:tav>
                                        <p:tav tm="100000">
                                          <p:val>
                                            <p:strVal val="#ppt_x"/>
                                          </p:val>
                                        </p:tav>
                                      </p:tavLst>
                                    </p:anim>
                                    <p:anim calcmode="lin" valueType="num">
                                      <p:cBhvr additive="base">
                                        <p:cTn id="3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xit" presetSubtype="0" fill="hold" grpId="1" nodeType="clickEffect">
                                  <p:stCondLst>
                                    <p:cond delay="0"/>
                                  </p:stCondLst>
                                  <p:childTnLst>
                                    <p:animEffect transition="out" filter="fade">
                                      <p:cBhvr>
                                        <p:cTn id="42" dur="2000"/>
                                        <p:tgtEl>
                                          <p:spTgt spid="44"/>
                                        </p:tgtEl>
                                      </p:cBhvr>
                                    </p:animEffect>
                                    <p:set>
                                      <p:cBhvr>
                                        <p:cTn id="43" dur="1" fill="hold">
                                          <p:stCondLst>
                                            <p:cond delay="1999"/>
                                          </p:stCondLst>
                                        </p:cTn>
                                        <p:tgtEl>
                                          <p:spTgt spid="44"/>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25986"/>
                                        </p:tgtEl>
                                        <p:attrNameLst>
                                          <p:attrName>style.visibility</p:attrName>
                                        </p:attrNameLst>
                                      </p:cBhvr>
                                      <p:to>
                                        <p:strVal val="visible"/>
                                      </p:to>
                                    </p:set>
                                    <p:anim calcmode="lin" valueType="num">
                                      <p:cBhvr additive="base">
                                        <p:cTn id="48" dur="500" fill="hold"/>
                                        <p:tgtEl>
                                          <p:spTgt spid="125986"/>
                                        </p:tgtEl>
                                        <p:attrNameLst>
                                          <p:attrName>ppt_x</p:attrName>
                                        </p:attrNameLst>
                                      </p:cBhvr>
                                      <p:tavLst>
                                        <p:tav tm="0">
                                          <p:val>
                                            <p:strVal val="#ppt_x"/>
                                          </p:val>
                                        </p:tav>
                                        <p:tav tm="100000">
                                          <p:val>
                                            <p:strVal val="#ppt_x"/>
                                          </p:val>
                                        </p:tav>
                                      </p:tavLst>
                                    </p:anim>
                                    <p:anim calcmode="lin" valueType="num">
                                      <p:cBhvr additive="base">
                                        <p:cTn id="49" dur="500" fill="hold"/>
                                        <p:tgtEl>
                                          <p:spTgt spid="125986"/>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25975"/>
                                        </p:tgtEl>
                                        <p:attrNameLst>
                                          <p:attrName>style.visibility</p:attrName>
                                        </p:attrNameLst>
                                      </p:cBhvr>
                                      <p:to>
                                        <p:strVal val="visible"/>
                                      </p:to>
                                    </p:set>
                                    <p:anim calcmode="lin" valueType="num">
                                      <p:cBhvr additive="base">
                                        <p:cTn id="54" dur="500" fill="hold"/>
                                        <p:tgtEl>
                                          <p:spTgt spid="125975"/>
                                        </p:tgtEl>
                                        <p:attrNameLst>
                                          <p:attrName>ppt_x</p:attrName>
                                        </p:attrNameLst>
                                      </p:cBhvr>
                                      <p:tavLst>
                                        <p:tav tm="0">
                                          <p:val>
                                            <p:strVal val="#ppt_x"/>
                                          </p:val>
                                        </p:tav>
                                        <p:tav tm="100000">
                                          <p:val>
                                            <p:strVal val="#ppt_x"/>
                                          </p:val>
                                        </p:tav>
                                      </p:tavLst>
                                    </p:anim>
                                    <p:anim calcmode="lin" valueType="num">
                                      <p:cBhvr additive="base">
                                        <p:cTn id="55" dur="500" fill="hold"/>
                                        <p:tgtEl>
                                          <p:spTgt spid="125975"/>
                                        </p:tgtEl>
                                        <p:attrNameLst>
                                          <p:attrName>ppt_y</p:attrName>
                                        </p:attrNameLst>
                                      </p:cBhvr>
                                      <p:tavLst>
                                        <p:tav tm="0">
                                          <p:val>
                                            <p:strVal val="1+#ppt_h/2"/>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25981"/>
                                        </p:tgtEl>
                                        <p:attrNameLst>
                                          <p:attrName>style.visibility</p:attrName>
                                        </p:attrNameLst>
                                      </p:cBhvr>
                                      <p:to>
                                        <p:strVal val="visible"/>
                                      </p:to>
                                    </p:set>
                                    <p:anim calcmode="lin" valueType="num">
                                      <p:cBhvr additive="base">
                                        <p:cTn id="60" dur="500" fill="hold"/>
                                        <p:tgtEl>
                                          <p:spTgt spid="125981"/>
                                        </p:tgtEl>
                                        <p:attrNameLst>
                                          <p:attrName>ppt_x</p:attrName>
                                        </p:attrNameLst>
                                      </p:cBhvr>
                                      <p:tavLst>
                                        <p:tav tm="0">
                                          <p:val>
                                            <p:strVal val="#ppt_x"/>
                                          </p:val>
                                        </p:tav>
                                        <p:tav tm="100000">
                                          <p:val>
                                            <p:strVal val="#ppt_x"/>
                                          </p:val>
                                        </p:tav>
                                      </p:tavLst>
                                    </p:anim>
                                    <p:anim calcmode="lin" valueType="num">
                                      <p:cBhvr additive="base">
                                        <p:cTn id="61" dur="500" fill="hold"/>
                                        <p:tgtEl>
                                          <p:spTgt spid="125981"/>
                                        </p:tgtEl>
                                        <p:attrNameLst>
                                          <p:attrName>ppt_y</p:attrName>
                                        </p:attrNameLst>
                                      </p:cBhvr>
                                      <p:tavLst>
                                        <p:tav tm="0">
                                          <p:val>
                                            <p:strVal val="1+#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45"/>
                                        </p:tgtEl>
                                        <p:attrNameLst>
                                          <p:attrName>style.visibility</p:attrName>
                                        </p:attrNameLst>
                                      </p:cBhvr>
                                      <p:to>
                                        <p:strVal val="visible"/>
                                      </p:to>
                                    </p:set>
                                    <p:anim calcmode="lin" valueType="num">
                                      <p:cBhvr additive="base">
                                        <p:cTn id="66" dur="500" fill="hold"/>
                                        <p:tgtEl>
                                          <p:spTgt spid="45"/>
                                        </p:tgtEl>
                                        <p:attrNameLst>
                                          <p:attrName>ppt_x</p:attrName>
                                        </p:attrNameLst>
                                      </p:cBhvr>
                                      <p:tavLst>
                                        <p:tav tm="0">
                                          <p:val>
                                            <p:strVal val="#ppt_x"/>
                                          </p:val>
                                        </p:tav>
                                        <p:tav tm="100000">
                                          <p:val>
                                            <p:strVal val="#ppt_x"/>
                                          </p:val>
                                        </p:tav>
                                      </p:tavLst>
                                    </p:anim>
                                    <p:anim calcmode="lin" valueType="num">
                                      <p:cBhvr additive="base">
                                        <p:cTn id="67"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xit" presetSubtype="0" fill="hold" grpId="1" nodeType="clickEffect">
                                  <p:stCondLst>
                                    <p:cond delay="0"/>
                                  </p:stCondLst>
                                  <p:childTnLst>
                                    <p:animEffect transition="out" filter="fade">
                                      <p:cBhvr>
                                        <p:cTn id="71" dur="2000"/>
                                        <p:tgtEl>
                                          <p:spTgt spid="45"/>
                                        </p:tgtEl>
                                      </p:cBhvr>
                                    </p:animEffect>
                                    <p:set>
                                      <p:cBhvr>
                                        <p:cTn id="72" dur="1" fill="hold">
                                          <p:stCondLst>
                                            <p:cond delay="1999"/>
                                          </p:stCondLst>
                                        </p:cTn>
                                        <p:tgtEl>
                                          <p:spTgt spid="45"/>
                                        </p:tgtEl>
                                        <p:attrNameLst>
                                          <p:attrName>style.visibility</p:attrName>
                                        </p:attrNameLst>
                                      </p:cBhvr>
                                      <p:to>
                                        <p:strVal val="hidden"/>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nodeType="clickEffect">
                                  <p:stCondLst>
                                    <p:cond delay="0"/>
                                  </p:stCondLst>
                                  <p:childTnLst>
                                    <p:set>
                                      <p:cBhvr>
                                        <p:cTn id="76" dur="1" fill="hold">
                                          <p:stCondLst>
                                            <p:cond delay="0"/>
                                          </p:stCondLst>
                                        </p:cTn>
                                        <p:tgtEl>
                                          <p:spTgt spid="122913"/>
                                        </p:tgtEl>
                                        <p:attrNameLst>
                                          <p:attrName>style.visibility</p:attrName>
                                        </p:attrNameLst>
                                      </p:cBhvr>
                                      <p:to>
                                        <p:strVal val="visible"/>
                                      </p:to>
                                    </p:set>
                                    <p:anim calcmode="lin" valueType="num">
                                      <p:cBhvr additive="base">
                                        <p:cTn id="77" dur="500" fill="hold"/>
                                        <p:tgtEl>
                                          <p:spTgt spid="122913"/>
                                        </p:tgtEl>
                                        <p:attrNameLst>
                                          <p:attrName>ppt_x</p:attrName>
                                        </p:attrNameLst>
                                      </p:cBhvr>
                                      <p:tavLst>
                                        <p:tav tm="0">
                                          <p:val>
                                            <p:strVal val="#ppt_x"/>
                                          </p:val>
                                        </p:tav>
                                        <p:tav tm="100000">
                                          <p:val>
                                            <p:strVal val="#ppt_x"/>
                                          </p:val>
                                        </p:tav>
                                      </p:tavLst>
                                    </p:anim>
                                    <p:anim calcmode="lin" valueType="num">
                                      <p:cBhvr additive="base">
                                        <p:cTn id="78" dur="500" fill="hold"/>
                                        <p:tgtEl>
                                          <p:spTgt spid="122913"/>
                                        </p:tgtEl>
                                        <p:attrNameLst>
                                          <p:attrName>ppt_y</p:attrName>
                                        </p:attrNameLst>
                                      </p:cBhvr>
                                      <p:tavLst>
                                        <p:tav tm="0">
                                          <p:val>
                                            <p:strVal val="1+#ppt_h/2"/>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5" presetClass="entr" presetSubtype="10" fill="hold" grpId="0" nodeType="clickEffect">
                                  <p:stCondLst>
                                    <p:cond delay="0"/>
                                  </p:stCondLst>
                                  <p:childTnLst>
                                    <p:set>
                                      <p:cBhvr>
                                        <p:cTn id="82" dur="1" fill="hold">
                                          <p:stCondLst>
                                            <p:cond delay="0"/>
                                          </p:stCondLst>
                                        </p:cTn>
                                        <p:tgtEl>
                                          <p:spTgt spid="441437"/>
                                        </p:tgtEl>
                                        <p:attrNameLst>
                                          <p:attrName>style.visibility</p:attrName>
                                        </p:attrNameLst>
                                      </p:cBhvr>
                                      <p:to>
                                        <p:strVal val="visible"/>
                                      </p:to>
                                    </p:set>
                                    <p:animEffect transition="in" filter="checkerboard(across)">
                                      <p:cBhvr>
                                        <p:cTn id="83" dur="500"/>
                                        <p:tgtEl>
                                          <p:spTgt spid="441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75" grpId="0"/>
      <p:bldP spid="125981" grpId="0"/>
      <p:bldP spid="125986" grpId="0"/>
      <p:bldP spid="441431" grpId="0" animBg="1" autoUpdateAnimBg="0"/>
      <p:bldP spid="441437" grpId="0" autoUpdateAnimBg="0"/>
      <p:bldP spid="42" grpId="0"/>
      <p:bldP spid="42" grpId="1"/>
      <p:bldP spid="43" grpId="0"/>
      <p:bldP spid="43" grpId="1"/>
      <p:bldP spid="44" grpId="0"/>
      <p:bldP spid="44" grpId="1"/>
      <p:bldP spid="45" grpId="0"/>
      <p:bldP spid="45"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88FDADB-366C-45C2-92CE-AEB19FEE6F32}" type="slidenum">
              <a:rPr lang="zh-CN" altLang="zh-CN" sz="1400"/>
              <a:pPr>
                <a:spcBef>
                  <a:spcPct val="0"/>
                </a:spcBef>
                <a:buFontTx/>
                <a:buNone/>
              </a:pPr>
              <a:t>32</a:t>
            </a:fld>
            <a:endParaRPr lang="zh-CN" altLang="zh-CN" sz="1400"/>
          </a:p>
        </p:txBody>
      </p:sp>
      <p:sp>
        <p:nvSpPr>
          <p:cNvPr id="124931" name="Rectangle 2"/>
          <p:cNvSpPr>
            <a:spLocks noGrp="1" noChangeArrowheads="1"/>
          </p:cNvSpPr>
          <p:nvPr>
            <p:ph type="title"/>
          </p:nvPr>
        </p:nvSpPr>
        <p:spPr/>
        <p:txBody>
          <a:bodyPr/>
          <a:lstStyle/>
          <a:p>
            <a:pPr eaLnBrk="1" hangingPunct="1"/>
            <a:r>
              <a:rPr lang="zh-CN" altLang="zh-CN">
                <a:latin typeface="黑体" panose="02010609060101010101" pitchFamily="49" charset="-122"/>
                <a:ea typeface="黑体" panose="02010609060101010101" pitchFamily="49" charset="-122"/>
              </a:rPr>
              <a:t>练习</a:t>
            </a:r>
          </a:p>
        </p:txBody>
      </p:sp>
      <p:sp>
        <p:nvSpPr>
          <p:cNvPr id="124932" name="Rectangle 3"/>
          <p:cNvSpPr>
            <a:spLocks noGrp="1" noChangeArrowheads="1"/>
          </p:cNvSpPr>
          <p:nvPr>
            <p:ph type="body" idx="1"/>
          </p:nvPr>
        </p:nvSpPr>
        <p:spPr>
          <a:xfrm>
            <a:off x="1731098" y="1011093"/>
            <a:ext cx="9217025" cy="4464050"/>
          </a:xfrm>
        </p:spPr>
        <p:txBody>
          <a:bodyPr/>
          <a:lstStyle/>
          <a:p>
            <a:pPr eaLnBrk="1" hangingPunct="1">
              <a:buFontTx/>
              <a:buNone/>
            </a:pPr>
            <a:r>
              <a:rPr lang="zh-CN" altLang="zh-CN" sz="2400" dirty="0">
                <a:latin typeface="黑体" panose="02010609060101010101" pitchFamily="49" charset="-122"/>
                <a:ea typeface="黑体" panose="02010609060101010101" pitchFamily="49" charset="-122"/>
              </a:rPr>
              <a:t>下图给出了系统某时刻的资源分配情况。试问：</a:t>
            </a:r>
          </a:p>
          <a:p>
            <a:pPr eaLnBrk="1" hangingPunct="1">
              <a:buFontTx/>
              <a:buNone/>
            </a:pPr>
            <a:r>
              <a:rPr lang="zh-CN" altLang="zh-CN" sz="2400" dirty="0">
                <a:latin typeface="黑体" panose="02010609060101010101" pitchFamily="49" charset="-122"/>
                <a:ea typeface="黑体" panose="02010609060101010101" pitchFamily="49" charset="-122"/>
              </a:rPr>
              <a:t>(1)该状态是否安全？</a:t>
            </a:r>
          </a:p>
          <a:p>
            <a:pPr eaLnBrk="1" hangingPunct="1">
              <a:buFontTx/>
              <a:buNone/>
            </a:pPr>
            <a:r>
              <a:rPr lang="zh-CN" altLang="zh-CN" sz="2400" dirty="0">
                <a:latin typeface="黑体" panose="02010609060101010101" pitchFamily="49" charset="-122"/>
                <a:ea typeface="黑体" panose="02010609060101010101" pitchFamily="49" charset="-122"/>
              </a:rPr>
              <a:t>(2)如果进程B提出请求Request (0,1,0),系统能否将资源分配给它？</a:t>
            </a:r>
          </a:p>
          <a:p>
            <a:pPr eaLnBrk="1" hangingPunct="1">
              <a:buFontTx/>
              <a:buNone/>
            </a:pPr>
            <a:r>
              <a:rPr lang="zh-CN" altLang="zh-CN" sz="2400" dirty="0">
                <a:latin typeface="黑体" panose="02010609060101010101" pitchFamily="49" charset="-122"/>
                <a:ea typeface="黑体" panose="02010609060101010101" pitchFamily="49" charset="-122"/>
              </a:rPr>
              <a:t>(3)如果进程E提出请求Request(0,1,0),系统能否将资源分配给它？</a:t>
            </a:r>
          </a:p>
        </p:txBody>
      </p:sp>
      <p:graphicFrame>
        <p:nvGraphicFramePr>
          <p:cNvPr id="2" name="Group 4"/>
          <p:cNvGraphicFramePr>
            <a:graphicFrameLocks noGrp="1"/>
          </p:cNvGraphicFramePr>
          <p:nvPr/>
        </p:nvGraphicFramePr>
        <p:xfrm>
          <a:off x="2323379" y="3056227"/>
          <a:ext cx="7561262" cy="3200400"/>
        </p:xfrm>
        <a:graphic>
          <a:graphicData uri="http://schemas.openxmlformats.org/drawingml/2006/table">
            <a:tbl>
              <a:tblPr/>
              <a:tblGrid>
                <a:gridCol w="1314450">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50875">
                  <a:extLst>
                    <a:ext uri="{9D8B030D-6E8A-4147-A177-3AD203B41FA5}">
                      <a16:colId xmlns:a16="http://schemas.microsoft.com/office/drawing/2014/main" val="20002"/>
                    </a:ext>
                  </a:extLst>
                </a:gridCol>
                <a:gridCol w="652462">
                  <a:extLst>
                    <a:ext uri="{9D8B030D-6E8A-4147-A177-3AD203B41FA5}">
                      <a16:colId xmlns:a16="http://schemas.microsoft.com/office/drawing/2014/main" val="20003"/>
                    </a:ext>
                  </a:extLst>
                </a:gridCol>
                <a:gridCol w="750888">
                  <a:extLst>
                    <a:ext uri="{9D8B030D-6E8A-4147-A177-3AD203B41FA5}">
                      <a16:colId xmlns:a16="http://schemas.microsoft.com/office/drawing/2014/main" val="20004"/>
                    </a:ext>
                  </a:extLst>
                </a:gridCol>
                <a:gridCol w="750887">
                  <a:extLst>
                    <a:ext uri="{9D8B030D-6E8A-4147-A177-3AD203B41FA5}">
                      <a16:colId xmlns:a16="http://schemas.microsoft.com/office/drawing/2014/main" val="20005"/>
                    </a:ext>
                  </a:extLst>
                </a:gridCol>
                <a:gridCol w="749300">
                  <a:extLst>
                    <a:ext uri="{9D8B030D-6E8A-4147-A177-3AD203B41FA5}">
                      <a16:colId xmlns:a16="http://schemas.microsoft.com/office/drawing/2014/main" val="20006"/>
                    </a:ext>
                  </a:extLst>
                </a:gridCol>
                <a:gridCol w="681038">
                  <a:extLst>
                    <a:ext uri="{9D8B030D-6E8A-4147-A177-3AD203B41FA5}">
                      <a16:colId xmlns:a16="http://schemas.microsoft.com/office/drawing/2014/main" val="20007"/>
                    </a:ext>
                  </a:extLst>
                </a:gridCol>
                <a:gridCol w="681037">
                  <a:extLst>
                    <a:ext uri="{9D8B030D-6E8A-4147-A177-3AD203B41FA5}">
                      <a16:colId xmlns:a16="http://schemas.microsoft.com/office/drawing/2014/main" val="20008"/>
                    </a:ext>
                  </a:extLst>
                </a:gridCol>
                <a:gridCol w="682625">
                  <a:extLst>
                    <a:ext uri="{9D8B030D-6E8A-4147-A177-3AD203B41FA5}">
                      <a16:colId xmlns:a16="http://schemas.microsoft.com/office/drawing/2014/main" val="20009"/>
                    </a:ext>
                  </a:extLst>
                </a:gridCol>
              </a:tblGrid>
              <a:tr h="457200">
                <a:tc row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资源</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进程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已分配资源</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还需分配资源</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剩余资源</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57200">
                <a:tc v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r3</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B</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C</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D</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0074494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 name="组合 29"/>
          <p:cNvGrpSpPr/>
          <p:nvPr/>
        </p:nvGrpSpPr>
        <p:grpSpPr>
          <a:xfrm>
            <a:off x="2316597" y="1483991"/>
            <a:ext cx="7402544" cy="1104503"/>
            <a:chOff x="3298529" y="2876749"/>
            <a:chExt cx="579467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死锁的检测与解除</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29852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4.6.3</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15" name="文本框 21"/>
          <p:cNvSpPr txBox="1">
            <a:spLocks noChangeArrowheads="1"/>
          </p:cNvSpPr>
          <p:nvPr/>
        </p:nvSpPr>
        <p:spPr bwMode="auto">
          <a:xfrm>
            <a:off x="2426872" y="2907064"/>
            <a:ext cx="8415299"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800" b="1" dirty="0">
                <a:solidFill>
                  <a:srgbClr val="595959"/>
                </a:solidFill>
                <a:latin typeface="微软雅黑" panose="020B0503020204020204" pitchFamily="34" charset="-122"/>
                <a:ea typeface="微软雅黑" panose="020B0503020204020204" pitchFamily="34" charset="-122"/>
              </a:rPr>
              <a:t>系统既不采取死锁预防措施，也未配有死锁避免算法，系统很可能会发生死锁。应当提供两个算法：</a:t>
            </a:r>
          </a:p>
          <a:p>
            <a:pPr>
              <a:lnSpc>
                <a:spcPct val="150000"/>
              </a:lnSpc>
            </a:pPr>
            <a:r>
              <a:rPr lang="en-US" altLang="zh-CN" sz="2400" b="1" dirty="0">
                <a:solidFill>
                  <a:schemeClr val="accent2"/>
                </a:solidFill>
              </a:rPr>
              <a:t>       </a:t>
            </a:r>
            <a:r>
              <a:rPr lang="zh-CN" altLang="en-US" sz="2400" b="1" dirty="0">
                <a:solidFill>
                  <a:schemeClr val="accent2"/>
                </a:solidFill>
              </a:rPr>
              <a:t>死锁检测算法：</a:t>
            </a:r>
            <a:endParaRPr lang="en-US" altLang="zh-CN" sz="2400" b="1" dirty="0">
              <a:solidFill>
                <a:schemeClr val="accent2"/>
              </a:solidFill>
            </a:endParaRPr>
          </a:p>
          <a:p>
            <a:pPr lvl="1">
              <a:lnSpc>
                <a:spcPct val="150000"/>
              </a:lnSpc>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      确定系统中是否发生了死锁</a:t>
            </a:r>
          </a:p>
          <a:p>
            <a:pPr>
              <a:lnSpc>
                <a:spcPct val="150000"/>
              </a:lnSpc>
            </a:pPr>
            <a:r>
              <a:rPr lang="en-US" altLang="zh-CN" sz="2400" b="1" dirty="0">
                <a:solidFill>
                  <a:schemeClr val="accent2"/>
                </a:solidFill>
              </a:rPr>
              <a:t>       </a:t>
            </a:r>
            <a:r>
              <a:rPr lang="zh-CN" altLang="en-US" sz="2400" b="1" dirty="0">
                <a:solidFill>
                  <a:schemeClr val="accent2"/>
                </a:solidFill>
              </a:rPr>
              <a:t>死锁解除算法：</a:t>
            </a:r>
            <a:endParaRPr lang="en-US" altLang="zh-CN" sz="2400" b="1" dirty="0">
              <a:solidFill>
                <a:schemeClr val="accent2"/>
              </a:solidFill>
            </a:endParaRPr>
          </a:p>
          <a:p>
            <a:pPr lvl="1">
              <a:lnSpc>
                <a:spcPct val="150000"/>
              </a:lnSpc>
            </a:pP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rPr>
              <a:t>       将系统从死锁状态中解脱出来</a:t>
            </a:r>
          </a:p>
        </p:txBody>
      </p:sp>
    </p:spTree>
    <p:extLst>
      <p:ext uri="{BB962C8B-B14F-4D97-AF65-F5344CB8AC3E}">
        <p14:creationId xmlns:p14="http://schemas.microsoft.com/office/powerpoint/2010/main" val="137153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wipe(down)">
                                      <p:cBhvr>
                                        <p:cTn id="14" dur="500"/>
                                        <p:tgtEl>
                                          <p:spTgt spid="1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animEffect transition="in" filter="wipe(down)">
                                      <p:cBhvr>
                                        <p:cTn id="19" dur="500"/>
                                        <p:tgtEl>
                                          <p:spTgt spid="15">
                                            <p:txEl>
                                              <p:pRg st="0" end="0"/>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5">
                                            <p:txEl>
                                              <p:pRg st="2" end="2"/>
                                            </p:txEl>
                                          </p:spTgt>
                                        </p:tgtEl>
                                        <p:attrNameLst>
                                          <p:attrName>style.visibility</p:attrName>
                                        </p:attrNameLst>
                                      </p:cBhvr>
                                      <p:to>
                                        <p:strVal val="visible"/>
                                      </p:to>
                                    </p:set>
                                    <p:animEffect transition="in" filter="wipe(down)">
                                      <p:cBhvr>
                                        <p:cTn id="22" dur="500"/>
                                        <p:tgtEl>
                                          <p:spTgt spid="1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animEffect transition="in" filter="fade">
                                      <p:cBhvr>
                                        <p:cTn id="27" dur="500"/>
                                        <p:tgtEl>
                                          <p:spTgt spid="15">
                                            <p:txEl>
                                              <p:pRg st="3" end="3"/>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xEl>
                                              <p:pRg st="4" end="4"/>
                                            </p:txEl>
                                          </p:spTgt>
                                        </p:tgtEl>
                                        <p:attrNameLst>
                                          <p:attrName>style.visibility</p:attrName>
                                        </p:attrNameLst>
                                      </p:cBhvr>
                                      <p:to>
                                        <p:strVal val="visible"/>
                                      </p:to>
                                    </p:set>
                                    <p:animEffect transition="in" filter="fade">
                                      <p:cBhvr>
                                        <p:cTn id="30"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必须条件</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200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死锁的检测</a:t>
            </a:r>
          </a:p>
        </p:txBody>
      </p:sp>
      <p:sp>
        <p:nvSpPr>
          <p:cNvPr id="14" name="矩形 13"/>
          <p:cNvSpPr/>
          <p:nvPr/>
        </p:nvSpPr>
        <p:spPr>
          <a:xfrm>
            <a:off x="1164197" y="3676824"/>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5" name="矩形 14"/>
          <p:cNvSpPr/>
          <p:nvPr/>
        </p:nvSpPr>
        <p:spPr>
          <a:xfrm>
            <a:off x="2072247" y="3676824"/>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文本框 55"/>
          <p:cNvSpPr txBox="1">
            <a:spLocks noChangeArrowheads="1"/>
          </p:cNvSpPr>
          <p:nvPr/>
        </p:nvSpPr>
        <p:spPr bwMode="auto">
          <a:xfrm>
            <a:off x="1018146" y="3143424"/>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检测时机</a:t>
            </a:r>
          </a:p>
        </p:txBody>
      </p:sp>
      <p:sp>
        <p:nvSpPr>
          <p:cNvPr id="20" name="文本框 19"/>
          <p:cNvSpPr txBox="1">
            <a:spLocks noChangeArrowheads="1"/>
          </p:cNvSpPr>
          <p:nvPr/>
        </p:nvSpPr>
        <p:spPr bwMode="auto">
          <a:xfrm>
            <a:off x="1018146" y="1963665"/>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保存有关资源的请求和分配信息。</a:t>
            </a:r>
          </a:p>
        </p:txBody>
      </p:sp>
      <p:sp>
        <p:nvSpPr>
          <p:cNvPr id="22" name="文本框 21"/>
          <p:cNvSpPr txBox="1">
            <a:spLocks noChangeArrowheads="1"/>
          </p:cNvSpPr>
          <p:nvPr/>
        </p:nvSpPr>
        <p:spPr bwMode="auto">
          <a:xfrm>
            <a:off x="1018146" y="2465495"/>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提供一种算法，检测系统是否已进入死锁状态。</a:t>
            </a:r>
          </a:p>
        </p:txBody>
      </p:sp>
      <p:sp>
        <p:nvSpPr>
          <p:cNvPr id="23" name="文本框 22"/>
          <p:cNvSpPr txBox="1">
            <a:spLocks noChangeArrowheads="1"/>
          </p:cNvSpPr>
          <p:nvPr/>
        </p:nvSpPr>
        <p:spPr bwMode="auto">
          <a:xfrm>
            <a:off x="1030949" y="3996131"/>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进程等待时检测</a:t>
            </a:r>
            <a:r>
              <a:rPr lang="en-US" altLang="zh-CN" sz="2400" dirty="0"/>
              <a:t>-</a:t>
            </a:r>
            <a:r>
              <a:rPr lang="zh-CN" altLang="en-US" sz="2400" dirty="0"/>
              <a:t>系统开销大。</a:t>
            </a:r>
          </a:p>
        </p:txBody>
      </p:sp>
      <p:sp>
        <p:nvSpPr>
          <p:cNvPr id="24" name="文本框 23"/>
          <p:cNvSpPr txBox="1">
            <a:spLocks noChangeArrowheads="1"/>
          </p:cNvSpPr>
          <p:nvPr/>
        </p:nvSpPr>
        <p:spPr bwMode="auto">
          <a:xfrm>
            <a:off x="1030949" y="4497961"/>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定时检测。</a:t>
            </a:r>
          </a:p>
        </p:txBody>
      </p:sp>
      <p:sp>
        <p:nvSpPr>
          <p:cNvPr id="25" name="文本框 24"/>
          <p:cNvSpPr txBox="1">
            <a:spLocks noChangeArrowheads="1"/>
          </p:cNvSpPr>
          <p:nvPr/>
        </p:nvSpPr>
        <p:spPr bwMode="auto">
          <a:xfrm>
            <a:off x="1030949" y="5004094"/>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系统资源利用率下降时检测。</a:t>
            </a:r>
          </a:p>
        </p:txBody>
      </p:sp>
    </p:spTree>
    <p:extLst>
      <p:ext uri="{BB962C8B-B14F-4D97-AF65-F5344CB8AC3E}">
        <p14:creationId xmlns:p14="http://schemas.microsoft.com/office/powerpoint/2010/main" val="1695853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barn(inVertical)">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barn(inVertical)">
                                      <p:cBhvr>
                                        <p:cTn id="12" dur="500"/>
                                        <p:tgtEl>
                                          <p:spTgt spid="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3">
                                            <p:txEl>
                                              <p:pRg st="0" end="0"/>
                                            </p:txEl>
                                          </p:spTgt>
                                        </p:tgtEl>
                                        <p:attrNameLst>
                                          <p:attrName>style.visibility</p:attrName>
                                        </p:attrNameLst>
                                      </p:cBhvr>
                                      <p:to>
                                        <p:strVal val="visible"/>
                                      </p:to>
                                    </p:set>
                                    <p:animEffect transition="in" filter="barn(inVertical)">
                                      <p:cBhvr>
                                        <p:cTn id="17" dur="500"/>
                                        <p:tgtEl>
                                          <p:spTgt spid="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4">
                                            <p:txEl>
                                              <p:pRg st="0" end="0"/>
                                            </p:txEl>
                                          </p:spTgt>
                                        </p:tgtEl>
                                        <p:attrNameLst>
                                          <p:attrName>style.visibility</p:attrName>
                                        </p:attrNameLst>
                                      </p:cBhvr>
                                      <p:to>
                                        <p:strVal val="visible"/>
                                      </p:to>
                                    </p:set>
                                    <p:animEffect transition="in" filter="barn(inVertical)">
                                      <p:cBhvr>
                                        <p:cTn id="22" dur="500"/>
                                        <p:tgtEl>
                                          <p:spTgt spid="2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barn(inVertical)">
                                      <p:cBhvr>
                                        <p:cTn id="27"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12" name="组合 47111"/>
          <p:cNvGrpSpPr/>
          <p:nvPr/>
        </p:nvGrpSpPr>
        <p:grpSpPr>
          <a:xfrm>
            <a:off x="850031" y="1055130"/>
            <a:ext cx="7703125" cy="665162"/>
            <a:chOff x="7243333" y="1120021"/>
            <a:chExt cx="7703125" cy="665162"/>
          </a:xfrm>
        </p:grpSpPr>
        <p:sp>
          <p:nvSpPr>
            <p:cNvPr id="2" name="矩形 1"/>
            <p:cNvSpPr/>
            <p:nvPr/>
          </p:nvSpPr>
          <p:spPr>
            <a:xfrm>
              <a:off x="7389385"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8297435"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7243333" y="1120021"/>
              <a:ext cx="7703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）资源分配图</a:t>
              </a:r>
              <a:r>
                <a:rPr lang="en-US" altLang="zh-CN" sz="2400" b="1" dirty="0">
                  <a:solidFill>
                    <a:srgbClr val="4C7E51"/>
                  </a:solidFill>
                  <a:latin typeface="微软雅黑" panose="020B0503020204020204" pitchFamily="34" charset="-122"/>
                  <a:ea typeface="微软雅黑" panose="020B0503020204020204" pitchFamily="34" charset="-122"/>
                </a:rPr>
                <a:t>(Resource Allocation Graph) </a:t>
              </a:r>
            </a:p>
          </p:txBody>
        </p:sp>
      </p:grpSp>
      <p:sp>
        <p:nvSpPr>
          <p:cNvPr id="31" name="文本框 25"/>
          <p:cNvSpPr txBox="1">
            <a:spLocks noChangeArrowheads="1"/>
          </p:cNvSpPr>
          <p:nvPr/>
        </p:nvSpPr>
        <p:spPr bwMode="auto">
          <a:xfrm>
            <a:off x="902970" y="212725"/>
            <a:ext cx="200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死锁的检测</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61" name="Text Box 31"/>
          <p:cNvSpPr txBox="1">
            <a:spLocks noChangeArrowheads="1"/>
          </p:cNvSpPr>
          <p:nvPr/>
        </p:nvSpPr>
        <p:spPr bwMode="auto">
          <a:xfrm>
            <a:off x="5766310" y="2140930"/>
            <a:ext cx="5684792" cy="523220"/>
          </a:xfrm>
          <a:prstGeom prst="rect">
            <a:avLst/>
          </a:prstGeom>
          <a:solidFill>
            <a:srgbClr val="FF6600"/>
          </a:solidFill>
          <a:ln w="12700">
            <a:noFill/>
            <a:miter lim="800000"/>
            <a:headEnd/>
            <a:tailEnd/>
          </a:ln>
          <a:effectLst>
            <a:outerShdw dist="53882" dir="2700000" algn="ctr" rotWithShape="0">
              <a:schemeClr val="tx1"/>
            </a:outerShdw>
          </a:effectLst>
        </p:spPr>
        <p:txBody>
          <a:bodyPr wrap="square">
            <a:spAutoFit/>
          </a:bodyPr>
          <a:lstStyle/>
          <a:p>
            <a:pPr algn="l">
              <a:spcBef>
                <a:spcPct val="50000"/>
              </a:spcBef>
              <a:defRPr/>
            </a:pPr>
            <a:r>
              <a:rPr lang="zh-CN" altLang="en-US" sz="2800" b="1" dirty="0">
                <a:latin typeface="+mn-lt"/>
                <a:ea typeface="+mn-ea"/>
              </a:rPr>
              <a:t>左图用一对偶描述</a:t>
            </a:r>
            <a:r>
              <a:rPr lang="en-US" altLang="zh-CN" sz="2800" b="1" dirty="0">
                <a:latin typeface="+mn-lt"/>
                <a:ea typeface="+mn-ea"/>
              </a:rPr>
              <a:t>G=(N,E)</a:t>
            </a:r>
          </a:p>
        </p:txBody>
      </p:sp>
      <p:sp>
        <p:nvSpPr>
          <p:cNvPr id="62" name="Text Box 32"/>
          <p:cNvSpPr txBox="1">
            <a:spLocks noChangeArrowheads="1"/>
          </p:cNvSpPr>
          <p:nvPr/>
        </p:nvSpPr>
        <p:spPr bwMode="auto">
          <a:xfrm>
            <a:off x="5766310" y="2674330"/>
            <a:ext cx="5684792" cy="523220"/>
          </a:xfrm>
          <a:prstGeom prst="rect">
            <a:avLst/>
          </a:prstGeom>
          <a:solidFill>
            <a:srgbClr val="0066FF"/>
          </a:solidFill>
          <a:ln w="12700">
            <a:noFill/>
            <a:miter lim="800000"/>
            <a:headEnd/>
            <a:tailEnd/>
          </a:ln>
          <a:effectLst>
            <a:outerShdw dist="53882" dir="2700000" algn="ctr" rotWithShape="0">
              <a:schemeClr val="tx1"/>
            </a:outerShdw>
          </a:effectLst>
        </p:spPr>
        <p:txBody>
          <a:bodyPr wrap="square">
            <a:spAutoFit/>
          </a:bodyPr>
          <a:lstStyle/>
          <a:p>
            <a:pPr algn="l">
              <a:spcBef>
                <a:spcPct val="50000"/>
              </a:spcBef>
              <a:defRPr/>
            </a:pPr>
            <a:r>
              <a:rPr lang="en-US" altLang="zh-CN" sz="2800" dirty="0">
                <a:effectLst>
                  <a:outerShdw blurRad="38100" dist="38100" dir="2700000" algn="tl">
                    <a:srgbClr val="000000"/>
                  </a:outerShdw>
                </a:effectLst>
                <a:latin typeface="+mn-lt"/>
                <a:ea typeface="+mn-ea"/>
              </a:rPr>
              <a:t>N — </a:t>
            </a:r>
            <a:r>
              <a:rPr lang="zh-CN" altLang="en-US" sz="2800" dirty="0">
                <a:effectLst>
                  <a:outerShdw blurRad="38100" dist="38100" dir="2700000" algn="tl">
                    <a:srgbClr val="000000"/>
                  </a:outerShdw>
                </a:effectLst>
                <a:latin typeface="+mn-lt"/>
                <a:ea typeface="+mn-ea"/>
              </a:rPr>
              <a:t>一组节点，</a:t>
            </a:r>
            <a:r>
              <a:rPr lang="en-US" altLang="zh-CN" sz="2800" dirty="0">
                <a:effectLst>
                  <a:outerShdw blurRad="38100" dist="38100" dir="2700000" algn="tl">
                    <a:srgbClr val="000000"/>
                  </a:outerShdw>
                </a:effectLst>
                <a:latin typeface="+mn-lt"/>
                <a:ea typeface="+mn-ea"/>
              </a:rPr>
              <a:t>E — </a:t>
            </a:r>
            <a:r>
              <a:rPr lang="zh-CN" altLang="en-US" sz="2800" dirty="0">
                <a:effectLst>
                  <a:outerShdw blurRad="38100" dist="38100" dir="2700000" algn="tl">
                    <a:srgbClr val="000000"/>
                  </a:outerShdw>
                </a:effectLst>
                <a:latin typeface="+mn-lt"/>
                <a:ea typeface="+mn-ea"/>
              </a:rPr>
              <a:t>一组边</a:t>
            </a:r>
          </a:p>
        </p:txBody>
      </p:sp>
      <p:sp>
        <p:nvSpPr>
          <p:cNvPr id="63" name="Text Box 33"/>
          <p:cNvSpPr txBox="1">
            <a:spLocks noChangeArrowheads="1"/>
          </p:cNvSpPr>
          <p:nvPr/>
        </p:nvSpPr>
        <p:spPr bwMode="auto">
          <a:xfrm>
            <a:off x="5766310" y="3283930"/>
            <a:ext cx="5684792" cy="523220"/>
          </a:xfrm>
          <a:prstGeom prst="rect">
            <a:avLst/>
          </a:prstGeom>
          <a:solidFill>
            <a:srgbClr val="0066FF"/>
          </a:solidFill>
          <a:ln w="12700">
            <a:noFill/>
            <a:miter lim="800000"/>
            <a:headEnd/>
            <a:tailEnd/>
          </a:ln>
          <a:effectLst>
            <a:outerShdw dist="53882" dir="2700000" algn="ctr" rotWithShape="0">
              <a:schemeClr val="tx1"/>
            </a:outerShdw>
          </a:effectLst>
        </p:spPr>
        <p:txBody>
          <a:bodyPr wrap="square">
            <a:spAutoFit/>
          </a:bodyPr>
          <a:lstStyle/>
          <a:p>
            <a:pPr algn="l">
              <a:spcBef>
                <a:spcPct val="50000"/>
              </a:spcBef>
              <a:defRPr/>
            </a:pPr>
            <a:r>
              <a:rPr lang="en-US" altLang="zh-CN" sz="2800" dirty="0">
                <a:effectLst>
                  <a:outerShdw blurRad="38100" dist="38100" dir="2700000" algn="tl">
                    <a:srgbClr val="000000"/>
                  </a:outerShdw>
                </a:effectLst>
                <a:latin typeface="+mn-lt"/>
                <a:ea typeface="+mn-ea"/>
              </a:rPr>
              <a:t>N=P∪R={</a:t>
            </a:r>
            <a:r>
              <a:rPr lang="en-US" altLang="zh-CN" sz="2800" dirty="0">
                <a:effectLst>
                  <a:outerShdw blurRad="38100" dist="38100" dir="2700000" algn="tl">
                    <a:srgbClr val="000000"/>
                  </a:outerShdw>
                </a:effectLst>
              </a:rPr>
              <a:t>p</a:t>
            </a:r>
            <a:r>
              <a:rPr lang="en-US" altLang="zh-CN" sz="2800" baseline="-25000" dirty="0">
                <a:effectLst>
                  <a:outerShdw blurRad="38100" dist="38100" dir="2700000" algn="tl">
                    <a:srgbClr val="000000"/>
                  </a:outerShdw>
                </a:effectLst>
                <a:latin typeface="+mn-lt"/>
                <a:ea typeface="+mn-ea"/>
              </a:rPr>
              <a:t>1</a:t>
            </a:r>
            <a:r>
              <a:rPr lang="en-US" altLang="zh-CN" sz="2800" dirty="0">
                <a:effectLst>
                  <a:outerShdw blurRad="38100" dist="38100" dir="2700000" algn="tl">
                    <a:srgbClr val="000000"/>
                  </a:outerShdw>
                </a:effectLst>
                <a:latin typeface="+mn-lt"/>
                <a:ea typeface="+mn-ea"/>
              </a:rPr>
              <a:t>,</a:t>
            </a:r>
            <a:r>
              <a:rPr lang="en-US" altLang="zh-CN" sz="2800" dirty="0">
                <a:effectLst>
                  <a:outerShdw blurRad="38100" dist="38100" dir="2700000" algn="tl">
                    <a:srgbClr val="000000"/>
                  </a:outerShdw>
                </a:effectLst>
              </a:rPr>
              <a:t>p</a:t>
            </a:r>
            <a:r>
              <a:rPr lang="en-US" altLang="zh-CN" sz="2800" baseline="-25000" dirty="0">
                <a:effectLst>
                  <a:outerShdw blurRad="38100" dist="38100" dir="2700000" algn="tl">
                    <a:srgbClr val="000000"/>
                  </a:outerShdw>
                </a:effectLst>
                <a:latin typeface="+mn-lt"/>
                <a:ea typeface="+mn-ea"/>
              </a:rPr>
              <a:t>2</a:t>
            </a:r>
            <a:r>
              <a:rPr lang="en-US" altLang="zh-CN" sz="2800" dirty="0">
                <a:effectLst>
                  <a:outerShdw blurRad="38100" dist="38100" dir="2700000" algn="tl">
                    <a:srgbClr val="000000"/>
                  </a:outerShdw>
                </a:effectLst>
                <a:latin typeface="+mn-lt"/>
                <a:ea typeface="+mn-ea"/>
              </a:rPr>
              <a:t>} ∪{</a:t>
            </a:r>
            <a:r>
              <a:rPr lang="en-US" altLang="zh-CN" sz="2800" dirty="0">
                <a:effectLst>
                  <a:outerShdw blurRad="38100" dist="38100" dir="2700000" algn="tl">
                    <a:srgbClr val="000000"/>
                  </a:outerShdw>
                </a:effectLst>
              </a:rPr>
              <a:t>r</a:t>
            </a:r>
            <a:r>
              <a:rPr lang="en-US" altLang="zh-CN" sz="2800" baseline="-25000" dirty="0">
                <a:effectLst>
                  <a:outerShdw blurRad="38100" dist="38100" dir="2700000" algn="tl">
                    <a:srgbClr val="000000"/>
                  </a:outerShdw>
                </a:effectLst>
              </a:rPr>
              <a:t>1</a:t>
            </a:r>
            <a:r>
              <a:rPr lang="en-US" altLang="zh-CN" sz="2800" dirty="0">
                <a:effectLst>
                  <a:outerShdw blurRad="38100" dist="38100" dir="2700000" algn="tl">
                    <a:srgbClr val="000000"/>
                  </a:outerShdw>
                </a:effectLst>
                <a:latin typeface="+mn-lt"/>
                <a:ea typeface="+mn-ea"/>
              </a:rPr>
              <a:t>,</a:t>
            </a:r>
            <a:r>
              <a:rPr lang="en-US" altLang="zh-CN" sz="2800" dirty="0">
                <a:effectLst>
                  <a:outerShdw blurRad="38100" dist="38100" dir="2700000" algn="tl">
                    <a:srgbClr val="000000"/>
                  </a:outerShdw>
                </a:effectLst>
              </a:rPr>
              <a:t>r</a:t>
            </a:r>
            <a:r>
              <a:rPr lang="en-US" altLang="zh-CN" sz="2800" baseline="-25000" dirty="0">
                <a:effectLst>
                  <a:outerShdw blurRad="38100" dist="38100" dir="2700000" algn="tl">
                    <a:srgbClr val="000000"/>
                  </a:outerShdw>
                </a:effectLst>
              </a:rPr>
              <a:t>2</a:t>
            </a:r>
            <a:r>
              <a:rPr lang="en-US" altLang="zh-CN" sz="2800" dirty="0">
                <a:effectLst>
                  <a:outerShdw blurRad="38100" dist="38100" dir="2700000" algn="tl">
                    <a:srgbClr val="000000"/>
                  </a:outerShdw>
                </a:effectLst>
                <a:latin typeface="+mn-lt"/>
                <a:ea typeface="+mn-ea"/>
              </a:rPr>
              <a:t>}</a:t>
            </a:r>
          </a:p>
        </p:txBody>
      </p:sp>
      <p:sp>
        <p:nvSpPr>
          <p:cNvPr id="64" name="Text Box 34"/>
          <p:cNvSpPr txBox="1">
            <a:spLocks noChangeArrowheads="1"/>
          </p:cNvSpPr>
          <p:nvPr/>
        </p:nvSpPr>
        <p:spPr bwMode="auto">
          <a:xfrm>
            <a:off x="5766310" y="3893530"/>
            <a:ext cx="5684792" cy="1815882"/>
          </a:xfrm>
          <a:prstGeom prst="rect">
            <a:avLst/>
          </a:prstGeom>
          <a:solidFill>
            <a:srgbClr val="0066FF"/>
          </a:solidFill>
          <a:ln w="12700">
            <a:noFill/>
            <a:miter lim="800000"/>
            <a:headEnd/>
            <a:tailEnd/>
          </a:ln>
          <a:effectLst>
            <a:outerShdw dist="53882" dir="2700000" algn="ctr" rotWithShape="0">
              <a:schemeClr val="tx1"/>
            </a:outerShdw>
          </a:effectLst>
        </p:spPr>
        <p:txBody>
          <a:bodyPr wrap="square">
            <a:spAutoFit/>
          </a:bodyPr>
          <a:lstStyle/>
          <a:p>
            <a:pPr algn="l">
              <a:spcBef>
                <a:spcPct val="50000"/>
              </a:spcBef>
              <a:defRPr/>
            </a:pPr>
            <a:r>
              <a:rPr lang="en-US" altLang="zh-CN" sz="2800" dirty="0">
                <a:effectLst>
                  <a:outerShdw blurRad="38100" dist="38100" dir="2700000" algn="tl">
                    <a:srgbClr val="000000"/>
                  </a:outerShdw>
                </a:effectLst>
                <a:latin typeface="+mn-lt"/>
                <a:ea typeface="+mn-ea"/>
              </a:rPr>
              <a:t>e={</a:t>
            </a:r>
            <a:r>
              <a:rPr lang="en-US" altLang="zh-CN" sz="2800" dirty="0" err="1">
                <a:effectLst>
                  <a:outerShdw blurRad="38100" dist="38100" dir="2700000" algn="tl">
                    <a:srgbClr val="000000"/>
                  </a:outerShdw>
                </a:effectLst>
              </a:rPr>
              <a:t>p</a:t>
            </a:r>
            <a:r>
              <a:rPr lang="en-US" altLang="zh-CN" sz="2800" baseline="-25000" dirty="0" err="1">
                <a:effectLst>
                  <a:outerShdw blurRad="38100" dist="38100" dir="2700000" algn="tl">
                    <a:srgbClr val="000000"/>
                  </a:outerShdw>
                </a:effectLst>
              </a:rPr>
              <a:t>i</a:t>
            </a:r>
            <a:r>
              <a:rPr lang="en-US" altLang="zh-CN" sz="2800" dirty="0" err="1">
                <a:effectLst>
                  <a:outerShdw blurRad="38100" dist="38100" dir="2700000" algn="tl">
                    <a:srgbClr val="000000"/>
                  </a:outerShdw>
                </a:effectLst>
                <a:latin typeface="+mn-lt"/>
                <a:ea typeface="+mn-ea"/>
              </a:rPr>
              <a:t>,</a:t>
            </a:r>
            <a:r>
              <a:rPr lang="en-US" altLang="zh-CN" sz="2800" dirty="0" err="1">
                <a:effectLst>
                  <a:outerShdw blurRad="38100" dist="38100" dir="2700000" algn="tl">
                    <a:srgbClr val="000000"/>
                  </a:outerShdw>
                </a:effectLst>
              </a:rPr>
              <a:t>r</a:t>
            </a:r>
            <a:r>
              <a:rPr lang="en-US" altLang="zh-CN" sz="2800" baseline="-25000" dirty="0" err="1">
                <a:effectLst>
                  <a:outerShdw blurRad="38100" dist="38100" dir="2700000" algn="tl">
                    <a:srgbClr val="000000"/>
                  </a:outerShdw>
                </a:effectLst>
              </a:rPr>
              <a:t>i</a:t>
            </a:r>
            <a:r>
              <a:rPr lang="en-US" altLang="zh-CN" sz="2800" dirty="0">
                <a:effectLst>
                  <a:outerShdw blurRad="38100" dist="38100" dir="2700000" algn="tl">
                    <a:srgbClr val="000000"/>
                  </a:outerShdw>
                </a:effectLst>
                <a:latin typeface="+mn-lt"/>
                <a:ea typeface="+mn-ea"/>
              </a:rPr>
              <a:t>}  ---</a:t>
            </a:r>
            <a:r>
              <a:rPr lang="zh-CN" altLang="en-US" sz="2800" dirty="0">
                <a:effectLst>
                  <a:outerShdw blurRad="38100" dist="38100" dir="2700000" algn="tl">
                    <a:srgbClr val="000000"/>
                  </a:outerShdw>
                </a:effectLst>
                <a:latin typeface="+mn-lt"/>
                <a:ea typeface="+mn-ea"/>
              </a:rPr>
              <a:t>资源请求边</a:t>
            </a:r>
          </a:p>
          <a:p>
            <a:pPr algn="l">
              <a:spcBef>
                <a:spcPct val="50000"/>
              </a:spcBef>
              <a:defRPr/>
            </a:pPr>
            <a:r>
              <a:rPr lang="en-US" altLang="zh-CN" sz="2800" dirty="0">
                <a:effectLst>
                  <a:outerShdw blurRad="38100" dist="38100" dir="2700000" algn="tl">
                    <a:srgbClr val="000000"/>
                  </a:outerShdw>
                </a:effectLst>
                <a:latin typeface="+mn-lt"/>
                <a:ea typeface="+mn-ea"/>
              </a:rPr>
              <a:t>e={</a:t>
            </a:r>
            <a:r>
              <a:rPr lang="en-US" altLang="zh-CN" sz="2800" dirty="0" err="1">
                <a:effectLst>
                  <a:outerShdw blurRad="38100" dist="38100" dir="2700000" algn="tl">
                    <a:srgbClr val="000000"/>
                  </a:outerShdw>
                </a:effectLst>
              </a:rPr>
              <a:t>r</a:t>
            </a:r>
            <a:r>
              <a:rPr lang="en-US" altLang="zh-CN" sz="2800" baseline="-25000" dirty="0" err="1">
                <a:effectLst>
                  <a:outerShdw blurRad="38100" dist="38100" dir="2700000" algn="tl">
                    <a:srgbClr val="000000"/>
                  </a:outerShdw>
                </a:effectLst>
              </a:rPr>
              <a:t>i</a:t>
            </a:r>
            <a:r>
              <a:rPr lang="en-US" altLang="zh-CN" sz="2800" dirty="0" err="1">
                <a:effectLst>
                  <a:outerShdw blurRad="38100" dist="38100" dir="2700000" algn="tl">
                    <a:srgbClr val="000000"/>
                  </a:outerShdw>
                </a:effectLst>
                <a:latin typeface="+mn-lt"/>
                <a:ea typeface="+mn-ea"/>
              </a:rPr>
              <a:t>,</a:t>
            </a:r>
            <a:r>
              <a:rPr lang="en-US" altLang="zh-CN" sz="2800" dirty="0" err="1">
                <a:effectLst>
                  <a:outerShdw blurRad="38100" dist="38100" dir="2700000" algn="tl">
                    <a:srgbClr val="000000"/>
                  </a:outerShdw>
                </a:effectLst>
              </a:rPr>
              <a:t>p</a:t>
            </a:r>
            <a:r>
              <a:rPr lang="en-US" altLang="zh-CN" sz="2800" baseline="-25000" dirty="0" err="1">
                <a:effectLst>
                  <a:outerShdw blurRad="38100" dist="38100" dir="2700000" algn="tl">
                    <a:srgbClr val="000000"/>
                  </a:outerShdw>
                </a:effectLst>
              </a:rPr>
              <a:t>i</a:t>
            </a:r>
            <a:r>
              <a:rPr lang="en-US" altLang="zh-CN" sz="2800" dirty="0">
                <a:effectLst>
                  <a:outerShdw blurRad="38100" dist="38100" dir="2700000" algn="tl">
                    <a:srgbClr val="000000"/>
                  </a:outerShdw>
                </a:effectLst>
                <a:latin typeface="+mn-lt"/>
                <a:ea typeface="+mn-ea"/>
              </a:rPr>
              <a:t>}  ---</a:t>
            </a:r>
            <a:r>
              <a:rPr lang="zh-CN" altLang="en-US" sz="2800" dirty="0">
                <a:effectLst>
                  <a:outerShdw blurRad="38100" dist="38100" dir="2700000" algn="tl">
                    <a:srgbClr val="000000"/>
                  </a:outerShdw>
                </a:effectLst>
                <a:latin typeface="+mn-lt"/>
                <a:ea typeface="+mn-ea"/>
              </a:rPr>
              <a:t>资源分配边</a:t>
            </a:r>
          </a:p>
          <a:p>
            <a:pPr algn="l">
              <a:spcBef>
                <a:spcPct val="50000"/>
              </a:spcBef>
              <a:defRPr/>
            </a:pPr>
            <a:r>
              <a:rPr lang="en-US" altLang="zh-CN" sz="2800" dirty="0" err="1">
                <a:effectLst>
                  <a:outerShdw blurRad="38100" dist="38100" dir="2700000" algn="tl">
                    <a:srgbClr val="000000"/>
                  </a:outerShdw>
                </a:effectLst>
                <a:latin typeface="+mn-lt"/>
                <a:ea typeface="+mn-ea"/>
              </a:rPr>
              <a:t>e∈E</a:t>
            </a:r>
            <a:endParaRPr lang="en-US" altLang="zh-CN" sz="2800" dirty="0">
              <a:effectLst>
                <a:outerShdw blurRad="38100" dist="38100" dir="2700000" algn="tl">
                  <a:srgbClr val="000000"/>
                </a:outerShdw>
              </a:effectLst>
              <a:latin typeface="+mn-lt"/>
              <a:ea typeface="+mn-ea"/>
            </a:endParaRPr>
          </a:p>
        </p:txBody>
      </p:sp>
      <p:grpSp>
        <p:nvGrpSpPr>
          <p:cNvPr id="65" name="Group 43"/>
          <p:cNvGrpSpPr>
            <a:grpSpLocks/>
          </p:cNvGrpSpPr>
          <p:nvPr/>
        </p:nvGrpSpPr>
        <p:grpSpPr bwMode="auto">
          <a:xfrm>
            <a:off x="902210" y="2202058"/>
            <a:ext cx="4578350" cy="3544888"/>
            <a:chOff x="-100" y="1943"/>
            <a:chExt cx="2884" cy="2233"/>
          </a:xfrm>
        </p:grpSpPr>
        <p:grpSp>
          <p:nvGrpSpPr>
            <p:cNvPr id="66" name="Group 35"/>
            <p:cNvGrpSpPr>
              <a:grpSpLocks/>
            </p:cNvGrpSpPr>
            <p:nvPr/>
          </p:nvGrpSpPr>
          <p:grpSpPr bwMode="auto">
            <a:xfrm>
              <a:off x="336" y="1943"/>
              <a:ext cx="2448" cy="2233"/>
              <a:chOff x="576" y="1943"/>
              <a:chExt cx="2448" cy="2233"/>
            </a:xfrm>
          </p:grpSpPr>
          <p:sp>
            <p:nvSpPr>
              <p:cNvPr id="71" name="Oval 8"/>
              <p:cNvSpPr>
                <a:spLocks noChangeArrowheads="1"/>
              </p:cNvSpPr>
              <p:nvPr/>
            </p:nvSpPr>
            <p:spPr bwMode="auto">
              <a:xfrm>
                <a:off x="1536" y="1943"/>
                <a:ext cx="864" cy="721"/>
              </a:xfrm>
              <a:prstGeom prst="ellipse">
                <a:avLst/>
              </a:prstGeom>
              <a:solidFill>
                <a:schemeClr val="accent1"/>
              </a:solidFill>
              <a:ln w="12700">
                <a:solidFill>
                  <a:schemeClr val="bg1"/>
                </a:solidFill>
                <a:round/>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eaLnBrk="1" hangingPunct="1"/>
                <a:r>
                  <a:rPr lang="zh-CN" altLang="en-US" dirty="0"/>
                  <a:t>进程</a:t>
                </a:r>
                <a:r>
                  <a:rPr lang="en-US" altLang="zh-CN" dirty="0"/>
                  <a:t>P1</a:t>
                </a:r>
              </a:p>
            </p:txBody>
          </p:sp>
          <p:sp>
            <p:nvSpPr>
              <p:cNvPr id="72" name="Rectangle 9"/>
              <p:cNvSpPr>
                <a:spLocks noChangeArrowheads="1"/>
              </p:cNvSpPr>
              <p:nvPr/>
            </p:nvSpPr>
            <p:spPr bwMode="auto">
              <a:xfrm>
                <a:off x="576" y="2793"/>
                <a:ext cx="1104" cy="423"/>
              </a:xfrm>
              <a:prstGeom prst="rect">
                <a:avLst/>
              </a:prstGeom>
              <a:solidFill>
                <a:srgbClr val="FF6600"/>
              </a:solidFill>
              <a:ln w="12700">
                <a:solidFill>
                  <a:schemeClr val="bg1"/>
                </a:solidFill>
                <a:miter lim="800000"/>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algn="r" eaLnBrk="1" hangingPunct="1"/>
                <a:r>
                  <a:rPr lang="en-US" altLang="zh-CN"/>
                  <a:t>R1</a:t>
                </a:r>
              </a:p>
            </p:txBody>
          </p:sp>
          <p:sp>
            <p:nvSpPr>
              <p:cNvPr id="74" name="Rectangle 10"/>
              <p:cNvSpPr>
                <a:spLocks noChangeArrowheads="1"/>
              </p:cNvSpPr>
              <p:nvPr/>
            </p:nvSpPr>
            <p:spPr bwMode="auto">
              <a:xfrm>
                <a:off x="2052" y="2784"/>
                <a:ext cx="972" cy="432"/>
              </a:xfrm>
              <a:prstGeom prst="rect">
                <a:avLst/>
              </a:prstGeom>
              <a:solidFill>
                <a:srgbClr val="FF6600"/>
              </a:solidFill>
              <a:ln w="12700">
                <a:solidFill>
                  <a:schemeClr val="bg1"/>
                </a:solidFill>
                <a:miter lim="800000"/>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algn="r" eaLnBrk="1" hangingPunct="1"/>
                <a:r>
                  <a:rPr lang="en-US" altLang="zh-CN"/>
                  <a:t>R2</a:t>
                </a:r>
              </a:p>
            </p:txBody>
          </p:sp>
          <p:cxnSp>
            <p:nvCxnSpPr>
              <p:cNvPr id="76" name="AutoShape 11"/>
              <p:cNvCxnSpPr>
                <a:cxnSpLocks noChangeShapeType="1"/>
                <a:stCxn id="74" idx="0"/>
                <a:endCxn id="71" idx="6"/>
              </p:cNvCxnSpPr>
              <p:nvPr/>
            </p:nvCxnSpPr>
            <p:spPr bwMode="auto">
              <a:xfrm rot="16200000" flipV="1">
                <a:off x="2229" y="2475"/>
                <a:ext cx="480" cy="138"/>
              </a:xfrm>
              <a:prstGeom prst="curvedConnector2">
                <a:avLst/>
              </a:prstGeom>
              <a:noFill/>
              <a:ln w="38100">
                <a:solidFill>
                  <a:srgbClr val="3333FF"/>
                </a:solidFill>
                <a:round/>
                <a:headEnd type="triangle" w="med" len="med"/>
                <a:tailEnd/>
              </a:ln>
              <a:extLst>
                <a:ext uri="{909E8E84-426E-40DD-AFC4-6F175D3DCCD1}">
                  <a14:hiddenFill xmlns:a14="http://schemas.microsoft.com/office/drawing/2010/main">
                    <a:noFill/>
                  </a14:hiddenFill>
                </a:ext>
              </a:extLst>
            </p:spPr>
          </p:cxnSp>
          <p:cxnSp>
            <p:nvCxnSpPr>
              <p:cNvPr id="77" name="AutoShape 12"/>
              <p:cNvCxnSpPr>
                <a:cxnSpLocks noChangeShapeType="1"/>
                <a:stCxn id="71" idx="2"/>
                <a:endCxn id="72" idx="0"/>
              </p:cNvCxnSpPr>
              <p:nvPr/>
            </p:nvCxnSpPr>
            <p:spPr bwMode="auto">
              <a:xfrm rot="10800000" flipV="1">
                <a:off x="1128" y="2304"/>
                <a:ext cx="408" cy="490"/>
              </a:xfrm>
              <a:prstGeom prst="curvedConnector2">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cxnSp>
          <p:sp>
            <p:nvSpPr>
              <p:cNvPr id="78" name="Oval 13"/>
              <p:cNvSpPr>
                <a:spLocks noChangeArrowheads="1"/>
              </p:cNvSpPr>
              <p:nvPr/>
            </p:nvSpPr>
            <p:spPr bwMode="auto">
              <a:xfrm>
                <a:off x="1536" y="3408"/>
                <a:ext cx="864" cy="768"/>
              </a:xfrm>
              <a:prstGeom prst="ellipse">
                <a:avLst/>
              </a:prstGeom>
              <a:solidFill>
                <a:schemeClr val="accent1"/>
              </a:solidFill>
              <a:ln w="12700">
                <a:solidFill>
                  <a:schemeClr val="bg1"/>
                </a:solidFill>
                <a:round/>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eaLnBrk="1" hangingPunct="1"/>
                <a:r>
                  <a:rPr lang="zh-CN" altLang="en-US"/>
                  <a:t>进程</a:t>
                </a:r>
                <a:r>
                  <a:rPr lang="en-US" altLang="zh-CN"/>
                  <a:t>P2</a:t>
                </a:r>
              </a:p>
            </p:txBody>
          </p:sp>
          <p:sp>
            <p:nvSpPr>
              <p:cNvPr id="79" name="Oval 14"/>
              <p:cNvSpPr>
                <a:spLocks noChangeArrowheads="1"/>
              </p:cNvSpPr>
              <p:nvPr/>
            </p:nvSpPr>
            <p:spPr bwMode="auto">
              <a:xfrm>
                <a:off x="1056" y="2880"/>
                <a:ext cx="192" cy="144"/>
              </a:xfrm>
              <a:prstGeom prst="ellipse">
                <a:avLst/>
              </a:prstGeom>
              <a:solidFill>
                <a:srgbClr val="FFFFFF"/>
              </a:solidFill>
              <a:ln w="12700">
                <a:solidFill>
                  <a:schemeClr val="bg1"/>
                </a:solidFill>
                <a:round/>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80" name="Oval 15"/>
              <p:cNvSpPr>
                <a:spLocks noChangeArrowheads="1"/>
              </p:cNvSpPr>
              <p:nvPr/>
            </p:nvSpPr>
            <p:spPr bwMode="auto">
              <a:xfrm>
                <a:off x="768" y="2880"/>
                <a:ext cx="192" cy="144"/>
              </a:xfrm>
              <a:prstGeom prst="ellipse">
                <a:avLst/>
              </a:prstGeom>
              <a:solidFill>
                <a:srgbClr val="FFFFFF"/>
              </a:solidFill>
              <a:ln w="12700">
                <a:solidFill>
                  <a:schemeClr val="bg1"/>
                </a:solidFill>
                <a:round/>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81" name="Oval 16"/>
              <p:cNvSpPr>
                <a:spLocks noChangeArrowheads="1"/>
              </p:cNvSpPr>
              <p:nvPr/>
            </p:nvSpPr>
            <p:spPr bwMode="auto">
              <a:xfrm>
                <a:off x="912" y="3024"/>
                <a:ext cx="192" cy="144"/>
              </a:xfrm>
              <a:prstGeom prst="ellipse">
                <a:avLst/>
              </a:prstGeom>
              <a:solidFill>
                <a:srgbClr val="FFFFFF"/>
              </a:solidFill>
              <a:ln w="12700">
                <a:solidFill>
                  <a:schemeClr val="bg1"/>
                </a:solidFill>
                <a:round/>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82" name="Oval 17"/>
              <p:cNvSpPr>
                <a:spLocks noChangeArrowheads="1"/>
              </p:cNvSpPr>
              <p:nvPr/>
            </p:nvSpPr>
            <p:spPr bwMode="auto">
              <a:xfrm>
                <a:off x="2208" y="2928"/>
                <a:ext cx="192" cy="144"/>
              </a:xfrm>
              <a:prstGeom prst="ellipse">
                <a:avLst/>
              </a:prstGeom>
              <a:solidFill>
                <a:srgbClr val="FFFFFF"/>
              </a:solidFill>
              <a:ln w="12700">
                <a:solidFill>
                  <a:schemeClr val="bg1"/>
                </a:solidFill>
                <a:round/>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83" name="Oval 18"/>
              <p:cNvSpPr>
                <a:spLocks noChangeArrowheads="1"/>
              </p:cNvSpPr>
              <p:nvPr/>
            </p:nvSpPr>
            <p:spPr bwMode="auto">
              <a:xfrm>
                <a:off x="2448" y="2928"/>
                <a:ext cx="192" cy="144"/>
              </a:xfrm>
              <a:prstGeom prst="ellipse">
                <a:avLst/>
              </a:prstGeom>
              <a:solidFill>
                <a:srgbClr val="FFFFFF"/>
              </a:solidFill>
              <a:ln w="12700">
                <a:solidFill>
                  <a:schemeClr val="bg1"/>
                </a:solidFill>
                <a:round/>
                <a:headEnd type="none" w="sm" len="sm"/>
                <a:tailEnd type="none" w="sm" len="sm"/>
              </a:ln>
            </p:spPr>
            <p:txBody>
              <a:bodyPr wrap="none" anchor="ct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eaLnBrk="1" hangingPunct="1"/>
                <a:endParaRPr lang="zh-CN" altLang="zh-CN"/>
              </a:p>
            </p:txBody>
          </p:sp>
          <p:cxnSp>
            <p:nvCxnSpPr>
              <p:cNvPr id="84" name="AutoShape 19"/>
              <p:cNvCxnSpPr>
                <a:cxnSpLocks noChangeShapeType="1"/>
                <a:stCxn id="71" idx="1"/>
              </p:cNvCxnSpPr>
              <p:nvPr/>
            </p:nvCxnSpPr>
            <p:spPr bwMode="auto">
              <a:xfrm rot="16200000" flipH="1" flipV="1">
                <a:off x="884" y="2029"/>
                <a:ext cx="759" cy="799"/>
              </a:xfrm>
              <a:prstGeom prst="curvedConnector4">
                <a:avLst>
                  <a:gd name="adj1" fmla="val -18962"/>
                  <a:gd name="adj2" fmla="val 91195"/>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cxnSp>
          <p:cxnSp>
            <p:nvCxnSpPr>
              <p:cNvPr id="85" name="AutoShape 20"/>
              <p:cNvCxnSpPr>
                <a:cxnSpLocks noChangeShapeType="1"/>
                <a:stCxn id="72" idx="2"/>
                <a:endCxn id="78" idx="1"/>
              </p:cNvCxnSpPr>
              <p:nvPr/>
            </p:nvCxnSpPr>
            <p:spPr bwMode="auto">
              <a:xfrm rot="16200000" flipH="1">
                <a:off x="1243" y="3101"/>
                <a:ext cx="304" cy="535"/>
              </a:xfrm>
              <a:prstGeom prst="curvedConnector3">
                <a:avLst>
                  <a:gd name="adj1" fmla="val 50000"/>
                </a:avLst>
              </a:prstGeom>
              <a:noFill/>
              <a:ln w="38100">
                <a:solidFill>
                  <a:srgbClr val="3333FF"/>
                </a:solidFill>
                <a:round/>
                <a:headEnd type="triangle" w="med" len="med"/>
                <a:tailEnd/>
              </a:ln>
              <a:extLst>
                <a:ext uri="{909E8E84-426E-40DD-AFC4-6F175D3DCCD1}">
                  <a14:hiddenFill xmlns:a14="http://schemas.microsoft.com/office/drawing/2010/main">
                    <a:noFill/>
                  </a14:hiddenFill>
                </a:ext>
              </a:extLst>
            </p:spPr>
          </p:cxnSp>
          <p:cxnSp>
            <p:nvCxnSpPr>
              <p:cNvPr id="86" name="AutoShape 21"/>
              <p:cNvCxnSpPr>
                <a:cxnSpLocks noChangeShapeType="1"/>
                <a:endCxn id="78" idx="2"/>
              </p:cNvCxnSpPr>
              <p:nvPr/>
            </p:nvCxnSpPr>
            <p:spPr bwMode="auto">
              <a:xfrm rot="16200000" flipH="1">
                <a:off x="949" y="3205"/>
                <a:ext cx="645" cy="529"/>
              </a:xfrm>
              <a:prstGeom prst="curvedConnector2">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87" name="AutoShape 22"/>
              <p:cNvCxnSpPr>
                <a:cxnSpLocks noChangeShapeType="1"/>
                <a:stCxn id="78" idx="6"/>
                <a:endCxn id="74" idx="2"/>
              </p:cNvCxnSpPr>
              <p:nvPr/>
            </p:nvCxnSpPr>
            <p:spPr bwMode="auto">
              <a:xfrm flipV="1">
                <a:off x="2400" y="3216"/>
                <a:ext cx="138" cy="576"/>
              </a:xfrm>
              <a:prstGeom prst="curvedConnector2">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cxnSp>
        </p:grpSp>
        <p:sp>
          <p:nvSpPr>
            <p:cNvPr id="67" name="AutoShape 38"/>
            <p:cNvSpPr>
              <a:spLocks noChangeArrowheads="1"/>
            </p:cNvSpPr>
            <p:nvPr/>
          </p:nvSpPr>
          <p:spPr bwMode="auto">
            <a:xfrm>
              <a:off x="32" y="3792"/>
              <a:ext cx="736" cy="384"/>
            </a:xfrm>
            <a:prstGeom prst="roundRect">
              <a:avLst>
                <a:gd name="adj" fmla="val 16667"/>
              </a:avLst>
            </a:prstGeom>
            <a:solidFill>
              <a:schemeClr val="accent1"/>
            </a:solidFill>
            <a:ln w="12700">
              <a:solidFill>
                <a:schemeClr val="tx1"/>
              </a:solidFill>
              <a:round/>
              <a:headEnd/>
              <a:tailEnd/>
            </a:ln>
            <a:effectLst>
              <a:outerShdw dist="53882" dir="2700000" algn="ctr" rotWithShape="0">
                <a:schemeClr val="tx1"/>
              </a:outerShdw>
            </a:effectLst>
          </p:spPr>
          <p:txBody>
            <a:bodyPr wrap="none" anchor="ctr"/>
            <a:lstStyle/>
            <a:p>
              <a:pPr>
                <a:defRPr/>
              </a:pPr>
              <a:r>
                <a:rPr lang="zh-CN" altLang="en-US" sz="2400" dirty="0">
                  <a:effectLst>
                    <a:outerShdw blurRad="38100" dist="38100" dir="2700000" algn="tl">
                      <a:srgbClr val="000000"/>
                    </a:outerShdw>
                  </a:effectLst>
                  <a:latin typeface="+mn-ea"/>
                  <a:ea typeface="+mn-ea"/>
                </a:rPr>
                <a:t>请求边</a:t>
              </a:r>
            </a:p>
          </p:txBody>
        </p:sp>
        <p:sp>
          <p:nvSpPr>
            <p:cNvPr id="68" name="AutoShape 39"/>
            <p:cNvSpPr>
              <a:spLocks noChangeArrowheads="1"/>
            </p:cNvSpPr>
            <p:nvPr/>
          </p:nvSpPr>
          <p:spPr bwMode="auto">
            <a:xfrm>
              <a:off x="-100" y="2007"/>
              <a:ext cx="724" cy="393"/>
            </a:xfrm>
            <a:prstGeom prst="flowChartAlternateProcess">
              <a:avLst/>
            </a:prstGeom>
            <a:solidFill>
              <a:schemeClr val="accent1"/>
            </a:solidFill>
            <a:ln w="12700">
              <a:solidFill>
                <a:schemeClr val="tx1"/>
              </a:solidFill>
              <a:miter lim="800000"/>
              <a:headEnd/>
              <a:tailEnd/>
            </a:ln>
            <a:effectLst>
              <a:outerShdw dist="53882" dir="2700000" algn="ctr" rotWithShape="0">
                <a:schemeClr val="tx1"/>
              </a:outerShdw>
            </a:effectLst>
          </p:spPr>
          <p:txBody>
            <a:bodyPr wrap="none" anchor="ctr"/>
            <a:lstStyle/>
            <a:p>
              <a:pPr>
                <a:defRPr/>
              </a:pPr>
              <a:r>
                <a:rPr lang="zh-CN" altLang="en-US" sz="2400" b="1" dirty="0">
                  <a:latin typeface="+mn-ea"/>
                  <a:ea typeface="+mn-ea"/>
                </a:rPr>
                <a:t>分配</a:t>
              </a:r>
              <a:r>
                <a:rPr lang="zh-CN" altLang="en-US" sz="2400" b="1" dirty="0">
                  <a:effectLst>
                    <a:outerShdw blurRad="38100" dist="38100" dir="2700000" algn="tl">
                      <a:srgbClr val="000000"/>
                    </a:outerShdw>
                  </a:effectLst>
                  <a:latin typeface="+mn-ea"/>
                  <a:ea typeface="+mn-ea"/>
                </a:rPr>
                <a:t>边</a:t>
              </a:r>
            </a:p>
          </p:txBody>
        </p:sp>
        <p:sp>
          <p:nvSpPr>
            <p:cNvPr id="69" name="Line 40"/>
            <p:cNvSpPr>
              <a:spLocks noChangeShapeType="1"/>
            </p:cNvSpPr>
            <p:nvPr/>
          </p:nvSpPr>
          <p:spPr bwMode="auto">
            <a:xfrm>
              <a:off x="336" y="2400"/>
              <a:ext cx="288" cy="240"/>
            </a:xfrm>
            <a:prstGeom prst="line">
              <a:avLst/>
            </a:prstGeom>
            <a:noFill/>
            <a:ln w="12700">
              <a:solidFill>
                <a:schemeClr val="bg1"/>
              </a:solidFill>
              <a:round/>
              <a:headEnd/>
              <a:tailEnd type="triangle" w="med" len="med"/>
            </a:ln>
            <a:effectLst>
              <a:outerShdw dist="53882" dir="2700000" algn="ctr" rotWithShape="0">
                <a:schemeClr val="tx1"/>
              </a:outerShdw>
            </a:effectLst>
          </p:spPr>
          <p:txBody>
            <a:bodyPr anchor="ctr"/>
            <a:lstStyle/>
            <a:p>
              <a:pPr algn="l">
                <a:defRPr/>
              </a:pPr>
              <a:endParaRPr lang="zh-CN" altLang="en-US" sz="2400">
                <a:solidFill>
                  <a:schemeClr val="tx1"/>
                </a:solidFill>
                <a:latin typeface="Arial" charset="0"/>
              </a:endParaRPr>
            </a:p>
          </p:txBody>
        </p:sp>
        <p:sp>
          <p:nvSpPr>
            <p:cNvPr id="70" name="Line 41"/>
            <p:cNvSpPr>
              <a:spLocks noChangeShapeType="1"/>
            </p:cNvSpPr>
            <p:nvPr/>
          </p:nvSpPr>
          <p:spPr bwMode="auto">
            <a:xfrm flipV="1">
              <a:off x="720" y="3369"/>
              <a:ext cx="396" cy="471"/>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sz="2400"/>
            </a:p>
          </p:txBody>
        </p:sp>
      </p:grpSp>
    </p:spTree>
    <p:extLst>
      <p:ext uri="{BB962C8B-B14F-4D97-AF65-F5344CB8AC3E}">
        <p14:creationId xmlns:p14="http://schemas.microsoft.com/office/powerpoint/2010/main" val="176050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0-#ppt_w/2"/>
                                          </p:val>
                                        </p:tav>
                                        <p:tav tm="100000">
                                          <p:val>
                                            <p:strVal val="#ppt_x"/>
                                          </p:val>
                                        </p:tav>
                                      </p:tavLst>
                                    </p:anim>
                                    <p:anim calcmode="lin" valueType="num">
                                      <p:cBhvr additive="base">
                                        <p:cTn id="8"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0-#ppt_w/2"/>
                                          </p:val>
                                        </p:tav>
                                        <p:tav tm="100000">
                                          <p:val>
                                            <p:strVal val="#ppt_x"/>
                                          </p:val>
                                        </p:tav>
                                      </p:tavLst>
                                    </p:anim>
                                    <p:anim calcmode="lin" valueType="num">
                                      <p:cBhvr additive="base">
                                        <p:cTn id="14"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anim calcmode="lin" valueType="num">
                                      <p:cBhvr additive="base">
                                        <p:cTn id="19" dur="500" fill="hold"/>
                                        <p:tgtEl>
                                          <p:spTgt spid="62"/>
                                        </p:tgtEl>
                                        <p:attrNameLst>
                                          <p:attrName>ppt_x</p:attrName>
                                        </p:attrNameLst>
                                      </p:cBhvr>
                                      <p:tavLst>
                                        <p:tav tm="0">
                                          <p:val>
                                            <p:strVal val="0-#ppt_w/2"/>
                                          </p:val>
                                        </p:tav>
                                        <p:tav tm="100000">
                                          <p:val>
                                            <p:strVal val="#ppt_x"/>
                                          </p:val>
                                        </p:tav>
                                      </p:tavLst>
                                    </p:anim>
                                    <p:anim calcmode="lin" valueType="num">
                                      <p:cBhvr additive="base">
                                        <p:cTn id="20"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anim calcmode="lin" valueType="num">
                                      <p:cBhvr additive="base">
                                        <p:cTn id="25" dur="500" fill="hold"/>
                                        <p:tgtEl>
                                          <p:spTgt spid="63"/>
                                        </p:tgtEl>
                                        <p:attrNameLst>
                                          <p:attrName>ppt_x</p:attrName>
                                        </p:attrNameLst>
                                      </p:cBhvr>
                                      <p:tavLst>
                                        <p:tav tm="0">
                                          <p:val>
                                            <p:strVal val="0-#ppt_w/2"/>
                                          </p:val>
                                        </p:tav>
                                        <p:tav tm="100000">
                                          <p:val>
                                            <p:strVal val="#ppt_x"/>
                                          </p:val>
                                        </p:tav>
                                      </p:tavLst>
                                    </p:anim>
                                    <p:anim calcmode="lin" valueType="num">
                                      <p:cBhvr additive="base">
                                        <p:cTn id="26"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4"/>
                                        </p:tgtEl>
                                        <p:attrNameLst>
                                          <p:attrName>style.visibility</p:attrName>
                                        </p:attrNameLst>
                                      </p:cBhvr>
                                      <p:to>
                                        <p:strVal val="visible"/>
                                      </p:to>
                                    </p:set>
                                    <p:anim calcmode="lin" valueType="num">
                                      <p:cBhvr additive="base">
                                        <p:cTn id="31" dur="500" fill="hold"/>
                                        <p:tgtEl>
                                          <p:spTgt spid="64"/>
                                        </p:tgtEl>
                                        <p:attrNameLst>
                                          <p:attrName>ppt_x</p:attrName>
                                        </p:attrNameLst>
                                      </p:cBhvr>
                                      <p:tavLst>
                                        <p:tav tm="0">
                                          <p:val>
                                            <p:strVal val="0-#ppt_w/2"/>
                                          </p:val>
                                        </p:tav>
                                        <p:tav tm="100000">
                                          <p:val>
                                            <p:strVal val="#ppt_x"/>
                                          </p:val>
                                        </p:tav>
                                      </p:tavLst>
                                    </p:anim>
                                    <p:anim calcmode="lin" valueType="num">
                                      <p:cBhvr additive="base">
                                        <p:cTn id="32" dur="500" fill="hold"/>
                                        <p:tgtEl>
                                          <p:spTgt spid="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autoUpdateAnimBg="0"/>
      <p:bldP spid="62" grpId="0" animBg="1" autoUpdateAnimBg="0"/>
      <p:bldP spid="63" grpId="0" animBg="1" autoUpdateAnimBg="0"/>
      <p:bldP spid="64"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）死锁定理</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3" name="文本框 54"/>
          <p:cNvSpPr txBox="1">
            <a:spLocks noChangeArrowheads="1"/>
          </p:cNvSpPr>
          <p:nvPr/>
        </p:nvSpPr>
        <p:spPr bwMode="auto">
          <a:xfrm>
            <a:off x="1107897" y="1963661"/>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充分条件</a:t>
            </a:r>
          </a:p>
        </p:txBody>
      </p:sp>
      <p:sp>
        <p:nvSpPr>
          <p:cNvPr id="29" name="文本框 19"/>
          <p:cNvSpPr txBox="1">
            <a:spLocks noChangeArrowheads="1"/>
          </p:cNvSpPr>
          <p:nvPr/>
        </p:nvSpPr>
        <p:spPr bwMode="auto">
          <a:xfrm>
            <a:off x="1126172" y="2331599"/>
            <a:ext cx="102917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当且仅当系统某状态</a:t>
            </a:r>
            <a:r>
              <a:rPr lang="en-US" altLang="zh-CN" sz="2400" dirty="0"/>
              <a:t>S</a:t>
            </a:r>
            <a:r>
              <a:rPr lang="zh-CN" altLang="en-US" sz="2400" dirty="0"/>
              <a:t>所对应的资源分配图是不可完全简化的，则</a:t>
            </a:r>
            <a:r>
              <a:rPr lang="en-US" altLang="zh-CN" sz="2400" dirty="0"/>
              <a:t>S</a:t>
            </a:r>
            <a:r>
              <a:rPr lang="zh-CN" altLang="en-US" sz="2400" dirty="0"/>
              <a:t>是死锁状态，而不可化简的进程是被死锁的进程。</a:t>
            </a:r>
          </a:p>
        </p:txBody>
      </p:sp>
      <p:sp>
        <p:nvSpPr>
          <p:cNvPr id="34" name="文本框 54"/>
          <p:cNvSpPr txBox="1">
            <a:spLocks noChangeArrowheads="1"/>
          </p:cNvSpPr>
          <p:nvPr/>
        </p:nvSpPr>
        <p:spPr bwMode="auto">
          <a:xfrm>
            <a:off x="1096274" y="3176726"/>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完全简化</a:t>
            </a:r>
          </a:p>
        </p:txBody>
      </p:sp>
      <p:sp>
        <p:nvSpPr>
          <p:cNvPr id="35" name="文本框 19"/>
          <p:cNvSpPr txBox="1">
            <a:spLocks noChangeArrowheads="1"/>
          </p:cNvSpPr>
          <p:nvPr/>
        </p:nvSpPr>
        <p:spPr bwMode="auto">
          <a:xfrm>
            <a:off x="1114549" y="3543116"/>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通过一系列简化后，所有的进程都成为孤立节点。</a:t>
            </a:r>
          </a:p>
        </p:txBody>
      </p:sp>
      <p:sp>
        <p:nvSpPr>
          <p:cNvPr id="11" name="文本框 25"/>
          <p:cNvSpPr txBox="1">
            <a:spLocks noChangeArrowheads="1"/>
          </p:cNvSpPr>
          <p:nvPr/>
        </p:nvSpPr>
        <p:spPr bwMode="auto">
          <a:xfrm>
            <a:off x="902970" y="212725"/>
            <a:ext cx="200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死锁的检测</a:t>
            </a:r>
          </a:p>
        </p:txBody>
      </p:sp>
      <p:sp>
        <p:nvSpPr>
          <p:cNvPr id="12" name="文本框 54"/>
          <p:cNvSpPr txBox="1">
            <a:spLocks noChangeArrowheads="1"/>
          </p:cNvSpPr>
          <p:nvPr/>
        </p:nvSpPr>
        <p:spPr bwMode="auto">
          <a:xfrm>
            <a:off x="1122062" y="4116912"/>
            <a:ext cx="17235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不可完全简化</a:t>
            </a:r>
          </a:p>
        </p:txBody>
      </p:sp>
      <p:sp>
        <p:nvSpPr>
          <p:cNvPr id="13" name="文本框 19"/>
          <p:cNvSpPr txBox="1">
            <a:spLocks noChangeArrowheads="1"/>
          </p:cNvSpPr>
          <p:nvPr/>
        </p:nvSpPr>
        <p:spPr bwMode="auto">
          <a:xfrm>
            <a:off x="1140337" y="4483302"/>
            <a:ext cx="102917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通过任何过程都不能使图完全简化。</a:t>
            </a:r>
          </a:p>
        </p:txBody>
      </p:sp>
    </p:spTree>
    <p:extLst>
      <p:ext uri="{BB962C8B-B14F-4D97-AF65-F5344CB8AC3E}">
        <p14:creationId xmlns:p14="http://schemas.microsoft.com/office/powerpoint/2010/main" val="332749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strVal val="#ppt_w+.3"/>
                                          </p:val>
                                        </p:tav>
                                        <p:tav tm="100000">
                                          <p:val>
                                            <p:strVal val="#ppt_w"/>
                                          </p:val>
                                        </p:tav>
                                      </p:tavLst>
                                    </p:anim>
                                    <p:anim calcmode="lin" valueType="num">
                                      <p:cBhvr>
                                        <p:cTn id="8" dur="500" fill="hold"/>
                                        <p:tgtEl>
                                          <p:spTgt spid="33"/>
                                        </p:tgtEl>
                                        <p:attrNameLst>
                                          <p:attrName>ppt_h</p:attrName>
                                        </p:attrNameLst>
                                      </p:cBhvr>
                                      <p:tavLst>
                                        <p:tav tm="0">
                                          <p:val>
                                            <p:strVal val="#ppt_h"/>
                                          </p:val>
                                        </p:tav>
                                        <p:tav tm="100000">
                                          <p:val>
                                            <p:strVal val="#ppt_h"/>
                                          </p:val>
                                        </p:tav>
                                      </p:tavLst>
                                    </p:anim>
                                    <p:animEffect transition="in" filter="fade">
                                      <p:cBhvr>
                                        <p:cTn id="9" dur="500"/>
                                        <p:tgtEl>
                                          <p:spTgt spid="33"/>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iterate type="lt">
                                    <p:tmPct val="5000"/>
                                  </p:iterate>
                                  <p:childTnLst>
                                    <p:set>
                                      <p:cBhvr>
                                        <p:cTn id="13" dur="1" fill="hold">
                                          <p:stCondLst>
                                            <p:cond delay="0"/>
                                          </p:stCondLst>
                                        </p:cTn>
                                        <p:tgtEl>
                                          <p:spTgt spid="34"/>
                                        </p:tgtEl>
                                        <p:attrNameLst>
                                          <p:attrName>style.visibility</p:attrName>
                                        </p:attrNameLst>
                                      </p:cBhvr>
                                      <p:to>
                                        <p:strVal val="visible"/>
                                      </p:to>
                                    </p:set>
                                    <p:anim calcmode="lin" valueType="num">
                                      <p:cBhvr>
                                        <p:cTn id="14" dur="500" fill="hold"/>
                                        <p:tgtEl>
                                          <p:spTgt spid="34"/>
                                        </p:tgtEl>
                                        <p:attrNameLst>
                                          <p:attrName>ppt_w</p:attrName>
                                        </p:attrNameLst>
                                      </p:cBhvr>
                                      <p:tavLst>
                                        <p:tav tm="0">
                                          <p:val>
                                            <p:strVal val="#ppt_w+.3"/>
                                          </p:val>
                                        </p:tav>
                                        <p:tav tm="100000">
                                          <p:val>
                                            <p:strVal val="#ppt_w"/>
                                          </p:val>
                                        </p:tav>
                                      </p:tavLst>
                                    </p:anim>
                                    <p:anim calcmode="lin" valueType="num">
                                      <p:cBhvr>
                                        <p:cTn id="15" dur="500" fill="hold"/>
                                        <p:tgtEl>
                                          <p:spTgt spid="34"/>
                                        </p:tgtEl>
                                        <p:attrNameLst>
                                          <p:attrName>ppt_h</p:attrName>
                                        </p:attrNameLst>
                                      </p:cBhvr>
                                      <p:tavLst>
                                        <p:tav tm="0">
                                          <p:val>
                                            <p:strVal val="#ppt_h"/>
                                          </p:val>
                                        </p:tav>
                                        <p:tav tm="100000">
                                          <p:val>
                                            <p:strVal val="#ppt_h"/>
                                          </p:val>
                                        </p:tav>
                                      </p:tavLst>
                                    </p:anim>
                                    <p:animEffect transition="in" filter="fad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9">
                                            <p:txEl>
                                              <p:pRg st="0" end="0"/>
                                            </p:txEl>
                                          </p:spTgt>
                                        </p:tgtEl>
                                        <p:attrNameLst>
                                          <p:attrName>style.visibility</p:attrName>
                                        </p:attrNameLst>
                                      </p:cBhvr>
                                      <p:to>
                                        <p:strVal val="visible"/>
                                      </p:to>
                                    </p:set>
                                    <p:animEffect transition="in" filter="barn(inVertical)">
                                      <p:cBhvr>
                                        <p:cTn id="21" dur="500"/>
                                        <p:tgtEl>
                                          <p:spTgt spid="2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5">
                                            <p:txEl>
                                              <p:pRg st="0" end="0"/>
                                            </p:txEl>
                                          </p:spTgt>
                                        </p:tgtEl>
                                        <p:attrNameLst>
                                          <p:attrName>style.visibility</p:attrName>
                                        </p:attrNameLst>
                                      </p:cBhvr>
                                      <p:to>
                                        <p:strVal val="visible"/>
                                      </p:to>
                                    </p:set>
                                    <p:animEffect transition="in" filter="wipe(down)">
                                      <p:cBhvr>
                                        <p:cTn id="26" dur="500"/>
                                        <p:tgtEl>
                                          <p:spTgt spid="3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0" presetClass="entr" presetSubtype="0" decel="100000" fill="hold" grpId="0" nodeType="clickEffect">
                                  <p:stCondLst>
                                    <p:cond delay="0"/>
                                  </p:stCondLst>
                                  <p:iterate type="lt">
                                    <p:tmPct val="5000"/>
                                  </p:iterate>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strVal val="#ppt_w+.3"/>
                                          </p:val>
                                        </p:tav>
                                        <p:tav tm="100000">
                                          <p:val>
                                            <p:strVal val="#ppt_w"/>
                                          </p:val>
                                        </p:tav>
                                      </p:tavLst>
                                    </p:anim>
                                    <p:anim calcmode="lin" valueType="num">
                                      <p:cBhvr>
                                        <p:cTn id="32" dur="500" fill="hold"/>
                                        <p:tgtEl>
                                          <p:spTgt spid="12"/>
                                        </p:tgtEl>
                                        <p:attrNameLst>
                                          <p:attrName>ppt_h</p:attrName>
                                        </p:attrNameLst>
                                      </p:cBhvr>
                                      <p:tavLst>
                                        <p:tav tm="0">
                                          <p:val>
                                            <p:strVal val="#ppt_h"/>
                                          </p:val>
                                        </p:tav>
                                        <p:tav tm="100000">
                                          <p:val>
                                            <p:strVal val="#ppt_h"/>
                                          </p:val>
                                        </p:tav>
                                      </p:tavLst>
                                    </p:anim>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3">
                                            <p:txEl>
                                              <p:pRg st="0" end="0"/>
                                            </p:txEl>
                                          </p:spTgt>
                                        </p:tgtEl>
                                        <p:attrNameLst>
                                          <p:attrName>style.visibility</p:attrName>
                                        </p:attrNameLst>
                                      </p:cBhvr>
                                      <p:to>
                                        <p:strVal val="visible"/>
                                      </p:to>
                                    </p:set>
                                    <p:animEffect transition="in" filter="wipe(down)">
                                      <p:cBhvr>
                                        <p:cTn id="38"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死锁的检测</a:t>
            </a:r>
          </a:p>
        </p:txBody>
      </p:sp>
      <p:sp>
        <p:nvSpPr>
          <p:cNvPr id="3" name="矩形 2"/>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）死锁定理</a:t>
            </a:r>
          </a:p>
        </p:txBody>
      </p:sp>
      <p:graphicFrame>
        <p:nvGraphicFramePr>
          <p:cNvPr id="6" name="Object 6"/>
          <p:cNvGraphicFramePr>
            <a:graphicFrameLocks noChangeAspect="1"/>
          </p:cNvGraphicFramePr>
          <p:nvPr/>
        </p:nvGraphicFramePr>
        <p:xfrm>
          <a:off x="1111346" y="2553286"/>
          <a:ext cx="9144000" cy="3081338"/>
        </p:xfrm>
        <a:graphic>
          <a:graphicData uri="http://schemas.openxmlformats.org/presentationml/2006/ole">
            <mc:AlternateContent xmlns:mc="http://schemas.openxmlformats.org/markup-compatibility/2006">
              <mc:Choice xmlns:v="urn:schemas-microsoft-com:vml" Requires="v">
                <p:oleObj name="Visio" r:id="rId2" imgW="4573429" imgH="1542391" progId="Visio.Drawing.11">
                  <p:embed/>
                </p:oleObj>
              </mc:Choice>
              <mc:Fallback>
                <p:oleObj name="Visio" r:id="rId2" imgW="4573429" imgH="1542391" progId="Visio.Drawing.11">
                  <p:embed/>
                  <p:pic>
                    <p:nvPicPr>
                      <p:cNvPr id="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346" y="2553286"/>
                        <a:ext cx="91440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文本框 54"/>
          <p:cNvSpPr txBox="1">
            <a:spLocks noChangeArrowheads="1"/>
          </p:cNvSpPr>
          <p:nvPr/>
        </p:nvSpPr>
        <p:spPr bwMode="auto">
          <a:xfrm>
            <a:off x="1096274" y="1868431"/>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595959"/>
                </a:solidFill>
                <a:latin typeface="微软雅黑" panose="020B0503020204020204" pitchFamily="34" charset="-122"/>
                <a:ea typeface="微软雅黑" panose="020B0503020204020204" pitchFamily="34" charset="-122"/>
              </a:rPr>
              <a:t>资源分配图的简化</a:t>
            </a:r>
          </a:p>
        </p:txBody>
      </p:sp>
    </p:spTree>
    <p:extLst>
      <p:ext uri="{BB962C8B-B14F-4D97-AF65-F5344CB8AC3E}">
        <p14:creationId xmlns:p14="http://schemas.microsoft.com/office/powerpoint/2010/main" val="59583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3"/>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3200"/>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3200"/>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）死锁检测中的数据结构</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9" name="文本框 19"/>
          <p:cNvSpPr txBox="1">
            <a:spLocks noChangeArrowheads="1"/>
          </p:cNvSpPr>
          <p:nvPr/>
        </p:nvSpPr>
        <p:spPr bwMode="auto">
          <a:xfrm>
            <a:off x="1055831" y="1881423"/>
            <a:ext cx="1064848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3200" dirty="0">
                <a:latin typeface="Times New Roman" panose="02020603050405020304" pitchFamily="18" charset="0"/>
              </a:rPr>
              <a:t>可利用资源向量</a:t>
            </a:r>
            <a:r>
              <a:rPr kumimoji="1" lang="en-US" altLang="zh-CN" sz="3200" u="sng" dirty="0">
                <a:solidFill>
                  <a:schemeClr val="accent2"/>
                </a:solidFill>
                <a:latin typeface="Times New Roman" panose="02020603050405020304" pitchFamily="18" charset="0"/>
              </a:rPr>
              <a:t>Available</a:t>
            </a:r>
            <a:r>
              <a:rPr kumimoji="1" lang="zh-CN" altLang="en-US" sz="3200" dirty="0">
                <a:latin typeface="Times New Roman" panose="02020603050405020304" pitchFamily="18" charset="0"/>
              </a:rPr>
              <a:t>，它表示了</a:t>
            </a:r>
            <a:r>
              <a:rPr kumimoji="1" lang="en-US" altLang="zh-CN" sz="3200" i="1" dirty="0">
                <a:latin typeface="Times New Roman" panose="02020603050405020304" pitchFamily="18" charset="0"/>
              </a:rPr>
              <a:t>m</a:t>
            </a:r>
            <a:r>
              <a:rPr kumimoji="1" lang="zh-CN" altLang="en-US" sz="3200" dirty="0">
                <a:latin typeface="Times New Roman" panose="02020603050405020304" pitchFamily="18" charset="0"/>
              </a:rPr>
              <a:t>类资源中每一类资源的可用数目。</a:t>
            </a:r>
            <a:endParaRPr lang="zh-CN" altLang="en-US" sz="3200" dirty="0"/>
          </a:p>
        </p:txBody>
      </p:sp>
      <p:sp>
        <p:nvSpPr>
          <p:cNvPr id="35" name="文本框 19"/>
          <p:cNvSpPr txBox="1">
            <a:spLocks noChangeArrowheads="1"/>
          </p:cNvSpPr>
          <p:nvPr/>
        </p:nvSpPr>
        <p:spPr bwMode="auto">
          <a:xfrm>
            <a:off x="1072344" y="2896011"/>
            <a:ext cx="1056163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3200" dirty="0">
                <a:latin typeface="Times New Roman" panose="02020603050405020304" pitchFamily="18" charset="0"/>
              </a:rPr>
              <a:t>把不占用资源的进程</a:t>
            </a:r>
            <a:r>
              <a:rPr kumimoji="1" lang="en-US" altLang="zh-CN" sz="3200" dirty="0">
                <a:latin typeface="Times New Roman" panose="02020603050405020304" pitchFamily="18" charset="0"/>
              </a:rPr>
              <a:t>(</a:t>
            </a:r>
            <a:r>
              <a:rPr kumimoji="1" lang="zh-CN" altLang="en-US" sz="3200" dirty="0">
                <a:latin typeface="Times New Roman" panose="02020603050405020304" pitchFamily="18" charset="0"/>
              </a:rPr>
              <a:t>向量</a:t>
            </a:r>
            <a:r>
              <a:rPr kumimoji="1" lang="en-US" altLang="zh-CN" sz="3200" dirty="0">
                <a:latin typeface="Times New Roman" panose="02020603050405020304" pitchFamily="18" charset="0"/>
              </a:rPr>
              <a:t>Allocation==0)</a:t>
            </a:r>
            <a:r>
              <a:rPr kumimoji="1" lang="zh-CN" altLang="en-US" sz="3200" dirty="0">
                <a:latin typeface="Times New Roman" panose="02020603050405020304" pitchFamily="18" charset="0"/>
              </a:rPr>
              <a:t>记入</a:t>
            </a:r>
            <a:r>
              <a:rPr kumimoji="1" lang="en-US" altLang="zh-CN" sz="3200" dirty="0">
                <a:latin typeface="Times New Roman" panose="02020603050405020304" pitchFamily="18" charset="0"/>
              </a:rPr>
              <a:t>L</a:t>
            </a:r>
            <a:r>
              <a:rPr kumimoji="1" lang="zh-CN" altLang="en-US" sz="3200" dirty="0">
                <a:latin typeface="Times New Roman" panose="02020603050405020304" pitchFamily="18" charset="0"/>
              </a:rPr>
              <a:t>表中， 即</a:t>
            </a:r>
            <a:r>
              <a:rPr kumimoji="1" lang="en-US" altLang="zh-CN" sz="3200" dirty="0" err="1">
                <a:latin typeface="Times New Roman" panose="02020603050405020304" pitchFamily="18" charset="0"/>
              </a:rPr>
              <a:t>L</a:t>
            </a:r>
            <a:r>
              <a:rPr kumimoji="1" lang="en-US" altLang="zh-CN" sz="3200" baseline="-25000" dirty="0" err="1">
                <a:latin typeface="Times New Roman" panose="02020603050405020304" pitchFamily="18" charset="0"/>
              </a:rPr>
              <a:t>i</a:t>
            </a:r>
            <a:r>
              <a:rPr kumimoji="1" lang="en-US" altLang="zh-CN" sz="3200" dirty="0" err="1">
                <a:latin typeface="Times New Roman" panose="02020603050405020304" pitchFamily="18" charset="0"/>
              </a:rPr>
              <a:t>∪L</a:t>
            </a:r>
            <a:r>
              <a:rPr kumimoji="1" lang="zh-CN" altLang="en-US" sz="3200" dirty="0">
                <a:latin typeface="Times New Roman" panose="02020603050405020304" pitchFamily="18" charset="0"/>
              </a:rPr>
              <a:t>。</a:t>
            </a:r>
            <a:endParaRPr lang="zh-CN" altLang="en-US" sz="3200" dirty="0"/>
          </a:p>
        </p:txBody>
      </p:sp>
      <p:sp>
        <p:nvSpPr>
          <p:cNvPr id="11" name="文本框 25"/>
          <p:cNvSpPr txBox="1">
            <a:spLocks noChangeArrowheads="1"/>
          </p:cNvSpPr>
          <p:nvPr/>
        </p:nvSpPr>
        <p:spPr bwMode="auto">
          <a:xfrm>
            <a:off x="902970" y="212725"/>
            <a:ext cx="200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死锁的检测</a:t>
            </a:r>
          </a:p>
        </p:txBody>
      </p:sp>
      <p:sp>
        <p:nvSpPr>
          <p:cNvPr id="13" name="文本框 19"/>
          <p:cNvSpPr txBox="1">
            <a:spLocks noChangeArrowheads="1"/>
          </p:cNvSpPr>
          <p:nvPr/>
        </p:nvSpPr>
        <p:spPr bwMode="auto">
          <a:xfrm>
            <a:off x="1084064" y="3962795"/>
            <a:ext cx="1062025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3200" dirty="0">
                <a:latin typeface="Times New Roman" panose="02020603050405020304" pitchFamily="18" charset="0"/>
              </a:rPr>
              <a:t>从进程集合中找到一个</a:t>
            </a:r>
            <a:r>
              <a:rPr kumimoji="1" lang="en-US" altLang="zh-CN" sz="3200" dirty="0" err="1">
                <a:latin typeface="Times New Roman" panose="02020603050405020304" pitchFamily="18" charset="0"/>
              </a:rPr>
              <a:t>Request</a:t>
            </a:r>
            <a:r>
              <a:rPr kumimoji="1" lang="en-US" altLang="zh-CN" sz="3200" baseline="-25000" dirty="0" err="1">
                <a:latin typeface="Times New Roman" panose="02020603050405020304" pitchFamily="18" charset="0"/>
              </a:rPr>
              <a:t>i</a:t>
            </a:r>
            <a:r>
              <a:rPr kumimoji="1" lang="en-US" altLang="zh-CN" sz="3200" dirty="0">
                <a:latin typeface="Times New Roman" panose="02020603050405020304" pitchFamily="18" charset="0"/>
              </a:rPr>
              <a:t>&lt;=Work</a:t>
            </a:r>
            <a:r>
              <a:rPr kumimoji="1" lang="zh-CN" altLang="en-US" sz="3200" dirty="0">
                <a:latin typeface="Times New Roman" panose="02020603050405020304" pitchFamily="18" charset="0"/>
              </a:rPr>
              <a:t>的进程，做如下处理：① 将其资源分配图简化，释放出资源，增加工作向量</a:t>
            </a:r>
            <a:r>
              <a:rPr kumimoji="1" lang="en-US" altLang="zh-CN" sz="3200" dirty="0">
                <a:latin typeface="Times New Roman" panose="02020603050405020304" pitchFamily="18" charset="0"/>
              </a:rPr>
              <a:t>Work=</a:t>
            </a:r>
            <a:r>
              <a:rPr kumimoji="1" lang="en-US" altLang="zh-CN" sz="3200" dirty="0" err="1">
                <a:latin typeface="Times New Roman" panose="02020603050405020304" pitchFamily="18" charset="0"/>
              </a:rPr>
              <a:t>Work+Allocation</a:t>
            </a:r>
            <a:r>
              <a:rPr kumimoji="1" lang="en-US" altLang="zh-CN" sz="3200" baseline="-25000" dirty="0" err="1">
                <a:latin typeface="Times New Roman" panose="02020603050405020304" pitchFamily="18" charset="0"/>
              </a:rPr>
              <a:t>i</a:t>
            </a:r>
            <a:r>
              <a:rPr kumimoji="1" lang="zh-CN" altLang="en-US" sz="3200" dirty="0">
                <a:latin typeface="Times New Roman" panose="02020603050405020304" pitchFamily="18" charset="0"/>
              </a:rPr>
              <a:t>。 ② 将它记入</a:t>
            </a:r>
            <a:r>
              <a:rPr kumimoji="1" lang="en-US" altLang="zh-CN" sz="3200" dirty="0">
                <a:latin typeface="Times New Roman" panose="02020603050405020304" pitchFamily="18" charset="0"/>
              </a:rPr>
              <a:t>L</a:t>
            </a:r>
            <a:r>
              <a:rPr kumimoji="1" lang="zh-CN" altLang="en-US" sz="3200" dirty="0">
                <a:latin typeface="Times New Roman" panose="02020603050405020304" pitchFamily="18" charset="0"/>
              </a:rPr>
              <a:t>表中。</a:t>
            </a:r>
          </a:p>
        </p:txBody>
      </p:sp>
      <p:sp>
        <p:nvSpPr>
          <p:cNvPr id="14" name="文本框 19"/>
          <p:cNvSpPr txBox="1">
            <a:spLocks noChangeArrowheads="1"/>
          </p:cNvSpPr>
          <p:nvPr/>
        </p:nvSpPr>
        <p:spPr bwMode="auto">
          <a:xfrm>
            <a:off x="1041860" y="5486683"/>
            <a:ext cx="1080313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kumimoji="1" lang="zh-CN" altLang="en-US" sz="3200" dirty="0"/>
              <a:t>若不能把所有进程都记入</a:t>
            </a:r>
            <a:r>
              <a:rPr kumimoji="1" lang="en-US" altLang="zh-CN" sz="3200" dirty="0"/>
              <a:t>L</a:t>
            </a:r>
            <a:r>
              <a:rPr kumimoji="1" lang="zh-CN" altLang="en-US" sz="3200" dirty="0"/>
              <a:t>表中， 便表明系统状态</a:t>
            </a:r>
            <a:r>
              <a:rPr kumimoji="1" lang="en-US" altLang="zh-CN" sz="3200" dirty="0"/>
              <a:t>S</a:t>
            </a:r>
            <a:r>
              <a:rPr kumimoji="1" lang="zh-CN" altLang="en-US" sz="3200" dirty="0"/>
              <a:t>的资源分配图是不可完全简化的。 因此，该系统状态将发生死锁。</a:t>
            </a:r>
            <a:r>
              <a:rPr kumimoji="1" lang="zh-CN" altLang="en-US" sz="3200" dirty="0">
                <a:latin typeface="Times New Roman" panose="02020603050405020304" pitchFamily="18" charset="0"/>
              </a:rPr>
              <a:t> </a:t>
            </a:r>
          </a:p>
        </p:txBody>
      </p:sp>
    </p:spTree>
    <p:extLst>
      <p:ext uri="{BB962C8B-B14F-4D97-AF65-F5344CB8AC3E}">
        <p14:creationId xmlns:p14="http://schemas.microsoft.com/office/powerpoint/2010/main" val="377188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barn(inVertical)">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5">
                                            <p:txEl>
                                              <p:pRg st="0" end="0"/>
                                            </p:txEl>
                                          </p:spTgt>
                                        </p:tgtEl>
                                        <p:attrNameLst>
                                          <p:attrName>style.visibility</p:attrName>
                                        </p:attrNameLst>
                                      </p:cBhvr>
                                      <p:to>
                                        <p:strVal val="visible"/>
                                      </p:to>
                                    </p:set>
                                    <p:animEffect transition="in" filter="wipe(down)">
                                      <p:cBhvr>
                                        <p:cTn id="12" dur="500"/>
                                        <p:tgtEl>
                                          <p:spTgt spid="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wipe(down)">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wipe(down)">
                                      <p:cBhvr>
                                        <p:cTn id="22"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3200"/>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3200"/>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）死锁检测中的数据结构</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1" name="文本框 25"/>
          <p:cNvSpPr txBox="1">
            <a:spLocks noChangeArrowheads="1"/>
          </p:cNvSpPr>
          <p:nvPr/>
        </p:nvSpPr>
        <p:spPr bwMode="auto">
          <a:xfrm>
            <a:off x="902970" y="212725"/>
            <a:ext cx="200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死锁的检测</a:t>
            </a:r>
          </a:p>
        </p:txBody>
      </p:sp>
      <p:sp>
        <p:nvSpPr>
          <p:cNvPr id="12" name="Text Box 4"/>
          <p:cNvSpPr txBox="1">
            <a:spLocks noChangeArrowheads="1"/>
          </p:cNvSpPr>
          <p:nvPr/>
        </p:nvSpPr>
        <p:spPr bwMode="auto">
          <a:xfrm>
            <a:off x="2018323" y="1877113"/>
            <a:ext cx="8334375" cy="4833182"/>
          </a:xfrm>
          <a:prstGeom prst="rect">
            <a:avLst/>
          </a:prstGeom>
          <a:solidFill>
            <a:srgbClr val="FEF8AE"/>
          </a:solidFill>
          <a:ln w="9525">
            <a:solidFill>
              <a:srgbClr val="000000"/>
            </a:solidFill>
            <a:miter lim="800000"/>
            <a:headEnd/>
            <a:tailEnd/>
          </a:ln>
        </p:spPr>
        <p:txBody>
          <a:bodyPr/>
          <a:lstStyle>
            <a:lvl1pPr eaLnBrk="0" hangingPunct="0">
              <a:defRPr sz="2400">
                <a:solidFill>
                  <a:srgbClr val="FFFFFF"/>
                </a:solidFill>
                <a:latin typeface="Arial" panose="020B0604020202020204" pitchFamily="34" charset="0"/>
                <a:ea typeface="宋体" panose="02010600030101010101" pitchFamily="2" charset="-122"/>
              </a:defRPr>
            </a:lvl1pPr>
            <a:lvl2pPr marL="742950" indent="-285750" eaLnBrk="0" hangingPunct="0">
              <a:defRPr sz="2400">
                <a:solidFill>
                  <a:srgbClr val="FFFFFF"/>
                </a:solidFill>
                <a:latin typeface="Arial" panose="020B0604020202020204" pitchFamily="34" charset="0"/>
                <a:ea typeface="宋体" panose="02010600030101010101" pitchFamily="2" charset="-122"/>
              </a:defRPr>
            </a:lvl2pPr>
            <a:lvl3pPr marL="1143000" indent="-228600" eaLnBrk="0" hangingPunct="0">
              <a:defRPr sz="2400">
                <a:solidFill>
                  <a:srgbClr val="FFFFFF"/>
                </a:solidFill>
                <a:latin typeface="Arial" panose="020B0604020202020204" pitchFamily="34" charset="0"/>
                <a:ea typeface="宋体" panose="02010600030101010101" pitchFamily="2" charset="-122"/>
              </a:defRPr>
            </a:lvl3pPr>
            <a:lvl4pPr marL="1600200" indent="-228600" eaLnBrk="0" hangingPunct="0">
              <a:defRPr sz="2400">
                <a:solidFill>
                  <a:srgbClr val="FFFFFF"/>
                </a:solidFill>
                <a:latin typeface="Arial" panose="020B0604020202020204" pitchFamily="34" charset="0"/>
                <a:ea typeface="宋体" panose="02010600030101010101" pitchFamily="2" charset="-122"/>
              </a:defRPr>
            </a:lvl4pPr>
            <a:lvl5pPr marL="2057400" indent="-228600" eaLnBrk="0" hangingPunct="0">
              <a:defRPr sz="2400">
                <a:solidFill>
                  <a:srgbClr val="FFFFFF"/>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400">
                <a:solidFill>
                  <a:srgbClr val="FFFFFF"/>
                </a:solidFill>
                <a:latin typeface="Arial" panose="020B0604020202020204" pitchFamily="34" charset="0"/>
                <a:ea typeface="宋体" panose="02010600030101010101" pitchFamily="2" charset="-122"/>
              </a:defRPr>
            </a:lvl9pPr>
          </a:lstStyle>
          <a:p>
            <a:pPr algn="just" eaLnBrk="1" hangingPunct="1"/>
            <a:r>
              <a:rPr lang="en-US" altLang="zh-CN" sz="2800" b="1" dirty="0">
                <a:solidFill>
                  <a:schemeClr val="tx1"/>
                </a:solidFill>
                <a:latin typeface="Times New Roman" panose="02020603050405020304" pitchFamily="18" charset="0"/>
              </a:rPr>
              <a:t>Work  =  Available;</a:t>
            </a:r>
          </a:p>
          <a:p>
            <a:pPr algn="just" eaLnBrk="1" hangingPunct="1"/>
            <a:r>
              <a:rPr lang="en-US" altLang="zh-CN" sz="2800" b="1" dirty="0">
                <a:solidFill>
                  <a:schemeClr val="tx1"/>
                </a:solidFill>
                <a:latin typeface="Times New Roman" panose="02020603050405020304" pitchFamily="18" charset="0"/>
              </a:rPr>
              <a:t>L  = {L</a:t>
            </a:r>
            <a:r>
              <a:rPr lang="en-US" altLang="zh-CN" sz="2800" b="1" baseline="-25000" dirty="0">
                <a:solidFill>
                  <a:schemeClr val="tx1"/>
                </a:solidFill>
                <a:latin typeface="Times New Roman" panose="02020603050405020304" pitchFamily="18" charset="0"/>
              </a:rPr>
              <a:t>i</a:t>
            </a:r>
            <a:r>
              <a:rPr lang="en-US" altLang="zh-CN" sz="2800" b="1" dirty="0">
                <a:solidFill>
                  <a:schemeClr val="tx1"/>
                </a:solidFill>
                <a:latin typeface="Times New Roman" panose="02020603050405020304" pitchFamily="18" charset="0"/>
              </a:rPr>
              <a:t>| </a:t>
            </a:r>
            <a:r>
              <a:rPr lang="en-US" altLang="zh-CN" sz="2800" b="1" dirty="0" err="1">
                <a:solidFill>
                  <a:schemeClr val="tx1"/>
                </a:solidFill>
                <a:latin typeface="Times New Roman" panose="02020603050405020304" pitchFamily="18" charset="0"/>
              </a:rPr>
              <a:t>Allocation</a:t>
            </a:r>
            <a:r>
              <a:rPr lang="en-US" altLang="zh-CN" sz="2800" b="1" baseline="-25000" dirty="0" err="1">
                <a:solidFill>
                  <a:schemeClr val="tx1"/>
                </a:solidFill>
                <a:latin typeface="Times New Roman" panose="02020603050405020304" pitchFamily="18" charset="0"/>
              </a:rPr>
              <a:t>i</a:t>
            </a:r>
            <a:r>
              <a:rPr lang="en-US" altLang="zh-CN" sz="2800" b="1" dirty="0">
                <a:solidFill>
                  <a:schemeClr val="tx1"/>
                </a:solidFill>
                <a:latin typeface="Times New Roman" panose="02020603050405020304" pitchFamily="18" charset="0"/>
              </a:rPr>
              <a:t>=0∩Request</a:t>
            </a:r>
            <a:r>
              <a:rPr lang="en-US" altLang="zh-CN" sz="2800" b="1" baseline="-25000" dirty="0">
                <a:solidFill>
                  <a:schemeClr val="tx1"/>
                </a:solidFill>
                <a:latin typeface="Times New Roman" panose="02020603050405020304" pitchFamily="18" charset="0"/>
              </a:rPr>
              <a:t>i</a:t>
            </a:r>
            <a:r>
              <a:rPr lang="en-US" altLang="zh-CN" sz="2800" b="1" dirty="0">
                <a:solidFill>
                  <a:schemeClr val="tx1"/>
                </a:solidFill>
                <a:latin typeface="Times New Roman" panose="02020603050405020304" pitchFamily="18" charset="0"/>
              </a:rPr>
              <a:t>=0} (</a:t>
            </a:r>
            <a:r>
              <a:rPr lang="zh-CN" altLang="en-US" sz="2800" b="1" dirty="0">
                <a:solidFill>
                  <a:schemeClr val="tx1"/>
                </a:solidFill>
                <a:latin typeface="Times New Roman" panose="02020603050405020304" pitchFamily="18" charset="0"/>
              </a:rPr>
              <a:t>孤立进程点</a:t>
            </a:r>
            <a:r>
              <a:rPr lang="en-US" altLang="zh-CN" sz="2800" b="1" dirty="0">
                <a:solidFill>
                  <a:schemeClr val="tx1"/>
                </a:solidFill>
                <a:latin typeface="Times New Roman" panose="02020603050405020304" pitchFamily="18" charset="0"/>
              </a:rPr>
              <a:t>)</a:t>
            </a:r>
          </a:p>
          <a:p>
            <a:pPr algn="just" eaLnBrk="1" hangingPunct="1"/>
            <a:r>
              <a:rPr lang="en-US" altLang="zh-CN" sz="2800" b="1" dirty="0">
                <a:solidFill>
                  <a:schemeClr val="tx1"/>
                </a:solidFill>
                <a:latin typeface="Times New Roman" panose="02020603050405020304" pitchFamily="18" charset="0"/>
              </a:rPr>
              <a:t>for ( all  L</a:t>
            </a:r>
            <a:r>
              <a:rPr lang="en-US" altLang="zh-CN" sz="2800" b="1" baseline="-25000" dirty="0">
                <a:solidFill>
                  <a:schemeClr val="tx1"/>
                </a:solidFill>
                <a:latin typeface="Times New Roman" panose="02020603050405020304" pitchFamily="18" charset="0"/>
              </a:rPr>
              <a:t>i</a:t>
            </a:r>
            <a:r>
              <a:rPr lang="en-US" altLang="zh-CN" sz="2800" b="1" dirty="0">
                <a:solidFill>
                  <a:schemeClr val="tx1"/>
                </a:solidFill>
                <a:latin typeface="Times New Roman" panose="02020603050405020304" pitchFamily="18" charset="0"/>
              </a:rPr>
              <a:t> </a:t>
            </a:r>
            <a:r>
              <a:rPr lang="en-US" altLang="zh-CN" sz="2800" b="1" dirty="0">
                <a:solidFill>
                  <a:schemeClr val="tx1"/>
                </a:solidFill>
                <a:latin typeface="Times New Roman" panose="02020603050405020304" pitchFamily="18" charset="0"/>
                <a:sym typeface="Symbol" panose="05050102010706020507" pitchFamily="18" charset="2"/>
              </a:rPr>
              <a:t></a:t>
            </a:r>
            <a:r>
              <a:rPr lang="en-US" altLang="zh-CN" sz="2800" b="1" dirty="0">
                <a:solidFill>
                  <a:schemeClr val="tx1"/>
                </a:solidFill>
                <a:latin typeface="Times New Roman" panose="02020603050405020304" pitchFamily="18" charset="0"/>
              </a:rPr>
              <a:t>  L )</a:t>
            </a:r>
          </a:p>
          <a:p>
            <a:pPr algn="just" eaLnBrk="1" hangingPunct="1"/>
            <a:r>
              <a:rPr lang="en-US" altLang="zh-CN" sz="2800" b="1" dirty="0">
                <a:solidFill>
                  <a:schemeClr val="tx1"/>
                </a:solidFill>
                <a:latin typeface="Times New Roman" panose="02020603050405020304" pitchFamily="18" charset="0"/>
              </a:rPr>
              <a:t>   {</a:t>
            </a:r>
          </a:p>
          <a:p>
            <a:pPr algn="just" eaLnBrk="1" hangingPunct="1"/>
            <a:r>
              <a:rPr lang="en-US" altLang="zh-CN" sz="2800" b="1" dirty="0">
                <a:solidFill>
                  <a:schemeClr val="tx1"/>
                </a:solidFill>
                <a:latin typeface="Times New Roman" panose="02020603050405020304" pitchFamily="18" charset="0"/>
              </a:rPr>
              <a:t>	for (all </a:t>
            </a:r>
            <a:r>
              <a:rPr lang="en-US" altLang="zh-CN" sz="2800" b="1" dirty="0" err="1">
                <a:solidFill>
                  <a:schemeClr val="tx1"/>
                </a:solidFill>
                <a:latin typeface="Times New Roman" panose="02020603050405020304" pitchFamily="18" charset="0"/>
              </a:rPr>
              <a:t>request</a:t>
            </a:r>
            <a:r>
              <a:rPr lang="en-US" altLang="zh-CN" sz="2800" b="1" baseline="-25000" dirty="0" err="1">
                <a:solidFill>
                  <a:schemeClr val="tx1"/>
                </a:solidFill>
                <a:latin typeface="Times New Roman" panose="02020603050405020304" pitchFamily="18" charset="0"/>
              </a:rPr>
              <a:t>i</a:t>
            </a:r>
            <a:r>
              <a:rPr lang="en-US" altLang="zh-CN" sz="2800" b="1" baseline="-25000" dirty="0">
                <a:solidFill>
                  <a:schemeClr val="tx1"/>
                </a:solidFill>
                <a:latin typeface="Times New Roman" panose="02020603050405020304" pitchFamily="18" charset="0"/>
              </a:rPr>
              <a:t> </a:t>
            </a:r>
            <a:r>
              <a:rPr lang="en-US" altLang="zh-CN" sz="2800" b="1" dirty="0">
                <a:solidFill>
                  <a:schemeClr val="tx1"/>
                </a:solidFill>
                <a:latin typeface="Times New Roman" panose="02020603050405020304" pitchFamily="18" charset="0"/>
              </a:rPr>
              <a:t>&lt;=Work )  {</a:t>
            </a:r>
          </a:p>
          <a:p>
            <a:pPr algn="just" eaLnBrk="1" hangingPunct="1"/>
            <a:r>
              <a:rPr lang="en-US" altLang="zh-CN" sz="2800" b="1" dirty="0">
                <a:solidFill>
                  <a:schemeClr val="tx1"/>
                </a:solidFill>
                <a:latin typeface="Times New Roman" panose="02020603050405020304" pitchFamily="18" charset="0"/>
              </a:rPr>
              <a:t>	         Work  = Work + </a:t>
            </a:r>
            <a:r>
              <a:rPr lang="en-US" altLang="zh-CN" sz="2800" b="1" dirty="0" err="1">
                <a:solidFill>
                  <a:schemeClr val="tx1"/>
                </a:solidFill>
                <a:latin typeface="Times New Roman" panose="02020603050405020304" pitchFamily="18" charset="0"/>
              </a:rPr>
              <a:t>Allocation</a:t>
            </a:r>
            <a:r>
              <a:rPr lang="en-US" altLang="zh-CN" sz="2800" b="1" baseline="-25000" dirty="0" err="1">
                <a:solidFill>
                  <a:schemeClr val="tx1"/>
                </a:solidFill>
                <a:latin typeface="Times New Roman" panose="02020603050405020304" pitchFamily="18" charset="0"/>
              </a:rPr>
              <a:t>i</a:t>
            </a:r>
            <a:r>
              <a:rPr lang="en-US" altLang="zh-CN" sz="2800" b="1" dirty="0">
                <a:solidFill>
                  <a:schemeClr val="tx1"/>
                </a:solidFill>
                <a:latin typeface="Times New Roman" panose="02020603050405020304" pitchFamily="18" charset="0"/>
              </a:rPr>
              <a:t>;</a:t>
            </a:r>
          </a:p>
          <a:p>
            <a:pPr algn="just" eaLnBrk="1" hangingPunct="1"/>
            <a:r>
              <a:rPr lang="en-US" altLang="zh-CN" sz="2800" b="1" dirty="0">
                <a:solidFill>
                  <a:schemeClr val="tx1"/>
                </a:solidFill>
                <a:latin typeface="Times New Roman" panose="02020603050405020304" pitchFamily="18" charset="0"/>
              </a:rPr>
              <a:t>		L=</a:t>
            </a:r>
            <a:r>
              <a:rPr lang="en-US" altLang="zh-CN" sz="2800" b="1" dirty="0" err="1">
                <a:solidFill>
                  <a:schemeClr val="tx1"/>
                </a:solidFill>
                <a:latin typeface="Times New Roman" panose="02020603050405020304" pitchFamily="18" charset="0"/>
              </a:rPr>
              <a:t>L</a:t>
            </a:r>
            <a:r>
              <a:rPr lang="en-US" altLang="zh-CN" sz="2800" b="1" baseline="-25000" dirty="0" err="1">
                <a:solidFill>
                  <a:schemeClr val="tx1"/>
                </a:solidFill>
                <a:latin typeface="Times New Roman" panose="02020603050405020304" pitchFamily="18" charset="0"/>
              </a:rPr>
              <a:t>i</a:t>
            </a:r>
            <a:r>
              <a:rPr lang="en-US" altLang="zh-CN" sz="2800" b="1" dirty="0" err="1">
                <a:solidFill>
                  <a:schemeClr val="tx1"/>
                </a:solidFill>
                <a:latin typeface="宋体" panose="02010600030101010101" pitchFamily="2" charset="-122"/>
              </a:rPr>
              <a:t>∪</a:t>
            </a:r>
            <a:r>
              <a:rPr lang="en-US" altLang="zh-CN" sz="2800" b="1" dirty="0" err="1">
                <a:solidFill>
                  <a:schemeClr val="tx1"/>
                </a:solidFill>
                <a:latin typeface="Times New Roman" panose="02020603050405020304" pitchFamily="18" charset="0"/>
              </a:rPr>
              <a:t>L</a:t>
            </a:r>
            <a:r>
              <a:rPr lang="en-US" altLang="zh-CN" sz="2800" b="1" dirty="0">
                <a:solidFill>
                  <a:schemeClr val="tx1"/>
                </a:solidFill>
                <a:latin typeface="Times New Roman" panose="02020603050405020304" pitchFamily="18" charset="0"/>
              </a:rPr>
              <a:t>;</a:t>
            </a:r>
          </a:p>
          <a:p>
            <a:pPr algn="just" eaLnBrk="1" hangingPunct="1"/>
            <a:r>
              <a:rPr lang="en-US" altLang="zh-CN" sz="2800" b="1" dirty="0">
                <a:solidFill>
                  <a:schemeClr val="tx1"/>
                </a:solidFill>
                <a:latin typeface="Times New Roman" panose="02020603050405020304" pitchFamily="18" charset="0"/>
              </a:rPr>
              <a:t>	    }	</a:t>
            </a:r>
          </a:p>
          <a:p>
            <a:pPr algn="just" eaLnBrk="1" hangingPunct="1"/>
            <a:r>
              <a:rPr lang="en-US" altLang="zh-CN" sz="2800" b="1" dirty="0">
                <a:solidFill>
                  <a:schemeClr val="tx1"/>
                </a:solidFill>
                <a:latin typeface="Times New Roman" panose="02020603050405020304" pitchFamily="18" charset="0"/>
              </a:rPr>
              <a:t>    }</a:t>
            </a:r>
          </a:p>
          <a:p>
            <a:pPr algn="just" eaLnBrk="1" hangingPunct="1"/>
            <a:r>
              <a:rPr lang="en-US" altLang="zh-CN" sz="2800" b="1" dirty="0">
                <a:solidFill>
                  <a:schemeClr val="tx1"/>
                </a:solidFill>
                <a:latin typeface="Times New Roman" panose="02020603050405020304" pitchFamily="18" charset="0"/>
              </a:rPr>
              <a:t>   deadlock  =  ~(L={p</a:t>
            </a:r>
            <a:r>
              <a:rPr lang="en-US" altLang="zh-CN" sz="2800" b="1" baseline="-25000" dirty="0">
                <a:solidFill>
                  <a:schemeClr val="tx1"/>
                </a:solidFill>
                <a:latin typeface="Times New Roman" panose="02020603050405020304" pitchFamily="18" charset="0"/>
              </a:rPr>
              <a:t>1</a:t>
            </a:r>
            <a:r>
              <a:rPr lang="en-US" altLang="zh-CN" sz="2800" b="1" dirty="0">
                <a:solidFill>
                  <a:schemeClr val="tx1"/>
                </a:solidFill>
                <a:latin typeface="Times New Roman" panose="02020603050405020304" pitchFamily="18" charset="0"/>
              </a:rPr>
              <a:t> ,p</a:t>
            </a:r>
            <a:r>
              <a:rPr lang="en-US" altLang="zh-CN" sz="2800" b="1" baseline="-25000" dirty="0">
                <a:solidFill>
                  <a:schemeClr val="tx1"/>
                </a:solidFill>
                <a:latin typeface="Times New Roman" panose="02020603050405020304" pitchFamily="18" charset="0"/>
              </a:rPr>
              <a:t>2</a:t>
            </a:r>
            <a:r>
              <a:rPr lang="en-US" altLang="zh-CN" sz="2800" b="1" dirty="0">
                <a:solidFill>
                  <a:schemeClr val="tx1"/>
                </a:solidFill>
                <a:latin typeface="Times New Roman" panose="02020603050405020304" pitchFamily="18" charset="0"/>
              </a:rPr>
              <a:t> , … , </a:t>
            </a:r>
            <a:r>
              <a:rPr lang="en-US" altLang="zh-CN" sz="2800" b="1" dirty="0" err="1">
                <a:solidFill>
                  <a:schemeClr val="tx1"/>
                </a:solidFill>
                <a:latin typeface="Times New Roman" panose="02020603050405020304" pitchFamily="18" charset="0"/>
              </a:rPr>
              <a:t>p</a:t>
            </a:r>
            <a:r>
              <a:rPr lang="en-US" altLang="zh-CN" sz="2800" b="1" baseline="-25000" dirty="0" err="1">
                <a:solidFill>
                  <a:schemeClr val="tx1"/>
                </a:solidFill>
                <a:latin typeface="Times New Roman" panose="02020603050405020304" pitchFamily="18" charset="0"/>
              </a:rPr>
              <a:t>n</a:t>
            </a:r>
            <a:r>
              <a:rPr lang="en-US" altLang="zh-CN" sz="2800" b="1" dirty="0">
                <a:solidFill>
                  <a:schemeClr val="tx1"/>
                </a:solidFill>
                <a:latin typeface="Times New Roman" panose="02020603050405020304" pitchFamily="18" charset="0"/>
              </a:rPr>
              <a:t>});</a:t>
            </a:r>
            <a:endParaRPr lang="en-US" altLang="zh-CN" sz="2800" b="1" dirty="0">
              <a:solidFill>
                <a:schemeClr val="tx1"/>
              </a:solidFill>
            </a:endParaRPr>
          </a:p>
        </p:txBody>
      </p:sp>
    </p:spTree>
    <p:extLst>
      <p:ext uri="{BB962C8B-B14F-4D97-AF65-F5344CB8AC3E}">
        <p14:creationId xmlns:p14="http://schemas.microsoft.com/office/powerpoint/2010/main" val="34497902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3"/>
          <p:cNvSpPr/>
          <p:nvPr/>
        </p:nvSpPr>
        <p:spPr bwMode="gray">
          <a:xfrm flipV="1">
            <a:off x="1666294" y="3885248"/>
            <a:ext cx="1609352" cy="1453237"/>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5" name="箭头1"/>
          <p:cNvSpPr/>
          <p:nvPr/>
        </p:nvSpPr>
        <p:spPr bwMode="gray">
          <a:xfrm>
            <a:off x="1655944" y="2662849"/>
            <a:ext cx="1609352" cy="1654448"/>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cs typeface="+mn-ea"/>
              <a:sym typeface="+mn-lt"/>
            </a:endParaRPr>
          </a:p>
        </p:txBody>
      </p:sp>
      <p:sp>
        <p:nvSpPr>
          <p:cNvPr id="6" name="文本1"/>
          <p:cNvSpPr>
            <a:spLocks noChangeArrowheads="1"/>
          </p:cNvSpPr>
          <p:nvPr/>
        </p:nvSpPr>
        <p:spPr bwMode="gray">
          <a:xfrm>
            <a:off x="5058697" y="1893325"/>
            <a:ext cx="5515897" cy="2016304"/>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kumimoji="0" lang="zh-CN" altLang="zh-CN" sz="1600" i="0" u="none" strike="noStrike" kern="1200" cap="none" spc="0" normalizeH="0" baseline="0" noProof="0" dirty="0">
              <a:ln>
                <a:noFill/>
              </a:ln>
              <a:solidFill>
                <a:srgbClr val="4D4D4D"/>
              </a:solidFill>
              <a:effectLst/>
              <a:uLnTx/>
              <a:uFillTx/>
              <a:cs typeface="+mn-ea"/>
              <a:sym typeface="+mn-lt"/>
            </a:endParaRPr>
          </a:p>
        </p:txBody>
      </p:sp>
      <p:sp>
        <p:nvSpPr>
          <p:cNvPr id="7" name="标题1"/>
          <p:cNvSpPr>
            <a:spLocks noChangeArrowheads="1"/>
          </p:cNvSpPr>
          <p:nvPr/>
        </p:nvSpPr>
        <p:spPr bwMode="gray">
          <a:xfrm>
            <a:off x="3211616" y="2331164"/>
            <a:ext cx="1847082" cy="1155600"/>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2400" b="1" noProof="0" dirty="0">
                <a:solidFill>
                  <a:sysClr val="window" lastClr="FFFFFF">
                    <a:lumMod val="95000"/>
                  </a:sysClr>
                </a:solidFill>
                <a:cs typeface="+mn-ea"/>
                <a:sym typeface="+mn-lt"/>
              </a:rPr>
              <a:t>  抢占资源</a:t>
            </a:r>
            <a:endParaRPr kumimoji="0" lang="zh-CN" altLang="zh-CN" sz="2400" b="1" i="0" u="none" strike="noStrike" kern="1200" cap="none" spc="0" normalizeH="0" baseline="0" noProof="0" dirty="0">
              <a:ln>
                <a:noFill/>
              </a:ln>
              <a:solidFill>
                <a:sysClr val="window" lastClr="FFFFFF">
                  <a:lumMod val="95000"/>
                </a:sysClr>
              </a:solidFill>
              <a:effectLst/>
              <a:uLnTx/>
              <a:uFillTx/>
              <a:cs typeface="+mn-ea"/>
              <a:sym typeface="+mn-lt"/>
            </a:endParaRPr>
          </a:p>
        </p:txBody>
      </p:sp>
      <p:sp>
        <p:nvSpPr>
          <p:cNvPr id="10" name="文本3"/>
          <p:cNvSpPr>
            <a:spLocks noChangeArrowheads="1"/>
          </p:cNvSpPr>
          <p:nvPr/>
        </p:nvSpPr>
        <p:spPr bwMode="ltGray">
          <a:xfrm>
            <a:off x="5058696" y="4084261"/>
            <a:ext cx="5515897" cy="2018490"/>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fontAlgn="base">
              <a:lnSpc>
                <a:spcPct val="120000"/>
              </a:lnSpc>
              <a:spcBef>
                <a:spcPct val="0"/>
              </a:spcBef>
              <a:spcAft>
                <a:spcPct val="0"/>
              </a:spcAft>
              <a:defRPr/>
            </a:pPr>
            <a:r>
              <a:rPr lang="zh-CN" altLang="en-US" sz="1600" dirty="0">
                <a:solidFill>
                  <a:srgbClr val="4D4D4D"/>
                </a:solidFill>
                <a:cs typeface="+mn-ea"/>
                <a:sym typeface="+mn-lt"/>
              </a:rPr>
              <a:t>    </a:t>
            </a:r>
            <a:endParaRPr lang="zh-CN" altLang="zh-CN" sz="1600" dirty="0">
              <a:solidFill>
                <a:srgbClr val="4D4D4D"/>
              </a:solidFill>
              <a:cs typeface="+mn-ea"/>
              <a:sym typeface="+mn-lt"/>
            </a:endParaRPr>
          </a:p>
        </p:txBody>
      </p:sp>
      <p:sp>
        <p:nvSpPr>
          <p:cNvPr id="11" name="标题3"/>
          <p:cNvSpPr>
            <a:spLocks noChangeArrowheads="1"/>
          </p:cNvSpPr>
          <p:nvPr/>
        </p:nvSpPr>
        <p:spPr bwMode="gray">
          <a:xfrm>
            <a:off x="3275646" y="4610621"/>
            <a:ext cx="1789401" cy="1154559"/>
          </a:xfrm>
          <a:prstGeom prst="roundRect">
            <a:avLst>
              <a:gd name="adj" fmla="val 11921"/>
            </a:avLst>
          </a:prstGeom>
          <a:ln/>
        </p:spPr>
        <p:style>
          <a:lnRef idx="3">
            <a:schemeClr val="lt1"/>
          </a:lnRef>
          <a:fillRef idx="1">
            <a:schemeClr val="accent6"/>
          </a:fillRef>
          <a:effectRef idx="1">
            <a:schemeClr val="accent6"/>
          </a:effectRef>
          <a:fontRef idx="minor">
            <a:schemeClr val="lt1"/>
          </a:fontRef>
        </p:style>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fontAlgn="base">
              <a:lnSpc>
                <a:spcPct val="120000"/>
              </a:lnSpc>
              <a:spcBef>
                <a:spcPct val="0"/>
              </a:spcBef>
              <a:spcAft>
                <a:spcPct val="0"/>
              </a:spcAft>
              <a:defRPr/>
            </a:pPr>
            <a:r>
              <a:rPr lang="zh-CN" altLang="en-US" sz="2400" b="1" dirty="0">
                <a:solidFill>
                  <a:sysClr val="window" lastClr="FFFFFF">
                    <a:lumMod val="95000"/>
                  </a:sysClr>
                </a:solidFill>
                <a:cs typeface="+mn-ea"/>
                <a:sym typeface="+mn-lt"/>
              </a:rPr>
              <a:t>撤销进程</a:t>
            </a:r>
            <a:endParaRPr lang="zh-CN" altLang="zh-CN" sz="2400" b="1" dirty="0">
              <a:solidFill>
                <a:sysClr val="window" lastClr="FFFFFF">
                  <a:lumMod val="95000"/>
                </a:sysClr>
              </a:solidFill>
              <a:cs typeface="+mn-ea"/>
              <a:sym typeface="+mn-lt"/>
            </a:endParaRPr>
          </a:p>
        </p:txBody>
      </p:sp>
      <p:sp>
        <p:nvSpPr>
          <p:cNvPr id="12" name="Oval 19"/>
          <p:cNvSpPr>
            <a:spLocks noChangeArrowheads="1"/>
          </p:cNvSpPr>
          <p:nvPr/>
        </p:nvSpPr>
        <p:spPr bwMode="auto">
          <a:xfrm>
            <a:off x="1139335" y="3351857"/>
            <a:ext cx="1440000" cy="1440000"/>
          </a:xfrm>
          <a:prstGeom prst="roundRect">
            <a:avLst/>
          </a:prstGeom>
          <a:ln/>
        </p:spPr>
        <p:style>
          <a:lnRef idx="3">
            <a:schemeClr val="lt1"/>
          </a:lnRef>
          <a:fillRef idx="1">
            <a:schemeClr val="accent6"/>
          </a:fillRef>
          <a:effectRef idx="1">
            <a:schemeClr val="accent6"/>
          </a:effectRef>
          <a:fontRef idx="minor">
            <a:schemeClr val="lt1"/>
          </a:fontRef>
        </p:style>
        <p:txBody>
          <a:bodyPr lIns="126000" rIns="126000" bIns="180000" anchor="ctr"/>
          <a:lstStyle/>
          <a:p>
            <a:pPr algn="ctr">
              <a:lnSpc>
                <a:spcPct val="120000"/>
              </a:lnSpc>
            </a:pPr>
            <a:r>
              <a:rPr lang="zh-CN" altLang="en-US" sz="2400" b="1" kern="0" dirty="0">
                <a:solidFill>
                  <a:srgbClr val="F9F9F9"/>
                </a:solidFill>
                <a:cs typeface="+mn-ea"/>
                <a:sym typeface="+mn-lt"/>
              </a:rPr>
              <a:t>常用</a:t>
            </a:r>
            <a:endParaRPr lang="en-US" altLang="zh-CN" sz="2400" b="1" kern="0" dirty="0">
              <a:solidFill>
                <a:srgbClr val="F9F9F9"/>
              </a:solidFill>
              <a:cs typeface="+mn-ea"/>
              <a:sym typeface="+mn-lt"/>
            </a:endParaRPr>
          </a:p>
          <a:p>
            <a:pPr algn="ctr">
              <a:lnSpc>
                <a:spcPct val="120000"/>
              </a:lnSpc>
            </a:pPr>
            <a:r>
              <a:rPr lang="zh-CN" altLang="en-US" sz="2400" b="1" kern="0" dirty="0">
                <a:solidFill>
                  <a:srgbClr val="F9F9F9"/>
                </a:solidFill>
                <a:cs typeface="+mn-ea"/>
                <a:sym typeface="+mn-lt"/>
              </a:rPr>
              <a:t>方法</a:t>
            </a:r>
            <a:endParaRPr lang="en-US" altLang="zh-CN" sz="2400" b="1" kern="0" dirty="0">
              <a:solidFill>
                <a:srgbClr val="F9F9F9"/>
              </a:solidFill>
              <a:cs typeface="+mn-ea"/>
              <a:sym typeface="+mn-lt"/>
            </a:endParaRPr>
          </a:p>
        </p:txBody>
      </p:sp>
      <p:sp>
        <p:nvSpPr>
          <p:cNvPr id="14" name="矩形 13"/>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5" name="矩形 14"/>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6"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死锁解除的常用方法</a:t>
            </a:r>
          </a:p>
        </p:txBody>
      </p:sp>
      <p:sp>
        <p:nvSpPr>
          <p:cNvPr id="17" name="文本框 19"/>
          <p:cNvSpPr txBox="1">
            <a:spLocks noChangeArrowheads="1"/>
          </p:cNvSpPr>
          <p:nvPr/>
        </p:nvSpPr>
        <p:spPr bwMode="auto">
          <a:xfrm>
            <a:off x="5385191" y="2444845"/>
            <a:ext cx="51586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b="1" dirty="0"/>
              <a:t>从其它进程剥夺足够数量的资源给死锁进程。</a:t>
            </a:r>
          </a:p>
        </p:txBody>
      </p:sp>
      <p:sp>
        <p:nvSpPr>
          <p:cNvPr id="18" name="文本框 19"/>
          <p:cNvSpPr txBox="1">
            <a:spLocks noChangeArrowheads="1"/>
          </p:cNvSpPr>
          <p:nvPr/>
        </p:nvSpPr>
        <p:spPr bwMode="auto">
          <a:xfrm>
            <a:off x="5385191" y="4140246"/>
            <a:ext cx="50419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b="1" dirty="0"/>
              <a:t>最简单的方法是撤消全部死锁的进程，使全部死锁进程都夭折掉。</a:t>
            </a:r>
          </a:p>
        </p:txBody>
      </p:sp>
      <p:sp>
        <p:nvSpPr>
          <p:cNvPr id="19" name="文本框 25"/>
          <p:cNvSpPr txBox="1">
            <a:spLocks noChangeArrowheads="1"/>
          </p:cNvSpPr>
          <p:nvPr/>
        </p:nvSpPr>
        <p:spPr bwMode="auto">
          <a:xfrm>
            <a:off x="902970" y="212725"/>
            <a:ext cx="200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死锁的解除</a:t>
            </a:r>
          </a:p>
        </p:txBody>
      </p:sp>
      <p:sp>
        <p:nvSpPr>
          <p:cNvPr id="20" name="文本框 19"/>
          <p:cNvSpPr txBox="1">
            <a:spLocks noChangeArrowheads="1"/>
          </p:cNvSpPr>
          <p:nvPr/>
        </p:nvSpPr>
        <p:spPr bwMode="auto">
          <a:xfrm>
            <a:off x="5385190" y="4948663"/>
            <a:ext cx="504191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b="1" dirty="0"/>
              <a:t>按照某种顺序逐个地撤消进程，直至有足够的资源可用，死锁状态消除为止。</a:t>
            </a:r>
          </a:p>
        </p:txBody>
      </p:sp>
      <p:sp>
        <p:nvSpPr>
          <p:cNvPr id="21" name="AutoShape 10"/>
          <p:cNvSpPr>
            <a:spLocks noChangeArrowheads="1"/>
          </p:cNvSpPr>
          <p:nvPr/>
        </p:nvSpPr>
        <p:spPr bwMode="auto">
          <a:xfrm>
            <a:off x="5048346" y="3023869"/>
            <a:ext cx="4203513" cy="1817762"/>
          </a:xfrm>
          <a:prstGeom prst="wedgeRectCallout">
            <a:avLst>
              <a:gd name="adj1" fmla="val -50561"/>
              <a:gd name="adj2" fmla="val 62786"/>
            </a:avLst>
          </a:prstGeom>
          <a:solidFill>
            <a:srgbClr val="FFFFFF"/>
          </a:solidFill>
          <a:ln w="9525">
            <a:solidFill>
              <a:schemeClr val="tx1"/>
            </a:solidFill>
            <a:miter lim="800000"/>
            <a:headEnd/>
            <a:tailEnd/>
          </a:ln>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1800" b="0" dirty="0">
                <a:latin typeface="Tahoma" pitchFamily="34" charset="0"/>
              </a:rPr>
              <a:t>选则原则：</a:t>
            </a:r>
            <a:endParaRPr lang="en-US" altLang="zh-CN" sz="1800" b="0" dirty="0">
              <a:latin typeface="Tahoma" pitchFamily="34" charset="0"/>
            </a:endParaRPr>
          </a:p>
          <a:p>
            <a:pPr marL="285750" indent="-285750" eaLnBrk="1" hangingPunct="1">
              <a:buFont typeface="Wingdings" panose="05000000000000000000" pitchFamily="2" charset="2"/>
              <a:buChar char="Ø"/>
            </a:pPr>
            <a:r>
              <a:rPr lang="zh-CN" altLang="en-US" sz="1800" b="0" dirty="0">
                <a:latin typeface="Tahoma" pitchFamily="34" charset="0"/>
              </a:rPr>
              <a:t>目前为止消耗处理机时间最少</a:t>
            </a:r>
            <a:endParaRPr lang="en-US" altLang="zh-CN" sz="1800" b="0" dirty="0">
              <a:latin typeface="Tahoma" pitchFamily="34" charset="0"/>
            </a:endParaRPr>
          </a:p>
          <a:p>
            <a:pPr marL="285750" indent="-285750" eaLnBrk="1" hangingPunct="1">
              <a:buFont typeface="Wingdings" panose="05000000000000000000" pitchFamily="2" charset="2"/>
              <a:buChar char="Ø"/>
            </a:pPr>
            <a:r>
              <a:rPr lang="zh-CN" altLang="en-US" sz="1800" b="0" dirty="0">
                <a:latin typeface="Tahoma" pitchFamily="34" charset="0"/>
              </a:rPr>
              <a:t>目前为止产生的输出最少；</a:t>
            </a:r>
            <a:endParaRPr lang="en-US" altLang="zh-CN" sz="1800" b="0" dirty="0">
              <a:latin typeface="Tahoma" pitchFamily="34" charset="0"/>
            </a:endParaRPr>
          </a:p>
          <a:p>
            <a:pPr marL="285750" indent="-285750" eaLnBrk="1" hangingPunct="1">
              <a:buFont typeface="Wingdings" panose="05000000000000000000" pitchFamily="2" charset="2"/>
              <a:buChar char="Ø"/>
            </a:pPr>
            <a:r>
              <a:rPr lang="zh-CN" altLang="en-US" sz="1800" b="0" dirty="0">
                <a:latin typeface="Tahoma" pitchFamily="34" charset="0"/>
              </a:rPr>
              <a:t>预计剩下的时间最长；</a:t>
            </a:r>
            <a:endParaRPr lang="en-US" altLang="zh-CN" sz="1800" b="0" dirty="0">
              <a:latin typeface="Tahoma" pitchFamily="34" charset="0"/>
            </a:endParaRPr>
          </a:p>
          <a:p>
            <a:pPr marL="285750" indent="-285750" eaLnBrk="1" hangingPunct="1">
              <a:buFont typeface="Wingdings" panose="05000000000000000000" pitchFamily="2" charset="2"/>
              <a:buChar char="Ø"/>
            </a:pPr>
            <a:r>
              <a:rPr lang="zh-CN" altLang="en-US" sz="1800" b="0" dirty="0">
                <a:latin typeface="Tahoma" pitchFamily="34" charset="0"/>
              </a:rPr>
              <a:t>目前为止分配的资源总量最少；</a:t>
            </a:r>
            <a:endParaRPr lang="en-US" altLang="zh-CN" sz="1800" b="0" dirty="0">
              <a:latin typeface="Tahoma" pitchFamily="34" charset="0"/>
            </a:endParaRPr>
          </a:p>
          <a:p>
            <a:pPr marL="285750" indent="-285750" eaLnBrk="1" hangingPunct="1">
              <a:buFont typeface="Wingdings" panose="05000000000000000000" pitchFamily="2" charset="2"/>
              <a:buChar char="Ø"/>
            </a:pPr>
            <a:r>
              <a:rPr lang="zh-CN" altLang="en-US" sz="1800" b="0" dirty="0">
                <a:latin typeface="Tahoma" pitchFamily="34" charset="0"/>
              </a:rPr>
              <a:t>优先级最低。</a:t>
            </a:r>
          </a:p>
        </p:txBody>
      </p:sp>
    </p:spTree>
    <p:extLst>
      <p:ext uri="{BB962C8B-B14F-4D97-AF65-F5344CB8AC3E}">
        <p14:creationId xmlns:p14="http://schemas.microsoft.com/office/powerpoint/2010/main" val="77927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trips(downLeft)">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strips(downLeft)">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12"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strips(downLeft)">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blinds(horizontal)">
                                      <p:cBhvr>
                                        <p:cTn id="50" dur="5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xit" presetSubtype="0" fill="hold" grpId="1" nodeType="clickEffect">
                                  <p:stCondLst>
                                    <p:cond delay="0"/>
                                  </p:stCondLst>
                                  <p:childTnLst>
                                    <p:animEffect transition="out" filter="dissolve">
                                      <p:cBhvr>
                                        <p:cTn id="54" dur="500"/>
                                        <p:tgtEl>
                                          <p:spTgt spid="21"/>
                                        </p:tgtEl>
                                      </p:cBhvr>
                                    </p:animEffect>
                                    <p:set>
                                      <p:cBhvr>
                                        <p:cTn id="55"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10" grpId="0" animBg="1"/>
      <p:bldP spid="11" grpId="0" animBg="1"/>
      <p:bldP spid="12" grpId="0" animBg="1"/>
      <p:bldP spid="17" grpId="0"/>
      <p:bldP spid="18" grpId="0"/>
      <p:bldP spid="20" grpId="0"/>
      <p:bldP spid="21" grpId="0" animBg="1"/>
      <p:bldP spid="21"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解除死锁花费代价</a:t>
            </a:r>
          </a:p>
        </p:txBody>
      </p:sp>
      <p:sp>
        <p:nvSpPr>
          <p:cNvPr id="31" name="文本框 25"/>
          <p:cNvSpPr txBox="1">
            <a:spLocks noChangeArrowheads="1"/>
          </p:cNvSpPr>
          <p:nvPr/>
        </p:nvSpPr>
        <p:spPr bwMode="auto">
          <a:xfrm>
            <a:off x="902970" y="212725"/>
            <a:ext cx="200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死锁的解除</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12" name="文本框 19"/>
          <p:cNvSpPr txBox="1">
            <a:spLocks noChangeArrowheads="1"/>
          </p:cNvSpPr>
          <p:nvPr/>
        </p:nvSpPr>
        <p:spPr bwMode="auto">
          <a:xfrm>
            <a:off x="978290" y="2281594"/>
            <a:ext cx="1029179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1">
              <a:lnSpc>
                <a:spcPct val="110000"/>
              </a:lnSpc>
            </a:pPr>
            <a:r>
              <a:rPr lang="en-US" altLang="zh-CN" sz="4000" dirty="0"/>
              <a:t>R(S)</a:t>
            </a:r>
            <a:r>
              <a:rPr lang="en-US" altLang="zh-CN" sz="4000" baseline="-25000" dirty="0"/>
              <a:t>min</a:t>
            </a:r>
            <a:r>
              <a:rPr lang="en-US" altLang="zh-CN" sz="4000" dirty="0"/>
              <a:t>=min{C</a:t>
            </a:r>
            <a:r>
              <a:rPr lang="en-US" altLang="zh-CN" sz="4000" baseline="-25000" dirty="0"/>
              <a:t>ui</a:t>
            </a:r>
            <a:r>
              <a:rPr lang="en-US" altLang="zh-CN" sz="4000" dirty="0"/>
              <a:t>}+min{</a:t>
            </a:r>
            <a:r>
              <a:rPr lang="en-US" altLang="zh-CN" sz="4000" dirty="0" err="1"/>
              <a:t>C</a:t>
            </a:r>
            <a:r>
              <a:rPr lang="en-US" altLang="zh-CN" sz="4000" baseline="-25000" dirty="0" err="1"/>
              <a:t>uj</a:t>
            </a:r>
            <a:r>
              <a:rPr lang="en-US" altLang="zh-CN" sz="4000" dirty="0"/>
              <a:t>}+min{</a:t>
            </a:r>
            <a:r>
              <a:rPr lang="en-US" altLang="zh-CN" sz="4000" dirty="0" err="1"/>
              <a:t>C</a:t>
            </a:r>
            <a:r>
              <a:rPr lang="en-US" altLang="zh-CN" sz="4000" baseline="-25000" dirty="0" err="1"/>
              <a:t>uk</a:t>
            </a:r>
            <a:r>
              <a:rPr lang="en-US" altLang="zh-CN" sz="4000" dirty="0"/>
              <a:t>}+… </a:t>
            </a:r>
          </a:p>
        </p:txBody>
      </p:sp>
    </p:spTree>
    <p:extLst>
      <p:ext uri="{BB962C8B-B14F-4D97-AF65-F5344CB8AC3E}">
        <p14:creationId xmlns:p14="http://schemas.microsoft.com/office/powerpoint/2010/main" val="365026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4341" y="165342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32391" y="165342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978290" y="1120021"/>
            <a:ext cx="6377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付出代价最小的死锁解除方法</a:t>
            </a:r>
          </a:p>
        </p:txBody>
      </p:sp>
      <p:sp>
        <p:nvSpPr>
          <p:cNvPr id="31" name="文本框 25"/>
          <p:cNvSpPr txBox="1">
            <a:spLocks noChangeArrowheads="1"/>
          </p:cNvSpPr>
          <p:nvPr/>
        </p:nvSpPr>
        <p:spPr bwMode="auto">
          <a:xfrm>
            <a:off x="902970" y="212725"/>
            <a:ext cx="200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死锁的解除</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aphicFrame>
        <p:nvGraphicFramePr>
          <p:cNvPr id="14" name="Object 6"/>
          <p:cNvGraphicFramePr>
            <a:graphicFrameLocks noChangeAspect="1"/>
          </p:cNvGraphicFramePr>
          <p:nvPr/>
        </p:nvGraphicFramePr>
        <p:xfrm>
          <a:off x="1124341" y="2027317"/>
          <a:ext cx="9144000" cy="4403725"/>
        </p:xfrm>
        <a:graphic>
          <a:graphicData uri="http://schemas.openxmlformats.org/presentationml/2006/ole">
            <mc:AlternateContent xmlns:mc="http://schemas.openxmlformats.org/markup-compatibility/2006">
              <mc:Choice xmlns:v="urn:schemas-microsoft-com:vml" Requires="v">
                <p:oleObj name="Visio" r:id="rId3" imgW="4097298" imgH="1973104" progId="Visio.Drawing.11">
                  <p:embed/>
                </p:oleObj>
              </mc:Choice>
              <mc:Fallback>
                <p:oleObj name="Visio" r:id="rId3" imgW="4097298" imgH="1973104" progId="Visio.Drawing.11">
                  <p:embed/>
                  <p:pic>
                    <p:nvPicPr>
                      <p:cNvPr id="1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4341" y="2027317"/>
                        <a:ext cx="9144000" cy="440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799028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zh-CN" altLang="en-US" sz="28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谢谢收看！</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本节结束！</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81830"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147451370"/>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6057</TotalTime>
  <Words>4168</Words>
  <Application>Microsoft Office PowerPoint</Application>
  <PresentationFormat>宽屏</PresentationFormat>
  <Paragraphs>789</Paragraphs>
  <Slides>43</Slides>
  <Notes>27</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1</vt:i4>
      </vt:variant>
      <vt:variant>
        <vt:lpstr>幻灯片标题</vt:lpstr>
      </vt:variant>
      <vt:variant>
        <vt:i4>43</vt:i4>
      </vt:variant>
    </vt:vector>
  </HeadingPairs>
  <TitlesOfParts>
    <vt:vector size="60" baseType="lpstr">
      <vt:lpstr>等线</vt:lpstr>
      <vt:lpstr>等线 Light</vt:lpstr>
      <vt:lpstr>方正清刻本悦宋简体</vt:lpstr>
      <vt:lpstr>黑体</vt:lpstr>
      <vt:lpstr>宋体</vt:lpstr>
      <vt:lpstr>微软雅黑</vt:lpstr>
      <vt:lpstr>Arial</vt:lpstr>
      <vt:lpstr>Calibri</vt:lpstr>
      <vt:lpstr>Franklin Gothic Demi</vt:lpstr>
      <vt:lpstr>Impact</vt:lpstr>
      <vt:lpstr>Tahoma</vt:lpstr>
      <vt:lpstr>Times New Roman</vt:lpstr>
      <vt:lpstr>Wingdings</vt:lpstr>
      <vt:lpstr>1_Office 主题​​</vt:lpstr>
      <vt:lpstr>2_Office 主题​​</vt:lpstr>
      <vt:lpstr>3_Office 主题​​</vt:lpstr>
      <vt:lpstr>Visio</vt:lpstr>
      <vt:lpstr>PowerPoint 演示文稿</vt:lpstr>
      <vt:lpstr>PowerPoint 演示文稿</vt:lpstr>
      <vt:lpstr>1.资源问题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1.系统安全状态</vt:lpstr>
      <vt:lpstr>1.系统安全状态</vt:lpstr>
      <vt:lpstr>1.系统安全状态</vt:lpstr>
      <vt:lpstr>1.系统安全状态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练习</vt:lpstr>
      <vt:lpstr>PowerPoint 演示文稿</vt:lpstr>
      <vt:lpstr>PowerPoint 演示文稿</vt:lpstr>
      <vt:lpstr>PowerPoint 演示文稿</vt:lpstr>
      <vt:lpstr>PowerPoint 演示文稿</vt:lpstr>
      <vt:lpstr>1.死锁的检测</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子 麦</cp:lastModifiedBy>
  <cp:revision>228</cp:revision>
  <dcterms:created xsi:type="dcterms:W3CDTF">2016-05-18T19:05:46Z</dcterms:created>
  <dcterms:modified xsi:type="dcterms:W3CDTF">2023-10-24T01:44:12Z</dcterms:modified>
</cp:coreProperties>
</file>