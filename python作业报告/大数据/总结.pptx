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notesMasterIdLst>
    <p:notesMasterId r:id="rId54"/>
  </p:notesMasterIdLst>
  <p:sldIdLst>
    <p:sldId id="573" r:id="rId2"/>
    <p:sldId id="574" r:id="rId3"/>
    <p:sldId id="451" r:id="rId4"/>
    <p:sldId id="452" r:id="rId5"/>
    <p:sldId id="453" r:id="rId6"/>
    <p:sldId id="458" r:id="rId7"/>
    <p:sldId id="460" r:id="rId8"/>
    <p:sldId id="509" r:id="rId9"/>
    <p:sldId id="510" r:id="rId10"/>
    <p:sldId id="511" r:id="rId11"/>
    <p:sldId id="532" r:id="rId12"/>
    <p:sldId id="531" r:id="rId13"/>
    <p:sldId id="533" r:id="rId14"/>
    <p:sldId id="534" r:id="rId15"/>
    <p:sldId id="557" r:id="rId16"/>
    <p:sldId id="558" r:id="rId17"/>
    <p:sldId id="565" r:id="rId18"/>
    <p:sldId id="566" r:id="rId19"/>
    <p:sldId id="559" r:id="rId20"/>
    <p:sldId id="560" r:id="rId21"/>
    <p:sldId id="535" r:id="rId22"/>
    <p:sldId id="572" r:id="rId23"/>
    <p:sldId id="536" r:id="rId24"/>
    <p:sldId id="567" r:id="rId25"/>
    <p:sldId id="537" r:id="rId26"/>
    <p:sldId id="538" r:id="rId27"/>
    <p:sldId id="561" r:id="rId28"/>
    <p:sldId id="539" r:id="rId29"/>
    <p:sldId id="568" r:id="rId30"/>
    <p:sldId id="540" r:id="rId31"/>
    <p:sldId id="544" r:id="rId32"/>
    <p:sldId id="257" r:id="rId33"/>
    <p:sldId id="258" r:id="rId34"/>
    <p:sldId id="259" r:id="rId35"/>
    <p:sldId id="260" r:id="rId36"/>
    <p:sldId id="545" r:id="rId37"/>
    <p:sldId id="546" r:id="rId38"/>
    <p:sldId id="547" r:id="rId39"/>
    <p:sldId id="569" r:id="rId40"/>
    <p:sldId id="555" r:id="rId41"/>
    <p:sldId id="553" r:id="rId42"/>
    <p:sldId id="554" r:id="rId43"/>
    <p:sldId id="556" r:id="rId44"/>
    <p:sldId id="549" r:id="rId45"/>
    <p:sldId id="550" r:id="rId46"/>
    <p:sldId id="551" r:id="rId47"/>
    <p:sldId id="552" r:id="rId48"/>
    <p:sldId id="562" r:id="rId49"/>
    <p:sldId id="563" r:id="rId50"/>
    <p:sldId id="564" r:id="rId51"/>
    <p:sldId id="570" r:id="rId52"/>
    <p:sldId id="571" r:id="rId5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4660"/>
  </p:normalViewPr>
  <p:slideViewPr>
    <p:cSldViewPr snapToGrid="0">
      <p:cViewPr varScale="1">
        <p:scale>
          <a:sx n="131" d="100"/>
          <a:sy n="131" d="100"/>
        </p:scale>
        <p:origin x="4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E48404-4FD3-43F7-B6C2-E0DFF3DE7DDF}" type="datetimeFigureOut">
              <a:rPr lang="zh-CN" altLang="en-US" smtClean="0"/>
              <a:t>2023/11/2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8EADA6-F8ED-4FEA-BF7F-4A116D02A6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2892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A644C-8E81-4BE7-B08F-4D2625551B4A}" type="datetimeFigureOut">
              <a:rPr lang="zh-CN" altLang="en-US" smtClean="0"/>
              <a:t>2023/11/2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C5FC0-875E-4A55-865C-7D4B14A694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1657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A644C-8E81-4BE7-B08F-4D2625551B4A}" type="datetimeFigureOut">
              <a:rPr lang="zh-CN" altLang="en-US" smtClean="0"/>
              <a:t>2023/11/2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C5FC0-875E-4A55-865C-7D4B14A694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7180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A644C-8E81-4BE7-B08F-4D2625551B4A}" type="datetimeFigureOut">
              <a:rPr lang="zh-CN" altLang="en-US" smtClean="0"/>
              <a:t>2023/11/2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C5FC0-875E-4A55-865C-7D4B14A694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6624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A644C-8E81-4BE7-B08F-4D2625551B4A}" type="datetimeFigureOut">
              <a:rPr lang="zh-CN" altLang="en-US" smtClean="0"/>
              <a:t>2023/11/2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C5FC0-875E-4A55-865C-7D4B14A694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46321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A644C-8E81-4BE7-B08F-4D2625551B4A}" type="datetimeFigureOut">
              <a:rPr lang="zh-CN" altLang="en-US" smtClean="0"/>
              <a:t>2023/11/2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C5FC0-875E-4A55-865C-7D4B14A694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41631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A644C-8E81-4BE7-B08F-4D2625551B4A}" type="datetimeFigureOut">
              <a:rPr lang="zh-CN" altLang="en-US" smtClean="0"/>
              <a:t>2023/11/2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C5FC0-875E-4A55-865C-7D4B14A694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3713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A644C-8E81-4BE7-B08F-4D2625551B4A}" type="datetimeFigureOut">
              <a:rPr lang="zh-CN" altLang="en-US" smtClean="0"/>
              <a:t>2023/11/2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C5FC0-875E-4A55-865C-7D4B14A694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8194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A644C-8E81-4BE7-B08F-4D2625551B4A}" type="datetimeFigureOut">
              <a:rPr lang="zh-CN" altLang="en-US" smtClean="0"/>
              <a:t>2023/11/2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C5FC0-875E-4A55-865C-7D4B14A694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52032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A644C-8E81-4BE7-B08F-4D2625551B4A}" type="datetimeFigureOut">
              <a:rPr lang="zh-CN" altLang="en-US" smtClean="0"/>
              <a:t>2023/11/2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C5FC0-875E-4A55-865C-7D4B14A694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4510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A644C-8E81-4BE7-B08F-4D2625551B4A}" type="datetimeFigureOut">
              <a:rPr lang="zh-CN" altLang="en-US" smtClean="0"/>
              <a:t>2023/11/2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C5FC0-875E-4A55-865C-7D4B14A694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0405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A644C-8E81-4BE7-B08F-4D2625551B4A}" type="datetimeFigureOut">
              <a:rPr lang="zh-CN" altLang="en-US" smtClean="0"/>
              <a:t>2023/11/2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C5FC0-875E-4A55-865C-7D4B14A694A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974176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A644C-8E81-4BE7-B08F-4D2625551B4A}" type="datetimeFigureOut">
              <a:rPr lang="zh-CN" altLang="en-US" smtClean="0"/>
              <a:t>2023/11/2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C5FC0-875E-4A55-865C-7D4B14A694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39562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A644C-8E81-4BE7-B08F-4D2625551B4A}" type="datetimeFigureOut">
              <a:rPr lang="zh-CN" altLang="en-US" smtClean="0"/>
              <a:t>2023/11/2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C5FC0-875E-4A55-865C-7D4B14A694A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525829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A644C-8E81-4BE7-B08F-4D2625551B4A}" type="datetimeFigureOut">
              <a:rPr lang="zh-CN" altLang="en-US" smtClean="0"/>
              <a:t>2023/11/2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C5FC0-875E-4A55-865C-7D4B14A694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714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A644C-8E81-4BE7-B08F-4D2625551B4A}" type="datetimeFigureOut">
              <a:rPr lang="zh-CN" altLang="en-US" smtClean="0"/>
              <a:t>2023/11/2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C5FC0-875E-4A55-865C-7D4B14A694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04408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A644C-8E81-4BE7-B08F-4D2625551B4A}" type="datetimeFigureOut">
              <a:rPr lang="zh-CN" altLang="en-US" smtClean="0"/>
              <a:t>2023/11/2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C5FC0-875E-4A55-865C-7D4B14A694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0081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2"/>
          <p:cNvSpPr>
            <a:spLocks noChangeArrowheads="1"/>
          </p:cNvSpPr>
          <p:nvPr userDrawn="1"/>
        </p:nvSpPr>
        <p:spPr bwMode="auto">
          <a:xfrm>
            <a:off x="9937750" y="6392863"/>
            <a:ext cx="571500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 eaLnBrk="1" hangingPunct="1"/>
            <a:r>
              <a:rPr lang="en-US" altLang="zh-CN" sz="1000">
                <a:solidFill>
                  <a:srgbClr val="7F7F7F"/>
                </a:solidFill>
                <a:cs typeface="Arial" charset="0"/>
              </a:rPr>
              <a:t> </a:t>
            </a:r>
            <a:fld id="{51E28845-2D74-4233-A601-DDD4B2B38AD3}" type="slidenum">
              <a:rPr lang="en-US" altLang="zh-CN" sz="1000">
                <a:cs typeface="Arial" charset="0"/>
              </a:rPr>
              <a:pPr algn="ctr" eaLnBrk="1" hangingPunct="1"/>
              <a:t>‹#›</a:t>
            </a:fld>
            <a:endParaRPr lang="en-US" altLang="zh-CN" sz="1000">
              <a:cs typeface="Arial" charset="0"/>
            </a:endParaRPr>
          </a:p>
        </p:txBody>
      </p:sp>
      <p:cxnSp>
        <p:nvCxnSpPr>
          <p:cNvPr id="6" name="直接连接符 19"/>
          <p:cNvCxnSpPr>
            <a:cxnSpLocks/>
            <a:stCxn id="6" idx="3"/>
          </p:cNvCxnSpPr>
          <p:nvPr userDrawn="1"/>
        </p:nvCxnSpPr>
        <p:spPr>
          <a:xfrm>
            <a:off x="10509250" y="6508750"/>
            <a:ext cx="1019175" cy="0"/>
          </a:xfrm>
          <a:prstGeom prst="line">
            <a:avLst/>
          </a:prstGeom>
          <a:ln w="9525">
            <a:solidFill>
              <a:srgbClr val="F195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14"/>
          <p:cNvCxnSpPr>
            <a:cxnSpLocks/>
          </p:cNvCxnSpPr>
          <p:nvPr userDrawn="1"/>
        </p:nvCxnSpPr>
        <p:spPr>
          <a:xfrm flipV="1">
            <a:off x="3719513" y="6508750"/>
            <a:ext cx="6218237" cy="0"/>
          </a:xfrm>
          <a:prstGeom prst="line">
            <a:avLst/>
          </a:prstGeom>
          <a:ln>
            <a:solidFill>
              <a:srgbClr val="064BB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utoShape 23"/>
          <p:cNvSpPr>
            <a:spLocks noChangeArrowheads="1"/>
          </p:cNvSpPr>
          <p:nvPr userDrawn="1"/>
        </p:nvSpPr>
        <p:spPr bwMode="auto">
          <a:xfrm>
            <a:off x="246063" y="915988"/>
            <a:ext cx="9596437" cy="46037"/>
          </a:xfrm>
          <a:prstGeom prst="rect">
            <a:avLst/>
          </a:prstGeom>
          <a:solidFill>
            <a:srgbClr val="064BB2"/>
          </a:solidFill>
          <a:ln>
            <a:noFill/>
          </a:ln>
        </p:spPr>
        <p:txBody>
          <a:bodyPr wrap="none" anchor="ctr"/>
          <a:lstStyle>
            <a:lvl1pPr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endParaRPr lang="zh-CN" altLang="en-US" sz="952"/>
          </a:p>
        </p:txBody>
      </p:sp>
      <p:sp>
        <p:nvSpPr>
          <p:cNvPr id="9" name="AutoShape 23"/>
          <p:cNvSpPr>
            <a:spLocks noChangeArrowheads="1"/>
          </p:cNvSpPr>
          <p:nvPr userDrawn="1"/>
        </p:nvSpPr>
        <p:spPr bwMode="auto">
          <a:xfrm>
            <a:off x="9842500" y="915988"/>
            <a:ext cx="1989138" cy="46037"/>
          </a:xfrm>
          <a:prstGeom prst="rect">
            <a:avLst/>
          </a:prstGeom>
          <a:solidFill>
            <a:srgbClr val="FB9708"/>
          </a:solidFill>
          <a:ln>
            <a:noFill/>
          </a:ln>
        </p:spPr>
        <p:txBody>
          <a:bodyPr wrap="none" anchor="ctr"/>
          <a:lstStyle>
            <a:lvl1pPr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endParaRPr lang="zh-CN" altLang="en-US" sz="952"/>
          </a:p>
        </p:txBody>
      </p:sp>
      <p:sp>
        <p:nvSpPr>
          <p:cNvPr id="10" name="矩形 9"/>
          <p:cNvSpPr>
            <a:spLocks noChangeArrowheads="1"/>
          </p:cNvSpPr>
          <p:nvPr userDrawn="1"/>
        </p:nvSpPr>
        <p:spPr bwMode="auto">
          <a:xfrm>
            <a:off x="2479675" y="6346825"/>
            <a:ext cx="1239838" cy="346075"/>
          </a:xfrm>
          <a:prstGeom prst="rect">
            <a:avLst/>
          </a:prstGeom>
          <a:noFill/>
          <a:ln>
            <a:noFill/>
          </a:ln>
        </p:spPr>
        <p:txBody>
          <a:bodyPr lIns="91343" tIns="45674" rIns="91343" bIns="45674">
            <a:spAutoFit/>
          </a:bodyPr>
          <a:lstStyle>
            <a:lvl1pPr eaLnBrk="0" hangingPunct="0">
              <a:defRPr sz="900">
                <a:solidFill>
                  <a:srgbClr val="000000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900">
                <a:solidFill>
                  <a:srgbClr val="000000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900">
                <a:solidFill>
                  <a:srgbClr val="000000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900">
                <a:solidFill>
                  <a:srgbClr val="000000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900">
                <a:solidFill>
                  <a:srgbClr val="000000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fontAlgn="auto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defRPr/>
            </a:pPr>
            <a:r>
              <a:rPr lang="zh-CN" altLang="en-US" sz="1100" dirty="0">
                <a:solidFill>
                  <a:srgbClr val="404040"/>
                </a:solidFill>
                <a:latin typeface="黑体" pitchFamily="49" charset="-122"/>
                <a:ea typeface="黑体" pitchFamily="49" charset="-122"/>
              </a:rPr>
              <a:t>大数据挖掘专家</a:t>
            </a:r>
            <a:endParaRPr lang="en-US" altLang="zh-CN" sz="1100" dirty="0">
              <a:solidFill>
                <a:srgbClr val="404040"/>
              </a:solidFill>
              <a:latin typeface="黑体" pitchFamily="49" charset="-122"/>
              <a:ea typeface="黑体" pitchFamily="49" charset="-122"/>
              <a:cs typeface="Arial" charset="0"/>
            </a:endParaRPr>
          </a:p>
        </p:txBody>
      </p:sp>
      <p:pic>
        <p:nvPicPr>
          <p:cNvPr id="11" name="图片 12" descr="泰迪logo无底色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151" r="-8151"/>
          <a:stretch>
            <a:fillRect/>
          </a:stretch>
        </p:blipFill>
        <p:spPr bwMode="auto">
          <a:xfrm>
            <a:off x="230188" y="6272213"/>
            <a:ext cx="2162175" cy="47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2" name="直接连接符 11"/>
          <p:cNvCxnSpPr>
            <a:cxnSpLocks/>
          </p:cNvCxnSpPr>
          <p:nvPr userDrawn="1"/>
        </p:nvCxnSpPr>
        <p:spPr>
          <a:xfrm>
            <a:off x="2371725" y="6381750"/>
            <a:ext cx="0" cy="276225"/>
          </a:xfrm>
          <a:prstGeom prst="line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423819" y="1741968"/>
            <a:ext cx="11107601" cy="4369231"/>
          </a:xfrm>
        </p:spPr>
        <p:txBody>
          <a:bodyPr>
            <a:noAutofit/>
          </a:bodyPr>
          <a:lstStyle>
            <a:lvl1pPr marL="362822" indent="-362822">
              <a:lnSpc>
                <a:spcPct val="150000"/>
              </a:lnSpc>
              <a:buClr>
                <a:srgbClr val="032089"/>
              </a:buClr>
              <a:buFont typeface="Wingdings" panose="05000000000000000000" pitchFamily="2" charset="2"/>
              <a:buChar char="Ø"/>
              <a:defRPr sz="1800" b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defRPr>
            </a:lvl1pPr>
            <a:lvl2pPr>
              <a:lnSpc>
                <a:spcPct val="130000"/>
              </a:lnSpc>
              <a:buClr>
                <a:srgbClr val="032089"/>
              </a:buClr>
              <a:buFont typeface="Wingdings" pitchFamily="2" charset="2"/>
              <a:buChar char="l"/>
              <a:defRPr sz="2328" b="0">
                <a:latin typeface="微软雅黑" pitchFamily="34" charset="-122"/>
                <a:ea typeface="微软雅黑" pitchFamily="34" charset="-122"/>
              </a:defRPr>
            </a:lvl2pPr>
            <a:lvl3pPr>
              <a:defRPr sz="1905" b="0">
                <a:latin typeface="微软雅黑" pitchFamily="34" charset="-122"/>
                <a:ea typeface="微软雅黑" pitchFamily="34" charset="-122"/>
              </a:defRPr>
            </a:lvl3pPr>
            <a:lvl4pPr>
              <a:defRPr sz="1905" b="0">
                <a:latin typeface="微软雅黑" pitchFamily="34" charset="-122"/>
                <a:ea typeface="微软雅黑" pitchFamily="34" charset="-122"/>
              </a:defRPr>
            </a:lvl4pPr>
            <a:lvl5pPr>
              <a:defRPr sz="1905" b="0"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4876" y="359079"/>
            <a:ext cx="10972801" cy="528176"/>
          </a:xfrm>
        </p:spPr>
        <p:txBody>
          <a:bodyPr/>
          <a:lstStyle>
            <a:lvl1pPr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4" name="内容占位符 2"/>
          <p:cNvSpPr>
            <a:spLocks noGrp="1"/>
          </p:cNvSpPr>
          <p:nvPr>
            <p:ph idx="10"/>
          </p:nvPr>
        </p:nvSpPr>
        <p:spPr>
          <a:xfrm>
            <a:off x="423819" y="1138980"/>
            <a:ext cx="11107601" cy="426469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>
              <a:buNone/>
              <a:defRPr lang="zh-CN" altLang="en-US" sz="2000" b="0" dirty="0" smtClean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107189499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0A644C-8E81-4BE7-B08F-4D2625551B4A}" type="datetimeFigureOut">
              <a:rPr lang="zh-CN" altLang="en-US" smtClean="0"/>
              <a:t>2023/11/2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D4C5FC0-875E-4A55-865C-7D4B14A694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6041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edu.tipdm.org/course/7/task/356/show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862DC9-3201-A7DA-C880-89D3B1346B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zh-CN" altLang="en-US" dirty="0"/>
              <a:t>总结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67B205E-49F4-DEF8-9EBB-63503024E8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72314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959FC5-9D2C-2A4A-9319-F77712EEE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课本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AAB34FB-0B45-F63B-263A-8EE71CD786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P81</a:t>
            </a:r>
            <a:r>
              <a:rPr kumimoji="1" lang="zh-CN" altLang="en-US" dirty="0"/>
              <a:t>    </a:t>
            </a:r>
            <a:r>
              <a:rPr kumimoji="1" lang="en-US" altLang="zh-CN" dirty="0"/>
              <a:t>6</a:t>
            </a:r>
            <a:r>
              <a:rPr kumimoji="1" lang="zh-CN" altLang="en-US" dirty="0"/>
              <a:t>和</a:t>
            </a:r>
            <a:r>
              <a:rPr kumimoji="1" lang="en-US" altLang="zh-CN" dirty="0"/>
              <a:t>11</a:t>
            </a:r>
            <a:r>
              <a:rPr kumimoji="1" lang="zh-CN" altLang="en-US" dirty="0"/>
              <a:t>题  （计算题）</a:t>
            </a:r>
            <a:endParaRPr kumimoji="1" lang="en-US" altLang="zh-CN" dirty="0"/>
          </a:p>
          <a:p>
            <a:r>
              <a:rPr kumimoji="1" lang="en-US" altLang="zh-CN" dirty="0"/>
              <a:t>P171</a:t>
            </a:r>
            <a:r>
              <a:rPr kumimoji="1" lang="zh-CN" altLang="en-US" dirty="0"/>
              <a:t>  </a:t>
            </a:r>
            <a:r>
              <a:rPr kumimoji="1" lang="en-US" altLang="zh-CN" dirty="0"/>
              <a:t>F</a:t>
            </a:r>
            <a:r>
              <a:rPr kumimoji="1" lang="zh-CN" altLang="en-US" dirty="0"/>
              <a:t>检验法的检验步骤（简答）</a:t>
            </a:r>
            <a:endParaRPr kumimoji="1" lang="en-US" altLang="zh-CN" dirty="0"/>
          </a:p>
          <a:p>
            <a:r>
              <a:rPr kumimoji="1" lang="en-US" altLang="zh-CN" dirty="0"/>
              <a:t>P270</a:t>
            </a:r>
            <a:r>
              <a:rPr kumimoji="1" lang="zh-CN" altLang="en-US" dirty="0"/>
              <a:t> 第</a:t>
            </a:r>
            <a:r>
              <a:rPr kumimoji="1" lang="en-US" altLang="zh-CN" dirty="0"/>
              <a:t>2</a:t>
            </a:r>
            <a:r>
              <a:rPr kumimoji="1" lang="zh-CN" altLang="en-US" dirty="0"/>
              <a:t>题，答案在</a:t>
            </a:r>
            <a:r>
              <a:rPr kumimoji="1" lang="en-US" altLang="zh-CN" dirty="0"/>
              <a:t>P253</a:t>
            </a:r>
            <a:r>
              <a:rPr kumimoji="1" lang="zh-CN" altLang="en-US" dirty="0"/>
              <a:t>，第一段（简答）</a:t>
            </a:r>
            <a:endParaRPr kumimoji="1" lang="en-US" altLang="zh-CN" dirty="0"/>
          </a:p>
          <a:p>
            <a:r>
              <a:rPr kumimoji="1" lang="en-US" altLang="zh-CN" dirty="0"/>
              <a:t>P260</a:t>
            </a:r>
            <a:r>
              <a:rPr kumimoji="1" lang="zh-CN" altLang="en-US" dirty="0"/>
              <a:t> 球树在搜寻过程中的步骤（简答）</a:t>
            </a:r>
            <a:endParaRPr kumimoji="1" lang="en-US" altLang="zh-CN" dirty="0"/>
          </a:p>
          <a:p>
            <a:r>
              <a:rPr kumimoji="1" lang="en-US" altLang="zh-CN" dirty="0"/>
              <a:t>P350</a:t>
            </a:r>
            <a:r>
              <a:rPr kumimoji="1" lang="zh-CN" altLang="en-US" dirty="0"/>
              <a:t> </a:t>
            </a:r>
            <a:r>
              <a:rPr kumimoji="1" lang="en-US" altLang="zh-CN" dirty="0"/>
              <a:t>K-means</a:t>
            </a:r>
            <a:r>
              <a:rPr kumimoji="1" lang="zh-CN" altLang="en-US" dirty="0"/>
              <a:t>思想步骤</a:t>
            </a:r>
            <a:r>
              <a:rPr kumimoji="1" lang="en-US" altLang="zh-CN" dirty="0"/>
              <a:t>/</a:t>
            </a:r>
            <a:r>
              <a:rPr kumimoji="1" lang="zh-CN" altLang="en-US" dirty="0"/>
              <a:t>流程（简答）</a:t>
            </a:r>
            <a:endParaRPr kumimoji="1" lang="en-US" altLang="zh-CN" dirty="0"/>
          </a:p>
          <a:p>
            <a:r>
              <a:rPr kumimoji="1" lang="en-US" altLang="zh-CN" dirty="0"/>
              <a:t>KNN</a:t>
            </a:r>
            <a:r>
              <a:rPr kumimoji="1" lang="zh-CN" altLang="en-US" dirty="0"/>
              <a:t>步骤（简答）</a:t>
            </a:r>
            <a:endParaRPr kumimoji="1" lang="en-US" altLang="zh-CN" dirty="0"/>
          </a:p>
          <a:p>
            <a:r>
              <a:rPr kumimoji="1" lang="zh-CN" altLang="en-US" dirty="0"/>
              <a:t>递归三定律（简答）</a:t>
            </a:r>
            <a:endParaRPr kumimoji="1" lang="en-US" altLang="zh-CN" dirty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72358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60BBB35B-583D-4EE5-98D4-42037B6F22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9826522-E959-45E4-8760-8D0247589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温度转换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DC4F91A-4444-43A3-BD95-F2B698F8B68A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B4AFDFF-B875-49D9-A570-CB36718BC5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2571" y="1422297"/>
            <a:ext cx="7931558" cy="4013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329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B22C8F96-8A92-4BED-AF7E-7A3E6958AB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A59B08F9-238B-42F3-A0ED-1957B4B55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温度转换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22ECE1E-DA27-43B6-B2C1-6CB24D65E6D4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0F824FC-BA99-40A0-83C3-F880E1DCE5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9000" y="1028578"/>
            <a:ext cx="8744399" cy="4743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441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B22C8F96-8A92-4BED-AF7E-7A3E6958AB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A59B08F9-238B-42F3-A0ED-1957B4B55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需求分析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22ECE1E-DA27-43B6-B2C1-6CB24D65E6D4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069DFA9-2824-4D78-9CA5-48306E09BC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2858" y="1679482"/>
            <a:ext cx="4540483" cy="3594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064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A2D890F9-A823-4A22-BB9C-858E72538C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B12F122-058E-489B-AF83-26070D448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问题分析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97D5425-A286-42D8-8964-9C10311B2AAA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A3CB1A8-726E-47F9-9FA3-60C98D27CE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9824" y="1177809"/>
            <a:ext cx="6826601" cy="450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9293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A2D890F9-A823-4A22-BB9C-858E72538C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B12F122-058E-489B-AF83-26070D448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“</a:t>
            </a:r>
            <a:r>
              <a:rPr lang="zh-CN" altLang="en-US" dirty="0"/>
              <a:t>温度转换</a:t>
            </a:r>
            <a:r>
              <a:rPr lang="en-US" altLang="zh-CN" dirty="0"/>
              <a:t>”</a:t>
            </a:r>
            <a:r>
              <a:rPr lang="zh-CN" altLang="en-US" dirty="0"/>
              <a:t>实例编写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97D5425-A286-42D8-8964-9C10311B2AAA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9B112AB-733E-498F-AF79-A544DFBAB0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687" y="1177813"/>
            <a:ext cx="7077238" cy="4846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8605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16614144-90DB-4DBD-A725-8EBE388A62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5EA06023-E34A-40DA-956E-39C3E6C6D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天天向上的力量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EDA30F2-6252-45CE-9EE5-2D2C6A77513C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53FC409-5A79-4A9F-A7DA-A29E70C0BE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738" y="1180984"/>
            <a:ext cx="8772737" cy="479251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1764CA7-F6AE-4F0C-9C48-6EED0C0AC5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6196" y="3927464"/>
            <a:ext cx="2101958" cy="431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896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16614144-90DB-4DBD-A725-8EBE388A62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5EA06023-E34A-40DA-956E-39C3E6C6D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天天向上的力量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EDA30F2-6252-45CE-9EE5-2D2C6A77513C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861FAAE-3AED-4D4F-8E74-7BD8DE5A0B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679" y="1187336"/>
            <a:ext cx="8037356" cy="4680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9203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16614144-90DB-4DBD-A725-8EBE388A62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5EA06023-E34A-40DA-956E-39C3E6C6D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天天向上的力量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EDA30F2-6252-45CE-9EE5-2D2C6A77513C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53874ED-646F-470A-BA63-62C2D57FF0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572" y="1136532"/>
            <a:ext cx="8350453" cy="483801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B6F256AD-3F16-4769-840C-606FBA38FE19}"/>
              </a:ext>
            </a:extLst>
          </p:cNvPr>
          <p:cNvSpPr txBox="1"/>
          <p:nvPr/>
        </p:nvSpPr>
        <p:spPr>
          <a:xfrm>
            <a:off x="4867275" y="6115050"/>
            <a:ext cx="40158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结果为：工作日的努力参数是：</a:t>
            </a:r>
            <a:r>
              <a:rPr lang="en-US" altLang="zh-CN" b="1" dirty="0"/>
              <a:t>0.019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28777663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4C89598D-77F4-4291-9D68-DE0C28BCE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卷形: 水平 5">
            <a:extLst>
              <a:ext uri="{FF2B5EF4-FFF2-40B4-BE49-F238E27FC236}">
                <a16:creationId xmlns:a16="http://schemas.microsoft.com/office/drawing/2014/main" id="{09CB3FFE-3850-4F88-AC34-53A9230871C2}"/>
              </a:ext>
            </a:extLst>
          </p:cNvPr>
          <p:cNvSpPr/>
          <p:nvPr/>
        </p:nvSpPr>
        <p:spPr bwMode="auto">
          <a:xfrm>
            <a:off x="2514600" y="2438400"/>
            <a:ext cx="6438900" cy="2667000"/>
          </a:xfrm>
          <a:prstGeom prst="horizontalScroll">
            <a:avLst/>
          </a:prstGeom>
          <a:noFill/>
          <a:ln w="25400" cap="flat" cmpd="sng">
            <a:solidFill>
              <a:srgbClr val="FF000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FDD0FE9-32F4-46F3-AF83-209E40169F07}"/>
              </a:ext>
            </a:extLst>
          </p:cNvPr>
          <p:cNvSpPr txBox="1"/>
          <p:nvPr/>
        </p:nvSpPr>
        <p:spPr>
          <a:xfrm>
            <a:off x="3105151" y="3444358"/>
            <a:ext cx="58388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/>
              <a:t>"</a:t>
            </a:r>
            <a:r>
              <a:rPr lang="zh-CN" altLang="en-US" sz="3200" b="1" dirty="0"/>
              <a:t>身体质量指数</a:t>
            </a:r>
            <a:r>
              <a:rPr lang="en-US" altLang="zh-CN" sz="3200" b="1" dirty="0"/>
              <a:t>BMI"</a:t>
            </a:r>
            <a:r>
              <a:rPr lang="zh-CN" altLang="en-US" sz="3200" b="1" dirty="0"/>
              <a:t>问题分析</a:t>
            </a:r>
          </a:p>
        </p:txBody>
      </p:sp>
    </p:spTree>
    <p:extLst>
      <p:ext uri="{BB962C8B-B14F-4D97-AF65-F5344CB8AC3E}">
        <p14:creationId xmlns:p14="http://schemas.microsoft.com/office/powerpoint/2010/main" val="32531379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60EC62B3-2FFA-4D3E-8061-5CEA528CC7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A9D47F6F-0270-4080-A22E-76C90C348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 i="0" u="none" strike="noStrike" baseline="0" dirty="0">
                <a:latin typeface="+mj-ea"/>
                <a:ea typeface="+mj-ea"/>
              </a:rPr>
              <a:t>"</a:t>
            </a:r>
            <a:r>
              <a:rPr lang="zh-CN" altLang="en-US" b="0" i="0" u="none" strike="noStrike" baseline="0" dirty="0">
                <a:latin typeface="+mj-ea"/>
                <a:ea typeface="+mj-ea"/>
              </a:rPr>
              <a:t>身体质量指数</a:t>
            </a:r>
            <a:r>
              <a:rPr lang="en-US" altLang="zh-CN" b="0" i="0" u="none" strike="noStrike" baseline="0" dirty="0">
                <a:latin typeface="+mj-ea"/>
                <a:ea typeface="+mj-ea"/>
              </a:rPr>
              <a:t>BMI"</a:t>
            </a:r>
            <a:r>
              <a:rPr lang="zh-CN" altLang="en-US" b="0" i="0" u="none" strike="noStrike" baseline="0" dirty="0">
                <a:latin typeface="+mj-ea"/>
                <a:ea typeface="+mj-ea"/>
              </a:rPr>
              <a:t>问题分析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796F5BD-1152-4F30-BA91-6EB8C679F30E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7C8BBE4-1859-49EE-9684-817823BDBA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7787" y="1276240"/>
            <a:ext cx="8698754" cy="4495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9811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89FE45BD-5D70-4C63-8514-9EA192FE75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943DC5A-42F0-44D6-AAE5-D11C10B5C48F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标题 2">
            <a:extLst>
              <a:ext uri="{FF2B5EF4-FFF2-40B4-BE49-F238E27FC236}">
                <a16:creationId xmlns:a16="http://schemas.microsoft.com/office/drawing/2014/main" id="{1DC4FA58-FF58-4740-9335-72A17B326DAF}"/>
              </a:ext>
            </a:extLst>
          </p:cNvPr>
          <p:cNvSpPr txBox="1">
            <a:spLocks/>
          </p:cNvSpPr>
          <p:nvPr/>
        </p:nvSpPr>
        <p:spPr bwMode="auto">
          <a:xfrm>
            <a:off x="312026" y="254304"/>
            <a:ext cx="10972801" cy="528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+mj-lt"/>
                <a:ea typeface="微软雅黑" pitchFamily="34" charset="-122"/>
                <a:cs typeface="微软雅黑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Arial Black" pitchFamily="34" charset="0"/>
                <a:ea typeface="微软雅黑" pitchFamily="34" charset="-122"/>
                <a:cs typeface="微软雅黑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Arial Black" pitchFamily="34" charset="0"/>
                <a:ea typeface="微软雅黑" pitchFamily="34" charset="-122"/>
                <a:cs typeface="微软雅黑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Arial Black" pitchFamily="34" charset="0"/>
                <a:ea typeface="微软雅黑" pitchFamily="34" charset="-122"/>
                <a:cs typeface="微软雅黑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Arial Black" pitchFamily="34" charset="0"/>
                <a:ea typeface="微软雅黑" pitchFamily="34" charset="-122"/>
                <a:cs typeface="微软雅黑" charset="0"/>
              </a:defRPr>
            </a:lvl5pPr>
            <a:lvl6pPr marL="483763" algn="l" rtl="0" eaLnBrk="0" fontAlgn="base" hangingPunct="0">
              <a:spcBef>
                <a:spcPct val="0"/>
              </a:spcBef>
              <a:spcAft>
                <a:spcPct val="0"/>
              </a:spcAft>
              <a:defRPr sz="2539">
                <a:solidFill>
                  <a:schemeClr val="tx1"/>
                </a:solidFill>
                <a:latin typeface="Calibri" pitchFamily="34" charset="0"/>
                <a:ea typeface="黑体" pitchFamily="2" charset="-122"/>
              </a:defRPr>
            </a:lvl6pPr>
            <a:lvl7pPr marL="967527" algn="l" rtl="0" eaLnBrk="0" fontAlgn="base" hangingPunct="0">
              <a:spcBef>
                <a:spcPct val="0"/>
              </a:spcBef>
              <a:spcAft>
                <a:spcPct val="0"/>
              </a:spcAft>
              <a:defRPr sz="2539">
                <a:solidFill>
                  <a:schemeClr val="tx1"/>
                </a:solidFill>
                <a:latin typeface="Calibri" pitchFamily="34" charset="0"/>
                <a:ea typeface="黑体" pitchFamily="2" charset="-122"/>
              </a:defRPr>
            </a:lvl7pPr>
            <a:lvl8pPr marL="1451290" algn="l" rtl="0" eaLnBrk="0" fontAlgn="base" hangingPunct="0">
              <a:spcBef>
                <a:spcPct val="0"/>
              </a:spcBef>
              <a:spcAft>
                <a:spcPct val="0"/>
              </a:spcAft>
              <a:defRPr sz="2539">
                <a:solidFill>
                  <a:schemeClr val="tx1"/>
                </a:solidFill>
                <a:latin typeface="Calibri" pitchFamily="34" charset="0"/>
                <a:ea typeface="黑体" pitchFamily="2" charset="-122"/>
              </a:defRPr>
            </a:lvl8pPr>
            <a:lvl9pPr marL="1935053" algn="l" rtl="0" eaLnBrk="0" fontAlgn="base" hangingPunct="0">
              <a:spcBef>
                <a:spcPct val="0"/>
              </a:spcBef>
              <a:spcAft>
                <a:spcPct val="0"/>
              </a:spcAft>
              <a:defRPr sz="2539">
                <a:solidFill>
                  <a:schemeClr val="tx1"/>
                </a:solidFill>
                <a:latin typeface="Calibri" pitchFamily="34" charset="0"/>
                <a:ea typeface="黑体" pitchFamily="2" charset="-122"/>
              </a:defRPr>
            </a:lvl9pPr>
          </a:lstStyle>
          <a:p>
            <a:r>
              <a:rPr lang="en-US" altLang="zh-CN" b="0" kern="0">
                <a:latin typeface="+mj-ea"/>
                <a:ea typeface="+mj-ea"/>
              </a:rPr>
              <a:t>"</a:t>
            </a:r>
            <a:r>
              <a:rPr lang="zh-CN" altLang="en-US" b="0" kern="0">
                <a:latin typeface="+mj-ea"/>
                <a:ea typeface="+mj-ea"/>
              </a:rPr>
              <a:t>身体质量指数</a:t>
            </a:r>
            <a:r>
              <a:rPr lang="en-US" altLang="zh-CN" b="0" kern="0">
                <a:latin typeface="+mj-ea"/>
                <a:ea typeface="+mj-ea"/>
              </a:rPr>
              <a:t>BMI"</a:t>
            </a:r>
            <a:r>
              <a:rPr lang="zh-CN" altLang="en-US" b="0" kern="0">
                <a:latin typeface="+mj-ea"/>
                <a:ea typeface="+mj-ea"/>
              </a:rPr>
              <a:t>问题分析</a:t>
            </a:r>
            <a:endParaRPr lang="zh-CN" altLang="en-US" kern="0" dirty="0">
              <a:latin typeface="+mj-ea"/>
              <a:ea typeface="+mj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7F0A794-CDC7-4B91-AABF-AB8D2A7F3E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690" y="1234967"/>
            <a:ext cx="6962963" cy="4699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5631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89FE45BD-5D70-4C63-8514-9EA192FE75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943DC5A-42F0-44D6-AAE5-D11C10B5C48F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标题 2">
            <a:extLst>
              <a:ext uri="{FF2B5EF4-FFF2-40B4-BE49-F238E27FC236}">
                <a16:creationId xmlns:a16="http://schemas.microsoft.com/office/drawing/2014/main" id="{1DC4FA58-FF58-4740-9335-72A17B326DAF}"/>
              </a:ext>
            </a:extLst>
          </p:cNvPr>
          <p:cNvSpPr txBox="1">
            <a:spLocks/>
          </p:cNvSpPr>
          <p:nvPr/>
        </p:nvSpPr>
        <p:spPr bwMode="auto">
          <a:xfrm>
            <a:off x="312026" y="254304"/>
            <a:ext cx="10972801" cy="528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+mj-lt"/>
                <a:ea typeface="微软雅黑" pitchFamily="34" charset="-122"/>
                <a:cs typeface="微软雅黑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Arial Black" pitchFamily="34" charset="0"/>
                <a:ea typeface="微软雅黑" pitchFamily="34" charset="-122"/>
                <a:cs typeface="微软雅黑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Arial Black" pitchFamily="34" charset="0"/>
                <a:ea typeface="微软雅黑" pitchFamily="34" charset="-122"/>
                <a:cs typeface="微软雅黑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Arial Black" pitchFamily="34" charset="0"/>
                <a:ea typeface="微软雅黑" pitchFamily="34" charset="-122"/>
                <a:cs typeface="微软雅黑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Arial Black" pitchFamily="34" charset="0"/>
                <a:ea typeface="微软雅黑" pitchFamily="34" charset="-122"/>
                <a:cs typeface="微软雅黑" charset="0"/>
              </a:defRPr>
            </a:lvl5pPr>
            <a:lvl6pPr marL="483763" algn="l" rtl="0" eaLnBrk="0" fontAlgn="base" hangingPunct="0">
              <a:spcBef>
                <a:spcPct val="0"/>
              </a:spcBef>
              <a:spcAft>
                <a:spcPct val="0"/>
              </a:spcAft>
              <a:defRPr sz="2539">
                <a:solidFill>
                  <a:schemeClr val="tx1"/>
                </a:solidFill>
                <a:latin typeface="Calibri" pitchFamily="34" charset="0"/>
                <a:ea typeface="黑体" pitchFamily="2" charset="-122"/>
              </a:defRPr>
            </a:lvl6pPr>
            <a:lvl7pPr marL="967527" algn="l" rtl="0" eaLnBrk="0" fontAlgn="base" hangingPunct="0">
              <a:spcBef>
                <a:spcPct val="0"/>
              </a:spcBef>
              <a:spcAft>
                <a:spcPct val="0"/>
              </a:spcAft>
              <a:defRPr sz="2539">
                <a:solidFill>
                  <a:schemeClr val="tx1"/>
                </a:solidFill>
                <a:latin typeface="Calibri" pitchFamily="34" charset="0"/>
                <a:ea typeface="黑体" pitchFamily="2" charset="-122"/>
              </a:defRPr>
            </a:lvl7pPr>
            <a:lvl8pPr marL="1451290" algn="l" rtl="0" eaLnBrk="0" fontAlgn="base" hangingPunct="0">
              <a:spcBef>
                <a:spcPct val="0"/>
              </a:spcBef>
              <a:spcAft>
                <a:spcPct val="0"/>
              </a:spcAft>
              <a:defRPr sz="2539">
                <a:solidFill>
                  <a:schemeClr val="tx1"/>
                </a:solidFill>
                <a:latin typeface="Calibri" pitchFamily="34" charset="0"/>
                <a:ea typeface="黑体" pitchFamily="2" charset="-122"/>
              </a:defRPr>
            </a:lvl8pPr>
            <a:lvl9pPr marL="1935053" algn="l" rtl="0" eaLnBrk="0" fontAlgn="base" hangingPunct="0">
              <a:spcBef>
                <a:spcPct val="0"/>
              </a:spcBef>
              <a:spcAft>
                <a:spcPct val="0"/>
              </a:spcAft>
              <a:defRPr sz="2539">
                <a:solidFill>
                  <a:schemeClr val="tx1"/>
                </a:solidFill>
                <a:latin typeface="Calibri" pitchFamily="34" charset="0"/>
                <a:ea typeface="黑体" pitchFamily="2" charset="-122"/>
              </a:defRPr>
            </a:lvl9pPr>
          </a:lstStyle>
          <a:p>
            <a:r>
              <a:rPr lang="en-US" altLang="zh-CN" b="0" kern="0">
                <a:latin typeface="+mj-ea"/>
                <a:ea typeface="+mj-ea"/>
              </a:rPr>
              <a:t>"</a:t>
            </a:r>
            <a:r>
              <a:rPr lang="zh-CN" altLang="en-US" b="0" kern="0">
                <a:latin typeface="+mj-ea"/>
                <a:ea typeface="+mj-ea"/>
              </a:rPr>
              <a:t>身体质量指数</a:t>
            </a:r>
            <a:r>
              <a:rPr lang="en-US" altLang="zh-CN" b="0" kern="0">
                <a:latin typeface="+mj-ea"/>
                <a:ea typeface="+mj-ea"/>
              </a:rPr>
              <a:t>BMI"</a:t>
            </a:r>
            <a:r>
              <a:rPr lang="zh-CN" altLang="en-US" b="0" kern="0">
                <a:latin typeface="+mj-ea"/>
                <a:ea typeface="+mj-ea"/>
              </a:rPr>
              <a:t>问题分析</a:t>
            </a:r>
            <a:endParaRPr lang="zh-CN" altLang="en-US" kern="0" dirty="0">
              <a:latin typeface="+mj-ea"/>
              <a:ea typeface="+mj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51DAAD9-5CDB-4F62-B40A-A3A58D971B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084" y="1266712"/>
            <a:ext cx="9294411" cy="4848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2131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89FE45BD-5D70-4C63-8514-9EA192FE75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943DC5A-42F0-44D6-AAE5-D11C10B5C48F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标题 2">
            <a:extLst>
              <a:ext uri="{FF2B5EF4-FFF2-40B4-BE49-F238E27FC236}">
                <a16:creationId xmlns:a16="http://schemas.microsoft.com/office/drawing/2014/main" id="{1DC4FA58-FF58-4740-9335-72A17B326DAF}"/>
              </a:ext>
            </a:extLst>
          </p:cNvPr>
          <p:cNvSpPr txBox="1">
            <a:spLocks/>
          </p:cNvSpPr>
          <p:nvPr/>
        </p:nvSpPr>
        <p:spPr bwMode="auto">
          <a:xfrm>
            <a:off x="312026" y="254304"/>
            <a:ext cx="10972801" cy="528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+mj-lt"/>
                <a:ea typeface="微软雅黑" pitchFamily="34" charset="-122"/>
                <a:cs typeface="微软雅黑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Arial Black" pitchFamily="34" charset="0"/>
                <a:ea typeface="微软雅黑" pitchFamily="34" charset="-122"/>
                <a:cs typeface="微软雅黑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Arial Black" pitchFamily="34" charset="0"/>
                <a:ea typeface="微软雅黑" pitchFamily="34" charset="-122"/>
                <a:cs typeface="微软雅黑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Arial Black" pitchFamily="34" charset="0"/>
                <a:ea typeface="微软雅黑" pitchFamily="34" charset="-122"/>
                <a:cs typeface="微软雅黑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Arial Black" pitchFamily="34" charset="0"/>
                <a:ea typeface="微软雅黑" pitchFamily="34" charset="-122"/>
                <a:cs typeface="微软雅黑" charset="0"/>
              </a:defRPr>
            </a:lvl5pPr>
            <a:lvl6pPr marL="483763" algn="l" rtl="0" eaLnBrk="0" fontAlgn="base" hangingPunct="0">
              <a:spcBef>
                <a:spcPct val="0"/>
              </a:spcBef>
              <a:spcAft>
                <a:spcPct val="0"/>
              </a:spcAft>
              <a:defRPr sz="2539">
                <a:solidFill>
                  <a:schemeClr val="tx1"/>
                </a:solidFill>
                <a:latin typeface="Calibri" pitchFamily="34" charset="0"/>
                <a:ea typeface="黑体" pitchFamily="2" charset="-122"/>
              </a:defRPr>
            </a:lvl6pPr>
            <a:lvl7pPr marL="967527" algn="l" rtl="0" eaLnBrk="0" fontAlgn="base" hangingPunct="0">
              <a:spcBef>
                <a:spcPct val="0"/>
              </a:spcBef>
              <a:spcAft>
                <a:spcPct val="0"/>
              </a:spcAft>
              <a:defRPr sz="2539">
                <a:solidFill>
                  <a:schemeClr val="tx1"/>
                </a:solidFill>
                <a:latin typeface="Calibri" pitchFamily="34" charset="0"/>
                <a:ea typeface="黑体" pitchFamily="2" charset="-122"/>
              </a:defRPr>
            </a:lvl7pPr>
            <a:lvl8pPr marL="1451290" algn="l" rtl="0" eaLnBrk="0" fontAlgn="base" hangingPunct="0">
              <a:spcBef>
                <a:spcPct val="0"/>
              </a:spcBef>
              <a:spcAft>
                <a:spcPct val="0"/>
              </a:spcAft>
              <a:defRPr sz="2539">
                <a:solidFill>
                  <a:schemeClr val="tx1"/>
                </a:solidFill>
                <a:latin typeface="Calibri" pitchFamily="34" charset="0"/>
                <a:ea typeface="黑体" pitchFamily="2" charset="-122"/>
              </a:defRPr>
            </a:lvl8pPr>
            <a:lvl9pPr marL="1935053" algn="l" rtl="0" eaLnBrk="0" fontAlgn="base" hangingPunct="0">
              <a:spcBef>
                <a:spcPct val="0"/>
              </a:spcBef>
              <a:spcAft>
                <a:spcPct val="0"/>
              </a:spcAft>
              <a:defRPr sz="2539">
                <a:solidFill>
                  <a:schemeClr val="tx1"/>
                </a:solidFill>
                <a:latin typeface="Calibri" pitchFamily="34" charset="0"/>
                <a:ea typeface="黑体" pitchFamily="2" charset="-122"/>
              </a:defRPr>
            </a:lvl9pPr>
          </a:lstStyle>
          <a:p>
            <a:r>
              <a:rPr lang="en-US" altLang="zh-CN" b="0" kern="0">
                <a:latin typeface="+mj-ea"/>
                <a:ea typeface="+mj-ea"/>
              </a:rPr>
              <a:t>"</a:t>
            </a:r>
            <a:r>
              <a:rPr lang="zh-CN" altLang="en-US" b="0" kern="0">
                <a:latin typeface="+mj-ea"/>
                <a:ea typeface="+mj-ea"/>
              </a:rPr>
              <a:t>身体质量指数</a:t>
            </a:r>
            <a:r>
              <a:rPr lang="en-US" altLang="zh-CN" b="0" kern="0">
                <a:latin typeface="+mj-ea"/>
                <a:ea typeface="+mj-ea"/>
              </a:rPr>
              <a:t>BMI"</a:t>
            </a:r>
            <a:r>
              <a:rPr lang="zh-CN" altLang="en-US" b="0" kern="0">
                <a:latin typeface="+mj-ea"/>
                <a:ea typeface="+mj-ea"/>
              </a:rPr>
              <a:t>问题分析</a:t>
            </a:r>
            <a:endParaRPr lang="zh-CN" altLang="en-US" kern="0" dirty="0">
              <a:latin typeface="+mj-ea"/>
              <a:ea typeface="+mj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6A8CC1A-800E-4E63-B47E-CE6AFB8E3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5195" y="1295290"/>
            <a:ext cx="7390560" cy="4514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2076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89FE45BD-5D70-4C63-8514-9EA192FE75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943DC5A-42F0-44D6-AAE5-D11C10B5C48F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标题 2">
            <a:extLst>
              <a:ext uri="{FF2B5EF4-FFF2-40B4-BE49-F238E27FC236}">
                <a16:creationId xmlns:a16="http://schemas.microsoft.com/office/drawing/2014/main" id="{1DC4FA58-FF58-4740-9335-72A17B326DAF}"/>
              </a:ext>
            </a:extLst>
          </p:cNvPr>
          <p:cNvSpPr txBox="1">
            <a:spLocks/>
          </p:cNvSpPr>
          <p:nvPr/>
        </p:nvSpPr>
        <p:spPr bwMode="auto">
          <a:xfrm>
            <a:off x="312026" y="254304"/>
            <a:ext cx="10972801" cy="528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+mj-lt"/>
                <a:ea typeface="微软雅黑" pitchFamily="34" charset="-122"/>
                <a:cs typeface="微软雅黑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Arial Black" pitchFamily="34" charset="0"/>
                <a:ea typeface="微软雅黑" pitchFamily="34" charset="-122"/>
                <a:cs typeface="微软雅黑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Arial Black" pitchFamily="34" charset="0"/>
                <a:ea typeface="微软雅黑" pitchFamily="34" charset="-122"/>
                <a:cs typeface="微软雅黑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Arial Black" pitchFamily="34" charset="0"/>
                <a:ea typeface="微软雅黑" pitchFamily="34" charset="-122"/>
                <a:cs typeface="微软雅黑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Arial Black" pitchFamily="34" charset="0"/>
                <a:ea typeface="微软雅黑" pitchFamily="34" charset="-122"/>
                <a:cs typeface="微软雅黑" charset="0"/>
              </a:defRPr>
            </a:lvl5pPr>
            <a:lvl6pPr marL="483763" algn="l" rtl="0" eaLnBrk="0" fontAlgn="base" hangingPunct="0">
              <a:spcBef>
                <a:spcPct val="0"/>
              </a:spcBef>
              <a:spcAft>
                <a:spcPct val="0"/>
              </a:spcAft>
              <a:defRPr sz="2539">
                <a:solidFill>
                  <a:schemeClr val="tx1"/>
                </a:solidFill>
                <a:latin typeface="Calibri" pitchFamily="34" charset="0"/>
                <a:ea typeface="黑体" pitchFamily="2" charset="-122"/>
              </a:defRPr>
            </a:lvl6pPr>
            <a:lvl7pPr marL="967527" algn="l" rtl="0" eaLnBrk="0" fontAlgn="base" hangingPunct="0">
              <a:spcBef>
                <a:spcPct val="0"/>
              </a:spcBef>
              <a:spcAft>
                <a:spcPct val="0"/>
              </a:spcAft>
              <a:defRPr sz="2539">
                <a:solidFill>
                  <a:schemeClr val="tx1"/>
                </a:solidFill>
                <a:latin typeface="Calibri" pitchFamily="34" charset="0"/>
                <a:ea typeface="黑体" pitchFamily="2" charset="-122"/>
              </a:defRPr>
            </a:lvl7pPr>
            <a:lvl8pPr marL="1451290" algn="l" rtl="0" eaLnBrk="0" fontAlgn="base" hangingPunct="0">
              <a:spcBef>
                <a:spcPct val="0"/>
              </a:spcBef>
              <a:spcAft>
                <a:spcPct val="0"/>
              </a:spcAft>
              <a:defRPr sz="2539">
                <a:solidFill>
                  <a:schemeClr val="tx1"/>
                </a:solidFill>
                <a:latin typeface="Calibri" pitchFamily="34" charset="0"/>
                <a:ea typeface="黑体" pitchFamily="2" charset="-122"/>
              </a:defRPr>
            </a:lvl8pPr>
            <a:lvl9pPr marL="1935053" algn="l" rtl="0" eaLnBrk="0" fontAlgn="base" hangingPunct="0">
              <a:spcBef>
                <a:spcPct val="0"/>
              </a:spcBef>
              <a:spcAft>
                <a:spcPct val="0"/>
              </a:spcAft>
              <a:defRPr sz="2539">
                <a:solidFill>
                  <a:schemeClr val="tx1"/>
                </a:solidFill>
                <a:latin typeface="Calibri" pitchFamily="34" charset="0"/>
                <a:ea typeface="黑体" pitchFamily="2" charset="-122"/>
              </a:defRPr>
            </a:lvl9pPr>
          </a:lstStyle>
          <a:p>
            <a:r>
              <a:rPr lang="en-US" altLang="zh-CN" b="0" kern="0">
                <a:latin typeface="+mj-ea"/>
                <a:ea typeface="+mj-ea"/>
              </a:rPr>
              <a:t>"</a:t>
            </a:r>
            <a:r>
              <a:rPr lang="zh-CN" altLang="en-US" b="0" kern="0">
                <a:latin typeface="+mj-ea"/>
                <a:ea typeface="+mj-ea"/>
              </a:rPr>
              <a:t>身体质量指数</a:t>
            </a:r>
            <a:r>
              <a:rPr lang="en-US" altLang="zh-CN" b="0" kern="0">
                <a:latin typeface="+mj-ea"/>
                <a:ea typeface="+mj-ea"/>
              </a:rPr>
              <a:t>BMI"</a:t>
            </a:r>
            <a:r>
              <a:rPr lang="zh-CN" altLang="en-US" b="0" kern="0">
                <a:latin typeface="+mj-ea"/>
                <a:ea typeface="+mj-ea"/>
              </a:rPr>
              <a:t>问题分析</a:t>
            </a:r>
            <a:endParaRPr lang="zh-CN" altLang="en-US" kern="0" dirty="0">
              <a:latin typeface="+mj-ea"/>
              <a:ea typeface="+mj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921568A-B8BC-4CE1-9678-C823C4E8E8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281" y="1038102"/>
            <a:ext cx="8509437" cy="4781796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92C899CA-340D-4267-94EC-CC1E30551E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6356" y="4124282"/>
            <a:ext cx="3844994" cy="2350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2801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37214E24-3E27-EC3C-B62C-2B1AC5CBB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冒泡排序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27CB5D9-9064-2494-78EE-DE13068B7C7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55726" y="1313543"/>
            <a:ext cx="4829116" cy="1682577"/>
          </a:xfrm>
          <a:solidFill>
            <a:srgbClr val="FFFFFF"/>
          </a:solidFill>
          <a:effectLst>
            <a:prstShdw prst="shdw17" dist="17961" dir="2700000">
              <a:srgbClr val="999999"/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marL="0" indent="0">
              <a:spcBef>
                <a:spcPct val="0"/>
              </a:spcBef>
              <a:buClrTx/>
              <a:buNone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64, 34, 25, 12, 22, 11, 90</a:t>
            </a:r>
          </a:p>
          <a:p>
            <a:pPr marL="0" indent="0">
              <a:spcBef>
                <a:spcPct val="0"/>
              </a:spcBef>
              <a:buClrTx/>
              <a:buNone/>
            </a:pP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spcBef>
                <a:spcPct val="0"/>
              </a:spcBef>
              <a:buClrTx/>
              <a:buNone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冒泡排序（定义函数方式）</a:t>
            </a:r>
            <a:endParaRPr lang="zh-CN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052104B-B67F-8693-5E46-AA2581C546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741" t="-3876" b="42859"/>
          <a:stretch/>
        </p:blipFill>
        <p:spPr>
          <a:xfrm>
            <a:off x="5058382" y="272375"/>
            <a:ext cx="1641812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4002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37214E24-3E27-EC3C-B62C-2B1AC5CBB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冒泡排序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052104B-B67F-8693-5E46-AA2581C546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741" t="-3876" b="42859"/>
          <a:stretch/>
        </p:blipFill>
        <p:spPr>
          <a:xfrm>
            <a:off x="5741276" y="359079"/>
            <a:ext cx="1641812" cy="457200"/>
          </a:xfrm>
          <a:prstGeom prst="rect">
            <a:avLst/>
          </a:prstGeom>
        </p:spPr>
      </p:pic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7F4BFA82-5745-DCC3-4B29-E1489ED7E3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37336" y="1449658"/>
            <a:ext cx="7834867" cy="4370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3469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08557477-C229-46E5-A667-312892E9D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820" y="1741968"/>
            <a:ext cx="9244056" cy="4369231"/>
          </a:xfrm>
        </p:spPr>
        <p:txBody>
          <a:bodyPr/>
          <a:lstStyle/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快速排序使用分治法（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Divide and conquer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）策略来把一个序列（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list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）分为较小和较大的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2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个子序列，然后递归地排序两个子序列。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r>
              <a:rPr lang="zh-CN" altLang="en-US" b="0" i="0" dirty="0">
                <a:solidFill>
                  <a:schemeClr val="tx1"/>
                </a:solidFill>
                <a:effectLst/>
                <a:latin typeface="Menlo"/>
              </a:rPr>
              <a:t>要求采用快速排序算法对数列</a:t>
            </a:r>
            <a:r>
              <a:rPr lang="en-US" altLang="zh-CN" b="0" i="0" dirty="0">
                <a:solidFill>
                  <a:schemeClr val="tx1"/>
                </a:solidFill>
                <a:effectLst/>
                <a:latin typeface="Menlo"/>
              </a:rPr>
              <a:t>[10, 7, 8, 9, 1, 5]</a:t>
            </a:r>
            <a:r>
              <a:rPr lang="zh-CN" altLang="en-US" b="0" i="0" dirty="0">
                <a:solidFill>
                  <a:schemeClr val="tx1"/>
                </a:solidFill>
                <a:effectLst/>
                <a:latin typeface="Menlo"/>
              </a:rPr>
              <a:t> 进行排序。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65F1694-D1D3-49D7-BF39-956089156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i="0" u="none" strike="noStrike" dirty="0">
                <a:solidFill>
                  <a:srgbClr val="000000"/>
                </a:solidFill>
                <a:effectLst/>
                <a:latin typeface="Helvetica Neue"/>
              </a:rPr>
              <a:t>Python </a:t>
            </a:r>
            <a:r>
              <a:rPr lang="zh-CN" altLang="en-US" b="1" i="0" u="none" strike="noStrike" dirty="0">
                <a:solidFill>
                  <a:srgbClr val="000000"/>
                </a:solidFill>
                <a:effectLst/>
                <a:latin typeface="Helvetica Neue"/>
              </a:rPr>
              <a:t>快速排序</a:t>
            </a:r>
            <a:br>
              <a:rPr lang="zh-CN" altLang="en-US" b="1" i="0" u="none" strike="noStrike" dirty="0">
                <a:solidFill>
                  <a:srgbClr val="000000"/>
                </a:solidFill>
                <a:effectLst/>
                <a:latin typeface="Helvetica Neue"/>
              </a:rPr>
            </a:b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1FBCDE9-A4B2-423D-BEB2-EF180F23EA7F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CN" dirty="0"/>
              <a:t>https://www.runoob.com/python3/python-quicksort.html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232295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365F1694-D1D3-49D7-BF39-956089156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i="0" u="none" strike="noStrike" dirty="0">
                <a:solidFill>
                  <a:srgbClr val="000000"/>
                </a:solidFill>
                <a:effectLst/>
                <a:latin typeface="Helvetica Neue"/>
              </a:rPr>
              <a:t>Python </a:t>
            </a:r>
            <a:r>
              <a:rPr lang="zh-CN" altLang="en-US" b="1" i="0" u="none" strike="noStrike" dirty="0">
                <a:solidFill>
                  <a:srgbClr val="000000"/>
                </a:solidFill>
                <a:effectLst/>
                <a:latin typeface="Helvetica Neue"/>
              </a:rPr>
              <a:t>快速排序</a:t>
            </a:r>
            <a:br>
              <a:rPr lang="zh-CN" altLang="en-US" b="1" i="0" u="none" strike="noStrike" dirty="0">
                <a:solidFill>
                  <a:srgbClr val="000000"/>
                </a:solidFill>
                <a:effectLst/>
                <a:latin typeface="Helvetica Neue"/>
              </a:rPr>
            </a:b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1FBCDE9-A4B2-423D-BEB2-EF180F23EA7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2776494" y="348405"/>
            <a:ext cx="11107601" cy="426469"/>
          </a:xfrm>
        </p:spPr>
        <p:txBody>
          <a:bodyPr/>
          <a:lstStyle/>
          <a:p>
            <a:r>
              <a:rPr lang="en-US" altLang="zh-CN" dirty="0"/>
              <a:t>https://www.runoob.com/python3/python-quicksort.html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06EF68C-B3F1-4D49-9CAD-EFA08B09E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51" y="998976"/>
            <a:ext cx="6102474" cy="5859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2566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Rectangle 1">
            <a:extLst>
              <a:ext uri="{FF2B5EF4-FFF2-40B4-BE49-F238E27FC236}">
                <a16:creationId xmlns:a16="http://schemas.microsoft.com/office/drawing/2014/main" id="{3057C289-B04B-41BC-BE9E-AE58EF5234E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45308" y="1717141"/>
            <a:ext cx="8776762" cy="2308324"/>
          </a:xfrm>
          <a:solidFill>
            <a:srgbClr val="FFFFFF"/>
          </a:solidFill>
          <a:effectLst>
            <a:prstShdw prst="shdw17" dist="17961" dir="2700000">
              <a:srgbClr val="999999"/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marL="0" indent="0">
              <a:spcBef>
                <a:spcPct val="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The night begin to shine, the night begin to shine.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spcBef>
                <a:spcPct val="0"/>
              </a:spcBef>
              <a:buNone/>
            </a:pP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spcBef>
                <a:spcPct val="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、统计文件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Walden.txt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中上述话中单词出现的次数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spcBef>
                <a:spcPct val="0"/>
              </a:spcBef>
              <a:buNone/>
            </a:pP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spcBef>
                <a:spcPct val="0"/>
              </a:spcBef>
              <a:buNone/>
            </a:pPr>
            <a:r>
              <a:rPr lang="en" altLang="zh-CN" sz="2400" b="0" dirty="0">
                <a:solidFill>
                  <a:srgbClr val="6A9955"/>
                </a:solidFill>
                <a:effectLst/>
                <a:latin typeface="Menlo" panose="020B0609030804020204" pitchFamily="49" charset="0"/>
                <a:hlinkClick r:id="rId2"/>
              </a:rPr>
              <a:t>https://edu.tipdm.org/course/7/task/356/show</a:t>
            </a:r>
            <a:r>
              <a:rPr lang="zh-CN" altLang="en-US" sz="2400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 </a:t>
            </a:r>
            <a:endParaRPr lang="en" altLang="zh-CN" sz="24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spcBef>
                <a:spcPct val="0"/>
              </a:spcBef>
              <a:buNone/>
            </a:pPr>
            <a:endParaRPr lang="zh-CN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42CC1E1-5BB5-46F4-B30E-E2DAF575E7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0532" y="730242"/>
            <a:ext cx="3260701" cy="574683"/>
          </a:xfrm>
          <a:prstGeom prst="rect">
            <a:avLst/>
          </a:prstGeom>
        </p:spPr>
      </p:pic>
      <p:sp>
        <p:nvSpPr>
          <p:cNvPr id="4" name="标题 3">
            <a:extLst>
              <a:ext uri="{FF2B5EF4-FFF2-40B4-BE49-F238E27FC236}">
                <a16:creationId xmlns:a16="http://schemas.microsoft.com/office/drawing/2014/main" id="{816C529B-DE6E-901A-2F4E-457F0C7C9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统计词频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D91CEE-FC62-C2BE-C95C-40AE6AAEA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11132045" cy="1320800"/>
          </a:xfrm>
        </p:spPr>
        <p:txBody>
          <a:bodyPr>
            <a:normAutofit/>
          </a:bodyPr>
          <a:lstStyle/>
          <a:p>
            <a:r>
              <a:rPr lang="en-US" altLang="zh-CN" sz="2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zh-CN" sz="24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请对英文原著</a:t>
            </a:r>
            <a:r>
              <a:rPr lang="en-US" altLang="zh-CN" sz="2400" kern="1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Hamlet.txt</a:t>
            </a:r>
            <a:r>
              <a:rPr lang="zh-CN" altLang="zh-CN" sz="24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文件做词频统计，并打印出排名前</a:t>
            </a:r>
            <a:r>
              <a:rPr lang="en-US" altLang="zh-CN" sz="24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zh-CN" altLang="zh-CN" sz="24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位的高频词语。</a:t>
            </a:r>
            <a:br>
              <a:rPr lang="zh-CN" altLang="zh-CN" sz="2400" kern="100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</a:br>
            <a:endParaRPr kumimoji="1"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2B2F4A-3F20-DB47-5AE8-4E88666F9B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EA4F2D3-AD47-2C00-D900-BD12532D8C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468" y="1409069"/>
            <a:ext cx="7772400" cy="4448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240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F6D897-7A7F-4EA4-809E-737A76712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21A83D71-B4FB-4781-8829-C01E7EC1BD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6258" y="1255813"/>
            <a:ext cx="8827999" cy="5542578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12F82BF2-14A7-4BA2-B566-1EB423D349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165" y="1422394"/>
            <a:ext cx="1952937" cy="330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8148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2B03C7-5D11-EE12-3A85-09ED4CC1D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AF76A0-3381-7D01-6BC0-311D297235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FFC4537-D908-BC0E-9324-56FE154FFC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2260587"/>
            <a:ext cx="7772400" cy="3173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488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7700BC-5E17-4ADD-B000-DFDB170D4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DA3C1CA-C70A-4C25-8344-EACF7D5440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BB306C7-750B-4322-8D94-5E39C177E8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5" y="561093"/>
            <a:ext cx="10438994" cy="6015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7445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340076-CB2D-4DE7-A792-A27AA62AE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47F93A-AC83-4027-958A-8A40CE793D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EBB02DE-E80B-42AE-87BE-4736DC9CD9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061" y="636699"/>
            <a:ext cx="8907105" cy="5119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0631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2E82E9-1ED9-4FD1-8706-779271791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K-means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45DF41-3855-4FCC-AAB3-AE1476FED6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7887" y="609600"/>
            <a:ext cx="8596668" cy="3880773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采用</a:t>
            </a:r>
            <a:r>
              <a:rPr lang="en-US" altLang="zh-CN" sz="2400" dirty="0"/>
              <a:t>K-means</a:t>
            </a:r>
            <a:r>
              <a:rPr lang="zh-CN" altLang="en-US" sz="2400" dirty="0"/>
              <a:t>算法将平面上的</a:t>
            </a:r>
            <a:r>
              <a:rPr lang="en-US" altLang="zh-CN" sz="2400" dirty="0"/>
              <a:t>100</a:t>
            </a:r>
            <a:r>
              <a:rPr lang="zh-CN" altLang="en-US" sz="2400" dirty="0"/>
              <a:t>个点聚成</a:t>
            </a:r>
            <a:r>
              <a:rPr lang="en-US" altLang="zh-CN" sz="2400" dirty="0"/>
              <a:t>2</a:t>
            </a:r>
            <a:r>
              <a:rPr lang="zh-CN" altLang="en-US" sz="2400" dirty="0"/>
              <a:t>类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10FF2B9-02AF-4D1F-A2BC-8A859162D8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3779" y="1930400"/>
            <a:ext cx="2680369" cy="60008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DE48AA2-5711-C481-7EDF-532F91E827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111" y="1666867"/>
            <a:ext cx="7772400" cy="512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9252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713DCE-724A-44CB-A29D-E0353CEBB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E6389EB2-3A4D-4E36-9E0D-08034AA97A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2928" y="1322171"/>
            <a:ext cx="10356933" cy="4116103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F05CDC6A-2813-4575-BB24-14904CD2AE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0936" y="1343017"/>
            <a:ext cx="2630751" cy="47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092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EF980C-E839-72D1-F7B0-AB62A0AEC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64DC5E-3F0C-8C6D-630F-FEB31D7AEE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A92D0BD-3EB9-13BA-6351-B00DDF8BAB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609600"/>
            <a:ext cx="9814326" cy="6083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2781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A82B96-14F7-4AF7-8B3D-97D061F68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698" y="503722"/>
            <a:ext cx="9323314" cy="1320800"/>
          </a:xfrm>
        </p:spPr>
        <p:txBody>
          <a:bodyPr/>
          <a:lstStyle/>
          <a:p>
            <a:r>
              <a:rPr lang="zh-CN" altLang="en-US" dirty="0"/>
              <a:t>实现鸢尾花样本聚类、分类（</a:t>
            </a:r>
            <a:r>
              <a:rPr lang="en-US" altLang="zh-CN" dirty="0"/>
              <a:t>KNN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BAFAF9-ACDB-4E72-B18C-DACDC72D3A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7F3DF64-6F6F-4C99-AD08-2A79D427DE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934" y="1423195"/>
            <a:ext cx="8764198" cy="483719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1604AEEA-FA3F-4C97-F3CA-7CCE1A3666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7710" y="812411"/>
            <a:ext cx="2982234" cy="520707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1C70DDFA-2C79-1637-9A5F-62C56A9C73E5}"/>
              </a:ext>
            </a:extLst>
          </p:cNvPr>
          <p:cNvSpPr txBox="1"/>
          <p:nvPr/>
        </p:nvSpPr>
        <p:spPr>
          <a:xfrm>
            <a:off x="677334" y="6260386"/>
            <a:ext cx="101398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用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KNN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方法依据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上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表中的已知数据，对未知数据进行类别预测，假设未知数据占比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20%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br>
              <a:rPr lang="zh-CN" altLang="zh-CN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351164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标题 1">
            <a:extLst>
              <a:ext uri="{FF2B5EF4-FFF2-40B4-BE49-F238E27FC236}">
                <a16:creationId xmlns:a16="http://schemas.microsoft.com/office/drawing/2014/main" id="{CAEBF1C4-CD40-4775-8691-D4E24D69B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9288" y="153988"/>
            <a:ext cx="8318500" cy="431800"/>
          </a:xfrm>
        </p:spPr>
        <p:txBody>
          <a:bodyPr>
            <a:normAutofit fontScale="90000"/>
          </a:bodyPr>
          <a:lstStyle/>
          <a:p>
            <a:endParaRPr lang="zh-CN" altLang="en-US"/>
          </a:p>
        </p:txBody>
      </p:sp>
      <p:sp>
        <p:nvSpPr>
          <p:cNvPr id="58371" name="内容占位符 2">
            <a:extLst>
              <a:ext uri="{FF2B5EF4-FFF2-40B4-BE49-F238E27FC236}">
                <a16:creationId xmlns:a16="http://schemas.microsoft.com/office/drawing/2014/main" id="{E7C424AB-EB46-40E2-A8E4-75B65F73F8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9288" y="774701"/>
            <a:ext cx="8331200" cy="1285875"/>
          </a:xfrm>
        </p:spPr>
        <p:txBody>
          <a:bodyPr/>
          <a:lstStyle/>
          <a:p>
            <a:endParaRPr lang="zh-CN" altLang="en-US"/>
          </a:p>
        </p:txBody>
      </p:sp>
      <p:pic>
        <p:nvPicPr>
          <p:cNvPr id="58372" name="图片 3">
            <a:extLst>
              <a:ext uri="{FF2B5EF4-FFF2-40B4-BE49-F238E27FC236}">
                <a16:creationId xmlns:a16="http://schemas.microsoft.com/office/drawing/2014/main" id="{E0B0CB04-73BA-4501-B7DD-77DC1E65F9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4826" y="549276"/>
            <a:ext cx="8569325" cy="5821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标题 1">
            <a:extLst>
              <a:ext uri="{FF2B5EF4-FFF2-40B4-BE49-F238E27FC236}">
                <a16:creationId xmlns:a16="http://schemas.microsoft.com/office/drawing/2014/main" id="{B927C8F0-762B-43FA-86B8-7854F0B2F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9288" y="153988"/>
            <a:ext cx="8318500" cy="431800"/>
          </a:xfrm>
        </p:spPr>
        <p:txBody>
          <a:bodyPr>
            <a:normAutofit fontScale="90000"/>
          </a:bodyPr>
          <a:lstStyle/>
          <a:p>
            <a:endParaRPr lang="zh-CN" altLang="en-US"/>
          </a:p>
        </p:txBody>
      </p:sp>
      <p:sp>
        <p:nvSpPr>
          <p:cNvPr id="59395" name="内容占位符 2">
            <a:extLst>
              <a:ext uri="{FF2B5EF4-FFF2-40B4-BE49-F238E27FC236}">
                <a16:creationId xmlns:a16="http://schemas.microsoft.com/office/drawing/2014/main" id="{3732CCAC-9C04-4EBC-9A50-A8650E8FF1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9288" y="774701"/>
            <a:ext cx="8331200" cy="1285875"/>
          </a:xfrm>
        </p:spPr>
        <p:txBody>
          <a:bodyPr/>
          <a:lstStyle/>
          <a:p>
            <a:endParaRPr lang="zh-CN" altLang="en-US"/>
          </a:p>
        </p:txBody>
      </p:sp>
      <p:pic>
        <p:nvPicPr>
          <p:cNvPr id="59396" name="图片 3">
            <a:extLst>
              <a:ext uri="{FF2B5EF4-FFF2-40B4-BE49-F238E27FC236}">
                <a16:creationId xmlns:a16="http://schemas.microsoft.com/office/drawing/2014/main" id="{67DD9091-CAE5-4668-AD4F-CF2E90155B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850" y="620714"/>
            <a:ext cx="8612188" cy="557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标题 1">
            <a:extLst>
              <a:ext uri="{FF2B5EF4-FFF2-40B4-BE49-F238E27FC236}">
                <a16:creationId xmlns:a16="http://schemas.microsoft.com/office/drawing/2014/main" id="{2823439B-C53F-44CC-BE6D-FCDDBFA40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9288" y="153988"/>
            <a:ext cx="8318500" cy="431800"/>
          </a:xfrm>
        </p:spPr>
        <p:txBody>
          <a:bodyPr>
            <a:normAutofit fontScale="90000"/>
          </a:bodyPr>
          <a:lstStyle/>
          <a:p>
            <a:endParaRPr lang="zh-CN" altLang="en-US"/>
          </a:p>
        </p:txBody>
      </p:sp>
      <p:sp>
        <p:nvSpPr>
          <p:cNvPr id="60419" name="内容占位符 2">
            <a:extLst>
              <a:ext uri="{FF2B5EF4-FFF2-40B4-BE49-F238E27FC236}">
                <a16:creationId xmlns:a16="http://schemas.microsoft.com/office/drawing/2014/main" id="{A0FDFF23-32A4-42AA-A8E2-D32AC40059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9288" y="774701"/>
            <a:ext cx="8331200" cy="1285875"/>
          </a:xfrm>
        </p:spPr>
        <p:txBody>
          <a:bodyPr/>
          <a:lstStyle/>
          <a:p>
            <a:endParaRPr lang="zh-CN" altLang="en-US"/>
          </a:p>
        </p:txBody>
      </p:sp>
      <p:pic>
        <p:nvPicPr>
          <p:cNvPr id="60420" name="图片 3">
            <a:extLst>
              <a:ext uri="{FF2B5EF4-FFF2-40B4-BE49-F238E27FC236}">
                <a16:creationId xmlns:a16="http://schemas.microsoft.com/office/drawing/2014/main" id="{C5B97546-A61A-4762-9534-3AD326441E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289" y="1196976"/>
            <a:ext cx="8453437" cy="484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标题 1">
            <a:extLst>
              <a:ext uri="{FF2B5EF4-FFF2-40B4-BE49-F238E27FC236}">
                <a16:creationId xmlns:a16="http://schemas.microsoft.com/office/drawing/2014/main" id="{34E0E9B4-A91C-4EB5-A9AB-49C73AF65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9288" y="153988"/>
            <a:ext cx="8318500" cy="431800"/>
          </a:xfrm>
        </p:spPr>
        <p:txBody>
          <a:bodyPr>
            <a:normAutofit fontScale="90000"/>
          </a:bodyPr>
          <a:lstStyle/>
          <a:p>
            <a:endParaRPr lang="zh-CN" altLang="en-US"/>
          </a:p>
        </p:txBody>
      </p:sp>
      <p:sp>
        <p:nvSpPr>
          <p:cNvPr id="61443" name="内容占位符 2">
            <a:extLst>
              <a:ext uri="{FF2B5EF4-FFF2-40B4-BE49-F238E27FC236}">
                <a16:creationId xmlns:a16="http://schemas.microsoft.com/office/drawing/2014/main" id="{FFC05F92-E2C9-4C19-B8C3-90ACEF5789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9288" y="774701"/>
            <a:ext cx="8331200" cy="1285875"/>
          </a:xfrm>
        </p:spPr>
        <p:txBody>
          <a:bodyPr/>
          <a:lstStyle/>
          <a:p>
            <a:endParaRPr lang="zh-CN" altLang="en-US"/>
          </a:p>
        </p:txBody>
      </p:sp>
      <p:pic>
        <p:nvPicPr>
          <p:cNvPr id="61444" name="图片 3">
            <a:extLst>
              <a:ext uri="{FF2B5EF4-FFF2-40B4-BE49-F238E27FC236}">
                <a16:creationId xmlns:a16="http://schemas.microsoft.com/office/drawing/2014/main" id="{052CDAB8-1CBB-4745-A7DC-FD7A2A777D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2313" y="1341438"/>
            <a:ext cx="8139112" cy="454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标题 1">
            <a:extLst>
              <a:ext uri="{FF2B5EF4-FFF2-40B4-BE49-F238E27FC236}">
                <a16:creationId xmlns:a16="http://schemas.microsoft.com/office/drawing/2014/main" id="{92980200-F99D-4CB3-8B6D-F9D166546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9288" y="153988"/>
            <a:ext cx="8318500" cy="431800"/>
          </a:xfrm>
        </p:spPr>
        <p:txBody>
          <a:bodyPr>
            <a:normAutofit fontScale="90000"/>
          </a:bodyPr>
          <a:lstStyle/>
          <a:p>
            <a:endParaRPr lang="zh-CN" altLang="en-US"/>
          </a:p>
        </p:txBody>
      </p:sp>
      <p:sp>
        <p:nvSpPr>
          <p:cNvPr id="62467" name="内容占位符 2">
            <a:extLst>
              <a:ext uri="{FF2B5EF4-FFF2-40B4-BE49-F238E27FC236}">
                <a16:creationId xmlns:a16="http://schemas.microsoft.com/office/drawing/2014/main" id="{5213E1C5-AB2D-452E-B000-17746342F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9288" y="774701"/>
            <a:ext cx="8331200" cy="1285875"/>
          </a:xfrm>
        </p:spPr>
        <p:txBody>
          <a:bodyPr/>
          <a:lstStyle/>
          <a:p>
            <a:endParaRPr lang="zh-CN" altLang="en-US"/>
          </a:p>
        </p:txBody>
      </p:sp>
      <p:pic>
        <p:nvPicPr>
          <p:cNvPr id="62468" name="图片 3">
            <a:extLst>
              <a:ext uri="{FF2B5EF4-FFF2-40B4-BE49-F238E27FC236}">
                <a16:creationId xmlns:a16="http://schemas.microsoft.com/office/drawing/2014/main" id="{33734930-5051-4FE5-B81C-872BD9FB89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389" y="765176"/>
            <a:ext cx="8739187" cy="5256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标题 1">
            <a:extLst>
              <a:ext uri="{FF2B5EF4-FFF2-40B4-BE49-F238E27FC236}">
                <a16:creationId xmlns:a16="http://schemas.microsoft.com/office/drawing/2014/main" id="{543573A7-FE52-4223-9B6B-4AB3905CE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9288" y="153988"/>
            <a:ext cx="8318500" cy="431800"/>
          </a:xfrm>
        </p:spPr>
        <p:txBody>
          <a:bodyPr>
            <a:normAutofit fontScale="90000"/>
          </a:bodyPr>
          <a:lstStyle/>
          <a:p>
            <a:endParaRPr lang="zh-CN" altLang="en-US"/>
          </a:p>
        </p:txBody>
      </p:sp>
      <p:sp>
        <p:nvSpPr>
          <p:cNvPr id="63491" name="内容占位符 2">
            <a:extLst>
              <a:ext uri="{FF2B5EF4-FFF2-40B4-BE49-F238E27FC236}">
                <a16:creationId xmlns:a16="http://schemas.microsoft.com/office/drawing/2014/main" id="{4FFDDA7A-DD22-431C-A9FB-046E47050C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9288" y="774701"/>
            <a:ext cx="8331200" cy="1285875"/>
          </a:xfrm>
        </p:spPr>
        <p:txBody>
          <a:bodyPr/>
          <a:lstStyle/>
          <a:p>
            <a:endParaRPr lang="zh-CN" altLang="en-US"/>
          </a:p>
        </p:txBody>
      </p:sp>
      <p:pic>
        <p:nvPicPr>
          <p:cNvPr id="63492" name="图片 3">
            <a:extLst>
              <a:ext uri="{FF2B5EF4-FFF2-40B4-BE49-F238E27FC236}">
                <a16:creationId xmlns:a16="http://schemas.microsoft.com/office/drawing/2014/main" id="{C1999D92-D085-48FD-B514-F20FCE5122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522289"/>
            <a:ext cx="9144000" cy="581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标题 1">
            <a:extLst>
              <a:ext uri="{FF2B5EF4-FFF2-40B4-BE49-F238E27FC236}">
                <a16:creationId xmlns:a16="http://schemas.microsoft.com/office/drawing/2014/main" id="{B7B6D476-8573-463A-81D2-8EAC55C6F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9288" y="153988"/>
            <a:ext cx="8318500" cy="431800"/>
          </a:xfrm>
        </p:spPr>
        <p:txBody>
          <a:bodyPr>
            <a:normAutofit fontScale="90000"/>
          </a:bodyPr>
          <a:lstStyle/>
          <a:p>
            <a:endParaRPr lang="zh-CN" altLang="en-US"/>
          </a:p>
        </p:txBody>
      </p:sp>
      <p:sp>
        <p:nvSpPr>
          <p:cNvPr id="64515" name="内容占位符 2">
            <a:extLst>
              <a:ext uri="{FF2B5EF4-FFF2-40B4-BE49-F238E27FC236}">
                <a16:creationId xmlns:a16="http://schemas.microsoft.com/office/drawing/2014/main" id="{35CADBC6-46AD-4E26-8BA8-4E71FF6D97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9288" y="774701"/>
            <a:ext cx="8331200" cy="1285875"/>
          </a:xfrm>
        </p:spPr>
        <p:txBody>
          <a:bodyPr/>
          <a:lstStyle/>
          <a:p>
            <a:endParaRPr lang="zh-CN" altLang="en-US"/>
          </a:p>
        </p:txBody>
      </p:sp>
      <p:pic>
        <p:nvPicPr>
          <p:cNvPr id="64516" name="图片 3">
            <a:extLst>
              <a:ext uri="{FF2B5EF4-FFF2-40B4-BE49-F238E27FC236}">
                <a16:creationId xmlns:a16="http://schemas.microsoft.com/office/drawing/2014/main" id="{CDF8FF77-4EA1-449C-9C84-C0D55BF01D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028700"/>
            <a:ext cx="91440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标题 1">
            <a:extLst>
              <a:ext uri="{FF2B5EF4-FFF2-40B4-BE49-F238E27FC236}">
                <a16:creationId xmlns:a16="http://schemas.microsoft.com/office/drawing/2014/main" id="{0BD3BF8F-4C70-4DDD-AF2A-33981D284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9288" y="153988"/>
            <a:ext cx="8318500" cy="431800"/>
          </a:xfrm>
        </p:spPr>
        <p:txBody>
          <a:bodyPr>
            <a:normAutofit fontScale="90000"/>
          </a:bodyPr>
          <a:lstStyle/>
          <a:p>
            <a:endParaRPr lang="zh-CN" altLang="en-US"/>
          </a:p>
        </p:txBody>
      </p:sp>
      <p:sp>
        <p:nvSpPr>
          <p:cNvPr id="65539" name="内容占位符 2">
            <a:extLst>
              <a:ext uri="{FF2B5EF4-FFF2-40B4-BE49-F238E27FC236}">
                <a16:creationId xmlns:a16="http://schemas.microsoft.com/office/drawing/2014/main" id="{18282E26-F0CD-4976-BB89-3E9FEE75E9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9288" y="774701"/>
            <a:ext cx="8331200" cy="1285875"/>
          </a:xfrm>
        </p:spPr>
        <p:txBody>
          <a:bodyPr/>
          <a:lstStyle/>
          <a:p>
            <a:endParaRPr lang="zh-CN" altLang="en-US"/>
          </a:p>
        </p:txBody>
      </p:sp>
      <p:pic>
        <p:nvPicPr>
          <p:cNvPr id="65540" name="图片 3">
            <a:extLst>
              <a:ext uri="{FF2B5EF4-FFF2-40B4-BE49-F238E27FC236}">
                <a16:creationId xmlns:a16="http://schemas.microsoft.com/office/drawing/2014/main" id="{07E6698B-A36A-42D2-83C9-472543CC9E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900" y="901700"/>
            <a:ext cx="9144000" cy="494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894AFDAC-600A-42A1-BE46-7F048D3DA1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9634" y="6108692"/>
            <a:ext cx="2982234" cy="520707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CED251-10B4-F977-ADE2-71548B70A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640440-3E4C-1482-2543-C3745EE74F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CDA215C-7F6C-10CC-FB7F-07BC4A67F6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754592"/>
            <a:ext cx="7772400" cy="334881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81271B2-EA04-436E-390C-61232BD087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0451" y="5520655"/>
            <a:ext cx="2982234" cy="520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47388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038958-4E34-4A4A-A424-026C4A537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89EEC9D-E7EF-453B-B628-F18B73C99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54693B2-3BF3-45E3-9FA2-DF979B32D1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074" y="1498513"/>
            <a:ext cx="8776151" cy="3384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2509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763FE7-3A71-43C7-B506-BC3496394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7D4E0D-6636-4865-A590-250923A4DF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EB8489C-2785-4E1A-8D41-30F20CB6D8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061" y="812679"/>
            <a:ext cx="8306227" cy="4680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84376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CB4E27-8D33-4F0B-989C-58B9B387F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3CCD13-3667-4446-9A47-B15BA4232D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D481697-399A-4D6D-935C-732E8A64A8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883" y="714255"/>
            <a:ext cx="8702892" cy="478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8295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E0D0B9-E0E0-4294-B3A3-60390D7D6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68E911-1807-4163-9098-E65C24E8BF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25E7734-332A-47AB-A81B-80D6D172EA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725" y="746009"/>
            <a:ext cx="9022075" cy="463561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74A581C-7773-456A-8EA2-F02C6C6875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2337" y="4794243"/>
            <a:ext cx="2748087" cy="454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67633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8630D9-E7DD-4CA1-8A22-7F9DBDD6F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BD800C8-D43F-4264-BE4B-BA2587F99F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780" r="22851"/>
          <a:stretch/>
        </p:blipFill>
        <p:spPr>
          <a:xfrm>
            <a:off x="628649" y="711084"/>
            <a:ext cx="7820026" cy="5652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70256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7D6F08-C8BC-43FB-A596-7498F72AD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271B77-D081-4F71-B7C6-A4CB871517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3AA6CB2-F650-4711-A79A-2072064970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624" y="387235"/>
            <a:ext cx="7496326" cy="572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87538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346075-69B9-4F68-8083-A4EC072E0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B906BE-C6C4-461E-B0AD-515A5DFCAF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07E81CF-3DD9-4681-823C-5C2066A933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838" y="580907"/>
            <a:ext cx="7560221" cy="5486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10753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A52E4A-7310-4A74-B17B-BC869491A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EA5362-AD60-4480-8E4A-455F8F9BD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E5925E0-6243-4E31-8F2E-0F47A2154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604" y="619026"/>
            <a:ext cx="8164815" cy="5553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44983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F0FA61-606F-4306-9571-4F2E6D159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如何按文件格式自动归类到文件夹？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2A50F6-D20B-4A40-8280-EC6EFDD743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4D2C430-B4EA-4CDA-A746-C13FB9D18BC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6850"/>
          <a:stretch/>
        </p:blipFill>
        <p:spPr>
          <a:xfrm>
            <a:off x="682482" y="1752599"/>
            <a:ext cx="8332595" cy="439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45982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10A995-921B-4642-AA49-9682FEDA7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文件归类问题拆解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F13E16-A481-4A70-B15D-2597D7525B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3">
            <a:extLst>
              <a:ext uri="{FF2B5EF4-FFF2-40B4-BE49-F238E27FC236}">
                <a16:creationId xmlns:a16="http://schemas.microsoft.com/office/drawing/2014/main" id="{E068B5C4-E3BE-43BD-B798-EB7436DCBD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4617" y="2097972"/>
            <a:ext cx="6750485" cy="3493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0582820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F83702-9B36-4D5A-8EDC-D9ED0E8FB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D6469DA-0B0F-4B7C-8FE8-717150318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34" y="644482"/>
            <a:ext cx="7139042" cy="217491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2D2BE5E-B421-461F-A97C-1553388D21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042" y="2822526"/>
            <a:ext cx="7115308" cy="256431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94678371-7DE0-40E8-B170-91F55DB8D7D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29734" y="5625660"/>
            <a:ext cx="1800493" cy="64633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zh-CN" altLang="zh-CN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按文件类型归类</a:t>
            </a:r>
            <a:endParaRPr kumimoji="0" lang="zh-CN" altLang="zh-CN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FF525E3-1D19-4183-B361-8EF1F5A254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5733" y="5632443"/>
            <a:ext cx="2790639" cy="454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80742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FFA5E3-76CE-5E88-1B63-0FE8A535A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5E7A278-41FC-15A5-C8A3-DA5EB8BDA4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5EBD088-F764-2AFE-3A68-7C53038096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666836"/>
            <a:ext cx="7772400" cy="3524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31530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CC296F-7F92-30A7-A490-60BBA0C9B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B10B3A-1FA0-66DB-077B-2F8B54F224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E58200F-D382-0997-98B4-0C27D3699D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521087"/>
            <a:ext cx="7772400" cy="3815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983476"/>
      </p:ext>
    </p:extLst>
  </p:cSld>
  <p:clrMapOvr>
    <a:masterClrMapping/>
  </p:clrMapOvr>
</p:sld>
</file>

<file path=ppt/theme/theme1.xml><?xml version="1.0" encoding="utf-8"?>
<a:theme xmlns:a="http://schemas.openxmlformats.org/drawingml/2006/main" name="平面">
  <a:themeElements>
    <a:clrScheme name="平面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平面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平面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TM02900688[[fn=平面]]</Template>
  <TotalTime>213</TotalTime>
  <Words>423</Words>
  <Application>Microsoft Macintosh PowerPoint</Application>
  <PresentationFormat>宽屏</PresentationFormat>
  <Paragraphs>49</Paragraphs>
  <Slides>52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52</vt:i4>
      </vt:variant>
    </vt:vector>
  </HeadingPairs>
  <TitlesOfParts>
    <vt:vector size="65" baseType="lpstr">
      <vt:lpstr>等线</vt:lpstr>
      <vt:lpstr>方正姚体</vt:lpstr>
      <vt:lpstr>黑体</vt:lpstr>
      <vt:lpstr>宋体</vt:lpstr>
      <vt:lpstr>微软雅黑</vt:lpstr>
      <vt:lpstr>Arial</vt:lpstr>
      <vt:lpstr>Helvetica Neue</vt:lpstr>
      <vt:lpstr>Menlo</vt:lpstr>
      <vt:lpstr>Times New Roman</vt:lpstr>
      <vt:lpstr>Trebuchet MS</vt:lpstr>
      <vt:lpstr>Wingdings</vt:lpstr>
      <vt:lpstr>Wingdings 3</vt:lpstr>
      <vt:lpstr>平面</vt:lpstr>
      <vt:lpstr>总结</vt:lpstr>
      <vt:lpstr>课本</vt:lpstr>
      <vt:lpstr>温度转换</vt:lpstr>
      <vt:lpstr>温度转换</vt:lpstr>
      <vt:lpstr>需求分析</vt:lpstr>
      <vt:lpstr>问题分析</vt:lpstr>
      <vt:lpstr>“温度转换”实例编写</vt:lpstr>
      <vt:lpstr>天天向上的力量</vt:lpstr>
      <vt:lpstr>天天向上的力量</vt:lpstr>
      <vt:lpstr>天天向上的力量</vt:lpstr>
      <vt:lpstr>PowerPoint 演示文稿</vt:lpstr>
      <vt:lpstr>"身体质量指数BMI"问题分析</vt:lpstr>
      <vt:lpstr>PowerPoint 演示文稿</vt:lpstr>
      <vt:lpstr>PowerPoint 演示文稿</vt:lpstr>
      <vt:lpstr>PowerPoint 演示文稿</vt:lpstr>
      <vt:lpstr>PowerPoint 演示文稿</vt:lpstr>
      <vt:lpstr>冒泡排序</vt:lpstr>
      <vt:lpstr>冒泡排序</vt:lpstr>
      <vt:lpstr>Python 快速排序 </vt:lpstr>
      <vt:lpstr>Python 快速排序 </vt:lpstr>
      <vt:lpstr>统计词频</vt:lpstr>
      <vt:lpstr>3、请对英文原著Hamlet.txt文件做词频统计，并打印出排名前10位的高频词语。 </vt:lpstr>
      <vt:lpstr>PowerPoint 演示文稿</vt:lpstr>
      <vt:lpstr>PowerPoint 演示文稿</vt:lpstr>
      <vt:lpstr>PowerPoint 演示文稿</vt:lpstr>
      <vt:lpstr>PowerPoint 演示文稿</vt:lpstr>
      <vt:lpstr>K-means</vt:lpstr>
      <vt:lpstr>PowerPoint 演示文稿</vt:lpstr>
      <vt:lpstr>PowerPoint 演示文稿</vt:lpstr>
      <vt:lpstr>实现鸢尾花样本聚类、分类（KNN）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如何按文件格式自动归类到文件夹？</vt:lpstr>
      <vt:lpstr>文件归类问题拆解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练习</dc:title>
  <dc:creator>徐田田</dc:creator>
  <cp:lastModifiedBy>田田 徐</cp:lastModifiedBy>
  <cp:revision>116</cp:revision>
  <dcterms:created xsi:type="dcterms:W3CDTF">2019-11-06T08:25:18Z</dcterms:created>
  <dcterms:modified xsi:type="dcterms:W3CDTF">2023-11-02T07:18:42Z</dcterms:modified>
</cp:coreProperties>
</file>