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61"/>
  </p:handoutMasterIdLst>
  <p:sldIdLst>
    <p:sldId id="256" r:id="rId4"/>
    <p:sldId id="690" r:id="rId6"/>
    <p:sldId id="753" r:id="rId7"/>
    <p:sldId id="693" r:id="rId8"/>
    <p:sldId id="695" r:id="rId9"/>
    <p:sldId id="696" r:id="rId10"/>
    <p:sldId id="697" r:id="rId11"/>
    <p:sldId id="699" r:id="rId12"/>
    <p:sldId id="700" r:id="rId13"/>
    <p:sldId id="701" r:id="rId14"/>
    <p:sldId id="703" r:id="rId15"/>
    <p:sldId id="704" r:id="rId16"/>
    <p:sldId id="705" r:id="rId17"/>
    <p:sldId id="707" r:id="rId18"/>
    <p:sldId id="708" r:id="rId19"/>
    <p:sldId id="709" r:id="rId20"/>
    <p:sldId id="818" r:id="rId21"/>
    <p:sldId id="819" r:id="rId22"/>
    <p:sldId id="710" r:id="rId23"/>
    <p:sldId id="711" r:id="rId24"/>
    <p:sldId id="712" r:id="rId25"/>
    <p:sldId id="713" r:id="rId26"/>
    <p:sldId id="715" r:id="rId27"/>
    <p:sldId id="716" r:id="rId28"/>
    <p:sldId id="717" r:id="rId29"/>
    <p:sldId id="718" r:id="rId30"/>
    <p:sldId id="719" r:id="rId31"/>
    <p:sldId id="720" r:id="rId32"/>
    <p:sldId id="721" r:id="rId33"/>
    <p:sldId id="722" r:id="rId34"/>
    <p:sldId id="724" r:id="rId35"/>
    <p:sldId id="725" r:id="rId36"/>
    <p:sldId id="726" r:id="rId37"/>
    <p:sldId id="727" r:id="rId38"/>
    <p:sldId id="728" r:id="rId39"/>
    <p:sldId id="729" r:id="rId40"/>
    <p:sldId id="730" r:id="rId41"/>
    <p:sldId id="732" r:id="rId42"/>
    <p:sldId id="733" r:id="rId43"/>
    <p:sldId id="735" r:id="rId44"/>
    <p:sldId id="736" r:id="rId45"/>
    <p:sldId id="737" r:id="rId46"/>
    <p:sldId id="738" r:id="rId47"/>
    <p:sldId id="739" r:id="rId48"/>
    <p:sldId id="740" r:id="rId49"/>
    <p:sldId id="741" r:id="rId50"/>
    <p:sldId id="742" r:id="rId51"/>
    <p:sldId id="743" r:id="rId52"/>
    <p:sldId id="744" r:id="rId53"/>
    <p:sldId id="745" r:id="rId54"/>
    <p:sldId id="746" r:id="rId55"/>
    <p:sldId id="747" r:id="rId56"/>
    <p:sldId id="748" r:id="rId57"/>
    <p:sldId id="749" r:id="rId58"/>
    <p:sldId id="750" r:id="rId59"/>
    <p:sldId id="820" r:id="rId60"/>
  </p:sldIdLst>
  <p:sldSz cx="24384000" cy="13716000"/>
  <p:notesSz cx="7099300" cy="10234295"/>
  <p:custDataLst>
    <p:tags r:id="rId66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2FF"/>
    <a:srgbClr val="FF3300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1" autoAdjust="0"/>
    <p:restoredTop sz="70482" autoAdjust="0"/>
  </p:normalViewPr>
  <p:slideViewPr>
    <p:cSldViewPr snapToGrid="0">
      <p:cViewPr varScale="1">
        <p:scale>
          <a:sx n="34" d="100"/>
          <a:sy n="34" d="100"/>
        </p:scale>
        <p:origin x="1733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handoutMaster" Target="handoutMasters/handout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ableStyles" Target="tableStyles.xml"/><Relationship Id="rId65" Type="http://schemas.openxmlformats.org/officeDocument/2006/relationships/commentAuthors" Target="commentAuthors.xml"/><Relationship Id="rId66" Type="http://schemas.openxmlformats.org/officeDocument/2006/relationships/tags" Target="tags/tag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 b="1">
              <a:ln>
                <a:noFill/>
              </a:ln>
              <a:solidFill>
                <a:srgbClr val="000000"/>
              </a:solidFill>
              <a:effectLst/>
              <a:uFillTx/>
              <a:sym typeface="Helvetica Neue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b="1">
              <a:ln>
                <a:noFill/>
              </a:ln>
              <a:solidFill>
                <a:srgbClr val="000000"/>
              </a:solidFill>
              <a:effectLst/>
              <a:uFillTx/>
              <a:sym typeface="Helvetica Neue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000"/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4.png"/><Relationship Id="rId3" Type="http://schemas.openxmlformats.org/officeDocument/2006/relationships/tags" Target="../tags/tag2.xml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image" Target="../media/image6.png"/><Relationship Id="rId3" Type="http://schemas.openxmlformats.org/officeDocument/2006/relationships/tags" Target="../tags/tag4.xml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image" Target="../media/image10.png"/><Relationship Id="rId3" Type="http://schemas.openxmlformats.org/officeDocument/2006/relationships/tags" Target="../tags/tag8.xml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image" Target="../media/image12.png"/><Relationship Id="rId3" Type="http://schemas.openxmlformats.org/officeDocument/2006/relationships/tags" Target="../tags/tag10.xml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软件质量保证与测试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756"/>
            <a:ext cx="8980805" cy="10248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8.2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自动化测试工具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pytest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07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pytest介绍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2508250"/>
            <a:ext cx="18512790" cy="102825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pytest是一个成熟的全功能Python测试工具，可以帮助您编写更好的程序。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该pytest框架可以轻松编写小型、可读的测试，并且可以扩展以支持应用程序和库的复杂功能测试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可以用来做 系统测试 的自动化， 它的特点有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 Python 编写测试用例，简便易用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可以用 文件系统目录层次 对应 手工测试用例 层次结构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灵活的 初始化清除 机制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可以灵活挑选测试用例执行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利用第三方插件，可以生成不错的报表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安装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88820" y="2835910"/>
            <a:ext cx="17561560" cy="99771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直接执行 如下命令即可安装 pytest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pip install pytest 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产生测试报表，要安装一个第三方插件 pytest-html ，执行如下命令安装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pip install pytest-html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开始使用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87460" y="461010"/>
            <a:ext cx="6870065" cy="36233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17345" y="4279265"/>
            <a:ext cx="14734540" cy="89757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断言引发了某个异常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6405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使用raises帮助器来断言某些代码引发异常：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以“安静”报告模式执行测试功能：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该-q/--quiet标志使本例和以下示例中的输出保持简短。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29825" y="633095"/>
            <a:ext cx="10801985" cy="70288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01770" y="9511665"/>
            <a:ext cx="19211290" cy="20554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9895205" cy="1042670"/>
          </a:xfrm>
        </p:spPr>
        <p:txBody>
          <a:bodyPr>
            <a:normAutofit fontScale="90000"/>
          </a:bodyPr>
          <a:p>
            <a:r>
              <a:rPr lang="zh-CN" altLang="en-US"/>
              <a:t>将多个测试分组到一个类中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08095" y="2851150"/>
            <a:ext cx="14080490" cy="73037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28165" y="2807970"/>
            <a:ext cx="16973550" cy="99714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61895" y="2491105"/>
            <a:ext cx="19460845" cy="96208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Helvetica Neue"/>
              </a:rPr>
              <a:t>测试隔离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91640" y="280733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：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31580" y="-240030"/>
            <a:ext cx="7159625" cy="51930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047365" y="4953000"/>
            <a:ext cx="21336635" cy="8763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如何调用 pytest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2121535"/>
            <a:ext cx="19987895" cy="987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在模块中运行测试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test_mod.py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在目录中运行测试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testing/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通过关键字表达式运行测试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-k 'MyClass and not method'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按节点 ID 运行测试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要在模块内运行特定测试：pytest test_mod.py::test_func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在命令行中指定测试方法的另一个示例：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test_mod.py::TestClass::test_method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通过标记表达式运行测试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-m slow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将运行所有用装饰器装饰的测试@pytest.mark.slow。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从包运行测试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--pyargs pkg.testing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这将导入pkg.testing并使用其文件系统位置来查找并运行测试。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9276715" cy="1042670"/>
          </a:xfrm>
        </p:spPr>
        <p:txBody>
          <a:bodyPr>
            <a:normAutofit fontScale="90000"/>
          </a:bodyPr>
          <a:p>
            <a:r>
              <a:rPr lang="zh-CN" altLang="en-US"/>
              <a:t>如何在测试中编写和报告断言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33220" y="309308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984095" y="1078865"/>
            <a:ext cx="8391525" cy="41319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4055" y="4377690"/>
            <a:ext cx="14830425" cy="881951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8386445" cy="1042670"/>
          </a:xfrm>
        </p:spPr>
        <p:txBody>
          <a:bodyPr>
            <a:normAutofit fontScale="90000"/>
          </a:bodyPr>
          <a:p>
            <a:r>
              <a:rPr lang="zh-CN" altLang="en-US"/>
              <a:t>关于预期异常的断言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2936240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77135" y="4545330"/>
            <a:ext cx="14578330" cy="49891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9227820" cy="1042670"/>
          </a:xfrm>
        </p:spPr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要访问实际的异常信息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2807970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27785" y="3372485"/>
            <a:ext cx="20722590" cy="69723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match关键字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39315" y="3051175"/>
            <a:ext cx="19312255" cy="80981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9721850" cy="1042670"/>
          </a:xfrm>
        </p:spPr>
        <p:txBody>
          <a:bodyPr>
            <a:normAutofit fontScale="90000"/>
          </a:bodyPr>
          <a:p>
            <a:r>
              <a:rPr lang="zh-CN" altLang="en-US"/>
              <a:t>利用上下文</a:t>
            </a:r>
            <a:br>
              <a:rPr lang="zh-CN" altLang="en-US"/>
            </a:br>
            <a:r>
              <a:rPr lang="zh-CN" altLang="en-US"/>
              <a:t>相关的比较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46175" y="268287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45630" y="654685"/>
            <a:ext cx="16771620" cy="1302321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10165080" cy="1042670"/>
          </a:xfrm>
        </p:spPr>
        <p:txBody>
          <a:bodyPr>
            <a:normAutofit fontScale="90000"/>
          </a:bodyPr>
          <a:p>
            <a:r>
              <a:rPr lang="zh-CN" altLang="en-US"/>
              <a:t>为失败的断言定义你自己的解释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2807970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可以通过实现pytest_assertrepr_compare钩子来添加您自己的详细解释。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pytest_assertrepr_compare（配置，操作，左，右）返回失败断言表达式中的比较的解释。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如果没有自定义解释，则返回 None，否则返回字符串列表。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参数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config ( Config ) – pytest 配置对象。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op ( str ) – 运算符，例如"==", "!=", 。"not in"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left ( object ) – 左操作数。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right ( object ) – 右操作数。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23695" y="2840355"/>
            <a:ext cx="21604605" cy="74002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66355" y="2280285"/>
            <a:ext cx="12882880" cy="915543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27175" y="2516505"/>
            <a:ext cx="21712555" cy="103060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产生报告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74800" y="2807335"/>
            <a:ext cx="18060670" cy="88423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pytest-html 插件，这个插件就是用来产生测试报告的。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要产生报告，在命令行加上 参数 --html=report.html --self-contained-html ，如下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cases --html=report.html --self-contained-html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这样就会产生名为 report.html 的测试报告文件，可以在浏览器中打开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初始化清除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73225" y="2976245"/>
            <a:ext cx="17245330" cy="87433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对自动化测试框架来说，初始化清除功能 至关重要。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模块级别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模块级别 的初始化、清除 分别 在整个模块的测试用例 执行前后执行，并且 只会执行1次 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如下定义 setup_module 和 teardown_module 全局函数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24175" y="3265170"/>
            <a:ext cx="8128000" cy="5632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79220" y="2566670"/>
            <a:ext cx="10132060" cy="10782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setup_module():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 *** 初始化-模块 ***')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teardown_module():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 ***   清除-模块 ***')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Test_错误密码: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test_C001001(self):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print('\n用例C001001')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assert 1 == 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test_C001002(self):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print('\n用例C001002')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assert 2 == 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test_C001003(self):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print('\n用例C001003')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assert 3 == 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8400" y="6520815"/>
            <a:ext cx="6440170" cy="57670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Test_错误密码2: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test_C001021(self):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print('\n用例C001021')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assert 1 == 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test_C001022(self):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print('\n用例C001022')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assert 2 == 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2534285"/>
            <a:ext cx="18233390" cy="111817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执行命令 pytest cases -s ，运行结果如下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collected 5 items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cases\登录\test_错误登录.py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初始化-模块 ***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用例C001001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用例C001002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用例C001003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用例C001021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用例C001022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 清除-模块 ***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类级别 的初始化、清除 分别 在整个类的测试用例 执行前后执行，并且 只会执行1次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如下定义 setup_class 和 teardown_class 类方法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15745" y="2566670"/>
            <a:ext cx="6993890" cy="25838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setup_module():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 *** 初始化-模块 ***')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teardown_module():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 ***   清除-模块 ***')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09635" y="631190"/>
            <a:ext cx="8128000" cy="139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class Test_错误密码: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@classmethod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def setup_class(cls):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print('\n === 初始化-类 ===')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@classmethod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def teardown_class(cls):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print('\n === 清除 - 类 ===')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def test_C001001(self):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print('\n用例C001001')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assert 1 == 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def test_C001002(self):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print('\n用例C001002')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assert 2 == 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def test_C001003(self):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print('\n用例C001003')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assert 3 == 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262350" y="631190"/>
            <a:ext cx="6929120" cy="67494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class Test_错误密码2: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def test_C001021(self):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print('\n用例C001021')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assert 1 == 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def test_C001022(self):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print('\n用例C001022')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assert 2 == 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489815" y="424180"/>
            <a:ext cx="8534400" cy="112953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collected 5 items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cases\登录\test_错误登录.py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初始化-模块 ***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=== 初始化-类 ===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用例C001001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用例C001002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用例C001003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=== 清除 - 类 ===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用例C001021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用例C001022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 清除-模块 ***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91105" y="8729345"/>
            <a:ext cx="8912225" cy="24879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方法级别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方法级别 的初始化、清除 分别 在类的 每个测试方法 执行前后执行，并且 每个用例分别执行1次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如下定义 setup_method 和 teardown_method 实例方法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91105" y="1564640"/>
            <a:ext cx="9453880" cy="12843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setup_module():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 *** 初始化-模块 ***')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teardown_module():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 ***   清除-模块 ***')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Test_错误密码: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@classmethod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setup_class(cls):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 === 初始化-类 ===')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@classmethod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teardown_class(cls):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 === 清除 - 类 ===')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setup_method(self):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 --- 初始化-方法  ---')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teardown_method(self):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 --- 清除  -方法 ---')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342110" y="6514466"/>
            <a:ext cx="8128000" cy="67494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def test_C001001(self):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print('\n用例C001001')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assert 1 == 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def test_C001002(self):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print('\n用例C001002')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assert 2 == 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def test_C001003(self):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print('\n用例C001003')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assert 3 == 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201150" y="-317"/>
            <a:ext cx="8128000" cy="133978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collected 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items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cases\登录\test_错误登录.py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初始化-模块 ***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=== 初始化-类 ===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--- 初始化-方法  ---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用例C001001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--- 清除  -方法 ---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--- 初始化-方法  ---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用例C001002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--- 清除  -方法 ---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--- 初始化-方法  ---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用例C001003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--- 清除  -方法 ---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=== 清除 - 类 ===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 清除-模块 ***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挑选用例执行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71869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pytest 可以灵活的挑选测试用例执行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指定一个模块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可以像这样只挑选一个模块执行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pytest cases\登录\test_错误登录.py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指定目录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可以像这样只挑选一个目录执行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pytest cases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也可以指定多个目录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pytest cases1  cases2\登录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algn="l"/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20265" y="2807970"/>
            <a:ext cx="14251940" cy="92367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指定模块里面的函数或者类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指定一个类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cases\登录\test_错误登录.py::Test_错误密码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也可以指定类里面的方法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cases\登录\test_错误登录.py::Test_错误密码::test_C001001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根据名字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可以使用 命令行参数 -k 后面加名字来挑选要执行的测试项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比如像这样后面跟测试函数名字的一部分：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-k C001001 -s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根据标签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2807335"/>
            <a:ext cx="994537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可以这样给 某个方法加上标签 webtest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mport pytest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Test_错误密码2: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@pytest.mark.webtest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test_C001021(self):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print('\n用例C001021')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assert 1 == 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然后，可以这样运行指定标签的用例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 cases -m webtest -s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859000" y="3103563"/>
            <a:ext cx="8128000" cy="50260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也可以这样给整个类加上标签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@pytest.mark.webtest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Test_错误密码2: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test_C001021(self):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print('\n用例C001021')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assert 1 == 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可以这样同时添加多个标签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@pytest.mark.网页测试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@pytest.mark.登录测试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Test_错误密码2: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test_C001021(self):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print('\n用例C001021')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assert 1 == 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可以这样定义一个全局变量 pytestmark 为 整个模块文件 设定标签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pytest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pytestmark = pytest.mark.网页测试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如果你需要定义多个标签，可以定义一个列表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pytest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pytestmark = [pytest.mark.网页测试, pytest.mark.登录测试]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数据驱动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如果有一批测试用例，具有 相同的测试步骤 ，只是 测试参数数据不同 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自动化测试时，把测试数据从用例代码中 分离 开来，以后增加新的测试用例，只需要修改数据。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这就是数据驱动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2432685"/>
            <a:ext cx="20582255" cy="9484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Test_错误登录: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@pytest.mark.parametrize('username, password, expectedalert', [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(None, '88888888', '请输入用户名'),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('byhy', None, '请输入密码'),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('byh', '88888888', '登录失败 : 用户名或者密码错误'),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('byhy', '8888888', '登录失败 : 用户名或者密码错误'),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('byhy', '888888888', '登录失败 : 用户名或者密码错误'),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]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                     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def test_UI_0001_0005(self, username, password, expectedalert):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alertText = loginAndCheck(username, password)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assert alertText == expectedalert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调试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80360" y="212153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4279900" y="1078865"/>
            <a:ext cx="19758660" cy="120148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使用 fixture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前面讲初始化清除时，主要用的是 unittest 风格的初始化清除方法。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pytest里面有更灵活方便的初始化、清除 方法，就是使用 fixture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使用 fixture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2715260"/>
            <a:ext cx="17788890" cy="89649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pytest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# 定义一个fixture函数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@pytest.fixture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createzhangSan():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# 这里代码实现了使用API创建用户张三账号功能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 *** createzhangSan ***')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zhangSan = {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'username'   : 'zhangsan',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'password'   : '111111',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'invitecode' : 'abcdefg' # 这是系统创建用户产生的其它信息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}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return zhangSan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276705" y="2468245"/>
            <a:ext cx="12192000" cy="62572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olidFill>
                  <a:srgbClr val="FF0000"/>
                </a:solidFill>
                <a:sym typeface="Helvetica Neue"/>
              </a:rPr>
              <a:t># 这里测试张三账号登录的功能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olidFill>
                  <a:srgbClr val="FF0000"/>
                </a:solidFill>
                <a:sym typeface="Helvetica Neue"/>
              </a:rPr>
              <a:t>def test_A001001(createzhangSan):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   print('\n用例 A001001')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   print('\ninvitecode is', createzhangSan['invitecode'])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# 这里测试其它功能，不需要张三账号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def test_C001001():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   print('\n用例 C001001')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2966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collected 2 items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test_1.py::test_A001001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*** createzhangSan ***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 A001001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invitecode is abcdefg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PASSED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test_1.py::test_C001001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 C001001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PASSED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清除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09625" y="2442845"/>
            <a:ext cx="15365730" cy="114738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pytest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# 定义一个fixture函数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@pytest.fixture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createzhangSan():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 ***  执行创建张三账号的代码 ***')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zhangSan = {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'username'   : 'zhangsan',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'password'   : '111111',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'invitecode' : 'abcdefg' # 这是系统创建用户产生的其它信息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}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yield zhangSan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print('\n ***  执行清除张三账号的代码 ***')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test_A001001(createzhangSan):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print('\n用例 A001001')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print('\ninvitecode is', createzhangSan['invitecode'])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175355" y="7881938"/>
            <a:ext cx="8128000" cy="45332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test_1.py::test_A001001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执行创建张三账号的代码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 A001001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invitecode is abcdefg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PASSED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执行清除张三账号的代码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fixture 参数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如果我们要使用的fixture本身行为需要参数，怎么办？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比如， 前面的例子中，如果fixture初始创建的不是固定的张三用户，而是需要根据参数来创建不同的用户，怎么做呢？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这时就需要使用 parametrize 装饰器，并指定参数 indirect=True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fixture 参数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22250" y="2807970"/>
            <a:ext cx="1293241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pytest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# 定义一个fixture函数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@pytest.fixture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createUser(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request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# 这里代码实现了使用API创建用户账号功能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 *** createUser ***')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user = {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'username'   :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request.param[0]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'password'   :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request.param[1]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'invitecode' : 'abcdefg' # 这是系统创建用户产生的其它信息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}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return user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91820" y="1078865"/>
            <a:ext cx="11092180" cy="106914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@pytest.mark.parametrize("createUser",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                 [</a:t>
            </a:r>
            <a:r>
              <a:rPr lang="zh-CN" altLang="en-US" sz="3600">
                <a:solidFill>
                  <a:schemeClr val="accent1"/>
                </a:solidFill>
                <a:sym typeface="Helvetica Neue"/>
              </a:rPr>
              <a:t>("</a:t>
            </a:r>
            <a:r>
              <a:rPr lang="en-US" altLang="zh-CN" sz="3600">
                <a:solidFill>
                  <a:schemeClr val="accent1"/>
                </a:solidFill>
                <a:sym typeface="Helvetica Neue"/>
              </a:rPr>
              <a:t>zhangsan</a:t>
            </a:r>
            <a:r>
              <a:rPr lang="zh-CN" altLang="en-US" sz="3600">
                <a:solidFill>
                  <a:schemeClr val="accent1"/>
                </a:solidFill>
                <a:sym typeface="Helvetica Neue"/>
              </a:rPr>
              <a:t>", "111")</a:t>
            </a:r>
            <a:r>
              <a:rPr lang="zh-CN" altLang="en-US" sz="3600">
                <a:sym typeface="Helvetica Neue"/>
              </a:rPr>
              <a:t>],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                 indirect=True)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def test_A001001(createUser):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print('\n用例 A001001')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print('\nusername is', createUser['username'])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print('测试行为1111')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@pytest.mark.parametrize("createUser",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                 [</a:t>
            </a:r>
            <a:r>
              <a:rPr lang="zh-CN" altLang="en-US" sz="3600">
                <a:solidFill>
                  <a:schemeClr val="accent1"/>
                </a:solidFill>
                <a:sym typeface="Helvetica Neue"/>
              </a:rPr>
              <a:t>("lisi", "111")</a:t>
            </a:r>
            <a:r>
              <a:rPr lang="zh-CN" altLang="en-US" sz="3600">
                <a:sym typeface="Helvetica Neue"/>
              </a:rPr>
              <a:t>],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                     indirect=True)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def test_A001002(createUser):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print('\n用例 A001002')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print('\nusername is', createUser['username'])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>
                <a:sym typeface="Helvetica Neue"/>
              </a:rPr>
              <a:t>    print('测试行为2222')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fixture 参数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38120" y="2358390"/>
            <a:ext cx="16973550" cy="94100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collected 2 items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test_1.py::test_A001001[createUser0]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createUser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 A001001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username is zhangsan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测试行为1111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PASSED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test_1.py::test_A001002[createUser0]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createUser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 A001002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username is lisi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测试行为2222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PASSED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当然，如果多个测试函数的代码都一样，就是前面说的数据驱动，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用例函数可以合并起来，使用多个参数，像这样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@pytest.mark.parametrize("createUser",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[("zhangsan", "111111"),("lisi", "111")],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indirect=True)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test_A00100X(createUser):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print('\nusername is', createUser['username'])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print('测试行为')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scope 范围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238315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fixture 由小到大，有下面这几种级别范围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function : 函数级别，缺省值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会在测试函数结束时执行 fixture 对应的清除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: 类级别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会在 类 里面的最后一个测试方法 结束时 执行 fixture 对应的清除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module : 模块文件级别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会在 模块文件 里面的最后一个测试方法 结束时 执行 fixture 对应的清除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package : 目录级别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会在 目录 里面的最后一个测试方法 结束时 执行 fixture 对应的清除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session : 整个测试 级别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会在 整个测试 的最后一个测试方法 结束时 执行 fixture 对应的清除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函数级别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4818995" cy="94468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pytest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@pytest.fixture(scope='function')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createzhangSan():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print('\n ***  创建 ***')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zhangSan = {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'username'   : 'zhangsan',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'password'   : '111111',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}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yield zhangSan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print('\n ***  清除 ***')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83975" y="6476365"/>
            <a:ext cx="12192000" cy="61029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ym typeface="Helvetica Neue"/>
              </a:rPr>
              <a:t>class Test_C: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ym typeface="Helvetica Neue"/>
              </a:rPr>
              <a:t>   </a:t>
            </a:r>
            <a:r>
              <a:rPr lang="zh-CN" altLang="en-US">
                <a:solidFill>
                  <a:srgbClr val="00B0F0"/>
                </a:solidFill>
                <a:sym typeface="Helvetica Neue"/>
              </a:rPr>
              <a:t> def test_C001(self, createzhangSan):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ym typeface="Helvetica Neue"/>
              </a:rPr>
              <a:t>        print('\n用例C001')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ym typeface="Helvetica Neue"/>
              </a:rPr>
              <a:t>   </a:t>
            </a:r>
            <a:r>
              <a:rPr lang="zh-CN" altLang="en-US">
                <a:solidFill>
                  <a:srgbClr val="00B0F0"/>
                </a:solidFill>
                <a:sym typeface="Helvetica Neue"/>
              </a:rPr>
              <a:t> def test_C002(self, createzhangSan):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ym typeface="Helvetica Neue"/>
              </a:rPr>
              <a:t>        print('\n用例C002')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ym typeface="Helvetica Neue"/>
              </a:rPr>
              <a:t>class Test_D: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ym typeface="Helvetica Neue"/>
              </a:rPr>
              <a:t>    </a:t>
            </a:r>
            <a:r>
              <a:rPr lang="zh-CN" altLang="en-US">
                <a:solidFill>
                  <a:srgbClr val="00B0F0"/>
                </a:solidFill>
                <a:sym typeface="Helvetica Neue"/>
              </a:rPr>
              <a:t>def test_D001001(self, createzhangSan):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ym typeface="Helvetica Neue"/>
              </a:rPr>
              <a:t>        print('\n用例D001')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函数级别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597265" y="1405255"/>
            <a:ext cx="16973550" cy="98310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collected 3 items  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test_1.py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创建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清除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创建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清除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创建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用例D001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清除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类级别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前面的代码，只修改一下 scope 值为 class ，其它代码不变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@pytest.fixture(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scope='class'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createzhangSan():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705225" y="2506345"/>
            <a:ext cx="16973550" cy="11708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collected 3 items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test_1.py::Test_C::test_C001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执行创建张三账号的代码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test_1.py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***  创建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清除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***  创建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用例D001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清除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模块级别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前面的代码，只修改一下 scope 值为 module ，其它代码不变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@pytest.fixture(scope='module')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createzhangSan():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模块级别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90980" y="3281680"/>
            <a:ext cx="12192000" cy="87191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执行命令 pytest cases -s ，运行结果如下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collected 3 items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test_1.py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创建 ***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用例C002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用例D001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清除 ***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目录级别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38120" y="280733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目录级别的 初始化清除，就是针对整个目录执行的初始化、清除。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目录级别的初始化、清除 在 整个目录 所有用例 执行前后 分别 只执行一次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我们在需要针对的目录下面创建 一个名为 conftest.py 的文件，里面内容如下所示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pytest 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@pytest.fixture(scope='package',autouse=True)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st_emptyEnv():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print(f'\n#### 初始化-目录甲')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yield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print(f'\n#### 清除-目录甲')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0500" y="3307715"/>
            <a:ext cx="12192000" cy="84118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# test_1.py 内容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Test_C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test_C001(self, createzhangSan):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print('\n用例C001')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test_C002(self, createzhangSan):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print('\n用例C002')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Test_D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test_D001001(self, createzhangSan):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print('\n用例D001')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192000" y="3618865"/>
            <a:ext cx="12192000" cy="50876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# test_2.py 内容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Test_E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test_E001(self, createzhangSan):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print('\n用例E001',createzhangSan['username'])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def test_E002(self, createzhangSan):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print('\n用例E002')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38120" y="2853055"/>
            <a:ext cx="16973550" cy="94341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执行命令 pytest cases -s ，运行结果如下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collected 5 items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test_1.py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创建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用例C002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用例D001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test_2.py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用例E001 zhangsan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用例E002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***  清除 ***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整个测试级别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45005" y="3618865"/>
            <a:ext cx="16973550" cy="81006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整个测试级别的 初始化清除，就是针对 整个测试 执行的初始化、清除。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整个测试级别的初始化、清除 在 整个测试 所有用例 执行前后 分别 只执行一次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前面的示例，我们只修改一下 scope 值为 session ，其它代码不变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测试结果也是一样的。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252210" y="6223318"/>
            <a:ext cx="8128000" cy="13322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谢谢</a:t>
            </a:r>
            <a:endParaRPr kumimoji="0" lang="zh-CN" altLang="en-US" sz="8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10383</Words>
  <Application>WPS 演示</Application>
  <PresentationFormat>Custom</PresentationFormat>
  <Paragraphs>807</Paragraphs>
  <Slides>56</Slides>
  <Notes>21</Notes>
  <HiddenSlides>0</HiddenSlides>
  <MMClips>21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72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Arial Unicode MS</vt:lpstr>
      <vt:lpstr>White</vt:lpstr>
      <vt:lpstr>1_White</vt:lpstr>
      <vt:lpstr>PowerPoint 演示文稿</vt:lpstr>
      <vt:lpstr>PowerPoint 演示文稿</vt:lpstr>
      <vt:lpstr>安装</vt:lpstr>
      <vt:lpstr>PowerPoint 演示文稿</vt:lpstr>
      <vt:lpstr>断言引发了某个异常</vt:lpstr>
      <vt:lpstr>将多个测试分组到一个类中</vt:lpstr>
      <vt:lpstr>PowerPoint 演示文稿</vt:lpstr>
      <vt:lpstr>PowerPoint 演示文稿</vt:lpstr>
      <vt:lpstr>如何调用 pytest</vt:lpstr>
      <vt:lpstr>如何在测试中编写和报告断言</vt:lpstr>
      <vt:lpstr>关于预期异常的断言</vt:lpstr>
      <vt:lpstr>PowerPoint 演示文稿</vt:lpstr>
      <vt:lpstr>PowerPoint 演示文稿</vt:lpstr>
      <vt:lpstr>利用上下文相关的比较</vt:lpstr>
      <vt:lpstr>为失败的断言定义你自己的解释</vt:lpstr>
      <vt:lpstr>PowerPoint 演示文稿</vt:lpstr>
      <vt:lpstr>PowerPoint 演示文稿</vt:lpstr>
      <vt:lpstr>PowerPoint 演示文稿</vt:lpstr>
      <vt:lpstr>产生报告</vt:lpstr>
      <vt:lpstr>初始化清除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方法级别</vt:lpstr>
      <vt:lpstr>PowerPoint 演示文稿</vt:lpstr>
      <vt:lpstr>PowerPoint 演示文稿</vt:lpstr>
      <vt:lpstr>挑选用例执行</vt:lpstr>
      <vt:lpstr>PowerPoint 演示文稿</vt:lpstr>
      <vt:lpstr>根据标签</vt:lpstr>
      <vt:lpstr>PowerPoint 演示文稿</vt:lpstr>
      <vt:lpstr>PowerPoint 演示文稿</vt:lpstr>
      <vt:lpstr>数据驱动</vt:lpstr>
      <vt:lpstr>PowerPoint 演示文稿</vt:lpstr>
      <vt:lpstr>调试</vt:lpstr>
      <vt:lpstr>使用 fixture</vt:lpstr>
      <vt:lpstr>PowerPoint 演示文稿</vt:lpstr>
      <vt:lpstr>PowerPoint 演示文稿</vt:lpstr>
      <vt:lpstr>PowerPoint 演示文稿</vt:lpstr>
      <vt:lpstr>fixture 参数</vt:lpstr>
      <vt:lpstr>PowerPoint 演示文稿</vt:lpstr>
      <vt:lpstr>PowerPoint 演示文稿</vt:lpstr>
      <vt:lpstr>PowerPoint 演示文稿</vt:lpstr>
      <vt:lpstr>scope 范围</vt:lpstr>
      <vt:lpstr>函数级别</vt:lpstr>
      <vt:lpstr>PowerPoint 演示文稿</vt:lpstr>
      <vt:lpstr>类级别</vt:lpstr>
      <vt:lpstr>PowerPoint 演示文稿</vt:lpstr>
      <vt:lpstr>模块级别</vt:lpstr>
      <vt:lpstr>PowerPoint 演示文稿</vt:lpstr>
      <vt:lpstr>目录级别</vt:lpstr>
      <vt:lpstr>PowerPoint 演示文稿</vt:lpstr>
      <vt:lpstr>PowerPoint 演示文稿</vt:lpstr>
      <vt:lpstr>整个测试级别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767</cp:revision>
  <cp:lastPrinted>2020-08-01T02:11:00Z</cp:lastPrinted>
  <dcterms:created xsi:type="dcterms:W3CDTF">2019-05-10T09:49:00Z</dcterms:created>
  <dcterms:modified xsi:type="dcterms:W3CDTF">2023-08-11T05:18:38Z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FC7E3894B9C24FCB90BE59C998B6C177_12</vt:lpwstr>
  </property>
</Properties>
</file>