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349" r:id="rId6"/>
    <p:sldId id="340" r:id="rId7"/>
    <p:sldId id="341" r:id="rId8"/>
    <p:sldId id="342" r:id="rId9"/>
    <p:sldId id="343" r:id="rId10"/>
    <p:sldId id="344" r:id="rId11"/>
    <p:sldId id="350" r:id="rId12"/>
    <p:sldId id="346" r:id="rId13"/>
    <p:sldId id="347" r:id="rId14"/>
    <p:sldId id="348" r:id="rId15"/>
    <p:sldId id="351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293" r:id="rId24"/>
    <p:sldId id="259" r:id="rId25"/>
  </p:sldIdLst>
  <p:sldSz cx="24384000" cy="13716000"/>
  <p:notesSz cx="6858000" cy="9144000"/>
  <p:custDataLst>
    <p:tags r:id="rId3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65528" autoAdjust="0"/>
  </p:normalViewPr>
  <p:slideViewPr>
    <p:cSldViewPr snapToGrid="0">
      <p:cViewPr varScale="1">
        <p:scale>
          <a:sx n="21" d="100"/>
          <a:sy n="21" d="100"/>
        </p:scale>
        <p:origin x="160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commentAuthors" Target="commentAuthors.xml"/><Relationship Id="rId30" Type="http://schemas.openxmlformats.org/officeDocument/2006/relationships/tags" Target="tags/tag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4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35000" lvl="1" indent="0">
              <a:spcBef>
                <a:spcPts val="1200"/>
              </a:spcBef>
              <a:buSzTx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0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8" name="助力院校ICT人才培养致力于产教融合(替换文字即可）"/>
          <p:cNvSpPr txBox="1"/>
          <p:nvPr userDrawn="1"/>
        </p:nvSpPr>
        <p:spPr>
          <a:xfrm>
            <a:off x="1217066" y="1131050"/>
            <a:ext cx="2257028" cy="533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801370">
              <a:defRPr sz="2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2800" dirty="0"/>
              <a:t>北京理工大学</a:t>
            </a:r>
            <a:endParaRPr sz="2800"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061075" y="5305916"/>
            <a:ext cx="3795912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r>
              <a:rPr lang="zh-CN" altLang="en-US" sz="9600" dirty="0"/>
              <a:t>！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tags" Target="../tags/tag4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智能时代的软件测试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9880910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软件测试用例与测试原则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0" y="1028065"/>
            <a:ext cx="2682240" cy="791210"/>
          </a:xfrm>
          <a:prstGeom prst="rect">
            <a:avLst/>
          </a:prstGeom>
        </p:spPr>
      </p:pic>
    </p:spTree>
  </p:cSld>
  <p:clrMapOvr>
    <a:masterClrMapping/>
  </p:clrMapOvr>
  <p:transition spd="med" advTm="1135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63350" y="2722628"/>
            <a:ext cx="3820968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测试用例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59567" y="253195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136452" y="2667907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sp>
        <p:nvSpPr>
          <p:cNvPr id="134" name="矩形 5"/>
          <p:cNvSpPr txBox="1"/>
          <p:nvPr/>
        </p:nvSpPr>
        <p:spPr>
          <a:xfrm>
            <a:off x="11263350" y="4605410"/>
            <a:ext cx="4525290" cy="6977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软件测试信息流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2"/>
            <a:ext cx="4525290" cy="671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软件测试的原则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03</a:t>
            </a:r>
          </a:p>
        </p:txBody>
      </p: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143" name="Freeform 5"/>
          <p:cNvSpPr/>
          <p:nvPr/>
        </p:nvSpPr>
        <p:spPr>
          <a:xfrm rot="5400000">
            <a:off x="9259567" y="8094096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4" name="矩形 11"/>
          <p:cNvSpPr txBox="1"/>
          <p:nvPr/>
        </p:nvSpPr>
        <p:spPr>
          <a:xfrm>
            <a:off x="9136452" y="8230048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04</a:t>
            </a:r>
            <a:endParaRPr dirty="0"/>
          </a:p>
        </p:txBody>
      </p:sp>
      <p:sp>
        <p:nvSpPr>
          <p:cNvPr id="146" name="矩形 5"/>
          <p:cNvSpPr txBox="1"/>
          <p:nvPr/>
        </p:nvSpPr>
        <p:spPr>
          <a:xfrm>
            <a:off x="11263350" y="8320568"/>
            <a:ext cx="5581930" cy="873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软件测试的常见误区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30" name="矩形 5"/>
          <p:cNvSpPr txBox="1"/>
          <p:nvPr/>
        </p:nvSpPr>
        <p:spPr>
          <a:xfrm>
            <a:off x="10838306" y="10193535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31" name="Freeform 5"/>
          <p:cNvSpPr/>
          <p:nvPr/>
        </p:nvSpPr>
        <p:spPr>
          <a:xfrm rot="5400000">
            <a:off x="9259567" y="994814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" name="矩形 11"/>
          <p:cNvSpPr txBox="1"/>
          <p:nvPr/>
        </p:nvSpPr>
        <p:spPr>
          <a:xfrm>
            <a:off x="9136452" y="100840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3" name="矩形 5"/>
          <p:cNvSpPr txBox="1"/>
          <p:nvPr/>
        </p:nvSpPr>
        <p:spPr>
          <a:xfrm>
            <a:off x="11263350" y="10174614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36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63350" y="2722628"/>
            <a:ext cx="3820968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测试用例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59567" y="253195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136452" y="2667907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sp>
        <p:nvSpPr>
          <p:cNvPr id="134" name="矩形 5"/>
          <p:cNvSpPr txBox="1"/>
          <p:nvPr/>
        </p:nvSpPr>
        <p:spPr>
          <a:xfrm>
            <a:off x="11263350" y="4605410"/>
            <a:ext cx="4525290" cy="6977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软件测试信息流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2"/>
            <a:ext cx="4525290" cy="671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软件测试的原则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03</a:t>
            </a:r>
          </a:p>
        </p:txBody>
      </p: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143" name="Freeform 5"/>
          <p:cNvSpPr/>
          <p:nvPr/>
        </p:nvSpPr>
        <p:spPr>
          <a:xfrm rot="5400000">
            <a:off x="9259567" y="8094096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4" name="矩形 11"/>
          <p:cNvSpPr txBox="1"/>
          <p:nvPr/>
        </p:nvSpPr>
        <p:spPr>
          <a:xfrm>
            <a:off x="9136452" y="8230048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04</a:t>
            </a:r>
            <a:endParaRPr dirty="0"/>
          </a:p>
        </p:txBody>
      </p:sp>
      <p:sp>
        <p:nvSpPr>
          <p:cNvPr id="146" name="矩形 5"/>
          <p:cNvSpPr txBox="1"/>
          <p:nvPr/>
        </p:nvSpPr>
        <p:spPr>
          <a:xfrm>
            <a:off x="11263350" y="8320568"/>
            <a:ext cx="5581930" cy="873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软件测试的常见误区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30" name="矩形 5"/>
          <p:cNvSpPr txBox="1"/>
          <p:nvPr/>
        </p:nvSpPr>
        <p:spPr>
          <a:xfrm>
            <a:off x="10838306" y="10193535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31" name="Freeform 5"/>
          <p:cNvSpPr/>
          <p:nvPr/>
        </p:nvSpPr>
        <p:spPr>
          <a:xfrm rot="5400000">
            <a:off x="9259567" y="994814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" name="矩形 11"/>
          <p:cNvSpPr txBox="1"/>
          <p:nvPr/>
        </p:nvSpPr>
        <p:spPr>
          <a:xfrm>
            <a:off x="9136452" y="100840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3" name="矩形 5"/>
          <p:cNvSpPr txBox="1"/>
          <p:nvPr/>
        </p:nvSpPr>
        <p:spPr>
          <a:xfrm>
            <a:off x="11263350" y="10174614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49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测试用例的定义</a:t>
            </a:r>
            <a:endParaRPr lang="zh-CN" altLang="en-US" dirty="0"/>
          </a:p>
        </p:txBody>
      </p:sp>
      <p:sp>
        <p:nvSpPr>
          <p:cNvPr id="7" name="Rectangle 2"/>
          <p:cNvSpPr txBox="1">
            <a:spLocks noRot="1" noChangeArrowheads="1"/>
          </p:cNvSpPr>
          <p:nvPr/>
        </p:nvSpPr>
        <p:spPr>
          <a:xfrm>
            <a:off x="2737970" y="2962946"/>
            <a:ext cx="19392687" cy="712508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zh-CN" altLang="en-US" dirty="0"/>
              <a:t>完整定义</a:t>
            </a:r>
            <a:endParaRPr lang="zh-CN" alt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测试用例 </a:t>
            </a:r>
            <a:r>
              <a:rPr lang="zh-CN" altLang="en-US" sz="4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是指对软件产品执行一项特定测试任务的描述。</a:t>
            </a:r>
            <a:endParaRPr lang="en-US" altLang="zh-CN" sz="4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内容包括：测试目标、测试环境、输入数据、测试步骤、预期结果、测试脚本等。 </a:t>
            </a:r>
            <a:endParaRPr lang="zh-CN" altLang="en-US" sz="4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6065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测试用例的定义</a:t>
            </a:r>
            <a:endParaRPr lang="zh-CN" altLang="en-US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737970" y="3812849"/>
            <a:ext cx="17015959" cy="439383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测试用例的定义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简化版</a:t>
            </a:r>
            <a: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</a:pPr>
            <a:r>
              <a:rPr lang="zh-CN" altLang="en-US" sz="4800" b="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完成被测软件的某个执行所需的输入值</a:t>
            </a:r>
            <a:endParaRPr lang="en-US" altLang="zh-CN" sz="4800" b="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 marL="635000" lvl="8" indent="0" algn="l">
              <a:lnSpc>
                <a:spcPct val="150000"/>
              </a:lnSpc>
              <a:spcBef>
                <a:spcPts val="5900"/>
              </a:spcBef>
              <a:buSzPct val="125000"/>
            </a:pPr>
            <a:r>
              <a:rPr lang="zh-CN" altLang="en-US" sz="4800" b="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rPr>
              <a:t>  （含交互式输入，如点击鼠标）</a:t>
            </a:r>
            <a:endParaRPr lang="zh-CN" altLang="en-US" sz="4800" b="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99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测试用例的作用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3517116"/>
            <a:ext cx="19430035" cy="851141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dirty="0"/>
              <a:t>测试用例的作用：指导测试的实施</a:t>
            </a:r>
            <a:endParaRPr lang="zh-CN" altLang="en-US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规划、准备测试数据的依据 （输入）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评估测试结果的度量基准 （预期输出）</a:t>
            </a:r>
            <a:endParaRPr lang="en-US" altLang="zh-CN" dirty="0"/>
          </a:p>
          <a:p>
            <a:pPr lvl="2">
              <a:lnSpc>
                <a:spcPct val="200000"/>
              </a:lnSpc>
            </a:pPr>
            <a:r>
              <a:rPr lang="zh-CN" altLang="en-US" dirty="0"/>
              <a:t>编写测试脚本的</a:t>
            </a:r>
            <a:r>
              <a:rPr lang="en-US" altLang="zh-CN" dirty="0"/>
              <a:t>“</a:t>
            </a:r>
            <a:r>
              <a:rPr lang="zh-CN" altLang="en-US" dirty="0"/>
              <a:t>设计规格说明书</a:t>
            </a:r>
            <a:r>
              <a:rPr lang="en-US" altLang="zh-CN" dirty="0"/>
              <a:t>” </a:t>
            </a:r>
            <a:r>
              <a:rPr lang="zh-CN" altLang="en-US" dirty="0"/>
              <a:t>（需求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dirty="0"/>
              <a:t> </a:t>
            </a:r>
            <a:r>
              <a:rPr lang="zh-CN" altLang="en-US" dirty="0"/>
              <a:t>代码）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dirty="0"/>
          </a:p>
          <a:p>
            <a:pPr>
              <a:lnSpc>
                <a:spcPct val="200000"/>
              </a:lnSpc>
            </a:pPr>
            <a:endParaRPr lang="en-US" altLang="zh-CN" dirty="0"/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470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测试用例的形式</a:t>
            </a:r>
            <a:endParaRPr lang="zh-CN" altLang="en-US" dirty="0"/>
          </a:p>
        </p:txBody>
      </p:sp>
      <p:sp>
        <p:nvSpPr>
          <p:cNvPr id="8" name="Rectangle 3"/>
          <p:cNvSpPr txBox="1">
            <a:spLocks noRot="1" noChangeArrowheads="1"/>
          </p:cNvSpPr>
          <p:nvPr/>
        </p:nvSpPr>
        <p:spPr>
          <a:xfrm>
            <a:off x="3401500" y="2157443"/>
            <a:ext cx="9329057" cy="60415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20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635000" lvl="1">
              <a:spcBef>
                <a:spcPts val="120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cs typeface="微软雅黑" panose="020B0503020204020204" pitchFamily="34" charset="-122"/>
              </a:rPr>
              <a:t>步骤列表 </a:t>
            </a:r>
            <a:endParaRPr lang="zh-CN" altLang="en-US" b="1" dirty="0">
              <a:cs typeface="微软雅黑" panose="020B0503020204020204" pitchFamily="34" charset="-122"/>
            </a:endParaRPr>
          </a:p>
          <a:p>
            <a:pPr marL="635000" lvl="1">
              <a:spcBef>
                <a:spcPts val="120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cs typeface="微软雅黑" panose="020B0503020204020204" pitchFamily="34" charset="-122"/>
              </a:rPr>
              <a:t>数据矩阵 </a:t>
            </a:r>
            <a:endParaRPr lang="zh-CN" altLang="en-US" b="1" dirty="0">
              <a:cs typeface="微软雅黑" panose="020B0503020204020204" pitchFamily="34" charset="-122"/>
            </a:endParaRPr>
          </a:p>
          <a:p>
            <a:pPr marL="635000" lvl="1">
              <a:spcBef>
                <a:spcPts val="120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cs typeface="微软雅黑" panose="020B0503020204020204" pitchFamily="34" charset="-122"/>
              </a:rPr>
              <a:t>测试脚本 </a:t>
            </a:r>
            <a:endParaRPr lang="zh-CN" altLang="en-US" b="1" dirty="0">
              <a:cs typeface="微软雅黑" panose="020B0503020204020204" pitchFamily="34" charset="-122"/>
            </a:endParaRPr>
          </a:p>
          <a:p>
            <a:pPr marL="635000" lvl="1">
              <a:spcBef>
                <a:spcPts val="120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cs typeface="微软雅黑" panose="020B0503020204020204" pitchFamily="34" charset="-122"/>
              </a:rPr>
              <a:t>检查单 （静态测试）</a:t>
            </a:r>
            <a:endParaRPr lang="zh-CN" altLang="en-US" b="1" dirty="0"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81131" y="2121761"/>
            <a:ext cx="3778278" cy="21800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1.</a:t>
            </a: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启动应用程序</a:t>
            </a:r>
            <a:endParaRPr kumimoji="0" lang="en-US" altLang="zh-CN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点击新建按钮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3.</a:t>
            </a: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输入文字“</a:t>
            </a:r>
            <a:r>
              <a:rPr kumimoji="0" lang="en-US" altLang="zh-CN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Hello</a:t>
            </a:r>
            <a:r>
              <a:rPr kumimoji="0" lang="zh-CN" alt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”</a:t>
            </a:r>
            <a:endParaRPr kumimoji="0" lang="zh-CN" alt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175" y="4813559"/>
            <a:ext cx="7970428" cy="1973107"/>
          </a:xfrm>
          <a:prstGeom prst="rect">
            <a:avLst/>
          </a:prstGeom>
        </p:spPr>
      </p:pic>
      <p:pic>
        <p:nvPicPr>
          <p:cNvPr id="10242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" t="18751"/>
          <a:stretch>
            <a:fillRect/>
          </a:stretch>
        </p:blipFill>
        <p:spPr bwMode="auto">
          <a:xfrm>
            <a:off x="15381131" y="7298380"/>
            <a:ext cx="5856515" cy="481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007" y="8325526"/>
            <a:ext cx="6473441" cy="3647544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V="1">
            <a:off x="7178842" y="3104501"/>
            <a:ext cx="7347857" cy="304800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7" name="直接箭头连接符 16"/>
          <p:cNvCxnSpPr/>
          <p:nvPr/>
        </p:nvCxnSpPr>
        <p:spPr>
          <a:xfrm>
            <a:off x="7059099" y="4726472"/>
            <a:ext cx="7064829" cy="451757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21" name="直接箭头连接符 20"/>
          <p:cNvCxnSpPr/>
          <p:nvPr/>
        </p:nvCxnSpPr>
        <p:spPr>
          <a:xfrm>
            <a:off x="6982899" y="5800113"/>
            <a:ext cx="8088086" cy="1996131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24" name="直接箭头连接符 23"/>
          <p:cNvCxnSpPr/>
          <p:nvPr/>
        </p:nvCxnSpPr>
        <p:spPr>
          <a:xfrm>
            <a:off x="5839899" y="7569041"/>
            <a:ext cx="1502229" cy="521117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1</a:t>
            </a:r>
            <a:endParaRPr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 advTm="1615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软件用例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76385" y="3696911"/>
            <a:ext cx="1177437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测试用例是软件测试中的核心概念</a:t>
            </a:r>
            <a:endParaRPr lang="zh-CN" altLang="en-US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20190" y="6123848"/>
            <a:ext cx="203018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测试用例是指对一项特定的软件产品进行测试的任务描述</a:t>
            </a:r>
            <a:endParaRPr lang="zh-CN" altLang="en-US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63573" y="8458451"/>
            <a:ext cx="945643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测试用例有不同的表现形式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1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327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63350" y="2722628"/>
            <a:ext cx="3820968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测试用例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59567" y="253195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136452" y="2667907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sp>
        <p:nvSpPr>
          <p:cNvPr id="134" name="矩形 5"/>
          <p:cNvSpPr txBox="1"/>
          <p:nvPr/>
        </p:nvSpPr>
        <p:spPr>
          <a:xfrm>
            <a:off x="11263350" y="4605410"/>
            <a:ext cx="4525290" cy="6977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软件测试信息流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2"/>
            <a:ext cx="4525290" cy="671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软件测试的原则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03</a:t>
            </a:r>
          </a:p>
        </p:txBody>
      </p: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143" name="Freeform 5"/>
          <p:cNvSpPr/>
          <p:nvPr/>
        </p:nvSpPr>
        <p:spPr>
          <a:xfrm rot="5400000">
            <a:off x="9259567" y="8094096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4" name="矩形 11"/>
          <p:cNvSpPr txBox="1"/>
          <p:nvPr/>
        </p:nvSpPr>
        <p:spPr>
          <a:xfrm>
            <a:off x="9136452" y="8230048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04</a:t>
            </a:r>
            <a:endParaRPr dirty="0"/>
          </a:p>
        </p:txBody>
      </p:sp>
      <p:sp>
        <p:nvSpPr>
          <p:cNvPr id="146" name="矩形 5"/>
          <p:cNvSpPr txBox="1"/>
          <p:nvPr/>
        </p:nvSpPr>
        <p:spPr>
          <a:xfrm>
            <a:off x="11263350" y="8320568"/>
            <a:ext cx="5581930" cy="873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软件测试的常见误区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30" name="矩形 5"/>
          <p:cNvSpPr txBox="1"/>
          <p:nvPr/>
        </p:nvSpPr>
        <p:spPr>
          <a:xfrm>
            <a:off x="10838306" y="10193535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31" name="Freeform 5"/>
          <p:cNvSpPr/>
          <p:nvPr/>
        </p:nvSpPr>
        <p:spPr>
          <a:xfrm rot="5400000">
            <a:off x="9259567" y="994814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" name="矩形 11"/>
          <p:cNvSpPr txBox="1"/>
          <p:nvPr/>
        </p:nvSpPr>
        <p:spPr>
          <a:xfrm>
            <a:off x="9136452" y="100840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3" name="矩形 5"/>
          <p:cNvSpPr txBox="1"/>
          <p:nvPr/>
        </p:nvSpPr>
        <p:spPr>
          <a:xfrm>
            <a:off x="11263350" y="10174614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77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310" y="2867478"/>
            <a:ext cx="15529380" cy="7981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测试信息流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7558756" y="5829934"/>
            <a:ext cx="1489163" cy="17841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242845" y="4226970"/>
            <a:ext cx="1330553" cy="17227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4768324" y="3963369"/>
            <a:ext cx="1397358" cy="174682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3585907" y="8518404"/>
            <a:ext cx="1489163" cy="190805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7281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测试信息流</a:t>
            </a:r>
            <a:endParaRPr lang="zh-CN" altLang="en-US" dirty="0"/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310" y="2867478"/>
            <a:ext cx="15529380" cy="7981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任意多边形 2"/>
          <p:cNvSpPr/>
          <p:nvPr/>
        </p:nvSpPr>
        <p:spPr>
          <a:xfrm>
            <a:off x="3059232" y="5960563"/>
            <a:ext cx="5855061" cy="5957885"/>
          </a:xfrm>
          <a:custGeom>
            <a:avLst/>
            <a:gdLst>
              <a:gd name="connsiteX0" fmla="*/ 2155421 w 5855061"/>
              <a:gd name="connsiteY0" fmla="*/ 130628 h 5957885"/>
              <a:gd name="connsiteX1" fmla="*/ 1654678 w 5855061"/>
              <a:gd name="connsiteY1" fmla="*/ 152400 h 5957885"/>
              <a:gd name="connsiteX2" fmla="*/ 598764 w 5855061"/>
              <a:gd name="connsiteY2" fmla="*/ 435428 h 5957885"/>
              <a:gd name="connsiteX3" fmla="*/ 315735 w 5855061"/>
              <a:gd name="connsiteY3" fmla="*/ 587828 h 5957885"/>
              <a:gd name="connsiteX4" fmla="*/ 293964 w 5855061"/>
              <a:gd name="connsiteY4" fmla="*/ 609600 h 5957885"/>
              <a:gd name="connsiteX5" fmla="*/ 206878 w 5855061"/>
              <a:gd name="connsiteY5" fmla="*/ 707571 h 5957885"/>
              <a:gd name="connsiteX6" fmla="*/ 185107 w 5855061"/>
              <a:gd name="connsiteY6" fmla="*/ 751114 h 5957885"/>
              <a:gd name="connsiteX7" fmla="*/ 76249 w 5855061"/>
              <a:gd name="connsiteY7" fmla="*/ 925285 h 5957885"/>
              <a:gd name="connsiteX8" fmla="*/ 54478 w 5855061"/>
              <a:gd name="connsiteY8" fmla="*/ 1023257 h 5957885"/>
              <a:gd name="connsiteX9" fmla="*/ 49 w 5855061"/>
              <a:gd name="connsiteY9" fmla="*/ 1088571 h 5957885"/>
              <a:gd name="connsiteX10" fmla="*/ 228649 w 5855061"/>
              <a:gd name="connsiteY10" fmla="*/ 2296885 h 5957885"/>
              <a:gd name="connsiteX11" fmla="*/ 359278 w 5855061"/>
              <a:gd name="connsiteY11" fmla="*/ 2536371 h 5957885"/>
              <a:gd name="connsiteX12" fmla="*/ 500792 w 5855061"/>
              <a:gd name="connsiteY12" fmla="*/ 2928257 h 5957885"/>
              <a:gd name="connsiteX13" fmla="*/ 849135 w 5855061"/>
              <a:gd name="connsiteY13" fmla="*/ 3886200 h 5957885"/>
              <a:gd name="connsiteX14" fmla="*/ 990649 w 5855061"/>
              <a:gd name="connsiteY14" fmla="*/ 4082142 h 5957885"/>
              <a:gd name="connsiteX15" fmla="*/ 1186592 w 5855061"/>
              <a:gd name="connsiteY15" fmla="*/ 4441371 h 5957885"/>
              <a:gd name="connsiteX16" fmla="*/ 1567592 w 5855061"/>
              <a:gd name="connsiteY16" fmla="*/ 4953000 h 5957885"/>
              <a:gd name="connsiteX17" fmla="*/ 1632907 w 5855061"/>
              <a:gd name="connsiteY17" fmla="*/ 5072742 h 5957885"/>
              <a:gd name="connsiteX18" fmla="*/ 1741764 w 5855061"/>
              <a:gd name="connsiteY18" fmla="*/ 5203371 h 5957885"/>
              <a:gd name="connsiteX19" fmla="*/ 1905049 w 5855061"/>
              <a:gd name="connsiteY19" fmla="*/ 5323114 h 5957885"/>
              <a:gd name="connsiteX20" fmla="*/ 1937707 w 5855061"/>
              <a:gd name="connsiteY20" fmla="*/ 5377542 h 5957885"/>
              <a:gd name="connsiteX21" fmla="*/ 2068335 w 5855061"/>
              <a:gd name="connsiteY21" fmla="*/ 5421085 h 5957885"/>
              <a:gd name="connsiteX22" fmla="*/ 2188078 w 5855061"/>
              <a:gd name="connsiteY22" fmla="*/ 5497285 h 5957885"/>
              <a:gd name="connsiteX23" fmla="*/ 2209849 w 5855061"/>
              <a:gd name="connsiteY23" fmla="*/ 5519057 h 5957885"/>
              <a:gd name="connsiteX24" fmla="*/ 2307821 w 5855061"/>
              <a:gd name="connsiteY24" fmla="*/ 5540828 h 5957885"/>
              <a:gd name="connsiteX25" fmla="*/ 2384021 w 5855061"/>
              <a:gd name="connsiteY25" fmla="*/ 5617028 h 5957885"/>
              <a:gd name="connsiteX26" fmla="*/ 2449335 w 5855061"/>
              <a:gd name="connsiteY26" fmla="*/ 5660571 h 5957885"/>
              <a:gd name="connsiteX27" fmla="*/ 2656164 w 5855061"/>
              <a:gd name="connsiteY27" fmla="*/ 5758542 h 5957885"/>
              <a:gd name="connsiteX28" fmla="*/ 2819449 w 5855061"/>
              <a:gd name="connsiteY28" fmla="*/ 5780314 h 5957885"/>
              <a:gd name="connsiteX29" fmla="*/ 2950078 w 5855061"/>
              <a:gd name="connsiteY29" fmla="*/ 5834742 h 5957885"/>
              <a:gd name="connsiteX30" fmla="*/ 2971849 w 5855061"/>
              <a:gd name="connsiteY30" fmla="*/ 5856514 h 5957885"/>
              <a:gd name="connsiteX31" fmla="*/ 3156907 w 5855061"/>
              <a:gd name="connsiteY31" fmla="*/ 5878285 h 5957885"/>
              <a:gd name="connsiteX32" fmla="*/ 3309307 w 5855061"/>
              <a:gd name="connsiteY32" fmla="*/ 5932714 h 5957885"/>
              <a:gd name="connsiteX33" fmla="*/ 4234592 w 5855061"/>
              <a:gd name="connsiteY33" fmla="*/ 5943600 h 5957885"/>
              <a:gd name="connsiteX34" fmla="*/ 4419649 w 5855061"/>
              <a:gd name="connsiteY34" fmla="*/ 5878285 h 5957885"/>
              <a:gd name="connsiteX35" fmla="*/ 4604707 w 5855061"/>
              <a:gd name="connsiteY35" fmla="*/ 5856514 h 5957885"/>
              <a:gd name="connsiteX36" fmla="*/ 4702678 w 5855061"/>
              <a:gd name="connsiteY36" fmla="*/ 5834742 h 5957885"/>
              <a:gd name="connsiteX37" fmla="*/ 4767992 w 5855061"/>
              <a:gd name="connsiteY37" fmla="*/ 5791200 h 5957885"/>
              <a:gd name="connsiteX38" fmla="*/ 4865964 w 5855061"/>
              <a:gd name="connsiteY38" fmla="*/ 5769428 h 5957885"/>
              <a:gd name="connsiteX39" fmla="*/ 4931278 w 5855061"/>
              <a:gd name="connsiteY39" fmla="*/ 5747657 h 5957885"/>
              <a:gd name="connsiteX40" fmla="*/ 5061907 w 5855061"/>
              <a:gd name="connsiteY40" fmla="*/ 5660571 h 5957885"/>
              <a:gd name="connsiteX41" fmla="*/ 5181649 w 5855061"/>
              <a:gd name="connsiteY41" fmla="*/ 5617028 h 5957885"/>
              <a:gd name="connsiteX42" fmla="*/ 5301392 w 5855061"/>
              <a:gd name="connsiteY42" fmla="*/ 5519057 h 5957885"/>
              <a:gd name="connsiteX43" fmla="*/ 5323164 w 5855061"/>
              <a:gd name="connsiteY43" fmla="*/ 5497285 h 5957885"/>
              <a:gd name="connsiteX44" fmla="*/ 5399364 w 5855061"/>
              <a:gd name="connsiteY44" fmla="*/ 5475514 h 5957885"/>
              <a:gd name="connsiteX45" fmla="*/ 5421135 w 5855061"/>
              <a:gd name="connsiteY45" fmla="*/ 5421085 h 5957885"/>
              <a:gd name="connsiteX46" fmla="*/ 5442907 w 5855061"/>
              <a:gd name="connsiteY46" fmla="*/ 5399314 h 5957885"/>
              <a:gd name="connsiteX47" fmla="*/ 5617078 w 5855061"/>
              <a:gd name="connsiteY47" fmla="*/ 5257800 h 5957885"/>
              <a:gd name="connsiteX48" fmla="*/ 5638849 w 5855061"/>
              <a:gd name="connsiteY48" fmla="*/ 5159828 h 5957885"/>
              <a:gd name="connsiteX49" fmla="*/ 5736821 w 5855061"/>
              <a:gd name="connsiteY49" fmla="*/ 5050971 h 5957885"/>
              <a:gd name="connsiteX50" fmla="*/ 5758592 w 5855061"/>
              <a:gd name="connsiteY50" fmla="*/ 4974771 h 5957885"/>
              <a:gd name="connsiteX51" fmla="*/ 5780364 w 5855061"/>
              <a:gd name="connsiteY51" fmla="*/ 4865914 h 5957885"/>
              <a:gd name="connsiteX52" fmla="*/ 5823907 w 5855061"/>
              <a:gd name="connsiteY52" fmla="*/ 4844142 h 5957885"/>
              <a:gd name="connsiteX53" fmla="*/ 5834792 w 5855061"/>
              <a:gd name="connsiteY53" fmla="*/ 4180114 h 5957885"/>
              <a:gd name="connsiteX54" fmla="*/ 5780364 w 5855061"/>
              <a:gd name="connsiteY54" fmla="*/ 3995057 h 5957885"/>
              <a:gd name="connsiteX55" fmla="*/ 5758592 w 5855061"/>
              <a:gd name="connsiteY55" fmla="*/ 3853542 h 5957885"/>
              <a:gd name="connsiteX56" fmla="*/ 5736821 w 5855061"/>
              <a:gd name="connsiteY56" fmla="*/ 3766457 h 5957885"/>
              <a:gd name="connsiteX57" fmla="*/ 5715049 w 5855061"/>
              <a:gd name="connsiteY57" fmla="*/ 3603171 h 5957885"/>
              <a:gd name="connsiteX58" fmla="*/ 5671507 w 5855061"/>
              <a:gd name="connsiteY58" fmla="*/ 3548742 h 5957885"/>
              <a:gd name="connsiteX59" fmla="*/ 5649735 w 5855061"/>
              <a:gd name="connsiteY59" fmla="*/ 3418114 h 5957885"/>
              <a:gd name="connsiteX60" fmla="*/ 5617078 w 5855061"/>
              <a:gd name="connsiteY60" fmla="*/ 3396342 h 5957885"/>
              <a:gd name="connsiteX61" fmla="*/ 5573535 w 5855061"/>
              <a:gd name="connsiteY61" fmla="*/ 3298371 h 5957885"/>
              <a:gd name="connsiteX62" fmla="*/ 5529992 w 5855061"/>
              <a:gd name="connsiteY62" fmla="*/ 3211285 h 5957885"/>
              <a:gd name="connsiteX63" fmla="*/ 5508221 w 5855061"/>
              <a:gd name="connsiteY63" fmla="*/ 3167742 h 5957885"/>
              <a:gd name="connsiteX64" fmla="*/ 5453792 w 5855061"/>
              <a:gd name="connsiteY64" fmla="*/ 3069771 h 5957885"/>
              <a:gd name="connsiteX65" fmla="*/ 5410249 w 5855061"/>
              <a:gd name="connsiteY65" fmla="*/ 2971800 h 5957885"/>
              <a:gd name="connsiteX66" fmla="*/ 5334049 w 5855061"/>
              <a:gd name="connsiteY66" fmla="*/ 2873828 h 5957885"/>
              <a:gd name="connsiteX67" fmla="*/ 5290507 w 5855061"/>
              <a:gd name="connsiteY67" fmla="*/ 2786742 h 5957885"/>
              <a:gd name="connsiteX68" fmla="*/ 5236078 w 5855061"/>
              <a:gd name="connsiteY68" fmla="*/ 2732314 h 5957885"/>
              <a:gd name="connsiteX69" fmla="*/ 5170764 w 5855061"/>
              <a:gd name="connsiteY69" fmla="*/ 2623457 h 5957885"/>
              <a:gd name="connsiteX70" fmla="*/ 5127221 w 5855061"/>
              <a:gd name="connsiteY70" fmla="*/ 2547257 h 5957885"/>
              <a:gd name="connsiteX71" fmla="*/ 5105449 w 5855061"/>
              <a:gd name="connsiteY71" fmla="*/ 2460171 h 5957885"/>
              <a:gd name="connsiteX72" fmla="*/ 5072792 w 5855061"/>
              <a:gd name="connsiteY72" fmla="*/ 2416628 h 5957885"/>
              <a:gd name="connsiteX73" fmla="*/ 5007478 w 5855061"/>
              <a:gd name="connsiteY73" fmla="*/ 2296885 h 5957885"/>
              <a:gd name="connsiteX74" fmla="*/ 4985707 w 5855061"/>
              <a:gd name="connsiteY74" fmla="*/ 2231571 h 5957885"/>
              <a:gd name="connsiteX75" fmla="*/ 4963935 w 5855061"/>
              <a:gd name="connsiteY75" fmla="*/ 2133600 h 5957885"/>
              <a:gd name="connsiteX76" fmla="*/ 4942164 w 5855061"/>
              <a:gd name="connsiteY76" fmla="*/ 2090057 h 5957885"/>
              <a:gd name="connsiteX77" fmla="*/ 4898621 w 5855061"/>
              <a:gd name="connsiteY77" fmla="*/ 2013857 h 5957885"/>
              <a:gd name="connsiteX78" fmla="*/ 4844192 w 5855061"/>
              <a:gd name="connsiteY78" fmla="*/ 1926771 h 5957885"/>
              <a:gd name="connsiteX79" fmla="*/ 4778878 w 5855061"/>
              <a:gd name="connsiteY79" fmla="*/ 1883228 h 5957885"/>
              <a:gd name="connsiteX80" fmla="*/ 4757107 w 5855061"/>
              <a:gd name="connsiteY80" fmla="*/ 1807028 h 5957885"/>
              <a:gd name="connsiteX81" fmla="*/ 4735335 w 5855061"/>
              <a:gd name="connsiteY81" fmla="*/ 1785257 h 5957885"/>
              <a:gd name="connsiteX82" fmla="*/ 4680907 w 5855061"/>
              <a:gd name="connsiteY82" fmla="*/ 1741714 h 5957885"/>
              <a:gd name="connsiteX83" fmla="*/ 4615592 w 5855061"/>
              <a:gd name="connsiteY83" fmla="*/ 1589314 h 5957885"/>
              <a:gd name="connsiteX84" fmla="*/ 4463192 w 5855061"/>
              <a:gd name="connsiteY84" fmla="*/ 1447800 h 5957885"/>
              <a:gd name="connsiteX85" fmla="*/ 4343449 w 5855061"/>
              <a:gd name="connsiteY85" fmla="*/ 1306285 h 5957885"/>
              <a:gd name="connsiteX86" fmla="*/ 4321678 w 5855061"/>
              <a:gd name="connsiteY86" fmla="*/ 1240971 h 5957885"/>
              <a:gd name="connsiteX87" fmla="*/ 4212821 w 5855061"/>
              <a:gd name="connsiteY87" fmla="*/ 1121228 h 5957885"/>
              <a:gd name="connsiteX88" fmla="*/ 4191049 w 5855061"/>
              <a:gd name="connsiteY88" fmla="*/ 1099457 h 5957885"/>
              <a:gd name="connsiteX89" fmla="*/ 4114849 w 5855061"/>
              <a:gd name="connsiteY89" fmla="*/ 1001485 h 5957885"/>
              <a:gd name="connsiteX90" fmla="*/ 4016878 w 5855061"/>
              <a:gd name="connsiteY90" fmla="*/ 914400 h 5957885"/>
              <a:gd name="connsiteX91" fmla="*/ 3951564 w 5855061"/>
              <a:gd name="connsiteY91" fmla="*/ 794657 h 5957885"/>
              <a:gd name="connsiteX92" fmla="*/ 3853592 w 5855061"/>
              <a:gd name="connsiteY92" fmla="*/ 751114 h 5957885"/>
              <a:gd name="connsiteX93" fmla="*/ 3777392 w 5855061"/>
              <a:gd name="connsiteY93" fmla="*/ 674914 h 5957885"/>
              <a:gd name="connsiteX94" fmla="*/ 3690307 w 5855061"/>
              <a:gd name="connsiteY94" fmla="*/ 631371 h 5957885"/>
              <a:gd name="connsiteX95" fmla="*/ 3559678 w 5855061"/>
              <a:gd name="connsiteY95" fmla="*/ 500742 h 5957885"/>
              <a:gd name="connsiteX96" fmla="*/ 3494364 w 5855061"/>
              <a:gd name="connsiteY96" fmla="*/ 402771 h 5957885"/>
              <a:gd name="connsiteX97" fmla="*/ 3341964 w 5855061"/>
              <a:gd name="connsiteY97" fmla="*/ 326571 h 5957885"/>
              <a:gd name="connsiteX98" fmla="*/ 3298421 w 5855061"/>
              <a:gd name="connsiteY98" fmla="*/ 283028 h 5957885"/>
              <a:gd name="connsiteX99" fmla="*/ 3276649 w 5855061"/>
              <a:gd name="connsiteY99" fmla="*/ 239485 h 5957885"/>
              <a:gd name="connsiteX100" fmla="*/ 3178678 w 5855061"/>
              <a:gd name="connsiteY100" fmla="*/ 217714 h 5957885"/>
              <a:gd name="connsiteX101" fmla="*/ 3080707 w 5855061"/>
              <a:gd name="connsiteY101" fmla="*/ 185057 h 5957885"/>
              <a:gd name="connsiteX102" fmla="*/ 3058935 w 5855061"/>
              <a:gd name="connsiteY102" fmla="*/ 163285 h 5957885"/>
              <a:gd name="connsiteX103" fmla="*/ 2939192 w 5855061"/>
              <a:gd name="connsiteY103" fmla="*/ 97971 h 5957885"/>
              <a:gd name="connsiteX104" fmla="*/ 2830335 w 5855061"/>
              <a:gd name="connsiteY104" fmla="*/ 76200 h 5957885"/>
              <a:gd name="connsiteX105" fmla="*/ 2503764 w 5855061"/>
              <a:gd name="connsiteY105" fmla="*/ 0 h 5957885"/>
              <a:gd name="connsiteX106" fmla="*/ 1883278 w 5855061"/>
              <a:gd name="connsiteY106" fmla="*/ 10885 h 5957885"/>
              <a:gd name="connsiteX107" fmla="*/ 1774421 w 5855061"/>
              <a:gd name="connsiteY107" fmla="*/ 65314 h 5957885"/>
              <a:gd name="connsiteX108" fmla="*/ 1698221 w 5855061"/>
              <a:gd name="connsiteY108" fmla="*/ 87085 h 5957885"/>
              <a:gd name="connsiteX109" fmla="*/ 1654678 w 5855061"/>
              <a:gd name="connsiteY109" fmla="*/ 108857 h 5957885"/>
              <a:gd name="connsiteX110" fmla="*/ 1589364 w 5855061"/>
              <a:gd name="connsiteY110" fmla="*/ 152400 h 595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855061" h="5957885">
                <a:moveTo>
                  <a:pt x="2155421" y="130628"/>
                </a:moveTo>
                <a:cubicBezTo>
                  <a:pt x="1988507" y="137885"/>
                  <a:pt x="1818637" y="120296"/>
                  <a:pt x="1654678" y="152400"/>
                </a:cubicBezTo>
                <a:cubicBezTo>
                  <a:pt x="1297073" y="222421"/>
                  <a:pt x="598764" y="435428"/>
                  <a:pt x="598764" y="435428"/>
                </a:cubicBezTo>
                <a:cubicBezTo>
                  <a:pt x="504421" y="486228"/>
                  <a:pt x="408768" y="534666"/>
                  <a:pt x="315735" y="587828"/>
                </a:cubicBezTo>
                <a:cubicBezTo>
                  <a:pt x="306824" y="592920"/>
                  <a:pt x="300868" y="602006"/>
                  <a:pt x="293964" y="609600"/>
                </a:cubicBezTo>
                <a:cubicBezTo>
                  <a:pt x="264572" y="641931"/>
                  <a:pt x="233519" y="672938"/>
                  <a:pt x="206878" y="707571"/>
                </a:cubicBezTo>
                <a:cubicBezTo>
                  <a:pt x="196984" y="720433"/>
                  <a:pt x="193456" y="737199"/>
                  <a:pt x="185107" y="751114"/>
                </a:cubicBezTo>
                <a:cubicBezTo>
                  <a:pt x="149883" y="809821"/>
                  <a:pt x="112535" y="867228"/>
                  <a:pt x="76249" y="925285"/>
                </a:cubicBezTo>
                <a:cubicBezTo>
                  <a:pt x="68992" y="957942"/>
                  <a:pt x="68625" y="992942"/>
                  <a:pt x="54478" y="1023257"/>
                </a:cubicBezTo>
                <a:cubicBezTo>
                  <a:pt x="42493" y="1048938"/>
                  <a:pt x="-1676" y="1060283"/>
                  <a:pt x="49" y="1088571"/>
                </a:cubicBezTo>
                <a:cubicBezTo>
                  <a:pt x="25036" y="1498358"/>
                  <a:pt x="73965" y="1913536"/>
                  <a:pt x="228649" y="2296885"/>
                </a:cubicBezTo>
                <a:cubicBezTo>
                  <a:pt x="262675" y="2381211"/>
                  <a:pt x="315735" y="2456542"/>
                  <a:pt x="359278" y="2536371"/>
                </a:cubicBezTo>
                <a:cubicBezTo>
                  <a:pt x="525667" y="3301754"/>
                  <a:pt x="303968" y="2415109"/>
                  <a:pt x="500792" y="2928257"/>
                </a:cubicBezTo>
                <a:cubicBezTo>
                  <a:pt x="587747" y="3154961"/>
                  <a:pt x="707925" y="3626374"/>
                  <a:pt x="849135" y="3886200"/>
                </a:cubicBezTo>
                <a:cubicBezTo>
                  <a:pt x="887607" y="3956988"/>
                  <a:pt x="948801" y="4013296"/>
                  <a:pt x="990649" y="4082142"/>
                </a:cubicBezTo>
                <a:cubicBezTo>
                  <a:pt x="1061496" y="4198697"/>
                  <a:pt x="1100220" y="4335805"/>
                  <a:pt x="1186592" y="4441371"/>
                </a:cubicBezTo>
                <a:cubicBezTo>
                  <a:pt x="1312995" y="4595863"/>
                  <a:pt x="1484349" y="4800391"/>
                  <a:pt x="1567592" y="4953000"/>
                </a:cubicBezTo>
                <a:cubicBezTo>
                  <a:pt x="1589364" y="4992914"/>
                  <a:pt x="1606943" y="5035419"/>
                  <a:pt x="1632907" y="5072742"/>
                </a:cubicBezTo>
                <a:cubicBezTo>
                  <a:pt x="1665275" y="5119271"/>
                  <a:pt x="1700051" y="5164995"/>
                  <a:pt x="1741764" y="5203371"/>
                </a:cubicBezTo>
                <a:cubicBezTo>
                  <a:pt x="1791436" y="5249069"/>
                  <a:pt x="1905049" y="5323114"/>
                  <a:pt x="1905049" y="5323114"/>
                </a:cubicBezTo>
                <a:cubicBezTo>
                  <a:pt x="1915935" y="5341257"/>
                  <a:pt x="1921784" y="5363609"/>
                  <a:pt x="1937707" y="5377542"/>
                </a:cubicBezTo>
                <a:cubicBezTo>
                  <a:pt x="1953022" y="5390943"/>
                  <a:pt x="2059380" y="5418527"/>
                  <a:pt x="2068335" y="5421085"/>
                </a:cubicBezTo>
                <a:cubicBezTo>
                  <a:pt x="2108249" y="5446485"/>
                  <a:pt x="2149180" y="5470355"/>
                  <a:pt x="2188078" y="5497285"/>
                </a:cubicBezTo>
                <a:cubicBezTo>
                  <a:pt x="2196516" y="5503127"/>
                  <a:pt x="2200204" y="5515550"/>
                  <a:pt x="2209849" y="5519057"/>
                </a:cubicBezTo>
                <a:cubicBezTo>
                  <a:pt x="2241289" y="5530490"/>
                  <a:pt x="2275164" y="5533571"/>
                  <a:pt x="2307821" y="5540828"/>
                </a:cubicBezTo>
                <a:cubicBezTo>
                  <a:pt x="2333221" y="5566228"/>
                  <a:pt x="2356599" y="5593825"/>
                  <a:pt x="2384021" y="5617028"/>
                </a:cubicBezTo>
                <a:cubicBezTo>
                  <a:pt x="2403996" y="5633930"/>
                  <a:pt x="2426898" y="5647109"/>
                  <a:pt x="2449335" y="5660571"/>
                </a:cubicBezTo>
                <a:cubicBezTo>
                  <a:pt x="2504174" y="5693474"/>
                  <a:pt x="2593479" y="5743498"/>
                  <a:pt x="2656164" y="5758542"/>
                </a:cubicBezTo>
                <a:cubicBezTo>
                  <a:pt x="2709558" y="5771357"/>
                  <a:pt x="2765021" y="5773057"/>
                  <a:pt x="2819449" y="5780314"/>
                </a:cubicBezTo>
                <a:cubicBezTo>
                  <a:pt x="2862992" y="5798457"/>
                  <a:pt x="2907887" y="5813646"/>
                  <a:pt x="2950078" y="5834742"/>
                </a:cubicBezTo>
                <a:cubicBezTo>
                  <a:pt x="2959258" y="5839332"/>
                  <a:pt x="2961806" y="5854400"/>
                  <a:pt x="2971849" y="5856514"/>
                </a:cubicBezTo>
                <a:cubicBezTo>
                  <a:pt x="3032628" y="5869310"/>
                  <a:pt x="3095221" y="5871028"/>
                  <a:pt x="3156907" y="5878285"/>
                </a:cubicBezTo>
                <a:cubicBezTo>
                  <a:pt x="3207707" y="5896428"/>
                  <a:pt x="3256473" y="5921836"/>
                  <a:pt x="3309307" y="5932714"/>
                </a:cubicBezTo>
                <a:cubicBezTo>
                  <a:pt x="3545231" y="5981287"/>
                  <a:pt x="4154327" y="5944835"/>
                  <a:pt x="4234592" y="5943600"/>
                </a:cubicBezTo>
                <a:cubicBezTo>
                  <a:pt x="4296278" y="5921828"/>
                  <a:pt x="4355973" y="5893268"/>
                  <a:pt x="4419649" y="5878285"/>
                </a:cubicBezTo>
                <a:cubicBezTo>
                  <a:pt x="4480109" y="5864059"/>
                  <a:pt x="4543318" y="5865959"/>
                  <a:pt x="4604707" y="5856514"/>
                </a:cubicBezTo>
                <a:cubicBezTo>
                  <a:pt x="4637772" y="5851427"/>
                  <a:pt x="4670021" y="5841999"/>
                  <a:pt x="4702678" y="5834742"/>
                </a:cubicBezTo>
                <a:cubicBezTo>
                  <a:pt x="4724449" y="5820228"/>
                  <a:pt x="4743698" y="5800918"/>
                  <a:pt x="4767992" y="5791200"/>
                </a:cubicBezTo>
                <a:cubicBezTo>
                  <a:pt x="4799053" y="5778776"/>
                  <a:pt x="4833640" y="5778048"/>
                  <a:pt x="4865964" y="5769428"/>
                </a:cubicBezTo>
                <a:cubicBezTo>
                  <a:pt x="4888138" y="5763515"/>
                  <a:pt x="4909507" y="5754914"/>
                  <a:pt x="4931278" y="5747657"/>
                </a:cubicBezTo>
                <a:cubicBezTo>
                  <a:pt x="4974821" y="5718628"/>
                  <a:pt x="5015510" y="5684778"/>
                  <a:pt x="5061907" y="5660571"/>
                </a:cubicBezTo>
                <a:cubicBezTo>
                  <a:pt x="5099561" y="5640925"/>
                  <a:pt x="5147400" y="5642144"/>
                  <a:pt x="5181649" y="5617028"/>
                </a:cubicBezTo>
                <a:cubicBezTo>
                  <a:pt x="5366960" y="5481132"/>
                  <a:pt x="5080883" y="5582058"/>
                  <a:pt x="5301392" y="5519057"/>
                </a:cubicBezTo>
                <a:cubicBezTo>
                  <a:pt x="5308649" y="5511800"/>
                  <a:pt x="5313785" y="5501453"/>
                  <a:pt x="5323164" y="5497285"/>
                </a:cubicBezTo>
                <a:cubicBezTo>
                  <a:pt x="5347304" y="5486556"/>
                  <a:pt x="5378512" y="5491732"/>
                  <a:pt x="5399364" y="5475514"/>
                </a:cubicBezTo>
                <a:cubicBezTo>
                  <a:pt x="5414788" y="5463517"/>
                  <a:pt x="5411440" y="5438051"/>
                  <a:pt x="5421135" y="5421085"/>
                </a:cubicBezTo>
                <a:cubicBezTo>
                  <a:pt x="5426227" y="5412174"/>
                  <a:pt x="5435023" y="5405884"/>
                  <a:pt x="5442907" y="5399314"/>
                </a:cubicBezTo>
                <a:cubicBezTo>
                  <a:pt x="5500374" y="5351425"/>
                  <a:pt x="5617078" y="5257800"/>
                  <a:pt x="5617078" y="5257800"/>
                </a:cubicBezTo>
                <a:cubicBezTo>
                  <a:pt x="5624335" y="5225143"/>
                  <a:pt x="5623196" y="5189394"/>
                  <a:pt x="5638849" y="5159828"/>
                </a:cubicBezTo>
                <a:cubicBezTo>
                  <a:pt x="5652185" y="5134637"/>
                  <a:pt x="5706298" y="5081492"/>
                  <a:pt x="5736821" y="5050971"/>
                </a:cubicBezTo>
                <a:cubicBezTo>
                  <a:pt x="5744078" y="5025571"/>
                  <a:pt x="5752542" y="5000485"/>
                  <a:pt x="5758592" y="4974771"/>
                </a:cubicBezTo>
                <a:cubicBezTo>
                  <a:pt x="5767067" y="4938750"/>
                  <a:pt x="5763815" y="4899012"/>
                  <a:pt x="5780364" y="4865914"/>
                </a:cubicBezTo>
                <a:cubicBezTo>
                  <a:pt x="5787621" y="4851400"/>
                  <a:pt x="5809393" y="4851399"/>
                  <a:pt x="5823907" y="4844142"/>
                </a:cubicBezTo>
                <a:cubicBezTo>
                  <a:pt x="5855669" y="4574163"/>
                  <a:pt x="5869377" y="4531730"/>
                  <a:pt x="5834792" y="4180114"/>
                </a:cubicBezTo>
                <a:cubicBezTo>
                  <a:pt x="5828498" y="4116124"/>
                  <a:pt x="5794974" y="4057673"/>
                  <a:pt x="5780364" y="3995057"/>
                </a:cubicBezTo>
                <a:cubicBezTo>
                  <a:pt x="5769519" y="3948579"/>
                  <a:pt x="5767522" y="3900426"/>
                  <a:pt x="5758592" y="3853542"/>
                </a:cubicBezTo>
                <a:cubicBezTo>
                  <a:pt x="5752993" y="3824149"/>
                  <a:pt x="5741948" y="3795936"/>
                  <a:pt x="5736821" y="3766457"/>
                </a:cubicBezTo>
                <a:cubicBezTo>
                  <a:pt x="5727413" y="3712359"/>
                  <a:pt x="5730827" y="3655766"/>
                  <a:pt x="5715049" y="3603171"/>
                </a:cubicBezTo>
                <a:cubicBezTo>
                  <a:pt x="5708373" y="3580917"/>
                  <a:pt x="5686021" y="3566885"/>
                  <a:pt x="5671507" y="3548742"/>
                </a:cubicBezTo>
                <a:cubicBezTo>
                  <a:pt x="5664250" y="3505199"/>
                  <a:pt x="5664582" y="3459686"/>
                  <a:pt x="5649735" y="3418114"/>
                </a:cubicBezTo>
                <a:cubicBezTo>
                  <a:pt x="5645335" y="3405793"/>
                  <a:pt x="5624102" y="3407380"/>
                  <a:pt x="5617078" y="3396342"/>
                </a:cubicBezTo>
                <a:cubicBezTo>
                  <a:pt x="5597892" y="3366192"/>
                  <a:pt x="5586807" y="3331552"/>
                  <a:pt x="5573535" y="3298371"/>
                </a:cubicBezTo>
                <a:cubicBezTo>
                  <a:pt x="5540179" y="3214981"/>
                  <a:pt x="5571721" y="3253014"/>
                  <a:pt x="5529992" y="3211285"/>
                </a:cubicBezTo>
                <a:cubicBezTo>
                  <a:pt x="5522735" y="3196771"/>
                  <a:pt x="5515914" y="3182030"/>
                  <a:pt x="5508221" y="3167742"/>
                </a:cubicBezTo>
                <a:cubicBezTo>
                  <a:pt x="5490509" y="3134849"/>
                  <a:pt x="5468766" y="3103997"/>
                  <a:pt x="5453792" y="3069771"/>
                </a:cubicBezTo>
                <a:cubicBezTo>
                  <a:pt x="5405977" y="2960479"/>
                  <a:pt x="5459724" y="3021273"/>
                  <a:pt x="5410249" y="2971800"/>
                </a:cubicBezTo>
                <a:cubicBezTo>
                  <a:pt x="5353655" y="2802011"/>
                  <a:pt x="5434094" y="2996106"/>
                  <a:pt x="5334049" y="2873828"/>
                </a:cubicBezTo>
                <a:cubicBezTo>
                  <a:pt x="5313497" y="2848709"/>
                  <a:pt x="5313456" y="2809691"/>
                  <a:pt x="5290507" y="2786742"/>
                </a:cubicBezTo>
                <a:lnTo>
                  <a:pt x="5236078" y="2732314"/>
                </a:lnTo>
                <a:cubicBezTo>
                  <a:pt x="5191745" y="2643645"/>
                  <a:pt x="5240821" y="2737299"/>
                  <a:pt x="5170764" y="2623457"/>
                </a:cubicBezTo>
                <a:cubicBezTo>
                  <a:pt x="5155432" y="2598542"/>
                  <a:pt x="5141735" y="2572657"/>
                  <a:pt x="5127221" y="2547257"/>
                </a:cubicBezTo>
                <a:cubicBezTo>
                  <a:pt x="5119964" y="2518228"/>
                  <a:pt x="5116958" y="2487791"/>
                  <a:pt x="5105449" y="2460171"/>
                </a:cubicBezTo>
                <a:cubicBezTo>
                  <a:pt x="5098471" y="2443424"/>
                  <a:pt x="5080299" y="2433145"/>
                  <a:pt x="5072792" y="2416628"/>
                </a:cubicBezTo>
                <a:cubicBezTo>
                  <a:pt x="5015688" y="2290997"/>
                  <a:pt x="5092774" y="2382181"/>
                  <a:pt x="5007478" y="2296885"/>
                </a:cubicBezTo>
                <a:cubicBezTo>
                  <a:pt x="5000221" y="2275114"/>
                  <a:pt x="4991620" y="2253745"/>
                  <a:pt x="4985707" y="2231571"/>
                </a:cubicBezTo>
                <a:cubicBezTo>
                  <a:pt x="4977087" y="2199247"/>
                  <a:pt x="4973773" y="2165574"/>
                  <a:pt x="4963935" y="2133600"/>
                </a:cubicBezTo>
                <a:cubicBezTo>
                  <a:pt x="4959163" y="2118090"/>
                  <a:pt x="4949935" y="2104303"/>
                  <a:pt x="4942164" y="2090057"/>
                </a:cubicBezTo>
                <a:cubicBezTo>
                  <a:pt x="4928155" y="2064375"/>
                  <a:pt x="4912630" y="2039539"/>
                  <a:pt x="4898621" y="2013857"/>
                </a:cubicBezTo>
                <a:cubicBezTo>
                  <a:pt x="4881306" y="1982114"/>
                  <a:pt x="4872531" y="1951961"/>
                  <a:pt x="4844192" y="1926771"/>
                </a:cubicBezTo>
                <a:cubicBezTo>
                  <a:pt x="4824635" y="1909387"/>
                  <a:pt x="4800649" y="1897742"/>
                  <a:pt x="4778878" y="1883228"/>
                </a:cubicBezTo>
                <a:cubicBezTo>
                  <a:pt x="4771621" y="1857828"/>
                  <a:pt x="4767836" y="1831168"/>
                  <a:pt x="4757107" y="1807028"/>
                </a:cubicBezTo>
                <a:cubicBezTo>
                  <a:pt x="4752939" y="1797649"/>
                  <a:pt x="4743127" y="1791936"/>
                  <a:pt x="4735335" y="1785257"/>
                </a:cubicBezTo>
                <a:cubicBezTo>
                  <a:pt x="4717694" y="1770137"/>
                  <a:pt x="4699050" y="1756228"/>
                  <a:pt x="4680907" y="1741714"/>
                </a:cubicBezTo>
                <a:cubicBezTo>
                  <a:pt x="4659135" y="1690914"/>
                  <a:pt x="4644683" y="1636307"/>
                  <a:pt x="4615592" y="1589314"/>
                </a:cubicBezTo>
                <a:cubicBezTo>
                  <a:pt x="4596778" y="1558922"/>
                  <a:pt x="4491190" y="1471799"/>
                  <a:pt x="4463192" y="1447800"/>
                </a:cubicBezTo>
                <a:cubicBezTo>
                  <a:pt x="4398794" y="1319001"/>
                  <a:pt x="4515432" y="1540808"/>
                  <a:pt x="4343449" y="1306285"/>
                </a:cubicBezTo>
                <a:cubicBezTo>
                  <a:pt x="4329878" y="1287779"/>
                  <a:pt x="4332667" y="1261118"/>
                  <a:pt x="4321678" y="1240971"/>
                </a:cubicBezTo>
                <a:cubicBezTo>
                  <a:pt x="4302845" y="1206444"/>
                  <a:pt x="4236331" y="1144738"/>
                  <a:pt x="4212821" y="1121228"/>
                </a:cubicBezTo>
                <a:cubicBezTo>
                  <a:pt x="4205564" y="1113971"/>
                  <a:pt x="4197350" y="1107558"/>
                  <a:pt x="4191049" y="1099457"/>
                </a:cubicBezTo>
                <a:cubicBezTo>
                  <a:pt x="4165649" y="1066800"/>
                  <a:pt x="4141573" y="1033068"/>
                  <a:pt x="4114849" y="1001485"/>
                </a:cubicBezTo>
                <a:cubicBezTo>
                  <a:pt x="4083432" y="964355"/>
                  <a:pt x="4055015" y="944909"/>
                  <a:pt x="4016878" y="914400"/>
                </a:cubicBezTo>
                <a:cubicBezTo>
                  <a:pt x="4002536" y="878544"/>
                  <a:pt x="3982986" y="818828"/>
                  <a:pt x="3951564" y="794657"/>
                </a:cubicBezTo>
                <a:cubicBezTo>
                  <a:pt x="3923238" y="772868"/>
                  <a:pt x="3886249" y="765628"/>
                  <a:pt x="3853592" y="751114"/>
                </a:cubicBezTo>
                <a:cubicBezTo>
                  <a:pt x="3828192" y="725714"/>
                  <a:pt x="3806359" y="696156"/>
                  <a:pt x="3777392" y="674914"/>
                </a:cubicBezTo>
                <a:cubicBezTo>
                  <a:pt x="3751220" y="655721"/>
                  <a:pt x="3690307" y="631371"/>
                  <a:pt x="3690307" y="631371"/>
                </a:cubicBezTo>
                <a:cubicBezTo>
                  <a:pt x="3641067" y="508274"/>
                  <a:pt x="3709517" y="650581"/>
                  <a:pt x="3559678" y="500742"/>
                </a:cubicBezTo>
                <a:cubicBezTo>
                  <a:pt x="3531925" y="472989"/>
                  <a:pt x="3523057" y="429551"/>
                  <a:pt x="3494364" y="402771"/>
                </a:cubicBezTo>
                <a:cubicBezTo>
                  <a:pt x="3460806" y="371450"/>
                  <a:pt x="3388453" y="345166"/>
                  <a:pt x="3341964" y="326571"/>
                </a:cubicBezTo>
                <a:cubicBezTo>
                  <a:pt x="3327450" y="312057"/>
                  <a:pt x="3310737" y="299449"/>
                  <a:pt x="3298421" y="283028"/>
                </a:cubicBezTo>
                <a:cubicBezTo>
                  <a:pt x="3288684" y="270046"/>
                  <a:pt x="3290895" y="247256"/>
                  <a:pt x="3276649" y="239485"/>
                </a:cubicBezTo>
                <a:cubicBezTo>
                  <a:pt x="3247280" y="223466"/>
                  <a:pt x="3210911" y="226668"/>
                  <a:pt x="3178678" y="217714"/>
                </a:cubicBezTo>
                <a:cubicBezTo>
                  <a:pt x="3145510" y="208501"/>
                  <a:pt x="3113364" y="195943"/>
                  <a:pt x="3080707" y="185057"/>
                </a:cubicBezTo>
                <a:cubicBezTo>
                  <a:pt x="3073450" y="177800"/>
                  <a:pt x="3067146" y="169443"/>
                  <a:pt x="3058935" y="163285"/>
                </a:cubicBezTo>
                <a:cubicBezTo>
                  <a:pt x="3020505" y="134462"/>
                  <a:pt x="2985697" y="110372"/>
                  <a:pt x="2939192" y="97971"/>
                </a:cubicBezTo>
                <a:cubicBezTo>
                  <a:pt x="2903437" y="88437"/>
                  <a:pt x="2865969" y="86177"/>
                  <a:pt x="2830335" y="76200"/>
                </a:cubicBezTo>
                <a:cubicBezTo>
                  <a:pt x="2536635" y="-6036"/>
                  <a:pt x="2798878" y="39348"/>
                  <a:pt x="2503764" y="0"/>
                </a:cubicBezTo>
                <a:lnTo>
                  <a:pt x="1883278" y="10885"/>
                </a:lnTo>
                <a:cubicBezTo>
                  <a:pt x="1842871" y="14504"/>
                  <a:pt x="1811934" y="49867"/>
                  <a:pt x="1774421" y="65314"/>
                </a:cubicBezTo>
                <a:cubicBezTo>
                  <a:pt x="1749994" y="75372"/>
                  <a:pt x="1723047" y="78057"/>
                  <a:pt x="1698221" y="87085"/>
                </a:cubicBezTo>
                <a:cubicBezTo>
                  <a:pt x="1682970" y="92631"/>
                  <a:pt x="1668593" y="100508"/>
                  <a:pt x="1654678" y="108857"/>
                </a:cubicBezTo>
                <a:cubicBezTo>
                  <a:pt x="1632241" y="122319"/>
                  <a:pt x="1589364" y="152400"/>
                  <a:pt x="1589364" y="152400"/>
                </a:cubicBezTo>
              </a:path>
            </a:pathLst>
          </a:custGeom>
          <a:ln w="38100">
            <a:prstDash val="dash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63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测试信息流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2719430"/>
            <a:ext cx="19915069" cy="827713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dirty="0"/>
              <a:t>测试过程的三类输入：</a:t>
            </a:r>
            <a:endParaRPr lang="zh-CN" altLang="en-US" dirty="0"/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b="0" dirty="0"/>
              <a:t>软件配置：</a:t>
            </a:r>
            <a:r>
              <a:rPr lang="zh-CN" altLang="en-US" b="0" dirty="0">
                <a:solidFill>
                  <a:schemeClr val="tx1"/>
                </a:solidFill>
              </a:rPr>
              <a:t>包括软件需求规格说明、软件设计规格说明、源代码等；</a:t>
            </a:r>
            <a:endParaRPr lang="zh-CN" altLang="en-US" b="0" dirty="0">
              <a:solidFill>
                <a:schemeClr val="tx1"/>
              </a:solidFill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b="0" dirty="0"/>
              <a:t>测试配置：</a:t>
            </a:r>
            <a:r>
              <a:rPr lang="zh-CN" altLang="en-US" b="0" dirty="0">
                <a:solidFill>
                  <a:schemeClr val="tx1"/>
                </a:solidFill>
              </a:rPr>
              <a:t>包括测试计划、测试用例、测试驱动程序等；</a:t>
            </a:r>
            <a:endParaRPr lang="zh-CN" altLang="en-US" b="0" dirty="0">
              <a:solidFill>
                <a:schemeClr val="tx1"/>
              </a:solidFill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zh-CN" altLang="en-US" b="0" dirty="0"/>
              <a:t>测试工具：</a:t>
            </a:r>
            <a:r>
              <a:rPr lang="zh-CN" altLang="en-US" b="0" dirty="0">
                <a:solidFill>
                  <a:schemeClr val="tx1"/>
                </a:solidFill>
              </a:rPr>
              <a:t>为测试的实施提供某种服务的基础性工具。</a:t>
            </a:r>
            <a:endParaRPr lang="en-US" altLang="zh-CN" b="0" dirty="0">
              <a:solidFill>
                <a:schemeClr val="tx1"/>
              </a:solidFill>
            </a:endParaRPr>
          </a:p>
          <a:p>
            <a:pPr lvl="2">
              <a:lnSpc>
                <a:spcPct val="2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 例如测试数据自动生成程序、静态分析程序、动态分析程序、测试结果分析程序、以及驱动测试的工作台等。 </a:t>
            </a:r>
            <a:endParaRPr lang="zh-CN" altLang="en-US" dirty="0"/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32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63350" y="2722628"/>
            <a:ext cx="3820968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测试用例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59567" y="253195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136452" y="2667907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sp>
        <p:nvSpPr>
          <p:cNvPr id="134" name="矩形 5"/>
          <p:cNvSpPr txBox="1"/>
          <p:nvPr/>
        </p:nvSpPr>
        <p:spPr>
          <a:xfrm>
            <a:off x="11263350" y="4605410"/>
            <a:ext cx="4525290" cy="6977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软件测试信息流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2"/>
            <a:ext cx="4525290" cy="671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软件测试的原则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03</a:t>
            </a:r>
          </a:p>
        </p:txBody>
      </p: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143" name="Freeform 5"/>
          <p:cNvSpPr/>
          <p:nvPr/>
        </p:nvSpPr>
        <p:spPr>
          <a:xfrm rot="5400000">
            <a:off x="9259567" y="8094096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4" name="矩形 11"/>
          <p:cNvSpPr txBox="1"/>
          <p:nvPr/>
        </p:nvSpPr>
        <p:spPr>
          <a:xfrm>
            <a:off x="9136452" y="8230048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04</a:t>
            </a:r>
            <a:endParaRPr dirty="0"/>
          </a:p>
        </p:txBody>
      </p:sp>
      <p:sp>
        <p:nvSpPr>
          <p:cNvPr id="146" name="矩形 5"/>
          <p:cNvSpPr txBox="1"/>
          <p:nvPr/>
        </p:nvSpPr>
        <p:spPr>
          <a:xfrm>
            <a:off x="11263350" y="8320568"/>
            <a:ext cx="5581930" cy="873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软件测试的常见误区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30" name="矩形 5"/>
          <p:cNvSpPr txBox="1"/>
          <p:nvPr/>
        </p:nvSpPr>
        <p:spPr>
          <a:xfrm>
            <a:off x="10838306" y="10193535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31" name="Freeform 5"/>
          <p:cNvSpPr/>
          <p:nvPr/>
        </p:nvSpPr>
        <p:spPr>
          <a:xfrm rot="5400000">
            <a:off x="9259567" y="994814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" name="矩形 11"/>
          <p:cNvSpPr txBox="1"/>
          <p:nvPr/>
        </p:nvSpPr>
        <p:spPr>
          <a:xfrm>
            <a:off x="9136452" y="100840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3" name="矩形 5"/>
          <p:cNvSpPr txBox="1"/>
          <p:nvPr/>
        </p:nvSpPr>
        <p:spPr>
          <a:xfrm>
            <a:off x="11263350" y="10174614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70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软件测试的原则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3056044"/>
            <a:ext cx="19915069" cy="66457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b="0" dirty="0"/>
              <a:t>尽早地和不断地进行软件测试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程序员应避免检查自己的程序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完全测试程序是不可能的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软件测试是有风险的行为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745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软件测试的原则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2917499"/>
            <a:ext cx="19915069" cy="66457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b="0" dirty="0"/>
              <a:t>在设计测试用例时，应当包括合理的输入条件和不合理的输入条件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充分注意测试中的群集现象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严格执行测试计划，排除测试的随意性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应当对每一个测试结果做全面检查 </a:t>
            </a:r>
            <a:endParaRPr lang="zh-CN" altLang="en-US" b="0" dirty="0"/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83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软件测试的原则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2147594"/>
            <a:ext cx="19915069" cy="66457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b="0" dirty="0"/>
              <a:t>妥善保存测试文档等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并非所有软件缺陷都能修复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原则 </a:t>
            </a:r>
            <a:endParaRPr lang="zh-CN" alt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012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63350" y="2722628"/>
            <a:ext cx="3820968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测试用例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59567" y="253195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136452" y="2667907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sp>
        <p:nvSpPr>
          <p:cNvPr id="134" name="矩形 5"/>
          <p:cNvSpPr txBox="1"/>
          <p:nvPr/>
        </p:nvSpPr>
        <p:spPr>
          <a:xfrm>
            <a:off x="11263350" y="4605410"/>
            <a:ext cx="4525290" cy="6977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软件测试信息流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2"/>
            <a:ext cx="4525290" cy="671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软件测试的原则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03</a:t>
            </a:r>
          </a:p>
        </p:txBody>
      </p: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143" name="Freeform 5"/>
          <p:cNvSpPr/>
          <p:nvPr/>
        </p:nvSpPr>
        <p:spPr>
          <a:xfrm rot="5400000">
            <a:off x="9259567" y="8094096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4" name="矩形 11"/>
          <p:cNvSpPr txBox="1"/>
          <p:nvPr/>
        </p:nvSpPr>
        <p:spPr>
          <a:xfrm>
            <a:off x="9136452" y="8230048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04</a:t>
            </a:r>
            <a:endParaRPr dirty="0"/>
          </a:p>
        </p:txBody>
      </p:sp>
      <p:sp>
        <p:nvSpPr>
          <p:cNvPr id="146" name="矩形 5"/>
          <p:cNvSpPr txBox="1"/>
          <p:nvPr/>
        </p:nvSpPr>
        <p:spPr>
          <a:xfrm>
            <a:off x="11263350" y="8320568"/>
            <a:ext cx="5581930" cy="873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软件测试的常见误区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30" name="矩形 5"/>
          <p:cNvSpPr txBox="1"/>
          <p:nvPr/>
        </p:nvSpPr>
        <p:spPr>
          <a:xfrm>
            <a:off x="10838306" y="10193535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31" name="Freeform 5"/>
          <p:cNvSpPr/>
          <p:nvPr/>
        </p:nvSpPr>
        <p:spPr>
          <a:xfrm rot="5400000">
            <a:off x="9259567" y="994814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" name="矩形 11"/>
          <p:cNvSpPr txBox="1"/>
          <p:nvPr/>
        </p:nvSpPr>
        <p:spPr>
          <a:xfrm>
            <a:off x="9136452" y="100840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3" name="矩形 5"/>
          <p:cNvSpPr txBox="1"/>
          <p:nvPr/>
        </p:nvSpPr>
        <p:spPr>
          <a:xfrm>
            <a:off x="11263350" y="10174614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小结</a:t>
            </a:r>
            <a:endParaRPr sz="4400" dirty="0">
              <a:solidFill>
                <a:srgbClr val="00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98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619390" cy="1042894"/>
          </a:xfrm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zh-CN" altLang="en-US" dirty="0"/>
              <a:t>软件测试的常见误区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2945207"/>
            <a:ext cx="19915069" cy="66457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1 </a:t>
            </a:r>
            <a:r>
              <a:rPr lang="zh-CN" altLang="en-US" b="0" dirty="0"/>
              <a:t>调试和测试是一样的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2</a:t>
            </a:r>
            <a:r>
              <a:rPr lang="zh-CN" altLang="en-US" b="0" dirty="0"/>
              <a:t> 软件测试对象就是程序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3 </a:t>
            </a:r>
            <a:r>
              <a:rPr lang="zh-CN" altLang="en-US" b="0" dirty="0"/>
              <a:t>软件测试是测试人员的事情，与开发人员无关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4</a:t>
            </a:r>
            <a:r>
              <a:rPr lang="zh-CN" altLang="en-US" b="0" dirty="0"/>
              <a:t> 好的软件质量是通过测试得到的 </a:t>
            </a:r>
            <a:endParaRPr lang="zh-CN" altLang="en-US" b="0" dirty="0"/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" name="矩形 2"/>
          <p:cNvSpPr/>
          <p:nvPr/>
        </p:nvSpPr>
        <p:spPr>
          <a:xfrm>
            <a:off x="16250192" y="3455709"/>
            <a:ext cx="21082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bug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628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619390" cy="1042894"/>
          </a:xfrm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zh-CN" altLang="en-US" dirty="0"/>
              <a:t>软件测试的常见误区</a:t>
            </a:r>
            <a:endParaRPr lang="zh-CN" altLang="en-US" dirty="0"/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>
          <a:xfrm>
            <a:off x="2737970" y="2834371"/>
            <a:ext cx="19915069" cy="664579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35000" indent="-635000" algn="l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n"/>
              <a:defRPr sz="4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lvl="1" indent="-635000" algn="l">
              <a:lnSpc>
                <a:spcPct val="150000"/>
              </a:lnSpc>
              <a:spcBef>
                <a:spcPts val="5900"/>
              </a:spcBef>
              <a:buSzPct val="125000"/>
              <a:buFont typeface="Wingdings" panose="05000000000000000000" pitchFamily="2" charset="2"/>
              <a:buChar char="Ø"/>
              <a:defRPr sz="4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5</a:t>
            </a:r>
            <a:r>
              <a:rPr lang="zh-CN" altLang="en-US" b="0" dirty="0"/>
              <a:t> 把不合格的开发人员安排做测试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6</a:t>
            </a:r>
            <a:r>
              <a:rPr lang="zh-CN" altLang="en-US" b="0" dirty="0"/>
              <a:t> 关注于测试的执行而忽略测试的设计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7</a:t>
            </a:r>
            <a:r>
              <a:rPr lang="zh-CN" altLang="en-US" b="0" dirty="0"/>
              <a:t> 测试自动化是万能的 </a:t>
            </a:r>
            <a:endParaRPr lang="zh-CN" altLang="en-US" b="0" dirty="0"/>
          </a:p>
          <a:p>
            <a:pPr>
              <a:lnSpc>
                <a:spcPct val="200000"/>
              </a:lnSpc>
            </a:pPr>
            <a:r>
              <a:rPr lang="zh-CN" altLang="en-US" b="0" dirty="0"/>
              <a:t>误区</a:t>
            </a:r>
            <a:r>
              <a:rPr lang="en-US" altLang="zh-CN" b="0" dirty="0"/>
              <a:t>8</a:t>
            </a:r>
            <a:r>
              <a:rPr lang="zh-CN" altLang="en-US" b="0" dirty="0"/>
              <a:t> 测试是为了证明软件的正确性 </a:t>
            </a:r>
            <a:endParaRPr lang="zh-CN" altLang="en-US" b="0" dirty="0"/>
          </a:p>
        </p:txBody>
      </p:sp>
      <p:sp>
        <p:nvSpPr>
          <p:cNvPr id="4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4</a:t>
            </a:r>
            <a:endParaRPr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1026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63350" y="2722628"/>
            <a:ext cx="3820968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测试用例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59567" y="2531955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136452" y="2667907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sp>
        <p:nvSpPr>
          <p:cNvPr id="134" name="矩形 5"/>
          <p:cNvSpPr txBox="1"/>
          <p:nvPr/>
        </p:nvSpPr>
        <p:spPr>
          <a:xfrm>
            <a:off x="11263350" y="4605410"/>
            <a:ext cx="4525290" cy="6977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软件测试信息流</a:t>
            </a:r>
            <a:endParaRPr sz="440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9259567" y="438600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6" name="矩形 11"/>
          <p:cNvSpPr txBox="1"/>
          <p:nvPr/>
        </p:nvSpPr>
        <p:spPr>
          <a:xfrm>
            <a:off x="9136452" y="4481009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138" name="矩形 5"/>
          <p:cNvSpPr txBox="1"/>
          <p:nvPr/>
        </p:nvSpPr>
        <p:spPr>
          <a:xfrm>
            <a:off x="11263350" y="6485442"/>
            <a:ext cx="4525290" cy="6717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软件测试的原则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39" name="Freeform 5"/>
          <p:cNvSpPr/>
          <p:nvPr/>
        </p:nvSpPr>
        <p:spPr>
          <a:xfrm rot="5400000">
            <a:off x="9259567" y="6240049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0" name="矩形 11"/>
          <p:cNvSpPr txBox="1"/>
          <p:nvPr/>
        </p:nvSpPr>
        <p:spPr>
          <a:xfrm>
            <a:off x="9136452" y="6376001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03</a:t>
            </a:r>
          </a:p>
        </p:txBody>
      </p:sp>
      <p:sp>
        <p:nvSpPr>
          <p:cNvPr id="142" name="矩形 5"/>
          <p:cNvSpPr txBox="1"/>
          <p:nvPr/>
        </p:nvSpPr>
        <p:spPr>
          <a:xfrm>
            <a:off x="10838306" y="8339489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143" name="Freeform 5"/>
          <p:cNvSpPr/>
          <p:nvPr/>
        </p:nvSpPr>
        <p:spPr>
          <a:xfrm rot="5400000">
            <a:off x="9259567" y="8094096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44" name="矩形 11"/>
          <p:cNvSpPr txBox="1"/>
          <p:nvPr/>
        </p:nvSpPr>
        <p:spPr>
          <a:xfrm>
            <a:off x="9136452" y="8230048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04</a:t>
            </a:r>
            <a:endParaRPr dirty="0"/>
          </a:p>
        </p:txBody>
      </p:sp>
      <p:sp>
        <p:nvSpPr>
          <p:cNvPr id="146" name="矩形 5"/>
          <p:cNvSpPr txBox="1"/>
          <p:nvPr/>
        </p:nvSpPr>
        <p:spPr>
          <a:xfrm>
            <a:off x="11263350" y="8320568"/>
            <a:ext cx="5581930" cy="8734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chemeClr val="tx1"/>
                </a:solidFill>
              </a:rPr>
              <a:t>软件测试的常见误区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30" name="矩形 5"/>
          <p:cNvSpPr txBox="1"/>
          <p:nvPr/>
        </p:nvSpPr>
        <p:spPr>
          <a:xfrm>
            <a:off x="10838306" y="10193535"/>
            <a:ext cx="4630293" cy="601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endParaRPr dirty="0"/>
          </a:p>
        </p:txBody>
      </p:sp>
      <p:sp>
        <p:nvSpPr>
          <p:cNvPr id="31" name="Freeform 5"/>
          <p:cNvSpPr/>
          <p:nvPr/>
        </p:nvSpPr>
        <p:spPr>
          <a:xfrm rot="5400000">
            <a:off x="9259567" y="9948142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" name="矩形 11"/>
          <p:cNvSpPr txBox="1"/>
          <p:nvPr/>
        </p:nvSpPr>
        <p:spPr>
          <a:xfrm>
            <a:off x="9136452" y="10084094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3" name="矩形 5"/>
          <p:cNvSpPr txBox="1"/>
          <p:nvPr/>
        </p:nvSpPr>
        <p:spPr>
          <a:xfrm>
            <a:off x="11263350" y="10174614"/>
            <a:ext cx="2471296" cy="782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06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53063" y="3990279"/>
            <a:ext cx="1865126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测试用例是对测试任务的描述，是软件测试的核心概念</a:t>
            </a:r>
            <a:endParaRPr lang="en-US" altLang="zh-CN" sz="6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34609" y="6727519"/>
            <a:ext cx="1979740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软件测试的输入流包括软件配置、测试配置和测试工具     </a:t>
            </a:r>
            <a:endParaRPr lang="en-US" altLang="zh-CN" sz="6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16006" y="9464759"/>
            <a:ext cx="1403461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软件测试需要遵循一定的原则并避免误区</a:t>
            </a:r>
            <a:endParaRPr lang="en-US" altLang="zh-CN" sz="6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</a:t>
            </a:r>
            <a:r>
              <a:rPr lang="en-US" altLang="zh-CN"/>
              <a:t>5</a:t>
            </a:r>
            <a:endParaRPr lang="en-US" altLang="zh-CN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312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790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0.2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15.8|31.2|45.3|34.8"/>
</p:tagLst>
</file>

<file path=ppt/tags/tag5.xml><?xml version="1.0" encoding="utf-8"?>
<p:tagLst xmlns:p="http://schemas.openxmlformats.org/presentationml/2006/main">
  <p:tag name="TIMING" val="|15.5|10.4|6.1|28.3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0.2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0.2"/>
</p:tagLst>
</file>

<file path=ppt/tags/tag11.xml><?xml version="1.0" encoding="utf-8"?>
<p:tagLst xmlns:p="http://schemas.openxmlformats.org/presentationml/2006/main">
  <p:tag name="TIMING" val="|12.6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</Words>
  <Application>WPS 演示</Application>
  <PresentationFormat>Custom</PresentationFormat>
  <Paragraphs>273</Paragraphs>
  <Slides>22</Slides>
  <Notes>22</Notes>
  <HiddenSlides>0</HiddenSlides>
  <MMClips>22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Times New Roman</vt:lpstr>
      <vt:lpstr>Arial Unicode MS</vt:lpstr>
      <vt:lpstr>White</vt:lpstr>
      <vt:lpstr>PowerPoint 演示文稿</vt:lpstr>
      <vt:lpstr>PowerPoint 演示文稿</vt:lpstr>
      <vt:lpstr>PowerPoint 演示文稿</vt:lpstr>
      <vt:lpstr>测试用例的定义</vt:lpstr>
      <vt:lpstr>测试用例的定义</vt:lpstr>
      <vt:lpstr>测试用例的作用</vt:lpstr>
      <vt:lpstr>测试用例的形式</vt:lpstr>
      <vt:lpstr>软件用例—小结</vt:lpstr>
      <vt:lpstr>PowerPoint 演示文稿</vt:lpstr>
      <vt:lpstr>测试信息流</vt:lpstr>
      <vt:lpstr>测试信息流</vt:lpstr>
      <vt:lpstr>测试信息流</vt:lpstr>
      <vt:lpstr>PowerPoint 演示文稿</vt:lpstr>
      <vt:lpstr>软件测试的原则</vt:lpstr>
      <vt:lpstr>软件测试的原则</vt:lpstr>
      <vt:lpstr>软件测试的原则</vt:lpstr>
      <vt:lpstr>PowerPoint 演示文稿</vt:lpstr>
      <vt:lpstr>软件测试的常见误区</vt:lpstr>
      <vt:lpstr>软件测试的常见误区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333</cp:revision>
  <dcterms:created xsi:type="dcterms:W3CDTF">2019-05-10T09:49:00Z</dcterms:created>
  <dcterms:modified xsi:type="dcterms:W3CDTF">2023-08-08T00:04:36Z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4A2D6597F5EE4A04AA55592E143E3E9E_12</vt:lpwstr>
  </property>
</Properties>
</file>