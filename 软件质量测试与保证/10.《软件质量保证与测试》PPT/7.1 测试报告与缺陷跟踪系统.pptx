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31"/>
  </p:handoutMasterIdLst>
  <p:sldIdLst>
    <p:sldId id="256" r:id="rId3"/>
    <p:sldId id="670" r:id="rId5"/>
    <p:sldId id="760" r:id="rId6"/>
    <p:sldId id="761" r:id="rId7"/>
    <p:sldId id="762" r:id="rId8"/>
    <p:sldId id="763" r:id="rId9"/>
    <p:sldId id="764" r:id="rId10"/>
    <p:sldId id="765" r:id="rId11"/>
    <p:sldId id="766" r:id="rId12"/>
    <p:sldId id="767" r:id="rId13"/>
    <p:sldId id="729" r:id="rId14"/>
    <p:sldId id="731" r:id="rId15"/>
    <p:sldId id="732" r:id="rId16"/>
    <p:sldId id="733" r:id="rId17"/>
    <p:sldId id="734" r:id="rId18"/>
    <p:sldId id="735" r:id="rId19"/>
    <p:sldId id="740" r:id="rId20"/>
    <p:sldId id="741" r:id="rId21"/>
    <p:sldId id="742" r:id="rId22"/>
    <p:sldId id="745" r:id="rId23"/>
    <p:sldId id="747" r:id="rId24"/>
    <p:sldId id="748" r:id="rId25"/>
    <p:sldId id="749" r:id="rId26"/>
    <p:sldId id="750" r:id="rId27"/>
    <p:sldId id="754" r:id="rId28"/>
    <p:sldId id="768" r:id="rId29"/>
    <p:sldId id="624" r:id="rId30"/>
  </p:sldIdLst>
  <p:sldSz cx="24384000" cy="13716000"/>
  <p:notesSz cx="7099300" cy="10234295"/>
  <p:custDataLst>
    <p:tags r:id="rId36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u jiamin" initials="lj" lastIdx="39" clrIdx="0"/>
  <p:cmAuthor id="2" name="li weiyong" initials="lw" lastIdx="2" clrIdx="1"/>
  <p:cmAuthor id="3" name="Jiang, Yanjie" initials="JY" lastIdx="3" clrIdx="2"/>
  <p:cmAuthor id="4" name="Microsoft Office User" initials="MOU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00A2FF"/>
    <a:srgbClr val="FF3300"/>
    <a:srgbClr val="FB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48" autoAdjust="0"/>
    <p:restoredTop sz="81926" autoAdjust="0"/>
  </p:normalViewPr>
  <p:slideViewPr>
    <p:cSldViewPr snapToGrid="0">
      <p:cViewPr varScale="1">
        <p:scale>
          <a:sx n="40" d="100"/>
          <a:sy n="40" d="100"/>
        </p:scale>
        <p:origin x="1173" y="-6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2880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handoutMaster" Target="handoutMasters/handout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ableStyles" Target="tableStyles.xml"/><Relationship Id="rId35" Type="http://schemas.openxmlformats.org/officeDocument/2006/relationships/commentAuthors" Target="commentAuthors.xml"/><Relationship Id="rId36" Type="http://schemas.openxmlformats.org/officeDocument/2006/relationships/tags" Target="tags/tag2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3167F-A315-463C-854D-5832BFB9F14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EDDE74-10D5-4A7E-A68A-C1E3935360A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  <a:prstGeom prst="rect">
            <a:avLst/>
          </a:prstGeom>
        </p:spPr>
        <p:txBody>
          <a:bodyPr lIns="94759" tIns="47380" rIns="94759" bIns="47380"/>
          <a:lstStyle/>
          <a:p/>
        </p:txBody>
      </p:sp>
      <p:sp>
        <p:nvSpPr>
          <p:cNvPr id="120" name="Shape 120"/>
          <p:cNvSpPr>
            <a:spLocks noGrp="1"/>
          </p:cNvSpPr>
          <p:nvPr>
            <p:ph type="body" sz="quarter" idx="1"/>
          </p:nvPr>
        </p:nvSpPr>
        <p:spPr>
          <a:xfrm>
            <a:off x="946574" y="4861443"/>
            <a:ext cx="5206154" cy="4605576"/>
          </a:xfrm>
          <a:prstGeom prst="rect">
            <a:avLst/>
          </a:prstGeom>
        </p:spPr>
        <p:txBody>
          <a:bodyPr lIns="94759" tIns="47380" rIns="94759" bIns="47380"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4600" b="1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700" b="1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700" b="1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4572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240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700" b="1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700" b="1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"/>
          <p:cNvSpPr/>
          <p:nvPr userDrawn="1"/>
        </p:nvSpPr>
        <p:spPr>
          <a:xfrm>
            <a:off x="-9547" y="-22321"/>
            <a:ext cx="24403094" cy="7745139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pic>
        <p:nvPicPr>
          <p:cNvPr id="13" name="图像" descr="图像"/>
          <p:cNvPicPr>
            <a:picLocks noChangeAspect="1"/>
          </p:cNvPicPr>
          <p:nvPr/>
        </p:nvPicPr>
        <p:blipFill>
          <a:blip r:embed="rId2">
            <a:alphaModFix amt="12036"/>
          </a:blip>
          <a:stretch>
            <a:fillRect/>
          </a:stretch>
        </p:blipFill>
        <p:spPr>
          <a:xfrm>
            <a:off x="16934791" y="-3756403"/>
            <a:ext cx="8496110" cy="974958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6" name="Freeform 5"/>
          <p:cNvSpPr/>
          <p:nvPr userDrawn="1"/>
        </p:nvSpPr>
        <p:spPr>
          <a:xfrm rot="5400000">
            <a:off x="890955" y="922603"/>
            <a:ext cx="1622454" cy="14629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37970" y="1078867"/>
            <a:ext cx="5545418" cy="1042894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marL="0" marR="0" lvl="0" indent="0" algn="ctr" defTabSz="8255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标题：替换文字</a:t>
            </a:r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1044575" y="3030621"/>
            <a:ext cx="22368743" cy="8720336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10" name="谢谢您的观赏"/>
          <p:cNvSpPr txBox="1"/>
          <p:nvPr userDrawn="1"/>
        </p:nvSpPr>
        <p:spPr>
          <a:xfrm>
            <a:off x="7863358" y="4360818"/>
            <a:ext cx="8191345" cy="3947747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215265">
              <a:defRPr sz="10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sz="9600" dirty="0"/>
              <a:t>谢谢</a:t>
            </a:r>
            <a:endParaRPr lang="en-US" altLang="zh-CN" sz="9600" dirty="0"/>
          </a:p>
          <a:p>
            <a:pPr algn="ctr">
              <a:lnSpc>
                <a:spcPct val="150000"/>
              </a:lnSpc>
            </a:pPr>
            <a:r>
              <a:rPr lang="en-US" sz="8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www.ictedu.com</a:t>
            </a:r>
            <a:endParaRPr sz="80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6" name="Freeform 5"/>
          <p:cNvSpPr/>
          <p:nvPr userDrawn="1"/>
        </p:nvSpPr>
        <p:spPr>
          <a:xfrm rot="5400000">
            <a:off x="890955" y="922603"/>
            <a:ext cx="1622454" cy="14629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37970" y="1078867"/>
            <a:ext cx="5545418" cy="1042894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marL="0" marR="0" lvl="0" indent="0" algn="ctr" defTabSz="8255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标题：替换文字</a:t>
            </a:r>
            <a:endParaRPr lang="zh-CN" altLang="en-US" dirty="0"/>
          </a:p>
        </p:txBody>
      </p:sp>
      <p:sp>
        <p:nvSpPr>
          <p:cNvPr id="9" name="正文级别 1…"/>
          <p:cNvSpPr txBox="1">
            <a:spLocks noGrp="1"/>
          </p:cNvSpPr>
          <p:nvPr>
            <p:ph idx="1" hasCustomPrompt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en-US" altLang="zh-CN" dirty="0" err="1"/>
              <a:t>gmail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dirty="0" err="1"/>
              <a:t>正文级别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000" b="1" i="0" u="none" strike="noStrike" cap="none" spc="0" baseline="0">
          <a:ln>
            <a:noFill/>
          </a:ln>
          <a:solidFill>
            <a:srgbClr val="000000"/>
          </a:solidFill>
          <a:uFillTx/>
          <a:latin typeface="黑体" panose="02010609060101010101" pitchFamily="49" charset="-122"/>
          <a:ea typeface="黑体" panose="02010609060101010101" pitchFamily="49" charset="-122"/>
          <a:cs typeface="黑体" panose="02010609060101010101" pitchFamily="49" charset="-122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tags" Target="../tags/tag2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tags" Target="../tags/tag3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tags" Target="../tags/tag4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tags" Target="../tags/tag5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tags" Target="../tags/tag6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7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tags" Target="../tags/tag8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tags" Target="../tags/tag9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tags" Target="../tags/tag10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tags" Target="../tags/tag11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tags" Target="../tags/tag12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png"/><Relationship Id="rId4" Type="http://schemas.openxmlformats.org/officeDocument/2006/relationships/image" Target="../media/image3.png"/><Relationship Id="rId5" Type="http://schemas.openxmlformats.org/officeDocument/2006/relationships/tags" Target="../tags/tag13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png"/><Relationship Id="rId4" Type="http://schemas.openxmlformats.org/officeDocument/2006/relationships/image" Target="../media/image3.png"/><Relationship Id="rId5" Type="http://schemas.openxmlformats.org/officeDocument/2006/relationships/tags" Target="../tags/tag14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tags" Target="../tags/tag15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png"/><Relationship Id="rId4" Type="http://schemas.openxmlformats.org/officeDocument/2006/relationships/image" Target="../media/image3.png"/><Relationship Id="rId5" Type="http://schemas.openxmlformats.org/officeDocument/2006/relationships/tags" Target="../tags/tag16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png"/><Relationship Id="rId4" Type="http://schemas.openxmlformats.org/officeDocument/2006/relationships/image" Target="../media/image3.png"/><Relationship Id="rId5" Type="http://schemas.openxmlformats.org/officeDocument/2006/relationships/tags" Target="../tags/tag17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png"/><Relationship Id="rId4" Type="http://schemas.openxmlformats.org/officeDocument/2006/relationships/image" Target="../media/image3.png"/><Relationship Id="rId5" Type="http://schemas.openxmlformats.org/officeDocument/2006/relationships/tags" Target="../tags/tag18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png"/><Relationship Id="rId4" Type="http://schemas.openxmlformats.org/officeDocument/2006/relationships/image" Target="../media/image3.png"/><Relationship Id="rId5" Type="http://schemas.openxmlformats.org/officeDocument/2006/relationships/tags" Target="../tags/tag19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4" Type="http://schemas.openxmlformats.org/officeDocument/2006/relationships/image" Target="../media/image3.png"/><Relationship Id="rId5" Type="http://schemas.openxmlformats.org/officeDocument/2006/relationships/tags" Target="../tags/tag20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png"/><Relationship Id="rId4" Type="http://schemas.openxmlformats.org/officeDocument/2006/relationships/image" Target="../media/image3.png"/><Relationship Id="rId5" Type="http://schemas.openxmlformats.org/officeDocument/2006/relationships/tags" Target="../tags/tag21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主标题：替换文字、加粗"/>
          <p:cNvSpPr txBox="1"/>
          <p:nvPr/>
        </p:nvSpPr>
        <p:spPr>
          <a:xfrm>
            <a:off x="1217066" y="5534660"/>
            <a:ext cx="12217400" cy="173228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215265">
              <a:defRPr sz="10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软件质量保证与测试</a:t>
            </a:r>
            <a:endParaRPr lang="zh-CN" altLang="en-US" dirty="0"/>
          </a:p>
        </p:txBody>
      </p:sp>
      <p:sp>
        <p:nvSpPr>
          <p:cNvPr id="123" name="专业技能培养云/职业技能实践云/创新成果转化云"/>
          <p:cNvSpPr txBox="1"/>
          <p:nvPr/>
        </p:nvSpPr>
        <p:spPr>
          <a:xfrm>
            <a:off x="1217065" y="8199240"/>
            <a:ext cx="9988731" cy="1025922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/>
          <a:p>
            <a:pPr algn="l" defTabSz="215265">
              <a:defRPr sz="6000" b="0">
                <a:latin typeface="MicrosoftYaHeiLight"/>
                <a:ea typeface="MicrosoftYaHeiLight"/>
                <a:cs typeface="MicrosoftYaHeiLight"/>
                <a:sym typeface="MicrosoftYaHeiLight"/>
              </a:defRPr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7.1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测试报告与缺陷跟踪系统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spd="med" advTm="1280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30" name="成组"/>
          <p:cNvGrpSpPr/>
          <p:nvPr/>
        </p:nvGrpSpPr>
        <p:grpSpPr>
          <a:xfrm>
            <a:off x="9136452" y="3163977"/>
            <a:ext cx="5947866" cy="1343465"/>
            <a:chOff x="0" y="0"/>
            <a:chExt cx="5830084" cy="1343464"/>
          </a:xfrm>
        </p:grpSpPr>
        <p:sp>
          <p:nvSpPr>
            <p:cNvPr id="127" name="矩形 5"/>
            <p:cNvSpPr txBox="1"/>
            <p:nvPr/>
          </p:nvSpPr>
          <p:spPr>
            <a:xfrm>
              <a:off x="2084780" y="244454"/>
              <a:ext cx="3745304" cy="8545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测试报告</a:t>
              </a:r>
              <a:endParaRPr lang="zh-CN" altLang="en-US" sz="4400" dirty="0">
                <a:solidFill>
                  <a:srgbClr val="000000"/>
                </a:solidFill>
              </a:endParaRPr>
            </a:p>
          </p:txBody>
        </p:sp>
        <p:sp>
          <p:nvSpPr>
            <p:cNvPr id="128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29" name="矩形 11"/>
            <p:cNvSpPr txBox="1"/>
            <p:nvPr/>
          </p:nvSpPr>
          <p:spPr>
            <a:xfrm>
              <a:off x="0" y="18973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01</a:t>
              </a:r>
            </a:p>
          </p:txBody>
        </p:sp>
      </p:grpSp>
      <p:sp>
        <p:nvSpPr>
          <p:cNvPr id="134" name="矩形 5"/>
          <p:cNvSpPr txBox="1"/>
          <p:nvPr/>
        </p:nvSpPr>
        <p:spPr>
          <a:xfrm>
            <a:off x="11263349" y="5291213"/>
            <a:ext cx="5682868" cy="71519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chemeClr val="tx1"/>
                </a:solidFill>
              </a:rPr>
              <a:t>缺陷跟踪系统</a:t>
            </a:r>
            <a:endParaRPr sz="4400" dirty="0">
              <a:solidFill>
                <a:schemeClr val="tx1"/>
              </a:solidFill>
            </a:endParaRPr>
          </a:p>
        </p:txBody>
      </p:sp>
      <p:sp>
        <p:nvSpPr>
          <p:cNvPr id="135" name="Freeform 5"/>
          <p:cNvSpPr/>
          <p:nvPr/>
        </p:nvSpPr>
        <p:spPr>
          <a:xfrm rot="5400000">
            <a:off x="9259567" y="5071805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36" name="矩形 11"/>
          <p:cNvSpPr txBox="1"/>
          <p:nvPr/>
        </p:nvSpPr>
        <p:spPr>
          <a:xfrm>
            <a:off x="9136452" y="5166812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02</a:t>
            </a:r>
          </a:p>
        </p:txBody>
      </p:sp>
      <p:sp>
        <p:nvSpPr>
          <p:cNvPr id="138" name="矩形 5"/>
          <p:cNvSpPr txBox="1"/>
          <p:nvPr/>
        </p:nvSpPr>
        <p:spPr>
          <a:xfrm>
            <a:off x="11263350" y="7171246"/>
            <a:ext cx="7273128" cy="6925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chemeClr val="tx1"/>
                </a:solidFill>
              </a:rPr>
              <a:t>小结</a:t>
            </a:r>
            <a:endParaRPr sz="4400" dirty="0">
              <a:solidFill>
                <a:schemeClr val="tx1"/>
              </a:solidFill>
            </a:endParaRPr>
          </a:p>
        </p:txBody>
      </p:sp>
      <p:sp>
        <p:nvSpPr>
          <p:cNvPr id="139" name="Freeform 5"/>
          <p:cNvSpPr/>
          <p:nvPr/>
        </p:nvSpPr>
        <p:spPr>
          <a:xfrm rot="5400000">
            <a:off x="9259567" y="6925852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40" name="矩形 11"/>
          <p:cNvSpPr txBox="1"/>
          <p:nvPr/>
        </p:nvSpPr>
        <p:spPr>
          <a:xfrm>
            <a:off x="9136452" y="7061804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03</a:t>
            </a:r>
            <a:endParaRPr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spd="med" advTm="1881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30" name="成组"/>
          <p:cNvGrpSpPr/>
          <p:nvPr/>
        </p:nvGrpSpPr>
        <p:grpSpPr>
          <a:xfrm>
            <a:off x="9136452" y="3163977"/>
            <a:ext cx="5947866" cy="1343465"/>
            <a:chOff x="0" y="0"/>
            <a:chExt cx="5830084" cy="1343464"/>
          </a:xfrm>
        </p:grpSpPr>
        <p:sp>
          <p:nvSpPr>
            <p:cNvPr id="127" name="矩形 5"/>
            <p:cNvSpPr txBox="1"/>
            <p:nvPr/>
          </p:nvSpPr>
          <p:spPr>
            <a:xfrm>
              <a:off x="2084780" y="244454"/>
              <a:ext cx="3745304" cy="8545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b="1" dirty="0">
                  <a:solidFill>
                    <a:srgbClr val="FF0000"/>
                  </a:solidFill>
                </a:rPr>
                <a:t>测试报告</a:t>
              </a:r>
              <a:endParaRPr lang="zh-CN" altLang="en-US" sz="4400" b="1" dirty="0">
                <a:solidFill>
                  <a:srgbClr val="FF0000"/>
                </a:solidFill>
              </a:endParaRPr>
            </a:p>
          </p:txBody>
        </p:sp>
        <p:sp>
          <p:nvSpPr>
            <p:cNvPr id="128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29" name="矩形 11"/>
            <p:cNvSpPr txBox="1"/>
            <p:nvPr/>
          </p:nvSpPr>
          <p:spPr>
            <a:xfrm>
              <a:off x="0" y="18973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01</a:t>
              </a:r>
            </a:p>
          </p:txBody>
        </p:sp>
      </p:grpSp>
      <p:sp>
        <p:nvSpPr>
          <p:cNvPr id="134" name="矩形 5"/>
          <p:cNvSpPr txBox="1"/>
          <p:nvPr/>
        </p:nvSpPr>
        <p:spPr>
          <a:xfrm>
            <a:off x="11263349" y="5291213"/>
            <a:ext cx="5682868" cy="71519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chemeClr val="tx1"/>
                </a:solidFill>
              </a:rPr>
              <a:t>缺陷跟踪系统</a:t>
            </a:r>
            <a:endParaRPr sz="4400" dirty="0">
              <a:solidFill>
                <a:schemeClr val="tx1"/>
              </a:solidFill>
            </a:endParaRPr>
          </a:p>
        </p:txBody>
      </p:sp>
      <p:sp>
        <p:nvSpPr>
          <p:cNvPr id="135" name="Freeform 5"/>
          <p:cNvSpPr/>
          <p:nvPr/>
        </p:nvSpPr>
        <p:spPr>
          <a:xfrm rot="5400000">
            <a:off x="9259567" y="5071805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36" name="矩形 11"/>
          <p:cNvSpPr txBox="1"/>
          <p:nvPr/>
        </p:nvSpPr>
        <p:spPr>
          <a:xfrm>
            <a:off x="9136452" y="5166812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02</a:t>
            </a:r>
          </a:p>
        </p:txBody>
      </p:sp>
      <p:sp>
        <p:nvSpPr>
          <p:cNvPr id="138" name="矩形 5"/>
          <p:cNvSpPr txBox="1"/>
          <p:nvPr/>
        </p:nvSpPr>
        <p:spPr>
          <a:xfrm>
            <a:off x="11263350" y="7171246"/>
            <a:ext cx="7273128" cy="6925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chemeClr val="tx1"/>
                </a:solidFill>
              </a:rPr>
              <a:t>小结</a:t>
            </a:r>
            <a:endParaRPr sz="4400" dirty="0">
              <a:solidFill>
                <a:schemeClr val="tx1"/>
              </a:solidFill>
            </a:endParaRPr>
          </a:p>
        </p:txBody>
      </p:sp>
      <p:sp>
        <p:nvSpPr>
          <p:cNvPr id="139" name="Freeform 5"/>
          <p:cNvSpPr/>
          <p:nvPr/>
        </p:nvSpPr>
        <p:spPr>
          <a:xfrm rot="5400000">
            <a:off x="9259567" y="6925852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40" name="矩形 11"/>
          <p:cNvSpPr txBox="1"/>
          <p:nvPr/>
        </p:nvSpPr>
        <p:spPr>
          <a:xfrm>
            <a:off x="9136452" y="7061804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03</a:t>
            </a:r>
            <a:endParaRPr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spd="med" advTm="531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测试报告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1</a:t>
            </a:r>
            <a:endParaRPr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737970" y="2801047"/>
            <a:ext cx="20453334" cy="1023909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 algn="just"/>
            <a:r>
              <a:rPr lang="zh-CN" altLang="en-US" sz="4800" b="1" dirty="0"/>
              <a:t>测试报告</a:t>
            </a:r>
            <a:endParaRPr lang="zh-CN" altLang="en-US" sz="4800" b="1" dirty="0"/>
          </a:p>
          <a:p>
            <a:pPr lvl="2" algn="just"/>
            <a:r>
              <a:rPr lang="zh-CN" altLang="en-US" sz="4800" dirty="0"/>
              <a:t>测试报告是对测试目标、测试过程和测试结果的一个文档化的说明。</a:t>
            </a:r>
            <a:endParaRPr lang="en-US" altLang="zh-CN" sz="4800" dirty="0"/>
          </a:p>
          <a:p>
            <a:pPr lvl="2" algn="just"/>
            <a:r>
              <a:rPr lang="zh-CN" altLang="en-US" sz="4800" dirty="0"/>
              <a:t>第三方权威测试报告也可作为软件质量的一个证明。</a:t>
            </a:r>
            <a:endParaRPr lang="en-US" altLang="zh-CN" sz="4800" dirty="0"/>
          </a:p>
          <a:p>
            <a:pPr marL="1270000" lvl="2" indent="0" algn="just">
              <a:buNone/>
            </a:pPr>
            <a:endParaRPr lang="zh-CN" altLang="en-US" sz="4800"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0603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测试报告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1</a:t>
            </a:r>
            <a:endParaRPr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898" y="671976"/>
            <a:ext cx="10172205" cy="12372048"/>
          </a:xfrm>
          <a:prstGeom prst="rect">
            <a:avLst/>
          </a:prstGeom>
        </p:spPr>
      </p:pic>
      <p:pic>
        <p:nvPicPr>
          <p:cNvPr id="4" name="音频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7382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测试报告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1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4598" y="3163338"/>
            <a:ext cx="12790758" cy="7751615"/>
          </a:xfrm>
          <a:prstGeom prst="rect">
            <a:avLst/>
          </a:prstGeom>
        </p:spPr>
      </p:pic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737970" y="2801047"/>
            <a:ext cx="7902321" cy="1023909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 algn="just"/>
            <a:r>
              <a:rPr lang="zh-CN" altLang="en-US" sz="4800" b="1" dirty="0"/>
              <a:t>测试报告的内容</a:t>
            </a:r>
            <a:endParaRPr lang="zh-CN" altLang="en-US" sz="4800" b="1" dirty="0"/>
          </a:p>
          <a:p>
            <a:pPr lvl="2" algn="just"/>
            <a:r>
              <a:rPr lang="zh-CN" altLang="en-US" sz="4800" dirty="0"/>
              <a:t>项目概况</a:t>
            </a:r>
            <a:endParaRPr lang="en-US" altLang="zh-CN" sz="4800" dirty="0"/>
          </a:p>
          <a:p>
            <a:pPr lvl="2" algn="just"/>
            <a:r>
              <a:rPr lang="zh-CN" altLang="en-US" sz="4800" dirty="0"/>
              <a:t>测试结论</a:t>
            </a:r>
            <a:endParaRPr lang="en-US" altLang="zh-CN" sz="4800" dirty="0"/>
          </a:p>
          <a:p>
            <a:pPr lvl="2" algn="just"/>
            <a:r>
              <a:rPr lang="zh-CN" altLang="en-US" sz="4800" dirty="0"/>
              <a:t>测试依据与环境</a:t>
            </a:r>
            <a:endParaRPr lang="en-US" altLang="zh-CN" sz="4800" dirty="0"/>
          </a:p>
          <a:p>
            <a:pPr lvl="2" algn="just"/>
            <a:r>
              <a:rPr lang="zh-CN" altLang="en-US" sz="4800" dirty="0"/>
              <a:t>测试结果</a:t>
            </a:r>
            <a:endParaRPr lang="en-US" altLang="zh-CN" sz="4800" dirty="0"/>
          </a:p>
          <a:p>
            <a:pPr lvl="3" algn="just">
              <a:lnSpc>
                <a:spcPct val="130000"/>
              </a:lnSpc>
              <a:spcBef>
                <a:spcPts val="800"/>
              </a:spcBef>
            </a:pPr>
            <a:r>
              <a:rPr lang="zh-CN" altLang="en-US" sz="4400" dirty="0"/>
              <a:t>安全性测试</a:t>
            </a:r>
            <a:endParaRPr lang="en-US" altLang="zh-CN" sz="4400" dirty="0"/>
          </a:p>
          <a:p>
            <a:pPr lvl="3" algn="just">
              <a:lnSpc>
                <a:spcPct val="130000"/>
              </a:lnSpc>
              <a:spcBef>
                <a:spcPts val="800"/>
              </a:spcBef>
            </a:pPr>
            <a:r>
              <a:rPr lang="zh-CN" altLang="en-US" sz="4400" dirty="0"/>
              <a:t>功能性测试</a:t>
            </a:r>
            <a:endParaRPr lang="en-US" altLang="zh-CN" sz="4400" dirty="0"/>
          </a:p>
          <a:p>
            <a:pPr lvl="3" algn="just">
              <a:lnSpc>
                <a:spcPct val="130000"/>
              </a:lnSpc>
              <a:spcBef>
                <a:spcPts val="800"/>
              </a:spcBef>
            </a:pPr>
            <a:r>
              <a:rPr lang="zh-CN" altLang="en-US" sz="4400" dirty="0"/>
              <a:t>性能测试</a:t>
            </a:r>
            <a:endParaRPr lang="en-US" altLang="zh-CN" sz="4400" dirty="0"/>
          </a:p>
          <a:p>
            <a:pPr marL="1270000" lvl="2" indent="0" algn="just">
              <a:buNone/>
            </a:pPr>
            <a:endParaRPr lang="zh-CN" altLang="en-US" sz="4800" dirty="0"/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5694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测试报告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1</a:t>
            </a:r>
            <a:endParaRPr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737970" y="2801047"/>
            <a:ext cx="7902321" cy="1023909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 algn="just"/>
            <a:r>
              <a:rPr lang="zh-CN" altLang="en-US" sz="4800" b="1" dirty="0"/>
              <a:t>测试报告的内容</a:t>
            </a:r>
            <a:endParaRPr lang="zh-CN" altLang="en-US" sz="4800" b="1" dirty="0"/>
          </a:p>
          <a:p>
            <a:pPr lvl="2" algn="just"/>
            <a:r>
              <a:rPr lang="zh-CN" altLang="en-US" sz="4800" dirty="0"/>
              <a:t>项目概况</a:t>
            </a:r>
            <a:endParaRPr lang="en-US" altLang="zh-CN" sz="4800" dirty="0"/>
          </a:p>
          <a:p>
            <a:pPr lvl="2" algn="just"/>
            <a:r>
              <a:rPr lang="zh-CN" altLang="en-US" sz="4800" b="1" dirty="0">
                <a:solidFill>
                  <a:srgbClr val="FF0000"/>
                </a:solidFill>
              </a:rPr>
              <a:t>测试结论</a:t>
            </a:r>
            <a:endParaRPr lang="en-US" altLang="zh-CN" sz="4800" b="1" dirty="0">
              <a:solidFill>
                <a:srgbClr val="FF0000"/>
              </a:solidFill>
            </a:endParaRPr>
          </a:p>
          <a:p>
            <a:pPr lvl="2" algn="just"/>
            <a:r>
              <a:rPr lang="zh-CN" altLang="en-US" sz="4800" dirty="0"/>
              <a:t>测试依据与环境</a:t>
            </a:r>
            <a:endParaRPr lang="en-US" altLang="zh-CN" sz="4800" dirty="0"/>
          </a:p>
          <a:p>
            <a:pPr lvl="2" algn="just"/>
            <a:r>
              <a:rPr lang="zh-CN" altLang="en-US" sz="4800" dirty="0"/>
              <a:t>测试结果</a:t>
            </a:r>
            <a:endParaRPr lang="en-US" altLang="zh-CN" sz="4800" dirty="0"/>
          </a:p>
          <a:p>
            <a:pPr lvl="3" algn="just">
              <a:lnSpc>
                <a:spcPct val="130000"/>
              </a:lnSpc>
              <a:spcBef>
                <a:spcPts val="800"/>
              </a:spcBef>
            </a:pPr>
            <a:r>
              <a:rPr lang="zh-CN" altLang="en-US" sz="4400" dirty="0"/>
              <a:t>安全性测试</a:t>
            </a:r>
            <a:endParaRPr lang="en-US" altLang="zh-CN" sz="4400" dirty="0"/>
          </a:p>
          <a:p>
            <a:pPr lvl="3" algn="just">
              <a:lnSpc>
                <a:spcPct val="130000"/>
              </a:lnSpc>
              <a:spcBef>
                <a:spcPts val="800"/>
              </a:spcBef>
            </a:pPr>
            <a:r>
              <a:rPr lang="zh-CN" altLang="en-US" sz="4400" dirty="0"/>
              <a:t>功能性测试</a:t>
            </a:r>
            <a:endParaRPr lang="en-US" altLang="zh-CN" sz="4400" dirty="0"/>
          </a:p>
          <a:p>
            <a:pPr lvl="3" algn="just">
              <a:lnSpc>
                <a:spcPct val="130000"/>
              </a:lnSpc>
              <a:spcBef>
                <a:spcPts val="800"/>
              </a:spcBef>
            </a:pPr>
            <a:r>
              <a:rPr lang="zh-CN" altLang="en-US" sz="4400" dirty="0"/>
              <a:t>性能测试</a:t>
            </a:r>
            <a:endParaRPr lang="en-US" altLang="zh-CN" sz="4400" dirty="0"/>
          </a:p>
          <a:p>
            <a:pPr marL="1270000" lvl="2" indent="0" algn="just">
              <a:buNone/>
            </a:pPr>
            <a:endParaRPr lang="zh-CN" altLang="en-US" sz="4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0291" y="1343476"/>
            <a:ext cx="12897543" cy="10315124"/>
          </a:xfrm>
          <a:prstGeom prst="rect">
            <a:avLst/>
          </a:prstGeom>
        </p:spPr>
      </p:pic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20581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测试报告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1</a:t>
            </a:r>
            <a:endParaRPr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737970" y="2801047"/>
            <a:ext cx="7902321" cy="1023909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 algn="just"/>
            <a:r>
              <a:rPr lang="zh-CN" altLang="en-US" sz="4800" b="1" dirty="0"/>
              <a:t>测试报告的内容</a:t>
            </a:r>
            <a:endParaRPr lang="zh-CN" altLang="en-US" sz="4800" b="1" dirty="0"/>
          </a:p>
          <a:p>
            <a:pPr lvl="2" algn="just"/>
            <a:r>
              <a:rPr lang="zh-CN" altLang="en-US" sz="4800" dirty="0"/>
              <a:t>项目概况</a:t>
            </a:r>
            <a:endParaRPr lang="en-US" altLang="zh-CN" sz="4800" dirty="0"/>
          </a:p>
          <a:p>
            <a:pPr lvl="2" algn="just"/>
            <a:r>
              <a:rPr lang="zh-CN" altLang="en-US" sz="4800" b="1" dirty="0">
                <a:solidFill>
                  <a:srgbClr val="FF0000"/>
                </a:solidFill>
              </a:rPr>
              <a:t>测试结论</a:t>
            </a:r>
            <a:endParaRPr lang="en-US" altLang="zh-CN" sz="4800" b="1" dirty="0">
              <a:solidFill>
                <a:srgbClr val="FF0000"/>
              </a:solidFill>
            </a:endParaRPr>
          </a:p>
          <a:p>
            <a:pPr lvl="2" algn="just"/>
            <a:r>
              <a:rPr lang="zh-CN" altLang="en-US" sz="4800" dirty="0"/>
              <a:t>测试依据与环境</a:t>
            </a:r>
            <a:endParaRPr lang="en-US" altLang="zh-CN" sz="4800" dirty="0"/>
          </a:p>
          <a:p>
            <a:pPr lvl="2" algn="just"/>
            <a:r>
              <a:rPr lang="zh-CN" altLang="en-US" sz="4800" dirty="0"/>
              <a:t>测试结果</a:t>
            </a:r>
            <a:endParaRPr lang="en-US" altLang="zh-CN" sz="4800" dirty="0"/>
          </a:p>
          <a:p>
            <a:pPr lvl="3" algn="just">
              <a:lnSpc>
                <a:spcPct val="130000"/>
              </a:lnSpc>
              <a:spcBef>
                <a:spcPts val="800"/>
              </a:spcBef>
            </a:pPr>
            <a:r>
              <a:rPr lang="zh-CN" altLang="en-US" sz="4400" dirty="0"/>
              <a:t>安全性测试</a:t>
            </a:r>
            <a:endParaRPr lang="en-US" altLang="zh-CN" sz="4400" dirty="0"/>
          </a:p>
          <a:p>
            <a:pPr lvl="3" algn="just">
              <a:lnSpc>
                <a:spcPct val="130000"/>
              </a:lnSpc>
              <a:spcBef>
                <a:spcPts val="800"/>
              </a:spcBef>
            </a:pPr>
            <a:r>
              <a:rPr lang="zh-CN" altLang="en-US" sz="4400" dirty="0"/>
              <a:t>功能性测试</a:t>
            </a:r>
            <a:endParaRPr lang="en-US" altLang="zh-CN" sz="4400" dirty="0"/>
          </a:p>
          <a:p>
            <a:pPr lvl="3" algn="just">
              <a:lnSpc>
                <a:spcPct val="130000"/>
              </a:lnSpc>
              <a:spcBef>
                <a:spcPts val="800"/>
              </a:spcBef>
            </a:pPr>
            <a:r>
              <a:rPr lang="zh-CN" altLang="en-US" sz="4400" dirty="0"/>
              <a:t>性能测试</a:t>
            </a:r>
            <a:endParaRPr lang="en-US" altLang="zh-CN" sz="4400" dirty="0"/>
          </a:p>
          <a:p>
            <a:pPr marL="1270000" lvl="2" indent="0" algn="just">
              <a:buNone/>
            </a:pPr>
            <a:endParaRPr lang="zh-CN" altLang="en-US" sz="4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1095" y="4442715"/>
            <a:ext cx="13617005" cy="4830569"/>
          </a:xfrm>
          <a:prstGeom prst="rect">
            <a:avLst/>
          </a:prstGeom>
        </p:spPr>
      </p:pic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3757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测试报告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1</a:t>
            </a:r>
            <a:endParaRPr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737970" y="2801047"/>
            <a:ext cx="7902321" cy="1023909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 algn="just"/>
            <a:r>
              <a:rPr lang="zh-CN" altLang="en-US" sz="4800" b="1" dirty="0"/>
              <a:t>测试报告的内容</a:t>
            </a:r>
            <a:endParaRPr lang="zh-CN" altLang="en-US" sz="4800" b="1" dirty="0"/>
          </a:p>
          <a:p>
            <a:pPr lvl="2" algn="just"/>
            <a:r>
              <a:rPr lang="zh-CN" altLang="en-US" sz="4800" dirty="0"/>
              <a:t>项目概况</a:t>
            </a:r>
            <a:endParaRPr lang="en-US" altLang="zh-CN" sz="4800" dirty="0"/>
          </a:p>
          <a:p>
            <a:pPr lvl="2" algn="just"/>
            <a:r>
              <a:rPr lang="zh-CN" altLang="en-US" sz="4800" dirty="0"/>
              <a:t>测试结论</a:t>
            </a:r>
            <a:endParaRPr lang="en-US" altLang="zh-CN" sz="4800" dirty="0"/>
          </a:p>
          <a:p>
            <a:pPr lvl="2" algn="just"/>
            <a:r>
              <a:rPr lang="zh-CN" altLang="en-US" sz="4800" dirty="0"/>
              <a:t>测试依据与环境</a:t>
            </a:r>
            <a:endParaRPr lang="en-US" altLang="zh-CN" sz="4800" dirty="0"/>
          </a:p>
          <a:p>
            <a:pPr lvl="2" algn="just"/>
            <a:r>
              <a:rPr lang="zh-CN" altLang="en-US" sz="4800" b="1" dirty="0">
                <a:solidFill>
                  <a:srgbClr val="FF0000"/>
                </a:solidFill>
              </a:rPr>
              <a:t>测试结果</a:t>
            </a:r>
            <a:endParaRPr lang="en-US" altLang="zh-CN" sz="4800" b="1" dirty="0">
              <a:solidFill>
                <a:srgbClr val="FF0000"/>
              </a:solidFill>
            </a:endParaRPr>
          </a:p>
          <a:p>
            <a:pPr lvl="3" algn="just">
              <a:lnSpc>
                <a:spcPct val="130000"/>
              </a:lnSpc>
              <a:spcBef>
                <a:spcPts val="800"/>
              </a:spcBef>
            </a:pPr>
            <a:r>
              <a:rPr lang="zh-CN" altLang="en-US" sz="4400" dirty="0"/>
              <a:t>安全性测试</a:t>
            </a:r>
            <a:endParaRPr lang="en-US" altLang="zh-CN" sz="4400" dirty="0"/>
          </a:p>
          <a:p>
            <a:pPr lvl="3" algn="just">
              <a:lnSpc>
                <a:spcPct val="130000"/>
              </a:lnSpc>
              <a:spcBef>
                <a:spcPts val="800"/>
              </a:spcBef>
            </a:pPr>
            <a:r>
              <a:rPr lang="zh-CN" altLang="en-US" sz="4400" dirty="0"/>
              <a:t>功能性测试</a:t>
            </a:r>
            <a:endParaRPr lang="en-US" altLang="zh-CN" sz="4400" dirty="0"/>
          </a:p>
          <a:p>
            <a:pPr lvl="3" algn="just">
              <a:lnSpc>
                <a:spcPct val="130000"/>
              </a:lnSpc>
              <a:spcBef>
                <a:spcPts val="800"/>
              </a:spcBef>
            </a:pPr>
            <a:r>
              <a:rPr lang="zh-CN" altLang="en-US" sz="4400" dirty="0"/>
              <a:t>性能测试</a:t>
            </a:r>
            <a:endParaRPr lang="en-US" altLang="zh-CN" sz="4400" dirty="0"/>
          </a:p>
          <a:p>
            <a:pPr marL="1270000" lvl="2" indent="0" algn="just">
              <a:buNone/>
            </a:pPr>
            <a:endParaRPr lang="zh-CN" altLang="en-US" sz="4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0291" y="1600314"/>
            <a:ext cx="12164785" cy="9913744"/>
          </a:xfrm>
          <a:prstGeom prst="rect">
            <a:avLst/>
          </a:prstGeom>
        </p:spPr>
      </p:pic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7283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30" name="成组"/>
          <p:cNvGrpSpPr/>
          <p:nvPr/>
        </p:nvGrpSpPr>
        <p:grpSpPr>
          <a:xfrm>
            <a:off x="9136452" y="3163977"/>
            <a:ext cx="5947866" cy="1343465"/>
            <a:chOff x="0" y="0"/>
            <a:chExt cx="5830084" cy="1343464"/>
          </a:xfrm>
        </p:grpSpPr>
        <p:sp>
          <p:nvSpPr>
            <p:cNvPr id="127" name="矩形 5"/>
            <p:cNvSpPr txBox="1"/>
            <p:nvPr/>
          </p:nvSpPr>
          <p:spPr>
            <a:xfrm>
              <a:off x="2084780" y="244454"/>
              <a:ext cx="3745304" cy="8545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测试报告</a:t>
              </a:r>
              <a:endParaRPr lang="zh-CN" altLang="en-US" sz="4400" dirty="0">
                <a:solidFill>
                  <a:srgbClr val="000000"/>
                </a:solidFill>
              </a:endParaRPr>
            </a:p>
          </p:txBody>
        </p:sp>
        <p:sp>
          <p:nvSpPr>
            <p:cNvPr id="128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29" name="矩形 11"/>
            <p:cNvSpPr txBox="1"/>
            <p:nvPr/>
          </p:nvSpPr>
          <p:spPr>
            <a:xfrm>
              <a:off x="0" y="18973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01</a:t>
              </a:r>
            </a:p>
          </p:txBody>
        </p:sp>
      </p:grpSp>
      <p:sp>
        <p:nvSpPr>
          <p:cNvPr id="134" name="矩形 5"/>
          <p:cNvSpPr txBox="1"/>
          <p:nvPr/>
        </p:nvSpPr>
        <p:spPr>
          <a:xfrm>
            <a:off x="11263349" y="5291213"/>
            <a:ext cx="5682868" cy="71519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b="1" dirty="0">
                <a:solidFill>
                  <a:srgbClr val="FF0000"/>
                </a:solidFill>
              </a:rPr>
              <a:t>缺陷跟踪系统</a:t>
            </a:r>
            <a:endParaRPr sz="4400" b="1" dirty="0">
              <a:solidFill>
                <a:srgbClr val="FF0000"/>
              </a:solidFill>
            </a:endParaRPr>
          </a:p>
        </p:txBody>
      </p:sp>
      <p:sp>
        <p:nvSpPr>
          <p:cNvPr id="135" name="Freeform 5"/>
          <p:cNvSpPr/>
          <p:nvPr/>
        </p:nvSpPr>
        <p:spPr>
          <a:xfrm rot="5400000">
            <a:off x="9259567" y="5071805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36" name="矩形 11"/>
          <p:cNvSpPr txBox="1"/>
          <p:nvPr/>
        </p:nvSpPr>
        <p:spPr>
          <a:xfrm>
            <a:off x="9136452" y="5166812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02</a:t>
            </a:r>
          </a:p>
        </p:txBody>
      </p:sp>
      <p:sp>
        <p:nvSpPr>
          <p:cNvPr id="138" name="矩形 5"/>
          <p:cNvSpPr txBox="1"/>
          <p:nvPr/>
        </p:nvSpPr>
        <p:spPr>
          <a:xfrm>
            <a:off x="11263350" y="7171246"/>
            <a:ext cx="7273128" cy="6925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chemeClr val="tx1"/>
                </a:solidFill>
              </a:rPr>
              <a:t>小结</a:t>
            </a:r>
            <a:endParaRPr sz="4400" dirty="0">
              <a:solidFill>
                <a:schemeClr val="tx1"/>
              </a:solidFill>
            </a:endParaRPr>
          </a:p>
        </p:txBody>
      </p:sp>
      <p:sp>
        <p:nvSpPr>
          <p:cNvPr id="139" name="Freeform 5"/>
          <p:cNvSpPr/>
          <p:nvPr/>
        </p:nvSpPr>
        <p:spPr>
          <a:xfrm rot="5400000">
            <a:off x="9259567" y="6925852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40" name="矩形 11"/>
          <p:cNvSpPr txBox="1"/>
          <p:nvPr/>
        </p:nvSpPr>
        <p:spPr>
          <a:xfrm>
            <a:off x="9136452" y="7061804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03</a:t>
            </a:r>
            <a:endParaRPr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spd="med" advTm="3787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缺陷跟踪系统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737970" y="2801047"/>
            <a:ext cx="20453334" cy="1023909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 algn="just"/>
            <a:r>
              <a:rPr lang="en-US" altLang="zh-CN" sz="4800" b="1" dirty="0"/>
              <a:t>Jira</a:t>
            </a:r>
            <a:r>
              <a:rPr lang="zh-CN" altLang="en-US" sz="4800" b="1" dirty="0"/>
              <a:t>介绍</a:t>
            </a:r>
            <a:endParaRPr lang="zh-CN" altLang="en-US" sz="4800" b="1" dirty="0"/>
          </a:p>
          <a:p>
            <a:pPr lvl="2" algn="just"/>
            <a:r>
              <a:rPr lang="en-US" altLang="zh-CN" sz="4800" dirty="0"/>
              <a:t>Jira</a:t>
            </a:r>
            <a:r>
              <a:rPr lang="zh-CN" altLang="en-US" sz="4800" dirty="0"/>
              <a:t>是</a:t>
            </a:r>
            <a:r>
              <a:rPr lang="en-US" sz="4800" dirty="0"/>
              <a:t>Atlassian</a:t>
            </a:r>
            <a:r>
              <a:rPr lang="zh-CN" altLang="en-US" sz="4800" dirty="0"/>
              <a:t>公司出品的项目管理工具，诞生于</a:t>
            </a:r>
            <a:r>
              <a:rPr lang="en-US" altLang="zh-CN" sz="4800" dirty="0"/>
              <a:t>2003</a:t>
            </a:r>
            <a:r>
              <a:rPr lang="zh-CN" altLang="en-US" sz="4800" dirty="0"/>
              <a:t>年。</a:t>
            </a:r>
            <a:endParaRPr lang="en-US" altLang="zh-CN" sz="4800" dirty="0"/>
          </a:p>
          <a:p>
            <a:pPr lvl="2" algn="just"/>
            <a:r>
              <a:rPr lang="en-US" altLang="zh-CN" sz="4800" dirty="0"/>
              <a:t>Jira</a:t>
            </a:r>
            <a:r>
              <a:rPr lang="zh-CN" altLang="en-US" sz="4800" dirty="0"/>
              <a:t>主要用于跟踪和管理软件开发过程中的缺陷。</a:t>
            </a:r>
            <a:endParaRPr lang="en-US" altLang="zh-CN" sz="4800" dirty="0"/>
          </a:p>
          <a:p>
            <a:pPr lvl="2" algn="just"/>
            <a:r>
              <a:rPr lang="zh-CN" altLang="en-US" sz="4800" dirty="0"/>
              <a:t>官网地址：</a:t>
            </a:r>
            <a:r>
              <a:rPr lang="en-US" altLang="zh-CN" sz="4800" dirty="0"/>
              <a:t>https://www.atlassian.com/zh/software/jira</a:t>
            </a:r>
            <a:endParaRPr lang="en-US" altLang="zh-CN" sz="4800" dirty="0"/>
          </a:p>
          <a:p>
            <a:pPr marL="1270000" lvl="2" indent="0" algn="just">
              <a:buNone/>
            </a:pPr>
            <a:endParaRPr lang="zh-CN" altLang="en-US" sz="4800"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2722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缺陷跟踪系统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1321" y="2480312"/>
            <a:ext cx="16701358" cy="9779503"/>
          </a:xfrm>
          <a:prstGeom prst="rect">
            <a:avLst/>
          </a:prstGeom>
        </p:spPr>
      </p:pic>
      <p:sp>
        <p:nvSpPr>
          <p:cNvPr id="4" name="Speech Bubble: Rectangle with Corners Rounded 3"/>
          <p:cNvSpPr/>
          <p:nvPr/>
        </p:nvSpPr>
        <p:spPr>
          <a:xfrm>
            <a:off x="20015200" y="4322064"/>
            <a:ext cx="4152900" cy="1310640"/>
          </a:xfrm>
          <a:prstGeom prst="wedgeRoundRectCallout">
            <a:avLst>
              <a:gd name="adj1" fmla="val -50948"/>
              <a:gd name="adj2" fmla="val -97154"/>
              <a:gd name="adj3" fmla="val 16667"/>
            </a:avLst>
          </a:prstGeom>
          <a:solidFill>
            <a:schemeClr val="bg1"/>
          </a:solidFill>
          <a:ln w="60325" cap="sq">
            <a:solidFill>
              <a:srgbClr val="FFC000"/>
            </a:solidFill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r>
              <a:rPr lang="zh-CN" altLang="en-US" sz="3200" dirty="0"/>
              <a:t>登录项目管理员账号</a:t>
            </a:r>
            <a:endParaRPr lang="en-US" altLang="zh-CN" sz="3200" dirty="0"/>
          </a:p>
          <a:p>
            <a:r>
              <a:rPr lang="en-US" sz="3200" dirty="0"/>
              <a:t>(</a:t>
            </a:r>
            <a:r>
              <a:rPr lang="zh-CN" altLang="en-US" sz="3200" dirty="0"/>
              <a:t>无账号需要先注册</a:t>
            </a:r>
            <a:r>
              <a:rPr lang="en-US" sz="3200" dirty="0"/>
              <a:t>)</a:t>
            </a:r>
            <a:endParaRPr lang="en-US" sz="3200"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1886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缺陷跟踪系统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lang="en-US" altLang="zh-CN" dirty="0"/>
              <a:t>02</a:t>
            </a:r>
            <a:endParaRPr lang="zh-CN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2553" y="2353059"/>
            <a:ext cx="16701358" cy="9741401"/>
          </a:xfrm>
          <a:prstGeom prst="rect">
            <a:avLst/>
          </a:prstGeom>
        </p:spPr>
      </p:pic>
      <p:sp>
        <p:nvSpPr>
          <p:cNvPr id="11" name="Speech Bubble: Rectangle with Corners Rounded 10"/>
          <p:cNvSpPr/>
          <p:nvPr/>
        </p:nvSpPr>
        <p:spPr>
          <a:xfrm>
            <a:off x="5295392" y="10190480"/>
            <a:ext cx="4152900" cy="1310640"/>
          </a:xfrm>
          <a:prstGeom prst="wedgeRoundRectCallout">
            <a:avLst>
              <a:gd name="adj1" fmla="val -51315"/>
              <a:gd name="adj2" fmla="val -96573"/>
              <a:gd name="adj3" fmla="val 16667"/>
            </a:avLst>
          </a:prstGeom>
          <a:solidFill>
            <a:schemeClr val="bg1"/>
          </a:solidFill>
          <a:ln w="60325" cap="sq">
            <a:solidFill>
              <a:srgbClr val="FFC000"/>
            </a:solidFill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r>
              <a:rPr lang="zh-CN" altLang="en-US" sz="3200" dirty="0"/>
              <a:t>登录成功后，选择试用</a:t>
            </a:r>
            <a:r>
              <a:rPr lang="en-US" altLang="zh-CN" sz="3200" dirty="0"/>
              <a:t>Jira Software</a:t>
            </a:r>
            <a:endParaRPr lang="en-US" sz="3200"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849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缺陷跟踪系统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lang="en-US" altLang="zh-CN" dirty="0"/>
              <a:t>02</a:t>
            </a:r>
            <a:endParaRPr lang="zh-CN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1321" y="2688085"/>
            <a:ext cx="16701358" cy="9754101"/>
          </a:xfrm>
          <a:prstGeom prst="rect">
            <a:avLst/>
          </a:prstGeom>
        </p:spPr>
      </p:pic>
      <p:sp>
        <p:nvSpPr>
          <p:cNvPr id="11" name="Speech Bubble: Rectangle with Corners Rounded 10"/>
          <p:cNvSpPr/>
          <p:nvPr/>
        </p:nvSpPr>
        <p:spPr>
          <a:xfrm>
            <a:off x="6035040" y="9719056"/>
            <a:ext cx="3474720" cy="1042894"/>
          </a:xfrm>
          <a:prstGeom prst="wedgeRoundRectCallout">
            <a:avLst>
              <a:gd name="adj1" fmla="val -39697"/>
              <a:gd name="adj2" fmla="val -100996"/>
              <a:gd name="adj3" fmla="val 16667"/>
            </a:avLst>
          </a:prstGeom>
          <a:solidFill>
            <a:schemeClr val="bg1"/>
          </a:solidFill>
          <a:ln w="60325" cap="sq">
            <a:solidFill>
              <a:srgbClr val="FFC000"/>
            </a:solidFill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r>
              <a:rPr lang="zh-CN" altLang="en-US" sz="3200" dirty="0"/>
              <a:t>点击“免费获取”</a:t>
            </a:r>
            <a:endParaRPr lang="en-US" sz="3200"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786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缺陷跟踪系统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lang="en-US" altLang="zh-CN" dirty="0"/>
              <a:t>02</a:t>
            </a:r>
            <a:endParaRPr lang="zh-CN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1321" y="2579883"/>
            <a:ext cx="16701358" cy="9677897"/>
          </a:xfrm>
          <a:prstGeom prst="rect">
            <a:avLst/>
          </a:prstGeom>
        </p:spPr>
      </p:pic>
      <p:sp>
        <p:nvSpPr>
          <p:cNvPr id="11" name="Speech Bubble: Rectangle with Corners Rounded 10"/>
          <p:cNvSpPr/>
          <p:nvPr/>
        </p:nvSpPr>
        <p:spPr>
          <a:xfrm>
            <a:off x="4145280" y="10873232"/>
            <a:ext cx="4328160" cy="1042894"/>
          </a:xfrm>
          <a:prstGeom prst="wedgeRoundRectCallout">
            <a:avLst>
              <a:gd name="adj1" fmla="val 32291"/>
              <a:gd name="adj2" fmla="val -104406"/>
              <a:gd name="adj3" fmla="val 16667"/>
            </a:avLst>
          </a:prstGeom>
          <a:solidFill>
            <a:schemeClr val="bg1"/>
          </a:solidFill>
          <a:ln w="60325" cap="sq">
            <a:solidFill>
              <a:srgbClr val="FFC000"/>
            </a:solidFill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r>
              <a:rPr lang="zh-CN" altLang="en-US" sz="3200" dirty="0"/>
              <a:t>选择“</a:t>
            </a:r>
            <a:r>
              <a:rPr lang="en-US" altLang="zh-CN" sz="3200" dirty="0"/>
              <a:t>Jira Software</a:t>
            </a:r>
            <a:r>
              <a:rPr lang="zh-CN" altLang="en-US" sz="3200" dirty="0"/>
              <a:t>”</a:t>
            </a:r>
            <a:endParaRPr lang="en-US" sz="3200"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1476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缺陷跟踪系统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lang="en-US" altLang="zh-CN" dirty="0"/>
              <a:t>02</a:t>
            </a:r>
            <a:endParaRPr lang="zh-CN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7671" y="2742186"/>
            <a:ext cx="16688658" cy="9792203"/>
          </a:xfrm>
          <a:prstGeom prst="rect">
            <a:avLst/>
          </a:prstGeom>
        </p:spPr>
      </p:pic>
      <p:sp>
        <p:nvSpPr>
          <p:cNvPr id="11" name="Speech Bubble: Rectangle with Corners Rounded 10"/>
          <p:cNvSpPr/>
          <p:nvPr/>
        </p:nvSpPr>
        <p:spPr>
          <a:xfrm>
            <a:off x="7863840" y="8349488"/>
            <a:ext cx="4328160" cy="1042894"/>
          </a:xfrm>
          <a:prstGeom prst="wedgeRoundRectCallout">
            <a:avLst>
              <a:gd name="adj1" fmla="val 59360"/>
              <a:gd name="adj2" fmla="val -110007"/>
              <a:gd name="adj3" fmla="val 16667"/>
            </a:avLst>
          </a:prstGeom>
          <a:solidFill>
            <a:schemeClr val="bg1"/>
          </a:solidFill>
          <a:ln w="60325" cap="sq">
            <a:solidFill>
              <a:srgbClr val="FFC000"/>
            </a:solidFill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r>
              <a:rPr lang="zh-CN" altLang="en-US" sz="3200" dirty="0"/>
              <a:t>定制自己的</a:t>
            </a:r>
            <a:r>
              <a:rPr lang="en-US" altLang="zh-CN" sz="3200" dirty="0"/>
              <a:t>web</a:t>
            </a:r>
            <a:r>
              <a:rPr lang="zh-CN" altLang="en-US" sz="3200" dirty="0"/>
              <a:t>地址</a:t>
            </a:r>
            <a:endParaRPr lang="en-US" sz="3200"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1935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缺陷跟踪系统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lang="en-US" altLang="zh-CN" dirty="0"/>
              <a:t>02</a:t>
            </a:r>
            <a:endParaRPr lang="zh-CN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1321" y="2889507"/>
            <a:ext cx="16701358" cy="9741401"/>
          </a:xfrm>
          <a:prstGeom prst="rect">
            <a:avLst/>
          </a:prstGeom>
        </p:spPr>
      </p:pic>
      <p:sp>
        <p:nvSpPr>
          <p:cNvPr id="12" name="Speech Bubble: Rectangle with Corners Rounded 11"/>
          <p:cNvSpPr/>
          <p:nvPr/>
        </p:nvSpPr>
        <p:spPr>
          <a:xfrm>
            <a:off x="10322560" y="4732528"/>
            <a:ext cx="4328160" cy="1329160"/>
          </a:xfrm>
          <a:prstGeom prst="wedgeRoundRectCallout">
            <a:avLst>
              <a:gd name="adj1" fmla="val -67159"/>
              <a:gd name="adj2" fmla="val -38966"/>
              <a:gd name="adj3" fmla="val 16667"/>
            </a:avLst>
          </a:prstGeom>
          <a:solidFill>
            <a:schemeClr val="bg1"/>
          </a:solidFill>
          <a:ln w="60325" cap="sq">
            <a:solidFill>
              <a:srgbClr val="FFC000"/>
            </a:solidFill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r>
              <a:rPr lang="zh-CN" altLang="en-US" sz="3200" dirty="0"/>
              <a:t>选择“软件”</a:t>
            </a:r>
            <a:endParaRPr lang="en-US" altLang="zh-CN" sz="3200" dirty="0"/>
          </a:p>
          <a:p>
            <a:r>
              <a:rPr lang="en-US" sz="3200" dirty="0"/>
              <a:t>(</a:t>
            </a:r>
            <a:r>
              <a:rPr lang="zh-CN" altLang="en-US" sz="3200" dirty="0"/>
              <a:t>另一个选项是“业务”</a:t>
            </a:r>
            <a:r>
              <a:rPr lang="en-US" sz="3200" dirty="0"/>
              <a:t>)</a:t>
            </a:r>
            <a:endParaRPr lang="en-US" sz="3200" dirty="0"/>
          </a:p>
        </p:txBody>
      </p:sp>
      <p:sp>
        <p:nvSpPr>
          <p:cNvPr id="13" name="Speech Bubble: Rectangle with Corners Rounded 12"/>
          <p:cNvSpPr/>
          <p:nvPr/>
        </p:nvSpPr>
        <p:spPr>
          <a:xfrm>
            <a:off x="18647839" y="9574548"/>
            <a:ext cx="3789680" cy="979660"/>
          </a:xfrm>
          <a:prstGeom prst="wedgeRoundRectCallout">
            <a:avLst>
              <a:gd name="adj1" fmla="val -72701"/>
              <a:gd name="adj2" fmla="val -92996"/>
              <a:gd name="adj3" fmla="val 16667"/>
            </a:avLst>
          </a:prstGeom>
          <a:solidFill>
            <a:schemeClr val="bg1"/>
          </a:solidFill>
          <a:ln w="60325" cap="sq">
            <a:solidFill>
              <a:srgbClr val="FFC000"/>
            </a:solidFill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r>
              <a:rPr lang="zh-CN" altLang="en-US" sz="3200" dirty="0"/>
              <a:t>选择“缺陷跟踪”</a:t>
            </a:r>
            <a:endParaRPr lang="en-US" sz="3200"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2532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缺陷跟踪系统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lang="en-US" altLang="zh-CN" dirty="0"/>
              <a:t>02</a:t>
            </a:r>
            <a:endParaRPr lang="zh-CN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1321" y="2745238"/>
            <a:ext cx="16701358" cy="9639795"/>
          </a:xfrm>
          <a:prstGeom prst="rect">
            <a:avLst/>
          </a:prstGeom>
        </p:spPr>
      </p:pic>
      <p:sp>
        <p:nvSpPr>
          <p:cNvPr id="13" name="Speech Bubble: Rectangle with Corners Rounded 12"/>
          <p:cNvSpPr/>
          <p:nvPr/>
        </p:nvSpPr>
        <p:spPr>
          <a:xfrm>
            <a:off x="5171928" y="5357770"/>
            <a:ext cx="3789680" cy="979660"/>
          </a:xfrm>
          <a:prstGeom prst="wedgeRoundRectCallout">
            <a:avLst>
              <a:gd name="adj1" fmla="val 73161"/>
              <a:gd name="adj2" fmla="val 57544"/>
              <a:gd name="adj3" fmla="val 16667"/>
            </a:avLst>
          </a:prstGeom>
          <a:solidFill>
            <a:schemeClr val="bg1"/>
          </a:solidFill>
          <a:ln w="60325" cap="sq">
            <a:solidFill>
              <a:srgbClr val="FFC000"/>
            </a:solidFill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r>
              <a:rPr lang="zh-CN" altLang="en-US" sz="3200" dirty="0"/>
              <a:t>设置项目名</a:t>
            </a:r>
            <a:endParaRPr lang="en-US" sz="3200" dirty="0"/>
          </a:p>
        </p:txBody>
      </p:sp>
      <p:sp>
        <p:nvSpPr>
          <p:cNvPr id="14" name="Speech Bubble: Rectangle with Corners Rounded 13"/>
          <p:cNvSpPr/>
          <p:nvPr/>
        </p:nvSpPr>
        <p:spPr>
          <a:xfrm>
            <a:off x="5171928" y="7985536"/>
            <a:ext cx="3789680" cy="979660"/>
          </a:xfrm>
          <a:prstGeom prst="wedgeRoundRectCallout">
            <a:avLst>
              <a:gd name="adj1" fmla="val 73194"/>
              <a:gd name="adj2" fmla="val -56406"/>
              <a:gd name="adj3" fmla="val 16667"/>
            </a:avLst>
          </a:prstGeom>
          <a:solidFill>
            <a:schemeClr val="bg1"/>
          </a:solidFill>
          <a:ln w="60325" cap="sq">
            <a:solidFill>
              <a:srgbClr val="FFC000"/>
            </a:solidFill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r>
              <a:rPr lang="zh-CN" altLang="en-US" sz="3200" dirty="0"/>
              <a:t>设置事务键的前缀</a:t>
            </a:r>
            <a:endParaRPr lang="en-US" sz="3200"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3297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缺陷跟踪系统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lang="en-US" altLang="zh-CN" dirty="0"/>
              <a:t>02</a:t>
            </a:r>
            <a:endParaRPr lang="zh-CN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1321" y="2645159"/>
            <a:ext cx="16701358" cy="97668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12140419"/>
            <a:ext cx="24384000" cy="841256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altLang="zh-CN" sz="4800" dirty="0"/>
              <a:t>Jira</a:t>
            </a:r>
            <a:r>
              <a:rPr lang="zh-CN" altLang="en-US" sz="4800" dirty="0"/>
              <a:t>项目的初始页面</a:t>
            </a:r>
            <a:endParaRPr lang="en-US" sz="4800" dirty="0"/>
          </a:p>
        </p:txBody>
      </p:sp>
      <p:sp>
        <p:nvSpPr>
          <p:cNvPr id="3" name="Flowchart: Process 2"/>
          <p:cNvSpPr/>
          <p:nvPr/>
        </p:nvSpPr>
        <p:spPr>
          <a:xfrm>
            <a:off x="7294880" y="4165600"/>
            <a:ext cx="12964160" cy="7965440"/>
          </a:xfrm>
          <a:prstGeom prst="flowChartProcess">
            <a:avLst/>
          </a:prstGeom>
          <a:noFill/>
          <a:ln w="38100" cap="flat">
            <a:solidFill>
              <a:srgbClr val="FF0000"/>
            </a:solidFill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1" name="Flowchart: Process 10"/>
          <p:cNvSpPr/>
          <p:nvPr/>
        </p:nvSpPr>
        <p:spPr>
          <a:xfrm flipH="1">
            <a:off x="4124960" y="5821680"/>
            <a:ext cx="2641600" cy="4754880"/>
          </a:xfrm>
          <a:prstGeom prst="flowChartProcess">
            <a:avLst/>
          </a:prstGeom>
          <a:noFill/>
          <a:ln w="38100" cap="flat">
            <a:solidFill>
              <a:srgbClr val="FF0000"/>
            </a:solidFill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3" name="Speech Bubble: Rectangle with Corners Rounded 12"/>
          <p:cNvSpPr/>
          <p:nvPr/>
        </p:nvSpPr>
        <p:spPr>
          <a:xfrm>
            <a:off x="21070998" y="5821680"/>
            <a:ext cx="2925239" cy="1940560"/>
          </a:xfrm>
          <a:prstGeom prst="wedgeRoundRectCallout">
            <a:avLst>
              <a:gd name="adj1" fmla="val -78547"/>
              <a:gd name="adj2" fmla="val -31175"/>
              <a:gd name="adj3" fmla="val 16667"/>
            </a:avLst>
          </a:prstGeom>
          <a:solidFill>
            <a:schemeClr val="bg1"/>
          </a:solidFill>
          <a:ln w="60325" cap="sq">
            <a:solidFill>
              <a:srgbClr val="FFC000"/>
            </a:solidFill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r>
              <a:rPr lang="zh-CN" altLang="en-US" sz="3200" dirty="0"/>
              <a:t>主面板，显示事务的分类及详细信息</a:t>
            </a:r>
            <a:endParaRPr lang="en-US" sz="3200" dirty="0"/>
          </a:p>
        </p:txBody>
      </p:sp>
      <p:sp>
        <p:nvSpPr>
          <p:cNvPr id="14" name="Speech Bubble: Rectangle with Corners Rounded 13"/>
          <p:cNvSpPr/>
          <p:nvPr/>
        </p:nvSpPr>
        <p:spPr>
          <a:xfrm>
            <a:off x="304800" y="7375770"/>
            <a:ext cx="2869272" cy="1565030"/>
          </a:xfrm>
          <a:prstGeom prst="wedgeRoundRectCallout">
            <a:avLst>
              <a:gd name="adj1" fmla="val 78632"/>
              <a:gd name="adj2" fmla="val -19788"/>
              <a:gd name="adj3" fmla="val 16667"/>
            </a:avLst>
          </a:prstGeom>
          <a:solidFill>
            <a:schemeClr val="bg1"/>
          </a:solidFill>
          <a:ln w="60325" cap="sq">
            <a:solidFill>
              <a:srgbClr val="FFC000"/>
            </a:solidFill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r>
              <a:rPr lang="zh-CN" altLang="en-US" sz="3200" dirty="0"/>
              <a:t>常用的事务</a:t>
            </a:r>
            <a:endParaRPr lang="en-US" altLang="zh-CN" sz="3200" dirty="0"/>
          </a:p>
          <a:p>
            <a:r>
              <a:rPr lang="zh-CN" altLang="en-US" sz="3200" dirty="0"/>
              <a:t>筛选器</a:t>
            </a:r>
            <a:endParaRPr lang="en-US" sz="3200"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3672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缺陷跟踪系统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lang="en-US" altLang="zh-CN" dirty="0"/>
              <a:t>02</a:t>
            </a:r>
            <a:endParaRPr lang="zh-CN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1321" y="2597408"/>
            <a:ext cx="16701358" cy="9715999"/>
          </a:xfrm>
          <a:prstGeom prst="rect">
            <a:avLst/>
          </a:prstGeom>
        </p:spPr>
      </p:pic>
      <p:sp>
        <p:nvSpPr>
          <p:cNvPr id="8" name="Speech Bubble: Rectangle with Corners Rounded 7"/>
          <p:cNvSpPr/>
          <p:nvPr/>
        </p:nvSpPr>
        <p:spPr>
          <a:xfrm>
            <a:off x="13025120" y="5890768"/>
            <a:ext cx="4348480" cy="944880"/>
          </a:xfrm>
          <a:prstGeom prst="wedgeRoundRectCallout">
            <a:avLst>
              <a:gd name="adj1" fmla="val -66321"/>
              <a:gd name="adj2" fmla="val -38339"/>
              <a:gd name="adj3" fmla="val 16667"/>
            </a:avLst>
          </a:prstGeom>
          <a:solidFill>
            <a:schemeClr val="bg1"/>
          </a:solidFill>
          <a:ln w="60325" cap="sq">
            <a:solidFill>
              <a:srgbClr val="FFC000"/>
            </a:solidFill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r>
              <a:rPr lang="zh-CN" altLang="en-US" sz="3200" dirty="0"/>
              <a:t>邀请参与项目的成员</a:t>
            </a:r>
            <a:endParaRPr lang="en-US" sz="3200"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2008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缺陷跟踪系统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lang="en-US" altLang="zh-CN" dirty="0"/>
              <a:t>02</a:t>
            </a:r>
            <a:endParaRPr lang="zh-CN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1321" y="2638300"/>
            <a:ext cx="16701358" cy="9804904"/>
          </a:xfrm>
          <a:prstGeom prst="rect">
            <a:avLst/>
          </a:prstGeom>
        </p:spPr>
      </p:pic>
      <p:sp>
        <p:nvSpPr>
          <p:cNvPr id="11" name="Speech Bubble: Rectangle with Corners Rounded 10"/>
          <p:cNvSpPr/>
          <p:nvPr/>
        </p:nvSpPr>
        <p:spPr>
          <a:xfrm>
            <a:off x="10641000" y="1486952"/>
            <a:ext cx="2274628" cy="871735"/>
          </a:xfrm>
          <a:prstGeom prst="wedgeRoundRectCallout">
            <a:avLst>
              <a:gd name="adj1" fmla="val 40423"/>
              <a:gd name="adj2" fmla="val 164081"/>
              <a:gd name="adj3" fmla="val 16667"/>
            </a:avLst>
          </a:prstGeom>
          <a:solidFill>
            <a:schemeClr val="bg1"/>
          </a:solidFill>
          <a:ln w="60325" cap="sq">
            <a:solidFill>
              <a:srgbClr val="FFC000"/>
            </a:solidFill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r>
              <a:rPr lang="zh-CN" altLang="en-US" sz="3200" dirty="0"/>
              <a:t>创建事务</a:t>
            </a:r>
            <a:endParaRPr lang="en-US" sz="3200" dirty="0"/>
          </a:p>
        </p:txBody>
      </p:sp>
      <p:sp>
        <p:nvSpPr>
          <p:cNvPr id="12" name="Speech Bubble: Rectangle with Corners Rounded 11"/>
          <p:cNvSpPr/>
          <p:nvPr/>
        </p:nvSpPr>
        <p:spPr>
          <a:xfrm>
            <a:off x="14686222" y="2191797"/>
            <a:ext cx="4028498" cy="871735"/>
          </a:xfrm>
          <a:prstGeom prst="wedgeRoundRectCallout">
            <a:avLst>
              <a:gd name="adj1" fmla="val -10181"/>
              <a:gd name="adj2" fmla="val 157088"/>
              <a:gd name="adj3" fmla="val 16667"/>
            </a:avLst>
          </a:prstGeom>
          <a:solidFill>
            <a:schemeClr val="bg1"/>
          </a:solidFill>
          <a:ln w="60325" cap="sq">
            <a:solidFill>
              <a:srgbClr val="FFC000"/>
            </a:solidFill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r>
              <a:rPr lang="zh-CN" altLang="en-US" sz="3200" dirty="0"/>
              <a:t>配置事务的字段</a:t>
            </a:r>
            <a:endParaRPr lang="en-US" sz="3200" dirty="0"/>
          </a:p>
        </p:txBody>
      </p:sp>
      <p:sp>
        <p:nvSpPr>
          <p:cNvPr id="13" name="Speech Bubble: Rectangle with Corners Rounded 12"/>
          <p:cNvSpPr/>
          <p:nvPr/>
        </p:nvSpPr>
        <p:spPr>
          <a:xfrm>
            <a:off x="10464800" y="4219992"/>
            <a:ext cx="3172188" cy="871735"/>
          </a:xfrm>
          <a:prstGeom prst="wedgeRoundRectCallout">
            <a:avLst>
              <a:gd name="adj1" fmla="val 118545"/>
              <a:gd name="adj2" fmla="val 17229"/>
              <a:gd name="adj3" fmla="val 16667"/>
            </a:avLst>
          </a:prstGeom>
          <a:solidFill>
            <a:schemeClr val="bg1"/>
          </a:solidFill>
          <a:ln w="60325" cap="sq">
            <a:solidFill>
              <a:srgbClr val="FFC000"/>
            </a:solidFill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r>
              <a:rPr lang="zh-CN" altLang="en-US" sz="3200" dirty="0"/>
              <a:t>选择“自定义”</a:t>
            </a:r>
            <a:endParaRPr lang="en-US" sz="3200" dirty="0"/>
          </a:p>
        </p:txBody>
      </p:sp>
      <p:sp>
        <p:nvSpPr>
          <p:cNvPr id="16" name="Speech Bubble: Rectangle with Corners Rounded 15"/>
          <p:cNvSpPr/>
          <p:nvPr/>
        </p:nvSpPr>
        <p:spPr>
          <a:xfrm>
            <a:off x="10192220" y="6618227"/>
            <a:ext cx="3172188" cy="871735"/>
          </a:xfrm>
          <a:prstGeom prst="wedgeRoundRectCallout">
            <a:avLst>
              <a:gd name="adj1" fmla="val 84595"/>
              <a:gd name="adj2" fmla="val -10743"/>
              <a:gd name="adj3" fmla="val 16667"/>
            </a:avLst>
          </a:prstGeom>
          <a:solidFill>
            <a:schemeClr val="bg1"/>
          </a:solidFill>
          <a:ln w="60325" cap="sq">
            <a:solidFill>
              <a:srgbClr val="FFC000"/>
            </a:solidFill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r>
              <a:rPr lang="zh-CN" altLang="en-US" sz="3200" dirty="0"/>
              <a:t>选择需要的字段</a:t>
            </a:r>
            <a:endParaRPr lang="en-US" sz="3200"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2323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缺陷跟踪系统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lang="en-US" altLang="zh-CN" dirty="0"/>
              <a:t>02</a:t>
            </a:r>
            <a:endParaRPr lang="zh-CN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4467" y="2377952"/>
            <a:ext cx="16701358" cy="97159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12140419"/>
            <a:ext cx="24384000" cy="841256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zh-CN" altLang="en-US" sz="4800" dirty="0"/>
              <a:t>填写事务的字段</a:t>
            </a:r>
            <a:endParaRPr lang="en-US" altLang="zh-CN" sz="4800" dirty="0"/>
          </a:p>
        </p:txBody>
      </p:sp>
      <p:sp>
        <p:nvSpPr>
          <p:cNvPr id="5" name="TextBox 4"/>
          <p:cNvSpPr txBox="1"/>
          <p:nvPr/>
        </p:nvSpPr>
        <p:spPr>
          <a:xfrm>
            <a:off x="20318839" y="1600314"/>
            <a:ext cx="3816626" cy="10056086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just" defTabSz="8255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事务类型：</a:t>
            </a:r>
            <a:endParaRPr kumimoji="0" lang="en-US" altLang="zh-CN" sz="4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indent="-457200" algn="just" defTabSz="82550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4400" b="0" dirty="0"/>
              <a:t>缺陷</a:t>
            </a:r>
            <a:endParaRPr lang="en-US" altLang="zh-CN" sz="4400" b="0" dirty="0"/>
          </a:p>
          <a:p>
            <a:pPr marL="457200" marR="0" indent="-457200" algn="just" defTabSz="82550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zh-CN" altLang="en-US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改进</a:t>
            </a:r>
            <a:endParaRPr kumimoji="0" lang="en-US" altLang="zh-CN" sz="4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indent="-457200" algn="just" defTabSz="82550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4400" b="0" dirty="0"/>
              <a:t>任务</a:t>
            </a:r>
            <a:endParaRPr lang="en-US" altLang="zh-CN" sz="4400" b="0" dirty="0"/>
          </a:p>
          <a:p>
            <a:pPr marL="457200" marR="0" indent="-457200" algn="just" defTabSz="82550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zh-CN" altLang="en-US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新增功能</a:t>
            </a:r>
            <a:endParaRPr kumimoji="0" lang="en-US" altLang="zh-CN" sz="4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indent="-457200" algn="just" defTabSz="82550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4400" b="0" dirty="0"/>
              <a:t>长篇故事</a:t>
            </a:r>
            <a:endParaRPr lang="en-US" altLang="zh-CN" sz="4400" b="0" dirty="0"/>
          </a:p>
          <a:p>
            <a:pPr algn="just">
              <a:lnSpc>
                <a:spcPct val="150000"/>
              </a:lnSpc>
            </a:pPr>
            <a:r>
              <a:rPr lang="zh-CN" altLang="en-US" sz="4400" dirty="0"/>
              <a:t>描述：</a:t>
            </a:r>
            <a:endParaRPr lang="en-US" altLang="zh-CN" sz="4400" dirty="0"/>
          </a:p>
          <a:p>
            <a:pPr marL="457200" indent="-457200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4400" b="0" dirty="0"/>
              <a:t>预置条件</a:t>
            </a:r>
            <a:endParaRPr lang="en-US" altLang="zh-CN" sz="4400" b="0" dirty="0"/>
          </a:p>
          <a:p>
            <a:pPr marL="457200" indent="-457200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4400" b="0" dirty="0"/>
              <a:t>重现步骤</a:t>
            </a:r>
            <a:endParaRPr lang="en-US" altLang="zh-CN" sz="4400" b="0" dirty="0"/>
          </a:p>
          <a:p>
            <a:pPr marL="457200" indent="-457200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4400" b="0" dirty="0"/>
              <a:t>期望结果</a:t>
            </a:r>
            <a:endParaRPr lang="en-US" altLang="zh-CN" sz="4400" b="0" dirty="0"/>
          </a:p>
          <a:p>
            <a:pPr marL="457200" indent="-457200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4400" b="0" dirty="0"/>
              <a:t>真实结果</a:t>
            </a:r>
            <a:endParaRPr kumimoji="0" lang="en-US" sz="4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" name="Speech Bubble: Rectangle with Corners Rounded 7"/>
          <p:cNvSpPr/>
          <p:nvPr/>
        </p:nvSpPr>
        <p:spPr>
          <a:xfrm>
            <a:off x="10464800" y="3915192"/>
            <a:ext cx="4693920" cy="871735"/>
          </a:xfrm>
          <a:prstGeom prst="wedgeRoundRectCallout">
            <a:avLst>
              <a:gd name="adj1" fmla="val -74558"/>
              <a:gd name="adj2" fmla="val 68511"/>
              <a:gd name="adj3" fmla="val 16667"/>
            </a:avLst>
          </a:prstGeom>
          <a:solidFill>
            <a:schemeClr val="bg1"/>
          </a:solidFill>
          <a:ln w="60325" cap="sq">
            <a:solidFill>
              <a:srgbClr val="FFC000"/>
            </a:solidFill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r>
              <a:rPr lang="zh-CN" altLang="en-US" sz="3200" dirty="0"/>
              <a:t>选择事务所属的项目</a:t>
            </a:r>
            <a:endParaRPr lang="en-US" sz="3200" dirty="0"/>
          </a:p>
        </p:txBody>
      </p:sp>
      <p:sp>
        <p:nvSpPr>
          <p:cNvPr id="11" name="Speech Bubble: Rectangle with Corners Rounded 10"/>
          <p:cNvSpPr/>
          <p:nvPr/>
        </p:nvSpPr>
        <p:spPr>
          <a:xfrm>
            <a:off x="10160000" y="5272192"/>
            <a:ext cx="3474720" cy="871735"/>
          </a:xfrm>
          <a:prstGeom prst="wedgeRoundRectCallout">
            <a:avLst>
              <a:gd name="adj1" fmla="val -72394"/>
              <a:gd name="adj2" fmla="val 24222"/>
              <a:gd name="adj3" fmla="val 16667"/>
            </a:avLst>
          </a:prstGeom>
          <a:solidFill>
            <a:schemeClr val="bg1"/>
          </a:solidFill>
          <a:ln w="60325" cap="sq">
            <a:solidFill>
              <a:srgbClr val="FFC000"/>
            </a:solidFill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r>
              <a:rPr lang="zh-CN" altLang="en-US" sz="3200" dirty="0"/>
              <a:t>选择事务类型</a:t>
            </a:r>
            <a:endParaRPr lang="en-US" sz="3200" dirty="0"/>
          </a:p>
        </p:txBody>
      </p:sp>
      <p:sp>
        <p:nvSpPr>
          <p:cNvPr id="13" name="Speech Bubble: Rectangle with Corners Rounded 12"/>
          <p:cNvSpPr/>
          <p:nvPr/>
        </p:nvSpPr>
        <p:spPr>
          <a:xfrm>
            <a:off x="15058412" y="7157912"/>
            <a:ext cx="2782548" cy="871735"/>
          </a:xfrm>
          <a:prstGeom prst="wedgeRoundRectCallout">
            <a:avLst>
              <a:gd name="adj1" fmla="val -74126"/>
              <a:gd name="adj2" fmla="val 61518"/>
              <a:gd name="adj3" fmla="val 16667"/>
            </a:avLst>
          </a:prstGeom>
          <a:solidFill>
            <a:schemeClr val="bg1"/>
          </a:solidFill>
          <a:ln w="60325" cap="sq">
            <a:solidFill>
              <a:srgbClr val="FFC000"/>
            </a:solidFill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r>
              <a:rPr lang="zh-CN" altLang="en-US" sz="3200" dirty="0"/>
              <a:t>书写描述</a:t>
            </a:r>
            <a:endParaRPr lang="en-US" sz="3200" dirty="0"/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4833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缺陷跟踪系统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lang="en-US" altLang="zh-CN" dirty="0"/>
              <a:t>02</a:t>
            </a:r>
            <a:endParaRPr lang="zh-CN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3965" y="2513081"/>
            <a:ext cx="16701358" cy="96651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229236" y="2513434"/>
            <a:ext cx="3816626" cy="463921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just" defTabSz="8255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优先级：</a:t>
            </a:r>
            <a:endParaRPr kumimoji="0" lang="en-US" altLang="zh-CN" sz="4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indent="-457200" algn="just" defTabSz="82550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4400" b="0" dirty="0"/>
              <a:t>Highest</a:t>
            </a:r>
            <a:endParaRPr lang="en-US" altLang="zh-CN" sz="4400" b="0" dirty="0"/>
          </a:p>
          <a:p>
            <a:pPr marL="457200" marR="0" indent="-457200" algn="just" defTabSz="82550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zh-CN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High</a:t>
            </a:r>
            <a:endParaRPr kumimoji="0" lang="en-US" altLang="zh-CN" sz="4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indent="-457200" algn="just" defTabSz="82550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4400" b="0" dirty="0"/>
              <a:t>Low</a:t>
            </a:r>
            <a:endParaRPr lang="en-US" altLang="zh-CN" sz="4400" b="0" dirty="0"/>
          </a:p>
          <a:p>
            <a:pPr marL="457200" marR="0" indent="-457200" algn="just" defTabSz="82550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zh-CN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Lowest</a:t>
            </a:r>
            <a:endParaRPr kumimoji="0" lang="en-US" altLang="zh-CN" sz="4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12349508"/>
            <a:ext cx="24384000" cy="841256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zh-CN" altLang="en-US" sz="4800" dirty="0"/>
              <a:t>填写事务的其余字段</a:t>
            </a:r>
            <a:endParaRPr lang="en-US" altLang="zh-CN" sz="4800" dirty="0"/>
          </a:p>
        </p:txBody>
      </p:sp>
      <p:sp>
        <p:nvSpPr>
          <p:cNvPr id="12" name="Speech Bubble: Rectangle with Corners Rounded 11"/>
          <p:cNvSpPr/>
          <p:nvPr/>
        </p:nvSpPr>
        <p:spPr>
          <a:xfrm>
            <a:off x="9631680" y="5894360"/>
            <a:ext cx="6035040" cy="871735"/>
          </a:xfrm>
          <a:prstGeom prst="wedgeRoundRectCallout">
            <a:avLst>
              <a:gd name="adj1" fmla="val -23661"/>
              <a:gd name="adj2" fmla="val 133778"/>
              <a:gd name="adj3" fmla="val 16667"/>
            </a:avLst>
          </a:prstGeom>
          <a:solidFill>
            <a:schemeClr val="bg1"/>
          </a:solidFill>
          <a:ln w="60325" cap="sq">
            <a:solidFill>
              <a:srgbClr val="FFC000"/>
            </a:solidFill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r>
              <a:rPr lang="zh-CN" altLang="en-US" sz="3200" dirty="0"/>
              <a:t>设置报告人为自己，即测试人员</a:t>
            </a:r>
            <a:endParaRPr lang="en-US" sz="3200" dirty="0"/>
          </a:p>
        </p:txBody>
      </p:sp>
      <p:sp>
        <p:nvSpPr>
          <p:cNvPr id="13" name="Speech Bubble: Rectangle with Corners Rounded 12"/>
          <p:cNvSpPr/>
          <p:nvPr/>
        </p:nvSpPr>
        <p:spPr>
          <a:xfrm>
            <a:off x="9946640" y="8183648"/>
            <a:ext cx="3606800" cy="871735"/>
          </a:xfrm>
          <a:prstGeom prst="wedgeRoundRectCallout">
            <a:avLst>
              <a:gd name="adj1" fmla="val -66449"/>
              <a:gd name="adj2" fmla="val 24222"/>
              <a:gd name="adj3" fmla="val 16667"/>
            </a:avLst>
          </a:prstGeom>
          <a:solidFill>
            <a:schemeClr val="bg1"/>
          </a:solidFill>
          <a:ln w="60325" cap="sq">
            <a:solidFill>
              <a:srgbClr val="FFC000"/>
            </a:solidFill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r>
              <a:rPr lang="zh-CN" altLang="en-US" sz="3200" dirty="0"/>
              <a:t>选择合适的优先级</a:t>
            </a:r>
            <a:endParaRPr lang="en-US" sz="3200" dirty="0"/>
          </a:p>
        </p:txBody>
      </p:sp>
      <p:sp>
        <p:nvSpPr>
          <p:cNvPr id="14" name="Speech Bubble: Rectangle with Corners Rounded 13"/>
          <p:cNvSpPr/>
          <p:nvPr/>
        </p:nvSpPr>
        <p:spPr>
          <a:xfrm>
            <a:off x="13096240" y="9281571"/>
            <a:ext cx="5394960" cy="871735"/>
          </a:xfrm>
          <a:prstGeom prst="wedgeRoundRectCallout">
            <a:avLst>
              <a:gd name="adj1" fmla="val -66449"/>
              <a:gd name="adj2" fmla="val 24222"/>
              <a:gd name="adj3" fmla="val 16667"/>
            </a:avLst>
          </a:prstGeom>
          <a:solidFill>
            <a:schemeClr val="bg1"/>
          </a:solidFill>
          <a:ln w="60325" cap="sq">
            <a:solidFill>
              <a:srgbClr val="FFC000"/>
            </a:solidFill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r>
              <a:rPr lang="zh-CN" altLang="en-US" sz="3200" dirty="0"/>
              <a:t>设置负责该功能的开发人员</a:t>
            </a:r>
            <a:endParaRPr lang="en-US" sz="3200"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8382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缺陷跟踪系统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lang="en-US" altLang="zh-CN" dirty="0"/>
              <a:t>02</a:t>
            </a:r>
            <a:endParaRPr lang="zh-CN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0439" y="2519940"/>
            <a:ext cx="16701358" cy="9627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12140419"/>
            <a:ext cx="24384000" cy="841256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zh-CN" altLang="en-US" sz="4800" dirty="0"/>
              <a:t>事务创建完成后，项目首页出现创建的事务</a:t>
            </a:r>
            <a:endParaRPr lang="en-US" altLang="zh-CN" sz="4800" dirty="0"/>
          </a:p>
        </p:txBody>
      </p:sp>
      <p:sp>
        <p:nvSpPr>
          <p:cNvPr id="8" name="TextBox 7"/>
          <p:cNvSpPr txBox="1"/>
          <p:nvPr/>
        </p:nvSpPr>
        <p:spPr>
          <a:xfrm>
            <a:off x="20533368" y="2519940"/>
            <a:ext cx="3512494" cy="463921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kumimoji="0" lang="zh-CN" altLang="en-US" sz="4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状</a:t>
            </a:r>
            <a:r>
              <a:rPr lang="zh-CN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态：</a:t>
            </a:r>
            <a:endParaRPr kumimoji="0" lang="en-US" altLang="zh-CN" sz="4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  <a:p>
            <a:pPr marL="457200" indent="-457200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sz="4400" b="0" dirty="0"/>
              <a:t>To do </a:t>
            </a:r>
            <a:endParaRPr lang="en-US" altLang="zh-CN" sz="4400" b="0" dirty="0"/>
          </a:p>
          <a:p>
            <a:pPr marL="457200" indent="-457200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sz="4400" b="0" dirty="0"/>
              <a:t>In progress </a:t>
            </a:r>
            <a:endParaRPr lang="en-US" altLang="zh-CN" sz="4400" b="0" dirty="0"/>
          </a:p>
          <a:p>
            <a:pPr marL="457200" indent="-457200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sz="4400" b="0" dirty="0"/>
              <a:t>In review </a:t>
            </a:r>
            <a:endParaRPr lang="en-US" altLang="zh-CN" sz="4400" b="0" dirty="0"/>
          </a:p>
          <a:p>
            <a:pPr marL="457200" indent="-457200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sz="4400" b="0" dirty="0"/>
              <a:t>Done </a:t>
            </a:r>
            <a:endParaRPr lang="en-US" altLang="zh-CN" sz="4400" b="0" dirty="0"/>
          </a:p>
        </p:txBody>
      </p:sp>
      <p:sp>
        <p:nvSpPr>
          <p:cNvPr id="11" name="Speech Bubble: Rectangle with Corners Rounded 10"/>
          <p:cNvSpPr/>
          <p:nvPr/>
        </p:nvSpPr>
        <p:spPr>
          <a:xfrm>
            <a:off x="11267440" y="3822976"/>
            <a:ext cx="3606800" cy="871735"/>
          </a:xfrm>
          <a:prstGeom prst="wedgeRoundRectCallout">
            <a:avLst>
              <a:gd name="adj1" fmla="val -17435"/>
              <a:gd name="adj2" fmla="val 98813"/>
              <a:gd name="adj3" fmla="val 16667"/>
            </a:avLst>
          </a:prstGeom>
          <a:solidFill>
            <a:schemeClr val="bg1"/>
          </a:solidFill>
          <a:ln w="60325" cap="sq">
            <a:solidFill>
              <a:srgbClr val="FFC000"/>
            </a:solidFill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r>
              <a:rPr lang="zh-CN" altLang="en-US" sz="3200" dirty="0"/>
              <a:t>筛选事务的条件</a:t>
            </a:r>
            <a:endParaRPr lang="en-US" sz="3200" dirty="0"/>
          </a:p>
        </p:txBody>
      </p:sp>
      <p:sp>
        <p:nvSpPr>
          <p:cNvPr id="12" name="Flowchart: Process 11"/>
          <p:cNvSpPr/>
          <p:nvPr/>
        </p:nvSpPr>
        <p:spPr>
          <a:xfrm flipH="1">
            <a:off x="15916910" y="6382861"/>
            <a:ext cx="1371600" cy="548640"/>
          </a:xfrm>
          <a:prstGeom prst="flowChartProcess">
            <a:avLst/>
          </a:prstGeom>
          <a:noFill/>
          <a:ln w="38100" cap="flat">
            <a:solidFill>
              <a:srgbClr val="FF0000"/>
            </a:solidFill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3" name="Speech Bubble: Rectangle with Corners Rounded 12"/>
          <p:cNvSpPr/>
          <p:nvPr/>
        </p:nvSpPr>
        <p:spPr>
          <a:xfrm>
            <a:off x="15485110" y="5042254"/>
            <a:ext cx="2459990" cy="871735"/>
          </a:xfrm>
          <a:prstGeom prst="wedgeRoundRectCallout">
            <a:avLst>
              <a:gd name="adj1" fmla="val -17435"/>
              <a:gd name="adj2" fmla="val 98813"/>
              <a:gd name="adj3" fmla="val 16667"/>
            </a:avLst>
          </a:prstGeom>
          <a:solidFill>
            <a:schemeClr val="bg1"/>
          </a:solidFill>
          <a:ln w="60325" cap="sq">
            <a:solidFill>
              <a:srgbClr val="FFC000"/>
            </a:solidFill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r>
              <a:rPr lang="zh-CN" altLang="en-US" sz="3200" dirty="0"/>
              <a:t>事务状态</a:t>
            </a:r>
            <a:endParaRPr lang="en-US" sz="3200"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8280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缺陷跟踪系统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lang="en-US" altLang="zh-CN" dirty="0"/>
              <a:t>02</a:t>
            </a:r>
            <a:endParaRPr lang="zh-CN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1321" y="2313144"/>
            <a:ext cx="16701358" cy="979220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12140419"/>
            <a:ext cx="24384000" cy="841256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zh-CN" altLang="en-US" sz="4800" dirty="0"/>
              <a:t>从历史记录区，可以看到该缺陷的状态变化过程</a:t>
            </a:r>
            <a:endParaRPr lang="en-US" altLang="zh-CN" sz="4800" dirty="0"/>
          </a:p>
        </p:txBody>
      </p:sp>
      <p:sp>
        <p:nvSpPr>
          <p:cNvPr id="8" name="Speech Bubble: Rectangle with Corners Rounded 7"/>
          <p:cNvSpPr/>
          <p:nvPr/>
        </p:nvSpPr>
        <p:spPr>
          <a:xfrm>
            <a:off x="16275480" y="7762240"/>
            <a:ext cx="3516200" cy="975360"/>
          </a:xfrm>
          <a:prstGeom prst="wedgeRoundRectCallout">
            <a:avLst>
              <a:gd name="adj1" fmla="val -63973"/>
              <a:gd name="adj2" fmla="val -25129"/>
              <a:gd name="adj3" fmla="val 16667"/>
            </a:avLst>
          </a:prstGeom>
          <a:solidFill>
            <a:schemeClr val="bg1"/>
          </a:solidFill>
          <a:ln w="60325" cap="sq">
            <a:solidFill>
              <a:srgbClr val="FFC000"/>
            </a:solidFill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r>
              <a:rPr lang="zh-CN" altLang="en-US" sz="3200" dirty="0"/>
              <a:t>事务历史记录</a:t>
            </a:r>
            <a:endParaRPr lang="en-US" sz="3200"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2419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30" name="成组"/>
          <p:cNvGrpSpPr/>
          <p:nvPr/>
        </p:nvGrpSpPr>
        <p:grpSpPr>
          <a:xfrm>
            <a:off x="9136452" y="3163977"/>
            <a:ext cx="5947866" cy="1343465"/>
            <a:chOff x="0" y="0"/>
            <a:chExt cx="5830084" cy="1343464"/>
          </a:xfrm>
        </p:grpSpPr>
        <p:sp>
          <p:nvSpPr>
            <p:cNvPr id="127" name="矩形 5"/>
            <p:cNvSpPr txBox="1"/>
            <p:nvPr/>
          </p:nvSpPr>
          <p:spPr>
            <a:xfrm>
              <a:off x="2084780" y="244454"/>
              <a:ext cx="3745304" cy="8545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测试报告</a:t>
              </a:r>
              <a:endParaRPr lang="zh-CN" altLang="en-US" sz="4400" dirty="0">
                <a:solidFill>
                  <a:srgbClr val="000000"/>
                </a:solidFill>
              </a:endParaRPr>
            </a:p>
          </p:txBody>
        </p:sp>
        <p:sp>
          <p:nvSpPr>
            <p:cNvPr id="128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29" name="矩形 11"/>
            <p:cNvSpPr txBox="1"/>
            <p:nvPr/>
          </p:nvSpPr>
          <p:spPr>
            <a:xfrm>
              <a:off x="0" y="18973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01</a:t>
              </a:r>
            </a:p>
          </p:txBody>
        </p:sp>
      </p:grpSp>
      <p:sp>
        <p:nvSpPr>
          <p:cNvPr id="134" name="矩形 5"/>
          <p:cNvSpPr txBox="1"/>
          <p:nvPr/>
        </p:nvSpPr>
        <p:spPr>
          <a:xfrm>
            <a:off x="11263349" y="5291213"/>
            <a:ext cx="5682868" cy="71519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chemeClr val="tx1"/>
                </a:solidFill>
              </a:rPr>
              <a:t>缺陷跟踪系统</a:t>
            </a:r>
            <a:endParaRPr sz="4400" dirty="0">
              <a:solidFill>
                <a:schemeClr val="tx1"/>
              </a:solidFill>
            </a:endParaRPr>
          </a:p>
        </p:txBody>
      </p:sp>
      <p:sp>
        <p:nvSpPr>
          <p:cNvPr id="135" name="Freeform 5"/>
          <p:cNvSpPr/>
          <p:nvPr/>
        </p:nvSpPr>
        <p:spPr>
          <a:xfrm rot="5400000">
            <a:off x="9259567" y="5071805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36" name="矩形 11"/>
          <p:cNvSpPr txBox="1"/>
          <p:nvPr/>
        </p:nvSpPr>
        <p:spPr>
          <a:xfrm>
            <a:off x="9136452" y="5166812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02</a:t>
            </a:r>
          </a:p>
        </p:txBody>
      </p:sp>
      <p:sp>
        <p:nvSpPr>
          <p:cNvPr id="138" name="矩形 5"/>
          <p:cNvSpPr txBox="1"/>
          <p:nvPr/>
        </p:nvSpPr>
        <p:spPr>
          <a:xfrm>
            <a:off x="11263350" y="7171246"/>
            <a:ext cx="7273128" cy="6925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b="1" dirty="0">
                <a:solidFill>
                  <a:srgbClr val="FF0000"/>
                </a:solidFill>
              </a:rPr>
              <a:t>小结</a:t>
            </a:r>
            <a:endParaRPr sz="4400" b="1" dirty="0">
              <a:solidFill>
                <a:srgbClr val="FF0000"/>
              </a:solidFill>
            </a:endParaRPr>
          </a:p>
        </p:txBody>
      </p:sp>
      <p:sp>
        <p:nvSpPr>
          <p:cNvPr id="139" name="Freeform 5"/>
          <p:cNvSpPr/>
          <p:nvPr/>
        </p:nvSpPr>
        <p:spPr>
          <a:xfrm rot="5400000">
            <a:off x="9259567" y="6925852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40" name="矩形 11"/>
          <p:cNvSpPr txBox="1"/>
          <p:nvPr/>
        </p:nvSpPr>
        <p:spPr>
          <a:xfrm>
            <a:off x="9136452" y="7061804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03</a:t>
            </a:r>
            <a:endParaRPr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spd="med" advTm="1547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小结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" y="4498536"/>
            <a:ext cx="2438399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5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测试报告是对测试目标、测试过程和测试结果的一个文档化的说明。</a:t>
            </a:r>
            <a:endParaRPr lang="zh-CN" altLang="en-US" sz="5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5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9513" y="7114250"/>
            <a:ext cx="2438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5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缺陷跟踪系统完整记录缺陷的完整生命周期</a:t>
            </a:r>
            <a:endParaRPr lang="zh-CN" altLang="en-US" sz="5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9821342"/>
            <a:ext cx="2438463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5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Jira</a:t>
            </a:r>
            <a:r>
              <a:rPr lang="zh-CN" altLang="en-US" sz="5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是典型的缺陷跟踪系统</a:t>
            </a:r>
            <a:endParaRPr lang="en-US" altLang="zh-CN" sz="5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3</a:t>
            </a:r>
            <a:endParaRPr dirty="0"/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spd="med" advTm="8431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4" grpId="0"/>
      <p:bldP spid="5" grpId="0"/>
      <p:bldP spid="6" grpId="0"/>
    </p:bldLst>
  </p:timing>
</p:sld>
</file>

<file path=ppt/tags/tag1.xml><?xml version="1.0" encoding="utf-8"?>
<p:tagLst xmlns:p="http://schemas.openxmlformats.org/presentationml/2006/main">
  <p:tag name="TIMING" val="|0.2"/>
</p:tagLst>
</file>

<file path=ppt/tags/tag2.xml><?xml version="1.0" encoding="utf-8"?>
<p:tagLst xmlns:p="http://schemas.openxmlformats.org/presentationml/2006/main">
  <p:tag name="TIMING" val="|0.2"/>
</p:tagLst>
</file>

<file path=ppt/tags/tag3.xml><?xml version="1.0" encoding="utf-8"?>
<p:tagLst xmlns:p="http://schemas.openxmlformats.org/presentationml/2006/main">
  <p:tag name="TIMING" val="|0.2"/>
</p:tagLst>
</file>

<file path=ppt/tags/tag4.xml><?xml version="1.0" encoding="utf-8"?>
<p:tagLst xmlns:p="http://schemas.openxmlformats.org/presentationml/2006/main">
  <p:tag name="TIMING" val="|0.2"/>
</p:tagLst>
</file>

<file path=ppt/tags/tag5.xml><?xml version="1.0" encoding="utf-8"?>
<p:tagLst xmlns:p="http://schemas.openxmlformats.org/presentationml/2006/main">
  <p:tag name="TIMING" val="|0.2"/>
</p:tagLst>
</file>

<file path=ppt/tags/tag6.xml><?xml version="1.0" encoding="utf-8"?>
<p:tagLst xmlns:p="http://schemas.openxmlformats.org/presentationml/2006/main">
  <p:tag name="TIMING" val="|0.2"/>
</p:tagLst>
</file>

<file path=ppt/tags/tag7.xml><?xml version="1.0" encoding="utf-8"?>
<p:tagLst xmlns:p="http://schemas.openxmlformats.org/presentationml/2006/main">
  <p:tag name="TIMING" val="|0.2"/>
</p:tagLst>
</file>

<file path=ppt/tags/tag8.xml><?xml version="1.0" encoding="utf-8"?>
<p:tagLst xmlns:p="http://schemas.openxmlformats.org/presentationml/2006/main">
  <p:tag name="TIMING" val="|0.2"/>
</p:tagLst>
</file>

<file path=ppt/tags/tag9.xml><?xml version="1.0" encoding="utf-8"?>
<p:tagLst xmlns:p="http://schemas.openxmlformats.org/presentationml/2006/main">
  <p:tag name="TIMING" val="|0.2"/>
</p:tagLst>
</file>

<file path=ppt/tags/tag10.xml><?xml version="1.0" encoding="utf-8"?>
<p:tagLst xmlns:p="http://schemas.openxmlformats.org/presentationml/2006/main">
  <p:tag name="TIMING" val="|0.2"/>
</p:tagLst>
</file>

<file path=ppt/tags/tag11.xml><?xml version="1.0" encoding="utf-8"?>
<p:tagLst xmlns:p="http://schemas.openxmlformats.org/presentationml/2006/main">
  <p:tag name="TIMING" val="|0.2"/>
</p:tagLst>
</file>

<file path=ppt/tags/tag12.xml><?xml version="1.0" encoding="utf-8"?>
<p:tagLst xmlns:p="http://schemas.openxmlformats.org/presentationml/2006/main">
  <p:tag name="TIMING" val="|0.2"/>
</p:tagLst>
</file>

<file path=ppt/tags/tag13.xml><?xml version="1.0" encoding="utf-8"?>
<p:tagLst xmlns:p="http://schemas.openxmlformats.org/presentationml/2006/main">
  <p:tag name="TIMING" val="|0.2"/>
</p:tagLst>
</file>

<file path=ppt/tags/tag14.xml><?xml version="1.0" encoding="utf-8"?>
<p:tagLst xmlns:p="http://schemas.openxmlformats.org/presentationml/2006/main">
  <p:tag name="TIMING" val="|0.2"/>
</p:tagLst>
</file>

<file path=ppt/tags/tag15.xml><?xml version="1.0" encoding="utf-8"?>
<p:tagLst xmlns:p="http://schemas.openxmlformats.org/presentationml/2006/main">
  <p:tag name="TIMING" val="|0.2"/>
</p:tagLst>
</file>

<file path=ppt/tags/tag16.xml><?xml version="1.0" encoding="utf-8"?>
<p:tagLst xmlns:p="http://schemas.openxmlformats.org/presentationml/2006/main">
  <p:tag name="TIMING" val="|0.2"/>
</p:tagLst>
</file>

<file path=ppt/tags/tag17.xml><?xml version="1.0" encoding="utf-8"?>
<p:tagLst xmlns:p="http://schemas.openxmlformats.org/presentationml/2006/main">
  <p:tag name="TIMING" val="|0.2"/>
</p:tagLst>
</file>

<file path=ppt/tags/tag18.xml><?xml version="1.0" encoding="utf-8"?>
<p:tagLst xmlns:p="http://schemas.openxmlformats.org/presentationml/2006/main">
  <p:tag name="TIMING" val="|0.2"/>
</p:tagLst>
</file>

<file path=ppt/tags/tag19.xml><?xml version="1.0" encoding="utf-8"?>
<p:tagLst xmlns:p="http://schemas.openxmlformats.org/presentationml/2006/main">
  <p:tag name="TIMING" val="|0.2"/>
</p:tagLst>
</file>

<file path=ppt/tags/tag20.xml><?xml version="1.0" encoding="utf-8"?>
<p:tagLst xmlns:p="http://schemas.openxmlformats.org/presentationml/2006/main">
  <p:tag name="TIMING" val="|0.2"/>
</p:tagLst>
</file>

<file path=ppt/tags/tag21.xml><?xml version="1.0" encoding="utf-8"?>
<p:tagLst xmlns:p="http://schemas.openxmlformats.org/presentationml/2006/main">
  <p:tag name="TIMING" val="|0.2"/>
</p:tagLst>
</file>

<file path=ppt/tags/tag22.xml><?xml version="1.0" encoding="utf-8"?>
<p:tagLst xmlns:p="http://schemas.openxmlformats.org/presentationml/2006/main">
  <p:tag name="COMMONDATA" val="eyJoZGlkIjoiN2RjMzk0Mzc2NzY3NGE0YmI3MDJiMTlmNzE2MWFmNDcifQ=="/>
</p:tagLst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1097</Words>
  <Application>WPS 演示</Application>
  <PresentationFormat>Custom</PresentationFormat>
  <Paragraphs>301</Paragraphs>
  <Slides>27</Slides>
  <Notes>27</Notes>
  <HiddenSlides>0</HiddenSlides>
  <MMClips>27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3" baseType="lpstr">
      <vt:lpstr>Arial</vt:lpstr>
      <vt:lpstr>宋体</vt:lpstr>
      <vt:lpstr>Wingdings</vt:lpstr>
      <vt:lpstr>Helvetica Neue</vt:lpstr>
      <vt:lpstr>Helvetica Neue Medium</vt:lpstr>
      <vt:lpstr>Helvetica Neue Light</vt:lpstr>
      <vt:lpstr>微软雅黑</vt:lpstr>
      <vt:lpstr>黑体</vt:lpstr>
      <vt:lpstr>Calibri</vt:lpstr>
      <vt:lpstr>微软雅黑 Light</vt:lpstr>
      <vt:lpstr>MicrosoftYaHeiLight</vt:lpstr>
      <vt:lpstr>LaTeX</vt:lpstr>
      <vt:lpstr>Arial Black</vt:lpstr>
      <vt:lpstr>Arial Unicode MS</vt:lpstr>
      <vt:lpstr>Times New Roman</vt:lpstr>
      <vt:lpstr>White</vt:lpstr>
      <vt:lpstr>PowerPoint 演示文稿</vt:lpstr>
      <vt:lpstr>PowerPoint 演示文稿</vt:lpstr>
      <vt:lpstr>PowerPoint 演示文稿</vt:lpstr>
      <vt:lpstr>测试报告</vt:lpstr>
      <vt:lpstr>测试报告</vt:lpstr>
      <vt:lpstr>测试报告</vt:lpstr>
      <vt:lpstr>测试报告</vt:lpstr>
      <vt:lpstr>测试报告</vt:lpstr>
      <vt:lpstr>测试报告</vt:lpstr>
      <vt:lpstr>PowerPoint 演示文稿</vt:lpstr>
      <vt:lpstr>缺陷跟踪系统</vt:lpstr>
      <vt:lpstr>缺陷跟踪系统</vt:lpstr>
      <vt:lpstr>缺陷跟踪系统</vt:lpstr>
      <vt:lpstr>缺陷跟踪系统</vt:lpstr>
      <vt:lpstr>缺陷跟踪系统</vt:lpstr>
      <vt:lpstr>缺陷跟踪系统</vt:lpstr>
      <vt:lpstr>缺陷跟踪系统</vt:lpstr>
      <vt:lpstr>缺陷跟踪系统</vt:lpstr>
      <vt:lpstr>缺陷跟踪系统</vt:lpstr>
      <vt:lpstr>缺陷跟踪系统</vt:lpstr>
      <vt:lpstr>缺陷跟踪系统</vt:lpstr>
      <vt:lpstr>缺陷跟踪系统</vt:lpstr>
      <vt:lpstr>缺陷跟踪系统</vt:lpstr>
      <vt:lpstr>缺陷跟踪系统</vt:lpstr>
      <vt:lpstr>缺陷跟踪系统</vt:lpstr>
      <vt:lpstr>PowerPoint 演示文稿</vt:lpstr>
      <vt:lpstr>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WangYz</dc:creator>
  <cp:lastModifiedBy>李壮 19863718468</cp:lastModifiedBy>
  <cp:revision>950</cp:revision>
  <cp:lastPrinted>2020-08-01T02:11:00Z</cp:lastPrinted>
  <dcterms:created xsi:type="dcterms:W3CDTF">2019-05-10T09:49:00Z</dcterms:created>
  <dcterms:modified xsi:type="dcterms:W3CDTF">2023-08-09T06:59:00Z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2052-12.1.0.15120</vt:lpwstr>
  </property>
  <property fmtid="{D5CDD505-2E9C-101B-9397-08002B2CF9AE}" pid="3" name="ICV">
    <vt:lpwstr>E5A85C191F494916ABEE31EAE89957B0_12</vt:lpwstr>
  </property>
</Properties>
</file>