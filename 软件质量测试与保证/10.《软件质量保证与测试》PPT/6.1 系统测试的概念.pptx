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294" r:id="rId5"/>
    <p:sldId id="702" r:id="rId6"/>
    <p:sldId id="325" r:id="rId7"/>
    <p:sldId id="706" r:id="rId8"/>
    <p:sldId id="707" r:id="rId9"/>
    <p:sldId id="712" r:id="rId10"/>
    <p:sldId id="708" r:id="rId11"/>
    <p:sldId id="710" r:id="rId12"/>
    <p:sldId id="730" r:id="rId13"/>
    <p:sldId id="726" r:id="rId14"/>
    <p:sldId id="703" r:id="rId15"/>
    <p:sldId id="713" r:id="rId16"/>
    <p:sldId id="727" r:id="rId17"/>
    <p:sldId id="714" r:id="rId18"/>
    <p:sldId id="729" r:id="rId19"/>
    <p:sldId id="715" r:id="rId20"/>
    <p:sldId id="728" r:id="rId21"/>
    <p:sldId id="731" r:id="rId22"/>
    <p:sldId id="624" r:id="rId23"/>
    <p:sldId id="698" r:id="rId24"/>
  </p:sldIdLst>
  <p:sldSz cx="24384000" cy="13716000"/>
  <p:notesSz cx="7099300" cy="10234295"/>
  <p:custDataLst>
    <p:tags r:id="rId3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F00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1" autoAdjust="0"/>
    <p:restoredTop sz="73214" autoAdjust="0"/>
  </p:normalViewPr>
  <p:slideViewPr>
    <p:cSldViewPr snapToGrid="0">
      <p:cViewPr varScale="1">
        <p:scale>
          <a:sx n="35" d="100"/>
          <a:sy n="35" d="100"/>
        </p:scale>
        <p:origin x="1557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15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" name="助力院校ICT人才培养致力于产教融合(替换文字即可）"/>
          <p:cNvSpPr txBox="1"/>
          <p:nvPr userDrawn="1"/>
        </p:nvSpPr>
        <p:spPr>
          <a:xfrm>
            <a:off x="1217066" y="1131050"/>
            <a:ext cx="102657" cy="533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801370">
              <a:defRPr sz="2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sz="2800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wmf"/><Relationship Id="rId5" Type="http://schemas.openxmlformats.org/officeDocument/2006/relationships/image" Target="../media/image3.png"/><Relationship Id="rId6" Type="http://schemas.openxmlformats.org/officeDocument/2006/relationships/tags" Target="../tags/tag1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1.v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8" Type="http://schemas.openxmlformats.org/officeDocument/2006/relationships/image" Target="../media/image3.png"/><Relationship Id="rId9" Type="http://schemas.openxmlformats.org/officeDocument/2006/relationships/tags" Target="../tags/tag3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5" Type="http://schemas.openxmlformats.org/officeDocument/2006/relationships/image" Target="../media/image3.png"/><Relationship Id="rId6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2.v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10.wmf"/><Relationship Id="rId5" Type="http://schemas.openxmlformats.org/officeDocument/2006/relationships/image" Target="../media/image3.png"/><Relationship Id="rId6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3.v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4.bin"/><Relationship Id="rId2" Type="http://schemas.openxmlformats.org/officeDocument/2006/relationships/image" Target="../media/image10.wmf"/><Relationship Id="rId5" Type="http://schemas.openxmlformats.org/officeDocument/2006/relationships/image" Target="../media/image3.png"/><Relationship Id="rId6" Type="http://schemas.openxmlformats.org/officeDocument/2006/relationships/tags" Target="../tags/tag12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4.vml"/><Relationship Id="rId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5" y="8199240"/>
            <a:ext cx="9988731" cy="1025922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系统测试的概念与方法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22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系统测试的概念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系统测试方法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86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系统测试的概念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系统测试方法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68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46737" y="3549690"/>
          <a:ext cx="17103640" cy="85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737" y="3549690"/>
                        <a:ext cx="17103640" cy="85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rrow: Right 1"/>
          <p:cNvSpPr/>
          <p:nvPr/>
        </p:nvSpPr>
        <p:spPr>
          <a:xfrm rot="10800000">
            <a:off x="17449798" y="6150428"/>
            <a:ext cx="5932715" cy="859972"/>
          </a:xfrm>
          <a:prstGeom prst="rightArrow">
            <a:avLst/>
          </a:prstGeom>
          <a:solidFill>
            <a:schemeClr val="accent3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769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46888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系统测试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定义：</a:t>
            </a:r>
            <a:endParaRPr lang="en-US" altLang="zh-CN" sz="4800" dirty="0"/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将待测试的软件作为一个整体，与硬件、支持软件和人员等其它系统元素结合在一起，验证该整体是否与软件需求规约相一致。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目的：</a:t>
            </a:r>
            <a:endParaRPr lang="en-US" altLang="zh-CN" sz="4800" dirty="0"/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通过与系统的需求定义作比较，发现实际软件与软件需求不符合或矛盾的地方。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67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pSp>
        <p:nvGrpSpPr>
          <p:cNvPr id="8" name="Group 6"/>
          <p:cNvGrpSpPr/>
          <p:nvPr/>
        </p:nvGrpSpPr>
        <p:grpSpPr bwMode="auto">
          <a:xfrm>
            <a:off x="2737970" y="3002438"/>
            <a:ext cx="14448458" cy="8003816"/>
            <a:chOff x="1620" y="9084"/>
            <a:chExt cx="9000" cy="5304"/>
          </a:xfrm>
          <a:effectLst/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160" y="9084"/>
              <a:ext cx="8460" cy="53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3" name="Group 9"/>
            <p:cNvGrpSpPr/>
            <p:nvPr/>
          </p:nvGrpSpPr>
          <p:grpSpPr bwMode="auto">
            <a:xfrm>
              <a:off x="1620" y="9240"/>
              <a:ext cx="8640" cy="4524"/>
              <a:chOff x="1620" y="8928"/>
              <a:chExt cx="8640" cy="4524"/>
            </a:xfrm>
          </p:grpSpPr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2340" y="8928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234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270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hangingPunct="1"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468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AutoShape 14"/>
              <p:cNvSpPr>
                <a:spLocks noChangeArrowheads="1"/>
              </p:cNvSpPr>
              <p:nvPr/>
            </p:nvSpPr>
            <p:spPr bwMode="auto">
              <a:xfrm>
                <a:off x="414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0" name="AutoShape 15"/>
              <p:cNvSpPr>
                <a:spLocks noChangeArrowheads="1"/>
              </p:cNvSpPr>
              <p:nvPr/>
            </p:nvSpPr>
            <p:spPr bwMode="auto">
              <a:xfrm>
                <a:off x="216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630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666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864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AutoShape 19"/>
              <p:cNvSpPr>
                <a:spLocks noChangeArrowheads="1"/>
              </p:cNvSpPr>
              <p:nvPr/>
            </p:nvSpPr>
            <p:spPr bwMode="auto">
              <a:xfrm>
                <a:off x="810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5" name="AutoShape 20"/>
              <p:cNvSpPr>
                <a:spLocks noChangeArrowheads="1"/>
              </p:cNvSpPr>
              <p:nvPr/>
            </p:nvSpPr>
            <p:spPr bwMode="auto">
              <a:xfrm>
                <a:off x="612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1620" y="9240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输入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340" y="11424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234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Rectangle 24"/>
              <p:cNvSpPr>
                <a:spLocks noChangeArrowheads="1"/>
              </p:cNvSpPr>
              <p:nvPr/>
            </p:nvSpPr>
            <p:spPr bwMode="auto">
              <a:xfrm>
                <a:off x="270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>
                <a:off x="468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630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Rectangle 27"/>
              <p:cNvSpPr>
                <a:spLocks noChangeArrowheads="1"/>
              </p:cNvSpPr>
              <p:nvPr/>
            </p:nvSpPr>
            <p:spPr bwMode="auto">
              <a:xfrm>
                <a:off x="666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864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AutoShape 29"/>
              <p:cNvSpPr>
                <a:spLocks noChangeArrowheads="1"/>
              </p:cNvSpPr>
              <p:nvPr/>
            </p:nvSpPr>
            <p:spPr bwMode="auto">
              <a:xfrm>
                <a:off x="810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5" name="AutoShape 30"/>
              <p:cNvSpPr>
                <a:spLocks noChangeArrowheads="1"/>
              </p:cNvSpPr>
              <p:nvPr/>
            </p:nvSpPr>
            <p:spPr bwMode="auto">
              <a:xfrm>
                <a:off x="612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6" name="AutoShape 31"/>
              <p:cNvSpPr>
                <a:spLocks noChangeArrowheads="1"/>
              </p:cNvSpPr>
              <p:nvPr/>
            </p:nvSpPr>
            <p:spPr bwMode="auto">
              <a:xfrm>
                <a:off x="414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7" name="AutoShape 32"/>
              <p:cNvSpPr>
                <a:spLocks noChangeArrowheads="1"/>
              </p:cNvSpPr>
              <p:nvPr/>
            </p:nvSpPr>
            <p:spPr bwMode="auto">
              <a:xfrm>
                <a:off x="9180" y="10176"/>
                <a:ext cx="180" cy="2028"/>
              </a:xfrm>
              <a:prstGeom prst="downArrow">
                <a:avLst>
                  <a:gd name="adj1" fmla="val 50000"/>
                  <a:gd name="adj2" fmla="val 281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8" name="Rectangle 33"/>
              <p:cNvSpPr>
                <a:spLocks noChangeArrowheads="1"/>
              </p:cNvSpPr>
              <p:nvPr/>
            </p:nvSpPr>
            <p:spPr bwMode="auto">
              <a:xfrm>
                <a:off x="1620" y="11736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输出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AutoShape 34"/>
              <p:cNvSpPr>
                <a:spLocks noChangeArrowheads="1"/>
              </p:cNvSpPr>
              <p:nvPr/>
            </p:nvSpPr>
            <p:spPr bwMode="auto">
              <a:xfrm>
                <a:off x="216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</p:grpSp>
      <p:pic>
        <p:nvPicPr>
          <p:cNvPr id="7180" name="Picture 1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8483" y="8871209"/>
            <a:ext cx="2255804" cy="145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524315" y="3002438"/>
            <a:ext cx="13662113" cy="7306333"/>
          </a:xfrm>
          <a:prstGeom prst="rect">
            <a:avLst/>
          </a:prstGeom>
          <a:noFill/>
          <a:ln w="57150">
            <a:solidFill>
              <a:schemeClr val="accent3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524316" y="3002046"/>
            <a:ext cx="16440904" cy="9440325"/>
          </a:xfrm>
          <a:prstGeom prst="rect">
            <a:avLst/>
          </a:prstGeom>
          <a:noFill/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72" name="Picture 10" descr="See the source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7063" y="10790029"/>
            <a:ext cx="3908545" cy="14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877" y="10511970"/>
            <a:ext cx="2812941" cy="16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6" descr="See the source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743" y="10159615"/>
            <a:ext cx="1686085" cy="223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8" descr="See the sourc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873" y="10071801"/>
            <a:ext cx="4783709" cy="287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 spd="med" advTm="21233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  <p:bldP spid="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系统测试的对象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系统测试对象为整个产品系统。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不仅包括被测的软件，还要包含其所依赖的硬件以及与其发生交互的软件</a:t>
            </a:r>
            <a:r>
              <a:rPr lang="en-US" altLang="zh-CN" sz="4800" dirty="0"/>
              <a:t>/</a:t>
            </a:r>
            <a:r>
              <a:rPr lang="zh-CN" altLang="en-US" sz="4800" dirty="0"/>
              <a:t>系统</a:t>
            </a:r>
            <a:r>
              <a:rPr lang="en-US" altLang="zh-CN" sz="4800" dirty="0"/>
              <a:t>/</a:t>
            </a:r>
            <a:r>
              <a:rPr lang="zh-CN" altLang="en-US" sz="4800" dirty="0"/>
              <a:t>人员。</a:t>
            </a: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538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系统测试与单元测试的区别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</a:t>
            </a:r>
            <a:r>
              <a:rPr lang="en-US" altLang="zh-CN" sz="4800" dirty="0"/>
              <a:t>;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系统测试组装的对象是整个产品系统。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单元测试的对象是最小可测单元。 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测试目的：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系统测试的目的是发现与系统需求不一致的地方。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单元测试关注测试单元本身的功能实现。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测试依据：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系统测试：系统需求。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单元测试：详细设计。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endParaRPr lang="en-US" altLang="zh-CN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615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系统测试与集成测试的区别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</a:t>
            </a:r>
            <a:r>
              <a:rPr lang="en-US" altLang="zh-CN" sz="4800" dirty="0"/>
              <a:t>;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系统测试：整个产品系统。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集成测试：一系列相互交互的模块。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测试目的：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系统测试：以用户的角度测试整个系统的功能及非功能性。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集成测试：找出模块接口上的问题。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测试依据：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系统测试：需求规格说明书。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集成测试：概要设计。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29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1" y="2801047"/>
            <a:ext cx="18521830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系统测试与验收测试的区别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测试人员：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系统测试：专业测试人员。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验收测试：用户代表。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测试目的：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系统测试：确保软件产品与需求规约一致。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验收测试：确保软件的功能和性能如同用户所期待的那样。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测试依据：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系统测试：需求规格说明书。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验收测试：用户需求。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spcBef>
                <a:spcPts val="600"/>
              </a:spcBef>
            </a:pPr>
            <a:endParaRPr lang="en-US" altLang="zh-CN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7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46737" y="3549690"/>
          <a:ext cx="17103640" cy="85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2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737" y="3549690"/>
                        <a:ext cx="17103640" cy="85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rrow: Right 1"/>
          <p:cNvSpPr/>
          <p:nvPr/>
        </p:nvSpPr>
        <p:spPr>
          <a:xfrm rot="10800000">
            <a:off x="17449798" y="6150428"/>
            <a:ext cx="5932715" cy="859972"/>
          </a:xfrm>
          <a:prstGeom prst="rightArrow">
            <a:avLst/>
          </a:prstGeom>
          <a:solidFill>
            <a:schemeClr val="accent3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472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系统测试的概念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系统测试方法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96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9670225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静态测试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测试对象：系统需求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测试依据：用户需求</a:t>
            </a:r>
            <a:endParaRPr lang="zh-CN" altLang="en-US" sz="4800" dirty="0"/>
          </a:p>
          <a:p>
            <a:pPr algn="just"/>
            <a:r>
              <a:rPr lang="zh-CN" altLang="en-US" sz="4800" b="1" dirty="0"/>
              <a:t>动态测试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测试对象：整个产品系统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测试依据：系统需求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3109943" y="4232443"/>
          <a:ext cx="10526686" cy="525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9943" y="4232443"/>
                        <a:ext cx="10526686" cy="525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460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754918" y="4410385"/>
            <a:ext cx="14294973" cy="348750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780389" y="4659493"/>
            <a:ext cx="3216369" cy="7473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用户需求调查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8780389" y="6652353"/>
            <a:ext cx="3216369" cy="7473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产品需求定义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 rot="10800000">
            <a:off x="7845203" y="4784045"/>
            <a:ext cx="714748" cy="2241968"/>
          </a:xfrm>
          <a:prstGeom prst="curvedLeftArrow">
            <a:avLst>
              <a:gd name="adj1" fmla="val 78000"/>
              <a:gd name="adj2" fmla="val 156000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2229438" y="5033153"/>
            <a:ext cx="714748" cy="2241968"/>
          </a:xfrm>
          <a:prstGeom prst="curvedLeftArrow">
            <a:avLst>
              <a:gd name="adj1" fmla="val 78000"/>
              <a:gd name="adj2" fmla="val 156000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5754918" y="8396105"/>
            <a:ext cx="14294973" cy="29892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031818" y="4908600"/>
            <a:ext cx="1695977" cy="224196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892191" y="8645213"/>
            <a:ext cx="2144245" cy="224196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8780389" y="8894320"/>
            <a:ext cx="3216369" cy="7473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需求确认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8780389" y="10139858"/>
            <a:ext cx="3216369" cy="7473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需求跟踪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12035787" y="4908600"/>
            <a:ext cx="265722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12122257" y="7150568"/>
            <a:ext cx="248428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12122258" y="9200502"/>
            <a:ext cx="248428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12122257" y="10444721"/>
            <a:ext cx="248428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10388573" y="7399675"/>
            <a:ext cx="0" cy="149464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10388573" y="9641643"/>
            <a:ext cx="0" cy="49821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14851502" y="8922857"/>
            <a:ext cx="4645866" cy="168667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需求变更控制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3"/>
          <p:cNvSpPr>
            <a:spLocks noChangeArrowheads="1"/>
          </p:cNvSpPr>
          <p:nvPr/>
        </p:nvSpPr>
        <p:spPr bwMode="auto">
          <a:xfrm>
            <a:off x="14851502" y="4659493"/>
            <a:ext cx="4645866" cy="1245538"/>
          </a:xfrm>
          <a:prstGeom prst="flowChartDocument">
            <a:avLst/>
          </a:prstGeom>
          <a:solidFill>
            <a:srgbClr val="FFFFFF"/>
          </a:solidFill>
          <a:ln w="38100">
            <a:solidFill>
              <a:schemeClr val="accent3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用户需求说明书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4"/>
          <p:cNvSpPr>
            <a:spLocks noChangeArrowheads="1"/>
          </p:cNvSpPr>
          <p:nvPr/>
        </p:nvSpPr>
        <p:spPr bwMode="auto">
          <a:xfrm>
            <a:off x="14851502" y="6403245"/>
            <a:ext cx="4645866" cy="1245538"/>
          </a:xfrm>
          <a:prstGeom prst="flowChartDocument">
            <a:avLst/>
          </a:prstGeom>
          <a:solidFill>
            <a:srgbClr val="FFFFFF"/>
          </a:solidFill>
          <a:ln w="38100">
            <a:solidFill>
              <a:schemeClr val="accent5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hangingPunct="1">
              <a:spcBef>
                <a:spcPct val="0"/>
              </a:spcBef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产品需求规格说明书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969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69" y="2801047"/>
            <a:ext cx="20264906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静态测试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测试对象：系统需求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测试依据：用户需求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测试目的：</a:t>
            </a:r>
            <a:endParaRPr lang="en-US" altLang="zh-CN" sz="4800" dirty="0"/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系统需求的描述是否规范、完整、无二义性；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系统需求是否与用户需求相吻合；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系统功能的取舍知否合理。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测试方法：小组评审（同行评审）</a:t>
            </a:r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21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动态系统测试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功能测试：功能测试是系统测试中最基本的测试，根据产品的需求规格说明书，验证产品的功能实现是否符合产品的需求规格。</a:t>
            </a:r>
            <a:endParaRPr lang="zh-CN" altLang="en-US" sz="4800" dirty="0"/>
          </a:p>
          <a:p>
            <a:pPr lvl="2" algn="just"/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963149" y="7533203"/>
          <a:ext cx="10526686" cy="525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3149" y="7533203"/>
                        <a:ext cx="10526686" cy="525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864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147594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动态系统测试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性能测试：通过自动化的测试工具模拟多种正常、峰值以及异常负载条件来对系统的各项性能指标进行测试。主要包括负载测试和压力测试。</a:t>
            </a:r>
            <a:endParaRPr lang="en-US" altLang="zh-CN" sz="4800" dirty="0"/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通过负载测试，确定系统在满足各项性能指标的情况下所能承受的最大负载。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压力测试是测试系统在极限（超大负载或者超少资源）情况下系统的稳定性和鲁棒性。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找出最大可承受负载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负载测试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VS 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系统在极限状态下的表现（压力测试） 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299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系统测试方法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121761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动态系统测试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可靠性测试：评估系统在指定时间段出现故障的概率，以及系统无故障运行的平均时间。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安全性测试：验证系统的安全保护机制是否符合安全目标，系统是否存在安全漏洞。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兼容性测试：测试软件对运行环境（浏览器、操作系统、硬件等）的兼容情况。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本地化测试：是否自动适配操作系统的语言设置。 </a:t>
            </a:r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2" algn="just"/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855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系统测试的概念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chemeClr val="tx1"/>
                  </a:solidFill>
                </a:rPr>
                <a:t>系统测试方法</a:t>
              </a:r>
              <a:endParaRPr sz="4400" dirty="0">
                <a:solidFill>
                  <a:schemeClr val="tx1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小结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16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3913320"/>
            <a:ext cx="24383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系统测试是将待测软件作为一个整体，评估其与软件需求的一致性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513" y="6529034"/>
            <a:ext cx="243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系统测试包括静态测试和动态测试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236126"/>
            <a:ext cx="243846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系统测试既要测试系统的功能，也要测试系统的非功能属性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8" name="音频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954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87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94.1|33|5.3|5|19.4|2.5|28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WPS 演示</Application>
  <PresentationFormat>Custom</PresentationFormat>
  <Paragraphs>300</Paragraphs>
  <Slides>21</Slides>
  <Notes>21</Notes>
  <HiddenSlides>0</HiddenSlides>
  <MMClips>21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White</vt:lpstr>
      <vt:lpstr>Word.Picture.8</vt:lpstr>
      <vt:lpstr>Word.Picture.8</vt:lpstr>
      <vt:lpstr>Word.Picture.8</vt:lpstr>
      <vt:lpstr>Word.Picture.8</vt:lpstr>
      <vt:lpstr>PowerPoint 演示文稿</vt:lpstr>
      <vt:lpstr>PowerPoint 演示文稿</vt:lpstr>
      <vt:lpstr>PowerPoint 演示文稿</vt:lpstr>
      <vt:lpstr>系统测试的概念</vt:lpstr>
      <vt:lpstr>系统测试的概念</vt:lpstr>
      <vt:lpstr>系统测试的概念</vt:lpstr>
      <vt:lpstr>系统测试的概念</vt:lpstr>
      <vt:lpstr>系统测试的概念</vt:lpstr>
      <vt:lpstr>系统测试的概念</vt:lpstr>
      <vt:lpstr>系统测试的概念</vt:lpstr>
      <vt:lpstr>系统测试的概念</vt:lpstr>
      <vt:lpstr>PowerPoint 演示文稿</vt:lpstr>
      <vt:lpstr>系统测试方法</vt:lpstr>
      <vt:lpstr>系统测试方法</vt:lpstr>
      <vt:lpstr>系统测试方法</vt:lpstr>
      <vt:lpstr>系统测试方法</vt:lpstr>
      <vt:lpstr>系统测试方法</vt:lpstr>
      <vt:lpstr>系统测试方法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935</cp:revision>
  <cp:lastPrinted>2020-08-01T02:11:00Z</cp:lastPrinted>
  <dcterms:created xsi:type="dcterms:W3CDTF">2019-05-10T09:49:00Z</dcterms:created>
  <dcterms:modified xsi:type="dcterms:W3CDTF">2023-08-09T06:58:31Z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6AEA5C7AA47442C9A3DDCCD3C0C2AC46_12</vt:lpwstr>
  </property>
</Properties>
</file>