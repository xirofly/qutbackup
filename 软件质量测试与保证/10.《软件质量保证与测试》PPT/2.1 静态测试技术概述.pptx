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56" r:id="rId3"/>
    <p:sldId id="294" r:id="rId5"/>
    <p:sldId id="326" r:id="rId6"/>
    <p:sldId id="305" r:id="rId7"/>
    <p:sldId id="306" r:id="rId8"/>
    <p:sldId id="308" r:id="rId9"/>
    <p:sldId id="310" r:id="rId10"/>
    <p:sldId id="309" r:id="rId11"/>
    <p:sldId id="311" r:id="rId12"/>
    <p:sldId id="312" r:id="rId13"/>
    <p:sldId id="313" r:id="rId14"/>
    <p:sldId id="314" r:id="rId15"/>
    <p:sldId id="316" r:id="rId16"/>
    <p:sldId id="317" r:id="rId17"/>
    <p:sldId id="318" r:id="rId18"/>
    <p:sldId id="315" r:id="rId19"/>
    <p:sldId id="263" r:id="rId20"/>
    <p:sldId id="329" r:id="rId21"/>
    <p:sldId id="322" r:id="rId22"/>
    <p:sldId id="321" r:id="rId23"/>
    <p:sldId id="323" r:id="rId24"/>
    <p:sldId id="324" r:id="rId25"/>
    <p:sldId id="325" r:id="rId26"/>
    <p:sldId id="328" r:id="rId27"/>
    <p:sldId id="293" r:id="rId28"/>
  </p:sldIdLst>
  <p:sldSz cx="24384000" cy="13716000"/>
  <p:notesSz cx="7099300" cy="10234295"/>
  <p:custDataLst>
    <p:tags r:id="rId34"/>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6"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82"/>
    <p:restoredTop sz="74358" autoAdjust="0"/>
  </p:normalViewPr>
  <p:slideViewPr>
    <p:cSldViewPr snapToGrid="0">
      <p:cViewPr varScale="1">
        <p:scale>
          <a:sx n="29" d="100"/>
          <a:sy n="29" d="100"/>
        </p:scale>
        <p:origin x="1125" y="4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ableStyles" Target="tableStyles.xml"/><Relationship Id="rId33" Type="http://schemas.openxmlformats.org/officeDocument/2006/relationships/commentAuthors" Target="commentAuthors.xml"/><Relationship Id="rId34" Type="http://schemas.openxmlformats.org/officeDocument/2006/relationships/tags" Target="tags/tag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73710" eaLnBrk="1" fontAlgn="auto" latinLnBrk="0" hangingPunct="1">
              <a:lnSpc>
                <a:spcPct val="118000"/>
              </a:lnSpc>
              <a:spcBef>
                <a:spcPts val="0"/>
              </a:spcBef>
              <a:spcAft>
                <a:spcPts val="0"/>
              </a:spcAft>
              <a:buClrTx/>
              <a:buSzTx/>
              <a:buFontTx/>
              <a:buNone/>
              <a:defRPr/>
            </a:pPr>
            <a:endParaRPr lang="en-US" altLang="zh-CN" sz="2800" b="1"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userDrawn="1"/>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9" name="正文级别 1…"/>
          <p:cNvSpPr txBox="1">
            <a:spLocks noGrp="1"/>
          </p:cNvSpPr>
          <p:nvPr>
            <p:ph idx="1" hasCustomPrompt="1"/>
          </p:nvPr>
        </p:nvSpPr>
        <p:spPr>
          <a:xfrm>
            <a:off x="2333625" y="3343863"/>
            <a:ext cx="21005800" cy="9296400"/>
          </a:xfrm>
          <a:prstGeom prst="rect">
            <a:avLst/>
          </a:prstGeom>
          <a:ln w="12700">
            <a:miter lim="400000"/>
          </a:ln>
        </p:spPr>
        <p:txBody>
          <a:bodyPr lIns="50800" tIns="50800" rIns="50800" bIns="50800" anchor="ctr">
            <a:normAutofit/>
          </a:bodyPr>
          <a:lstStyle/>
          <a:p>
            <a:r>
              <a:rPr lang="en-US" dirty="0"/>
              <a:t> </a:t>
            </a:r>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4820858" y="4360818"/>
            <a:ext cx="14276345" cy="3947747"/>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err="1"/>
              <a:t>谢谢</a:t>
            </a:r>
            <a:r>
              <a:rPr lang="zh-CN" altLang="en-US" sz="9600" dirty="0"/>
              <a:t>！</a:t>
            </a:r>
            <a:endParaRPr lang="zh-CN" altLang="en-US" sz="9600" dirty="0"/>
          </a:p>
          <a:p>
            <a:pPr algn="ctr">
              <a:lnSpc>
                <a:spcPct val="150000"/>
              </a:lnSpc>
            </a:pPr>
            <a:r>
              <a:rPr lang="en-US" sz="8000" b="0" dirty="0">
                <a:latin typeface="微软雅黑" panose="020B0503020204020204" pitchFamily="34" charset="-122"/>
                <a:ea typeface="微软雅黑" panose="020B0503020204020204" pitchFamily="34" charset="-122"/>
              </a:rPr>
              <a:t>https://liuhuigmail.github.io/</a:t>
            </a:r>
            <a:endParaRPr lang="en-US" sz="8000" b="0" dirty="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lang="en-US" dirty="0"/>
              <a:t> </a:t>
            </a:r>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 typeface="Wingdings" panose="05000000000000000000" pitchFamily="2" charset="2"/>
        <a:buChar char="n"/>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0"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ppt/slides/ppt/media/media1.m4a" TargetMode="External"/><Relationship Id="rId2" Type="http://schemas.microsoft.com/office/2007/relationships/media" Target="ppt/slides/ppt/media/media1.m4a"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audio" Target="ppt/slides/ppt/media/media2.m4a" TargetMode="External"/><Relationship Id="rId2" Type="http://schemas.microsoft.com/office/2007/relationships/media" Target="ppt/slides/ppt/media/media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audio" Target="ppt/slides/ppt/media/media3.m4a" TargetMode="External"/><Relationship Id="rId2" Type="http://schemas.microsoft.com/office/2007/relationships/media" Target="ppt/slides/ppt/media/media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ppt/slides/ppt/media/media4.m4a" TargetMode="External"/><Relationship Id="rId2" Type="http://schemas.microsoft.com/office/2007/relationships/media" Target="ppt/slides/ppt/media/media4.m4a" TargetMode="External"/><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audio" Target="ppt/slides/ppt/media/media5.m4a" TargetMode="External"/><Relationship Id="rId2" Type="http://schemas.microsoft.com/office/2007/relationships/media" Target="ppt/slides/ppt/media/media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audio" Target="ppt/slides/ppt/media/media6.m4a" TargetMode="External"/><Relationship Id="rId2" Type="http://schemas.microsoft.com/office/2007/relationships/media" Target="ppt/slides/ppt/media/media6.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audio" Target="ppt/slides/ppt/media/media7.m4a" TargetMode="External"/><Relationship Id="rId2" Type="http://schemas.microsoft.com/office/2007/relationships/media" Target="ppt/slides/ppt/media/media7.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audio" Target="ppt/slides/ppt/media/media8.m4a" TargetMode="External"/><Relationship Id="rId2" Type="http://schemas.microsoft.com/office/2007/relationships/media" Target="ppt/slides/ppt/media/media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audio" Target="ppt/slides/ppt/media/media9.m4a" TargetMode="External"/><Relationship Id="rId2" Type="http://schemas.microsoft.com/office/2007/relationships/media" Target="ppt/slides/ppt/media/media9.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audio" Target="ppt/slides/ppt/media/media10.m4a" TargetMode="External"/><Relationship Id="rId2" Type="http://schemas.microsoft.com/office/2007/relationships/media" Target="ppt/slides/ppt/media/media10.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audio" Target="ppt/slides/ppt/media/media11.m4a" TargetMode="External"/><Relationship Id="rId2" Type="http://schemas.microsoft.com/office/2007/relationships/media" Target="ppt/slides/ppt/media/media11.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audio" Target="ppt/slides/ppt/media/media12.m4a" TargetMode="External"/><Relationship Id="rId2" Type="http://schemas.microsoft.com/office/2007/relationships/media" Target="ppt/slides/ppt/media/media1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audio" Target="ppt/slides/ppt/media/media13.m4a" TargetMode="External"/><Relationship Id="rId2" Type="http://schemas.microsoft.com/office/2007/relationships/media" Target="ppt/slides/ppt/media/media1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audio" Target="ppt/slides/ppt/media/media14.m4a" TargetMode="External"/><Relationship Id="rId2" Type="http://schemas.microsoft.com/office/2007/relationships/media" Target="ppt/slides/ppt/media/media1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audio" Target="ppt/slides/ppt/media/media15.m4a" TargetMode="External"/><Relationship Id="rId2" Type="http://schemas.microsoft.com/office/2007/relationships/media" Target="ppt/slides/ppt/media/media1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audio" Target="ppt/slides/ppt/media/media16.m4a" TargetMode="External"/><Relationship Id="rId2" Type="http://schemas.microsoft.com/office/2007/relationships/media" Target="ppt/slides/ppt/media/media16.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audio" Target="ppt/slides/ppt/media/media17.m4a" TargetMode="External"/><Relationship Id="rId2" Type="http://schemas.microsoft.com/office/2007/relationships/media" Target="ppt/slides/ppt/media/media17.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audio" Target="ppt/slides/ppt/media/media18.m4a" TargetMode="External"/><Relationship Id="rId2" Type="http://schemas.microsoft.com/office/2007/relationships/media" Target="ppt/slides/ppt/media/media1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5.wmf"/><Relationship Id="rId3" Type="http://schemas.openxmlformats.org/officeDocument/2006/relationships/audio" Target="ppt/slides/ppt/media/media19.m4a" TargetMode="External"/><Relationship Id="rId4" Type="http://schemas.microsoft.com/office/2007/relationships/media" Target="ppt/slides/ppt/media/media19.m4a" TargetMode="External"/><Relationship Id="rId5" Type="http://schemas.openxmlformats.org/officeDocument/2006/relationships/image" Target="../media/image3.png"/><Relationship Id="rId6" Type="http://schemas.openxmlformats.org/officeDocument/2006/relationships/slideLayout" Target="../slideLayouts/slideLayout2.xml"/><Relationship Id="rId7" Type="http://schemas.openxmlformats.org/officeDocument/2006/relationships/vmlDrawing" Target="../drawings/vmlDrawing1.v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audio" Target="ppt/slides/ppt/media/media20.m4a" TargetMode="External"/><Relationship Id="rId2" Type="http://schemas.microsoft.com/office/2007/relationships/media" Target="ppt/slides/ppt/media/media20.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audio" Target="ppt/slides/ppt/media/media21.m4a" TargetMode="External"/><Relationship Id="rId2" Type="http://schemas.microsoft.com/office/2007/relationships/media" Target="ppt/slides/ppt/media/media21.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audio" Target="ppt/slides/ppt/media/media22.m4a" TargetMode="External"/><Relationship Id="rId2" Type="http://schemas.microsoft.com/office/2007/relationships/media" Target="ppt/slides/ppt/media/media2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audio" Target="ppt/slides/ppt/media/media23.m4a" TargetMode="External"/><Relationship Id="rId2" Type="http://schemas.microsoft.com/office/2007/relationships/media" Target="ppt/slides/ppt/media/media2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audio" Target="ppt/slides/ppt/media/media24.m4a" TargetMode="External"/><Relationship Id="rId2" Type="http://schemas.microsoft.com/office/2007/relationships/media" Target="ppt/slides/ppt/media/media2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audio" Target="ppt/slides/ppt/media/media25.m4a" TargetMode="External"/><Relationship Id="rId2" Type="http://schemas.microsoft.com/office/2007/relationships/media" Target="ppt/slides/ppt/media/media2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3896"/>
            <a:ext cx="12336711" cy="1733808"/>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软件测试与质量保障</a:t>
            </a:r>
            <a:endParaRPr dirty="0"/>
          </a:p>
        </p:txBody>
      </p:sp>
      <p:sp>
        <p:nvSpPr>
          <p:cNvPr id="123" name="专业技能培养云/职业技能实践云/创新成果转化云"/>
          <p:cNvSpPr txBox="1"/>
          <p:nvPr/>
        </p:nvSpPr>
        <p:spPr>
          <a:xfrm>
            <a:off x="1217066" y="8199240"/>
            <a:ext cx="7572586"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2.1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静态测试技术概述</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pic>
        <p:nvPicPr>
          <p:cNvPr id="3" name="图片 2"/>
          <p:cNvPicPr>
            <a:picLocks noChangeAspect="1"/>
          </p:cNvPicPr>
          <p:nvPr/>
        </p:nvPicPr>
        <p:blipFill>
          <a:blip r:embed="rId4"/>
          <a:stretch>
            <a:fillRect/>
          </a:stretch>
        </p:blipFill>
        <p:spPr>
          <a:xfrm>
            <a:off x="1217295" y="1192530"/>
            <a:ext cx="2393315" cy="548640"/>
          </a:xfrm>
          <a:prstGeom prst="rect">
            <a:avLst/>
          </a:prstGeom>
        </p:spPr>
      </p:pic>
    </p:spTree>
  </p:cSld>
  <p:clrMapOvr>
    <a:masterClrMapping/>
  </p:clrMapOvr>
  <p:transition spd="med" advTm="1052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218066" y="3780859"/>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静态测试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详细设计的静态测试</a:t>
            </a:r>
            <a:endParaRPr sz="4400" dirty="0">
              <a:solidFill>
                <a:srgbClr val="00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nvGrpSpPr>
          <p:cNvPr id="141" name="成组"/>
          <p:cNvGrpSpPr/>
          <p:nvPr/>
        </p:nvGrpSpPr>
        <p:grpSpPr>
          <a:xfrm>
            <a:off x="9218066" y="7488953"/>
            <a:ext cx="5947868" cy="1343465"/>
            <a:chOff x="0" y="0"/>
            <a:chExt cx="5830087" cy="1343464"/>
          </a:xfrm>
        </p:grpSpPr>
        <p:sp>
          <p:nvSpPr>
            <p:cNvPr id="138" name="矩形 5"/>
            <p:cNvSpPr txBox="1"/>
            <p:nvPr/>
          </p:nvSpPr>
          <p:spPr>
            <a:xfrm>
              <a:off x="2084781" y="299174"/>
              <a:ext cx="3745306" cy="74511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03</a:t>
              </a: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867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218066" y="3780859"/>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静态测试</a:t>
              </a:r>
              <a:endParaRPr lang="zh-CN" altLang="en-US" sz="4400" b="1" dirty="0">
                <a:solidFill>
                  <a:srgbClr val="FF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详细设计的静态测试</a:t>
            </a:r>
            <a:endParaRPr sz="4400" dirty="0">
              <a:solidFill>
                <a:srgbClr val="00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nvGrpSpPr>
          <p:cNvPr id="141" name="成组"/>
          <p:cNvGrpSpPr/>
          <p:nvPr/>
        </p:nvGrpSpPr>
        <p:grpSpPr>
          <a:xfrm>
            <a:off x="9218066" y="7488953"/>
            <a:ext cx="5947868" cy="1343465"/>
            <a:chOff x="0" y="0"/>
            <a:chExt cx="5830087" cy="1343464"/>
          </a:xfrm>
        </p:grpSpPr>
        <p:sp>
          <p:nvSpPr>
            <p:cNvPr id="138" name="矩形 5"/>
            <p:cNvSpPr txBox="1"/>
            <p:nvPr/>
          </p:nvSpPr>
          <p:spPr>
            <a:xfrm>
              <a:off x="2084781" y="299174"/>
              <a:ext cx="3745306" cy="74511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03</a:t>
              </a: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61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5502516" cy="1042894"/>
          </a:xfrm>
          <a:ln w="12700">
            <a:miter lim="400000"/>
          </a:ln>
        </p:spPr>
        <p:txBody>
          <a:bodyPr lIns="50800" tIns="50800" rIns="50800" bIns="50800" anchor="ctr">
            <a:normAutofit/>
          </a:bodyPr>
          <a:lstStyle/>
          <a:p>
            <a:r>
              <a:rPr lang="zh-CN" altLang="en-US" dirty="0"/>
              <a:t>静态测试</a:t>
            </a:r>
            <a:endParaRPr lang="zh-CN" altLang="en-US" dirty="0"/>
          </a:p>
        </p:txBody>
      </p:sp>
      <p:sp>
        <p:nvSpPr>
          <p:cNvPr id="24" name="矩形 23"/>
          <p:cNvSpPr/>
          <p:nvPr/>
        </p:nvSpPr>
        <p:spPr>
          <a:xfrm>
            <a:off x="15933900" y="4910748"/>
            <a:ext cx="5614987" cy="4524315"/>
          </a:xfrm>
          <a:prstGeom prst="rect">
            <a:avLst/>
          </a:prstGeom>
        </p:spPr>
        <p:txBody>
          <a:bodyPr wrap="square">
            <a:spAutoFit/>
          </a:bodyPr>
          <a:lstStyle/>
          <a:p>
            <a:pPr algn="l" defTabSz="914400" hangingPunct="1">
              <a:lnSpc>
                <a:spcPct val="150000"/>
              </a:lnSpc>
            </a:pPr>
            <a:r>
              <a:rPr lang="zh-CN" altLang="en-US" sz="4800" b="0" kern="1200" dirty="0">
                <a:solidFill>
                  <a:srgbClr val="FF0000"/>
                </a:solidFill>
                <a:latin typeface="微软雅黑" panose="020B0503020204020204" pitchFamily="34" charset="-122"/>
                <a:ea typeface="微软雅黑" panose="020B0503020204020204" pitchFamily="34" charset="-122"/>
              </a:rPr>
              <a:t>多维度分类：</a:t>
            </a:r>
            <a:endParaRPr lang="en-US" altLang="zh-CN" sz="4800" b="0" kern="1200" dirty="0">
              <a:solidFill>
                <a:srgbClr val="FF0000"/>
              </a:solidFill>
              <a:latin typeface="微软雅黑" panose="020B0503020204020204" pitchFamily="34" charset="-122"/>
              <a:ea typeface="微软雅黑" panose="020B0503020204020204" pitchFamily="34" charset="-122"/>
            </a:endParaRPr>
          </a:p>
          <a:p>
            <a:pPr algn="l" defTabSz="914400" hangingPunct="1">
              <a:lnSpc>
                <a:spcPct val="150000"/>
              </a:lnSpc>
            </a:pPr>
            <a:r>
              <a:rPr lang="en-US" altLang="zh-CN" sz="4800" b="0" kern="1200" dirty="0">
                <a:solidFill>
                  <a:schemeClr val="tx1"/>
                </a:solidFill>
                <a:latin typeface="微软雅黑" panose="020B0503020204020204" pitchFamily="34" charset="-122"/>
                <a:ea typeface="微软雅黑" panose="020B0503020204020204" pitchFamily="34" charset="-122"/>
              </a:rPr>
              <a:t>   </a:t>
            </a:r>
            <a:r>
              <a:rPr lang="zh-CN" altLang="en-US" sz="4800" b="0" kern="1200" dirty="0">
                <a:solidFill>
                  <a:schemeClr val="tx1"/>
                </a:solidFill>
                <a:latin typeface="微软雅黑" panose="020B0503020204020204" pitchFamily="34" charset="-122"/>
                <a:ea typeface="微软雅黑" panose="020B0503020204020204" pitchFamily="34" charset="-122"/>
              </a:rPr>
              <a:t>  </a:t>
            </a:r>
            <a:r>
              <a:rPr lang="en-US" altLang="zh-CN" sz="4800" b="0" kern="1200" dirty="0">
                <a:solidFill>
                  <a:schemeClr val="tx1"/>
                </a:solidFill>
                <a:latin typeface="微软雅黑" panose="020B0503020204020204" pitchFamily="34" charset="-122"/>
                <a:ea typeface="微软雅黑" panose="020B0503020204020204" pitchFamily="34" charset="-122"/>
              </a:rPr>
              <a:t>  </a:t>
            </a:r>
            <a:r>
              <a:rPr lang="zh-CN" altLang="en-US" sz="4800" b="0" kern="1200" dirty="0">
                <a:solidFill>
                  <a:schemeClr val="tx1"/>
                </a:solidFill>
                <a:latin typeface="微软雅黑" panose="020B0503020204020204" pitchFamily="34" charset="-122"/>
                <a:ea typeface="微软雅黑" panose="020B0503020204020204" pitchFamily="34" charset="-122"/>
              </a:rPr>
              <a:t>测试方法</a:t>
            </a:r>
            <a:endParaRPr lang="en-US" altLang="zh-CN" sz="4800" b="0" kern="1200" dirty="0">
              <a:solidFill>
                <a:schemeClr val="tx1"/>
              </a:solidFill>
              <a:latin typeface="微软雅黑" panose="020B0503020204020204" pitchFamily="34" charset="-122"/>
              <a:ea typeface="微软雅黑" panose="020B0503020204020204" pitchFamily="34" charset="-122"/>
            </a:endParaRPr>
          </a:p>
          <a:p>
            <a:pPr algn="l" defTabSz="914400" hangingPunct="1">
              <a:lnSpc>
                <a:spcPct val="150000"/>
              </a:lnSpc>
            </a:pPr>
            <a:r>
              <a:rPr lang="en-US" altLang="zh-CN" sz="4800" b="0" kern="1200" dirty="0">
                <a:solidFill>
                  <a:schemeClr val="tx1"/>
                </a:solidFill>
                <a:latin typeface="微软雅黑" panose="020B0503020204020204" pitchFamily="34" charset="-122"/>
                <a:ea typeface="微软雅黑" panose="020B0503020204020204" pitchFamily="34" charset="-122"/>
              </a:rPr>
              <a:t>   </a:t>
            </a:r>
            <a:r>
              <a:rPr lang="zh-CN" altLang="en-US" sz="4800" b="0" kern="1200" dirty="0">
                <a:solidFill>
                  <a:schemeClr val="tx1"/>
                </a:solidFill>
                <a:latin typeface="微软雅黑" panose="020B0503020204020204" pitchFamily="34" charset="-122"/>
                <a:ea typeface="微软雅黑" panose="020B0503020204020204" pitchFamily="34" charset="-122"/>
              </a:rPr>
              <a:t>  </a:t>
            </a:r>
            <a:r>
              <a:rPr lang="en-US" altLang="zh-CN" sz="4800" b="0" kern="1200" dirty="0">
                <a:solidFill>
                  <a:schemeClr val="tx1"/>
                </a:solidFill>
                <a:latin typeface="微软雅黑" panose="020B0503020204020204" pitchFamily="34" charset="-122"/>
                <a:ea typeface="微软雅黑" panose="020B0503020204020204" pitchFamily="34" charset="-122"/>
              </a:rPr>
              <a:t>  </a:t>
            </a:r>
            <a:r>
              <a:rPr lang="zh-CN" altLang="en-US" sz="4800" b="0" kern="1200" dirty="0">
                <a:solidFill>
                  <a:schemeClr val="tx1"/>
                </a:solidFill>
                <a:latin typeface="微软雅黑" panose="020B0503020204020204" pitchFamily="34" charset="-122"/>
                <a:ea typeface="微软雅黑" panose="020B0503020204020204" pitchFamily="34" charset="-122"/>
              </a:rPr>
              <a:t>测试阶段</a:t>
            </a:r>
            <a:endParaRPr lang="en-US" altLang="zh-CN" sz="4800" b="0" kern="1200" dirty="0">
              <a:solidFill>
                <a:schemeClr val="tx1"/>
              </a:solidFill>
              <a:latin typeface="微软雅黑" panose="020B0503020204020204" pitchFamily="34" charset="-122"/>
              <a:ea typeface="微软雅黑" panose="020B0503020204020204" pitchFamily="34" charset="-122"/>
            </a:endParaRPr>
          </a:p>
          <a:p>
            <a:pPr algn="l" defTabSz="914400" hangingPunct="1">
              <a:lnSpc>
                <a:spcPct val="150000"/>
              </a:lnSpc>
            </a:pPr>
            <a:r>
              <a:rPr lang="zh-CN" altLang="en-US" sz="4800" b="0" kern="1200" dirty="0">
                <a:solidFill>
                  <a:schemeClr val="tx1"/>
                </a:solidFill>
                <a:latin typeface="微软雅黑" panose="020B0503020204020204" pitchFamily="34" charset="-122"/>
                <a:ea typeface="微软雅黑" panose="020B0503020204020204" pitchFamily="34" charset="-122"/>
              </a:rPr>
              <a:t>       测试目标</a:t>
            </a:r>
            <a:endParaRPr lang="zh-CN" altLang="en-US" sz="4800" b="0" kern="1200" dirty="0">
              <a:solidFill>
                <a:schemeClr val="tx1"/>
              </a:solidFill>
              <a:latin typeface="微软雅黑" panose="020B0503020204020204" pitchFamily="34" charset="-122"/>
              <a:ea typeface="微软雅黑" panose="020B0503020204020204" pitchFamily="34" charset="-122"/>
            </a:endParaRPr>
          </a:p>
        </p:txBody>
      </p:sp>
      <p:grpSp>
        <p:nvGrpSpPr>
          <p:cNvPr id="13" name="Group 39"/>
          <p:cNvGrpSpPr/>
          <p:nvPr/>
        </p:nvGrpSpPr>
        <p:grpSpPr bwMode="auto">
          <a:xfrm>
            <a:off x="2523867" y="3517781"/>
            <a:ext cx="11148100" cy="7778664"/>
            <a:chOff x="771" y="981"/>
            <a:chExt cx="4212" cy="3022"/>
          </a:xfrm>
        </p:grpSpPr>
        <p:sp>
          <p:nvSpPr>
            <p:cNvPr id="15" name="Text Box 24"/>
            <p:cNvSpPr txBox="1">
              <a:spLocks noChangeArrowheads="1"/>
            </p:cNvSpPr>
            <p:nvPr/>
          </p:nvSpPr>
          <p:spPr bwMode="auto">
            <a:xfrm>
              <a:off x="4382" y="2328"/>
              <a:ext cx="601"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400" b="1" dirty="0">
                  <a:solidFill>
                    <a:srgbClr val="3366FF"/>
                  </a:solidFill>
                  <a:latin typeface="微软雅黑" panose="020B0503020204020204" pitchFamily="34" charset="-122"/>
                  <a:ea typeface="微软雅黑" panose="020B0503020204020204" pitchFamily="34" charset="-122"/>
                </a:rPr>
                <a:t>测试</a:t>
              </a:r>
              <a:r>
                <a:rPr lang="zh-CN" altLang="en-GB" sz="2400" b="1" dirty="0">
                  <a:solidFill>
                    <a:srgbClr val="3366FF"/>
                  </a:solidFill>
                  <a:latin typeface="微软雅黑" panose="020B0503020204020204" pitchFamily="34" charset="-122"/>
                  <a:ea typeface="微软雅黑" panose="020B0503020204020204" pitchFamily="34" charset="-122"/>
                </a:rPr>
                <a:t>方法</a:t>
              </a:r>
              <a:endParaRPr lang="zh-CN" altLang="en-GB" sz="2400" b="1" dirty="0">
                <a:solidFill>
                  <a:srgbClr val="3366FF"/>
                </a:solidFill>
                <a:latin typeface="微软雅黑" panose="020B0503020204020204" pitchFamily="34" charset="-122"/>
                <a:ea typeface="微软雅黑" panose="020B0503020204020204" pitchFamily="34" charset="-122"/>
              </a:endParaRPr>
            </a:p>
          </p:txBody>
        </p:sp>
        <p:grpSp>
          <p:nvGrpSpPr>
            <p:cNvPr id="16" name="Group 38"/>
            <p:cNvGrpSpPr/>
            <p:nvPr/>
          </p:nvGrpSpPr>
          <p:grpSpPr bwMode="auto">
            <a:xfrm>
              <a:off x="771" y="981"/>
              <a:ext cx="3655" cy="3022"/>
              <a:chOff x="771" y="981"/>
              <a:chExt cx="3655" cy="3022"/>
            </a:xfrm>
          </p:grpSpPr>
          <p:sp>
            <p:nvSpPr>
              <p:cNvPr id="17" name="Text Box 25"/>
              <p:cNvSpPr txBox="1">
                <a:spLocks noChangeArrowheads="1"/>
              </p:cNvSpPr>
              <p:nvPr/>
            </p:nvSpPr>
            <p:spPr bwMode="auto">
              <a:xfrm>
                <a:off x="1010" y="3800"/>
                <a:ext cx="1529"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US" sz="2800" b="1" dirty="0">
                    <a:solidFill>
                      <a:srgbClr val="3366FF"/>
                    </a:solidFill>
                    <a:latin typeface="微软雅黑" panose="020B0503020204020204" pitchFamily="34" charset="-122"/>
                    <a:ea typeface="微软雅黑" panose="020B0503020204020204" pitchFamily="34" charset="-122"/>
                  </a:rPr>
                  <a:t>测试</a:t>
                </a:r>
                <a:r>
                  <a:rPr lang="zh-CN" altLang="en-GB" sz="2800" b="1" dirty="0">
                    <a:solidFill>
                      <a:srgbClr val="3366FF"/>
                    </a:solidFill>
                    <a:latin typeface="微软雅黑" panose="020B0503020204020204" pitchFamily="34" charset="-122"/>
                    <a:ea typeface="微软雅黑" panose="020B0503020204020204" pitchFamily="34" charset="-122"/>
                  </a:rPr>
                  <a:t>目标</a:t>
                </a:r>
                <a:endParaRPr lang="zh-CN" altLang="en-GB" sz="2800" b="1" dirty="0">
                  <a:solidFill>
                    <a:srgbClr val="3366FF"/>
                  </a:solidFill>
                  <a:latin typeface="微软雅黑" panose="020B0503020204020204" pitchFamily="34" charset="-122"/>
                  <a:ea typeface="微软雅黑" panose="020B0503020204020204" pitchFamily="34" charset="-122"/>
                </a:endParaRPr>
              </a:p>
            </p:txBody>
          </p:sp>
          <p:sp>
            <p:nvSpPr>
              <p:cNvPr id="18" name="Line 4"/>
              <p:cNvSpPr>
                <a:spLocks noChangeShapeType="1"/>
              </p:cNvSpPr>
              <p:nvPr/>
            </p:nvSpPr>
            <p:spPr bwMode="auto">
              <a:xfrm>
                <a:off x="2654" y="1080"/>
                <a:ext cx="0" cy="1392"/>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19" name="Line 5"/>
              <p:cNvSpPr>
                <a:spLocks noChangeShapeType="1"/>
              </p:cNvSpPr>
              <p:nvPr/>
            </p:nvSpPr>
            <p:spPr bwMode="auto">
              <a:xfrm flipH="1">
                <a:off x="1280" y="2472"/>
                <a:ext cx="1374" cy="1296"/>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20" name="Line 6"/>
              <p:cNvSpPr>
                <a:spLocks noChangeShapeType="1"/>
              </p:cNvSpPr>
              <p:nvPr/>
            </p:nvSpPr>
            <p:spPr bwMode="auto">
              <a:xfrm>
                <a:off x="2661" y="2472"/>
                <a:ext cx="1683" cy="0"/>
              </a:xfrm>
              <a:prstGeom prst="line">
                <a:avLst/>
              </a:prstGeom>
              <a:noFill/>
              <a:ln w="571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21" name="Text Box 7"/>
              <p:cNvSpPr txBox="1">
                <a:spLocks noChangeArrowheads="1"/>
              </p:cNvSpPr>
              <p:nvPr/>
            </p:nvSpPr>
            <p:spPr bwMode="auto">
              <a:xfrm>
                <a:off x="1901" y="2040"/>
                <a:ext cx="70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dirty="0">
                    <a:latin typeface="微软雅黑" panose="020B0503020204020204" pitchFamily="34" charset="-122"/>
                    <a:ea typeface="微软雅黑" panose="020B0503020204020204" pitchFamily="34" charset="-122"/>
                  </a:rPr>
                  <a:t>单元测试</a:t>
                </a:r>
                <a:endParaRPr lang="zh-CN" altLang="en-GB" sz="2400" b="1" dirty="0">
                  <a:latin typeface="微软雅黑" panose="020B0503020204020204" pitchFamily="34" charset="-122"/>
                  <a:ea typeface="微软雅黑" panose="020B0503020204020204" pitchFamily="34" charset="-122"/>
                </a:endParaRPr>
              </a:p>
            </p:txBody>
          </p:sp>
          <p:sp>
            <p:nvSpPr>
              <p:cNvPr id="22" name="Text Box 8"/>
              <p:cNvSpPr txBox="1">
                <a:spLocks noChangeArrowheads="1"/>
              </p:cNvSpPr>
              <p:nvPr/>
            </p:nvSpPr>
            <p:spPr bwMode="auto">
              <a:xfrm>
                <a:off x="1901" y="1466"/>
                <a:ext cx="74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系统测试</a:t>
                </a:r>
                <a:endParaRPr lang="zh-CN" altLang="en-GB" sz="2400" b="1">
                  <a:latin typeface="微软雅黑" panose="020B0503020204020204" pitchFamily="34" charset="-122"/>
                  <a:ea typeface="微软雅黑" panose="020B0503020204020204" pitchFamily="34" charset="-122"/>
                </a:endParaRPr>
              </a:p>
            </p:txBody>
          </p:sp>
          <p:sp>
            <p:nvSpPr>
              <p:cNvPr id="23" name="Text Box 9"/>
              <p:cNvSpPr txBox="1">
                <a:spLocks noChangeArrowheads="1"/>
              </p:cNvSpPr>
              <p:nvPr/>
            </p:nvSpPr>
            <p:spPr bwMode="auto">
              <a:xfrm>
                <a:off x="1923" y="1171"/>
                <a:ext cx="70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验收测试</a:t>
                </a:r>
                <a:endParaRPr lang="zh-CN" altLang="en-GB" sz="2400" b="1">
                  <a:latin typeface="微软雅黑" panose="020B0503020204020204" pitchFamily="34" charset="-122"/>
                  <a:ea typeface="微软雅黑" panose="020B0503020204020204" pitchFamily="34" charset="-122"/>
                </a:endParaRPr>
              </a:p>
            </p:txBody>
          </p:sp>
          <p:sp>
            <p:nvSpPr>
              <p:cNvPr id="25" name="Line 10"/>
              <p:cNvSpPr>
                <a:spLocks noChangeShapeType="1"/>
              </p:cNvSpPr>
              <p:nvPr/>
            </p:nvSpPr>
            <p:spPr bwMode="auto">
              <a:xfrm>
                <a:off x="2565" y="1292"/>
                <a:ext cx="17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26" name="Line 11"/>
              <p:cNvSpPr>
                <a:spLocks noChangeShapeType="1"/>
              </p:cNvSpPr>
              <p:nvPr/>
            </p:nvSpPr>
            <p:spPr bwMode="auto">
              <a:xfrm>
                <a:off x="2277" y="2712"/>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27" name="Text Box 12"/>
              <p:cNvSpPr txBox="1">
                <a:spLocks noChangeArrowheads="1"/>
              </p:cNvSpPr>
              <p:nvPr/>
            </p:nvSpPr>
            <p:spPr bwMode="auto">
              <a:xfrm>
                <a:off x="1383" y="2795"/>
                <a:ext cx="70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性能测试</a:t>
                </a:r>
                <a:endParaRPr lang="zh-CN" altLang="en-GB" sz="2400" b="1">
                  <a:latin typeface="微软雅黑" panose="020B0503020204020204" pitchFamily="34" charset="-122"/>
                  <a:ea typeface="微软雅黑" panose="020B0503020204020204" pitchFamily="34" charset="-122"/>
                </a:endParaRPr>
              </a:p>
            </p:txBody>
          </p:sp>
          <p:sp>
            <p:nvSpPr>
              <p:cNvPr id="28" name="Text Box 13"/>
              <p:cNvSpPr txBox="1">
                <a:spLocks noChangeArrowheads="1"/>
              </p:cNvSpPr>
              <p:nvPr/>
            </p:nvSpPr>
            <p:spPr bwMode="auto">
              <a:xfrm>
                <a:off x="1474" y="2614"/>
                <a:ext cx="915"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强壮性测试</a:t>
                </a:r>
                <a:endParaRPr lang="zh-CN" altLang="en-GB" sz="2400" b="1">
                  <a:latin typeface="微软雅黑" panose="020B0503020204020204" pitchFamily="34" charset="-122"/>
                  <a:ea typeface="微软雅黑" panose="020B0503020204020204" pitchFamily="34" charset="-122"/>
                </a:endParaRPr>
              </a:p>
            </p:txBody>
          </p:sp>
          <p:sp>
            <p:nvSpPr>
              <p:cNvPr id="29" name="Text Box 14"/>
              <p:cNvSpPr txBox="1">
                <a:spLocks noChangeArrowheads="1"/>
              </p:cNvSpPr>
              <p:nvPr/>
            </p:nvSpPr>
            <p:spPr bwMode="auto">
              <a:xfrm>
                <a:off x="1746" y="2432"/>
                <a:ext cx="703"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90000"/>
                  </a:lnSpc>
                  <a:spcBef>
                    <a:spcPct val="50000"/>
                  </a:spcBef>
                  <a:buClrTx/>
                  <a:buSzTx/>
                  <a:buFontTx/>
                  <a:buNone/>
                </a:pPr>
                <a:r>
                  <a:rPr lang="zh-CN" altLang="en-GB" sz="2400" b="1">
                    <a:latin typeface="微软雅黑" panose="020B0503020204020204" pitchFamily="34" charset="-122"/>
                    <a:ea typeface="微软雅黑" panose="020B0503020204020204" pitchFamily="34" charset="-122"/>
                  </a:rPr>
                  <a:t>功能测试</a:t>
                </a:r>
                <a:endParaRPr lang="zh-CN" altLang="en-GB" sz="2400" b="1">
                  <a:latin typeface="微软雅黑" panose="020B0503020204020204" pitchFamily="34" charset="-122"/>
                  <a:ea typeface="微软雅黑" panose="020B0503020204020204" pitchFamily="34" charset="-122"/>
                </a:endParaRPr>
              </a:p>
            </p:txBody>
          </p:sp>
          <p:sp>
            <p:nvSpPr>
              <p:cNvPr id="30" name="Line 15"/>
              <p:cNvSpPr>
                <a:spLocks noChangeShapeType="1"/>
              </p:cNvSpPr>
              <p:nvPr/>
            </p:nvSpPr>
            <p:spPr bwMode="auto">
              <a:xfrm>
                <a:off x="2565" y="1580"/>
                <a:ext cx="17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1" name="Line 16"/>
              <p:cNvSpPr>
                <a:spLocks noChangeShapeType="1"/>
              </p:cNvSpPr>
              <p:nvPr/>
            </p:nvSpPr>
            <p:spPr bwMode="auto">
              <a:xfrm>
                <a:off x="2565" y="2156"/>
                <a:ext cx="17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2" name="Line 17"/>
              <p:cNvSpPr>
                <a:spLocks noChangeShapeType="1"/>
              </p:cNvSpPr>
              <p:nvPr/>
            </p:nvSpPr>
            <p:spPr bwMode="auto">
              <a:xfrm>
                <a:off x="1812" y="3144"/>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3" name="Line 18"/>
              <p:cNvSpPr>
                <a:spLocks noChangeShapeType="1"/>
              </p:cNvSpPr>
              <p:nvPr/>
            </p:nvSpPr>
            <p:spPr bwMode="auto">
              <a:xfrm>
                <a:off x="1337" y="3614"/>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4" name="Line 19"/>
              <p:cNvSpPr>
                <a:spLocks noChangeShapeType="1"/>
              </p:cNvSpPr>
              <p:nvPr/>
            </p:nvSpPr>
            <p:spPr bwMode="auto">
              <a:xfrm>
                <a:off x="3141" y="2376"/>
                <a:ext cx="0"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5" name="Line 20"/>
              <p:cNvSpPr>
                <a:spLocks noChangeShapeType="1"/>
              </p:cNvSpPr>
              <p:nvPr/>
            </p:nvSpPr>
            <p:spPr bwMode="auto">
              <a:xfrm>
                <a:off x="3894" y="2376"/>
                <a:ext cx="0" cy="19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36" name="Text Box 21"/>
              <p:cNvSpPr txBox="1">
                <a:spLocks noChangeArrowheads="1"/>
              </p:cNvSpPr>
              <p:nvPr/>
            </p:nvSpPr>
            <p:spPr bwMode="auto">
              <a:xfrm>
                <a:off x="2757" y="2568"/>
                <a:ext cx="79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白盒测试</a:t>
                </a:r>
                <a:endParaRPr lang="zh-CN" altLang="en-GB" sz="2400" b="1">
                  <a:latin typeface="微软雅黑" panose="020B0503020204020204" pitchFamily="34" charset="-122"/>
                  <a:ea typeface="微软雅黑" panose="020B0503020204020204" pitchFamily="34" charset="-122"/>
                </a:endParaRPr>
              </a:p>
            </p:txBody>
          </p:sp>
          <p:sp>
            <p:nvSpPr>
              <p:cNvPr id="37" name="Text Box 22"/>
              <p:cNvSpPr txBox="1">
                <a:spLocks noChangeArrowheads="1"/>
              </p:cNvSpPr>
              <p:nvPr/>
            </p:nvSpPr>
            <p:spPr bwMode="auto">
              <a:xfrm>
                <a:off x="3628" y="2568"/>
                <a:ext cx="79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a:latin typeface="微软雅黑" panose="020B0503020204020204" pitchFamily="34" charset="-122"/>
                    <a:ea typeface="微软雅黑" panose="020B0503020204020204" pitchFamily="34" charset="-122"/>
                  </a:rPr>
                  <a:t>黑盒测试</a:t>
                </a:r>
                <a:endParaRPr lang="zh-CN" altLang="en-GB" sz="2400" b="1">
                  <a:latin typeface="微软雅黑" panose="020B0503020204020204" pitchFamily="34" charset="-122"/>
                  <a:ea typeface="微软雅黑" panose="020B0503020204020204" pitchFamily="34" charset="-122"/>
                </a:endParaRPr>
              </a:p>
            </p:txBody>
          </p:sp>
          <p:sp>
            <p:nvSpPr>
              <p:cNvPr id="38" name="Text Box 23"/>
              <p:cNvSpPr txBox="1">
                <a:spLocks noChangeArrowheads="1"/>
              </p:cNvSpPr>
              <p:nvPr/>
            </p:nvSpPr>
            <p:spPr bwMode="auto">
              <a:xfrm>
                <a:off x="2284" y="981"/>
                <a:ext cx="1428"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800" b="1" dirty="0">
                    <a:solidFill>
                      <a:srgbClr val="3366FF"/>
                    </a:solidFill>
                    <a:latin typeface="微软雅黑" panose="020B0503020204020204" pitchFamily="34" charset="-122"/>
                    <a:ea typeface="微软雅黑" panose="020B0503020204020204" pitchFamily="34" charset="-122"/>
                  </a:rPr>
                  <a:t>测试阶段</a:t>
                </a:r>
                <a:endParaRPr lang="zh-CN" altLang="en-GB" sz="2800" b="1" dirty="0">
                  <a:solidFill>
                    <a:srgbClr val="3366FF"/>
                  </a:solidFill>
                  <a:latin typeface="微软雅黑" panose="020B0503020204020204" pitchFamily="34" charset="-122"/>
                  <a:ea typeface="微软雅黑" panose="020B0503020204020204" pitchFamily="34" charset="-122"/>
                </a:endParaRPr>
              </a:p>
            </p:txBody>
          </p:sp>
          <p:sp>
            <p:nvSpPr>
              <p:cNvPr id="39" name="Line 26"/>
              <p:cNvSpPr>
                <a:spLocks noChangeShapeType="1"/>
              </p:cNvSpPr>
              <p:nvPr/>
            </p:nvSpPr>
            <p:spPr bwMode="auto">
              <a:xfrm>
                <a:off x="2075" y="2914"/>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40" name="Line 27"/>
              <p:cNvSpPr>
                <a:spLocks noChangeShapeType="1"/>
              </p:cNvSpPr>
              <p:nvPr/>
            </p:nvSpPr>
            <p:spPr bwMode="auto">
              <a:xfrm>
                <a:off x="1566" y="3384"/>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42" name="Text Box 29"/>
              <p:cNvSpPr txBox="1">
                <a:spLocks noChangeArrowheads="1"/>
              </p:cNvSpPr>
              <p:nvPr/>
            </p:nvSpPr>
            <p:spPr bwMode="auto">
              <a:xfrm>
                <a:off x="1029" y="3043"/>
                <a:ext cx="86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dirty="0">
                    <a:latin typeface="微软雅黑" panose="020B0503020204020204" pitchFamily="34" charset="-122"/>
                    <a:ea typeface="微软雅黑" panose="020B0503020204020204" pitchFamily="34" charset="-122"/>
                  </a:rPr>
                  <a:t>可靠性测试</a:t>
                </a:r>
                <a:endParaRPr lang="zh-CN" altLang="en-GB" sz="2400" b="1" dirty="0">
                  <a:latin typeface="微软雅黑" panose="020B0503020204020204" pitchFamily="34" charset="-122"/>
                  <a:ea typeface="微软雅黑" panose="020B0503020204020204" pitchFamily="34" charset="-122"/>
                </a:endParaRPr>
              </a:p>
            </p:txBody>
          </p:sp>
          <p:sp>
            <p:nvSpPr>
              <p:cNvPr id="43" name="Line 30"/>
              <p:cNvSpPr>
                <a:spLocks noChangeShapeType="1"/>
              </p:cNvSpPr>
              <p:nvPr/>
            </p:nvSpPr>
            <p:spPr bwMode="auto">
              <a:xfrm>
                <a:off x="2565" y="1868"/>
                <a:ext cx="17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sp>
            <p:nvSpPr>
              <p:cNvPr id="44" name="Text Box 31"/>
              <p:cNvSpPr txBox="1">
                <a:spLocks noChangeArrowheads="1"/>
              </p:cNvSpPr>
              <p:nvPr/>
            </p:nvSpPr>
            <p:spPr bwMode="auto">
              <a:xfrm>
                <a:off x="1717" y="1761"/>
                <a:ext cx="82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a:spcBef>
                    <a:spcPct val="50000"/>
                  </a:spcBef>
                  <a:buClrTx/>
                  <a:buSzTx/>
                  <a:buFontTx/>
                  <a:buNone/>
                </a:pPr>
                <a:r>
                  <a:rPr lang="zh-CN" altLang="en-US" sz="2400" b="1" dirty="0">
                    <a:latin typeface="微软雅黑" panose="020B0503020204020204" pitchFamily="34" charset="-122"/>
                    <a:ea typeface="微软雅黑" panose="020B0503020204020204" pitchFamily="34" charset="-122"/>
                  </a:rPr>
                  <a:t>集成测试</a:t>
                </a:r>
                <a:endParaRPr lang="zh-CN" altLang="en-GB" sz="2400" b="1" dirty="0">
                  <a:latin typeface="微软雅黑" panose="020B0503020204020204" pitchFamily="34" charset="-122"/>
                  <a:ea typeface="微软雅黑" panose="020B0503020204020204" pitchFamily="34" charset="-122"/>
                </a:endParaRPr>
              </a:p>
            </p:txBody>
          </p:sp>
          <p:sp>
            <p:nvSpPr>
              <p:cNvPr id="45" name="Text Box 32"/>
              <p:cNvSpPr txBox="1">
                <a:spLocks noChangeArrowheads="1"/>
              </p:cNvSpPr>
              <p:nvPr/>
            </p:nvSpPr>
            <p:spPr bwMode="auto">
              <a:xfrm>
                <a:off x="771" y="3271"/>
                <a:ext cx="88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zh-CN" altLang="en-GB" sz="2400" b="1" dirty="0">
                    <a:latin typeface="微软雅黑" panose="020B0503020204020204" pitchFamily="34" charset="-122"/>
                    <a:ea typeface="微软雅黑" panose="020B0503020204020204" pitchFamily="34" charset="-122"/>
                  </a:rPr>
                  <a:t>安全性测试</a:t>
                </a:r>
                <a:endParaRPr lang="zh-CN" altLang="en-GB" sz="2400" b="1" dirty="0">
                  <a:latin typeface="微软雅黑" panose="020B0503020204020204" pitchFamily="34" charset="-122"/>
                  <a:ea typeface="微软雅黑" panose="020B0503020204020204" pitchFamily="34" charset="-122"/>
                </a:endParaRPr>
              </a:p>
            </p:txBody>
          </p:sp>
          <p:sp>
            <p:nvSpPr>
              <p:cNvPr id="46" name="Line 33"/>
              <p:cNvSpPr>
                <a:spLocks noChangeShapeType="1"/>
              </p:cNvSpPr>
              <p:nvPr/>
            </p:nvSpPr>
            <p:spPr bwMode="auto">
              <a:xfrm>
                <a:off x="2421" y="2560"/>
                <a:ext cx="26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600">
                  <a:latin typeface="微软雅黑" panose="020B0503020204020204" pitchFamily="34" charset="-122"/>
                  <a:ea typeface="微软雅黑" panose="020B0503020204020204" pitchFamily="34" charset="-122"/>
                </a:endParaRPr>
              </a:p>
            </p:txBody>
          </p:sp>
        </p:grpSp>
      </p:grpSp>
      <p:sp>
        <p:nvSpPr>
          <p:cNvPr id="41"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ustDataLst>
      <p:tags r:id="rId4"/>
    </p:custDataLst>
  </p:cSld>
  <p:clrMapOvr>
    <a:masterClrMapping/>
  </p:clrMapOvr>
  <p:transition spd="med" advTm="6790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静态测试</a:t>
            </a:r>
            <a:endParaRPr lang="zh-CN" altLang="en-US" dirty="0"/>
          </a:p>
        </p:txBody>
      </p:sp>
      <p:sp>
        <p:nvSpPr>
          <p:cNvPr id="6" name="内容占位符 2"/>
          <p:cNvSpPr>
            <a:spLocks noGrp="1"/>
          </p:cNvSpPr>
          <p:nvPr>
            <p:ph idx="4294967295"/>
          </p:nvPr>
        </p:nvSpPr>
        <p:spPr>
          <a:xfrm>
            <a:off x="2737969" y="1639762"/>
            <a:ext cx="18678841" cy="10478687"/>
          </a:xfrm>
        </p:spPr>
        <p:txBody>
          <a:bodyPr>
            <a:noAutofit/>
          </a:bodyPr>
          <a:lstStyle/>
          <a:p>
            <a:pPr rtl="0" hangingPunct="0">
              <a:lnSpc>
                <a:spcPct val="200000"/>
              </a:lnSpc>
              <a:spcBef>
                <a:spcPts val="0"/>
              </a:spcBef>
              <a:buSzTx/>
            </a:pPr>
            <a:r>
              <a:rPr lang="zh-CN" altLang="en-US" dirty="0"/>
              <a:t>动态测试</a:t>
            </a:r>
            <a:endParaRPr lang="en-US" altLang="zh-CN" dirty="0"/>
          </a:p>
          <a:p>
            <a:pPr lvl="2">
              <a:lnSpc>
                <a:spcPct val="150000"/>
              </a:lnSpc>
              <a:spcBef>
                <a:spcPts val="0"/>
              </a:spcBef>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rPr>
              <a:t>指通过</a:t>
            </a:r>
            <a:r>
              <a:rPr lang="zh-CN" altLang="en-US" sz="4400" dirty="0">
                <a:solidFill>
                  <a:srgbClr val="FF0000"/>
                </a:solidFill>
                <a:latin typeface="微软雅黑" panose="020B0503020204020204" pitchFamily="34" charset="-122"/>
                <a:ea typeface="微软雅黑" panose="020B0503020204020204" pitchFamily="34" charset="-122"/>
              </a:rPr>
              <a:t>运行被测程序</a:t>
            </a:r>
            <a:r>
              <a:rPr lang="zh-CN" altLang="en-US" sz="4400" dirty="0">
                <a:latin typeface="微软雅黑" panose="020B0503020204020204" pitchFamily="34" charset="-122"/>
                <a:ea typeface="微软雅黑" panose="020B0503020204020204" pitchFamily="34" charset="-122"/>
              </a:rPr>
              <a:t>，检查运行结果与预期结果的差异，并分析运行效率、正确性和健壮性等性能。</a:t>
            </a:r>
            <a:endParaRPr lang="en-US" altLang="zh-CN" sz="4400" dirty="0">
              <a:latin typeface="微软雅黑" panose="020B0503020204020204" pitchFamily="34" charset="-122"/>
              <a:ea typeface="微软雅黑" panose="020B0503020204020204" pitchFamily="34" charset="-122"/>
            </a:endParaRPr>
          </a:p>
          <a:p>
            <a:pPr lvl="2">
              <a:lnSpc>
                <a:spcPct val="150000"/>
              </a:lnSpc>
              <a:spcBef>
                <a:spcPts val="0"/>
              </a:spcBef>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rPr>
              <a:t>动态测试方法由三部分组成：构造测试用例、</a:t>
            </a:r>
            <a:r>
              <a:rPr lang="zh-CN" altLang="en-US" sz="4400" dirty="0">
                <a:solidFill>
                  <a:srgbClr val="FF0000"/>
                </a:solidFill>
                <a:latin typeface="微软雅黑" panose="020B0503020204020204" pitchFamily="34" charset="-122"/>
                <a:ea typeface="微软雅黑" panose="020B0503020204020204" pitchFamily="34" charset="-122"/>
              </a:rPr>
              <a:t>执行程序</a:t>
            </a:r>
            <a:r>
              <a:rPr lang="zh-CN" altLang="en-US" sz="4400" dirty="0">
                <a:latin typeface="微软雅黑" panose="020B0503020204020204" pitchFamily="34" charset="-122"/>
                <a:ea typeface="微软雅黑" panose="020B0503020204020204" pitchFamily="34" charset="-122"/>
              </a:rPr>
              <a:t>、分析程序的输出结果。</a:t>
            </a:r>
            <a:endParaRPr lang="en-US" altLang="zh-CN" sz="4400" dirty="0">
              <a:latin typeface="微软雅黑" panose="020B0503020204020204" pitchFamily="34" charset="-122"/>
              <a:ea typeface="微软雅黑" panose="020B0503020204020204" pitchFamily="34" charset="-122"/>
            </a:endParaRPr>
          </a:p>
          <a:p>
            <a:pPr rtl="0" hangingPunct="0">
              <a:lnSpc>
                <a:spcPct val="200000"/>
              </a:lnSpc>
              <a:spcBef>
                <a:spcPts val="0"/>
              </a:spcBef>
              <a:buSzTx/>
              <a:buFont typeface="Wingdings" panose="05000000000000000000" pitchFamily="2" charset="2"/>
              <a:buChar char="n"/>
            </a:pPr>
            <a:r>
              <a:rPr lang="zh-CN" altLang="en-US" sz="4400" dirty="0">
                <a:latin typeface="微软雅黑" panose="020B0503020204020204" pitchFamily="34" charset="-122"/>
                <a:ea typeface="微软雅黑" panose="020B0503020204020204" pitchFamily="34" charset="-122"/>
              </a:rPr>
              <a:t>静态测试</a:t>
            </a:r>
            <a:endParaRPr lang="en-US" altLang="zh-CN" sz="4400" dirty="0">
              <a:latin typeface="微软雅黑" panose="020B0503020204020204" pitchFamily="34" charset="-122"/>
              <a:ea typeface="微软雅黑" panose="020B0503020204020204" pitchFamily="34" charset="-122"/>
            </a:endParaRPr>
          </a:p>
          <a:p>
            <a:pPr lvl="2">
              <a:lnSpc>
                <a:spcPct val="150000"/>
              </a:lnSpc>
              <a:spcBef>
                <a:spcPts val="0"/>
              </a:spcBef>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rPr>
              <a:t>指</a:t>
            </a:r>
            <a:r>
              <a:rPr lang="zh-CN" altLang="en-US" sz="4400" dirty="0">
                <a:solidFill>
                  <a:srgbClr val="FF0000"/>
                </a:solidFill>
                <a:latin typeface="微软雅黑" panose="020B0503020204020204" pitchFamily="34" charset="-122"/>
                <a:ea typeface="微软雅黑" panose="020B0503020204020204" pitchFamily="34" charset="-122"/>
              </a:rPr>
              <a:t>不运行被测程序</a:t>
            </a:r>
            <a:r>
              <a:rPr lang="zh-CN" altLang="en-US" sz="4400" dirty="0">
                <a:latin typeface="微软雅黑" panose="020B0503020204020204" pitchFamily="34" charset="-122"/>
                <a:ea typeface="微软雅黑" panose="020B0503020204020204" pitchFamily="34" charset="-122"/>
              </a:rPr>
              <a:t>本身，仅通过分析或检查源程序（或其他软件制品）的语法、结构、过程、接口等来检查程序</a:t>
            </a:r>
            <a:r>
              <a:rPr lang="en-US" altLang="zh-CN" sz="4400" dirty="0">
                <a:latin typeface="微软雅黑" panose="020B0503020204020204" pitchFamily="34" charset="-122"/>
                <a:ea typeface="微软雅黑" panose="020B0503020204020204" pitchFamily="34" charset="-122"/>
              </a:rPr>
              <a:t>/</a:t>
            </a:r>
            <a:r>
              <a:rPr lang="zh-CN" altLang="en-US" sz="4400" dirty="0">
                <a:latin typeface="微软雅黑" panose="020B0503020204020204" pitchFamily="34" charset="-122"/>
                <a:ea typeface="微软雅黑" panose="020B0503020204020204" pitchFamily="34" charset="-122"/>
              </a:rPr>
              <a:t>设计的正确性。</a:t>
            </a:r>
            <a:endParaRPr lang="en-US" altLang="zh-CN" sz="4400" dirty="0">
              <a:latin typeface="微软雅黑" panose="020B0503020204020204" pitchFamily="34" charset="-122"/>
              <a:ea typeface="微软雅黑" panose="020B0503020204020204" pitchFamily="34" charset="-122"/>
            </a:endParaRPr>
          </a:p>
          <a:p>
            <a:pPr lvl="2">
              <a:lnSpc>
                <a:spcPct val="150000"/>
              </a:lnSpc>
              <a:spcBef>
                <a:spcPts val="0"/>
              </a:spcBef>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rPr>
              <a:t>通常不需要测试用例，但需要静态检查表。</a:t>
            </a:r>
            <a:endParaRPr lang="en-US" altLang="zh-CN" sz="4400" dirty="0">
              <a:latin typeface="微软雅黑" panose="020B0503020204020204" pitchFamily="34" charset="-122"/>
              <a:ea typeface="微软雅黑" panose="020B0503020204020204" pitchFamily="34" charset="-122"/>
            </a:endParaRPr>
          </a:p>
        </p:txBody>
      </p:sp>
      <p:sp>
        <p:nvSpPr>
          <p:cNvPr id="8" name="矩形 7"/>
          <p:cNvSpPr/>
          <p:nvPr/>
        </p:nvSpPr>
        <p:spPr>
          <a:xfrm>
            <a:off x="10881997" y="12977337"/>
            <a:ext cx="2031325" cy="646331"/>
          </a:xfrm>
          <a:prstGeom prst="rect">
            <a:avLst/>
          </a:prstGeom>
        </p:spPr>
        <p:txBody>
          <a:bodyPr wrap="none">
            <a:spAutoFit/>
          </a:bodyPr>
          <a:lstStyle/>
          <a:p>
            <a:pPr algn="l" defTabSz="914400" hangingPunct="1"/>
            <a:r>
              <a:rPr lang="zh-CN" altLang="en-US" sz="3600" kern="1200" dirty="0">
                <a:solidFill>
                  <a:prstClr val="white"/>
                </a:solidFill>
                <a:latin typeface="华文行楷" panose="02010800040101010101" pitchFamily="2" charset="-122"/>
                <a:ea typeface="华文行楷" panose="02010800040101010101" pitchFamily="2" charset="-122"/>
                <a:cs typeface="+mn-cs"/>
              </a:rPr>
              <a:t>软件危机</a:t>
            </a:r>
            <a:endParaRPr lang="zh-CN" altLang="en-US" sz="3600" b="0" kern="1200" dirty="0">
              <a:solidFill>
                <a:prstClr val="white"/>
              </a:solidFill>
              <a:latin typeface="Calibri" panose="020F0502020204030204"/>
              <a:ea typeface="宋体" panose="02010600030101010101" pitchFamily="2" charset="-122"/>
              <a:cs typeface="+mn-cs"/>
            </a:endParaRPr>
          </a:p>
        </p:txBody>
      </p:sp>
      <p:sp>
        <p:nvSpPr>
          <p:cNvPr id="5"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7602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静态测试</a:t>
            </a:r>
            <a:endParaRPr lang="zh-CN" altLang="en-US" dirty="0"/>
          </a:p>
        </p:txBody>
      </p:sp>
      <p:sp>
        <p:nvSpPr>
          <p:cNvPr id="8" name="矩形 7"/>
          <p:cNvSpPr/>
          <p:nvPr/>
        </p:nvSpPr>
        <p:spPr>
          <a:xfrm>
            <a:off x="10881997" y="12977337"/>
            <a:ext cx="2031325" cy="646331"/>
          </a:xfrm>
          <a:prstGeom prst="rect">
            <a:avLst/>
          </a:prstGeom>
        </p:spPr>
        <p:txBody>
          <a:bodyPr wrap="none">
            <a:spAutoFit/>
          </a:bodyPr>
          <a:lstStyle/>
          <a:p>
            <a:pPr algn="l" defTabSz="914400" hangingPunct="1"/>
            <a:r>
              <a:rPr lang="zh-CN" altLang="en-US" sz="3600" kern="1200" dirty="0">
                <a:solidFill>
                  <a:prstClr val="white"/>
                </a:solidFill>
                <a:latin typeface="华文行楷" panose="02010800040101010101" pitchFamily="2" charset="-122"/>
                <a:ea typeface="华文行楷" panose="02010800040101010101" pitchFamily="2" charset="-122"/>
                <a:cs typeface="+mn-cs"/>
              </a:rPr>
              <a:t>软件危机</a:t>
            </a:r>
            <a:endParaRPr lang="zh-CN" altLang="en-US" sz="3600" b="0" kern="1200" dirty="0">
              <a:solidFill>
                <a:prstClr val="white"/>
              </a:solidFill>
              <a:latin typeface="Calibri" panose="020F0502020204030204"/>
              <a:ea typeface="宋体" panose="02010600030101010101" pitchFamily="2" charset="-122"/>
              <a:cs typeface="+mn-cs"/>
            </a:endParaRPr>
          </a:p>
        </p:txBody>
      </p:sp>
      <p:sp>
        <p:nvSpPr>
          <p:cNvPr id="5" name="Rectangle 3"/>
          <p:cNvSpPr txBox="1">
            <a:spLocks noChangeArrowheads="1"/>
          </p:cNvSpPr>
          <p:nvPr/>
        </p:nvSpPr>
        <p:spPr>
          <a:xfrm>
            <a:off x="2640986" y="2937516"/>
            <a:ext cx="19573391" cy="9283980"/>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b="0">
                <a:latin typeface="微软雅黑" panose="020B0503020204020204" pitchFamily="34" charset="-122"/>
                <a:ea typeface="微软雅黑" panose="020B0503020204020204" pitchFamily="34" charset="-122"/>
                <a:cs typeface="微软雅黑" panose="020B0503020204020204" pitchFamily="34"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b="1" dirty="0"/>
              <a:t>静态测试的目标及内容：</a:t>
            </a:r>
            <a:endParaRPr lang="zh-CN" altLang="en-US" b="1" dirty="0"/>
          </a:p>
          <a:p>
            <a:pPr lvl="1">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cs typeface="Helvetica Neue"/>
              </a:rPr>
              <a:t>检查需求文档，是否切合实际，是否自相矛盾，是否清晰明确。</a:t>
            </a:r>
            <a:endParaRPr lang="en-US" altLang="zh-CN" sz="4400" dirty="0">
              <a:latin typeface="微软雅黑" panose="020B0503020204020204" pitchFamily="34" charset="-122"/>
              <a:ea typeface="微软雅黑" panose="020B0503020204020204" pitchFamily="34" charset="-122"/>
              <a:cs typeface="Helvetica Neue"/>
            </a:endParaRPr>
          </a:p>
          <a:p>
            <a:pPr lvl="1">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cs typeface="Helvetica Neue"/>
              </a:rPr>
              <a:t>检查设计文档，明确软件设计本身的合理性以及设计能否实现软件需求。</a:t>
            </a:r>
            <a:endParaRPr lang="zh-CN" altLang="en-US" sz="4400" dirty="0">
              <a:latin typeface="微软雅黑" panose="020B0503020204020204" pitchFamily="34" charset="-122"/>
              <a:ea typeface="微软雅黑" panose="020B0503020204020204" pitchFamily="34" charset="-122"/>
              <a:cs typeface="Helvetica Neue"/>
            </a:endParaRPr>
          </a:p>
          <a:p>
            <a:pPr lvl="1">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cs typeface="Helvetica Neue"/>
              </a:rPr>
              <a:t>检查代码风格，是否符合规范。</a:t>
            </a:r>
            <a:endParaRPr lang="zh-CN" altLang="en-US" sz="4400" dirty="0">
              <a:latin typeface="微软雅黑" panose="020B0503020204020204" pitchFamily="34" charset="-122"/>
              <a:ea typeface="微软雅黑" panose="020B0503020204020204" pitchFamily="34" charset="-122"/>
              <a:cs typeface="Helvetica Neue"/>
            </a:endParaRPr>
          </a:p>
          <a:p>
            <a:pPr lvl="1">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cs typeface="Helvetica Neue"/>
              </a:rPr>
              <a:t>检查程序设计和结构，是否合理。</a:t>
            </a:r>
            <a:endParaRPr lang="zh-CN" altLang="en-US" sz="4400" dirty="0">
              <a:latin typeface="微软雅黑" panose="020B0503020204020204" pitchFamily="34" charset="-122"/>
              <a:ea typeface="微软雅黑" panose="020B0503020204020204" pitchFamily="34" charset="-122"/>
              <a:cs typeface="Helvetica Neue"/>
            </a:endParaRPr>
          </a:p>
          <a:p>
            <a:pPr lvl="1">
              <a:buFont typeface="Wingdings" panose="05000000000000000000" pitchFamily="2" charset="2"/>
              <a:buChar char="Ø"/>
            </a:pPr>
            <a:r>
              <a:rPr lang="zh-CN" altLang="en-US" sz="4400" dirty="0">
                <a:latin typeface="微软雅黑" panose="020B0503020204020204" pitchFamily="34" charset="-122"/>
                <a:ea typeface="微软雅黑" panose="020B0503020204020204" pitchFamily="34" charset="-122"/>
                <a:cs typeface="Helvetica Neue"/>
              </a:rPr>
              <a:t>检查程序的业务逻辑 ，是否有逻辑缺陷。</a:t>
            </a:r>
            <a:endParaRPr lang="zh-CN" altLang="en-US" sz="4400" dirty="0">
              <a:latin typeface="微软雅黑" panose="020B0503020204020204" pitchFamily="34" charset="-122"/>
              <a:ea typeface="微软雅黑" panose="020B0503020204020204" pitchFamily="34" charset="-122"/>
              <a:cs typeface="Helvetica Neue"/>
            </a:endParaRPr>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5333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静态测试</a:t>
            </a:r>
            <a:endParaRPr lang="zh-CN" altLang="en-US" dirty="0"/>
          </a:p>
        </p:txBody>
      </p:sp>
      <p:sp>
        <p:nvSpPr>
          <p:cNvPr id="8" name="矩形 7"/>
          <p:cNvSpPr/>
          <p:nvPr/>
        </p:nvSpPr>
        <p:spPr>
          <a:xfrm>
            <a:off x="10881997" y="12977337"/>
            <a:ext cx="2031325" cy="646331"/>
          </a:xfrm>
          <a:prstGeom prst="rect">
            <a:avLst/>
          </a:prstGeom>
        </p:spPr>
        <p:txBody>
          <a:bodyPr wrap="none">
            <a:spAutoFit/>
          </a:bodyPr>
          <a:lstStyle/>
          <a:p>
            <a:pPr algn="l" defTabSz="914400" hangingPunct="1"/>
            <a:r>
              <a:rPr lang="zh-CN" altLang="en-US" sz="3600" kern="1200" dirty="0">
                <a:solidFill>
                  <a:prstClr val="white"/>
                </a:solidFill>
                <a:latin typeface="华文行楷" panose="02010800040101010101" pitchFamily="2" charset="-122"/>
                <a:ea typeface="华文行楷" panose="02010800040101010101" pitchFamily="2" charset="-122"/>
                <a:cs typeface="+mn-cs"/>
              </a:rPr>
              <a:t>软件危机</a:t>
            </a:r>
            <a:endParaRPr lang="zh-CN" altLang="en-US" sz="3600" b="0" kern="1200" dirty="0">
              <a:solidFill>
                <a:prstClr val="white"/>
              </a:solidFill>
              <a:latin typeface="Calibri" panose="020F0502020204030204"/>
              <a:ea typeface="宋体" panose="02010600030101010101" pitchFamily="2" charset="-122"/>
              <a:cs typeface="+mn-cs"/>
            </a:endParaRPr>
          </a:p>
        </p:txBody>
      </p:sp>
      <p:sp>
        <p:nvSpPr>
          <p:cNvPr id="6" name="Rectangle 4"/>
          <p:cNvSpPr>
            <a:spLocks noChangeArrowheads="1"/>
          </p:cNvSpPr>
          <p:nvPr/>
        </p:nvSpPr>
        <p:spPr bwMode="auto">
          <a:xfrm>
            <a:off x="2737969" y="2353886"/>
            <a:ext cx="18516600" cy="8255538"/>
          </a:xfrm>
          <a:prstGeom prst="rect">
            <a:avLst/>
          </a:prstGeom>
          <a:ln w="12700">
            <a:miter lim="400000"/>
          </a:ln>
        </p:spPr>
        <p:txBody>
          <a:bodyPr lIns="50800" tIns="50800" rIns="50800" bIns="50800" anchor="ctr">
            <a:noAutofit/>
          </a:bodyPr>
          <a:lstStyle/>
          <a:p>
            <a:pPr marL="635000" indent="-635000" algn="l">
              <a:lnSpc>
                <a:spcPct val="200000"/>
              </a:lnSpc>
              <a:buFont typeface="Wingdings" panose="05000000000000000000" pitchFamily="2" charset="2"/>
              <a:buChar char="n"/>
            </a:pPr>
            <a:r>
              <a:rPr lang="zh-CN" altLang="en-US" sz="4400" dirty="0">
                <a:latin typeface="微软雅黑" panose="020B0503020204020204" pitchFamily="34" charset="-122"/>
                <a:ea typeface="微软雅黑" panose="020B0503020204020204" pitchFamily="34" charset="-122"/>
                <a:cs typeface="微软雅黑" panose="020B0503020204020204" pitchFamily="34" charset="-122"/>
              </a:rPr>
              <a:t>静态测试方法：</a:t>
            </a:r>
            <a:endParaRPr lang="zh-CN" altLang="en-US" sz="4400" dirty="0">
              <a:latin typeface="微软雅黑" panose="020B0503020204020204" pitchFamily="34" charset="-122"/>
              <a:ea typeface="微软雅黑" panose="020B0503020204020204" pitchFamily="34" charset="-122"/>
              <a:cs typeface="微软雅黑" panose="020B0503020204020204" pitchFamily="34" charset="-122"/>
            </a:endParaRPr>
          </a:p>
          <a:p>
            <a:pPr marL="1270000" lvl="1" indent="-635000" algn="l">
              <a:lnSpc>
                <a:spcPct val="200000"/>
              </a:lnSpc>
              <a:spcBef>
                <a:spcPts val="5900"/>
              </a:spcBef>
              <a:buSzPct val="125000"/>
              <a:buFont typeface="Wingdings" panose="05000000000000000000" pitchFamily="2" charset="2"/>
              <a:buChar char="Ø"/>
            </a:pPr>
            <a:r>
              <a:rPr lang="zh-CN" altLang="en-US" sz="4400" b="0" dirty="0">
                <a:solidFill>
                  <a:srgbClr val="FF0000"/>
                </a:solidFill>
                <a:latin typeface="微软雅黑" panose="020B0503020204020204" pitchFamily="34" charset="-122"/>
                <a:ea typeface="微软雅黑" panose="020B0503020204020204" pitchFamily="34" charset="-122"/>
              </a:rPr>
              <a:t>同行评审</a:t>
            </a:r>
            <a:r>
              <a:rPr lang="zh-CN" altLang="en-US" sz="4400" b="0" dirty="0">
                <a:latin typeface="微软雅黑" panose="020B0503020204020204" pitchFamily="34" charset="-122"/>
                <a:ea typeface="微软雅黑" panose="020B0503020204020204" pitchFamily="34" charset="-122"/>
              </a:rPr>
              <a:t>：由软件制品创建者的同行们检查该软件制品，识别软件制品的缺陷，改进产品的不足。 </a:t>
            </a:r>
            <a:endParaRPr lang="zh-CN" altLang="en-US" sz="4400" b="0" dirty="0">
              <a:latin typeface="微软雅黑" panose="020B0503020204020204" pitchFamily="34" charset="-122"/>
              <a:ea typeface="微软雅黑" panose="020B0503020204020204" pitchFamily="34" charset="-122"/>
            </a:endParaRPr>
          </a:p>
          <a:p>
            <a:pPr marL="1270000" lvl="1" indent="-635000" algn="l">
              <a:lnSpc>
                <a:spcPct val="200000"/>
              </a:lnSpc>
              <a:spcBef>
                <a:spcPts val="5900"/>
              </a:spcBef>
              <a:buSzPct val="125000"/>
              <a:buFont typeface="Wingdings" panose="05000000000000000000" pitchFamily="2" charset="2"/>
              <a:buChar char="Ø"/>
            </a:pPr>
            <a:r>
              <a:rPr lang="zh-CN" altLang="en-US" sz="4400" b="0" dirty="0">
                <a:latin typeface="微软雅黑" panose="020B0503020204020204" pitchFamily="34" charset="-122"/>
                <a:ea typeface="微软雅黑" panose="020B0503020204020204" pitchFamily="34" charset="-122"/>
              </a:rPr>
              <a:t>数据流测试：检查程序的控制流程，根据事件的顺序，探索跟踪变量的值以及变量的使用情况等。</a:t>
            </a:r>
            <a:endParaRPr lang="en-US" altLang="zh-CN" sz="4400" b="0" dirty="0">
              <a:latin typeface="微软雅黑" panose="020B0503020204020204" pitchFamily="34" charset="-122"/>
              <a:ea typeface="微软雅黑" panose="020B0503020204020204" pitchFamily="34" charset="-122"/>
            </a:endParaRPr>
          </a:p>
        </p:txBody>
      </p:sp>
      <p:sp>
        <p:nvSpPr>
          <p:cNvPr id="5"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3529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静态测试</a:t>
            </a:r>
            <a:endParaRPr lang="zh-CN" altLang="en-US" dirty="0"/>
          </a:p>
        </p:txBody>
      </p:sp>
      <p:sp>
        <p:nvSpPr>
          <p:cNvPr id="8" name="矩形 7"/>
          <p:cNvSpPr/>
          <p:nvPr/>
        </p:nvSpPr>
        <p:spPr>
          <a:xfrm>
            <a:off x="10881997" y="12977337"/>
            <a:ext cx="2031325" cy="646331"/>
          </a:xfrm>
          <a:prstGeom prst="rect">
            <a:avLst/>
          </a:prstGeom>
        </p:spPr>
        <p:txBody>
          <a:bodyPr wrap="none">
            <a:spAutoFit/>
          </a:bodyPr>
          <a:lstStyle/>
          <a:p>
            <a:pPr algn="l" defTabSz="914400" hangingPunct="1"/>
            <a:r>
              <a:rPr lang="zh-CN" altLang="en-US" sz="3600" kern="1200" dirty="0">
                <a:solidFill>
                  <a:prstClr val="white"/>
                </a:solidFill>
                <a:latin typeface="华文行楷" panose="02010800040101010101" pitchFamily="2" charset="-122"/>
                <a:ea typeface="华文行楷" panose="02010800040101010101" pitchFamily="2" charset="-122"/>
                <a:cs typeface="+mn-cs"/>
              </a:rPr>
              <a:t>软件危机</a:t>
            </a:r>
            <a:endParaRPr lang="zh-CN" altLang="en-US" sz="3600" b="0" kern="1200" dirty="0">
              <a:solidFill>
                <a:prstClr val="white"/>
              </a:solidFill>
              <a:latin typeface="Calibri" panose="020F0502020204030204"/>
              <a:ea typeface="宋体" panose="02010600030101010101" pitchFamily="2" charset="-122"/>
              <a:cs typeface="+mn-cs"/>
            </a:endParaRPr>
          </a:p>
        </p:txBody>
      </p:sp>
      <p:sp>
        <p:nvSpPr>
          <p:cNvPr id="6" name="Rectangle 4"/>
          <p:cNvSpPr>
            <a:spLocks noChangeArrowheads="1"/>
          </p:cNvSpPr>
          <p:nvPr/>
        </p:nvSpPr>
        <p:spPr bwMode="auto">
          <a:xfrm>
            <a:off x="2737969" y="1157763"/>
            <a:ext cx="20288250" cy="10227212"/>
          </a:xfrm>
          <a:prstGeom prst="rect">
            <a:avLst/>
          </a:prstGeom>
          <a:ln w="12700">
            <a:miter lim="400000"/>
          </a:ln>
        </p:spPr>
        <p:txBody>
          <a:bodyPr lIns="50800" tIns="50800" rIns="50800" bIns="50800" anchor="ctr">
            <a:noAutofit/>
          </a:bodyPr>
          <a:lstStyle/>
          <a:p>
            <a:pPr marL="635000" lvl="1" indent="-635000" algn="l">
              <a:lnSpc>
                <a:spcPct val="200000"/>
              </a:lnSpc>
              <a:buFont typeface="Wingdings" panose="05000000000000000000" pitchFamily="2" charset="2"/>
              <a:buChar char="n"/>
            </a:pPr>
            <a:r>
              <a:rPr lang="zh-CN" altLang="en-US" sz="4400" dirty="0">
                <a:latin typeface="微软雅黑" panose="020B0503020204020204" pitchFamily="34" charset="-122"/>
                <a:ea typeface="微软雅黑" panose="020B0503020204020204" pitchFamily="34" charset="-122"/>
                <a:cs typeface="微软雅黑" panose="020B0503020204020204" pitchFamily="34" charset="-122"/>
              </a:rPr>
              <a:t>同行评审：由软件制品创建者的</a:t>
            </a:r>
            <a:r>
              <a:rPr lang="zh-CN" altLang="en-US" sz="4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同行</a:t>
            </a:r>
            <a:r>
              <a:rPr lang="zh-CN" altLang="en-US" sz="4400" dirty="0">
                <a:latin typeface="微软雅黑" panose="020B0503020204020204" pitchFamily="34" charset="-122"/>
                <a:ea typeface="微软雅黑" panose="020B0503020204020204" pitchFamily="34" charset="-122"/>
                <a:cs typeface="微软雅黑" panose="020B0503020204020204" pitchFamily="34" charset="-122"/>
              </a:rPr>
              <a:t>们检查该</a:t>
            </a:r>
            <a:r>
              <a:rPr lang="zh-CN" altLang="en-US" sz="4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制品</a:t>
            </a:r>
            <a:r>
              <a:rPr lang="zh-CN" altLang="en-US" sz="4400" dirty="0">
                <a:latin typeface="微软雅黑" panose="020B0503020204020204" pitchFamily="34" charset="-122"/>
                <a:ea typeface="微软雅黑" panose="020B0503020204020204" pitchFamily="34" charset="-122"/>
                <a:cs typeface="微软雅黑" panose="020B0503020204020204" pitchFamily="34" charset="-122"/>
              </a:rPr>
              <a:t>，识别制品的缺陷，改进制品的不足。 </a:t>
            </a:r>
            <a:endParaRPr lang="zh-CN" altLang="en-US" sz="4400" dirty="0">
              <a:latin typeface="微软雅黑" panose="020B0503020204020204" pitchFamily="34" charset="-122"/>
              <a:ea typeface="微软雅黑" panose="020B0503020204020204" pitchFamily="34" charset="-122"/>
              <a:cs typeface="微软雅黑" panose="020B0503020204020204" pitchFamily="34" charset="-122"/>
            </a:endParaRPr>
          </a:p>
          <a:p>
            <a:pPr marL="1270000" lvl="1" indent="-635000" algn="l">
              <a:lnSpc>
                <a:spcPct val="200000"/>
              </a:lnSpc>
              <a:spcBef>
                <a:spcPts val="5900"/>
              </a:spcBef>
              <a:buSzPct val="125000"/>
              <a:buFont typeface="Wingdings" panose="05000000000000000000" pitchFamily="2" charset="2"/>
              <a:buChar char="Ø"/>
            </a:pPr>
            <a:r>
              <a:rPr lang="zh-CN" altLang="en-US" sz="4400" b="0" dirty="0">
                <a:latin typeface="微软雅黑" panose="020B0503020204020204" pitchFamily="34" charset="-122"/>
                <a:ea typeface="微软雅黑" panose="020B0503020204020204" pitchFamily="34" charset="-122"/>
              </a:rPr>
              <a:t>同行：指项目成员和具有同等开发专业技能的并熟知工件的人员。具体来说指项目组成员或公司内其他项目组成员以及少量公司外的专家。 </a:t>
            </a:r>
            <a:endParaRPr lang="zh-CN" altLang="en-US" sz="4400" b="0" dirty="0">
              <a:latin typeface="微软雅黑" panose="020B0503020204020204" pitchFamily="34" charset="-122"/>
              <a:ea typeface="微软雅黑" panose="020B0503020204020204" pitchFamily="34" charset="-122"/>
            </a:endParaRPr>
          </a:p>
          <a:p>
            <a:pPr marL="1270000" lvl="1" indent="-635000" algn="l">
              <a:lnSpc>
                <a:spcPct val="200000"/>
              </a:lnSpc>
              <a:spcBef>
                <a:spcPts val="5900"/>
              </a:spcBef>
              <a:buSzPct val="125000"/>
              <a:buFont typeface="Wingdings" panose="05000000000000000000" pitchFamily="2" charset="2"/>
              <a:buChar char="Ø"/>
            </a:pPr>
            <a:r>
              <a:rPr lang="zh-CN" altLang="en-US" sz="4400" b="0" dirty="0">
                <a:latin typeface="微软雅黑" panose="020B0503020204020204" pitchFamily="34" charset="-122"/>
                <a:ea typeface="微软雅黑" panose="020B0503020204020204" pitchFamily="34" charset="-122"/>
              </a:rPr>
              <a:t>制品：软件开发过程中人为创建的文档、模型、源代码等。</a:t>
            </a:r>
            <a:endParaRPr lang="zh-CN" altLang="en-US" sz="4400" b="0" dirty="0">
              <a:latin typeface="微软雅黑" panose="020B0503020204020204" pitchFamily="34" charset="-122"/>
              <a:ea typeface="微软雅黑" panose="020B0503020204020204" pitchFamily="34" charset="-122"/>
            </a:endParaRPr>
          </a:p>
        </p:txBody>
      </p:sp>
      <p:sp>
        <p:nvSpPr>
          <p:cNvPr id="5"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669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Times New Roman" panose="02020603050405020304" pitchFamily="18" charset="0"/>
                <a:cs typeface="Times New Roman" panose="02020603050405020304" pitchFamily="18" charset="0"/>
              </a:rPr>
              <a:t>静态测试</a:t>
            </a:r>
            <a:endParaRPr lang="zh-CN" altLang="en-US"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a:xfrm>
            <a:off x="2737969" y="1658175"/>
            <a:ext cx="17564569" cy="9415462"/>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200000"/>
              </a:lnSpc>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200000"/>
              </a:lnSpc>
              <a:spcBef>
                <a:spcPts val="5900"/>
              </a:spcBef>
              <a:buSzPct val="125000"/>
              <a:buFont typeface="Wingdings" panose="05000000000000000000" pitchFamily="2" charset="2"/>
              <a:buChar char="Ø"/>
              <a:defRPr sz="4400" b="0">
                <a:solidFill>
                  <a:srgbClr val="FF0000"/>
                </a:solidFill>
                <a:latin typeface="微软雅黑" panose="020B0503020204020204" pitchFamily="34" charset="-122"/>
                <a:ea typeface="微软雅黑" panose="020B0503020204020204" pitchFamily="34" charset="-122"/>
              </a:defRPr>
            </a:lvl2pPr>
          </a:lstStyle>
          <a:p>
            <a:pPr>
              <a:lnSpc>
                <a:spcPct val="150000"/>
              </a:lnSpc>
            </a:pPr>
            <a:r>
              <a:rPr lang="zh-CN" altLang="en-US" dirty="0">
                <a:latin typeface="Times New Roman" panose="02020603050405020304" pitchFamily="18" charset="0"/>
                <a:cs typeface="Times New Roman" panose="02020603050405020304" pitchFamily="18" charset="0"/>
              </a:rPr>
              <a:t>同行评审的形式</a:t>
            </a:r>
            <a:endParaRPr lang="zh-CN"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solidFill>
                  <a:schemeClr val="tx1"/>
                </a:solidFill>
                <a:latin typeface="Times New Roman" panose="02020603050405020304" pitchFamily="18" charset="0"/>
                <a:cs typeface="Times New Roman" panose="02020603050405020304" pitchFamily="18" charset="0"/>
              </a:rPr>
              <a:t>走读（</a:t>
            </a:r>
            <a:r>
              <a:rPr lang="en-US" altLang="zh-CN" dirty="0">
                <a:solidFill>
                  <a:schemeClr val="tx1"/>
                </a:solidFill>
                <a:latin typeface="Times New Roman" panose="02020603050405020304" pitchFamily="18" charset="0"/>
                <a:cs typeface="Times New Roman" panose="02020603050405020304" pitchFamily="18" charset="0"/>
              </a:rPr>
              <a:t>Walkthrough</a:t>
            </a:r>
            <a:r>
              <a:rPr lang="zh-CN" altLang="en-US" dirty="0">
                <a:solidFill>
                  <a:schemeClr val="tx1"/>
                </a:solidFill>
                <a:latin typeface="Times New Roman" panose="02020603050405020304" pitchFamily="18" charset="0"/>
                <a:cs typeface="Times New Roman" panose="02020603050405020304" pitchFamily="18" charset="0"/>
              </a:rPr>
              <a:t>） </a:t>
            </a:r>
            <a:endParaRPr lang="zh-CN" altLang="en-US" dirty="0">
              <a:solidFill>
                <a:schemeClr val="tx1"/>
              </a:solidFill>
              <a:latin typeface="Times New Roman" panose="02020603050405020304" pitchFamily="18" charset="0"/>
              <a:cs typeface="Times New Roman" panose="02020603050405020304" pitchFamily="18" charset="0"/>
            </a:endParaRPr>
          </a:p>
          <a:p>
            <a:pPr lvl="1">
              <a:lnSpc>
                <a:spcPct val="150000"/>
              </a:lnSpc>
            </a:pPr>
            <a:r>
              <a:rPr lang="zh-CN" altLang="en-US" dirty="0">
                <a:solidFill>
                  <a:schemeClr val="tx1"/>
                </a:solidFill>
                <a:latin typeface="Times New Roman" panose="02020603050405020304" pitchFamily="18" charset="0"/>
                <a:cs typeface="Times New Roman" panose="02020603050405020304" pitchFamily="18" charset="0"/>
              </a:rPr>
              <a:t>小组评审</a:t>
            </a:r>
            <a:r>
              <a:rPr lang="en-US" altLang="zh-CN" dirty="0">
                <a:solidFill>
                  <a:schemeClr val="tx1"/>
                </a:solidFill>
                <a:latin typeface="Times New Roman" panose="02020603050405020304" pitchFamily="18" charset="0"/>
                <a:cs typeface="Times New Roman" panose="02020603050405020304" pitchFamily="18" charset="0"/>
              </a:rPr>
              <a:t>(Team Review) </a:t>
            </a:r>
            <a:endParaRPr lang="en-US" altLang="zh-CN" dirty="0">
              <a:solidFill>
                <a:schemeClr val="tx1"/>
              </a:solidFill>
              <a:latin typeface="Times New Roman" panose="02020603050405020304" pitchFamily="18" charset="0"/>
              <a:cs typeface="Times New Roman" panose="02020603050405020304" pitchFamily="18" charset="0"/>
            </a:endParaRPr>
          </a:p>
          <a:p>
            <a:pPr lvl="1">
              <a:lnSpc>
                <a:spcPct val="150000"/>
              </a:lnSpc>
            </a:pPr>
            <a:r>
              <a:rPr lang="zh-CN" altLang="en-US" dirty="0">
                <a:solidFill>
                  <a:schemeClr val="tx1"/>
                </a:solidFill>
                <a:latin typeface="Times New Roman" panose="02020603050405020304" pitchFamily="18" charset="0"/>
                <a:cs typeface="Times New Roman" panose="02020603050405020304" pitchFamily="18" charset="0"/>
              </a:rPr>
              <a:t>审查</a:t>
            </a:r>
            <a:r>
              <a:rPr lang="en-US" altLang="zh-CN" dirty="0">
                <a:solidFill>
                  <a:schemeClr val="tx1"/>
                </a:solidFill>
                <a:latin typeface="Times New Roman" panose="02020603050405020304" pitchFamily="18" charset="0"/>
                <a:cs typeface="Times New Roman" panose="02020603050405020304" pitchFamily="18" charset="0"/>
              </a:rPr>
              <a:t>(Inspection) </a:t>
            </a:r>
            <a:endParaRPr lang="en-US" altLang="zh-CN" dirty="0">
              <a:solidFill>
                <a:schemeClr val="tx1"/>
              </a:solidFill>
              <a:latin typeface="Times New Roman" panose="02020603050405020304" pitchFamily="18" charset="0"/>
              <a:cs typeface="Times New Roman" panose="02020603050405020304" pitchFamily="18" charset="0"/>
            </a:endParaRPr>
          </a:p>
          <a:p>
            <a:pPr>
              <a:lnSpc>
                <a:spcPct val="250000"/>
              </a:lnSpc>
            </a:pPr>
            <a:r>
              <a:rPr lang="zh-CN" altLang="en-US" dirty="0">
                <a:latin typeface="Times New Roman" panose="02020603050405020304" pitchFamily="18" charset="0"/>
                <a:cs typeface="Times New Roman" panose="02020603050405020304" pitchFamily="18" charset="0"/>
              </a:rPr>
              <a:t>走读、小组评审和审查都有</a:t>
            </a:r>
            <a:r>
              <a:rPr lang="zh-CN" altLang="en-US" dirty="0">
                <a:solidFill>
                  <a:srgbClr val="FF0000"/>
                </a:solidFill>
                <a:latin typeface="Times New Roman" panose="02020603050405020304" pitchFamily="18" charset="0"/>
                <a:cs typeface="Times New Roman" panose="02020603050405020304" pitchFamily="18" charset="0"/>
              </a:rPr>
              <a:t>正式</a:t>
            </a:r>
            <a:r>
              <a:rPr lang="zh-CN" altLang="en-US" dirty="0">
                <a:latin typeface="Times New Roman" panose="02020603050405020304" pitchFamily="18" charset="0"/>
                <a:cs typeface="Times New Roman" panose="02020603050405020304" pitchFamily="18" charset="0"/>
              </a:rPr>
              <a:t>评审和</a:t>
            </a:r>
            <a:r>
              <a:rPr lang="zh-CN" altLang="en-US" dirty="0">
                <a:solidFill>
                  <a:srgbClr val="FF0000"/>
                </a:solidFill>
                <a:latin typeface="Times New Roman" panose="02020603050405020304" pitchFamily="18" charset="0"/>
                <a:cs typeface="Times New Roman" panose="02020603050405020304" pitchFamily="18" charset="0"/>
              </a:rPr>
              <a:t>非正式</a:t>
            </a:r>
            <a:r>
              <a:rPr lang="zh-CN" altLang="en-US" dirty="0">
                <a:latin typeface="Times New Roman" panose="02020603050405020304" pitchFamily="18" charset="0"/>
                <a:cs typeface="Times New Roman" panose="02020603050405020304" pitchFamily="18" charset="0"/>
              </a:rPr>
              <a:t>评审两种方式 </a:t>
            </a:r>
            <a:endParaRPr lang="zh-CN" altLang="en-US" dirty="0">
              <a:latin typeface="Times New Roman" panose="02020603050405020304" pitchFamily="18" charset="0"/>
              <a:cs typeface="Times New Roman" panose="02020603050405020304" pitchFamily="18" charset="0"/>
            </a:endParaRPr>
          </a:p>
        </p:txBody>
      </p:sp>
      <p:sp>
        <p:nvSpPr>
          <p:cNvPr id="4"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a:latin typeface="Times New Roman" panose="02020603050405020304" pitchFamily="18" charset="0"/>
                <a:cs typeface="Times New Roman" panose="02020603050405020304" pitchFamily="18" charset="0"/>
              </a:rPr>
              <a:t>01</a:t>
            </a:r>
            <a:endParaRPr>
              <a:latin typeface="Times New Roman" panose="02020603050405020304" pitchFamily="18" charset="0"/>
              <a:cs typeface="Times New Roman" panose="02020603050405020304" pitchFamily="18"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53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Times New Roman" panose="02020603050405020304" pitchFamily="18" charset="0"/>
                <a:cs typeface="Times New Roman" panose="02020603050405020304" pitchFamily="18" charset="0"/>
              </a:rPr>
              <a:t>走读</a:t>
            </a:r>
            <a:endParaRPr lang="zh-CN" altLang="en-US" dirty="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2737969" y="1639762"/>
            <a:ext cx="18950456" cy="9444037"/>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150000"/>
              </a:lnSpc>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150000"/>
              </a:lnSpc>
              <a:spcBef>
                <a:spcPts val="59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pPr>
              <a:lnSpc>
                <a:spcPct val="200000"/>
              </a:lnSpc>
              <a:spcBef>
                <a:spcPts val="1200"/>
              </a:spcBef>
            </a:pPr>
            <a:r>
              <a:rPr lang="zh-CN" altLang="en-US" dirty="0">
                <a:latin typeface="Times New Roman" panose="02020603050405020304" pitchFamily="18" charset="0"/>
                <a:cs typeface="Times New Roman" panose="02020603050405020304" pitchFamily="18" charset="0"/>
              </a:rPr>
              <a:t>走读 ：同行评审中最自由的一种形式</a:t>
            </a:r>
            <a:endParaRPr lang="zh-CN" altLang="en-US" dirty="0">
              <a:latin typeface="Times New Roman" panose="02020603050405020304" pitchFamily="18" charset="0"/>
              <a:cs typeface="Times New Roman" panose="02020603050405020304" pitchFamily="18" charset="0"/>
            </a:endParaRPr>
          </a:p>
          <a:p>
            <a:pPr lvl="1">
              <a:lnSpc>
                <a:spcPct val="200000"/>
              </a:lnSpc>
              <a:spcBef>
                <a:spcPts val="1200"/>
              </a:spcBef>
            </a:pPr>
            <a:r>
              <a:rPr lang="zh-CN" altLang="en-US" dirty="0">
                <a:latin typeface="Times New Roman" panose="02020603050405020304" pitchFamily="18" charset="0"/>
                <a:cs typeface="Times New Roman" panose="02020603050405020304" pitchFamily="18" charset="0"/>
              </a:rPr>
              <a:t>主要目的：评价软件制品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比如软件代码</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1">
              <a:lnSpc>
                <a:spcPct val="200000"/>
              </a:lnSpc>
              <a:spcBef>
                <a:spcPts val="1200"/>
              </a:spcBef>
            </a:pPr>
            <a:r>
              <a:rPr lang="zh-CN" altLang="en-US" dirty="0">
                <a:latin typeface="Times New Roman" panose="02020603050405020304" pitchFamily="18" charset="0"/>
                <a:cs typeface="Times New Roman" panose="02020603050405020304" pitchFamily="18" charset="0"/>
              </a:rPr>
              <a:t>其他目的：技术的交换、参与人员的技术培训、设计思想的介绍等。 </a:t>
            </a:r>
            <a:endParaRPr lang="zh-CN" altLang="en-US" dirty="0">
              <a:latin typeface="Times New Roman" panose="02020603050405020304" pitchFamily="18" charset="0"/>
              <a:cs typeface="Times New Roman" panose="02020603050405020304" pitchFamily="18" charset="0"/>
            </a:endParaRPr>
          </a:p>
          <a:p>
            <a:pPr lvl="1">
              <a:lnSpc>
                <a:spcPct val="200000"/>
              </a:lnSpc>
              <a:spcBef>
                <a:spcPts val="1200"/>
              </a:spcBef>
            </a:pPr>
            <a:r>
              <a:rPr lang="zh-CN" altLang="en-US" dirty="0">
                <a:latin typeface="Times New Roman" panose="02020603050405020304" pitchFamily="18" charset="0"/>
                <a:cs typeface="Times New Roman" panose="02020603050405020304" pitchFamily="18" charset="0"/>
              </a:rPr>
              <a:t>评价什么：代码正确性、效率、可读性。 </a:t>
            </a:r>
            <a:endParaRPr lang="zh-CN" altLang="en-US" dirty="0">
              <a:latin typeface="Times New Roman" panose="02020603050405020304" pitchFamily="18" charset="0"/>
              <a:cs typeface="Times New Roman" panose="02020603050405020304" pitchFamily="18" charset="0"/>
            </a:endParaRPr>
          </a:p>
          <a:p>
            <a:pPr lvl="1">
              <a:lnSpc>
                <a:spcPct val="200000"/>
              </a:lnSpc>
              <a:spcBef>
                <a:spcPts val="1200"/>
              </a:spcBef>
            </a:pPr>
            <a:r>
              <a:rPr lang="zh-CN" altLang="en-US" dirty="0">
                <a:latin typeface="Times New Roman" panose="02020603050405020304" pitchFamily="18" charset="0"/>
                <a:cs typeface="Times New Roman" panose="02020603050405020304" pitchFamily="18" charset="0"/>
              </a:rPr>
              <a:t>走读成员：项目内部的其他开发人员。</a:t>
            </a:r>
            <a:endParaRPr lang="zh-CN" altLang="en-US" dirty="0">
              <a:latin typeface="Times New Roman" panose="02020603050405020304" pitchFamily="18" charset="0"/>
              <a:cs typeface="Times New Roman" panose="02020603050405020304" pitchFamily="18" charset="0"/>
            </a:endParaRPr>
          </a:p>
          <a:p>
            <a:pPr lvl="1">
              <a:lnSpc>
                <a:spcPct val="200000"/>
              </a:lnSpc>
              <a:spcBef>
                <a:spcPts val="1200"/>
              </a:spcBef>
            </a:pPr>
            <a:r>
              <a:rPr lang="zh-CN" altLang="en-US" dirty="0">
                <a:latin typeface="Times New Roman" panose="02020603050405020304" pitchFamily="18" charset="0"/>
                <a:cs typeface="Times New Roman" panose="02020603050405020304" pitchFamily="18" charset="0"/>
              </a:rPr>
              <a:t>方式：对照检查表（</a:t>
            </a:r>
            <a:r>
              <a:rPr lang="en-US" altLang="zh-CN" dirty="0">
                <a:latin typeface="Times New Roman" panose="02020603050405020304" pitchFamily="18" charset="0"/>
                <a:cs typeface="Times New Roman" panose="02020603050405020304" pitchFamily="18" charset="0"/>
              </a:rPr>
              <a:t>checklist</a:t>
            </a:r>
            <a:r>
              <a:rPr lang="zh-CN" altLang="en-US" dirty="0">
                <a:latin typeface="Times New Roman" panose="02020603050405020304" pitchFamily="18" charset="0"/>
                <a:cs typeface="Times New Roman" panose="02020603050405020304" pitchFamily="18" charset="0"/>
              </a:rPr>
              <a:t>）检查代码。</a:t>
            </a:r>
            <a:endParaRPr lang="en-US" altLang="zh-CN" dirty="0">
              <a:latin typeface="Times New Roman" panose="02020603050405020304" pitchFamily="18" charset="0"/>
              <a:cs typeface="Times New Roman" panose="02020603050405020304" pitchFamily="18" charset="0"/>
            </a:endParaRPr>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a:latin typeface="Times New Roman" panose="02020603050405020304" pitchFamily="18" charset="0"/>
                <a:cs typeface="Times New Roman" panose="02020603050405020304" pitchFamily="18" charset="0"/>
              </a:rPr>
              <a:t>01</a:t>
            </a:r>
            <a:endParaRPr>
              <a:latin typeface="Times New Roman" panose="02020603050405020304" pitchFamily="18" charset="0"/>
              <a:cs typeface="Times New Roman" panose="02020603050405020304" pitchFamily="18"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9590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小组评审</a:t>
            </a:r>
            <a:endParaRPr lang="zh-CN" altLang="en-US" dirty="0"/>
          </a:p>
        </p:txBody>
      </p:sp>
      <p:sp>
        <p:nvSpPr>
          <p:cNvPr id="5" name="Rectangle 3"/>
          <p:cNvSpPr txBox="1">
            <a:spLocks noChangeArrowheads="1"/>
          </p:cNvSpPr>
          <p:nvPr/>
        </p:nvSpPr>
        <p:spPr>
          <a:xfrm>
            <a:off x="2737969" y="2178050"/>
            <a:ext cx="19248439" cy="9359900"/>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15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150000"/>
              </a:lnSpc>
              <a:spcBef>
                <a:spcPts val="12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r>
              <a:rPr lang="zh-CN" altLang="en-US" dirty="0"/>
              <a:t>组织</a:t>
            </a:r>
            <a:endParaRPr lang="en-US" altLang="zh-CN" dirty="0"/>
          </a:p>
          <a:p>
            <a:pPr lvl="1"/>
            <a:r>
              <a:rPr lang="zh-CN" altLang="en-US" dirty="0"/>
              <a:t>参与者主要是公司技术领导或权威及公司外部专家。</a:t>
            </a:r>
            <a:endParaRPr lang="en-US" altLang="zh-CN" dirty="0"/>
          </a:p>
          <a:p>
            <a:r>
              <a:rPr lang="zh-CN" altLang="en-US" dirty="0"/>
              <a:t>适用范围</a:t>
            </a:r>
            <a:endParaRPr lang="en-US" altLang="zh-CN" dirty="0"/>
          </a:p>
          <a:p>
            <a:pPr lvl="1"/>
            <a:r>
              <a:rPr lang="zh-CN" altLang="en-US" dirty="0"/>
              <a:t>主要适用于需求文档和概要设计。</a:t>
            </a:r>
            <a:endParaRPr lang="en-US" altLang="zh-CN" dirty="0"/>
          </a:p>
          <a:p>
            <a:r>
              <a:rPr lang="zh-CN" altLang="en-US" dirty="0"/>
              <a:t>目标</a:t>
            </a:r>
            <a:endParaRPr lang="en-US" altLang="zh-CN" dirty="0"/>
          </a:p>
          <a:p>
            <a:pPr lvl="1"/>
            <a:r>
              <a:rPr lang="zh-CN" altLang="en-US" dirty="0"/>
              <a:t>给出意见和建议：确认某个制品是否符合要求，是否可以进入下一个阶段，如何提高制品的质量，如何使之符合要求。</a:t>
            </a:r>
            <a:endParaRPr lang="zh-CN" altLang="en-US" dirty="0"/>
          </a:p>
          <a:p>
            <a:endParaRPr lang="en-US" altLang="zh-CN" dirty="0"/>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4531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审查</a:t>
            </a:r>
            <a:endParaRPr lang="zh-CN" altLang="en-US" dirty="0"/>
          </a:p>
        </p:txBody>
      </p:sp>
      <p:sp>
        <p:nvSpPr>
          <p:cNvPr id="4" name="Rectangle 3"/>
          <p:cNvSpPr txBox="1">
            <a:spLocks noChangeArrowheads="1"/>
          </p:cNvSpPr>
          <p:nvPr/>
        </p:nvSpPr>
        <p:spPr>
          <a:xfrm>
            <a:off x="2737969" y="1078867"/>
            <a:ext cx="17973677" cy="9826625"/>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15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150000"/>
              </a:lnSpc>
              <a:spcBef>
                <a:spcPts val="12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r>
              <a:rPr lang="zh-CN" altLang="en-US" dirty="0"/>
              <a:t>组织</a:t>
            </a:r>
            <a:endParaRPr lang="en-US" altLang="zh-CN" dirty="0"/>
          </a:p>
          <a:p>
            <a:pPr lvl="1"/>
            <a:r>
              <a:rPr lang="zh-CN" altLang="en-US" dirty="0"/>
              <a:t>公司内部设计、开发、测试、质量等部门中工作性质相关的员工。</a:t>
            </a:r>
            <a:endParaRPr lang="en-US" altLang="zh-CN" dirty="0"/>
          </a:p>
          <a:p>
            <a:r>
              <a:rPr lang="zh-CN" altLang="en-US" dirty="0"/>
              <a:t>形式</a:t>
            </a:r>
            <a:endParaRPr lang="en-US" altLang="zh-CN" dirty="0"/>
          </a:p>
          <a:p>
            <a:pPr lvl="1"/>
            <a:r>
              <a:rPr lang="zh-CN" altLang="en-US" dirty="0"/>
              <a:t>它遵循一个严格的过程，人员经过培训，检查过程有标准。</a:t>
            </a:r>
            <a:endParaRPr lang="en-US" altLang="zh-CN" dirty="0"/>
          </a:p>
          <a:p>
            <a:r>
              <a:rPr lang="zh-CN" altLang="en-US" dirty="0"/>
              <a:t>适用范围与目的</a:t>
            </a:r>
            <a:endParaRPr lang="en-US" altLang="zh-CN" dirty="0"/>
          </a:p>
          <a:p>
            <a:pPr lvl="1"/>
            <a:r>
              <a:rPr lang="zh-CN" altLang="en-US" dirty="0"/>
              <a:t>检查针对实际的产品或半成品，目的是发现存在的错误。 </a:t>
            </a:r>
            <a:endParaRPr lang="zh-CN" altLang="en-US" dirty="0"/>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5" name="音频 4">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55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三种同行评审方式的区别</a:t>
            </a:r>
            <a:endParaRPr lang="zh-CN" altLang="en-US" dirty="0"/>
          </a:p>
        </p:txBody>
      </p:sp>
      <p:graphicFrame>
        <p:nvGraphicFramePr>
          <p:cNvPr id="4" name="Group 335"/>
          <p:cNvGraphicFramePr/>
          <p:nvPr/>
        </p:nvGraphicFramePr>
        <p:xfrm>
          <a:off x="3011485" y="2789796"/>
          <a:ext cx="18361029" cy="8900232"/>
        </p:xfrm>
        <a:graphic>
          <a:graphicData uri="http://schemas.openxmlformats.org/drawingml/2006/table">
            <a:tbl>
              <a:tblPr firstRow="1">
                <a:tableStyleId>{B301B821-A1FF-4177-AEE7-76D212191A09}</a:tableStyleId>
              </a:tblPr>
              <a:tblGrid>
                <a:gridCol w="3540801"/>
                <a:gridCol w="4190718"/>
                <a:gridCol w="5153165"/>
                <a:gridCol w="5476345"/>
              </a:tblGrid>
              <a:tr h="74040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effectLst/>
                          <a:latin typeface="微软雅黑" panose="020B0503020204020204" pitchFamily="34" charset="-122"/>
                          <a:ea typeface="微软雅黑" panose="020B0503020204020204" pitchFamily="34" charset="-122"/>
                        </a:rPr>
                        <a:t>分类</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effectLst/>
                          <a:latin typeface="微软雅黑" panose="020B0503020204020204" pitchFamily="34" charset="-122"/>
                          <a:ea typeface="微软雅黑" panose="020B0503020204020204" pitchFamily="34" charset="-122"/>
                        </a:rPr>
                        <a:t>走读</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effectLst/>
                          <a:latin typeface="微软雅黑" panose="020B0503020204020204" pitchFamily="34" charset="-122"/>
                          <a:ea typeface="微软雅黑" panose="020B0503020204020204" pitchFamily="34" charset="-122"/>
                        </a:rPr>
                        <a:t>小组评审</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effectLst/>
                          <a:latin typeface="微软雅黑" panose="020B0503020204020204" pitchFamily="34" charset="-122"/>
                          <a:ea typeface="微软雅黑" panose="020B0503020204020204" pitchFamily="34" charset="-122"/>
                        </a:rPr>
                        <a:t>审查</a:t>
                      </a:r>
                      <a:endParaRPr kumimoji="0" lang="zh-CN" altLang="en-US" sz="4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r h="271479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目标</a:t>
                      </a:r>
                      <a:endParaRPr kumimoji="0" lang="zh-CN" altLang="en-US" sz="4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检测缺陷；</a:t>
                      </a:r>
                      <a:endPar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找出可替换的方法</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评估产品的价值和市场可行性；</a:t>
                      </a:r>
                      <a:endPar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评估需求规格和设计规格的正确性</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检测和识别缺陷</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r h="139853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组织者</a:t>
                      </a:r>
                      <a:r>
                        <a:rPr kumimoji="0" lang="en-US" altLang="zh-CN"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a:t>
                      </a: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会议主持人</a:t>
                      </a:r>
                      <a:endParaRPr kumimoji="0" lang="zh-CN" altLang="en-US" sz="4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作者</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公司技术领导</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测试或质量主管</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r h="20566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评审员</a:t>
                      </a:r>
                      <a:endParaRPr kumimoji="0" lang="zh-CN" altLang="en-US" sz="4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同项目组成员</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公司内技术权威或公司外行业专家</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项目负责人、公司设计人员、质量管理人员、测试人员</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r h="74040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人员规模</a:t>
                      </a:r>
                      <a:endParaRPr kumimoji="0" lang="zh-CN" altLang="en-US" sz="4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4400" u="none" strike="noStrike" cap="none" normalizeH="0" baseline="0" dirty="0">
                          <a:ln>
                            <a:noFill/>
                          </a:ln>
                          <a:effectLst/>
                          <a:latin typeface="微软雅黑" panose="020B0503020204020204" pitchFamily="34" charset="-122"/>
                          <a:ea typeface="微软雅黑" panose="020B0503020204020204" pitchFamily="34" charset="-122"/>
                        </a:rPr>
                        <a:t>2-7</a:t>
                      </a:r>
                      <a:endParaRPr kumimoji="0" lang="en-US" altLang="zh-CN"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4400" u="none" strike="noStrike" cap="none" normalizeH="0" baseline="0" dirty="0">
                          <a:ln>
                            <a:noFill/>
                          </a:ln>
                          <a:effectLst/>
                          <a:latin typeface="微软雅黑" panose="020B0503020204020204" pitchFamily="34" charset="-122"/>
                          <a:ea typeface="微软雅黑" panose="020B0503020204020204" pitchFamily="34" charset="-122"/>
                        </a:rPr>
                        <a:t>3</a:t>
                      </a: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人或更多</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4400" u="none" strike="noStrike" cap="none" normalizeH="0" baseline="0" dirty="0">
                          <a:ln>
                            <a:noFill/>
                          </a:ln>
                          <a:effectLst/>
                          <a:latin typeface="微软雅黑" panose="020B0503020204020204" pitchFamily="34" charset="-122"/>
                          <a:ea typeface="微软雅黑" panose="020B0503020204020204" pitchFamily="34" charset="-122"/>
                        </a:rPr>
                        <a:t>3-6</a:t>
                      </a: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人</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r h="74040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数据收集</a:t>
                      </a:r>
                      <a:endParaRPr kumimoji="0" lang="zh-CN" altLang="en-US" sz="4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可选</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可选</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u="none" strike="noStrike" cap="none" normalizeH="0" baseline="0" dirty="0">
                          <a:ln>
                            <a:noFill/>
                          </a:ln>
                          <a:effectLst/>
                          <a:latin typeface="微软雅黑" panose="020B0503020204020204" pitchFamily="34" charset="-122"/>
                          <a:ea typeface="微软雅黑" panose="020B0503020204020204" pitchFamily="34" charset="-122"/>
                        </a:rPr>
                        <a:t>正式要求</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6" marB="45726" anchor="ctr" horzOverflow="overflow">
                    <a:cell3D prstMaterial="dkEdge">
                      <a:bevel prst="convex"/>
                      <a:lightRig rig="flood" dir="t"/>
                    </a:cell3D>
                  </a:tcPr>
                </a:tc>
              </a:tr>
            </a:tbl>
          </a:graphicData>
        </a:graphic>
      </p:graphicFrame>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7" name="音频 6">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1574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三种同行评审方式的区别</a:t>
            </a:r>
            <a:endParaRPr lang="zh-CN" altLang="en-US" dirty="0"/>
          </a:p>
        </p:txBody>
      </p:sp>
      <p:graphicFrame>
        <p:nvGraphicFramePr>
          <p:cNvPr id="5" name="Group 320"/>
          <p:cNvGraphicFramePr/>
          <p:nvPr/>
        </p:nvGraphicFramePr>
        <p:xfrm>
          <a:off x="2012157" y="2978658"/>
          <a:ext cx="20359686" cy="8343900"/>
        </p:xfrm>
        <a:graphic>
          <a:graphicData uri="http://schemas.openxmlformats.org/drawingml/2006/table">
            <a:tbl>
              <a:tblPr firstRow="1">
                <a:tableStyleId>{B301B821-A1FF-4177-AEE7-76D212191A09}</a:tableStyleId>
              </a:tblPr>
              <a:tblGrid>
                <a:gridCol w="3386069"/>
                <a:gridCol w="5529404"/>
                <a:gridCol w="6355273"/>
                <a:gridCol w="5088940"/>
              </a:tblGrid>
              <a:tr h="962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分类</a:t>
                      </a:r>
                      <a:endPar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走读</a:t>
                      </a:r>
                      <a:endPar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小组评审</a:t>
                      </a:r>
                      <a:endPar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审查</a:t>
                      </a:r>
                      <a:endParaRPr kumimoji="0" lang="zh-CN" altLang="en-US" sz="48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r h="962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rPr>
                        <a:t>记录员</a:t>
                      </a:r>
                      <a:endPar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可选（作者自己）</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必须专门设置</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必须专门设置</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r h="18185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rPr>
                        <a:t>输出报告</a:t>
                      </a:r>
                      <a:endPar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可选</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可选</a:t>
                      </a:r>
                      <a:endParaRPr kumimoji="0" lang="en-US" altLang="zh-CN"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（建议性意见）</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缺陷列表；</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缺陷总结</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r h="9627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rPr>
                        <a:t>活动计划</a:t>
                      </a:r>
                      <a:endPar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有</a:t>
                      </a:r>
                      <a:endParaRPr kumimoji="0" lang="zh-CN" altLang="en-US" sz="44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有</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有</a:t>
                      </a:r>
                      <a:endParaRPr kumimoji="0" lang="zh-CN" altLang="en-US" sz="44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r h="18185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rPr>
                        <a:t>活动前准备</a:t>
                      </a:r>
                      <a:endPar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评审员会议前</a:t>
                      </a:r>
                      <a:endParaRPr kumimoji="0" lang="en-US" altLang="zh-CN"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不需要阅读作品</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评审员会议前</a:t>
                      </a:r>
                      <a:endParaRPr kumimoji="0" lang="en-US" altLang="zh-CN"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阅读作品</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评审员会议前</a:t>
                      </a:r>
                      <a:endParaRPr kumimoji="0" lang="en-US" altLang="zh-CN"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阅读作品</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r h="18185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rPr>
                        <a:t>适用范围</a:t>
                      </a:r>
                      <a:endParaRPr kumimoji="0" lang="zh-CN" altLang="en-US" sz="48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代码、详细设计</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概要设计、需求规格</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代码、详细设计、概要设计</a:t>
                      </a:r>
                      <a:endParaRPr kumimoji="0" lang="zh-CN" altLang="en-US" sz="4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marT="45726" marB="45726" anchor="ctr" horzOverflow="overflow">
                    <a:cell3D prstMaterial="dkEdge">
                      <a:bevel prst="convex"/>
                      <a:lightRig rig="flood" dir="t"/>
                    </a:cell3D>
                  </a:tcPr>
                </a:tc>
              </a:tr>
            </a:tbl>
          </a:graphicData>
        </a:graphic>
      </p:graphicFrame>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135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Times New Roman" panose="02020603050405020304" pitchFamily="18" charset="0"/>
                <a:cs typeface="Times New Roman" panose="02020603050405020304" pitchFamily="18" charset="0"/>
              </a:rPr>
              <a:t>是否需要主动介绍</a:t>
            </a:r>
            <a:endParaRPr lang="zh-CN" altLang="en-US" dirty="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2737969" y="2121761"/>
            <a:ext cx="17630775" cy="8559800"/>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15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150000"/>
              </a:lnSpc>
              <a:spcBef>
                <a:spcPts val="12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pPr>
              <a:lnSpc>
                <a:spcPct val="200000"/>
              </a:lnSpc>
            </a:pPr>
            <a:r>
              <a:rPr lang="zh-CN" altLang="en-US" dirty="0">
                <a:latin typeface="Times New Roman" panose="02020603050405020304" pitchFamily="18" charset="0"/>
                <a:cs typeface="Times New Roman" panose="02020603050405020304" pitchFamily="18" charset="0"/>
              </a:rPr>
              <a:t>正式评审，</a:t>
            </a:r>
            <a:r>
              <a:rPr lang="en-US" altLang="zh-CN" dirty="0">
                <a:solidFill>
                  <a:srgbClr val="FF0000"/>
                </a:solidFill>
                <a:latin typeface="Times New Roman" panose="02020603050405020304" pitchFamily="18" charset="0"/>
                <a:cs typeface="Times New Roman" panose="02020603050405020304" pitchFamily="18" charset="0"/>
              </a:rPr>
              <a:t>YES</a:t>
            </a:r>
            <a:endParaRPr lang="en-US" altLang="zh-CN" dirty="0">
              <a:solidFill>
                <a:srgbClr val="FF0000"/>
              </a:solidFill>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在评审会议上，工作产品的开发者向评审成员介绍工作产品，以征求评审成员的意见和批准。 </a:t>
            </a:r>
            <a:endParaRPr lang="zh-CN" altLang="en-US" dirty="0">
              <a:latin typeface="Times New Roman" panose="02020603050405020304" pitchFamily="18" charset="0"/>
              <a:cs typeface="Times New Roman" panose="02020603050405020304" pitchFamily="18" charset="0"/>
            </a:endParaRPr>
          </a:p>
          <a:p>
            <a:pPr>
              <a:lnSpc>
                <a:spcPct val="200000"/>
              </a:lnSpc>
            </a:pPr>
            <a:r>
              <a:rPr lang="zh-CN" altLang="en-US" dirty="0">
                <a:latin typeface="Times New Roman" panose="02020603050405020304" pitchFamily="18" charset="0"/>
                <a:cs typeface="Times New Roman" panose="02020603050405020304" pitchFamily="18" charset="0"/>
              </a:rPr>
              <a:t>非正式评审，</a:t>
            </a:r>
            <a:r>
              <a:rPr lang="en-US" altLang="zh-CN" dirty="0">
                <a:solidFill>
                  <a:srgbClr val="FF0000"/>
                </a:solidFill>
                <a:latin typeface="Times New Roman" panose="02020603050405020304" pitchFamily="18" charset="0"/>
                <a:cs typeface="Times New Roman" panose="02020603050405020304" pitchFamily="18" charset="0"/>
              </a:rPr>
              <a:t>NO</a:t>
            </a:r>
            <a:endParaRPr lang="en-US" altLang="zh-CN" dirty="0">
              <a:solidFill>
                <a:srgbClr val="FF0000"/>
              </a:solidFill>
              <a:latin typeface="Times New Roman" panose="02020603050405020304" pitchFamily="18" charset="0"/>
              <a:cs typeface="Times New Roman" panose="02020603050405020304" pitchFamily="18" charset="0"/>
            </a:endParaRPr>
          </a:p>
          <a:p>
            <a:pPr lvl="1">
              <a:lnSpc>
                <a:spcPct val="200000"/>
              </a:lnSpc>
            </a:pPr>
            <a:r>
              <a:rPr lang="zh-CN" altLang="en-US" dirty="0">
                <a:latin typeface="Times New Roman" panose="02020603050405020304" pitchFamily="18" charset="0"/>
                <a:cs typeface="Times New Roman" panose="02020603050405020304" pitchFamily="18" charset="0"/>
              </a:rPr>
              <a:t>由工件开发者与一个或多个评审人员进行，往往不需要召开会议，由评审人员自己安排时间进行评阅后提交建议或结论。 </a:t>
            </a:r>
            <a:endParaRPr lang="zh-CN" altLang="en-US" dirty="0">
              <a:latin typeface="Times New Roman" panose="02020603050405020304" pitchFamily="18" charset="0"/>
              <a:cs typeface="Times New Roman" panose="02020603050405020304" pitchFamily="18" charset="0"/>
            </a:endParaRPr>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a:latin typeface="Times New Roman" panose="02020603050405020304" pitchFamily="18" charset="0"/>
                <a:cs typeface="Times New Roman" panose="02020603050405020304" pitchFamily="18" charset="0"/>
              </a:rPr>
              <a:t>01</a:t>
            </a:r>
            <a:endParaRPr>
              <a:latin typeface="Times New Roman" panose="02020603050405020304" pitchFamily="18" charset="0"/>
              <a:cs typeface="Times New Roman" panose="02020603050405020304" pitchFamily="18"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638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同行评审过程</a:t>
            </a:r>
            <a:endParaRPr lang="zh-CN" altLang="en-US" dirty="0"/>
          </a:p>
        </p:txBody>
      </p:sp>
      <p:sp>
        <p:nvSpPr>
          <p:cNvPr id="5" name="Rectangle 3"/>
          <p:cNvSpPr txBox="1">
            <a:spLocks noChangeArrowheads="1"/>
          </p:cNvSpPr>
          <p:nvPr/>
        </p:nvSpPr>
        <p:spPr>
          <a:xfrm>
            <a:off x="2737969" y="1600314"/>
            <a:ext cx="19650075" cy="9439275"/>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15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150000"/>
              </a:lnSpc>
              <a:spcBef>
                <a:spcPts val="12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pPr marL="742950" lvl="1" indent="-742950">
              <a:lnSpc>
                <a:spcPct val="200000"/>
              </a:lnSpc>
              <a:buSzTx/>
              <a:buFont typeface="+mj-ea"/>
              <a:buAutoNum type="circleNumDbPlain"/>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计划阶段：明确评审标的，确定参加人员并分配角色和职责。</a:t>
            </a:r>
            <a:endPar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dirty="0"/>
              <a:t>作者、组织者、评审员、记录员</a:t>
            </a:r>
            <a:endParaRPr lang="zh-CN" altLang="en-US" dirty="0"/>
          </a:p>
          <a:p>
            <a:pPr marL="742950" lvl="1" indent="-742950">
              <a:lnSpc>
                <a:spcPct val="200000"/>
              </a:lnSpc>
              <a:buSzTx/>
              <a:buFont typeface="+mj-ea"/>
              <a:buAutoNum type="circleNumDbPlain" startAt="2"/>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评审实施：主要是会议形式。</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742950">
              <a:lnSpc>
                <a:spcPct val="200000"/>
              </a:lnSpc>
              <a:buSzTx/>
              <a:buFont typeface="+mj-ea"/>
              <a:buAutoNum type="circleNumDbPlain" startAt="2"/>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评审报告：对会议中提出的问题进行统计整理，并形成文档。</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742950">
              <a:lnSpc>
                <a:spcPct val="200000"/>
              </a:lnSpc>
              <a:buSzTx/>
              <a:buFont typeface="+mj-ea"/>
              <a:buAutoNum type="circleNumDbPlain" startAt="2"/>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问题跟踪：作者根据评审中提出的问题进行产品修改，相关人员进行检查。 </a:t>
            </a:r>
            <a:endParaRPr lang="en-US" altLang="zh-CN" dirty="0"/>
          </a:p>
        </p:txBody>
      </p:sp>
      <p:sp>
        <p:nvSpPr>
          <p:cNvPr id="6"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971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静态测试</a:t>
            </a:r>
            <a:r>
              <a:rPr lang="en-US" altLang="zh-CN" dirty="0"/>
              <a:t>—</a:t>
            </a:r>
            <a:r>
              <a:rPr lang="zh-CN" altLang="en-US" dirty="0"/>
              <a:t>小结</a:t>
            </a:r>
            <a:endParaRPr lang="zh-CN" altLang="en-US" dirty="0"/>
          </a:p>
        </p:txBody>
      </p:sp>
      <p:sp>
        <p:nvSpPr>
          <p:cNvPr id="4" name="矩形 3"/>
          <p:cNvSpPr/>
          <p:nvPr/>
        </p:nvSpPr>
        <p:spPr>
          <a:xfrm>
            <a:off x="2745811" y="4441057"/>
            <a:ext cx="17182909" cy="1015663"/>
          </a:xfrm>
          <a:prstGeom prst="rect">
            <a:avLst/>
          </a:prstGeom>
        </p:spPr>
        <p:txBody>
          <a:bodyPr wrap="none">
            <a:spAutoFit/>
          </a:bodyPr>
          <a:lstStyle/>
          <a:p>
            <a:r>
              <a:rPr lang="zh-CN" altLang="en-US" sz="6000" b="1" dirty="0">
                <a:solidFill>
                  <a:srgbClr val="FF0000"/>
                </a:solidFill>
                <a:latin typeface="微软雅黑" panose="020B0503020204020204" pitchFamily="34" charset="-122"/>
                <a:ea typeface="微软雅黑" panose="020B0503020204020204" pitchFamily="34" charset="-122"/>
              </a:rPr>
              <a:t>静态测试是不需要运行被测试软件的一种测试手段</a:t>
            </a:r>
            <a:endParaRPr lang="en-US" altLang="zh-CN" sz="6000" b="1"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5510679" y="6350168"/>
            <a:ext cx="11001731"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同行评审是静态测试的主要手段</a:t>
            </a: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7899844" y="8280957"/>
            <a:ext cx="14034612"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同行评审可以分为走读、小组评审和审查</a:t>
            </a: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8"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4546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218066" y="3780859"/>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静态测试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详细设计的静态测试</a:t>
            </a:r>
            <a:endParaRPr sz="4400" b="1" dirty="0">
              <a:solidFill>
                <a:srgbClr val="FF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nvGrpSpPr>
          <p:cNvPr id="141" name="成组"/>
          <p:cNvGrpSpPr/>
          <p:nvPr/>
        </p:nvGrpSpPr>
        <p:grpSpPr>
          <a:xfrm>
            <a:off x="9218066" y="7488953"/>
            <a:ext cx="5947868" cy="1343465"/>
            <a:chOff x="0" y="0"/>
            <a:chExt cx="5830087" cy="1343464"/>
          </a:xfrm>
        </p:grpSpPr>
        <p:sp>
          <p:nvSpPr>
            <p:cNvPr id="138" name="矩形 5"/>
            <p:cNvSpPr txBox="1"/>
            <p:nvPr/>
          </p:nvSpPr>
          <p:spPr>
            <a:xfrm>
              <a:off x="2084781" y="299174"/>
              <a:ext cx="3745306" cy="74511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9"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03</a:t>
              </a: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975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详细设计</a:t>
            </a:r>
            <a:endParaRPr lang="zh-CN" altLang="en-US" dirty="0"/>
          </a:p>
        </p:txBody>
      </p:sp>
      <p:graphicFrame>
        <p:nvGraphicFramePr>
          <p:cNvPr id="5" name="Object 12"/>
          <p:cNvGraphicFramePr>
            <a:graphicFrameLocks noChangeAspect="1"/>
          </p:cNvGraphicFramePr>
          <p:nvPr/>
        </p:nvGraphicFramePr>
        <p:xfrm>
          <a:off x="4897438" y="3219450"/>
          <a:ext cx="14589125" cy="7277100"/>
        </p:xfrm>
        <a:graphic>
          <a:graphicData uri="http://schemas.openxmlformats.org/presentationml/2006/ole">
            <mc:AlternateContent xmlns:mc="http://schemas.openxmlformats.org/markup-compatibility/2006">
              <mc:Choice xmlns:v="urn:schemas-microsoft-com:vml" Requires="v">
                <p:oleObj spid="_x0000_s2176" name="Picture" r:id="rId1" imgW="34223325" imgH="17106900" progId="Word.Picture.8">
                  <p:embed/>
                </p:oleObj>
              </mc:Choice>
              <mc:Fallback>
                <p:oleObj name="Picture" r:id="rId1" imgW="34223325" imgH="17106900" progId="Word.Picture.8">
                  <p:embed/>
                  <p:pic>
                    <p:nvPicPr>
                      <p:cNvPr id="0" name="Object 12"/>
                      <p:cNvPicPr>
                        <a:picLocks noChangeAspect="1" noChangeArrowheads="1"/>
                      </p:cNvPicPr>
                      <p:nvPr/>
                    </p:nvPicPr>
                    <p:blipFill>
                      <a:blip r:embed="rId2"/>
                      <a:srcRect/>
                      <a:stretch>
                        <a:fillRect/>
                      </a:stretch>
                    </p:blipFill>
                    <p:spPr bwMode="auto">
                      <a:xfrm>
                        <a:off x="4897438" y="3219450"/>
                        <a:ext cx="14589125" cy="7277100"/>
                      </a:xfrm>
                      <a:prstGeom prst="rect">
                        <a:avLst/>
                      </a:prstGeom>
                      <a:noFill/>
                      <a:ln>
                        <a:noFill/>
                      </a:ln>
                      <a:effectLst/>
                    </p:spPr>
                  </p:pic>
                </p:oleObj>
              </mc:Fallback>
            </mc:AlternateContent>
          </a:graphicData>
        </a:graphic>
      </p:graphicFrame>
      <p:sp>
        <p:nvSpPr>
          <p:cNvPr id="4"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2</a:t>
            </a:r>
            <a:endParaRPr lang="en-US"/>
          </a:p>
        </p:txBody>
      </p:sp>
      <p:pic>
        <p:nvPicPr>
          <p:cNvPr id="6" name="音频 5">
            <a:hlinkClick r:id="" action="ppaction://media"/>
          </p:cNvPr>
          <p:cNvPicPr>
            <a:picLocks noChangeAspect="1"/>
          </p:cNvPicPr>
          <p:nvPr>
            <a:audioFile r:link="rId3"/>
            <p:extLst>
              <p:ext uri="{DAA4B4D4-6D71-4841-9C94-3DE7FCFB9230}">
                <p14:media xmlns:p14="http://schemas.microsoft.com/office/powerpoint/2010/main" r:link="rId4"/>
              </p:ext>
            </p:extLst>
          </p:nvPr>
        </p:nvPicPr>
        <p:blipFill>
          <a:blip r:embed="rId5"/>
          <a:stretch>
            <a:fillRect/>
          </a:stretch>
        </p:blipFill>
        <p:spPr>
          <a:xfrm>
            <a:off x="23896638" y="13228638"/>
            <a:ext cx="271462" cy="271462"/>
          </a:xfrm>
          <a:prstGeom prst="rect">
            <a:avLst/>
          </a:prstGeom>
        </p:spPr>
      </p:pic>
    </p:spTree>
  </p:cSld>
  <p:clrMapOvr>
    <a:masterClrMapping/>
  </p:clrMapOvr>
  <p:transition spd="med" advTm="1069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详细设计的静态测试</a:t>
            </a:r>
            <a:endParaRPr lang="zh-CN" altLang="en-US" dirty="0"/>
          </a:p>
        </p:txBody>
      </p:sp>
      <p:sp>
        <p:nvSpPr>
          <p:cNvPr id="5" name="Rectangle 3"/>
          <p:cNvSpPr txBox="1">
            <a:spLocks noChangeArrowheads="1"/>
          </p:cNvSpPr>
          <p:nvPr/>
        </p:nvSpPr>
        <p:spPr>
          <a:xfrm>
            <a:off x="2737969" y="3076957"/>
            <a:ext cx="18959513" cy="4903788"/>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20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1270000" lvl="1" indent="-635000" algn="l">
              <a:lnSpc>
                <a:spcPct val="200000"/>
              </a:lnSpc>
              <a:spcBef>
                <a:spcPts val="1200"/>
              </a:spcBef>
              <a:buSzPct val="125000"/>
              <a:buFont typeface="Wingdings" panose="05000000000000000000" pitchFamily="2" charset="2"/>
              <a:buChar char="Ø"/>
              <a:defRPr sz="4400" b="0">
                <a:solidFill>
                  <a:schemeClr val="tx1"/>
                </a:solidFill>
                <a:latin typeface="微软雅黑" panose="020B0503020204020204" pitchFamily="34" charset="-122"/>
                <a:ea typeface="微软雅黑" panose="020B0503020204020204" pitchFamily="34" charset="-122"/>
              </a:defRPr>
            </a:lvl2pPr>
          </a:lstStyle>
          <a:p>
            <a:r>
              <a:rPr lang="zh-CN" altLang="en-US" dirty="0"/>
              <a:t>测试依据：概要设计（总体设计）</a:t>
            </a:r>
            <a:endParaRPr lang="en-US" altLang="zh-CN" dirty="0"/>
          </a:p>
          <a:p>
            <a:pPr lvl="1"/>
            <a:r>
              <a:rPr lang="zh-CN" altLang="en-US" dirty="0"/>
              <a:t>主要测试详细设计同概要设计的一致性，以及详细设计的合理性。</a:t>
            </a:r>
            <a:endParaRPr lang="en-US" altLang="zh-CN" dirty="0"/>
          </a:p>
          <a:p>
            <a:r>
              <a:rPr lang="zh-CN" altLang="en-US" dirty="0"/>
              <a:t>测试方法：采用同行评审的形式为审查或走读。 </a:t>
            </a:r>
            <a:endParaRPr lang="zh-CN" altLang="en-US" dirty="0"/>
          </a:p>
        </p:txBody>
      </p:sp>
      <p:sp>
        <p:nvSpPr>
          <p:cNvPr id="4"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2</a:t>
            </a:r>
            <a:endParaRPr lang="en-US"/>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41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详细设计的静态测试</a:t>
            </a:r>
            <a:endParaRPr lang="zh-CN" altLang="en-US" dirty="0"/>
          </a:p>
        </p:txBody>
      </p:sp>
      <p:graphicFrame>
        <p:nvGraphicFramePr>
          <p:cNvPr id="4" name="Group 141"/>
          <p:cNvGraphicFramePr/>
          <p:nvPr/>
        </p:nvGraphicFramePr>
        <p:xfrm>
          <a:off x="4551805" y="3604260"/>
          <a:ext cx="16202027" cy="8841564"/>
        </p:xfrm>
        <a:graphic>
          <a:graphicData uri="http://schemas.openxmlformats.org/drawingml/2006/table">
            <a:tbl>
              <a:tblPr firstRow="1"/>
              <a:tblGrid>
                <a:gridCol w="2997251"/>
                <a:gridCol w="13204776"/>
              </a:tblGrid>
              <a:tr h="39626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检查要素</a:t>
                      </a:r>
                      <a:endPar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检查内容</a:t>
                      </a:r>
                      <a:endParaRPr kumimoji="0" lang="zh-CN" altLang="en-US" sz="32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rowSpan="3">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清晰性</a:t>
                      </a:r>
                      <a:endPar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是否所有的单元和进程的设计目的都已文档化</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单元设计，包括数据流、接口描述是否清楚</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单元的整体功能是否描述清楚</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rowSpan="3">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完整性</a:t>
                      </a:r>
                      <a:endPar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是否描述了所采用的标准</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是否确定了每个单元应用的算法</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是否列出了单元的所有调用</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row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规范性</a:t>
                      </a:r>
                      <a:endParaRPr kumimoji="0" lang="zh-CN" altLang="en-US" sz="32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文档是否遵从了公司的标准</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单元设计是否使用了要求的方法和工具</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rowSpan="3">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一致性</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在程序单元和单元的接口中数据成员的名称是否保持一致</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所有接口之间，接口和接口规格书之间是否保持一致</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4">
                <a:tc vMerge="1">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详细设计是否同概要设计一致</a:t>
                      </a:r>
                      <a:endParaRPr kumimoji="0" lang="zh-CN" altLang="en-US" sz="3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2</a:t>
            </a:r>
            <a:endParaRPr lang="en-US"/>
          </a:p>
        </p:txBody>
      </p:sp>
      <p:pic>
        <p:nvPicPr>
          <p:cNvPr id="6" name="音频 5">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953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详细设计的静态测试</a:t>
            </a:r>
            <a:endParaRPr lang="zh-CN" altLang="en-US" dirty="0"/>
          </a:p>
        </p:txBody>
      </p:sp>
      <p:graphicFrame>
        <p:nvGraphicFramePr>
          <p:cNvPr id="5" name="Group 168"/>
          <p:cNvGraphicFramePr/>
          <p:nvPr/>
        </p:nvGraphicFramePr>
        <p:xfrm>
          <a:off x="1912143" y="2802716"/>
          <a:ext cx="20559713" cy="5721996"/>
        </p:xfrm>
        <a:graphic>
          <a:graphicData uri="http://schemas.openxmlformats.org/drawingml/2006/table">
            <a:tbl>
              <a:tblPr/>
              <a:tblGrid>
                <a:gridCol w="3442483"/>
                <a:gridCol w="17117230"/>
              </a:tblGrid>
              <a:tr h="39623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检查要素</a:t>
                      </a:r>
                      <a:endParaRPr kumimoji="0" lang="zh-CN" altLang="en-US" sz="3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检查内容</a:t>
                      </a:r>
                      <a:endParaRPr kumimoji="0" lang="zh-CN" altLang="en-US" sz="36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row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正确性</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是否有逻辑错误</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是否所有的条件都被处理（</a:t>
                      </a:r>
                      <a:r>
                        <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&gt;</a:t>
                      </a: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&lt;0</a:t>
                      </a: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switch case</a:t>
                      </a: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row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可靠性</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对所有错误情况都安排了有意义的消息反馈</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特殊情况下的返回码是否和文档中定义的全局返回码一致</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是否考虑了异常情况（如磁盘空间不足、网络掉线）</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可追溯性</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是否每个详细设计单元都可以追溯到概要设计</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2</a:t>
            </a:r>
            <a:endParaRPr lang="en-US"/>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graphicFrame>
        <p:nvGraphicFramePr>
          <p:cNvPr id="6" name="Table 5"/>
          <p:cNvGraphicFramePr>
            <a:graphicFrameLocks noGrp="1"/>
          </p:cNvGraphicFramePr>
          <p:nvPr/>
        </p:nvGraphicFramePr>
        <p:xfrm>
          <a:off x="1912142" y="8843819"/>
          <a:ext cx="20559713" cy="3275244"/>
        </p:xfrm>
        <a:graphic>
          <a:graphicData uri="http://schemas.openxmlformats.org/drawingml/2006/table">
            <a:tbl>
              <a:tblPr/>
              <a:tblGrid>
                <a:gridCol w="3442483"/>
                <a:gridCol w="17117230"/>
              </a:tblGrid>
              <a:tr h="396239">
                <a:tc row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是否所有声明的数据都已经被使用</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39">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数据结构是否已经描述</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046">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如果有对共享数据、文件的修改，对数据的访问是否按照正确的共享协议进行</a:t>
                      </a:r>
                      <a:endParaRPr kumimoji="0" lang="en-US" altLang="zh-CN"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（例如：信号灯）</a:t>
                      </a:r>
                      <a:endParaRPr kumimoji="0" lang="zh-CN" altLang="en-US" sz="3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16" marB="4571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med" advTm="29132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t>详细设计的静态测试</a:t>
            </a:r>
            <a:endParaRPr lang="zh-CN" altLang="en-US" dirty="0"/>
          </a:p>
        </p:txBody>
      </p:sp>
      <p:graphicFrame>
        <p:nvGraphicFramePr>
          <p:cNvPr id="5" name="Group 111"/>
          <p:cNvGraphicFramePr/>
          <p:nvPr/>
        </p:nvGraphicFramePr>
        <p:xfrm>
          <a:off x="4057502" y="3889252"/>
          <a:ext cx="16568253" cy="5872734"/>
        </p:xfrm>
        <a:graphic>
          <a:graphicData uri="http://schemas.openxmlformats.org/drawingml/2006/table">
            <a:tbl>
              <a:tblPr/>
              <a:tblGrid>
                <a:gridCol w="2774159"/>
                <a:gridCol w="13794094"/>
              </a:tblGrid>
              <a:tr h="5937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4400" b="1" i="0" u="none" strike="noStrike" cap="none" normalizeH="0" baseline="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检查要素</a:t>
                      </a:r>
                      <a:endParaRPr kumimoji="0" lang="zh-CN" altLang="en-US" sz="4400" b="1" i="0" u="none" strike="noStrike" cap="none" normalizeH="0" baseline="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4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检查内容</a:t>
                      </a:r>
                      <a:endParaRPr kumimoji="0" lang="zh-CN" altLang="en-US" sz="4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5313">
                <a:tc rowSpan="5">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接口</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对接双方的参数表是否在数量、类型和顺序上保持一致</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是否所有的输入输出都已经正确定义并检查过</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所传递参数的顺序是否描述清楚</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5313">
                <a:tc vMerge="1">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参数传递的机制是否确定</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vMerge="1">
                  <a:tcPr>
                    <a:lnT w="12700" cap="flat" cmpd="sng" algn="ctr">
                      <a:solidFill>
                        <a:srgbClr val="000000"/>
                      </a:solidFill>
                      <a:prstDash val="solid"/>
                      <a:round/>
                      <a:headEnd type="none" w="med" len="med"/>
                      <a:tailEnd type="none" w="med" len="med"/>
                    </a:lnT>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是否以度量单位描述了参数的值区间、准确性和精度</a:t>
                      </a:r>
                      <a:endParaRPr kumimoji="0" lang="zh-CN" altLang="en-US" sz="4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anchor="ctr" horzOverflow="overflow">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2</a:t>
            </a:r>
            <a:endParaRPr lang="en-US"/>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2658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218066" y="3780859"/>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静态测试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详细设计的静态测试</a:t>
            </a:r>
            <a:endParaRPr sz="4400" dirty="0">
              <a:solidFill>
                <a:srgbClr val="00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grpSp>
        <p:nvGrpSpPr>
          <p:cNvPr id="141" name="成组"/>
          <p:cNvGrpSpPr/>
          <p:nvPr/>
        </p:nvGrpSpPr>
        <p:grpSpPr>
          <a:xfrm>
            <a:off x="9218066" y="7488953"/>
            <a:ext cx="5947868" cy="1343465"/>
            <a:chOff x="0" y="0"/>
            <a:chExt cx="5830087" cy="1343464"/>
          </a:xfrm>
        </p:grpSpPr>
        <p:sp>
          <p:nvSpPr>
            <p:cNvPr id="138" name="矩形 5"/>
            <p:cNvSpPr txBox="1"/>
            <p:nvPr/>
          </p:nvSpPr>
          <p:spPr>
            <a:xfrm>
              <a:off x="2084781" y="299174"/>
              <a:ext cx="3745306" cy="74511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sp>
          <p:nvSpPr>
            <p:cNvPr id="139"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03</a:t>
              </a:r>
            </a:p>
          </p:txBody>
        </p:sp>
      </p:gr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659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课堂小结</a:t>
            </a:r>
            <a:endParaRPr lang="zh-CN" altLang="en-US" dirty="0"/>
          </a:p>
        </p:txBody>
      </p:sp>
      <p:sp>
        <p:nvSpPr>
          <p:cNvPr id="4" name="矩形 3"/>
          <p:cNvSpPr/>
          <p:nvPr/>
        </p:nvSpPr>
        <p:spPr>
          <a:xfrm>
            <a:off x="3961780" y="4170194"/>
            <a:ext cx="8648521"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软件测试不一定要</a:t>
            </a:r>
            <a:r>
              <a:rPr lang="zh-CN" altLang="en-US" sz="6000" dirty="0">
                <a:solidFill>
                  <a:schemeClr val="tx1"/>
                </a:solidFill>
                <a:latin typeface="微软雅黑" panose="020B0503020204020204" pitchFamily="34" charset="-122"/>
                <a:ea typeface="微软雅黑" panose="020B0503020204020204" pitchFamily="34" charset="-122"/>
              </a:rPr>
              <a:t>跑</a:t>
            </a:r>
            <a:r>
              <a:rPr lang="zh-CN" altLang="en-US" sz="6000" dirty="0">
                <a:solidFill>
                  <a:srgbClr val="FF0000"/>
                </a:solidFill>
                <a:latin typeface="微软雅黑" panose="020B0503020204020204" pitchFamily="34" charset="-122"/>
                <a:ea typeface="微软雅黑" panose="020B0503020204020204" pitchFamily="34" charset="-122"/>
              </a:rPr>
              <a:t>程序</a:t>
            </a:r>
            <a:endParaRPr lang="en-US" altLang="zh-CN" sz="6000" b="1" dirty="0">
              <a:solidFill>
                <a:srgbClr val="FF0000"/>
              </a:solidFill>
              <a:latin typeface="微软雅黑" panose="020B0503020204020204" pitchFamily="34" charset="-122"/>
              <a:ea typeface="微软雅黑" panose="020B0503020204020204" pitchFamily="34" charset="-122"/>
            </a:endParaRPr>
          </a:p>
        </p:txBody>
      </p:sp>
      <p:sp>
        <p:nvSpPr>
          <p:cNvPr id="5" name="矩形 4"/>
          <p:cNvSpPr/>
          <p:nvPr/>
        </p:nvSpPr>
        <p:spPr>
          <a:xfrm>
            <a:off x="7160097" y="6350168"/>
            <a:ext cx="11726288"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同行评审是最常见的静态测试方法</a:t>
            </a:r>
            <a:endParaRPr lang="en-US" altLang="zh-CN" sz="6000" b="1"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矩形 5"/>
          <p:cNvSpPr/>
          <p:nvPr/>
        </p:nvSpPr>
        <p:spPr>
          <a:xfrm>
            <a:off x="11347761" y="8530143"/>
            <a:ext cx="8648521"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详细设计依赖于静态测试</a:t>
            </a:r>
            <a:endParaRPr lang="en-US" altLang="zh-CN" sz="6000" b="1"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34171"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a:t>
            </a:r>
            <a:r>
              <a:rPr lang="en-US"/>
              <a:t>3</a:t>
            </a:r>
            <a:endParaRPr lang="en-US"/>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142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tags/tag1.xml><?xml version="1.0" encoding="utf-8"?>
<p:tagLst xmlns:p="http://schemas.openxmlformats.org/presentationml/2006/main">
  <p:tag name="TIMING" val="|0.2"/>
</p:tagLst>
</file>

<file path=ppt/tags/tag2.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2558</Words>
  <Application>WPS 演示</Application>
  <PresentationFormat>Custom</PresentationFormat>
  <Paragraphs>482</Paragraphs>
  <Slides>25</Slides>
  <Notes>26</Notes>
  <HiddenSlides>0</HiddenSlides>
  <MMClips>26</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42" baseType="lpstr">
      <vt:lpstr>Arial</vt:lpstr>
      <vt:lpstr>宋体</vt:lpstr>
      <vt:lpstr>Wingdings</vt:lpstr>
      <vt:lpstr>Helvetica Neue</vt:lpstr>
      <vt:lpstr>Helvetica Neue Medium</vt:lpstr>
      <vt:lpstr>Helvetica Neue Light</vt:lpstr>
      <vt:lpstr>微软雅黑</vt:lpstr>
      <vt:lpstr>Calibri</vt:lpstr>
      <vt:lpstr>MicrosoftYaHeiLight</vt:lpstr>
      <vt:lpstr>AMGDT</vt:lpstr>
      <vt:lpstr>Arial Black</vt:lpstr>
      <vt:lpstr>华文行楷</vt:lpstr>
      <vt:lpstr>等线</vt:lpstr>
      <vt:lpstr>Times New Roman</vt:lpstr>
      <vt:lpstr>Arial Unicode MS</vt:lpstr>
      <vt:lpstr>White</vt:lpstr>
      <vt:lpstr>Word.Picture.8</vt:lpstr>
      <vt:lpstr>PowerPoint 演示文稿</vt:lpstr>
      <vt:lpstr>PowerPoint 演示文稿</vt:lpstr>
      <vt:lpstr>PowerPoint 演示文稿</vt:lpstr>
      <vt:lpstr>静态测试</vt:lpstr>
      <vt:lpstr>静态测试</vt:lpstr>
      <vt:lpstr>静态测试</vt:lpstr>
      <vt:lpstr>静态测试</vt:lpstr>
      <vt:lpstr>静态测试</vt:lpstr>
      <vt:lpstr>静态测试</vt:lpstr>
      <vt:lpstr>走读</vt:lpstr>
      <vt:lpstr>小组评审</vt:lpstr>
      <vt:lpstr>审查</vt:lpstr>
      <vt:lpstr>三种同行评审方式的区别</vt:lpstr>
      <vt:lpstr>三种同行评审方式的区别</vt:lpstr>
      <vt:lpstr>是否需要主动介绍</vt:lpstr>
      <vt:lpstr>同行评审过程</vt:lpstr>
      <vt:lpstr>静态测试—小结</vt:lpstr>
      <vt:lpstr>PowerPoint 演示文稿</vt:lpstr>
      <vt:lpstr>详细设计</vt:lpstr>
      <vt:lpstr>详细设计的静态测试</vt:lpstr>
      <vt:lpstr>详细设计的静态测试</vt:lpstr>
      <vt:lpstr>详细设计的静态测试</vt:lpstr>
      <vt:lpstr>详细设计的静态测试</vt:lpstr>
      <vt:lpstr>PowerPoint 演示文稿</vt:lpstr>
      <vt:lpstr>课堂小结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266</cp:revision>
  <cp:lastPrinted>2020-08-01T02:11:00Z</cp:lastPrinted>
  <dcterms:created xsi:type="dcterms:W3CDTF">2019-05-10T09:49:00Z</dcterms:created>
  <dcterms:modified xsi:type="dcterms:W3CDTF">2023-10-14T04:20:42Z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6974175B49904830A83BAC14303DCFFD_12</vt:lpwstr>
  </property>
</Properties>
</file>