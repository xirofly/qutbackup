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6" r:id="rId3"/>
    <p:sldId id="294" r:id="rId5"/>
    <p:sldId id="360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35" r:id="rId14"/>
    <p:sldId id="336" r:id="rId15"/>
    <p:sldId id="338" r:id="rId16"/>
    <p:sldId id="339" r:id="rId17"/>
    <p:sldId id="340" r:id="rId18"/>
    <p:sldId id="341" r:id="rId19"/>
    <p:sldId id="342" r:id="rId20"/>
    <p:sldId id="364" r:id="rId21"/>
    <p:sldId id="263" r:id="rId22"/>
  </p:sldIdLst>
  <p:sldSz cx="24384000" cy="13716000"/>
  <p:notesSz cx="7099300" cy="10234295"/>
  <p:custDataLst>
    <p:tags r:id="rId28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93"/>
    <p:restoredTop sz="67190" autoAdjust="0"/>
  </p:normalViewPr>
  <p:slideViewPr>
    <p:cSldViewPr snapToGrid="0">
      <p:cViewPr varScale="1">
        <p:scale>
          <a:sx n="26" d="100"/>
          <a:sy n="26" d="100"/>
        </p:scale>
        <p:origin x="1350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commentAuthors" Target="commentAuthors.xml"/><Relationship Id="rId28" Type="http://schemas.openxmlformats.org/officeDocument/2006/relationships/tags" Target="tags/tag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liuhuigmail.github.io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 userDrawn="1"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2333625" y="3343863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dirty="0"/>
              <a:t> </a:t>
            </a:r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2773022" y="4197921"/>
            <a:ext cx="18372016" cy="4273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spc="300" dirty="0" err="1"/>
              <a:t>谢谢</a:t>
            </a:r>
            <a:r>
              <a:rPr lang="zh-CN" altLang="en-US" sz="9600" spc="300" dirty="0"/>
              <a:t>！</a:t>
            </a:r>
            <a:endParaRPr lang="en-US" altLang="zh-CN" sz="9600" spc="300" dirty="0"/>
          </a:p>
          <a:p>
            <a:pPr algn="ctr">
              <a:lnSpc>
                <a:spcPct val="150000"/>
              </a:lnSpc>
            </a:pPr>
            <a:r>
              <a:rPr lang="en-US" altLang="zh-CN" sz="9600" dirty="0">
                <a:hlinkClick r:id="rId3"/>
              </a:rPr>
              <a:t>https://liuhuigmail.github.io/</a:t>
            </a:r>
            <a:endParaRPr lang="en-US" altLang="zh-CN" sz="9600"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dirty="0"/>
              <a:t> </a:t>
            </a:r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 typeface="Wingdings" panose="05000000000000000000" pitchFamily="2" charset="2"/>
        <a:buChar char="n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.m4a" TargetMode="External"/><Relationship Id="rId2" Type="http://schemas.microsoft.com/office/2007/relationships/media" Target="ppt/slides/ppt/media/media1.m4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.m4a" TargetMode="External"/><Relationship Id="rId2" Type="http://schemas.microsoft.com/office/2007/relationships/media" Target="ppt/slides/ppt/media/media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3.m4a" TargetMode="External"/><Relationship Id="rId2" Type="http://schemas.microsoft.com/office/2007/relationships/media" Target="ppt/slides/ppt/media/media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4.m4a" TargetMode="External"/><Relationship Id="rId2" Type="http://schemas.microsoft.com/office/2007/relationships/media" Target="ppt/slides/ppt/media/media4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5.m4a" TargetMode="External"/><Relationship Id="rId2" Type="http://schemas.microsoft.com/office/2007/relationships/media" Target="ppt/slides/ppt/media/media5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6.m4a" TargetMode="External"/><Relationship Id="rId2" Type="http://schemas.microsoft.com/office/2007/relationships/media" Target="ppt/slides/ppt/media/media6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7.m4a" TargetMode="External"/><Relationship Id="rId2" Type="http://schemas.microsoft.com/office/2007/relationships/media" Target="ppt/slides/ppt/media/media7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8.m4a" TargetMode="External"/><Relationship Id="rId2" Type="http://schemas.microsoft.com/office/2007/relationships/media" Target="ppt/slides/ppt/media/media8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9.m4a" TargetMode="External"/><Relationship Id="rId2" Type="http://schemas.microsoft.com/office/2007/relationships/media" Target="ppt/slides/ppt/media/media9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0.m4a" TargetMode="External"/><Relationship Id="rId2" Type="http://schemas.microsoft.com/office/2007/relationships/media" Target="ppt/slides/ppt/media/media10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1.m4a" TargetMode="External"/><Relationship Id="rId2" Type="http://schemas.microsoft.com/office/2007/relationships/media" Target="ppt/slides/ppt/media/media1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audio" Target="ppt/slides/ppt/media/media12.m4a" TargetMode="External"/><Relationship Id="rId3" Type="http://schemas.microsoft.com/office/2007/relationships/media" Target="ppt/slides/ppt/media/media12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3.m4a" TargetMode="External"/><Relationship Id="rId2" Type="http://schemas.microsoft.com/office/2007/relationships/media" Target="ppt/slides/ppt/media/media1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audio" Target="ppt/slides/ppt/media/media14.m4a" TargetMode="External"/><Relationship Id="rId3" Type="http://schemas.microsoft.com/office/2007/relationships/media" Target="ppt/slides/ppt/media/media14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audio" Target="ppt/slides/ppt/media/media15.m4a" TargetMode="External"/><Relationship Id="rId3" Type="http://schemas.microsoft.com/office/2007/relationships/media" Target="ppt/slides/ppt/media/media15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6.m4a" TargetMode="External"/><Relationship Id="rId2" Type="http://schemas.microsoft.com/office/2007/relationships/media" Target="ppt/slides/ppt/media/media1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7.m4a" TargetMode="External"/><Relationship Id="rId2" Type="http://schemas.microsoft.com/office/2007/relationships/media" Target="ppt/slides/ppt/media/media17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8.m4a" TargetMode="External"/><Relationship Id="rId2" Type="http://schemas.microsoft.com/office/2007/relationships/media" Target="ppt/slides/ppt/media/media18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9.m4a" TargetMode="External"/><Relationship Id="rId2" Type="http://schemas.microsoft.com/office/2007/relationships/media" Target="ppt/slides/ppt/media/media19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3896"/>
            <a:ext cx="12336711" cy="17338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智能时代的软件测试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4722447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2.2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代码走读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25" y="1172210"/>
            <a:ext cx="3546475" cy="548640"/>
          </a:xfrm>
          <a:prstGeom prst="rect">
            <a:avLst/>
          </a:prstGeom>
        </p:spPr>
      </p:pic>
    </p:spTree>
  </p:cSld>
  <p:clrMapOvr>
    <a:masterClrMapping/>
  </p:clrMapOvr>
  <p:transition spd="med" advTm="93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218066" y="3780859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代码走读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344963" y="5908095"/>
            <a:ext cx="5638763" cy="666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341181" y="5688687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218066" y="57836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946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218066" y="3780859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代码走读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344963" y="5908095"/>
            <a:ext cx="5638763" cy="666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341181" y="5688687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218066" y="57836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454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代码走读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37969" y="2135981"/>
            <a:ext cx="18950456" cy="944403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4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>
              <a:lnSpc>
                <a:spcPct val="2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走读 ：同行评审中最自由的一种形式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主要目的：评价软件制品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比如软件代码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其他目的：技术的交换、参与人员的技术培训、设计思想的介绍等。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评价什么：代码正确性、效率、可读性。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走读成员：项目内部的其他开发人员。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方式：对照检查表（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checklist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）检查代码。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819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代码走读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737969" y="2121761"/>
            <a:ext cx="19427780" cy="69642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4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r>
              <a:rPr lang="zh-CN" altLang="en-US" dirty="0"/>
              <a:t> 代码走读是代码静态测试的主要方法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代码静态测试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开发者自己</a:t>
            </a:r>
            <a:r>
              <a:rPr lang="zh-CN" altLang="en-US" dirty="0"/>
              <a:t>可以执行的</a:t>
            </a:r>
            <a:r>
              <a:rPr lang="zh-CN" altLang="en-US" dirty="0">
                <a:solidFill>
                  <a:srgbClr val="FF0000"/>
                </a:solidFill>
              </a:rPr>
              <a:t>数据流测试</a:t>
            </a:r>
            <a:r>
              <a:rPr lang="zh-CN" altLang="en-US" dirty="0"/>
              <a:t>或者</a:t>
            </a:r>
            <a:r>
              <a:rPr lang="zh-CN" altLang="en-US" dirty="0">
                <a:solidFill>
                  <a:srgbClr val="FF0000"/>
                </a:solidFill>
              </a:rPr>
              <a:t>代码走读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同行</a:t>
            </a:r>
            <a:r>
              <a:rPr lang="zh-CN" altLang="en-US" dirty="0"/>
              <a:t>执行的</a:t>
            </a:r>
            <a:r>
              <a:rPr lang="zh-CN" altLang="en-US" dirty="0">
                <a:solidFill>
                  <a:srgbClr val="FF0000"/>
                </a:solidFill>
              </a:rPr>
              <a:t>代码走读</a:t>
            </a:r>
            <a:endParaRPr lang="zh-CN" altLang="en-US" dirty="0"/>
          </a:p>
        </p:txBody>
      </p:sp>
      <p:sp>
        <p:nvSpPr>
          <p:cNvPr id="4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767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代码走读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37969" y="2899226"/>
            <a:ext cx="16027757" cy="621727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r>
              <a:rPr lang="zh-CN" altLang="en-US" dirty="0"/>
              <a:t>代码走读，查什么？</a:t>
            </a:r>
            <a:endParaRPr lang="en-US" altLang="zh-CN" dirty="0"/>
          </a:p>
          <a:p>
            <a:pPr lvl="1"/>
            <a:r>
              <a:rPr lang="zh-CN" altLang="en-US" dirty="0"/>
              <a:t>代码风格和规则</a:t>
            </a:r>
            <a:endParaRPr lang="en-US" altLang="zh-CN" dirty="0"/>
          </a:p>
          <a:p>
            <a:pPr marL="2540000" lvl="3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l"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独立于业务逻辑（软件的功能）</a:t>
            </a:r>
            <a:endParaRPr lang="zh-CN" altLang="en-US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代码程序设计和结构 </a:t>
            </a:r>
            <a:endParaRPr lang="zh-CN" altLang="en-US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业务逻辑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934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代码风格和规则检查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69" y="2415566"/>
            <a:ext cx="18511026" cy="888486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4pPr marL="2540000" lvl="3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l"/>
              <a:defRPr sz="4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r>
              <a:rPr lang="zh-CN" altLang="en-US" dirty="0"/>
              <a:t>程序风格的一致性、规范性；</a:t>
            </a:r>
            <a:endParaRPr lang="en-US" altLang="zh-CN" dirty="0"/>
          </a:p>
          <a:p>
            <a:r>
              <a:rPr lang="zh-CN" altLang="en-US" dirty="0"/>
              <a:t>标识符定义的规范性和一致性；</a:t>
            </a:r>
            <a:endParaRPr lang="en-US" altLang="zh-CN" dirty="0"/>
          </a:p>
          <a:p>
            <a:pPr lvl="1"/>
            <a:r>
              <a:rPr lang="zh-CN" altLang="en-US" sz="4000" dirty="0"/>
              <a:t>保证变量命名能够见名知意，并且简洁。长度适当、命名规范、容易记忆、能够拼读。</a:t>
            </a:r>
            <a:endParaRPr lang="en-US" altLang="zh-CN" sz="4000" dirty="0"/>
          </a:p>
          <a:p>
            <a:pPr lvl="1"/>
            <a:r>
              <a:rPr lang="zh-CN" altLang="en-US" sz="4000" dirty="0"/>
              <a:t>用相同的表示符代表相同功能的软件实体，不要用相同的表示符表示不同功能的软件实体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11041912" y="3102754"/>
            <a:ext cx="10207083" cy="213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200000"/>
              </a:lnSpc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=0;i++;i&lt;10)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for(</a:t>
            </a:r>
            <a:r>
              <a:rPr lang="en-US" altLang="zh-C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=10;i--;i&gt;0)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200000"/>
              </a:lnSpc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do{} while</a:t>
            </a:r>
            <a:endParaRPr lang="zh-CN" alt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332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代码风格和规则检查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737969" y="2121761"/>
            <a:ext cx="17177657" cy="995793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4pPr marL="2540000" lvl="3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l"/>
              <a:defRPr sz="4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r>
              <a:rPr lang="zh-CN" altLang="en-US" dirty="0"/>
              <a:t>程序是否清晰、简洁、容易理解</a:t>
            </a:r>
            <a:endParaRPr lang="en-US" altLang="zh-CN" dirty="0"/>
          </a:p>
          <a:p>
            <a:pPr lvl="1"/>
            <a:r>
              <a:rPr lang="zh-CN" altLang="en-US" dirty="0"/>
              <a:t>冗长的程序并不一定就不清晰。</a:t>
            </a:r>
            <a:endParaRPr lang="zh-CN" altLang="en-US" dirty="0"/>
          </a:p>
          <a:p>
            <a:r>
              <a:rPr lang="zh-CN" altLang="en-US" dirty="0"/>
              <a:t>注释</a:t>
            </a:r>
            <a:endParaRPr lang="en-US" altLang="zh-CN" dirty="0"/>
          </a:p>
          <a:p>
            <a:pPr lvl="1"/>
            <a:r>
              <a:rPr lang="zh-CN" altLang="en-US" dirty="0"/>
              <a:t>注释是否完整；</a:t>
            </a:r>
            <a:endParaRPr lang="en-US" altLang="zh-CN" dirty="0"/>
          </a:p>
          <a:p>
            <a:pPr lvl="1"/>
            <a:r>
              <a:rPr lang="zh-CN" altLang="en-US" dirty="0"/>
              <a:t>是否清晰简洁；</a:t>
            </a:r>
            <a:endParaRPr lang="en-US" altLang="zh-CN" dirty="0"/>
          </a:p>
          <a:p>
            <a:pPr lvl="1"/>
            <a:r>
              <a:rPr lang="zh-CN" altLang="en-US" dirty="0"/>
              <a:t>是否正确的反映了代码的功能；</a:t>
            </a:r>
            <a:endParaRPr lang="en-US" altLang="zh-CN" dirty="0"/>
          </a:p>
          <a:p>
            <a:pPr lvl="1"/>
            <a:r>
              <a:rPr lang="zh-CN" altLang="en-US" dirty="0"/>
              <a:t>是否做了多余的注释。</a:t>
            </a:r>
            <a:endParaRPr lang="en-US" altLang="zh-CN" dirty="0"/>
          </a:p>
        </p:txBody>
      </p:sp>
      <p:sp>
        <p:nvSpPr>
          <p:cNvPr id="4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7237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代码风格和规则检查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37969" y="2975781"/>
            <a:ext cx="18197463" cy="694610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4pPr marL="2540000" lvl="3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l"/>
              <a:defRPr sz="4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注释文档是否完整；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对包、类、属性、方法、参数、返回值的注释是否正确且容易理解；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参数类型、参数的限定值的注释是否正确。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特别是对于形参与返回值中关于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神秘数值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的注释是否清晰。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比如：返回值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代表什么，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代表什 么，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代表什么。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对于返回结果集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(Result Set)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的注释。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2526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代码走读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37969" y="2454383"/>
            <a:ext cx="16027757" cy="621727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r>
              <a:rPr lang="zh-CN" altLang="en-US" dirty="0"/>
              <a:t>代码走读，查什么？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代码风格和规则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/>
              <a:t>代码程序设计和结构 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业务逻辑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638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程序设计和结构的检查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737969" y="2121761"/>
            <a:ext cx="20497799" cy="891539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4pPr marL="2540000" lvl="3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l"/>
              <a:defRPr sz="360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endParaRPr lang="zh-CN" altLang="en-US" dirty="0"/>
          </a:p>
          <a:p>
            <a:r>
              <a:rPr lang="zh-CN" altLang="en-US" dirty="0"/>
              <a:t>模块接口的正确性检查</a:t>
            </a:r>
            <a:endParaRPr lang="en-US" altLang="zh-CN" dirty="0"/>
          </a:p>
          <a:p>
            <a:pPr lvl="1"/>
            <a:r>
              <a:rPr lang="zh-CN" altLang="en-US" dirty="0"/>
              <a:t>确定形式参数个数、数据类型、</a:t>
            </a:r>
            <a:r>
              <a:rPr lang="zh-CN" altLang="en-US" dirty="0">
                <a:solidFill>
                  <a:srgbClr val="FF0000"/>
                </a:solidFill>
              </a:rPr>
              <a:t>顺序</a:t>
            </a:r>
            <a:r>
              <a:rPr lang="zh-CN" altLang="en-US" dirty="0"/>
              <a:t>是否正确；</a:t>
            </a:r>
            <a:endParaRPr lang="en-US" altLang="zh-CN" dirty="0"/>
          </a:p>
          <a:p>
            <a:pPr lvl="1"/>
            <a:r>
              <a:rPr lang="zh-CN" altLang="en-US" dirty="0"/>
              <a:t>确定返回值类型及返回值的正确性；</a:t>
            </a:r>
            <a:endParaRPr lang="en-US" altLang="zh-CN" dirty="0"/>
          </a:p>
          <a:p>
            <a:pPr lvl="1"/>
            <a:r>
              <a:rPr lang="zh-CN" altLang="en-US" dirty="0"/>
              <a:t>以详细设计为基准。</a:t>
            </a:r>
            <a:endParaRPr lang="zh-CN" altLang="en-US" dirty="0"/>
          </a:p>
          <a:p>
            <a:r>
              <a:rPr lang="zh-CN" altLang="en-US" dirty="0"/>
              <a:t>输入参数是否有正确性检查</a:t>
            </a:r>
            <a:endParaRPr lang="en-US" altLang="zh-CN" dirty="0"/>
          </a:p>
          <a:p>
            <a:pPr lvl="1"/>
            <a:r>
              <a:rPr lang="zh-CN" altLang="en-US" dirty="0"/>
              <a:t>缺少参数正确性检查的代码是造成软件系统不稳定的主要原因之一。 </a:t>
            </a:r>
            <a:endParaRPr lang="zh-CN" altLang="en-US" dirty="0"/>
          </a:p>
          <a:p>
            <a:pPr lvl="1"/>
            <a:endParaRPr lang="en-US" altLang="zh-CN" dirty="0"/>
          </a:p>
        </p:txBody>
      </p:sp>
      <p:sp>
        <p:nvSpPr>
          <p:cNvPr id="4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566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程序设计和结构的检查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78" t="31768"/>
          <a:stretch>
            <a:fillRect/>
          </a:stretch>
        </p:blipFill>
        <p:spPr bwMode="auto">
          <a:xfrm>
            <a:off x="4953000" y="3256888"/>
            <a:ext cx="14478000" cy="661634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矩形 2"/>
          <p:cNvSpPr/>
          <p:nvPr/>
        </p:nvSpPr>
        <p:spPr>
          <a:xfrm>
            <a:off x="9021901" y="10566494"/>
            <a:ext cx="6340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输入参数如何做正确性检查</a:t>
            </a:r>
            <a:endParaRPr lang="en-US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7" name="音频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695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程序设计和结构的检查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737969" y="2560791"/>
            <a:ext cx="21194486" cy="810577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n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rtl="0" hangingPunct="0">
              <a:lnSpc>
                <a:spcPct val="200000"/>
              </a:lnSpc>
              <a:spcBef>
                <a:spcPts val="1200"/>
              </a:spcBef>
              <a:buSzTx/>
            </a:pPr>
            <a:r>
              <a:rPr lang="zh-CN" altLang="en-US" dirty="0"/>
              <a:t>调用其他方法接口的正确性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检查实参类型正确与否、传入的参数值正确与否、参数的个数正确与否。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返回值正确与否，有没有误解返回值所表示的意思。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最好对每个被调用的方法的返回值用显式代码作正确性检查。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如果被调用方法出现异常或错误，程序应该给予反馈并添加适当的出错处理代码。</a:t>
            </a:r>
            <a:endParaRPr lang="zh-CN" altLang="en-US" dirty="0"/>
          </a:p>
          <a:p>
            <a:pPr marL="635000" lvl="1" indent="0" rtl="0" hangingPunct="0">
              <a:lnSpc>
                <a:spcPct val="200000"/>
              </a:lnSpc>
              <a:spcBef>
                <a:spcPts val="1200"/>
              </a:spcBef>
              <a:buNone/>
            </a:pPr>
            <a:endParaRPr lang="en-US" altLang="zh-CN" dirty="0"/>
          </a:p>
        </p:txBody>
      </p:sp>
      <p:sp>
        <p:nvSpPr>
          <p:cNvPr id="4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000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程序设计和结构的检查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37969" y="2768208"/>
            <a:ext cx="19452771" cy="863917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n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rtl="0" hangingPunct="0">
              <a:lnSpc>
                <a:spcPct val="200000"/>
              </a:lnSpc>
              <a:spcBef>
                <a:spcPts val="1200"/>
              </a:spcBef>
              <a:buSzTx/>
            </a:pPr>
            <a:r>
              <a:rPr lang="zh-CN" altLang="en-US" dirty="0"/>
              <a:t>出错处理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出错的描述难以理解；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出错的描述不足以对错误定位，不足以确定出错的原因；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显示的错误信息与实际的错误原因不符；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对错误条件的处理不正确；</a:t>
            </a:r>
            <a:endParaRPr lang="en-US" altLang="zh-CN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在对错误进行处理之前，错误条件已经引起系统的干预。 </a:t>
            </a:r>
            <a:endParaRPr lang="zh-CN" altLang="en-US" dirty="0"/>
          </a:p>
          <a:p>
            <a:pPr lvl="1" rtl="0" hangingPunct="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" t="3566" r="5882" b="7285"/>
          <a:stretch>
            <a:fillRect/>
          </a:stretch>
        </p:blipFill>
        <p:spPr bwMode="auto">
          <a:xfrm>
            <a:off x="17170008" y="4974771"/>
            <a:ext cx="6330570" cy="3766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2222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程序设计和结构的检查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21901" y="10208208"/>
            <a:ext cx="6340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有意义的出错信息（提示）</a:t>
            </a:r>
            <a:endParaRPr lang="en-US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180" y="3858985"/>
            <a:ext cx="11279640" cy="569939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/>
              <a:t>1</a:t>
            </a:r>
            <a:endParaRPr dirty="0"/>
          </a:p>
        </p:txBody>
      </p:sp>
      <p:pic>
        <p:nvPicPr>
          <p:cNvPr id="7" name="音频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863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程序设计和结构的检查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737969" y="1768928"/>
            <a:ext cx="19745890" cy="1017814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905000" indent="-635000" algn="l">
              <a:spcBef>
                <a:spcPts val="5900"/>
              </a:spcBef>
              <a:buSzPct val="125000"/>
              <a:buChar char="•"/>
              <a:defRPr sz="5200" b="0"/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保证表达式、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语句的正确性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检查所编写的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语句的语法、逻辑的正确性。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对表达式应该保证不含二义性，对于容易产生歧义的表达式或运算符优先级，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&amp;&amp;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等，可以采用扩号（）运算符避免二义性。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检查常量和全局变量使用的正确性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检查常量或全局变量的取值和数据类型；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保证常量的每次引用，是否保持数值和类型的一致性。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36105" y="2928585"/>
            <a:ext cx="3656770" cy="1323439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/>
            </a:pPr>
            <a:r>
              <a:rPr lang="en-US" altLang="zh-CN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A||B&amp;C</a:t>
            </a:r>
            <a:endParaRPr lang="zh-CN" altLang="en-US" sz="8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401461" y="3995386"/>
            <a:ext cx="4339650" cy="1323439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/>
            </a:pPr>
            <a:r>
              <a:rPr lang="en-US" altLang="zh-CN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A||</a:t>
            </a:r>
            <a:r>
              <a:rPr lang="en-US" altLang="zh-C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B&amp;C</a:t>
            </a:r>
            <a:r>
              <a:rPr lang="en-US" altLang="zh-C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13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程序设计和结构的检查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008923" y="2214403"/>
            <a:ext cx="8119531" cy="255454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>
              <a:defRPr/>
            </a:pPr>
            <a:r>
              <a:rPr lang="en-US" altLang="zh-CN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Call(5); </a:t>
            </a:r>
            <a:endParaRPr lang="en-US" altLang="zh-CN" sz="8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Peter=Students[2]</a:t>
            </a:r>
            <a:endParaRPr lang="zh-CN" altLang="en-US" sz="8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69" y="4205357"/>
            <a:ext cx="19324321" cy="694086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200000"/>
              </a:lnSpc>
              <a:spcBef>
                <a:spcPts val="1200"/>
              </a:spcBef>
              <a:buSzPct val="125000"/>
              <a:buFont typeface="Wingdings" panose="05000000000000000000" pitchFamily="2" charset="2"/>
              <a:buChar char="Ø"/>
              <a:defRPr sz="4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905000" indent="-635000" algn="l">
              <a:spcBef>
                <a:spcPts val="5900"/>
              </a:spcBef>
              <a:buSzPct val="125000"/>
              <a:buChar char="•"/>
              <a:defRPr sz="5200" b="0"/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marL="635000" lvl="1">
              <a:lnSpc>
                <a:spcPct val="15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数字是否进行了命名。</a:t>
            </a:r>
            <a:endParaRPr lang="en-US" altLang="zh-C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包括各种常数、数组的大小、字符位置以及程序中出现的以文字形式写出的数值。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lvl="1">
              <a:lnSpc>
                <a:spcPct val="15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检查代码是否可以优化、算法效率是否最高。</a:t>
            </a:r>
            <a:endParaRPr lang="en-US" altLang="zh-C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语句是否可以优化，是否可以用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语句代替程序中的多条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语句的功能；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如：循环是否必要，循环中的语句是否可以抽出到循环之外等。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7947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218066" y="3780859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chemeClr val="tx1"/>
                  </a:solidFill>
                </a:rPr>
                <a:t>代码走读</a:t>
              </a:r>
              <a:endParaRPr lang="zh-CN" altLang="en-US" sz="4400" dirty="0">
                <a:solidFill>
                  <a:schemeClr val="tx1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344963" y="5908095"/>
            <a:ext cx="5638763" cy="6666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小结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341181" y="5688687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218066" y="57836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932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代码走读</a:t>
            </a:r>
            <a:r>
              <a:rPr lang="en-US" altLang="zh-CN" dirty="0"/>
              <a:t>—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918487" y="7645419"/>
            <a:ext cx="1254702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代码走读是代码静态测试的主要手段</a:t>
            </a:r>
            <a:endParaRPr lang="en-US" altLang="zh-CN" sz="6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79843" y="4899287"/>
            <a:ext cx="2104614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代码走读主要包括格式检查、设计和结构检查、业务逻辑检查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7" name="音频 6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5273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4" grpId="0"/>
      <p:bldP spid="5" grpId="0"/>
    </p:bldLst>
  </p:timing>
</p:sld>
</file>

<file path=ppt/tags/tag1.xml><?xml version="1.0" encoding="utf-8"?>
<p:tagLst xmlns:p="http://schemas.openxmlformats.org/presentationml/2006/main">
  <p:tag name="TIMING" val="|90.7|123.9"/>
</p:tagLst>
</file>

<file path=ppt/tags/tag2.xml><?xml version="1.0" encoding="utf-8"?>
<p:tagLst xmlns:p="http://schemas.openxmlformats.org/presentationml/2006/main">
  <p:tag name="TIMING" val="|89.1"/>
</p:tagLst>
</file>

<file path=ppt/tags/tag3.xml><?xml version="1.0" encoding="utf-8"?>
<p:tagLst xmlns:p="http://schemas.openxmlformats.org/presentationml/2006/main">
  <p:tag name="COMMONDATA" val="eyJoZGlkIjoiN2RjMzk0Mzc2NzY3NGE0YmI3MDJiMTlmNzE2MWFmNDcifQ=="/>
  <p:tag name="commondata" val="eyJoZGlkIjoiNWY4NzZjZjg1ZDI5N2JhZWU3ZjVjZDU2NTU1Y2E1MTU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1605</Words>
  <Application>WPS 演示</Application>
  <PresentationFormat>Custom</PresentationFormat>
  <Paragraphs>198</Paragraphs>
  <Slides>19</Slides>
  <Notes>20</Notes>
  <HiddenSlides>0</HiddenSlides>
  <MMClips>20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Calibri</vt:lpstr>
      <vt:lpstr>MicrosoftYaHeiLight</vt:lpstr>
      <vt:lpstr>AMGDT</vt:lpstr>
      <vt:lpstr>Arial Black</vt:lpstr>
      <vt:lpstr>Times New Roman</vt:lpstr>
      <vt:lpstr>等线</vt:lpstr>
      <vt:lpstr>黑体</vt:lpstr>
      <vt:lpstr>Arial Unicode MS</vt:lpstr>
      <vt:lpstr>White</vt:lpstr>
      <vt:lpstr>PowerPoint 演示文稿</vt:lpstr>
      <vt:lpstr>PowerPoint 演示文稿</vt:lpstr>
      <vt:lpstr>PowerPoint 演示文稿</vt:lpstr>
      <vt:lpstr>代码走读</vt:lpstr>
      <vt:lpstr>代码走读</vt:lpstr>
      <vt:lpstr>代码走读</vt:lpstr>
      <vt:lpstr>代码风格和规则检查</vt:lpstr>
      <vt:lpstr>代码风格和规则检查</vt:lpstr>
      <vt:lpstr>代码风格和规则检查</vt:lpstr>
      <vt:lpstr>代码走读</vt:lpstr>
      <vt:lpstr>程序设计和结构的检查 </vt:lpstr>
      <vt:lpstr>程序设计和结构的检查 </vt:lpstr>
      <vt:lpstr>程序设计和结构的检查 </vt:lpstr>
      <vt:lpstr>程序设计和结构的检查 </vt:lpstr>
      <vt:lpstr>程序设计和结构的检查 </vt:lpstr>
      <vt:lpstr>程序设计和结构的检查 </vt:lpstr>
      <vt:lpstr>程序设计和结构的检查 </vt:lpstr>
      <vt:lpstr>PowerPoint 演示文稿</vt:lpstr>
      <vt:lpstr>代码走读—小结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450</cp:revision>
  <cp:lastPrinted>2020-08-01T02:11:00Z</cp:lastPrinted>
  <dcterms:created xsi:type="dcterms:W3CDTF">2019-05-10T09:49:00Z</dcterms:created>
  <dcterms:modified xsi:type="dcterms:W3CDTF">2023-10-14T04:20:33Z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8847FC0233CA494AB3A6C1E37C58B816_12</vt:lpwstr>
  </property>
</Properties>
</file>