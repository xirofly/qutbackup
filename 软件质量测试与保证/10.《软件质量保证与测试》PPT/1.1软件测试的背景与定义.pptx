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256" r:id="rId3"/>
    <p:sldId id="294" r:id="rId5"/>
    <p:sldId id="300" r:id="rId6"/>
    <p:sldId id="258" r:id="rId7"/>
    <p:sldId id="261" r:id="rId8"/>
    <p:sldId id="262" r:id="rId9"/>
    <p:sldId id="263" r:id="rId10"/>
    <p:sldId id="301" r:id="rId11"/>
    <p:sldId id="268" r:id="rId12"/>
    <p:sldId id="269" r:id="rId13"/>
    <p:sldId id="270" r:id="rId14"/>
    <p:sldId id="271" r:id="rId15"/>
    <p:sldId id="272" r:id="rId16"/>
    <p:sldId id="288" r:id="rId17"/>
    <p:sldId id="273" r:id="rId18"/>
    <p:sldId id="266" r:id="rId19"/>
    <p:sldId id="274" r:id="rId20"/>
    <p:sldId id="267" r:id="rId21"/>
    <p:sldId id="275" r:id="rId22"/>
    <p:sldId id="302" r:id="rId23"/>
    <p:sldId id="277" r:id="rId24"/>
    <p:sldId id="278" r:id="rId25"/>
    <p:sldId id="279" r:id="rId26"/>
    <p:sldId id="280" r:id="rId27"/>
    <p:sldId id="281" r:id="rId28"/>
    <p:sldId id="299" r:id="rId29"/>
    <p:sldId id="282" r:id="rId30"/>
    <p:sldId id="287" r:id="rId31"/>
    <p:sldId id="283" r:id="rId32"/>
    <p:sldId id="284" r:id="rId33"/>
    <p:sldId id="285" r:id="rId34"/>
    <p:sldId id="303" r:id="rId35"/>
    <p:sldId id="293" r:id="rId36"/>
    <p:sldId id="259" r:id="rId37"/>
  </p:sldIdLst>
  <p:sldSz cx="24384000" cy="13716000"/>
  <p:notesSz cx="7099300" cy="10234295"/>
  <p:custDataLst>
    <p:tags r:id="rId4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3"/>
    <p:restoredTop sz="82051" autoAdjust="0"/>
  </p:normalViewPr>
  <p:slideViewPr>
    <p:cSldViewPr snapToGrid="0">
      <p:cViewPr>
        <p:scale>
          <a:sx n="40" d="100"/>
          <a:sy n="40" d="100"/>
        </p:scale>
        <p:origin x="137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Relationship Id="rId42" Type="http://schemas.openxmlformats.org/officeDocument/2006/relationships/commentAuthors" Target="commentAuthors.xml"/><Relationship Id="rId43" Type="http://schemas.openxmlformats.org/officeDocument/2006/relationships/tags" Target="tags/tag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222958057395"/>
          <c:y val="0.0890804597701149"/>
          <c:w val="0.635761589403974"/>
          <c:h val="0.827586206896552"/>
        </c:manualLayout>
      </c:layout>
      <c:pieChart>
        <c:varyColors val="1"/>
        <c:ser>
          <c:idx val="0"/>
          <c:order val="0"/>
          <c:spPr>
            <a:solidFill>
              <a:srgbClr val="9999FF"/>
            </a:solidFill>
            <a:ln w="34870">
              <a:solidFill>
                <a:srgbClr val="000000"/>
              </a:solidFill>
              <a:prstDash val="solid"/>
            </a:ln>
          </c:spPr>
          <c:explosion val="12"/>
          <c:dPt>
            <c:idx val="0"/>
            <c:bubble3D val="0"/>
            <c:explosion val="5"/>
            <c:spPr>
              <a:solidFill>
                <a:srgbClr val="9999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1"/>
            <c:bubble3D val="0"/>
            <c:spPr>
              <a:solidFill>
                <a:srgbClr val="993366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2"/>
            <c:bubble3D val="0"/>
            <c:spPr>
              <a:solidFill>
                <a:srgbClr val="FFFFCC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3"/>
            <c:bubble3D val="0"/>
            <c:spPr>
              <a:solidFill>
                <a:srgbClr val="CCFF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Lbls>
            <c:dLbl>
              <c:idx val="0"/>
              <c:layout>
                <c:manualLayout>
                  <c:x val="0.00570702225440211"/>
                  <c:y val="-0.021080335475720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13672163819593"/>
                  <c:y val="0.004921143025646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73358970685869"/>
                  <c:y val="0.0667007303428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09861830946248"/>
                  <c:y val="-0.0016537893516564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 w="6974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4400" b="1" i="0" u="none" strike="noStrike" kern="1200" baseline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Sheet1!$C$10:$C$13</c:f>
              <c:strCache>
                <c:ptCount val="4"/>
                <c:pt idx="0">
                  <c:v>需求</c:v>
                </c:pt>
                <c:pt idx="1">
                  <c:v>设计</c:v>
                </c:pt>
                <c:pt idx="2">
                  <c:v>代码</c:v>
                </c:pt>
                <c:pt idx="3">
                  <c:v>其他</c:v>
                </c:pt>
              </c:strCache>
            </c:strRef>
          </c:cat>
          <c:val>
            <c:numRef>
              <c:f>Sheet1!$D$10:$D$13</c:f>
              <c:numCache>
                <c:formatCode>0%</c:formatCode>
                <c:ptCount val="4"/>
                <c:pt idx="0">
                  <c:v>0.54</c:v>
                </c:pt>
                <c:pt idx="1">
                  <c:v>0.25</c:v>
                </c:pt>
                <c:pt idx="2">
                  <c:v>0.15</c:v>
                </c:pt>
                <c:pt idx="3">
                  <c:v>0.06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 w="69740">
          <a:noFill/>
        </a:ln>
      </c:spPr>
    </c:plotArea>
    <c:plotVisOnly val="1"/>
    <c:dispBlanksAs val="zero"/>
    <c:showDLblsOverMax val="0"/>
  </c:chart>
  <c:spPr>
    <a:solidFill>
      <a:srgbClr val="FFFFFF"/>
    </a:solidFill>
    <a:ln w="8718">
      <a:solidFill>
        <a:srgbClr val="000000"/>
      </a:solidFill>
      <a:prstDash val="solid"/>
    </a:ln>
  </c:spPr>
  <c:txPr>
    <a:bodyPr/>
    <a:lstStyle/>
    <a:p>
      <a:pPr>
        <a:defRPr lang="zh-CN" sz="4400" b="1" i="0" u="none" strike="noStrike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宋体" panose="02010600030101010101" pitchFamily="2" charset="-122"/>
        </a:defRPr>
      </a:pPr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E7F16-7DAC-49FD-BBA4-E185F3C3A533}" type="doc">
      <dgm:prSet loTypeId="urn:microsoft.com/office/officeart/2005/8/layout/equation2" loCatId="relationship" qsTypeId="urn:microsoft.com/office/officeart/2005/8/quickstyle/simple1" qsCatId="simple" csTypeId="urn:microsoft.com/office/officeart/2005/8/colors/colorful4" csCatId="colorful" phldr="1"/>
      <dgm:spPr/>
    </dgm:pt>
    <dgm:pt modelId="{22D2A459-8A5B-46CD-BF2B-BCBAE6FB013E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软件产品质量</a:t>
          </a:r>
          <a:endParaRPr lang="en-US" altLang="zh-CN" sz="48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是企业的重要目标</a:t>
          </a:r>
        </a:p>
      </dgm:t>
    </dgm:pt>
    <dgm:pt modelId="{D54AEC7C-0696-4712-AA96-0D1413CD0FB2}" cxnId="{76FC014B-2141-411F-A671-7CA889F4F05A}" type="parTrans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1852AB2F-1BF6-4817-AC74-7B4A00F0593C}" cxnId="{76FC014B-2141-411F-A671-7CA889F4F05A}" type="sibTrans">
      <dgm:prSet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3200"/>
        </a:p>
      </dgm:t>
    </dgm:pt>
    <dgm:pt modelId="{D749BF19-19D2-4601-9C0A-DB21D9423FA2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软件缺陷</a:t>
          </a:r>
          <a:endParaRPr lang="en-US" altLang="zh-CN" sz="4800" b="1" dirty="0">
            <a:solidFill>
              <a:srgbClr val="7030A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不可避免</a:t>
          </a:r>
        </a:p>
      </dgm:t>
    </dgm:pt>
    <dgm:pt modelId="{99E70C2B-19A6-4B8B-85E4-13B9340D5DBC}" cxnId="{37633988-E946-4680-A07D-31F09DDFBC5E}" type="parTrans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E8150315-DC7D-40DC-817A-D494273EC377}" cxnId="{37633988-E946-4680-A07D-31F09DDFBC5E}" type="sibTrans">
      <dgm:prSet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4000">
            <a:solidFill>
              <a:srgbClr val="FF0000"/>
            </a:solidFill>
          </a:endParaRPr>
        </a:p>
      </dgm:t>
    </dgm:pt>
    <dgm:pt modelId="{8451EC04-6247-4AE6-862D-4FFA6DF5252C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软件测试是</a:t>
          </a:r>
          <a:endParaRPr lang="en-US" altLang="zh-CN" sz="4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发现缺陷的手段</a:t>
          </a:r>
        </a:p>
      </dgm:t>
    </dgm:pt>
    <dgm:pt modelId="{1661FDFB-7C50-46D4-BA2B-34ECEA8B9231}" cxnId="{B9C2A85C-D60D-4A12-8477-473E876F1976}" type="parTrans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756CD0C1-8909-4EF7-B9AB-5CD14EC26A0E}" cxnId="{B9C2A85C-D60D-4A12-8477-473E876F1976}" type="sibTrans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4C50AA34-BB8C-4E1B-B0B7-8322161A7BFD}" type="pres">
      <dgm:prSet presAssocID="{276E7F16-7DAC-49FD-BBA4-E185F3C3A533}" presName="Name0" presStyleCnt="0">
        <dgm:presLayoutVars>
          <dgm:dir/>
          <dgm:resizeHandles val="exact"/>
        </dgm:presLayoutVars>
      </dgm:prSet>
      <dgm:spPr/>
    </dgm:pt>
    <dgm:pt modelId="{24A843AD-8454-4438-A137-E2BEE734ED95}" type="pres">
      <dgm:prSet presAssocID="{276E7F16-7DAC-49FD-BBA4-E185F3C3A533}" presName="vNodes" presStyleCnt="0"/>
      <dgm:spPr/>
    </dgm:pt>
    <dgm:pt modelId="{F92E900D-3299-41B7-87EF-DDC748F79B98}" type="pres">
      <dgm:prSet presAssocID="{22D2A459-8A5B-46CD-BF2B-BCBAE6FB013E}" presName="node" presStyleLbl="node1" presStyleIdx="0" presStyleCnt="3" custScaleX="233102" custScaleY="109723">
        <dgm:presLayoutVars>
          <dgm:bulletEnabled val="1"/>
        </dgm:presLayoutVars>
      </dgm:prSet>
      <dgm:spPr/>
    </dgm:pt>
    <dgm:pt modelId="{C8A95373-2F3E-4C4D-9331-4A364B57FE99}" type="pres">
      <dgm:prSet presAssocID="{1852AB2F-1BF6-4817-AC74-7B4A00F0593C}" presName="spacerT" presStyleCnt="0"/>
      <dgm:spPr/>
    </dgm:pt>
    <dgm:pt modelId="{C7BC5F83-3273-4B95-A9AF-253CF3CF93D2}" type="pres">
      <dgm:prSet presAssocID="{1852AB2F-1BF6-4817-AC74-7B4A00F0593C}" presName="sibTrans" presStyleLbl="sibTrans2D1" presStyleIdx="0" presStyleCnt="2" custLinFactNeighborX="7154" custLinFactNeighborY="-2926"/>
      <dgm:spPr/>
    </dgm:pt>
    <dgm:pt modelId="{8416E06D-C3F6-45A0-9807-53FC55269D0E}" type="pres">
      <dgm:prSet presAssocID="{1852AB2F-1BF6-4817-AC74-7B4A00F0593C}" presName="spacerB" presStyleCnt="0"/>
      <dgm:spPr/>
    </dgm:pt>
    <dgm:pt modelId="{C3CC1E5E-9CC3-4449-8E2E-F66F4C86163B}" type="pres">
      <dgm:prSet presAssocID="{D749BF19-19D2-4601-9C0A-DB21D9423FA2}" presName="node" presStyleLbl="node1" presStyleIdx="1" presStyleCnt="3" custScaleX="216455" custScaleY="101892">
        <dgm:presLayoutVars>
          <dgm:bulletEnabled val="1"/>
        </dgm:presLayoutVars>
      </dgm:prSet>
      <dgm:spPr/>
    </dgm:pt>
    <dgm:pt modelId="{E36380C0-F6AF-4293-BD9A-8698365CEC9F}" type="pres">
      <dgm:prSet presAssocID="{276E7F16-7DAC-49FD-BBA4-E185F3C3A533}" presName="sibTransLast" presStyleLbl="sibTrans2D1" presStyleIdx="1" presStyleCnt="2" custScaleY="75587" custLinFactNeighborX="-29437" custLinFactNeighborY="18567"/>
      <dgm:spPr/>
    </dgm:pt>
    <dgm:pt modelId="{DE2AAB75-3194-40D6-BE3D-A0A837AA0FAF}" type="pres">
      <dgm:prSet presAssocID="{276E7F16-7DAC-49FD-BBA4-E185F3C3A533}" presName="connectorText" presStyleLbl="sibTrans2D1" presStyleIdx="1" presStyleCnt="2"/>
      <dgm:spPr/>
    </dgm:pt>
    <dgm:pt modelId="{ABB51948-6C49-42F8-8E4B-EE56DB7A59F9}" type="pres">
      <dgm:prSet presAssocID="{276E7F16-7DAC-49FD-BBA4-E185F3C3A533}" presName="lastNode" presStyleLbl="node1" presStyleIdx="2" presStyleCnt="3" custLinFactNeighborX="53874" custLinFactNeighborY="-1063">
        <dgm:presLayoutVars>
          <dgm:bulletEnabled val="1"/>
        </dgm:presLayoutVars>
      </dgm:prSet>
      <dgm:spPr/>
    </dgm:pt>
  </dgm:ptLst>
  <dgm:cxnLst>
    <dgm:cxn modelId="{B9C2A85C-D60D-4A12-8477-473E876F1976}" srcId="{276E7F16-7DAC-49FD-BBA4-E185F3C3A533}" destId="{8451EC04-6247-4AE6-862D-4FFA6DF5252C}" srcOrd="2" destOrd="0" parTransId="{1661FDFB-7C50-46D4-BA2B-34ECEA8B9231}" sibTransId="{756CD0C1-8909-4EF7-B9AB-5CD14EC26A0E}"/>
    <dgm:cxn modelId="{BF172068-E1F8-496A-A302-8CBB7B31430F}" type="presOf" srcId="{D749BF19-19D2-4601-9C0A-DB21D9423FA2}" destId="{C3CC1E5E-9CC3-4449-8E2E-F66F4C86163B}" srcOrd="0" destOrd="0" presId="urn:microsoft.com/office/officeart/2005/8/layout/equation2"/>
    <dgm:cxn modelId="{76FC014B-2141-411F-A671-7CA889F4F05A}" srcId="{276E7F16-7DAC-49FD-BBA4-E185F3C3A533}" destId="{22D2A459-8A5B-46CD-BF2B-BCBAE6FB013E}" srcOrd="0" destOrd="0" parTransId="{D54AEC7C-0696-4712-AA96-0D1413CD0FB2}" sibTransId="{1852AB2F-1BF6-4817-AC74-7B4A00F0593C}"/>
    <dgm:cxn modelId="{FEEFE26D-83BC-461F-85CC-9CA953CBC391}" type="presOf" srcId="{E8150315-DC7D-40DC-817A-D494273EC377}" destId="{E36380C0-F6AF-4293-BD9A-8698365CEC9F}" srcOrd="0" destOrd="0" presId="urn:microsoft.com/office/officeart/2005/8/layout/equation2"/>
    <dgm:cxn modelId="{CE30AF76-FEA5-4614-BA3C-F97E0AD34D30}" type="presOf" srcId="{22D2A459-8A5B-46CD-BF2B-BCBAE6FB013E}" destId="{F92E900D-3299-41B7-87EF-DDC748F79B98}" srcOrd="0" destOrd="0" presId="urn:microsoft.com/office/officeart/2005/8/layout/equation2"/>
    <dgm:cxn modelId="{5D004659-9C14-4435-B24C-EBB2BF51D7EC}" type="presOf" srcId="{1852AB2F-1BF6-4817-AC74-7B4A00F0593C}" destId="{C7BC5F83-3273-4B95-A9AF-253CF3CF93D2}" srcOrd="0" destOrd="0" presId="urn:microsoft.com/office/officeart/2005/8/layout/equation2"/>
    <dgm:cxn modelId="{B7B6FE7A-7287-4E01-8067-2D30B5A54B70}" type="presOf" srcId="{8451EC04-6247-4AE6-862D-4FFA6DF5252C}" destId="{ABB51948-6C49-42F8-8E4B-EE56DB7A59F9}" srcOrd="0" destOrd="0" presId="urn:microsoft.com/office/officeart/2005/8/layout/equation2"/>
    <dgm:cxn modelId="{37633988-E946-4680-A07D-31F09DDFBC5E}" srcId="{276E7F16-7DAC-49FD-BBA4-E185F3C3A533}" destId="{D749BF19-19D2-4601-9C0A-DB21D9423FA2}" srcOrd="1" destOrd="0" parTransId="{99E70C2B-19A6-4B8B-85E4-13B9340D5DBC}" sibTransId="{E8150315-DC7D-40DC-817A-D494273EC377}"/>
    <dgm:cxn modelId="{0647BBC5-4ABB-4AB7-A882-3959306EBC96}" type="presOf" srcId="{276E7F16-7DAC-49FD-BBA4-E185F3C3A533}" destId="{4C50AA34-BB8C-4E1B-B0B7-8322161A7BFD}" srcOrd="0" destOrd="0" presId="urn:microsoft.com/office/officeart/2005/8/layout/equation2"/>
    <dgm:cxn modelId="{996732D3-6915-41CF-A98A-C2413853B052}" type="presOf" srcId="{E8150315-DC7D-40DC-817A-D494273EC377}" destId="{DE2AAB75-3194-40D6-BE3D-A0A837AA0FAF}" srcOrd="1" destOrd="0" presId="urn:microsoft.com/office/officeart/2005/8/layout/equation2"/>
    <dgm:cxn modelId="{5D5C23A9-CF0B-4CC1-8861-DA70BE1DE0C2}" type="presParOf" srcId="{4C50AA34-BB8C-4E1B-B0B7-8322161A7BFD}" destId="{24A843AD-8454-4438-A137-E2BEE734ED95}" srcOrd="0" destOrd="0" presId="urn:microsoft.com/office/officeart/2005/8/layout/equation2"/>
    <dgm:cxn modelId="{5C62B7D7-488B-4D38-B6E7-C831951D514C}" type="presParOf" srcId="{24A843AD-8454-4438-A137-E2BEE734ED95}" destId="{F92E900D-3299-41B7-87EF-DDC748F79B98}" srcOrd="0" destOrd="0" presId="urn:microsoft.com/office/officeart/2005/8/layout/equation2"/>
    <dgm:cxn modelId="{0E2C9B61-E1F8-4529-BC20-0BE9A1D37BB6}" type="presParOf" srcId="{24A843AD-8454-4438-A137-E2BEE734ED95}" destId="{C8A95373-2F3E-4C4D-9331-4A364B57FE99}" srcOrd="1" destOrd="0" presId="urn:microsoft.com/office/officeart/2005/8/layout/equation2"/>
    <dgm:cxn modelId="{0840C365-14D0-4EE9-94C4-EBA66CBEB921}" type="presParOf" srcId="{24A843AD-8454-4438-A137-E2BEE734ED95}" destId="{C7BC5F83-3273-4B95-A9AF-253CF3CF93D2}" srcOrd="2" destOrd="0" presId="urn:microsoft.com/office/officeart/2005/8/layout/equation2"/>
    <dgm:cxn modelId="{CD6500C9-3B05-4092-8C9D-B7554AFC2851}" type="presParOf" srcId="{24A843AD-8454-4438-A137-E2BEE734ED95}" destId="{8416E06D-C3F6-45A0-9807-53FC55269D0E}" srcOrd="3" destOrd="0" presId="urn:microsoft.com/office/officeart/2005/8/layout/equation2"/>
    <dgm:cxn modelId="{D8061B29-91E7-464D-9F51-D10DE0912546}" type="presParOf" srcId="{24A843AD-8454-4438-A137-E2BEE734ED95}" destId="{C3CC1E5E-9CC3-4449-8E2E-F66F4C86163B}" srcOrd="4" destOrd="0" presId="urn:microsoft.com/office/officeart/2005/8/layout/equation2"/>
    <dgm:cxn modelId="{8BB966E5-EF19-41F4-B08D-65EFAB378E6D}" type="presParOf" srcId="{4C50AA34-BB8C-4E1B-B0B7-8322161A7BFD}" destId="{E36380C0-F6AF-4293-BD9A-8698365CEC9F}" srcOrd="1" destOrd="0" presId="urn:microsoft.com/office/officeart/2005/8/layout/equation2"/>
    <dgm:cxn modelId="{F0DCD918-4471-46A2-9F50-8DC4018F374B}" type="presParOf" srcId="{E36380C0-F6AF-4293-BD9A-8698365CEC9F}" destId="{DE2AAB75-3194-40D6-BE3D-A0A837AA0FAF}" srcOrd="0" destOrd="0" presId="urn:microsoft.com/office/officeart/2005/8/layout/equation2"/>
    <dgm:cxn modelId="{D9A11D16-9D72-4582-B559-3C39C5450C6E}" type="presParOf" srcId="{4C50AA34-BB8C-4E1B-B0B7-8322161A7BFD}" destId="{ABB51948-6C49-42F8-8E4B-EE56DB7A59F9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5555915" cy="9231403"/>
        <a:chOff x="0" y="0"/>
        <a:chExt cx="15555915" cy="9231403"/>
      </a:xfrm>
    </dsp:grpSpPr>
    <dsp:sp modelId="{F92E900D-3299-41B7-87EF-DDC748F79B98}">
      <dsp:nvSpPr>
        <dsp:cNvPr id="3" name="椭圆 2"/>
        <dsp:cNvSpPr/>
      </dsp:nvSpPr>
      <dsp:spPr bwMode="white">
        <a:xfrm>
          <a:off x="0" y="106760"/>
          <a:ext cx="7353681" cy="3461437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软件产品质量</a:t>
          </a:r>
          <a:endParaRPr lang="en-US" altLang="zh-CN" sz="48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是企业的重要目标</a:t>
          </a:r>
        </a:p>
      </dsp:txBody>
      <dsp:txXfrm>
        <a:off x="0" y="106760"/>
        <a:ext cx="7353681" cy="3461437"/>
      </dsp:txXfrm>
    </dsp:sp>
    <dsp:sp modelId="{C7BC5F83-3273-4B95-A9AF-253CF3CF93D2}">
      <dsp:nvSpPr>
        <dsp:cNvPr id="4" name="加号 3"/>
        <dsp:cNvSpPr/>
      </dsp:nvSpPr>
      <dsp:spPr bwMode="white">
        <a:xfrm>
          <a:off x="2892875" y="3816864"/>
          <a:ext cx="1829729" cy="1829729"/>
        </a:xfrm>
        <a:prstGeom prst="mathPlus">
          <a:avLst/>
        </a:prstGeom>
      </dsp:spPr>
      <dsp:style>
        <a:lnRef idx="0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3200"/>
        </a:p>
      </dsp:txBody>
      <dsp:txXfrm>
        <a:off x="2892875" y="3816864"/>
        <a:ext cx="1829729" cy="1829729"/>
      </dsp:txXfrm>
    </dsp:sp>
    <dsp:sp modelId="{C3CC1E5E-9CC3-4449-8E2E-F66F4C86163B}">
      <dsp:nvSpPr>
        <dsp:cNvPr id="5" name="椭圆 4"/>
        <dsp:cNvSpPr/>
      </dsp:nvSpPr>
      <dsp:spPr bwMode="white">
        <a:xfrm>
          <a:off x="262582" y="5910251"/>
          <a:ext cx="6828517" cy="3214392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-1350000"/>
            <a:satOff val="2353"/>
            <a:lumOff val="333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软件缺陷</a:t>
          </a:r>
          <a:endParaRPr lang="en-US" altLang="zh-CN" sz="4800" b="1" dirty="0">
            <a:solidFill>
              <a:srgbClr val="7030A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不可避免</a:t>
          </a:r>
        </a:p>
      </dsp:txBody>
      <dsp:txXfrm>
        <a:off x="262582" y="5910251"/>
        <a:ext cx="6828517" cy="3214392"/>
      </dsp:txXfrm>
    </dsp:sp>
    <dsp:sp modelId="{E36380C0-F6AF-4293-BD9A-8698365CEC9F}">
      <dsp:nvSpPr>
        <dsp:cNvPr id="6" name="右箭头 5"/>
        <dsp:cNvSpPr/>
      </dsp:nvSpPr>
      <dsp:spPr bwMode="white">
        <a:xfrm rot="-26427">
          <a:off x="5941179" y="4354527"/>
          <a:ext cx="1003226" cy="88705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1">
          <a:schemeClr val="accent4">
            <a:hueOff val="-2700000"/>
            <a:satOff val="4706"/>
            <a:lumOff val="666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 rot="-26427">
        <a:off x="5941179" y="4354527"/>
        <a:ext cx="1003226" cy="887052"/>
      </dsp:txXfrm>
    </dsp:sp>
    <dsp:sp modelId="{ABB51948-6C49-42F8-8E4B-EE56DB7A59F9}">
      <dsp:nvSpPr>
        <dsp:cNvPr id="8" name="椭圆 7"/>
        <dsp:cNvSpPr/>
      </dsp:nvSpPr>
      <dsp:spPr bwMode="white">
        <a:xfrm>
          <a:off x="9246504" y="1393927"/>
          <a:ext cx="6309411" cy="6309411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-2700000"/>
            <a:satOff val="4706"/>
            <a:lumOff val="666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软件测试是</a:t>
          </a:r>
          <a:endParaRPr lang="en-US" altLang="zh-CN" sz="4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发现缺陷的手段</a:t>
          </a:r>
        </a:p>
      </dsp:txBody>
      <dsp:txXfrm>
        <a:off x="9246504" y="1393927"/>
        <a:ext cx="6309411" cy="6309411"/>
      </dsp:txXfrm>
    </dsp:sp>
    <dsp:sp modelId="{DE2AAB75-3194-40D6-BE3D-A0A837AA0FAF}">
      <dsp:nvSpPr>
        <dsp:cNvPr id="7" name="右箭头 6"/>
        <dsp:cNvSpPr/>
      </dsp:nvSpPr>
      <dsp:spPr bwMode="white">
        <a:xfrm rot="-26427">
          <a:off x="5941179" y="4354527"/>
          <a:ext cx="1003226" cy="887052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</dsp:spPr>
      <dsp:style>
        <a:lnRef idx="0">
          <a:schemeClr val="lt1"/>
        </a:lnRef>
        <a:fillRef idx="1">
          <a:schemeClr val="accent4">
            <a:hueOff val="-2700000"/>
            <a:satOff val="4706"/>
            <a:lumOff val="666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34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/>
      </dsp:txBody>
      <dsp:txXfrm rot="-26427">
        <a:off x="5941179" y="4354527"/>
        <a:ext cx="1003226" cy="8870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947420" rtl="0">
              <a:lnSpc>
                <a:spcPct val="100000"/>
              </a:lnSpc>
              <a:defRPr/>
            </a:pP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lIns="94759" tIns="47380" rIns="94759" bIns="47380"/>
          <a:lstStyle/>
          <a:p>
            <a:pPr algn="r" defTabSz="473710" hangingPunct="1">
              <a:defRPr/>
            </a:pPr>
            <a:fld id="{E9873806-1BCA-4F4B-939D-59F1D9388591}" type="slidenum">
              <a:rPr lang="zh-CN" altLang="en-US" sz="1200" b="0" kern="120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sz="1200" b="0" kern="120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473710">
              <a:defRPr/>
            </a:pPr>
            <a:endParaRPr lang="zh-CN" altLang="en-US" sz="25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2500" kern="1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73710">
              <a:defRPr/>
            </a:pPr>
            <a:endParaRPr lang="zh-CN" alt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73710" rtl="0">
              <a:defRPr/>
            </a:pPr>
            <a:endParaRPr lang="en-US" altLang="zh-CN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57375" y="338138"/>
            <a:ext cx="6216650" cy="3497262"/>
          </a:xfrm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31" y="3644306"/>
            <a:ext cx="7947272" cy="3450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73710"/>
            <a:endParaRPr lang="zh-CN" altLang="en-US" sz="2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57375" y="338138"/>
            <a:ext cx="6216650" cy="3497262"/>
          </a:xfrm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31" y="3644306"/>
            <a:ext cx="7947272" cy="3450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57375" y="338138"/>
            <a:ext cx="6216650" cy="3497262"/>
          </a:xfrm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31" y="3644306"/>
            <a:ext cx="7947272" cy="3450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57375" y="338138"/>
            <a:ext cx="6216650" cy="3497262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31" y="3644306"/>
            <a:ext cx="7947272" cy="3450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57375" y="338138"/>
            <a:ext cx="6216650" cy="3497262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31" y="3644306"/>
            <a:ext cx="7947272" cy="34506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73710">
              <a:defRPr/>
            </a:pPr>
            <a:endParaRPr lang="en-US" altLang="zh-CN" sz="25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.m4a" TargetMode="External"/><Relationship Id="rId2" Type="http://schemas.microsoft.com/office/2007/relationships/media" Target="ppt/media/media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.m4a" TargetMode="External"/><Relationship Id="rId2" Type="http://schemas.microsoft.com/office/2007/relationships/media" Target="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.m4a" TargetMode="External"/><Relationship Id="rId2" Type="http://schemas.microsoft.com/office/2007/relationships/media" Target="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audio" Target="ppt/media/media4.m4a" TargetMode="External"/><Relationship Id="rId3" Type="http://schemas.microsoft.com/office/2007/relationships/media" Target="ppt/media/media4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audio" Target="ppt/media/media5.m4a" TargetMode="External"/><Relationship Id="rId3" Type="http://schemas.microsoft.com/office/2007/relationships/media" Target="ppt/media/media5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audio" Target="ppt/media/media6.m4a" TargetMode="External"/><Relationship Id="rId6" Type="http://schemas.microsoft.com/office/2007/relationships/media" Target="ppt/media/media6.m4a" TargetMode="External"/><Relationship Id="rId7" Type="http://schemas.openxmlformats.org/officeDocument/2006/relationships/image" Target="../media/image3.png"/><Relationship Id="rId8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ppt/media/media7.m4a" TargetMode="External"/><Relationship Id="rId2" Type="http://schemas.microsoft.com/office/2007/relationships/media" Target="ppt/media/media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audio" Target="ppt/media/media8.m4a" TargetMode="External"/><Relationship Id="rId2" Type="http://schemas.microsoft.com/office/2007/relationships/media" Target="ppt/media/media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GIF"/><Relationship Id="rId3" Type="http://schemas.openxmlformats.org/officeDocument/2006/relationships/image" Target="../media/image13.jpeg"/><Relationship Id="rId4" Type="http://schemas.openxmlformats.org/officeDocument/2006/relationships/audio" Target="ppt/media/media9.m4a" TargetMode="External"/><Relationship Id="rId5" Type="http://schemas.microsoft.com/office/2007/relationships/media" Target="ppt/media/media9.m4a" TargetMode="Externa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audio" Target="ppt/media/media10.m4a" TargetMode="External"/><Relationship Id="rId4" Type="http://schemas.microsoft.com/office/2007/relationships/media" Target="ppt/media/media10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1.m4a" TargetMode="External"/><Relationship Id="rId2" Type="http://schemas.microsoft.com/office/2007/relationships/media" Target="ppt/media/media1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audio" Target="ppt/media/media12.m4a" TargetMode="External"/><Relationship Id="rId4" Type="http://schemas.microsoft.com/office/2007/relationships/media" Target="ppt/media/media12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8.jpeg"/><Relationship Id="rId3" Type="http://schemas.openxmlformats.org/officeDocument/2006/relationships/image" Target="../media/image12.GIF"/><Relationship Id="rId4" Type="http://schemas.openxmlformats.org/officeDocument/2006/relationships/audio" Target="ppt/media/media13.m4a" TargetMode="External"/><Relationship Id="rId5" Type="http://schemas.microsoft.com/office/2007/relationships/media" Target="ppt/media/media13.m4a" TargetMode="Externa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audio" Target="ppt/media/media14.m4a" TargetMode="External"/><Relationship Id="rId3" Type="http://schemas.microsoft.com/office/2007/relationships/media" Target="ppt/media/media14.m4a" TargetMode="External"/><Relationship Id="rId4" Type="http://schemas.openxmlformats.org/officeDocument/2006/relationships/image" Target="../media/image3.png"/><Relationship Id="rId5" Type="http://schemas.openxmlformats.org/officeDocument/2006/relationships/themeOverride" Target="../theme/themeOverride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emf"/><Relationship Id="rId2" Type="http://schemas.openxmlformats.org/officeDocument/2006/relationships/image" Target="../media/image20.png"/><Relationship Id="rId3" Type="http://schemas.openxmlformats.org/officeDocument/2006/relationships/audio" Target="ppt/media/media15.m4a" TargetMode="External"/><Relationship Id="rId4" Type="http://schemas.microsoft.com/office/2007/relationships/media" Target="ppt/media/media15.m4a" TargetMode="External"/><Relationship Id="rId5" Type="http://schemas.openxmlformats.org/officeDocument/2006/relationships/image" Target="../media/image3.png"/><Relationship Id="rId6" Type="http://schemas.openxmlformats.org/officeDocument/2006/relationships/tags" Target="../tags/tag5.xml"/><Relationship Id="rId7" Type="http://schemas.openxmlformats.org/officeDocument/2006/relationships/themeOverride" Target="../theme/themeOverride2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audio" Target="ppt/media/media16.m4a" TargetMode="External"/><Relationship Id="rId2" Type="http://schemas.microsoft.com/office/2007/relationships/media" Target="ppt/media/media16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audio" Target="ppt/media/media17.m4a" TargetMode="External"/><Relationship Id="rId2" Type="http://schemas.microsoft.com/office/2007/relationships/media" Target="ppt/media/media1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audio" Target="ppt/media/media18.m4a" TargetMode="External"/><Relationship Id="rId2" Type="http://schemas.microsoft.com/office/2007/relationships/media" Target="ppt/media/media1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audio" Target="ppt/media/media19.m4a" TargetMode="External"/><Relationship Id="rId2" Type="http://schemas.microsoft.com/office/2007/relationships/media" Target="ppt/media/media1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audio" Target="ppt/media/media20.m4a" TargetMode="External"/><Relationship Id="rId2" Type="http://schemas.microsoft.com/office/2007/relationships/media" Target="ppt/media/media20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audio" Target="ppt/media/media21.m4a" TargetMode="External"/><Relationship Id="rId7" Type="http://schemas.microsoft.com/office/2007/relationships/media" Target="ppt/media/media21.m4a" TargetMode="External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2.m4a" TargetMode="External"/><Relationship Id="rId2" Type="http://schemas.microsoft.com/office/2007/relationships/media" Target="ppt/media/media2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audio" Target="ppt/media/media23.m4a" TargetMode="External"/><Relationship Id="rId2" Type="http://schemas.microsoft.com/office/2007/relationships/media" Target="ppt/media/media2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audio" Target="ppt/media/media24.m4a" TargetMode="External"/><Relationship Id="rId2" Type="http://schemas.microsoft.com/office/2007/relationships/media" Target="ppt/media/media24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audio" Target="ppt/media/media25.m4a" TargetMode="External"/><Relationship Id="rId4" Type="http://schemas.microsoft.com/office/2007/relationships/media" Target="ppt/media/media25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audio" Target="ppt/media/media26.m4a" TargetMode="External"/><Relationship Id="rId6" Type="http://schemas.microsoft.com/office/2007/relationships/media" Target="ppt/media/media26.m4a" TargetMode="External"/><Relationship Id="rId7" Type="http://schemas.openxmlformats.org/officeDocument/2006/relationships/image" Target="../media/image3.png"/><Relationship Id="rId8" Type="http://schemas.openxmlformats.org/officeDocument/2006/relationships/tags" Target="../tags/tag7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audio" Target="ppt/media/media27.m4a" TargetMode="External"/><Relationship Id="rId2" Type="http://schemas.microsoft.com/office/2007/relationships/media" Target="ppt/media/media27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audio" Target="ppt/media/media28.m4a" TargetMode="External"/><Relationship Id="rId2" Type="http://schemas.microsoft.com/office/2007/relationships/media" Target="ppt/media/media2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audio" Target="ppt/media/media29.m4a" TargetMode="External"/><Relationship Id="rId2" Type="http://schemas.microsoft.com/office/2007/relationships/media" Target="ppt/media/media2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audio" Target="ppt/media/media30.m4a" TargetMode="External"/><Relationship Id="rId3" Type="http://schemas.microsoft.com/office/2007/relationships/media" Target="ppt/media/media30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audio" Target="ppt/media/media31.m4a" TargetMode="External"/><Relationship Id="rId3" Type="http://schemas.microsoft.com/office/2007/relationships/media" Target="ppt/media/media31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audio" Target="ppt/media/media32.m4a" TargetMode="External"/><Relationship Id="rId2" Type="http://schemas.microsoft.com/office/2007/relationships/media" Target="ppt/media/media3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3.m4a" TargetMode="External"/><Relationship Id="rId2" Type="http://schemas.microsoft.com/office/2007/relationships/media" Target="ppt/media/media3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audio" Target="ppt/media/media34.m4a" TargetMode="External"/><Relationship Id="rId2" Type="http://schemas.microsoft.com/office/2007/relationships/media" Target="ppt/media/media34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软件测试与质量保障</a:t>
            </a:r>
            <a:endParaRPr lang="zh-CN" altLang="en-US"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9111469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软件测试的背景与定义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17295" y="1165225"/>
            <a:ext cx="2409825" cy="480060"/>
          </a:xfrm>
          <a:prstGeom prst="rect">
            <a:avLst/>
          </a:prstGeom>
        </p:spPr>
      </p:pic>
    </p:spTree>
  </p:cSld>
  <p:clrMapOvr>
    <a:masterClrMapping/>
  </p:clrMapOvr>
  <p:transition spd="med" advTm="1235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36452" y="2478174"/>
            <a:ext cx="6332147" cy="6905606"/>
            <a:chOff x="9136451" y="2251965"/>
            <a:chExt cx="6206757" cy="6905606"/>
          </a:xfrm>
        </p:grpSpPr>
        <p:grpSp>
          <p:nvGrpSpPr>
            <p:cNvPr id="130" name="成组"/>
            <p:cNvGrpSpPr/>
            <p:nvPr/>
          </p:nvGrpSpPr>
          <p:grpSpPr>
            <a:xfrm>
              <a:off x="9136451" y="2251965"/>
              <a:ext cx="5830086" cy="1343465"/>
              <a:chOff x="0" y="0"/>
              <a:chExt cx="5830084" cy="1343464"/>
            </a:xfrm>
          </p:grpSpPr>
          <p:sp>
            <p:nvSpPr>
              <p:cNvPr id="127" name="矩形 5"/>
              <p:cNvSpPr txBox="1"/>
              <p:nvPr/>
            </p:nvSpPr>
            <p:spPr>
              <a:xfrm>
                <a:off x="2084780" y="244454"/>
                <a:ext cx="3745304" cy="8545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软件缺陷</a:t>
                </a:r>
                <a:endParaRPr lang="zh-CN" altLang="en-US"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29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01</a:t>
                </a:r>
              </a:p>
            </p:txBody>
          </p:sp>
        </p:grpSp>
        <p:grpSp>
          <p:nvGrpSpPr>
            <p:cNvPr id="137" name="成组"/>
            <p:cNvGrpSpPr/>
            <p:nvPr/>
          </p:nvGrpSpPr>
          <p:grpSpPr>
            <a:xfrm>
              <a:off x="9136451" y="4106012"/>
              <a:ext cx="5830088" cy="1343465"/>
              <a:chOff x="0" y="0"/>
              <a:chExt cx="5830087" cy="1343464"/>
            </a:xfrm>
          </p:grpSpPr>
          <p:sp>
            <p:nvSpPr>
              <p:cNvPr id="134" name="矩形 5"/>
              <p:cNvSpPr txBox="1"/>
              <p:nvPr/>
            </p:nvSpPr>
            <p:spPr>
              <a:xfrm>
                <a:off x="2084781" y="273189"/>
                <a:ext cx="3745306" cy="7151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软件危机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36" name="矩形 11"/>
              <p:cNvSpPr txBox="1"/>
              <p:nvPr/>
            </p:nvSpPr>
            <p:spPr>
              <a:xfrm>
                <a:off x="0" y="148788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02</a:t>
                </a:r>
              </a:p>
            </p:txBody>
          </p:sp>
        </p:grpSp>
        <p:grpSp>
          <p:nvGrpSpPr>
            <p:cNvPr id="141" name="成组"/>
            <p:cNvGrpSpPr/>
            <p:nvPr/>
          </p:nvGrpSpPr>
          <p:grpSpPr>
            <a:xfrm>
              <a:off x="9136451" y="5960059"/>
              <a:ext cx="5830088" cy="1343465"/>
              <a:chOff x="0" y="0"/>
              <a:chExt cx="5830087" cy="1343464"/>
            </a:xfrm>
          </p:grpSpPr>
          <p:sp>
            <p:nvSpPr>
              <p:cNvPr id="138" name="矩形 5"/>
              <p:cNvSpPr txBox="1"/>
              <p:nvPr/>
            </p:nvSpPr>
            <p:spPr>
              <a:xfrm>
                <a:off x="2084781" y="299174"/>
                <a:ext cx="3745306" cy="7451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软件测试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0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grpSp>
          <p:nvGrpSpPr>
            <p:cNvPr id="145" name="成组"/>
            <p:cNvGrpSpPr/>
            <p:nvPr/>
          </p:nvGrpSpPr>
          <p:grpSpPr>
            <a:xfrm>
              <a:off x="9136451" y="7814106"/>
              <a:ext cx="6206757" cy="1343465"/>
              <a:chOff x="0" y="0"/>
              <a:chExt cx="6206756" cy="1343464"/>
            </a:xfrm>
          </p:grpSpPr>
          <p:sp>
            <p:nvSpPr>
              <p:cNvPr id="142" name="矩形 5"/>
              <p:cNvSpPr txBox="1"/>
              <p:nvPr/>
            </p:nvSpPr>
            <p:spPr>
              <a:xfrm>
                <a:off x="1668153" y="299174"/>
                <a:ext cx="4538603" cy="601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endParaRPr dirty="0"/>
              </a:p>
            </p:txBody>
          </p:sp>
          <p:sp>
            <p:nvSpPr>
              <p:cNvPr id="143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4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04</a:t>
                </a:r>
                <a:endParaRPr dirty="0"/>
              </a:p>
            </p:txBody>
          </p:sp>
        </p:grpSp>
        <p:sp>
          <p:nvSpPr>
            <p:cNvPr id="146" name="矩形 5"/>
            <p:cNvSpPr txBox="1"/>
            <p:nvPr/>
          </p:nvSpPr>
          <p:spPr>
            <a:xfrm>
              <a:off x="11221232" y="8094359"/>
              <a:ext cx="2422359" cy="7829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67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36452" y="2478174"/>
            <a:ext cx="6332147" cy="6905606"/>
            <a:chOff x="9136451" y="2251965"/>
            <a:chExt cx="6206757" cy="6905606"/>
          </a:xfrm>
        </p:grpSpPr>
        <p:grpSp>
          <p:nvGrpSpPr>
            <p:cNvPr id="130" name="成组"/>
            <p:cNvGrpSpPr/>
            <p:nvPr/>
          </p:nvGrpSpPr>
          <p:grpSpPr>
            <a:xfrm>
              <a:off x="9136451" y="2251965"/>
              <a:ext cx="5830086" cy="1343465"/>
              <a:chOff x="0" y="0"/>
              <a:chExt cx="5830084" cy="1343464"/>
            </a:xfrm>
          </p:grpSpPr>
          <p:sp>
            <p:nvSpPr>
              <p:cNvPr id="127" name="矩形 5"/>
              <p:cNvSpPr txBox="1"/>
              <p:nvPr/>
            </p:nvSpPr>
            <p:spPr>
              <a:xfrm>
                <a:off x="2084780" y="244454"/>
                <a:ext cx="3745304" cy="8545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b="1" dirty="0">
                    <a:solidFill>
                      <a:srgbClr val="FF0000"/>
                    </a:solidFill>
                  </a:rPr>
                  <a:t>软件缺陷</a:t>
                </a:r>
                <a:endParaRPr lang="zh-CN" altLang="en-US" sz="4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8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29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01</a:t>
                </a:r>
              </a:p>
            </p:txBody>
          </p:sp>
        </p:grpSp>
        <p:grpSp>
          <p:nvGrpSpPr>
            <p:cNvPr id="137" name="成组"/>
            <p:cNvGrpSpPr/>
            <p:nvPr/>
          </p:nvGrpSpPr>
          <p:grpSpPr>
            <a:xfrm>
              <a:off x="9136451" y="4106012"/>
              <a:ext cx="5830088" cy="1343465"/>
              <a:chOff x="0" y="0"/>
              <a:chExt cx="5830087" cy="1343464"/>
            </a:xfrm>
          </p:grpSpPr>
          <p:sp>
            <p:nvSpPr>
              <p:cNvPr id="134" name="矩形 5"/>
              <p:cNvSpPr txBox="1"/>
              <p:nvPr/>
            </p:nvSpPr>
            <p:spPr>
              <a:xfrm>
                <a:off x="2084781" y="273189"/>
                <a:ext cx="3745306" cy="7151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软件危机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36" name="矩形 11"/>
              <p:cNvSpPr txBox="1"/>
              <p:nvPr/>
            </p:nvSpPr>
            <p:spPr>
              <a:xfrm>
                <a:off x="0" y="148788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02</a:t>
                </a:r>
              </a:p>
            </p:txBody>
          </p:sp>
        </p:grpSp>
        <p:grpSp>
          <p:nvGrpSpPr>
            <p:cNvPr id="141" name="成组"/>
            <p:cNvGrpSpPr/>
            <p:nvPr/>
          </p:nvGrpSpPr>
          <p:grpSpPr>
            <a:xfrm>
              <a:off x="9136451" y="5960059"/>
              <a:ext cx="5830088" cy="1343465"/>
              <a:chOff x="0" y="0"/>
              <a:chExt cx="5830087" cy="1343464"/>
            </a:xfrm>
          </p:grpSpPr>
          <p:sp>
            <p:nvSpPr>
              <p:cNvPr id="138" name="矩形 5"/>
              <p:cNvSpPr txBox="1"/>
              <p:nvPr/>
            </p:nvSpPr>
            <p:spPr>
              <a:xfrm>
                <a:off x="2084781" y="299174"/>
                <a:ext cx="3745306" cy="7451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软件测试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0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grpSp>
          <p:nvGrpSpPr>
            <p:cNvPr id="145" name="成组"/>
            <p:cNvGrpSpPr/>
            <p:nvPr/>
          </p:nvGrpSpPr>
          <p:grpSpPr>
            <a:xfrm>
              <a:off x="9136451" y="7814106"/>
              <a:ext cx="6206757" cy="1343465"/>
              <a:chOff x="0" y="0"/>
              <a:chExt cx="6206756" cy="1343464"/>
            </a:xfrm>
          </p:grpSpPr>
          <p:sp>
            <p:nvSpPr>
              <p:cNvPr id="142" name="矩形 5"/>
              <p:cNvSpPr txBox="1"/>
              <p:nvPr/>
            </p:nvSpPr>
            <p:spPr>
              <a:xfrm>
                <a:off x="1668153" y="299174"/>
                <a:ext cx="4538603" cy="601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endParaRPr dirty="0"/>
              </a:p>
            </p:txBody>
          </p:sp>
          <p:sp>
            <p:nvSpPr>
              <p:cNvPr id="143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4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04</a:t>
                </a:r>
                <a:endParaRPr dirty="0"/>
              </a:p>
            </p:txBody>
          </p:sp>
        </p:grpSp>
        <p:sp>
          <p:nvSpPr>
            <p:cNvPr id="146" name="矩形 5"/>
            <p:cNvSpPr txBox="1"/>
            <p:nvPr/>
          </p:nvSpPr>
          <p:spPr>
            <a:xfrm>
              <a:off x="11221232" y="8094359"/>
              <a:ext cx="2422359" cy="7829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58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7259433" y="9603787"/>
            <a:ext cx="6124353" cy="5741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3595453" cy="1042894"/>
          </a:xfrm>
        </p:spPr>
        <p:txBody>
          <a:bodyPr/>
          <a:lstStyle/>
          <a:p>
            <a:r>
              <a:rPr lang="zh-CN" altLang="en-US" dirty="0"/>
              <a:t>软件缺陷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18037" y="3434013"/>
            <a:ext cx="22249462" cy="718145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de-DE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1996年6月4日，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欧洲阿丽亚娜</a:t>
            </a:r>
            <a:r>
              <a:rPr lang="de-DE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火箭，</a:t>
            </a:r>
            <a:r>
              <a:rPr lang="zh-CN" altLang="de-DE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发射40秒后爆炸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4621" y="2369742"/>
            <a:ext cx="6317184" cy="89765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818037" y="5172097"/>
            <a:ext cx="1301451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914400" fontAlgn="base" hangingPunct="1"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n"/>
            </a:pPr>
            <a:r>
              <a:rPr lang="zh-CN" altLang="de-DE" sz="4800" kern="1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原因</a:t>
            </a:r>
            <a:endParaRPr lang="zh-CN" altLang="de-DE" sz="4800" kern="1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lvl="1" algn="l" defTabSz="914400" fontAlgn="base" hangingPunct="1"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²"/>
            </a:pPr>
            <a:r>
              <a:rPr lang="zh-CN" altLang="de-DE" sz="4800" kern="1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将一个64位浮点值转换为16位有符号整数值时，超出了16位整数的表示范围。</a:t>
            </a:r>
            <a:endParaRPr lang="zh-CN" altLang="en-US" sz="4800" kern="1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2195" y="8423620"/>
            <a:ext cx="507703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</a:t>
            </a:r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loat x= ……</a:t>
            </a:r>
            <a:endParaRPr lang="en-US" altLang="zh-C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altLang="zh-C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</a:t>
            </a:r>
            <a:r>
              <a:rPr lang="en-US" altLang="zh-C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y= (</a:t>
            </a:r>
            <a:r>
              <a:rPr lang="en-US" altLang="zh-C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</a:t>
            </a:r>
            <a:r>
              <a:rPr lang="en-US" altLang="zh-C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) x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31533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00845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70157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39469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08781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647405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86029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124653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278093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016717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755341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493965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863277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2232589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601901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71211" y="9763288"/>
            <a:ext cx="287079" cy="2339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音频 2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2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</p:spTree>
    <p:custDataLst>
      <p:tags r:id="rId5"/>
    </p:custDataLst>
  </p:cSld>
  <p:clrMapOvr>
    <a:masterClrMapping/>
  </p:clrMapOvr>
  <p:transition spd="med" advTm="1646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3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500"/>
                            </p:stCondLst>
                            <p:childTnLst>
                              <p:par>
                                <p:cTn id="1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  <p:bldLst>
      <p:bldP spid="8" grpId="0" animBg="1"/>
      <p:bldP spid="6" grpId="0"/>
      <p:bldP spid="4" grpId="0" uiExpand="1" build="p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45418" cy="1042894"/>
          </a:xfrm>
        </p:spPr>
        <p:txBody>
          <a:bodyPr/>
          <a:lstStyle/>
          <a:p>
            <a:pPr algn="l"/>
            <a:r>
              <a:rPr lang="zh-CN" altLang="en-US" dirty="0"/>
              <a:t>软件缺陷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38606" y="3536330"/>
            <a:ext cx="17877125" cy="579645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1999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火星气象卫星 </a:t>
            </a:r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 Climate Orbiter 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到达火星不久失去联系</a:t>
            </a: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838606" y="5333585"/>
            <a:ext cx="1301451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914400" fontAlgn="base" hangingPunct="1"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n"/>
            </a:pPr>
            <a:r>
              <a:rPr lang="zh-CN" altLang="de-DE" sz="4800" kern="1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原因</a:t>
            </a:r>
            <a:endParaRPr lang="zh-CN" altLang="de-DE" sz="4800" kern="1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lvl="1" algn="l" defTabSz="914400" fontAlgn="base" hangingPunct="1"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²"/>
            </a:pPr>
            <a:r>
              <a:rPr lang="zh-CN" altLang="en-US" sz="4800" kern="12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地面系统软件 和 飞行器软件 分别使用公制和英制两种单位。</a:t>
            </a:r>
            <a:endParaRPr lang="zh-CN" altLang="en-US" sz="4800" kern="1200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7" b="14635"/>
          <a:stretch>
            <a:fillRect/>
          </a:stretch>
        </p:blipFill>
        <p:spPr bwMode="auto">
          <a:xfrm>
            <a:off x="15213100" y="5075114"/>
            <a:ext cx="7655024" cy="42576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1833275" y="8563348"/>
            <a:ext cx="830708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spcBef>
                <a:spcPct val="0"/>
              </a:spcBef>
              <a:buClrTx/>
              <a:buSzTx/>
              <a:buFontTx/>
              <a:buNone/>
            </a:pPr>
            <a:r>
              <a:rPr lang="pl-PL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pl-PL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英里</a:t>
            </a:r>
            <a:r>
              <a:rPr lang="pl-PL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(mi)=1.609344</a:t>
            </a:r>
            <a:r>
              <a:rPr lang="zh-CN" altLang="pl-PL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  <a:r>
              <a:rPr lang="pl-PL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(km)</a:t>
            </a:r>
            <a:endParaRPr lang="pl-PL" altLang="zh-CN"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0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</p:spTree>
    <p:custDataLst>
      <p:tags r:id="rId5"/>
    </p:custDataLst>
  </p:cSld>
  <p:clrMapOvr>
    <a:masterClrMapping/>
  </p:clrMapOvr>
  <p:transition spd="med" advTm="779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6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45418" cy="1042894"/>
          </a:xfrm>
        </p:spPr>
        <p:txBody>
          <a:bodyPr/>
          <a:lstStyle/>
          <a:p>
            <a:r>
              <a:rPr lang="zh-CN" altLang="en-US" dirty="0"/>
              <a:t>软件缺陷</a:t>
            </a:r>
            <a:endParaRPr lang="zh-CN" altLang="en-US" dirty="0"/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35" y="3053268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图片 1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" t="3086" r="7101" b="9217"/>
          <a:stretch>
            <a:fillRect/>
          </a:stretch>
        </p:blipFill>
        <p:spPr bwMode="auto">
          <a:xfrm>
            <a:off x="12949171" y="3053268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35" y="7554025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See the source image"/>
          <p:cNvPicPr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2" t="-275" r="24359" b="29220"/>
          <a:stretch>
            <a:fillRect/>
          </a:stretch>
        </p:blipFill>
        <p:spPr bwMode="auto">
          <a:xfrm>
            <a:off x="12949171" y="7554025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8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</p:spTree>
    <p:custDataLst>
      <p:tags r:id="rId8"/>
    </p:custDataLst>
  </p:cSld>
  <p:clrMapOvr>
    <a:masterClrMapping/>
  </p:clrMapOvr>
  <p:transition spd="med" advTm="233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软件缺陷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823552" y="4044456"/>
            <a:ext cx="675377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软件缺陷危害巨大 </a:t>
            </a:r>
            <a:endParaRPr lang="en-US" altLang="zh-CN" sz="6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59213" y="5985198"/>
            <a:ext cx="109568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但软件缺陷目前还无法完全避免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977443" y="7835356"/>
            <a:ext cx="36471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00A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为什么呢？</a:t>
            </a:r>
            <a:endParaRPr lang="en-US" altLang="zh-CN" sz="5400" b="1" dirty="0">
              <a:solidFill>
                <a:srgbClr val="00A2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8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</p:spTree>
  </p:cSld>
  <p:clrMapOvr>
    <a:masterClrMapping/>
  </p:clrMapOvr>
  <p:transition spd="med" advTm="399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36452" y="2478174"/>
            <a:ext cx="6332147" cy="6905606"/>
            <a:chOff x="9136451" y="2251965"/>
            <a:chExt cx="6206757" cy="6905606"/>
          </a:xfrm>
        </p:grpSpPr>
        <p:grpSp>
          <p:nvGrpSpPr>
            <p:cNvPr id="130" name="成组"/>
            <p:cNvGrpSpPr/>
            <p:nvPr/>
          </p:nvGrpSpPr>
          <p:grpSpPr>
            <a:xfrm>
              <a:off x="9136451" y="2251965"/>
              <a:ext cx="5830086" cy="1343465"/>
              <a:chOff x="0" y="0"/>
              <a:chExt cx="5830084" cy="1343464"/>
            </a:xfrm>
          </p:grpSpPr>
          <p:sp>
            <p:nvSpPr>
              <p:cNvPr id="127" name="矩形 5"/>
              <p:cNvSpPr txBox="1"/>
              <p:nvPr/>
            </p:nvSpPr>
            <p:spPr>
              <a:xfrm>
                <a:off x="2084780" y="244454"/>
                <a:ext cx="3745304" cy="8545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软件缺陷</a:t>
                </a:r>
                <a:endParaRPr lang="zh-CN" altLang="en-US"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29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01</a:t>
                </a:r>
              </a:p>
            </p:txBody>
          </p:sp>
        </p:grpSp>
        <p:grpSp>
          <p:nvGrpSpPr>
            <p:cNvPr id="137" name="成组"/>
            <p:cNvGrpSpPr/>
            <p:nvPr/>
          </p:nvGrpSpPr>
          <p:grpSpPr>
            <a:xfrm>
              <a:off x="9136451" y="4106012"/>
              <a:ext cx="5830088" cy="1343465"/>
              <a:chOff x="0" y="0"/>
              <a:chExt cx="5830087" cy="1343464"/>
            </a:xfrm>
          </p:grpSpPr>
          <p:sp>
            <p:nvSpPr>
              <p:cNvPr id="134" name="矩形 5"/>
              <p:cNvSpPr txBox="1"/>
              <p:nvPr/>
            </p:nvSpPr>
            <p:spPr>
              <a:xfrm>
                <a:off x="2084781" y="273189"/>
                <a:ext cx="3745306" cy="7151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b="1" dirty="0">
                    <a:solidFill>
                      <a:srgbClr val="FF0000"/>
                    </a:solidFill>
                  </a:rPr>
                  <a:t>软件危机</a:t>
                </a:r>
                <a:endParaRPr sz="4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36" name="矩形 11"/>
              <p:cNvSpPr txBox="1"/>
              <p:nvPr/>
            </p:nvSpPr>
            <p:spPr>
              <a:xfrm>
                <a:off x="0" y="148788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02</a:t>
                </a:r>
                <a:endParaRPr dirty="0"/>
              </a:p>
            </p:txBody>
          </p:sp>
        </p:grpSp>
        <p:grpSp>
          <p:nvGrpSpPr>
            <p:cNvPr id="141" name="成组"/>
            <p:cNvGrpSpPr/>
            <p:nvPr/>
          </p:nvGrpSpPr>
          <p:grpSpPr>
            <a:xfrm>
              <a:off x="9136451" y="5960059"/>
              <a:ext cx="5830088" cy="1343465"/>
              <a:chOff x="0" y="0"/>
              <a:chExt cx="5830087" cy="1343464"/>
            </a:xfrm>
          </p:grpSpPr>
          <p:sp>
            <p:nvSpPr>
              <p:cNvPr id="138" name="矩形 5"/>
              <p:cNvSpPr txBox="1"/>
              <p:nvPr/>
            </p:nvSpPr>
            <p:spPr>
              <a:xfrm>
                <a:off x="2084781" y="299174"/>
                <a:ext cx="3745306" cy="7451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软件测试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9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0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grpSp>
          <p:nvGrpSpPr>
            <p:cNvPr id="145" name="成组"/>
            <p:cNvGrpSpPr/>
            <p:nvPr/>
          </p:nvGrpSpPr>
          <p:grpSpPr>
            <a:xfrm>
              <a:off x="9136451" y="7814106"/>
              <a:ext cx="6206757" cy="1343465"/>
              <a:chOff x="0" y="0"/>
              <a:chExt cx="6206756" cy="1343464"/>
            </a:xfrm>
          </p:grpSpPr>
          <p:sp>
            <p:nvSpPr>
              <p:cNvPr id="142" name="矩形 5"/>
              <p:cNvSpPr txBox="1"/>
              <p:nvPr/>
            </p:nvSpPr>
            <p:spPr>
              <a:xfrm>
                <a:off x="1668153" y="299174"/>
                <a:ext cx="4538603" cy="601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endParaRPr dirty="0"/>
              </a:p>
            </p:txBody>
          </p:sp>
          <p:sp>
            <p:nvSpPr>
              <p:cNvPr id="143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4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04</a:t>
                </a:r>
                <a:endParaRPr dirty="0"/>
              </a:p>
            </p:txBody>
          </p:sp>
        </p:grpSp>
        <p:sp>
          <p:nvSpPr>
            <p:cNvPr id="146" name="矩形 5"/>
            <p:cNvSpPr txBox="1"/>
            <p:nvPr/>
          </p:nvSpPr>
          <p:spPr>
            <a:xfrm>
              <a:off x="11221232" y="8094359"/>
              <a:ext cx="2422359" cy="7829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396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ee the source imag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0" r="14476"/>
          <a:stretch>
            <a:fillRect/>
          </a:stretch>
        </p:blipFill>
        <p:spPr bwMode="auto">
          <a:xfrm>
            <a:off x="12913322" y="3523495"/>
            <a:ext cx="6908800" cy="36333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147809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软件危机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543175" y="3200408"/>
            <a:ext cx="16459199" cy="8780463"/>
          </a:xfrm>
        </p:spPr>
        <p:txBody>
          <a:bodyPr>
            <a:noAutofit/>
          </a:bodyPr>
          <a:lstStyle/>
          <a:p>
            <a:pPr rtl="0" hangingPunc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软件规模迅速膨胀 </a:t>
            </a:r>
            <a:r>
              <a:rPr lang="en-US" altLang="zh-CN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</a:t>
            </a: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en-US" altLang="zh-CN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年代）</a:t>
            </a:r>
            <a:endParaRPr lang="en-US" altLang="zh-CN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规模变大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复杂程度变高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 hangingPunct="0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巨大挑战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成本越来越高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软件质量越来越差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项目成功率持续走低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5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44" name="Picture 4" descr="See the source image"/>
          <p:cNvPicPr>
            <a:picLocks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2774" y="7479935"/>
            <a:ext cx="5721350" cy="34668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See the source imag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4347" y="7479935"/>
            <a:ext cx="5724000" cy="34668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652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AutoShape 4" descr="https://ask.qcloudimg.com/http-save/developer-news/p2uzj7mpzv.png?imageView2/2/w/1620"/>
          <p:cNvSpPr>
            <a:spLocks noChangeAspect="1" noChangeArrowheads="1"/>
          </p:cNvSpPr>
          <p:nvPr/>
        </p:nvSpPr>
        <p:spPr bwMode="auto">
          <a:xfrm>
            <a:off x="311150" y="-288925"/>
            <a:ext cx="609600" cy="60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pPr algn="l" defTabSz="914400" hangingPunct="1"/>
            <a:endParaRPr lang="zh-CN" altLang="en-US" sz="3600" b="0" kern="1200"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3311368" y="5323970"/>
            <a:ext cx="8640000" cy="50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矩形 8"/>
          <p:cNvSpPr/>
          <p:nvPr/>
        </p:nvSpPr>
        <p:spPr>
          <a:xfrm>
            <a:off x="9458508" y="3377078"/>
            <a:ext cx="6428362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none">
            <a:spAutoFit/>
          </a:bodyPr>
          <a:lstStyle/>
          <a:p>
            <a:pPr defTabSz="914400" hangingPunct="1"/>
            <a:r>
              <a:rPr lang="zh-CN" altLang="en-US" sz="6000" kern="1200" dirty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  <a:cs typeface="+mn-cs"/>
              </a:rPr>
              <a:t>大众</a:t>
            </a:r>
            <a:r>
              <a:rPr lang="en-US" altLang="zh-CN" sz="6000" kern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ID.3</a:t>
            </a:r>
            <a:r>
              <a:rPr lang="zh-CN" altLang="en-US" sz="6000" kern="1200" dirty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  <a:cs typeface="+mn-cs"/>
              </a:rPr>
              <a:t>延期交付</a:t>
            </a:r>
            <a:endParaRPr lang="zh-CN" altLang="en-US" sz="6000" kern="1200" dirty="0">
              <a:solidFill>
                <a:srgbClr val="FF0000"/>
              </a:solidFill>
              <a:latin typeface="-apple-system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50" name="Picture 6" descr="大众CEO易主  江山犹在“宫斗”不休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2690" y="5323970"/>
            <a:ext cx="8640000" cy="5112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1"/>
          <p:cNvSpPr txBox="1"/>
          <p:nvPr/>
        </p:nvSpPr>
        <p:spPr>
          <a:xfrm>
            <a:off x="2737969" y="1225427"/>
            <a:ext cx="15314057" cy="104289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14968140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/>
              <a:t>2020</a:t>
            </a:r>
            <a:r>
              <a:rPr lang="zh-CN" altLang="en-US" dirty="0"/>
              <a:t>年德国大众深陷“软件门”</a:t>
            </a:r>
            <a:endParaRPr lang="zh-CN" altLang="en-US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540178" y="11579616"/>
            <a:ext cx="133036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现代汽车电子系统的软件有多大？大概有几行代码？ </a:t>
            </a:r>
            <a:endParaRPr lang="zh-CN" altLang="en-US" sz="4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med" advTm="1668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https://ask.qcloudimg.com/http-save/developer-news/p2uzj7mpzv.png?imageView2/2/w/1620"/>
          <p:cNvSpPr>
            <a:spLocks noChangeAspect="1" noChangeArrowheads="1"/>
          </p:cNvSpPr>
          <p:nvPr/>
        </p:nvSpPr>
        <p:spPr bwMode="auto">
          <a:xfrm>
            <a:off x="311150" y="-288925"/>
            <a:ext cx="609600" cy="60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80" tIns="91440" rIns="182880" bIns="91440" numCol="1" anchor="t" anchorCtr="0" compatLnSpc="1"/>
          <a:lstStyle/>
          <a:p>
            <a:pPr algn="l" defTabSz="914400" hangingPunct="1"/>
            <a:endParaRPr lang="zh-CN" altLang="en-US" sz="3600" b="0" kern="1200"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71660" y="5623004"/>
            <a:ext cx="10440679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000" kern="1200" dirty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  <a:cs typeface="+mn-cs"/>
              </a:rPr>
              <a:t>汽车电子系统有</a:t>
            </a:r>
            <a:r>
              <a:rPr lang="en-US" altLang="zh-CN" sz="6000" kern="1200" dirty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  <a:cs typeface="+mn-cs"/>
              </a:rPr>
              <a:t>1.5</a:t>
            </a:r>
            <a:r>
              <a:rPr lang="zh-CN" altLang="en-US" sz="6000" kern="1200" dirty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  <a:cs typeface="+mn-cs"/>
              </a:rPr>
              <a:t>亿行代码！</a:t>
            </a:r>
            <a:endParaRPr lang="zh-CN" altLang="en-US" sz="6000" kern="1200" dirty="0">
              <a:solidFill>
                <a:srgbClr val="FF0000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>
            <a:spLocks noGrp="1"/>
          </p:cNvSpPr>
          <p:nvPr>
            <p:ph type="title"/>
          </p:nvPr>
        </p:nvSpPr>
        <p:spPr>
          <a:xfrm>
            <a:off x="2737969" y="1078867"/>
            <a:ext cx="15162103" cy="104289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n-US" altLang="zh-CN" dirty="0"/>
              <a:t>2020</a:t>
            </a:r>
            <a:r>
              <a:rPr lang="zh-CN" altLang="en-US" dirty="0"/>
              <a:t>年德国大众深陷“软件门”</a:t>
            </a:r>
            <a:endParaRPr lang="zh-CN" altLang="en-US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371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See the source imag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343" y="3442296"/>
            <a:ext cx="7560000" cy="5400000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9341907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大规模复杂软件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547617" y="9220726"/>
            <a:ext cx="47115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4400" kern="1200" dirty="0">
                <a:solidFill>
                  <a:schemeClr val="tx1"/>
                </a:solidFill>
                <a:latin typeface="Roboto"/>
                <a:ea typeface="宋体" panose="02010600030101010101" pitchFamily="2" charset="-122"/>
                <a:cs typeface="+mn-cs"/>
              </a:rPr>
              <a:t>超过五千万行代码</a:t>
            </a:r>
            <a:endParaRPr lang="zh-CN" altLang="en-US" sz="4400" kern="1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8" name="Picture 2" descr="See the source imag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57" y="3442296"/>
            <a:ext cx="6990741" cy="51429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13344710" y="9220725"/>
            <a:ext cx="58432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4400" kern="1200" dirty="0">
                <a:solidFill>
                  <a:schemeClr val="tx1"/>
                </a:solidFill>
                <a:latin typeface="Roboto"/>
                <a:ea typeface="宋体" panose="02010600030101010101" pitchFamily="2" charset="-122"/>
                <a:cs typeface="+mn-cs"/>
              </a:rPr>
              <a:t>超过两千五百万行代码</a:t>
            </a:r>
            <a:endParaRPr lang="zh-CN" altLang="en-US" sz="4400" kern="1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0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371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05" y="4503482"/>
            <a:ext cx="9325610" cy="363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936354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软件危机 </a:t>
            </a:r>
            <a:endParaRPr lang="zh-CN" altLang="en-US" dirty="0"/>
          </a:p>
        </p:txBody>
      </p:sp>
      <p:pic>
        <p:nvPicPr>
          <p:cNvPr id="1026" name="Picture 2" descr="https://ss2.bdstatic.com/70cFvnSh_Q1YnxGkpoWK1HF6hhy/it/u=1129671199,1502690287&amp;fm=26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0485" y="3979496"/>
            <a:ext cx="3709449" cy="46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ee the source imag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600" y="4849446"/>
            <a:ext cx="5721350" cy="346292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0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373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681838" y="12977337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软件工程遇上人工智能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6" name="Picture 2" descr="https://ss2.bdstatic.com/70cFvnSh_Q1YnxGkpoWK1HF6hhy/it/u=1129671199,1502690287&amp;fm=26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969" y="3878146"/>
            <a:ext cx="5171760" cy="652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8664541" y="7665840"/>
            <a:ext cx="1254702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000" kern="120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软件生产效率很难有大幅度的提高。</a:t>
            </a:r>
            <a:endParaRPr lang="zh-CN" altLang="en-US" sz="6000" kern="1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64541" y="5633780"/>
            <a:ext cx="1486496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000" kern="120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人海战术无助于解决软件的规模增长问题。</a:t>
            </a:r>
            <a:endParaRPr lang="zh-CN" altLang="en-US" sz="6000" kern="120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936354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软件危机 </a:t>
            </a:r>
            <a:endParaRPr lang="zh-CN" altLang="en-US"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712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0430" y="3486971"/>
            <a:ext cx="10197978" cy="688791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43550" y="10688797"/>
            <a:ext cx="35317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Developers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 rot="16200000">
            <a:off x="2222080" y="7294695"/>
            <a:ext cx="17011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4393518" y="4021668"/>
            <a:ext cx="8367648" cy="3306374"/>
          </a:xfrm>
          <a:custGeom>
            <a:avLst/>
            <a:gdLst>
              <a:gd name="connsiteX0" fmla="*/ 0 w 8367648"/>
              <a:gd name="connsiteY0" fmla="*/ 0 h 3306374"/>
              <a:gd name="connsiteX1" fmla="*/ 6056 w 8367648"/>
              <a:gd name="connsiteY1" fmla="*/ 30278 h 3306374"/>
              <a:gd name="connsiteX2" fmla="*/ 18167 w 8367648"/>
              <a:gd name="connsiteY2" fmla="*/ 42390 h 3306374"/>
              <a:gd name="connsiteX3" fmla="*/ 30278 w 8367648"/>
              <a:gd name="connsiteY3" fmla="*/ 127168 h 3306374"/>
              <a:gd name="connsiteX4" fmla="*/ 66612 w 8367648"/>
              <a:gd name="connsiteY4" fmla="*/ 387560 h 3306374"/>
              <a:gd name="connsiteX5" fmla="*/ 78723 w 8367648"/>
              <a:gd name="connsiteY5" fmla="*/ 423894 h 3306374"/>
              <a:gd name="connsiteX6" fmla="*/ 90835 w 8367648"/>
              <a:gd name="connsiteY6" fmla="*/ 502617 h 3306374"/>
              <a:gd name="connsiteX7" fmla="*/ 133224 w 8367648"/>
              <a:gd name="connsiteY7" fmla="*/ 599507 h 3306374"/>
              <a:gd name="connsiteX8" fmla="*/ 145335 w 8367648"/>
              <a:gd name="connsiteY8" fmla="*/ 635841 h 3306374"/>
              <a:gd name="connsiteX9" fmla="*/ 157446 w 8367648"/>
              <a:gd name="connsiteY9" fmla="*/ 678231 h 3306374"/>
              <a:gd name="connsiteX10" fmla="*/ 181669 w 8367648"/>
              <a:gd name="connsiteY10" fmla="*/ 726676 h 3306374"/>
              <a:gd name="connsiteX11" fmla="*/ 205891 w 8367648"/>
              <a:gd name="connsiteY11" fmla="*/ 799343 h 3306374"/>
              <a:gd name="connsiteX12" fmla="*/ 218003 w 8367648"/>
              <a:gd name="connsiteY12" fmla="*/ 835677 h 3306374"/>
              <a:gd name="connsiteX13" fmla="*/ 230114 w 8367648"/>
              <a:gd name="connsiteY13" fmla="*/ 859899 h 3306374"/>
              <a:gd name="connsiteX14" fmla="*/ 242225 w 8367648"/>
              <a:gd name="connsiteY14" fmla="*/ 914400 h 3306374"/>
              <a:gd name="connsiteX15" fmla="*/ 254337 w 8367648"/>
              <a:gd name="connsiteY15" fmla="*/ 926511 h 3306374"/>
              <a:gd name="connsiteX16" fmla="*/ 266448 w 8367648"/>
              <a:gd name="connsiteY16" fmla="*/ 974956 h 3306374"/>
              <a:gd name="connsiteX17" fmla="*/ 278559 w 8367648"/>
              <a:gd name="connsiteY17" fmla="*/ 1011290 h 3306374"/>
              <a:gd name="connsiteX18" fmla="*/ 290670 w 8367648"/>
              <a:gd name="connsiteY18" fmla="*/ 1059735 h 3306374"/>
              <a:gd name="connsiteX19" fmla="*/ 314893 w 8367648"/>
              <a:gd name="connsiteY19" fmla="*/ 1108180 h 3306374"/>
              <a:gd name="connsiteX20" fmla="*/ 327004 w 8367648"/>
              <a:gd name="connsiteY20" fmla="*/ 1156625 h 3306374"/>
              <a:gd name="connsiteX21" fmla="*/ 339115 w 8367648"/>
              <a:gd name="connsiteY21" fmla="*/ 1174792 h 3306374"/>
              <a:gd name="connsiteX22" fmla="*/ 351227 w 8367648"/>
              <a:gd name="connsiteY22" fmla="*/ 1211126 h 3306374"/>
              <a:gd name="connsiteX23" fmla="*/ 369393 w 8367648"/>
              <a:gd name="connsiteY23" fmla="*/ 1247460 h 3306374"/>
              <a:gd name="connsiteX24" fmla="*/ 381505 w 8367648"/>
              <a:gd name="connsiteY24" fmla="*/ 1295905 h 3306374"/>
              <a:gd name="connsiteX25" fmla="*/ 442061 w 8367648"/>
              <a:gd name="connsiteY25" fmla="*/ 1417017 h 3306374"/>
              <a:gd name="connsiteX26" fmla="*/ 472339 w 8367648"/>
              <a:gd name="connsiteY26" fmla="*/ 1477574 h 3306374"/>
              <a:gd name="connsiteX27" fmla="*/ 484450 w 8367648"/>
              <a:gd name="connsiteY27" fmla="*/ 1501796 h 3306374"/>
              <a:gd name="connsiteX28" fmla="*/ 496562 w 8367648"/>
              <a:gd name="connsiteY28" fmla="*/ 1538130 h 3306374"/>
              <a:gd name="connsiteX29" fmla="*/ 545007 w 8367648"/>
              <a:gd name="connsiteY29" fmla="*/ 1616853 h 3306374"/>
              <a:gd name="connsiteX30" fmla="*/ 557118 w 8367648"/>
              <a:gd name="connsiteY30" fmla="*/ 1695576 h 3306374"/>
              <a:gd name="connsiteX31" fmla="*/ 581341 w 8367648"/>
              <a:gd name="connsiteY31" fmla="*/ 1719799 h 3306374"/>
              <a:gd name="connsiteX32" fmla="*/ 605563 w 8367648"/>
              <a:gd name="connsiteY32" fmla="*/ 1768244 h 3306374"/>
              <a:gd name="connsiteX33" fmla="*/ 623730 w 8367648"/>
              <a:gd name="connsiteY33" fmla="*/ 1798522 h 3306374"/>
              <a:gd name="connsiteX34" fmla="*/ 660064 w 8367648"/>
              <a:gd name="connsiteY34" fmla="*/ 1865134 h 3306374"/>
              <a:gd name="connsiteX35" fmla="*/ 684286 w 8367648"/>
              <a:gd name="connsiteY35" fmla="*/ 1913579 h 3306374"/>
              <a:gd name="connsiteX36" fmla="*/ 696397 w 8367648"/>
              <a:gd name="connsiteY36" fmla="*/ 1949913 h 3306374"/>
              <a:gd name="connsiteX37" fmla="*/ 720620 w 8367648"/>
              <a:gd name="connsiteY37" fmla="*/ 1998358 h 3306374"/>
              <a:gd name="connsiteX38" fmla="*/ 793288 w 8367648"/>
              <a:gd name="connsiteY38" fmla="*/ 2186082 h 3306374"/>
              <a:gd name="connsiteX39" fmla="*/ 805399 w 8367648"/>
              <a:gd name="connsiteY39" fmla="*/ 2210305 h 3306374"/>
              <a:gd name="connsiteX40" fmla="*/ 817510 w 8367648"/>
              <a:gd name="connsiteY40" fmla="*/ 2252694 h 3306374"/>
              <a:gd name="connsiteX41" fmla="*/ 835677 w 8367648"/>
              <a:gd name="connsiteY41" fmla="*/ 2276917 h 3306374"/>
              <a:gd name="connsiteX42" fmla="*/ 847788 w 8367648"/>
              <a:gd name="connsiteY42" fmla="*/ 2313250 h 3306374"/>
              <a:gd name="connsiteX43" fmla="*/ 908344 w 8367648"/>
              <a:gd name="connsiteY43" fmla="*/ 2373807 h 3306374"/>
              <a:gd name="connsiteX44" fmla="*/ 932567 w 8367648"/>
              <a:gd name="connsiteY44" fmla="*/ 2410141 h 3306374"/>
              <a:gd name="connsiteX45" fmla="*/ 944678 w 8367648"/>
              <a:gd name="connsiteY45" fmla="*/ 2452530 h 3306374"/>
              <a:gd name="connsiteX46" fmla="*/ 956790 w 8367648"/>
              <a:gd name="connsiteY46" fmla="*/ 2464641 h 3306374"/>
              <a:gd name="connsiteX47" fmla="*/ 981012 w 8367648"/>
              <a:gd name="connsiteY47" fmla="*/ 2500975 h 3306374"/>
              <a:gd name="connsiteX48" fmla="*/ 993123 w 8367648"/>
              <a:gd name="connsiteY48" fmla="*/ 2525197 h 3306374"/>
              <a:gd name="connsiteX49" fmla="*/ 1029457 w 8367648"/>
              <a:gd name="connsiteY49" fmla="*/ 2561531 h 3306374"/>
              <a:gd name="connsiteX50" fmla="*/ 1096069 w 8367648"/>
              <a:gd name="connsiteY50" fmla="*/ 2652366 h 3306374"/>
              <a:gd name="connsiteX51" fmla="*/ 1120291 w 8367648"/>
              <a:gd name="connsiteY51" fmla="*/ 2664477 h 3306374"/>
              <a:gd name="connsiteX52" fmla="*/ 1132403 w 8367648"/>
              <a:gd name="connsiteY52" fmla="*/ 2676588 h 3306374"/>
              <a:gd name="connsiteX53" fmla="*/ 1168737 w 8367648"/>
              <a:gd name="connsiteY53" fmla="*/ 2700811 h 3306374"/>
              <a:gd name="connsiteX54" fmla="*/ 1247460 w 8367648"/>
              <a:gd name="connsiteY54" fmla="*/ 2773478 h 3306374"/>
              <a:gd name="connsiteX55" fmla="*/ 1283793 w 8367648"/>
              <a:gd name="connsiteY55" fmla="*/ 2809812 h 3306374"/>
              <a:gd name="connsiteX56" fmla="*/ 1295905 w 8367648"/>
              <a:gd name="connsiteY56" fmla="*/ 2821923 h 3306374"/>
              <a:gd name="connsiteX57" fmla="*/ 1308016 w 8367648"/>
              <a:gd name="connsiteY57" fmla="*/ 2840090 h 3306374"/>
              <a:gd name="connsiteX58" fmla="*/ 1332239 w 8367648"/>
              <a:gd name="connsiteY58" fmla="*/ 2852201 h 3306374"/>
              <a:gd name="connsiteX59" fmla="*/ 1344350 w 8367648"/>
              <a:gd name="connsiteY59" fmla="*/ 2876424 h 3306374"/>
              <a:gd name="connsiteX60" fmla="*/ 1380684 w 8367648"/>
              <a:gd name="connsiteY60" fmla="*/ 2900646 h 3306374"/>
              <a:gd name="connsiteX61" fmla="*/ 1429129 w 8367648"/>
              <a:gd name="connsiteY61" fmla="*/ 2924869 h 3306374"/>
              <a:gd name="connsiteX62" fmla="*/ 1483629 w 8367648"/>
              <a:gd name="connsiteY62" fmla="*/ 2961203 h 3306374"/>
              <a:gd name="connsiteX63" fmla="*/ 1519963 w 8367648"/>
              <a:gd name="connsiteY63" fmla="*/ 2985425 h 3306374"/>
              <a:gd name="connsiteX64" fmla="*/ 1592631 w 8367648"/>
              <a:gd name="connsiteY64" fmla="*/ 3021759 h 3306374"/>
              <a:gd name="connsiteX65" fmla="*/ 1683465 w 8367648"/>
              <a:gd name="connsiteY65" fmla="*/ 3076260 h 3306374"/>
              <a:gd name="connsiteX66" fmla="*/ 1816689 w 8367648"/>
              <a:gd name="connsiteY66" fmla="*/ 3130760 h 3306374"/>
              <a:gd name="connsiteX67" fmla="*/ 1828800 w 8367648"/>
              <a:gd name="connsiteY67" fmla="*/ 3142872 h 3306374"/>
              <a:gd name="connsiteX68" fmla="*/ 1919635 w 8367648"/>
              <a:gd name="connsiteY68" fmla="*/ 3167094 h 3306374"/>
              <a:gd name="connsiteX69" fmla="*/ 2028636 w 8367648"/>
              <a:gd name="connsiteY69" fmla="*/ 3215539 h 3306374"/>
              <a:gd name="connsiteX70" fmla="*/ 2077081 w 8367648"/>
              <a:gd name="connsiteY70" fmla="*/ 3227650 h 3306374"/>
              <a:gd name="connsiteX71" fmla="*/ 2125526 w 8367648"/>
              <a:gd name="connsiteY71" fmla="*/ 3245817 h 3306374"/>
              <a:gd name="connsiteX72" fmla="*/ 2301139 w 8367648"/>
              <a:gd name="connsiteY72" fmla="*/ 3270040 h 3306374"/>
              <a:gd name="connsiteX73" fmla="*/ 2367751 w 8367648"/>
              <a:gd name="connsiteY73" fmla="*/ 3282151 h 3306374"/>
              <a:gd name="connsiteX74" fmla="*/ 2422252 w 8367648"/>
              <a:gd name="connsiteY74" fmla="*/ 3294262 h 3306374"/>
              <a:gd name="connsiteX75" fmla="*/ 2585754 w 8367648"/>
              <a:gd name="connsiteY75" fmla="*/ 3306374 h 3306374"/>
              <a:gd name="connsiteX76" fmla="*/ 3621266 w 8367648"/>
              <a:gd name="connsiteY76" fmla="*/ 3300318 h 3306374"/>
              <a:gd name="connsiteX77" fmla="*/ 3657600 w 8367648"/>
              <a:gd name="connsiteY77" fmla="*/ 3288207 h 3306374"/>
              <a:gd name="connsiteX78" fmla="*/ 3833213 w 8367648"/>
              <a:gd name="connsiteY78" fmla="*/ 3257929 h 3306374"/>
              <a:gd name="connsiteX79" fmla="*/ 4033049 w 8367648"/>
              <a:gd name="connsiteY79" fmla="*/ 3191317 h 3306374"/>
              <a:gd name="connsiteX80" fmla="*/ 4093605 w 8367648"/>
              <a:gd name="connsiteY80" fmla="*/ 3161039 h 3306374"/>
              <a:gd name="connsiteX81" fmla="*/ 4251052 w 8367648"/>
              <a:gd name="connsiteY81" fmla="*/ 3112593 h 3306374"/>
              <a:gd name="connsiteX82" fmla="*/ 4287386 w 8367648"/>
              <a:gd name="connsiteY82" fmla="*/ 3100482 h 3306374"/>
              <a:gd name="connsiteX83" fmla="*/ 4372164 w 8367648"/>
              <a:gd name="connsiteY83" fmla="*/ 3076260 h 3306374"/>
              <a:gd name="connsiteX84" fmla="*/ 4438776 w 8367648"/>
              <a:gd name="connsiteY84" fmla="*/ 3045982 h 3306374"/>
              <a:gd name="connsiteX85" fmla="*/ 4535666 w 8367648"/>
              <a:gd name="connsiteY85" fmla="*/ 3021759 h 3306374"/>
              <a:gd name="connsiteX86" fmla="*/ 4596223 w 8367648"/>
              <a:gd name="connsiteY86" fmla="*/ 2997537 h 3306374"/>
              <a:gd name="connsiteX87" fmla="*/ 4644668 w 8367648"/>
              <a:gd name="connsiteY87" fmla="*/ 2985425 h 3306374"/>
              <a:gd name="connsiteX88" fmla="*/ 4741558 w 8367648"/>
              <a:gd name="connsiteY88" fmla="*/ 2955147 h 3306374"/>
              <a:gd name="connsiteX89" fmla="*/ 4874782 w 8367648"/>
              <a:gd name="connsiteY89" fmla="*/ 2924869 h 3306374"/>
              <a:gd name="connsiteX90" fmla="*/ 4941393 w 8367648"/>
              <a:gd name="connsiteY90" fmla="*/ 2900646 h 3306374"/>
              <a:gd name="connsiteX91" fmla="*/ 5092784 w 8367648"/>
              <a:gd name="connsiteY91" fmla="*/ 2864313 h 3306374"/>
              <a:gd name="connsiteX92" fmla="*/ 5201786 w 8367648"/>
              <a:gd name="connsiteY92" fmla="*/ 2797701 h 3306374"/>
              <a:gd name="connsiteX93" fmla="*/ 5407677 w 8367648"/>
              <a:gd name="connsiteY93" fmla="*/ 2682644 h 3306374"/>
              <a:gd name="connsiteX94" fmla="*/ 5480344 w 8367648"/>
              <a:gd name="connsiteY94" fmla="*/ 2628143 h 3306374"/>
              <a:gd name="connsiteX95" fmla="*/ 5546956 w 8367648"/>
              <a:gd name="connsiteY95" fmla="*/ 2591809 h 3306374"/>
              <a:gd name="connsiteX96" fmla="*/ 5559068 w 8367648"/>
              <a:gd name="connsiteY96" fmla="*/ 2567587 h 3306374"/>
              <a:gd name="connsiteX97" fmla="*/ 5789182 w 8367648"/>
              <a:gd name="connsiteY97" fmla="*/ 2385918 h 3306374"/>
              <a:gd name="connsiteX98" fmla="*/ 5886072 w 8367648"/>
              <a:gd name="connsiteY98" fmla="*/ 2307195 h 3306374"/>
              <a:gd name="connsiteX99" fmla="*/ 5995073 w 8367648"/>
              <a:gd name="connsiteY99" fmla="*/ 2192138 h 3306374"/>
              <a:gd name="connsiteX100" fmla="*/ 6116186 w 8367648"/>
              <a:gd name="connsiteY100" fmla="*/ 2077081 h 3306374"/>
              <a:gd name="connsiteX101" fmla="*/ 6182797 w 8367648"/>
              <a:gd name="connsiteY101" fmla="*/ 2022580 h 3306374"/>
              <a:gd name="connsiteX102" fmla="*/ 6358411 w 8367648"/>
              <a:gd name="connsiteY102" fmla="*/ 1853023 h 3306374"/>
              <a:gd name="connsiteX103" fmla="*/ 6394744 w 8367648"/>
              <a:gd name="connsiteY103" fmla="*/ 1804578 h 3306374"/>
              <a:gd name="connsiteX104" fmla="*/ 6497690 w 8367648"/>
              <a:gd name="connsiteY104" fmla="*/ 1731910 h 3306374"/>
              <a:gd name="connsiteX105" fmla="*/ 6564302 w 8367648"/>
              <a:gd name="connsiteY105" fmla="*/ 1641076 h 3306374"/>
              <a:gd name="connsiteX106" fmla="*/ 6606691 w 8367648"/>
              <a:gd name="connsiteY106" fmla="*/ 1574464 h 3306374"/>
              <a:gd name="connsiteX107" fmla="*/ 6721748 w 8367648"/>
              <a:gd name="connsiteY107" fmla="*/ 1477574 h 3306374"/>
              <a:gd name="connsiteX108" fmla="*/ 6745971 w 8367648"/>
              <a:gd name="connsiteY108" fmla="*/ 1441240 h 3306374"/>
              <a:gd name="connsiteX109" fmla="*/ 6848917 w 8367648"/>
              <a:gd name="connsiteY109" fmla="*/ 1314072 h 3306374"/>
              <a:gd name="connsiteX110" fmla="*/ 6861028 w 8367648"/>
              <a:gd name="connsiteY110" fmla="*/ 1289849 h 3306374"/>
              <a:gd name="connsiteX111" fmla="*/ 6885250 w 8367648"/>
              <a:gd name="connsiteY111" fmla="*/ 1265627 h 3306374"/>
              <a:gd name="connsiteX112" fmla="*/ 6909473 w 8367648"/>
              <a:gd name="connsiteY112" fmla="*/ 1223237 h 3306374"/>
              <a:gd name="connsiteX113" fmla="*/ 6921584 w 8367648"/>
              <a:gd name="connsiteY113" fmla="*/ 1186903 h 3306374"/>
              <a:gd name="connsiteX114" fmla="*/ 6957918 w 8367648"/>
              <a:gd name="connsiteY114" fmla="*/ 1150570 h 3306374"/>
              <a:gd name="connsiteX115" fmla="*/ 6982141 w 8367648"/>
              <a:gd name="connsiteY115" fmla="*/ 1114236 h 3306374"/>
              <a:gd name="connsiteX116" fmla="*/ 7139587 w 8367648"/>
              <a:gd name="connsiteY116" fmla="*/ 974956 h 3306374"/>
              <a:gd name="connsiteX117" fmla="*/ 7236477 w 8367648"/>
              <a:gd name="connsiteY117" fmla="*/ 878066 h 3306374"/>
              <a:gd name="connsiteX118" fmla="*/ 7278866 w 8367648"/>
              <a:gd name="connsiteY118" fmla="*/ 835677 h 3306374"/>
              <a:gd name="connsiteX119" fmla="*/ 7315200 w 8367648"/>
              <a:gd name="connsiteY119" fmla="*/ 811454 h 3306374"/>
              <a:gd name="connsiteX120" fmla="*/ 7351534 w 8367648"/>
              <a:gd name="connsiteY120" fmla="*/ 775121 h 3306374"/>
              <a:gd name="connsiteX121" fmla="*/ 7412090 w 8367648"/>
              <a:gd name="connsiteY121" fmla="*/ 738787 h 3306374"/>
              <a:gd name="connsiteX122" fmla="*/ 7478702 w 8367648"/>
              <a:gd name="connsiteY122" fmla="*/ 684286 h 3306374"/>
              <a:gd name="connsiteX123" fmla="*/ 7563481 w 8367648"/>
              <a:gd name="connsiteY123" fmla="*/ 623730 h 3306374"/>
              <a:gd name="connsiteX124" fmla="*/ 7642204 w 8367648"/>
              <a:gd name="connsiteY124" fmla="*/ 575285 h 3306374"/>
              <a:gd name="connsiteX125" fmla="*/ 7690649 w 8367648"/>
              <a:gd name="connsiteY125" fmla="*/ 532895 h 3306374"/>
              <a:gd name="connsiteX126" fmla="*/ 7951041 w 8367648"/>
              <a:gd name="connsiteY126" fmla="*/ 369393 h 3306374"/>
              <a:gd name="connsiteX127" fmla="*/ 7981319 w 8367648"/>
              <a:gd name="connsiteY127" fmla="*/ 345171 h 3306374"/>
              <a:gd name="connsiteX128" fmla="*/ 8041876 w 8367648"/>
              <a:gd name="connsiteY128" fmla="*/ 308837 h 3306374"/>
              <a:gd name="connsiteX129" fmla="*/ 8102432 w 8367648"/>
              <a:gd name="connsiteY129" fmla="*/ 242225 h 3306374"/>
              <a:gd name="connsiteX130" fmla="*/ 8175099 w 8367648"/>
              <a:gd name="connsiteY130" fmla="*/ 205892 h 3306374"/>
              <a:gd name="connsiteX131" fmla="*/ 8241711 w 8367648"/>
              <a:gd name="connsiteY131" fmla="*/ 157446 h 3306374"/>
              <a:gd name="connsiteX132" fmla="*/ 8290156 w 8367648"/>
              <a:gd name="connsiteY132" fmla="*/ 133224 h 3306374"/>
              <a:gd name="connsiteX133" fmla="*/ 8326490 w 8367648"/>
              <a:gd name="connsiteY133" fmla="*/ 109001 h 3306374"/>
              <a:gd name="connsiteX134" fmla="*/ 8362824 w 8367648"/>
              <a:gd name="connsiteY134" fmla="*/ 96890 h 3306374"/>
              <a:gd name="connsiteX135" fmla="*/ 8362824 w 8367648"/>
              <a:gd name="connsiteY135" fmla="*/ 139280 h 3306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8367648" h="3306374">
                <a:moveTo>
                  <a:pt x="0" y="0"/>
                </a:moveTo>
                <a:cubicBezTo>
                  <a:pt x="2019" y="10093"/>
                  <a:pt x="2002" y="20818"/>
                  <a:pt x="6056" y="30278"/>
                </a:cubicBezTo>
                <a:cubicBezTo>
                  <a:pt x="8305" y="35526"/>
                  <a:pt x="16782" y="36851"/>
                  <a:pt x="18167" y="42390"/>
                </a:cubicBezTo>
                <a:cubicBezTo>
                  <a:pt x="25090" y="70084"/>
                  <a:pt x="26843" y="98829"/>
                  <a:pt x="30278" y="127168"/>
                </a:cubicBezTo>
                <a:cubicBezTo>
                  <a:pt x="37925" y="190254"/>
                  <a:pt x="48285" y="332577"/>
                  <a:pt x="66612" y="387560"/>
                </a:cubicBezTo>
                <a:lnTo>
                  <a:pt x="78723" y="423894"/>
                </a:lnTo>
                <a:cubicBezTo>
                  <a:pt x="82760" y="450135"/>
                  <a:pt x="84686" y="476789"/>
                  <a:pt x="90835" y="502617"/>
                </a:cubicBezTo>
                <a:cubicBezTo>
                  <a:pt x="109455" y="580822"/>
                  <a:pt x="107449" y="522179"/>
                  <a:pt x="133224" y="599507"/>
                </a:cubicBezTo>
                <a:cubicBezTo>
                  <a:pt x="137261" y="611618"/>
                  <a:pt x="141581" y="623639"/>
                  <a:pt x="145335" y="635841"/>
                </a:cubicBezTo>
                <a:cubicBezTo>
                  <a:pt x="149657" y="649887"/>
                  <a:pt x="151988" y="664587"/>
                  <a:pt x="157446" y="678231"/>
                </a:cubicBezTo>
                <a:cubicBezTo>
                  <a:pt x="164151" y="694994"/>
                  <a:pt x="175960" y="709548"/>
                  <a:pt x="181669" y="726676"/>
                </a:cubicBezTo>
                <a:lnTo>
                  <a:pt x="205891" y="799343"/>
                </a:lnTo>
                <a:cubicBezTo>
                  <a:pt x="209928" y="811454"/>
                  <a:pt x="212294" y="824258"/>
                  <a:pt x="218003" y="835677"/>
                </a:cubicBezTo>
                <a:lnTo>
                  <a:pt x="230114" y="859899"/>
                </a:lnTo>
                <a:cubicBezTo>
                  <a:pt x="234151" y="878066"/>
                  <a:pt x="235865" y="896910"/>
                  <a:pt x="242225" y="914400"/>
                </a:cubicBezTo>
                <a:cubicBezTo>
                  <a:pt x="244176" y="919766"/>
                  <a:pt x="252217" y="921210"/>
                  <a:pt x="254337" y="926511"/>
                </a:cubicBezTo>
                <a:cubicBezTo>
                  <a:pt x="260519" y="941966"/>
                  <a:pt x="261875" y="958951"/>
                  <a:pt x="266448" y="974956"/>
                </a:cubicBezTo>
                <a:cubicBezTo>
                  <a:pt x="269955" y="987231"/>
                  <a:pt x="275052" y="999015"/>
                  <a:pt x="278559" y="1011290"/>
                </a:cubicBezTo>
                <a:cubicBezTo>
                  <a:pt x="283132" y="1027295"/>
                  <a:pt x="284825" y="1044150"/>
                  <a:pt x="290670" y="1059735"/>
                </a:cubicBezTo>
                <a:cubicBezTo>
                  <a:pt x="297009" y="1076640"/>
                  <a:pt x="314893" y="1108180"/>
                  <a:pt x="314893" y="1108180"/>
                </a:cubicBezTo>
                <a:cubicBezTo>
                  <a:pt x="318930" y="1124328"/>
                  <a:pt x="321316" y="1140982"/>
                  <a:pt x="327004" y="1156625"/>
                </a:cubicBezTo>
                <a:cubicBezTo>
                  <a:pt x="329491" y="1163465"/>
                  <a:pt x="336159" y="1168141"/>
                  <a:pt x="339115" y="1174792"/>
                </a:cubicBezTo>
                <a:cubicBezTo>
                  <a:pt x="344300" y="1186458"/>
                  <a:pt x="346317" y="1199341"/>
                  <a:pt x="351227" y="1211126"/>
                </a:cubicBezTo>
                <a:cubicBezTo>
                  <a:pt x="356435" y="1223625"/>
                  <a:pt x="364839" y="1234708"/>
                  <a:pt x="369393" y="1247460"/>
                </a:cubicBezTo>
                <a:cubicBezTo>
                  <a:pt x="374991" y="1263136"/>
                  <a:pt x="374948" y="1280606"/>
                  <a:pt x="381505" y="1295905"/>
                </a:cubicBezTo>
                <a:cubicBezTo>
                  <a:pt x="399285" y="1337391"/>
                  <a:pt x="421876" y="1376646"/>
                  <a:pt x="442061" y="1417017"/>
                </a:cubicBezTo>
                <a:lnTo>
                  <a:pt x="472339" y="1477574"/>
                </a:lnTo>
                <a:cubicBezTo>
                  <a:pt x="476376" y="1485648"/>
                  <a:pt x="481595" y="1493232"/>
                  <a:pt x="484450" y="1501796"/>
                </a:cubicBezTo>
                <a:cubicBezTo>
                  <a:pt x="488487" y="1513907"/>
                  <a:pt x="491126" y="1526579"/>
                  <a:pt x="496562" y="1538130"/>
                </a:cubicBezTo>
                <a:cubicBezTo>
                  <a:pt x="525502" y="1599629"/>
                  <a:pt x="517296" y="1589144"/>
                  <a:pt x="545007" y="1616853"/>
                </a:cubicBezTo>
                <a:cubicBezTo>
                  <a:pt x="549044" y="1643094"/>
                  <a:pt x="548282" y="1670540"/>
                  <a:pt x="557118" y="1695576"/>
                </a:cubicBezTo>
                <a:cubicBezTo>
                  <a:pt x="560918" y="1706344"/>
                  <a:pt x="581341" y="1719799"/>
                  <a:pt x="581341" y="1719799"/>
                </a:cubicBezTo>
                <a:cubicBezTo>
                  <a:pt x="589415" y="1735947"/>
                  <a:pt x="597004" y="1752348"/>
                  <a:pt x="605563" y="1768244"/>
                </a:cubicBezTo>
                <a:cubicBezTo>
                  <a:pt x="611143" y="1778607"/>
                  <a:pt x="618466" y="1787995"/>
                  <a:pt x="623730" y="1798522"/>
                </a:cubicBezTo>
                <a:cubicBezTo>
                  <a:pt x="656906" y="1864875"/>
                  <a:pt x="631988" y="1837061"/>
                  <a:pt x="660064" y="1865134"/>
                </a:cubicBezTo>
                <a:cubicBezTo>
                  <a:pt x="668138" y="1881282"/>
                  <a:pt x="678577" y="1896451"/>
                  <a:pt x="684286" y="1913579"/>
                </a:cubicBezTo>
                <a:cubicBezTo>
                  <a:pt x="688323" y="1925690"/>
                  <a:pt x="691368" y="1938179"/>
                  <a:pt x="696397" y="1949913"/>
                </a:cubicBezTo>
                <a:cubicBezTo>
                  <a:pt x="703509" y="1966508"/>
                  <a:pt x="715183" y="1981142"/>
                  <a:pt x="720620" y="1998358"/>
                </a:cubicBezTo>
                <a:cubicBezTo>
                  <a:pt x="765111" y="2139245"/>
                  <a:pt x="738966" y="2077438"/>
                  <a:pt x="793288" y="2186082"/>
                </a:cubicBezTo>
                <a:cubicBezTo>
                  <a:pt x="797325" y="2194156"/>
                  <a:pt x="802919" y="2201625"/>
                  <a:pt x="805399" y="2210305"/>
                </a:cubicBezTo>
                <a:cubicBezTo>
                  <a:pt x="809436" y="2224435"/>
                  <a:pt x="811429" y="2239316"/>
                  <a:pt x="817510" y="2252694"/>
                </a:cubicBezTo>
                <a:cubicBezTo>
                  <a:pt x="821686" y="2261882"/>
                  <a:pt x="829621" y="2268843"/>
                  <a:pt x="835677" y="2276917"/>
                </a:cubicBezTo>
                <a:cubicBezTo>
                  <a:pt x="839714" y="2289028"/>
                  <a:pt x="840128" y="2303037"/>
                  <a:pt x="847788" y="2313250"/>
                </a:cubicBezTo>
                <a:cubicBezTo>
                  <a:pt x="864916" y="2336087"/>
                  <a:pt x="892509" y="2350055"/>
                  <a:pt x="908344" y="2373807"/>
                </a:cubicBezTo>
                <a:lnTo>
                  <a:pt x="932567" y="2410141"/>
                </a:lnTo>
                <a:cubicBezTo>
                  <a:pt x="936604" y="2424271"/>
                  <a:pt x="938710" y="2439102"/>
                  <a:pt x="944678" y="2452530"/>
                </a:cubicBezTo>
                <a:cubicBezTo>
                  <a:pt x="946997" y="2457747"/>
                  <a:pt x="953364" y="2460073"/>
                  <a:pt x="956790" y="2464641"/>
                </a:cubicBezTo>
                <a:cubicBezTo>
                  <a:pt x="965524" y="2476286"/>
                  <a:pt x="973523" y="2488493"/>
                  <a:pt x="981012" y="2500975"/>
                </a:cubicBezTo>
                <a:cubicBezTo>
                  <a:pt x="985656" y="2508716"/>
                  <a:pt x="987484" y="2518148"/>
                  <a:pt x="993123" y="2525197"/>
                </a:cubicBezTo>
                <a:cubicBezTo>
                  <a:pt x="1003823" y="2538572"/>
                  <a:pt x="1021139" y="2546558"/>
                  <a:pt x="1029457" y="2561531"/>
                </a:cubicBezTo>
                <a:cubicBezTo>
                  <a:pt x="1055670" y="2608715"/>
                  <a:pt x="1055245" y="2619707"/>
                  <a:pt x="1096069" y="2652366"/>
                </a:cubicBezTo>
                <a:cubicBezTo>
                  <a:pt x="1103118" y="2658005"/>
                  <a:pt x="1112780" y="2659470"/>
                  <a:pt x="1120291" y="2664477"/>
                </a:cubicBezTo>
                <a:cubicBezTo>
                  <a:pt x="1125042" y="2667644"/>
                  <a:pt x="1127652" y="2673421"/>
                  <a:pt x="1132403" y="2676588"/>
                </a:cubicBezTo>
                <a:cubicBezTo>
                  <a:pt x="1150053" y="2688354"/>
                  <a:pt x="1157629" y="2684149"/>
                  <a:pt x="1168737" y="2700811"/>
                </a:cubicBezTo>
                <a:cubicBezTo>
                  <a:pt x="1214613" y="2769624"/>
                  <a:pt x="1108197" y="2658789"/>
                  <a:pt x="1247460" y="2773478"/>
                </a:cubicBezTo>
                <a:cubicBezTo>
                  <a:pt x="1260681" y="2784366"/>
                  <a:pt x="1271682" y="2797701"/>
                  <a:pt x="1283793" y="2809812"/>
                </a:cubicBezTo>
                <a:cubicBezTo>
                  <a:pt x="1287830" y="2813849"/>
                  <a:pt x="1292738" y="2817172"/>
                  <a:pt x="1295905" y="2821923"/>
                </a:cubicBezTo>
                <a:cubicBezTo>
                  <a:pt x="1299942" y="2827979"/>
                  <a:pt x="1302425" y="2835431"/>
                  <a:pt x="1308016" y="2840090"/>
                </a:cubicBezTo>
                <a:cubicBezTo>
                  <a:pt x="1314951" y="2845869"/>
                  <a:pt x="1324165" y="2848164"/>
                  <a:pt x="1332239" y="2852201"/>
                </a:cubicBezTo>
                <a:cubicBezTo>
                  <a:pt x="1336276" y="2860275"/>
                  <a:pt x="1337967" y="2870041"/>
                  <a:pt x="1344350" y="2876424"/>
                </a:cubicBezTo>
                <a:cubicBezTo>
                  <a:pt x="1354643" y="2886717"/>
                  <a:pt x="1369039" y="2891912"/>
                  <a:pt x="1380684" y="2900646"/>
                </a:cubicBezTo>
                <a:cubicBezTo>
                  <a:pt x="1414508" y="2926014"/>
                  <a:pt x="1359012" y="2901497"/>
                  <a:pt x="1429129" y="2924869"/>
                </a:cubicBezTo>
                <a:lnTo>
                  <a:pt x="1483629" y="2961203"/>
                </a:lnTo>
                <a:cubicBezTo>
                  <a:pt x="1495740" y="2969277"/>
                  <a:pt x="1506944" y="2978915"/>
                  <a:pt x="1519963" y="2985425"/>
                </a:cubicBezTo>
                <a:lnTo>
                  <a:pt x="1592631" y="3021759"/>
                </a:lnTo>
                <a:cubicBezTo>
                  <a:pt x="1619883" y="3062638"/>
                  <a:pt x="1601669" y="3042178"/>
                  <a:pt x="1683465" y="3076260"/>
                </a:cubicBezTo>
                <a:cubicBezTo>
                  <a:pt x="1898365" y="3165801"/>
                  <a:pt x="1599150" y="3031879"/>
                  <a:pt x="1816689" y="3130760"/>
                </a:cubicBezTo>
                <a:cubicBezTo>
                  <a:pt x="1820726" y="3134797"/>
                  <a:pt x="1823693" y="3140319"/>
                  <a:pt x="1828800" y="3142872"/>
                </a:cubicBezTo>
                <a:cubicBezTo>
                  <a:pt x="1850394" y="3153669"/>
                  <a:pt x="1899896" y="3162708"/>
                  <a:pt x="1919635" y="3167094"/>
                </a:cubicBezTo>
                <a:cubicBezTo>
                  <a:pt x="1961843" y="3188199"/>
                  <a:pt x="1982241" y="3200074"/>
                  <a:pt x="2028636" y="3215539"/>
                </a:cubicBezTo>
                <a:cubicBezTo>
                  <a:pt x="2044427" y="3220803"/>
                  <a:pt x="2061193" y="3222685"/>
                  <a:pt x="2077081" y="3227650"/>
                </a:cubicBezTo>
                <a:cubicBezTo>
                  <a:pt x="2093542" y="3232794"/>
                  <a:pt x="2108580" y="3242611"/>
                  <a:pt x="2125526" y="3245817"/>
                </a:cubicBezTo>
                <a:cubicBezTo>
                  <a:pt x="2183588" y="3256802"/>
                  <a:pt x="2243000" y="3259470"/>
                  <a:pt x="2301139" y="3270040"/>
                </a:cubicBezTo>
                <a:lnTo>
                  <a:pt x="2367751" y="3282151"/>
                </a:lnTo>
                <a:cubicBezTo>
                  <a:pt x="2386000" y="3285801"/>
                  <a:pt x="2403756" y="3292207"/>
                  <a:pt x="2422252" y="3294262"/>
                </a:cubicBezTo>
                <a:cubicBezTo>
                  <a:pt x="2476568" y="3300297"/>
                  <a:pt x="2531253" y="3302337"/>
                  <a:pt x="2585754" y="3306374"/>
                </a:cubicBezTo>
                <a:lnTo>
                  <a:pt x="3621266" y="3300318"/>
                </a:lnTo>
                <a:cubicBezTo>
                  <a:pt x="3634031" y="3300102"/>
                  <a:pt x="3645081" y="3290711"/>
                  <a:pt x="3657600" y="3288207"/>
                </a:cubicBezTo>
                <a:cubicBezTo>
                  <a:pt x="3715848" y="3276558"/>
                  <a:pt x="3775391" y="3271534"/>
                  <a:pt x="3833213" y="3257929"/>
                </a:cubicBezTo>
                <a:cubicBezTo>
                  <a:pt x="3848986" y="3254218"/>
                  <a:pt x="3993601" y="3208223"/>
                  <a:pt x="4033049" y="3191317"/>
                </a:cubicBezTo>
                <a:cubicBezTo>
                  <a:pt x="4053792" y="3182427"/>
                  <a:pt x="4072379" y="3168704"/>
                  <a:pt x="4093605" y="3161039"/>
                </a:cubicBezTo>
                <a:cubicBezTo>
                  <a:pt x="4145251" y="3142389"/>
                  <a:pt x="4198959" y="3129957"/>
                  <a:pt x="4251052" y="3112593"/>
                </a:cubicBezTo>
                <a:cubicBezTo>
                  <a:pt x="4263163" y="3108556"/>
                  <a:pt x="4275111" y="3103989"/>
                  <a:pt x="4287386" y="3100482"/>
                </a:cubicBezTo>
                <a:cubicBezTo>
                  <a:pt x="4323164" y="3090260"/>
                  <a:pt x="4339253" y="3089811"/>
                  <a:pt x="4372164" y="3076260"/>
                </a:cubicBezTo>
                <a:cubicBezTo>
                  <a:pt x="4394717" y="3066973"/>
                  <a:pt x="4415637" y="3053695"/>
                  <a:pt x="4438776" y="3045982"/>
                </a:cubicBezTo>
                <a:cubicBezTo>
                  <a:pt x="4470358" y="3035455"/>
                  <a:pt x="4503847" y="3031549"/>
                  <a:pt x="4535666" y="3021759"/>
                </a:cubicBezTo>
                <a:cubicBezTo>
                  <a:pt x="4556445" y="3015365"/>
                  <a:pt x="4575598" y="3004412"/>
                  <a:pt x="4596223" y="2997537"/>
                </a:cubicBezTo>
                <a:cubicBezTo>
                  <a:pt x="4612014" y="2992273"/>
                  <a:pt x="4628688" y="2990086"/>
                  <a:pt x="4644668" y="2985425"/>
                </a:cubicBezTo>
                <a:cubicBezTo>
                  <a:pt x="4677151" y="2975951"/>
                  <a:pt x="4708835" y="2963758"/>
                  <a:pt x="4741558" y="2955147"/>
                </a:cubicBezTo>
                <a:cubicBezTo>
                  <a:pt x="4785599" y="2943557"/>
                  <a:pt x="4830846" y="2936852"/>
                  <a:pt x="4874782" y="2924869"/>
                </a:cubicBezTo>
                <a:cubicBezTo>
                  <a:pt x="4897576" y="2918652"/>
                  <a:pt x="4918565" y="2906734"/>
                  <a:pt x="4941393" y="2900646"/>
                </a:cubicBezTo>
                <a:cubicBezTo>
                  <a:pt x="5009786" y="2882408"/>
                  <a:pt x="5038537" y="2886012"/>
                  <a:pt x="5092784" y="2864313"/>
                </a:cubicBezTo>
                <a:cubicBezTo>
                  <a:pt x="5125646" y="2851168"/>
                  <a:pt x="5189087" y="2805013"/>
                  <a:pt x="5201786" y="2797701"/>
                </a:cubicBezTo>
                <a:cubicBezTo>
                  <a:pt x="5446024" y="2657079"/>
                  <a:pt x="5199888" y="2811274"/>
                  <a:pt x="5407677" y="2682644"/>
                </a:cubicBezTo>
                <a:cubicBezTo>
                  <a:pt x="5664716" y="2523526"/>
                  <a:pt x="5207999" y="2804368"/>
                  <a:pt x="5480344" y="2628143"/>
                </a:cubicBezTo>
                <a:cubicBezTo>
                  <a:pt x="5501579" y="2614403"/>
                  <a:pt x="5524752" y="2603920"/>
                  <a:pt x="5546956" y="2591809"/>
                </a:cubicBezTo>
                <a:cubicBezTo>
                  <a:pt x="5550993" y="2583735"/>
                  <a:pt x="5552425" y="2573699"/>
                  <a:pt x="5559068" y="2567587"/>
                </a:cubicBezTo>
                <a:cubicBezTo>
                  <a:pt x="5681602" y="2454856"/>
                  <a:pt x="5678276" y="2471780"/>
                  <a:pt x="5789182" y="2385918"/>
                </a:cubicBezTo>
                <a:cubicBezTo>
                  <a:pt x="5822087" y="2360444"/>
                  <a:pt x="5854755" y="2334598"/>
                  <a:pt x="5886072" y="2307195"/>
                </a:cubicBezTo>
                <a:cubicBezTo>
                  <a:pt x="5932296" y="2266749"/>
                  <a:pt x="5949954" y="2237257"/>
                  <a:pt x="5995073" y="2192138"/>
                </a:cubicBezTo>
                <a:cubicBezTo>
                  <a:pt x="6034448" y="2152763"/>
                  <a:pt x="6073089" y="2112343"/>
                  <a:pt x="6116186" y="2077081"/>
                </a:cubicBezTo>
                <a:cubicBezTo>
                  <a:pt x="6138390" y="2058914"/>
                  <a:pt x="6161737" y="2042061"/>
                  <a:pt x="6182797" y="2022580"/>
                </a:cubicBezTo>
                <a:cubicBezTo>
                  <a:pt x="6242531" y="1967326"/>
                  <a:pt x="6309590" y="1918120"/>
                  <a:pt x="6358411" y="1853023"/>
                </a:cubicBezTo>
                <a:cubicBezTo>
                  <a:pt x="6370522" y="1836875"/>
                  <a:pt x="6379512" y="1817823"/>
                  <a:pt x="6394744" y="1804578"/>
                </a:cubicBezTo>
                <a:cubicBezTo>
                  <a:pt x="6426440" y="1777016"/>
                  <a:pt x="6467454" y="1761066"/>
                  <a:pt x="6497690" y="1731910"/>
                </a:cubicBezTo>
                <a:cubicBezTo>
                  <a:pt x="6524718" y="1705847"/>
                  <a:pt x="6542930" y="1671947"/>
                  <a:pt x="6564302" y="1641076"/>
                </a:cubicBezTo>
                <a:cubicBezTo>
                  <a:pt x="6579283" y="1619437"/>
                  <a:pt x="6588435" y="1593422"/>
                  <a:pt x="6606691" y="1574464"/>
                </a:cubicBezTo>
                <a:cubicBezTo>
                  <a:pt x="6641470" y="1538347"/>
                  <a:pt x="6685515" y="1512232"/>
                  <a:pt x="6721748" y="1477574"/>
                </a:cubicBezTo>
                <a:cubicBezTo>
                  <a:pt x="6732267" y="1467513"/>
                  <a:pt x="6737034" y="1452730"/>
                  <a:pt x="6745971" y="1441240"/>
                </a:cubicBezTo>
                <a:cubicBezTo>
                  <a:pt x="6779454" y="1398190"/>
                  <a:pt x="6824528" y="1362853"/>
                  <a:pt x="6848917" y="1314072"/>
                </a:cubicBezTo>
                <a:cubicBezTo>
                  <a:pt x="6852954" y="1305998"/>
                  <a:pt x="6855612" y="1297071"/>
                  <a:pt x="6861028" y="1289849"/>
                </a:cubicBezTo>
                <a:cubicBezTo>
                  <a:pt x="6867879" y="1280714"/>
                  <a:pt x="6878534" y="1274861"/>
                  <a:pt x="6885250" y="1265627"/>
                </a:cubicBezTo>
                <a:cubicBezTo>
                  <a:pt x="6894822" y="1252465"/>
                  <a:pt x="6902653" y="1238013"/>
                  <a:pt x="6909473" y="1223237"/>
                </a:cubicBezTo>
                <a:cubicBezTo>
                  <a:pt x="6914823" y="1211646"/>
                  <a:pt x="6914502" y="1197525"/>
                  <a:pt x="6921584" y="1186903"/>
                </a:cubicBezTo>
                <a:cubicBezTo>
                  <a:pt x="6931085" y="1172652"/>
                  <a:pt x="6946953" y="1163728"/>
                  <a:pt x="6957918" y="1150570"/>
                </a:cubicBezTo>
                <a:cubicBezTo>
                  <a:pt x="6967237" y="1139388"/>
                  <a:pt x="6971675" y="1124353"/>
                  <a:pt x="6982141" y="1114236"/>
                </a:cubicBezTo>
                <a:cubicBezTo>
                  <a:pt x="7032520" y="1065536"/>
                  <a:pt x="7090040" y="1024503"/>
                  <a:pt x="7139587" y="974956"/>
                </a:cubicBezTo>
                <a:lnTo>
                  <a:pt x="7236477" y="878066"/>
                </a:lnTo>
                <a:cubicBezTo>
                  <a:pt x="7250607" y="863936"/>
                  <a:pt x="7262240" y="846761"/>
                  <a:pt x="7278866" y="835677"/>
                </a:cubicBezTo>
                <a:cubicBezTo>
                  <a:pt x="7290977" y="827603"/>
                  <a:pt x="7304018" y="820773"/>
                  <a:pt x="7315200" y="811454"/>
                </a:cubicBezTo>
                <a:cubicBezTo>
                  <a:pt x="7328358" y="800489"/>
                  <a:pt x="7337832" y="785398"/>
                  <a:pt x="7351534" y="775121"/>
                </a:cubicBezTo>
                <a:cubicBezTo>
                  <a:pt x="7370366" y="760997"/>
                  <a:pt x="7391905" y="750898"/>
                  <a:pt x="7412090" y="738787"/>
                </a:cubicBezTo>
                <a:cubicBezTo>
                  <a:pt x="7453430" y="687113"/>
                  <a:pt x="7416339" y="725862"/>
                  <a:pt x="7478702" y="684286"/>
                </a:cubicBezTo>
                <a:cubicBezTo>
                  <a:pt x="7507598" y="665022"/>
                  <a:pt x="7534585" y="642994"/>
                  <a:pt x="7563481" y="623730"/>
                </a:cubicBezTo>
                <a:cubicBezTo>
                  <a:pt x="7655963" y="562075"/>
                  <a:pt x="7462324" y="712842"/>
                  <a:pt x="7642204" y="575285"/>
                </a:cubicBezTo>
                <a:cubicBezTo>
                  <a:pt x="7659249" y="562251"/>
                  <a:pt x="7673162" y="545330"/>
                  <a:pt x="7690649" y="532895"/>
                </a:cubicBezTo>
                <a:cubicBezTo>
                  <a:pt x="7903274" y="381695"/>
                  <a:pt x="7832314" y="408971"/>
                  <a:pt x="7951041" y="369393"/>
                </a:cubicBezTo>
                <a:cubicBezTo>
                  <a:pt x="7961134" y="361319"/>
                  <a:pt x="7970565" y="352340"/>
                  <a:pt x="7981319" y="345171"/>
                </a:cubicBezTo>
                <a:cubicBezTo>
                  <a:pt x="8016199" y="321918"/>
                  <a:pt x="8001840" y="345537"/>
                  <a:pt x="8041876" y="308837"/>
                </a:cubicBezTo>
                <a:cubicBezTo>
                  <a:pt x="8044824" y="306134"/>
                  <a:pt x="8090094" y="249936"/>
                  <a:pt x="8102432" y="242225"/>
                </a:cubicBezTo>
                <a:cubicBezTo>
                  <a:pt x="8125397" y="227872"/>
                  <a:pt x="8175099" y="205892"/>
                  <a:pt x="8175099" y="205892"/>
                </a:cubicBezTo>
                <a:cubicBezTo>
                  <a:pt x="8199698" y="181293"/>
                  <a:pt x="8193748" y="185660"/>
                  <a:pt x="8241711" y="157446"/>
                </a:cubicBezTo>
                <a:cubicBezTo>
                  <a:pt x="8257273" y="148292"/>
                  <a:pt x="8275134" y="143239"/>
                  <a:pt x="8290156" y="133224"/>
                </a:cubicBezTo>
                <a:cubicBezTo>
                  <a:pt x="8302267" y="125150"/>
                  <a:pt x="8313471" y="115511"/>
                  <a:pt x="8326490" y="109001"/>
                </a:cubicBezTo>
                <a:cubicBezTo>
                  <a:pt x="8337909" y="103292"/>
                  <a:pt x="8353017" y="88717"/>
                  <a:pt x="8362824" y="96890"/>
                </a:cubicBezTo>
                <a:cubicBezTo>
                  <a:pt x="8373679" y="105936"/>
                  <a:pt x="8362824" y="125150"/>
                  <a:pt x="8362824" y="139280"/>
                </a:cubicBezTo>
              </a:path>
            </a:pathLst>
          </a:cu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509616" y="7756360"/>
            <a:ext cx="471956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400" kern="1200" dirty="0">
                <a:solidFill>
                  <a:srgbClr val="0070C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理想</a:t>
            </a:r>
            <a:r>
              <a:rPr lang="zh-CN" altLang="en-US" sz="6400" kern="120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6400" kern="120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VS </a:t>
            </a:r>
            <a:r>
              <a:rPr lang="zh-CN" altLang="en-US" sz="6400" kern="120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现实</a:t>
            </a:r>
            <a:endParaRPr lang="zh-CN" altLang="en-US" sz="6400" kern="1200" dirty="0">
              <a:solidFill>
                <a:srgbClr val="FF0000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9363543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软件危机 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5480795" y="3150275"/>
                <a:ext cx="8733481" cy="3069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defTabSz="914400" hangingPunct="1">
                  <a:lnSpc>
                    <a:spcPct val="150000"/>
                  </a:lnSpc>
                </a:pPr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人</a:t>
                </a:r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660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</m:oMath>
                </a14:m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10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年</a:t>
                </a:r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=10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人</a:t>
                </a:r>
                <a14:m>
                  <m:oMath xmlns:m="http://schemas.openxmlformats.org/officeDocument/2006/math">
                    <m:r>
                      <a:rPr lang="en-US" altLang="zh-CN" sz="660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</m:oMath>
                </a14:m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年</a:t>
                </a:r>
                <a:endParaRPr lang="en-US" altLang="zh-CN" sz="6400" kern="1200" dirty="0"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  <a:p>
                <a:pPr algn="l" defTabSz="914400" hangingPunct="1">
                  <a:lnSpc>
                    <a:spcPct val="150000"/>
                  </a:lnSpc>
                </a:pPr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10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人</a:t>
                </a:r>
                <a14:m>
                  <m:oMath xmlns:m="http://schemas.openxmlformats.org/officeDocument/2006/math">
                    <m:r>
                      <a:rPr lang="en-US" altLang="zh-CN" sz="660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</m:oMath>
                </a14:m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12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月</a:t>
                </a:r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=120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人</a:t>
                </a:r>
                <a14:m>
                  <m:oMath xmlns:m="http://schemas.openxmlformats.org/officeDocument/2006/math">
                    <m:r>
                      <a:rPr lang="en-US" altLang="zh-CN" sz="660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 </m:t>
                    </m:r>
                  </m:oMath>
                </a14:m>
                <a:r>
                  <a:rPr lang="en-US" altLang="zh-CN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lang="zh-CN" altLang="en-US" sz="6400" kern="1200" dirty="0">
                    <a:solidFill>
                      <a:schemeClr val="tx1"/>
                    </a:solidFill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月</a:t>
                </a:r>
                <a:endParaRPr lang="zh-CN" altLang="en-US" sz="6400" kern="1200" dirty="0"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0795" y="3150275"/>
                <a:ext cx="8733481" cy="3069174"/>
              </a:xfrm>
              <a:prstGeom prst="rect">
                <a:avLst/>
              </a:prstGeom>
              <a:blipFill rotWithShape="1">
                <a:blip r:embed="rId2"/>
                <a:stretch>
                  <a:fillRect l="-1" t="-1" r="-535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13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  <p:custDataLst>
      <p:tags r:id="rId6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2522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1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162893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银弹假说</a:t>
            </a:r>
            <a:endParaRPr lang="zh-CN" altLang="en-US" dirty="0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191543" y="4598397"/>
            <a:ext cx="20000913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762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fontAlgn="base" hangingPunct="1">
              <a:lnSpc>
                <a:spcPct val="150000"/>
              </a:lnSpc>
              <a:spcAft>
                <a:spcPct val="0"/>
              </a:spcAft>
              <a:buClrTx/>
              <a:buSzTx/>
              <a:buNone/>
            </a:pP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1986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年，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IBM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大型机之父弗雷德里克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布鲁克斯（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Frederick  Brooks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）在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没有银弹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软件工程的主要问题和次要问题</a:t>
            </a:r>
            <a:r>
              <a:rPr kumimoji="1" lang="en-US" altLang="zh-CN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4400" b="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中提出了一个迄今为止尚未打破的著名论断：</a:t>
            </a:r>
            <a:r>
              <a:rPr lang="en-US" altLang="zh-CN" sz="4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 Silver Bullet </a:t>
            </a:r>
            <a:endParaRPr lang="zh-CN" altLang="en-US" sz="4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184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162893" cy="1042894"/>
          </a:xfrm>
        </p:spPr>
        <p:txBody>
          <a:bodyPr/>
          <a:lstStyle/>
          <a:p>
            <a:r>
              <a:rPr lang="zh-CN" altLang="en-US" dirty="0"/>
              <a:t>银弹假说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1874838" y="4016377"/>
            <a:ext cx="20527963" cy="5266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indent="476250" algn="l" defTabSz="914400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kumimoji="1" sz="4800" kern="12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银色子弹（英文：</a:t>
            </a:r>
            <a:r>
              <a:rPr lang="en-US" altLang="zh-CN" sz="4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Silver Bullet</a:t>
            </a:r>
            <a:r>
              <a:rPr lang="zh-CN" altLang="en-US" sz="4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4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银色子弹，或称“银弹”，即纯银质或镀银质的子弹。在古老的欧洲民间传说、鬼怪题材的小说和电影，尤其是</a:t>
            </a:r>
            <a:r>
              <a:rPr lang="en-US" altLang="zh-CN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世纪以来哥特小说风潮影响下，银色子弹往往被描绘成是狼人、吸血鬼、女巫以及其他怪物的克星，一发即可致命，并具有驱魔的效力。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172715" y="10788033"/>
            <a:ext cx="13620716" cy="77970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400" spc="300" dirty="0"/>
              <a:t>*用于表示某种特效药或者特别有效的方案、技术等</a:t>
            </a:r>
            <a:endParaRPr kumimoji="0" lang="zh-CN" altLang="en-US" sz="4400" b="1" i="0" u="none" strike="noStrike" cap="none" spc="30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 advTm="4955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软件危机</a:t>
            </a:r>
            <a:endParaRPr lang="zh-CN" alt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729563" y="4122220"/>
            <a:ext cx="20999303" cy="196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4400" kern="1200" dirty="0">
                <a:latin typeface="宋体" panose="02010600030101010101" pitchFamily="2" charset="-122"/>
                <a:cs typeface="+mn-cs"/>
              </a:rPr>
              <a:t> </a:t>
            </a:r>
            <a:r>
              <a:rPr kumimoji="1" lang="en-US" altLang="zh-CN" sz="4400" kern="1200" dirty="0">
                <a:latin typeface="Times New Roman" panose="02020603050405020304" pitchFamily="18" charset="0"/>
                <a:cs typeface="+mn-cs"/>
              </a:rPr>
              <a:t>“</a:t>
            </a:r>
            <a:r>
              <a:rPr kumimoji="1" lang="zh-CN" altLang="en-US" sz="4400" kern="1200" dirty="0">
                <a:latin typeface="宋体" panose="02010600030101010101" pitchFamily="2" charset="-122"/>
                <a:cs typeface="+mn-cs"/>
              </a:rPr>
              <a:t>没有一种单纯的技术或管理上的进步，能够独立地承诺在</a:t>
            </a:r>
            <a:r>
              <a:rPr kumimoji="1" lang="en-US" altLang="zh-CN" sz="4400" kern="1200" dirty="0">
                <a:latin typeface="宋体" panose="02010600030101010101" pitchFamily="2" charset="-122"/>
                <a:cs typeface="+mn-cs"/>
              </a:rPr>
              <a:t>10</a:t>
            </a:r>
            <a:r>
              <a:rPr kumimoji="1" lang="zh-CN" altLang="en-US" sz="4400" kern="1200" dirty="0">
                <a:latin typeface="宋体" panose="02010600030101010101" pitchFamily="2" charset="-122"/>
                <a:cs typeface="+mn-cs"/>
              </a:rPr>
              <a:t>年内大幅度地提高软件的生产率、</a:t>
            </a:r>
            <a:r>
              <a:rPr kumimoji="1" lang="zh-CN" altLang="en-US" sz="4400" kern="1200" dirty="0">
                <a:solidFill>
                  <a:srgbClr val="FF0000"/>
                </a:solidFill>
                <a:latin typeface="宋体" panose="02010600030101010101" pitchFamily="2" charset="-122"/>
                <a:cs typeface="+mn-cs"/>
              </a:rPr>
              <a:t>可靠性</a:t>
            </a:r>
            <a:r>
              <a:rPr kumimoji="1" lang="zh-CN" altLang="en-US" sz="4400" kern="1200" dirty="0">
                <a:latin typeface="宋体" panose="02010600030101010101" pitchFamily="2" charset="-122"/>
                <a:cs typeface="+mn-cs"/>
              </a:rPr>
              <a:t>和简洁性</a:t>
            </a:r>
            <a:r>
              <a:rPr kumimoji="1" lang="zh-CN" altLang="en-US" sz="4400" kern="1200" dirty="0">
                <a:latin typeface="Times New Roman" panose="02020603050405020304" pitchFamily="18" charset="0"/>
                <a:cs typeface="+mn-cs"/>
              </a:rPr>
              <a:t>”</a:t>
            </a:r>
            <a:r>
              <a:rPr kumimoji="1" lang="zh-CN" altLang="en-US" sz="4400" kern="1200" dirty="0">
                <a:latin typeface="宋体" panose="02010600030101010101" pitchFamily="2" charset="-122"/>
                <a:cs typeface="+mn-cs"/>
              </a:rPr>
              <a:t>。</a:t>
            </a:r>
            <a:endParaRPr kumimoji="1" lang="zh-CN" altLang="en-US" sz="4400" kern="1200" dirty="0">
              <a:latin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9564" y="6566991"/>
            <a:ext cx="2099930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fontAlgn="base" hangingPunct="1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4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single development, in either technology or management technique, which by itself promises even one order-of-magnitude improvement within a decade in productivity, in </a:t>
            </a:r>
            <a:r>
              <a:rPr kumimoji="1" lang="en-US" altLang="zh-CN" sz="4400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kumimoji="1" lang="en-US" altLang="zh-CN" sz="4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simplicity.</a:t>
            </a:r>
            <a:endParaRPr kumimoji="1" lang="en-US" altLang="zh-CN" sz="4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音频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  <p:custDataLst>
      <p:tags r:id="rId4"/>
    </p:custDataLst>
  </p:cSld>
  <p:clrMapOvr>
    <a:masterClrMapping/>
  </p:clrMapOvr>
  <p:transition spd="med" advTm="457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软件危机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952574" y="4044456"/>
            <a:ext cx="1249572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软件规模的迅速增长导致了软件危机</a:t>
            </a:r>
            <a:endParaRPr lang="en-US" altLang="zh-CN" sz="6000" b="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66170" y="5985198"/>
            <a:ext cx="163429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危机的核心表现是低生产率和不可靠的软件质量</a:t>
            </a:r>
            <a:endParaRPr lang="en-US" altLang="zh-CN" sz="6000" b="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476760" y="7835356"/>
            <a:ext cx="864852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因此软件缺陷难以避免！</a:t>
            </a:r>
            <a:endParaRPr lang="en-US" altLang="zh-CN" sz="6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13149" y="9502231"/>
            <a:ext cx="71096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那我们该怎么办呢？</a:t>
            </a:r>
            <a:endParaRPr lang="en-US" altLang="zh-CN" sz="60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音频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9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</p:spTree>
  </p:cSld>
  <p:clrMapOvr>
    <a:masterClrMapping/>
  </p:clrMapOvr>
  <p:transition spd="med" advTm="508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36452" y="2478174"/>
            <a:ext cx="6332147" cy="6905606"/>
            <a:chOff x="9136451" y="2251965"/>
            <a:chExt cx="6206757" cy="6905606"/>
          </a:xfrm>
        </p:grpSpPr>
        <p:grpSp>
          <p:nvGrpSpPr>
            <p:cNvPr id="130" name="成组"/>
            <p:cNvGrpSpPr/>
            <p:nvPr/>
          </p:nvGrpSpPr>
          <p:grpSpPr>
            <a:xfrm>
              <a:off x="9136451" y="2251965"/>
              <a:ext cx="5830086" cy="1343465"/>
              <a:chOff x="0" y="0"/>
              <a:chExt cx="5830084" cy="1343464"/>
            </a:xfrm>
          </p:grpSpPr>
          <p:sp>
            <p:nvSpPr>
              <p:cNvPr id="127" name="矩形 5"/>
              <p:cNvSpPr txBox="1"/>
              <p:nvPr/>
            </p:nvSpPr>
            <p:spPr>
              <a:xfrm>
                <a:off x="2084780" y="244454"/>
                <a:ext cx="3745304" cy="8545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软件缺陷</a:t>
                </a:r>
                <a:endParaRPr lang="zh-CN" altLang="en-US"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29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01</a:t>
                </a:r>
              </a:p>
            </p:txBody>
          </p:sp>
        </p:grpSp>
        <p:grpSp>
          <p:nvGrpSpPr>
            <p:cNvPr id="137" name="成组"/>
            <p:cNvGrpSpPr/>
            <p:nvPr/>
          </p:nvGrpSpPr>
          <p:grpSpPr>
            <a:xfrm>
              <a:off x="9136451" y="4106012"/>
              <a:ext cx="5830088" cy="1343465"/>
              <a:chOff x="0" y="0"/>
              <a:chExt cx="5830087" cy="1343464"/>
            </a:xfrm>
          </p:grpSpPr>
          <p:sp>
            <p:nvSpPr>
              <p:cNvPr id="134" name="矩形 5"/>
              <p:cNvSpPr txBox="1"/>
              <p:nvPr/>
            </p:nvSpPr>
            <p:spPr>
              <a:xfrm>
                <a:off x="2084781" y="273189"/>
                <a:ext cx="3745306" cy="7151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软件危机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36" name="矩形 11"/>
              <p:cNvSpPr txBox="1"/>
              <p:nvPr/>
            </p:nvSpPr>
            <p:spPr>
              <a:xfrm>
                <a:off x="0" y="148788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02</a:t>
                </a:r>
              </a:p>
            </p:txBody>
          </p:sp>
        </p:grpSp>
        <p:grpSp>
          <p:nvGrpSpPr>
            <p:cNvPr id="141" name="成组"/>
            <p:cNvGrpSpPr/>
            <p:nvPr/>
          </p:nvGrpSpPr>
          <p:grpSpPr>
            <a:xfrm>
              <a:off x="9136451" y="5960059"/>
              <a:ext cx="5830088" cy="1343465"/>
              <a:chOff x="0" y="0"/>
              <a:chExt cx="5830087" cy="1343464"/>
            </a:xfrm>
          </p:grpSpPr>
          <p:sp>
            <p:nvSpPr>
              <p:cNvPr id="138" name="矩形 5"/>
              <p:cNvSpPr txBox="1"/>
              <p:nvPr/>
            </p:nvSpPr>
            <p:spPr>
              <a:xfrm>
                <a:off x="2084781" y="299174"/>
                <a:ext cx="3745306" cy="7451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b="1" dirty="0">
                    <a:solidFill>
                      <a:srgbClr val="FF0000"/>
                    </a:solidFill>
                  </a:rPr>
                  <a:t>软件测试</a:t>
                </a:r>
                <a:endParaRPr sz="4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9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0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grpSp>
          <p:nvGrpSpPr>
            <p:cNvPr id="145" name="成组"/>
            <p:cNvGrpSpPr/>
            <p:nvPr/>
          </p:nvGrpSpPr>
          <p:grpSpPr>
            <a:xfrm>
              <a:off x="9136451" y="7814106"/>
              <a:ext cx="6206757" cy="1343465"/>
              <a:chOff x="0" y="0"/>
              <a:chExt cx="6206756" cy="1343464"/>
            </a:xfrm>
          </p:grpSpPr>
          <p:sp>
            <p:nvSpPr>
              <p:cNvPr id="142" name="矩形 5"/>
              <p:cNvSpPr txBox="1"/>
              <p:nvPr/>
            </p:nvSpPr>
            <p:spPr>
              <a:xfrm>
                <a:off x="1668153" y="299174"/>
                <a:ext cx="4538603" cy="601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endParaRPr dirty="0"/>
              </a:p>
            </p:txBody>
          </p:sp>
          <p:sp>
            <p:nvSpPr>
              <p:cNvPr id="143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4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04</a:t>
                </a:r>
                <a:endParaRPr dirty="0"/>
              </a:p>
            </p:txBody>
          </p:sp>
        </p:grpSp>
        <p:sp>
          <p:nvSpPr>
            <p:cNvPr id="146" name="矩形 5"/>
            <p:cNvSpPr txBox="1"/>
            <p:nvPr/>
          </p:nvSpPr>
          <p:spPr>
            <a:xfrm>
              <a:off x="11221232" y="8094359"/>
              <a:ext cx="2422359" cy="7829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57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软件测试的引入</a:t>
            </a:r>
            <a:endParaRPr lang="zh-CN" altLang="en-US" dirty="0"/>
          </a:p>
        </p:txBody>
      </p:sp>
      <p:graphicFrame>
        <p:nvGraphicFramePr>
          <p:cNvPr id="2" name="图示 1"/>
          <p:cNvGraphicFramePr/>
          <p:nvPr/>
        </p:nvGraphicFramePr>
        <p:xfrm>
          <a:off x="5124410" y="3091731"/>
          <a:ext cx="15555915" cy="9231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5454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414587" y="2812415"/>
            <a:ext cx="20131087" cy="9051925"/>
          </a:xfrm>
          <a:noFill/>
        </p:spPr>
        <p:txBody>
          <a:bodyPr>
            <a:normAutofit/>
          </a:bodyPr>
          <a:lstStyle/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保证程序和相应的规范说明一致。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发现软件中的缺陷。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确保系统合理地执行。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ISO9000</a:t>
            </a: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定义：软件测试是一种基于机器的，对代码执行测试、确认测试的活动</a:t>
            </a:r>
            <a:endParaRPr lang="en-US" altLang="zh-CN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1773719" y="3009301"/>
            <a:ext cx="16459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常见概念定义</a:t>
            </a:r>
            <a:endParaRPr lang="zh-CN" altLang="en-US" sz="4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0" algn="l" defTabSz="1828800" fontAlgn="base" hangingPunct="1">
              <a:lnSpc>
                <a:spcPct val="90000"/>
              </a:lnSpc>
              <a:spcAft>
                <a:spcPct val="0"/>
              </a:spcAft>
              <a:buClr>
                <a:srgbClr val="3399FF"/>
              </a:buClr>
              <a:buNone/>
            </a:pPr>
            <a:endParaRPr lang="en-US" altLang="zh-CN" sz="5600" b="0" kern="1200" dirty="0">
              <a:solidFill>
                <a:srgbClr val="0033CC"/>
              </a:solidFill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软件测试定义</a:t>
            </a:r>
            <a:endParaRPr lang="zh-CN" altLang="en-US" dirty="0"/>
          </a:p>
        </p:txBody>
      </p:sp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413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2531" grpId="0" animBg="1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821498" y="2549687"/>
            <a:ext cx="21209332" cy="80878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rtl="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dirty="0"/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rtl="0" fontAlgn="base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软件测试是</a:t>
            </a:r>
            <a:r>
              <a:rPr lang="zh-CN" altLang="en-US" sz="4400" b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发现并指出软件中存在缺陷的过程。</a:t>
            </a:r>
            <a:endParaRPr lang="en-US" altLang="zh-CN" sz="4400" b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rtl="0" fontAlgn="base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这个过程指明和标注问题存在的正确位置，详细记录导致问题出现的操作步骤，及时存储当时的错误状态</a:t>
            </a:r>
            <a:endParaRPr lang="en-US" altLang="zh-CN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便于测试后问题能够准确再现。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rtl="0" fontAlgn="base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测试对象：包含建模、需求、设计等阶段所产生的大量输出制品及程序代码 </a:t>
            </a:r>
            <a:endParaRPr lang="zh-CN" altLang="en-US" sz="4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软件测试定义</a:t>
            </a:r>
            <a:endParaRPr lang="zh-CN" altLang="en-US"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2010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软件测试定义</a:t>
            </a:r>
            <a:endParaRPr lang="zh-CN" altLang="en-US" dirty="0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18282024" y="3629093"/>
            <a:ext cx="0" cy="1155279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5510679" y="4784372"/>
            <a:ext cx="2869786" cy="2016851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发现</a:t>
            </a:r>
            <a:endParaRPr lang="en-US" altLang="zh-CN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endParaRPr lang="zh-CN" altLang="en-US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6743821" y="4784372"/>
            <a:ext cx="2869785" cy="2016851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跟踪</a:t>
            </a:r>
            <a:endParaRPr lang="en-US" altLang="zh-CN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endParaRPr lang="zh-CN" altLang="en-US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5510682" y="8213671"/>
            <a:ext cx="2869784" cy="2016850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prstDash val="dash"/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历史</a:t>
            </a:r>
            <a:endParaRPr lang="en-US" altLang="zh-CN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  <a:endParaRPr lang="zh-CN" altLang="en-US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6945572" y="3629093"/>
            <a:ext cx="0" cy="1146019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6908173" y="3629093"/>
            <a:ext cx="11362551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8380466" y="5792797"/>
            <a:ext cx="279279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13794457" y="5792797"/>
            <a:ext cx="2949363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13794456" y="9217518"/>
            <a:ext cx="2949363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 flipV="1">
            <a:off x="18265170" y="6801223"/>
            <a:ext cx="1" cy="1412448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 flipH="1" flipV="1">
            <a:off x="10159920" y="6016101"/>
            <a:ext cx="1013335" cy="1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 flipH="1">
            <a:off x="10147540" y="5962938"/>
            <a:ext cx="12383" cy="3259158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 flipH="1">
            <a:off x="8396006" y="9217518"/>
            <a:ext cx="1671906" cy="0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6743819" y="8175229"/>
            <a:ext cx="2869786" cy="2016850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修复</a:t>
            </a:r>
            <a:endParaRPr lang="en-US" altLang="zh-CN" sz="56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endParaRPr lang="zh-CN" altLang="en-US" sz="56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11173255" y="8209093"/>
            <a:ext cx="2869786" cy="2016850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再现</a:t>
            </a:r>
            <a:endParaRPr lang="en-US" altLang="zh-CN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endParaRPr lang="zh-CN" altLang="en-US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 flipH="1">
            <a:off x="12656071" y="6283364"/>
            <a:ext cx="0" cy="1896442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11173256" y="4775112"/>
            <a:ext cx="2869786" cy="2016850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记录</a:t>
            </a:r>
            <a:endParaRPr lang="en-US" altLang="zh-CN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1828800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5600" b="0" kern="12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endParaRPr lang="zh-CN" altLang="en-US" sz="5600" b="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22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1937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内容占位符 4"/>
          <p:cNvPicPr>
            <a:picLocks noGrp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" t="1981" r="14796" b="8849"/>
          <a:stretch>
            <a:fillRect/>
          </a:stretch>
        </p:blipFill>
        <p:spPr>
          <a:xfrm>
            <a:off x="5457752" y="3618000"/>
            <a:ext cx="6480000" cy="648000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048" y="3618000"/>
            <a:ext cx="6480000" cy="64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905843" cy="1042894"/>
          </a:xfrm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zh-CN" altLang="en-US" dirty="0"/>
              <a:t>软件缺陷的定义</a:t>
            </a:r>
            <a:endParaRPr lang="zh-CN" altLang="en-US"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2132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45418" cy="1042894"/>
          </a:xfrm>
        </p:spPr>
        <p:txBody>
          <a:bodyPr/>
          <a:lstStyle/>
          <a:p>
            <a:r>
              <a:rPr lang="zh-CN" altLang="en-US" dirty="0"/>
              <a:t>软件缺陷的定义</a:t>
            </a:r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35" y="3053268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图片 7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" t="3086" r="7101" b="9217"/>
          <a:stretch>
            <a:fillRect/>
          </a:stretch>
        </p:blipFill>
        <p:spPr bwMode="auto">
          <a:xfrm>
            <a:off x="12949171" y="3053268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35" y="7554025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See the source image"/>
          <p:cNvPicPr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2" t="-275" r="24359" b="29220"/>
          <a:stretch>
            <a:fillRect/>
          </a:stretch>
        </p:blipFill>
        <p:spPr bwMode="auto">
          <a:xfrm>
            <a:off x="12949171" y="7554025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9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8"/>
    </p:custDataLst>
  </p:cSld>
  <p:clrMapOvr>
    <a:masterClrMapping/>
  </p:clrMapOvr>
  <p:transition spd="med" advTm="4779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779" name="Rectangle 3"/>
          <p:cNvSpPr>
            <a:spLocks noChangeArrowheads="1"/>
          </p:cNvSpPr>
          <p:nvPr/>
        </p:nvSpPr>
        <p:spPr bwMode="auto">
          <a:xfrm>
            <a:off x="2966570" y="5779050"/>
            <a:ext cx="19106030" cy="2157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571500" indent="-571500" algn="just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tabLst>
                <a:tab pos="1447800" algn="l"/>
              </a:tabLst>
              <a:defRPr/>
            </a:pPr>
            <a:r>
              <a:rPr lang="zh-CN" altLang="en-US" sz="44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从产品内部看，软件缺陷是软件产品开发或维护过程中所犯的错误。</a:t>
            </a:r>
            <a:endParaRPr lang="zh-CN" altLang="en-US" sz="44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571500" indent="-571500" algn="just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tabLst>
                <a:tab pos="1447800" algn="l"/>
              </a:tabLst>
              <a:defRPr/>
            </a:pPr>
            <a:r>
              <a:rPr lang="zh-CN" altLang="en-US" sz="44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从外部看，软件缺陷是系统所需要实现的某种功能的失效或违背。 </a:t>
            </a:r>
            <a:endParaRPr lang="zh-CN" altLang="en-US" sz="44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88893" y="3397026"/>
            <a:ext cx="16459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4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 (1983) 729 </a:t>
            </a:r>
            <a:r>
              <a:rPr lang="zh-CN" altLang="en-US" sz="4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软件缺陷一个标准的定义：</a:t>
            </a:r>
            <a:endParaRPr lang="zh-CN" altLang="en-US" sz="4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</a:pPr>
            <a:endParaRPr lang="zh-CN" altLang="en-US" sz="4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0" algn="l" defTabSz="1828800" fontAlgn="base" hangingPunct="1">
              <a:lnSpc>
                <a:spcPct val="90000"/>
              </a:lnSpc>
              <a:spcAft>
                <a:spcPct val="0"/>
              </a:spcAft>
              <a:buClr>
                <a:srgbClr val="3399FF"/>
              </a:buClr>
              <a:buNone/>
            </a:pPr>
            <a:endParaRPr lang="en-US" altLang="zh-CN" sz="5600" kern="12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45418" cy="1042894"/>
          </a:xfrm>
        </p:spPr>
        <p:txBody>
          <a:bodyPr/>
          <a:lstStyle/>
          <a:p>
            <a:r>
              <a:rPr lang="zh-CN" altLang="en-US" dirty="0"/>
              <a:t>软件缺陷的定义</a:t>
            </a:r>
            <a:endParaRPr lang="zh-CN" altLang="en-US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1090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424223" y="4155549"/>
            <a:ext cx="21860540" cy="5666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742950" indent="-742950" algn="l" eaLnBrk="0" fontAlgn="base">
              <a:lnSpc>
                <a:spcPct val="150000"/>
              </a:lnSpc>
              <a:buFont typeface="+mj-ea"/>
              <a:buAutoNum type="circleNumDbPlain"/>
              <a:tabLst>
                <a:tab pos="1447800" algn="l"/>
              </a:tabLst>
            </a:pP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6" indent="-742950" algn="l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+mj-ea"/>
              <a:buAutoNum type="circleNumDbPlain"/>
              <a:tabLst>
                <a:tab pos="1447800" algn="l"/>
              </a:tabLst>
              <a:defRPr/>
            </a:pPr>
            <a:r>
              <a:rPr lang="zh-CN" altLang="en-US" sz="440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功能、特性没有实现或部分实现 （</a:t>
            </a:r>
            <a:r>
              <a:rPr lang="zh-CN" altLang="en-US" sz="44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该实现的没实现</a:t>
            </a: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44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lvl="6" indent="-742950" algn="l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+mj-ea"/>
              <a:buAutoNum type="circleNumDbPlain"/>
              <a:tabLst>
                <a:tab pos="1447800" algn="l"/>
              </a:tabLst>
              <a:defRPr/>
            </a:pP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实际结果和预期结果不一致（</a:t>
            </a:r>
            <a:r>
              <a:rPr lang="zh-CN" altLang="en-US" sz="44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实现错了</a:t>
            </a: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44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lvl="6" indent="-742950" algn="l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+mj-ea"/>
              <a:buAutoNum type="circleNumDbPlain"/>
              <a:tabLst>
                <a:tab pos="1447800" algn="l"/>
              </a:tabLst>
              <a:defRPr/>
            </a:pP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运行出错，包括运行中断、系统崩溃、界面混乱（</a:t>
            </a:r>
            <a:r>
              <a:rPr lang="zh-CN" altLang="en-US" sz="44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系统运行错误</a:t>
            </a: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44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42950" lvl="6" indent="-742950" algn="l" defTabSz="1828800" eaLnBrk="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SzPct val="75000"/>
              <a:buFont typeface="+mj-ea"/>
              <a:buAutoNum type="circleNumDbPlain"/>
              <a:tabLst>
                <a:tab pos="1447800" algn="l"/>
              </a:tabLst>
              <a:defRPr/>
            </a:pP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用户不能接受的其他问题，如存取时间过长、界面不美观 （</a:t>
            </a:r>
            <a:r>
              <a:rPr lang="zh-CN" altLang="en-US" sz="44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未满足非功能性指标</a:t>
            </a:r>
            <a:r>
              <a:rPr lang="zh-CN" altLang="en-US" sz="44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44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45418" cy="1042894"/>
          </a:xfrm>
        </p:spPr>
        <p:txBody>
          <a:bodyPr/>
          <a:lstStyle/>
          <a:p>
            <a:r>
              <a:rPr lang="zh-CN" altLang="en-US" dirty="0"/>
              <a:t>软件缺陷的定义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917782" y="3565424"/>
            <a:ext cx="6944344" cy="9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 fontAlgn="base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软件缺陷的主要类型：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p:transition spd="med" advTm="889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3397618" y="3816684"/>
            <a:ext cx="16556039" cy="7671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marL="457200" indent="-4572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  <a:tabLst>
                <a:tab pos="1371600" algn="l"/>
              </a:tabLst>
            </a:pPr>
            <a:r>
              <a:rPr lang="zh-CN" altLang="en-US" sz="5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非技术原因</a:t>
            </a:r>
            <a:endParaRPr lang="zh-CN" altLang="en-US" sz="54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zh-CN" altLang="en-US" sz="48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需求理解不到位、需求变化、需求不一致、需求不完整</a:t>
            </a:r>
            <a:endParaRPr lang="en-US" altLang="zh-CN" sz="48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en-US" altLang="zh-CN" sz="48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8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48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开发人员</a:t>
            </a:r>
            <a:r>
              <a:rPr lang="zh-CN" altLang="en-US" sz="4800" b="0" kern="12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没理解</a:t>
            </a:r>
            <a:r>
              <a:rPr lang="zh-CN" altLang="en-US" sz="48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好“要做什么”</a:t>
            </a:r>
            <a:r>
              <a:rPr lang="zh-CN" altLang="en-US" sz="48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en-US" altLang="zh-CN" sz="48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endParaRPr lang="zh-CN" altLang="en-US" sz="48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2"/>
              <a:tabLst>
                <a:tab pos="1371600" algn="l"/>
              </a:tabLst>
            </a:pPr>
            <a:r>
              <a:rPr lang="zh-CN" altLang="en-US" sz="48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技术原因</a:t>
            </a:r>
            <a:endParaRPr lang="zh-CN" altLang="en-US" sz="48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zh-CN" altLang="en-US" sz="44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架构有瑕疵、算法有问题、编码错误</a:t>
            </a:r>
            <a:endParaRPr lang="zh-CN" altLang="en-US" sz="44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14400" indent="-914400" algn="l" defTabSz="18288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</a:pPr>
            <a:r>
              <a:rPr lang="zh-CN" altLang="en-US" sz="4800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4800" b="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开发人员知道该做什么，但是</a:t>
            </a:r>
            <a:r>
              <a:rPr lang="zh-CN" altLang="en-US" sz="4800" b="0" kern="1200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没做好</a:t>
            </a:r>
            <a:r>
              <a:rPr lang="zh-CN" altLang="en-US" sz="4800" b="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4800" b="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7979649" cy="1042894"/>
          </a:xfrm>
        </p:spPr>
        <p:txBody>
          <a:bodyPr>
            <a:noAutofit/>
          </a:bodyPr>
          <a:lstStyle/>
          <a:p>
            <a:r>
              <a:rPr lang="zh-CN" altLang="en-US" dirty="0"/>
              <a:t>软件缺陷的产生的</a:t>
            </a:r>
            <a:r>
              <a:rPr lang="zh-CN" altLang="en-US" dirty="0">
                <a:solidFill>
                  <a:srgbClr val="C00000"/>
                </a:solidFill>
              </a:rPr>
              <a:t>原因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625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634631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软件缺陷构成 </a:t>
            </a:r>
            <a:endParaRPr lang="zh-CN" altLang="en-US" dirty="0"/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7221851" y="2875923"/>
          <a:ext cx="9940297" cy="7406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724" name="文本框 1"/>
          <p:cNvSpPr txBox="1">
            <a:spLocks noChangeArrowheads="1"/>
          </p:cNvSpPr>
          <p:nvPr/>
        </p:nvSpPr>
        <p:spPr bwMode="auto">
          <a:xfrm>
            <a:off x="9372600" y="10840077"/>
            <a:ext cx="526297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1828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400" b="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不同阶段的缺陷比例</a:t>
            </a:r>
            <a:endParaRPr lang="zh-CN" altLang="en-US" sz="4400" b="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8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263155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缺陷修复成本</a:t>
            </a:r>
            <a:endParaRPr lang="zh-CN" altLang="en-US" dirty="0"/>
          </a:p>
        </p:txBody>
      </p:sp>
      <p:pic>
        <p:nvPicPr>
          <p:cNvPr id="32771" name="Picture 6" descr="图2-3%20软件缺陷随着时间带来越来越大的成本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2505825"/>
            <a:ext cx="14833600" cy="913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Freeform 7"/>
          <p:cNvSpPr/>
          <p:nvPr/>
        </p:nvSpPr>
        <p:spPr bwMode="auto">
          <a:xfrm>
            <a:off x="6886686" y="3249612"/>
            <a:ext cx="7921626" cy="6861176"/>
          </a:xfrm>
          <a:custGeom>
            <a:avLst/>
            <a:gdLst>
              <a:gd name="T0" fmla="*/ 0 w 2495"/>
              <a:gd name="T1" fmla="*/ 2147483646 h 2161"/>
              <a:gd name="T2" fmla="*/ 2147483646 w 2495"/>
              <a:gd name="T3" fmla="*/ 2147483646 h 2161"/>
              <a:gd name="T4" fmla="*/ 2147483646 w 2495"/>
              <a:gd name="T5" fmla="*/ 2147483646 h 2161"/>
              <a:gd name="T6" fmla="*/ 2147483646 w 2495"/>
              <a:gd name="T7" fmla="*/ 2147483646 h 2161"/>
              <a:gd name="T8" fmla="*/ 2147483646 w 2495"/>
              <a:gd name="T9" fmla="*/ 0 h 21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95" h="2161">
                <a:moveTo>
                  <a:pt x="0" y="2154"/>
                </a:moveTo>
                <a:cubicBezTo>
                  <a:pt x="319" y="2157"/>
                  <a:pt x="639" y="2161"/>
                  <a:pt x="862" y="2131"/>
                </a:cubicBezTo>
                <a:cubicBezTo>
                  <a:pt x="1085" y="2101"/>
                  <a:pt x="1165" y="2143"/>
                  <a:pt x="1339" y="1973"/>
                </a:cubicBezTo>
                <a:cubicBezTo>
                  <a:pt x="1513" y="1803"/>
                  <a:pt x="1713" y="1440"/>
                  <a:pt x="1906" y="1111"/>
                </a:cubicBezTo>
                <a:cubicBezTo>
                  <a:pt x="2099" y="782"/>
                  <a:pt x="2397" y="185"/>
                  <a:pt x="2495" y="0"/>
                </a:cubicBezTo>
              </a:path>
            </a:pathLst>
          </a:cu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6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3</a:t>
            </a:r>
            <a:endParaRPr lang="en-US" altLang="zh-CN"/>
          </a:p>
        </p:txBody>
      </p:sp>
    </p:spTree>
  </p:cSld>
  <p:clrMapOvr>
    <a:masterClrMapping/>
  </p:clrMapOvr>
  <p:transition spd="med" advTm="1070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36452" y="2478174"/>
            <a:ext cx="6332147" cy="6905606"/>
            <a:chOff x="9136451" y="2251965"/>
            <a:chExt cx="6206757" cy="6905606"/>
          </a:xfrm>
        </p:grpSpPr>
        <p:grpSp>
          <p:nvGrpSpPr>
            <p:cNvPr id="130" name="成组"/>
            <p:cNvGrpSpPr/>
            <p:nvPr/>
          </p:nvGrpSpPr>
          <p:grpSpPr>
            <a:xfrm>
              <a:off x="9136451" y="2251965"/>
              <a:ext cx="5830086" cy="1343465"/>
              <a:chOff x="0" y="0"/>
              <a:chExt cx="5830084" cy="1343464"/>
            </a:xfrm>
          </p:grpSpPr>
          <p:sp>
            <p:nvSpPr>
              <p:cNvPr id="127" name="矩形 5"/>
              <p:cNvSpPr txBox="1"/>
              <p:nvPr/>
            </p:nvSpPr>
            <p:spPr>
              <a:xfrm>
                <a:off x="2084780" y="244454"/>
                <a:ext cx="3745304" cy="8545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软件缺陷</a:t>
                </a:r>
                <a:endParaRPr lang="zh-CN" altLang="en-US"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29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01</a:t>
                </a:r>
              </a:p>
            </p:txBody>
          </p:sp>
        </p:grpSp>
        <p:grpSp>
          <p:nvGrpSpPr>
            <p:cNvPr id="137" name="成组"/>
            <p:cNvGrpSpPr/>
            <p:nvPr/>
          </p:nvGrpSpPr>
          <p:grpSpPr>
            <a:xfrm>
              <a:off x="9136451" y="4106012"/>
              <a:ext cx="5830088" cy="1343465"/>
              <a:chOff x="0" y="0"/>
              <a:chExt cx="5830087" cy="1343464"/>
            </a:xfrm>
          </p:grpSpPr>
          <p:sp>
            <p:nvSpPr>
              <p:cNvPr id="134" name="矩形 5"/>
              <p:cNvSpPr txBox="1"/>
              <p:nvPr/>
            </p:nvSpPr>
            <p:spPr>
              <a:xfrm>
                <a:off x="2084781" y="273189"/>
                <a:ext cx="3745306" cy="7151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rgbClr val="000000"/>
                    </a:solidFill>
                  </a:rPr>
                  <a:t>软件危机</a:t>
                </a:r>
                <a:endParaRPr sz="4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36" name="矩形 11"/>
              <p:cNvSpPr txBox="1"/>
              <p:nvPr/>
            </p:nvSpPr>
            <p:spPr>
              <a:xfrm>
                <a:off x="0" y="148788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02</a:t>
                </a:r>
              </a:p>
            </p:txBody>
          </p:sp>
        </p:grpSp>
        <p:grpSp>
          <p:nvGrpSpPr>
            <p:cNvPr id="141" name="成组"/>
            <p:cNvGrpSpPr/>
            <p:nvPr/>
          </p:nvGrpSpPr>
          <p:grpSpPr>
            <a:xfrm>
              <a:off x="9136451" y="5960059"/>
              <a:ext cx="5830088" cy="1343465"/>
              <a:chOff x="0" y="0"/>
              <a:chExt cx="5830087" cy="1343464"/>
            </a:xfrm>
          </p:grpSpPr>
          <p:sp>
            <p:nvSpPr>
              <p:cNvPr id="138" name="矩形 5"/>
              <p:cNvSpPr txBox="1"/>
              <p:nvPr/>
            </p:nvSpPr>
            <p:spPr>
              <a:xfrm>
                <a:off x="2084781" y="299174"/>
                <a:ext cx="3745306" cy="7451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r>
                  <a:rPr lang="zh-CN" altLang="en-US" sz="4400" dirty="0">
                    <a:solidFill>
                      <a:schemeClr val="tx1"/>
                    </a:solidFill>
                  </a:rPr>
                  <a:t>软件测试</a:t>
                </a:r>
                <a:endParaRPr sz="4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0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t>03</a:t>
                </a:r>
              </a:p>
            </p:txBody>
          </p:sp>
        </p:grpSp>
        <p:grpSp>
          <p:nvGrpSpPr>
            <p:cNvPr id="145" name="成组"/>
            <p:cNvGrpSpPr/>
            <p:nvPr/>
          </p:nvGrpSpPr>
          <p:grpSpPr>
            <a:xfrm>
              <a:off x="9136451" y="7814106"/>
              <a:ext cx="6206757" cy="1343465"/>
              <a:chOff x="0" y="0"/>
              <a:chExt cx="6206756" cy="1343464"/>
            </a:xfrm>
          </p:grpSpPr>
          <p:sp>
            <p:nvSpPr>
              <p:cNvPr id="142" name="矩形 5"/>
              <p:cNvSpPr txBox="1"/>
              <p:nvPr/>
            </p:nvSpPr>
            <p:spPr>
              <a:xfrm>
                <a:off x="1668153" y="299174"/>
                <a:ext cx="4538603" cy="6013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>
                <a:lvl1pPr defTabSz="914400">
                  <a:defRPr sz="3600" b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lvl1pPr>
              </a:lstStyle>
              <a:p>
                <a:pPr algn="l"/>
                <a:endParaRPr dirty="0"/>
              </a:p>
            </p:txBody>
          </p:sp>
          <p:sp>
            <p:nvSpPr>
              <p:cNvPr id="143" name="Freeform 5"/>
              <p:cNvSpPr/>
              <p:nvPr/>
            </p:nvSpPr>
            <p:spPr>
              <a:xfrm rot="5400000">
                <a:off x="107376" y="66017"/>
                <a:ext cx="1343464" cy="1211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3" extrusionOk="0">
                    <a:moveTo>
                      <a:pt x="16957" y="20435"/>
                    </a:moveTo>
                    <a:cubicBezTo>
                      <a:pt x="16775" y="20771"/>
                      <a:pt x="16523" y="21062"/>
                      <a:pt x="16200" y="21274"/>
                    </a:cubicBezTo>
                    <a:cubicBezTo>
                      <a:pt x="15861" y="21495"/>
                      <a:pt x="15491" y="21592"/>
                      <a:pt x="15120" y="21583"/>
                    </a:cubicBezTo>
                    <a:lnTo>
                      <a:pt x="6433" y="21583"/>
                    </a:lnTo>
                    <a:cubicBezTo>
                      <a:pt x="6086" y="21583"/>
                      <a:pt x="5723" y="21486"/>
                      <a:pt x="5400" y="21274"/>
                    </a:cubicBezTo>
                    <a:cubicBezTo>
                      <a:pt x="5077" y="21062"/>
                      <a:pt x="4817" y="20771"/>
                      <a:pt x="4643" y="20426"/>
                    </a:cubicBezTo>
                    <a:lnTo>
                      <a:pt x="284" y="11966"/>
                    </a:lnTo>
                    <a:cubicBezTo>
                      <a:pt x="102" y="11622"/>
                      <a:pt x="0" y="11225"/>
                      <a:pt x="0" y="10792"/>
                    </a:cubicBezTo>
                    <a:cubicBezTo>
                      <a:pt x="0" y="10359"/>
                      <a:pt x="102" y="9962"/>
                      <a:pt x="284" y="9609"/>
                    </a:cubicBezTo>
                    <a:lnTo>
                      <a:pt x="4627" y="1184"/>
                    </a:lnTo>
                    <a:cubicBezTo>
                      <a:pt x="4809" y="840"/>
                      <a:pt x="5069" y="531"/>
                      <a:pt x="5400" y="319"/>
                    </a:cubicBezTo>
                    <a:cubicBezTo>
                      <a:pt x="5707" y="116"/>
                      <a:pt x="6046" y="10"/>
                      <a:pt x="6385" y="1"/>
                    </a:cubicBezTo>
                    <a:lnTo>
                      <a:pt x="15104" y="1"/>
                    </a:lnTo>
                    <a:cubicBezTo>
                      <a:pt x="15475" y="-8"/>
                      <a:pt x="15853" y="89"/>
                      <a:pt x="16200" y="319"/>
                    </a:cubicBezTo>
                    <a:cubicBezTo>
                      <a:pt x="16523" y="522"/>
                      <a:pt x="16783" y="813"/>
                      <a:pt x="16957" y="1158"/>
                    </a:cubicBezTo>
                    <a:lnTo>
                      <a:pt x="21300" y="9582"/>
                    </a:lnTo>
                    <a:cubicBezTo>
                      <a:pt x="21490" y="9935"/>
                      <a:pt x="21600" y="10350"/>
                      <a:pt x="21600" y="10792"/>
                    </a:cubicBezTo>
                    <a:cubicBezTo>
                      <a:pt x="21600" y="11242"/>
                      <a:pt x="21490" y="11657"/>
                      <a:pt x="21293" y="12011"/>
                    </a:cubicBezTo>
                    <a:lnTo>
                      <a:pt x="16957" y="20435"/>
                    </a:lnTo>
                    <a:close/>
                  </a:path>
                </a:pathLst>
              </a:custGeom>
              <a:solidFill>
                <a:srgbClr val="A8271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914400">
                  <a:defRPr sz="48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</a:p>
            </p:txBody>
          </p:sp>
          <p:sp>
            <p:nvSpPr>
              <p:cNvPr id="144" name="矩形 11"/>
              <p:cNvSpPr txBox="1"/>
              <p:nvPr/>
            </p:nvSpPr>
            <p:spPr>
              <a:xfrm>
                <a:off x="0" y="189733"/>
                <a:ext cx="1558216" cy="963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>
                <a:lvl1pPr defTabSz="914400">
                  <a:defRPr sz="4600" b="0">
                    <a:solidFill>
                      <a:srgbClr val="FFFFFF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r>
                  <a:rPr dirty="0"/>
                  <a:t>04</a:t>
                </a:r>
                <a:endParaRPr dirty="0"/>
              </a:p>
            </p:txBody>
          </p:sp>
        </p:grpSp>
        <p:sp>
          <p:nvSpPr>
            <p:cNvPr id="146" name="矩形 5"/>
            <p:cNvSpPr txBox="1"/>
            <p:nvPr/>
          </p:nvSpPr>
          <p:spPr>
            <a:xfrm>
              <a:off x="11221232" y="8094359"/>
              <a:ext cx="2422359" cy="7829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FF0000"/>
                  </a:solidFill>
                </a:rPr>
                <a:t>小结</a:t>
              </a:r>
              <a:endParaRPr sz="44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347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37295" y="4044456"/>
            <a:ext cx="1172628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软件缺陷危害严重但无法完全避免</a:t>
            </a:r>
            <a:endParaRPr lang="en-US" altLang="zh-CN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66172" y="5985198"/>
            <a:ext cx="163429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软件规模和复杂性的增长是软件缺陷的根本原因</a:t>
            </a:r>
            <a:endParaRPr lang="en-US" altLang="zh-CN" sz="6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15493" y="7925940"/>
            <a:ext cx="163429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软件测试是目前解决软件缺陷问题的最有效途径</a:t>
            </a:r>
            <a:endParaRPr lang="en-US" altLang="zh-CN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8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4</a:t>
            </a:r>
            <a:endParaRPr dirty="0"/>
          </a:p>
        </p:txBody>
      </p:sp>
    </p:spTree>
  </p:cSld>
  <p:clrMapOvr>
    <a:masterClrMapping/>
  </p:clrMapOvr>
  <p:transition spd="med" advTm="312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4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IMING" val="|52.5"/>
</p:tagLst>
</file>

<file path=ppt/tags/tag3.xml><?xml version="1.0" encoding="utf-8"?>
<p:tagLst xmlns:p="http://schemas.openxmlformats.org/presentationml/2006/main">
  <p:tag name="TIMING" val="|36.2"/>
</p:tagLst>
</file>

<file path=ppt/tags/tag4.xml><?xml version="1.0" encoding="utf-8"?>
<p:tagLst xmlns:p="http://schemas.openxmlformats.org/presentationml/2006/main">
  <p:tag name="TIMING" val="|1.4|30.1|32.1|106.1"/>
</p:tagLst>
</file>

<file path=ppt/tags/tag5.xml><?xml version="1.0" encoding="utf-8"?>
<p:tagLst xmlns:p="http://schemas.openxmlformats.org/presentationml/2006/main">
  <p:tag name="TIMING" val="|127.4"/>
</p:tagLst>
</file>

<file path=ppt/tags/tag6.xml><?xml version="1.0" encoding="utf-8"?>
<p:tagLst xmlns:p="http://schemas.openxmlformats.org/presentationml/2006/main">
  <p:tag name="TIMING" val="|1.7"/>
</p:tagLst>
</file>

<file path=ppt/tags/tag7.xml><?xml version="1.0" encoding="utf-8"?>
<p:tagLst xmlns:p="http://schemas.openxmlformats.org/presentationml/2006/main">
  <p:tag name="TIMING" val="|0.9|3.7|5.2|1.1"/>
</p:tagLst>
</file>

<file path=ppt/tags/tag8.xml><?xml version="1.0" encoding="utf-8"?>
<p:tagLst xmlns:p="http://schemas.openxmlformats.org/presentationml/2006/main">
  <p:tag name="TIMING" val="|6.9"/>
</p:tagLst>
</file>

<file path=ppt/tags/tag9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hite">
    <a:dk1>
      <a:srgbClr val="000000"/>
    </a:dk1>
    <a:lt1>
      <a:srgbClr val="FFFFFF"/>
    </a:lt1>
    <a:dk2>
      <a:srgbClr val="5E5E5E"/>
    </a:dk2>
    <a:lt2>
      <a:srgbClr val="D5D5D5"/>
    </a:lt2>
    <a:accent1>
      <a:srgbClr val="00A2FF"/>
    </a:accent1>
    <a:accent2>
      <a:srgbClr val="16E7CF"/>
    </a:accent2>
    <a:accent3>
      <a:srgbClr val="61D836"/>
    </a:accent3>
    <a:accent4>
      <a:srgbClr val="FAE232"/>
    </a:accent4>
    <a:accent5>
      <a:srgbClr val="FF644E"/>
    </a:accent5>
    <a:accent6>
      <a:srgbClr val="EF5FA7"/>
    </a:accent6>
    <a:hlink>
      <a:srgbClr val="0000FF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White">
    <a:dk1>
      <a:srgbClr val="000000"/>
    </a:dk1>
    <a:lt1>
      <a:srgbClr val="FFFFFF"/>
    </a:lt1>
    <a:dk2>
      <a:srgbClr val="5E5E5E"/>
    </a:dk2>
    <a:lt2>
      <a:srgbClr val="D5D5D5"/>
    </a:lt2>
    <a:accent1>
      <a:srgbClr val="00A2FF"/>
    </a:accent1>
    <a:accent2>
      <a:srgbClr val="16E7CF"/>
    </a:accent2>
    <a:accent3>
      <a:srgbClr val="61D836"/>
    </a:accent3>
    <a:accent4>
      <a:srgbClr val="FAE232"/>
    </a:accent4>
    <a:accent5>
      <a:srgbClr val="FF644E"/>
    </a:accent5>
    <a:accent6>
      <a:srgbClr val="EF5FA7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WPS 演示</Application>
  <PresentationFormat>Custom</PresentationFormat>
  <Paragraphs>374</Paragraphs>
  <Slides>34</Slides>
  <Notes>34</Notes>
  <HiddenSlides>0</HiddenSlides>
  <MMClips>34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8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AMGDT</vt:lpstr>
      <vt:lpstr>Arial Black</vt:lpstr>
      <vt:lpstr>楷体</vt:lpstr>
      <vt:lpstr>华文行楷</vt:lpstr>
      <vt:lpstr>等线</vt:lpstr>
      <vt:lpstr>-apple-system</vt:lpstr>
      <vt:lpstr>Times New Roman</vt:lpstr>
      <vt:lpstr>华文楷体</vt:lpstr>
      <vt:lpstr>Arial Unicode MS</vt:lpstr>
      <vt:lpstr>Roboto</vt:lpstr>
      <vt:lpstr>Cambria</vt:lpstr>
      <vt:lpstr>Cambria Math</vt:lpstr>
      <vt:lpstr>White</vt:lpstr>
      <vt:lpstr>PowerPoint 演示文稿</vt:lpstr>
      <vt:lpstr>PowerPoint 演示文稿</vt:lpstr>
      <vt:lpstr>PowerPoint 演示文稿</vt:lpstr>
      <vt:lpstr>软件缺陷</vt:lpstr>
      <vt:lpstr>软件缺陷</vt:lpstr>
      <vt:lpstr>软件缺陷</vt:lpstr>
      <vt:lpstr>软件缺陷—小结</vt:lpstr>
      <vt:lpstr>PowerPoint 演示文稿</vt:lpstr>
      <vt:lpstr>软件危机</vt:lpstr>
      <vt:lpstr>2020年德国大众深陷“软件门”</vt:lpstr>
      <vt:lpstr>2020年德国大众深陷“软件门”</vt:lpstr>
      <vt:lpstr>大规模复杂软件</vt:lpstr>
      <vt:lpstr>软件危机 </vt:lpstr>
      <vt:lpstr>软件危机 </vt:lpstr>
      <vt:lpstr>软件危机 </vt:lpstr>
      <vt:lpstr>银弹假说</vt:lpstr>
      <vt:lpstr>银弹假说</vt:lpstr>
      <vt:lpstr>软件危机</vt:lpstr>
      <vt:lpstr>软件危机—小结</vt:lpstr>
      <vt:lpstr>PowerPoint 演示文稿</vt:lpstr>
      <vt:lpstr>软件测试的引入</vt:lpstr>
      <vt:lpstr>软件测试定义</vt:lpstr>
      <vt:lpstr>软件测试定义</vt:lpstr>
      <vt:lpstr>软件测试定义</vt:lpstr>
      <vt:lpstr>软件缺陷的定义</vt:lpstr>
      <vt:lpstr>软件缺陷的定义</vt:lpstr>
      <vt:lpstr>软件缺陷的定义</vt:lpstr>
      <vt:lpstr>软件缺陷的定义</vt:lpstr>
      <vt:lpstr>软件缺陷的产生的原因</vt:lpstr>
      <vt:lpstr>软件缺陷构成 </vt:lpstr>
      <vt:lpstr>缺陷修复成本</vt:lpstr>
      <vt:lpstr>PowerPoint 演示文稿</vt:lpstr>
      <vt:lpstr>课堂小结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165</cp:revision>
  <cp:lastPrinted>2020-08-01T02:11:00Z</cp:lastPrinted>
  <dcterms:created xsi:type="dcterms:W3CDTF">2019-05-10T09:49:00Z</dcterms:created>
  <dcterms:modified xsi:type="dcterms:W3CDTF">2023-10-14T04:18:44Z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6E6CFAEA5DFF4AAEBDB00D31467F7C2B_12</vt:lpwstr>
  </property>
</Properties>
</file>