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5"/>
  </p:handoutMasterIdLst>
  <p:sldIdLst>
    <p:sldId id="256" r:id="rId3"/>
    <p:sldId id="670" r:id="rId5"/>
    <p:sldId id="671" r:id="rId6"/>
    <p:sldId id="325" r:id="rId7"/>
    <p:sldId id="667" r:id="rId8"/>
    <p:sldId id="668" r:id="rId9"/>
    <p:sldId id="669" r:id="rId10"/>
    <p:sldId id="672" r:id="rId11"/>
    <p:sldId id="673" r:id="rId12"/>
    <p:sldId id="674" r:id="rId13"/>
    <p:sldId id="676" r:id="rId14"/>
    <p:sldId id="675" r:id="rId15"/>
    <p:sldId id="677" r:id="rId16"/>
    <p:sldId id="678" r:id="rId17"/>
    <p:sldId id="679" r:id="rId18"/>
    <p:sldId id="680" r:id="rId19"/>
    <p:sldId id="681" r:id="rId20"/>
    <p:sldId id="682" r:id="rId21"/>
    <p:sldId id="683" r:id="rId22"/>
    <p:sldId id="684" r:id="rId23"/>
    <p:sldId id="336" r:id="rId24"/>
  </p:sldIdLst>
  <p:sldSz cx="24384000" cy="13716000"/>
  <p:notesSz cx="7099300" cy="10234295"/>
  <p:custDataLst>
    <p:tags r:id="rId30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jiamin" initials="lj" lastIdx="39" clrIdx="0"/>
  <p:cmAuthor id="2" name="li weiyong" initials="lw" lastIdx="2" clrIdx="1"/>
  <p:cmAuthor id="3" name="Jiang, Yanjie" initials="JY" lastIdx="3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00A2FF"/>
    <a:srgbClr val="FB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21" autoAdjust="0"/>
    <p:restoredTop sz="70482" autoAdjust="0"/>
  </p:normalViewPr>
  <p:slideViewPr>
    <p:cSldViewPr snapToGrid="0">
      <p:cViewPr varScale="1">
        <p:scale>
          <a:sx n="34" d="100"/>
          <a:sy n="34" d="100"/>
        </p:scale>
        <p:origin x="1733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ableStyles" Target="tableStyles.xml"/><Relationship Id="rId29" Type="http://schemas.openxmlformats.org/officeDocument/2006/relationships/commentAuthors" Target="commentAuthors.xml"/><Relationship Id="rId30" Type="http://schemas.openxmlformats.org/officeDocument/2006/relationships/tags" Target="tags/tag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3167F-A315-463C-854D-5832BFB9F1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EDDE74-10D5-4A7E-A68A-C1E3935360A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  <p:sp>
        <p:nvSpPr>
          <p:cNvPr id="120" name="Shape 120"/>
          <p:cNvSpPr>
            <a:spLocks noGrp="1"/>
          </p:cNvSpPr>
          <p:nvPr>
            <p:ph type="body" sz="quarter" idx="1"/>
          </p:nvPr>
        </p:nvSpPr>
        <p:spPr>
          <a:xfrm>
            <a:off x="946574" y="4861443"/>
            <a:ext cx="5206154" cy="4605576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4600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1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"/>
          <p:cNvSpPr/>
          <p:nvPr userDrawn="1"/>
        </p:nvSpPr>
        <p:spPr>
          <a:xfrm>
            <a:off x="-9547" y="-22321"/>
            <a:ext cx="24403094" cy="7745139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pic>
        <p:nvPicPr>
          <p:cNvPr id="13" name="图像" descr="图像"/>
          <p:cNvPicPr>
            <a:picLocks noChangeAspect="1"/>
          </p:cNvPicPr>
          <p:nvPr/>
        </p:nvPicPr>
        <p:blipFill>
          <a:blip r:embed="rId2">
            <a:alphaModFix amt="12036"/>
          </a:blip>
          <a:stretch>
            <a:fillRect/>
          </a:stretch>
        </p:blipFill>
        <p:spPr>
          <a:xfrm>
            <a:off x="16934791" y="-3756403"/>
            <a:ext cx="8496110" cy="97495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44575" y="3030621"/>
            <a:ext cx="22368743" cy="872033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0" name="谢谢您的观赏"/>
          <p:cNvSpPr txBox="1"/>
          <p:nvPr userDrawn="1"/>
        </p:nvSpPr>
        <p:spPr>
          <a:xfrm>
            <a:off x="7863358" y="4360818"/>
            <a:ext cx="8191345" cy="394774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9600" dirty="0"/>
              <a:t>谢谢</a:t>
            </a:r>
            <a:endParaRPr lang="en-US" altLang="zh-CN" sz="9600" dirty="0"/>
          </a:p>
          <a:p>
            <a:pPr algn="ctr">
              <a:lnSpc>
                <a:spcPct val="150000"/>
              </a:lnSpc>
            </a:pPr>
            <a:r>
              <a:rPr lang="en-US" sz="8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www.ictedu.com</a:t>
            </a:r>
            <a:endParaRPr sz="8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9" name="正文级别 1…"/>
          <p:cNvSpPr txBox="1">
            <a:spLocks noGrp="1"/>
          </p:cNvSpPr>
          <p:nvPr>
            <p:ph idx="1" hasCustomPrompt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en-US" altLang="zh-CN" dirty="0" err="1"/>
              <a:t>gmail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000" b="1" i="0" u="none" strike="noStrike" cap="none" spc="0" baseline="0">
          <a:ln>
            <a:noFill/>
          </a:ln>
          <a:solidFill>
            <a:srgbClr val="000000"/>
          </a:solidFill>
          <a:uFillTx/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tags" Target="../tags/tag2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tags" Target="../tags/tag3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4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5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tags" Target="../tags/tag6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tags" Target="../tags/tag7.xm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jpeg"/><Relationship Id="rId3" Type="http://schemas.openxmlformats.org/officeDocument/2006/relationships/image" Target="../media/image14.png"/><Relationship Id="rId6" Type="http://schemas.openxmlformats.org/officeDocument/2006/relationships/image" Target="../media/image3.png"/><Relationship Id="rId7" Type="http://schemas.openxmlformats.org/officeDocument/2006/relationships/tags" Target="../tags/tag8.xm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9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4" Type="http://schemas.openxmlformats.org/officeDocument/2006/relationships/image" Target="../media/image3.png"/><Relationship Id="rId5" Type="http://schemas.openxmlformats.org/officeDocument/2006/relationships/tags" Target="../tags/tag10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4" Type="http://schemas.openxmlformats.org/officeDocument/2006/relationships/image" Target="../media/image3.png"/><Relationship Id="rId5" Type="http://schemas.openxmlformats.org/officeDocument/2006/relationships/tags" Target="../tags/tag11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2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1.png"/><Relationship Id="rId3" Type="http://schemas.openxmlformats.org/officeDocument/2006/relationships/image" Target="../media/image17.png"/><Relationship Id="rId4" Type="http://schemas.openxmlformats.org/officeDocument/2006/relationships/image" Target="../media/image18.svg"/><Relationship Id="rId7" Type="http://schemas.openxmlformats.org/officeDocument/2006/relationships/image" Target="../media/image3.png"/><Relationship Id="rId8" Type="http://schemas.openxmlformats.org/officeDocument/2006/relationships/tags" Target="../tags/tag13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image" Target="../media/image20.jpeg"/><Relationship Id="rId5" Type="http://schemas.openxmlformats.org/officeDocument/2006/relationships/image" Target="../media/image3.png"/><Relationship Id="rId6" Type="http://schemas.openxmlformats.org/officeDocument/2006/relationships/tags" Target="../tags/tag14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5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主标题：替换文字、加粗"/>
          <p:cNvSpPr txBox="1"/>
          <p:nvPr/>
        </p:nvSpPr>
        <p:spPr>
          <a:xfrm>
            <a:off x="1217066" y="5534660"/>
            <a:ext cx="12217400" cy="173228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 defTabSz="107950" hangingPunct="0"/>
            <a:r>
              <a:rPr lang="zh-CN" altLang="en-US" dirty="0">
                <a:sym typeface="+mn-ea"/>
              </a:rPr>
              <a:t>软件质量保证与测试</a:t>
            </a:r>
            <a:endParaRPr dirty="0"/>
          </a:p>
        </p:txBody>
      </p:sp>
      <p:sp>
        <p:nvSpPr>
          <p:cNvPr id="123" name="专业技能培养云/职业技能实践云/创新成果转化云"/>
          <p:cNvSpPr txBox="1"/>
          <p:nvPr/>
        </p:nvSpPr>
        <p:spPr>
          <a:xfrm>
            <a:off x="1217066" y="8199240"/>
            <a:ext cx="6803144" cy="102592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algn="l" defTabSz="215265">
              <a:defRPr sz="6000" b="0">
                <a:latin typeface="MicrosoftYaHeiLight"/>
                <a:ea typeface="MicrosoftYaHeiLight"/>
                <a:cs typeface="MicrosoftYaHeiLight"/>
                <a:sym typeface="MicrosoftYaHeiLight"/>
              </a:defRPr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8.2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智能软件的测试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1073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3163977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智能软件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sp>
        <p:nvSpPr>
          <p:cNvPr id="134" name="矩形 5"/>
          <p:cNvSpPr txBox="1"/>
          <p:nvPr/>
        </p:nvSpPr>
        <p:spPr>
          <a:xfrm>
            <a:off x="11263349" y="5291213"/>
            <a:ext cx="5682868" cy="71519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tx1"/>
                </a:solidFill>
              </a:rPr>
              <a:t>智能软件的测试</a:t>
            </a: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135" name="Freeform 5"/>
          <p:cNvSpPr/>
          <p:nvPr/>
        </p:nvSpPr>
        <p:spPr>
          <a:xfrm rot="5400000">
            <a:off x="9259567" y="5071805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36" name="矩形 11"/>
          <p:cNvSpPr txBox="1"/>
          <p:nvPr/>
        </p:nvSpPr>
        <p:spPr>
          <a:xfrm>
            <a:off x="9136452" y="5166812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sp>
        <p:nvSpPr>
          <p:cNvPr id="138" name="矩形 5"/>
          <p:cNvSpPr txBox="1"/>
          <p:nvPr/>
        </p:nvSpPr>
        <p:spPr>
          <a:xfrm>
            <a:off x="11263350" y="7171246"/>
            <a:ext cx="7273128" cy="692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tx1"/>
                </a:solidFill>
              </a:rPr>
              <a:t>小结</a:t>
            </a: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925852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0" name="矩形 11"/>
          <p:cNvSpPr txBox="1"/>
          <p:nvPr/>
        </p:nvSpPr>
        <p:spPr>
          <a:xfrm>
            <a:off x="9136452" y="7061804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03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1956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3163977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b="1" dirty="0">
                  <a:solidFill>
                    <a:srgbClr val="FF0000"/>
                  </a:solidFill>
                </a:rPr>
                <a:t>智能软件</a:t>
              </a:r>
              <a:endParaRPr lang="zh-CN" altLang="en-US"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sp>
        <p:nvSpPr>
          <p:cNvPr id="134" name="矩形 5"/>
          <p:cNvSpPr txBox="1"/>
          <p:nvPr/>
        </p:nvSpPr>
        <p:spPr>
          <a:xfrm>
            <a:off x="11263349" y="5291213"/>
            <a:ext cx="5682868" cy="71519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tx1"/>
                </a:solidFill>
              </a:rPr>
              <a:t>智能软件的测试</a:t>
            </a: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135" name="Freeform 5"/>
          <p:cNvSpPr/>
          <p:nvPr/>
        </p:nvSpPr>
        <p:spPr>
          <a:xfrm rot="5400000">
            <a:off x="9259567" y="5071805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36" name="矩形 11"/>
          <p:cNvSpPr txBox="1"/>
          <p:nvPr/>
        </p:nvSpPr>
        <p:spPr>
          <a:xfrm>
            <a:off x="9136452" y="5166812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sp>
        <p:nvSpPr>
          <p:cNvPr id="138" name="矩形 5"/>
          <p:cNvSpPr txBox="1"/>
          <p:nvPr/>
        </p:nvSpPr>
        <p:spPr>
          <a:xfrm>
            <a:off x="11263350" y="7171246"/>
            <a:ext cx="7273128" cy="692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tx1"/>
                </a:solidFill>
              </a:rPr>
              <a:t>小结</a:t>
            </a: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925852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0" name="矩形 11"/>
          <p:cNvSpPr txBox="1"/>
          <p:nvPr/>
        </p:nvSpPr>
        <p:spPr>
          <a:xfrm>
            <a:off x="9136452" y="7061804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03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622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69" y="2918377"/>
            <a:ext cx="18957259" cy="1033724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人工智能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是研究、开发用于模拟、延伸和扩展人的智能的理论、方法、技术及应用系统的一门新的技术科学。</a:t>
            </a:r>
            <a:endParaRPr lang="en-US" altLang="zh-CN" sz="4800" dirty="0"/>
          </a:p>
          <a:p>
            <a:r>
              <a:rPr lang="zh-CN" altLang="en-US" sz="4800" b="1" dirty="0"/>
              <a:t>人工智能的载体</a:t>
            </a:r>
            <a:endParaRPr lang="en-US" altLang="zh-CN" sz="4800" b="1" dirty="0"/>
          </a:p>
          <a:p>
            <a:pPr lvl="2"/>
            <a:r>
              <a:rPr lang="zh-CN" altLang="en-US" dirty="0"/>
              <a:t>智能机器人</a:t>
            </a:r>
            <a:endParaRPr lang="en-US" altLang="zh-CN" sz="4400" dirty="0"/>
          </a:p>
          <a:p>
            <a:pPr lvl="2"/>
            <a:r>
              <a:rPr lang="zh-CN" altLang="en-US" dirty="0"/>
              <a:t>汽车</a:t>
            </a:r>
            <a:endParaRPr lang="en-US" altLang="zh-CN" dirty="0"/>
          </a:p>
          <a:p>
            <a:pPr lvl="2"/>
            <a:r>
              <a:rPr lang="zh-CN" altLang="en-US" dirty="0"/>
              <a:t>手机</a:t>
            </a:r>
            <a:endParaRPr lang="en-US" altLang="zh-CN" dirty="0"/>
          </a:p>
          <a:p>
            <a:pPr lvl="2"/>
            <a:r>
              <a:rPr lang="zh-CN" altLang="en-US" dirty="0"/>
              <a:t>扫地机</a:t>
            </a:r>
            <a:endParaRPr lang="en-US" altLang="zh-CN" dirty="0"/>
          </a:p>
          <a:p>
            <a:pPr lvl="2"/>
            <a:r>
              <a:rPr lang="zh-CN" altLang="en-US" dirty="0"/>
              <a:t>空调</a:t>
            </a:r>
            <a:endParaRPr lang="en-US" altLang="zh-CN" dirty="0"/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智能软件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pic>
        <p:nvPicPr>
          <p:cNvPr id="1028" name="Picture 4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2868" y="6984505"/>
            <a:ext cx="4479472" cy="6515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7961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69" y="2918377"/>
            <a:ext cx="18957259" cy="955665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智能软件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所见全是硬件，本身全无智能</a:t>
            </a:r>
            <a:endParaRPr lang="en-US" altLang="zh-CN" sz="4800" dirty="0"/>
          </a:p>
          <a:p>
            <a:pPr lvl="2"/>
            <a:r>
              <a:rPr lang="zh-CN" altLang="en-US" sz="4800" dirty="0"/>
              <a:t>智能的真正载体，是智能软件。</a:t>
            </a:r>
            <a:endParaRPr lang="en-US" altLang="zh-CN" sz="4800" dirty="0"/>
          </a:p>
          <a:p>
            <a:pPr lvl="3">
              <a:spcBef>
                <a:spcPts val="600"/>
              </a:spcBef>
            </a:pP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spcBef>
                <a:spcPts val="600"/>
              </a:spcBef>
            </a:pP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endParaRPr lang="en-US" altLang="zh-CN" sz="5600" dirty="0"/>
          </a:p>
          <a:p>
            <a:endParaRPr lang="en-US" altLang="zh-CN" dirty="0"/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智能软件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pic>
        <p:nvPicPr>
          <p:cNvPr id="2050" name="Picture 2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5915" y="5944108"/>
            <a:ext cx="11669485" cy="7555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ee the source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92" r="26479"/>
          <a:stretch>
            <a:fillRect/>
          </a:stretch>
        </p:blipFill>
        <p:spPr bwMode="auto">
          <a:xfrm>
            <a:off x="18153704" y="1423306"/>
            <a:ext cx="4484914" cy="947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 spd="med" advTm="10672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69" y="2918377"/>
            <a:ext cx="18957259" cy="1033724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人工智能本质是一种软件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人工智能的测试，本质上是一种特殊的软件测试。</a:t>
            </a:r>
            <a:endParaRPr lang="en-US" altLang="zh-CN" sz="4800" dirty="0"/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智能软件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pic>
        <p:nvPicPr>
          <p:cNvPr id="3074" name="Picture 2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714" y="6858000"/>
            <a:ext cx="10353675" cy="603615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3043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3163977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智能软件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sp>
        <p:nvSpPr>
          <p:cNvPr id="134" name="矩形 5"/>
          <p:cNvSpPr txBox="1"/>
          <p:nvPr/>
        </p:nvSpPr>
        <p:spPr>
          <a:xfrm>
            <a:off x="11263349" y="5291213"/>
            <a:ext cx="5682868" cy="71519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b="1" dirty="0">
                <a:solidFill>
                  <a:srgbClr val="FF0000"/>
                </a:solidFill>
              </a:rPr>
              <a:t>测试智能软件</a:t>
            </a:r>
            <a:endParaRPr sz="4400" b="1" dirty="0">
              <a:solidFill>
                <a:srgbClr val="FF0000"/>
              </a:solidFill>
            </a:endParaRPr>
          </a:p>
        </p:txBody>
      </p:sp>
      <p:sp>
        <p:nvSpPr>
          <p:cNvPr id="135" name="Freeform 5"/>
          <p:cNvSpPr/>
          <p:nvPr/>
        </p:nvSpPr>
        <p:spPr>
          <a:xfrm rot="5400000">
            <a:off x="9259567" y="5071805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36" name="矩形 11"/>
          <p:cNvSpPr txBox="1"/>
          <p:nvPr/>
        </p:nvSpPr>
        <p:spPr>
          <a:xfrm>
            <a:off x="9136452" y="5166812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sp>
        <p:nvSpPr>
          <p:cNvPr id="138" name="矩形 5"/>
          <p:cNvSpPr txBox="1"/>
          <p:nvPr/>
        </p:nvSpPr>
        <p:spPr>
          <a:xfrm>
            <a:off x="11263350" y="7171246"/>
            <a:ext cx="7273128" cy="692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tx1"/>
                </a:solidFill>
              </a:rPr>
              <a:t>小结</a:t>
            </a: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925852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0" name="矩形 11"/>
          <p:cNvSpPr txBox="1"/>
          <p:nvPr/>
        </p:nvSpPr>
        <p:spPr>
          <a:xfrm>
            <a:off x="9136452" y="7061804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03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213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69" y="2918377"/>
            <a:ext cx="18957259" cy="835922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测试智能软件的难点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智能软件的代码非常少，而且高度标准化。</a:t>
            </a:r>
            <a:endParaRPr lang="en-US" altLang="zh-CN" sz="4800" dirty="0"/>
          </a:p>
          <a:p>
            <a:pPr lvl="2"/>
            <a:r>
              <a:rPr lang="zh-CN" altLang="en-US" sz="4800" dirty="0"/>
              <a:t>写错代码的概率并不大</a:t>
            </a:r>
            <a:endParaRPr lang="en-US" altLang="zh-CN" sz="4800" dirty="0"/>
          </a:p>
          <a:p>
            <a:pPr lvl="3">
              <a:spcBef>
                <a:spcPts val="600"/>
              </a:spcBef>
            </a:pP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智能软件开发中，从设计到实现的转换出错的概率很小。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spcBef>
                <a:spcPts val="600"/>
              </a:spcBef>
            </a:pP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传统软件开发中，设计到实现具有巨大的鸿沟，要编写海量的代码，出错的概率大。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4800" dirty="0"/>
              <a:t>高度依赖于训练</a:t>
            </a:r>
            <a:r>
              <a:rPr lang="en-US" altLang="zh-CN" sz="4800" dirty="0"/>
              <a:t>/</a:t>
            </a:r>
            <a:r>
              <a:rPr lang="zh-CN" altLang="en-US" sz="4800" dirty="0"/>
              <a:t>测试数据</a:t>
            </a:r>
            <a:endParaRPr lang="en-US" altLang="zh-CN" sz="4800" dirty="0"/>
          </a:p>
          <a:p>
            <a:pPr lvl="3">
              <a:spcBef>
                <a:spcPts val="600"/>
              </a:spcBef>
            </a:pP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传统软件的业务逻辑蕴含于实现（代码）而不是数据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测试智能软件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27558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69" y="2918377"/>
            <a:ext cx="18957259" cy="835922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测试的重点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智能软件：设计和数据</a:t>
            </a:r>
            <a:endParaRPr lang="en-US" altLang="zh-CN" sz="4800" dirty="0"/>
          </a:p>
          <a:p>
            <a:pPr lvl="3">
              <a:spcBef>
                <a:spcPts val="600"/>
              </a:spcBef>
            </a:pPr>
            <a:r>
              <a:rPr lang="zh-CN" altLang="en-US" sz="40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技术路径</a:t>
            </a:r>
            <a:endParaRPr lang="en-US" altLang="zh-CN" sz="40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spcBef>
                <a:spcPts val="600"/>
              </a:spcBef>
            </a:pPr>
            <a:r>
              <a:rPr lang="zh-CN" altLang="en-US" sz="40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en-US" altLang="zh-CN" sz="40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spcBef>
                <a:spcPts val="600"/>
              </a:spcBef>
            </a:pPr>
            <a:r>
              <a:rPr lang="zh-CN" altLang="en-US" sz="40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数据规模与质量</a:t>
            </a:r>
            <a:endParaRPr lang="en-US" altLang="zh-CN" sz="40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4800" dirty="0"/>
              <a:t>传统软件：需求和实现（代码）</a:t>
            </a:r>
            <a:endParaRPr lang="en-US" altLang="zh-CN" sz="4800" dirty="0"/>
          </a:p>
          <a:p>
            <a:pPr lvl="3">
              <a:spcBef>
                <a:spcPts val="600"/>
              </a:spcBef>
            </a:pP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需求理解有误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spcBef>
                <a:spcPts val="600"/>
              </a:spcBef>
            </a:pP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代码实现有误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测试智能软件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9553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69" y="2918377"/>
            <a:ext cx="18957259" cy="835922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测试的标准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传统软件：</a:t>
            </a:r>
            <a:endParaRPr lang="en-US" altLang="zh-CN" sz="4800" dirty="0"/>
          </a:p>
          <a:p>
            <a:pPr lvl="3">
              <a:spcBef>
                <a:spcPts val="600"/>
              </a:spcBef>
            </a:pP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真实输出必须和预期输出一致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4800" dirty="0"/>
              <a:t>智能软件：</a:t>
            </a:r>
            <a:endParaRPr lang="en-US" altLang="zh-CN" sz="4800" dirty="0"/>
          </a:p>
          <a:p>
            <a:pPr lvl="3">
              <a:spcBef>
                <a:spcPts val="600"/>
              </a:spcBef>
            </a:pP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对错误有很强的容忍性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测试智能软件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pic>
        <p:nvPicPr>
          <p:cNvPr id="4098" name="Picture 2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6142" y="2244173"/>
            <a:ext cx="9629775" cy="855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1596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测试智能软件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pic>
        <p:nvPicPr>
          <p:cNvPr id="7170" name="Picture 2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7035" y="5988396"/>
            <a:ext cx="5155910" cy="2577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964" y="6058173"/>
            <a:ext cx="37719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See the source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8115" y="5769431"/>
            <a:ext cx="2860902" cy="301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 spd="med" advTm="10748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测试智能软件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pic>
        <p:nvPicPr>
          <p:cNvPr id="7176" name="Picture 8" descr="查看源图像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8" t="1530" r="20962" b="1190"/>
          <a:stretch>
            <a:fillRect/>
          </a:stretch>
        </p:blipFill>
        <p:spPr bwMode="auto">
          <a:xfrm>
            <a:off x="1251857" y="4136577"/>
            <a:ext cx="5018314" cy="6226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查看源图像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7" t="-1412" r="10299" b="168"/>
          <a:stretch>
            <a:fillRect/>
          </a:stretch>
        </p:blipFill>
        <p:spPr bwMode="auto">
          <a:xfrm>
            <a:off x="9389321" y="3970060"/>
            <a:ext cx="5413973" cy="6559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2444" y="3842663"/>
            <a:ext cx="5413972" cy="6814457"/>
          </a:xfrm>
          <a:prstGeom prst="rect">
            <a:avLst/>
          </a:prstGeom>
        </p:spPr>
      </p:pic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 spd="med" advTm="7246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测试智能软件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9962305" y="4668791"/>
            <a:ext cx="5029200" cy="1069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4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该吃饭了</a:t>
            </a:r>
            <a:endParaRPr lang="zh-CN" altLang="en-US" sz="4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41929" y="6766059"/>
            <a:ext cx="577754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It's time to have a meal</a:t>
            </a:r>
            <a:endParaRPr lang="en-US" altLang="zh-C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962305" y="8520501"/>
            <a:ext cx="40398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for dinner</a:t>
            </a:r>
            <a:endParaRPr lang="en-US" altLang="zh-C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0597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69" y="2918377"/>
            <a:ext cx="18957259" cy="835922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覆盖率测试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传统软件：</a:t>
            </a:r>
            <a:endParaRPr lang="en-US" altLang="zh-CN" sz="4800" dirty="0"/>
          </a:p>
          <a:p>
            <a:pPr lvl="3">
              <a:spcBef>
                <a:spcPts val="600"/>
              </a:spcBef>
            </a:pP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覆盖代码中的某类元素，比如语句、分支、路径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4800" dirty="0"/>
              <a:t>智能软件：</a:t>
            </a:r>
            <a:endParaRPr lang="en-US" altLang="zh-CN" sz="4800" dirty="0"/>
          </a:p>
          <a:p>
            <a:pPr lvl="3">
              <a:spcBef>
                <a:spcPts val="600"/>
              </a:spcBef>
            </a:pP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神经元和连接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测试智能软件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pic>
        <p:nvPicPr>
          <p:cNvPr id="7" name="Picture 2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8543" y="7097988"/>
            <a:ext cx="7047721" cy="5947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/>
          <p:cNvSpPr/>
          <p:nvPr/>
        </p:nvSpPr>
        <p:spPr>
          <a:xfrm rot="7064210">
            <a:off x="14243744" y="7772400"/>
            <a:ext cx="1654629" cy="576942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1" name="Arrow: Right 10"/>
          <p:cNvSpPr/>
          <p:nvPr/>
        </p:nvSpPr>
        <p:spPr>
          <a:xfrm rot="16200000">
            <a:off x="9797905" y="12131391"/>
            <a:ext cx="1441262" cy="565842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8776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69" y="2918377"/>
            <a:ext cx="11043345" cy="835922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覆盖率测试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覆盖神经元和连接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4800" dirty="0"/>
              <a:t>神经网络的学习功能就是自动判定哪些神经元、哪些连接是解决问题的关键</a:t>
            </a:r>
            <a:endParaRPr lang="en-US" altLang="zh-CN" sz="4800" dirty="0"/>
          </a:p>
          <a:p>
            <a:pPr lvl="2"/>
            <a:r>
              <a:rPr lang="zh-CN" altLang="en-US" sz="4800" dirty="0"/>
              <a:t>某些神经元和连接实际上是可以有可无的</a:t>
            </a:r>
            <a:endParaRPr lang="en-US" altLang="zh-CN" sz="4800" dirty="0"/>
          </a:p>
          <a:p>
            <a:pPr lvl="2"/>
            <a:r>
              <a:rPr lang="en-US" altLang="zh-CN" sz="4800" dirty="0"/>
              <a:t>Dropout</a:t>
            </a:r>
            <a:r>
              <a:rPr lang="zh-CN" altLang="en-US" sz="4800" dirty="0"/>
              <a:t>机制</a:t>
            </a:r>
            <a:endParaRPr lang="en-US" altLang="zh-CN" sz="4800" dirty="0"/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测试智能软件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pic>
        <p:nvPicPr>
          <p:cNvPr id="7" name="Picture 2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0372" y="4065889"/>
            <a:ext cx="7700864" cy="6498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3"/>
          <p:cNvSpPr/>
          <p:nvPr/>
        </p:nvSpPr>
        <p:spPr>
          <a:xfrm>
            <a:off x="-130627" y="12239962"/>
            <a:ext cx="243839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基于权重的覆盖率</a:t>
            </a:r>
            <a:endParaRPr lang="en-US" altLang="zh-CN" sz="6000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10620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69" y="2918377"/>
            <a:ext cx="18957259" cy="835922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差异测试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智能软件的实现代价比较小</a:t>
            </a:r>
            <a:endParaRPr lang="en-US" altLang="zh-CN" sz="4800" dirty="0"/>
          </a:p>
          <a:p>
            <a:pPr lvl="3">
              <a:spcBef>
                <a:spcPts val="600"/>
              </a:spcBef>
            </a:pP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基于标准化的机器学习库，代码量小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4800" dirty="0"/>
              <a:t>很容易基于不同的技术路径提供多个实现</a:t>
            </a:r>
            <a:endParaRPr lang="en-US" altLang="zh-CN" sz="4800" dirty="0"/>
          </a:p>
          <a:p>
            <a:pPr lvl="3">
              <a:spcBef>
                <a:spcPts val="600"/>
              </a:spcBef>
            </a:pP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spcBef>
                <a:spcPts val="600"/>
              </a:spcBef>
            </a:pP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LSTM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spcBef>
                <a:spcPts val="600"/>
              </a:spcBef>
            </a:pP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Bi-LSTM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spcBef>
                <a:spcPts val="600"/>
              </a:spcBef>
            </a:pP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全连接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测试智能软件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8278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69" y="2918377"/>
            <a:ext cx="18957259" cy="835922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差异测试</a:t>
            </a:r>
            <a:endParaRPr lang="en-US" altLang="zh-CN" sz="4800" b="1" dirty="0"/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测试智能软件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pic>
        <p:nvPicPr>
          <p:cNvPr id="7" name="Picture 4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0224" y="1183597"/>
            <a:ext cx="1567936" cy="3323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512" y="5590045"/>
            <a:ext cx="2860902" cy="301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phic 4" descr="Line arrow Straight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492504">
            <a:off x="8042779" y="3692794"/>
            <a:ext cx="4444212" cy="914400"/>
          </a:xfrm>
          <a:prstGeom prst="rect">
            <a:avLst/>
          </a:prstGeom>
        </p:spPr>
      </p:pic>
      <p:pic>
        <p:nvPicPr>
          <p:cNvPr id="13" name="Graphic 12" descr="Line arrow Straight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5587172" y="2387942"/>
            <a:ext cx="4444212" cy="914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0230259" y="2060312"/>
            <a:ext cx="141577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9600" cap="none" spc="0" dirty="0">
                <a:ln w="0"/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猪</a:t>
            </a:r>
            <a:endParaRPr lang="en-US" altLang="zh-CN" sz="9600" cap="none" spc="0" dirty="0">
              <a:ln w="0"/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Graphic 14" descr="Line arrow Straight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5587171" y="10238312"/>
            <a:ext cx="4444212" cy="9144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0230258" y="9910682"/>
            <a:ext cx="141577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9600" cap="none" spc="0" dirty="0">
                <a:ln w="0"/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lang="en-US" altLang="zh-CN" sz="9600" cap="none" spc="0" dirty="0">
              <a:ln w="0"/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Graphic 16" descr="Line arrow Straight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2071059">
            <a:off x="8382402" y="9072257"/>
            <a:ext cx="4444212" cy="914400"/>
          </a:xfrm>
          <a:prstGeom prst="rect">
            <a:avLst/>
          </a:prstGeom>
        </p:spPr>
      </p:pic>
      <p:pic>
        <p:nvPicPr>
          <p:cNvPr id="19" name="Graphic 18" descr="Line arrow Straight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5587172" y="6313127"/>
            <a:ext cx="4444212" cy="9144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20230259" y="5985497"/>
            <a:ext cx="141577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9600" cap="none" spc="0" dirty="0">
                <a:ln w="0"/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猪</a:t>
            </a:r>
            <a:endParaRPr lang="en-US" altLang="zh-CN" sz="9600" cap="none" spc="0" dirty="0">
              <a:ln w="0"/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Graphic 21" descr="Line arrow Straight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8410558" y="6313127"/>
            <a:ext cx="4444212" cy="914400"/>
          </a:xfrm>
          <a:prstGeom prst="rect">
            <a:avLst/>
          </a:prstGeom>
        </p:spPr>
      </p:pic>
      <p:pic>
        <p:nvPicPr>
          <p:cNvPr id="23" name="Picture 4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0224" y="5108782"/>
            <a:ext cx="1567936" cy="3323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0224" y="9033967"/>
            <a:ext cx="1567936" cy="3323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 spd="med" advTm="9225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12" grpId="0"/>
      <p:bldP spid="16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69" y="2918378"/>
            <a:ext cx="18957259" cy="245916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自动驾驶软件的测试</a:t>
            </a:r>
            <a:endParaRPr lang="en-US" altLang="zh-CN" sz="4800" b="1" dirty="0"/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测试智能软件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6" name="矩形 4"/>
          <p:cNvSpPr/>
          <p:nvPr/>
        </p:nvSpPr>
        <p:spPr>
          <a:xfrm>
            <a:off x="7598435" y="11128670"/>
            <a:ext cx="918713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5400" b="0" kern="12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无人车测试：从现场走向虚拟</a:t>
            </a:r>
            <a:endParaRPr lang="zh-CN" altLang="en-US" sz="5400" b="0" kern="12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2" descr="See the source image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34" r="245"/>
          <a:stretch>
            <a:fillRect/>
          </a:stretch>
        </p:blipFill>
        <p:spPr bwMode="auto">
          <a:xfrm>
            <a:off x="3432794" y="4677138"/>
            <a:ext cx="8508887" cy="535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4" descr="See the source image"/>
          <p:cNvPicPr>
            <a:picLocks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3" r="7951" b="2418"/>
          <a:stretch>
            <a:fillRect/>
          </a:stretch>
        </p:blipFill>
        <p:spPr bwMode="auto">
          <a:xfrm>
            <a:off x="12530365" y="4677138"/>
            <a:ext cx="8510400" cy="535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矩形 9"/>
          <p:cNvSpPr/>
          <p:nvPr/>
        </p:nvSpPr>
        <p:spPr>
          <a:xfrm>
            <a:off x="6905937" y="12440424"/>
            <a:ext cx="1057212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5400" b="0" kern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降低风险、降低成本、提高覆盖率</a:t>
            </a:r>
            <a:endParaRPr lang="zh-CN" altLang="en-US" sz="5400" b="0" kern="12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 spd="med" advTm="5778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69" y="2918377"/>
            <a:ext cx="18957259" cy="835922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自动驾驶软件的测试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模拟真实路况</a:t>
            </a:r>
            <a:endParaRPr lang="en-US" altLang="zh-CN" sz="4800" dirty="0"/>
          </a:p>
          <a:p>
            <a:pPr lvl="3">
              <a:spcBef>
                <a:spcPts val="600"/>
              </a:spcBef>
            </a:pP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真实路况几乎是无穷多的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spcBef>
                <a:spcPts val="600"/>
              </a:spcBef>
            </a:pP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大部分路况是我们能想象的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spcBef>
                <a:spcPts val="600"/>
              </a:spcBef>
            </a:pP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真正的事故往往是因为不常见的路况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4800" dirty="0"/>
              <a:t>巨大挑战</a:t>
            </a:r>
            <a:endParaRPr lang="en-US" altLang="zh-CN" sz="4800" dirty="0"/>
          </a:p>
          <a:p>
            <a:pPr lvl="3">
              <a:spcBef>
                <a:spcPts val="600"/>
              </a:spcBef>
            </a:pP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如何生成可能碰到的非典型的路况（人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车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环境）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spcBef>
                <a:spcPts val="600"/>
              </a:spcBef>
            </a:pP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如何判定车辆的反应是否正确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测试智能软件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8982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3163977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智能软件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sp>
        <p:nvSpPr>
          <p:cNvPr id="134" name="矩形 5"/>
          <p:cNvSpPr txBox="1"/>
          <p:nvPr/>
        </p:nvSpPr>
        <p:spPr>
          <a:xfrm>
            <a:off x="11263349" y="5291213"/>
            <a:ext cx="5682868" cy="71519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tx1"/>
                </a:solidFill>
              </a:rPr>
              <a:t>智能软件的测试</a:t>
            </a: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135" name="Freeform 5"/>
          <p:cNvSpPr/>
          <p:nvPr/>
        </p:nvSpPr>
        <p:spPr>
          <a:xfrm rot="5400000">
            <a:off x="9259567" y="5071805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36" name="矩形 11"/>
          <p:cNvSpPr txBox="1"/>
          <p:nvPr/>
        </p:nvSpPr>
        <p:spPr>
          <a:xfrm>
            <a:off x="9136452" y="5166812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sp>
        <p:nvSpPr>
          <p:cNvPr id="138" name="矩形 5"/>
          <p:cNvSpPr txBox="1"/>
          <p:nvPr/>
        </p:nvSpPr>
        <p:spPr>
          <a:xfrm>
            <a:off x="11263350" y="7171246"/>
            <a:ext cx="7273128" cy="692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b="1" dirty="0">
                <a:solidFill>
                  <a:srgbClr val="FF0000"/>
                </a:solidFill>
              </a:rPr>
              <a:t>小结</a:t>
            </a:r>
            <a:endParaRPr sz="4400" b="1" dirty="0">
              <a:solidFill>
                <a:srgbClr val="FF0000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925852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0" name="矩形 11"/>
          <p:cNvSpPr txBox="1"/>
          <p:nvPr/>
        </p:nvSpPr>
        <p:spPr>
          <a:xfrm>
            <a:off x="9136452" y="7061804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03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1659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" y="3781826"/>
            <a:ext cx="243839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人工智能的核心是智能软件</a:t>
            </a:r>
            <a:endParaRPr lang="en-US" altLang="zh-CN" sz="6000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" y="6052623"/>
            <a:ext cx="2438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智能软件的测试有其特殊性</a:t>
            </a:r>
            <a:endParaRPr lang="zh-CN" altLang="en-US" sz="6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6959" y="8606519"/>
            <a:ext cx="2438463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智能软件的测试目前还没有成熟的理论和工具</a:t>
            </a:r>
            <a:endParaRPr lang="en-US" altLang="zh-CN" sz="6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9602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4" grpId="0"/>
      <p:bldP spid="5" grpId="0"/>
      <p:bldP spid="6" grpId="0"/>
    </p:bldLst>
  </p:timing>
</p:sld>
</file>

<file path=ppt/tags/tag1.xml><?xml version="1.0" encoding="utf-8"?>
<p:tagLst xmlns:p="http://schemas.openxmlformats.org/presentationml/2006/main">
  <p:tag name="TIMING" val="|0.2"/>
</p:tagLst>
</file>

<file path=ppt/tags/tag2.xml><?xml version="1.0" encoding="utf-8"?>
<p:tagLst xmlns:p="http://schemas.openxmlformats.org/presentationml/2006/main">
  <p:tag name="TIMING" val="|0.2"/>
</p:tagLst>
</file>

<file path=ppt/tags/tag3.xml><?xml version="1.0" encoding="utf-8"?>
<p:tagLst xmlns:p="http://schemas.openxmlformats.org/presentationml/2006/main">
  <p:tag name="TIMING" val="|0.2"/>
</p:tagLst>
</file>

<file path=ppt/tags/tag4.xml><?xml version="1.0" encoding="utf-8"?>
<p:tagLst xmlns:p="http://schemas.openxmlformats.org/presentationml/2006/main">
  <p:tag name="TIMING" val="|0.2"/>
</p:tagLst>
</file>

<file path=ppt/tags/tag5.xml><?xml version="1.0" encoding="utf-8"?>
<p:tagLst xmlns:p="http://schemas.openxmlformats.org/presentationml/2006/main">
  <p:tag name="TIMING" val="|0.2"/>
</p:tagLst>
</file>

<file path=ppt/tags/tag6.xml><?xml version="1.0" encoding="utf-8"?>
<p:tagLst xmlns:p="http://schemas.openxmlformats.org/presentationml/2006/main">
  <p:tag name="TIMING" val="|0.2"/>
</p:tagLst>
</file>

<file path=ppt/tags/tag7.xml><?xml version="1.0" encoding="utf-8"?>
<p:tagLst xmlns:p="http://schemas.openxmlformats.org/presentationml/2006/main">
  <p:tag name="TIMING" val="|53.2|18.1"/>
</p:tagLst>
</file>

<file path=ppt/tags/tag8.xml><?xml version="1.0" encoding="utf-8"?>
<p:tagLst xmlns:p="http://schemas.openxmlformats.org/presentationml/2006/main">
  <p:tag name="TIMING" val="|24.1|8.2"/>
</p:tagLst>
</file>

<file path=ppt/tags/tag9.xml><?xml version="1.0" encoding="utf-8"?>
<p:tagLst xmlns:p="http://schemas.openxmlformats.org/presentationml/2006/main">
  <p:tag name="TIMING" val="|68.1|13.3"/>
</p:tagLst>
</file>

<file path=ppt/tags/tag10.xml><?xml version="1.0" encoding="utf-8"?>
<p:tagLst xmlns:p="http://schemas.openxmlformats.org/presentationml/2006/main">
  <p:tag name="TIMING" val="|0.2"/>
</p:tagLst>
</file>

<file path=ppt/tags/tag11.xml><?xml version="1.0" encoding="utf-8"?>
<p:tagLst xmlns:p="http://schemas.openxmlformats.org/presentationml/2006/main">
  <p:tag name="TIMING" val="|0.2"/>
</p:tagLst>
</file>

<file path=ppt/tags/tag12.xml><?xml version="1.0" encoding="utf-8"?>
<p:tagLst xmlns:p="http://schemas.openxmlformats.org/presentationml/2006/main">
  <p:tag name="TIMING" val="|0.2"/>
</p:tagLst>
</file>

<file path=ppt/tags/tag13.xml><?xml version="1.0" encoding="utf-8"?>
<p:tagLst xmlns:p="http://schemas.openxmlformats.org/presentationml/2006/main">
  <p:tag name="TIMING" val="|19.5|9.4|31.3|5"/>
</p:tagLst>
</file>

<file path=ppt/tags/tag14.xml><?xml version="1.0" encoding="utf-8"?>
<p:tagLst xmlns:p="http://schemas.openxmlformats.org/presentationml/2006/main">
  <p:tag name="TIMING" val="|0.2"/>
</p:tagLst>
</file>

<file path=ppt/tags/tag15.xml><?xml version="1.0" encoding="utf-8"?>
<p:tagLst xmlns:p="http://schemas.openxmlformats.org/presentationml/2006/main">
  <p:tag name="TIMING" val="|0.2"/>
</p:tagLst>
</file>

<file path=ppt/tags/tag16.xml><?xml version="1.0" encoding="utf-8"?>
<p:tagLst xmlns:p="http://schemas.openxmlformats.org/presentationml/2006/main">
  <p:tag name="COMMONDATA" val="eyJoZGlkIjoiN2RjMzk0Mzc2NzY3NGE0YmI3MDJiMTlmNzE2MWFmNDcifQ==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1034</Words>
  <Application>WPS 演示</Application>
  <PresentationFormat>Custom</PresentationFormat>
  <Paragraphs>233</Paragraphs>
  <Slides>21</Slides>
  <Notes>21</Notes>
  <HiddenSlides>0</HiddenSlides>
  <MMClips>21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7" baseType="lpstr">
      <vt:lpstr>Arial</vt:lpstr>
      <vt:lpstr>宋体</vt:lpstr>
      <vt:lpstr>Wingdings</vt:lpstr>
      <vt:lpstr>Helvetica Neue</vt:lpstr>
      <vt:lpstr>Helvetica Neue Medium</vt:lpstr>
      <vt:lpstr>Helvetica Neue Light</vt:lpstr>
      <vt:lpstr>微软雅黑</vt:lpstr>
      <vt:lpstr>黑体</vt:lpstr>
      <vt:lpstr>Calibri</vt:lpstr>
      <vt:lpstr>微软雅黑 Light</vt:lpstr>
      <vt:lpstr>MicrosoftYaHeiLight</vt:lpstr>
      <vt:lpstr>LaTeX</vt:lpstr>
      <vt:lpstr>Arial Black</vt:lpstr>
      <vt:lpstr>Arial Unicode MS</vt:lpstr>
      <vt:lpstr>Times New Roman</vt:lpstr>
      <vt:lpstr>White</vt:lpstr>
      <vt:lpstr>PowerPoint 演示文稿</vt:lpstr>
      <vt:lpstr>PowerPoint 演示文稿</vt:lpstr>
      <vt:lpstr>PowerPoint 演示文稿</vt:lpstr>
      <vt:lpstr>智能软件</vt:lpstr>
      <vt:lpstr>智能软件</vt:lpstr>
      <vt:lpstr>智能软件</vt:lpstr>
      <vt:lpstr>PowerPoint 演示文稿</vt:lpstr>
      <vt:lpstr>测试智能软件</vt:lpstr>
      <vt:lpstr>测试智能软件</vt:lpstr>
      <vt:lpstr>测试智能软件</vt:lpstr>
      <vt:lpstr>测试智能软件</vt:lpstr>
      <vt:lpstr>测试智能软件</vt:lpstr>
      <vt:lpstr>测试智能软件</vt:lpstr>
      <vt:lpstr>测试智能软件</vt:lpstr>
      <vt:lpstr>测试智能软件</vt:lpstr>
      <vt:lpstr>测试智能软件</vt:lpstr>
      <vt:lpstr>测试智能软件</vt:lpstr>
      <vt:lpstr>测试智能软件</vt:lpstr>
      <vt:lpstr>测试智能软件</vt:lpstr>
      <vt:lpstr>PowerPoint 演示文稿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WangYz</dc:creator>
  <cp:lastModifiedBy>李壮 19863718468</cp:lastModifiedBy>
  <cp:revision>765</cp:revision>
  <cp:lastPrinted>2020-08-01T02:11:00Z</cp:lastPrinted>
  <dcterms:created xsi:type="dcterms:W3CDTF">2019-05-10T09:49:00Z</dcterms:created>
  <dcterms:modified xsi:type="dcterms:W3CDTF">2023-08-09T06:59:50Z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2052-12.1.0.15120</vt:lpwstr>
  </property>
  <property fmtid="{D5CDD505-2E9C-101B-9397-08002B2CF9AE}" pid="3" name="ICV">
    <vt:lpwstr>F9709277BEC64912A1053007E47E0B2B_12</vt:lpwstr>
  </property>
</Properties>
</file>