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sldIdLst>
    <p:sldId id="256" r:id="rId3"/>
    <p:sldId id="291" r:id="rId5"/>
    <p:sldId id="323" r:id="rId6"/>
    <p:sldId id="299" r:id="rId7"/>
    <p:sldId id="295" r:id="rId8"/>
    <p:sldId id="296" r:id="rId9"/>
    <p:sldId id="297" r:id="rId10"/>
    <p:sldId id="298" r:id="rId11"/>
    <p:sldId id="328" r:id="rId12"/>
    <p:sldId id="330" r:id="rId13"/>
    <p:sldId id="263" r:id="rId14"/>
    <p:sldId id="324" r:id="rId15"/>
    <p:sldId id="268" r:id="rId16"/>
    <p:sldId id="329" r:id="rId17"/>
    <p:sldId id="301" r:id="rId18"/>
    <p:sldId id="302" r:id="rId19"/>
    <p:sldId id="304" r:id="rId20"/>
    <p:sldId id="303" r:id="rId21"/>
    <p:sldId id="305" r:id="rId22"/>
    <p:sldId id="306" r:id="rId23"/>
    <p:sldId id="325" r:id="rId24"/>
    <p:sldId id="271" r:id="rId25"/>
    <p:sldId id="308" r:id="rId26"/>
    <p:sldId id="309" r:id="rId27"/>
    <p:sldId id="316" r:id="rId28"/>
    <p:sldId id="326" r:id="rId29"/>
    <p:sldId id="318" r:id="rId30"/>
    <p:sldId id="319" r:id="rId31"/>
    <p:sldId id="320" r:id="rId32"/>
    <p:sldId id="321" r:id="rId33"/>
    <p:sldId id="322" r:id="rId34"/>
    <p:sldId id="327" r:id="rId35"/>
    <p:sldId id="293" r:id="rId36"/>
    <p:sldId id="259" r:id="rId37"/>
  </p:sldIdLst>
  <p:sldSz cx="24384000" cy="13716000"/>
  <p:notesSz cx="6858000" cy="9144000"/>
  <p:custDataLst>
    <p:tags r:id="rId4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6"/>
    <p:restoredTop sz="96227" autoAdjust="0"/>
  </p:normalViewPr>
  <p:slideViewPr>
    <p:cSldViewPr snapToGrid="0">
      <p:cViewPr varScale="1">
        <p:scale>
          <a:sx n="45" d="100"/>
          <a:sy n="45" d="100"/>
        </p:scale>
        <p:origin x="1152" y="51"/>
      </p:cViewPr>
      <p:guideLst/>
    </p:cSldViewPr>
  </p:slideViewPr>
  <p:outlineViewPr>
    <p:cViewPr>
      <p:scale>
        <a:sx n="33" d="100"/>
        <a:sy n="33" d="100"/>
      </p:scale>
      <p:origin x="0" y="-925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ableStyles" Target="tableStyles.xml"/><Relationship Id="rId41" Type="http://schemas.openxmlformats.org/officeDocument/2006/relationships/tags" Target="tags/tag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9873806-1BCA-4F4B-939D-59F1D938859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903521" y="13081000"/>
            <a:ext cx="564258" cy="47192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C4978-5BFE-44E7-B803-27432D763E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.m4a" TargetMode="External"/><Relationship Id="rId2" Type="http://schemas.microsoft.com/office/2007/relationships/media" Target="ppt/media/media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audio" Target="ppt/media/media2.m4a" TargetMode="External"/><Relationship Id="rId2" Type="http://schemas.microsoft.com/office/2007/relationships/media" Target="ppt/media/media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.m4a" TargetMode="External"/><Relationship Id="rId2" Type="http://schemas.microsoft.com/office/2007/relationships/media" Target="ppt/media/media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audio" Target="ppt/media/media4.m4a" TargetMode="External"/><Relationship Id="rId2" Type="http://schemas.microsoft.com/office/2007/relationships/media" Target="ppt/media/media4.m4a" TargetMode="External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audio" Target="ppt/media/media5.m4a" TargetMode="External"/><Relationship Id="rId3" Type="http://schemas.microsoft.com/office/2007/relationships/media" Target="ppt/media/media5.m4a" TargetMode="External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audio" Target="ppt/media/media6.m4a" TargetMode="External"/><Relationship Id="rId3" Type="http://schemas.microsoft.com/office/2007/relationships/media" Target="ppt/media/media6.m4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tags" Target="../tags/tag3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audio" Target="ppt/media/media7.m4a" TargetMode="External"/><Relationship Id="rId3" Type="http://schemas.microsoft.com/office/2007/relationships/media" Target="ppt/media/media7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audio" Target="ppt/media/media8.m4a" TargetMode="External"/><Relationship Id="rId3" Type="http://schemas.microsoft.com/office/2007/relationships/media" Target="ppt/media/media8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audio" Target="ppt/media/media9.m4a" TargetMode="External"/><Relationship Id="rId2" Type="http://schemas.microsoft.com/office/2007/relationships/media" Target="ppt/media/media9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audio" Target="ppt/media/media9.m4a" TargetMode="External"/><Relationship Id="rId2" Type="http://schemas.microsoft.com/office/2007/relationships/media" Target="ppt/media/media9.m4a" TargetMode="Externa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audio" Target="ppt/media/media10.m4a" TargetMode="External"/><Relationship Id="rId2" Type="http://schemas.microsoft.com/office/2007/relationships/media" Target="ppt/media/media10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audio" Target="ppt/media/media11.m4a" TargetMode="External"/><Relationship Id="rId2" Type="http://schemas.microsoft.com/office/2007/relationships/media" Target="ppt/media/media1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audio" Target="ppt/media/media12.m4a" TargetMode="External"/><Relationship Id="rId3" Type="http://schemas.microsoft.com/office/2007/relationships/media" Target="ppt/media/media12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audio" Target="ppt/media/media13.m4a" TargetMode="External"/><Relationship Id="rId2" Type="http://schemas.microsoft.com/office/2007/relationships/media" Target="ppt/media/media1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audio" Target="ppt/media/media14.m4a" TargetMode="External"/><Relationship Id="rId3" Type="http://schemas.microsoft.com/office/2007/relationships/media" Target="ppt/media/media14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audio" Target="ppt/media/media15.m4a" TargetMode="External"/><Relationship Id="rId3" Type="http://schemas.microsoft.com/office/2007/relationships/media" Target="ppt/media/media15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audio" Target="ppt/media/media16.m4a" TargetMode="External"/><Relationship Id="rId3" Type="http://schemas.microsoft.com/office/2007/relationships/media" Target="ppt/media/media16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audio" Target="ppt/media/media17.m4a" TargetMode="External"/><Relationship Id="rId3" Type="http://schemas.microsoft.com/office/2007/relationships/media" Target="ppt/media/media17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microsoft.com/office/2007/relationships/hdphoto" Target="../media/image18.wdp"/><Relationship Id="rId3" Type="http://schemas.openxmlformats.org/officeDocument/2006/relationships/image" Target="../media/image19.jpeg"/><Relationship Id="rId4" Type="http://schemas.openxmlformats.org/officeDocument/2006/relationships/audio" Target="ppt/media/media18.m4a" TargetMode="External"/><Relationship Id="rId5" Type="http://schemas.microsoft.com/office/2007/relationships/media" Target="ppt/media/media18.m4a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20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audio" Target="ppt/media/media19.m4a" TargetMode="External"/><Relationship Id="rId2" Type="http://schemas.microsoft.com/office/2007/relationships/media" Target="ppt/media/media19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audio" Target="ppt/media/media20.m4a" TargetMode="External"/><Relationship Id="rId2" Type="http://schemas.microsoft.com/office/2007/relationships/media" Target="ppt/media/media20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jpeg"/><Relationship Id="rId3" Type="http://schemas.openxmlformats.org/officeDocument/2006/relationships/image" Target="../media/image23.png"/><Relationship Id="rId4" Type="http://schemas.openxmlformats.org/officeDocument/2006/relationships/audio" Target="ppt/media/media21.m4a" TargetMode="External"/><Relationship Id="rId5" Type="http://schemas.microsoft.com/office/2007/relationships/media" Target="ppt/media/media21.m4a" TargetMode="Externa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audio" Target="ppt/media/media22.m4a" TargetMode="External"/><Relationship Id="rId4" Type="http://schemas.microsoft.com/office/2007/relationships/media" Target="ppt/media/media22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audio" Target="ppt/media/media23.m4a" TargetMode="External"/><Relationship Id="rId3" Type="http://schemas.microsoft.com/office/2007/relationships/media" Target="ppt/media/media23.m4a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3.png"/><Relationship Id="rId4" Type="http://schemas.openxmlformats.org/officeDocument/2006/relationships/audio" Target="ppt/media/media24.m4a" TargetMode="External"/><Relationship Id="rId5" Type="http://schemas.microsoft.com/office/2007/relationships/media" Target="ppt/media/media24.m4a" TargetMode="External"/><Relationship Id="rId6" Type="http://schemas.openxmlformats.org/officeDocument/2006/relationships/image" Target="../media/image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audio" Target="ppt/media/media25.m4a" TargetMode="External"/><Relationship Id="rId2" Type="http://schemas.microsoft.com/office/2007/relationships/media" Target="ppt/media/media25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audio" Target="ppt/media/media26.m4a" TargetMode="External"/><Relationship Id="rId2" Type="http://schemas.microsoft.com/office/2007/relationships/media" Target="ppt/media/media26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audio" Target="ppt/media/media27.m4a" TargetMode="External"/><Relationship Id="rId4" Type="http://schemas.microsoft.com/office/2007/relationships/media" Target="ppt/media/media27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audio" Target="ppt/media/media28.m4a" TargetMode="External"/><Relationship Id="rId2" Type="http://schemas.microsoft.com/office/2007/relationships/media" Target="ppt/media/media28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audio" Target="ppt/media/media29.m4a" TargetMode="External"/><Relationship Id="rId4" Type="http://schemas.microsoft.com/office/2007/relationships/media" Target="ppt/media/media29.m4a" TargetMode="Externa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jpeg"/><Relationship Id="rId3" Type="http://schemas.openxmlformats.org/officeDocument/2006/relationships/audio" Target="ppt/media/media30.m4a" TargetMode="External"/><Relationship Id="rId4" Type="http://schemas.microsoft.com/office/2007/relationships/media" Target="ppt/media/media30.m4a" TargetMode="External"/><Relationship Id="rId5" Type="http://schemas.openxmlformats.org/officeDocument/2006/relationships/image" Target="../media/image3.png"/><Relationship Id="rId6" Type="http://schemas.openxmlformats.org/officeDocument/2006/relationships/tags" Target="../tags/tag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audio" Target="ppt/media/media31.m4a" TargetMode="External"/><Relationship Id="rId2" Type="http://schemas.microsoft.com/office/2007/relationships/media" Target="ppt/media/media31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audio" Target="ppt/media/media32.m4a" TargetMode="External"/><Relationship Id="rId2" Type="http://schemas.microsoft.com/office/2007/relationships/media" Target="ppt/media/media32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audio" Target="ppt/media/media33.m4a" TargetMode="External"/><Relationship Id="rId2" Type="http://schemas.microsoft.com/office/2007/relationships/media" Target="ppt/media/media33.m4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3896"/>
            <a:ext cx="12336711" cy="173380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dirty="0"/>
              <a:t>软件测试与质量保障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12958676" cy="1025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软件测试的现状与人工智能的兴起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303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129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135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136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139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140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145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142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143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4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146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小结</a:t>
            </a:r>
            <a:endParaRPr sz="4400" dirty="0"/>
          </a:p>
        </p:txBody>
      </p:sp>
      <p:sp>
        <p:nvSpPr>
          <p:cNvPr id="26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27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28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29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智能化的软件测试</a:t>
            </a:r>
            <a:endParaRPr sz="4400" dirty="0"/>
          </a:p>
        </p:txBody>
      </p:sp>
      <p:sp>
        <p:nvSpPr>
          <p:cNvPr id="24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智能软件的测试</a:t>
            </a:r>
            <a:endParaRPr sz="4400" dirty="0"/>
          </a:p>
        </p:txBody>
      </p:sp>
      <p:sp>
        <p:nvSpPr>
          <p:cNvPr id="25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人工智能时代的软件测试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84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8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50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51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52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53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54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55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56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57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58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59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小结</a:t>
            </a:r>
            <a:endParaRPr sz="4400" dirty="0"/>
          </a:p>
        </p:txBody>
      </p:sp>
      <p:sp>
        <p:nvSpPr>
          <p:cNvPr id="60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61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62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63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智能化的软件测试</a:t>
            </a:r>
            <a:endParaRPr sz="4400" dirty="0"/>
          </a:p>
        </p:txBody>
      </p:sp>
      <p:sp>
        <p:nvSpPr>
          <p:cNvPr id="64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智能软件的测试</a:t>
            </a:r>
            <a:endParaRPr sz="4400" dirty="0"/>
          </a:p>
        </p:txBody>
      </p:sp>
      <p:sp>
        <p:nvSpPr>
          <p:cNvPr id="65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人工智能时代的软件测试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3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737970" y="1078867"/>
            <a:ext cx="7911557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软件测试的发展与现状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23971473" y="26162000"/>
            <a:ext cx="282129" cy="53347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6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5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4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DD007B-D651-4022-9E43-776DA084A55C}" type="slidenum"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5040477" y="2796470"/>
            <a:ext cx="6714836" cy="8862291"/>
          </a:xfrm>
        </p:spPr>
        <p:txBody>
          <a:bodyPr>
            <a:noAutofit/>
          </a:bodyPr>
          <a:lstStyle/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二十世纪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70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年代以前</a:t>
            </a: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几乎没有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70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年代末 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--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80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年代</a:t>
            </a: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快速发展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90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年代 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--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2010</a:t>
            </a: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自动化测试</a:t>
            </a:r>
            <a:endParaRPr lang="en-US" altLang="zh-CN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 txBox="1">
            <a:spLocks noRot="1" noChangeArrowheads="1"/>
          </p:cNvSpPr>
          <p:nvPr/>
        </p:nvSpPr>
        <p:spPr>
          <a:xfrm>
            <a:off x="14336878" y="4015509"/>
            <a:ext cx="6714836" cy="568498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indent="-635000" algn="l" eaLnBrk="1" hangingPunct="1">
              <a:lnSpc>
                <a:spcPct val="200000"/>
              </a:lnSpc>
              <a:buClr>
                <a:schemeClr val="tx1"/>
              </a:buClr>
              <a:buSzPct val="125000"/>
              <a:buFont typeface="Wingdings" panose="05000000000000000000" pitchFamily="2" charset="2"/>
              <a:buChar char="Ø"/>
              <a:defRPr sz="44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1270000" lvl="1" indent="-635000" algn="l" eaLnBrk="1" hangingPunct="1">
              <a:lnSpc>
                <a:spcPct val="200000"/>
              </a:lnSpc>
              <a:buClr>
                <a:srgbClr val="FF0000"/>
              </a:buClr>
              <a:buSzPct val="125000"/>
              <a:buFont typeface="Wingdings" panose="05000000000000000000" pitchFamily="2" charset="2"/>
              <a:buChar char="ü"/>
              <a:defRPr sz="40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 marL="1905000" indent="-635000" algn="l">
              <a:spcBef>
                <a:spcPts val="5900"/>
              </a:spcBef>
              <a:buSzPct val="125000"/>
              <a:buChar char="•"/>
              <a:defRPr sz="5200" b="0"/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2010 -- 2020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270635"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众包测试</a:t>
            </a:r>
            <a:endParaRPr lang="en-US" altLang="zh-CN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2020+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智能测试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545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2531" grpId="0" animBg="1" uiExpand="1" build="p"/>
      <p:bldP spid="5" grpId="0" animBg="1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23841075" y="26162000"/>
            <a:ext cx="542925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6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5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4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C02A9A7-C67F-4CCC-86F0-893B10920BC1}" type="slidenum">
              <a:rPr lang="en-US" altLang="zh-CN" sz="2800"/>
            </a:fld>
            <a:endParaRPr lang="en-US" altLang="zh-CN" sz="2800"/>
          </a:p>
        </p:txBody>
      </p:sp>
      <p:sp>
        <p:nvSpPr>
          <p:cNvPr id="34820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977463" y="3560329"/>
            <a:ext cx="8672945" cy="466927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“软件评测师”被列入了计算机技术与软件专业资格（水平）考试 </a:t>
            </a:r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800" y="2307303"/>
            <a:ext cx="13047541" cy="9607606"/>
          </a:xfrm>
          <a:prstGeom prst="rect">
            <a:avLst/>
          </a:prstGeom>
        </p:spPr>
      </p:pic>
      <p:sp>
        <p:nvSpPr>
          <p:cNvPr id="4" name="椭圆形标注 3"/>
          <p:cNvSpPr/>
          <p:nvPr/>
        </p:nvSpPr>
        <p:spPr>
          <a:xfrm>
            <a:off x="4396509" y="9176718"/>
            <a:ext cx="4405746" cy="2077403"/>
          </a:xfrm>
          <a:prstGeom prst="wedgeEllipseCallout">
            <a:avLst>
              <a:gd name="adj1" fmla="val 190587"/>
              <a:gd name="adj2" fmla="val -53287"/>
            </a:avLst>
          </a:prstGeom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我国软件测试的人才需求缺口超过</a:t>
            </a:r>
            <a:r>
              <a:rPr lang="en-US" altLang="zh-CN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万人</a:t>
            </a:r>
            <a:endParaRPr lang="zh-CN" altLang="en-US" sz="3200" b="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8672945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软件测试的发展与现状</a:t>
            </a:r>
            <a:endParaRPr lang="zh-CN" altLang="en-US" dirty="0"/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33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6516389" cy="1042894"/>
          </a:xfrm>
        </p:spPr>
        <p:txBody>
          <a:bodyPr>
            <a:noAutofit/>
          </a:bodyPr>
          <a:lstStyle/>
          <a:p>
            <a:r>
              <a:rPr lang="zh-CN" altLang="en-US" dirty="0"/>
              <a:t>程序员 </a:t>
            </a:r>
            <a:r>
              <a:rPr lang="en-US" altLang="zh-CN" dirty="0"/>
              <a:t>VS </a:t>
            </a:r>
            <a:r>
              <a:rPr lang="zh-CN" altLang="en-US" dirty="0"/>
              <a:t>测试员</a:t>
            </a:r>
            <a:endParaRPr lang="zh-CN" altLang="en-US" dirty="0"/>
          </a:p>
        </p:txBody>
      </p:sp>
      <p:sp>
        <p:nvSpPr>
          <p:cNvPr id="3584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23841075" y="26162000"/>
            <a:ext cx="542925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6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5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4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126E97-DD62-4655-8E09-4FDF023F806D}" type="slidenum">
              <a:rPr lang="en-US" altLang="zh-CN" sz="2800"/>
            </a:fld>
            <a:endParaRPr lang="en-US" altLang="zh-CN" sz="2800"/>
          </a:p>
        </p:txBody>
      </p:sp>
      <p:sp>
        <p:nvSpPr>
          <p:cNvPr id="2" name="矩形 1"/>
          <p:cNvSpPr/>
          <p:nvPr/>
        </p:nvSpPr>
        <p:spPr>
          <a:xfrm>
            <a:off x="16367127" y="2536827"/>
            <a:ext cx="3457574" cy="1009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0"/>
          </a:p>
        </p:txBody>
      </p:sp>
      <p:pic>
        <p:nvPicPr>
          <p:cNvPr id="2052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069" y="3546477"/>
            <a:ext cx="13354528" cy="75536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椭圆形标注 3"/>
          <p:cNvSpPr/>
          <p:nvPr/>
        </p:nvSpPr>
        <p:spPr>
          <a:xfrm>
            <a:off x="914400" y="4797149"/>
            <a:ext cx="3423684" cy="2856428"/>
          </a:xfrm>
          <a:prstGeom prst="wedgeEllipseCallout">
            <a:avLst>
              <a:gd name="adj1" fmla="val 157167"/>
              <a:gd name="adj2" fmla="val 55055"/>
            </a:avLst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Helvetica Neue Medium"/>
              </a:rPr>
              <a:t>威廉：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Helvetica Neue Medium"/>
              </a:rPr>
              <a:t>秃头太孙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Helvetica Neue Medium"/>
            </a:endParaRPr>
          </a:p>
        </p:txBody>
      </p:sp>
      <p:sp>
        <p:nvSpPr>
          <p:cNvPr id="11" name="椭圆形标注 10"/>
          <p:cNvSpPr/>
          <p:nvPr/>
        </p:nvSpPr>
        <p:spPr>
          <a:xfrm>
            <a:off x="18964276" y="4466877"/>
            <a:ext cx="4876799" cy="2856428"/>
          </a:xfrm>
          <a:prstGeom prst="wedgeEllipseCallout">
            <a:avLst>
              <a:gd name="adj1" fmla="val -119677"/>
              <a:gd name="adj2" fmla="val 64597"/>
            </a:avLst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Helvetica Neue Medium"/>
              </a:rPr>
              <a:t>哈里：</a:t>
            </a:r>
            <a:endParaRPr lang="en-US" altLang="zh-CN" sz="44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Helvetica Neue Medium"/>
            </a:endParaRPr>
          </a:p>
          <a:p>
            <a:pPr>
              <a:lnSpc>
                <a:spcPct val="150000"/>
              </a:lnSpc>
            </a:pPr>
            <a:r>
              <a:rPr lang="zh-CN" altLang="en-US" sz="44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Helvetica Neue Medium"/>
              </a:rPr>
              <a:t>专门搞事情！</a:t>
            </a:r>
            <a:endParaRPr lang="zh-CN" altLang="en-US" sz="44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Helvetica Neue Medium"/>
            </a:endParaRPr>
          </a:p>
        </p:txBody>
      </p:sp>
      <p:sp>
        <p:nvSpPr>
          <p:cNvPr id="8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10" name="矩形 9"/>
          <p:cNvSpPr/>
          <p:nvPr/>
        </p:nvSpPr>
        <p:spPr>
          <a:xfrm>
            <a:off x="6573841" y="11648119"/>
            <a:ext cx="249299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0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程序猿</a:t>
            </a:r>
            <a:endParaRPr lang="zh-CN" altLang="en-US" sz="6000" b="0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641516" y="11723363"/>
            <a:ext cx="249299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60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测试员</a:t>
            </a:r>
            <a:endParaRPr lang="zh-CN" altLang="en-US" sz="6000" b="0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1026" name="Picture 2" descr="查看源图像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4102" y="9615638"/>
            <a:ext cx="1077580" cy="137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查看源图像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0" y="9273138"/>
            <a:ext cx="1147412" cy="172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Ovr>
    <a:masterClrMapping/>
  </p:clrMapOvr>
  <p:transition spd="med" advTm="1670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4217012" cy="1042894"/>
          </a:xfrm>
        </p:spPr>
        <p:txBody>
          <a:bodyPr/>
          <a:lstStyle/>
          <a:p>
            <a:r>
              <a:rPr lang="zh-CN" altLang="en-US" dirty="0"/>
              <a:t>产业需求</a:t>
            </a:r>
            <a:endParaRPr lang="zh-CN" altLang="en-US" dirty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23841075" y="26162000"/>
            <a:ext cx="542925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6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5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4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C286B8-79B8-4964-AC87-246933E55615}" type="slidenum">
              <a:rPr lang="en-US" altLang="zh-CN" sz="2800"/>
            </a:fld>
            <a:endParaRPr lang="en-US" altLang="zh-CN" sz="2800"/>
          </a:p>
        </p:txBody>
      </p:sp>
      <p:pic>
        <p:nvPicPr>
          <p:cNvPr id="36869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604" y="2611179"/>
            <a:ext cx="17891124" cy="632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矩形 5"/>
          <p:cNvSpPr>
            <a:spLocks noChangeArrowheads="1"/>
          </p:cNvSpPr>
          <p:nvPr/>
        </p:nvSpPr>
        <p:spPr bwMode="auto">
          <a:xfrm>
            <a:off x="3953393" y="9789029"/>
            <a:ext cx="1750554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 new bug bounty program and expanded existing ones on Wednesday, offering payouts that range </a:t>
            </a:r>
            <a:r>
              <a:rPr lang="en-US" altLang="zh-CN"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$500 to $250,000</a:t>
            </a:r>
            <a:r>
              <a:rPr lang="en-US" altLang="zh-C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830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345963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产业需求</a:t>
            </a:r>
            <a:endParaRPr lang="zh-CN" altLang="en-US" sz="108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0" y="13081000"/>
            <a:ext cx="479425" cy="471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9F3F00-96CB-4B31-89E3-2DB8B040625B}" type="slidenum">
              <a:rPr lang="en-US" altLang="zh-CN" smtClean="0"/>
            </a:fld>
            <a:endParaRPr lang="en-US" altLang="zh-CN"/>
          </a:p>
        </p:txBody>
      </p:sp>
      <p:pic>
        <p:nvPicPr>
          <p:cNvPr id="113666" name="Picture 2" descr="https://img.ithome.com/newsuploadfiles/2019/11/20191117_070627_619.jp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3" t="21497" r="8732" b="1471"/>
          <a:stretch>
            <a:fillRect/>
          </a:stretch>
        </p:blipFill>
        <p:spPr bwMode="auto">
          <a:xfrm>
            <a:off x="3817809" y="2748161"/>
            <a:ext cx="16263326" cy="86336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097617" y="11627553"/>
            <a:ext cx="43588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华为手机测试</a:t>
            </a:r>
            <a:endParaRPr lang="zh-CN" altLang="en-US" sz="5400" b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94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345963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产业需求</a:t>
            </a:r>
            <a:endParaRPr lang="zh-CN" altLang="en-US" sz="108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0" y="13081000"/>
            <a:ext cx="479425" cy="471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9F3F00-96CB-4B31-89E3-2DB8B040625B}" type="slidenum">
              <a:rPr lang="en-US" altLang="zh-CN" smtClean="0"/>
            </a:fld>
            <a:endParaRPr lang="en-US" altLang="zh-CN"/>
          </a:p>
        </p:txBody>
      </p:sp>
      <p:sp>
        <p:nvSpPr>
          <p:cNvPr id="6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2996119" y="3199302"/>
            <a:ext cx="19068550" cy="8357157"/>
            <a:chOff x="2996119" y="3199302"/>
            <a:chExt cx="19068550" cy="835715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6119" y="3199302"/>
              <a:ext cx="19068550" cy="835715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4" name="Rectangle 3"/>
            <p:cNvSpPr/>
            <p:nvPr/>
          </p:nvSpPr>
          <p:spPr>
            <a:xfrm>
              <a:off x="16794866" y="3449256"/>
              <a:ext cx="2407534" cy="578734"/>
            </a:xfrm>
            <a:prstGeom prst="rect">
              <a:avLst/>
            </a:prstGeom>
            <a:solidFill>
              <a:schemeClr val="bg1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</p:spTree>
  </p:cSld>
  <p:clrMapOvr>
    <a:masterClrMapping/>
  </p:clrMapOvr>
  <p:transition spd="med" advTm="275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3459630" cy="1042894"/>
          </a:xfrm>
        </p:spPr>
        <p:txBody>
          <a:bodyPr>
            <a:normAutofit/>
          </a:bodyPr>
          <a:lstStyle/>
          <a:p>
            <a:r>
              <a:rPr lang="zh-CN" altLang="en-US" dirty="0"/>
              <a:t>产业需求</a:t>
            </a:r>
            <a:endParaRPr lang="zh-CN" altLang="en-US" sz="108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0" y="13081000"/>
            <a:ext cx="479425" cy="471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485900" indent="-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3200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4114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5029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5943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68580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7772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9F3F00-96CB-4B31-89E3-2DB8B040625B}" type="slidenum">
              <a:rPr lang="en-US" altLang="zh-CN" smtClean="0"/>
            </a:fld>
            <a:endParaRPr lang="en-US" altLang="zh-CN"/>
          </a:p>
        </p:txBody>
      </p:sp>
      <p:sp>
        <p:nvSpPr>
          <p:cNvPr id="6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481" y="3641763"/>
            <a:ext cx="17417331" cy="8834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 advTm="275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8003922" cy="1042894"/>
          </a:xfrm>
        </p:spPr>
        <p:txBody>
          <a:bodyPr>
            <a:noAutofit/>
          </a:bodyPr>
          <a:lstStyle/>
          <a:p>
            <a:r>
              <a:rPr lang="zh-CN" altLang="en-US" dirty="0"/>
              <a:t>软件测试的现状</a:t>
            </a:r>
            <a:r>
              <a:rPr lang="en-US" altLang="zh-CN" dirty="0"/>
              <a:t>—</a:t>
            </a:r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926332" y="4409426"/>
            <a:ext cx="634019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软件测试持续发展</a:t>
            </a:r>
            <a:endParaRPr lang="en-US" altLang="zh-CN" sz="6000" b="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9930" y="6350168"/>
            <a:ext cx="101874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产业需求强劲，人才缺口较大</a:t>
            </a:r>
            <a:endParaRPr lang="en-US" altLang="zh-CN" sz="6000" b="0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372514" y="8290910"/>
            <a:ext cx="710963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测试员的光明前途！</a:t>
            </a:r>
            <a:endParaRPr lang="en-US" altLang="zh-CN" sz="6000" b="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374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7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49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50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51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52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53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54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55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56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57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58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小结</a:t>
            </a:r>
            <a:endParaRPr sz="4400" dirty="0"/>
          </a:p>
        </p:txBody>
      </p:sp>
      <p:sp>
        <p:nvSpPr>
          <p:cNvPr id="59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60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61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62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智能化的软件测试</a:t>
            </a:r>
            <a:endParaRPr sz="4400" dirty="0"/>
          </a:p>
        </p:txBody>
      </p:sp>
      <p:sp>
        <p:nvSpPr>
          <p:cNvPr id="63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智能软件的测试</a:t>
            </a:r>
            <a:endParaRPr sz="4400" dirty="0"/>
          </a:p>
        </p:txBody>
      </p:sp>
      <p:sp>
        <p:nvSpPr>
          <p:cNvPr id="64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b="1" dirty="0">
                <a:solidFill>
                  <a:srgbClr val="FF0000"/>
                </a:solidFill>
              </a:rPr>
              <a:t>人工智能时代的软件测试</a:t>
            </a:r>
            <a:endParaRPr sz="4400" b="1" dirty="0">
              <a:solidFill>
                <a:srgbClr val="FF0000"/>
              </a:solidFill>
            </a:endParaRPr>
          </a:p>
        </p:txBody>
      </p:sp>
      <p:pic>
        <p:nvPicPr>
          <p:cNvPr id="6" name="音频 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931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人工智能兴衰发展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737970" y="2601568"/>
            <a:ext cx="16459199" cy="3498104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AI</a:t>
            </a: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的诞生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1956</a:t>
            </a: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年，达特茅斯大会，确立人工智能为独立的学科</a:t>
            </a:r>
            <a:endParaRPr lang="en-US" altLang="zh-CN" sz="4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97" y="5704658"/>
            <a:ext cx="11720006" cy="61243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530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 algn="l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人工智能兴衰发展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3306930" y="3719168"/>
            <a:ext cx="16459199" cy="717235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6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人工智能是什么</a:t>
            </a:r>
            <a:endParaRPr lang="en-US" altLang="zh-CN" sz="6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人工智能就是研究如何让计算机去做过去只有人才能做的智能工作。</a:t>
            </a:r>
            <a:endParaRPr lang="en-US" altLang="zh-CN" sz="4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人工智能是关于知识的学科</a:t>
            </a:r>
            <a:r>
              <a:rPr lang="en-US" altLang="zh-CN" sz="4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――</a:t>
            </a:r>
            <a:r>
              <a:rPr lang="zh-CN" altLang="en-US" sz="48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怎样表示知识以及怎样获得知识并使用知识的科学。</a:t>
            </a:r>
            <a:endParaRPr lang="en-US" altLang="zh-CN" sz="48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6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30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pPr algn="l"/>
            <a:r>
              <a:rPr lang="zh-CN" altLang="en-US" dirty="0"/>
              <a:t>人工智能兴衰发展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543175" y="3200409"/>
            <a:ext cx="16459199" cy="84422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第一波高潮</a:t>
            </a: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1951-1974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提出感知器（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Perceptron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，深度学习的雏形）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提出自然语言处理的概念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AI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国际象棋比赛可击败业余爱好者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第一台通用机器人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5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4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1764" y="4572867"/>
            <a:ext cx="6612490" cy="457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141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人工智能兴衰发展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652397" y="3290775"/>
            <a:ext cx="16459199" cy="6241312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第一寒冬</a:t>
            </a: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1974-1980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计算能力遭遇瓶颈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巨量常识表示与推理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神经网络方法遭遇冷落</a:t>
            </a:r>
            <a:endParaRPr lang="zh-CN" altLang="en-US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098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322" y="3437708"/>
            <a:ext cx="7047721" cy="594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1349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446" y="1626649"/>
            <a:ext cx="11731554" cy="6238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人工智能兴衰发展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1777631" y="2367963"/>
            <a:ext cx="16459199" cy="8442242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第二波高潮</a:t>
            </a: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1980-1987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专家系统开始流行并广泛应用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基于专业知识的人工智能方法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BP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算法的出现实现了神经网络训练的突破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4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反向传播算法</a:t>
            </a:r>
            <a:endParaRPr lang="en-US" altLang="zh-CN" sz="40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5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1649" y="11551519"/>
            <a:ext cx="11900695" cy="7181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华文中宋" panose="02010600040101010101" pitchFamily="2" charset="-122"/>
                <a:ea typeface="华文中宋" panose="02010600040101010101" pitchFamily="2" charset="-122"/>
                <a:sym typeface="Helvetica Neue"/>
              </a:rPr>
              <a:t>为什么从通用的神经网络转向领域特定的专家系统？</a:t>
            </a:r>
            <a:endParaRPr kumimoji="0" lang="zh-CN" altLang="en-US" sz="4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华文中宋" panose="02010600040101010101" pitchFamily="2" charset="-122"/>
              <a:ea typeface="华文中宋" panose="02010600040101010101" pitchFamily="2" charset="-122"/>
              <a:sym typeface="Helvetica Neue"/>
            </a:endParaRPr>
          </a:p>
        </p:txBody>
      </p:sp>
    </p:spTree>
  </p:cSld>
  <p:clrMapOvr>
    <a:masterClrMapping/>
  </p:clrMapOvr>
  <p:transition spd="med" advTm="19878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人工智能兴衰发展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862152" y="2870790"/>
            <a:ext cx="16459199" cy="6241312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第二寒冬</a:t>
            </a: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1987-1993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专家系统应用领域有限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知识的更新缓慢而昂贵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个人计算机（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PC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）获得广泛应用</a:t>
            </a:r>
            <a:endParaRPr lang="zh-CN" altLang="en-US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148" name="Picture 4" descr="See the source image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6606" y="3477551"/>
            <a:ext cx="5240374" cy="502779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56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人工智能兴衰发展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1187671" y="3328428"/>
            <a:ext cx="16459199" cy="8442242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第三波高潮</a:t>
            </a:r>
            <a:r>
              <a:rPr lang="en-US" altLang="zh-CN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1993-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1997 IBM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深蓝机器人战胜国际象棋世界冠军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2006 Hinton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提出</a:t>
            </a:r>
            <a:r>
              <a:rPr lang="zh-CN" altLang="en-US" sz="4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多层神经网络深度学习算法</a:t>
            </a:r>
            <a:endParaRPr lang="en-US" altLang="zh-CN" sz="44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2016 Google AlphaGo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战胜围棋世界冠军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Siri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Google Now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Microsoft Cortana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语音助手实用化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深度学习在语音识别和视觉领域获得突破性进展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特斯拉自动驾驶汽车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5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 descr="See the source image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337" y="3570754"/>
            <a:ext cx="5843992" cy="32872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172" name="Picture 4" descr="See the source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0362" y="7670712"/>
            <a:ext cx="5857720" cy="328724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  <a:headEnd/>
            <a:tailEnd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  <p:pic>
        <p:nvPicPr>
          <p:cNvPr id="2050" name="Picture 2" descr="查看源图像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786" y="2174431"/>
            <a:ext cx="2715833" cy="271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 advTm="27701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814402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人工智能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dirty="0"/>
              <a:t> </a:t>
            </a:r>
            <a:r>
              <a:rPr lang="zh-CN" altLang="en-US" dirty="0"/>
              <a:t>软件测试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2737970" y="2438409"/>
            <a:ext cx="16459199" cy="8442242"/>
          </a:xfr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智能软件的测试</a:t>
            </a:r>
            <a:endParaRPr lang="en-US" altLang="zh-CN" sz="5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spcAft>
                <a:spcPts val="4200"/>
              </a:spcAft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软件测试 服务于 人工智能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利用人工智能改进软件测试</a:t>
            </a:r>
            <a:endParaRPr lang="en-US" altLang="zh-CN" sz="5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人工智能 服务于 软件测试</a:t>
            </a:r>
            <a:endParaRPr lang="en-US" altLang="zh-CN" sz="4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zh-CN" altLang="en-US" sz="5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2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395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0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2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33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4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35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6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37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38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39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40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41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小结</a:t>
            </a:r>
            <a:endParaRPr sz="4400" dirty="0"/>
          </a:p>
        </p:txBody>
      </p:sp>
      <p:sp>
        <p:nvSpPr>
          <p:cNvPr id="42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43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44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45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智能化的软件测试</a:t>
            </a:r>
            <a:endParaRPr sz="4400" dirty="0"/>
          </a:p>
        </p:txBody>
      </p:sp>
      <p:sp>
        <p:nvSpPr>
          <p:cNvPr id="46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b="1" dirty="0">
                <a:solidFill>
                  <a:srgbClr val="FF0000"/>
                </a:solidFill>
              </a:rPr>
              <a:t>智能软件的测试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47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人工智能时代的软件测试</a:t>
            </a:r>
            <a:endParaRPr sz="4400"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69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智能软件的测试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144841" y="9673232"/>
            <a:ext cx="85507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特斯拉自动驾驶</a:t>
            </a:r>
            <a:r>
              <a:rPr lang="en-US" altLang="zh-CN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—</a:t>
            </a:r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惨烈车祸</a:t>
            </a:r>
            <a:endParaRPr lang="zh-CN" altLang="en-US" sz="5400" b="0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928283" y="9673232"/>
            <a:ext cx="50882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fontAlgn="ctr" hangingPunct="1"/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人脸识别</a:t>
            </a:r>
            <a:r>
              <a:rPr lang="en-US" altLang="zh-CN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—</a:t>
            </a:r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伪装</a:t>
            </a:r>
            <a:endParaRPr lang="zh-CN" altLang="en-US" sz="5400" b="0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Picture 6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2763" y="4239733"/>
            <a:ext cx="8954896" cy="5040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12913322" y="4273270"/>
            <a:ext cx="8953200" cy="5040000"/>
            <a:chOff x="13260320" y="4006137"/>
            <a:chExt cx="10653384" cy="5507318"/>
          </a:xfrm>
        </p:grpSpPr>
        <p:sp>
          <p:nvSpPr>
            <p:cNvPr id="4" name="椭圆 3"/>
            <p:cNvSpPr/>
            <p:nvPr/>
          </p:nvSpPr>
          <p:spPr>
            <a:xfrm>
              <a:off x="13405034" y="5911272"/>
              <a:ext cx="45719" cy="45719"/>
            </a:xfrm>
            <a:prstGeom prst="ellipse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pic>
          <p:nvPicPr>
            <p:cNvPr id="1026" name="Picture 2" descr="See the source imag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11571" b="-1275"/>
            <a:stretch>
              <a:fillRect/>
            </a:stretch>
          </p:blipFill>
          <p:spPr bwMode="auto">
            <a:xfrm>
              <a:off x="17502014" y="4006137"/>
              <a:ext cx="6411690" cy="55073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0320" y="4006137"/>
              <a:ext cx="5424843" cy="5434026"/>
            </a:xfrm>
            <a:prstGeom prst="rect">
              <a:avLst/>
            </a:prstGeom>
          </p:spPr>
        </p:pic>
      </p:grpSp>
      <p:sp>
        <p:nvSpPr>
          <p:cNvPr id="11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3</a:t>
            </a:r>
            <a:endParaRPr sz="4400" dirty="0"/>
          </a:p>
        </p:txBody>
      </p:sp>
      <p:pic>
        <p:nvPicPr>
          <p:cNvPr id="12" name="音频 11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110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智能软件的测试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598435" y="9430499"/>
            <a:ext cx="91871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无人车测试：从现场走向虚拟</a:t>
            </a:r>
            <a:endParaRPr lang="zh-CN" altLang="en-US" sz="5400" b="0" kern="12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34" r="245"/>
          <a:stretch>
            <a:fillRect/>
          </a:stretch>
        </p:blipFill>
        <p:spPr bwMode="auto">
          <a:xfrm>
            <a:off x="3432794" y="2978967"/>
            <a:ext cx="8508887" cy="535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2" name="Picture 4" descr="See the source image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" r="7951" b="2418"/>
          <a:stretch>
            <a:fillRect/>
          </a:stretch>
        </p:blipFill>
        <p:spPr bwMode="auto">
          <a:xfrm>
            <a:off x="12530365" y="2978967"/>
            <a:ext cx="8510400" cy="535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矩形 9"/>
          <p:cNvSpPr/>
          <p:nvPr/>
        </p:nvSpPr>
        <p:spPr>
          <a:xfrm>
            <a:off x="6905937" y="10742253"/>
            <a:ext cx="105721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降低风险、降低成本、提高覆盖率</a:t>
            </a:r>
            <a:endParaRPr lang="zh-CN" altLang="en-US" sz="5400" b="0" kern="12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3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802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智能软件的测试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52" name="Picture 4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95" y="2696205"/>
            <a:ext cx="3927327" cy="832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3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970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智能软件的测试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14970" y="8363787"/>
            <a:ext cx="179331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构建人脸数据库  </a:t>
            </a:r>
            <a:r>
              <a:rPr lang="en-US" altLang="zh-CN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</a:t>
            </a:r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人脸图像的自动生成    </a:t>
            </a:r>
            <a:r>
              <a:rPr lang="en-US" altLang="zh-CN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</a:t>
            </a:r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altLang="zh-CN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altLang="en-US" sz="5400" b="0" kern="1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系统攻防</a:t>
            </a:r>
            <a:endParaRPr lang="zh-CN" altLang="en-US" sz="5400" b="0" kern="1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182" y="3671043"/>
            <a:ext cx="3872572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57" b="6530"/>
          <a:stretch>
            <a:fillRect/>
          </a:stretch>
        </p:blipFill>
        <p:spPr bwMode="auto">
          <a:xfrm>
            <a:off x="10853013" y="3668488"/>
            <a:ext cx="3328252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椭圆 5"/>
          <p:cNvSpPr/>
          <p:nvPr/>
        </p:nvSpPr>
        <p:spPr>
          <a:xfrm>
            <a:off x="11381294" y="6104526"/>
            <a:ext cx="45719" cy="80382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1965212" y="6661911"/>
            <a:ext cx="150179" cy="108784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12301131" y="6770697"/>
            <a:ext cx="2500310" cy="15212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2524" y="3665148"/>
            <a:ext cx="3429043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矩形 19"/>
          <p:cNvSpPr/>
          <p:nvPr/>
        </p:nvSpPr>
        <p:spPr>
          <a:xfrm>
            <a:off x="7229744" y="9807367"/>
            <a:ext cx="99245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5400" b="0" kern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发现系统漏洞、提高软件可靠性</a:t>
            </a:r>
            <a:endParaRPr lang="zh-CN" altLang="en-US" sz="5400" b="0" kern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3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360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0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2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33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4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35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6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37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38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39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40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41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小结</a:t>
            </a:r>
            <a:endParaRPr sz="4400" dirty="0"/>
          </a:p>
        </p:txBody>
      </p:sp>
      <p:sp>
        <p:nvSpPr>
          <p:cNvPr id="42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43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44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45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智能化的软件测试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46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智能软件的测试</a:t>
            </a:r>
            <a:endParaRPr sz="4400" dirty="0"/>
          </a:p>
        </p:txBody>
      </p:sp>
      <p:sp>
        <p:nvSpPr>
          <p:cNvPr id="47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人工智能时代的软件测试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242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6359848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智能化的软件测试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10519531" y="3866687"/>
            <a:ext cx="3433691" cy="978218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Helvetica Neue Medium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087020" y="3015841"/>
            <a:ext cx="1462260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724451" y="3015840"/>
            <a:ext cx="1462260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13800" b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3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882663" y="3023336"/>
            <a:ext cx="44114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f</a:t>
            </a:r>
            <a:endParaRPr lang="zh-CN" altLang="en-US" sz="6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Monotype Corsiva" panose="03010101010201010101" pitchFamily="66" charset="0"/>
              <a:cs typeface="Times New Roman" panose="02020603050405020304" pitchFamily="18" charset="0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2652397" y="5062158"/>
            <a:ext cx="16459199" cy="30915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软件的本质是一个函数映射</a:t>
            </a:r>
            <a:endParaRPr lang="en-US" altLang="zh-CN" sz="4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将可能的输入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映射到输出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9" name="内容占位符 2"/>
          <p:cNvSpPr txBox="1"/>
          <p:nvPr/>
        </p:nvSpPr>
        <p:spPr>
          <a:xfrm>
            <a:off x="2737970" y="7651726"/>
            <a:ext cx="16459199" cy="30915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软件测试的本质是找到所有导致映射出错的</a:t>
            </a:r>
            <a:r>
              <a:rPr lang="en-US" altLang="zh-CN" sz="4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endParaRPr lang="en-US" altLang="zh-CN" sz="4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给定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zh-CN" sz="4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，如果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f(X</a:t>
            </a:r>
            <a:r>
              <a:rPr lang="en-US" altLang="zh-CN" sz="4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不等于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en-US" altLang="zh-CN" sz="44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，则软件出错。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0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4</a:t>
            </a:r>
            <a:endParaRPr sz="4400" dirty="0"/>
          </a:p>
        </p:txBody>
      </p:sp>
      <p:pic>
        <p:nvPicPr>
          <p:cNvPr id="4" name="音频 3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669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69" y="1078867"/>
            <a:ext cx="8287994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智能化的测试用例生成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2652397" y="2946281"/>
            <a:ext cx="16459199" cy="30915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输入域范围巨大</a:t>
            </a:r>
            <a:endParaRPr lang="en-US" altLang="zh-CN" sz="5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Sum(</a:t>
            </a:r>
            <a:r>
              <a:rPr lang="en-US" altLang="zh-CN" sz="44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a, </a:t>
            </a:r>
            <a:r>
              <a:rPr lang="en-US" altLang="zh-CN" sz="440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int</a:t>
            </a:r>
            <a:r>
              <a:rPr lang="en-US" altLang="zh-CN" sz="4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b)</a:t>
            </a:r>
            <a:endParaRPr lang="en-US" altLang="zh-CN" sz="44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7295587" y="6554673"/>
                <a:ext cx="6647717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defTabSz="914400" hangingPunct="1"/>
                <a:r>
                  <a:rPr lang="en-US" altLang="zh-CN" sz="6000" b="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sz="6000" b="0" kern="1200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nt</a:t>
                </a:r>
                <a:r>
                  <a:rPr lang="en-US" altLang="zh-CN" sz="6000" b="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4800" b="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取值范围</a:t>
                </a:r>
                <a:r>
                  <a:rPr lang="en-US" altLang="zh-CN" sz="4800" b="0" kern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微软雅黑" panose="020B0503020204020204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4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lang="en-US" altLang="zh-CN" sz="4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n-cs"/>
                          </a:rPr>
                          <m:t>−</m:t>
                        </m:r>
                        <m:r>
                          <a:rPr lang="en-US" altLang="zh-CN" sz="4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lang="en-US" altLang="zh-CN" sz="4800" b="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+mn-cs"/>
                          </a:rPr>
                          <m:t>31</m:t>
                        </m:r>
                      </m:sup>
                    </m:sSup>
                    <m:r>
                      <a:rPr lang="en-US" altLang="zh-CN" sz="4800" b="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  <a:cs typeface="+mn-cs"/>
                      </a:rPr>
                      <m:t>~</m:t>
                    </m:r>
                    <m:sSup>
                      <m:sSupPr>
                        <m:ctrlPr>
                          <a:rPr lang="en-US" altLang="zh-CN" sz="4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4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e>
                      <m:sup>
                        <m:r>
                          <a:rPr lang="en-US" altLang="zh-CN" sz="4800" b="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31</m:t>
                        </m:r>
                      </m:sup>
                    </m:sSup>
                  </m:oMath>
                </a14:m>
                <a:endParaRPr lang="zh-CN" altLang="en-US" sz="60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587" y="6554673"/>
                <a:ext cx="6647717" cy="1015663"/>
              </a:xfrm>
              <a:prstGeom prst="rect">
                <a:avLst/>
              </a:prstGeom>
              <a:blipFill rotWithShape="1">
                <a:blip r:embed="rId1"/>
                <a:stretch>
                  <a:fillRect l="-1" t="-20" r="-784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737969" y="8108055"/>
            <a:ext cx="19785243" cy="248614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/>
          <a:p>
            <a:pPr marL="635000" indent="-635000" algn="l" hangingPunct="1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</a:pPr>
            <a:r>
              <a:rPr lang="zh-CN" altLang="en-US" sz="5400" b="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有效软件测试的关键：</a:t>
            </a:r>
            <a:endParaRPr lang="en-US" altLang="zh-CN" sz="5400" b="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1905000" lvl="2" indent="-635000" algn="l" hangingPunct="1">
              <a:lnSpc>
                <a:spcPct val="150000"/>
              </a:lnSpc>
              <a:buSzPct val="125000"/>
              <a:buFont typeface="Wingdings" panose="05000000000000000000" pitchFamily="2" charset="2"/>
              <a:buChar char="ü"/>
            </a:pPr>
            <a:r>
              <a:rPr lang="zh-CN" altLang="en-US" sz="44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智能化地、准确地</a:t>
            </a:r>
            <a:r>
              <a:rPr lang="zh-CN" altLang="en-US" sz="4400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选择最可能出错的输入值（测试用例）</a:t>
            </a:r>
            <a:endParaRPr lang="zh-CN" altLang="en-US" sz="4400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4</a:t>
            </a:r>
            <a:endParaRPr sz="4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7264" y="3239029"/>
            <a:ext cx="10189445" cy="23188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音频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081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24600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智能化测试结果判定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内容占位符 2"/>
          <p:cNvSpPr txBox="1"/>
          <p:nvPr/>
        </p:nvSpPr>
        <p:spPr>
          <a:xfrm>
            <a:off x="2652397" y="2946281"/>
            <a:ext cx="16459199" cy="309157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测试结果的智能判定</a:t>
            </a:r>
            <a:endParaRPr lang="en-US" altLang="zh-CN" sz="54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lvl="2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zh-CN" sz="4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Sum(</a:t>
            </a:r>
            <a:r>
              <a:rPr lang="en-US" altLang="zh-CN" sz="4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a, </a:t>
            </a:r>
            <a:r>
              <a:rPr lang="en-US" altLang="zh-CN" sz="4400" b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44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b)</a:t>
            </a:r>
            <a:endParaRPr lang="en-US" altLang="zh-CN" sz="44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795320" y="6419234"/>
          <a:ext cx="16793360" cy="3971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8340"/>
                <a:gridCol w="4198340"/>
                <a:gridCol w="4198340"/>
                <a:gridCol w="4198340"/>
              </a:tblGrid>
              <a:tr h="992948">
                <a:tc gridSpan="2">
                  <a:txBody>
                    <a:bodyPr/>
                    <a:lstStyle/>
                    <a:p>
                      <a:pPr fontAlgn="ctr"/>
                      <a:r>
                        <a:rPr lang="zh-CN" altLang="en-US" sz="4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输入</a:t>
                      </a:r>
                      <a:endParaRPr lang="zh-CN" altLang="en-US" sz="4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CN" altLang="en-US" sz="4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输出</a:t>
                      </a:r>
                      <a:endParaRPr lang="zh-CN" altLang="en-US" sz="4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CN" altLang="en-US" sz="4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测试结果</a:t>
                      </a:r>
                      <a:endParaRPr lang="zh-CN" altLang="en-US" sz="4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92948"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3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4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7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？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</a:tr>
              <a:tr h="992948"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4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8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11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？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</a:tr>
              <a:tr h="992948"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10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10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20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4400" b="1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？</a:t>
                      </a:r>
                      <a:endParaRPr lang="zh-CN" altLang="en-US" sz="4400" b="1" dirty="0">
                        <a:latin typeface="仿宋" panose="02010609060101010101" pitchFamily="49" charset="-122"/>
                        <a:ea typeface="仿宋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4</a:t>
            </a:r>
            <a:endParaRPr sz="4400" dirty="0"/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704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24600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错误报告的自动验证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889" y="4397774"/>
            <a:ext cx="9941935" cy="663412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9824" y="4508400"/>
            <a:ext cx="10355323" cy="6523497"/>
          </a:xfrm>
          <a:prstGeom prst="rect">
            <a:avLst/>
          </a:prstGeom>
          <a:ln w="28575">
            <a:solidFill>
              <a:srgbClr val="F9263C"/>
            </a:solidFill>
            <a:prstDash val="dash"/>
          </a:ln>
        </p:spPr>
      </p:pic>
      <p:sp>
        <p:nvSpPr>
          <p:cNvPr id="8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4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669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0881997" y="12977337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defTabSz="914400" hangingPunct="1"/>
            <a:r>
              <a:rPr lang="zh-CN" altLang="en-US" sz="3600" kern="120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软件危机</a:t>
            </a:r>
            <a:endParaRPr lang="zh-CN" altLang="en-US" sz="3600" b="0" kern="12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7987" y="4562802"/>
            <a:ext cx="10355323" cy="6298378"/>
          </a:xfrm>
          <a:prstGeom prst="rect">
            <a:avLst/>
          </a:prstGeom>
          <a:ln w="28575">
            <a:solidFill>
              <a:srgbClr val="F9263C"/>
            </a:solidFill>
            <a:prstDash val="dash"/>
          </a:ln>
        </p:spPr>
      </p:pic>
      <p:sp>
        <p:nvSpPr>
          <p:cNvPr id="3" name="右箭头 2"/>
          <p:cNvSpPr/>
          <p:nvPr/>
        </p:nvSpPr>
        <p:spPr>
          <a:xfrm>
            <a:off x="13084445" y="7185679"/>
            <a:ext cx="2158142" cy="1052623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0" name="Picture 2" descr="See the source image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2" t="-275" r="24359" b="29220"/>
          <a:stretch>
            <a:fillRect/>
          </a:stretch>
        </p:blipFill>
        <p:spPr bwMode="auto">
          <a:xfrm>
            <a:off x="15691596" y="5731990"/>
            <a:ext cx="6840000" cy="396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4</a:t>
            </a:r>
            <a:endParaRPr sz="44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7246002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错误报告的自动验证</a:t>
            </a:r>
            <a:endParaRPr lang="zh-CN" altLang="en-US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153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目录</a:t>
              </a:r>
              <a:endPara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0" name="矩形 5"/>
          <p:cNvSpPr txBox="1"/>
          <p:nvPr/>
        </p:nvSpPr>
        <p:spPr>
          <a:xfrm>
            <a:off x="10563985" y="2022762"/>
            <a:ext cx="5750204" cy="846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</a:rPr>
              <a:t>软件测试的历史与现状</a:t>
            </a:r>
            <a:endParaRPr sz="4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Freeform 5"/>
          <p:cNvSpPr/>
          <p:nvPr/>
        </p:nvSpPr>
        <p:spPr>
          <a:xfrm rot="5400000">
            <a:off x="8893569" y="1828216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2" name="矩形 11"/>
          <p:cNvSpPr txBox="1"/>
          <p:nvPr/>
        </p:nvSpPr>
        <p:spPr>
          <a:xfrm>
            <a:off x="8862131" y="1898386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01</a:t>
            </a:r>
            <a:endParaRPr sz="4400" dirty="0"/>
          </a:p>
        </p:txBody>
      </p:sp>
      <p:sp>
        <p:nvSpPr>
          <p:cNvPr id="33" name="Freeform 5"/>
          <p:cNvSpPr/>
          <p:nvPr/>
        </p:nvSpPr>
        <p:spPr>
          <a:xfrm rot="5400000">
            <a:off x="8893568" y="3935304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4" name="矩形 11"/>
          <p:cNvSpPr txBox="1"/>
          <p:nvPr/>
        </p:nvSpPr>
        <p:spPr>
          <a:xfrm>
            <a:off x="8862131" y="4005473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02</a:t>
            </a:r>
            <a:endParaRPr sz="4400"/>
          </a:p>
        </p:txBody>
      </p:sp>
      <p:sp>
        <p:nvSpPr>
          <p:cNvPr id="35" name="Freeform 5"/>
          <p:cNvSpPr/>
          <p:nvPr/>
        </p:nvSpPr>
        <p:spPr>
          <a:xfrm rot="5400000">
            <a:off x="8893568" y="6042391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36" name="矩形 11"/>
          <p:cNvSpPr txBox="1"/>
          <p:nvPr/>
        </p:nvSpPr>
        <p:spPr>
          <a:xfrm>
            <a:off x="8862131" y="6112560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/>
              <a:t>03</a:t>
            </a:r>
            <a:endParaRPr sz="4400"/>
          </a:p>
        </p:txBody>
      </p:sp>
      <p:grpSp>
        <p:nvGrpSpPr>
          <p:cNvPr id="37" name="成组"/>
          <p:cNvGrpSpPr/>
          <p:nvPr/>
        </p:nvGrpSpPr>
        <p:grpSpPr>
          <a:xfrm>
            <a:off x="8862131" y="10111105"/>
            <a:ext cx="6332147" cy="1526821"/>
            <a:chOff x="0" y="261120"/>
            <a:chExt cx="6206756" cy="1343464"/>
          </a:xfrm>
        </p:grpSpPr>
        <p:sp>
          <p:nvSpPr>
            <p:cNvPr id="38" name="矩形 5"/>
            <p:cNvSpPr txBox="1"/>
            <p:nvPr/>
          </p:nvSpPr>
          <p:spPr>
            <a:xfrm>
              <a:off x="1668153" y="299174"/>
              <a:ext cx="4538603" cy="601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defRPr>
              </a:lvl1pPr>
            </a:lstStyle>
            <a:p>
              <a:pPr algn="l"/>
              <a:endParaRPr dirty="0"/>
            </a:p>
          </p:txBody>
        </p:sp>
        <p:sp>
          <p:nvSpPr>
            <p:cNvPr id="39" name="Freeform 5"/>
            <p:cNvSpPr/>
            <p:nvPr/>
          </p:nvSpPr>
          <p:spPr>
            <a:xfrm rot="5400000">
              <a:off x="107376" y="327137"/>
              <a:ext cx="1343464" cy="12114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40" name="矩形 11"/>
            <p:cNvSpPr txBox="1"/>
            <p:nvPr/>
          </p:nvSpPr>
          <p:spPr>
            <a:xfrm>
              <a:off x="0" y="450853"/>
              <a:ext cx="1558216" cy="9639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</a:t>
              </a:r>
              <a:r>
                <a:rPr lang="en-US" dirty="0"/>
                <a:t>5</a:t>
              </a:r>
              <a:endParaRPr dirty="0"/>
            </a:p>
          </p:txBody>
        </p:sp>
      </p:grpSp>
      <p:sp>
        <p:nvSpPr>
          <p:cNvPr id="41" name="矩形 5"/>
          <p:cNvSpPr txBox="1"/>
          <p:nvPr/>
        </p:nvSpPr>
        <p:spPr>
          <a:xfrm>
            <a:off x="10563985" y="10532480"/>
            <a:ext cx="247129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小结</a:t>
            </a:r>
            <a:endParaRPr sz="4400" b="1" dirty="0">
              <a:solidFill>
                <a:srgbClr val="FF0000"/>
              </a:solidFill>
            </a:endParaRPr>
          </a:p>
        </p:txBody>
      </p:sp>
      <p:sp>
        <p:nvSpPr>
          <p:cNvPr id="42" name="矩形 5"/>
          <p:cNvSpPr txBox="1"/>
          <p:nvPr/>
        </p:nvSpPr>
        <p:spPr>
          <a:xfrm>
            <a:off x="10563985" y="8344024"/>
            <a:ext cx="4630293" cy="68337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endParaRPr sz="4400" dirty="0"/>
          </a:p>
        </p:txBody>
      </p:sp>
      <p:sp>
        <p:nvSpPr>
          <p:cNvPr id="43" name="Freeform 5"/>
          <p:cNvSpPr/>
          <p:nvPr/>
        </p:nvSpPr>
        <p:spPr>
          <a:xfrm rot="5400000">
            <a:off x="8893568" y="8149478"/>
            <a:ext cx="1526821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4400"/>
          </a:p>
        </p:txBody>
      </p:sp>
      <p:sp>
        <p:nvSpPr>
          <p:cNvPr id="44" name="矩形 11"/>
          <p:cNvSpPr txBox="1"/>
          <p:nvPr/>
        </p:nvSpPr>
        <p:spPr>
          <a:xfrm>
            <a:off x="8862131" y="821964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04</a:t>
            </a:r>
            <a:endParaRPr sz="4400" dirty="0"/>
          </a:p>
        </p:txBody>
      </p:sp>
      <p:sp>
        <p:nvSpPr>
          <p:cNvPr id="45" name="矩形 5"/>
          <p:cNvSpPr txBox="1"/>
          <p:nvPr/>
        </p:nvSpPr>
        <p:spPr>
          <a:xfrm>
            <a:off x="10563985" y="8361026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zh-CN" altLang="en-US" sz="4400" dirty="0"/>
              <a:t>智能化的软件测试</a:t>
            </a:r>
            <a:endParaRPr sz="4400" dirty="0"/>
          </a:p>
        </p:txBody>
      </p:sp>
      <p:sp>
        <p:nvSpPr>
          <p:cNvPr id="46" name="矩形 5"/>
          <p:cNvSpPr txBox="1"/>
          <p:nvPr/>
        </p:nvSpPr>
        <p:spPr>
          <a:xfrm>
            <a:off x="10563985" y="6270942"/>
            <a:ext cx="4896545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智能软件的测试</a:t>
            </a:r>
            <a:endParaRPr sz="4400" dirty="0"/>
          </a:p>
        </p:txBody>
      </p:sp>
      <p:sp>
        <p:nvSpPr>
          <p:cNvPr id="47" name="矩形 5"/>
          <p:cNvSpPr txBox="1"/>
          <p:nvPr/>
        </p:nvSpPr>
        <p:spPr>
          <a:xfrm>
            <a:off x="10563985" y="4169837"/>
            <a:ext cx="7662346" cy="8898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l"/>
            <a:r>
              <a:rPr lang="en-US" sz="4400" dirty="0"/>
              <a:t>人工智能时代的软件测试</a:t>
            </a:r>
            <a:endParaRPr sz="44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74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849665" y="4025071"/>
            <a:ext cx="636584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软件测试前途光明</a:t>
            </a:r>
            <a:endParaRPr lang="en-US" altLang="zh-CN" sz="6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81597" y="5965813"/>
            <a:ext cx="868378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智能软件的测试充满挑战</a:t>
            </a:r>
            <a:endParaRPr lang="en-US" altLang="zh-CN" sz="6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83388" y="7906555"/>
            <a:ext cx="1293495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人工智能是解决软件测试难题的希望</a:t>
            </a:r>
            <a:endParaRPr lang="en-US" altLang="zh-CN" sz="6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18893" y="1078867"/>
            <a:ext cx="1589696" cy="10955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sz="4400" dirty="0"/>
              <a:t>0</a:t>
            </a:r>
            <a:r>
              <a:rPr lang="en-US" altLang="zh-CN" sz="4400" dirty="0"/>
              <a:t>5</a:t>
            </a:r>
            <a:endParaRPr sz="440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146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896638" y="13228638"/>
            <a:ext cx="271462" cy="271462"/>
          </a:xfrm>
          <a:prstGeom prst="rect">
            <a:avLst/>
          </a:prstGeom>
        </p:spPr>
      </p:pic>
    </p:spTree>
  </p:cSld>
  <p:clrMapOvr>
    <a:masterClrMapping/>
  </p:clrMapOvr>
  <p:transition spd="med" advTm="667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43.8|28|33.7|88"/>
</p:tagLst>
</file>

<file path=ppt/tags/tag2.xml><?xml version="1.0" encoding="utf-8"?>
<p:tagLst xmlns:p="http://schemas.openxmlformats.org/presentationml/2006/main">
  <p:tag name="TIMING" val="|46"/>
</p:tagLst>
</file>

<file path=ppt/tags/tag3.xml><?xml version="1.0" encoding="utf-8"?>
<p:tagLst xmlns:p="http://schemas.openxmlformats.org/presentationml/2006/main">
  <p:tag name="TIMING" val="|116.8"/>
</p:tagLst>
</file>

<file path=ppt/tags/tag4.xml><?xml version="1.0" encoding="utf-8"?>
<p:tagLst xmlns:p="http://schemas.openxmlformats.org/presentationml/2006/main">
  <p:tag name="TIMING" val="|51.3"/>
</p:tagLst>
</file>

<file path=ppt/tags/tag5.xml><?xml version="1.0" encoding="utf-8"?>
<p:tagLst xmlns:p="http://schemas.openxmlformats.org/presentationml/2006/main">
  <p:tag name="COMMONDATA" val="eyJoZGlkIjoiN2RjMzk0Mzc2NzY3NGE0YmI3MDJiMTlmNzE2MWFmNDcifQ=="/>
  <p:tag name="commondata" val="eyJoZGlkIjoiNWY4NzZjZjg1ZDI5N2JhZWU3ZjVjZDU2NTU1Y2E1MTU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WPS 演示</Application>
  <PresentationFormat>Custom</PresentationFormat>
  <Paragraphs>459</Paragraphs>
  <Slides>34</Slides>
  <Notes>34</Notes>
  <HiddenSlides>0</HiddenSlides>
  <MMClips>34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9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Calibri</vt:lpstr>
      <vt:lpstr>微软雅黑 Light</vt:lpstr>
      <vt:lpstr>MicrosoftYaHeiLight</vt:lpstr>
      <vt:lpstr>AMGDT</vt:lpstr>
      <vt:lpstr>Arial Black</vt:lpstr>
      <vt:lpstr>Times New Roman</vt:lpstr>
      <vt:lpstr>楷体</vt:lpstr>
      <vt:lpstr>华文隶书</vt:lpstr>
      <vt:lpstr>Arial Unicode MS</vt:lpstr>
      <vt:lpstr>华文行楷</vt:lpstr>
      <vt:lpstr>等线</vt:lpstr>
      <vt:lpstr>华文中宋</vt:lpstr>
      <vt:lpstr>Monotype Corsiva</vt:lpstr>
      <vt:lpstr>Cambria Math</vt:lpstr>
      <vt:lpstr>华文楷体</vt:lpstr>
      <vt:lpstr>仿宋</vt:lpstr>
      <vt:lpstr>Helvetica Neue Medium</vt:lpstr>
      <vt:lpstr>White</vt:lpstr>
      <vt:lpstr>PowerPoint 演示文稿</vt:lpstr>
      <vt:lpstr>PowerPoint 演示文稿</vt:lpstr>
      <vt:lpstr>PowerPoint 演示文稿</vt:lpstr>
      <vt:lpstr>软件测试的发展与现状</vt:lpstr>
      <vt:lpstr>软件测试的发展与现状</vt:lpstr>
      <vt:lpstr>程序员 VS 测试员</vt:lpstr>
      <vt:lpstr>产业需求</vt:lpstr>
      <vt:lpstr>产业需求</vt:lpstr>
      <vt:lpstr>产业需求</vt:lpstr>
      <vt:lpstr>产业需求</vt:lpstr>
      <vt:lpstr>软件测试的现状—小结</vt:lpstr>
      <vt:lpstr>PowerPoint 演示文稿</vt:lpstr>
      <vt:lpstr>人工智能兴衰发展</vt:lpstr>
      <vt:lpstr>人工智能兴衰发展</vt:lpstr>
      <vt:lpstr>人工智能兴衰发展</vt:lpstr>
      <vt:lpstr>人工智能兴衰发展</vt:lpstr>
      <vt:lpstr>人工智能兴衰发展</vt:lpstr>
      <vt:lpstr>人工智能兴衰发展</vt:lpstr>
      <vt:lpstr>人工智能兴衰发展</vt:lpstr>
      <vt:lpstr>人工智能 VS 软件测试</vt:lpstr>
      <vt:lpstr>PowerPoint 演示文稿</vt:lpstr>
      <vt:lpstr>智能软件的测试</vt:lpstr>
      <vt:lpstr>智能软件的测试</vt:lpstr>
      <vt:lpstr>智能软件的测试</vt:lpstr>
      <vt:lpstr>智能软件的测试</vt:lpstr>
      <vt:lpstr>PowerPoint 演示文稿</vt:lpstr>
      <vt:lpstr>智能化的软件测试</vt:lpstr>
      <vt:lpstr>智能化的测试用例生成</vt:lpstr>
      <vt:lpstr>智能化测试结果判定</vt:lpstr>
      <vt:lpstr>错误报告的自动验证</vt:lpstr>
      <vt:lpstr>错误报告的自动验证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226</cp:revision>
  <dcterms:created xsi:type="dcterms:W3CDTF">2019-05-10T09:49:00Z</dcterms:created>
  <dcterms:modified xsi:type="dcterms:W3CDTF">2023-10-14T04:17:21Z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5956C3BDF7434F10993E48820AF15218_12</vt:lpwstr>
  </property>
</Properties>
</file>