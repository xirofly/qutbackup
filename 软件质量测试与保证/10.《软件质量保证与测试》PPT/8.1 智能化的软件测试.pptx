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7.svg" ContentType="image/svg+xml"/>
  <Override PartName="/ppt/media/image20.svg" ContentType="image/svg+xml"/>
  <Override PartName="/ppt/media/image22.svg" ContentType="image/svg+xml"/>
  <Override PartName="/ppt/media/image30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94" r:id="rId6"/>
    <p:sldId id="726" r:id="rId7"/>
    <p:sldId id="706" r:id="rId8"/>
    <p:sldId id="727" r:id="rId9"/>
    <p:sldId id="728" r:id="rId10"/>
    <p:sldId id="729" r:id="rId11"/>
    <p:sldId id="730" r:id="rId12"/>
    <p:sldId id="731" r:id="rId13"/>
    <p:sldId id="732" r:id="rId14"/>
    <p:sldId id="733" r:id="rId15"/>
    <p:sldId id="734" r:id="rId16"/>
    <p:sldId id="748" r:id="rId17"/>
    <p:sldId id="737" r:id="rId18"/>
    <p:sldId id="735" r:id="rId19"/>
    <p:sldId id="736" r:id="rId20"/>
    <p:sldId id="739" r:id="rId21"/>
    <p:sldId id="738" r:id="rId22"/>
    <p:sldId id="740" r:id="rId23"/>
    <p:sldId id="741" r:id="rId24"/>
    <p:sldId id="742" r:id="rId25"/>
    <p:sldId id="743" r:id="rId26"/>
    <p:sldId id="744" r:id="rId27"/>
    <p:sldId id="745" r:id="rId28"/>
    <p:sldId id="746" r:id="rId29"/>
    <p:sldId id="747" r:id="rId30"/>
    <p:sldId id="624" r:id="rId31"/>
    <p:sldId id="698" r:id="rId32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69794" autoAdjust="0"/>
  </p:normalViewPr>
  <p:slideViewPr>
    <p:cSldViewPr snapToGrid="0">
      <p:cViewPr>
        <p:scale>
          <a:sx n="70" d="100"/>
          <a:sy n="70" d="100"/>
        </p:scale>
        <p:origin x="1611" y="-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ableStyles" Target="tableStyles.xml"/><Relationship Id="rId36" Type="http://schemas.openxmlformats.org/officeDocument/2006/relationships/tags" Target="tags/tag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62AE40-D527-4864-BE16-AD3649ABA12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90321E-A662-465D-9573-2041D6D1B00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4600" b="1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b="1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cap="none" spc="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700" b="1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Edit Master text styles</a:t>
            </a:r>
            <a:endParaRPr lang="en-US" altLang="zh-C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与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"/>
          <p:cNvSpPr/>
          <p:nvPr userDrawn="1"/>
        </p:nvSpPr>
        <p:spPr>
          <a:xfrm>
            <a:off x="-4774" y="-11161"/>
            <a:ext cx="12201547" cy="3872570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/>
          </a:p>
        </p:txBody>
      </p:sp>
      <p:pic>
        <p:nvPicPr>
          <p:cNvPr id="13" name="图像" descr="图像"/>
          <p:cNvPicPr>
            <a:picLocks noChangeAspect="1"/>
          </p:cNvPicPr>
          <p:nvPr/>
        </p:nvPicPr>
        <p:blipFill>
          <a:blip r:embed="rId2">
            <a:alphaModFix amt="12036"/>
          </a:blip>
          <a:stretch>
            <a:fillRect/>
          </a:stretch>
        </p:blipFill>
        <p:spPr>
          <a:xfrm>
            <a:off x="8467396" y="-1878202"/>
            <a:ext cx="4248055" cy="487479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8" name="助力院校ICT人才培养致力于产教融合(替换文字即可）"/>
          <p:cNvSpPr txBox="1"/>
          <p:nvPr userDrawn="1"/>
        </p:nvSpPr>
        <p:spPr>
          <a:xfrm>
            <a:off x="608533" y="565525"/>
            <a:ext cx="51361" cy="26674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/>
          <a:p>
            <a:pPr algn="l" defTabSz="400685">
              <a:defRPr sz="2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sz="1400" dirty="0"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8912466" y="-1753883"/>
            <a:ext cx="4288521" cy="49212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2212734" y="3859517"/>
            <a:ext cx="4288521" cy="49212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6" name="Freeform 5"/>
          <p:cNvSpPr/>
          <p:nvPr userDrawn="1"/>
        </p:nvSpPr>
        <p:spPr>
          <a:xfrm rot="5400000">
            <a:off x="445478" y="461302"/>
            <a:ext cx="811227" cy="731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>
            <a:miter lim="400000"/>
          </a:ln>
        </p:spPr>
        <p:txBody>
          <a:bodyPr lIns="22860" rIns="22860" anchor="ctr"/>
          <a:lstStyle/>
          <a:p>
            <a:pPr defTabSz="45720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368985" y="539434"/>
            <a:ext cx="2772709" cy="521447"/>
          </a:xfrm>
        </p:spPr>
        <p:txBody>
          <a:bodyPr>
            <a:normAutofit/>
          </a:bodyPr>
          <a:lstStyle>
            <a:lvl1pPr marL="0" marR="0" indent="0" algn="l" defTabSz="4572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kumimoji="0" lang="zh-CN" altLang="en-US" sz="3000" b="1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marL="0" marR="0" lvl="0" indent="0" algn="ctr" defTabSz="4127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/>
              <a:t>标题：替换文字</a:t>
            </a:r>
            <a:endParaRPr lang="zh-CN" altLang="en-US" dirty="0"/>
          </a:p>
        </p:txBody>
      </p:sp>
      <p:sp>
        <p:nvSpPr>
          <p:cNvPr id="4" name="文本框 3"/>
          <p:cNvSpPr txBox="1"/>
          <p:nvPr userDrawn="1"/>
        </p:nvSpPr>
        <p:spPr>
          <a:xfrm>
            <a:off x="522288" y="1515311"/>
            <a:ext cx="11184372" cy="4360168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25400" tIns="25400" rIns="25400" bIns="25400" numCol="1" spcCol="38100" rtlCol="0" anchor="ctr">
            <a:spAutoFit/>
          </a:bodyPr>
          <a:lstStyle/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  <a:p>
            <a:pPr marL="0" marR="0" indent="0" algn="ctr" defTabSz="41275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400" b="1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微软雅黑 Light" panose="020B0502040204020203" pitchFamily="34" charset="-122"/>
              <a:ea typeface="微软雅黑 Light" panose="020B0502040204020203" pitchFamily="34" charset="-122"/>
              <a:cs typeface="Helvetica Neue"/>
              <a:sym typeface="Helvetica Neue"/>
            </a:endParaRPr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图像" descr="图像"/>
          <p:cNvPicPr>
            <a:picLocks noChangeAspect="1"/>
          </p:cNvPicPr>
          <p:nvPr/>
        </p:nvPicPr>
        <p:blipFill>
          <a:blip r:embed="rId2">
            <a:alphaModFix amt="7357"/>
          </a:blip>
          <a:stretch>
            <a:fillRect/>
          </a:stretch>
        </p:blipFill>
        <p:spPr>
          <a:xfrm>
            <a:off x="8912466" y="-1753883"/>
            <a:ext cx="4288521" cy="49212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12" name="图像" descr="图像"/>
          <p:cNvPicPr>
            <a:picLocks noChangeAspect="1"/>
          </p:cNvPicPr>
          <p:nvPr/>
        </p:nvPicPr>
        <p:blipFill>
          <a:blip r:embed="rId2">
            <a:alphaModFix amt="6764"/>
          </a:blip>
          <a:stretch>
            <a:fillRect/>
          </a:stretch>
        </p:blipFill>
        <p:spPr>
          <a:xfrm>
            <a:off x="-2212734" y="3859517"/>
            <a:ext cx="4288521" cy="492122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sp>
        <p:nvSpPr>
          <p:cNvPr id="10" name="谢谢您的观赏"/>
          <p:cNvSpPr txBox="1"/>
          <p:nvPr userDrawn="1"/>
        </p:nvSpPr>
        <p:spPr>
          <a:xfrm>
            <a:off x="5338314" y="2652942"/>
            <a:ext cx="1282402" cy="1028808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 algn="l" defTabSz="215265">
              <a:defRPr sz="10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4800" dirty="0" err="1"/>
              <a:t>谢谢</a:t>
            </a:r>
            <a:endParaRPr lang="en-US" altLang="zh-CN" sz="4800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27EB96-C61E-4EE0-8983-7A709C67944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D0D5FF-E551-459D-926A-6FE0290DDE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5979516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1200" b="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transition spd="med"/>
  <p:txStyles>
    <p:titleStyle>
      <a:lvl1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6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200" b="1" i="0" u="none" strike="noStrike" cap="none" spc="0" baseline="0">
          <a:ln>
            <a:noFill/>
          </a:ln>
          <a:solidFill>
            <a:srgbClr val="000000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Helvetica Neue"/>
        </a:defRPr>
      </a:lvl1pPr>
      <a:lvl2pPr marL="635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000" b="1" i="0" u="none" strike="noStrike" cap="none" spc="0" baseline="0">
          <a:ln>
            <a:noFill/>
          </a:ln>
          <a:solidFill>
            <a:srgbClr val="000000"/>
          </a:solidFill>
          <a:uFillTx/>
          <a:latin typeface="黑体" panose="02010609060101010101" pitchFamily="49" charset="-122"/>
          <a:ea typeface="黑体" panose="02010609060101010101" pitchFamily="49" charset="-122"/>
          <a:cs typeface="黑体" panose="02010609060101010101" pitchFamily="49" charset="-122"/>
          <a:sym typeface="Helvetica Neue"/>
        </a:defRPr>
      </a:lvl2pPr>
      <a:lvl3pPr marL="952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latinLnBrk="0">
        <a:lnSpc>
          <a:spcPct val="100000"/>
        </a:lnSpc>
        <a:spcBef>
          <a:spcPts val="2950"/>
        </a:spcBef>
        <a:spcAft>
          <a:spcPts val="0"/>
        </a:spcAft>
        <a:buClrTx/>
        <a:buSzPct val="125000"/>
        <a:buFontTx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2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jpeg"/><Relationship Id="rId4" Type="http://schemas.openxmlformats.org/officeDocument/2006/relationships/image" Target="../media/image3.png"/><Relationship Id="rId5" Type="http://schemas.openxmlformats.org/officeDocument/2006/relationships/tags" Target="../tags/tag1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5.jpeg"/><Relationship Id="rId4" Type="http://schemas.openxmlformats.org/officeDocument/2006/relationships/image" Target="../media/image3.png"/><Relationship Id="rId5" Type="http://schemas.openxmlformats.org/officeDocument/2006/relationships/tags" Target="../tags/tag2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svg"/><Relationship Id="rId3" Type="http://schemas.openxmlformats.org/officeDocument/2006/relationships/image" Target="../media/image8.png"/><Relationship Id="rId4" Type="http://schemas.openxmlformats.org/officeDocument/2006/relationships/image" Target="../media/image9.sv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svg"/><Relationship Id="rId10" Type="http://schemas.openxmlformats.org/officeDocument/2006/relationships/image" Target="../media/image3.png"/><Relationship Id="rId11" Type="http://schemas.openxmlformats.org/officeDocument/2006/relationships/tags" Target="../tags/tag3.xml"/><Relationship Id="rId12" Type="http://schemas.openxmlformats.org/officeDocument/2006/relationships/slideLayout" Target="../slideLayouts/slideLayout13.xml"/><Relationship Id="rId1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4.xm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5.xm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svg"/><Relationship Id="rId3" Type="http://schemas.openxmlformats.org/officeDocument/2006/relationships/image" Target="../media/image11.png"/><Relationship Id="rId4" Type="http://schemas.openxmlformats.org/officeDocument/2006/relationships/image" Target="../media/image12.svg"/><Relationship Id="rId7" Type="http://schemas.openxmlformats.org/officeDocument/2006/relationships/image" Target="../media/image3.png"/><Relationship Id="rId8" Type="http://schemas.openxmlformats.org/officeDocument/2006/relationships/tags" Target="../tags/tag6.xml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8.xm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9.xm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tags" Target="../tags/tag10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7" Type="http://schemas.openxmlformats.org/officeDocument/2006/relationships/image" Target="../media/image3.png"/><Relationship Id="rId8" Type="http://schemas.openxmlformats.org/officeDocument/2006/relationships/tags" Target="../tags/tag11.xml"/><Relationship Id="rId9" Type="http://schemas.openxmlformats.org/officeDocument/2006/relationships/slideLayout" Target="../slideLayouts/slideLayout13.xml"/><Relationship Id="rId10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21.png"/><Relationship Id="rId6" Type="http://schemas.openxmlformats.org/officeDocument/2006/relationships/image" Target="../media/image22.svg"/><Relationship Id="rId7" Type="http://schemas.openxmlformats.org/officeDocument/2006/relationships/image" Target="../media/image23.jpeg"/><Relationship Id="rId8" Type="http://schemas.openxmlformats.org/officeDocument/2006/relationships/image" Target="../media/image24.png"/><Relationship Id="rId11" Type="http://schemas.openxmlformats.org/officeDocument/2006/relationships/image" Target="../media/image3.png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3.xml"/><Relationship Id="rId1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4" Type="http://schemas.openxmlformats.org/officeDocument/2006/relationships/image" Target="../media/image3.png"/><Relationship Id="rId5" Type="http://schemas.openxmlformats.org/officeDocument/2006/relationships/tags" Target="../tags/tag13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4.xm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svg"/><Relationship Id="rId8" Type="http://schemas.openxmlformats.org/officeDocument/2006/relationships/image" Target="../media/image3.png"/><Relationship Id="rId9" Type="http://schemas.openxmlformats.org/officeDocument/2006/relationships/tags" Target="../tags/tag15.xml"/><Relationship Id="rId10" Type="http://schemas.openxmlformats.org/officeDocument/2006/relationships/slideLayout" Target="../slideLayouts/slideLayout13.xml"/><Relationship Id="rId11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13.png"/><Relationship Id="rId4" Type="http://schemas.openxmlformats.org/officeDocument/2006/relationships/image" Target="../media/image3.png"/><Relationship Id="rId5" Type="http://schemas.openxmlformats.org/officeDocument/2006/relationships/tags" Target="../tags/tag16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svg"/><Relationship Id="rId3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tags" Target="../tags/tag17.xml"/><Relationship Id="rId8" Type="http://schemas.openxmlformats.org/officeDocument/2006/relationships/slideLayout" Target="../slideLayouts/slideLayout13.xml"/><Relationship Id="rId9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18.xm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4" Type="http://schemas.openxmlformats.org/officeDocument/2006/relationships/image" Target="../media/image3.png"/><Relationship Id="rId5" Type="http://schemas.openxmlformats.org/officeDocument/2006/relationships/tags" Target="../tags/tag19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image31.png"/><Relationship Id="rId4" Type="http://schemas.openxmlformats.org/officeDocument/2006/relationships/image" Target="../media/image3.png"/><Relationship Id="rId5" Type="http://schemas.openxmlformats.org/officeDocument/2006/relationships/tags" Target="../tags/tag20.xml"/><Relationship Id="rId6" Type="http://schemas.openxmlformats.org/officeDocument/2006/relationships/slideLayout" Target="../slideLayouts/slideLayout13.xml"/><Relationship Id="rId7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tags" Target="../tags/tag21.xml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3.xml"/><Relationship Id="rId5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主标题：替换文字、加粗"/>
          <p:cNvSpPr txBox="1"/>
          <p:nvPr/>
        </p:nvSpPr>
        <p:spPr>
          <a:xfrm>
            <a:off x="608533" y="2767330"/>
            <a:ext cx="6108700" cy="866140"/>
          </a:xfrm>
          <a:prstGeom prst="rect">
            <a:avLst/>
          </a:prstGeom>
          <a:ln w="12700">
            <a:miter lim="400000"/>
          </a:ln>
        </p:spPr>
        <p:txBody>
          <a:bodyPr wrap="none" lIns="25400" tIns="25400" rIns="25400" bIns="25400" anchor="ctr">
            <a:spAutoFit/>
          </a:bodyPr>
          <a:lstStyle>
            <a:lvl1pPr algn="l" defTabSz="215265">
              <a:defRPr sz="106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107950" hangingPunct="0"/>
            <a:r>
              <a:rPr lang="zh-CN" altLang="en-US" sz="5300" b="1" kern="0" dirty="0"/>
              <a:t>软件质量保证与测试</a:t>
            </a:r>
            <a:endParaRPr sz="5300" b="1" kern="0" dirty="0"/>
          </a:p>
        </p:txBody>
      </p:sp>
      <p:sp>
        <p:nvSpPr>
          <p:cNvPr id="123" name="专业技能培养云/职业技能实践云/创新成果转化云"/>
          <p:cNvSpPr txBox="1"/>
          <p:nvPr/>
        </p:nvSpPr>
        <p:spPr>
          <a:xfrm>
            <a:off x="608533" y="4099620"/>
            <a:ext cx="4698963" cy="512961"/>
          </a:xfrm>
          <a:prstGeom prst="rect">
            <a:avLst/>
          </a:prstGeom>
          <a:ln w="12700">
            <a:miter lim="400000"/>
          </a:ln>
        </p:spPr>
        <p:txBody>
          <a:bodyPr wrap="square" lIns="25400" tIns="25400" rIns="25400" bIns="25400" anchor="ctr">
            <a:spAutoFit/>
          </a:bodyPr>
          <a:lstStyle/>
          <a:p>
            <a:pPr defTabSz="107950" hangingPunct="0">
              <a:defRPr sz="6000" b="0">
                <a:latin typeface="MicrosoftYaHeiLight"/>
                <a:ea typeface="MicrosoftYaHeiLight"/>
                <a:cs typeface="MicrosoftYaHeiLight"/>
                <a:sym typeface="MicrosoftYaHeiLight"/>
              </a:defRPr>
            </a:pPr>
            <a:r>
              <a:rPr lang="en-US" altLang="zh-CN" sz="30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YaHeiLight"/>
              </a:rPr>
              <a:t>8.1 </a:t>
            </a:r>
            <a:r>
              <a:rPr lang="zh-CN" altLang="en-US" sz="3000" kern="0" dirty="0">
                <a:solidFill>
                  <a:srgbClr val="000000">
                    <a:lumMod val="75000"/>
                    <a:lumOff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MicrosoftYaHeiLight"/>
              </a:rPr>
              <a:t>智能化的软件测试</a:t>
            </a:r>
            <a:endParaRPr lang="en-US" altLang="zh-CN" sz="3000" kern="0" dirty="0">
              <a:solidFill>
                <a:srgbClr val="000000">
                  <a:lumMod val="75000"/>
                  <a:lumOff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MicrosoftYaHeiLight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32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3920778" cy="6858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0288" y="2777656"/>
            <a:ext cx="2594629" cy="1302688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/>
              <a:r>
                <a:rPr sz="1200" b="1" kern="0" dirty="0"/>
                <a:t>CONTENTS</a:t>
              </a:r>
              <a:endParaRPr sz="1200" b="1" kern="0"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sz="3500" b="1" kern="0" spc="583" dirty="0"/>
                <a:t>目录</a:t>
              </a:r>
              <a:endParaRPr sz="3500" b="1" kern="0" spc="583" dirty="0"/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5607727" y="2162638"/>
            <a:ext cx="2959001" cy="4272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kern="0" dirty="0">
                <a:solidFill>
                  <a:srgbClr val="000000"/>
                </a:solidFill>
              </a:rPr>
              <a:t>软件测试碰上人工智能</a:t>
            </a:r>
            <a:endParaRPr lang="zh-CN" altLang="en-US" sz="2200" kern="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4605837" y="2094662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矩形 11"/>
          <p:cNvSpPr txBox="1"/>
          <p:nvPr/>
        </p:nvSpPr>
        <p:spPr>
          <a:xfrm>
            <a:off x="4544279" y="216263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01</a:t>
            </a:r>
            <a:endParaRPr sz="2300" kern="0"/>
          </a:p>
        </p:txBody>
      </p:sp>
      <p:sp>
        <p:nvSpPr>
          <p:cNvPr id="134" name="矩形 5"/>
          <p:cNvSpPr txBox="1"/>
          <p:nvPr/>
        </p:nvSpPr>
        <p:spPr>
          <a:xfrm>
            <a:off x="5607728" y="3229729"/>
            <a:ext cx="3406964" cy="357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kern="0" dirty="0">
                <a:solidFill>
                  <a:srgbClr val="000000"/>
                </a:solidFill>
              </a:rPr>
              <a:t>基于智能技术的软件测试</a:t>
            </a:r>
            <a:endParaRPr sz="2200" kern="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4605837" y="3120025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矩形 11"/>
          <p:cNvSpPr txBox="1"/>
          <p:nvPr/>
        </p:nvSpPr>
        <p:spPr>
          <a:xfrm>
            <a:off x="4544279" y="316752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02</a:t>
            </a:r>
            <a:endParaRPr sz="2300" kern="0"/>
          </a:p>
        </p:txBody>
      </p:sp>
      <p:grpSp>
        <p:nvGrpSpPr>
          <p:cNvPr id="9" name="Group 8"/>
          <p:cNvGrpSpPr/>
          <p:nvPr/>
        </p:nvGrpSpPr>
        <p:grpSpPr>
          <a:xfrm>
            <a:off x="4544279" y="4078741"/>
            <a:ext cx="3858801" cy="671733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algn="ctr" defTabSz="457200" hangingPunct="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 kern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pPr algn="ctr" defTabSz="457200" hangingPunct="0"/>
              <a:r>
                <a:rPr sz="2300" kern="0" dirty="0"/>
                <a:t>03</a:t>
              </a:r>
              <a:endParaRPr sz="2300" kern="0"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defTabSz="457200" hangingPunct="0"/>
              <a:r>
                <a:rPr lang="zh-CN" altLang="en-US" sz="2200" kern="0" dirty="0">
                  <a:solidFill>
                    <a:srgbClr val="000000"/>
                  </a:solidFill>
                </a:rPr>
                <a:t>小结</a:t>
              </a:r>
              <a:endParaRPr lang="zh-CN" altLang="en-US" sz="2200" kern="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926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3920778" cy="6858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0288" y="2777656"/>
            <a:ext cx="2594629" cy="1302688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/>
              <a:r>
                <a:rPr sz="1200" b="1" kern="0" dirty="0"/>
                <a:t>CONTENTS</a:t>
              </a:r>
              <a:endParaRPr sz="1200" b="1" kern="0"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sz="3500" b="1" kern="0" spc="583" dirty="0"/>
                <a:t>目录</a:t>
              </a:r>
              <a:endParaRPr sz="3500" b="1" kern="0" spc="583" dirty="0"/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5607727" y="2162638"/>
            <a:ext cx="2959001" cy="4272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b="1" kern="0" dirty="0">
                <a:solidFill>
                  <a:srgbClr val="FF0000"/>
                </a:solidFill>
              </a:rPr>
              <a:t>软件测试碰上人工智能</a:t>
            </a:r>
            <a:endParaRPr lang="zh-CN" altLang="en-US" sz="2200" b="1" kern="0" dirty="0">
              <a:solidFill>
                <a:srgbClr val="FF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4605837" y="2094662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矩形 11"/>
          <p:cNvSpPr txBox="1"/>
          <p:nvPr/>
        </p:nvSpPr>
        <p:spPr>
          <a:xfrm>
            <a:off x="4544279" y="216263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01</a:t>
            </a:r>
            <a:endParaRPr sz="2300" kern="0"/>
          </a:p>
        </p:txBody>
      </p:sp>
      <p:sp>
        <p:nvSpPr>
          <p:cNvPr id="134" name="矩形 5"/>
          <p:cNvSpPr txBox="1"/>
          <p:nvPr/>
        </p:nvSpPr>
        <p:spPr>
          <a:xfrm>
            <a:off x="5607728" y="3229729"/>
            <a:ext cx="3406964" cy="357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kern="0" dirty="0">
                <a:solidFill>
                  <a:srgbClr val="000000"/>
                </a:solidFill>
              </a:rPr>
              <a:t>基于智能技术的软件测试</a:t>
            </a:r>
            <a:endParaRPr sz="2200" kern="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4605837" y="3120025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矩形 11"/>
          <p:cNvSpPr txBox="1"/>
          <p:nvPr/>
        </p:nvSpPr>
        <p:spPr>
          <a:xfrm>
            <a:off x="4544279" y="316752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02</a:t>
            </a:r>
            <a:endParaRPr sz="2300" kern="0"/>
          </a:p>
        </p:txBody>
      </p:sp>
      <p:grpSp>
        <p:nvGrpSpPr>
          <p:cNvPr id="9" name="Group 8"/>
          <p:cNvGrpSpPr/>
          <p:nvPr/>
        </p:nvGrpSpPr>
        <p:grpSpPr>
          <a:xfrm>
            <a:off x="4544279" y="4078741"/>
            <a:ext cx="3858801" cy="671733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algn="ctr" defTabSz="457200" hangingPunct="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 kern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pPr algn="ctr" defTabSz="457200" hangingPunct="0"/>
              <a:r>
                <a:rPr sz="2300" kern="0" dirty="0"/>
                <a:t>03</a:t>
              </a:r>
              <a:endParaRPr sz="2300" kern="0"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defTabSz="457200" hangingPunct="0"/>
              <a:r>
                <a:rPr lang="zh-CN" altLang="en-US" sz="2200" kern="0" dirty="0">
                  <a:solidFill>
                    <a:srgbClr val="000000"/>
                  </a:solidFill>
                </a:rPr>
                <a:t>小结</a:t>
              </a:r>
              <a:endParaRPr lang="zh-CN" altLang="en-US" sz="2200" kern="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002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2" name="Picture 4" descr="See the source image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619" y="3666115"/>
            <a:ext cx="4816764" cy="2709430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3761815" cy="521447"/>
          </a:xfrm>
          <a:ln w="12700">
            <a:miter lim="400000"/>
          </a:ln>
        </p:spPr>
        <p:txBody>
          <a:bodyPr lIns="25400" tIns="25400" rIns="25400" bIns="25400" anchor="ctr">
            <a:normAutofit fontScale="90000"/>
          </a:bodyPr>
          <a:lstStyle/>
          <a:p>
            <a:r>
              <a:rPr lang="zh-CN" altLang="en-US" dirty="0"/>
              <a:t>软件测试碰上人工智能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1</a:t>
            </a:r>
            <a:endParaRPr sz="2300" kern="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68985" y="1400524"/>
            <a:ext cx="10226667" cy="5119546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marL="317500" indent="-317500" algn="just" defTabSz="412750" hangingPunct="0"/>
            <a:r>
              <a:rPr lang="zh-CN" altLang="en-US" sz="2400" b="1" kern="0" dirty="0">
                <a:solidFill>
                  <a:srgbClr val="000000"/>
                </a:solidFill>
                <a:sym typeface="Helvetica Neue"/>
              </a:rPr>
              <a:t>人工智能</a:t>
            </a:r>
            <a:endParaRPr lang="en-US" altLang="zh-CN" sz="2400" b="1" kern="0" dirty="0">
              <a:solidFill>
                <a:srgbClr val="000000"/>
              </a:solidFill>
              <a:sym typeface="Helvetica Neue"/>
            </a:endParaRPr>
          </a:p>
          <a:p>
            <a:pPr marL="952500" lvl="2" indent="-317500" algn="just" defTabSz="412750" hangingPunct="0"/>
            <a:r>
              <a:rPr lang="zh-CN" altLang="en-US" sz="2400" kern="0">
                <a:solidFill>
                  <a:srgbClr val="000000"/>
                </a:solidFill>
                <a:sym typeface="Helvetica Neue"/>
              </a:rPr>
              <a:t>人工智能是</a:t>
            </a:r>
            <a:r>
              <a:rPr lang="zh-CN" altLang="en-US" sz="2400" kern="0" dirty="0">
                <a:solidFill>
                  <a:srgbClr val="000000"/>
                </a:solidFill>
                <a:sym typeface="Helvetica Neue"/>
              </a:rPr>
              <a:t>研究、开发用于模拟、延伸和扩展人的智能的理论、方法、技术及应用系统的一门新的技术科学。</a:t>
            </a:r>
            <a:endParaRPr lang="en-US" altLang="zh-CN" sz="2400" kern="0" dirty="0">
              <a:solidFill>
                <a:srgbClr val="000000"/>
              </a:solidFill>
              <a:sym typeface="Helvetica Neue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4530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3761815" cy="521447"/>
          </a:xfrm>
          <a:ln w="12700">
            <a:miter lim="400000"/>
          </a:ln>
        </p:spPr>
        <p:txBody>
          <a:bodyPr lIns="25400" tIns="25400" rIns="25400" bIns="25400" anchor="ctr">
            <a:normAutofit fontScale="90000"/>
          </a:bodyPr>
          <a:lstStyle/>
          <a:p>
            <a:r>
              <a:rPr lang="zh-CN" altLang="en-US" dirty="0"/>
              <a:t>软件测试碰上人工智能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1</a:t>
            </a:r>
            <a:endParaRPr sz="2300" kern="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68985" y="1400524"/>
            <a:ext cx="10226667" cy="5119546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marL="317500" indent="-317500" algn="just" defTabSz="412750" hangingPunct="0"/>
            <a:r>
              <a:rPr lang="zh-CN" altLang="en-US" sz="2400" b="1" kern="0" dirty="0">
                <a:solidFill>
                  <a:srgbClr val="000000"/>
                </a:solidFill>
                <a:sym typeface="Helvetica Neue"/>
              </a:rPr>
              <a:t>软件测试</a:t>
            </a:r>
            <a:endParaRPr lang="en-US" altLang="zh-CN" sz="2400" b="1" kern="0" dirty="0">
              <a:solidFill>
                <a:srgbClr val="000000"/>
              </a:solidFill>
              <a:sym typeface="Helvetica Neue"/>
            </a:endParaRPr>
          </a:p>
          <a:p>
            <a:pPr marL="952500" lvl="2" indent="-317500" algn="just" defTabSz="412750" hangingPunct="0"/>
            <a:r>
              <a:rPr lang="zh-CN" altLang="en-US" sz="2400" kern="0" dirty="0">
                <a:solidFill>
                  <a:srgbClr val="000000"/>
                </a:solidFill>
                <a:sym typeface="Helvetica Neue"/>
              </a:rPr>
              <a:t>软件测试是发现并指出软件中存在缺陷的过程。</a:t>
            </a:r>
            <a:endParaRPr lang="zh-CN" altLang="en-US" sz="2400" kern="0" dirty="0">
              <a:solidFill>
                <a:srgbClr val="000000"/>
              </a:solidFill>
              <a:sym typeface="Helvetica Neue"/>
            </a:endParaRPr>
          </a:p>
        </p:txBody>
      </p:sp>
      <p:pic>
        <p:nvPicPr>
          <p:cNvPr id="8194" name="Picture 2" descr="See the source image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80873" y="3281219"/>
            <a:ext cx="3914610" cy="2740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2703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3761815" cy="521447"/>
          </a:xfrm>
          <a:ln w="12700">
            <a:miter lim="400000"/>
          </a:ln>
        </p:spPr>
        <p:txBody>
          <a:bodyPr lIns="25400" tIns="25400" rIns="25400" bIns="25400" anchor="ctr">
            <a:normAutofit fontScale="90000"/>
          </a:bodyPr>
          <a:lstStyle/>
          <a:p>
            <a:r>
              <a:rPr lang="zh-CN" altLang="en-US" dirty="0"/>
              <a:t>软件测试碰上人工智能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1</a:t>
            </a:r>
            <a:endParaRPr sz="2300" kern="0" dirty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1368985" y="1400524"/>
            <a:ext cx="10226667" cy="5119546"/>
          </a:xfrm>
          <a:prstGeom prst="rect">
            <a:avLst/>
          </a:prstGeom>
          <a:ln w="12700">
            <a:miter lim="400000"/>
          </a:ln>
        </p:spPr>
        <p:txBody>
          <a:bodyPr lIns="25400" tIns="25400" rIns="25400" bIns="25400" anchor="t">
            <a:noAutofit/>
          </a:bodyPr>
          <a:lstStyle>
            <a:lvl1pPr marL="635000" indent="-635000" algn="l">
              <a:lnSpc>
                <a:spcPct val="200000"/>
              </a:lnSpc>
              <a:buFont typeface="Wingdings" panose="05000000000000000000" pitchFamily="2" charset="2"/>
              <a:buChar char="n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  <a:lvl2pPr marL="1270000" indent="-635000" algn="l">
              <a:spcBef>
                <a:spcPts val="5900"/>
              </a:spcBef>
              <a:buSzPct val="125000"/>
              <a:buChar char="•"/>
              <a:defRPr sz="4000"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</a:defRPr>
            </a:lvl2pPr>
            <a:lvl3pPr marL="1905000" lvl="2" indent="-635000" algn="l">
              <a:lnSpc>
                <a:spcPct val="150000"/>
              </a:lnSpc>
              <a:buSzPct val="125000"/>
              <a:buFont typeface="Wingdings" panose="05000000000000000000" pitchFamily="2" charset="2"/>
              <a:buChar char="Ø"/>
              <a:defRPr sz="4400" b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2540000" indent="-635000" algn="l">
              <a:spcBef>
                <a:spcPts val="5900"/>
              </a:spcBef>
              <a:buSzPct val="125000"/>
              <a:buChar char="•"/>
              <a:defRPr sz="5200" b="0"/>
            </a:lvl4pPr>
            <a:lvl5pPr marL="3175000" indent="-635000" algn="l">
              <a:spcBef>
                <a:spcPts val="5900"/>
              </a:spcBef>
              <a:buSzPct val="125000"/>
              <a:buChar char="•"/>
              <a:defRPr sz="5200" b="0"/>
            </a:lvl5pPr>
            <a:lvl6pPr marL="3810000" indent="-635000" algn="l">
              <a:spcBef>
                <a:spcPts val="5900"/>
              </a:spcBef>
              <a:buSzPct val="125000"/>
              <a:buChar char="•"/>
              <a:defRPr sz="5200" b="0"/>
            </a:lvl6pPr>
            <a:lvl7pPr marL="4445000" indent="-635000" algn="l">
              <a:spcBef>
                <a:spcPts val="5900"/>
              </a:spcBef>
              <a:buSzPct val="125000"/>
              <a:buChar char="•"/>
              <a:defRPr sz="5200" b="0"/>
            </a:lvl7pPr>
            <a:lvl8pPr marL="5080000" indent="-635000" algn="l">
              <a:spcBef>
                <a:spcPts val="5900"/>
              </a:spcBef>
              <a:buSzPct val="125000"/>
              <a:buChar char="•"/>
              <a:defRPr sz="5200" b="0"/>
            </a:lvl8pPr>
            <a:lvl9pPr marL="5715000" indent="-635000" algn="l">
              <a:spcBef>
                <a:spcPts val="5900"/>
              </a:spcBef>
              <a:buSzPct val="125000"/>
              <a:buChar char="•"/>
              <a:defRPr sz="5200" b="0"/>
            </a:lvl9pPr>
          </a:lstStyle>
          <a:p>
            <a:pPr marL="317500" indent="-317500" algn="just" defTabSz="412750" hangingPunct="0"/>
            <a:r>
              <a:rPr lang="zh-CN" altLang="en-US" sz="2400" b="1" kern="0" dirty="0">
                <a:solidFill>
                  <a:srgbClr val="000000"/>
                </a:solidFill>
                <a:sym typeface="Helvetica Neue"/>
              </a:rPr>
              <a:t>软件测试面临的困难和挑战</a:t>
            </a:r>
            <a:endParaRPr lang="en-US" altLang="zh-CN" sz="2400" b="1" kern="0" dirty="0">
              <a:solidFill>
                <a:srgbClr val="000000"/>
              </a:solidFill>
              <a:sym typeface="Helvetica Neue"/>
            </a:endParaRPr>
          </a:p>
        </p:txBody>
      </p:sp>
      <p:sp>
        <p:nvSpPr>
          <p:cNvPr id="27" name="Line 5"/>
          <p:cNvSpPr>
            <a:spLocks noChangeShapeType="1"/>
          </p:cNvSpPr>
          <p:nvPr/>
        </p:nvSpPr>
        <p:spPr bwMode="auto">
          <a:xfrm>
            <a:off x="9141012" y="2631965"/>
            <a:ext cx="0" cy="57764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2755340" y="3209604"/>
            <a:ext cx="1434893" cy="1008426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发现</a:t>
            </a:r>
            <a:endParaRPr lang="en-US" altLang="zh-CN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问题</a:t>
            </a:r>
            <a:endParaRPr lang="zh-CN" altLang="en-US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29" name="Rectangle 9"/>
          <p:cNvSpPr>
            <a:spLocks noChangeArrowheads="1"/>
          </p:cNvSpPr>
          <p:nvPr/>
        </p:nvSpPr>
        <p:spPr bwMode="auto">
          <a:xfrm>
            <a:off x="8371911" y="3209604"/>
            <a:ext cx="1434893" cy="1008426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跟踪</a:t>
            </a:r>
            <a:endParaRPr lang="en-US" altLang="zh-CN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问题</a:t>
            </a:r>
            <a:endParaRPr lang="zh-CN" altLang="en-US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0" name="Rectangle 11"/>
          <p:cNvSpPr>
            <a:spLocks noChangeArrowheads="1"/>
          </p:cNvSpPr>
          <p:nvPr/>
        </p:nvSpPr>
        <p:spPr bwMode="auto">
          <a:xfrm>
            <a:off x="2755341" y="4924254"/>
            <a:ext cx="1434892" cy="1008425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prstDash val="dash"/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历史</a:t>
            </a:r>
            <a:endParaRPr lang="en-US" altLang="zh-CN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数据</a:t>
            </a:r>
            <a:endParaRPr lang="zh-CN" altLang="en-US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1" name="Line 12"/>
          <p:cNvSpPr>
            <a:spLocks noChangeShapeType="1"/>
          </p:cNvSpPr>
          <p:nvPr/>
        </p:nvSpPr>
        <p:spPr bwMode="auto">
          <a:xfrm>
            <a:off x="3472786" y="2631965"/>
            <a:ext cx="0" cy="57301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2" name="Line 13"/>
          <p:cNvSpPr>
            <a:spLocks noChangeShapeType="1"/>
          </p:cNvSpPr>
          <p:nvPr/>
        </p:nvSpPr>
        <p:spPr bwMode="auto">
          <a:xfrm>
            <a:off x="3454087" y="2631965"/>
            <a:ext cx="5681276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3" name="Line 14"/>
          <p:cNvSpPr>
            <a:spLocks noChangeShapeType="1"/>
          </p:cNvSpPr>
          <p:nvPr/>
        </p:nvSpPr>
        <p:spPr bwMode="auto">
          <a:xfrm>
            <a:off x="4190233" y="3713817"/>
            <a:ext cx="1396395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4" name="Line 15"/>
          <p:cNvSpPr>
            <a:spLocks noChangeShapeType="1"/>
          </p:cNvSpPr>
          <p:nvPr/>
        </p:nvSpPr>
        <p:spPr bwMode="auto">
          <a:xfrm>
            <a:off x="6897229" y="3713817"/>
            <a:ext cx="1474682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5" name="Line 17"/>
          <p:cNvSpPr>
            <a:spLocks noChangeShapeType="1"/>
          </p:cNvSpPr>
          <p:nvPr/>
        </p:nvSpPr>
        <p:spPr bwMode="auto">
          <a:xfrm>
            <a:off x="6897228" y="5426177"/>
            <a:ext cx="1474682" cy="0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6" name="Line 18"/>
          <p:cNvSpPr>
            <a:spLocks noChangeShapeType="1"/>
          </p:cNvSpPr>
          <p:nvPr/>
        </p:nvSpPr>
        <p:spPr bwMode="auto">
          <a:xfrm flipV="1">
            <a:off x="9132585" y="4218030"/>
            <a:ext cx="1" cy="706224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7" name="Line 19"/>
          <p:cNvSpPr>
            <a:spLocks noChangeShapeType="1"/>
          </p:cNvSpPr>
          <p:nvPr/>
        </p:nvSpPr>
        <p:spPr bwMode="auto">
          <a:xfrm flipH="1" flipV="1">
            <a:off x="5079960" y="3825469"/>
            <a:ext cx="506668" cy="1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8" name="Line 20"/>
          <p:cNvSpPr>
            <a:spLocks noChangeShapeType="1"/>
          </p:cNvSpPr>
          <p:nvPr/>
        </p:nvSpPr>
        <p:spPr bwMode="auto">
          <a:xfrm flipH="1">
            <a:off x="5073770" y="3798887"/>
            <a:ext cx="6192" cy="1629579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39" name="Line 21"/>
          <p:cNvSpPr>
            <a:spLocks noChangeShapeType="1"/>
          </p:cNvSpPr>
          <p:nvPr/>
        </p:nvSpPr>
        <p:spPr bwMode="auto">
          <a:xfrm flipH="1">
            <a:off x="4198003" y="5426177"/>
            <a:ext cx="835953" cy="0"/>
          </a:xfrm>
          <a:prstGeom prst="line">
            <a:avLst/>
          </a:prstGeom>
          <a:noFill/>
          <a:ln w="57150">
            <a:solidFill>
              <a:srgbClr val="000000"/>
            </a:solidFill>
            <a:prstDash val="dash"/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40" name="Rectangle 10"/>
          <p:cNvSpPr>
            <a:spLocks noChangeArrowheads="1"/>
          </p:cNvSpPr>
          <p:nvPr/>
        </p:nvSpPr>
        <p:spPr bwMode="auto">
          <a:xfrm>
            <a:off x="8371910" y="4905033"/>
            <a:ext cx="1434893" cy="1008425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修复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问题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41" name="Rectangle 10"/>
          <p:cNvSpPr>
            <a:spLocks noChangeArrowheads="1"/>
          </p:cNvSpPr>
          <p:nvPr/>
        </p:nvSpPr>
        <p:spPr bwMode="auto">
          <a:xfrm>
            <a:off x="5586628" y="4921965"/>
            <a:ext cx="1434893" cy="1008425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再现</a:t>
            </a:r>
            <a:endParaRPr lang="en-US" altLang="zh-CN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问题</a:t>
            </a:r>
            <a:endParaRPr lang="zh-CN" altLang="en-US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42" name="Line 16"/>
          <p:cNvSpPr>
            <a:spLocks noChangeShapeType="1"/>
          </p:cNvSpPr>
          <p:nvPr/>
        </p:nvSpPr>
        <p:spPr bwMode="auto">
          <a:xfrm flipH="1">
            <a:off x="6328036" y="3959100"/>
            <a:ext cx="0" cy="948221"/>
          </a:xfrm>
          <a:prstGeom prst="line">
            <a:avLst/>
          </a:prstGeom>
          <a:noFill/>
          <a:ln w="57150">
            <a:solidFill>
              <a:srgbClr val="000000"/>
            </a:solidFill>
            <a:rou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 anchorCtr="0"/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zh-CN" altLang="en-US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43" name="Rectangle 10"/>
          <p:cNvSpPr>
            <a:spLocks noChangeArrowheads="1"/>
          </p:cNvSpPr>
          <p:nvPr/>
        </p:nvSpPr>
        <p:spPr bwMode="auto">
          <a:xfrm>
            <a:off x="5586628" y="3204974"/>
            <a:ext cx="1434893" cy="1008425"/>
          </a:xfrm>
          <a:prstGeom prst="rect">
            <a:avLst/>
          </a:prstGeom>
          <a:solidFill>
            <a:srgbClr val="FFFFFF"/>
          </a:solidFill>
          <a:ln w="57150" algn="ctr">
            <a:solidFill>
              <a:srgbClr val="000000"/>
            </a:solidFill>
            <a:miter lim="800000"/>
          </a:ln>
        </p:spPr>
        <p:txBody>
          <a:bodyPr anchor="ctr" anchorCtr="0"/>
          <a:lstStyle>
            <a:lvl1pPr>
              <a:spcBef>
                <a:spcPct val="20000"/>
              </a:spcBef>
              <a:buClr>
                <a:schemeClr val="hlink"/>
              </a:buClr>
              <a:buSzPct val="70000"/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85000"/>
              <a:buFont typeface="Wingdings" panose="05000000000000000000" pitchFamily="2" charset="2"/>
              <a:buChar char="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Wingdings" panose="05000000000000000000" pitchFamily="2" charset="2"/>
              <a:buChar char="v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90000"/>
              <a:buFont typeface="Wingdings" panose="05000000000000000000" pitchFamily="2" charset="2"/>
              <a:buChar char="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5000"/>
              <a:buFont typeface="Wingdings" panose="05000000000000000000" pitchFamily="2" charset="2"/>
              <a:buChar char="v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记录</a:t>
            </a:r>
            <a:endParaRPr lang="en-US" altLang="zh-CN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zh-CN" altLang="en-US" sz="2800" dirty="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问题</a:t>
            </a:r>
            <a:endParaRPr lang="zh-CN" altLang="en-US" sz="2800" dirty="0">
              <a:solidFill>
                <a:srgbClr val="0033CC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pic>
        <p:nvPicPr>
          <p:cNvPr id="44" name="Graphic 43" descr="Programmer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332113" y="4571142"/>
            <a:ext cx="743772" cy="7437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5" name="Graphic 44" descr="Docto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13059" y="2918469"/>
            <a:ext cx="723060" cy="7230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6" name="Graphic 45" descr="Doctor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8651" y="2874509"/>
            <a:ext cx="723060" cy="7230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7" name="Graphic 46" descr="Programmer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86482" y="4571142"/>
            <a:ext cx="743772" cy="7437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 descr="See the source image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01873" y="3019929"/>
            <a:ext cx="577640" cy="577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Graphic 47" descr="Robot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49690" y="2905522"/>
            <a:ext cx="794668" cy="6610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11"/>
    </p:custDataLst>
  </p:cSld>
  <p:clrMapOvr>
    <a:masterClrMapping/>
  </p:clrMapOvr>
  <p:transition spd="med" advTm="17408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3761815" cy="521447"/>
          </a:xfrm>
          <a:ln w="12700">
            <a:miter lim="400000"/>
          </a:ln>
        </p:spPr>
        <p:txBody>
          <a:bodyPr lIns="25400" tIns="25400" rIns="25400" bIns="25400" anchor="ctr">
            <a:normAutofit fontScale="90000"/>
          </a:bodyPr>
          <a:lstStyle/>
          <a:p>
            <a:r>
              <a:rPr lang="zh-CN" altLang="en-US" dirty="0"/>
              <a:t>软件测试碰上人工智能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1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1012349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/>
              <a:t> </a:t>
            </a: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如何利用人工智能实现测试自动化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自动判定测试运行结果的对错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自动验证测试报告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挑选测试报告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进行程序修复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6968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3920778" cy="6858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0288" y="2777656"/>
            <a:ext cx="2594629" cy="1302688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/>
              <a:r>
                <a:rPr sz="1200" b="1" kern="0" dirty="0"/>
                <a:t>CONTENTS</a:t>
              </a:r>
              <a:endParaRPr sz="1200" b="1" kern="0"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sz="3500" b="1" kern="0" spc="583" dirty="0"/>
                <a:t>目录</a:t>
              </a:r>
              <a:endParaRPr sz="3500" b="1" kern="0" spc="583" dirty="0"/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5607727" y="2162638"/>
            <a:ext cx="2959001" cy="4272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kern="0" dirty="0">
                <a:solidFill>
                  <a:srgbClr val="000000"/>
                </a:solidFill>
              </a:rPr>
              <a:t>软件测试碰上人工智能</a:t>
            </a:r>
            <a:endParaRPr lang="zh-CN" altLang="en-US" sz="2200" kern="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4605837" y="2094662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矩形 11"/>
          <p:cNvSpPr txBox="1"/>
          <p:nvPr/>
        </p:nvSpPr>
        <p:spPr>
          <a:xfrm>
            <a:off x="4544279" y="216263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01</a:t>
            </a:r>
            <a:endParaRPr sz="2300" kern="0"/>
          </a:p>
        </p:txBody>
      </p:sp>
      <p:sp>
        <p:nvSpPr>
          <p:cNvPr id="134" name="矩形 5"/>
          <p:cNvSpPr txBox="1"/>
          <p:nvPr/>
        </p:nvSpPr>
        <p:spPr>
          <a:xfrm>
            <a:off x="5607728" y="3229729"/>
            <a:ext cx="3406964" cy="357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b="1" kern="0" dirty="0">
                <a:solidFill>
                  <a:srgbClr val="FF0000"/>
                </a:solidFill>
              </a:rPr>
              <a:t>基于智能技术的软件测试</a:t>
            </a:r>
            <a:endParaRPr sz="2200" b="1" kern="0" dirty="0">
              <a:solidFill>
                <a:srgbClr val="FF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4605837" y="3120025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矩形 11"/>
          <p:cNvSpPr txBox="1"/>
          <p:nvPr/>
        </p:nvSpPr>
        <p:spPr>
          <a:xfrm>
            <a:off x="4544279" y="316752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02</a:t>
            </a:r>
            <a:endParaRPr sz="2300" kern="0"/>
          </a:p>
        </p:txBody>
      </p:sp>
      <p:grpSp>
        <p:nvGrpSpPr>
          <p:cNvPr id="9" name="Group 8"/>
          <p:cNvGrpSpPr/>
          <p:nvPr/>
        </p:nvGrpSpPr>
        <p:grpSpPr>
          <a:xfrm>
            <a:off x="4544279" y="4078741"/>
            <a:ext cx="3858801" cy="671733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algn="ctr" defTabSz="457200" hangingPunct="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 kern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pPr algn="ctr" defTabSz="457200" hangingPunct="0"/>
              <a:r>
                <a:rPr sz="2300" kern="0" dirty="0"/>
                <a:t>03</a:t>
              </a:r>
              <a:endParaRPr sz="2300" kern="0"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defTabSz="457200" hangingPunct="0"/>
              <a:r>
                <a:rPr lang="zh-CN" altLang="en-US" sz="2200" kern="0" dirty="0">
                  <a:solidFill>
                    <a:srgbClr val="000000"/>
                  </a:solidFill>
                </a:rPr>
                <a:t>小结</a:t>
              </a:r>
              <a:endParaRPr lang="zh-CN" altLang="en-US" sz="2200" kern="0" dirty="0">
                <a:solidFill>
                  <a:srgbClr val="00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1606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如何自动判定测试用例运行结果对错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设计测试用例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运行测试用例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判定测试用例是否通过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5532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如何自动判定测试用例运行结果对错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设计测试用例 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运行测试用例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判定测试用例是否通过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矩形 3"/>
          <p:cNvSpPr/>
          <p:nvPr/>
        </p:nvSpPr>
        <p:spPr>
          <a:xfrm>
            <a:off x="7062282" y="1899668"/>
            <a:ext cx="4140460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//</a:t>
            </a:r>
            <a:r>
              <a:rPr lang="zh-CN" altLang="en-US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手工编写测试类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import static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org.junit.Assert.assertEquals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import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org.junit.Test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public class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CalculatorTest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{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Calculator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=new Calculator();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</a:t>
            </a:r>
            <a:r>
              <a:rPr lang="en-US" altLang="zh-CN" sz="1400" b="1" kern="0" dirty="0">
                <a:solidFill>
                  <a:srgbClr val="00A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@Test</a:t>
            </a:r>
            <a:endParaRPr lang="en-US" altLang="zh-CN" sz="1400" b="1" kern="0" dirty="0">
              <a:solidFill>
                <a:srgbClr val="00A2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public void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testAdd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()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{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	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System.out.println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("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JUnit</a:t>
            </a:r>
            <a:r>
              <a:rPr lang="zh-CN" altLang="en-US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测试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");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	</a:t>
            </a:r>
            <a:r>
              <a:rPr lang="en-US" altLang="zh-CN" sz="14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assertEquals</a:t>
            </a:r>
            <a:r>
              <a:rPr lang="en-US" altLang="zh-CN" sz="1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(3,cal.add(1,2));</a:t>
            </a:r>
            <a:endParaRPr lang="en-US" altLang="zh-CN" sz="14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}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}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6" name="Graphic 5" descr="Doctor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02581" y="2027420"/>
            <a:ext cx="723060" cy="7230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Graphic 7" descr="Robot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32215" y="2923560"/>
            <a:ext cx="794668" cy="6610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Graphic 10" descr="Robot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335" y="3557124"/>
            <a:ext cx="794668" cy="6610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 advTm="11001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如何自动判定测试用例运行结果对错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设计测试用例 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运行测试用例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判定测试用例是否通过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Graphic 6" descr="Doctor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397" y="3511818"/>
            <a:ext cx="723060" cy="7230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" name="Graphic 7" descr="Robo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215" y="2165301"/>
            <a:ext cx="794668" cy="6610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Graphic 10" descr="Robo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2215" y="2923560"/>
            <a:ext cx="794668" cy="6610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3" name="Graphic 12" descr="Robo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026" y="3573844"/>
            <a:ext cx="794668" cy="66103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矩形 3"/>
          <p:cNvSpPr/>
          <p:nvPr/>
        </p:nvSpPr>
        <p:spPr>
          <a:xfrm>
            <a:off x="7062282" y="1899668"/>
            <a:ext cx="4140460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//</a:t>
            </a:r>
            <a:r>
              <a:rPr lang="zh-CN" altLang="en-US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自动生成测试类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import static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org.junit.Assert.assertEquals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import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org.junit.Test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public class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CalculatorTest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{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Calculator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=new Calculator();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</a:t>
            </a:r>
            <a:r>
              <a:rPr lang="en-US" altLang="zh-CN" sz="1400" b="1" kern="0" dirty="0">
                <a:solidFill>
                  <a:srgbClr val="00A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@Test</a:t>
            </a:r>
            <a:endParaRPr lang="en-US" altLang="zh-CN" sz="1400" b="1" kern="0" dirty="0">
              <a:solidFill>
                <a:srgbClr val="00A2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public void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testAdd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()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{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	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System.out.println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("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JUnit</a:t>
            </a:r>
            <a:r>
              <a:rPr lang="zh-CN" altLang="en-US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测试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");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	</a:t>
            </a:r>
            <a:r>
              <a:rPr lang="en-US" altLang="zh-CN" sz="14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cal.add</a:t>
            </a:r>
            <a:r>
              <a:rPr lang="en-US" altLang="zh-CN" sz="1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(1,2);</a:t>
            </a:r>
            <a:endParaRPr lang="en-US" altLang="zh-CN" sz="14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}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}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 advTm="137944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1765650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如何自动判定测试用例运行结果对错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蜕变测试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矩形 3"/>
          <p:cNvSpPr/>
          <p:nvPr/>
        </p:nvSpPr>
        <p:spPr>
          <a:xfrm>
            <a:off x="7062282" y="1899668"/>
            <a:ext cx="4140460" cy="2677656"/>
          </a:xfrm>
          <a:prstGeom prst="rect">
            <a:avLst/>
          </a:prstGeom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//</a:t>
            </a:r>
            <a:r>
              <a:rPr lang="zh-CN" altLang="en-US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自动生成测试类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import static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org.junit.Assert.assertEquals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import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org.junit.Test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public class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CalculatorTest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{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Calculator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=new Calculator();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</a:t>
            </a:r>
            <a:r>
              <a:rPr lang="en-US" altLang="zh-CN" sz="1400" b="1" kern="0" dirty="0">
                <a:solidFill>
                  <a:srgbClr val="00A2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@Test</a:t>
            </a:r>
            <a:endParaRPr lang="en-US" altLang="zh-CN" sz="1400" b="1" kern="0" dirty="0">
              <a:solidFill>
                <a:srgbClr val="00A2FF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public void 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testAdd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()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{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	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System.out.println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("</a:t>
            </a:r>
            <a:r>
              <a:rPr lang="en-US" altLang="zh-CN" sz="1400" b="1" kern="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JUnit</a:t>
            </a:r>
            <a:r>
              <a:rPr lang="zh-CN" altLang="en-US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测试</a:t>
            </a:r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");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	</a:t>
            </a:r>
            <a:r>
              <a:rPr lang="en-US" altLang="zh-CN" sz="14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cal.add</a:t>
            </a:r>
            <a:r>
              <a:rPr lang="en-US" altLang="zh-CN" sz="14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(1,2);</a:t>
            </a:r>
            <a:endParaRPr lang="en-US" altLang="zh-CN" sz="14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	}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defTabSz="412750" hangingPunct="0"/>
            <a:r>
              <a:rPr lang="en-US" altLang="zh-CN" sz="14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}</a:t>
            </a:r>
            <a:endParaRPr lang="en-US" altLang="zh-CN" sz="14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805564" y="3983211"/>
            <a:ext cx="31935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 defTabSz="412750" fontAlgn="base">
              <a:buClr>
                <a:srgbClr val="000000"/>
              </a:buClr>
            </a:pP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add(</a:t>
            </a:r>
            <a:r>
              <a:rPr lang="en-US" altLang="zh-CN" sz="22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n,m</a:t>
            </a: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)&lt;add(n+1,m)</a:t>
            </a:r>
            <a:endParaRPr lang="en-US" altLang="zh-CN" sz="2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43132" y="3313575"/>
            <a:ext cx="1742786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 algn="ctr" defTabSz="412750" fontAlgn="base">
              <a:buClr>
                <a:srgbClr val="000000"/>
              </a:buClr>
            </a:pP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add(</a:t>
            </a:r>
            <a:r>
              <a:rPr lang="en-US" altLang="zh-CN" sz="2200" kern="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n,m</a:t>
            </a:r>
            <a:r>
              <a:rPr lang="en-US" altLang="zh-CN" sz="2200" kern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)=?</a:t>
            </a:r>
            <a:endParaRPr lang="en-US" altLang="zh-CN" sz="2200" kern="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45894" y="4874505"/>
            <a:ext cx="4086375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12750" hangingPunct="0"/>
            <a:r>
              <a:rPr lang="en-US" altLang="zh-CN" sz="2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Assert(</a:t>
            </a:r>
            <a:r>
              <a:rPr lang="en-US" altLang="zh-CN" sz="22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cal.add</a:t>
            </a:r>
            <a:r>
              <a:rPr lang="en-US" altLang="zh-CN" sz="2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(1,2) - add(2,2)&lt;0)</a:t>
            </a:r>
            <a:endParaRPr lang="en-US" altLang="zh-CN" sz="22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697404" y="5497442"/>
            <a:ext cx="401103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412750" hangingPunct="0"/>
            <a:r>
              <a:rPr lang="en-US" altLang="zh-CN" sz="2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Assert(</a:t>
            </a:r>
            <a:r>
              <a:rPr lang="en-US" altLang="zh-CN" sz="2200" b="1" kern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cal.add</a:t>
            </a:r>
            <a:r>
              <a:rPr lang="en-US" altLang="zh-CN" sz="22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(1,2) = =add(2,1))</a:t>
            </a:r>
            <a:endParaRPr lang="en-US" altLang="zh-CN" sz="2200" b="1" kern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20620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4" grpId="0"/>
      <p:bldP spid="5" grpId="0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1765650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如何自动判定测试用例运行结果对错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常识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4496845" y="2865651"/>
            <a:ext cx="4584526" cy="1107755"/>
            <a:chOff x="4496845" y="2865651"/>
            <a:chExt cx="4584526" cy="1107755"/>
          </a:xfrm>
        </p:grpSpPr>
        <p:sp>
          <p:nvSpPr>
            <p:cNvPr id="2" name="Rectangle 1"/>
            <p:cNvSpPr/>
            <p:nvPr/>
          </p:nvSpPr>
          <p:spPr>
            <a:xfrm>
              <a:off x="4896932" y="3055389"/>
              <a:ext cx="3262432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姓名：刘辉</a:t>
              </a:r>
              <a:endParaRPr lang="en-US" altLang="zh-CN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6" name="Rectangle 5"/>
            <p:cNvSpPr/>
            <p:nvPr/>
          </p:nvSpPr>
          <p:spPr>
            <a:xfrm>
              <a:off x="4496845" y="2865651"/>
              <a:ext cx="4584526" cy="1107755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505196" y="4959581"/>
            <a:ext cx="4584526" cy="1107755"/>
            <a:chOff x="4505196" y="4959581"/>
            <a:chExt cx="4584526" cy="1107755"/>
          </a:xfrm>
        </p:grpSpPr>
        <p:sp>
          <p:nvSpPr>
            <p:cNvPr id="16" name="Rectangle 15"/>
            <p:cNvSpPr/>
            <p:nvPr/>
          </p:nvSpPr>
          <p:spPr>
            <a:xfrm>
              <a:off x="4791134" y="5114960"/>
              <a:ext cx="3474028" cy="830997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zh-CN" altLang="en-US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姓名：</a:t>
              </a:r>
              <a:r>
                <a:rPr lang="en-US" altLang="zh-CN" sz="4800" b="0" cap="none" spc="0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Times New Roman" panose="02020603050405020304" pitchFamily="18" charset="0"/>
                </a:rPr>
                <a:t>1234</a:t>
              </a:r>
              <a:endParaRPr lang="en-US" altLang="zh-CN" sz="4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505196" y="4959581"/>
              <a:ext cx="4584526" cy="1107755"/>
            </a:xfrm>
            <a:prstGeom prst="rect">
              <a:avLst/>
            </a:pr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ot="0" spcFirstLastPara="1" vertOverflow="overflow" horzOverflow="overflow" vert="horz" wrap="square" lIns="0" tIns="0" rIns="0" bIns="0" numCol="1" spcCol="38100" rtlCol="0" anchor="ctr">
              <a:spAutoFit/>
            </a:bodyPr>
            <a:lstStyle/>
            <a:p>
              <a:pPr marL="0" marR="0" indent="0" algn="ctr" defTabSz="8255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+mn-lt"/>
                <a:ea typeface="+mn-ea"/>
                <a:cs typeface="+mn-cs"/>
                <a:sym typeface="Helvetica Neue Medium"/>
              </a:endParaRPr>
            </a:p>
          </p:txBody>
        </p:sp>
      </p:grp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709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1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如何自动验证错误报告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1694" y="2575550"/>
            <a:ext cx="8268613" cy="3506273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15351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如何自动验证错误报告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81" y="2472366"/>
            <a:ext cx="5170143" cy="3449969"/>
          </a:xfrm>
          <a:prstGeom prst="rect">
            <a:avLst/>
          </a:prstGeom>
        </p:spPr>
      </p:pic>
      <p:pic>
        <p:nvPicPr>
          <p:cNvPr id="6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9976" y="2472366"/>
            <a:ext cx="4381744" cy="2665091"/>
          </a:xfrm>
          <a:prstGeom prst="rect">
            <a:avLst/>
          </a:prstGeom>
          <a:ln w="28575">
            <a:solidFill>
              <a:srgbClr val="F9263C"/>
            </a:solidFill>
            <a:prstDash val="dash"/>
          </a:ln>
        </p:spPr>
      </p:pic>
      <p:pic>
        <p:nvPicPr>
          <p:cNvPr id="3" name="Graphic 2" descr="Arrow Slight curve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0570707">
            <a:off x="3003398" y="4596966"/>
            <a:ext cx="4013790" cy="1155356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8"/>
    </p:custDataLst>
  </p:cSld>
  <p:clrMapOvr>
    <a:masterClrMapping/>
  </p:clrMapOvr>
  <p:transition spd="med" advTm="898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peech Bubble: Oval 28"/>
          <p:cNvSpPr/>
          <p:nvPr/>
        </p:nvSpPr>
        <p:spPr>
          <a:xfrm>
            <a:off x="4723585" y="2611945"/>
            <a:ext cx="2273157" cy="883775"/>
          </a:xfrm>
          <a:prstGeom prst="wedgeEllipseCallout">
            <a:avLst>
              <a:gd name="adj1" fmla="val -13993"/>
              <a:gd name="adj2" fmla="val 76045"/>
            </a:avLst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70673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如何自动验证错误报告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3785" y="3365565"/>
            <a:ext cx="2091553" cy="1272137"/>
          </a:xfrm>
          <a:prstGeom prst="rect">
            <a:avLst/>
          </a:prstGeom>
          <a:ln w="28575">
            <a:solidFill>
              <a:srgbClr val="F9263C"/>
            </a:solidFill>
            <a:prstDash val="dash"/>
          </a:ln>
        </p:spPr>
      </p:pic>
      <p:pic>
        <p:nvPicPr>
          <p:cNvPr id="16" name="图片 16"/>
          <p:cNvPicPr>
            <a:picLocks noChangeAspect="1"/>
          </p:cNvPicPr>
          <p:nvPr/>
        </p:nvPicPr>
        <p:blipFill rotWithShape="1">
          <a:blip r:embed="rId2"/>
          <a:srcRect t="20498" r="-2181"/>
          <a:stretch>
            <a:fillRect/>
          </a:stretch>
        </p:blipFill>
        <p:spPr>
          <a:xfrm>
            <a:off x="6689799" y="3429000"/>
            <a:ext cx="1102997" cy="1036508"/>
          </a:xfrm>
          <a:prstGeom prst="rect">
            <a:avLst/>
          </a:prstGeom>
        </p:spPr>
      </p:pic>
      <p:pic>
        <p:nvPicPr>
          <p:cNvPr id="20" name="Graphic 19" descr="Robot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9616" y="3458806"/>
            <a:ext cx="1036507" cy="1036507"/>
          </a:xfrm>
          <a:prstGeom prst="rect">
            <a:avLst/>
          </a:prstGeom>
        </p:spPr>
      </p:pic>
      <p:pic>
        <p:nvPicPr>
          <p:cNvPr id="22" name="Graphic 21" descr="Checklist RTL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94127" y="3630221"/>
            <a:ext cx="710735" cy="742826"/>
          </a:xfrm>
          <a:prstGeom prst="rect">
            <a:avLst/>
          </a:prstGeom>
        </p:spPr>
      </p:pic>
      <p:pic>
        <p:nvPicPr>
          <p:cNvPr id="2050" name="Picture 2" descr="See the source image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2831" y="5323811"/>
            <a:ext cx="1056168" cy="6601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7186" y="3247749"/>
            <a:ext cx="1964477" cy="1272138"/>
          </a:xfrm>
          <a:prstGeom prst="rect">
            <a:avLst/>
          </a:prstGeom>
        </p:spPr>
      </p:pic>
      <p:sp>
        <p:nvSpPr>
          <p:cNvPr id="26" name="Arrow: Right 25"/>
          <p:cNvSpPr/>
          <p:nvPr/>
        </p:nvSpPr>
        <p:spPr>
          <a:xfrm>
            <a:off x="3216353" y="3807918"/>
            <a:ext cx="483263" cy="48910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0" name="Arrow: Right 29"/>
          <p:cNvSpPr/>
          <p:nvPr/>
        </p:nvSpPr>
        <p:spPr>
          <a:xfrm>
            <a:off x="4723585" y="3798344"/>
            <a:ext cx="483263" cy="48910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1" name="Arrow: Right 30"/>
          <p:cNvSpPr/>
          <p:nvPr/>
        </p:nvSpPr>
        <p:spPr>
          <a:xfrm>
            <a:off x="6103800" y="3773229"/>
            <a:ext cx="483263" cy="48910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2" name="Arrow: Right 31"/>
          <p:cNvSpPr/>
          <p:nvPr/>
        </p:nvSpPr>
        <p:spPr>
          <a:xfrm rot="16200000">
            <a:off x="6999666" y="4650105"/>
            <a:ext cx="483263" cy="48910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3" name="Arrow: Right 32"/>
          <p:cNvSpPr/>
          <p:nvPr/>
        </p:nvSpPr>
        <p:spPr>
          <a:xfrm>
            <a:off x="8054971" y="3732505"/>
            <a:ext cx="483263" cy="48910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4877687" y="2727481"/>
            <a:ext cx="2035173" cy="461665"/>
          </a:xfrm>
          <a:prstGeom prst="rect">
            <a:avLst/>
          </a:prstGeom>
          <a:noFill/>
        </p:spPr>
        <p:txBody>
          <a:bodyPr wrap="none" lIns="45720" tIns="22860" rIns="45720" bIns="22860">
            <a:spAutoFit/>
          </a:bodyPr>
          <a:lstStyle/>
          <a:p>
            <a:pPr algn="ctr" defTabSz="412750" hangingPunct="0"/>
            <a:r>
              <a:rPr lang="en-US" altLang="zh-CN" sz="2700" b="1" u="wavyHeavy" kern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Helvetica Neue"/>
                <a:sym typeface="Helvetica Neue"/>
              </a:rPr>
              <a:t>click</a:t>
            </a:r>
            <a:r>
              <a:rPr lang="en-US" altLang="zh-CN" sz="2700" kern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Helvetica Neue"/>
                <a:sym typeface="Helvetica Neue"/>
              </a:rPr>
              <a:t> </a:t>
            </a:r>
            <a:r>
              <a:rPr lang="en-US" altLang="zh-CN" sz="2700" u="sng" kern="0" dirty="0">
                <a:ln w="0"/>
                <a:solidFill>
                  <a:srgbClr val="FFFFFF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Helvetica Neue"/>
                <a:sym typeface="Helvetica Neue"/>
              </a:rPr>
              <a:t>refresh</a:t>
            </a:r>
            <a:endParaRPr lang="en-US" altLang="zh-CN" sz="2700" u="sng" kern="0" dirty="0">
              <a:ln w="0"/>
              <a:solidFill>
                <a:srgbClr val="FFFFFF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Helvetica Neue"/>
              <a:sym typeface="Helvetica Neue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9"/>
            <p:extLst>
              <p:ext uri="{DAA4B4D4-6D71-4841-9C94-3DE7FCFB9230}">
                <p14:media xmlns:p14="http://schemas.microsoft.com/office/powerpoint/2010/main" r:embed="rId10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12"/>
    </p:custDataLst>
  </p:cSld>
  <p:clrMapOvr>
    <a:masterClrMapping/>
  </p:clrMapOvr>
  <p:transition spd="med" advTm="14585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70673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如何自动验证错误报告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0" name="图片 3"/>
          <p:cNvPicPr>
            <a:picLocks noChangeAspect="1"/>
          </p:cNvPicPr>
          <p:nvPr/>
        </p:nvPicPr>
        <p:blipFill rotWithShape="1">
          <a:blip r:embed="rId1"/>
          <a:srcRect l="43913"/>
          <a:stretch>
            <a:fillRect/>
          </a:stretch>
        </p:blipFill>
        <p:spPr>
          <a:xfrm>
            <a:off x="3443220" y="2320366"/>
            <a:ext cx="4642460" cy="3314048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5707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70673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如何自动验证错误报告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2"/>
          <p:cNvSpPr/>
          <p:nvPr/>
        </p:nvSpPr>
        <p:spPr>
          <a:xfrm>
            <a:off x="2388637" y="2587444"/>
            <a:ext cx="3763926" cy="301621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57175" indent="-257175" defTabSz="412750" hangingPunct="0">
              <a:spcBef>
                <a:spcPts val="600"/>
              </a:spcBef>
            </a:pP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marL="257175" indent="-257175" defTabSz="412750" hangingPunct="0">
              <a:spcBef>
                <a:spcPts val="600"/>
              </a:spcBef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1.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Select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the second tab on the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marL="257175" indent="-257175" defTabSz="412750" hangingPunct="0">
              <a:spcBef>
                <a:spcPts val="600"/>
              </a:spcBef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  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Bottom Navigation View;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marL="257175" indent="-257175" defTabSz="412750" hangingPunct="0">
              <a:spcBef>
                <a:spcPts val="600"/>
              </a:spcBef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2.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Click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the button with the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marL="257175" indent="-257175" defTabSz="412750" hangingPunct="0">
              <a:spcBef>
                <a:spcPts val="600"/>
              </a:spcBef>
            </a:pP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  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text ‘Click Me’;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marL="257175" indent="-257175" defTabSz="412750" hangingPunct="0">
              <a:spcBef>
                <a:spcPts val="600"/>
              </a:spcBef>
            </a:pP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3.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2000" b="1" kern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Press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the hardware back</a:t>
            </a:r>
            <a:r>
              <a:rPr lang="zh-CN" altLang="en-US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 </a:t>
            </a:r>
            <a:r>
              <a:rPr lang="en-US" altLang="zh-CN" sz="2000" b="1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button </a:t>
            </a: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  <a:p>
            <a:pPr marL="257175" indent="-257175" defTabSz="457200">
              <a:spcBef>
                <a:spcPts val="600"/>
              </a:spcBef>
              <a:defRPr/>
            </a:pPr>
            <a:endParaRPr lang="en-US" altLang="zh-CN" sz="2000" b="1" kern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sp>
        <p:nvSpPr>
          <p:cNvPr id="19" name="矩形 7"/>
          <p:cNvSpPr/>
          <p:nvPr/>
        </p:nvSpPr>
        <p:spPr>
          <a:xfrm>
            <a:off x="7272186" y="3688728"/>
            <a:ext cx="1233671" cy="661720"/>
          </a:xfrm>
          <a:prstGeom prst="rect">
            <a:avLst/>
          </a:prstGeom>
          <a:noFill/>
        </p:spPr>
        <p:txBody>
          <a:bodyPr wrap="none" lIns="45720" tIns="22860" rIns="45720" bIns="22860">
            <a:spAutoFit/>
          </a:bodyPr>
          <a:lstStyle/>
          <a:p>
            <a:pPr algn="ctr" defTabSz="412750" hangingPunct="0"/>
            <a:r>
              <a:rPr lang="en-US" altLang="zh-CN" sz="4000" b="1" kern="0" dirty="0"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lumMod val="50000"/>
                      <a:alpha val="40000"/>
                    </a:srgbClr>
                  </a:outerShdw>
                </a:effectLst>
                <a:latin typeface="Helvetica Neue Medium"/>
                <a:sym typeface="Helvetica Neue"/>
              </a:rPr>
              <a:t>click</a:t>
            </a:r>
            <a:endParaRPr lang="zh-CN" altLang="en-US" sz="4000" b="1" kern="0" dirty="0">
              <a:solidFill>
                <a:srgbClr val="FF0000"/>
              </a:solidFill>
              <a:effectLst>
                <a:outerShdw blurRad="38100" dist="19050" dir="2700000" algn="tl" rotWithShape="0">
                  <a:srgbClr val="000000">
                    <a:lumMod val="50000"/>
                    <a:alpha val="40000"/>
                  </a:srgbClr>
                </a:outerShdw>
              </a:effectLst>
              <a:latin typeface="Helvetica Neue Medium"/>
              <a:sym typeface="Helvetica Neue"/>
            </a:endParaRPr>
          </a:p>
        </p:txBody>
      </p:sp>
      <p:sp>
        <p:nvSpPr>
          <p:cNvPr id="21" name="右大括号 12"/>
          <p:cNvSpPr/>
          <p:nvPr/>
        </p:nvSpPr>
        <p:spPr>
          <a:xfrm>
            <a:off x="6183757" y="3025660"/>
            <a:ext cx="468052" cy="2139778"/>
          </a:xfrm>
          <a:prstGeom prst="rightBrace">
            <a:avLst>
              <a:gd name="adj1" fmla="val 8333"/>
              <a:gd name="adj2" fmla="val 51019"/>
            </a:avLst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 defTabSz="412750" hangingPunct="0"/>
            <a:endParaRPr kumimoji="1" lang="zh-CN" altLang="en-US" sz="2200" b="1" kern="0">
              <a:solidFill>
                <a:srgbClr val="000000"/>
              </a:solidFill>
              <a:latin typeface="Helvetica Neue Medium"/>
              <a:sym typeface="Helvetica Neue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46325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70673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如何自动验证错误报告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929" y="4852368"/>
            <a:ext cx="4455995" cy="8205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1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3018" y="2447019"/>
            <a:ext cx="4593051" cy="907620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992" y="3693228"/>
            <a:ext cx="2922851" cy="820551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  <a:headEnd/>
            <a:tailEnd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3" name="矩形 16"/>
          <p:cNvSpPr/>
          <p:nvPr/>
        </p:nvSpPr>
        <p:spPr>
          <a:xfrm>
            <a:off x="3692793" y="3042214"/>
            <a:ext cx="12092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12750" hangingPunct="0"/>
            <a:endParaRPr lang="zh-CN" altLang="en-US" sz="1600" b="1" kern="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5" name="Graphic 4" descr="Arrow Straight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4948377">
            <a:off x="1020155" y="3996036"/>
            <a:ext cx="1735131" cy="457200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1479851" y="5080131"/>
            <a:ext cx="1289777" cy="553998"/>
          </a:xfrm>
          <a:prstGeom prst="rect">
            <a:avLst/>
          </a:prstGeom>
          <a:noFill/>
        </p:spPr>
        <p:txBody>
          <a:bodyPr wrap="none" lIns="45720" tIns="22860" rIns="45720" bIns="22860">
            <a:spAutoFit/>
          </a:bodyPr>
          <a:lstStyle/>
          <a:p>
            <a:pPr algn="ctr" defTabSz="412750" hangingPunct="0"/>
            <a:r>
              <a:rPr lang="en-US" altLang="zh-CN" sz="3300" kern="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rgbClr val="000000">
                      <a:alpha val="4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  <a:sym typeface="Helvetica Neue"/>
              </a:rPr>
              <a:t>change</a:t>
            </a:r>
            <a:endParaRPr lang="en-US" altLang="zh-CN" sz="3300" kern="0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rgbClr val="000000">
                    <a:alpha val="4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  <a:sym typeface="Helvetica Neue"/>
            </a:endParaRPr>
          </a:p>
        </p:txBody>
      </p:sp>
      <p:pic>
        <p:nvPicPr>
          <p:cNvPr id="42" name="Graphic 41" descr="Arrow Straight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9590717">
            <a:off x="2867803" y="4623767"/>
            <a:ext cx="2181857" cy="457200"/>
          </a:xfrm>
          <a:prstGeom prst="rect">
            <a:avLst/>
          </a:prstGeom>
        </p:spPr>
      </p:pic>
      <p:pic>
        <p:nvPicPr>
          <p:cNvPr id="43" name="Graphic 42" descr="Arrow Straight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3397471" y="5262643"/>
            <a:ext cx="3924631" cy="457200"/>
          </a:xfrm>
          <a:prstGeom prst="rect">
            <a:avLst/>
          </a:prstGeom>
        </p:spPr>
      </p:pic>
      <p:cxnSp>
        <p:nvCxnSpPr>
          <p:cNvPr id="44" name="Straight Connector 43"/>
          <p:cNvCxnSpPr/>
          <p:nvPr/>
        </p:nvCxnSpPr>
        <p:spPr>
          <a:xfrm>
            <a:off x="1426688" y="3216346"/>
            <a:ext cx="699823" cy="0"/>
          </a:xfrm>
          <a:prstGeom prst="line">
            <a:avLst/>
          </a:prstGeom>
          <a:ln w="57150" cmpd="sng">
            <a:solidFill>
              <a:schemeClr val="accent5">
                <a:shade val="95000"/>
                <a:satMod val="104999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4767084" y="4366436"/>
            <a:ext cx="699823" cy="0"/>
          </a:xfrm>
          <a:prstGeom prst="line">
            <a:avLst/>
          </a:prstGeom>
          <a:ln w="57150" cmpd="sng">
            <a:solidFill>
              <a:schemeClr val="accent5">
                <a:shade val="95000"/>
                <a:satMod val="104999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7551040" y="5587409"/>
            <a:ext cx="699823" cy="0"/>
          </a:xfrm>
          <a:prstGeom prst="line">
            <a:avLst/>
          </a:prstGeom>
          <a:ln w="57150" cmpd="sng">
            <a:solidFill>
              <a:schemeClr val="accent5">
                <a:shade val="95000"/>
                <a:satMod val="104999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9"/>
    </p:custDataLst>
  </p:cSld>
  <p:clrMapOvr>
    <a:masterClrMapping/>
  </p:clrMapOvr>
  <p:transition spd="med" advTm="53896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如何挑选测试报告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1694" y="2575550"/>
            <a:ext cx="8268613" cy="3506273"/>
          </a:xfrm>
          <a:prstGeom prst="rect">
            <a:avLst/>
          </a:prstGeom>
        </p:spPr>
      </p:pic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57087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706733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如何挑选测试报告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Graphic 19" descr="Robot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83651" y="3893234"/>
            <a:ext cx="1036507" cy="1036507"/>
          </a:xfrm>
          <a:prstGeom prst="rect">
            <a:avLst/>
          </a:prstGeom>
        </p:spPr>
      </p:pic>
      <p:sp>
        <p:nvSpPr>
          <p:cNvPr id="26" name="Arrow: Right 25"/>
          <p:cNvSpPr/>
          <p:nvPr/>
        </p:nvSpPr>
        <p:spPr>
          <a:xfrm>
            <a:off x="4754208" y="4166933"/>
            <a:ext cx="483263" cy="48910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sp>
        <p:nvSpPr>
          <p:cNvPr id="33" name="Arrow: Right 32"/>
          <p:cNvSpPr/>
          <p:nvPr/>
        </p:nvSpPr>
        <p:spPr>
          <a:xfrm>
            <a:off x="6378569" y="4166933"/>
            <a:ext cx="483263" cy="489109"/>
          </a:xfrm>
          <a:prstGeom prst="rightArrow">
            <a:avLst/>
          </a:prstGeom>
          <a:solidFill>
            <a:schemeClr val="accent1"/>
          </a:soli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fromWordArt="0" anchor="ctr" anchorCtr="0" forceAA="0" compatLnSpc="1">
            <a:spAutoFit/>
          </a:bodyPr>
          <a:lstStyle/>
          <a:p>
            <a:pPr algn="ctr" defTabSz="412750" hangingPunct="0"/>
            <a:endParaRPr lang="zh-CN" altLang="en-US"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2" name="Group 1"/>
          <p:cNvGrpSpPr/>
          <p:nvPr/>
        </p:nvGrpSpPr>
        <p:grpSpPr>
          <a:xfrm>
            <a:off x="923785" y="3165819"/>
            <a:ext cx="3310753" cy="2491337"/>
            <a:chOff x="923785" y="3277821"/>
            <a:chExt cx="3310753" cy="2491337"/>
          </a:xfrm>
        </p:grpSpPr>
        <p:pic>
          <p:nvPicPr>
            <p:cNvPr id="6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3785" y="32778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1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76185" y="34302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19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28585" y="35826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21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80985" y="37350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23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33385" y="38874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24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85785" y="40398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27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38185" y="41922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34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90585" y="43446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35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42985" y="4497021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</p:grpSp>
      <p:grpSp>
        <p:nvGrpSpPr>
          <p:cNvPr id="3" name="Group 2"/>
          <p:cNvGrpSpPr/>
          <p:nvPr/>
        </p:nvGrpSpPr>
        <p:grpSpPr>
          <a:xfrm>
            <a:off x="7324584" y="3165819"/>
            <a:ext cx="3310753" cy="2491337"/>
            <a:chOff x="7126003" y="3053816"/>
            <a:chExt cx="3310753" cy="2491337"/>
          </a:xfrm>
        </p:grpSpPr>
        <p:pic>
          <p:nvPicPr>
            <p:cNvPr id="36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6003" y="3053816"/>
              <a:ext cx="2091553" cy="1272137"/>
            </a:xfrm>
            <a:prstGeom prst="rect">
              <a:avLst/>
            </a:prstGeom>
            <a:ln w="28575">
              <a:solidFill>
                <a:srgbClr val="C00000"/>
              </a:solidFill>
              <a:prstDash val="dash"/>
            </a:ln>
          </p:spPr>
        </p:pic>
        <p:pic>
          <p:nvPicPr>
            <p:cNvPr id="37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278403" y="3206216"/>
              <a:ext cx="2091553" cy="1272137"/>
            </a:xfrm>
            <a:prstGeom prst="rect">
              <a:avLst/>
            </a:prstGeom>
            <a:ln w="28575">
              <a:solidFill>
                <a:srgbClr val="00B050"/>
              </a:solidFill>
              <a:prstDash val="dash"/>
            </a:ln>
          </p:spPr>
        </p:pic>
        <p:pic>
          <p:nvPicPr>
            <p:cNvPr id="38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30803" y="3358616"/>
              <a:ext cx="2091553" cy="1272137"/>
            </a:xfrm>
            <a:prstGeom prst="rect">
              <a:avLst/>
            </a:prstGeom>
            <a:ln w="28575">
              <a:solidFill>
                <a:srgbClr val="7030A0"/>
              </a:solidFill>
              <a:prstDash val="dash"/>
            </a:ln>
          </p:spPr>
        </p:pic>
        <p:pic>
          <p:nvPicPr>
            <p:cNvPr id="39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583203" y="3511016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40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5603" y="3663416"/>
              <a:ext cx="2091553" cy="1272137"/>
            </a:xfrm>
            <a:prstGeom prst="rect">
              <a:avLst/>
            </a:prstGeom>
            <a:ln w="28575">
              <a:solidFill>
                <a:srgbClr val="92D050"/>
              </a:solidFill>
              <a:prstDash val="dash"/>
            </a:ln>
          </p:spPr>
        </p:pic>
        <p:pic>
          <p:nvPicPr>
            <p:cNvPr id="41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8003" y="3815816"/>
              <a:ext cx="2091553" cy="1272137"/>
            </a:xfrm>
            <a:prstGeom prst="rect">
              <a:avLst/>
            </a:prstGeom>
            <a:ln w="28575">
              <a:solidFill>
                <a:schemeClr val="accent6">
                  <a:lumMod val="40000"/>
                  <a:lumOff val="60000"/>
                </a:schemeClr>
              </a:solidFill>
              <a:prstDash val="dash"/>
            </a:ln>
          </p:spPr>
        </p:pic>
        <p:pic>
          <p:nvPicPr>
            <p:cNvPr id="42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40403" y="3968216"/>
              <a:ext cx="2091553" cy="1272137"/>
            </a:xfrm>
            <a:prstGeom prst="rect">
              <a:avLst/>
            </a:prstGeom>
            <a:ln w="28575">
              <a:solidFill>
                <a:srgbClr val="F9263C"/>
              </a:solidFill>
              <a:prstDash val="dash"/>
            </a:ln>
          </p:spPr>
        </p:pic>
        <p:pic>
          <p:nvPicPr>
            <p:cNvPr id="43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192803" y="4120616"/>
              <a:ext cx="2091553" cy="1272137"/>
            </a:xfrm>
            <a:prstGeom prst="rect">
              <a:avLst/>
            </a:prstGeom>
            <a:ln w="28575">
              <a:solidFill>
                <a:srgbClr val="002060"/>
              </a:solidFill>
              <a:prstDash val="dash"/>
            </a:ln>
          </p:spPr>
        </p:pic>
        <p:pic>
          <p:nvPicPr>
            <p:cNvPr id="44" name="图片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45203" y="4273016"/>
              <a:ext cx="2091553" cy="1272137"/>
            </a:xfrm>
            <a:prstGeom prst="rect">
              <a:avLst/>
            </a:prstGeom>
            <a:ln w="28575">
              <a:solidFill>
                <a:schemeClr val="accent1"/>
              </a:solidFill>
              <a:prstDash val="dash"/>
            </a:ln>
          </p:spPr>
        </p:pic>
      </p:grpSp>
      <p:sp>
        <p:nvSpPr>
          <p:cNvPr id="4" name="Rectangle 3"/>
          <p:cNvSpPr/>
          <p:nvPr/>
        </p:nvSpPr>
        <p:spPr>
          <a:xfrm>
            <a:off x="5187271" y="1976589"/>
            <a:ext cx="1210588" cy="190770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cap="none" spc="0" dirty="0">
                <a:ln w="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SVM</a:t>
            </a:r>
            <a:endParaRPr lang="en-US" altLang="zh-CN" sz="2000" b="1" cap="none" spc="0" dirty="0">
              <a:ln w="0"/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000" b="1" cap="none" spc="0" dirty="0">
                <a:ln w="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CNN</a:t>
            </a:r>
            <a:endParaRPr lang="en-US" altLang="zh-CN" sz="2000" b="1" cap="none" spc="0" dirty="0">
              <a:ln w="0"/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en-US" altLang="zh-CN" sz="2000" b="1" dirty="0">
                <a:ln w="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LSTM</a:t>
            </a:r>
            <a:endParaRPr lang="en-US" altLang="zh-CN" sz="2000" b="1" dirty="0">
              <a:ln w="0"/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1" dirty="0">
                <a:ln w="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贝叶斯</a:t>
            </a:r>
            <a:endParaRPr lang="en-US" altLang="zh-CN" sz="2000" b="1" dirty="0">
              <a:ln w="0"/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20000"/>
              </a:lnSpc>
            </a:pPr>
            <a:r>
              <a:rPr lang="zh-CN" altLang="en-US" sz="2000" b="1" cap="none" spc="0" dirty="0">
                <a:ln w="0"/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逻辑回归</a:t>
            </a:r>
            <a:endParaRPr lang="en-US" altLang="zh-CN" sz="2000" b="1" cap="none" spc="0" dirty="0">
              <a:ln w="0"/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音频 4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 advTm="4906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如何自动修复软件缺陷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通过测试用例获知软件有缺陷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通过分析测试用例进行错误定位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如何修复可疑语句？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33303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48" name="Rectangle 3"/>
          <p:cNvSpPr txBox="1">
            <a:spLocks noRot="1" noChangeArrowheads="1"/>
          </p:cNvSpPr>
          <p:nvPr/>
        </p:nvSpPr>
        <p:spPr>
          <a:xfrm>
            <a:off x="989258" y="1407042"/>
            <a:ext cx="10604666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如何自动修复软件缺陷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随机大法（基于变异的修复方法）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3352" y="539434"/>
            <a:ext cx="5969000" cy="5691273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6847946" y="4243754"/>
            <a:ext cx="4002993" cy="44077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7" name="Arrow: Right 6"/>
          <p:cNvSpPr/>
          <p:nvPr/>
        </p:nvSpPr>
        <p:spPr>
          <a:xfrm>
            <a:off x="5367712" y="5930678"/>
            <a:ext cx="675640" cy="489109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412750" hangingPunct="0"/>
            <a:endParaRPr lang="zh-CN" altLang="en-US" sz="1600">
              <a:solidFill>
                <a:srgbClr val="FFFFFF"/>
              </a:solidFill>
              <a:sym typeface="Helvetica Neue Medium"/>
            </a:endParaRPr>
          </a:p>
        </p:txBody>
      </p:sp>
      <p:sp>
        <p:nvSpPr>
          <p:cNvPr id="8" name="Arrow: Right 7"/>
          <p:cNvSpPr/>
          <p:nvPr/>
        </p:nvSpPr>
        <p:spPr>
          <a:xfrm rot="19530844">
            <a:off x="4664188" y="2675957"/>
            <a:ext cx="2519566" cy="167978"/>
          </a:xfrm>
          <a:prstGeom prst="right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algn="ctr" defTabSz="412750" hangingPunct="0"/>
            <a:endParaRPr lang="zh-CN" altLang="en-US" sz="1600">
              <a:solidFill>
                <a:srgbClr val="FFFFFF"/>
              </a:solidFill>
              <a:sym typeface="Helvetica Neue Medium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5471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1173" y="539434"/>
            <a:ext cx="5485122" cy="5381075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 flipV="1">
            <a:off x="6779953" y="1931211"/>
            <a:ext cx="2561310" cy="28203"/>
          </a:xfrm>
          <a:prstGeom prst="line">
            <a:avLst/>
          </a:prstGeom>
          <a:noFill/>
          <a:ln w="38100" cap="flat">
            <a:solidFill>
              <a:srgbClr val="FF0000"/>
            </a:solidFill>
            <a:prstDash val="solid"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</p:cxnSp>
      <p:sp>
        <p:nvSpPr>
          <p:cNvPr id="11" name="Rectangle 3"/>
          <p:cNvSpPr txBox="1">
            <a:spLocks noRot="1" noChangeArrowheads="1"/>
          </p:cNvSpPr>
          <p:nvPr/>
        </p:nvSpPr>
        <p:spPr>
          <a:xfrm>
            <a:off x="458563" y="1504829"/>
            <a:ext cx="6958237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基于变异的修复方法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变异算子：给定数学符号替换为其他数学符号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从本项目内部其他地方拷贝一个条件替换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从其他开源软件随机拷贝替换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基于测试用例验证补丁的有效性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 advTm="13302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35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1368985" y="539434"/>
            <a:ext cx="4990252" cy="521447"/>
          </a:xfrm>
          <a:ln w="12700">
            <a:miter lim="400000"/>
          </a:ln>
        </p:spPr>
        <p:txBody>
          <a:bodyPr lIns="25400" tIns="25400" rIns="25400" bIns="25400" anchor="ctr">
            <a:normAutofit/>
          </a:bodyPr>
          <a:lstStyle/>
          <a:p>
            <a:r>
              <a:rPr lang="zh-CN" altLang="en-US" dirty="0"/>
              <a:t>基于智能技术的软件测试</a:t>
            </a:r>
            <a:endParaRPr lang="zh-CN" altLang="en-US" dirty="0"/>
          </a:p>
        </p:txBody>
      </p:sp>
      <p:sp>
        <p:nvSpPr>
          <p:cNvPr id="10" name="矩形 11"/>
          <p:cNvSpPr txBox="1"/>
          <p:nvPr/>
        </p:nvSpPr>
        <p:spPr>
          <a:xfrm>
            <a:off x="458563" y="59179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2</a:t>
            </a:r>
            <a:endParaRPr sz="2300" kern="0" dirty="0"/>
          </a:p>
        </p:txBody>
      </p:sp>
      <p:sp>
        <p:nvSpPr>
          <p:cNvPr id="11" name="Rectangle 3"/>
          <p:cNvSpPr txBox="1">
            <a:spLocks noRot="1" noChangeArrowheads="1"/>
          </p:cNvSpPr>
          <p:nvPr/>
        </p:nvSpPr>
        <p:spPr>
          <a:xfrm>
            <a:off x="989258" y="1407042"/>
            <a:ext cx="6650235" cy="4043917"/>
          </a:xfrm>
          <a:prstGeom prst="rect">
            <a:avLst/>
          </a:prstGeom>
          <a:noFill/>
          <a:ln w="12700">
            <a:noFill/>
            <a:miter lim="4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25400" tIns="25400" rIns="25400" bIns="25400" anchor="t">
            <a:normAutofit/>
          </a:bodyPr>
          <a:lstStyle>
            <a:lvl1pPr marL="63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4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Neue"/>
              </a:defRPr>
            </a:lvl1pPr>
            <a:lvl2pPr marL="127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4000" b="1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Helvetica Neue"/>
              </a:defRPr>
            </a:lvl2pPr>
            <a:lvl3pPr marL="190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254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317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381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444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5080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5715000" marR="0" indent="-635000" algn="l" defTabSz="825500" latinLnBrk="0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Tx/>
              <a:buSzPct val="125000"/>
              <a:buFontTx/>
              <a:buChar char="•"/>
              <a:defRPr sz="5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171450" indent="-171450" defTabSz="412750" fontAlgn="base" hangingPunct="0">
              <a:lnSpc>
                <a:spcPct val="150000"/>
              </a:lnSpc>
              <a:spcBef>
                <a:spcPts val="0"/>
              </a:spcBef>
              <a:buSzTx/>
              <a:buFont typeface="Wingdings" panose="05000000000000000000" pitchFamily="2" charset="2"/>
              <a:buChar char="n"/>
            </a:pPr>
            <a:r>
              <a:rPr lang="zh-CN" altLang="en-US" sz="22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基于模式的修复</a:t>
            </a:r>
            <a:endParaRPr lang="zh-CN" altLang="en-US" sz="22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获取大量的程序缺陷以及补丁（修复代码）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利用数据挖掘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/AI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的方法学习缺陷修复的模式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给定一个缺陷，</a:t>
            </a:r>
            <a:r>
              <a:rPr lang="en-US" altLang="zh-CN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2200" b="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可预测该使用哪个修复模式</a:t>
            </a: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635000" lvl="1" indent="-317500" defTabSz="412750" fontAlgn="base">
              <a:spcBef>
                <a:spcPts val="2950"/>
              </a:spcBef>
              <a:buClr>
                <a:srgbClr val="000000"/>
              </a:buClr>
              <a:buFont typeface="Wingdings" panose="05000000000000000000" pitchFamily="2" charset="2"/>
              <a:buChar char="Ø"/>
            </a:pPr>
            <a:endParaRPr lang="en-US" altLang="zh-CN" sz="2200" b="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24144" y="2683653"/>
            <a:ext cx="4068373" cy="799706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 lIns="91440" tIns="45720" rIns="91440" bIns="4572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模式</a:t>
            </a:r>
            <a:r>
              <a:rPr lang="en-US" altLang="zh-CN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2000" dirty="0">
                <a:ln w="0"/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：如果可疑语句是函数调用语句，那么可以替换其参数来修复</a:t>
            </a:r>
            <a:endParaRPr lang="en-US" altLang="zh-CN" sz="2000" cap="none" spc="0" dirty="0">
              <a:ln w="0"/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 spd="med" advTm="15079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28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  <p:bldLst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"/>
          <p:cNvSpPr/>
          <p:nvPr/>
        </p:nvSpPr>
        <p:spPr>
          <a:xfrm>
            <a:off x="0" y="-1"/>
            <a:ext cx="3920778" cy="6858001"/>
          </a:xfrm>
          <a:prstGeom prst="rect">
            <a:avLst/>
          </a:prstGeom>
          <a:solidFill>
            <a:srgbClr val="A8271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 defTabSz="412750" hangingPunct="0"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1600" kern="0">
              <a:solidFill>
                <a:srgbClr val="FFFFFF"/>
              </a:solidFill>
              <a:latin typeface="Helvetica Neue Medium"/>
              <a:sym typeface="Helvetica Neue Medium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510288" y="2777656"/>
            <a:ext cx="2594629" cy="1302688"/>
            <a:chOff x="1130303" y="5796540"/>
            <a:chExt cx="5189258" cy="2605375"/>
          </a:xfrm>
        </p:grpSpPr>
        <p:sp>
          <p:nvSpPr>
            <p:cNvPr id="132" name="文本框 3"/>
            <p:cNvSpPr txBox="1"/>
            <p:nvPr/>
          </p:nvSpPr>
          <p:spPr>
            <a:xfrm>
              <a:off x="1821401" y="7230559"/>
              <a:ext cx="3807062" cy="906381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240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/>
              <a:r>
                <a:rPr sz="1200" b="1" kern="0" dirty="0"/>
                <a:t>CONTENTS</a:t>
              </a:r>
              <a:endParaRPr sz="1200" b="1" kern="0" dirty="0"/>
            </a:p>
          </p:txBody>
        </p:sp>
        <p:sp>
          <p:nvSpPr>
            <p:cNvPr id="133" name="文本框 3"/>
            <p:cNvSpPr txBox="1"/>
            <p:nvPr/>
          </p:nvSpPr>
          <p:spPr>
            <a:xfrm>
              <a:off x="1130303" y="5796540"/>
              <a:ext cx="5189258" cy="2605375"/>
            </a:xfrm>
            <a:prstGeom prst="rect">
              <a:avLst/>
            </a:prstGeom>
            <a:ln w="12700">
              <a:miter lim="400000"/>
            </a:ln>
          </p:spPr>
          <p:txBody>
            <a:bodyPr lIns="22860" rIns="22860"/>
            <a:lstStyle>
              <a:lvl1pPr defTabSz="914400">
                <a:defRPr sz="7000" spc="1166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algn="ctr" defTabSz="457200" hangingPunct="0">
                <a:defRPr b="0">
                  <a:latin typeface="Arial Black" panose="020B0A04020102020204"/>
                  <a:ea typeface="Arial Black" panose="020B0A04020102020204"/>
                  <a:cs typeface="Arial Black" panose="020B0A04020102020204"/>
                  <a:sym typeface="Arial Black" panose="020B0A04020102020204"/>
                </a:defRPr>
              </a:pPr>
              <a:r>
                <a:rPr sz="3500" b="1" kern="0" spc="583" dirty="0"/>
                <a:t>目录</a:t>
              </a:r>
              <a:endParaRPr sz="3500" b="1" kern="0" spc="583" dirty="0"/>
            </a:p>
          </p:txBody>
        </p:sp>
      </p:grpSp>
      <p:sp>
        <p:nvSpPr>
          <p:cNvPr id="127" name="矩形 5"/>
          <p:cNvSpPr txBox="1"/>
          <p:nvPr/>
        </p:nvSpPr>
        <p:spPr>
          <a:xfrm>
            <a:off x="5607727" y="2162638"/>
            <a:ext cx="2959001" cy="42727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kern="0" dirty="0">
                <a:solidFill>
                  <a:srgbClr val="000000"/>
                </a:solidFill>
              </a:rPr>
              <a:t>软件测试碰上人工智能</a:t>
            </a:r>
            <a:endParaRPr lang="zh-CN" altLang="en-US" sz="2200" kern="0" dirty="0">
              <a:solidFill>
                <a:srgbClr val="000000"/>
              </a:solidFill>
            </a:endParaRPr>
          </a:p>
        </p:txBody>
      </p:sp>
      <p:sp>
        <p:nvSpPr>
          <p:cNvPr id="128" name="Freeform 5"/>
          <p:cNvSpPr/>
          <p:nvPr/>
        </p:nvSpPr>
        <p:spPr>
          <a:xfrm rot="5400000">
            <a:off x="4605837" y="2094662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矩形 11"/>
          <p:cNvSpPr txBox="1"/>
          <p:nvPr/>
        </p:nvSpPr>
        <p:spPr>
          <a:xfrm>
            <a:off x="4544279" y="216263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01</a:t>
            </a:r>
            <a:endParaRPr sz="2300" kern="0"/>
          </a:p>
        </p:txBody>
      </p:sp>
      <p:sp>
        <p:nvSpPr>
          <p:cNvPr id="134" name="矩形 5"/>
          <p:cNvSpPr txBox="1"/>
          <p:nvPr/>
        </p:nvSpPr>
        <p:spPr>
          <a:xfrm>
            <a:off x="5607728" y="3229729"/>
            <a:ext cx="3406964" cy="357598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t">
            <a:noAutofit/>
          </a:bodyPr>
          <a:lstStyle>
            <a:lvl1pPr defTabSz="914400">
              <a:defRPr sz="3600" b="0">
                <a:solidFill>
                  <a:srgbClr val="4040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 defTabSz="457200" hangingPunct="0"/>
            <a:r>
              <a:rPr lang="zh-CN" altLang="en-US" sz="2200" kern="0" dirty="0">
                <a:solidFill>
                  <a:srgbClr val="000000"/>
                </a:solidFill>
              </a:rPr>
              <a:t>基于智能技术的软件测试</a:t>
            </a:r>
            <a:endParaRPr sz="2200" kern="0" dirty="0">
              <a:solidFill>
                <a:srgbClr val="000000"/>
              </a:solidFill>
            </a:endParaRPr>
          </a:p>
        </p:txBody>
      </p:sp>
      <p:sp>
        <p:nvSpPr>
          <p:cNvPr id="135" name="Freeform 5"/>
          <p:cNvSpPr/>
          <p:nvPr/>
        </p:nvSpPr>
        <p:spPr>
          <a:xfrm rot="5400000">
            <a:off x="4605837" y="3120025"/>
            <a:ext cx="671733" cy="6179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6957" y="20435"/>
                </a:moveTo>
                <a:cubicBezTo>
                  <a:pt x="16775" y="20771"/>
                  <a:pt x="16523" y="21062"/>
                  <a:pt x="16200" y="21274"/>
                </a:cubicBezTo>
                <a:cubicBezTo>
                  <a:pt x="15861" y="21495"/>
                  <a:pt x="15491" y="21592"/>
                  <a:pt x="15120" y="21583"/>
                </a:cubicBezTo>
                <a:lnTo>
                  <a:pt x="6433" y="21583"/>
                </a:lnTo>
                <a:cubicBezTo>
                  <a:pt x="6086" y="21583"/>
                  <a:pt x="5723" y="21486"/>
                  <a:pt x="5400" y="21274"/>
                </a:cubicBezTo>
                <a:cubicBezTo>
                  <a:pt x="5077" y="21062"/>
                  <a:pt x="4817" y="20771"/>
                  <a:pt x="4643" y="20426"/>
                </a:cubicBezTo>
                <a:lnTo>
                  <a:pt x="284" y="11966"/>
                </a:lnTo>
                <a:cubicBezTo>
                  <a:pt x="102" y="11622"/>
                  <a:pt x="0" y="11225"/>
                  <a:pt x="0" y="10792"/>
                </a:cubicBezTo>
                <a:cubicBezTo>
                  <a:pt x="0" y="10359"/>
                  <a:pt x="102" y="9962"/>
                  <a:pt x="284" y="9609"/>
                </a:cubicBezTo>
                <a:lnTo>
                  <a:pt x="4627" y="1184"/>
                </a:lnTo>
                <a:cubicBezTo>
                  <a:pt x="4809" y="840"/>
                  <a:pt x="5069" y="531"/>
                  <a:pt x="5400" y="319"/>
                </a:cubicBezTo>
                <a:cubicBezTo>
                  <a:pt x="5707" y="116"/>
                  <a:pt x="6046" y="10"/>
                  <a:pt x="6385" y="1"/>
                </a:cubicBezTo>
                <a:lnTo>
                  <a:pt x="15104" y="1"/>
                </a:lnTo>
                <a:cubicBezTo>
                  <a:pt x="15475" y="-8"/>
                  <a:pt x="15853" y="89"/>
                  <a:pt x="16200" y="319"/>
                </a:cubicBezTo>
                <a:cubicBezTo>
                  <a:pt x="16523" y="522"/>
                  <a:pt x="16783" y="813"/>
                  <a:pt x="16957" y="1158"/>
                </a:cubicBezTo>
                <a:lnTo>
                  <a:pt x="21300" y="9582"/>
                </a:lnTo>
                <a:cubicBezTo>
                  <a:pt x="21490" y="9935"/>
                  <a:pt x="21600" y="10350"/>
                  <a:pt x="21600" y="10792"/>
                </a:cubicBezTo>
                <a:cubicBezTo>
                  <a:pt x="21600" y="11242"/>
                  <a:pt x="21490" y="11657"/>
                  <a:pt x="21293" y="12011"/>
                </a:cubicBezTo>
                <a:lnTo>
                  <a:pt x="16957" y="20435"/>
                </a:lnTo>
                <a:close/>
              </a:path>
            </a:pathLst>
          </a:custGeom>
          <a:solidFill>
            <a:srgbClr val="A8271A"/>
          </a:solidFill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/>
          <a:p>
            <a:pPr algn="ctr" defTabSz="457200" hangingPunct="0">
              <a:defRPr sz="48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pPr>
            <a:endParaRPr sz="2400" kern="0">
              <a:solidFill>
                <a:srgbClr val="FFFFFF"/>
              </a:solidFill>
              <a:latin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矩形 11"/>
          <p:cNvSpPr txBox="1"/>
          <p:nvPr/>
        </p:nvSpPr>
        <p:spPr>
          <a:xfrm>
            <a:off x="4544279" y="3167528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/>
              <a:t>02</a:t>
            </a:r>
            <a:endParaRPr sz="2300" kern="0"/>
          </a:p>
        </p:txBody>
      </p:sp>
      <p:grpSp>
        <p:nvGrpSpPr>
          <p:cNvPr id="9" name="Group 8"/>
          <p:cNvGrpSpPr/>
          <p:nvPr/>
        </p:nvGrpSpPr>
        <p:grpSpPr>
          <a:xfrm>
            <a:off x="4544279" y="4078741"/>
            <a:ext cx="3858801" cy="671733"/>
            <a:chOff x="9218067" y="4940563"/>
            <a:chExt cx="7717601" cy="1343465"/>
          </a:xfrm>
        </p:grpSpPr>
        <p:sp>
          <p:nvSpPr>
            <p:cNvPr id="139" name="Freeform 5"/>
            <p:cNvSpPr/>
            <p:nvPr/>
          </p:nvSpPr>
          <p:spPr>
            <a:xfrm rot="5400000">
              <a:off x="9341182" y="4994344"/>
              <a:ext cx="1343465" cy="12359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583" extrusionOk="0">
                  <a:moveTo>
                    <a:pt x="16957" y="20435"/>
                  </a:moveTo>
                  <a:cubicBezTo>
                    <a:pt x="16775" y="20771"/>
                    <a:pt x="16523" y="21062"/>
                    <a:pt x="16200" y="21274"/>
                  </a:cubicBezTo>
                  <a:cubicBezTo>
                    <a:pt x="15861" y="21495"/>
                    <a:pt x="15491" y="21592"/>
                    <a:pt x="15120" y="21583"/>
                  </a:cubicBezTo>
                  <a:lnTo>
                    <a:pt x="6433" y="21583"/>
                  </a:lnTo>
                  <a:cubicBezTo>
                    <a:pt x="6086" y="21583"/>
                    <a:pt x="5723" y="21486"/>
                    <a:pt x="5400" y="21274"/>
                  </a:cubicBezTo>
                  <a:cubicBezTo>
                    <a:pt x="5077" y="21062"/>
                    <a:pt x="4817" y="20771"/>
                    <a:pt x="4643" y="20426"/>
                  </a:cubicBezTo>
                  <a:lnTo>
                    <a:pt x="284" y="11966"/>
                  </a:lnTo>
                  <a:cubicBezTo>
                    <a:pt x="102" y="11622"/>
                    <a:pt x="0" y="11225"/>
                    <a:pt x="0" y="10792"/>
                  </a:cubicBezTo>
                  <a:cubicBezTo>
                    <a:pt x="0" y="10359"/>
                    <a:pt x="102" y="9962"/>
                    <a:pt x="284" y="9609"/>
                  </a:cubicBezTo>
                  <a:lnTo>
                    <a:pt x="4627" y="1184"/>
                  </a:lnTo>
                  <a:cubicBezTo>
                    <a:pt x="4809" y="840"/>
                    <a:pt x="5069" y="531"/>
                    <a:pt x="5400" y="319"/>
                  </a:cubicBezTo>
                  <a:cubicBezTo>
                    <a:pt x="5707" y="116"/>
                    <a:pt x="6046" y="10"/>
                    <a:pt x="6385" y="1"/>
                  </a:cubicBezTo>
                  <a:lnTo>
                    <a:pt x="15104" y="1"/>
                  </a:lnTo>
                  <a:cubicBezTo>
                    <a:pt x="15475" y="-8"/>
                    <a:pt x="15853" y="89"/>
                    <a:pt x="16200" y="319"/>
                  </a:cubicBezTo>
                  <a:cubicBezTo>
                    <a:pt x="16523" y="522"/>
                    <a:pt x="16783" y="813"/>
                    <a:pt x="16957" y="1158"/>
                  </a:cubicBezTo>
                  <a:lnTo>
                    <a:pt x="21300" y="9582"/>
                  </a:lnTo>
                  <a:cubicBezTo>
                    <a:pt x="21490" y="9935"/>
                    <a:pt x="21600" y="10350"/>
                    <a:pt x="21600" y="10792"/>
                  </a:cubicBezTo>
                  <a:cubicBezTo>
                    <a:pt x="21600" y="11242"/>
                    <a:pt x="21490" y="11657"/>
                    <a:pt x="21293" y="12011"/>
                  </a:cubicBezTo>
                  <a:lnTo>
                    <a:pt x="16957" y="20435"/>
                  </a:lnTo>
                  <a:close/>
                </a:path>
              </a:pathLst>
            </a:custGeom>
            <a:solidFill>
              <a:srgbClr val="A8271A"/>
            </a:solidFill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/>
            <a:p>
              <a:pPr algn="ctr" defTabSz="457200" hangingPunct="0">
                <a:defRPr sz="48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pPr>
              <a:endParaRPr sz="2400" kern="0">
                <a:solidFill>
                  <a:srgbClr val="FFFFFF"/>
                </a:solidFill>
                <a:latin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  <p:sp>
          <p:nvSpPr>
            <p:cNvPr id="140" name="矩形 11"/>
            <p:cNvSpPr txBox="1"/>
            <p:nvPr/>
          </p:nvSpPr>
          <p:spPr>
            <a:xfrm>
              <a:off x="9218067" y="5130296"/>
              <a:ext cx="1589696" cy="96399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ctr">
              <a:noAutofit/>
            </a:bodyPr>
            <a:lstStyle>
              <a:lvl1pPr defTabSz="914400">
                <a:defRPr sz="4600" b="0">
                  <a:solidFill>
                    <a:srgbClr val="FFFFFF"/>
                  </a:solidFill>
                  <a:latin typeface="Calibri" panose="020F0502020204030204"/>
                  <a:ea typeface="Calibri" panose="020F0502020204030204"/>
                  <a:cs typeface="Calibri" panose="020F0502020204030204"/>
                  <a:sym typeface="Calibri" panose="020F0502020204030204"/>
                </a:defRPr>
              </a:lvl1pPr>
            </a:lstStyle>
            <a:p>
              <a:pPr algn="ctr" defTabSz="457200" hangingPunct="0"/>
              <a:r>
                <a:rPr sz="2300" kern="0" dirty="0"/>
                <a:t>03</a:t>
              </a:r>
              <a:endParaRPr sz="2300" kern="0" dirty="0"/>
            </a:p>
          </p:txBody>
        </p:sp>
        <p:sp>
          <p:nvSpPr>
            <p:cNvPr id="18" name="矩形 5"/>
            <p:cNvSpPr txBox="1"/>
            <p:nvPr/>
          </p:nvSpPr>
          <p:spPr>
            <a:xfrm>
              <a:off x="11344963" y="5213752"/>
              <a:ext cx="5590705" cy="7151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22860" tIns="22860" rIns="22860" bIns="22860" numCol="1" anchor="t">
              <a:noAutofit/>
            </a:bodyPr>
            <a:lstStyle>
              <a:lvl1pPr defTabSz="914400">
                <a:defRPr sz="3600" b="0">
                  <a:solidFill>
                    <a:srgbClr val="40404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微软雅黑" panose="020B0503020204020204" pitchFamily="34" charset="-122"/>
                </a:defRPr>
              </a:lvl1pPr>
            </a:lstStyle>
            <a:p>
              <a:pPr defTabSz="457200" hangingPunct="0"/>
              <a:r>
                <a:rPr lang="zh-CN" altLang="en-US" sz="2200" b="1" kern="0" dirty="0">
                  <a:solidFill>
                    <a:srgbClr val="FF0000"/>
                  </a:solidFill>
                </a:rPr>
                <a:t>小结</a:t>
              </a:r>
              <a:endParaRPr lang="zh-CN" altLang="en-US" sz="2200" b="1" kern="0" dirty="0">
                <a:solidFill>
                  <a:srgbClr val="FF0000"/>
                </a:solidFill>
              </a:endParaRPr>
            </a:p>
          </p:txBody>
        </p:sp>
      </p:grpSp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22799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小结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" y="1956660"/>
            <a:ext cx="121920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12750" hangingPunct="0"/>
            <a:r>
              <a:rPr lang="zh-CN" altLang="en-US" sz="27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软件测试面临诸多挑战</a:t>
            </a:r>
            <a:endParaRPr lang="zh-CN" altLang="en-US" sz="27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9757" y="3264517"/>
            <a:ext cx="12192000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12750" hangingPunct="0"/>
            <a:r>
              <a:rPr lang="en-US" altLang="zh-CN" sz="27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AI</a:t>
            </a:r>
            <a:r>
              <a:rPr lang="zh-CN" altLang="en-US" sz="27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技术是解决软件测试难题的有效途径之一</a:t>
            </a:r>
            <a:endParaRPr lang="zh-CN" altLang="en-US" sz="27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0" y="4618063"/>
            <a:ext cx="12192318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412750" hangingPunct="0"/>
            <a:r>
              <a:rPr lang="en-US" altLang="zh-CN" sz="27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AI</a:t>
            </a:r>
            <a:r>
              <a:rPr lang="zh-CN" altLang="en-US" sz="2700" b="1" kern="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Helvetica Neue"/>
              </a:rPr>
              <a:t>技术已初步应用于测试结果判定、缺陷报告验证、缺陷自动修复等</a:t>
            </a:r>
            <a:endParaRPr lang="en-US" altLang="zh-CN" sz="2700" b="1" kern="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Helvetica Neue"/>
            </a:endParaRPr>
          </a:p>
        </p:txBody>
      </p:sp>
      <p:sp>
        <p:nvSpPr>
          <p:cNvPr id="7" name="矩形 11"/>
          <p:cNvSpPr txBox="1"/>
          <p:nvPr/>
        </p:nvSpPr>
        <p:spPr>
          <a:xfrm>
            <a:off x="464530" y="578882"/>
            <a:ext cx="794848" cy="4819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txBody>
          <a:bodyPr wrap="square" lIns="22860" tIns="22860" rIns="22860" bIns="22860" numCol="1" anchor="ctr">
            <a:noAutofit/>
          </a:bodyPr>
          <a:lstStyle>
            <a:lvl1pPr defTabSz="914400">
              <a:defRPr sz="4600" b="0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</a:lstStyle>
          <a:p>
            <a:pPr algn="ctr" defTabSz="457200" hangingPunct="0"/>
            <a:r>
              <a:rPr sz="2300" kern="0" dirty="0"/>
              <a:t>0</a:t>
            </a:r>
            <a:r>
              <a:rPr lang="en-US" altLang="zh-CN" sz="2300" kern="0" dirty="0"/>
              <a:t>3</a:t>
            </a:r>
            <a:endParaRPr sz="2300" kern="0" dirty="0"/>
          </a:p>
        </p:txBody>
      </p:sp>
      <p:pic>
        <p:nvPicPr>
          <p:cNvPr id="3" name="音频 2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73362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19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4" grpId="0"/>
      <p:bldP spid="5" grpId="0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音频 1">
            <a:hlinkClick r:id="" action="ppaction://media"/>
          </p:cNvPr>
          <p:cNvPicPr>
            <a:picLocks noChangeAspect="1"/>
          </p:cNvPicPr>
          <p:nvPr>
            <a:audi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11731625" y="6397625"/>
            <a:ext cx="244475" cy="244475"/>
          </a:xfrm>
          <a:prstGeom prst="rect">
            <a:avLst/>
          </a:prstGeom>
        </p:spPr>
      </p:pic>
    </p:spTree>
  </p:cSld>
  <p:clrMapOvr>
    <a:masterClrMapping/>
  </p:clrMapOvr>
  <p:transition spd="med" advTm="7118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TIMING" val="|0.2"/>
</p:tagLst>
</file>

<file path=ppt/tags/tag2.xml><?xml version="1.0" encoding="utf-8"?>
<p:tagLst xmlns:p="http://schemas.openxmlformats.org/presentationml/2006/main">
  <p:tag name="TIMING" val="|0.2"/>
</p:tagLst>
</file>

<file path=ppt/tags/tag3.xml><?xml version="1.0" encoding="utf-8"?>
<p:tagLst xmlns:p="http://schemas.openxmlformats.org/presentationml/2006/main">
  <p:tag name="TIMING" val="|80.2|18.4|14.5|14.3|13.5"/>
</p:tagLst>
</file>

<file path=ppt/tags/tag4.xml><?xml version="1.0" encoding="utf-8"?>
<p:tagLst xmlns:p="http://schemas.openxmlformats.org/presentationml/2006/main">
  <p:tag name="TIMING" val="|0.2"/>
</p:tagLst>
</file>

<file path=ppt/tags/tag5.xml><?xml version="1.0" encoding="utf-8"?>
<p:tagLst xmlns:p="http://schemas.openxmlformats.org/presentationml/2006/main">
  <p:tag name="TIMING" val="|0.2"/>
</p:tagLst>
</file>

<file path=ppt/tags/tag6.xml><?xml version="1.0" encoding="utf-8"?>
<p:tagLst xmlns:p="http://schemas.openxmlformats.org/presentationml/2006/main">
  <p:tag name="TIMING" val="|0.2"/>
</p:tagLst>
</file>

<file path=ppt/tags/tag7.xml><?xml version="1.0" encoding="utf-8"?>
<p:tagLst xmlns:p="http://schemas.openxmlformats.org/presentationml/2006/main">
  <p:tag name="TIMING" val="|0.2"/>
</p:tagLst>
</file>

<file path=ppt/tags/tag8.xml><?xml version="1.0" encoding="utf-8"?>
<p:tagLst xmlns:p="http://schemas.openxmlformats.org/presentationml/2006/main">
  <p:tag name="TIMING" val="|28|10.4|21.3|54.4"/>
</p:tagLst>
</file>

<file path=ppt/tags/tag9.xml><?xml version="1.0" encoding="utf-8"?>
<p:tagLst xmlns:p="http://schemas.openxmlformats.org/presentationml/2006/main">
  <p:tag name="TIMING" val="|83.1|10"/>
</p:tagLst>
</file>

<file path=ppt/tags/tag10.xml><?xml version="1.0" encoding="utf-8"?>
<p:tagLst xmlns:p="http://schemas.openxmlformats.org/presentationml/2006/main">
  <p:tag name="TIMING" val="|0.2"/>
</p:tagLst>
</file>

<file path=ppt/tags/tag11.xml><?xml version="1.0" encoding="utf-8"?>
<p:tagLst xmlns:p="http://schemas.openxmlformats.org/presentationml/2006/main">
  <p:tag name="TIMING" val="|0.2"/>
</p:tagLst>
</file>

<file path=ppt/tags/tag12.xml><?xml version="1.0" encoding="utf-8"?>
<p:tagLst xmlns:p="http://schemas.openxmlformats.org/presentationml/2006/main">
  <p:tag name="TIMING" val="|144.9"/>
</p:tagLst>
</file>

<file path=ppt/tags/tag13.xml><?xml version="1.0" encoding="utf-8"?>
<p:tagLst xmlns:p="http://schemas.openxmlformats.org/presentationml/2006/main">
  <p:tag name="TIMING" val="|0.2"/>
</p:tagLst>
</file>

<file path=ppt/tags/tag14.xml><?xml version="1.0" encoding="utf-8"?>
<p:tagLst xmlns:p="http://schemas.openxmlformats.org/presentationml/2006/main">
  <p:tag name="TIMING" val="|43.8"/>
</p:tagLst>
</file>

<file path=ppt/tags/tag15.xml><?xml version="1.0" encoding="utf-8"?>
<p:tagLst xmlns:p="http://schemas.openxmlformats.org/presentationml/2006/main">
  <p:tag name="TIMING" val="|0.2"/>
</p:tagLst>
</file>

<file path=ppt/tags/tag16.xml><?xml version="1.0" encoding="utf-8"?>
<p:tagLst xmlns:p="http://schemas.openxmlformats.org/presentationml/2006/main">
  <p:tag name="TIMING" val="|0.2"/>
</p:tagLst>
</file>

<file path=ppt/tags/tag17.xml><?xml version="1.0" encoding="utf-8"?>
<p:tagLst xmlns:p="http://schemas.openxmlformats.org/presentationml/2006/main">
  <p:tag name="TIMING" val="|0.2"/>
</p:tagLst>
</file>

<file path=ppt/tags/tag18.xml><?xml version="1.0" encoding="utf-8"?>
<p:tagLst xmlns:p="http://schemas.openxmlformats.org/presentationml/2006/main">
  <p:tag name="TIMING" val="|0.2"/>
</p:tagLst>
</file>

<file path=ppt/tags/tag19.xml><?xml version="1.0" encoding="utf-8"?>
<p:tagLst xmlns:p="http://schemas.openxmlformats.org/presentationml/2006/main">
  <p:tag name="TIMING" val="|0.2"/>
</p:tagLst>
</file>

<file path=ppt/tags/tag20.xml><?xml version="1.0" encoding="utf-8"?>
<p:tagLst xmlns:p="http://schemas.openxmlformats.org/presentationml/2006/main">
  <p:tag name="TIMING" val="|11.9|47|17.4|20"/>
</p:tagLst>
</file>

<file path=ppt/tags/tag21.xml><?xml version="1.0" encoding="utf-8"?>
<p:tagLst xmlns:p="http://schemas.openxmlformats.org/presentationml/2006/main">
  <p:tag name="TIMING" val="|77.3|17|37"/>
</p:tagLst>
</file>

<file path=ppt/tags/tag22.xml><?xml version="1.0" encoding="utf-8"?>
<p:tagLst xmlns:p="http://schemas.openxmlformats.org/presentationml/2006/main">
  <p:tag name="COMMONDATA" val="eyJoZGlkIjoiN2RjMzk0Mzc2NzY3NGE0YmI3MDJiMTlmNzE2MWFmNDc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0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2104</Words>
  <Application>WPS 演示</Application>
  <PresentationFormat>Widescreen</PresentationFormat>
  <Paragraphs>339</Paragraphs>
  <Slides>28</Slides>
  <Notes>28</Notes>
  <HiddenSlides>0</HiddenSlides>
  <MMClips>28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28</vt:i4>
      </vt:variant>
    </vt:vector>
  </HeadingPairs>
  <TitlesOfParts>
    <vt:vector size="47" baseType="lpstr">
      <vt:lpstr>Arial</vt:lpstr>
      <vt:lpstr>宋体</vt:lpstr>
      <vt:lpstr>Wingdings</vt:lpstr>
      <vt:lpstr>Helvetica Neue Medium</vt:lpstr>
      <vt:lpstr>Helvetica Neue</vt:lpstr>
      <vt:lpstr>Helvetica Neue Light</vt:lpstr>
      <vt:lpstr>微软雅黑</vt:lpstr>
      <vt:lpstr>黑体</vt:lpstr>
      <vt:lpstr>Calibri</vt:lpstr>
      <vt:lpstr>微软雅黑 Light</vt:lpstr>
      <vt:lpstr>MicrosoftYaHeiLight</vt:lpstr>
      <vt:lpstr>LaTeX</vt:lpstr>
      <vt:lpstr>Arial Black</vt:lpstr>
      <vt:lpstr>Times New Roman</vt:lpstr>
      <vt:lpstr>Arial Unicode MS</vt:lpstr>
      <vt:lpstr>等线</vt:lpstr>
      <vt:lpstr>等线 Light</vt:lpstr>
      <vt:lpstr>Office Theme</vt:lpstr>
      <vt:lpstr>White</vt:lpstr>
      <vt:lpstr>PowerPoint 演示文稿</vt:lpstr>
      <vt:lpstr>PowerPoint 演示文稿</vt:lpstr>
      <vt:lpstr>PowerPoint 演示文稿</vt:lpstr>
      <vt:lpstr>软件测试碰上人工智能</vt:lpstr>
      <vt:lpstr>软件测试碰上人工智能</vt:lpstr>
      <vt:lpstr>软件测试碰上人工智能</vt:lpstr>
      <vt:lpstr>软件测试碰上人工智能</vt:lpstr>
      <vt:lpstr>PowerPoint 演示文稿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基于智能技术的软件测试</vt:lpstr>
      <vt:lpstr>PowerPoint 演示文稿</vt:lpstr>
      <vt:lpstr>小结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Liu HUI</dc:creator>
  <cp:lastModifiedBy>李壮 19863718468</cp:lastModifiedBy>
  <cp:revision>59</cp:revision>
  <dcterms:created xsi:type="dcterms:W3CDTF">2020-09-14T10:56:00Z</dcterms:created>
  <dcterms:modified xsi:type="dcterms:W3CDTF">2023-08-09T06:59:30Z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D5C88D6EE19A48F1A4E8F660DB32BF37_12</vt:lpwstr>
  </property>
  <property fmtid="{D5CDD505-2E9C-101B-9397-08002B2CF9AE}" pid="3" name="KSOProductBuildVer">
    <vt:lpwstr>2052-12.1.0.15120</vt:lpwstr>
  </property>
</Properties>
</file>