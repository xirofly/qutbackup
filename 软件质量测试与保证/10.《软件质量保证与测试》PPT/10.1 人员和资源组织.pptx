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5"/>
  </p:handoutMasterIdLst>
  <p:sldIdLst>
    <p:sldId id="256" r:id="rId4"/>
    <p:sldId id="690" r:id="rId6"/>
    <p:sldId id="691" r:id="rId7"/>
    <p:sldId id="692" r:id="rId8"/>
    <p:sldId id="693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03" r:id="rId18"/>
    <p:sldId id="704" r:id="rId19"/>
    <p:sldId id="705" r:id="rId20"/>
    <p:sldId id="706" r:id="rId21"/>
    <p:sldId id="707" r:id="rId22"/>
    <p:sldId id="708" r:id="rId23"/>
    <p:sldId id="711" r:id="rId24"/>
  </p:sldIdLst>
  <p:sldSz cx="24384000" cy="13716000"/>
  <p:notesSz cx="7099300" cy="10234295"/>
  <p:custDataLst>
    <p:tags r:id="rId3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4333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12039600"/>
            <a:ext cx="7721600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475200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4333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12039600"/>
            <a:ext cx="7721600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475200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7185660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人员和资源组织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7334885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软件测试的组织和管理</a:t>
            </a:r>
            <a:endParaRPr lang="zh-CN" altLang="en-US"/>
          </a:p>
        </p:txBody>
      </p:sp>
      <p:sp>
        <p:nvSpPr>
          <p:cNvPr id="17410" name="椭圆 28"/>
          <p:cNvSpPr/>
          <p:nvPr/>
        </p:nvSpPr>
        <p:spPr>
          <a:xfrm>
            <a:off x="9076267" y="4364568"/>
            <a:ext cx="14088533" cy="8614832"/>
          </a:xfrm>
          <a:prstGeom prst="ellipse">
            <a:avLst/>
          </a:prstGeom>
          <a:noFill/>
          <a:ln w="12700" cap="flat" cmpd="sng">
            <a:solidFill>
              <a:srgbClr val="2E75B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endParaRPr lang="zh-CN" altLang="en-US" sz="8000" dirty="0">
              <a:latin typeface="Arial" panose="020B0604020202020204" pitchFamily="34" charset="0"/>
            </a:endParaRPr>
          </a:p>
          <a:p>
            <a:endParaRPr lang="zh-CN" altLang="en-US" sz="8000" dirty="0">
              <a:latin typeface="Arial" panose="020B0604020202020204" pitchFamily="34" charset="0"/>
            </a:endParaRPr>
          </a:p>
        </p:txBody>
      </p:sp>
      <p:sp>
        <p:nvSpPr>
          <p:cNvPr id="20482" name="Rectangle 3"/>
          <p:cNvSpPr>
            <a:spLocks noGrp="1" noRot="1"/>
          </p:cNvSpPr>
          <p:nvPr/>
        </p:nvSpPr>
        <p:spPr>
          <a:xfrm>
            <a:off x="2133600" y="1998133"/>
            <a:ext cx="20353867" cy="9880600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6585" indent="-170815" algn="l" rtl="0" fontAlgn="base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9485" indent="-170815" algn="l" rtl="0" fontAlgn="base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2385" indent="-170815" algn="l" rtl="0" fontAlgn="base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5285" indent="-170815" algn="l" rtl="0" fontAlgn="base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65913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软件测试工作的组织和管理，主要包括五个方面：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charset="0"/>
              <a:buChar char=""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人员和资源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charset="0"/>
              <a:buChar char=""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过程和进度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charset="0"/>
              <a:buChar char=""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</a:t>
            </a: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用例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charset="0"/>
              <a:buChar char=""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</a:t>
            </a: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文档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charset="0"/>
              <a:buChar char=""/>
              <a:defRPr/>
            </a:pPr>
            <a:r>
              <a:rPr kumimoji="0" lang="zh-CN" alt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缺陷管理</a:t>
            </a: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Oval 5"/>
          <p:cNvSpPr/>
          <p:nvPr/>
        </p:nvSpPr>
        <p:spPr>
          <a:xfrm>
            <a:off x="13800667" y="4720168"/>
            <a:ext cx="4639733" cy="286173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人员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和资源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13" name="Oval 6"/>
          <p:cNvSpPr/>
          <p:nvPr/>
        </p:nvSpPr>
        <p:spPr>
          <a:xfrm>
            <a:off x="9503835" y="6536267"/>
            <a:ext cx="4301067" cy="2908301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过程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和进度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14" name="Oval 7"/>
          <p:cNvSpPr/>
          <p:nvPr/>
        </p:nvSpPr>
        <p:spPr>
          <a:xfrm>
            <a:off x="18224501" y="6498168"/>
            <a:ext cx="4483099" cy="289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测试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用例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16" name="Oval 7"/>
          <p:cNvSpPr/>
          <p:nvPr/>
        </p:nvSpPr>
        <p:spPr>
          <a:xfrm>
            <a:off x="11341101" y="9393768"/>
            <a:ext cx="4483099" cy="2899832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测试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文档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17" name="Oval 7"/>
          <p:cNvSpPr/>
          <p:nvPr/>
        </p:nvSpPr>
        <p:spPr>
          <a:xfrm>
            <a:off x="16429568" y="9393768"/>
            <a:ext cx="4483099" cy="2899832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缺陷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zh-CN" altLang="zh-CN" sz="6400" dirty="0">
                <a:solidFill>
                  <a:srgbClr val="FF0000"/>
                </a:solidFill>
                <a:latin typeface="Tahoma" panose="020B0604030504040204" pitchFamily="34" charset="0"/>
              </a:rPr>
              <a:t>管理</a:t>
            </a:r>
            <a:endParaRPr lang="zh-CN" altLang="zh-CN" sz="6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8425815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软件测试工作的特点</a:t>
            </a:r>
            <a:endParaRPr lang="zh-CN" altLang="en-US"/>
          </a:p>
        </p:txBody>
      </p:sp>
      <p:sp>
        <p:nvSpPr>
          <p:cNvPr id="18434" name="Rectangle 3"/>
          <p:cNvSpPr>
            <a:spLocks noGrp="1" noRot="1"/>
          </p:cNvSpPr>
          <p:nvPr>
            <p:ph idx="4294967295"/>
          </p:nvPr>
        </p:nvSpPr>
        <p:spPr>
          <a:xfrm>
            <a:off x="3063240" y="2400300"/>
            <a:ext cx="20353655" cy="9880600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软件测试工作和软件开发工作相比，有其自身的特点。</a:t>
            </a:r>
            <a:endParaRPr lang="zh-CN" altLang="en-US" dirty="0"/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最显著的特点是，软件测试不直接生产软件产品，较为难以直观体现</a:t>
            </a:r>
            <a:r>
              <a:rPr lang="zh-CN" altLang="en-US" dirty="0">
                <a:sym typeface="宋体" panose="02010600030101010101" pitchFamily="2" charset="-122"/>
              </a:rPr>
              <a:t>工作</a:t>
            </a:r>
            <a:r>
              <a:rPr lang="zh-CN" altLang="en-US" dirty="0"/>
              <a:t>者的</a:t>
            </a:r>
            <a:r>
              <a:rPr lang="zh-CN" altLang="en-US" dirty="0">
                <a:sym typeface="宋体" panose="02010600030101010101" pitchFamily="2" charset="-122"/>
              </a:rPr>
              <a:t>工作</a:t>
            </a:r>
            <a:r>
              <a:rPr lang="zh-CN" altLang="en-US" dirty="0"/>
              <a:t>价值。实际上软件测试的工作价值体现在降低</a:t>
            </a:r>
            <a:r>
              <a:rPr lang="zh-CN" altLang="en-US" dirty="0">
                <a:sym typeface="宋体" panose="02010600030101010101" pitchFamily="2" charset="-122"/>
              </a:rPr>
              <a:t>软件失败</a:t>
            </a:r>
            <a:r>
              <a:rPr lang="zh-CN" altLang="en-US" dirty="0"/>
              <a:t>的风险进而降低</a:t>
            </a:r>
            <a:r>
              <a:rPr lang="zh-CN" altLang="en-US" dirty="0">
                <a:sym typeface="宋体" panose="02010600030101010101" pitchFamily="2" charset="-122"/>
              </a:rPr>
              <a:t>软件失败成本。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7828915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软件测试工作的特点</a:t>
            </a:r>
            <a:endParaRPr lang="zh-CN" altLang="en-US"/>
          </a:p>
        </p:txBody>
      </p:sp>
      <p:sp>
        <p:nvSpPr>
          <p:cNvPr id="19458" name="Rectangle 3"/>
          <p:cNvSpPr>
            <a:spLocks noGrp="1" noRot="1"/>
          </p:cNvSpPr>
          <p:nvPr>
            <p:ph idx="4294967295"/>
          </p:nvPr>
        </p:nvSpPr>
        <p:spPr>
          <a:xfrm>
            <a:off x="2738120" y="2400300"/>
            <a:ext cx="20353655" cy="9880600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其次经验在软件测试中很重要，包括软件开发经验和软件测试经验，没有经验的测试人员可能执行了大量测试却发现不了问题，而有经验的测试人员却可能一下子就能发现软件中的问题。 </a:t>
            </a:r>
            <a:endParaRPr lang="zh-CN" altLang="en-US" dirty="0"/>
          </a:p>
        </p:txBody>
      </p:sp>
      <p:sp>
        <p:nvSpPr>
          <p:cNvPr id="19459" name="文本框 99"/>
          <p:cNvSpPr txBox="1"/>
          <p:nvPr/>
        </p:nvSpPr>
        <p:spPr>
          <a:xfrm>
            <a:off x="3707343" y="1206923"/>
            <a:ext cx="12103099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6615430" cy="104267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软件测试工作的特点</a:t>
            </a:r>
            <a:endParaRPr lang="zh-CN" altLang="en-US"/>
          </a:p>
        </p:txBody>
      </p:sp>
      <p:sp>
        <p:nvSpPr>
          <p:cNvPr id="20482" name="Rectangle 3"/>
          <p:cNvSpPr>
            <a:spLocks noGrp="1" noRot="1"/>
          </p:cNvSpPr>
          <p:nvPr>
            <p:ph idx="4294967295"/>
          </p:nvPr>
        </p:nvSpPr>
        <p:spPr>
          <a:xfrm>
            <a:off x="2178050" y="3141345"/>
            <a:ext cx="20353655" cy="8792845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第三，有些测试工作可能没有先例可循，需要测试人员根据实际情况创造性的设计测试方案、执行测试过程、得出可靠的测试结论。</a:t>
            </a:r>
            <a:endParaRPr lang="zh-CN" altLang="en-US" dirty="0"/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>
                <a:sym typeface="+mn-ea"/>
              </a:rPr>
              <a:t>第四，软件测试是要去发现软件中的问题，有时这些问题并不容易暴露出来，因此细心和耐心对测试人员很重要。</a:t>
            </a:r>
            <a:endParaRPr lang="zh-CN" altLang="en-US" dirty="0"/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>
                <a:sym typeface="+mn-ea"/>
              </a:rPr>
              <a:t>第五，一方面</a:t>
            </a:r>
            <a:r>
              <a:rPr lang="zh-CN" altLang="en-US" dirty="0">
                <a:sym typeface="宋体" panose="02010600030101010101" pitchFamily="2" charset="-122"/>
              </a:rPr>
              <a:t>测试工作中有一些简单重复劳动，另一方面</a:t>
            </a:r>
            <a:r>
              <a:rPr lang="zh-CN" altLang="en-US" dirty="0">
                <a:sym typeface="+mn-ea"/>
              </a:rPr>
              <a:t>随着技术的发展，一些测试工作的专业性也越来越强，对测试人员的知识、能力要求也越来越高。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8137525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软件测试人员组织</a:t>
            </a:r>
            <a:endParaRPr lang="zh-CN" altLang="en-US"/>
          </a:p>
        </p:txBody>
      </p:sp>
      <p:sp>
        <p:nvSpPr>
          <p:cNvPr id="22530" name="Rectangle 3"/>
          <p:cNvSpPr>
            <a:spLocks noGrp="1" noRot="1"/>
          </p:cNvSpPr>
          <p:nvPr>
            <p:ph idx="4294967295"/>
          </p:nvPr>
        </p:nvSpPr>
        <p:spPr>
          <a:xfrm>
            <a:off x="2353945" y="2635250"/>
            <a:ext cx="20353655" cy="9880600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基于软件测试工作的特点，软件测试人员应当认同软件测试的工作价值，具备</a:t>
            </a:r>
            <a:r>
              <a:rPr lang="zh-CN" altLang="en-US" dirty="0">
                <a:sym typeface="宋体" panose="02010600030101010101" pitchFamily="2" charset="-122"/>
              </a:rPr>
              <a:t>细心和耐心，</a:t>
            </a:r>
            <a:r>
              <a:rPr lang="zh-CN" altLang="en-US" dirty="0"/>
              <a:t>愿意持之以恒的从事软件测试工作，另外一个好的软件测试团队应当配备不同类型的人员，并合理分工，密切合作，这样才能较好的完成测试工作任务和项目。</a:t>
            </a:r>
            <a:endParaRPr lang="zh-CN" altLang="en-US" dirty="0"/>
          </a:p>
        </p:txBody>
      </p:sp>
      <p:sp>
        <p:nvSpPr>
          <p:cNvPr id="22531" name="文本框 99"/>
          <p:cNvSpPr txBox="1"/>
          <p:nvPr/>
        </p:nvSpPr>
        <p:spPr>
          <a:xfrm>
            <a:off x="7450667" y="948267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6883400" cy="104267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软件测试人员组织</a:t>
            </a:r>
            <a:endParaRPr lang="zh-CN" altLang="en-US"/>
          </a:p>
        </p:txBody>
      </p:sp>
      <p:sp>
        <p:nvSpPr>
          <p:cNvPr id="23554" name="Rectangle 3"/>
          <p:cNvSpPr>
            <a:spLocks noGrp="1" noRot="1"/>
          </p:cNvSpPr>
          <p:nvPr>
            <p:ph idx="4294967295"/>
          </p:nvPr>
        </p:nvSpPr>
        <p:spPr>
          <a:xfrm>
            <a:off x="2405380" y="2556510"/>
            <a:ext cx="19951700" cy="9880600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>
                <a:sym typeface="宋体" panose="02010600030101010101" pitchFamily="2" charset="-122"/>
              </a:rPr>
              <a:t>不同类型的人员具体包括：</a:t>
            </a:r>
            <a:endParaRPr lang="zh-CN" altLang="en-US" dirty="0"/>
          </a:p>
          <a:p>
            <a:pPr marL="0" lvl="1" indent="659130" algn="l" eaLnBrk="1" hangingPunct="1">
              <a:lnSpc>
                <a:spcPct val="150000"/>
              </a:lnSpc>
              <a:buNone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 （1）应当配备具有远见性、具有创新精神能创造性工作的测试组织管理和测试设计人员。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）应当配备测试专业技术能力强、经验丰富的测试实施人员。</a:t>
            </a:r>
            <a:endParaRPr lang="zh-CN" altLang="en-US" dirty="0"/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>
                <a:sym typeface="宋体" panose="02010600030101010101" pitchFamily="2" charset="-122"/>
              </a:rPr>
              <a:t>（</a:t>
            </a:r>
            <a:r>
              <a:rPr lang="en-US" altLang="zh-CN" dirty="0">
                <a:sym typeface="宋体" panose="02010600030101010101" pitchFamily="2" charset="-122"/>
              </a:rPr>
              <a:t>3</a:t>
            </a:r>
            <a:r>
              <a:rPr lang="zh-CN" altLang="en-US" dirty="0">
                <a:sym typeface="宋体" panose="02010600030101010101" pitchFamily="2" charset="-122"/>
              </a:rPr>
              <a:t>）可以配备一些初级测试人员执行具体测试任务，在实践中积累经验，学习提高。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6738620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软件测试人员分工</a:t>
            </a:r>
            <a:endParaRPr lang="zh-CN" altLang="en-US"/>
          </a:p>
        </p:txBody>
      </p:sp>
      <p:sp>
        <p:nvSpPr>
          <p:cNvPr id="24578" name="Rectangle 3"/>
          <p:cNvSpPr>
            <a:spLocks noGrp="1" noRot="1"/>
          </p:cNvSpPr>
          <p:nvPr>
            <p:ph idx="4294967295"/>
          </p:nvPr>
        </p:nvSpPr>
        <p:spPr>
          <a:xfrm>
            <a:off x="2738120" y="2555875"/>
            <a:ext cx="19951700" cy="9880600"/>
          </a:xfrm>
        </p:spPr>
        <p:txBody>
          <a:bodyPr vert="horz" wrap="square" lIns="182880" tIns="91440" rIns="182880" bIns="91440" anchor="t" anchorCtr="0"/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软件测试团队组建后，需要合理分工，并密切合作。</a:t>
            </a:r>
            <a:endParaRPr lang="zh-CN" altLang="en-US" dirty="0"/>
          </a:p>
          <a:p>
            <a:pPr marL="0" indent="659130" eaLnBrk="1" hangingPunct="1">
              <a:lnSpc>
                <a:spcPct val="150000"/>
              </a:lnSpc>
              <a:buNone/>
            </a:pPr>
            <a:r>
              <a:rPr lang="zh-CN" altLang="en-US" dirty="0"/>
              <a:t>一般测试团队中的人员角色包括：测试经理或者叫测试项目负责人，测试工程师和测试员三种。规模较大有的</a:t>
            </a:r>
            <a:r>
              <a:rPr lang="zh-CN" altLang="en-US" dirty="0">
                <a:sym typeface="宋体" panose="02010600030101010101" pitchFamily="2" charset="-122"/>
              </a:rPr>
              <a:t>测试团队中可能还会有测试组长，而对测试环境、测试工具要求较高的测试工作项目中可能还会有负责测试环境、测试工具的专门人员。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测试经理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738120" y="2451100"/>
            <a:ext cx="20662900" cy="947420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</a:rPr>
              <a:t>测试经理的工作职责是计划、组织管理、协调整个测试工作项目，保证测试工作项目保质保量的按期完成，具体工作内容如下：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测试团队与外部之间的交互；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招聘、监管以及培训员工；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创建测试计划；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创建测试流程的预算和日程计划，包括估算测试工作量；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测试经理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91080" y="2546350"/>
            <a:ext cx="19215100" cy="977011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15875" marR="0" lvl="0" indent="567055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zh-CN" sz="2135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获取搭建测试环境所需的硬件和软件；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确保测试环境和测试产品的正确配置和管理；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明确测试流程；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跟踪测试工作进度；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1" indent="659130" algn="l" defTabSz="825500" rtl="0" eaLnBrk="1" fontAlgn="auto" latinLnBrk="0" hangingPunct="1">
              <a:lnSpc>
                <a:spcPct val="150000"/>
              </a:lnSpc>
              <a:spcBef>
                <a:spcPts val="5900"/>
              </a:spcBef>
              <a:spcAft>
                <a:spcPts val="0"/>
              </a:spcAft>
              <a:buClrTx/>
              <a:buNone/>
            </a:pPr>
            <a:r>
              <a:rPr kumimoji="0" lang="zh-CN" altLang="en-US" sz="4400" i="0" u="none" strike="noStrike" cap="none" spc="0" normalizeH="0" baseline="0" dirty="0">
                <a:ln>
                  <a:noFill/>
                </a:ln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组织召开相关工作会议。</a:t>
            </a:r>
            <a:endParaRPr kumimoji="0" lang="zh-CN" altLang="en-US" sz="4400" i="0" u="none" strike="noStrike" cap="none" spc="0" normalizeH="0" baseline="0" dirty="0">
              <a:ln>
                <a:noFill/>
              </a:ln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627" name="文本框 99"/>
          <p:cNvSpPr txBox="1"/>
          <p:nvPr/>
        </p:nvSpPr>
        <p:spPr>
          <a:xfrm>
            <a:off x="7649635" y="749301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测试经理</a:t>
            </a:r>
            <a:endParaRPr lang="zh-CN" altLang="en-US"/>
          </a:p>
        </p:txBody>
      </p:sp>
      <p:sp>
        <p:nvSpPr>
          <p:cNvPr id="27650" name="内容占位符 2"/>
          <p:cNvSpPr>
            <a:spLocks noGrp="1" noRot="1"/>
          </p:cNvSpPr>
          <p:nvPr>
            <p:ph sz="quarter" idx="4294967295"/>
          </p:nvPr>
        </p:nvSpPr>
        <p:spPr>
          <a:xfrm>
            <a:off x="3204210" y="2070100"/>
            <a:ext cx="21179790" cy="11269345"/>
          </a:xfrm>
        </p:spPr>
        <p:txBody>
          <a:bodyPr vert="horz" wrap="square" lIns="182880" tIns="91440" rIns="182880" bIns="91440" anchor="t" anchorCtr="0"/>
          <a:lstStyle>
            <a:lvl1pPr lvl="0">
              <a:buClr>
                <a:schemeClr val="hlink"/>
              </a:buClr>
              <a:buSzPct val="70000"/>
              <a:buFont typeface="Wingdings" panose="05000000000000000000" pitchFamily="2" charset="2"/>
              <a:defRPr sz="1800"/>
            </a:lvl1pPr>
            <a:lvl2pPr lvl="1">
              <a:buClr>
                <a:schemeClr val="accent2"/>
              </a:buClr>
              <a:buSzPct val="85000"/>
              <a:buFont typeface="Wingdings" panose="05000000000000000000" pitchFamily="2" charset="2"/>
              <a:defRPr sz="1700"/>
            </a:lvl2pPr>
            <a:lvl3pPr lvl="2">
              <a:buClr>
                <a:schemeClr val="hlink"/>
              </a:buClr>
              <a:buSzPct val="80000"/>
              <a:buFont typeface="Wingdings" panose="05000000000000000000" pitchFamily="2" charset="2"/>
              <a:defRPr sz="1700"/>
            </a:lvl3pPr>
            <a:lvl4pPr lvl="3">
              <a:buClr>
                <a:schemeClr val="accent2"/>
              </a:buClr>
              <a:buSzPct val="90000"/>
              <a:buFont typeface="Wingdings" panose="05000000000000000000" pitchFamily="2" charset="2"/>
              <a:defRPr sz="1100"/>
            </a:lvl4pPr>
            <a:lvl5pPr lvl="4">
              <a:buClr>
                <a:schemeClr val="hlink"/>
              </a:buClr>
              <a:buSzPct val="85000"/>
              <a:buFont typeface="Wingdings" panose="05000000000000000000" pitchFamily="2" charset="2"/>
              <a:defRPr sz="1100"/>
            </a:lvl5pPr>
          </a:lstStyle>
          <a:p>
            <a:pPr marL="0" lvl="0" indent="0" eaLnBrk="1" hangingPunct="1">
              <a:lnSpc>
                <a:spcPct val="150000"/>
              </a:lnSpc>
              <a:buNone/>
            </a:pPr>
            <a:r>
              <a:rPr lang="zh-CN" altLang="en-US" sz="4400" dirty="0"/>
              <a:t>测试经理需要具备以下知识、能力和素质：</a:t>
            </a:r>
            <a:endParaRPr lang="en-US" altLang="zh-CN" sz="4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en-US" altLang="zh-CN" sz="4400" dirty="0"/>
              <a:t>(1)</a:t>
            </a:r>
            <a:r>
              <a:rPr lang="zh-CN" altLang="en-US" sz="4400" dirty="0"/>
              <a:t>掌握测试</a:t>
            </a:r>
            <a:r>
              <a:rPr lang="zh-CN" altLang="en-US" sz="4400" dirty="0">
                <a:sym typeface="宋体" panose="02010600030101010101" pitchFamily="2" charset="-122"/>
              </a:rPr>
              <a:t>方法和技术、熟悉测试</a:t>
            </a:r>
            <a:r>
              <a:rPr lang="zh-CN" altLang="en-US" sz="4400" dirty="0"/>
              <a:t>流程；</a:t>
            </a:r>
            <a:endParaRPr lang="zh-CN" altLang="en-US" sz="4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en-US" altLang="zh-CN" sz="4400" dirty="0"/>
              <a:t>(2)</a:t>
            </a:r>
            <a:r>
              <a:rPr lang="zh-CN" altLang="en-US" sz="4400" dirty="0"/>
              <a:t>具备包括测试方案制定、测试设计、测试工具选择</a:t>
            </a:r>
            <a:r>
              <a:rPr lang="zh-CN" altLang="en-US" sz="4400" dirty="0">
                <a:sym typeface="宋体" panose="02010600030101010101" pitchFamily="2" charset="-122"/>
              </a:rPr>
              <a:t>、测试开发、测试报告</a:t>
            </a:r>
            <a:r>
              <a:rPr lang="zh-CN" altLang="en-US" sz="4400" dirty="0"/>
              <a:t>、缺陷管理、测试评价等在内的软件测试相关工作能力和水平；</a:t>
            </a:r>
            <a:endParaRPr lang="zh-CN" altLang="en-US" sz="4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en-US" altLang="zh-CN" sz="4400" dirty="0"/>
              <a:t>(3)</a:t>
            </a:r>
            <a:r>
              <a:rPr lang="zh-CN" altLang="en-US" sz="4400" dirty="0"/>
              <a:t>了解被测试软件的业务范围和测试需求；</a:t>
            </a:r>
            <a:endParaRPr lang="zh-CN" altLang="en-US" sz="4400" dirty="0"/>
          </a:p>
        </p:txBody>
      </p:sp>
      <p:sp>
        <p:nvSpPr>
          <p:cNvPr id="27651" name="文本框 99"/>
          <p:cNvSpPr txBox="1"/>
          <p:nvPr/>
        </p:nvSpPr>
        <p:spPr>
          <a:xfrm>
            <a:off x="7649635" y="546101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9315" y="1512570"/>
            <a:ext cx="8128000" cy="563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测试经理</a:t>
            </a:r>
            <a:endParaRPr lang="zh-CN" altLang="en-US"/>
          </a:p>
        </p:txBody>
      </p:sp>
      <p:sp>
        <p:nvSpPr>
          <p:cNvPr id="28674" name="内容占位符 2"/>
          <p:cNvSpPr>
            <a:spLocks noGrp="1" noRot="1"/>
          </p:cNvSpPr>
          <p:nvPr>
            <p:ph sz="quarter" idx="4294967295"/>
          </p:nvPr>
        </p:nvSpPr>
        <p:spPr>
          <a:xfrm>
            <a:off x="3204210" y="2070100"/>
            <a:ext cx="21179790" cy="11269345"/>
          </a:xfrm>
        </p:spPr>
        <p:txBody>
          <a:bodyPr vert="horz" wrap="square" lIns="182880" tIns="91440" rIns="182880" bIns="91440" anchor="t" anchorCtr="0"/>
          <a:lstStyle>
            <a:lvl1pPr lvl="0">
              <a:buClr>
                <a:schemeClr val="hlink"/>
              </a:buClr>
              <a:buSzPct val="70000"/>
              <a:buFont typeface="Wingdings" panose="05000000000000000000" pitchFamily="2" charset="2"/>
              <a:defRPr sz="1800"/>
            </a:lvl1pPr>
            <a:lvl2pPr lvl="1">
              <a:buClr>
                <a:schemeClr val="accent2"/>
              </a:buClr>
              <a:buSzPct val="85000"/>
              <a:buFont typeface="Wingdings" panose="05000000000000000000" pitchFamily="2" charset="2"/>
              <a:defRPr sz="1700"/>
            </a:lvl2pPr>
            <a:lvl3pPr lvl="2">
              <a:buClr>
                <a:schemeClr val="hlink"/>
              </a:buClr>
              <a:buSzPct val="80000"/>
              <a:buFont typeface="Wingdings" panose="05000000000000000000" pitchFamily="2" charset="2"/>
              <a:defRPr sz="1700"/>
            </a:lvl3pPr>
            <a:lvl4pPr lvl="3">
              <a:buClr>
                <a:schemeClr val="accent2"/>
              </a:buClr>
              <a:buSzPct val="90000"/>
              <a:buFont typeface="Wingdings" panose="05000000000000000000" pitchFamily="2" charset="2"/>
              <a:defRPr sz="1100"/>
            </a:lvl4pPr>
            <a:lvl5pPr lvl="4">
              <a:buClr>
                <a:schemeClr val="hlink"/>
              </a:buClr>
              <a:buSzPct val="85000"/>
              <a:buFont typeface="Wingdings" panose="05000000000000000000" pitchFamily="2" charset="2"/>
              <a:defRPr sz="1100"/>
            </a:lvl5pPr>
          </a:lstStyle>
          <a:p>
            <a:pPr marL="0" lvl="0" indent="0" eaLnBrk="1" hangingPunct="1">
              <a:lnSpc>
                <a:spcPct val="150000"/>
              </a:lnSpc>
              <a:buNone/>
            </a:pPr>
            <a:endParaRPr lang="zh-CN" altLang="en-US" sz="6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en-US" altLang="zh-CN" sz="4400" dirty="0"/>
              <a:t>(4)</a:t>
            </a:r>
            <a:r>
              <a:rPr lang="zh-CN" altLang="en-US" sz="4400" dirty="0"/>
              <a:t>能估算测试工作量和成本；</a:t>
            </a:r>
            <a:endParaRPr lang="zh-CN" altLang="en-US" sz="4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en-US" altLang="zh-CN" sz="4400" dirty="0"/>
              <a:t>(5)</a:t>
            </a:r>
            <a:r>
              <a:rPr lang="zh-CN" altLang="en-US" sz="4400" dirty="0"/>
              <a:t>熟悉各种测试工具、缺陷跟踪工具以及其他测试支持工具。</a:t>
            </a:r>
            <a:endParaRPr lang="en-US" altLang="zh-CN" sz="4400" dirty="0"/>
          </a:p>
          <a:p>
            <a:pPr marL="342900" lvl="1" indent="0" eaLnBrk="1" hangingPunct="1">
              <a:lnSpc>
                <a:spcPct val="150000"/>
              </a:lnSpc>
              <a:buNone/>
            </a:pPr>
            <a:r>
              <a:rPr lang="zh-CN" altLang="en-US" sz="4400" dirty="0"/>
              <a:t>       测试经理需要对任何偏离测试工作计划工作量、成本、日程安排和最后可交付成果质量的情况负责。</a:t>
            </a:r>
            <a:endParaRPr lang="zh-CN" altLang="en-US" sz="4400" dirty="0"/>
          </a:p>
          <a:p>
            <a:pPr marL="0" lvl="0" indent="0" eaLnBrk="1" hangingPunct="1">
              <a:lnSpc>
                <a:spcPct val="150000"/>
              </a:lnSpc>
              <a:buNone/>
            </a:pPr>
            <a:endParaRPr lang="zh-CN" altLang="en-US" sz="4400" dirty="0"/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测试组长</a:t>
            </a:r>
            <a:endParaRPr lang="zh-CN" altLang="en-US"/>
          </a:p>
        </p:txBody>
      </p:sp>
      <p:sp>
        <p:nvSpPr>
          <p:cNvPr id="9218" name="内容占位符 2"/>
          <p:cNvSpPr>
            <a:spLocks noGrp="1"/>
          </p:cNvSpPr>
          <p:nvPr>
            <p:ph sz="quarter" idx="4294967295"/>
          </p:nvPr>
        </p:nvSpPr>
        <p:spPr>
          <a:xfrm>
            <a:off x="2315845" y="2192655"/>
            <a:ext cx="22068155" cy="1172210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14605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测试组长负责指导所在的测试小组，其职责包括：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为本测试工作小组提供技术指导；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负责本小组的</a:t>
            </a: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测试计划执行、员工监管和进度状态报告；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40030" marR="0" lvl="1" indent="-226695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测试方法、测试工具的选择和使用；接受关于最新测试方法和工具的信息，并且将这些知识传达给测试团队；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进行测试设计；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实施测试过程；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检查核实</a:t>
            </a: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对测试需求的覆盖程度；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1" indent="220980" algn="l" defTabSz="914400" rtl="0" eaLnBrk="1" fontAlgn="auto" latinLnBrk="0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zh-CN" sz="5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确保测试文档的完整。</a:t>
            </a:r>
            <a:endParaRPr kumimoji="0" lang="zh-CN" altLang="zh-CN" sz="5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测试组长</a:t>
            </a:r>
            <a:endParaRPr lang="zh-CN" altLang="en-US"/>
          </a:p>
        </p:txBody>
      </p:sp>
      <p:sp>
        <p:nvSpPr>
          <p:cNvPr id="13313" name="内容占位符 2"/>
          <p:cNvSpPr>
            <a:spLocks noGrp="1" noRot="1"/>
          </p:cNvSpPr>
          <p:nvPr>
            <p:ph sz="quarter" idx="4294967295"/>
          </p:nvPr>
        </p:nvSpPr>
        <p:spPr>
          <a:xfrm>
            <a:off x="3159125" y="2823845"/>
            <a:ext cx="19227800" cy="9749155"/>
          </a:xfrm>
        </p:spPr>
        <p:txBody>
          <a:bodyPr vert="horz" wrap="square" lIns="182880" tIns="91440" rIns="182880" bIns="91440" numCol="1" anchor="t" anchorCtr="0" compatLnSpc="1"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11430" marR="0" lvl="0" indent="33210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60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测试组长需要具备以下知识、技能和素质：</a:t>
            </a:r>
            <a:endParaRPr kumimoji="0" lang="zh-CN" altLang="zh-CN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" marR="0" lvl="1" indent="33210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0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掌握测试方法和技术、熟悉测试流程；</a:t>
            </a:r>
            <a:endParaRPr kumimoji="0" lang="zh-CN" altLang="zh-CN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" marR="0" lvl="1" indent="33210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0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具备包括测试设计、测试工具选择、测试开发、测试报告、缺陷管理等在内的软件测试相关工作能力和水平；</a:t>
            </a:r>
            <a:endParaRPr kumimoji="0" lang="zh-CN" altLang="en-US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" marR="0" lvl="1" indent="33210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zh-CN" sz="60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精通各种软件技术，包括编程语言、数据库技术、计算机网络、操作系统等；</a:t>
            </a:r>
            <a:endParaRPr kumimoji="0" lang="zh-CN" altLang="zh-CN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" marR="0" lvl="1" indent="33210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zh-CN" sz="60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熟练掌握各种测试工具的应用。</a:t>
            </a:r>
            <a:endParaRPr kumimoji="0" lang="zh-CN" altLang="zh-CN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zh-CN" sz="6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测试环境专员</a:t>
            </a:r>
            <a:endParaRPr lang="zh-CN" altLang="en-US"/>
          </a:p>
        </p:txBody>
      </p:sp>
      <p:sp>
        <p:nvSpPr>
          <p:cNvPr id="11266" name="内容占位符 2"/>
          <p:cNvSpPr>
            <a:spLocks noGrp="1"/>
          </p:cNvSpPr>
          <p:nvPr>
            <p:ph sz="quarter" idx="4294967295"/>
          </p:nvPr>
        </p:nvSpPr>
        <p:spPr>
          <a:xfrm>
            <a:off x="3346450" y="2658745"/>
            <a:ext cx="19307810" cy="9084310"/>
          </a:xfrm>
        </p:spPr>
        <p:txBody>
          <a:bodyPr vert="horz" wrap="square" lIns="182880" tIns="91440" rIns="182880" bIns="91440" numCol="1" anchor="t" anchorCtr="0" compatLnSpc="1"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635" marR="0" lvl="0" indent="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测试环境专员专注于配置测试环境，其职责包括：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735" marR="0" lvl="1" indent="-4572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安装测试工具并建立测试工具环境；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00735" marR="0" lvl="1" indent="-4572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通过使用环境设置脚本，创建并控制测试环境；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00735" marR="0" lvl="1" indent="-4572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创建并维护测试数据库；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00735" marR="0" lvl="1" indent="-45720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+mj-ea"/>
              <a:buAutoNum type="circleNumDbPlain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在测试过程中维护测试环境和测试数据库。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7" name="文本框 99"/>
          <p:cNvSpPr txBox="1"/>
          <p:nvPr/>
        </p:nvSpPr>
        <p:spPr>
          <a:xfrm>
            <a:off x="7920568" y="1062568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测试环境专员</a:t>
            </a:r>
            <a:endParaRPr lang="zh-CN" altLang="en-US"/>
          </a:p>
        </p:txBody>
      </p:sp>
      <p:sp>
        <p:nvSpPr>
          <p:cNvPr id="32770" name="内容占位符 2"/>
          <p:cNvSpPr>
            <a:spLocks noGrp="1" noRot="1"/>
          </p:cNvSpPr>
          <p:nvPr>
            <p:ph sz="quarter" idx="4294967295"/>
          </p:nvPr>
        </p:nvSpPr>
        <p:spPr>
          <a:xfrm>
            <a:off x="3626485" y="2455545"/>
            <a:ext cx="18084800" cy="9880600"/>
          </a:xfrm>
        </p:spPr>
        <p:txBody>
          <a:bodyPr vert="horz" wrap="square" lIns="182880" tIns="91440" rIns="182880" bIns="91440" anchor="t" anchorCtr="0"/>
          <a:lstStyle>
            <a:lvl1pPr lvl="0">
              <a:buClr>
                <a:schemeClr val="hlink"/>
              </a:buClr>
              <a:buSzPct val="70000"/>
              <a:buFont typeface="Wingdings" panose="05000000000000000000" pitchFamily="2" charset="2"/>
              <a:defRPr sz="1800"/>
            </a:lvl1pPr>
            <a:lvl2pPr lvl="1">
              <a:buClr>
                <a:schemeClr val="accent2"/>
              </a:buClr>
              <a:buSzPct val="85000"/>
              <a:buFont typeface="Wingdings" panose="05000000000000000000" pitchFamily="2" charset="2"/>
              <a:defRPr sz="1700"/>
            </a:lvl2pPr>
            <a:lvl3pPr lvl="2">
              <a:buClr>
                <a:schemeClr val="hlink"/>
              </a:buClr>
              <a:buSzPct val="80000"/>
              <a:buFont typeface="Wingdings" panose="05000000000000000000" pitchFamily="2" charset="2"/>
              <a:defRPr sz="1700"/>
            </a:lvl3pPr>
            <a:lvl4pPr lvl="3">
              <a:buClr>
                <a:schemeClr val="accent2"/>
              </a:buClr>
              <a:buSzPct val="90000"/>
              <a:buFont typeface="Wingdings" panose="05000000000000000000" pitchFamily="2" charset="2"/>
              <a:defRPr sz="1100"/>
            </a:lvl4pPr>
            <a:lvl5pPr lvl="4">
              <a:buClr>
                <a:schemeClr val="hlink"/>
              </a:buClr>
              <a:buSzPct val="85000"/>
              <a:buFont typeface="Wingdings" panose="05000000000000000000" pitchFamily="2" charset="2"/>
              <a:defRPr sz="1100"/>
            </a:lvl5pPr>
          </a:lstStyle>
          <a:p>
            <a:pPr marL="0" lvl="0" indent="0" eaLnBrk="1" hangingPunct="1">
              <a:lnSpc>
                <a:spcPct val="150000"/>
              </a:lnSpc>
              <a:buNone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测试环境专员需要具备以下技能：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685800" lvl="1" indent="-342900" eaLnBrk="1" hangingPunct="1">
              <a:lnSpc>
                <a:spcPct val="150000"/>
              </a:lnSpc>
              <a:buFont typeface="Times New Roman" panose="02020603050405020304" pitchFamily="18" charset="0"/>
              <a:buAutoNum type="circleNumDbPlain"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精通计算机网络和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操作系统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；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685800" lvl="1" indent="-342900" eaLnBrk="1" hangingPunct="1">
              <a:lnSpc>
                <a:spcPct val="150000"/>
              </a:lnSpc>
              <a:buFont typeface="Times New Roman" panose="02020603050405020304" pitchFamily="18" charset="0"/>
              <a:buAutoNum type="circleNumDbPlain"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精通各种软件技术，包括编程和脚本语言、数据库等；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685800" lvl="1" indent="-342900" eaLnBrk="1" hangingPunct="1">
              <a:lnSpc>
                <a:spcPct val="150000"/>
              </a:lnSpc>
              <a:buFont typeface="Times New Roman" panose="02020603050405020304" pitchFamily="18" charset="0"/>
              <a:buAutoNum type="circleNumDbPlain"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精通各种测试工具等 </a:t>
            </a:r>
            <a:r>
              <a:rPr lang="zh-CN" altLang="en-US" sz="6400" b="0" dirty="0"/>
              <a:t>。</a:t>
            </a:r>
            <a:endParaRPr lang="zh-CN" altLang="en-US" sz="6400" b="0" dirty="0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测试员</a:t>
            </a:r>
            <a:endParaRPr lang="zh-CN" altLang="en-US"/>
          </a:p>
        </p:txBody>
      </p:sp>
      <p:sp>
        <p:nvSpPr>
          <p:cNvPr id="15361" name="内容占位符 2"/>
          <p:cNvSpPr>
            <a:spLocks noGrp="1" noRot="1"/>
          </p:cNvSpPr>
          <p:nvPr>
            <p:ph sz="quarter" idx="4294967295"/>
          </p:nvPr>
        </p:nvSpPr>
        <p:spPr>
          <a:xfrm>
            <a:off x="2366645" y="2887345"/>
            <a:ext cx="20116800" cy="9744710"/>
          </a:xfrm>
        </p:spPr>
        <p:txBody>
          <a:bodyPr vert="horz" wrap="square" lIns="182880" tIns="91440" rIns="182880" bIns="91440" numCol="1" anchor="t" anchorCtr="0" compatLnSpc="1"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软件测试员具体执行测试过程，在测试流程中进行下列活动：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(1)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开发测试用例，创建测试数据；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(2)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创建测试脚本或者手工执行测试过程；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(3)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使用自动化工具；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(4)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撰写测试文档；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(5)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报告测试结果。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795" name="文本框 99"/>
          <p:cNvSpPr txBox="1"/>
          <p:nvPr/>
        </p:nvSpPr>
        <p:spPr>
          <a:xfrm>
            <a:off x="7344835" y="656168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测试员</a:t>
            </a:r>
            <a:endParaRPr lang="zh-CN" altLang="en-US"/>
          </a:p>
        </p:txBody>
      </p:sp>
      <p:sp>
        <p:nvSpPr>
          <p:cNvPr id="13314" name="内容占位符 2"/>
          <p:cNvSpPr>
            <a:spLocks noGrp="1"/>
          </p:cNvSpPr>
          <p:nvPr>
            <p:ph sz="quarter" idx="4294967295"/>
          </p:nvPr>
        </p:nvSpPr>
        <p:spPr>
          <a:xfrm>
            <a:off x="3213100" y="2103755"/>
            <a:ext cx="21170900" cy="1137920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软件测试员需要具备以下知识、能力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和素质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掌握基本软件测试方法和技术，了解软件测试过程；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(2)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了解被测软件；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(3)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掌握软件开发和软件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测试相关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工具；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(4)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能够执行测试过程；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(5)</a:t>
            </a:r>
            <a:r>
              <a:rPr kumimoji="0" lang="zh-CN" altLang="en-US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能够撰写测试报告文档。</a:t>
            </a:r>
            <a:endParaRPr kumimoji="0" lang="zh-CN" altLang="en-US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586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819" name="文本框 99"/>
          <p:cNvSpPr txBox="1"/>
          <p:nvPr/>
        </p:nvSpPr>
        <p:spPr>
          <a:xfrm>
            <a:off x="7344835" y="656168"/>
            <a:ext cx="10160000" cy="1445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endParaRPr lang="en-US" altLang="zh-CN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资源</a:t>
            </a:r>
            <a:endParaRPr lang="zh-CN" altLang="en-US"/>
          </a:p>
        </p:txBody>
      </p:sp>
      <p:sp>
        <p:nvSpPr>
          <p:cNvPr id="13314" name="内容占位符 2"/>
          <p:cNvSpPr>
            <a:spLocks noGrp="1"/>
          </p:cNvSpPr>
          <p:nvPr>
            <p:ph sz="quarter" idx="4294967295"/>
          </p:nvPr>
        </p:nvSpPr>
        <p:spPr>
          <a:xfrm>
            <a:off x="2390775" y="2103755"/>
            <a:ext cx="21170900" cy="1137920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除了人员之外，软件测试工作还需要其它资源支持，主要包括：执行测试的计算机和服务器、辅助测试工作的测试工具等。</a:t>
            </a:r>
            <a:endParaRPr kumimoji="0" lang="zh-CN" altLang="en-US" sz="6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有的软件测试工作项目是和开发团队共用一部分</a:t>
            </a: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计算机，尤其是服务器等设备，这样可以节约资源。</a:t>
            </a:r>
            <a:endParaRPr kumimoji="0" lang="zh-CN" altLang="en-US" sz="6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</a:t>
            </a: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一般而言</a:t>
            </a:r>
            <a:r>
              <a:rPr kumimoji="0" lang="zh-CN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测试工具都是专用的，既有开源免费的，也有商业版软件，可以根据需要来合理选择。</a:t>
            </a:r>
            <a:r>
              <a:rPr kumimoji="0" lang="zh-CN" altLang="en-US" sz="586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endParaRPr kumimoji="0" lang="zh-CN" altLang="en-US" sz="5865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13314" name="内容占位符 2"/>
          <p:cNvSpPr>
            <a:spLocks noGrp="1"/>
          </p:cNvSpPr>
          <p:nvPr>
            <p:ph sz="quarter" idx="4294967295"/>
          </p:nvPr>
        </p:nvSpPr>
        <p:spPr>
          <a:xfrm>
            <a:off x="7162165" y="5539740"/>
            <a:ext cx="10389870" cy="4115435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8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8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谢谢</a:t>
            </a:r>
            <a:endParaRPr kumimoji="0" lang="zh-CN" altLang="en-US" sz="8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WPS 演示</Application>
  <PresentationFormat>Custom</PresentationFormat>
  <Paragraphs>156</Paragraphs>
  <Slides>20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Wingdings</vt:lpstr>
      <vt:lpstr>Tahoma</vt:lpstr>
      <vt:lpstr>Arial Unicode MS</vt:lpstr>
      <vt:lpstr>Times New Roman</vt:lpstr>
      <vt:lpstr>Helvetica Neue Medium</vt:lpstr>
      <vt:lpstr>White</vt:lpstr>
      <vt:lpstr>1_White</vt:lpstr>
      <vt:lpstr>PowerPoint 演示文稿</vt:lpstr>
      <vt:lpstr>软件测试的组织和管理</vt:lpstr>
      <vt:lpstr>软件测试工作的特点</vt:lpstr>
      <vt:lpstr>软件测试工作的特点</vt:lpstr>
      <vt:lpstr>软件测试工作的特点</vt:lpstr>
      <vt:lpstr>软件测试人员组织</vt:lpstr>
      <vt:lpstr>软件测试人员组织</vt:lpstr>
      <vt:lpstr>软件测试人员分工</vt:lpstr>
      <vt:lpstr>测试经理</vt:lpstr>
      <vt:lpstr>测试经理</vt:lpstr>
      <vt:lpstr>测试经理</vt:lpstr>
      <vt:lpstr>测试经理</vt:lpstr>
      <vt:lpstr>测试组长</vt:lpstr>
      <vt:lpstr>测试组长</vt:lpstr>
      <vt:lpstr>测试环境专员</vt:lpstr>
      <vt:lpstr>测试环境专员</vt:lpstr>
      <vt:lpstr>测试员</vt:lpstr>
      <vt:lpstr>测试员</vt:lpstr>
      <vt:lpstr>资源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769</cp:revision>
  <cp:lastPrinted>2020-08-01T02:11:00Z</cp:lastPrinted>
  <dcterms:created xsi:type="dcterms:W3CDTF">2019-05-10T09:49:00Z</dcterms:created>
  <dcterms:modified xsi:type="dcterms:W3CDTF">2023-08-11T10:35:10Z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A3908A5F096F467692DEAAFE366CC478_12</vt:lpwstr>
  </property>
</Properties>
</file>