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73"/>
  </p:handoutMasterIdLst>
  <p:sldIdLst>
    <p:sldId id="256" r:id="rId4"/>
    <p:sldId id="829" r:id="rId6"/>
    <p:sldId id="830" r:id="rId7"/>
    <p:sldId id="704" r:id="rId8"/>
    <p:sldId id="827" r:id="rId9"/>
    <p:sldId id="705" r:id="rId10"/>
    <p:sldId id="706" r:id="rId11"/>
    <p:sldId id="707" r:id="rId12"/>
    <p:sldId id="708" r:id="rId13"/>
    <p:sldId id="831" r:id="rId14"/>
    <p:sldId id="743" r:id="rId15"/>
    <p:sldId id="744" r:id="rId16"/>
    <p:sldId id="745" r:id="rId17"/>
    <p:sldId id="748" r:id="rId18"/>
    <p:sldId id="749" r:id="rId19"/>
    <p:sldId id="750" r:id="rId20"/>
    <p:sldId id="751" r:id="rId21"/>
    <p:sldId id="752" r:id="rId22"/>
    <p:sldId id="753" r:id="rId23"/>
    <p:sldId id="754" r:id="rId24"/>
    <p:sldId id="747" r:id="rId25"/>
    <p:sldId id="755" r:id="rId26"/>
    <p:sldId id="756" r:id="rId27"/>
    <p:sldId id="757" r:id="rId28"/>
    <p:sldId id="758" r:id="rId29"/>
    <p:sldId id="759" r:id="rId30"/>
    <p:sldId id="760" r:id="rId31"/>
    <p:sldId id="761" r:id="rId32"/>
    <p:sldId id="763" r:id="rId33"/>
    <p:sldId id="764" r:id="rId34"/>
    <p:sldId id="765" r:id="rId35"/>
    <p:sldId id="766" r:id="rId36"/>
    <p:sldId id="767" r:id="rId37"/>
    <p:sldId id="768" r:id="rId38"/>
    <p:sldId id="789" r:id="rId39"/>
    <p:sldId id="770" r:id="rId40"/>
    <p:sldId id="771" r:id="rId41"/>
    <p:sldId id="772" r:id="rId42"/>
    <p:sldId id="832" r:id="rId43"/>
    <p:sldId id="710" r:id="rId44"/>
    <p:sldId id="711" r:id="rId45"/>
    <p:sldId id="712" r:id="rId46"/>
    <p:sldId id="714" r:id="rId47"/>
    <p:sldId id="715" r:id="rId48"/>
    <p:sldId id="716" r:id="rId49"/>
    <p:sldId id="717" r:id="rId50"/>
    <p:sldId id="718" r:id="rId51"/>
    <p:sldId id="719" r:id="rId52"/>
    <p:sldId id="720" r:id="rId53"/>
    <p:sldId id="721" r:id="rId54"/>
    <p:sldId id="722" r:id="rId55"/>
    <p:sldId id="723" r:id="rId56"/>
    <p:sldId id="726" r:id="rId57"/>
    <p:sldId id="727" r:id="rId58"/>
    <p:sldId id="728" r:id="rId59"/>
    <p:sldId id="729" r:id="rId60"/>
    <p:sldId id="730" r:id="rId61"/>
    <p:sldId id="731" r:id="rId62"/>
    <p:sldId id="732" r:id="rId63"/>
    <p:sldId id="733" r:id="rId64"/>
    <p:sldId id="734" r:id="rId65"/>
    <p:sldId id="735" r:id="rId66"/>
    <p:sldId id="736" r:id="rId67"/>
    <p:sldId id="737" r:id="rId68"/>
    <p:sldId id="738" r:id="rId69"/>
    <p:sldId id="739" r:id="rId70"/>
    <p:sldId id="741" r:id="rId71"/>
    <p:sldId id="740" r:id="rId72"/>
  </p:sldIdLst>
  <p:sldSz cx="24384000" cy="13716000"/>
  <p:notesSz cx="7099300" cy="10234295"/>
  <p:custDataLst>
    <p:tags r:id="rId78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handoutMaster" Target="handoutMasters/handout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ableStyles" Target="tableStyles.xml"/><Relationship Id="rId77" Type="http://schemas.openxmlformats.org/officeDocument/2006/relationships/commentAuthors" Target="commentAuthors.xml"/><Relationship Id="rId78" Type="http://schemas.openxmlformats.org/officeDocument/2006/relationships/tags" Target="tags/tag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GIF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756"/>
            <a:ext cx="6440805" cy="10248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9.4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接口自动化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3"/>
            <a:ext cx="8029575" cy="1343465"/>
            <a:chOff x="0" y="-1"/>
            <a:chExt cx="7870570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503" y="244474"/>
              <a:ext cx="5786067" cy="854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接口自动化测试概述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4605410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chemeClr val="tx1"/>
                </a:solidFill>
              </a:rPr>
              <a:t>postman</a:t>
            </a:r>
            <a:r>
              <a:rPr lang="zh-CN" altLang="en-US" sz="4400" dirty="0">
                <a:solidFill>
                  <a:schemeClr val="tx1"/>
                </a:solidFill>
              </a:rPr>
              <a:t>介绍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rgbClr val="000000"/>
                </a:solidFill>
              </a:rPr>
              <a:t>requtests</a:t>
            </a:r>
            <a:r>
              <a:rPr lang="zh-CN" altLang="en-US" sz="4400" dirty="0">
                <a:solidFill>
                  <a:srgbClr val="000000"/>
                </a:solidFill>
              </a:rPr>
              <a:t>库介绍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222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3"/>
            <a:ext cx="8029575" cy="1343465"/>
            <a:chOff x="0" y="-1"/>
            <a:chExt cx="7870570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503" y="244474"/>
              <a:ext cx="5786067" cy="854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FF0000"/>
                  </a:solidFill>
                </a:rPr>
                <a:t>接口自动化测试概述</a:t>
              </a:r>
              <a:endParaRPr lang="zh-CN" altLang="en-US" sz="4400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3000"/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4605410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chemeClr val="tx1"/>
                </a:solidFill>
              </a:rPr>
              <a:t>postman</a:t>
            </a:r>
            <a:r>
              <a:rPr lang="zh-CN" altLang="en-US" sz="4400" dirty="0">
                <a:solidFill>
                  <a:schemeClr val="tx1"/>
                </a:solidFill>
              </a:rPr>
              <a:t>介绍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rgbClr val="000000"/>
                </a:solidFill>
              </a:rPr>
              <a:t>requtests</a:t>
            </a:r>
            <a:r>
              <a:rPr lang="zh-CN" altLang="en-US" sz="4400" dirty="0">
                <a:solidFill>
                  <a:srgbClr val="000000"/>
                </a:solidFill>
              </a:rPr>
              <a:t>库介绍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222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7708900" cy="1042670"/>
          </a:xfrm>
        </p:spPr>
        <p:txBody>
          <a:bodyPr>
            <a:normAutofit fontScale="90000"/>
          </a:bodyPr>
          <a:p>
            <a:r>
              <a:rPr lang="zh-CN" altLang="en-US"/>
              <a:t>接口自动化测试概述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38120" y="2382520"/>
            <a:ext cx="1570355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接口测试：是对系统之间或组件之间的接口进行测试，主要是校验数据的交换、传递和控制管理过程，以及相互的逻辑依赖关系。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自动化测试：是把以人为驱动的测试行为转化为机器执行的一种过程。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接口自动化测试：是让程序或工具代替人工自动完成对进行测试的这一过程。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7708900" cy="1042670"/>
          </a:xfrm>
        </p:spPr>
        <p:txBody>
          <a:bodyPr>
            <a:normAutofit fontScale="90000"/>
          </a:bodyPr>
          <a:p>
            <a:r>
              <a:rPr lang="zh-CN" altLang="en-US"/>
              <a:t>接口自动化测试概述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38120" y="2382520"/>
            <a:ext cx="1570355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接口测试就是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依据接口规范，写出测试用例，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使用软件工具，直接通过消息接口 对 被测系统 进行消息收发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验证被测系统行为是否正确。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API接口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98675" y="2538730"/>
            <a:ext cx="18492470" cy="10744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API接口 传递数据信息 是通过HTTP协议进行收发的 ， 网站 获取网页、图片 、css 等资源， 也是 通过HTTP协议进行收发的。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那么这两者有什么区别呢？ 为什么 获取网页、图片这些 HTTP消息 通常不叫 API 接口消息呢？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接口测试工作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635823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根据前面的讲述，总结一下，接口测试工作，主要包括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获取接口文档，评审文档，了解接口的实现细节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根据接口文档，写出测试用例，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等产品发布后，根据测试用例，使用软件工具，直接通过消息接口 对 被测系统 进行消息收发，验证被测系统行为是否正确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评审接口文档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726785" cy="10849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通过 接口 进行测试 和 通过 用户界面 进行测试一样， 都需要有 测试用例 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测试用例的依据就是 需求设计文档， 接口测试用例当然也需要 接口的 需求设计文档，通常称之为 接口文档。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接口文档 通常 是由 开发人员提供， 测试人员 根据接口文档编写接口测试用例。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接口文档 里面应该包括 我们要测试的系统接口的具体信息。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接口文档是人写的，当然就会有 错误、遗漏，甚至有自相矛盾的地方。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文档也可能有写的不清楚，难以理解，测试人员看不懂的地方。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所以在写测试用例之前，必须要先对接口文档进行评审，找出里面的问题，和 文档作者进行沟通 ，确保接口文档 基本正确、完善，然后才能动手写测试用例。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编写测试用例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500505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编写测试用例的时候，通常可以采用 条件组合、边界值、错误猜测 等方法。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3"/>
            <a:ext cx="8029575" cy="1343465"/>
            <a:chOff x="0" y="-1"/>
            <a:chExt cx="7870570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503" y="244474"/>
              <a:ext cx="5786067" cy="854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接口自动化测试概述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3000"/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4605410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rgbClr val="FF0000"/>
                </a:solidFill>
              </a:rPr>
              <a:t>postman</a:t>
            </a:r>
            <a:r>
              <a:rPr lang="zh-CN" altLang="en-US" sz="4400" dirty="0">
                <a:solidFill>
                  <a:srgbClr val="FF0000"/>
                </a:solidFill>
              </a:rPr>
              <a:t>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rgbClr val="000000"/>
                </a:solidFill>
              </a:rPr>
              <a:t>requtests</a:t>
            </a:r>
            <a:r>
              <a:rPr lang="zh-CN" altLang="en-US" sz="4400" dirty="0">
                <a:solidFill>
                  <a:srgbClr val="000000"/>
                </a:solidFill>
              </a:rPr>
              <a:t>库介绍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222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postman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rcRect t="9352"/>
          <a:stretch>
            <a:fillRect/>
          </a:stretch>
        </p:blipFill>
        <p:spPr>
          <a:xfrm>
            <a:off x="2738120" y="3034665"/>
            <a:ext cx="18448655" cy="98602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2073148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Postman是一种应用程序接口（API）测试工具。API就像是一对应用程序之间的接口，建立它们之间的连接。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因此，API是一组协议，函数和工具，应用程序可以向其用户提供以便成功地与另一个应用程序进行通信。每当我们访问应用程序，例如在手机上检查新闻，Facebook等，都需要API。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Postman具有发送和观察超文本传输协议（HTTP）请求和响应的功能。它具有图形用户界面（GUI），可在Linux，Windows和Mac等平台上使用。它可以构建多个HTTP请求 – POST，PUT，GET，PATCH并将其转换为代码。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552575" y="2694305"/>
            <a:ext cx="2054860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Postman拥有庞大的用户群，并因以下原因而成为非常流行的工具 –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Postman没有任何许可成本，适用于任何能力的团队使用。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只需下载，即可非常容易地使用Postman。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在使用集合的帮助下，Postman可以轻松地维护测试套件。用户可以创建包含各种请求和子文件夹的API调用集合。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Postman能够构建多个API调用，例如SOAP，REST和HTTP。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可以通过向HTTP响应代码和其他参数添加检查点来将Postman用于测试开发。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Postman可以与持续集成以及持续交付或持续部署（CI/CD）流水线集成。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Postman可以与Newman或Collection Runner集成，从而允许在许多迭代中执行测试。因此，我们可以避免重复测试。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Postman拥有大型社区支持。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Postman控制台允许调试测试步骤。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使用Postman，我们可以创建多个环境。因此，可以使用单个集合与各种配置。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Postman提供导入/导出环境和集合的选项，从而方便共享文件。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创建请求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3469005" y="2288540"/>
            <a:ext cx="16640175" cy="10671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2020570" y="3241675"/>
            <a:ext cx="19672935" cy="13744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设置请求 URL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如果您正在构建 API，则 URL 通常是基本位置加路径。例如，在请求中https://postman-echo.com/get，https://postman-echo.com是基本 URL，/get是端点路径。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13185775" y="450850"/>
            <a:ext cx="8524240" cy="119214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发送参数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477073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查询参数</a:t>
            </a:r>
            <a:r>
              <a:rPr lang="en-US" altLang="zh-CN">
                <a:sym typeface="Helvetica Neue"/>
              </a:rPr>
              <a:t>  </a:t>
            </a:r>
            <a:r>
              <a:rPr lang="zh-CN" altLang="en-US">
                <a:sym typeface="Helvetica Neue"/>
              </a:rPr>
              <a:t>?id=1&amp;type=new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sym typeface="Helvetica Neue"/>
              </a:rPr>
              <a:t>路径参数</a:t>
            </a:r>
            <a:r>
              <a:rPr lang="en-US" altLang="zh-CN">
                <a:sym typeface="Helvetica Neue"/>
              </a:rPr>
              <a:t> </a:t>
            </a:r>
            <a:r>
              <a:rPr lang="zh-CN" altLang="en-US">
                <a:sym typeface="Helvetica Neue"/>
              </a:rPr>
              <a:t>/customer/:id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图片 107"/>
          <p:cNvPicPr/>
          <p:nvPr/>
        </p:nvPicPr>
        <p:blipFill>
          <a:blip r:embed="rId1"/>
          <a:stretch>
            <a:fillRect/>
          </a:stretch>
        </p:blipFill>
        <p:spPr>
          <a:xfrm>
            <a:off x="2108200" y="4735195"/>
            <a:ext cx="20478750" cy="7027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发送</a:t>
            </a:r>
            <a:r>
              <a:rPr lang="en-US" altLang="zh-CN">
                <a:latin typeface="Helvetica Neue"/>
                <a:ea typeface="Helvetica Neue"/>
                <a:cs typeface="Helvetica Neue"/>
                <a:sym typeface="Helvetica Neue"/>
              </a:rPr>
              <a:t>body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数据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998440" cy="837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每当您需要添加或更新结构化数据时，您都需要发送带有请求的正文数据。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 中的“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body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”选项卡使您能够指定需要通过请求发送的数据。您可以发送各种不同类型的正文数据。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如果您要发送</a:t>
            </a:r>
            <a:r>
              <a:rPr lang="en-US" altLang="zh-CN" sz="4000">
                <a:sym typeface="Helvetica Neue"/>
              </a:rPr>
              <a:t>body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数据，请确保选择了正确的标头，以指示您的 API 处理接收到的数据可能需要的内容类型。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对于表单数据和 urlencoded 正文类型，Postman 将自动附加正确的Content-Type标头。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如果您对正文数据使用原始模式，Postman 将根据您选择的类型（例如文本或 json）设置标头。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如果您手动选择Content-Type标头，则该值将优先于 Postman 设置的值。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Postman 不会为二进制正文类型设置任何标头类型。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表单数据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图片 108"/>
          <p:cNvPicPr/>
          <p:nvPr/>
        </p:nvPicPr>
        <p:blipFill>
          <a:blip r:embed="rId1"/>
          <a:stretch>
            <a:fillRect/>
          </a:stretch>
        </p:blipFill>
        <p:spPr>
          <a:xfrm>
            <a:off x="3087370" y="2486025"/>
            <a:ext cx="16294735" cy="9678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原始数据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0" name="图片 109"/>
          <p:cNvPicPr/>
          <p:nvPr/>
        </p:nvPicPr>
        <p:blipFill>
          <a:blip r:embed="rId1"/>
          <a:stretch>
            <a:fillRect/>
          </a:stretch>
        </p:blipFill>
        <p:spPr>
          <a:xfrm>
            <a:off x="4129405" y="2436495"/>
            <a:ext cx="18051145" cy="101746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5993765" y="664845"/>
            <a:ext cx="14542135" cy="11366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验证请求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图片 110"/>
          <p:cNvPicPr/>
          <p:nvPr/>
        </p:nvPicPr>
        <p:blipFill>
          <a:blip r:embed="rId1"/>
          <a:stretch>
            <a:fillRect/>
          </a:stretch>
        </p:blipFill>
        <p:spPr>
          <a:xfrm>
            <a:off x="2738120" y="2444115"/>
            <a:ext cx="22162135" cy="11830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配置请求标头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2" name="图片 111"/>
          <p:cNvPicPr/>
          <p:nvPr/>
        </p:nvPicPr>
        <p:blipFill>
          <a:blip r:embed="rId1"/>
          <a:stretch>
            <a:fillRect/>
          </a:stretch>
        </p:blipFill>
        <p:spPr>
          <a:xfrm>
            <a:off x="1922780" y="2336165"/>
            <a:ext cx="20539075" cy="9043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自动生成的标头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3" name="图片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3098165" y="2960370"/>
            <a:ext cx="17393920" cy="88620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使用cookie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如果您需要更改标头，可以在 Postman 的相关部分中执行此操作，例如“授权”选项卡、请求正文、请求域的Cookie 、“设置”，在某些情况下，可以直接在“标头”选项卡本身中进行更改。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4" name="图片 113"/>
          <p:cNvPicPr/>
          <p:nvPr/>
        </p:nvPicPr>
        <p:blipFill>
          <a:blip r:embed="rId1"/>
          <a:stretch>
            <a:fillRect/>
          </a:stretch>
        </p:blipFill>
        <p:spPr>
          <a:xfrm>
            <a:off x="2199640" y="2407920"/>
            <a:ext cx="18150205" cy="1076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使用cookie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您可以通过 Postman 管理您的域的 Cookie。选择Cookie（在“发送”下）。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" name="图片 114"/>
          <p:cNvPicPr/>
          <p:nvPr/>
        </p:nvPicPr>
        <p:blipFill>
          <a:blip r:embed="rId1"/>
          <a:stretch>
            <a:fillRect/>
          </a:stretch>
        </p:blipFill>
        <p:spPr>
          <a:xfrm>
            <a:off x="2255520" y="2329815"/>
            <a:ext cx="23925530" cy="140925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接收回复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7" name="图片 116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72455" y="1733550"/>
            <a:ext cx="15593060" cy="102495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接收回复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8" name="图片 117"/>
          <p:cNvPicPr/>
          <p:nvPr/>
        </p:nvPicPr>
        <p:blipFill>
          <a:blip r:embed="rId1"/>
          <a:stretch>
            <a:fillRect/>
          </a:stretch>
        </p:blipFill>
        <p:spPr>
          <a:xfrm>
            <a:off x="5083810" y="3025140"/>
            <a:ext cx="14751050" cy="83686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使用变量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19008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变量使您能够在 Postman 中存储和重用值。通过将值存储为变量，您可以在整个集合、环境、请求和测试脚本中引用它。变量可帮助高效工作、与队友协作并设置动态工作流程。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创建使用变量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0" name="图片 119"/>
          <p:cNvPicPr/>
          <p:nvPr/>
        </p:nvPicPr>
        <p:blipFill>
          <a:blip r:embed="rId1"/>
          <a:stretch>
            <a:fillRect/>
          </a:stretch>
        </p:blipFill>
        <p:spPr>
          <a:xfrm>
            <a:off x="4853940" y="2121535"/>
            <a:ext cx="14676120" cy="946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了解变量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图片 120"/>
          <p:cNvPicPr/>
          <p:nvPr/>
        </p:nvPicPr>
        <p:blipFill>
          <a:blip r:embed="rId1"/>
          <a:stretch>
            <a:fillRect/>
          </a:stretch>
        </p:blipFill>
        <p:spPr>
          <a:xfrm>
            <a:off x="1724660" y="2694305"/>
            <a:ext cx="21699220" cy="90195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了解变量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2" name="图片 121"/>
          <p:cNvPicPr/>
          <p:nvPr/>
        </p:nvPicPr>
        <p:blipFill>
          <a:blip r:embed="rId1"/>
          <a:stretch>
            <a:fillRect/>
          </a:stretch>
        </p:blipFill>
        <p:spPr>
          <a:xfrm>
            <a:off x="3267710" y="2121535"/>
            <a:ext cx="17832070" cy="115938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使用数据变量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958530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Collection Runner 允许您导入 CSV 或 JSON 文件，并在请求和脚本内使用数据文件中的值。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无法在 Postman 内设置数据变量，因为它是从数据文件中提取的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但可以在脚本内访问数据变量，例如使用pm.iterationData.get("variable_name").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管理环境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90903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环境是一组可以在 Postman 请求中使用的变量。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如果您作为团队的一员工作，则可以使用环境将相关值集分组在一起并管理对共享 Postman 数据的访问。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0203815" cy="1042670"/>
          </a:xfrm>
        </p:spPr>
        <p:txBody>
          <a:bodyPr>
            <a:normAutofit fontScale="90000"/>
          </a:bodyPr>
          <a:p>
            <a:r>
              <a:rPr lang="en-US" altLang="zh-CN"/>
              <a:t>将请求分组到集合中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9" name="图片 118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45710" y="2536190"/>
            <a:ext cx="11772900" cy="10815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创建集合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3" name="图片 122"/>
          <p:cNvPicPr/>
          <p:nvPr/>
        </p:nvPicPr>
        <p:blipFill>
          <a:blip r:embed="rId1"/>
          <a:stretch>
            <a:fillRect/>
          </a:stretch>
        </p:blipFill>
        <p:spPr>
          <a:xfrm>
            <a:off x="3992880" y="2694305"/>
            <a:ext cx="12409170" cy="9677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8695055" cy="1042670"/>
          </a:xfrm>
        </p:spPr>
        <p:txBody>
          <a:bodyPr>
            <a:normAutofit fontScale="90000"/>
          </a:bodyPr>
          <a:p>
            <a:r>
              <a:rPr>
                <a:sym typeface="Helvetica Neue"/>
              </a:rPr>
              <a:t>在集合中创建新请求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" name="图片 123"/>
          <p:cNvPicPr/>
          <p:nvPr/>
        </p:nvPicPr>
        <p:blipFill>
          <a:blip r:embed="rId1"/>
          <a:stretch>
            <a:fillRect/>
          </a:stretch>
        </p:blipFill>
        <p:spPr>
          <a:xfrm>
            <a:off x="3927475" y="2433955"/>
            <a:ext cx="14467840" cy="105517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3"/>
            <a:ext cx="8029575" cy="1343465"/>
            <a:chOff x="0" y="-1"/>
            <a:chExt cx="7870570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503" y="244474"/>
              <a:ext cx="5786067" cy="854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接口自动化测试概述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3000"/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矩形 5"/>
          <p:cNvSpPr txBox="1"/>
          <p:nvPr/>
        </p:nvSpPr>
        <p:spPr>
          <a:xfrm>
            <a:off x="11263349" y="4605410"/>
            <a:ext cx="5682868" cy="715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chemeClr val="tx1"/>
                </a:solidFill>
              </a:rPr>
              <a:t>postman</a:t>
            </a:r>
            <a:r>
              <a:rPr lang="zh-CN" altLang="en-US" sz="4400" dirty="0">
                <a:solidFill>
                  <a:schemeClr val="tx1"/>
                </a:solidFill>
              </a:rPr>
              <a:t>介绍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3"/>
            <a:ext cx="4601490" cy="692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4400" dirty="0">
                <a:solidFill>
                  <a:srgbClr val="FF0000"/>
                </a:solidFill>
              </a:rPr>
              <a:t>requtests</a:t>
            </a:r>
            <a:r>
              <a:rPr lang="zh-CN" altLang="en-US" sz="4400" dirty="0">
                <a:solidFill>
                  <a:srgbClr val="FF0000"/>
                </a:solidFill>
              </a:rPr>
              <a:t>库介绍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03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222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Requests库简介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571210" cy="100158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 库 是用来发送HTTP请求，接收HTTP响应的一个Python库。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Requests库经常被用来 爬取 网站信息。 用它发起HTTP请求到网站，从HTTP响应消息中提取信息。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Requests库也经常被用来做 网络服务系统的Web API 接口测试。因为Web API 接口的消息基本上都是通过HTTP协议传输的。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Python中构建HTTP请求的库有很多，其中 Requests 库最为广泛使用，因为它使用简便，功能强大。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要深入的掌握一款工具、一个库，大家要学会通过官方文档学习具体使用。光靠一些教程是不够的。因为详细的信息，通常都在官方文档内。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58124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Requests库不是Python标准库，而是第三方开发的。 所以需要我们安装一下。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安装第三方库，前面的课程学过，使用包管理工具 pip。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执行命令 pip install requests 就可以了。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41500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Requests可以很方便的发送HTTP请求给服务器。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我们使用 request库里面的get方法就可以发起一个http 的get请求。 里面的参数就是http请求的url，这里 就是 http://mirrors.sohu.com/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我们常见的http请求的方法 除了 get， 还有 post、put、delete等。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发送这些请求的方法也是调用同名的函数 post、put、delete 等。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7130" y="8940165"/>
            <a:ext cx="8128000" cy="5632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抓包工具 fiddler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403090" y="2694305"/>
            <a:ext cx="14795500" cy="8718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4999990" y="2694305"/>
            <a:ext cx="15792450" cy="91605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2025015" y="2349500"/>
            <a:ext cx="18017490" cy="1189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浏览器抓包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10194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浏览器可以通过其代理配置，指定使用fiddler作为代理，从而让fiddler抓到包。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但是浏览器本身F12打开的开发者窗口，就可以很方便的看到HTTP消息，所以不需要fiddler抓包。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7601585" cy="1042670"/>
          </a:xfrm>
        </p:spPr>
        <p:txBody>
          <a:bodyPr>
            <a:normAutofit fontScale="90000"/>
          </a:bodyPr>
          <a:p>
            <a:r>
              <a:rPr lang="zh-CN" altLang="en-US"/>
              <a:t>requests程序抓包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536954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要让requests 发送请求使用代理，只需要如下参数进行设定即可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proxies = {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'http': 'http://127.0.0.1:8888',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'https': 'http://127.0.0.1:8888',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requests.get('http://mirrors.sohu.com/', proxies=proxies)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33626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注意，如果是 抓python requests程序访问 https 网站的包，需要在电脑上安装 Fiddler证书为 受信任的根证书颁发机构 颁发的证书。 大家可以网上搜索如果操作。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然后，还需要执行命令 pip install python-certifi-win32 安装一个第三方库 ，这样会让python使用本地系统安装的证书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或者，另外一个更简单，但是不是很安全的做法，让Requests不去验证证书的合法性，添加参数 verify=False ，如下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requests.get('https://www.baidu.com/', proxies=proxies, verify=False)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手机抓包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515870"/>
            <a:ext cx="1716532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将来进行 API 接口测试的时候，可能需要抓 手机App 和 web服务之间的 HTTP消息。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这时候，需要设置手机使用 fiddler作为代理。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下面以安卓手机为例，演示一下设置代理抓包的过程。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首先确保 手机使用的 WIFI 和 运行fiddler的电脑 必须使用同一个子网，比如使用同一个WIFI信号连接。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然后 需要设置fidder， 允许远程机器连接自己，点击菜单option，点击connections标签，勾选 Allow remote computer to connect, 如下所示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6412865" y="2694305"/>
            <a:ext cx="10210800" cy="89877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38188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图片 4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3595" y="2121535"/>
            <a:ext cx="6998970" cy="99815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图片 2" descr="无标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3040" y="2092325"/>
            <a:ext cx="9145270" cy="95307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构建请求消息头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14627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有时候，我们需要自定义一些http的消息头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每个消息头也就是一种 键值对的格式存放数据，如下所示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user-agent: my-app/0.0.1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auth-type: jwt-token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Requests发送这样的数据，只需要将这些键值对的数据填入一个字典。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然后使用post方法的时候，指定参数 headers 的值为这个字典就可以了，如下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headers = {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'user-agent': 'my-app/0.0.1',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'auth-type': 'jwt-token'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 = requests.post("http://httpbin.org/post", headers=headers)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构建请求消息体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62328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当我们进行API 接口测试的时候， 根据接口规范，构建的http请求，通常需要构建消息体。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http 的 消息体就是一串字节，里面包含了一些信息。这些信息可能是文本，比如html网页作为消息体，也可能是视频、音频等信息。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消息体可能很短 ，只有一个字节， 比如字符 a。 也可能很长，有几百兆个字节，比如一个视频文件。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最常见的消息体格式当然是 表示网页内容的 HTML。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Web API接口中，消息体基本都是文本，文本的格式主要是这3种： urlencoded ，json ， XML。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注意：消息体采用什么格式，是由 开发人员设计的决定的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json 格式消息体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347720" y="1653540"/>
            <a:ext cx="1888363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"Overall":"良好",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"Progress":"30%",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"Problems":[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{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"No" : 1,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"desc": "问题1...."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},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{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"No" : 2,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"desc": "问题2...."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}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]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61490" y="2486025"/>
            <a:ext cx="20742275" cy="112293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requests,json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payload = {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"Overall":"良好",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"Progress":"30%",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"Problems":[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{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"No" : 1,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"desc": "问题1...."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},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{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"No" : 2,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    "desc": "问题2...."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    },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]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 = requests.post("http://httpbin.org/post", data=json.dumps(payload))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也可以将 数据对象 直接 传递给post方法的 json参数，如下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 = requests.post("http://httpbin.org/post", json=payload)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检查HTTP响应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45170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要检查 HTTP 响应 的状态码，直接 通过 reponse对象的 status_code 属性获取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print(response.status_code)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运行结果发现返回的状态码就是 200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如果故意写一个不存在的地址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requests.get('http://mirrors.sohu.com/haaaaaaaaa')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print(response.status_code)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运行结果发现返回的状态码就是 404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检查响应消息头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17065" y="2694305"/>
            <a:ext cx="917511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要检查 HTTP 响应 的消息头，直接 通过 reponse对象的 headers 属性获取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requests,pprint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print(type(response.headers))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pprint.pprint(dict(response.headers))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01015" y="2456180"/>
            <a:ext cx="9507220" cy="60966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&lt;class 'requests.structures.CaseInsensitiveDict'&gt;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{'Cache-Control': 'no-store',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'Connection': 'keep-alive',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'Content-Type': 'text/html; charset=utf8',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'Date': 'Sat, 21 Sep 20</a:t>
            </a:r>
            <a:r>
              <a:rPr kumimoji="0" lang="en-US" altLang="zh-CN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22</a:t>
            </a: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09:02:32 GMT',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'Server': 'nginx',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'Transfer-Encoding': 'chunked'}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01380" y="11809095"/>
            <a:ext cx="1219200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print(response.headers['Content-Type'])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检查响应消息体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79016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前面我们已经说过，要获取响应的消息体的文本内容，直接通过response对象 的 text 属性即可获取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那么，requests是 以什么编码格式 把HTTP响应消息体中的 字节串 解码 为 字符串的呢？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requests 会根据响应消息头（比如 Content-Type）对编码格式做推测。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8075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但是有时候，服务端并不一定会在消息头中指定编码格式，这时， requests的推测可能有误，需要我们指定编码格式。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可以通过这样的方式指定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response.encoding='utf8'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672336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如果我们要直接获取消息体中的字节串内容，可以使用 content 属性，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比如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requests.get('http://mirrors.sohu.com/')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print(response.content)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当然，如果可以直接对 获取的字节串 bytes对象进行解码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print(response.content.decode('utf8'))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170345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API 响应的消息体格式，通常以json居多。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为了 方便处理 响应消息中json 格式的数据 ，我们通常应该把 json 格式的字符串 转化为 python 中的数据对象。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怎么转化？ 前面我们学习过 json库，可以直接使用 json库里面的 loads 函数， 把 json 格式的字符串 转化为 数据对象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 requests,json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requests.post("http://httpbin.org/post", data={1:1,2:2})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obj = json.loads(response.content.decode('utf8'))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print(obj)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80715" y="3141980"/>
            <a:ext cx="12192000" cy="81343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equests库为我们提供了更方便的方法，可以使用 Response对象的 json方法，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如下：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response = requests.post("http://httpbin.org/post", data={1:1,2:2})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obj = response.json()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print(obj)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session机制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85060" y="2694305"/>
            <a:ext cx="17607915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一种常见的方式就是：通过 Session机制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session 翻译成中文就是 会话 的意思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session 机制大体原理如下图所示 ：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1"/>
          <a:stretch>
            <a:fillRect/>
          </a:stretch>
        </p:blipFill>
        <p:spPr>
          <a:xfrm>
            <a:off x="5027930" y="2888615"/>
            <a:ext cx="14711045" cy="89560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7655560" y="1711960"/>
            <a:ext cx="12712700" cy="102914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requests处理session-cookie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41270" y="2694305"/>
            <a:ext cx="85509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83575" y="361315"/>
            <a:ext cx="19270345" cy="9972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# 创建 Session 对象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sym typeface="Helvetica Neue"/>
              </a:rPr>
              <a:t>s = requests.Session()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# 通过 Session 对象 发送请求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response = s.post("http://127.0.0.1/api/mgr/signin",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data={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    'username': 'byhy',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    'password': '88888888'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})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printResponse(response)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# 通过 Session 对象 发送请求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response = s.get("http://127.0.0.1/api/mgr/customers",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params={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   'action'    :  'list_customer',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   'pagesize'  :  10,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   'pagenum'   :  1,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    'keywords'  :  '',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      })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>
                <a:sym typeface="Helvetica Neue"/>
              </a:rPr>
              <a:t>printResponse(response)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3696950" cy="1042670"/>
          </a:xfrm>
        </p:spPr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74890" y="5921375"/>
            <a:ext cx="17009110" cy="967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谢谢</a:t>
            </a:r>
            <a:endParaRPr kumimoji="0" lang="zh-CN" altLang="en-US" sz="8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7878</Words>
  <Application>WPS 演示</Application>
  <PresentationFormat>Custom</PresentationFormat>
  <Paragraphs>527</Paragraphs>
  <Slides>68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4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White</vt:lpstr>
      <vt:lpstr>1_White</vt:lpstr>
      <vt:lpstr>PowerPoint 演示文稿</vt:lpstr>
      <vt:lpstr>PowerPoint 演示文稿</vt:lpstr>
      <vt:lpstr>PowerPoint 演示文稿</vt:lpstr>
      <vt:lpstr>接口测试概述</vt:lpstr>
      <vt:lpstr>接口自动化测试概述</vt:lpstr>
      <vt:lpstr>PowerPoint 演示文稿</vt:lpstr>
      <vt:lpstr>接口测试工作</vt:lpstr>
      <vt:lpstr>评审接口文档</vt:lpstr>
      <vt:lpstr>编写测试用例</vt:lpstr>
      <vt:lpstr>PowerPoint 演示文稿</vt:lpstr>
      <vt:lpstr>postman</vt:lpstr>
      <vt:lpstr>PowerPoint 演示文稿</vt:lpstr>
      <vt:lpstr>PowerPoint 演示文稿</vt:lpstr>
      <vt:lpstr>创建请求</vt:lpstr>
      <vt:lpstr>PowerPoint 演示文稿</vt:lpstr>
      <vt:lpstr>设置请求 URL</vt:lpstr>
      <vt:lpstr>发送参数</vt:lpstr>
      <vt:lpstr>PowerPoint 演示文稿</vt:lpstr>
      <vt:lpstr>PowerPoint 演示文稿</vt:lpstr>
      <vt:lpstr>PowerPoint 演示文稿</vt:lpstr>
      <vt:lpstr>PowerPoint 演示文稿</vt:lpstr>
      <vt:lpstr>验证请求</vt:lpstr>
      <vt:lpstr>配置请求标头</vt:lpstr>
      <vt:lpstr>自动生成的标头</vt:lpstr>
      <vt:lpstr>PowerPoint 演示文稿</vt:lpstr>
      <vt:lpstr>使用cookie</vt:lpstr>
      <vt:lpstr>PowerPoint 演示文稿</vt:lpstr>
      <vt:lpstr>PowerPoint 演示文稿</vt:lpstr>
      <vt:lpstr>使用变量</vt:lpstr>
      <vt:lpstr>PowerPoint 演示文稿</vt:lpstr>
      <vt:lpstr>了解变量</vt:lpstr>
      <vt:lpstr>PowerPoint 演示文稿</vt:lpstr>
      <vt:lpstr>使用数据变量</vt:lpstr>
      <vt:lpstr>管理环境</vt:lpstr>
      <vt:lpstr>将请求分组到集合中</vt:lpstr>
      <vt:lpstr>PowerPoint 演示文稿</vt:lpstr>
      <vt:lpstr>PowerPoint 演示文稿</vt:lpstr>
      <vt:lpstr>PowerPoint 演示文稿</vt:lpstr>
      <vt:lpstr>PowerPoint 演示文稿</vt:lpstr>
      <vt:lpstr>Requests库简介</vt:lpstr>
      <vt:lpstr>PowerPoint 演示文稿</vt:lpstr>
      <vt:lpstr>PowerPoint 演示文稿</vt:lpstr>
      <vt:lpstr>抓包工具 fiddler</vt:lpstr>
      <vt:lpstr>PowerPoint 演示文稿</vt:lpstr>
      <vt:lpstr>PowerPoint 演示文稿</vt:lpstr>
      <vt:lpstr>浏览器抓包</vt:lpstr>
      <vt:lpstr>requests程序抓包</vt:lpstr>
      <vt:lpstr>PowerPoint 演示文稿</vt:lpstr>
      <vt:lpstr>手机抓包</vt:lpstr>
      <vt:lpstr>PowerPoint 演示文稿</vt:lpstr>
      <vt:lpstr>PowerPoint 演示文稿</vt:lpstr>
      <vt:lpstr>PowerPoint 演示文稿</vt:lpstr>
      <vt:lpstr>构建请求消息头</vt:lpstr>
      <vt:lpstr>构建请求消息体</vt:lpstr>
      <vt:lpstr>json 格式消息体</vt:lpstr>
      <vt:lpstr>PowerPoint 演示文稿</vt:lpstr>
      <vt:lpstr>检查HTTP响应</vt:lpstr>
      <vt:lpstr>检查响应消息头</vt:lpstr>
      <vt:lpstr>检查响应消息体</vt:lpstr>
      <vt:lpstr>PowerPoint 演示文稿</vt:lpstr>
      <vt:lpstr>PowerPoint 演示文稿</vt:lpstr>
      <vt:lpstr>PowerPoint 演示文稿</vt:lpstr>
      <vt:lpstr>PowerPoint 演示文稿</vt:lpstr>
      <vt:lpstr>session机制</vt:lpstr>
      <vt:lpstr>PowerPoint 演示文稿</vt:lpstr>
      <vt:lpstr>PowerPoint 演示文稿</vt:lpstr>
      <vt:lpstr>PowerPoint 演示文稿</vt:lpstr>
      <vt:lpstr>requests处理session-cookie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768</cp:revision>
  <cp:lastPrinted>2020-08-01T02:11:00Z</cp:lastPrinted>
  <dcterms:created xsi:type="dcterms:W3CDTF">2019-05-10T09:49:00Z</dcterms:created>
  <dcterms:modified xsi:type="dcterms:W3CDTF">2023-08-11T06:08:53Z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571057EFA75E4A2E9BF88DF8E16CD3D3_12</vt:lpwstr>
  </property>
</Properties>
</file>