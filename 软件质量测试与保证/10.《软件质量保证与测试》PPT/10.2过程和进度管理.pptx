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256" r:id="rId3"/>
    <p:sldId id="690" r:id="rId5"/>
    <p:sldId id="691" r:id="rId6"/>
    <p:sldId id="692" r:id="rId7"/>
    <p:sldId id="694" r:id="rId8"/>
    <p:sldId id="695" r:id="rId9"/>
    <p:sldId id="696" r:id="rId10"/>
    <p:sldId id="697" r:id="rId11"/>
    <p:sldId id="698" r:id="rId12"/>
    <p:sldId id="699" r:id="rId13"/>
    <p:sldId id="700" r:id="rId14"/>
    <p:sldId id="702" r:id="rId15"/>
    <p:sldId id="704" r:id="rId16"/>
    <p:sldId id="705" r:id="rId17"/>
    <p:sldId id="709" r:id="rId18"/>
    <p:sldId id="712" r:id="rId19"/>
    <p:sldId id="714" r:id="rId20"/>
    <p:sldId id="715" r:id="rId21"/>
    <p:sldId id="718" r:id="rId22"/>
    <p:sldId id="721" r:id="rId23"/>
  </p:sldIdLst>
  <p:sldSz cx="24384000" cy="13716000"/>
  <p:notesSz cx="7099300" cy="10234295"/>
  <p:custDataLst>
    <p:tags r:id="rId2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commentAuthors" Target="commentAuthors.xml"/><Relationship Id="rId29" Type="http://schemas.openxmlformats.org/officeDocument/2006/relationships/tags" Target="tags/tag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endParaRPr lang="zh-CN" altLang="en-US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algn="l" eaLnBrk="0" hangingPunct="0">
              <a:lnSpc>
                <a:spcPct val="120000"/>
              </a:lnSpc>
              <a:spcBef>
                <a:spcPts val="25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indent="631825">
              <a:lnSpc>
                <a:spcPct val="120000"/>
              </a:lnSpc>
              <a:spcBef>
                <a:spcPts val="15"/>
              </a:spcBef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algn="l" eaLnBrk="0" hangingPunct="0">
              <a:lnSpc>
                <a:spcPct val="120000"/>
              </a:lnSpc>
              <a:spcBef>
                <a:spcPts val="25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dirty="0">
              <a:effectLst/>
              <a:latin typeface="Arial" panose="020B0604020202020204" pitchFamily="34" charset="0"/>
              <a:ea typeface="Helvetica Neue"/>
              <a:cs typeface="Helvetica Neue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indent="631825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1"/>
          </p:nvPr>
        </p:nvSpPr>
        <p:spPr/>
        <p:txBody>
          <a:bodyPr/>
          <a:p>
            <a:pPr marL="0" indent="633730" eaLnBrk="1" hangingPunct="1">
              <a:lnSpc>
                <a:spcPct val="120000"/>
              </a:lnSpc>
              <a:spcBef>
                <a:spcPts val="15"/>
              </a:spcBef>
              <a:buNone/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4333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12039600"/>
            <a:ext cx="7721600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475200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4333" y="1371840"/>
            <a:ext cx="22775333" cy="2286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812800" y="3963093"/>
            <a:ext cx="22775333" cy="77737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257175" marR="0" lvl="0" indent="-257175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/>
            </a:pPr>
            <a:endParaRPr kumimoji="0" lang="zh-CN" altLang="en-US" sz="24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4333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12039600"/>
            <a:ext cx="7721600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475200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756"/>
            <a:ext cx="7185660" cy="10248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10.2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过程和进度管理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2738120" y="1078865"/>
            <a:ext cx="10010140" cy="1042670"/>
          </a:xfrm>
        </p:spPr>
        <p:txBody>
          <a:bodyPr>
            <a:normAutofit fontScale="90000"/>
          </a:bodyPr>
          <a:p>
            <a:r>
              <a:rPr lang="zh-CN" altLang="en-US"/>
              <a:t>软件测试项目过程的生命周期</a:t>
            </a:r>
            <a:endParaRPr lang="zh-CN" altLang="en-US"/>
          </a:p>
        </p:txBody>
      </p:sp>
      <p:sp>
        <p:nvSpPr>
          <p:cNvPr id="17411" name="AutoShape 2" descr="data:image/jpeg;base64,/9j/4AAQSkZJRgABAQAAAQABAAD/2wBDAAgGBgcGBQgHBwcJCQgKDBQNDAsLDBkSEw8UHRofHh0aHBwgJC4nICIsIxwcKDcpLDAxNDQ0Hyc5PTgyPC4zNDL/2wBDAQkJCQwLDBgNDRgyIRwhMjIyMjIyMjIyMjIyMjIyMjIyMjIyMjIyMjIyMjIyMjIyMjIyMjIyMjIyMjIyMjIyMjL/wAARCADcASUDASIAAhEBAxEB/8QAGwABAAIDAQEAAAAAAAAAAAAAAAEGAwQFAgf/xABCEAABAwMBBAYHBgMHBQEAAAABAAIDBAURIQYSMVETFCJBYXEHMkKBkbHRIzNScqHBFZLhJGJzgqLw8RZDRFNksv/EABoBAQADAQEBAAAAAAAAAAAAAAABBAUGAwL/xAAuEQEAAgEDAwEGBQUAAAAAAAAAAQIDBAUREiExYRMzNEFRcRQiMoHBFiRCkbH/2gAMAwEAAhEDEQA/APv6IiAiIgIiICIiAiIgIsck0cX3kjW+ZWE3GkB+/b+qmK2nxD5m9Y8y2kWOKeKb7uRr/IrIo448piYnvAiIiRERAREQEREBERAREQEREBERAREQEREBERAREQEREBERAREQEREBcS43cteYaZ3DRz/ot261RpqJ26cPf2Wqn1lXHRUklTKewwZ8T4K3psMW/PZna3U2rMY6eW2+cAGSR4HNzj+6wsr6aV26ypic7kHgr51X3SpuFQXzv7Oewweq0csfuu7ZtkbxdIWzshbBC7Vr5ju73iBxwve2aIV6aW1vM91tEjmODmuLXDgRoV3rVdOsnoJyOlHqu/F/VV6CxXS2UxFU+KeJoyHscSW+eQvO84HLXFrhwcOIK+prTPTmHnW+TS5OJ8Lyi4+z16beKJxfhtTA7o5mjnzHgV2FmTHE8S3ImJjmBERQkREQEREBERAREQEREBERAREQEREBERAREQEREBERAREQEREHAv7yaiKPua0n4/8ACoG2NSW09NTA+u4vd7uHzX0+5WimukeJg9kgHZkjcWub9feqTc/R/cKqTs1kczW6MdI4hwHlghXMeesY+hnZNLac3tPLg7B2CO8Xoz1Dd6mpAHuYRo9x9UH4E+5fYwMBVrYuwVGz9tqIqvc6aWYuyx2QWgAD91ZVWyW5lex16asVUA6lmDuBYc/BUoKz3msbT0jogftJRgDkO8qpVVQykpZJ3nDWNz9Fe0cTFJtLK3C0WyRWPMNLY+sdFtvUwNP2c/SNI8Qcj5FfTV8l2CikqNrGT4z0cckjz56fMr60qWX9TTw9qRAiIvN6iIiAiIgIiICIiAiIgIiICIiAiIgIiICIiAiIgIiICIiAiIgIiIC1a6tjooC92rjo1vMrYe9rGOe44a0ZJVPrat9ZUuldw4NHIL3wYfaW7+IVNXqPY17eZY555KiZ0srsuP6Km366dcl6vC7MEZ7RHtu+gWzfrzkuoqZ2g0leP/yP3XZ2L2SM7o7rcI/sh2oInD1j3OPhyHerebLFY6YUtLp7Wt128u3sNYXWq2Oqqhm7U1WHFp4sZ3Dz71a0RZ0zzPLXiOI4ERFCRERAREQEREBERAREQEREBERAREQEREBERAREQEREBERAREQEREHOvUhjtrwPbIaqTdqk0drqJmnDw3DTyJ0V0vcMk1CBExzyHgkNGThUDaMSS218Ecchl32ks3CDgFX9PaK4p792Tq6Wvnjt27NDYmyMvV5JqBv01OBJID7ZzoD+p9y+wAAAADAHcqJ6MoHw0lxdJG5jjKwYc0g4DT9VfFTyTzLSxxxUREXw9BERAREQEREBERAREQEREBERAREQEREBERAREQEREBERAREQEREBERBDnBrSScALhXTaMW/WOifUNHEh4at+7TdBR7x4b2CvnF/u4IcN7uVvT4a2jqv4Z2q1GSuSMeNe7NtPb70/oonGKoDd4wycSPDmtwXi39aFN1pglJwAdATyzwXwaCuqo7rTVNM9zZRM0M3eJycH9FcNoqKutdT0dWwmFxxFM31XeHgfBY256jLprROKvNfm2dvw01ETGS3EvrCL53s3tlJS7lJdXl9PwZUHUs8Hcx49y+htcHNDmkEEZBHAr202px6ivVRGfT3w26bJREVh4CIiAiIgIiICIiAiIgIiICIiAiIgIiICIiAiIgIiICIiAiIgIiwVdQKamfKe7h5r5veKVm1vEJiJmeIKuljraWSnlzuvGMjiPEL5fedgr46pd1fo6qHPZc14afeCrkbpHO4kvLvehqIwMhzx/mKxf6gpXtWO33e9tBMzzbyr2y3o9mo6+O4XYxh0R3o4Gu3te4k8FdrrPbRRyQ3AxvieMGN2pd7lWqy5xxNOC4nmXKp3K87zujhy+V5w1rRkk8hzVe++2yflx4+Z9ZXMG2/5WniGO4MoaWWXoXSCEnsNkILgOS+g7CyzzbKUrpg7ALxGXcSwOOFWtn9gaitkbW37LI+LaQHtO/Oe4eAX0eONkUbY42NYxoAa1owAOQVvbNHkxWnLk7c/I1+ppesY6d+Pm9IiLZZYiIgIiICIiAiIgIiICIiAiIgIiICIiAiIgIiICIiAiIgIiIC4u00vR2oAH1pAPmu0q1tfLu0kDOZc79P6qhudunSXn0/6s6OvVnrCmW6rc6unjzoMELul56P3KqWZxfdKg40xx96tR+79y4bLXptw6HLxyrV+mkbA4tJXb9FdAyWhrLpNG10zp+iie4ZLWgDOOWSf0XEvw/sz/JXH0ZtDdjoiO+eUn+Zb2xVib8z8lPcrTGKIhcERF1TBEWlNdqCncWyVUe+DgtByc8sBeWXMTHFPEXn+89rf3z+iDfRauK1/EwRDwBef2Q09SO02scX8nMG78Br+qDaRanW5YdKmBzR/7I+236j4LYjlZKwPje17T3tOUHtERAREQEREBERAREQEREBERAREQEReHbxGhwgwV1Z1KISGJ7wTg7ozjzWhT3eWsOIZKJrvwve7e+GAvVxoJauNzesStBHsOI+Solw2XuNE50lHXSFucmObttPx1CD6MI7i7jUU7Pywk/NydWqz61e4fkiaPnlVGk2wdbrZA2rZvTsj3ZC94a0HOmp46LiV/pNlkeY6V+846BtLFvH4lB9J6i8+tW1R/wAwHyCfw+M+tLUu853fsV8enrNrLuWyxUFQ1oO8HTSnJ+i2Yb5tVbQOno6sAcTHLvD4FB9YdbKUg9hxPdvSOP7qm7UsFI8x9gYZnDAQNfNaNB6SZGvEdXgHhu1EfRn4jRa+093jr9+oZ2ekADW5z3LI3qZ/DxWPnMNDbK85+fpDX2ap3GhqKot7L6lsYdnk0nH6qwv0bjwXiz26Si2MoumjdHJLUOmc1wwRnOM+4BTI8ajK5jcMfs8kR6Q06X65mY+sq5fh/Zn+St3oyOdj2DlUSj9VU74M0z/JWD0b1T6bZUl8RMHWZO23Ut4cRyWrsP65eO5+6hflDgSNDheGSse0Oa4FpGQQdCsNVVx00Yc7JJOGtaMlx5ALqWErt72abU9JP19tLk5c5kDSST58StjZ3ZpltgD55JJpCd7elA3jyzjQeXzK61PSySSNqavHSD1Iwctj+p8VuoJXLv8Ac/4Xa5Zm6ykbsY5uPD6+5dJxDQSVR7rUuvO0jaSPLoKM9vGoMnf8OCDhUtk20mYJI6yk11wXPB+asdhtF9patk1fxBy7op8tf5gjK7kFbSUrBGZQ549iMb7vgFsitqpfuKCTH4pnBg+GpQbrSSNRgr0tHo7lJ608EI5MYXH4n6KeoPd97XVL/BrgwfoEG6Thcy6V89MxjqRsMpBO+xzwDjwWcWukPrRukPN73O+ZWRtDSM9WmhH+QIOLS36onOHmCE8pGOx8QSuo2W4FocIqWRpGQWyuGf8AStl3QQjLujjHM4C1Zb1bIdH1sA8A/PyQeus1wOtvz+SZp+eE6/I316CqHkGu+RWlJtVaI/8AyS78rCf2Xqi2ntNecR1IYc4AlG7n4oNv+KU7fvGVEf54H/RS27UDjjrcQPJzt35rbBDgCDkHgQoc1rhhwBHiEHhlTBL93NG/8rwVlXFuVVY6M7tTDA6X8DYg539FV63aa0Qv3IYI6dxOAXTuaf5WlB9CRV+w3AVI6R9fHKwtw2NpOnxXfBB4FBKIiAoKlEHhzcrTqaE1DS3eAyt9EFSqdgbbXTiWsL5ceznAXWoNm7VbWhtNRxMx3hq6yIMQgjAwGgDyWKWjikGCwH3LaUFBWbnszRVjHB8DDnmFSa3Zyos0vS0JJjByYXaj3civq7xkLkXKna+N2QkxyOPDeHXXZlsryTLDKGSZ48Dgnx7lVq69dUqAxzSQSBou/TUnV7fc3DRj5YsDx1VIv4xUNPiPmuT3bHW+tiLfSG9tvuJn1di75NK8EYIBBCs/owdnZWZp7quQfo1Vy8jMM35nfNdD0e18kVgqKSlj6SqdVuIB9Vg3W9p30X3skdOa1fubj3wxK3VtXTWepY0yHcnd9yxpcWnPr6cG81uUdLuyGoqHiWoOmR6rByaOXzWOmtscMcjpSZqiYfayO4u8PAeC1oq8UdLu4dUSxP6AxxEOdni3PLTmupYLt5WnV3WjonbksuZTwijG88+4LSEFzuGtVN1SE/8AagPaPm76Lcp6Klt8Z6CFrSeLuLnHxPFBovuldKTih6vG7DITM7L3vPDsjgAMk5Ky0uz9JCzEhdJk5LfVaT5Dj71NP/a7m+U6xU+Y2Hm/2j+3uXUygiKGKBu7FGyNvJowsmV5yuPc9o6S3kxtPTzj2GHQeZ7kHaXMrb/bqElr5w+QexH2j9F87vW2k1RI6HpXSO4dXp9APMrlQ0F9u54ijhPsx+t8UF1uO3zKdp3GQwDudO/J+AVXq9v6qqcWwy1c+e6Bm434roW30f0zXCSoDpX97nnJVsotm6OmaAyFox4IPmvWtoa92YbZjPtTvLitiPZ7auq9aohgB7mRhfWIqCGMaMHwWw2FjeACD5KdgL5OPtrtN5DRasux+0loaXUlV1hg1McoyCvs+4OSgxNcNQEHxmi2vuNmlEVZFU0TgdSO3GfcrT/13JUWyR7OifJu4ZLCeB8uattbYqGvYWTwMcDzC4cewFtppzNTgxk93cgp8NmuN6eX1M74YnHPRxnU+Z4kqyWvYmgpcO6FpdzOpVkpbV1YADBXRZHu9yDRprVBAAGsA9y6DIgwaL2AvQQQilEDKhEQEREBFCICglCV5JQeXnRc2td2Ct6R+AubUTMhY+pl1jj4N/E7uCDl3Fhio20zeLPtpvN2gHwXzraHSQFfTJoHtstTNPrPMQ9/hqNF812jGvxXMbrH97X7fzLd233E/d2rqd6nlPPJW56PrlSW6x1zpnfaGrIaxoy53ZHALn1W4baOjOWbg3T4YXQ9GsEDqS4TujaZW1IaHEagboUbP8Tb907h8PH7LOW3S8D7V7qCkPsMP2rx4nu9yijoqa1GqhpYxHHvxyHHedQST3ldffXMqHdqrd/ht/1LqGC7TXZaFo3GrdDATHrKT0cQ5vPf7hqs3SFsYxq46ALnQ4rbs541gpcxsP4n+0f2QdOgp20lJHE32RqeZ5rNNUR08TpZXtYxoy5zuAWvV1sNFTummfuxt+JPIeK+d7Q7SSVEgaQST9zTtPDxP1QdXaDa/ETmxSGCn4b3tyeA5KoRw3G+O3Wh1NSnuHrOHiVu2uxTVtQKqtO/IeDe5o5AK9W+2MiaOyEHEs2ylPStbiMZ54VspbfHE0ANC2ooQ0DRbDW4QeWRBo4LKAEClAwpREBTlQiCUUKUDCYREBERAREQQiKEBEUICIvJKASsbnYUuKwPcXHdGpKDHI7eJGQABkuPABcTrEdfOaqRwjttL6jnaBx/Ef2Waq6S6udTQFzaBh+2mbxmI9hvhzPBcqpuHT1LKO2RMnli0aQMw0/iPxO8T7l8zPCYjlkuNwmqi0PeaWmP3ULh9rP4uHst81RdpBofIq+ttDKSknqKiQz1bmkukecnKom0nD4rmt1+JpPp/Lc233Vo9XUqQP4a3AwOjbj+ULd9HD92kubf/oaf9K0JMm1R549G0H+ULLsA8tFybzlZ8ivna+2qt+7710c6f/T6Fv6LmyuzH/i1IA8mj+i2XP3IXOPcMrTka411DSN9dsZkd4Fxx9V1EOfbddVupqN0jPvXHooBzee/3cfcvdMIbXbAZH7scbe07vcfqVoMLbheXuDgKSgBjDzw3/ad+3xVf2jvwmPYz1dh3YY+955/77lI1toL/LUzA7uXnSCEHRo5lYbLZXOk6xUZfM85LivFntkk8xqqjtSv18vAK7UNIGNGiDJQ0TY2jRdeKMNC8RR4C2WhB6AXsKApCCVKhSgKVCIJREQEREBSoRBKIiAiIg8ooRARRlQSgEryShKxOd3BBD3Z0C06+SCnpXvqpxFTgfaOzgu/u/8AGqw3a8Utng353b0rvUib6z/oPFV+C3Vu0FS2tupLYGnMVMPVaEB9TXbSu6Cka6jtTezkDDpBy8B4Lu0dFTW2nEUEYaANT3lbDImQRhkbQ1oGAAscmSomExLQuL3SQva04yMKi1Vhq6uoDp58xtOQA3GVf5It5YTTA9ypZtLXJaLTHeFrFqJxxxEqTPDcOiNNBS9IODXb2MeasGy1mmttIWy435Hb78c12YqRoOcLejYGBRg0WPFebxHeU5tVfJWKT4eHs6R8cP4na+QXNM0wdX3Cnbv1NVL1Shb+XQu8gQ53kF16dpklkkyRgbjSO7mVqXWphtFIx0QAnDOigb+Ad5+SvQpuHdqmG1W5tpppMxxDNRKeL3cTn3qs0NO+5VnWZWkRjSNp7gvNS59fWdWaSWNOZHczyVotdEGMaAMAKRv2+kDGjRd2GLACwU0W6Bot9jcIPbGrKF5AXoIPQUhQpQFKhSgIiIJRQpQEREBERAREQSihEHjKZUFQgEryXIVicSgOdnQLhXraFlvd1SkaKiudoGDUM8/otm/1E1JYqmeB5ZKAMOHEZKr+yVPFIx872B0pccvOpQbVqsMklQbhc3maqfr2uDVYw0NGAMBewMBeSgxuCxlqzFeSgwlijo1mwpAQY2sSZ3Rxkjj3LKAsTtaqEHhnP6IMzAylpcyOAaxu893zXzy/3Z9TO+Yes87kLfwj/eqt208j2WtrWuID5AHeIwSvn57d4w7UNaMDkg6dmt/RsBIy46kq3UcAaBouVb2jA0VgpwMBBtxNwFstCxMGizNQegvQUBSglSoUoClQpQEREBSoQIJREQEREBERBKIiD//Z"/>
          <p:cNvSpPr>
            <a:spLocks noChangeAspect="1"/>
          </p:cNvSpPr>
          <p:nvPr/>
        </p:nvSpPr>
        <p:spPr>
          <a:xfrm>
            <a:off x="-186267" y="-2802467"/>
            <a:ext cx="812800" cy="812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buSzPct val="70000"/>
            </a:pPr>
            <a:endParaRPr lang="zh-CN" altLang="en-US" sz="8000" dirty="0">
              <a:latin typeface="Arial" panose="020B0604020202020204" pitchFamily="34" charset="0"/>
            </a:endParaRPr>
          </a:p>
        </p:txBody>
      </p:sp>
      <p:sp>
        <p:nvSpPr>
          <p:cNvPr id="17412" name="圆角矩形 2"/>
          <p:cNvSpPr/>
          <p:nvPr/>
        </p:nvSpPr>
        <p:spPr>
          <a:xfrm>
            <a:off x="2222501" y="4910667"/>
            <a:ext cx="2819400" cy="223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rIns="0"/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测试需求分析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17413" name="圆角矩形 5"/>
          <p:cNvSpPr/>
          <p:nvPr/>
        </p:nvSpPr>
        <p:spPr>
          <a:xfrm>
            <a:off x="5270501" y="6328835"/>
            <a:ext cx="2823632" cy="223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测试</a:t>
            </a:r>
            <a:endParaRPr lang="en-US" altLang="zh-CN" sz="6400" dirty="0">
              <a:latin typeface="Arial" panose="020B0604020202020204" pitchFamily="34" charset="0"/>
            </a:endParaRPr>
          </a:p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计划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17414" name="圆角矩形 6"/>
          <p:cNvSpPr/>
          <p:nvPr/>
        </p:nvSpPr>
        <p:spPr>
          <a:xfrm>
            <a:off x="8318501" y="7548035"/>
            <a:ext cx="2823632" cy="223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测试</a:t>
            </a:r>
            <a:endParaRPr lang="en-US" altLang="zh-CN" sz="6400" dirty="0">
              <a:latin typeface="Arial" panose="020B0604020202020204" pitchFamily="34" charset="0"/>
            </a:endParaRPr>
          </a:p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设计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17415" name="圆角矩形 7"/>
          <p:cNvSpPr/>
          <p:nvPr/>
        </p:nvSpPr>
        <p:spPr>
          <a:xfrm>
            <a:off x="11569701" y="8564035"/>
            <a:ext cx="2823632" cy="223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测试</a:t>
            </a:r>
            <a:endParaRPr lang="en-US" altLang="zh-CN" sz="6400" dirty="0">
              <a:latin typeface="Arial" panose="020B0604020202020204" pitchFamily="34" charset="0"/>
            </a:endParaRPr>
          </a:p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开发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17416" name="圆角矩形 8"/>
          <p:cNvSpPr/>
          <p:nvPr/>
        </p:nvSpPr>
        <p:spPr>
          <a:xfrm>
            <a:off x="14833600" y="9580035"/>
            <a:ext cx="3644901" cy="223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rIns="0"/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测试执行和记录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17417" name="圆角矩形 10"/>
          <p:cNvSpPr/>
          <p:nvPr/>
        </p:nvSpPr>
        <p:spPr>
          <a:xfrm>
            <a:off x="18931467" y="10604501"/>
            <a:ext cx="4013200" cy="223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0" rIns="0"/>
          <a:p>
            <a:pPr algn="ctr">
              <a:buSzPct val="70000"/>
            </a:pPr>
            <a:r>
              <a:rPr lang="zh-CN" altLang="en-US" sz="6400" dirty="0">
                <a:latin typeface="Arial" panose="020B0604020202020204" pitchFamily="34" charset="0"/>
              </a:rPr>
              <a:t>测试总结和报告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2" name="直角上箭头 1"/>
          <p:cNvSpPr/>
          <p:nvPr/>
        </p:nvSpPr>
        <p:spPr bwMode="auto">
          <a:xfrm flipV="1">
            <a:off x="5041901" y="5617635"/>
            <a:ext cx="2032000" cy="711200"/>
          </a:xfrm>
          <a:prstGeom prst="bent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直角上箭头 13"/>
          <p:cNvSpPr/>
          <p:nvPr/>
        </p:nvSpPr>
        <p:spPr bwMode="auto">
          <a:xfrm flipV="1">
            <a:off x="8115301" y="6836835"/>
            <a:ext cx="2032000" cy="711200"/>
          </a:xfrm>
          <a:prstGeom prst="bent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直角上箭头 14"/>
          <p:cNvSpPr/>
          <p:nvPr/>
        </p:nvSpPr>
        <p:spPr bwMode="auto">
          <a:xfrm flipV="1">
            <a:off x="11163301" y="7903635"/>
            <a:ext cx="2032000" cy="711200"/>
          </a:xfrm>
          <a:prstGeom prst="bent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直角上箭头 15"/>
          <p:cNvSpPr/>
          <p:nvPr/>
        </p:nvSpPr>
        <p:spPr bwMode="auto">
          <a:xfrm flipV="1">
            <a:off x="14414501" y="8881533"/>
            <a:ext cx="2032000" cy="711200"/>
          </a:xfrm>
          <a:prstGeom prst="bent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直角上箭头 16"/>
          <p:cNvSpPr/>
          <p:nvPr/>
        </p:nvSpPr>
        <p:spPr bwMode="auto">
          <a:xfrm flipV="1">
            <a:off x="18478501" y="9922933"/>
            <a:ext cx="2751667" cy="711200"/>
          </a:xfrm>
          <a:prstGeom prst="bentUp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4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3"/>
          <p:cNvSpPr>
            <a:spLocks noGrp="1" noRot="1"/>
          </p:cNvSpPr>
          <p:nvPr>
            <p:ph idx="4294967295"/>
          </p:nvPr>
        </p:nvSpPr>
        <p:spPr>
          <a:xfrm>
            <a:off x="10350500" y="2675255"/>
            <a:ext cx="14033500" cy="4060190"/>
          </a:xfrm>
        </p:spPr>
        <p:txBody>
          <a:bodyPr vert="horz" wrap="square" lIns="182880" tIns="91440" rIns="182880" bIns="91440" anchor="t" anchorCtr="0"/>
          <a:p>
            <a:pPr marL="9525" indent="-9525" eaLnBrk="1" hangingPunct="1">
              <a:buNone/>
            </a:pPr>
            <a:r>
              <a:rPr lang="en-US" altLang="zh-CN" dirty="0"/>
              <a:t>       </a:t>
            </a:r>
            <a:r>
              <a:rPr lang="zh-CN" altLang="zh-CN" dirty="0"/>
              <a:t>一个软件测试项目，其过程可以划分为 </a:t>
            </a:r>
            <a:r>
              <a:rPr lang="en-US" altLang="zh-CN" dirty="0"/>
              <a:t>6 </a:t>
            </a:r>
            <a:r>
              <a:rPr lang="zh-CN" altLang="en-US" dirty="0"/>
              <a:t>个环节，它们是：</a:t>
            </a:r>
            <a:r>
              <a:rPr lang="zh-CN" altLang="zh-CN" dirty="0"/>
              <a:t>测试需求分析、测试计划、测试设计、测试执行与记录、测试总结和报告。</a:t>
            </a:r>
            <a:endParaRPr lang="zh-CN" altLang="zh-C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39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3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53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5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82880" tIns="91440" rIns="182880" bIns="91440" anchor="ctr" anchorCtr="0">
            <a:normAutofit fontScale="90000"/>
          </a:bodyPr>
          <a:p>
            <a:pPr eaLnBrk="1" hangingPunct="1">
              <a:buNone/>
            </a:pPr>
            <a:r>
              <a:rPr lang="en-US" altLang="zh-CN" dirty="0"/>
              <a:t>测试需求</a:t>
            </a:r>
            <a:endParaRPr lang="en-US" altLang="zh-CN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454400" y="2023745"/>
            <a:ext cx="20929600" cy="10511155"/>
          </a:xfrm>
        </p:spPr>
        <p:txBody>
          <a:bodyPr vert="horz" wrap="square" lIns="182880" tIns="91440" rIns="182880" bIns="91440" numCol="1" rtlCol="0" anchor="t" anchorCtr="0" compatLnSpc="1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什么是测试需求？</a:t>
            </a:r>
            <a:endParaRPr kumimoji="0" lang="zh-CN" altLang="zh-CN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所谓的测试需求就是在软件测试项目中，要测试的内容是什么。在测试活动中，首先需要明确测试需求（What），才能决定怎么测（How），才能估算需要多少测试时间（When）、需要多少人（Who），才能确定测试的环境是什么（Where）、测试中需要的技术工具和背景知识、测试中可能遇到的风险等等，可以说测试需求是测试工作的起点和基础。</a:t>
            </a:r>
            <a:endParaRPr kumimoji="0" lang="zh-CN" altLang="zh-CN" sz="6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182880" tIns="91440" rIns="182880" bIns="91440" anchor="ctr" anchorCtr="0">
            <a:normAutofit fontScale="90000"/>
          </a:bodyPr>
          <a:p>
            <a:pPr eaLnBrk="1" hangingPunct="1">
              <a:buNone/>
            </a:pPr>
            <a:r>
              <a:rPr lang="en-US" altLang="zh-CN" dirty="0"/>
              <a:t>测试需求分析</a:t>
            </a:r>
            <a:endParaRPr lang="en-US" altLang="zh-CN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869690" y="2997200"/>
            <a:ext cx="17597755" cy="8847455"/>
          </a:xfrm>
        </p:spPr>
        <p:txBody>
          <a:bodyPr vert="horz" wrap="square" lIns="182880" tIns="91440" rIns="182880" bIns="91440" numCol="1" rtlCol="0" anchor="t" anchorCtr="0" compatLnSpc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5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为什么要做测试需求分析？　　</a:t>
            </a:r>
            <a:endParaRPr kumimoji="0" lang="zh-CN" altLang="zh-CN" sz="5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6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测试需求分析就是要通过分析来明确，在软件测试项目中要测试哪些东西。</a:t>
            </a:r>
            <a:endParaRPr kumimoji="0" lang="zh-CN" altLang="en-US" sz="56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5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测试需求越详细精准，表明对所测软件的了解越深，对所要进行的任务内容就越清晰，就更有把握保证测试的质量与进度。</a:t>
            </a:r>
            <a:endParaRPr kumimoji="0" lang="zh-CN" altLang="zh-CN" sz="5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813752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r>
              <a:rPr lang="zh-CN" altLang="en-US" sz="8000" b="1" dirty="0">
                <a:solidFill>
                  <a:schemeClr val="tx1"/>
                </a:solidFill>
              </a:rPr>
              <a:t> 测试需求的获取</a:t>
            </a:r>
            <a:endParaRPr lang="zh-CN" altLang="en-US" sz="8000" b="1" dirty="0">
              <a:solidFill>
                <a:schemeClr val="tx1"/>
              </a:solidFill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3208655" y="3107690"/>
            <a:ext cx="19134455" cy="8229600"/>
          </a:xfrm>
        </p:spPr>
        <p:txBody>
          <a:bodyPr vert="horz" wrap="square" lIns="182880" tIns="91440" rIns="182880" bIns="91440" numCol="1" anchor="t" anchorCtr="0" compatLnSpc="1">
            <a:normAutofit lnSpcReduction="20000"/>
          </a:bodyPr>
          <a:lstStyle/>
          <a:p>
            <a:pPr marL="812800" marR="0" lvl="0" indent="-812800" algn="l" defTabSz="914400" rtl="0" eaLnBrk="0" fontAlgn="base" latinLnBrk="0" hangingPunct="0">
              <a:lnSpc>
                <a:spcPct val="120000"/>
              </a:lnSpc>
              <a:spcBef>
                <a:spcPts val="15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获取测试需求的途径主要有以下几种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ts val="15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+mj-ea"/>
              <a:buAutoNum type="circleNumDbPlain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由软件文档获取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15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例如，我们要对一个软件进行系统测试，那么具体要测试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哪些方面、哪些内容呢？这可以从软件的系统规格说明书等文档中来获知。系统规格说明书中明确的软件功能、性能指标等就是测试的需求，需要通过测试来逐一验证软件已经实现这些功能，达到相应的性能指标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1508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1509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811720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r>
              <a:rPr sz="8000">
                <a:solidFill>
                  <a:schemeClr val="tx1"/>
                </a:solidFill>
                <a:sym typeface="+mn-ea"/>
              </a:rPr>
              <a:t>测试需求的获取</a:t>
            </a:r>
            <a:endParaRPr lang="zh-CN" altLang="en-US" sz="8000" b="1" dirty="0">
              <a:solidFill>
                <a:srgbClr val="00B050"/>
              </a:solidFill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3966845" y="1887855"/>
            <a:ext cx="20417155" cy="11083290"/>
          </a:xfrm>
        </p:spPr>
        <p:txBody>
          <a:bodyPr vert="horz" wrap="square" lIns="182880" tIns="91440" rIns="182880" bIns="91440" numCol="1" anchor="t" anchorCtr="0" compatLnSpc="1"/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AutoNum type="circleNumDbPlain" startAt="2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由测试任务发布方提供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即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发布测试任务的一方会明确要测试哪些内容，达到是么样的测试目标。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AutoNum type="circleNumDbPlain" startAt="3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根据实际软件归纳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    有时缺乏被测软件的相关文档，事先也没有明确的测试要求，此时可以根据软件的实际情况来归纳测试需求，并完成测试。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2532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2533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7170420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r>
              <a:rPr sz="8000">
                <a:solidFill>
                  <a:schemeClr val="tx1"/>
                </a:solidFill>
                <a:sym typeface="+mn-ea"/>
              </a:rPr>
              <a:t>测试需求的获取</a:t>
            </a:r>
            <a:r>
              <a:rPr lang="zh-CN" altLang="en-US" sz="8000" b="1" dirty="0">
                <a:solidFill>
                  <a:srgbClr val="00B050"/>
                </a:solidFill>
              </a:rPr>
              <a:t> </a:t>
            </a:r>
            <a:endParaRPr lang="zh-CN" altLang="en-US" sz="8000" b="1" dirty="0">
              <a:solidFill>
                <a:srgbClr val="00B050"/>
              </a:solidFill>
            </a:endParaRPr>
          </a:p>
        </p:txBody>
      </p:sp>
      <p:sp>
        <p:nvSpPr>
          <p:cNvPr id="8195" name="内容占位符 2"/>
          <p:cNvSpPr>
            <a:spLocks noGrp="1"/>
          </p:cNvSpPr>
          <p:nvPr>
            <p:ph idx="4294967295"/>
          </p:nvPr>
        </p:nvSpPr>
        <p:spPr>
          <a:xfrm>
            <a:off x="4605655" y="2408555"/>
            <a:ext cx="19778345" cy="10435590"/>
          </a:xfrm>
        </p:spPr>
        <p:txBody>
          <a:bodyPr vert="horz" wrap="square" lIns="182880" tIns="91440" rIns="182880" bIns="91440" numCol="1" anchor="t" anchorCtr="0" compatLnSpc="1"/>
          <a:lstStyle/>
          <a:p>
            <a:pPr marL="452755" marR="0" lvl="0" indent="-452755" algn="l" defTabSz="914400" rtl="0" eaLnBrk="0" fontAlgn="base" latinLnBrk="0" hangingPunct="0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AutoNum type="circleNumDbPlain" startAt="4"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基于类似软件获得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例如一个评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测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机构需要测评某银行的</a:t>
            </a: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，正好前面测试过另外一家银行类似的</a:t>
            </a: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，那么可以在前面的测试需求基础上来获得本次的测试需求。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应对软件测试需求进行分类、细化和文档化，以作为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后续工作的基础，类似于软件开发项目中的软件需求。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3556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3557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1"/>
          <p:cNvSpPr>
            <a:spLocks noGrp="1" noRot="1"/>
          </p:cNvSpPr>
          <p:nvPr>
            <p:ph type="title"/>
          </p:nvPr>
        </p:nvSpPr>
        <p:spPr/>
        <p:txBody>
          <a:bodyPr vert="horz" wrap="square" lIns="182880" tIns="91440" rIns="182880" bIns="91440" anchor="ctr" anchorCtr="0">
            <a:normAutofit fontScale="90000"/>
          </a:bodyPr>
          <a:p>
            <a:pPr marL="1117600" indent="-1117600">
              <a:buNone/>
            </a:pPr>
            <a:r>
              <a:rPr lang="en-US" altLang="en-US" dirty="0"/>
              <a:t>测试计划</a:t>
            </a:r>
            <a:endParaRPr lang="en-US" altLang="en-US" dirty="0"/>
          </a:p>
        </p:txBody>
      </p:sp>
      <p:sp>
        <p:nvSpPr>
          <p:cNvPr id="24579" name="内容占位符 2"/>
          <p:cNvSpPr>
            <a:spLocks noGrp="1"/>
          </p:cNvSpPr>
          <p:nvPr>
            <p:ph idx="4294967295"/>
          </p:nvPr>
        </p:nvSpPr>
        <p:spPr>
          <a:xfrm>
            <a:off x="2348230" y="3670300"/>
            <a:ext cx="19929475" cy="5943600"/>
          </a:xfrm>
        </p:spPr>
        <p:txBody>
          <a:bodyPr vert="horz" wrap="square" lIns="182880" tIns="91440" rIns="182880" bIns="91440" anchor="t" anchorCtr="0">
            <a:normAutofit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       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测试计划就是对所有要完成的测试工作及相关事项的事先规划和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描述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，包括被测试项目的背景，测试目标、范围、方式、资源，测试的进度安排和组织，以及与测试有关的风险等方面。</a:t>
            </a:r>
            <a:endParaRPr lang="zh-CN" altLang="en-US" dirty="0"/>
          </a:p>
        </p:txBody>
      </p:sp>
      <p:sp>
        <p:nvSpPr>
          <p:cNvPr id="24580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4581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768540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pPr marL="1117600" indent="-1117600">
              <a:buNone/>
            </a:pPr>
            <a:r>
              <a:rPr lang="en-US" altLang="en-US" dirty="0"/>
              <a:t>测试计划的作用</a:t>
            </a:r>
            <a:endParaRPr lang="en-US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>
          <a:xfrm>
            <a:off x="2121535" y="3200400"/>
            <a:ext cx="21356955" cy="8983345"/>
          </a:xfrm>
        </p:spPr>
        <p:txBody>
          <a:bodyPr vert="horz" wrap="square" lIns="182880" tIns="91440" rIns="182880" bIns="9144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制定软件测试计划的作用体现在以下几个方面</a:t>
            </a: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endParaRPr kumimoji="0" lang="en-US" altLang="zh-CN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使软件测试工作有据可依，</a:t>
            </a:r>
            <a:r>
              <a:rPr kumimoji="0" lang="zh-CN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资源合理配置、人员明确分工，进度有序安排，测试工作能够</a:t>
            </a:r>
            <a:r>
              <a:rPr kumimoji="0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按部就班，进行顺利</a:t>
            </a:r>
            <a:endParaRPr kumimoji="0" sz="6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2. 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使软件测试工作有章可循，</a:t>
            </a:r>
            <a:r>
              <a:rPr kumimoji="0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更易于管理</a:t>
            </a:r>
            <a:r>
              <a:rPr kumimoji="0" lang="zh-CN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。例如定期按计划组织检查督促等。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5604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5605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772604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pPr marL="1117600" indent="-1117600">
              <a:buNone/>
            </a:pPr>
            <a:r>
              <a:rPr lang="en-US" sz="8000">
                <a:sym typeface="+mn-ea"/>
              </a:rPr>
              <a:t>测试计划的作用</a:t>
            </a:r>
            <a:endParaRPr lang="en-US" altLang="en-US" dirty="0"/>
          </a:p>
        </p:txBody>
      </p:sp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>
          <a:xfrm>
            <a:off x="2891790" y="2595245"/>
            <a:ext cx="21492210" cy="8982710"/>
          </a:xfrm>
        </p:spPr>
        <p:txBody>
          <a:bodyPr vert="horz" wrap="square" lIns="182880" tIns="91440" rIns="182880" bIns="91440" numCol="1" anchor="t" anchorCtr="0" compatLnSpc="1"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 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促进项目参加人员彼此之间的沟通，</a:t>
            </a:r>
            <a:r>
              <a:rPr kumimoji="0" sz="64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分工合作</a:t>
            </a:r>
            <a:endParaRPr kumimoji="0" lang="en-US" altLang="zh-CN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一些重要的事项需要在测试计划文档中明确下来，作为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参加人员彼此之间的沟通的依据，防止出现表达不明确、理解不一致等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 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及早发现和改正软件测试工作中的问题和偏差，如测试项目经费是否大于等于所需成本、项目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进展是否滞后等。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26628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6629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 noRot="1"/>
          </p:cNvSpPr>
          <p:nvPr>
            <p:ph type="title"/>
          </p:nvPr>
        </p:nvSpPr>
        <p:spPr>
          <a:xfrm>
            <a:off x="3306445" y="482600"/>
            <a:ext cx="803465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pPr>
              <a:buNone/>
            </a:pPr>
            <a:r>
              <a:rPr lang="en-US" altLang="en-US" sz="6400" dirty="0"/>
              <a:t>测试计划中的基本要素</a:t>
            </a:r>
            <a:endParaRPr lang="en-US" altLang="en-US" sz="6400" dirty="0"/>
          </a:p>
        </p:txBody>
      </p:sp>
      <p:graphicFrame>
        <p:nvGraphicFramePr>
          <p:cNvPr id="13315" name="表格 13314"/>
          <p:cNvGraphicFramePr/>
          <p:nvPr/>
        </p:nvGraphicFramePr>
        <p:xfrm>
          <a:off x="3306235" y="1710267"/>
          <a:ext cx="20027900" cy="11889740"/>
        </p:xfrm>
        <a:graphic>
          <a:graphicData uri="http://schemas.openxmlformats.org/drawingml/2006/table">
            <a:tbl>
              <a:tblPr/>
              <a:tblGrid>
                <a:gridCol w="1483360"/>
                <a:gridCol w="2595880"/>
                <a:gridCol w="15948660"/>
              </a:tblGrid>
              <a:tr h="67056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序号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条目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DFDF"/>
                    </a:solidFill>
                  </a:tcPr>
                </a:tc>
              </a:tr>
              <a:tr h="819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测试概要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摘要说明所需测试的软件、名词解释以及所参考的相关文档。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85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测试目标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对测试目标进行简要的描述。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8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测试范围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测试计划所包含的测试软件需测试的范围和优先级，哪些需要重点测试、哪些无需测试或无法测试或推迟测试。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9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测试策略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针对每个范围内的要素和内容，制定测试策略、选择所使用的测试技术和方法。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8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重点事项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列出需要测试的软件的所有的主要功能和测试重点，这部分应该和测试用例设计相对应，并互相检查。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9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测试配置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测试所需要的软硬件、测试工具、必要的技术资源、培训、文档等。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9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人员组织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需要什么样的人进行测试，多少人测试，各自的角色和责任，需要进行哪些学习和培训。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85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沟通方式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测试组内部、测试与开发组之间使用什么样的工具、标识和频度进行沟通和确认。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824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测试进度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将测试计划合理分配到不同的测试人员，并注意先后顺序。对于长期大型的测试计划，可以使用里程碑来表示进度的变化。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316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测试标准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测试开始、完成、延迟以及继续的标准，包括制定测试开始和完成的标准；某些时候，测试计划会因某种原因（过多阻塞性的</a:t>
                      </a: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</a:t>
                      </a: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）而导致延迟，问题解决后测试继续。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85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发布提交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在按照测试计划进行测试发布后需要交付的软件产品、测试用例、测试数据及相关文档。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91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en-US" altLang="zh-C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CN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风险分析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buNone/>
                      </a:pPr>
                      <a:r>
                        <a:rPr lang="zh-CN" alt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需要考虑测试计划中可能的风险和解决方法。</a:t>
                      </a:r>
                      <a:endParaRPr lang="zh-CN" altLang="en-US" sz="3200" dirty="0">
                        <a:latin typeface="Arial" panose="020B0604020202020204" pitchFamily="34" charset="0"/>
                      </a:endParaRPr>
                    </a:p>
                  </a:txBody>
                  <a:tcPr marL="182888" marR="182888" marT="91432" marB="91432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9" name="内容占位符 2"/>
          <p:cNvSpPr>
            <a:spLocks noGrp="1"/>
          </p:cNvSpPr>
          <p:nvPr>
            <p:ph idx="4294967295"/>
          </p:nvPr>
        </p:nvSpPr>
        <p:spPr>
          <a:xfrm>
            <a:off x="1902460" y="3108960"/>
            <a:ext cx="20578445" cy="8982710"/>
          </a:xfrm>
        </p:spPr>
        <p:txBody>
          <a:bodyPr vert="horz" wrap="square" lIns="182880" tIns="91440" rIns="182880" bIns="91440" anchor="t" anchorCtr="0">
            <a:normAutofit lnSpcReduction="10000"/>
          </a:bodyPr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dirty="0"/>
              <a:t>      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 软件测试的方法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和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技术有很多，针对某一个具体的测试项目或者测试问题，需要合理的选择测试方法、运用测试技术、设计测试用例。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   测试设计的工作内容就是分析明确应当运用哪些测试方法和技术、设计哪些测试用例来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完成测试任务、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达到测试目的，并尽可能节约测试成本。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</p:txBody>
      </p:sp>
      <p:sp>
        <p:nvSpPr>
          <p:cNvPr id="29700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9701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27650" name="标题 1"/>
          <p:cNvSpPr>
            <a:spLocks noGrp="1" noRot="1"/>
          </p:cNvSpPr>
          <p:nvPr>
            <p:ph type="title"/>
            <p:custDataLst>
              <p:tags r:id="rId1"/>
            </p:custDataLst>
          </p:nvPr>
        </p:nvSpPr>
        <p:spPr>
          <a:xfrm>
            <a:off x="3208655" y="1038225"/>
            <a:ext cx="803465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pPr>
              <a:buNone/>
            </a:pPr>
            <a:r>
              <a:rPr lang="en-US" altLang="en-US" sz="6400" dirty="0"/>
              <a:t>测试设计</a:t>
            </a:r>
            <a:endParaRPr lang="en-US" altLang="en-US" sz="6400" dirty="0"/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测试设计</a:t>
            </a:r>
            <a:endParaRPr lang="zh-CN" altLang="en-US"/>
          </a:p>
        </p:txBody>
      </p:sp>
      <p:sp>
        <p:nvSpPr>
          <p:cNvPr id="218115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8116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8" name="内容占位符 2"/>
          <p:cNvSpPr/>
          <p:nvPr/>
        </p:nvSpPr>
        <p:spPr>
          <a:xfrm>
            <a:off x="2565400" y="2590800"/>
            <a:ext cx="19748501" cy="958426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</a:t>
            </a:r>
            <a:r>
              <a:rPr lang="en-US" altLang="zh-CN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在进行测试设计的时候，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不仅要考虑软件使用时的一般情况、还要重点考虑可能的情况、特殊的情况和异常的情况；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r>
              <a:rPr lang="en-US" altLang="zh-CN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可以对测试设计进行优化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，统计覆盖率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，去除冗余，并对测试设计进行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评审，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通过评审后才进入后续的执行环节，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以确保测试设计的质量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</p:txBody>
      </p:sp>
      <p:sp>
        <p:nvSpPr>
          <p:cNvPr id="31749" name="标题 1"/>
          <p:cNvSpPr>
            <a:spLocks noGrp="1" noRot="1"/>
          </p:cNvSpPr>
          <p:nvPr/>
        </p:nvSpPr>
        <p:spPr>
          <a:xfrm>
            <a:off x="3937000" y="423333"/>
            <a:ext cx="17085733" cy="1871133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lstStyle>
            <a:lvl1pPr marL="257175" indent="-257175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17600" lvl="0" indent="-111760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8000" b="1" dirty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测试开发</a:t>
            </a:r>
            <a:endParaRPr lang="zh-CN" altLang="en-US"/>
          </a:p>
        </p:txBody>
      </p:sp>
      <p:sp>
        <p:nvSpPr>
          <p:cNvPr id="218115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8116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内容占位符 2"/>
          <p:cNvSpPr/>
          <p:nvPr/>
        </p:nvSpPr>
        <p:spPr>
          <a:xfrm>
            <a:off x="1583267" y="2590800"/>
            <a:ext cx="21352933" cy="958426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r>
              <a:rPr lang="en-US" altLang="zh-CN" sz="6400" dirty="0">
                <a:latin typeface="Arial" panose="020B0604020202020204" pitchFamily="34" charset="0"/>
              </a:rPr>
              <a:t>  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测试开发主要是为了实现测试过程的自动化执行，要在测试工具平台，或者编程环境下，开发测试脚本或者控制测试过程的程序代码。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r>
              <a:rPr lang="en-US" altLang="zh-CN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+mn-ea"/>
              </a:rPr>
              <a:t>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+mn-ea"/>
              </a:rPr>
              <a:t>另外，在所需测试数据很多的情况下，也可以开发相应的脚本或者程序，自动化生成一部分测试数据，以减轻测试数据生成的工作负担。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defRPr/>
            </a:pP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  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20000"/>
              </a:lnSpc>
              <a:spcBef>
                <a:spcPts val="25"/>
              </a:spcBef>
              <a:buClr>
                <a:schemeClr val="hlink"/>
              </a:buClr>
              <a:buSzPct val="70000"/>
              <a:buFont typeface="Wingdings" panose="05000000000000000000" pitchFamily="2" charset="2"/>
            </a:pPr>
            <a:r>
              <a:rPr lang="zh-CN" altLang="en-US" sz="6400" dirty="0">
                <a:latin typeface="Arial" panose="020B0604020202020204" pitchFamily="34" charset="0"/>
              </a:rPr>
              <a:t>       </a:t>
            </a:r>
            <a:endParaRPr lang="zh-CN" altLang="en-US" sz="6400" dirty="0">
              <a:latin typeface="Arial" panose="020B0604020202020204" pitchFamily="34" charset="0"/>
            </a:endParaRPr>
          </a:p>
        </p:txBody>
      </p:sp>
      <p:sp>
        <p:nvSpPr>
          <p:cNvPr id="32773" name="标题 1"/>
          <p:cNvSpPr>
            <a:spLocks noGrp="1" noRot="1"/>
          </p:cNvSpPr>
          <p:nvPr/>
        </p:nvSpPr>
        <p:spPr>
          <a:xfrm>
            <a:off x="3937000" y="423333"/>
            <a:ext cx="17085733" cy="1871133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lstStyle>
            <a:lvl1pPr marL="257175" indent="-257175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17600" lvl="0" indent="-111760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8000" b="1" dirty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测试执行和记录</a:t>
            </a:r>
            <a:endParaRPr lang="zh-CN" altLang="en-US"/>
          </a:p>
        </p:txBody>
      </p:sp>
      <p:sp>
        <p:nvSpPr>
          <p:cNvPr id="218115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8116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defRPr/>
            </a:pPr>
            <a:endParaRPr kumimoji="0" lang="zh-CN" altLang="en-US" sz="36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868" name="内容占位符 2"/>
          <p:cNvSpPr/>
          <p:nvPr/>
        </p:nvSpPr>
        <p:spPr>
          <a:xfrm>
            <a:off x="870585" y="1818640"/>
            <a:ext cx="23017480" cy="11306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lang="en-US" altLang="zh-CN" sz="6400" dirty="0">
                <a:latin typeface="Arial" panose="020B0604020202020204" pitchFamily="34" charset="0"/>
              </a:rPr>
              <a:t>  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测试执行是指搭建好测试环境，借助测试工具等，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具体去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执行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实际的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测试过程。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</a:rPr>
              <a:t>       搭建良好的测试环境是执行测试的前提。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+mn-ea"/>
              </a:rPr>
              <a:t>   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+mn-ea"/>
              </a:rPr>
              <a:t>要注意测试用例的前提条件和特殊规程说明。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  <a:sym typeface="+mn-ea"/>
            </a:endParaRPr>
          </a:p>
          <a:p>
            <a:pPr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+mn-ea"/>
              </a:rPr>
              <a:t>       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测试执行时需要记录执行过程，</a:t>
            </a:r>
            <a:r>
              <a:rPr lang="zh-CN" altLang="en-US" sz="6400" b="0">
                <a:solidFill>
                  <a:schemeClr val="tx1"/>
                </a:solidFill>
                <a:uLnTx/>
                <a:latin typeface="+mn-lt"/>
                <a:ea typeface="+mn-ea"/>
                <a:cs typeface="+mn-cs"/>
                <a:sym typeface="+mn-ea"/>
              </a:rPr>
              <a:t>并仔细对比实际输出和测试用例中的预期输出是否一致。</a:t>
            </a:r>
            <a:endParaRPr lang="zh-CN" altLang="en-US" sz="6400" b="0">
              <a:solidFill>
                <a:schemeClr val="tx1"/>
              </a:solidFill>
              <a:uLnTx/>
              <a:latin typeface="+mn-lt"/>
              <a:ea typeface="+mn-ea"/>
              <a:cs typeface="+mn-cs"/>
            </a:endParaRPr>
          </a:p>
          <a:p>
            <a:pPr algn="l" eaLnBrk="0" hangingPunct="0">
              <a:lnSpc>
                <a:spcPct val="120000"/>
              </a:lnSpc>
              <a:spcBef>
                <a:spcPts val="25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endParaRPr lang="en-US" altLang="zh-CN" sz="6400" dirty="0">
              <a:latin typeface="Arial" panose="020B0604020202020204" pitchFamily="34" charset="0"/>
            </a:endParaRPr>
          </a:p>
        </p:txBody>
      </p:sp>
      <p:sp>
        <p:nvSpPr>
          <p:cNvPr id="36869" name="标题 1"/>
          <p:cNvSpPr>
            <a:spLocks noGrp="1" noRot="1"/>
          </p:cNvSpPr>
          <p:nvPr/>
        </p:nvSpPr>
        <p:spPr>
          <a:xfrm>
            <a:off x="3937000" y="423333"/>
            <a:ext cx="17085733" cy="1871133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lstStyle>
            <a:lvl1pPr marL="257175" indent="-257175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17600" lvl="0" indent="-111760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8000" b="1" dirty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测试执行和记录</a:t>
            </a:r>
            <a:endParaRPr lang="zh-CN" altLang="en-US"/>
          </a:p>
        </p:txBody>
      </p:sp>
      <p:sp>
        <p:nvSpPr>
          <p:cNvPr id="39938" name="内容占位符 2"/>
          <p:cNvSpPr>
            <a:spLocks noGrp="1"/>
          </p:cNvSpPr>
          <p:nvPr>
            <p:ph idx="4294967295"/>
          </p:nvPr>
        </p:nvSpPr>
        <p:spPr>
          <a:xfrm>
            <a:off x="3073400" y="2192655"/>
            <a:ext cx="21310600" cy="10668000"/>
          </a:xfrm>
        </p:spPr>
        <p:txBody>
          <a:bodyPr vert="horz" wrap="square" lIns="182880" tIns="91440" rIns="182880" bIns="91440" anchor="t" anchorCtr="0">
            <a:normAutofit fontScale="90000" lnSpcReduction="20000"/>
          </a:bodyPr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如果结果不一致，要从多个角度多测试几次，尽量详细地记录软件出错的位置、输入的数据和出错的症状。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不要放过任何偶然现象。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测试执行中有不明确的地方应与开发人员良好的沟通。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应把测试发现的问题详细的写到测试报告中去。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indent="631825">
              <a:buNone/>
            </a:pPr>
            <a:endParaRPr lang="zh-CN" altLang="en-US" dirty="0"/>
          </a:p>
        </p:txBody>
      </p:sp>
      <p:sp>
        <p:nvSpPr>
          <p:cNvPr id="39939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39940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测试总结和报告</a:t>
            </a:r>
            <a:endParaRPr lang="zh-CN" altLang="en-US"/>
          </a:p>
        </p:txBody>
      </p:sp>
      <p:sp>
        <p:nvSpPr>
          <p:cNvPr id="41986" name="内容占位符 2"/>
          <p:cNvSpPr>
            <a:spLocks noGrp="1"/>
          </p:cNvSpPr>
          <p:nvPr>
            <p:ph idx="4294967295"/>
          </p:nvPr>
        </p:nvSpPr>
        <p:spPr>
          <a:xfrm>
            <a:off x="1951355" y="2294255"/>
            <a:ext cx="20481290" cy="10462260"/>
          </a:xfrm>
        </p:spPr>
        <p:txBody>
          <a:bodyPr vert="horz" wrap="square" lIns="182880" tIns="91440" rIns="182880" bIns="91440" anchor="t" anchorCtr="0">
            <a:normAutofit fontScale="90000"/>
          </a:bodyPr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测试执行完毕后，要对测试结果进行汇总、统计分析，并完成测试报告。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+mn-ea"/>
              </a:rPr>
              <a:t>首先要进行缺陷的汇总，明确共发现了哪些缺陷，给出详细的缺陷报告，统计缺陷的分布情况。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  <a:sym typeface="+mn-ea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+mn-ea"/>
              </a:rPr>
              <a:t>其次，要分析测试的覆盖度，以明确</a:t>
            </a: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测试的完全程度。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  <a:sym typeface="宋体" panose="02010600030101010101" pitchFamily="2" charset="-122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宋体" panose="02010600030101010101" pitchFamily="2" charset="-122"/>
              </a:rPr>
              <a:t>第三，要对软件进行质量评测，它是对被测试对象的功能、性能、可靠性、稳定性等的评价。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eaLnBrk="0" hangingPunct="0">
              <a:lnSpc>
                <a:spcPct val="120000"/>
              </a:lnSpc>
              <a:spcBef>
                <a:spcPts val="25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6400" dirty="0">
              <a:effectLst/>
              <a:latin typeface="Arial" panose="020B0604020202020204" pitchFamily="34" charset="0"/>
              <a:ea typeface="Helvetica Neue"/>
              <a:cs typeface="Helvetica Neue"/>
            </a:endParaRPr>
          </a:p>
          <a:p>
            <a:pPr marL="0" algn="l" eaLnBrk="0" hangingPunct="0">
              <a:lnSpc>
                <a:spcPct val="120000"/>
              </a:lnSpc>
              <a:spcBef>
                <a:spcPts val="25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endParaRPr lang="en-US" altLang="zh-CN" sz="6400" dirty="0">
              <a:effectLst/>
              <a:latin typeface="Arial" panose="020B0604020202020204" pitchFamily="34" charset="0"/>
              <a:ea typeface="Helvetica Neue"/>
              <a:cs typeface="Helvetica Neue"/>
            </a:endParaRPr>
          </a:p>
        </p:txBody>
      </p:sp>
      <p:sp>
        <p:nvSpPr>
          <p:cNvPr id="41987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41988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41989" name="标题 1"/>
          <p:cNvSpPr>
            <a:spLocks noGrp="1" noRot="1"/>
          </p:cNvSpPr>
          <p:nvPr/>
        </p:nvSpPr>
        <p:spPr>
          <a:xfrm>
            <a:off x="3987800" y="423333"/>
            <a:ext cx="17085733" cy="1871133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lstStyle>
            <a:lvl1pPr marL="257175" indent="-257175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17600" lvl="0" indent="-111760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8000" b="1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41991" name="内容占位符 2"/>
          <p:cNvSpPr>
            <a:spLocks noGrp="1"/>
          </p:cNvSpPr>
          <p:nvPr/>
        </p:nvSpPr>
        <p:spPr>
          <a:xfrm>
            <a:off x="2446867" y="4436533"/>
            <a:ext cx="7793568" cy="10668000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/>
          <a:p>
            <a:pPr indent="631825" eaLnBrk="0" hangingPunct="0">
              <a:spcBef>
                <a:spcPct val="15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</a:pPr>
            <a:endParaRPr lang="zh-CN" altLang="en-US" sz="6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测试进度管理</a:t>
            </a:r>
            <a:endParaRPr lang="zh-CN" altLang="en-US"/>
          </a:p>
        </p:txBody>
      </p:sp>
      <p:sp>
        <p:nvSpPr>
          <p:cNvPr id="43010" name="内容占位符 2"/>
          <p:cNvSpPr>
            <a:spLocks noGrp="1"/>
          </p:cNvSpPr>
          <p:nvPr>
            <p:ph idx="4294967295"/>
          </p:nvPr>
        </p:nvSpPr>
        <p:spPr>
          <a:xfrm>
            <a:off x="1951355" y="2878455"/>
            <a:ext cx="20480655" cy="8864600"/>
          </a:xfrm>
        </p:spPr>
        <p:txBody>
          <a:bodyPr vert="horz" wrap="square" lIns="182880" tIns="91440" rIns="182880" bIns="91440" anchor="t" anchorCtr="0">
            <a:normAutofit lnSpcReduction="10000"/>
          </a:bodyPr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测试进度管理主要就是按照测试项目生命周期，依据测试计划，在测试实施过程中，不断检查测试工作的进展情况，发现与计划的偏离。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algn="l" defTabSz="914400" eaLnBrk="0" fontAlgn="base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</a:rPr>
              <a:t>如果测试工作进展明显滞后于计划，需要分析原因，找到对策，以免影响整个软件项目的交付。</a:t>
            </a:r>
            <a:endParaRPr lang="zh-CN" altLang="en-US" sz="6400" b="0">
              <a:solidFill>
                <a:schemeClr val="tx1"/>
              </a:solidFill>
              <a:effectLst/>
              <a:uLnTx/>
              <a:latin typeface="+mn-lt"/>
              <a:ea typeface="+mn-ea"/>
              <a:cs typeface="+mn-cs"/>
            </a:endParaRPr>
          </a:p>
          <a:p>
            <a:pPr marL="0" indent="631825">
              <a:buNone/>
            </a:pPr>
            <a:endParaRPr lang="zh-CN" altLang="en-US" dirty="0"/>
          </a:p>
        </p:txBody>
      </p:sp>
      <p:sp>
        <p:nvSpPr>
          <p:cNvPr id="43011" name="AutoShape 2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208867" y="-287867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43012" name="AutoShape 4" descr="data:image/jpeg;base64,/9j/4AAQSkZJRgABAQAAAQABAAD/2wBDAAgGBgcGBQgHBwcJCQgKDBQNDAsLDBkSEw8UHRofHh0aHBwgJC4nICIsIxwcKDcpLDAxNDQ0Hyc5PTgyPC4zNDL/2wBDAQkJCQwLDBgNDRgyIRwhMjIyMjIyMjIyMjIyMjIyMjIyMjIyMjIyMjIyMjIyMjIyMjIyMjIyMjIyMjIyMjIyMjL/wAARCADcAME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3+iiigAooooAKYxxQXwK8/wDH3j5NCVrCwKyX7rye0YPc+9TOagrs2w+HqYioqdNas2vE/jbS/DMJWd/NuiMpbx/ePufQV4/rnxH13WGZIpvsVuRjy4epHu3WuVurqe9uHuLmV5ZnOWdzkk1DXlVcVOei0R9zgMjoYdKU1zSHO5dizMSTySTkmkzSUVzHtrQWlDFWDKxBHQg4xTc0UDOk0nx14h0cqIdQkkiX/llN86n8+RXovh/4t2V4ywavCLNj0lTJT8e4rxait6eInDqeXisowuJTvGz7o+sLa6guYEmglSWNhlWQ5BFWAc180eGPGGp+GbndbSGS2Jy9u5+U/T0Ne9+HfEtj4j05bmykzjAeM/eQ+hr0qOIjV9T4vMcqq4J3ese5u0UmaWtzzAooooAKKKKACiiigAooooAKKKKACkzQawvFHiGHw7pT3UmC5+WJO7NSlJRV2XTpyqTUIrVmR468YweHNPMULBr+UfIv9z/aNeAXFxLdzvPPI0ksjbmZjyTVvWNTudUv5bm6lMkrtlj7+3t2rPrx69Z1X5H6HleWRwVPXWT3f6BRRRWFj1QopGZVUsxAA7ms6fWI4yVjXefXtVwhKWyOetiaVFXm7GlRWF/bcv8AzzSrEOsozASoVHqKt4eaOWGa4aTtc1aKRGWSPzI2Dp0yKWsmmnZnoRnGavF3QVr+HfEF34c1SO8tWJAOJI88SL6GsiiiMnF3RFWlGrBwmrpn1Joes2uuaXDfWr5jkXOO6nuD7itQdK+f/hr4qbQ9bFlO/wDod2wUg9Efsf6flXv6HKg17VGqqkbn5zmWBlg67g9ug6iiitTzwooooAKKKKACiiigAooooAa5AXJOK8E+IviJtW1+SFHzbWhMaAHgt/Efz4/CvY/FeqDR/Dd7e8bkjIQf7R4H618uahqscMuxsux5Yg9PrXFi3JpQifR8P0qcJSxNXZaL1ZJkk5NJ0NQRXkE33JFz6Hg1NmvOcWtz7OFaFTWLuOpVUsQFBJPQDvTc13/wr8ODVddOo3CbrayIIyOGkPT8uv5VVKDnJRRhjcWsLQlVfQ5m0+GfjDxEFeOxW0tWGVe6fZn328t+lTXHwI8WxRM6TadMw58tJmBP4lQK+mBGoOcU7aK9eNKMVZH57XzCtWm5yZ8aa14K8ReHfm1PSriGP/noF3J/30MisVUJOa+4pYY5UKSIrqeCrDINeO/EP4S2ssUureHrZYpUBaa1QfK47lR2PXjvRKFloXRxSk0pniFgZYJA0bEZ4I7Ee9be4MAwGM9vSqsUAj+8MEU551UgehriqwUkfS5fXlSklfRlmikzRXEfS3uOGQcjrX0f4E10a74WtZ5GBuEHlS8/xDjP48Gvm6vVfgzqO26v9OYn5wsyfhwf6V1YSbU7dz5/iHDKphvadYnsgpaQUteqfChRRRQAUUUUAFFFFABSEUtFAHBfFLTNa1bwyttotsJ5fNDOu8KdoB6Z6844r5m1PS9S025aPUbO4t5c8iaMqSfx619qbRVa802zv4DDeWsNxEeqSoGB/A1m6abuddHFzpx5Oh8S9KmivJ4eFkOPQ8ivpHXfgn4Y1PzJLJZtPnboYGymf909vpivNtc+B/iTTvn05odSiz0Q7HH4Nx+RrOVM7aeOitU7M4q01GW4mjg8hnlchVWMZLHtxX1D4B0JtB8K20EibLiTMswPUMe34DA/Cub+Gnwvg8MQpqWqIs2rOMjusAPYep9TXpqrgYqqdGMXzIxxuZVcRFU27pDqKKK2PNCmkZzTqD0oA+dPi1oI0LxELq3jCWt8DIAOgcfeH45B/E150oaVwBkkngV758b7WKTwtZTFAZI7sBW7gFTn+Qqj8MvAdvY2kGt6pCHu5AHgjccRL2OP7x6+1ck4OU7I97D4uNLDKpLfY5fw98Ndd1qFJXRbKArkNPkE/Rev511sXwWi2fvtZff/ALEIx+pr0zzQOlHnVccLTW6uY1c8xk3pK3oeSah8Gr6GNnsdThmYdEkQoT+PNU/h9p9/oHxDhs9QtpIZZInUA9G4zkHoRxXs/netMZIJZo5niRpIjlGI5U4xwfpS+rQUlKInnOIqUpUqr5k0aSHNOqONg6hhUldJ5AUUUUAFFFFABRRRQAUUUUAFFFFABRRRQAUUUUAFFFFABQelIar3V1FaQPNPKscSDLMxwAKAWrsji/iDBDq11oejONwmujPJ7RopJ/PIH41tLMqqFXgAYAHYV5za+JU8RfEaS6VyLeGB47YE9RkZP48/pXYm4561lTkpNtHXiqM6KjTl2v8Aea32getH2jjrWT9o96PtPvWpyGsLj3pfP96yBcc9acLjnrQB0Wn3OZTGT94ZH1rUHSuW02bdfwgetdQOlAC0UUUAFFFFABRRRQAUUUUAFFFFABRRRQAUUUUAFNLYpSwHeuR8W+O9O8Mo0ZKz3hGVhU9Pdj2qZSUVdmlKjOtJQpq7N3VtZsdHsnur6dYo0GfmPJ9h6mvCPGvxAuvEsrW1tuh04HhO747t/hWD4h8Tal4jvTPfTEqPuRjhUHsKxjXnVsS56R2PsMtyaFC1SrrL8EbPhi/GneILadz8jEo30bjP54r1n7T6GvDa9D8Pa6L+xWKRv9IiGGB/iHY1phKiXus5uIMJKSVePzOu+0kd6X7QcdaxjckdDWtpWr2SRrBcW0bt3Zhkn8a7z5QkFx708XHvV+bR7S+jElhN5L91blf8RU6eGovIG6eQS4+8MEZ+lADvDwNxqQYZxGpY4/IV2I6VjaDZQ6dC8Ik3yscsxGM+lbI6UALRRRQAUUUUAFFFFABRRRQAUUUUAFFFFABSE4oJxXB/ETxgdBsfsVo/+nXC8H/nmvr/AIVM5qCuzbD0J4ioqcFqyj46+IK6YZNN0qRWu+kkvURD+p/lXiN1dSXc7SyOzsxyWY5JPqTT7udnJBYszHLEnJNVM15VSrKo7s+9weApYOHLHV9WLnmkzSZpazOy4ZqWC4ltpllhco6ngioea6fwl4K1HxXcjykMNmrYkuWHAHcL6mqhGUnaJz4mvSpU26r0NHQ9Vn1hmgFvI0yIXYxqSNo6k+laLwTgbtjD36V6tovh3TfCukPDZQAfLl5G5aRvc/0rIbS7aVCJFBJr16ako2kfAYqdKdVypKyOU03U7qCIsxJ2HB+ldNp+viTaC3Ws648Lyrua0kyD/Cah0zRZILxY7jeCTnBGPyqjnO5tUW7uIXDsoU7vlPXjp9K3F4FYUUZtbTfF95BkVq2V4l5AJE4PcehoAs0UUUAFFFFABRRRQAUUUUAFFFFABRRSGgCC8uEtbSWeQ7Y41LsT2AGa+Zte1mbW9YudQmYkyMSoP8K9h+Vez/FPVjp/hCSJGxJduIhg846n9B+teASNhCfWuDGTu1E+t4dw6UZV36Iru25iaSkNLXGfQ31Ciiuz+HHhRfEuumS5XNlabXlH98k8L+hzVwg5ysjnxWIjh6bqS6Gn4B+Gz66E1LVQ0en9Ui5DTe/sv869ytLGCxtkt7WJIoUGFRBgAVJFCkKqkaBVUAAAYAFTDpXqU6SpqyPhMXjauKnzTenRdjE8R3P2eyjHZn/pXLi+z3rp/Fds02iSNGCWiYP+HQ15q5u15EZx7GtDkOsj1HbyDVtdWiZcSIG+tcIb64j+/Gwpy6lK3AjfP0oA79NYhICY46c1DY3v2O9YRsSmentXK2a3t3LsWMxr3d+B/wDXrastMvBKxeVCu47TnkigDu4ZVmQOhyCKkrG06RrZlidw2844rZHSgAooooAKKKKACiiigAooooAKa3WnU1utAHjXxnv83um2Az8iNKfTk4H8jXlMh+Wu6+LU4l8bOhJ/dQIvP4n+tedTX9ujhN4J9ugry615VHY+6y2UKODhzO1yWioFuoW6SrUoYMMgg1lytHeqkJbMWvoP4R6d9k8ExXG3D3UryHjqM4H6CvnzPpX1T4UtTZeFNKgwQUtY8g9QdozXThFeTZ4Wf1GqUYd3+Rt0UUV6B8mQXiCSzmRujIQfyrgks94OSFUdfX8K7jVJhDYyHuw2j8a4iecwSc/cPegBrWVuAcJn3PNQfY4w2QoFSm7jH8YFRSX0SclxQBdhQRjimTaj9n6tgVUS8e4XEI47selbfhu2hbUH81VkYx/xDPcUAJoE82pXyOobyYjuZ+3sK7MdKasaIAFUKB0AFOoAKKKKACiiigAooooAKKKKACmlc06jIoA8y8Y/COLxTqk2ojWri2ll6p5YdeAAB1BxxXnN/wDATxHBuNpfWNyAM7SzIT+Yx+tfSJIPeqGpavp+kW5nv7uKCMd3br9KhxitTojXqu0U7nyre/C7xnY8yaJO49YmV/5GsU6DrcV8tmdNvUui20RGFgxP0xX0rJ8WvCscwQTzOv8AfWEkVu6R4w8P69IEsdQieb/nm3yt+RrP3JaXOpvFU1zSg0eOeEPgxrd+VuNeujY25GfITDSn69h+tfQNvALe3jhX7sahR9BTlxnOafWsYqOxxVa9Sr8buFFFFUZGB4iZ1W367CSD9eMf1rCkhWZMMMiup1y387TXOMmMhx/X9K5nPAoAypNGt2Ynb+RpE0y2iOfLBPvzWix61Tnk2g0ARzTJEu1Ritnwk5l1J2z92M/zFcZJctcTkJyo7+tdz4JgCx3MxHzZVR/P/CgDr6KKKACiiigAooooAKKKKACiiigAqCeaOBHklYKijJYngCp68v8Ai/r72On2+lwybWuctLg87B2/E/yqKk1CLkzowuHeIrRpLqUfEvxXcSSW+iRoEXIN1IM591H9TXk+qaveavdGe9uJJnPQu2arzTblKg9agrzJVZzd2fcUMDh8Mkqa179RM0+KaSGVJYnZJEOVZTgg/WmUVBu0mrM9/wDhh43fxBaPp+oODqFuoO//AJ6J0z9fWvRQcivmDwBqB03xvpkoJCyS+SwHcNx/Mivp5egx0r0qE+eOp8XmuGjh6/u7PUfRRRW55hV1L/kHXH+4a449K7HUf+Qdcf7hrjT0oAhc8HmsnVJiluwHVvlFakp4rn9RfzLlIwchRkj60ANtIgoHFejeE4ymlMx/ikJH6VwNsuMV6R4dUrosGe+SPpk0Aa1FFFABRRRQAUUUUAJmjNN3cUm6gB+aM+9R5oLUAPz714Z8bYZV8Q2ExQ+U1uVDdshjkfqK9w31xvxH8Lv4o8PFbVQb62Pmwf7XHK59/wCYFZ1Y80bHXga6oV4zZ844596TrVW5lkt5nhlRo5UYqysMEEeop6X0MqDcdknf0Pv7V58qb3R9dRxkG7Nk5pKQMCMgg/StHSND1PXbpYNNs5Lhz3UfKPq3QVCi27I6Z1oRXNJqxufDfS21PxvYfIWjt289yOg28j9cV9MDoK47wH4Ng8I6ayyFZb6fBnlA49lHsK67cK9KjDkjY+MzHFLEVuZbIkz70Zpm4UbhWpwFbV326XOf9nH61x5PFb+t3oGIAeOrf0rmJ7hUoAbM3B5rn3/eXbse5rVefzNwQE8E/lWUpxLQBegB4r0nRF8vR7ZT/cz+ZzXnEBJ6V6baR/Z7OGEfwIF/SgC1mjNRhqXcKAH5ozTN1KG4oAdmim7qKAK+/FBkqAsaaXNAFjzMUnmcVVaQ1GZjQBd82kMvvWebgjPWq73bL2JoAyPFPw+8P+KmM91A0F4Rj7TAQrH/AHux/GuBPwFh88Y8QP5X/XuN3/oWK9Lk1CVekbGq7arOD/qHpcqNI1ZxVkzJ0P4VeFdG2vJbPfzgcvdNuXPqF6fzrtoEt7SJYbaGOGJeiRqFA/AVz39qzn/lg9PXUZm/5YtQkiZTlLdnS+ePWk+0D1rAW9mP/LM1MtxIf4cUyTaE49aXzwBkmskTPQ8juhjH3m4FAGTf3BlnkkJzk1hXMmSa6m90UrbbvOIkyRgrgEisC006a5v40lidYs5csCBgUAaGm6Z9n0C9vZhiWaEhARyq/wD165dB84rv9VmVNKmjXAypQD0GP8K4z7C6MSWUbeoIOemfT0oAt6dF5l1DH2ZwP1r0UNxXDafbPFNBK2NoZW68kZrok1dZWGxRsPQswBP4UAbG6lDVQivoZAMyKuemT1qcXCCPeT8pB6fTP9KALOc0u6q32iMdWAwcc05Jkctgg4ODQBPn3opm4UUARbRTSmanxTSKAINlBT2qbFIaAK5jHpTTEvpVg9aMUAVPJXpgUhgX0H5VZwOaTFAFQwrnoKaYh6VbZRTSoxQBV2AcYpCAKsFBUZRfSgCAso71RuLhreYyMN8RPUdVrQkiXHSsy706CcHdvH0YigC7B4it2dTcESKBgFeoptzrsEr/ALoEJ79feuN1DSorZi0M06n/AH//AK1Y7TzocCeTr3xQB1uralttnl8reSSoCgkgED0PsayF1yIHa8MyocbsDk4XBqTR4zIC7yOx6cmujitojwVzQBzy+IrfADRt0AII7Dt27/yFOTxBb4RfMYBVA4YjJ5/xrqEtID1jH5VKtnbnrCn5CgDH0rVEu7lFiVyq5LMZNv8ATmuhZjLGowBgMPvZ6ggdvekjtok+6gH0FTCJc9KAEOTuAAAL569uP8KkgZk4YYGB/Fu5yc0BRT9ozQBJ5gopu0UUAf/Z"/>
          <p:cNvSpPr>
            <a:spLocks noChangeAspect="1"/>
          </p:cNvSpPr>
          <p:nvPr/>
        </p:nvSpPr>
        <p:spPr>
          <a:xfrm>
            <a:off x="3513667" y="16933"/>
            <a:ext cx="609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sz="265" dirty="0">
              <a:latin typeface="Arial" panose="020B0604020202020204" pitchFamily="34" charset="0"/>
            </a:endParaRPr>
          </a:p>
        </p:txBody>
      </p:sp>
      <p:sp>
        <p:nvSpPr>
          <p:cNvPr id="43013" name="标题 1"/>
          <p:cNvSpPr>
            <a:spLocks noGrp="1" noRot="1"/>
          </p:cNvSpPr>
          <p:nvPr/>
        </p:nvSpPr>
        <p:spPr>
          <a:xfrm>
            <a:off x="3987800" y="626533"/>
            <a:ext cx="17085733" cy="1871133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lstStyle>
            <a:lvl1pPr marL="257175" indent="-257175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530" indent="-21463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1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15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1117600" lvl="0" indent="-1117600" algn="ctr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8000" b="1" dirty="0">
              <a:solidFill>
                <a:srgbClr val="00B050"/>
              </a:solidFill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 noRot="1"/>
          </p:cNvSpPr>
          <p:nvPr>
            <p:ph idx="4294967295"/>
          </p:nvPr>
        </p:nvSpPr>
        <p:spPr>
          <a:xfrm>
            <a:off x="2298700" y="2607945"/>
            <a:ext cx="22085300" cy="10180955"/>
          </a:xfrm>
        </p:spPr>
        <p:txBody>
          <a:bodyPr vert="horz" wrap="square" lIns="182880" tIns="91440" rIns="182880" bIns="91440" numCol="1" anchor="t" anchorCtr="0" compatLnSpc="1">
            <a:normAutofit fontScale="90000" lnSpcReduction="20000"/>
          </a:bodyPr>
          <a:lstStyle/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lang="zh-CN" altLang="en-US" sz="6400" b="0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+mn-ea"/>
              </a:rPr>
              <a:t>Burnstein博士提出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TMM 测试成熟度模型的 5 级分别是：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0级：测试和调试没有区别，除支持调试外测试没有其他目的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级：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测试的目的是为了表明软件能够工作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级：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测试的目的是为了表明软件不能够能够正常工作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级：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测试的目的不是要证明什么，而是为了把软件不能正常工作的预知风险降低到能够接受的程度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15000"/>
              </a:spcBef>
              <a:buClr>
                <a:schemeClr val="hlink"/>
              </a:buClr>
              <a:buSzPct val="70000"/>
              <a:buFont typeface="+mj-ea"/>
              <a:buNone/>
              <a:defRPr/>
            </a:pP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+mn-ea"/>
              </a:rPr>
              <a:t>级：</a:t>
            </a:r>
            <a:r>
              <a:rPr kumimoji="0" lang="zh-CN" altLang="en-US" sz="6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测试不是行为，而是一种自觉的约束 (mental discipline) ，不用太多的测试投入，即可产生低风险的软件</a:t>
            </a: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738120" y="1078865"/>
            <a:ext cx="7239000" cy="1042670"/>
          </a:xfrm>
        </p:spPr>
        <p:txBody>
          <a:bodyPr>
            <a:normAutofit fontScale="90000"/>
          </a:bodyPr>
          <a:p>
            <a:r>
              <a:t>软件测试成熟的模型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endParaRPr lang="zh-CN" altLang="en-US"/>
          </a:p>
        </p:txBody>
      </p:sp>
      <p:sp>
        <p:nvSpPr>
          <p:cNvPr id="13314" name="内容占位符 2"/>
          <p:cNvSpPr>
            <a:spLocks noGrp="1"/>
          </p:cNvSpPr>
          <p:nvPr>
            <p:ph sz="quarter" idx="4294967295"/>
          </p:nvPr>
        </p:nvSpPr>
        <p:spPr>
          <a:xfrm>
            <a:off x="7162165" y="5539740"/>
            <a:ext cx="10389870" cy="4115435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8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8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谢谢</a:t>
            </a:r>
            <a:endParaRPr kumimoji="0" lang="zh-CN" altLang="en-US" sz="8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2879</Words>
  <Application>WPS 演示</Application>
  <PresentationFormat>Custom</PresentationFormat>
  <Paragraphs>213</Paragraphs>
  <Slides>20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Times New Roman</vt:lpstr>
      <vt:lpstr>Helvetica Neue Medium</vt:lpstr>
      <vt:lpstr>White</vt:lpstr>
      <vt:lpstr>PowerPoint 演示文稿</vt:lpstr>
      <vt:lpstr>PowerPoint 演示文稿</vt:lpstr>
      <vt:lpstr>测试需求</vt:lpstr>
      <vt:lpstr>测试需求分析</vt:lpstr>
      <vt:lpstr>测试需求的获取 </vt:lpstr>
      <vt:lpstr>测试需求的获取 </vt:lpstr>
      <vt:lpstr>测试需求的获取 </vt:lpstr>
      <vt:lpstr>测试计划</vt:lpstr>
      <vt:lpstr>测试计划的作用</vt:lpstr>
      <vt:lpstr>测试计划的作用</vt:lpstr>
      <vt:lpstr>测试计划中的基本要素</vt:lpstr>
      <vt:lpstr>测试计划中的基本要素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测试进度管理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767</cp:revision>
  <cp:lastPrinted>2020-08-01T02:11:00Z</cp:lastPrinted>
  <dcterms:created xsi:type="dcterms:W3CDTF">2019-05-10T09:49:00Z</dcterms:created>
  <dcterms:modified xsi:type="dcterms:W3CDTF">2023-08-11T10:31:04Z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52A2285448734A7090245B0C7552D300_12</vt:lpwstr>
  </property>
</Properties>
</file>