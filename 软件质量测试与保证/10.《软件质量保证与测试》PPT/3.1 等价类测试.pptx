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256" r:id="rId3"/>
    <p:sldId id="294" r:id="rId5"/>
    <p:sldId id="337" r:id="rId6"/>
    <p:sldId id="307" r:id="rId7"/>
    <p:sldId id="305" r:id="rId8"/>
    <p:sldId id="306" r:id="rId9"/>
    <p:sldId id="309" r:id="rId10"/>
    <p:sldId id="338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7" r:id="rId26"/>
    <p:sldId id="328" r:id="rId27"/>
    <p:sldId id="339" r:id="rId28"/>
    <p:sldId id="329" r:id="rId29"/>
    <p:sldId id="331" r:id="rId30"/>
    <p:sldId id="332" r:id="rId31"/>
    <p:sldId id="333" r:id="rId32"/>
    <p:sldId id="334" r:id="rId33"/>
    <p:sldId id="311" r:id="rId34"/>
    <p:sldId id="336" r:id="rId35"/>
  </p:sldIdLst>
  <p:sldSz cx="24384000" cy="13716000"/>
  <p:notesSz cx="7099300" cy="10234295"/>
  <p:custDataLst>
    <p:tags r:id="rId41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2" autoAdjust="0"/>
    <p:restoredTop sz="69128" autoAdjust="0"/>
  </p:normalViewPr>
  <p:slideViewPr>
    <p:cSldViewPr snapToGrid="0">
      <p:cViewPr varScale="1">
        <p:scale>
          <a:sx n="27" d="100"/>
          <a:sy n="27" d="100"/>
        </p:scale>
        <p:origin x="75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ableStyles" Target="tableStyles.xml"/><Relationship Id="rId40" Type="http://schemas.openxmlformats.org/officeDocument/2006/relationships/commentAuthors" Target="commentAuthors.xml"/><Relationship Id="rId41" Type="http://schemas.openxmlformats.org/officeDocument/2006/relationships/tags" Target="tags/tag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4820858" y="4360818"/>
            <a:ext cx="14276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https://liuhuigmail.github.io/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audio" Target="ppt/media/media1.m4a" TargetMode="External"/><Relationship Id="rId2" Type="http://schemas.microsoft.com/office/2007/relationships/media" Target="ppt/media/media1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audio" Target="ppt/media/media2.m4a" TargetMode="External"/><Relationship Id="rId2" Type="http://schemas.microsoft.com/office/2007/relationships/media" Target="ppt/media/media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audio" Target="ppt/media/media3.m4a" TargetMode="External"/><Relationship Id="rId2" Type="http://schemas.microsoft.com/office/2007/relationships/media" Target="ppt/media/media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audio" Target="ppt/media/media4.m4a" TargetMode="External"/><Relationship Id="rId2" Type="http://schemas.microsoft.com/office/2007/relationships/media" Target="ppt/media/media4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audio" Target="ppt/media/media5.m4a" TargetMode="External"/><Relationship Id="rId2" Type="http://schemas.microsoft.com/office/2007/relationships/media" Target="ppt/media/media5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audio" Target="ppt/media/media6.m4a" TargetMode="External"/><Relationship Id="rId2" Type="http://schemas.microsoft.com/office/2007/relationships/media" Target="ppt/media/media6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audio" Target="ppt/media/media7.m4a" TargetMode="External"/><Relationship Id="rId2" Type="http://schemas.microsoft.com/office/2007/relationships/media" Target="ppt/media/media7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audio" Target="ppt/media/media8.m4a" TargetMode="External"/><Relationship Id="rId2" Type="http://schemas.microsoft.com/office/2007/relationships/media" Target="ppt/media/media8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audio" Target="ppt/media/media9.m4a" TargetMode="External"/><Relationship Id="rId2" Type="http://schemas.microsoft.com/office/2007/relationships/media" Target="ppt/media/media9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audio" Target="ppt/media/media10.m4a" TargetMode="External"/><Relationship Id="rId2" Type="http://schemas.microsoft.com/office/2007/relationships/media" Target="ppt/media/media10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audio" Target="ppt/media/media11.m4a" TargetMode="External"/><Relationship Id="rId2" Type="http://schemas.microsoft.com/office/2007/relationships/media" Target="ppt/media/media11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audio" Target="ppt/media/media12.m4a" TargetMode="External"/><Relationship Id="rId2" Type="http://schemas.microsoft.com/office/2007/relationships/media" Target="ppt/media/media12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audio" Target="ppt/media/media13.m4a" TargetMode="External"/><Relationship Id="rId3" Type="http://schemas.microsoft.com/office/2007/relationships/media" Target="ppt/media/media13.m4a" TargetMode="External"/><Relationship Id="rId4" Type="http://schemas.openxmlformats.org/officeDocument/2006/relationships/image" Target="../media/image5.png"/><Relationship Id="rId5" Type="http://schemas.openxmlformats.org/officeDocument/2006/relationships/tags" Target="../tags/tag9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audio" Target="ppt/media/media14.m4a" TargetMode="External"/><Relationship Id="rId3" Type="http://schemas.microsoft.com/office/2007/relationships/media" Target="ppt/media/media14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audio" Target="ppt/media/media15.m4a" TargetMode="External"/><Relationship Id="rId2" Type="http://schemas.microsoft.com/office/2007/relationships/media" Target="ppt/media/media15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audio" Target="ppt/media/media16.m4a" TargetMode="External"/><Relationship Id="rId2" Type="http://schemas.microsoft.com/office/2007/relationships/media" Target="ppt/media/media16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audio" Target="ppt/media/media17.m4a" TargetMode="External"/><Relationship Id="rId2" Type="http://schemas.microsoft.com/office/2007/relationships/media" Target="ppt/media/media17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audio" Target="ppt/media/media18.m4a" TargetMode="External"/><Relationship Id="rId2" Type="http://schemas.microsoft.com/office/2007/relationships/media" Target="ppt/media/media18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audio" Target="ppt/media/media19.m4a" TargetMode="External"/><Relationship Id="rId2" Type="http://schemas.microsoft.com/office/2007/relationships/media" Target="ppt/media/media19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audio" Target="ppt/media/media20.m4a" TargetMode="External"/><Relationship Id="rId2" Type="http://schemas.microsoft.com/office/2007/relationships/media" Target="ppt/media/media20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audio" Target="ppt/media/media21.m4a" TargetMode="External"/><Relationship Id="rId2" Type="http://schemas.microsoft.com/office/2007/relationships/media" Target="ppt/media/media21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audio" Target="ppt/media/media22.m4a" TargetMode="External"/><Relationship Id="rId2" Type="http://schemas.microsoft.com/office/2007/relationships/media" Target="ppt/media/media22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audio" Target="ppt/media/media23.m4a" TargetMode="External"/><Relationship Id="rId2" Type="http://schemas.microsoft.com/office/2007/relationships/media" Target="ppt/media/media23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audio" Target="ppt/media/media24.m4a" TargetMode="External"/><Relationship Id="rId2" Type="http://schemas.microsoft.com/office/2007/relationships/media" Target="ppt/media/media24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audio" Target="ppt/media/media25.m4a" TargetMode="External"/><Relationship Id="rId2" Type="http://schemas.microsoft.com/office/2007/relationships/media" Target="ppt/media/media25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audio" Target="ppt/media/media26.m4a" TargetMode="External"/><Relationship Id="rId2" Type="http://schemas.microsoft.com/office/2007/relationships/media" Target="ppt/media/media26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audio" Target="ppt/media/media27.m4a" TargetMode="External"/><Relationship Id="rId2" Type="http://schemas.microsoft.com/office/2007/relationships/media" Target="ppt/media/media27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audio" Target="ppt/media/media28.m4a" TargetMode="External"/><Relationship Id="rId2" Type="http://schemas.microsoft.com/office/2007/relationships/media" Target="ppt/media/media28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audio" Target="ppt/media/media29.m4a" TargetMode="External"/><Relationship Id="rId2" Type="http://schemas.microsoft.com/office/2007/relationships/media" Target="ppt/media/media29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audio" Target="ppt/media/media30.m4a" TargetMode="External"/><Relationship Id="rId2" Type="http://schemas.microsoft.com/office/2007/relationships/media" Target="ppt/media/media30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2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audio" Target="ppt/media/media31.m4a" TargetMode="External"/><Relationship Id="rId2" Type="http://schemas.microsoft.com/office/2007/relationships/media" Target="ppt/media/media31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audio" Target="ppt/media/media32.m4a" TargetMode="External"/><Relationship Id="rId2" Type="http://schemas.microsoft.com/office/2007/relationships/media" Target="ppt/media/media3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3896"/>
            <a:ext cx="12336711" cy="173380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智能时代的软件测试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5264262" cy="1025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等价类测试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985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黑盒测试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等价类测试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等价类测试案例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820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黑盒测试</a:t>
              </a:r>
              <a:endParaRPr lang="zh-CN" altLang="en-US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等价类测试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等价类测试案例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49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黑盒测试</a:t>
            </a:r>
            <a:endParaRPr lang="zh-CN" altLang="en-US" dirty="0"/>
          </a:p>
        </p:txBody>
      </p:sp>
      <p:grpSp>
        <p:nvGrpSpPr>
          <p:cNvPr id="13" name="Group 39"/>
          <p:cNvGrpSpPr/>
          <p:nvPr/>
        </p:nvGrpSpPr>
        <p:grpSpPr bwMode="auto">
          <a:xfrm>
            <a:off x="2518756" y="3559100"/>
            <a:ext cx="11148100" cy="7778664"/>
            <a:chOff x="771" y="981"/>
            <a:chExt cx="4212" cy="3022"/>
          </a:xfrm>
        </p:grpSpPr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382" y="2328"/>
              <a:ext cx="60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r>
                <a:rPr lang="zh-CN" altLang="en-GB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GB" sz="24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Group 38"/>
            <p:cNvGrpSpPr/>
            <p:nvPr/>
          </p:nvGrpSpPr>
          <p:grpSpPr bwMode="auto">
            <a:xfrm>
              <a:off x="771" y="981"/>
              <a:ext cx="3655" cy="3022"/>
              <a:chOff x="771" y="981"/>
              <a:chExt cx="3655" cy="3022"/>
            </a:xfrm>
          </p:grpSpPr>
          <p:sp>
            <p:nvSpPr>
              <p:cNvPr id="17" name="Text Box 25"/>
              <p:cNvSpPr txBox="1">
                <a:spLocks noChangeArrowheads="1"/>
              </p:cNvSpPr>
              <p:nvPr/>
            </p:nvSpPr>
            <p:spPr bwMode="auto">
              <a:xfrm>
                <a:off x="1010" y="3800"/>
                <a:ext cx="1529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</a:t>
                </a: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4"/>
              <p:cNvSpPr>
                <a:spLocks noChangeShapeType="1"/>
              </p:cNvSpPr>
              <p:nvPr/>
            </p:nvSpPr>
            <p:spPr bwMode="auto">
              <a:xfrm>
                <a:off x="2654" y="1080"/>
                <a:ext cx="0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5"/>
              <p:cNvSpPr>
                <a:spLocks noChangeShapeType="1"/>
              </p:cNvSpPr>
              <p:nvPr/>
            </p:nvSpPr>
            <p:spPr bwMode="auto">
              <a:xfrm flipH="1">
                <a:off x="1280" y="2472"/>
                <a:ext cx="1374" cy="1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Line 6"/>
              <p:cNvSpPr>
                <a:spLocks noChangeShapeType="1"/>
              </p:cNvSpPr>
              <p:nvPr/>
            </p:nvSpPr>
            <p:spPr bwMode="auto">
              <a:xfrm>
                <a:off x="2661" y="2472"/>
                <a:ext cx="168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Text Box 7"/>
              <p:cNvSpPr txBox="1">
                <a:spLocks noChangeArrowheads="1"/>
              </p:cNvSpPr>
              <p:nvPr/>
            </p:nvSpPr>
            <p:spPr bwMode="auto">
              <a:xfrm>
                <a:off x="1901" y="2040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单元测试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Text Box 8"/>
              <p:cNvSpPr txBox="1">
                <a:spLocks noChangeArrowheads="1"/>
              </p:cNvSpPr>
              <p:nvPr/>
            </p:nvSpPr>
            <p:spPr bwMode="auto">
              <a:xfrm>
                <a:off x="1901" y="1466"/>
                <a:ext cx="74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Text Box 9"/>
              <p:cNvSpPr txBox="1">
                <a:spLocks noChangeArrowheads="1"/>
              </p:cNvSpPr>
              <p:nvPr/>
            </p:nvSpPr>
            <p:spPr bwMode="auto">
              <a:xfrm>
                <a:off x="1923" y="1171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验收测试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10"/>
              <p:cNvSpPr>
                <a:spLocks noChangeShapeType="1"/>
              </p:cNvSpPr>
              <p:nvPr/>
            </p:nvSpPr>
            <p:spPr bwMode="auto">
              <a:xfrm>
                <a:off x="2565" y="1292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11"/>
              <p:cNvSpPr>
                <a:spLocks noChangeShapeType="1"/>
              </p:cNvSpPr>
              <p:nvPr/>
            </p:nvSpPr>
            <p:spPr bwMode="auto">
              <a:xfrm>
                <a:off x="2277" y="2712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Text Box 12"/>
              <p:cNvSpPr txBox="1">
                <a:spLocks noChangeArrowheads="1"/>
              </p:cNvSpPr>
              <p:nvPr/>
            </p:nvSpPr>
            <p:spPr bwMode="auto">
              <a:xfrm>
                <a:off x="1383" y="2795"/>
                <a:ext cx="70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Text Box 13"/>
              <p:cNvSpPr txBox="1">
                <a:spLocks noChangeArrowheads="1"/>
              </p:cNvSpPr>
              <p:nvPr/>
            </p:nvSpPr>
            <p:spPr bwMode="auto">
              <a:xfrm>
                <a:off x="1474" y="2614"/>
                <a:ext cx="91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强壮性测试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Text Box 14"/>
              <p:cNvSpPr txBox="1">
                <a:spLocks noChangeArrowheads="1"/>
              </p:cNvSpPr>
              <p:nvPr/>
            </p:nvSpPr>
            <p:spPr bwMode="auto">
              <a:xfrm>
                <a:off x="1746" y="2432"/>
                <a:ext cx="703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15"/>
              <p:cNvSpPr>
                <a:spLocks noChangeShapeType="1"/>
              </p:cNvSpPr>
              <p:nvPr/>
            </p:nvSpPr>
            <p:spPr bwMode="auto">
              <a:xfrm>
                <a:off x="2565" y="1580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16"/>
              <p:cNvSpPr>
                <a:spLocks noChangeShapeType="1"/>
              </p:cNvSpPr>
              <p:nvPr/>
            </p:nvSpPr>
            <p:spPr bwMode="auto">
              <a:xfrm>
                <a:off x="2565" y="2156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17"/>
              <p:cNvSpPr>
                <a:spLocks noChangeShapeType="1"/>
              </p:cNvSpPr>
              <p:nvPr/>
            </p:nvSpPr>
            <p:spPr bwMode="auto">
              <a:xfrm>
                <a:off x="1812" y="314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Line 18"/>
              <p:cNvSpPr>
                <a:spLocks noChangeShapeType="1"/>
              </p:cNvSpPr>
              <p:nvPr/>
            </p:nvSpPr>
            <p:spPr bwMode="auto">
              <a:xfrm>
                <a:off x="1337" y="36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19"/>
              <p:cNvSpPr>
                <a:spLocks noChangeShapeType="1"/>
              </p:cNvSpPr>
              <p:nvPr/>
            </p:nvSpPr>
            <p:spPr bwMode="auto">
              <a:xfrm>
                <a:off x="3141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3894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Text Box 21"/>
              <p:cNvSpPr txBox="1">
                <a:spLocks noChangeArrowheads="1"/>
              </p:cNvSpPr>
              <p:nvPr/>
            </p:nvSpPr>
            <p:spPr bwMode="auto">
              <a:xfrm>
                <a:off x="2757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白盒测试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Text Box 22"/>
              <p:cNvSpPr txBox="1">
                <a:spLocks noChangeArrowheads="1"/>
              </p:cNvSpPr>
              <p:nvPr/>
            </p:nvSpPr>
            <p:spPr bwMode="auto">
              <a:xfrm>
                <a:off x="3628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黑盒测试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Text Box 23"/>
              <p:cNvSpPr txBox="1">
                <a:spLocks noChangeArrowheads="1"/>
              </p:cNvSpPr>
              <p:nvPr/>
            </p:nvSpPr>
            <p:spPr bwMode="auto">
              <a:xfrm>
                <a:off x="2278" y="981"/>
                <a:ext cx="1428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测试阶段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26"/>
              <p:cNvSpPr>
                <a:spLocks noChangeShapeType="1"/>
              </p:cNvSpPr>
              <p:nvPr/>
            </p:nvSpPr>
            <p:spPr bwMode="auto">
              <a:xfrm>
                <a:off x="2075" y="29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27"/>
              <p:cNvSpPr>
                <a:spLocks noChangeShapeType="1"/>
              </p:cNvSpPr>
              <p:nvPr/>
            </p:nvSpPr>
            <p:spPr bwMode="auto">
              <a:xfrm>
                <a:off x="1566" y="338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Text Box 29"/>
              <p:cNvSpPr txBox="1">
                <a:spLocks noChangeArrowheads="1"/>
              </p:cNvSpPr>
              <p:nvPr/>
            </p:nvSpPr>
            <p:spPr bwMode="auto">
              <a:xfrm>
                <a:off x="1029" y="3043"/>
                <a:ext cx="86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可靠性测试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30"/>
              <p:cNvSpPr>
                <a:spLocks noChangeShapeType="1"/>
              </p:cNvSpPr>
              <p:nvPr/>
            </p:nvSpPr>
            <p:spPr bwMode="auto">
              <a:xfrm>
                <a:off x="2565" y="1868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Text Box 31"/>
              <p:cNvSpPr txBox="1">
                <a:spLocks noChangeArrowheads="1"/>
              </p:cNvSpPr>
              <p:nvPr/>
            </p:nvSpPr>
            <p:spPr bwMode="auto">
              <a:xfrm>
                <a:off x="1717" y="1761"/>
                <a:ext cx="82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Text Box 32"/>
              <p:cNvSpPr txBox="1">
                <a:spLocks noChangeArrowheads="1"/>
              </p:cNvSpPr>
              <p:nvPr/>
            </p:nvSpPr>
            <p:spPr bwMode="auto">
              <a:xfrm>
                <a:off x="771" y="3271"/>
                <a:ext cx="880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安全性测试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33"/>
              <p:cNvSpPr>
                <a:spLocks noChangeShapeType="1"/>
              </p:cNvSpPr>
              <p:nvPr/>
            </p:nvSpPr>
            <p:spPr bwMode="auto">
              <a:xfrm>
                <a:off x="2421" y="2560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椭圆 2"/>
          <p:cNvSpPr/>
          <p:nvPr/>
        </p:nvSpPr>
        <p:spPr>
          <a:xfrm>
            <a:off x="7775196" y="6027577"/>
            <a:ext cx="6248970" cy="3099111"/>
          </a:xfrm>
          <a:prstGeom prst="ellipse">
            <a:avLst/>
          </a:prstGeom>
          <a:solidFill>
            <a:schemeClr val="accent5">
              <a:lumMod val="75000"/>
              <a:alpha val="14118"/>
            </a:schemeClr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933900" y="4910748"/>
            <a:ext cx="561498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zh-CN" altLang="en-US" sz="48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多维度分类：</a:t>
            </a:r>
            <a:endParaRPr lang="en-US" altLang="zh-CN" sz="48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测试方法</a:t>
            </a:r>
            <a:endParaRPr lang="en-US" altLang="zh-CN" sz="48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测试阶段</a:t>
            </a:r>
            <a:endParaRPr lang="en-US" altLang="zh-CN" sz="4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zh-CN" altLang="en-US" sz="4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测试目标</a:t>
            </a:r>
            <a:endParaRPr lang="zh-CN" altLang="en-US" sz="4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282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黑盒测试</a:t>
            </a:r>
            <a:endParaRPr lang="zh-CN" altLang="en-US" dirty="0"/>
          </a:p>
        </p:txBody>
      </p:sp>
      <p:sp>
        <p:nvSpPr>
          <p:cNvPr id="18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  <p:sp>
        <p:nvSpPr>
          <p:cNvPr id="20" name="立方体 19"/>
          <p:cNvSpPr/>
          <p:nvPr/>
        </p:nvSpPr>
        <p:spPr>
          <a:xfrm>
            <a:off x="9994358" y="3443287"/>
            <a:ext cx="3529012" cy="3414713"/>
          </a:xfrm>
          <a:prstGeom prst="cub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673813" y="4504313"/>
            <a:ext cx="1641476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软件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系统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22" name="右箭头 21"/>
          <p:cNvSpPr/>
          <p:nvPr/>
        </p:nvSpPr>
        <p:spPr>
          <a:xfrm>
            <a:off x="14509211" y="4889579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6908260" y="4889579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7308766" y="8485563"/>
            <a:ext cx="1641475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预期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003964" y="5041979"/>
            <a:ext cx="1641476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27" name="上下箭头 26"/>
          <p:cNvSpPr/>
          <p:nvPr/>
        </p:nvSpPr>
        <p:spPr>
          <a:xfrm>
            <a:off x="17494503" y="6686550"/>
            <a:ext cx="964404" cy="1614487"/>
          </a:xfrm>
          <a:prstGeom prst="up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69128" y="5041979"/>
            <a:ext cx="1641475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9000017" y="4670496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9378315" y="4857971"/>
            <a:ext cx="544042" cy="1255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1" name="椭圆 30"/>
          <p:cNvSpPr/>
          <p:nvPr/>
        </p:nvSpPr>
        <p:spPr>
          <a:xfrm>
            <a:off x="9080977" y="5737301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2" name="直接连接符 31"/>
          <p:cNvCxnSpPr>
            <a:stCxn id="31" idx="6"/>
          </p:cNvCxnSpPr>
          <p:nvPr/>
        </p:nvCxnSpPr>
        <p:spPr>
          <a:xfrm>
            <a:off x="9509602" y="5937326"/>
            <a:ext cx="445546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3" name="椭圆 32"/>
          <p:cNvSpPr/>
          <p:nvPr/>
        </p:nvSpPr>
        <p:spPr>
          <a:xfrm>
            <a:off x="14017085" y="4783277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13431298" y="4983303"/>
            <a:ext cx="594370" cy="2857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909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2" grpId="0" animBg="1"/>
      <p:bldP spid="23" grpId="0" animBg="1"/>
      <p:bldP spid="24" grpId="0"/>
      <p:bldP spid="26" grpId="0"/>
      <p:bldP spid="27" grpId="0" animBg="1"/>
      <p:bldP spid="28" grpId="0"/>
      <p:bldP spid="29" grpId="0" animBg="1"/>
      <p:bldP spid="31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黑盒测试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3543299" y="4429125"/>
            <a:ext cx="17302164" cy="45259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黑盒测试（数据驱动测试）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它是把测试对象看做一个黑盒子，测试人员完全不考虑程序内部的逻辑结构和内部特性，只依据程序的需求规格说明书，检查程序的功能是否符合它的功能说明。 </a:t>
            </a:r>
            <a:endParaRPr lang="zh-CN" altLang="en-US" sz="48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95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黑盒测试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3086671"/>
            <a:ext cx="7349988" cy="744813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黑盒测试技术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等价类划分</a:t>
            </a:r>
            <a:endParaRPr lang="zh-CN" altLang="en-US" sz="4800" dirty="0"/>
          </a:p>
          <a:p>
            <a:pPr lvl="2"/>
            <a:r>
              <a:rPr lang="zh-CN" altLang="en-US" sz="4800" dirty="0"/>
              <a:t>边界值分析</a:t>
            </a:r>
            <a:endParaRPr lang="zh-CN" altLang="en-US" sz="4800" dirty="0"/>
          </a:p>
          <a:p>
            <a:pPr lvl="2"/>
            <a:r>
              <a:rPr lang="zh-CN" altLang="en-US" sz="4800" dirty="0"/>
              <a:t>输入组合法</a:t>
            </a:r>
            <a:endParaRPr lang="zh-CN" altLang="en-US" sz="4800" dirty="0"/>
          </a:p>
          <a:p>
            <a:pPr lvl="2"/>
            <a:r>
              <a:rPr lang="zh-CN" altLang="en-US" sz="4800" dirty="0"/>
              <a:t>因果图</a:t>
            </a:r>
            <a:endParaRPr lang="zh-CN" altLang="en-US" sz="4800" dirty="0"/>
          </a:p>
          <a:p>
            <a:pPr lvl="2"/>
            <a:r>
              <a:rPr lang="zh-CN" altLang="en-US" sz="4800" dirty="0"/>
              <a:t>基于状态测试</a:t>
            </a:r>
            <a:endParaRPr lang="zh-CN" altLang="en-US" sz="4800" dirty="0"/>
          </a:p>
          <a:p>
            <a:pPr marL="1270000" lvl="2" indent="0">
              <a:buNone/>
            </a:pPr>
            <a:endParaRPr lang="zh-CN" altLang="en-US" sz="48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01</a:t>
            </a:r>
            <a:endParaRPr dirty="0"/>
          </a:p>
        </p:txBody>
      </p:sp>
      <p:grpSp>
        <p:nvGrpSpPr>
          <p:cNvPr id="3" name="组合 2"/>
          <p:cNvGrpSpPr/>
          <p:nvPr/>
        </p:nvGrpSpPr>
        <p:grpSpPr>
          <a:xfrm>
            <a:off x="13590738" y="4950374"/>
            <a:ext cx="4103944" cy="2758205"/>
            <a:chOff x="14531926" y="4904865"/>
            <a:chExt cx="5445693" cy="3414713"/>
          </a:xfrm>
        </p:grpSpPr>
        <p:sp>
          <p:nvSpPr>
            <p:cNvPr id="6" name="立方体 5"/>
            <p:cNvSpPr/>
            <p:nvPr/>
          </p:nvSpPr>
          <p:spPr>
            <a:xfrm>
              <a:off x="15526267" y="4904865"/>
              <a:ext cx="3529012" cy="3414713"/>
            </a:xfrm>
            <a:prstGeom prst="cube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205722" y="5965892"/>
              <a:ext cx="1641476" cy="194925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60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/>
                </a:rPr>
                <a:t>软件</a:t>
              </a:r>
              <a:endParaRPr kumimoji="0" lang="en-US" altLang="zh-CN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endParaRPr>
            </a:p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60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/>
                </a:rPr>
                <a:t>系统</a:t>
              </a:r>
              <a:endParaRPr kumimoji="0" lang="zh-CN" altLang="en-US" sz="48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4531926" y="6132074"/>
              <a:ext cx="428626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4910224" y="6319549"/>
              <a:ext cx="544042" cy="1255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0" name="椭圆 9"/>
            <p:cNvSpPr/>
            <p:nvPr/>
          </p:nvSpPr>
          <p:spPr>
            <a:xfrm>
              <a:off x="14612886" y="7198879"/>
              <a:ext cx="428626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11" name="直接连接符 10"/>
            <p:cNvCxnSpPr>
              <a:stCxn id="10" idx="6"/>
            </p:cNvCxnSpPr>
            <p:nvPr/>
          </p:nvCxnSpPr>
          <p:spPr>
            <a:xfrm>
              <a:off x="15041511" y="7398904"/>
              <a:ext cx="445546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12" name="椭圆 11"/>
            <p:cNvSpPr/>
            <p:nvPr/>
          </p:nvSpPr>
          <p:spPr>
            <a:xfrm>
              <a:off x="19548993" y="6244855"/>
              <a:ext cx="428626" cy="40005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V="1">
              <a:off x="18963207" y="6444881"/>
              <a:ext cx="594370" cy="2857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  <p:sp>
        <p:nvSpPr>
          <p:cNvPr id="14" name="右箭头 13"/>
          <p:cNvSpPr/>
          <p:nvPr/>
        </p:nvSpPr>
        <p:spPr>
          <a:xfrm>
            <a:off x="11921659" y="5775888"/>
            <a:ext cx="1355644" cy="110717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87958" y="5816515"/>
            <a:ext cx="1908942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17975900" y="5775888"/>
            <a:ext cx="1355644" cy="1107176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819679" y="5816515"/>
            <a:ext cx="1908942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</a:t>
            </a:r>
            <a:r>
              <a:rPr lang="zh-CN" altLang="en-US" sz="6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18" name="Audio 1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70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黑盒测试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等价类测试</a:t>
              </a:r>
              <a:endParaRPr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等价类测试案例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052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3466598"/>
            <a:ext cx="17381222" cy="771885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等价类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如果软件的行为对于一组值来说是相同的，那么这组值就叫做等价类。（</a:t>
            </a:r>
            <a:r>
              <a:rPr lang="zh-CN" altLang="en-US" sz="5400" dirty="0">
                <a:latin typeface="方正舒体" panose="02010601030101010101" pitchFamily="2" charset="-122"/>
                <a:ea typeface="方正舒体" panose="02010601030101010101" pitchFamily="2" charset="-122"/>
              </a:rPr>
              <a:t>并不意味着输出完全一样</a:t>
            </a:r>
            <a:r>
              <a:rPr lang="zh-CN" altLang="en-US" sz="5400" dirty="0"/>
              <a:t>）</a:t>
            </a:r>
            <a:endParaRPr lang="en-US" altLang="zh-CN" sz="5400" dirty="0"/>
          </a:p>
          <a:p>
            <a:pPr lvl="2"/>
            <a:r>
              <a:rPr lang="zh-CN" altLang="en-US" sz="5400" dirty="0"/>
              <a:t>等价类是指测试相同目标或者暴露相同软件缺陷的一组测试用例。</a:t>
            </a:r>
            <a:endParaRPr lang="en-US" altLang="zh-CN" sz="5400" dirty="0"/>
          </a:p>
          <a:p>
            <a:pPr lvl="2"/>
            <a:endParaRPr lang="zh-CN" altLang="en-US" sz="54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54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" name="矩形 2"/>
          <p:cNvSpPr/>
          <p:nvPr/>
        </p:nvSpPr>
        <p:spPr>
          <a:xfrm>
            <a:off x="13290534" y="1157763"/>
            <a:ext cx="8355496" cy="1163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Grade(int score)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if(score&gt;100)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System.out.print("Out of scope");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if(score&gt;90)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System.out.print("A");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if(score&gt;80)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System.out.print("B");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if(score&gt;70)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System.out.print("C");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System.out.print("D");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3225968"/>
            <a:ext cx="10882355" cy="85712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软件规约：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将输入的百分制成绩转换为</a:t>
            </a:r>
            <a:r>
              <a:rPr lang="en-US" altLang="zh-CN" sz="5400" dirty="0"/>
              <a:t>A</a:t>
            </a:r>
            <a:r>
              <a:rPr lang="zh-CN" altLang="en-US" sz="5400" dirty="0"/>
              <a:t>、</a:t>
            </a:r>
            <a:r>
              <a:rPr lang="en-US" altLang="zh-CN" sz="5400" dirty="0"/>
              <a:t>B</a:t>
            </a:r>
            <a:r>
              <a:rPr lang="zh-CN" altLang="en-US" sz="5400" dirty="0"/>
              <a:t>、</a:t>
            </a:r>
            <a:r>
              <a:rPr lang="en-US" altLang="zh-CN" sz="5400" dirty="0"/>
              <a:t>C</a:t>
            </a:r>
            <a:r>
              <a:rPr lang="zh-CN" altLang="en-US" sz="5400" dirty="0"/>
              <a:t>、</a:t>
            </a:r>
            <a:r>
              <a:rPr lang="en-US" altLang="zh-CN" sz="5400" dirty="0"/>
              <a:t>D</a:t>
            </a:r>
            <a:r>
              <a:rPr lang="zh-CN" altLang="en-US" sz="5400" dirty="0"/>
              <a:t>四档成绩。</a:t>
            </a:r>
            <a:endParaRPr lang="en-US" altLang="zh-CN" sz="5400" dirty="0"/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80-90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70-80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sz="54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673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01206" y="3395455"/>
            <a:ext cx="10882355" cy="85712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软件规约：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将输入的百分制成绩转换为</a:t>
            </a:r>
            <a:r>
              <a:rPr lang="en-US" altLang="zh-CN" sz="5400" dirty="0"/>
              <a:t>A</a:t>
            </a:r>
            <a:r>
              <a:rPr lang="zh-CN" altLang="en-US" sz="5400" dirty="0"/>
              <a:t>、</a:t>
            </a:r>
            <a:r>
              <a:rPr lang="en-US" altLang="zh-CN" sz="5400" dirty="0"/>
              <a:t>B</a:t>
            </a:r>
            <a:r>
              <a:rPr lang="zh-CN" altLang="en-US" sz="5400" dirty="0"/>
              <a:t>、</a:t>
            </a:r>
            <a:r>
              <a:rPr lang="en-US" altLang="zh-CN" sz="5400" dirty="0"/>
              <a:t>C</a:t>
            </a:r>
            <a:r>
              <a:rPr lang="zh-CN" altLang="en-US" sz="5400" dirty="0"/>
              <a:t>、</a:t>
            </a:r>
            <a:r>
              <a:rPr lang="en-US" altLang="zh-CN" sz="5400" dirty="0"/>
              <a:t>D</a:t>
            </a:r>
            <a:r>
              <a:rPr lang="zh-CN" altLang="en-US" sz="5400" dirty="0"/>
              <a:t>四档成绩。</a:t>
            </a:r>
            <a:endParaRPr lang="en-US" altLang="zh-CN" sz="5400" dirty="0"/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80-90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70-80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sz="5400" dirty="0"/>
          </a:p>
        </p:txBody>
      </p:sp>
      <p:sp>
        <p:nvSpPr>
          <p:cNvPr id="7" name="矩形 6"/>
          <p:cNvSpPr/>
          <p:nvPr/>
        </p:nvSpPr>
        <p:spPr>
          <a:xfrm>
            <a:off x="14917785" y="3824701"/>
            <a:ext cx="4921540" cy="771276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95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97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98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85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81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89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72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73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79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59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655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7" grpId="0" animBg="1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" name="矩形 2"/>
          <p:cNvSpPr/>
          <p:nvPr/>
        </p:nvSpPr>
        <p:spPr>
          <a:xfrm>
            <a:off x="11965768" y="1078867"/>
            <a:ext cx="8355496" cy="1163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Grade(int score)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if(score&gt;100)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System.out.print("Out of scope");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if(score&gt;90)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System.out.print("A");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if(score&gt;80)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System.out.print("B");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if(score&gt;70)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System.out.print("C");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System.out.print("D");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47999" y="3001617"/>
            <a:ext cx="4921540" cy="771276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95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97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98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85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81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89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72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73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79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59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5783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" name="矩形 2"/>
          <p:cNvSpPr/>
          <p:nvPr/>
        </p:nvSpPr>
        <p:spPr>
          <a:xfrm>
            <a:off x="13620325" y="3436099"/>
            <a:ext cx="8355496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Grade(int score)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if(score&gt;90)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4*score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if(score&gt;80)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2*score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if(score&gt;70)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return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0.5*score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>
              <a:xfrm>
                <a:off x="2737970" y="3436099"/>
                <a:ext cx="10882355" cy="857125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50800" tIns="50800" rIns="50800" bIns="50800" anchor="ctr">
                <a:noAutofit/>
              </a:bodyPr>
              <a:lstStyle>
                <a:lvl1pPr marL="635000" indent="-635000" algn="l">
                  <a:lnSpc>
                    <a:spcPct val="200000"/>
                  </a:lnSpc>
                  <a:buFont typeface="Wingdings" panose="05000000000000000000" pitchFamily="2" charset="2"/>
                  <a:buChar char="n"/>
                  <a:defRPr sz="4400" b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1pPr>
                <a:lvl2pPr marL="1270000" indent="-635000" algn="l">
                  <a:spcBef>
                    <a:spcPts val="5900"/>
                  </a:spcBef>
                  <a:buSzPct val="125000"/>
                  <a:buChar char="•"/>
                  <a:defRPr sz="4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905000" lvl="2" indent="-635000" algn="l">
                  <a:lnSpc>
                    <a:spcPct val="150000"/>
                  </a:lnSpc>
                  <a:buSzPct val="125000"/>
                  <a:buFont typeface="Wingdings" panose="05000000000000000000" pitchFamily="2" charset="2"/>
                  <a:buChar char="Ø"/>
                  <a:defRPr sz="4400" b="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2540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4pPr>
                <a:lvl5pPr marL="3175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5pPr>
                <a:lvl6pPr marL="3810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6pPr>
                <a:lvl7pPr marL="4445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7pPr>
                <a:lvl8pPr marL="5080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8pPr>
                <a:lvl9pPr marL="5715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9pPr>
              </a:lstStyle>
              <a:p>
                <a:r>
                  <a:rPr lang="zh-CN" altLang="en-US" sz="5400" b="1" dirty="0"/>
                  <a:t>软件规约：</a:t>
                </a:r>
                <a:endParaRPr lang="en-US" altLang="zh-CN" sz="5400" b="1" dirty="0"/>
              </a:p>
              <a:p>
                <a:pPr lvl="2"/>
                <a:r>
                  <a:rPr lang="zh-CN" altLang="en-US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依据成绩</a:t>
                </a:r>
                <a:r>
                  <a:rPr lang="en-US" altLang="zh-CN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</a:t>
                </a:r>
                <a:r>
                  <a:rPr lang="zh-CN" altLang="en-US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计算奖励。</a:t>
                </a:r>
                <a:endPara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altLang="zh-CN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en-US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以上：</a:t>
                </a:r>
                <a14:m>
                  <m:oMath xmlns:m="http://schemas.openxmlformats.org/officeDocument/2006/math"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𝒔𝒄𝒐𝒓𝒆</m:t>
                    </m:r>
                  </m:oMath>
                </a14:m>
                <a:endParaRPr lang="en-US" altLang="zh-CN" sz="48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altLang="zh-CN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80-90</a:t>
                </a:r>
                <a:r>
                  <a:rPr lang="zh-CN" altLang="en-US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𝒔𝒄𝒐𝒓𝒆</m:t>
                    </m:r>
                  </m:oMath>
                </a14:m>
                <a:endParaRPr lang="en-US" altLang="zh-CN" sz="48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altLang="zh-CN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70-80</a:t>
                </a:r>
                <a:r>
                  <a:rPr lang="zh-CN" altLang="en-US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𝒔𝒄𝒐𝒓𝒆</m:t>
                    </m:r>
                  </m:oMath>
                </a14:m>
                <a:endParaRPr lang="en-US" altLang="zh-CN" sz="48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altLang="zh-CN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70</a:t>
                </a:r>
                <a:r>
                  <a:rPr lang="zh-CN" altLang="en-US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以下：</a:t>
                </a:r>
                <a14:m>
                  <m:oMath xmlns:m="http://schemas.openxmlformats.org/officeDocument/2006/math"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𝒔𝒄𝒐𝒓𝒆</m:t>
                    </m:r>
                  </m:oMath>
                </a14:m>
                <a:endParaRPr lang="en-US" altLang="zh-CN" sz="48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endParaRPr lang="en-US" altLang="zh-CN" sz="48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/>
                <a:endParaRPr lang="zh-CN" altLang="en-US" sz="5400" dirty="0"/>
              </a:p>
            </p:txBody>
          </p:sp>
        </mc:Choice>
        <mc:Fallback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970" y="3436099"/>
                <a:ext cx="10882355" cy="8571258"/>
              </a:xfrm>
              <a:prstGeom prst="rect">
                <a:avLst/>
              </a:prstGeom>
              <a:blipFill rotWithShape="1">
                <a:blip r:embed="rId1"/>
                <a:stretch>
                  <a:fillRect l="-4" t="-10447" r="2" b="-1045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0591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>
              <a:xfrm>
                <a:off x="2799308" y="3395455"/>
                <a:ext cx="10882355" cy="857125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50800" tIns="50800" rIns="50800" bIns="50800" anchor="ctr">
                <a:noAutofit/>
              </a:bodyPr>
              <a:lstStyle>
                <a:lvl1pPr marL="635000" indent="-635000" algn="l">
                  <a:lnSpc>
                    <a:spcPct val="200000"/>
                  </a:lnSpc>
                  <a:buFont typeface="Wingdings" panose="05000000000000000000" pitchFamily="2" charset="2"/>
                  <a:buChar char="n"/>
                  <a:defRPr sz="4400" b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1pPr>
                <a:lvl2pPr marL="1270000" indent="-635000" algn="l">
                  <a:spcBef>
                    <a:spcPts val="5900"/>
                  </a:spcBef>
                  <a:buSzPct val="125000"/>
                  <a:buChar char="•"/>
                  <a:defRPr sz="4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defRPr>
                </a:lvl2pPr>
                <a:lvl3pPr marL="1905000" lvl="2" indent="-635000" algn="l">
                  <a:lnSpc>
                    <a:spcPct val="150000"/>
                  </a:lnSpc>
                  <a:buSzPct val="125000"/>
                  <a:buFont typeface="Wingdings" panose="05000000000000000000" pitchFamily="2" charset="2"/>
                  <a:buChar char="Ø"/>
                  <a:defRPr sz="4400" b="0"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3pPr>
                <a:lvl4pPr marL="2540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4pPr>
                <a:lvl5pPr marL="3175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5pPr>
                <a:lvl6pPr marL="3810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6pPr>
                <a:lvl7pPr marL="4445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7pPr>
                <a:lvl8pPr marL="5080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8pPr>
                <a:lvl9pPr marL="5715000" indent="-635000" algn="l">
                  <a:spcBef>
                    <a:spcPts val="5900"/>
                  </a:spcBef>
                  <a:buSzPct val="125000"/>
                  <a:buChar char="•"/>
                  <a:defRPr sz="5200" b="0"/>
                </a:lvl9pPr>
              </a:lstStyle>
              <a:p>
                <a:r>
                  <a:rPr lang="zh-CN" altLang="en-US" sz="5400" b="1" dirty="0"/>
                  <a:t>软件规约：</a:t>
                </a:r>
                <a:endParaRPr lang="en-US" altLang="zh-CN" sz="5400" b="1" dirty="0"/>
              </a:p>
              <a:p>
                <a:pPr lvl="2"/>
                <a:r>
                  <a:rPr lang="zh-CN" altLang="en-US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依据成绩</a:t>
                </a:r>
                <a:r>
                  <a:rPr lang="en-US" altLang="zh-CN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</a:t>
                </a:r>
                <a:r>
                  <a:rPr lang="zh-CN" altLang="en-US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计算奖励。</a:t>
                </a:r>
                <a:endParaRPr lang="en-US" altLang="zh-CN" sz="5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altLang="zh-CN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90</a:t>
                </a:r>
                <a:r>
                  <a:rPr lang="zh-CN" altLang="en-US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以上：</a:t>
                </a:r>
                <a14:m>
                  <m:oMath xmlns:m="http://schemas.openxmlformats.org/officeDocument/2006/math"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𝒔𝒄𝒐𝒓𝒆</m:t>
                    </m:r>
                  </m:oMath>
                </a14:m>
                <a:endParaRPr lang="en-US" altLang="zh-CN" sz="48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altLang="zh-CN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80-90</a:t>
                </a:r>
                <a:r>
                  <a:rPr lang="zh-CN" altLang="en-US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𝒔𝒄𝒐𝒓𝒆</m:t>
                    </m:r>
                  </m:oMath>
                </a14:m>
                <a:endParaRPr lang="en-US" altLang="zh-CN" sz="48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altLang="zh-CN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70-80</a:t>
                </a:r>
                <a:r>
                  <a:rPr lang="zh-CN" altLang="en-US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𝒔𝒄𝒐𝒓𝒆</m:t>
                    </m:r>
                  </m:oMath>
                </a14:m>
                <a:endParaRPr lang="en-US" altLang="zh-CN" sz="48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altLang="zh-CN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70</a:t>
                </a:r>
                <a:r>
                  <a:rPr lang="zh-CN" altLang="en-US" sz="4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以下：</a:t>
                </a:r>
                <a14:m>
                  <m:oMath xmlns:m="http://schemas.openxmlformats.org/officeDocument/2006/math"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4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𝒔𝒄𝒐𝒓𝒆</m:t>
                    </m:r>
                  </m:oMath>
                </a14:m>
                <a:endParaRPr lang="en-US" altLang="zh-CN" sz="48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3">
                  <a:lnSpc>
                    <a:spcPct val="150000"/>
                  </a:lnSpc>
                  <a:spcBef>
                    <a:spcPts val="1200"/>
                  </a:spcBef>
                </a:pPr>
                <a:endParaRPr lang="en-US" altLang="zh-CN" sz="48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2"/>
                <a:endParaRPr lang="zh-CN" altLang="en-US" sz="5400" dirty="0"/>
              </a:p>
            </p:txBody>
          </p:sp>
        </mc:Choice>
        <mc:Fallback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308" y="3395455"/>
                <a:ext cx="10882355" cy="8571258"/>
              </a:xfrm>
              <a:prstGeom prst="rect">
                <a:avLst/>
              </a:prstGeom>
              <a:blipFill rotWithShape="1">
                <a:blip r:embed="rId1"/>
                <a:stretch>
                  <a:fillRect l="-2" t="-10447" r="5" b="-1045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3681663" y="3001617"/>
            <a:ext cx="4921540" cy="771276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95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97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98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85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81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89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72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73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79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59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7286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7" grpId="0" animBg="1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" name="矩形 2"/>
          <p:cNvSpPr/>
          <p:nvPr/>
        </p:nvSpPr>
        <p:spPr>
          <a:xfrm>
            <a:off x="13682746" y="3289817"/>
            <a:ext cx="8355496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Grade(int score)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if(score&gt;90)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4*score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if(score&gt;80)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2*score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if(score&gt;70) 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return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 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return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0.5*score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79716" y="3001617"/>
            <a:ext cx="4921540" cy="771276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95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97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98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85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81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89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72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73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79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59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2402" y="11982943"/>
            <a:ext cx="98796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能否根据执行路径设计等价类？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4"/>
    </p:custDataLst>
  </p:cSld>
  <p:clrMapOvr>
    <a:masterClrMapping/>
  </p:clrMapOvr>
  <p:transition spd="med" advTm="1001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3180214"/>
            <a:ext cx="18087341" cy="634492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等价类划分方法</a:t>
            </a:r>
            <a:endParaRPr lang="en-US" altLang="zh-CN" sz="5400" dirty="0"/>
          </a:p>
          <a:p>
            <a:pPr lvl="2" algn="just"/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</a:rPr>
              <a:t>把所有可能的输入数据划分成若干部分（等价类），然后从每一个等价类中选取少数有代表性的数据作为测试用例。</a:t>
            </a:r>
            <a:endParaRPr lang="en-US" altLang="zh-CN" sz="5400" dirty="0"/>
          </a:p>
          <a:p>
            <a:pPr lvl="2"/>
            <a:endParaRPr lang="zh-CN" altLang="en-US" sz="5400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714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2121761"/>
            <a:ext cx="19395440" cy="94996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测试用例选择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设计一个测试用例，尽可能多地覆盖尚未覆盖的有效等价类。重复这个步骤直到覆盖所有</a:t>
            </a:r>
            <a:r>
              <a:rPr lang="zh-CN" altLang="en-US" dirty="0">
                <a:solidFill>
                  <a:srgbClr val="FF0000"/>
                </a:solidFill>
              </a:rPr>
              <a:t>有效等价类</a:t>
            </a:r>
            <a:r>
              <a:rPr lang="zh-CN" altLang="en-US" dirty="0"/>
              <a:t>为止；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设计一个测试用例，尽可能少地覆盖尚未被覆盖的无效等价类（大于等于一）。重复这个步骤，直到所有</a:t>
            </a:r>
            <a:r>
              <a:rPr lang="zh-CN" altLang="en-US" dirty="0">
                <a:solidFill>
                  <a:srgbClr val="FF0000"/>
                </a:solidFill>
              </a:rPr>
              <a:t>无效等价类</a:t>
            </a:r>
            <a:r>
              <a:rPr lang="zh-CN" altLang="en-US" dirty="0"/>
              <a:t>都被覆盖为止。</a:t>
            </a:r>
            <a:endParaRPr lang="en-US" altLang="zh-CN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39089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993891"/>
            <a:ext cx="18239741" cy="85712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软件规约：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将输入的百分制成绩转换为</a:t>
            </a:r>
            <a:r>
              <a:rPr lang="en-US" altLang="zh-CN" sz="5400" dirty="0"/>
              <a:t>A</a:t>
            </a:r>
            <a:r>
              <a:rPr lang="zh-CN" altLang="en-US" sz="5400" dirty="0"/>
              <a:t>、</a:t>
            </a:r>
            <a:r>
              <a:rPr lang="en-US" altLang="zh-CN" sz="5400" dirty="0"/>
              <a:t>B</a:t>
            </a:r>
            <a:r>
              <a:rPr lang="zh-CN" altLang="en-US" sz="5400" dirty="0"/>
              <a:t>、</a:t>
            </a:r>
            <a:r>
              <a:rPr lang="en-US" altLang="zh-CN" sz="5400" dirty="0"/>
              <a:t>C</a:t>
            </a:r>
            <a:r>
              <a:rPr lang="zh-CN" altLang="en-US" sz="5400" dirty="0"/>
              <a:t>、</a:t>
            </a:r>
            <a:r>
              <a:rPr lang="en-US" altLang="zh-CN" sz="5400" dirty="0"/>
              <a:t>D</a:t>
            </a:r>
            <a:r>
              <a:rPr lang="zh-CN" altLang="en-US" sz="5400" dirty="0"/>
              <a:t>四档成绩。</a:t>
            </a:r>
            <a:endParaRPr lang="en-US" altLang="zh-CN" sz="5400" dirty="0"/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80-90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70-80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以下：</a:t>
            </a:r>
            <a:r>
              <a:rPr lang="en-US" altLang="zh-CN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sz="5400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794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772752"/>
            <a:ext cx="16794678" cy="94996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有效等价类</a:t>
            </a:r>
            <a:endParaRPr lang="en-US" altLang="zh-CN" dirty="0"/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[90,100]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[80,90)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[70,80)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[0,70)</a:t>
            </a:r>
            <a:endParaRPr lang="en-US" altLang="zh-CN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390427" y="3255441"/>
            <a:ext cx="10142221" cy="85712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软件规约：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将输入的百分制成绩转换为</a:t>
            </a:r>
            <a:r>
              <a:rPr lang="en-US" altLang="zh-CN" sz="5400" dirty="0"/>
              <a:t>A</a:t>
            </a:r>
            <a:r>
              <a:rPr lang="zh-CN" altLang="en-US" sz="5400" dirty="0"/>
              <a:t>、</a:t>
            </a:r>
            <a:r>
              <a:rPr lang="en-US" altLang="zh-CN" sz="5400" dirty="0"/>
              <a:t>B</a:t>
            </a:r>
            <a:r>
              <a:rPr lang="zh-CN" altLang="en-US" sz="5400" dirty="0"/>
              <a:t>、</a:t>
            </a:r>
            <a:r>
              <a:rPr lang="en-US" altLang="zh-CN" sz="5400" dirty="0"/>
              <a:t>C</a:t>
            </a:r>
            <a:r>
              <a:rPr lang="zh-CN" altLang="en-US" sz="5400" dirty="0"/>
              <a:t>、</a:t>
            </a:r>
            <a:r>
              <a:rPr lang="en-US" altLang="zh-CN" sz="5400" dirty="0"/>
              <a:t>D</a:t>
            </a:r>
            <a:r>
              <a:rPr lang="zh-CN" altLang="en-US" sz="5400" dirty="0"/>
              <a:t>四档成绩。</a:t>
            </a:r>
            <a:endParaRPr lang="en-US" altLang="zh-CN" sz="5400" dirty="0"/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以上：</a:t>
            </a:r>
            <a:r>
              <a:rPr lang="en-US" altLang="zh-CN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80-90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70-80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以下：</a:t>
            </a:r>
            <a:r>
              <a:rPr lang="en-US" altLang="zh-CN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209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1078867"/>
            <a:ext cx="6551980" cy="71273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无效等价类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(100,+∝]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[-∝, 0)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289950" y="3250010"/>
            <a:ext cx="10142221" cy="85712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软件规约：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将输入的百分制成绩转换为</a:t>
            </a:r>
            <a:r>
              <a:rPr lang="en-US" altLang="zh-CN" sz="5400" dirty="0"/>
              <a:t>A</a:t>
            </a:r>
            <a:r>
              <a:rPr lang="zh-CN" altLang="en-US" sz="5400" dirty="0"/>
              <a:t>、</a:t>
            </a:r>
            <a:r>
              <a:rPr lang="en-US" altLang="zh-CN" sz="5400" dirty="0"/>
              <a:t>B</a:t>
            </a:r>
            <a:r>
              <a:rPr lang="zh-CN" altLang="en-US" sz="5400" dirty="0"/>
              <a:t>、</a:t>
            </a:r>
            <a:r>
              <a:rPr lang="en-US" altLang="zh-CN" sz="5400" dirty="0"/>
              <a:t>C</a:t>
            </a:r>
            <a:r>
              <a:rPr lang="zh-CN" altLang="en-US" sz="5400" dirty="0"/>
              <a:t>、</a:t>
            </a:r>
            <a:r>
              <a:rPr lang="en-US" altLang="zh-CN" sz="5400" dirty="0"/>
              <a:t>D</a:t>
            </a:r>
            <a:r>
              <a:rPr lang="zh-CN" altLang="en-US" sz="5400" dirty="0"/>
              <a:t>四档成绩。</a:t>
            </a:r>
            <a:endParaRPr lang="en-US" altLang="zh-CN" sz="5400" dirty="0"/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以上：</a:t>
            </a:r>
            <a:r>
              <a:rPr lang="en-US" altLang="zh-CN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80-90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70-80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以下：</a:t>
            </a:r>
            <a:r>
              <a:rPr lang="en-US" altLang="zh-CN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487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2563013"/>
            <a:ext cx="8465841" cy="651066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有效等价类</a:t>
            </a:r>
            <a:endParaRPr lang="en-US" altLang="zh-CN" dirty="0"/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[90,100]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[80,90)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[70,80)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[0,70)</a:t>
            </a:r>
            <a:endParaRPr lang="en-US" altLang="zh-CN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9904201" y="2322381"/>
            <a:ext cx="6551980" cy="472012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无效等价类</a:t>
            </a:r>
            <a:endParaRPr lang="en-US" altLang="zh-CN" dirty="0"/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(100,+∝]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[-∝, 0)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424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329263"/>
            <a:ext cx="19395440" cy="406281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测试用例选择</a:t>
            </a:r>
            <a:endParaRPr lang="en-US" altLang="zh-CN" dirty="0"/>
          </a:p>
          <a:p>
            <a:pPr lvl="2"/>
            <a:r>
              <a:rPr lang="zh-CN" altLang="en-US" dirty="0"/>
              <a:t>设计一个测试用例，尽可能多地覆盖尚未覆盖的有效等价类。重复这个步骤直到覆盖所有有效等价类为止；</a:t>
            </a:r>
            <a:endParaRPr lang="en-US" altLang="zh-CN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203428" y="6071750"/>
            <a:ext cx="8465841" cy="620232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000" dirty="0"/>
              <a:t>有效等价类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[90,100]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[80,90)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[70,80)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[0,70)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9451059" y="6599584"/>
            <a:ext cx="4635542" cy="317840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000" dirty="0"/>
              <a:t>无效等价类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(100,+∝]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[-∝, 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3679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8459700" y="1988389"/>
            <a:ext cx="8465841" cy="620232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000" dirty="0"/>
              <a:t>有效等价类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A: [90,100]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B: [80,90)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 [70,80)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D: [0,70)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3962216" y="2621473"/>
            <a:ext cx="5007935" cy="317840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150000"/>
              </a:lnSpc>
            </a:pPr>
            <a:r>
              <a:rPr lang="zh-CN" altLang="en-US" sz="4000" dirty="0"/>
              <a:t>无效等价类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E: (100,+∝]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F: [-∝, 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737970" y="3405961"/>
            <a:ext cx="8465841" cy="620232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endParaRPr lang="en-US" altLang="zh-CN" sz="40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8459700" y="7384591"/>
            <a:ext cx="10510451" cy="406281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3600" dirty="0"/>
              <a:t>测试用例选择</a:t>
            </a:r>
            <a:endParaRPr lang="en-US" altLang="zh-CN" sz="3600" dirty="0"/>
          </a:p>
          <a:p>
            <a:pPr lvl="2"/>
            <a:r>
              <a:rPr lang="zh-CN" altLang="en-US" sz="3600" dirty="0"/>
              <a:t>设计一个测试用例，尽可能多地覆盖尚未覆盖的有效等价类。重复这个步骤直到</a:t>
            </a:r>
            <a:r>
              <a:rPr lang="zh-CN" altLang="en-US" sz="3600" dirty="0">
                <a:solidFill>
                  <a:srgbClr val="FF0000"/>
                </a:solidFill>
              </a:rPr>
              <a:t>覆盖所有有效等价类</a:t>
            </a:r>
            <a:r>
              <a:rPr lang="zh-CN" altLang="en-US" sz="3600" dirty="0"/>
              <a:t>为止。</a:t>
            </a:r>
            <a:endParaRPr lang="en-US" altLang="zh-CN" sz="3600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737969" y="1639762"/>
            <a:ext cx="8465841" cy="82650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测试用例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 95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B: 85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 75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D: 65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39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1385781" y="7217534"/>
            <a:ext cx="9825393" cy="462162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3600" dirty="0"/>
              <a:t>测试用例选择</a:t>
            </a:r>
            <a:endParaRPr lang="en-US" altLang="zh-CN" sz="3600" dirty="0"/>
          </a:p>
          <a:p>
            <a:pPr lvl="2" algn="just"/>
            <a:r>
              <a:rPr lang="zh-CN" altLang="en-US" sz="3600" dirty="0"/>
              <a:t>设计一个测试用例，尽可能少地覆盖尚未被覆盖的无效等价类（大于等于一）。重复这个步骤，直到所有无效等价类都被覆盖为止。</a:t>
            </a:r>
            <a:endParaRPr lang="zh-CN" altLang="en-US" sz="3600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737970" y="2121761"/>
            <a:ext cx="4840139" cy="82650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测试用例</a:t>
            </a:r>
            <a:endParaRPr lang="en-US" altLang="zh-CN" dirty="0"/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A: 95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B: 85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 75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D: 65</a:t>
            </a:r>
            <a:endParaRPr lang="en-US" altLang="zh-CN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6714111" y="2575689"/>
            <a:ext cx="4840139" cy="493136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测试用例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E: 101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F: -2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2430451" y="1424718"/>
            <a:ext cx="8465841" cy="620232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000" dirty="0"/>
              <a:t>有效等价类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A: [90,100]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B: [80,90)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 [70,80)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D: [0,70)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7932967" y="2057802"/>
            <a:ext cx="5007935" cy="317840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150000"/>
              </a:lnSpc>
            </a:pPr>
            <a:r>
              <a:rPr lang="zh-CN" altLang="en-US" sz="4000" dirty="0"/>
              <a:t>无效等价类</a:t>
            </a:r>
            <a:endParaRPr lang="en-US" altLang="zh-CN" sz="4000" dirty="0"/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E: (100,+∝]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F: [-∝, 0)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148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黑盒测试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等价类测试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等价类测试案例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39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等价类测试案例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2616168"/>
            <a:ext cx="10882355" cy="686863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5400" b="1" dirty="0"/>
              <a:t>软件规约：</a:t>
            </a:r>
            <a:endParaRPr lang="en-US" altLang="zh-CN" sz="5400" b="1" dirty="0"/>
          </a:p>
          <a:p>
            <a:pPr lvl="2"/>
            <a:r>
              <a:rPr lang="zh-CN" altLang="en-US" sz="5400" dirty="0"/>
              <a:t>根据年龄、性别、婚姻状况数等计算绩点。</a:t>
            </a:r>
            <a:endParaRPr lang="en-US" altLang="zh-CN" sz="5400" dirty="0"/>
          </a:p>
          <a:p>
            <a:pPr lvl="3">
              <a:lnSpc>
                <a:spcPct val="150000"/>
              </a:lnSpc>
              <a:spcBef>
                <a:spcPts val="1200"/>
              </a:spcBef>
            </a:pPr>
            <a:r>
              <a:rPr lang="zh-CN" altLang="en-US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根据绩点进行退税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sz="5400" dirty="0"/>
          </a:p>
        </p:txBody>
      </p:sp>
      <p:graphicFrame>
        <p:nvGraphicFramePr>
          <p:cNvPr id="7" name="Group 4"/>
          <p:cNvGraphicFramePr/>
          <p:nvPr/>
        </p:nvGraphicFramePr>
        <p:xfrm>
          <a:off x="13284167" y="2328530"/>
          <a:ext cx="8181290" cy="9058939"/>
        </p:xfrm>
        <a:graphic>
          <a:graphicData uri="http://schemas.openxmlformats.org/drawingml/2006/table">
            <a:tbl>
              <a:tblPr/>
              <a:tblGrid>
                <a:gridCol w="2109700"/>
                <a:gridCol w="3378621"/>
                <a:gridCol w="2692969"/>
              </a:tblGrid>
              <a:tr h="1385484">
                <a:tc rowSpan="3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548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439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5484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已婚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031">
                <a:tc vMerge="1"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469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96"/>
          <p:cNvGraphicFramePr>
            <a:graphicFrameLocks noGrp="1"/>
          </p:cNvGraphicFramePr>
          <p:nvPr/>
        </p:nvGraphicFramePr>
        <p:xfrm>
          <a:off x="1653003" y="3983844"/>
          <a:ext cx="10196144" cy="5721786"/>
        </p:xfrm>
        <a:graphic>
          <a:graphicData uri="http://schemas.openxmlformats.org/drawingml/2006/table">
            <a:tbl>
              <a:tblPr/>
              <a:tblGrid>
                <a:gridCol w="1647567"/>
                <a:gridCol w="2513144"/>
                <a:gridCol w="6035433"/>
              </a:tblGrid>
              <a:tr h="507113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数字范围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en-US" altLang="zh-CN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岁以上，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岁以下，</a:t>
                      </a: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164"/>
          <p:cNvGraphicFramePr/>
          <p:nvPr/>
        </p:nvGraphicFramePr>
        <p:xfrm>
          <a:off x="12604058" y="4232193"/>
          <a:ext cx="10037135" cy="4904502"/>
        </p:xfrm>
        <a:graphic>
          <a:graphicData uri="http://schemas.openxmlformats.org/drawingml/2006/table">
            <a:tbl>
              <a:tblPr/>
              <a:tblGrid>
                <a:gridCol w="1555997"/>
                <a:gridCol w="3005370"/>
                <a:gridCol w="5475768"/>
              </a:tblGrid>
              <a:tr h="44767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非「男」或「女」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3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Helvetica Neue Light"/>
                        </a:rPr>
                        <a:t>已婚</a:t>
                      </a:r>
                      <a:endParaRPr kumimoji="0" lang="zh-CN" altLang="en-US" sz="36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非「已婚」或「未婚」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等价类测试案例</a:t>
            </a:r>
            <a:endParaRPr lang="zh-CN" altLang="en-US" dirty="0"/>
          </a:p>
        </p:txBody>
      </p:sp>
      <p:sp>
        <p:nvSpPr>
          <p:cNvPr id="12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5829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96"/>
          <p:cNvGraphicFramePr>
            <a:graphicFrameLocks noGrp="1"/>
          </p:cNvGraphicFramePr>
          <p:nvPr/>
        </p:nvGraphicFramePr>
        <p:xfrm>
          <a:off x="15299545" y="482375"/>
          <a:ext cx="6102609" cy="3549791"/>
        </p:xfrm>
        <a:graphic>
          <a:graphicData uri="http://schemas.openxmlformats.org/drawingml/2006/table">
            <a:tbl>
              <a:tblPr/>
              <a:tblGrid>
                <a:gridCol w="986104"/>
                <a:gridCol w="1788513"/>
                <a:gridCol w="3327992"/>
              </a:tblGrid>
              <a:tr h="507113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数字范围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164"/>
          <p:cNvGraphicFramePr/>
          <p:nvPr/>
        </p:nvGraphicFramePr>
        <p:xfrm>
          <a:off x="15299545" y="4322589"/>
          <a:ext cx="6145137" cy="2968638"/>
        </p:xfrm>
        <a:graphic>
          <a:graphicData uri="http://schemas.openxmlformats.org/drawingml/2006/table">
            <a:tbl>
              <a:tblPr/>
              <a:tblGrid>
                <a:gridCol w="988346"/>
                <a:gridCol w="1796902"/>
                <a:gridCol w="3359889"/>
              </a:tblGrid>
              <a:tr h="44767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非「男」或「女」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Helvetica Neue Light"/>
                        </a:rPr>
                        <a:t>已婚</a:t>
                      </a:r>
                      <a:endParaRPr kumimoji="0" lang="zh-CN" altLang="en-US" sz="20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非「已婚」或「未婚」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3357782" y="7517744"/>
            <a:ext cx="9515469" cy="406281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3600" dirty="0"/>
              <a:t>测试用例选择</a:t>
            </a:r>
            <a:endParaRPr lang="en-US" altLang="zh-CN" sz="3600" dirty="0"/>
          </a:p>
          <a:p>
            <a:pPr lvl="2"/>
            <a:r>
              <a:rPr lang="zh-CN" altLang="en-US" sz="3600" dirty="0"/>
              <a:t>设计一个测试用例，尽可能多地覆盖尚未覆盖的有效等价类。重复这个步骤直到覆盖所有有效等价类为止。</a:t>
            </a:r>
            <a:endParaRPr lang="en-US" altLang="zh-CN" sz="3600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199833" y="2485735"/>
            <a:ext cx="11846994" cy="82650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测试用例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=20,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=40,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=60,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=2,  </a:t>
            </a: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734100" y="845240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610054" y="4168097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790807" y="5682461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748275" y="1337884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00A2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00A2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624229" y="4660741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00A2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00A2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804982" y="6175105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00A2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00A2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804442" y="1857243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7030A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7030A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786720" y="2424312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chemeClr val="accent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chemeClr val="accent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等价类测试案例</a:t>
            </a:r>
            <a:endParaRPr lang="zh-CN" altLang="en-US" dirty="0"/>
          </a:p>
        </p:txBody>
      </p:sp>
      <p:sp>
        <p:nvSpPr>
          <p:cNvPr id="21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601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96"/>
          <p:cNvGraphicFramePr>
            <a:graphicFrameLocks noGrp="1"/>
          </p:cNvGraphicFramePr>
          <p:nvPr/>
        </p:nvGraphicFramePr>
        <p:xfrm>
          <a:off x="15500893" y="498566"/>
          <a:ext cx="6102609" cy="3549791"/>
        </p:xfrm>
        <a:graphic>
          <a:graphicData uri="http://schemas.openxmlformats.org/drawingml/2006/table">
            <a:tbl>
              <a:tblPr/>
              <a:tblGrid>
                <a:gridCol w="986104"/>
                <a:gridCol w="1788513"/>
                <a:gridCol w="3327992"/>
              </a:tblGrid>
              <a:tr h="507113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数字范围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164"/>
          <p:cNvGraphicFramePr/>
          <p:nvPr/>
        </p:nvGraphicFramePr>
        <p:xfrm>
          <a:off x="15500893" y="4338780"/>
          <a:ext cx="6145137" cy="2968638"/>
        </p:xfrm>
        <a:graphic>
          <a:graphicData uri="http://schemas.openxmlformats.org/drawingml/2006/table">
            <a:tbl>
              <a:tblPr/>
              <a:tblGrid>
                <a:gridCol w="988346"/>
                <a:gridCol w="1796902"/>
                <a:gridCol w="3359889"/>
              </a:tblGrid>
              <a:tr h="44767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非「男」或「女」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Helvetica Neue Light"/>
                        </a:rPr>
                        <a:t>已婚</a:t>
                      </a:r>
                      <a:endParaRPr kumimoji="0" lang="zh-CN" altLang="en-US" sz="20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非「已婚」或「未婚」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3901859" y="7597841"/>
            <a:ext cx="9515469" cy="441992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3600" dirty="0"/>
              <a:t>测试用例选择</a:t>
            </a:r>
            <a:endParaRPr lang="en-US" altLang="zh-CN" sz="3600" dirty="0"/>
          </a:p>
          <a:p>
            <a:pPr lvl="2"/>
            <a:r>
              <a:rPr lang="zh-CN" altLang="en-US" sz="3600" dirty="0"/>
              <a:t>设计一个测试用例，尽可能少地覆盖尚未被覆盖的无效等价类（大于等于一）。重复这个步骤，直到所有无效等价类都被覆盖为止。</a:t>
            </a:r>
            <a:endParaRPr lang="zh-CN" altLang="en-US" sz="3600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149334" y="2534282"/>
            <a:ext cx="12235198" cy="826504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测试用例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=0,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=160,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=60,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人妖，婚姻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=2,  </a:t>
            </a: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单身</a:t>
            </a:r>
            <a:endParaRPr lang="en-US" altLang="zh-CN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53534" y="2905956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386945" y="3414820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00A2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00A2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339869" y="5135640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7030A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rgbClr val="7030A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1047703" y="6666803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chemeClr val="accent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√</a:t>
            </a:r>
            <a:endParaRPr lang="zh-CN" altLang="en-US" sz="4000" dirty="0">
              <a:solidFill>
                <a:schemeClr val="accent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等价类测试案例</a:t>
            </a:r>
            <a:endParaRPr lang="zh-CN" altLang="en-US" dirty="0"/>
          </a:p>
        </p:txBody>
      </p:sp>
      <p:sp>
        <p:nvSpPr>
          <p:cNvPr id="21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8865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1" grpId="0"/>
      <p:bldP spid="15" grpId="0"/>
      <p:bldP spid="18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96"/>
          <p:cNvGraphicFramePr>
            <a:graphicFrameLocks noGrp="1"/>
          </p:cNvGraphicFramePr>
          <p:nvPr/>
        </p:nvGraphicFramePr>
        <p:xfrm>
          <a:off x="13052056" y="3975700"/>
          <a:ext cx="6102609" cy="3549791"/>
        </p:xfrm>
        <a:graphic>
          <a:graphicData uri="http://schemas.openxmlformats.org/drawingml/2006/table">
            <a:tbl>
              <a:tblPr/>
              <a:tblGrid>
                <a:gridCol w="986104"/>
                <a:gridCol w="1788513"/>
                <a:gridCol w="3327992"/>
              </a:tblGrid>
              <a:tr h="507113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年龄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数字范围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39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59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11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岁以上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164"/>
          <p:cNvGraphicFramePr/>
          <p:nvPr/>
        </p:nvGraphicFramePr>
        <p:xfrm>
          <a:off x="13052056" y="7815914"/>
          <a:ext cx="6145137" cy="2968638"/>
        </p:xfrm>
        <a:graphic>
          <a:graphicData uri="http://schemas.openxmlformats.org/drawingml/2006/table">
            <a:tbl>
              <a:tblPr/>
              <a:tblGrid>
                <a:gridCol w="988346"/>
                <a:gridCol w="1796902"/>
                <a:gridCol w="3359889"/>
              </a:tblGrid>
              <a:tr h="44767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性别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       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非「男」或「女」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婚姻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有效等价类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0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Helvetica Neue Light"/>
                        </a:rPr>
                        <a:t>已婚</a:t>
                      </a:r>
                      <a:endParaRPr kumimoji="0" lang="zh-CN" altLang="en-US" sz="20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Helvetica Neue Ligh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 v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无效等价类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非「已婚」或「未婚」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2737970" y="2647234"/>
            <a:ext cx="11846994" cy="565734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000" dirty="0"/>
              <a:t>测试用例 （覆盖有效等价类）</a:t>
            </a:r>
            <a:endParaRPr lang="en-US" altLang="zh-CN" sz="4000" dirty="0"/>
          </a:p>
          <a:p>
            <a:pPr lvl="2"/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=20,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已婚</a:t>
            </a:r>
            <a:endParaRPr lang="en-US" altLang="zh-CN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=40,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4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=60,</a:t>
            </a:r>
            <a:r>
              <a:rPr lang="zh-CN" altLang="en-US" sz="4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4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4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sz="4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4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40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4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4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=2,  </a:t>
            </a:r>
            <a:r>
              <a:rPr lang="zh-CN" altLang="en-US" sz="4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4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4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sz="4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40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40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sz="4000" dirty="0">
              <a:solidFill>
                <a:srgbClr val="FF0000"/>
              </a:solidFill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737970" y="7726347"/>
            <a:ext cx="12235198" cy="438139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5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5400" b="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3600" dirty="0"/>
              <a:t>测试用例 （覆盖无效等价类）</a:t>
            </a:r>
            <a:endParaRPr lang="en-US" altLang="zh-CN" sz="3600" dirty="0"/>
          </a:p>
          <a:p>
            <a:pPr lvl="2"/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=0,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=160,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男，婚姻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=60,</a:t>
            </a:r>
            <a:r>
              <a:rPr lang="zh-CN" altLang="en-US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人妖，婚姻</a:t>
            </a:r>
            <a:r>
              <a:rPr lang="en-US" altLang="zh-CN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未婚</a:t>
            </a:r>
            <a:endParaRPr lang="en-US" altLang="zh-CN" sz="3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en-US" altLang="zh-CN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=2,  </a:t>
            </a:r>
            <a:r>
              <a:rPr lang="zh-CN" altLang="en-US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女，婚姻</a:t>
            </a:r>
            <a:r>
              <a:rPr lang="en-US" altLang="zh-CN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36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单身</a:t>
            </a:r>
            <a:endParaRPr lang="en-US" altLang="zh-CN" sz="36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等价类测试案例</a:t>
            </a:r>
            <a:endParaRPr lang="zh-CN" altLang="en-US" dirty="0"/>
          </a:p>
        </p:txBody>
      </p:sp>
      <p:sp>
        <p:nvSpPr>
          <p:cNvPr id="22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292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黑盒测试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等价类测试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等价类测试案例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grpSp>
        <p:nvGrpSpPr>
          <p:cNvPr id="145" name="成组"/>
          <p:cNvGrpSpPr/>
          <p:nvPr/>
        </p:nvGrpSpPr>
        <p:grpSpPr>
          <a:xfrm>
            <a:off x="9136452" y="8040315"/>
            <a:ext cx="6332147" cy="1343465"/>
            <a:chOff x="0" y="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04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1263350" y="8320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小结</a:t>
            </a:r>
            <a:endParaRPr sz="4400" b="1" dirty="0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789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1440" y="3224704"/>
            <a:ext cx="24383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等价类测试是黑盒测试的重要手段</a:t>
            </a:r>
            <a:endParaRPr lang="en-US" altLang="zh-CN" sz="60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5326" y="5287572"/>
            <a:ext cx="2438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软件的行为对于一组值来说是相同的，</a:t>
            </a:r>
            <a:endParaRPr lang="en-US" altLang="zh-CN" sz="6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那么这组值就叫做等价类。</a:t>
            </a:r>
            <a:endParaRPr lang="zh-CN" altLang="en-US" sz="6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8474186"/>
            <a:ext cx="2438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等价类测试方法就是把所有输入划分了若干等价类，</a:t>
            </a:r>
            <a:endParaRPr lang="en-US" altLang="zh-CN" sz="6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从每个等价类中选择若干典型输入作为测试用例。</a:t>
            </a:r>
            <a:endParaRPr lang="en-US" altLang="zh-CN" sz="6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6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4</a:t>
            </a:r>
            <a:endParaRPr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418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TIMING" val="|27.9|7.5|35.3|7.7"/>
</p:tagLst>
</file>

<file path=ppt/tags/tag3.xml><?xml version="1.0" encoding="utf-8"?>
<p:tagLst xmlns:p="http://schemas.openxmlformats.org/presentationml/2006/main">
  <p:tag name="TIMING" val="|0.2"/>
</p:tagLst>
</file>

<file path=ppt/tags/tag4.xml><?xml version="1.0" encoding="utf-8"?>
<p:tagLst xmlns:p="http://schemas.openxmlformats.org/presentationml/2006/main">
  <p:tag name="TIMING" val="|74.3|0.9"/>
</p:tagLst>
</file>

<file path=ppt/tags/tag5.xml><?xml version="1.0" encoding="utf-8"?>
<p:tagLst xmlns:p="http://schemas.openxmlformats.org/presentationml/2006/main">
  <p:tag name="TIMING" val="|0.2"/>
</p:tagLst>
</file>

<file path=ppt/tags/tag6.xml><?xml version="1.0" encoding="utf-8"?>
<p:tagLst xmlns:p="http://schemas.openxmlformats.org/presentationml/2006/main">
  <p:tag name="TIMING" val="|0.2"/>
</p:tagLst>
</file>

<file path=ppt/tags/tag7.xml><?xml version="1.0" encoding="utf-8"?>
<p:tagLst xmlns:p="http://schemas.openxmlformats.org/presentationml/2006/main">
  <p:tag name="TIMING" val="|14.4|37.3|23.1|18"/>
</p:tagLst>
</file>

<file path=ppt/tags/tag8.xml><?xml version="1.0" encoding="utf-8"?>
<p:tagLst xmlns:p="http://schemas.openxmlformats.org/presentationml/2006/main">
  <p:tag name="TIMING" val="|0.2"/>
</p:tagLst>
</file>

<file path=ppt/tags/tag9.xml><?xml version="1.0" encoding="utf-8"?>
<p:tagLst xmlns:p="http://schemas.openxmlformats.org/presentationml/2006/main">
  <p:tag name="TIMING" val="|0.2"/>
</p:tagLst>
</file>

<file path=ppt/tags/tag10.xml><?xml version="1.0" encoding="utf-8"?>
<p:tagLst xmlns:p="http://schemas.openxmlformats.org/presentationml/2006/main">
  <p:tag name="TIMING" val="|17.1|23.2|2|2"/>
</p:tagLst>
</file>

<file path=ppt/tags/tag11.xml><?xml version="1.0" encoding="utf-8"?>
<p:tagLst xmlns:p="http://schemas.openxmlformats.org/presentationml/2006/main">
  <p:tag name="TIMING" val="|0.2"/>
</p:tagLst>
</file>

<file path=ppt/tags/tag12.xml><?xml version="1.0" encoding="utf-8"?>
<p:tagLst xmlns:p="http://schemas.openxmlformats.org/presentationml/2006/main">
  <p:tag name="TIMING" val="|0.2"/>
</p:tagLst>
</file>

<file path=ppt/tags/tag13.xml><?xml version="1.0" encoding="utf-8"?>
<p:tagLst xmlns:p="http://schemas.openxmlformats.org/presentationml/2006/main">
  <p:tag name="TIMING" val="|0.2"/>
</p:tagLst>
</file>

<file path=ppt/tags/tag14.xml><?xml version="1.0" encoding="utf-8"?>
<p:tagLst xmlns:p="http://schemas.openxmlformats.org/presentationml/2006/main">
  <p:tag name="TIMING" val="|0.2"/>
</p:tagLst>
</file>

<file path=ppt/tags/tag15.xml><?xml version="1.0" encoding="utf-8"?>
<p:tagLst xmlns:p="http://schemas.openxmlformats.org/presentationml/2006/main">
  <p:tag name="TIMING" val="|0.2"/>
</p:tagLst>
</file>

<file path=ppt/tags/tag16.xml><?xml version="1.0" encoding="utf-8"?>
<p:tagLst xmlns:p="http://schemas.openxmlformats.org/presentationml/2006/main">
  <p:tag name="TIMING" val="|0.2"/>
</p:tagLst>
</file>

<file path=ppt/tags/tag17.xml><?xml version="1.0" encoding="utf-8"?>
<p:tagLst xmlns:p="http://schemas.openxmlformats.org/presentationml/2006/main">
  <p:tag name="TIMING" val="|0.2"/>
</p:tagLst>
</file>

<file path=ppt/tags/tag18.xml><?xml version="1.0" encoding="utf-8"?>
<p:tagLst xmlns:p="http://schemas.openxmlformats.org/presentationml/2006/main">
  <p:tag name="TIMING" val="|0.2"/>
</p:tagLst>
</file>

<file path=ppt/tags/tag19.xml><?xml version="1.0" encoding="utf-8"?>
<p:tagLst xmlns:p="http://schemas.openxmlformats.org/presentationml/2006/main">
  <p:tag name="TIMING" val="|56|16.3|6.7|4.9"/>
</p:tagLst>
</file>

<file path=ppt/tags/tag20.xml><?xml version="1.0" encoding="utf-8"?>
<p:tagLst xmlns:p="http://schemas.openxmlformats.org/presentationml/2006/main">
  <p:tag name="TIMING" val="|36.2|35.4"/>
</p:tagLst>
</file>

<file path=ppt/tags/tag21.xml><?xml version="1.0" encoding="utf-8"?>
<p:tagLst xmlns:p="http://schemas.openxmlformats.org/presentationml/2006/main">
  <p:tag name="TIMING" val="|0.2"/>
</p:tagLst>
</file>

<file path=ppt/tags/tag22.xml><?xml version="1.0" encoding="utf-8"?>
<p:tagLst xmlns:p="http://schemas.openxmlformats.org/presentationml/2006/main">
  <p:tag name="TIMING" val="|0.2"/>
</p:tagLst>
</file>

<file path=ppt/tags/tag23.xml><?xml version="1.0" encoding="utf-8"?>
<p:tagLst xmlns:p="http://schemas.openxmlformats.org/presentationml/2006/main">
  <p:tag name="TIMING" val="|61.5|6.2|28.9|10.6|53.1|7.5|40.9|4.2"/>
</p:tagLst>
</file>

<file path=ppt/tags/tag24.xml><?xml version="1.0" encoding="utf-8"?>
<p:tagLst xmlns:p="http://schemas.openxmlformats.org/presentationml/2006/main">
  <p:tag name="TIMING" val="|81.8|9.9|8.1|8.9|25.9|30.7|1.7|19.3"/>
</p:tagLst>
</file>

<file path=ppt/tags/tag25.xml><?xml version="1.0" encoding="utf-8"?>
<p:tagLst xmlns:p="http://schemas.openxmlformats.org/presentationml/2006/main">
  <p:tag name="TIMING" val="|0.2"/>
</p:tagLst>
</file>

<file path=ppt/tags/tag26.xml><?xml version="1.0" encoding="utf-8"?>
<p:tagLst xmlns:p="http://schemas.openxmlformats.org/presentationml/2006/main">
  <p:tag name="COMMONDATA" val="eyJoZGlkIjoiN2RjMzk0Mzc2NzY3NGE0YmI3MDJiMTlmNzE2MWFmNDcifQ=="/>
  <p:tag name="commondata" val="eyJoZGlkIjoiNWY4NzZjZjg1ZDI5N2JhZWU3ZjVjZDU2NTU1Y2E1MTU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4561</Words>
  <Application>WPS 演示</Application>
  <PresentationFormat>Custom</PresentationFormat>
  <Paragraphs>949</Paragraphs>
  <Slides>32</Slides>
  <Notes>33</Notes>
  <HiddenSlides>0</HiddenSlides>
  <MMClips>33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1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AMGDT</vt:lpstr>
      <vt:lpstr>Arial Black</vt:lpstr>
      <vt:lpstr>方正舒体</vt:lpstr>
      <vt:lpstr>Times New Roman</vt:lpstr>
      <vt:lpstr>Arial Unicode MS</vt:lpstr>
      <vt:lpstr>Cambria Math</vt:lpstr>
      <vt:lpstr>隶书</vt:lpstr>
      <vt:lpstr>White</vt:lpstr>
      <vt:lpstr>PowerPoint 演示文稿</vt:lpstr>
      <vt:lpstr>PowerPoint 演示文稿</vt:lpstr>
      <vt:lpstr>PowerPoint 演示文稿</vt:lpstr>
      <vt:lpstr>黑盒测试</vt:lpstr>
      <vt:lpstr>黑盒测试</vt:lpstr>
      <vt:lpstr>黑盒测试</vt:lpstr>
      <vt:lpstr>黑盒测试</vt:lpstr>
      <vt:lpstr>PowerPoint 演示文稿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等价类测试</vt:lpstr>
      <vt:lpstr>PowerPoint 演示文稿</vt:lpstr>
      <vt:lpstr>等价类测试案例</vt:lpstr>
      <vt:lpstr>等价类测试案例</vt:lpstr>
      <vt:lpstr>等价类测试案例</vt:lpstr>
      <vt:lpstr>等价类测试案例</vt:lpstr>
      <vt:lpstr>等价类测试案例</vt:lpstr>
      <vt:lpstr>PowerPoint 演示文稿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329</cp:revision>
  <cp:lastPrinted>2020-08-01T02:11:00Z</cp:lastPrinted>
  <dcterms:created xsi:type="dcterms:W3CDTF">2019-05-10T09:49:00Z</dcterms:created>
  <dcterms:modified xsi:type="dcterms:W3CDTF">2023-10-14T04:20:17Z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36086F9EF48D459ABE05CD557EEC6682_12</vt:lpwstr>
  </property>
</Properties>
</file>