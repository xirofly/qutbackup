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304" r:id="rId6"/>
    <p:sldId id="258" r:id="rId7"/>
    <p:sldId id="305" r:id="rId8"/>
    <p:sldId id="306" r:id="rId9"/>
    <p:sldId id="307" r:id="rId10"/>
    <p:sldId id="308" r:id="rId11"/>
    <p:sldId id="309" r:id="rId12"/>
    <p:sldId id="311" r:id="rId13"/>
    <p:sldId id="314" r:id="rId14"/>
    <p:sldId id="315" r:id="rId15"/>
    <p:sldId id="317" r:id="rId16"/>
    <p:sldId id="318" r:id="rId17"/>
    <p:sldId id="320" r:id="rId18"/>
    <p:sldId id="322" r:id="rId19"/>
    <p:sldId id="321" r:id="rId20"/>
    <p:sldId id="325" r:id="rId21"/>
    <p:sldId id="323" r:id="rId22"/>
    <p:sldId id="326" r:id="rId23"/>
    <p:sldId id="327" r:id="rId24"/>
    <p:sldId id="328" r:id="rId25"/>
    <p:sldId id="329" r:id="rId26"/>
    <p:sldId id="331" r:id="rId27"/>
    <p:sldId id="332" r:id="rId28"/>
    <p:sldId id="333" r:id="rId29"/>
    <p:sldId id="310" r:id="rId30"/>
    <p:sldId id="334" r:id="rId31"/>
    <p:sldId id="335" r:id="rId32"/>
    <p:sldId id="336" r:id="rId33"/>
    <p:sldId id="337" r:id="rId34"/>
    <p:sldId id="339" r:id="rId35"/>
    <p:sldId id="345" r:id="rId36"/>
    <p:sldId id="293" r:id="rId37"/>
    <p:sldId id="259" r:id="rId38"/>
  </p:sldIdLst>
  <p:sldSz cx="24384000" cy="13716000"/>
  <p:notesSz cx="6858000" cy="9144000"/>
  <p:custDataLst>
    <p:tags r:id="rId4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58025" autoAdjust="0"/>
  </p:normalViewPr>
  <p:slideViewPr>
    <p:cSldViewPr snapToGrid="0">
      <p:cViewPr varScale="1">
        <p:scale>
          <a:sx n="28" d="100"/>
          <a:sy n="28" d="100"/>
        </p:scale>
        <p:origin x="16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Relationship Id="rId42" Type="http://schemas.openxmlformats.org/officeDocument/2006/relationships/commentAuthors" Target="commentAuthors.xml"/><Relationship Id="rId43" Type="http://schemas.openxmlformats.org/officeDocument/2006/relationships/tags" Target="tags/tag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222958057395"/>
          <c:y val="0.0890804597701149"/>
          <c:w val="0.635761589403974"/>
          <c:h val="0.827586206896552"/>
        </c:manualLayout>
      </c:layout>
      <c:pieChart>
        <c:varyColors val="1"/>
        <c:ser>
          <c:idx val="0"/>
          <c:order val="0"/>
          <c:spPr>
            <a:solidFill>
              <a:srgbClr val="9999FF"/>
            </a:solidFill>
            <a:ln w="34870">
              <a:solidFill>
                <a:srgbClr val="000000"/>
              </a:solidFill>
              <a:prstDash val="solid"/>
            </a:ln>
          </c:spPr>
          <c:explosion val="12"/>
          <c:dPt>
            <c:idx val="0"/>
            <c:bubble3D val="0"/>
            <c:explosion val="5"/>
            <c:spPr>
              <a:solidFill>
                <a:srgbClr val="9999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1"/>
            <c:bubble3D val="0"/>
            <c:spPr>
              <a:solidFill>
                <a:srgbClr val="993366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2"/>
            <c:bubble3D val="0"/>
            <c:spPr>
              <a:solidFill>
                <a:srgbClr val="FFFFCC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3"/>
            <c:bubble3D val="0"/>
            <c:spPr>
              <a:solidFill>
                <a:srgbClr val="CCFF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Lbls>
            <c:dLbl>
              <c:idx val="0"/>
              <c:layout>
                <c:manualLayout>
                  <c:x val="0.00570702225440211"/>
                  <c:y val="-0.021080335475720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13672163819593"/>
                  <c:y val="0.004921143025646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73358970685869"/>
                  <c:y val="0.0667007303428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09861830946248"/>
                  <c:y val="-0.0016537893516564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 w="6974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4400" b="1" i="0" u="none" strike="noStrike" kern="1200" baseline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Sheet1!$C$10:$C$13</c:f>
              <c:strCache>
                <c:ptCount val="4"/>
                <c:pt idx="0">
                  <c:v>需求</c:v>
                </c:pt>
                <c:pt idx="1">
                  <c:v>设计</c:v>
                </c:pt>
                <c:pt idx="2">
                  <c:v>代码</c:v>
                </c:pt>
                <c:pt idx="3">
                  <c:v>其他</c:v>
                </c:pt>
              </c:strCache>
            </c:strRef>
          </c:cat>
          <c:val>
            <c:numRef>
              <c:f>Sheet1!$D$10:$D$13</c:f>
              <c:numCache>
                <c:formatCode>0%</c:formatCode>
                <c:ptCount val="4"/>
                <c:pt idx="0">
                  <c:v>0.54</c:v>
                </c:pt>
                <c:pt idx="1">
                  <c:v>0.25</c:v>
                </c:pt>
                <c:pt idx="2">
                  <c:v>0.15</c:v>
                </c:pt>
                <c:pt idx="3">
                  <c:v>0.06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 w="69740">
          <a:noFill/>
        </a:ln>
      </c:spPr>
    </c:plotArea>
    <c:plotVisOnly val="1"/>
    <c:dispBlanksAs val="zero"/>
    <c:showDLblsOverMax val="0"/>
  </c:chart>
  <c:spPr>
    <a:solidFill>
      <a:srgbClr val="FFFFFF"/>
    </a:solidFill>
    <a:ln w="8718">
      <a:solidFill>
        <a:srgbClr val="000000"/>
      </a:solidFill>
      <a:prstDash val="solid"/>
    </a:ln>
  </c:spPr>
  <c:txPr>
    <a:bodyPr/>
    <a:lstStyle/>
    <a:p>
      <a:pPr>
        <a:defRPr lang="zh-CN" sz="4400" b="1" i="0" u="none" strike="noStrike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宋体" panose="02010600030101010101" pitchFamily="2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222958057395"/>
          <c:y val="0.0890804597701149"/>
          <c:w val="0.635761589403974"/>
          <c:h val="0.827586206896552"/>
        </c:manualLayout>
      </c:layout>
      <c:pieChart>
        <c:varyColors val="1"/>
        <c:ser>
          <c:idx val="0"/>
          <c:order val="0"/>
          <c:spPr>
            <a:solidFill>
              <a:srgbClr val="9999FF"/>
            </a:solidFill>
            <a:ln w="34870">
              <a:solidFill>
                <a:srgbClr val="000000"/>
              </a:solidFill>
              <a:prstDash val="solid"/>
            </a:ln>
          </c:spPr>
          <c:explosion val="12"/>
          <c:dPt>
            <c:idx val="0"/>
            <c:bubble3D val="0"/>
            <c:explosion val="5"/>
            <c:spPr>
              <a:solidFill>
                <a:srgbClr val="9999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1"/>
            <c:bubble3D val="0"/>
            <c:spPr>
              <a:solidFill>
                <a:srgbClr val="993366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2"/>
            <c:bubble3D val="0"/>
            <c:spPr>
              <a:solidFill>
                <a:srgbClr val="FFFFCC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Pt>
            <c:idx val="3"/>
            <c:bubble3D val="0"/>
            <c:spPr>
              <a:solidFill>
                <a:srgbClr val="CCFFFF"/>
              </a:solidFill>
              <a:ln w="34870">
                <a:solidFill>
                  <a:srgbClr val="000000"/>
                </a:solidFill>
                <a:prstDash val="solid"/>
              </a:ln>
            </c:spPr>
          </c:dPt>
          <c:dLbls>
            <c:dLbl>
              <c:idx val="0"/>
              <c:layout>
                <c:manualLayout>
                  <c:x val="0.00570702225440211"/>
                  <c:y val="-0.0210803354757207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13672163819593"/>
                  <c:y val="0.004921143025646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73358970685869"/>
                  <c:y val="0.066700730342815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909861830946248"/>
                  <c:y val="-0.0016537893516564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 w="6974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4400" b="1" i="0" u="none" strike="noStrike" kern="1200" baseline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defRPr>
                </a:pPr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Sheet1!$C$10:$C$13</c:f>
              <c:strCache>
                <c:ptCount val="4"/>
                <c:pt idx="0">
                  <c:v>需求</c:v>
                </c:pt>
                <c:pt idx="1">
                  <c:v>设计</c:v>
                </c:pt>
                <c:pt idx="2">
                  <c:v>代码</c:v>
                </c:pt>
                <c:pt idx="3">
                  <c:v>其他</c:v>
                </c:pt>
              </c:strCache>
            </c:strRef>
          </c:cat>
          <c:val>
            <c:numRef>
              <c:f>Sheet1!$D$10:$D$13</c:f>
              <c:numCache>
                <c:formatCode>0%</c:formatCode>
                <c:ptCount val="4"/>
                <c:pt idx="0">
                  <c:v>0.54</c:v>
                </c:pt>
                <c:pt idx="1">
                  <c:v>0.25</c:v>
                </c:pt>
                <c:pt idx="2">
                  <c:v>0.15</c:v>
                </c:pt>
                <c:pt idx="3">
                  <c:v>0.06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 w="69740">
          <a:noFill/>
        </a:ln>
      </c:spPr>
    </c:plotArea>
    <c:plotVisOnly val="1"/>
    <c:dispBlanksAs val="zero"/>
    <c:showDLblsOverMax val="0"/>
  </c:chart>
  <c:spPr>
    <a:solidFill>
      <a:srgbClr val="FFFFFF"/>
    </a:solidFill>
    <a:ln w="8718">
      <a:solidFill>
        <a:srgbClr val="000000"/>
      </a:solidFill>
      <a:prstDash val="solid"/>
    </a:ln>
  </c:spPr>
  <c:txPr>
    <a:bodyPr/>
    <a:lstStyle/>
    <a:p>
      <a:pPr>
        <a:defRPr lang="zh-CN" sz="4400" b="1" i="0" u="none" strike="noStrike" baseline="0">
          <a:solidFill>
            <a:srgbClr val="000000"/>
          </a:solidFill>
          <a:latin typeface="微软雅黑" panose="020B0503020204020204" pitchFamily="34" charset="-122"/>
          <a:ea typeface="微软雅黑" panose="020B0503020204020204" pitchFamily="34" charset="-122"/>
          <a:cs typeface="宋体" panose="02010600030101010101" pitchFamily="2" charset="-122"/>
        </a:defRPr>
      </a:pPr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baike.baidu.com/item/%E7%BB%84%E8%A3%85%E6%B5%8B%E8%AF%95/3123153" TargetMode="External"/><Relationship Id="rId4" Type="http://schemas.openxmlformats.org/officeDocument/2006/relationships/hyperlink" Target="https://baike.baidu.com/item/%E5%8D%95%E5%85%83%E6%B5%8B%E8%AF%95/1917084" TargetMode="Externa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4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22475" y="304800"/>
            <a:ext cx="5549900" cy="3122613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438" y="3255963"/>
            <a:ext cx="7677150" cy="308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22475" y="304800"/>
            <a:ext cx="5549900" cy="3122613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438" y="3255963"/>
            <a:ext cx="7677150" cy="308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22475" y="304800"/>
            <a:ext cx="5549900" cy="3122613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438" y="3255963"/>
            <a:ext cx="7677150" cy="308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l" defTabSz="914400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 kern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22475" y="304800"/>
            <a:ext cx="5549900" cy="3122613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438" y="3255963"/>
            <a:ext cx="7677150" cy="308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22475" y="304800"/>
            <a:ext cx="5549900" cy="3122613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438" y="3255963"/>
            <a:ext cx="7677150" cy="308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200" b="0" i="0" dirty="0">
              <a:effectLst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" name="助力院校ICT人才培养致力于产教融合(替换文字即可）"/>
          <p:cNvSpPr txBox="1"/>
          <p:nvPr userDrawn="1"/>
        </p:nvSpPr>
        <p:spPr>
          <a:xfrm>
            <a:off x="1217066" y="1131050"/>
            <a:ext cx="2257028" cy="533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801370">
              <a:defRPr sz="2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800" dirty="0"/>
              <a:t>北京理工大学</a:t>
            </a:r>
            <a:endParaRPr sz="2800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4" Type="http://schemas.openxmlformats.org/officeDocument/2006/relationships/image" Target="../media/image3.png"/><Relationship Id="rId5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wmf"/><Relationship Id="rId5" Type="http://schemas.openxmlformats.org/officeDocument/2006/relationships/image" Target="../media/image3.png"/><Relationship Id="rId6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1.vml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9.wmf"/><Relationship Id="rId5" Type="http://schemas.openxmlformats.org/officeDocument/2006/relationships/image" Target="../media/image3.png"/><Relationship Id="rId6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2.v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12.wmf"/><Relationship Id="rId5" Type="http://schemas.openxmlformats.org/officeDocument/2006/relationships/image" Target="../media/image3.png"/><Relationship Id="rId6" Type="http://schemas.openxmlformats.org/officeDocument/2006/relationships/tags" Target="../tags/tag13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3.vml"/><Relationship Id="rId9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tags" Target="../tags/tag1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tags" Target="../tags/tag1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软件测试与质量保障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8342027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软件测试模型与分类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95" y="1192530"/>
            <a:ext cx="2804795" cy="548640"/>
          </a:xfrm>
          <a:prstGeom prst="rect">
            <a:avLst/>
          </a:prstGeom>
        </p:spPr>
      </p:pic>
    </p:spTree>
  </p:cSld>
  <p:clrMapOvr>
    <a:masterClrMapping/>
  </p:clrMapOvr>
  <p:transition spd="med" advTm="119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软件测试模型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软件测试分类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grpSp>
        <p:nvGrpSpPr>
          <p:cNvPr id="29" name="成组"/>
          <p:cNvGrpSpPr/>
          <p:nvPr/>
        </p:nvGrpSpPr>
        <p:grpSpPr>
          <a:xfrm>
            <a:off x="9151298" y="6158315"/>
            <a:ext cx="6332147" cy="1343465"/>
            <a:chOff x="0" y="0"/>
            <a:chExt cx="6206756" cy="1343464"/>
          </a:xfrm>
        </p:grpSpPr>
        <p:sp>
          <p:nvSpPr>
            <p:cNvPr id="30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31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32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3</a:t>
              </a:r>
              <a:endParaRPr dirty="0"/>
            </a:p>
          </p:txBody>
        </p:sp>
      </p:grpSp>
      <p:sp>
        <p:nvSpPr>
          <p:cNvPr id="33" name="矩形 5"/>
          <p:cNvSpPr txBox="1"/>
          <p:nvPr/>
        </p:nvSpPr>
        <p:spPr>
          <a:xfrm>
            <a:off x="11440246" y="6438568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9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软件测试模型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软件测试分类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41" name="成组"/>
          <p:cNvGrpSpPr/>
          <p:nvPr/>
        </p:nvGrpSpPr>
        <p:grpSpPr>
          <a:xfrm>
            <a:off x="9182752" y="6186268"/>
            <a:ext cx="5947868" cy="1343465"/>
            <a:chOff x="0" y="0"/>
            <a:chExt cx="5830087" cy="1343464"/>
          </a:xfrm>
        </p:grpSpPr>
        <p:sp>
          <p:nvSpPr>
            <p:cNvPr id="138" name="矩形 5"/>
            <p:cNvSpPr txBox="1"/>
            <p:nvPr/>
          </p:nvSpPr>
          <p:spPr>
            <a:xfrm>
              <a:off x="2084781" y="299174"/>
              <a:ext cx="3745306" cy="745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9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03</a:t>
              </a: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53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00" y="5128537"/>
            <a:ext cx="4514850" cy="80709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98064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grpSp>
        <p:nvGrpSpPr>
          <p:cNvPr id="25" name="Group 4"/>
          <p:cNvGrpSpPr/>
          <p:nvPr/>
        </p:nvGrpSpPr>
        <p:grpSpPr bwMode="auto">
          <a:xfrm>
            <a:off x="6026431" y="4113533"/>
            <a:ext cx="9752647" cy="6854190"/>
            <a:chOff x="2340" y="8460"/>
            <a:chExt cx="4860" cy="2964"/>
          </a:xfrm>
        </p:grpSpPr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2340" y="8460"/>
              <a:ext cx="1080" cy="62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anchor="ctr" anchorCtr="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5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</a:t>
              </a:r>
              <a:endPara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3600" y="9240"/>
              <a:ext cx="1080" cy="62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hangingPunct="1">
                <a:spcBef>
                  <a:spcPct val="0"/>
                </a:spcBef>
              </a:pPr>
              <a:r>
                <a:rPr lang="zh-CN" altLang="en-US" sz="5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  <a:endParaRPr lang="zh-CN" altLang="en-US" sz="5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860" y="10020"/>
              <a:ext cx="1080" cy="62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hangingPunct="1">
                <a:spcBef>
                  <a:spcPct val="0"/>
                </a:spcBef>
              </a:pPr>
              <a:r>
                <a:rPr lang="zh-CN" altLang="en-US" sz="5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</a:t>
              </a:r>
              <a:endParaRPr lang="zh-CN" altLang="en-US" sz="5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6120" y="10800"/>
              <a:ext cx="1080" cy="62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anchor="ctr" anchorCtr="0"/>
            <a:lstStyle/>
            <a:p>
              <a:pPr hangingPunct="1">
                <a:spcBef>
                  <a:spcPct val="0"/>
                </a:spcBef>
              </a:pPr>
              <a:r>
                <a:rPr lang="zh-CN" altLang="en-US" sz="5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endParaRPr lang="zh-CN" altLang="en-US" sz="5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9"/>
            <p:cNvSpPr>
              <a:spLocks noChangeArrowheads="1"/>
            </p:cNvSpPr>
            <p:nvPr/>
          </p:nvSpPr>
          <p:spPr bwMode="auto">
            <a:xfrm>
              <a:off x="3240" y="8772"/>
              <a:ext cx="72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10545" y="5399"/>
                    <a:pt x="10292" y="5417"/>
                    <a:pt x="10040" y="5453"/>
                  </a:cubicBezTo>
                  <a:lnTo>
                    <a:pt x="9280" y="107"/>
                  </a:lnTo>
                  <a:cubicBezTo>
                    <a:pt x="9784" y="35"/>
                    <a:pt x="10291" y="-1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 sz="6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utoShape 10"/>
            <p:cNvSpPr>
              <a:spLocks noChangeArrowheads="1"/>
            </p:cNvSpPr>
            <p:nvPr/>
          </p:nvSpPr>
          <p:spPr bwMode="auto">
            <a:xfrm>
              <a:off x="4500" y="9552"/>
              <a:ext cx="72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10545" y="5399"/>
                    <a:pt x="10292" y="5417"/>
                    <a:pt x="10040" y="5453"/>
                  </a:cubicBezTo>
                  <a:lnTo>
                    <a:pt x="9280" y="107"/>
                  </a:lnTo>
                  <a:cubicBezTo>
                    <a:pt x="9784" y="35"/>
                    <a:pt x="10291" y="-1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 sz="6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utoShape 11"/>
            <p:cNvSpPr>
              <a:spLocks noChangeArrowheads="1"/>
            </p:cNvSpPr>
            <p:nvPr/>
          </p:nvSpPr>
          <p:spPr bwMode="auto">
            <a:xfrm>
              <a:off x="5760" y="10332"/>
              <a:ext cx="72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10545" y="5399"/>
                    <a:pt x="10292" y="5417"/>
                    <a:pt x="10040" y="5453"/>
                  </a:cubicBezTo>
                  <a:lnTo>
                    <a:pt x="9280" y="107"/>
                  </a:lnTo>
                  <a:cubicBezTo>
                    <a:pt x="9784" y="35"/>
                    <a:pt x="10291" y="-1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 sz="6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12098020" y="3490207"/>
            <a:ext cx="10345420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瀑布模型：</a:t>
            </a:r>
            <a:endParaRPr lang="en-US" altLang="zh-CN" sz="4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水流顺着台阶，一阶一阶顺流而下</a:t>
            </a:r>
            <a:endParaRPr lang="zh-CN" altLang="en-US" sz="4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635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634631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7221851" y="2875923"/>
          <a:ext cx="9940297" cy="7406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724" name="文本框 1"/>
          <p:cNvSpPr txBox="1">
            <a:spLocks noChangeArrowheads="1"/>
          </p:cNvSpPr>
          <p:nvPr/>
        </p:nvSpPr>
        <p:spPr bwMode="auto">
          <a:xfrm>
            <a:off x="9560509" y="10840077"/>
            <a:ext cx="526297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1828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不同阶段的缺陷比例</a:t>
            </a:r>
            <a:endParaRPr lang="zh-CN" altLang="en-US" sz="44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7" name="音频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4430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263155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pic>
        <p:nvPicPr>
          <p:cNvPr id="32771" name="Picture 6" descr="图2-3%20软件缺陷随着时间带来越来越大的成本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2505825"/>
            <a:ext cx="14833600" cy="913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Freeform 7"/>
          <p:cNvSpPr/>
          <p:nvPr/>
        </p:nvSpPr>
        <p:spPr bwMode="auto">
          <a:xfrm>
            <a:off x="6886686" y="3249612"/>
            <a:ext cx="7921626" cy="6861176"/>
          </a:xfrm>
          <a:custGeom>
            <a:avLst/>
            <a:gdLst>
              <a:gd name="T0" fmla="*/ 0 w 2495"/>
              <a:gd name="T1" fmla="*/ 2147483646 h 2161"/>
              <a:gd name="T2" fmla="*/ 2147483646 w 2495"/>
              <a:gd name="T3" fmla="*/ 2147483646 h 2161"/>
              <a:gd name="T4" fmla="*/ 2147483646 w 2495"/>
              <a:gd name="T5" fmla="*/ 2147483646 h 2161"/>
              <a:gd name="T6" fmla="*/ 2147483646 w 2495"/>
              <a:gd name="T7" fmla="*/ 2147483646 h 2161"/>
              <a:gd name="T8" fmla="*/ 2147483646 w 2495"/>
              <a:gd name="T9" fmla="*/ 0 h 21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95" h="2161">
                <a:moveTo>
                  <a:pt x="0" y="2154"/>
                </a:moveTo>
                <a:cubicBezTo>
                  <a:pt x="319" y="2157"/>
                  <a:pt x="639" y="2161"/>
                  <a:pt x="862" y="2131"/>
                </a:cubicBezTo>
                <a:cubicBezTo>
                  <a:pt x="1085" y="2101"/>
                  <a:pt x="1165" y="2143"/>
                  <a:pt x="1339" y="1973"/>
                </a:cubicBezTo>
                <a:cubicBezTo>
                  <a:pt x="1513" y="1803"/>
                  <a:pt x="1713" y="1440"/>
                  <a:pt x="1906" y="1111"/>
                </a:cubicBezTo>
                <a:cubicBezTo>
                  <a:pt x="2099" y="782"/>
                  <a:pt x="2397" y="185"/>
                  <a:pt x="2495" y="0"/>
                </a:cubicBezTo>
              </a:path>
            </a:pathLst>
          </a:cu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l" defTabSz="182880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 sz="3600" b="0" kern="1200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506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634631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3382440" y="3154827"/>
          <a:ext cx="9940297" cy="7406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724" name="文本框 1"/>
          <p:cNvSpPr txBox="1">
            <a:spLocks noChangeArrowheads="1"/>
          </p:cNvSpPr>
          <p:nvPr/>
        </p:nvSpPr>
        <p:spPr bwMode="auto">
          <a:xfrm>
            <a:off x="6375400" y="10819757"/>
            <a:ext cx="526297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defTabSz="1828800" eaLnBrk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4400" kern="1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不同阶段的缺陷比例</a:t>
            </a:r>
            <a:endParaRPr lang="zh-CN" altLang="en-US" sz="44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636864" y="4051161"/>
            <a:ext cx="9035936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 defTabSz="914400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大部分软件缺陷在软件开发的早期就已经出现</a:t>
            </a:r>
            <a:endParaRPr lang="zh-CN" altLang="en-US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2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263155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428240" y="3135745"/>
            <a:ext cx="11409680" cy="7491615"/>
            <a:chOff x="4775200" y="2505825"/>
            <a:chExt cx="14833600" cy="9137650"/>
          </a:xfrm>
        </p:grpSpPr>
        <p:pic>
          <p:nvPicPr>
            <p:cNvPr id="32771" name="Picture 6" descr="图2-3%20软件缺陷随着时间带来越来越大的成本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5200" y="2505825"/>
              <a:ext cx="14833600" cy="913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2" name="Freeform 7"/>
            <p:cNvSpPr/>
            <p:nvPr/>
          </p:nvSpPr>
          <p:spPr bwMode="auto">
            <a:xfrm>
              <a:off x="6886686" y="3249612"/>
              <a:ext cx="7921626" cy="6861176"/>
            </a:xfrm>
            <a:custGeom>
              <a:avLst/>
              <a:gdLst>
                <a:gd name="T0" fmla="*/ 0 w 2495"/>
                <a:gd name="T1" fmla="*/ 2147483646 h 2161"/>
                <a:gd name="T2" fmla="*/ 2147483646 w 2495"/>
                <a:gd name="T3" fmla="*/ 2147483646 h 2161"/>
                <a:gd name="T4" fmla="*/ 2147483646 w 2495"/>
                <a:gd name="T5" fmla="*/ 2147483646 h 2161"/>
                <a:gd name="T6" fmla="*/ 2147483646 w 2495"/>
                <a:gd name="T7" fmla="*/ 2147483646 h 2161"/>
                <a:gd name="T8" fmla="*/ 2147483646 w 2495"/>
                <a:gd name="T9" fmla="*/ 0 h 2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95" h="2161">
                  <a:moveTo>
                    <a:pt x="0" y="2154"/>
                  </a:moveTo>
                  <a:cubicBezTo>
                    <a:pt x="319" y="2157"/>
                    <a:pt x="639" y="2161"/>
                    <a:pt x="862" y="2131"/>
                  </a:cubicBezTo>
                  <a:cubicBezTo>
                    <a:pt x="1085" y="2101"/>
                    <a:pt x="1165" y="2143"/>
                    <a:pt x="1339" y="1973"/>
                  </a:cubicBezTo>
                  <a:cubicBezTo>
                    <a:pt x="1513" y="1803"/>
                    <a:pt x="1713" y="1440"/>
                    <a:pt x="1906" y="1111"/>
                  </a:cubicBezTo>
                  <a:cubicBezTo>
                    <a:pt x="2099" y="782"/>
                    <a:pt x="2397" y="185"/>
                    <a:pt x="2495" y="0"/>
                  </a:cubicBezTo>
                </a:path>
              </a:pathLst>
            </a:custGeom>
            <a:noFill/>
            <a:ln w="762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l" defTabSz="1828800" eaLnBrk="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 b="0" kern="1200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4636864" y="4051161"/>
            <a:ext cx="9035936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 defTabSz="914400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软件测试越早越好，软件缺陷的生存生命周期越短越好！</a:t>
            </a:r>
            <a:endParaRPr lang="zh-CN" altLang="en-US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16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37969" y="1078867"/>
            <a:ext cx="6263155" cy="1042894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软件测试模型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03163" y="3378462"/>
            <a:ext cx="9035936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 defTabSz="914400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软件测试越早越好，软件缺陷的生命周期越短越好！</a:t>
            </a:r>
            <a:endParaRPr lang="zh-CN" altLang="en-US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683963" y="3378462"/>
            <a:ext cx="9035936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 defTabSz="914400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大部分软件缺陷在软件开发的早期就已经出现</a:t>
            </a:r>
            <a:endParaRPr lang="zh-CN" altLang="en-US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673803" y="7885987"/>
            <a:ext cx="9046096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l" defTabSz="914400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最后阶段再测试，为时晚矣！</a:t>
            </a:r>
            <a:endParaRPr lang="zh-CN" altLang="en-US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08675" y="6422137"/>
            <a:ext cx="8713304" cy="4902673"/>
            <a:chOff x="3478696" y="7193533"/>
            <a:chExt cx="6388104" cy="359160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26000" y="7193533"/>
              <a:ext cx="5040800" cy="3591609"/>
            </a:xfrm>
            <a:prstGeom prst="rect">
              <a:avLst/>
            </a:prstGeom>
          </p:spPr>
        </p:pic>
        <p:sp>
          <p:nvSpPr>
            <p:cNvPr id="4" name="矩形标注 3"/>
            <p:cNvSpPr/>
            <p:nvPr/>
          </p:nvSpPr>
          <p:spPr>
            <a:xfrm>
              <a:off x="3478696" y="7412463"/>
              <a:ext cx="854766" cy="492443"/>
            </a:xfrm>
            <a:prstGeom prst="wedgeRectCallout">
              <a:avLst>
                <a:gd name="adj1" fmla="val 102638"/>
                <a:gd name="adj2" fmla="val 698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32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Helvetica Neue Medium"/>
                </a:rPr>
                <a:t>缺陷</a:t>
              </a:r>
              <a:endPara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 Medium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8726557" y="10135793"/>
              <a:ext cx="1140243" cy="492443"/>
            </a:xfrm>
            <a:prstGeom prst="rect">
              <a:avLst/>
            </a:prstGeom>
            <a:noFill/>
            <a:ln w="38100" cap="flat">
              <a:solidFill>
                <a:srgbClr val="00A2FF"/>
              </a:solidFill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 Medium"/>
              </a:endParaRPr>
            </a:p>
          </p:txBody>
        </p:sp>
      </p:grp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8" name="音频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600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6" grpId="0"/>
      <p:bldP spid="7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98064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7554603" y="5600457"/>
            <a:ext cx="6696876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模型：</a:t>
            </a:r>
            <a:endParaRPr lang="en-US" altLang="zh-CN" sz="4800" b="0" kern="12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整个流程呈现</a:t>
            </a:r>
            <a:r>
              <a:rPr lang="en-US" altLang="zh-CN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字型</a:t>
            </a:r>
            <a:endParaRPr lang="zh-CN" altLang="en-US" sz="4800" b="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735263" y="3867150"/>
          <a:ext cx="13547725" cy="676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7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867150"/>
                        <a:ext cx="13547725" cy="676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441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98064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8053320" y="6314444"/>
            <a:ext cx="5533997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RUP</a:t>
            </a:r>
            <a:r>
              <a:rPr lang="zh-CN" altLang="en-US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模型：</a:t>
            </a:r>
            <a:endParaRPr lang="en-US" altLang="zh-CN" sz="4800" b="0" kern="12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迭代模型</a:t>
            </a:r>
            <a:endParaRPr lang="zh-CN" altLang="en-US" sz="4800" b="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42"/>
          <p:cNvGrpSpPr/>
          <p:nvPr/>
        </p:nvGrpSpPr>
        <p:grpSpPr bwMode="auto">
          <a:xfrm>
            <a:off x="1924079" y="2699383"/>
            <a:ext cx="15630524" cy="9937750"/>
            <a:chOff x="236" y="480"/>
            <a:chExt cx="5140" cy="3337"/>
          </a:xfrm>
        </p:grpSpPr>
        <p:sp>
          <p:nvSpPr>
            <p:cNvPr id="7" name="Text Box 43"/>
            <p:cNvSpPr txBox="1">
              <a:spLocks noChangeArrowheads="1"/>
            </p:cNvSpPr>
            <p:nvPr/>
          </p:nvSpPr>
          <p:spPr bwMode="auto">
            <a:xfrm>
              <a:off x="2112" y="480"/>
              <a:ext cx="6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4602" tIns="92300" rIns="184602" bIns="923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time</a:t>
              </a:r>
              <a:endParaRPr lang="en-US" altLang="zh-CN" sz="2800"/>
            </a:p>
          </p:txBody>
        </p:sp>
        <p:graphicFrame>
          <p:nvGraphicFramePr>
            <p:cNvPr id="8" name="Object 44"/>
            <p:cNvGraphicFramePr>
              <a:graphicFrameLocks noChangeAspect="1"/>
            </p:cNvGraphicFramePr>
            <p:nvPr/>
          </p:nvGraphicFramePr>
          <p:xfrm>
            <a:off x="528" y="768"/>
            <a:ext cx="4820" cy="3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CorelDRAW" r:id="rId1" imgW="7229475" imgH="4572000" progId="CorelDRAW.Graphic.9">
                    <p:embed/>
                  </p:oleObj>
                </mc:Choice>
                <mc:Fallback>
                  <p:oleObj name="CorelDRAW" r:id="rId1" imgW="7229475" imgH="4572000" progId="CorelDRAW.Graphic.9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768"/>
                          <a:ext cx="4820" cy="3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3984" y="1104"/>
              <a:ext cx="384" cy="2304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15900" tIns="107950" rIns="215900" bIns="10795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3600"/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720" y="1488"/>
              <a:ext cx="4224" cy="24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15900" tIns="107950" rIns="215900" bIns="10795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3600"/>
            </a:p>
          </p:txBody>
        </p:sp>
        <p:sp>
          <p:nvSpPr>
            <p:cNvPr id="11" name="Line 47"/>
            <p:cNvSpPr>
              <a:spLocks noChangeShapeType="1"/>
            </p:cNvSpPr>
            <p:nvPr/>
          </p:nvSpPr>
          <p:spPr bwMode="auto">
            <a:xfrm>
              <a:off x="528" y="672"/>
              <a:ext cx="48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4602" tIns="92300" rIns="184602" bIns="92300"/>
            <a:lstStyle/>
            <a:p>
              <a:endParaRPr lang="zh-CN" altLang="en-US" sz="6000"/>
            </a:p>
          </p:txBody>
        </p:sp>
        <p:sp>
          <p:nvSpPr>
            <p:cNvPr id="12" name="Line 48"/>
            <p:cNvSpPr>
              <a:spLocks noChangeShapeType="1"/>
            </p:cNvSpPr>
            <p:nvPr/>
          </p:nvSpPr>
          <p:spPr bwMode="auto">
            <a:xfrm flipV="1">
              <a:off x="432" y="768"/>
              <a:ext cx="0" cy="27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4602" tIns="92300" rIns="184602" bIns="92300"/>
            <a:lstStyle/>
            <a:p>
              <a:endParaRPr lang="zh-CN" altLang="en-US" sz="6000"/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 rot="16200000">
              <a:off x="6" y="2164"/>
              <a:ext cx="64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4602" tIns="92300" rIns="184602" bIns="9230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content</a:t>
              </a:r>
              <a:endParaRPr lang="en-US" altLang="zh-CN" sz="2400"/>
            </a:p>
          </p:txBody>
        </p:sp>
      </p:grpSp>
      <p:sp>
        <p:nvSpPr>
          <p:cNvPr id="13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2620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98064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软件测试模型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8035866" y="5769080"/>
            <a:ext cx="5533997" cy="217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RUP</a:t>
            </a:r>
            <a:r>
              <a:rPr lang="zh-CN" altLang="en-US" sz="48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模型：</a:t>
            </a:r>
            <a:endParaRPr lang="en-US" altLang="zh-CN" sz="4800" b="0" kern="12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48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迭代模型</a:t>
            </a:r>
            <a:endParaRPr lang="zh-CN" altLang="en-US" sz="4800" b="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12" descr="lifec0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283" y="4174692"/>
            <a:ext cx="13492980" cy="6431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109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64047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软件测试模型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00888" y="3900076"/>
            <a:ext cx="1022908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软件测试需要遵循一定的模型</a:t>
            </a:r>
            <a:endParaRPr lang="en-US" altLang="zh-CN" sz="6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3195" y="6176526"/>
            <a:ext cx="107372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传统上以瀑布模型和</a:t>
            </a:r>
            <a:r>
              <a:rPr lang="en-US" altLang="zh-CN" sz="6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模型为主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07385" y="8452976"/>
            <a:ext cx="1249572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00A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迭代模型更有利实现于尽快尽早测试</a:t>
            </a:r>
            <a:endParaRPr lang="en-US" altLang="zh-CN" sz="6000" dirty="0">
              <a:solidFill>
                <a:srgbClr val="00A2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393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chemeClr val="tx1"/>
                  </a:solidFill>
                </a:rPr>
                <a:t>软件测试模型</a:t>
              </a:r>
              <a:endParaRPr lang="zh-CN" altLang="en-US" sz="4400" dirty="0">
                <a:solidFill>
                  <a:schemeClr val="tx1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软件测试分类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41" name="成组"/>
          <p:cNvGrpSpPr/>
          <p:nvPr/>
        </p:nvGrpSpPr>
        <p:grpSpPr>
          <a:xfrm>
            <a:off x="9136452" y="6186268"/>
            <a:ext cx="5947868" cy="1343465"/>
            <a:chOff x="0" y="0"/>
            <a:chExt cx="5830087" cy="1343464"/>
          </a:xfrm>
        </p:grpSpPr>
        <p:sp>
          <p:nvSpPr>
            <p:cNvPr id="138" name="矩形 5"/>
            <p:cNvSpPr txBox="1"/>
            <p:nvPr/>
          </p:nvSpPr>
          <p:spPr>
            <a:xfrm>
              <a:off x="2084781" y="299174"/>
              <a:ext cx="3745306" cy="745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9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1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39"/>
          <p:cNvGrpSpPr/>
          <p:nvPr/>
        </p:nvGrpSpPr>
        <p:grpSpPr bwMode="auto">
          <a:xfrm>
            <a:off x="3281861" y="3283573"/>
            <a:ext cx="11148100" cy="7778664"/>
            <a:chOff x="771" y="981"/>
            <a:chExt cx="4212" cy="3022"/>
          </a:xfrm>
        </p:grpSpPr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17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 Box 23"/>
              <p:cNvSpPr txBox="1">
                <a:spLocks noChangeArrowheads="1"/>
              </p:cNvSpPr>
              <p:nvPr/>
            </p:nvSpPr>
            <p:spPr bwMode="auto">
              <a:xfrm>
                <a:off x="2284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1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512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8450101" y="5762882"/>
            <a:ext cx="6248970" cy="3099111"/>
          </a:xfrm>
          <a:prstGeom prst="ellipse">
            <a:avLst/>
          </a:prstGeom>
          <a:solidFill>
            <a:schemeClr val="accent5">
              <a:lumMod val="75000"/>
              <a:alpha val="14118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Group 39"/>
          <p:cNvGrpSpPr/>
          <p:nvPr/>
        </p:nvGrpSpPr>
        <p:grpSpPr bwMode="auto">
          <a:xfrm>
            <a:off x="3281861" y="3283573"/>
            <a:ext cx="11148100" cy="7778664"/>
            <a:chOff x="771" y="981"/>
            <a:chExt cx="4212" cy="3022"/>
          </a:xfrm>
        </p:grpSpPr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50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Text Box 23"/>
              <p:cNvSpPr txBox="1">
                <a:spLocks noChangeArrowheads="1"/>
              </p:cNvSpPr>
              <p:nvPr/>
            </p:nvSpPr>
            <p:spPr bwMode="auto">
              <a:xfrm>
                <a:off x="2284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8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43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3" name="立方体 2"/>
          <p:cNvSpPr/>
          <p:nvPr/>
        </p:nvSpPr>
        <p:spPr>
          <a:xfrm>
            <a:off x="10427494" y="4119673"/>
            <a:ext cx="3529012" cy="3414713"/>
          </a:xfrm>
          <a:prstGeom prst="cube">
            <a:avLst/>
          </a:prstGeom>
          <a:solidFill>
            <a:schemeClr val="tx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06949" y="5180699"/>
            <a:ext cx="1641476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4942347" y="5565965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341396" y="5565965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7741902" y="9161949"/>
            <a:ext cx="1641475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预期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737970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黑盒测试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437100" y="5718365"/>
            <a:ext cx="1641476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8" name="上下箭头 7"/>
          <p:cNvSpPr/>
          <p:nvPr/>
        </p:nvSpPr>
        <p:spPr>
          <a:xfrm>
            <a:off x="17927639" y="7362936"/>
            <a:ext cx="964404" cy="1614487"/>
          </a:xfrm>
          <a:prstGeom prst="up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402264" y="5718365"/>
            <a:ext cx="1641475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433153" y="5346882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811451" y="5534357"/>
            <a:ext cx="544042" cy="1255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4" name="椭圆 113"/>
          <p:cNvSpPr/>
          <p:nvPr/>
        </p:nvSpPr>
        <p:spPr>
          <a:xfrm>
            <a:off x="9514113" y="6413687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15" name="直接连接符 114"/>
          <p:cNvCxnSpPr>
            <a:stCxn id="114" idx="6"/>
          </p:cNvCxnSpPr>
          <p:nvPr/>
        </p:nvCxnSpPr>
        <p:spPr>
          <a:xfrm>
            <a:off x="9942738" y="6613712"/>
            <a:ext cx="445546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6" name="椭圆 115"/>
          <p:cNvSpPr/>
          <p:nvPr/>
        </p:nvSpPr>
        <p:spPr>
          <a:xfrm>
            <a:off x="14450221" y="5459663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 flipV="1">
            <a:off x="13864434" y="5659689"/>
            <a:ext cx="594370" cy="2857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8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6" name="音频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053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 animBg="1"/>
      <p:bldP spid="100" grpId="0" animBg="1"/>
      <p:bldP spid="101" grpId="0"/>
      <p:bldP spid="103" grpId="0"/>
      <p:bldP spid="8" grpId="0" animBg="1"/>
      <p:bldP spid="104" grpId="0"/>
      <p:bldP spid="10" grpId="0" animBg="1"/>
      <p:bldP spid="114" grpId="0" animBg="1"/>
      <p:bldP spid="1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543299" y="4429125"/>
            <a:ext cx="17302164" cy="45259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sz="4800" b="1" dirty="0"/>
              <a:t>黑盒测试（数据驱动测试）</a:t>
            </a:r>
            <a:endParaRPr lang="en-US" altLang="zh-CN" sz="4800" b="1" dirty="0"/>
          </a:p>
          <a:p>
            <a:pPr lvl="2"/>
            <a:r>
              <a:rPr lang="zh-CN" altLang="en-US" sz="4800" dirty="0"/>
              <a:t>它是把测试对象看做一个黑盒子，测试人员完全不考虑程序内部的逻辑结构和内部特性，只依据程序的需求规格说明书，检查程序的功能是否符合它的功能说明。 </a:t>
            </a:r>
            <a:endParaRPr lang="zh-CN" altLang="en-US" sz="4800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37970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黑盒测试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729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812298" y="5120416"/>
            <a:ext cx="1641476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4647696" y="5505682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046745" y="5505682"/>
            <a:ext cx="1814513" cy="117871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7447251" y="9101666"/>
            <a:ext cx="1641475" cy="194925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预期</a:t>
            </a:r>
            <a:endParaRPr kumimoji="0" lang="en-US" altLang="zh-CN" sz="60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7142449" y="5658082"/>
            <a:ext cx="1641476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输出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8" name="上下箭头 7"/>
          <p:cNvSpPr/>
          <p:nvPr/>
        </p:nvSpPr>
        <p:spPr>
          <a:xfrm>
            <a:off x="17632988" y="7302653"/>
            <a:ext cx="964404" cy="1614487"/>
          </a:xfrm>
          <a:prstGeom prst="up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5107613" y="5658082"/>
            <a:ext cx="1641475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13" name="立方体 12"/>
          <p:cNvSpPr/>
          <p:nvPr/>
        </p:nvSpPr>
        <p:spPr>
          <a:xfrm>
            <a:off x="10285243" y="4211790"/>
            <a:ext cx="3529012" cy="3414713"/>
          </a:xfrm>
          <a:prstGeom prst="cube">
            <a:avLst/>
          </a:prstGeom>
          <a:solidFill>
            <a:schemeClr val="bg1"/>
          </a:solidFill>
          <a:ln w="12700" cap="flat">
            <a:solidFill>
              <a:schemeClr val="tx1"/>
            </a:solidFill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07511" y="3034418"/>
            <a:ext cx="3440110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软件系统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36" b="2636"/>
          <a:stretch>
            <a:fillRect/>
          </a:stretch>
        </p:blipFill>
        <p:spPr>
          <a:xfrm>
            <a:off x="10319322" y="5294844"/>
            <a:ext cx="2627428" cy="2089146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9334450" y="5286599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9712748" y="5474074"/>
            <a:ext cx="544042" cy="1255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椭圆 18"/>
          <p:cNvSpPr/>
          <p:nvPr/>
        </p:nvSpPr>
        <p:spPr>
          <a:xfrm>
            <a:off x="9415410" y="6353404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0" name="直接连接符 19"/>
          <p:cNvCxnSpPr>
            <a:stCxn id="19" idx="6"/>
          </p:cNvCxnSpPr>
          <p:nvPr/>
        </p:nvCxnSpPr>
        <p:spPr>
          <a:xfrm>
            <a:off x="9844035" y="6553429"/>
            <a:ext cx="445546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椭圆 20"/>
          <p:cNvSpPr/>
          <p:nvPr/>
        </p:nvSpPr>
        <p:spPr>
          <a:xfrm>
            <a:off x="14155570" y="5399380"/>
            <a:ext cx="428625" cy="400050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13569783" y="5599406"/>
            <a:ext cx="594370" cy="28575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3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737970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白盒测试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656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7" grpId="0" animBg="1"/>
      <p:bldP spid="19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4119673"/>
            <a:ext cx="19886056" cy="674369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白盒测试把测试对象看做一个透明的盒子（又称</a:t>
            </a:r>
            <a:r>
              <a:rPr lang="zh-CN" altLang="en-US" b="0" dirty="0">
                <a:solidFill>
                  <a:srgbClr val="FF0000"/>
                </a:solidFill>
              </a:rPr>
              <a:t>玻璃盒测试</a:t>
            </a:r>
            <a:r>
              <a:rPr lang="zh-CN" altLang="en-US" b="0" dirty="0">
                <a:solidFill>
                  <a:schemeClr val="tx1"/>
                </a:solidFill>
              </a:rPr>
              <a:t>），要求</a:t>
            </a:r>
            <a:r>
              <a:rPr lang="zh-CN" altLang="en-US" b="0" dirty="0"/>
              <a:t>测试人员利用程序内部的逻辑结构及有关信息，设计或选择测试用例。</a:t>
            </a:r>
            <a:endParaRPr lang="en-US" altLang="zh-CN" b="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因此白盒测试又称为</a:t>
            </a:r>
            <a:r>
              <a:rPr lang="zh-CN" altLang="en-US" b="0" dirty="0">
                <a:solidFill>
                  <a:srgbClr val="FF0000"/>
                </a:solidFill>
              </a:rPr>
              <a:t>结构测试</a:t>
            </a:r>
            <a:r>
              <a:rPr lang="zh-CN" altLang="en-US" b="0" dirty="0"/>
              <a:t>或</a:t>
            </a:r>
            <a:r>
              <a:rPr lang="zh-CN" altLang="en-US" b="0" dirty="0">
                <a:solidFill>
                  <a:srgbClr val="FF0000"/>
                </a:solidFill>
              </a:rPr>
              <a:t>逻辑驱动测试</a:t>
            </a:r>
            <a:r>
              <a:rPr lang="zh-CN" altLang="en-US" b="0" dirty="0"/>
              <a:t>。 </a:t>
            </a:r>
            <a:endParaRPr lang="en-US" altLang="zh-CN" b="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0"/>
              <a:t>可以通过</a:t>
            </a:r>
            <a:r>
              <a:rPr lang="zh-CN" altLang="en-US" b="0" dirty="0"/>
              <a:t>在不同点检查程序的状态，确定实际的状态是否与预期的状态一致。</a:t>
            </a:r>
            <a:endParaRPr lang="en-US" altLang="zh-CN" b="0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7970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白盒测试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36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grpSp>
        <p:nvGrpSpPr>
          <p:cNvPr id="13" name="Group 39"/>
          <p:cNvGrpSpPr/>
          <p:nvPr/>
        </p:nvGrpSpPr>
        <p:grpSpPr bwMode="auto">
          <a:xfrm>
            <a:off x="3542510" y="3390657"/>
            <a:ext cx="11148100" cy="7778664"/>
            <a:chOff x="771" y="981"/>
            <a:chExt cx="4212" cy="3022"/>
          </a:xfrm>
        </p:grpSpPr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17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 Box 23"/>
              <p:cNvSpPr txBox="1">
                <a:spLocks noChangeArrowheads="1"/>
              </p:cNvSpPr>
              <p:nvPr/>
            </p:nvSpPr>
            <p:spPr bwMode="auto">
              <a:xfrm>
                <a:off x="2251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椭圆 2"/>
          <p:cNvSpPr/>
          <p:nvPr/>
        </p:nvSpPr>
        <p:spPr>
          <a:xfrm>
            <a:off x="7065329" y="3037532"/>
            <a:ext cx="2350313" cy="4163950"/>
          </a:xfrm>
          <a:prstGeom prst="ellipse">
            <a:avLst/>
          </a:prstGeom>
          <a:solidFill>
            <a:schemeClr val="accent5">
              <a:lumMod val="75000"/>
              <a:alpha val="14118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69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5418138" y="3478213"/>
          <a:ext cx="13547725" cy="675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9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138" y="3478213"/>
                        <a:ext cx="13547725" cy="675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2003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软件测试分类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69" y="3983576"/>
            <a:ext cx="20216812" cy="674369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单元测试，是指对软件中的最小可测试单元进行检查和验证。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35000" lvl="1">
              <a:lnSpc>
                <a:spcPct val="150000"/>
              </a:lnSpc>
              <a:spcBef>
                <a:spcPts val="120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最小单元：</a:t>
            </a:r>
            <a:r>
              <a:rPr lang="zh-CN" altLang="en-US" sz="4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最小的可被测功能模块。</a:t>
            </a:r>
            <a:endParaRPr lang="en-US" altLang="zh-CN" sz="4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4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4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语言中单元指一个函数</a:t>
            </a:r>
            <a:endParaRPr lang="en-US" altLang="zh-CN" sz="4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4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en-US" sz="4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里单元指一个类</a:t>
            </a:r>
            <a:endParaRPr lang="en-US" altLang="zh-CN" sz="4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图形化的软件中可以指一个窗口或一个菜单等</a:t>
            </a:r>
            <a:endParaRPr lang="zh-CN" altLang="en-US" sz="4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37969" y="2539707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Helvetica Neue"/>
              </a:rPr>
              <a:t>单元测试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12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633678"/>
            <a:ext cx="20007730" cy="41005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/>
              <a:t>集成测试，也叫组装测试或联合测试。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是在单元测试的基础上，将所有模块按照设计要求（如结构图）组装成为子系统或系统，进行的测试活动</a:t>
            </a:r>
            <a:endParaRPr lang="en-US" altLang="zh-CN" b="0" dirty="0"/>
          </a:p>
        </p:txBody>
      </p:sp>
      <p:pic>
        <p:nvPicPr>
          <p:cNvPr id="10242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77397">
            <a:off x="2571722" y="7739914"/>
            <a:ext cx="9572345" cy="551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37971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078848" y="10211237"/>
            <a:ext cx="100335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Ifile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Read 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54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Location,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FileName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295722" y="8511049"/>
            <a:ext cx="64171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String Read 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318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120717"/>
            <a:ext cx="19481950" cy="75866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/>
              <a:t>系统测试 是将待测试的软件作为一个整体，与硬件、支持软件和人员等其它系统元素结合在一起，在实际运行环境下，对系统进行一系列的测试活动。</a:t>
            </a:r>
            <a:endParaRPr lang="en-US" altLang="zh-CN" dirty="0"/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系统测试的</a:t>
            </a:r>
            <a:r>
              <a:rPr lang="zh-CN" altLang="en-US" b="0" dirty="0">
                <a:solidFill>
                  <a:srgbClr val="FF0000"/>
                </a:solidFill>
              </a:rPr>
              <a:t>目的</a:t>
            </a:r>
            <a:r>
              <a:rPr lang="zh-CN" altLang="en-US" b="0" dirty="0"/>
              <a:t>在于通过与系统的需求定义作比较</a:t>
            </a:r>
            <a:r>
              <a:rPr lang="en-US" altLang="zh-CN" b="0" dirty="0"/>
              <a:t>,</a:t>
            </a:r>
            <a:r>
              <a:rPr lang="zh-CN" altLang="en-US" b="0" dirty="0"/>
              <a:t>发现实际软件与软件需求不符合或矛盾的地方。</a:t>
            </a:r>
            <a:endParaRPr lang="zh-CN" altLang="en-US" b="0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7971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88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2903812"/>
            <a:ext cx="20216812" cy="548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/>
              <a:t>验收测试 是检验接受测试的软件系统</a:t>
            </a:r>
            <a:r>
              <a:rPr lang="zh-CN" altLang="en-US" dirty="0">
                <a:solidFill>
                  <a:srgbClr val="FF0000"/>
                </a:solidFill>
              </a:rPr>
              <a:t>是否满足用户的需求</a:t>
            </a:r>
            <a:r>
              <a:rPr lang="zh-CN" altLang="en-US" dirty="0"/>
              <a:t>的测试活动，测试的重点是软件系统的日常使用场景。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0" dirty="0"/>
              <a:t>通常由市场、销售、技术支持人员与</a:t>
            </a:r>
            <a:r>
              <a:rPr lang="zh-CN" altLang="en-US" b="0" dirty="0">
                <a:solidFill>
                  <a:srgbClr val="FF0000"/>
                </a:solidFill>
              </a:rPr>
              <a:t>最终用户</a:t>
            </a:r>
            <a:r>
              <a:rPr lang="zh-CN" altLang="en-US" b="0" dirty="0"/>
              <a:t>一起完成验收测试。</a:t>
            </a:r>
            <a:endParaRPr lang="zh-CN" altLang="en-US" b="0" dirty="0"/>
          </a:p>
        </p:txBody>
      </p:sp>
      <p:pic>
        <p:nvPicPr>
          <p:cNvPr id="16386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787" y="8068988"/>
            <a:ext cx="3332163" cy="333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37970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379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5920255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grpSp>
        <p:nvGrpSpPr>
          <p:cNvPr id="14" name="Group 6"/>
          <p:cNvGrpSpPr/>
          <p:nvPr/>
        </p:nvGrpSpPr>
        <p:grpSpPr bwMode="auto">
          <a:xfrm>
            <a:off x="4967771" y="2838278"/>
            <a:ext cx="14448458" cy="8039444"/>
            <a:chOff x="1620" y="9084"/>
            <a:chExt cx="9000" cy="5304"/>
          </a:xfrm>
        </p:grpSpPr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2160" y="9084"/>
              <a:ext cx="8460" cy="53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6" name="Group 8"/>
            <p:cNvGrpSpPr/>
            <p:nvPr/>
          </p:nvGrpSpPr>
          <p:grpSpPr bwMode="auto">
            <a:xfrm>
              <a:off x="1620" y="9240"/>
              <a:ext cx="9000" cy="4680"/>
              <a:chOff x="1620" y="8928"/>
              <a:chExt cx="9000" cy="4680"/>
            </a:xfrm>
          </p:grpSpPr>
          <p:grpSp>
            <p:nvGrpSpPr>
              <p:cNvPr id="17" name="Group 9"/>
              <p:cNvGrpSpPr/>
              <p:nvPr/>
            </p:nvGrpSpPr>
            <p:grpSpPr bwMode="auto">
              <a:xfrm>
                <a:off x="1620" y="8928"/>
                <a:ext cx="9000" cy="4680"/>
                <a:chOff x="1620" y="8928"/>
                <a:chExt cx="9000" cy="4680"/>
              </a:xfrm>
            </p:grpSpPr>
            <p:sp>
              <p:nvSpPr>
                <p:cNvPr id="19" name="Rectangle 10"/>
                <p:cNvSpPr>
                  <a:spLocks noChangeArrowheads="1"/>
                </p:cNvSpPr>
                <p:nvPr/>
              </p:nvSpPr>
              <p:spPr bwMode="auto">
                <a:xfrm>
                  <a:off x="2340" y="8928"/>
                  <a:ext cx="7920" cy="202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子系统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1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0" name="Rectangle 11"/>
                <p:cNvSpPr>
                  <a:spLocks noChangeArrowheads="1"/>
                </p:cNvSpPr>
                <p:nvPr/>
              </p:nvSpPr>
              <p:spPr bwMode="auto">
                <a:xfrm>
                  <a:off x="2340" y="9084"/>
                  <a:ext cx="396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功能模块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1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1" name="Rectangle 12"/>
                <p:cNvSpPr>
                  <a:spLocks noChangeArrowheads="1"/>
                </p:cNvSpPr>
                <p:nvPr/>
              </p:nvSpPr>
              <p:spPr bwMode="auto">
                <a:xfrm>
                  <a:off x="2700" y="9708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1</a:t>
                  </a:r>
                  <a:endPara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2" name="Rectangle 13"/>
                <p:cNvSpPr>
                  <a:spLocks noChangeArrowheads="1"/>
                </p:cNvSpPr>
                <p:nvPr/>
              </p:nvSpPr>
              <p:spPr bwMode="auto">
                <a:xfrm>
                  <a:off x="4680" y="9708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2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" name="AutoShape 14"/>
                <p:cNvSpPr>
                  <a:spLocks noChangeArrowheads="1"/>
                </p:cNvSpPr>
                <p:nvPr/>
              </p:nvSpPr>
              <p:spPr bwMode="auto">
                <a:xfrm>
                  <a:off x="4140" y="9864"/>
                  <a:ext cx="540" cy="156"/>
                </a:xfrm>
                <a:prstGeom prst="righ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3" name="AutoShape 15"/>
                <p:cNvSpPr>
                  <a:spLocks noChangeArrowheads="1"/>
                </p:cNvSpPr>
                <p:nvPr/>
              </p:nvSpPr>
              <p:spPr bwMode="auto">
                <a:xfrm>
                  <a:off x="2160" y="9864"/>
                  <a:ext cx="540" cy="156"/>
                </a:xfrm>
                <a:prstGeom prst="righ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4" name="Rectangle 16"/>
                <p:cNvSpPr>
                  <a:spLocks noChangeArrowheads="1"/>
                </p:cNvSpPr>
                <p:nvPr/>
              </p:nvSpPr>
              <p:spPr bwMode="auto">
                <a:xfrm>
                  <a:off x="6300" y="9084"/>
                  <a:ext cx="396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功能模块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2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5" name="Rectangle 17"/>
                <p:cNvSpPr>
                  <a:spLocks noChangeArrowheads="1"/>
                </p:cNvSpPr>
                <p:nvPr/>
              </p:nvSpPr>
              <p:spPr bwMode="auto">
                <a:xfrm>
                  <a:off x="6660" y="9708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3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" name="Rectangle 18"/>
                <p:cNvSpPr>
                  <a:spLocks noChangeArrowheads="1"/>
                </p:cNvSpPr>
                <p:nvPr/>
              </p:nvSpPr>
              <p:spPr bwMode="auto">
                <a:xfrm>
                  <a:off x="8640" y="9708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4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7" name="AutoShape 19"/>
                <p:cNvSpPr>
                  <a:spLocks noChangeArrowheads="1"/>
                </p:cNvSpPr>
                <p:nvPr/>
              </p:nvSpPr>
              <p:spPr bwMode="auto">
                <a:xfrm>
                  <a:off x="8100" y="9864"/>
                  <a:ext cx="540" cy="156"/>
                </a:xfrm>
                <a:prstGeom prst="righ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8" name="AutoShape 20"/>
                <p:cNvSpPr>
                  <a:spLocks noChangeArrowheads="1"/>
                </p:cNvSpPr>
                <p:nvPr/>
              </p:nvSpPr>
              <p:spPr bwMode="auto">
                <a:xfrm>
                  <a:off x="6120" y="9864"/>
                  <a:ext cx="540" cy="156"/>
                </a:xfrm>
                <a:prstGeom prst="righ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39" name="Rectangle 21"/>
                <p:cNvSpPr>
                  <a:spLocks noChangeArrowheads="1"/>
                </p:cNvSpPr>
                <p:nvPr/>
              </p:nvSpPr>
              <p:spPr bwMode="auto">
                <a:xfrm>
                  <a:off x="1620" y="9240"/>
                  <a:ext cx="54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输入</a:t>
                  </a:r>
                  <a:endPara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0" name="Rectangle 22"/>
                <p:cNvSpPr>
                  <a:spLocks noChangeArrowheads="1"/>
                </p:cNvSpPr>
                <p:nvPr/>
              </p:nvSpPr>
              <p:spPr bwMode="auto">
                <a:xfrm>
                  <a:off x="2340" y="11424"/>
                  <a:ext cx="7920" cy="202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子系统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2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1" name="Rectangle 23"/>
                <p:cNvSpPr>
                  <a:spLocks noChangeArrowheads="1"/>
                </p:cNvSpPr>
                <p:nvPr/>
              </p:nvSpPr>
              <p:spPr bwMode="auto">
                <a:xfrm>
                  <a:off x="2340" y="11580"/>
                  <a:ext cx="396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功能模块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4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700" y="12204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8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4680" y="12204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7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6300" y="11580"/>
                  <a:ext cx="396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功能模块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3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5" name="Rectangle 27"/>
                <p:cNvSpPr>
                  <a:spLocks noChangeArrowheads="1"/>
                </p:cNvSpPr>
                <p:nvPr/>
              </p:nvSpPr>
              <p:spPr bwMode="auto">
                <a:xfrm>
                  <a:off x="6660" y="12204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6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6" name="Rectangle 28"/>
                <p:cNvSpPr>
                  <a:spLocks noChangeArrowheads="1"/>
                </p:cNvSpPr>
                <p:nvPr/>
              </p:nvSpPr>
              <p:spPr bwMode="auto">
                <a:xfrm>
                  <a:off x="8640" y="12204"/>
                  <a:ext cx="14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程序单元</a:t>
                  </a: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5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7" name="AutoShape 29"/>
                <p:cNvSpPr>
                  <a:spLocks noChangeArrowheads="1"/>
                </p:cNvSpPr>
                <p:nvPr/>
              </p:nvSpPr>
              <p:spPr bwMode="auto">
                <a:xfrm>
                  <a:off x="8100" y="12360"/>
                  <a:ext cx="540" cy="156"/>
                </a:xfrm>
                <a:prstGeom prst="lef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48" name="AutoShape 30"/>
                <p:cNvSpPr>
                  <a:spLocks noChangeArrowheads="1"/>
                </p:cNvSpPr>
                <p:nvPr/>
              </p:nvSpPr>
              <p:spPr bwMode="auto">
                <a:xfrm>
                  <a:off x="6120" y="12360"/>
                  <a:ext cx="540" cy="156"/>
                </a:xfrm>
                <a:prstGeom prst="lef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49" name="AutoShape 31"/>
                <p:cNvSpPr>
                  <a:spLocks noChangeArrowheads="1"/>
                </p:cNvSpPr>
                <p:nvPr/>
              </p:nvSpPr>
              <p:spPr bwMode="auto">
                <a:xfrm>
                  <a:off x="4140" y="12360"/>
                  <a:ext cx="540" cy="156"/>
                </a:xfrm>
                <a:prstGeom prst="lef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50" name="AutoShape 32"/>
                <p:cNvSpPr>
                  <a:spLocks noChangeArrowheads="1"/>
                </p:cNvSpPr>
                <p:nvPr/>
              </p:nvSpPr>
              <p:spPr bwMode="auto">
                <a:xfrm>
                  <a:off x="9180" y="10176"/>
                  <a:ext cx="180" cy="2028"/>
                </a:xfrm>
                <a:prstGeom prst="downArrow">
                  <a:avLst>
                    <a:gd name="adj1" fmla="val 50000"/>
                    <a:gd name="adj2" fmla="val 281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vert="eaVert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51" name="Rectangle 33"/>
                <p:cNvSpPr>
                  <a:spLocks noChangeArrowheads="1"/>
                </p:cNvSpPr>
                <p:nvPr/>
              </p:nvSpPr>
              <p:spPr bwMode="auto">
                <a:xfrm>
                  <a:off x="1620" y="11736"/>
                  <a:ext cx="540" cy="12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输出</a:t>
                  </a:r>
                  <a:endPara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2" name="AutoShape 34"/>
                <p:cNvSpPr>
                  <a:spLocks noChangeArrowheads="1"/>
                </p:cNvSpPr>
                <p:nvPr/>
              </p:nvSpPr>
              <p:spPr bwMode="auto">
                <a:xfrm>
                  <a:off x="2160" y="12360"/>
                  <a:ext cx="540" cy="156"/>
                </a:xfrm>
                <a:prstGeom prst="leftArrow">
                  <a:avLst>
                    <a:gd name="adj1" fmla="val 50000"/>
                    <a:gd name="adj2" fmla="val 86538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/>
                </a:p>
              </p:txBody>
            </p:sp>
            <p:sp>
              <p:nvSpPr>
                <p:cNvPr id="53" name="AutoShape 35"/>
                <p:cNvSpPr>
                  <a:spLocks noChangeArrowheads="1"/>
                </p:cNvSpPr>
                <p:nvPr/>
              </p:nvSpPr>
              <p:spPr bwMode="auto">
                <a:xfrm>
                  <a:off x="4140" y="10644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A</a:t>
                  </a:r>
                  <a:endPara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4" name="AutoShape 36"/>
                <p:cNvSpPr>
                  <a:spLocks noChangeArrowheads="1"/>
                </p:cNvSpPr>
                <p:nvPr/>
              </p:nvSpPr>
              <p:spPr bwMode="auto">
                <a:xfrm>
                  <a:off x="6120" y="10644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B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5" name="AutoShape 37"/>
                <p:cNvSpPr>
                  <a:spLocks noChangeArrowheads="1"/>
                </p:cNvSpPr>
                <p:nvPr/>
              </p:nvSpPr>
              <p:spPr bwMode="auto">
                <a:xfrm>
                  <a:off x="8100" y="10644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C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6" name="AutoShape 38"/>
                <p:cNvSpPr>
                  <a:spLocks noChangeArrowheads="1"/>
                </p:cNvSpPr>
                <p:nvPr/>
              </p:nvSpPr>
              <p:spPr bwMode="auto">
                <a:xfrm>
                  <a:off x="4140" y="13140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G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" name="AutoShape 39"/>
                <p:cNvSpPr>
                  <a:spLocks noChangeArrowheads="1"/>
                </p:cNvSpPr>
                <p:nvPr/>
              </p:nvSpPr>
              <p:spPr bwMode="auto">
                <a:xfrm>
                  <a:off x="6300" y="13140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F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8" name="AutoShape 40"/>
                <p:cNvSpPr>
                  <a:spLocks noChangeArrowheads="1"/>
                </p:cNvSpPr>
                <p:nvPr/>
              </p:nvSpPr>
              <p:spPr bwMode="auto">
                <a:xfrm>
                  <a:off x="8280" y="13140"/>
                  <a:ext cx="540" cy="468"/>
                </a:xfrm>
                <a:prstGeom prst="wedgeRoundRectCallout">
                  <a:avLst>
                    <a:gd name="adj1" fmla="val -11111"/>
                    <a:gd name="adj2" fmla="val -205556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E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9" name="AutoShape 41"/>
                <p:cNvSpPr>
                  <a:spLocks noChangeArrowheads="1"/>
                </p:cNvSpPr>
                <p:nvPr/>
              </p:nvSpPr>
              <p:spPr bwMode="auto">
                <a:xfrm>
                  <a:off x="10080" y="11112"/>
                  <a:ext cx="540" cy="468"/>
                </a:xfrm>
                <a:prstGeom prst="wedgeRoundRectCallout">
                  <a:avLst>
                    <a:gd name="adj1" fmla="val -191667"/>
                    <a:gd name="adj2" fmla="val -32477"/>
                    <a:gd name="adj3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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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D</a:t>
                  </a:r>
                  <a:endPara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18" name="AutoShape 42"/>
              <p:cNvSpPr>
                <a:spLocks noChangeArrowheads="1"/>
              </p:cNvSpPr>
              <p:nvPr/>
            </p:nvSpPr>
            <p:spPr bwMode="auto">
              <a:xfrm>
                <a:off x="2520" y="11268"/>
                <a:ext cx="540" cy="468"/>
              </a:xfrm>
              <a:prstGeom prst="wedgeRoundRectCallout">
                <a:avLst>
                  <a:gd name="adj1" fmla="val -77778"/>
                  <a:gd name="adj2" fmla="val 194444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H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6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884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grpSp>
        <p:nvGrpSpPr>
          <p:cNvPr id="13" name="Group 39"/>
          <p:cNvGrpSpPr/>
          <p:nvPr/>
        </p:nvGrpSpPr>
        <p:grpSpPr bwMode="auto">
          <a:xfrm>
            <a:off x="3086355" y="3342530"/>
            <a:ext cx="11148100" cy="7778664"/>
            <a:chOff x="771" y="981"/>
            <a:chExt cx="4212" cy="3022"/>
          </a:xfrm>
        </p:grpSpPr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17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 Box 23"/>
              <p:cNvSpPr txBox="1">
                <a:spLocks noChangeArrowheads="1"/>
              </p:cNvSpPr>
              <p:nvPr/>
            </p:nvSpPr>
            <p:spPr bwMode="auto">
              <a:xfrm>
                <a:off x="2312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椭圆 2"/>
          <p:cNvSpPr/>
          <p:nvPr/>
        </p:nvSpPr>
        <p:spPr>
          <a:xfrm rot="2873769">
            <a:off x="4564556" y="6079158"/>
            <a:ext cx="2474726" cy="5799062"/>
          </a:xfrm>
          <a:prstGeom prst="ellipse">
            <a:avLst/>
          </a:prstGeom>
          <a:solidFill>
            <a:schemeClr val="accent5">
              <a:lumMod val="75000"/>
              <a:alpha val="14118"/>
            </a:scheme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933900" y="4910748"/>
            <a:ext cx="56149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多维度分类：</a:t>
            </a:r>
            <a:endParaRPr lang="en-US" altLang="zh-CN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测试方法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en-US" altLang="zh-CN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48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测试阶段</a:t>
            </a:r>
            <a:endParaRPr lang="en-US" altLang="zh-CN" sz="48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914400" hangingPunct="1">
              <a:lnSpc>
                <a:spcPct val="150000"/>
              </a:lnSpc>
            </a:pPr>
            <a:r>
              <a:rPr lang="zh-CN" altLang="en-US" sz="4800" b="0" kern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测试目标</a:t>
            </a:r>
            <a:endParaRPr lang="zh-CN" altLang="en-US" sz="4800" b="0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82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120717"/>
            <a:ext cx="20216812" cy="548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spcBef>
                <a:spcPts val="1200"/>
              </a:spcBef>
            </a:pPr>
            <a:r>
              <a:rPr lang="zh-CN" altLang="en-US" dirty="0"/>
              <a:t>功能测试 是测试软件系统是否满足用户的功能性需求的测试。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用户需要的功能是否已经实现；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用户要求的功能需求，其实现是否正确。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7972" y="260775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97484" y="10595283"/>
            <a:ext cx="244169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800" b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endParaRPr lang="en-US" altLang="zh-CN" sz="8800" b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762484" y="10315883"/>
            <a:ext cx="244169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8800" b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en-US" altLang="zh-CN" sz="8800" b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240486" y="11318558"/>
            <a:ext cx="8091714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</p:spTree>
    <p:custDataLst>
      <p:tags r:id="rId4"/>
    </p:custDataLst>
  </p:cSld>
  <p:clrMapOvr>
    <a:masterClrMapping/>
  </p:clrMapOvr>
  <p:transition spd="med" advTm="4927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847299"/>
            <a:ext cx="20216812" cy="548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spcBef>
                <a:spcPts val="1200"/>
              </a:spcBef>
            </a:pPr>
            <a:r>
              <a:rPr lang="zh-CN" altLang="en-US" dirty="0"/>
              <a:t>性能测试 是测试软件系统是否满足用户的性能需求的测试。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系统响应时间；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内存消耗量；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能量消耗量。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7970" y="2645316"/>
            <a:ext cx="3180358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80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软件测试分类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37970" y="3756891"/>
            <a:ext cx="20216812" cy="548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spcBef>
                <a:spcPts val="1200"/>
              </a:spcBef>
            </a:pPr>
            <a:r>
              <a:rPr lang="zh-CN" altLang="en-US" dirty="0"/>
              <a:t>可靠性测试 是测试软件系统的可靠性是否满足用户要求的测试。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故障率；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重启次数；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无故障运行时间长度。</a:t>
            </a:r>
            <a:endParaRPr lang="zh-CN" altLang="en-US" dirty="0"/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37970" y="2570949"/>
            <a:ext cx="3949799" cy="102592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可靠性</a:t>
            </a:r>
            <a:r>
              <a: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测试</a:t>
            </a:r>
            <a:endParaRPr kumimoji="0" lang="zh-CN" altLang="en-US" sz="4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21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995344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软件测试分类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659660" y="4715676"/>
            <a:ext cx="94564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软件测试的分类是多维度的</a:t>
            </a:r>
            <a:endParaRPr lang="en-US" altLang="zh-CN" sz="4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402527" y="7698067"/>
            <a:ext cx="1142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可以按照测试方法、测试阶段、测试目的进行不同的分类</a:t>
            </a:r>
            <a:endParaRPr lang="en-US" altLang="zh-CN" sz="4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39"/>
          <p:cNvGrpSpPr/>
          <p:nvPr/>
        </p:nvGrpSpPr>
        <p:grpSpPr bwMode="auto">
          <a:xfrm>
            <a:off x="2478180" y="3112666"/>
            <a:ext cx="8948057" cy="9170801"/>
            <a:chOff x="771" y="981"/>
            <a:chExt cx="4212" cy="3022"/>
          </a:xfrm>
        </p:grpSpPr>
        <p:sp>
          <p:nvSpPr>
            <p:cNvPr id="8" name="Text Box 24"/>
            <p:cNvSpPr txBox="1">
              <a:spLocks noChangeArrowheads="1"/>
            </p:cNvSpPr>
            <p:nvPr/>
          </p:nvSpPr>
          <p:spPr bwMode="auto">
            <a:xfrm>
              <a:off x="4382" y="2328"/>
              <a:ext cx="601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lang="zh-CN" altLang="en-GB" sz="24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endParaRPr lang="zh-CN" altLang="en-GB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Group 38"/>
            <p:cNvGrpSpPr/>
            <p:nvPr/>
          </p:nvGrpSpPr>
          <p:grpSpPr bwMode="auto">
            <a:xfrm>
              <a:off x="771" y="981"/>
              <a:ext cx="3655" cy="3022"/>
              <a:chOff x="771" y="981"/>
              <a:chExt cx="3655" cy="3022"/>
            </a:xfrm>
          </p:grpSpPr>
          <p:sp>
            <p:nvSpPr>
              <p:cNvPr id="10" name="Text Box 25"/>
              <p:cNvSpPr txBox="1">
                <a:spLocks noChangeArrowheads="1"/>
              </p:cNvSpPr>
              <p:nvPr/>
            </p:nvSpPr>
            <p:spPr bwMode="auto">
              <a:xfrm>
                <a:off x="1010" y="3800"/>
                <a:ext cx="1529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</a:t>
                </a: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4"/>
              <p:cNvSpPr>
                <a:spLocks noChangeShapeType="1"/>
              </p:cNvSpPr>
              <p:nvPr/>
            </p:nvSpPr>
            <p:spPr bwMode="auto">
              <a:xfrm>
                <a:off x="2654" y="1080"/>
                <a:ext cx="0" cy="13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5"/>
              <p:cNvSpPr>
                <a:spLocks noChangeShapeType="1"/>
              </p:cNvSpPr>
              <p:nvPr/>
            </p:nvSpPr>
            <p:spPr bwMode="auto">
              <a:xfrm flipH="1">
                <a:off x="1280" y="2472"/>
                <a:ext cx="1374" cy="12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Line 6"/>
              <p:cNvSpPr>
                <a:spLocks noChangeShapeType="1"/>
              </p:cNvSpPr>
              <p:nvPr/>
            </p:nvSpPr>
            <p:spPr bwMode="auto">
              <a:xfrm>
                <a:off x="2661" y="2472"/>
                <a:ext cx="1683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 Box 7"/>
              <p:cNvSpPr txBox="1">
                <a:spLocks noChangeArrowheads="1"/>
              </p:cNvSpPr>
              <p:nvPr/>
            </p:nvSpPr>
            <p:spPr bwMode="auto">
              <a:xfrm>
                <a:off x="1901" y="2040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单元测试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1901" y="1466"/>
                <a:ext cx="74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Text Box 9"/>
              <p:cNvSpPr txBox="1">
                <a:spLocks noChangeArrowheads="1"/>
              </p:cNvSpPr>
              <p:nvPr/>
            </p:nvSpPr>
            <p:spPr bwMode="auto">
              <a:xfrm>
                <a:off x="1923" y="1171"/>
                <a:ext cx="7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验收测试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Line 10"/>
              <p:cNvSpPr>
                <a:spLocks noChangeShapeType="1"/>
              </p:cNvSpPr>
              <p:nvPr/>
            </p:nvSpPr>
            <p:spPr bwMode="auto">
              <a:xfrm>
                <a:off x="2565" y="1292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2277" y="2712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1383" y="2795"/>
                <a:ext cx="709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Text Box 13"/>
              <p:cNvSpPr txBox="1">
                <a:spLocks noChangeArrowheads="1"/>
              </p:cNvSpPr>
              <p:nvPr/>
            </p:nvSpPr>
            <p:spPr bwMode="auto">
              <a:xfrm>
                <a:off x="1474" y="2614"/>
                <a:ext cx="915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强壮性测试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Text Box 14"/>
              <p:cNvSpPr txBox="1">
                <a:spLocks noChangeArrowheads="1"/>
              </p:cNvSpPr>
              <p:nvPr/>
            </p:nvSpPr>
            <p:spPr bwMode="auto">
              <a:xfrm>
                <a:off x="1746" y="2432"/>
                <a:ext cx="703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2565" y="1580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565" y="2156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1812" y="314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8"/>
              <p:cNvSpPr>
                <a:spLocks noChangeShapeType="1"/>
              </p:cNvSpPr>
              <p:nvPr/>
            </p:nvSpPr>
            <p:spPr bwMode="auto">
              <a:xfrm>
                <a:off x="1337" y="36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Line 19"/>
              <p:cNvSpPr>
                <a:spLocks noChangeShapeType="1"/>
              </p:cNvSpPr>
              <p:nvPr/>
            </p:nvSpPr>
            <p:spPr bwMode="auto">
              <a:xfrm>
                <a:off x="3141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20"/>
              <p:cNvSpPr>
                <a:spLocks noChangeShapeType="1"/>
              </p:cNvSpPr>
              <p:nvPr/>
            </p:nvSpPr>
            <p:spPr bwMode="auto">
              <a:xfrm>
                <a:off x="3894" y="23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21"/>
              <p:cNvSpPr txBox="1">
                <a:spLocks noChangeArrowheads="1"/>
              </p:cNvSpPr>
              <p:nvPr/>
            </p:nvSpPr>
            <p:spPr bwMode="auto">
              <a:xfrm>
                <a:off x="2757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白盒测试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22"/>
              <p:cNvSpPr txBox="1">
                <a:spLocks noChangeArrowheads="1"/>
              </p:cNvSpPr>
              <p:nvPr/>
            </p:nvSpPr>
            <p:spPr bwMode="auto">
              <a:xfrm>
                <a:off x="3628" y="2568"/>
                <a:ext cx="79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黑盒测试</a:t>
                </a:r>
                <a:endParaRPr lang="zh-CN" altLang="en-GB" sz="24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Text Box 23"/>
              <p:cNvSpPr txBox="1">
                <a:spLocks noChangeArrowheads="1"/>
              </p:cNvSpPr>
              <p:nvPr/>
            </p:nvSpPr>
            <p:spPr bwMode="auto">
              <a:xfrm>
                <a:off x="2462" y="981"/>
                <a:ext cx="1428" cy="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800" b="1" dirty="0">
                    <a:solidFill>
                      <a:srgbClr val="33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测试阶段</a:t>
                </a:r>
                <a:endParaRPr lang="zh-CN" altLang="en-GB" sz="2800" b="1" dirty="0">
                  <a:solidFill>
                    <a:srgbClr val="3366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26"/>
              <p:cNvSpPr>
                <a:spLocks noChangeShapeType="1"/>
              </p:cNvSpPr>
              <p:nvPr/>
            </p:nvSpPr>
            <p:spPr bwMode="auto">
              <a:xfrm>
                <a:off x="2075" y="291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27"/>
              <p:cNvSpPr>
                <a:spLocks noChangeShapeType="1"/>
              </p:cNvSpPr>
              <p:nvPr/>
            </p:nvSpPr>
            <p:spPr bwMode="auto">
              <a:xfrm>
                <a:off x="1566" y="3384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Text Box 29"/>
              <p:cNvSpPr txBox="1">
                <a:spLocks noChangeArrowheads="1"/>
              </p:cNvSpPr>
              <p:nvPr/>
            </p:nvSpPr>
            <p:spPr bwMode="auto">
              <a:xfrm>
                <a:off x="1029" y="3043"/>
                <a:ext cx="86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可靠性测试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Line 30"/>
              <p:cNvSpPr>
                <a:spLocks noChangeShapeType="1"/>
              </p:cNvSpPr>
              <p:nvPr/>
            </p:nvSpPr>
            <p:spPr bwMode="auto">
              <a:xfrm>
                <a:off x="2565" y="1868"/>
                <a:ext cx="17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1717" y="1761"/>
                <a:ext cx="82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Text Box 32"/>
              <p:cNvSpPr txBox="1">
                <a:spLocks noChangeArrowheads="1"/>
              </p:cNvSpPr>
              <p:nvPr/>
            </p:nvSpPr>
            <p:spPr bwMode="auto">
              <a:xfrm>
                <a:off x="771" y="3271"/>
                <a:ext cx="88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GB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安全性测试</a:t>
                </a:r>
                <a:endParaRPr lang="zh-CN" altLang="en-GB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>
                <a:off x="2421" y="2560"/>
                <a:ext cx="26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8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02</a:t>
            </a: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30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0" name="成组"/>
          <p:cNvGrpSpPr/>
          <p:nvPr/>
        </p:nvGrpSpPr>
        <p:grpSpPr>
          <a:xfrm>
            <a:off x="9136452" y="2478174"/>
            <a:ext cx="5947866" cy="1343465"/>
            <a:chOff x="0" y="0"/>
            <a:chExt cx="5830084" cy="1343464"/>
          </a:xfrm>
        </p:grpSpPr>
        <p:sp>
          <p:nvSpPr>
            <p:cNvPr id="127" name="矩形 5"/>
            <p:cNvSpPr txBox="1"/>
            <p:nvPr/>
          </p:nvSpPr>
          <p:spPr>
            <a:xfrm>
              <a:off x="2084780" y="244454"/>
              <a:ext cx="3745304" cy="8545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chemeClr val="tx1"/>
                  </a:solidFill>
                </a:rPr>
                <a:t>软件测试模型</a:t>
              </a:r>
              <a:endParaRPr lang="zh-CN" altLang="en-US" sz="4400" dirty="0">
                <a:solidFill>
                  <a:schemeClr val="tx1"/>
                </a:solidFill>
              </a:endParaRPr>
            </a:p>
          </p:txBody>
        </p:sp>
        <p:sp>
          <p:nvSpPr>
            <p:cNvPr id="128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29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7" name="成组"/>
          <p:cNvGrpSpPr/>
          <p:nvPr/>
        </p:nvGrpSpPr>
        <p:grpSpPr>
          <a:xfrm>
            <a:off x="9136452" y="4332221"/>
            <a:ext cx="5947868" cy="1343465"/>
            <a:chOff x="0" y="0"/>
            <a:chExt cx="5830087" cy="1343464"/>
          </a:xfrm>
        </p:grpSpPr>
        <p:sp>
          <p:nvSpPr>
            <p:cNvPr id="134" name="矩形 5"/>
            <p:cNvSpPr txBox="1"/>
            <p:nvPr/>
          </p:nvSpPr>
          <p:spPr>
            <a:xfrm>
              <a:off x="2084781" y="273189"/>
              <a:ext cx="3745306" cy="71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软件测试分类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0" y="148788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141" name="成组"/>
          <p:cNvGrpSpPr/>
          <p:nvPr/>
        </p:nvGrpSpPr>
        <p:grpSpPr>
          <a:xfrm>
            <a:off x="9136452" y="6186268"/>
            <a:ext cx="5947868" cy="1343465"/>
            <a:chOff x="0" y="0"/>
            <a:chExt cx="5830087" cy="1343464"/>
          </a:xfrm>
        </p:grpSpPr>
        <p:sp>
          <p:nvSpPr>
            <p:cNvPr id="138" name="矩形 5"/>
            <p:cNvSpPr txBox="1"/>
            <p:nvPr/>
          </p:nvSpPr>
          <p:spPr>
            <a:xfrm>
              <a:off x="2084781" y="299174"/>
              <a:ext cx="3745306" cy="7451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小结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9" name="Freeform 5"/>
            <p:cNvSpPr/>
            <p:nvPr/>
          </p:nvSpPr>
          <p:spPr>
            <a:xfrm rot="5400000">
              <a:off x="107376" y="6601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0" y="18973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03</a:t>
              </a: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18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15174" y="4298725"/>
            <a:ext cx="1426384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测试模型必须使得软件测试尽早执行</a:t>
            </a:r>
            <a:endParaRPr lang="en-US" altLang="zh-CN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73634" y="7491352"/>
            <a:ext cx="2133629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软件测试可以在多个维度上进行分类（方法、目标、阶段）     </a:t>
            </a:r>
            <a:endParaRPr lang="en-US" altLang="zh-CN" sz="6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16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3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8.2|48.5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45.5|142.7|1.7|1.7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20.3|4.7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0.2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0.2"/>
</p:tagLst>
</file>

<file path=ppt/tags/tag20.xml><?xml version="1.0" encoding="utf-8"?>
<p:tagLst xmlns:p="http://schemas.openxmlformats.org/presentationml/2006/main">
  <p:tag name="TIMING" val="|0.2"/>
</p:tagLst>
</file>

<file path=ppt/tags/tag21.xml><?xml version="1.0" encoding="utf-8"?>
<p:tagLst xmlns:p="http://schemas.openxmlformats.org/presentationml/2006/main">
  <p:tag name="TIMING" val="|0.2"/>
</p:tagLst>
</file>

<file path=ppt/tags/tag22.xml><?xml version="1.0" encoding="utf-8"?>
<p:tagLst xmlns:p="http://schemas.openxmlformats.org/presentationml/2006/main">
  <p:tag name="TIMING" val="|0.2"/>
</p:tagLst>
</file>

<file path=ppt/tags/tag23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2071</Words>
  <Application>WPS 演示</Application>
  <PresentationFormat>Custom</PresentationFormat>
  <Paragraphs>550</Paragraphs>
  <Slides>35</Slides>
  <Notes>35</Notes>
  <HiddenSlides>0</HiddenSlides>
  <MMClips>35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55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楷体</vt:lpstr>
      <vt:lpstr>Times New Roman</vt:lpstr>
      <vt:lpstr>Arial Unicode MS</vt:lpstr>
      <vt:lpstr>White</vt:lpstr>
      <vt:lpstr>Word.Picture.8</vt:lpstr>
      <vt:lpstr>CorelDRAW.Graphic.9</vt:lpstr>
      <vt:lpstr>Word.Picture.8</vt:lpstr>
      <vt:lpstr>PowerPoint 演示文稿</vt:lpstr>
      <vt:lpstr>PowerPoint 演示文稿</vt:lpstr>
      <vt:lpstr>PowerPoint 演示文稿</vt:lpstr>
      <vt:lpstr>软件测试模型</vt:lpstr>
      <vt:lpstr>软件测试模型</vt:lpstr>
      <vt:lpstr>软件测试模型</vt:lpstr>
      <vt:lpstr>软件测试模型</vt:lpstr>
      <vt:lpstr>软件测试模型</vt:lpstr>
      <vt:lpstr>软件测试模型</vt:lpstr>
      <vt:lpstr>软件测试模型</vt:lpstr>
      <vt:lpstr>软件测试模型</vt:lpstr>
      <vt:lpstr>软件测试模型</vt:lpstr>
      <vt:lpstr>软件测试模型—小结</vt:lpstr>
      <vt:lpstr>PowerPoint 演示文稿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</vt:lpstr>
      <vt:lpstr>软件测试分类—小结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308</cp:revision>
  <dcterms:created xsi:type="dcterms:W3CDTF">2019-05-10T09:49:00Z</dcterms:created>
  <dcterms:modified xsi:type="dcterms:W3CDTF">2023-08-08T00:04:17Z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05B02B381D4B4C6D99CAF135A03788D1_12</vt:lpwstr>
  </property>
</Properties>
</file>