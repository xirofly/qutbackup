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690" r:id="rId5"/>
    <p:sldId id="691" r:id="rId6"/>
    <p:sldId id="694" r:id="rId7"/>
    <p:sldId id="699" r:id="rId8"/>
    <p:sldId id="701" r:id="rId9"/>
    <p:sldId id="715" r:id="rId10"/>
    <p:sldId id="710" r:id="rId11"/>
    <p:sldId id="711" r:id="rId12"/>
    <p:sldId id="712" r:id="rId13"/>
    <p:sldId id="713" r:id="rId14"/>
    <p:sldId id="714" r:id="rId15"/>
    <p:sldId id="336" r:id="rId16"/>
  </p:sldIdLst>
  <p:sldSz cx="24384000" cy="13716000"/>
  <p:notesSz cx="7099300" cy="10234295"/>
  <p:custDataLst>
    <p:tags r:id="rId2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3300"/>
    <a:srgbClr val="00A2FF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1" autoAdjust="0"/>
    <p:restoredTop sz="70482" autoAdjust="0"/>
  </p:normalViewPr>
  <p:slideViewPr>
    <p:cSldViewPr snapToGrid="0">
      <p:cViewPr varScale="1">
        <p:scale>
          <a:sx n="34" d="100"/>
          <a:sy n="34" d="100"/>
        </p:scale>
        <p:origin x="173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commentAuthors" Target="commentAuthors.xml"/><Relationship Id="rId22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47107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marL="0" indent="0">
              <a:lnSpc>
                <a:spcPct val="150000"/>
              </a:lnSpc>
              <a:spcBef>
                <a:spcPct val="30000"/>
              </a:spcBef>
              <a:buNone/>
            </a:pPr>
            <a:endParaRPr lang="zh-CN" altLang="zh-CN" dirty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48131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marL="0" indent="0">
              <a:lnSpc>
                <a:spcPct val="150000"/>
              </a:lnSpc>
              <a:spcBef>
                <a:spcPct val="30000"/>
              </a:spcBef>
              <a:buNone/>
            </a:pPr>
            <a:endParaRPr lang="zh-CN" altLang="zh-CN" dirty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51203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marL="457200" marR="0" lvl="0" indent="-457200" algn="l" defTabSz="914400" rtl="0" eaLnBrk="0" fontAlgn="base" latinLnBrk="0" hangingPunct="0">
              <a:lnSpc>
                <a:spcPct val="120000"/>
              </a:lnSpc>
              <a:spcBef>
                <a:spcPts val="3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+mj-ea"/>
              <a:buAutoNum type="circleNumDbPlain"/>
              <a:defRPr/>
            </a:pPr>
            <a:endParaRPr kumimoji="0" lang="zh-CN" altLang="zh-CN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56323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endParaRPr kumimoji="0" lang="zh-CN" altLang="zh-CN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58371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endParaRPr lang="zh-CN" altLang="zh-CN" dirty="0"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62467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67587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68611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69635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70659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幻灯片图像占位符 1"/>
          <p:cNvSpPr>
            <a:spLocks noGrp="1" noRot="1" noTextEdit="1"/>
          </p:cNvSpPr>
          <p:nvPr>
            <p:ph type="sldImg"/>
          </p:nvPr>
        </p:nvSpPr>
        <p:spPr/>
      </p:sp>
      <p:sp>
        <p:nvSpPr>
          <p:cNvPr id="71683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7863358" y="4360818"/>
            <a:ext cx="8191345" cy="3947747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/>
              <a:t>谢谢</a:t>
            </a:r>
            <a:endParaRPr lang="en-US" altLang="zh-CN" sz="9600" dirty="0"/>
          </a:p>
          <a:p>
            <a:pPr algn="ctr">
              <a:lnSpc>
                <a:spcPct val="150000"/>
              </a:lnSpc>
            </a:pPr>
            <a:r>
              <a:rPr lang="en-US" sz="80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www.ictedu.com</a:t>
            </a:r>
            <a:endParaRPr sz="80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9" name="正文级别 1…"/>
          <p:cNvSpPr txBox="1">
            <a:spLocks noGrp="1"/>
          </p:cNvSpPr>
          <p:nvPr>
            <p:ph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en-US" altLang="zh-CN" dirty="0" err="1"/>
              <a:t>gmail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4333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31200" y="12039600"/>
            <a:ext cx="7721600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475200" y="12039600"/>
            <a:ext cx="6104467" cy="9567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ransition>
    <p:random/>
  </p:transition>
  <p:hf sldNum="0"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dirty="0"/>
              <a:t>软件质量保证与测试</a:t>
            </a:r>
            <a:endParaRPr lang="zh-CN"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756"/>
            <a:ext cx="6738620" cy="102489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9.1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自动化测试概述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7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3"/>
          <p:cNvSpPr>
            <a:spLocks noGrp="1" noRot="1"/>
          </p:cNvSpPr>
          <p:nvPr>
            <p:ph type="body" idx="4294967295"/>
          </p:nvPr>
        </p:nvSpPr>
        <p:spPr>
          <a:xfrm>
            <a:off x="818303" y="3446146"/>
            <a:ext cx="13589000" cy="10845800"/>
          </a:xfrm>
        </p:spPr>
        <p:txBody>
          <a:bodyPr vert="horz" wrap="square" lIns="182880" tIns="91440" rIns="182880" bIns="91440" anchor="t" anchorCtr="0"/>
          <a:p>
            <a:pPr marL="0" indent="0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</a:rPr>
              <a:t>软件测试自动化是相对手工测试而言的，是指通过开发的软件分析和测试工具、编写的测试脚本等，来实现软件分析和测试过程的自动执行。</a:t>
            </a:r>
            <a:endParaRPr lang="zh-CN" altLang="zh-CN" dirty="0">
              <a:ea typeface="楷体_GB2312" pitchFamily="49" charset="-122"/>
            </a:endParaRPr>
          </a:p>
        </p:txBody>
      </p:sp>
      <p:sp>
        <p:nvSpPr>
          <p:cNvPr id="18435" name="Rectangle 2"/>
          <p:cNvSpPr>
            <a:spLocks noGrp="1"/>
          </p:cNvSpPr>
          <p:nvPr/>
        </p:nvSpPr>
        <p:spPr>
          <a:xfrm>
            <a:off x="3008631" y="667386"/>
            <a:ext cx="16738600" cy="187536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p>
            <a:pPr algn="l" defTabSz="914400" hangingPunct="0"/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软件测试自动化的概念</a:t>
            </a:r>
            <a:endParaRPr lang="zh-CN" altLang="en-US" sz="6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8436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98133" y="3445933"/>
            <a:ext cx="8661400" cy="674370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437" name="Text Box 8"/>
          <p:cNvSpPr txBox="1"/>
          <p:nvPr/>
        </p:nvSpPr>
        <p:spPr>
          <a:xfrm>
            <a:off x="16721667" y="10532533"/>
            <a:ext cx="5689600" cy="12401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SzPct val="70000"/>
            </a:pPr>
            <a:r>
              <a:rPr lang="zh-CN" altLang="en-US" sz="7465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测试自动化</a:t>
            </a:r>
            <a:endParaRPr lang="zh-CN" altLang="en-US" sz="7465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4"/>
          <p:cNvSpPr txBox="1">
            <a:spLocks noGrp="1"/>
          </p:cNvSpPr>
          <p:nvPr/>
        </p:nvSpPr>
        <p:spPr>
          <a:xfrm>
            <a:off x="16581968" y="12712701"/>
            <a:ext cx="3810000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fld id="{9A0DB2DC-4C9A-4742-B13C-FB6460FD3503}" type="slidenum">
              <a:rPr lang="zh-CN" altLang="zh-CN" sz="2665" b="1" dirty="0">
                <a:latin typeface="Arial Narrow" panose="020B0606020202030204" pitchFamily="34" charset="0"/>
              </a:rPr>
            </a:fld>
            <a:endParaRPr lang="zh-CN" altLang="zh-CN" sz="2665" b="1" dirty="0">
              <a:latin typeface="Arial Narrow" panose="020B0606020202030204" pitchFamily="34" charset="0"/>
            </a:endParaRPr>
          </a:p>
        </p:txBody>
      </p:sp>
      <p:sp>
        <p:nvSpPr>
          <p:cNvPr id="19459" name="Rectangle 2"/>
          <p:cNvSpPr>
            <a:spLocks noGrp="1" noRot="1"/>
          </p:cNvSpPr>
          <p:nvPr>
            <p:ph type="title" idx="4294967295"/>
          </p:nvPr>
        </p:nvSpPr>
        <p:spPr>
          <a:xfrm>
            <a:off x="2911053" y="838200"/>
            <a:ext cx="16738600" cy="1600200"/>
          </a:xfrm>
        </p:spPr>
        <p:txBody>
          <a:bodyPr vert="horz" wrap="square" lIns="182880" tIns="91440" rIns="182880" bIns="91440" anchor="ctr" anchorCtr="0">
            <a:normAutofit/>
          </a:bodyPr>
          <a:p>
            <a:pPr algn="l" defTabSz="914400" hangingPunct="0"/>
            <a:r>
              <a:rPr lang="zh-CN" altLang="en-US" sz="6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测试自动化的必要性</a:t>
            </a:r>
            <a:endParaRPr lang="zh-CN" altLang="en-US" sz="60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460" name="Rectangle 3"/>
          <p:cNvSpPr>
            <a:spLocks noGrp="1" noRot="1"/>
          </p:cNvSpPr>
          <p:nvPr>
            <p:ph type="body" idx="4294967295"/>
          </p:nvPr>
        </p:nvSpPr>
        <p:spPr>
          <a:xfrm>
            <a:off x="1816101" y="2438400"/>
            <a:ext cx="21598467" cy="9855200"/>
          </a:xfrm>
        </p:spPr>
        <p:txBody>
          <a:bodyPr vert="horz" wrap="square" lIns="182880" tIns="91440" rIns="182880" bIns="91440" anchor="t" anchorCtr="0"/>
          <a:p>
            <a:pPr marL="0" indent="0">
              <a:lnSpc>
                <a:spcPct val="150000"/>
              </a:lnSpc>
              <a:spcBef>
                <a:spcPct val="30000"/>
              </a:spcBef>
              <a:buNone/>
            </a:pPr>
            <a:r>
              <a:rPr lang="en-US" altLang="zh-CN" dirty="0">
                <a:ea typeface="楷体_GB2312" pitchFamily="49" charset="-122"/>
                <a:sym typeface="宋体" panose="02010600030101010101" pitchFamily="2" charset="-122"/>
              </a:rPr>
              <a:t>       </a:t>
            </a:r>
            <a:r>
              <a:rPr lang="zh-CN" altLang="zh-CN" dirty="0">
                <a:ea typeface="楷体_GB2312" pitchFamily="49" charset="-122"/>
                <a:sym typeface="宋体" panose="02010600030101010101" pitchFamily="2" charset="-122"/>
              </a:rPr>
              <a:t>为什么要有软件测试自动化呢？主要有以下几大原因：</a:t>
            </a:r>
            <a:endParaRPr lang="zh-CN" altLang="zh-CN" dirty="0"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Times New Roman" panose="02020603050405020304" pitchFamily="18" charset="0"/>
              <a:buNone/>
            </a:pPr>
            <a:r>
              <a:rPr lang="zh-CN" altLang="zh-CN" dirty="0">
                <a:ea typeface="楷体_GB2312" pitchFamily="49" charset="-122"/>
                <a:sym typeface="+mn-ea"/>
              </a:rPr>
              <a:t>       </a:t>
            </a:r>
            <a:r>
              <a:rPr lang="zh-CN" altLang="zh-CN" dirty="0">
                <a:ea typeface="楷体_GB2312" pitchFamily="49" charset="-122"/>
              </a:rPr>
              <a:t>首先当软件测试的工作量很大时，靠手工很难完成。</a:t>
            </a:r>
            <a:endParaRPr lang="zh-CN" altLang="zh-CN" dirty="0">
              <a:ea typeface="楷体_GB2312" pitchFamily="49" charset="-122"/>
            </a:endParaRPr>
          </a:p>
          <a:p>
            <a:pPr marL="0" lvl="2" algn="l">
              <a:lnSpc>
                <a:spcPct val="150000"/>
              </a:lnSpc>
              <a:spcBef>
                <a:spcPct val="30000"/>
              </a:spcBef>
              <a:buFont typeface="Times New Roman" panose="02020603050405020304" pitchFamily="18" charset="0"/>
              <a:buNone/>
            </a:pPr>
            <a:r>
              <a:rPr lang="zh-CN" altLang="zh-CN" sz="4400" dirty="0">
                <a:ea typeface="楷体_GB2312" pitchFamily="49" charset="-122"/>
                <a:sym typeface="+mn-ea"/>
              </a:rPr>
              <a:t>    </a:t>
            </a:r>
            <a:r>
              <a:rPr lang="zh-CN" altLang="zh-CN" sz="4400" b="1" dirty="0">
                <a:latin typeface="微软雅黑" panose="020B0503020204020204" pitchFamily="34" charset="-122"/>
                <a:ea typeface="楷体_GB2312" pitchFamily="49" charset="-122"/>
                <a:cs typeface="微软雅黑" panose="020B0503020204020204" pitchFamily="34" charset="-122"/>
                <a:sym typeface="+mn-ea"/>
              </a:rPr>
              <a:t>其次测试中的许多操作是简单重复劳动，并要求准确细致，手工完成容易出错，并且让人产生厌倦情绪，影响工作质量和效率。</a:t>
            </a:r>
            <a:endParaRPr lang="zh-CN" altLang="zh-CN" sz="4400" b="1" dirty="0">
              <a:latin typeface="微软雅黑" panose="020B0503020204020204" pitchFamily="34" charset="-122"/>
              <a:ea typeface="楷体_GB2312" pitchFamily="49" charset="-122"/>
              <a:cs typeface="微软雅黑" panose="020B0503020204020204" pitchFamily="34" charset="-122"/>
              <a:sym typeface="+mn-ea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Font typeface="Times New Roman" panose="02020603050405020304" pitchFamily="18" charset="0"/>
              <a:buNone/>
            </a:pPr>
            <a:r>
              <a:rPr lang="zh-CN" altLang="zh-CN" dirty="0">
                <a:ea typeface="楷体_GB2312" pitchFamily="49" charset="-122"/>
                <a:sym typeface="+mn-ea"/>
              </a:rPr>
              <a:t>       </a:t>
            </a:r>
            <a:r>
              <a:rPr lang="zh-CN" altLang="zh-CN" dirty="0">
                <a:ea typeface="楷体_GB2312" pitchFamily="49" charset="-122"/>
                <a:sym typeface="+mn-ea"/>
              </a:rPr>
              <a:t>第三有些测试工作手工难以完成，必须要借助自动化手段，才能实现，并可以降低成本。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Times New Roman" panose="02020603050405020304" pitchFamily="18" charset="0"/>
              <a:buNone/>
            </a:pP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indent="0">
              <a:lnSpc>
                <a:spcPct val="150000"/>
              </a:lnSpc>
              <a:spcBef>
                <a:spcPct val="30000"/>
              </a:spcBef>
              <a:buFont typeface="Times New Roman" panose="02020603050405020304" pitchFamily="18" charset="0"/>
              <a:buNone/>
            </a:pPr>
            <a:endParaRPr lang="zh-CN" altLang="zh-CN" dirty="0"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4"/>
          <p:cNvSpPr txBox="1">
            <a:spLocks noGrp="1"/>
          </p:cNvSpPr>
          <p:nvPr/>
        </p:nvSpPr>
        <p:spPr>
          <a:xfrm>
            <a:off x="16581968" y="12712701"/>
            <a:ext cx="3810000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fld id="{9A0DB2DC-4C9A-4742-B13C-FB6460FD3503}" type="slidenum">
              <a:rPr lang="zh-CN" altLang="zh-CN" sz="2665" b="1" dirty="0">
                <a:latin typeface="Arial Narrow" panose="020B0606020202030204" pitchFamily="34" charset="0"/>
              </a:rPr>
            </a:fld>
            <a:endParaRPr lang="zh-CN" altLang="zh-CN" sz="2665" b="1" dirty="0">
              <a:latin typeface="Arial Narrow" panose="020B0606020202030204" pitchFamily="34" charset="0"/>
            </a:endParaRPr>
          </a:p>
        </p:txBody>
      </p:sp>
      <p:sp>
        <p:nvSpPr>
          <p:cNvPr id="22531" name="Rectangle 2"/>
          <p:cNvSpPr>
            <a:spLocks noGrp="1" noRot="1"/>
          </p:cNvSpPr>
          <p:nvPr>
            <p:ph type="title" idx="4294967295"/>
          </p:nvPr>
        </p:nvSpPr>
        <p:spPr>
          <a:xfrm>
            <a:off x="2823423" y="838200"/>
            <a:ext cx="16738600" cy="1875368"/>
          </a:xfrm>
        </p:spPr>
        <p:txBody>
          <a:bodyPr vert="horz" wrap="square" lIns="182880" tIns="91440" rIns="182880" bIns="91440" anchor="ctr" anchorCtr="0">
            <a:normAutofit/>
          </a:bodyPr>
          <a:p>
            <a:pPr algn="l" defTabSz="914400" hangingPunct="0"/>
            <a:r>
              <a:rPr lang="zh-CN" altLang="en-US" sz="6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自动化测试的优点</a:t>
            </a:r>
            <a:endParaRPr lang="zh-CN" altLang="en-US" sz="60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291" name="Rectangle 3"/>
          <p:cNvSpPr>
            <a:spLocks noGrp="1" noRot="1"/>
          </p:cNvSpPr>
          <p:nvPr>
            <p:ph type="body" idx="4294967295"/>
          </p:nvPr>
        </p:nvSpPr>
        <p:spPr>
          <a:xfrm>
            <a:off x="1485901" y="3098800"/>
            <a:ext cx="22153035" cy="8576733"/>
          </a:xfrm>
        </p:spPr>
        <p:txBody>
          <a:bodyPr vert="horz" wrap="square" lIns="182880" tIns="91440" rIns="182880" bIns="91440" numCol="1" anchor="t" anchorCtr="0" compatLnSpc="1"/>
          <a:lstStyle/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Times New Roman" panose="02020603050405020304" pitchFamily="18" charset="0"/>
              <a:buNone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  <a:sym typeface="+mn-ea"/>
              </a:rPr>
              <a:t>可以大幅度提高测试执行的速度，提高效率，节省时间。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Times New Roman" panose="02020603050405020304" pitchFamily="18" charset="0"/>
              <a:buNone/>
            </a:pPr>
            <a:r>
              <a:rPr lang="zh-CN" altLang="zh-CN" sz="4400" dirty="0">
                <a:ea typeface="楷体_GB2312" pitchFamily="49" charset="-122"/>
                <a:sym typeface="+mn-ea"/>
              </a:rPr>
              <a:t>可以代替手工操作，节约人力资源，降低成本。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Times New Roman" panose="02020603050405020304" pitchFamily="18" charset="0"/>
              <a:buNone/>
            </a:pPr>
            <a:r>
              <a:rPr lang="zh-CN" altLang="zh-CN" sz="4400" dirty="0">
                <a:ea typeface="楷体_GB2312" pitchFamily="49" charset="-122"/>
                <a:sym typeface="+mn-ea"/>
              </a:rPr>
              <a:t>可以提高测试的准确度和精确度。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Times New Roman" panose="02020603050405020304" pitchFamily="18" charset="0"/>
              <a:buNone/>
            </a:pPr>
            <a:r>
              <a:rPr lang="zh-CN" altLang="zh-CN" sz="4400" dirty="0">
                <a:ea typeface="楷体_GB2312" pitchFamily="49" charset="-122"/>
                <a:sym typeface="+mn-ea"/>
              </a:rPr>
              <a:t>能更好地利用时间资源和计算机等资源。</a:t>
            </a:r>
            <a:endParaRPr lang="zh-CN" altLang="zh-CN" sz="4400" dirty="0"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Times New Roman" panose="02020603050405020304" pitchFamily="18" charset="0"/>
              <a:buNone/>
            </a:pPr>
            <a:r>
              <a:rPr lang="zh-CN" altLang="zh-CN">
                <a:solidFill>
                  <a:schemeClr val="tx1"/>
                </a:solidFill>
                <a:effectLst/>
                <a:uLnTx/>
                <a:latin typeface="+mn-lt"/>
                <a:ea typeface="+mn-ea"/>
                <a:cs typeface="+mn-cs"/>
                <a:sym typeface="+mn-ea"/>
              </a:rPr>
              <a:t>提升测试能力，完成手工难以完成的测试任务。</a:t>
            </a:r>
            <a:endParaRPr kumimoji="0" lang="zh-CN" altLang="zh-CN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Times New Roman" panose="02020603050405020304" pitchFamily="18" charset="0"/>
              <a:buNone/>
            </a:pP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ts val="30"/>
              </a:spcBef>
              <a:spcAft>
                <a:spcPts val="0"/>
              </a:spcAft>
              <a:buClr>
                <a:schemeClr val="hlink"/>
              </a:buClr>
              <a:buSzPct val="70000"/>
              <a:buFont typeface="+mj-ea"/>
              <a:buNone/>
              <a:defRPr/>
            </a:pPr>
            <a:endParaRPr kumimoji="0" lang="zh-CN" altLang="en-US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4"/>
          <p:cNvSpPr txBox="1">
            <a:spLocks noGrp="1"/>
          </p:cNvSpPr>
          <p:nvPr/>
        </p:nvSpPr>
        <p:spPr>
          <a:xfrm>
            <a:off x="16581968" y="12712701"/>
            <a:ext cx="3810000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fld id="{9A0DB2DC-4C9A-4742-B13C-FB6460FD3503}" type="slidenum">
              <a:rPr lang="zh-CN" altLang="zh-CN" sz="2665" b="1" dirty="0">
                <a:latin typeface="Arial Narrow" panose="020B0606020202030204" pitchFamily="34" charset="0"/>
              </a:rPr>
            </a:fld>
            <a:endParaRPr lang="zh-CN" altLang="zh-CN" sz="2665" b="1" dirty="0">
              <a:latin typeface="Arial Narrow" panose="020B0606020202030204" pitchFamily="34" charset="0"/>
            </a:endParaRPr>
          </a:p>
        </p:txBody>
      </p:sp>
      <p:sp>
        <p:nvSpPr>
          <p:cNvPr id="28674" name="Rectangle 3"/>
          <p:cNvSpPr>
            <a:spLocks noGrp="1" noRot="1"/>
          </p:cNvSpPr>
          <p:nvPr>
            <p:ph type="body" idx="4294967295"/>
          </p:nvPr>
        </p:nvSpPr>
        <p:spPr>
          <a:xfrm>
            <a:off x="2891155" y="2379345"/>
            <a:ext cx="19943445" cy="10880725"/>
          </a:xfrm>
        </p:spPr>
        <p:txBody>
          <a:bodyPr vert="horz" wrap="square" lIns="182880" tIns="91440" rIns="182880" bIns="91440" numCol="1" anchor="t" anchorCtr="0" compatLnSpc="1">
            <a:normAutofit fontScale="80000"/>
          </a:bodyPr>
          <a:lstStyle/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</a:rPr>
              <a:t>自动化测试主要适用于以下情况：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  <a:sym typeface="+mn-ea"/>
              </a:rPr>
              <a:t> 重复执行，输入大量不同数据的测试过程；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</a:rPr>
              <a:t> 回归测试；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</a:rPr>
              <a:t>用手工测试完成难度较大的测试，如性能测试、负载测试、强度测试等；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</a:rPr>
              <a:t>自动生成部分测试用例；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charset="0"/>
              <a:buChar char=""/>
            </a:pPr>
            <a:r>
              <a:rPr lang="zh-CN" altLang="zh-CN" dirty="0">
                <a:ea typeface="楷体_GB2312" pitchFamily="49" charset="-122"/>
                <a:sym typeface="+mn-ea"/>
              </a:rPr>
              <a:t>测试过程及测试结果的自动记录；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zh-CN" dirty="0">
                <a:ea typeface="楷体_GB2312" pitchFamily="49" charset="-122"/>
                <a:sym typeface="+mn-ea"/>
              </a:rPr>
              <a:t> 测试结果与预期结果的自动比</a:t>
            </a:r>
            <a:r>
              <a:rPr lang="zh-CN" altLang="zh-CN" dirty="0">
                <a:ea typeface="楷体_GB2312" pitchFamily="49" charset="-122"/>
                <a:sym typeface="+mn-ea"/>
              </a:rPr>
              <a:t>对</a:t>
            </a:r>
            <a:r>
              <a:rPr lang="zh-CN" altLang="zh-CN" dirty="0">
                <a:ea typeface="楷体_GB2312" pitchFamily="49" charset="-122"/>
                <a:sym typeface="+mn-ea"/>
              </a:rPr>
              <a:t>；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zh-CN" dirty="0">
                <a:ea typeface="楷体_GB2312" pitchFamily="49" charset="-122"/>
                <a:sym typeface="+mn-ea"/>
              </a:rPr>
              <a:t>不匹配测试结果的</a:t>
            </a:r>
            <a:r>
              <a:rPr lang="zh-CN" altLang="zh-CN" dirty="0">
                <a:ea typeface="楷体_GB2312" pitchFamily="49" charset="-122"/>
                <a:sym typeface="+mn-ea"/>
              </a:rPr>
              <a:t>汇总、统计</a:t>
            </a:r>
            <a:r>
              <a:rPr lang="zh-CN" altLang="zh-CN" dirty="0">
                <a:ea typeface="楷体_GB2312" pitchFamily="49" charset="-122"/>
                <a:sym typeface="+mn-ea"/>
              </a:rPr>
              <a:t>分析和缺陷跟踪；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zh-CN" dirty="0">
                <a:ea typeface="楷体_GB2312" pitchFamily="49" charset="-122"/>
                <a:sym typeface="+mn-ea"/>
              </a:rPr>
              <a:t>测试项目管理，如工作进展状况统计；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zh-CN" dirty="0">
                <a:ea typeface="楷体_GB2312" pitchFamily="49" charset="-122"/>
                <a:sym typeface="+mn-ea"/>
              </a:rPr>
              <a:t>测试报告和报表的生成等。</a:t>
            </a:r>
            <a:endParaRPr kumimoji="0" lang="zh-CN" altLang="zh-CN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52" name="Rectangle 2"/>
          <p:cNvSpPr>
            <a:spLocks noGrp="1" noRot="1"/>
          </p:cNvSpPr>
          <p:nvPr/>
        </p:nvSpPr>
        <p:spPr>
          <a:xfrm>
            <a:off x="3286973" y="838200"/>
            <a:ext cx="16738600" cy="1875368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p>
            <a:pPr algn="l" defTabSz="914400" hangingPunct="0"/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自动化测试的适用情况</a:t>
            </a:r>
            <a:endParaRPr lang="zh-CN" altLang="en-US" sz="6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3"/>
          <p:cNvSpPr>
            <a:spLocks noGrp="1" noRot="1"/>
          </p:cNvSpPr>
          <p:nvPr>
            <p:ph type="body" idx="4294967295"/>
          </p:nvPr>
        </p:nvSpPr>
        <p:spPr>
          <a:xfrm>
            <a:off x="1735667" y="2540000"/>
            <a:ext cx="21776267" cy="10172701"/>
          </a:xfrm>
        </p:spPr>
        <p:txBody>
          <a:bodyPr vert="horz" wrap="square" lIns="182880" tIns="91440" rIns="182880" bIns="91440" anchor="t" anchorCtr="0">
            <a:normAutofit lnSpcReduction="10000"/>
          </a:bodyPr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</a:rPr>
              <a:t>关于自动化测试也要防止陷入以下可能存在的认识误区：</a:t>
            </a:r>
            <a:endParaRPr lang="zh-CN" altLang="zh-CN" dirty="0">
              <a:ea typeface="楷体_GB2312" pitchFamily="49" charset="-122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</a:rPr>
              <a:t>1、自动化测试可以完全取代手工测试</a:t>
            </a:r>
            <a:endParaRPr lang="zh-CN" altLang="zh-CN" dirty="0">
              <a:ea typeface="楷体_GB2312" pitchFamily="49" charset="-122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  <a:sym typeface="+mn-ea"/>
              </a:rPr>
              <a:t>2、测试用例可完全由测试工具自动生成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  <a:sym typeface="+mn-ea"/>
              </a:rPr>
              <a:t>3、自动化测试可适用于任何测试场景</a:t>
            </a:r>
            <a:endParaRPr lang="zh-CN" altLang="zh-CN" dirty="0">
              <a:ea typeface="楷体_GB2312" pitchFamily="49" charset="-122"/>
              <a:sym typeface="+mn-ea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  <a:sym typeface="+mn-ea"/>
              </a:rPr>
              <a:t>4、</a:t>
            </a:r>
            <a:r>
              <a:rPr lang="zh-CN" altLang="zh-CN" dirty="0">
                <a:ea typeface="楷体_GB2312" pitchFamily="49" charset="-122"/>
                <a:sym typeface="+mn-ea"/>
              </a:rPr>
              <a:t>测试</a:t>
            </a:r>
            <a:r>
              <a:rPr lang="zh-CN" altLang="zh-CN" dirty="0">
                <a:ea typeface="楷体_GB2312" pitchFamily="49" charset="-122"/>
                <a:sym typeface="+mn-ea"/>
              </a:rPr>
              <a:t>自动化后效率立刻提高；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endParaRPr lang="zh-CN" altLang="zh-CN" dirty="0">
              <a:ea typeface="楷体_GB2312" pitchFamily="49" charset="-122"/>
            </a:endParaRPr>
          </a:p>
        </p:txBody>
      </p:sp>
      <p:sp>
        <p:nvSpPr>
          <p:cNvPr id="29699" name="Rectangle 2"/>
          <p:cNvSpPr>
            <a:spLocks noGrp="1"/>
          </p:cNvSpPr>
          <p:nvPr/>
        </p:nvSpPr>
        <p:spPr>
          <a:xfrm>
            <a:off x="3016885" y="668655"/>
            <a:ext cx="10551795" cy="187134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p>
            <a:pPr algn="ctr" eaLnBrk="0" hangingPunct="0"/>
            <a:r>
              <a:rPr lang="zh-CN" altLang="zh-CN" sz="8800" dirty="0">
                <a:solidFill>
                  <a:schemeClr val="tx2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自动化测试的认识误区</a:t>
            </a:r>
            <a:endParaRPr lang="zh-CN" altLang="en-US" sz="8800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34817" name="Rectangle 3"/>
          <p:cNvSpPr>
            <a:spLocks noGrp="1" noRot="1"/>
          </p:cNvSpPr>
          <p:nvPr>
            <p:ph idx="4294967295"/>
          </p:nvPr>
        </p:nvSpPr>
        <p:spPr>
          <a:xfrm>
            <a:off x="2738120" y="2446655"/>
            <a:ext cx="21645880" cy="10139045"/>
          </a:xfrm>
        </p:spPr>
        <p:txBody>
          <a:bodyPr vert="horz" wrap="square" lIns="182880" tIns="91440" rIns="182880" bIns="91440" numCol="1" anchor="t" anchorCtr="0" compatLnSpc="1">
            <a:normAutofit/>
          </a:bodyPr>
          <a:lstStyle/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</a:rPr>
              <a:t>自动化测试有它的优点，也有其局限性。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+mj-ea"/>
              <a:buAutoNum type="circleNumDbPlain"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</a:rPr>
              <a:t>自动化测试并不比手工测试发现的缺陷更多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zh-CN" dirty="0">
                <a:ea typeface="楷体_GB2312" pitchFamily="49" charset="-122"/>
                <a:sym typeface="+mn-ea"/>
              </a:rPr>
              <a:t>自动化测试脚本或程序自身也需要进行正确性检查和验证</a:t>
            </a:r>
            <a:endParaRPr lang="zh-CN" altLang="zh-CN" dirty="0"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+mj-ea"/>
              <a:buAutoNum type="circleNumDbPlain" startAt="3"/>
            </a:pPr>
            <a:r>
              <a:rPr lang="zh-CN" altLang="zh-CN" dirty="0">
                <a:ea typeface="楷体_GB2312" pitchFamily="49" charset="-122"/>
                <a:sym typeface="+mn-ea"/>
              </a:rPr>
              <a:t>自动化测试对测试设计的依赖性很大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+mj-ea"/>
              <a:buAutoNum type="circleNumDbPlain" startAt="4"/>
            </a:pPr>
            <a:r>
              <a:rPr lang="zh-CN" altLang="zh-CN" dirty="0">
                <a:ea typeface="楷体_GB2312" pitchFamily="49" charset="-122"/>
                <a:sym typeface="+mn-ea"/>
              </a:rPr>
              <a:t> 自动化测试比手工测试更加“脆弱”，并</a:t>
            </a:r>
            <a:r>
              <a:rPr lang="zh-CN" altLang="zh-CN" dirty="0">
                <a:ea typeface="楷体_GB2312" pitchFamily="49" charset="-122"/>
                <a:sym typeface="+mn-ea"/>
              </a:rPr>
              <a:t>需要进行维护</a:t>
            </a:r>
            <a:endParaRPr lang="zh-CN" altLang="zh-CN" dirty="0">
              <a:ea typeface="楷体_GB2312" pitchFamily="49" charset="-122"/>
              <a:sym typeface="+mn-ea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+mj-ea"/>
              <a:buAutoNum type="circleNumDbPlain" startAt="5"/>
            </a:pPr>
            <a:r>
              <a:rPr lang="zh-CN" altLang="zh-CN" dirty="0">
                <a:ea typeface="楷体_GB2312" pitchFamily="49" charset="-122"/>
                <a:sym typeface="+mn-ea"/>
              </a:rPr>
              <a:t>自动化测试也需要相应的成本投入</a:t>
            </a:r>
            <a:endParaRPr kumimoji="0" lang="zh-CN" altLang="zh-CN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+mj-ea"/>
              <a:buNone/>
            </a:pPr>
            <a:r>
              <a:rPr lang="zh-CN" altLang="zh-CN" dirty="0">
                <a:ea typeface="楷体_GB2312" pitchFamily="49" charset="-122"/>
                <a:sym typeface="+mn-ea"/>
              </a:rPr>
              <a:t>     </a:t>
            </a:r>
            <a:endParaRPr kumimoji="0" lang="zh-CN" altLang="zh-CN" sz="4400" i="0" u="none" strike="noStrike" kern="0" cap="none" spc="0" normalizeH="0" baseline="0" noProof="1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latinLnBrk="0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+mj-ea"/>
              <a:buNone/>
            </a:pPr>
            <a:r>
              <a:rPr kumimoji="0" lang="zh-CN" altLang="zh-CN" sz="4400" i="0" u="none" strike="noStrike" kern="0" cap="none" spc="0" normalizeH="0" baseline="0" noProof="1" dirty="0">
                <a:ln>
                  <a:noFill/>
                </a:ln>
                <a:uFillTx/>
                <a:ea typeface="楷体_GB2312" pitchFamily="49" charset="-122"/>
              </a:rPr>
              <a:t>   </a:t>
            </a:r>
            <a:endParaRPr kumimoji="0" lang="zh-CN" altLang="zh-CN" sz="6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+mn-ea"/>
              <a:cs typeface="+mn-cs"/>
            </a:endParaRPr>
          </a:p>
        </p:txBody>
      </p:sp>
      <p:sp>
        <p:nvSpPr>
          <p:cNvPr id="33795" name="Rectangle 2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8324215" cy="1042670"/>
          </a:xfrm>
        </p:spPr>
        <p:txBody>
          <a:bodyPr vert="horz" wrap="square" lIns="182880" tIns="91440" rIns="182880" bIns="91440" anchor="ctr" anchorCtr="0">
            <a:normAutofit fontScale="90000"/>
          </a:bodyPr>
          <a:p>
            <a:pPr algn="l" defTabSz="914400" hangingPunct="0"/>
            <a:r>
              <a:rPr lang="zh-CN" altLang="en-US" sz="6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自动化测试的局限性</a:t>
            </a:r>
            <a:endParaRPr lang="zh-CN" altLang="en-US" sz="60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1800" y="2599267"/>
            <a:ext cx="21463000" cy="10003368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9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6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</a:t>
            </a:r>
            <a:r>
              <a:rPr kumimoji="0" lang="zh-CN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随着技术的发展，自动化测试工具越来越多，使用也越来越广泛，可以从不同的角度对</a:t>
            </a:r>
            <a:r>
              <a:rPr kumimoji="0" lang="zh-CN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  <a:sym typeface="+mn-ea"/>
              </a:rPr>
              <a:t>自动化测试工具进行</a:t>
            </a:r>
            <a:r>
              <a:rPr kumimoji="0" lang="zh-CN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分类。</a:t>
            </a:r>
            <a:endParaRPr kumimoji="0" lang="zh-CN" altLang="zh-CN" sz="6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charset="0"/>
              <a:buChar char=""/>
              <a:defRPr/>
            </a:pPr>
            <a:r>
              <a:rPr kumimoji="0" lang="zh-CN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根据测试方法不同，自动化测试工具可以分为：</a:t>
            </a:r>
            <a:endParaRPr kumimoji="0" lang="zh-CN" altLang="zh-CN" sz="6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143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白盒测试工具、黑盒测试工具</a:t>
            </a:r>
            <a:endParaRPr kumimoji="0" lang="zh-CN" altLang="zh-CN" sz="6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"/>
              <a:defRPr/>
            </a:pPr>
            <a:r>
              <a:rPr kumimoji="0" lang="zh-CN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根据测试的对象和类型不同，自动化测试工具可以分为：</a:t>
            </a:r>
            <a:endParaRPr kumimoji="0" lang="zh-CN" altLang="zh-CN" sz="60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1143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6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 单元测试工具、功能测试工具、负载测试工具、性能测试工具、Web测试工具、数据库测试工具、回归测试工具、嵌入式测试工具、页面链接测试工具、测试设计与开发工具、测试执行和评估工具、测试管理工具等。</a:t>
            </a:r>
            <a:endParaRPr kumimoji="0" lang="zh-CN" altLang="zh-CN" sz="6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8915" name="Rectangle 2"/>
          <p:cNvSpPr>
            <a:spLocks noGrp="1" noRot="1"/>
          </p:cNvSpPr>
          <p:nvPr/>
        </p:nvSpPr>
        <p:spPr>
          <a:xfrm>
            <a:off x="3605530" y="890905"/>
            <a:ext cx="10571480" cy="1441450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p>
            <a:pPr algn="l" defTabSz="914400" hangingPunct="0"/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自动化测试工具的分类</a:t>
            </a:r>
            <a:endParaRPr lang="zh-CN" altLang="en-US" sz="6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4"/>
          <p:cNvSpPr txBox="1">
            <a:spLocks noGrp="1"/>
          </p:cNvSpPr>
          <p:nvPr/>
        </p:nvSpPr>
        <p:spPr>
          <a:xfrm>
            <a:off x="16581968" y="12712701"/>
            <a:ext cx="3810000" cy="91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r"/>
            <a:fld id="{9A0DB2DC-4C9A-4742-B13C-FB6460FD3503}" type="slidenum">
              <a:rPr lang="zh-CN" altLang="zh-CN" sz="2665" b="1" dirty="0">
                <a:latin typeface="Arial Narrow" panose="020B0606020202030204" pitchFamily="34" charset="0"/>
              </a:rPr>
            </a:fld>
            <a:endParaRPr lang="zh-CN" altLang="zh-CN" sz="2665" b="1" dirty="0">
              <a:latin typeface="Arial Narrow" panose="020B0606020202030204" pitchFamily="34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379133" y="3069168"/>
            <a:ext cx="19782368" cy="8839200"/>
          </a:xfrm>
        </p:spPr>
        <p:txBody>
          <a:bodyPr vert="horz" wrap="square" lIns="182880" tIns="91440" rIns="182880" bIns="91440" numCol="1" rtlCol="0" anchor="t" anchorCtr="0" compatLnSpc="1">
            <a:noAutofit/>
          </a:bodyPr>
          <a:lstStyle/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下面我们来简单介绍几个常用的自动化测试工具。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1、测试管理工具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Wingdings" panose="05000000000000000000" charset="0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    用于对测试进行管理，负责对测试计划、测试用例、测试的实施进行管理。还能对产品缺陷进行跟踪管理、产品特性管理等。例如：IBM Rational公司的 TeamManager、HP Mercury  Interactive公司的TestDirector(QualityCenter)。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</p:txBody>
      </p:sp>
      <p:sp>
        <p:nvSpPr>
          <p:cNvPr id="39940" name="Rectangle 2"/>
          <p:cNvSpPr>
            <a:spLocks noGrp="1" noRot="1"/>
          </p:cNvSpPr>
          <p:nvPr/>
        </p:nvSpPr>
        <p:spPr>
          <a:xfrm>
            <a:off x="2670810" y="1157605"/>
            <a:ext cx="20775295" cy="1330325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p>
            <a:pPr algn="l" defTabSz="914400" hangingPunct="0"/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常用自动化测试工具</a:t>
            </a:r>
            <a:endParaRPr lang="zh-CN" altLang="en-US" sz="6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642533" y="2442635"/>
            <a:ext cx="20785667" cy="11684000"/>
          </a:xfrm>
        </p:spPr>
        <p:txBody>
          <a:bodyPr vert="horz" wrap="square" lIns="182880" tIns="91440" rIns="182880" bIns="91440" numCol="1" rtlCol="0" anchor="t" anchorCtr="0" compatLnSpc="1">
            <a:normAutofit lnSpcReduction="10000"/>
          </a:bodyPr>
          <a:lstStyle/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2、功能测试工具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Wingdings" panose="05000000000000000000" pitchFamily="2" charset="2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      用于测试程序能否</a:t>
            </a: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  <a:sym typeface="+mn-ea"/>
              </a:rPr>
              <a:t>正常运行并</a:t>
            </a: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达到预期的功能要求。代表有QTP：QuickTest Professional。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Wingdings" panose="05000000000000000000" pitchFamily="2" charset="2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3、性能测试工具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      用于测试软件系统的性能。</a:t>
            </a: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  <a:sym typeface="+mn-ea"/>
              </a:rPr>
              <a:t>代表有 </a:t>
            </a: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LoadRunner，</a:t>
            </a:r>
            <a:r>
              <a:rPr kumimoji="0" lang="en-US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JMeter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Wingdings" panose="05000000000000000000" pitchFamily="2" charset="2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4、白盒测试工具</a:t>
            </a:r>
            <a:endParaRPr kumimoji="0" lang="zh-CN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  <a:p>
            <a:pPr marL="0" marR="0" lvl="0" algn="l" defTabSz="825500" rtl="0" eaLnBrk="1" fontAlgn="auto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Tx/>
              <a:buFont typeface="Wingdings" panose="05000000000000000000" pitchFamily="2" charset="2"/>
              <a:buNone/>
            </a:pP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      用</a:t>
            </a: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  <a:sym typeface="+mn-ea"/>
              </a:rPr>
              <a:t>于对代码进行白盒测试，代表有 </a:t>
            </a:r>
            <a:r>
              <a:rPr kumimoji="0" lang="zh-CN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XUnit系列工具，如 Junit，</a:t>
            </a:r>
            <a:r>
              <a:rPr kumimoji="0" lang="en-US" altLang="zh-CN" sz="4400" i="0" u="none" strike="noStrike" cap="none" spc="0" normalizeH="0" baseline="0" dirty="0">
                <a:ln>
                  <a:noFill/>
                </a:ln>
                <a:uFillTx/>
                <a:ea typeface="楷体_GB2312" pitchFamily="49" charset="-122"/>
              </a:rPr>
              <a:t>pytest</a:t>
            </a:r>
            <a:endParaRPr kumimoji="0" lang="en-US" altLang="zh-CN" sz="4400" i="0" u="none" strike="noStrike" cap="none" spc="0" normalizeH="0" baseline="0" dirty="0">
              <a:ln>
                <a:noFill/>
              </a:ln>
              <a:uFillTx/>
              <a:ea typeface="楷体_GB2312" pitchFamily="49" charset="-122"/>
            </a:endParaRPr>
          </a:p>
        </p:txBody>
      </p:sp>
      <p:sp>
        <p:nvSpPr>
          <p:cNvPr id="40963" name="Rectangle 2"/>
          <p:cNvSpPr>
            <a:spLocks noGrp="1" noRot="1"/>
          </p:cNvSpPr>
          <p:nvPr/>
        </p:nvSpPr>
        <p:spPr>
          <a:xfrm>
            <a:off x="2804160" y="1024255"/>
            <a:ext cx="9994265" cy="1285240"/>
          </a:xfrm>
          <a:prstGeom prst="rect">
            <a:avLst/>
          </a:prstGeom>
          <a:noFill/>
          <a:ln w="9525">
            <a:noFill/>
          </a:ln>
        </p:spPr>
        <p:txBody>
          <a:bodyPr lIns="182880" tIns="91440" rIns="182880" bIns="91440" anchor="ctr" anchorCtr="0"/>
          <a:p>
            <a:pPr algn="l" defTabSz="914400" hangingPunct="0"/>
            <a:r>
              <a: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常用自动化测试工具</a:t>
            </a:r>
            <a:endParaRPr lang="zh-CN" altLang="en-US" sz="6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3"/>
          <p:cNvSpPr>
            <a:spLocks noGrp="1" noRot="1"/>
          </p:cNvSpPr>
          <p:nvPr>
            <p:ph idx="4294967295"/>
          </p:nvPr>
        </p:nvSpPr>
        <p:spPr>
          <a:xfrm>
            <a:off x="1889760" y="3029585"/>
            <a:ext cx="20603845" cy="8957310"/>
          </a:xfrm>
        </p:spPr>
        <p:txBody>
          <a:bodyPr vert="horz" wrap="square" lIns="182880" tIns="91440" rIns="182880" bIns="91440" anchor="t" anchorCtr="0"/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en-US" altLang="zh-CN" dirty="0"/>
              <a:t>    </a:t>
            </a:r>
            <a:r>
              <a:rPr lang="zh-CN" altLang="zh-CN" dirty="0">
                <a:ea typeface="楷体_GB2312" pitchFamily="49" charset="-122"/>
              </a:rPr>
              <a:t>   总的来说，自动化测试工具越来越多，使用越来越广泛和普遍，但使用自动测试应注意以下几个问题： </a:t>
            </a:r>
            <a:endParaRPr lang="zh-CN" altLang="zh-CN" dirty="0">
              <a:ea typeface="楷体_GB2312" pitchFamily="49" charset="-122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</a:rPr>
              <a:t>       首先不要对自动化测试产生不现实的期望，测试工具不能解决所有的问题，对测试工具寄予过高的期望，最终将无法实现；</a:t>
            </a:r>
            <a:endParaRPr lang="zh-CN" altLang="zh-CN" dirty="0">
              <a:ea typeface="楷体_GB2312" pitchFamily="49" charset="-122"/>
            </a:endParaRPr>
          </a:p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zh-CN" altLang="zh-CN" dirty="0">
                <a:ea typeface="楷体_GB2312" pitchFamily="49" charset="-122"/>
              </a:rPr>
              <a:t>       其次</a:t>
            </a:r>
            <a:r>
              <a:rPr lang="zh-CN" altLang="zh-CN" dirty="0">
                <a:ea typeface="楷体_GB2312" pitchFamily="49" charset="-122"/>
                <a:sym typeface="宋体" panose="02010600030101010101" pitchFamily="2" charset="-122"/>
              </a:rPr>
              <a:t>不要盲目建立大型自动化测试，尤其是</a:t>
            </a:r>
            <a:r>
              <a:rPr lang="zh-CN" altLang="zh-CN" dirty="0">
                <a:ea typeface="楷体_GB2312" pitchFamily="49" charset="-122"/>
              </a:rPr>
              <a:t>缺乏自动化测试实践经验，软件变化大的情况下更是如此；</a:t>
            </a:r>
            <a:endParaRPr lang="zh-CN" altLang="zh-CN" dirty="0">
              <a:ea typeface="楷体_GB2312" pitchFamily="49" charset="-122"/>
            </a:endParaRPr>
          </a:p>
        </p:txBody>
      </p:sp>
      <p:sp>
        <p:nvSpPr>
          <p:cNvPr id="41987" name="标题 1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9235440" cy="1042670"/>
          </a:xfrm>
        </p:spPr>
        <p:txBody>
          <a:bodyPr vert="horz" wrap="square" lIns="243840" tIns="121920" rIns="243840" bIns="121920" anchor="ctr" anchorCtr="0">
            <a:normAutofit fontScale="90000"/>
          </a:bodyPr>
          <a:p>
            <a:pPr algn="l"/>
            <a:r>
              <a:rPr lang="zh-CN" altLang="en-US" dirty="0"/>
              <a:t>使用自动测试应注意的问题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3"/>
          <p:cNvSpPr>
            <a:spLocks noGrp="1" noRot="1"/>
          </p:cNvSpPr>
          <p:nvPr>
            <p:ph idx="4294967295"/>
          </p:nvPr>
        </p:nvSpPr>
        <p:spPr>
          <a:xfrm>
            <a:off x="2122170" y="3105150"/>
            <a:ext cx="20603845" cy="8957310"/>
          </a:xfrm>
        </p:spPr>
        <p:txBody>
          <a:bodyPr vert="horz" wrap="square" lIns="182880" tIns="91440" rIns="182880" bIns="91440" anchor="t" anchorCtr="0"/>
          <a:p>
            <a:pPr marL="0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en-US" altLang="zh-CN" dirty="0"/>
              <a:t>       </a:t>
            </a:r>
            <a:r>
              <a:rPr lang="zh-CN" altLang="zh-CN" dirty="0">
                <a:ea typeface="楷体_GB2312" pitchFamily="49" charset="-122"/>
              </a:rPr>
              <a:t>第三建立</a:t>
            </a:r>
            <a:r>
              <a:rPr lang="zh-CN" altLang="zh-CN" dirty="0">
                <a:ea typeface="楷体_GB2312" pitchFamily="49" charset="-122"/>
                <a:sym typeface="宋体" panose="02010600030101010101" pitchFamily="2" charset="-122"/>
              </a:rPr>
              <a:t>自动化测试时要考虑它的可维护性和可复用性，如果用一次或者少数几次就不能用了，那显然是得不偿失的；</a:t>
            </a:r>
            <a:endParaRPr lang="zh-CN" altLang="zh-CN" dirty="0">
              <a:ea typeface="楷体_GB2312" pitchFamily="49" charset="-122"/>
              <a:sym typeface="宋体" panose="02010600030101010101" pitchFamily="2" charset="-122"/>
            </a:endParaRPr>
          </a:p>
          <a:p>
            <a:pPr marL="0" lvl="2" algn="l">
              <a:lnSpc>
                <a:spcPct val="150000"/>
              </a:lnSpc>
              <a:spcBef>
                <a:spcPct val="30000"/>
              </a:spcBef>
              <a:buNone/>
            </a:pPr>
            <a:r>
              <a:rPr lang="en-US" altLang="zh-CN" sz="4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宋体" panose="02010600030101010101" pitchFamily="2" charset="-122"/>
              </a:rPr>
              <a:t>       </a:t>
            </a:r>
            <a:r>
              <a:rPr lang="zh-CN" altLang="zh-CN" sz="4400" b="1" dirty="0">
                <a:latin typeface="微软雅黑" panose="020B0503020204020204" pitchFamily="34" charset="-122"/>
                <a:ea typeface="楷体_GB2312" pitchFamily="49" charset="-122"/>
                <a:cs typeface="微软雅黑" panose="020B0503020204020204" pitchFamily="34" charset="-122"/>
                <a:sym typeface="宋体" panose="02010600030101010101" pitchFamily="2" charset="-122"/>
              </a:rPr>
              <a:t>第四要分析对测试任务进行自动化执行的可行性，并合理选择测试工具。</a:t>
            </a:r>
            <a:endParaRPr lang="zh-CN" altLang="zh-CN" sz="4400" b="1" dirty="0">
              <a:latin typeface="微软雅黑" panose="020B0503020204020204" pitchFamily="34" charset="-122"/>
              <a:ea typeface="楷体_GB2312" pitchFamily="49" charset="-122"/>
              <a:cs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43011" name="标题 1"/>
          <p:cNvSpPr>
            <a:spLocks noGrp="1" noRot="1"/>
          </p:cNvSpPr>
          <p:nvPr>
            <p:ph type="title"/>
          </p:nvPr>
        </p:nvSpPr>
        <p:spPr>
          <a:xfrm>
            <a:off x="2738120" y="1078865"/>
            <a:ext cx="8835390" cy="1042670"/>
          </a:xfrm>
        </p:spPr>
        <p:txBody>
          <a:bodyPr vert="horz" wrap="square" lIns="243840" tIns="121920" rIns="243840" bIns="121920" anchor="ctr" anchorCtr="0">
            <a:normAutofit fontScale="90000"/>
          </a:bodyPr>
          <a:p>
            <a:pPr algn="l"/>
            <a:r>
              <a:rPr lang="zh-CN" altLang="en-US" dirty="0"/>
              <a:t>使用自动测试应注意的问题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765800" y="5380355"/>
            <a:ext cx="10414000" cy="37776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96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谢谢</a:t>
            </a:r>
            <a:endParaRPr kumimoji="0" lang="zh-CN" altLang="en-US" sz="96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 advTm="960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1682</Words>
  <Application>WPS 演示</Application>
  <PresentationFormat>Custom</PresentationFormat>
  <Paragraphs>109</Paragraphs>
  <Slides>13</Slides>
  <Notes>21</Notes>
  <HiddenSlides>0</HiddenSlides>
  <MMClips>21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4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楷体_GB2312</vt:lpstr>
      <vt:lpstr>新宋体</vt:lpstr>
      <vt:lpstr>Times New Roman</vt:lpstr>
      <vt:lpstr>Arial Narrow</vt:lpstr>
      <vt:lpstr>Wingdings</vt:lpstr>
      <vt:lpstr>Arial Unicode MS</vt:lpstr>
      <vt:lpstr>Helvetica Neue Medium</vt:lpstr>
      <vt:lpstr>White</vt:lpstr>
      <vt:lpstr>PowerPoint 演示文稿</vt:lpstr>
      <vt:lpstr>PowerPoint 演示文稿</vt:lpstr>
      <vt:lpstr>测试自动化的必要性</vt:lpstr>
      <vt:lpstr>自动化测试的优点</vt:lpstr>
      <vt:lpstr>PowerPoint 演示文稿</vt:lpstr>
      <vt:lpstr>PowerPoint 演示文稿</vt:lpstr>
      <vt:lpstr>自动化测试的局限性</vt:lpstr>
      <vt:lpstr>PowerPoint 演示文稿</vt:lpstr>
      <vt:lpstr>PowerPoint 演示文稿</vt:lpstr>
      <vt:lpstr>PowerPoint 演示文稿</vt:lpstr>
      <vt:lpstr>使用自动测试应注意的问题</vt:lpstr>
      <vt:lpstr>使用自动测试应注意的问题</vt:lpstr>
      <vt:lpstr>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768</cp:revision>
  <cp:lastPrinted>2020-08-01T02:11:00Z</cp:lastPrinted>
  <dcterms:created xsi:type="dcterms:W3CDTF">2019-05-10T09:49:00Z</dcterms:created>
  <dcterms:modified xsi:type="dcterms:W3CDTF">2023-08-11T03:24:41Z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F64A0D0AC8F1470EBE1E543B81DCDA56_12</vt:lpwstr>
  </property>
</Properties>
</file>