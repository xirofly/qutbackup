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8"/>
  </p:handoutMasterIdLst>
  <p:sldIdLst>
    <p:sldId id="256" r:id="rId3"/>
    <p:sldId id="294" r:id="rId5"/>
    <p:sldId id="337" r:id="rId6"/>
    <p:sldId id="309" r:id="rId7"/>
    <p:sldId id="339" r:id="rId8"/>
    <p:sldId id="340" r:id="rId9"/>
    <p:sldId id="341" r:id="rId10"/>
    <p:sldId id="342" r:id="rId11"/>
    <p:sldId id="343" r:id="rId12"/>
    <p:sldId id="345" r:id="rId13"/>
    <p:sldId id="346" r:id="rId14"/>
    <p:sldId id="347" r:id="rId15"/>
    <p:sldId id="348" r:id="rId16"/>
    <p:sldId id="361" r:id="rId17"/>
    <p:sldId id="362" r:id="rId18"/>
    <p:sldId id="363" r:id="rId19"/>
    <p:sldId id="364" r:id="rId20"/>
    <p:sldId id="344" r:id="rId21"/>
    <p:sldId id="312" r:id="rId22"/>
    <p:sldId id="350" r:id="rId23"/>
    <p:sldId id="351" r:id="rId24"/>
    <p:sldId id="357" r:id="rId25"/>
    <p:sldId id="355" r:id="rId26"/>
    <p:sldId id="358" r:id="rId27"/>
    <p:sldId id="359" r:id="rId28"/>
    <p:sldId id="360" r:id="rId29"/>
    <p:sldId id="366" r:id="rId30"/>
    <p:sldId id="367" r:id="rId31"/>
    <p:sldId id="368" r:id="rId32"/>
    <p:sldId id="372" r:id="rId33"/>
    <p:sldId id="373" r:id="rId34"/>
    <p:sldId id="365" r:id="rId35"/>
    <p:sldId id="369" r:id="rId36"/>
    <p:sldId id="370" r:id="rId37"/>
  </p:sldIdLst>
  <p:sldSz cx="24384000" cy="13716000"/>
  <p:notesSz cx="7099300" cy="10234295"/>
  <p:custDataLst>
    <p:tags r:id="rId4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82"/>
    <p:restoredTop sz="71902" autoAdjust="0"/>
  </p:normalViewPr>
  <p:slideViewPr>
    <p:cSldViewPr snapToGrid="0">
      <p:cViewPr varScale="1">
        <p:scale>
          <a:sx n="28" d="100"/>
          <a:sy n="28" d="100"/>
        </p:scale>
        <p:origin x="1206" y="30"/>
      </p:cViewPr>
      <p:guideLst/>
    </p:cSldViewPr>
  </p:slideViewPr>
  <p:outlineViewPr>
    <p:cViewPr>
      <p:scale>
        <a:sx n="33" d="100"/>
        <a:sy n="33" d="100"/>
      </p:scale>
      <p:origin x="0" y="-1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Relationship Id="rId42" Type="http://schemas.openxmlformats.org/officeDocument/2006/relationships/commentAuthors" Target="commentAuthors.xml"/><Relationship Id="rId43" Type="http://schemas.openxmlformats.org/officeDocument/2006/relationships/tags" Target="tags/tag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liuhuigmail.github.io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4820858" y="4360818"/>
            <a:ext cx="14276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https://liuhuigmail.github.io/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.m4a" TargetMode="External"/><Relationship Id="rId2" Type="http://schemas.microsoft.com/office/2007/relationships/media" Target="ppt/slides/ppt/media/media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.m4a" TargetMode="External"/><Relationship Id="rId2" Type="http://schemas.microsoft.com/office/2007/relationships/media" Target="ppt/slides/ppt/media/media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3.m4a" TargetMode="External"/><Relationship Id="rId2" Type="http://schemas.microsoft.com/office/2007/relationships/media" Target="ppt/slides/ppt/media/media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4.m4a" TargetMode="External"/><Relationship Id="rId2" Type="http://schemas.microsoft.com/office/2007/relationships/media" Target="ppt/slides/ppt/media/media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5.m4a" TargetMode="External"/><Relationship Id="rId2" Type="http://schemas.microsoft.com/office/2007/relationships/media" Target="ppt/slides/ppt/media/media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6.m4a" TargetMode="External"/><Relationship Id="rId2" Type="http://schemas.microsoft.com/office/2007/relationships/media" Target="ppt/slides/ppt/media/media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7.m4a" TargetMode="External"/><Relationship Id="rId2" Type="http://schemas.microsoft.com/office/2007/relationships/media" Target="ppt/slides/ppt/media/media7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8.m4a" TargetMode="External"/><Relationship Id="rId2" Type="http://schemas.microsoft.com/office/2007/relationships/media" Target="ppt/slides/ppt/media/media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9.m4a" TargetMode="External"/><Relationship Id="rId2" Type="http://schemas.microsoft.com/office/2007/relationships/media" Target="ppt/slides/ppt/media/media9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0.m4a" TargetMode="External"/><Relationship Id="rId2" Type="http://schemas.microsoft.com/office/2007/relationships/media" Target="ppt/slides/ppt/media/media10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1.m4a" TargetMode="External"/><Relationship Id="rId2" Type="http://schemas.microsoft.com/office/2007/relationships/media" Target="ppt/slides/ppt/media/media1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2.m4a" TargetMode="External"/><Relationship Id="rId2" Type="http://schemas.microsoft.com/office/2007/relationships/media" Target="ppt/slides/ppt/media/media12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3.m4a" TargetMode="External"/><Relationship Id="rId2" Type="http://schemas.microsoft.com/office/2007/relationships/media" Target="ppt/slides/ppt/media/media13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4.m4a" TargetMode="External"/><Relationship Id="rId2" Type="http://schemas.microsoft.com/office/2007/relationships/media" Target="ppt/slides/ppt/media/media1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5.m4a" TargetMode="External"/><Relationship Id="rId2" Type="http://schemas.microsoft.com/office/2007/relationships/media" Target="ppt/slides/ppt/media/media1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6.m4a" TargetMode="External"/><Relationship Id="rId2" Type="http://schemas.microsoft.com/office/2007/relationships/media" Target="ppt/slides/ppt/media/media1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7.m4a" TargetMode="External"/><Relationship Id="rId2" Type="http://schemas.microsoft.com/office/2007/relationships/media" Target="ppt/slides/ppt/media/media17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8.m4a" TargetMode="External"/><Relationship Id="rId2" Type="http://schemas.microsoft.com/office/2007/relationships/media" Target="ppt/slides/ppt/media/media18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19.m4a" TargetMode="External"/><Relationship Id="rId2" Type="http://schemas.microsoft.com/office/2007/relationships/media" Target="ppt/slides/ppt/media/media19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0.m4a" TargetMode="External"/><Relationship Id="rId2" Type="http://schemas.microsoft.com/office/2007/relationships/media" Target="ppt/slides/ppt/media/media20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1.m4a" TargetMode="External"/><Relationship Id="rId2" Type="http://schemas.microsoft.com/office/2007/relationships/media" Target="ppt/slides/ppt/media/media2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2.m4a" TargetMode="External"/><Relationship Id="rId2" Type="http://schemas.microsoft.com/office/2007/relationships/media" Target="ppt/slides/ppt/media/media22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3.m4a" TargetMode="External"/><Relationship Id="rId2" Type="http://schemas.microsoft.com/office/2007/relationships/media" Target="ppt/slides/ppt/media/media23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4.m4a" TargetMode="External"/><Relationship Id="rId2" Type="http://schemas.microsoft.com/office/2007/relationships/media" Target="ppt/slides/ppt/media/media2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5.m4a" TargetMode="External"/><Relationship Id="rId2" Type="http://schemas.microsoft.com/office/2007/relationships/media" Target="ppt/slides/ppt/media/media2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6.m4a" TargetMode="External"/><Relationship Id="rId2" Type="http://schemas.microsoft.com/office/2007/relationships/media" Target="ppt/slides/ppt/media/media2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7.m4a" TargetMode="External"/><Relationship Id="rId2" Type="http://schemas.microsoft.com/office/2007/relationships/media" Target="ppt/slides/ppt/media/media27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8.m4a" TargetMode="External"/><Relationship Id="rId2" Type="http://schemas.microsoft.com/office/2007/relationships/media" Target="ppt/slides/ppt/media/media2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29.m4a" TargetMode="External"/><Relationship Id="rId2" Type="http://schemas.microsoft.com/office/2007/relationships/media" Target="ppt/slides/ppt/media/media29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30.m4a" TargetMode="External"/><Relationship Id="rId2" Type="http://schemas.microsoft.com/office/2007/relationships/media" Target="ppt/slides/ppt/media/media30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31.m4a" TargetMode="External"/><Relationship Id="rId2" Type="http://schemas.microsoft.com/office/2007/relationships/media" Target="ppt/slides/ppt/media/media3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audio" Target="ppt/slides/ppt/media/media32.m4a" TargetMode="External"/><Relationship Id="rId2" Type="http://schemas.microsoft.com/office/2007/relationships/media" Target="ppt/slides/ppt/media/media3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3896"/>
            <a:ext cx="12336711" cy="17338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智能时代的软件测试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5264262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边界值测试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86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等价类边界值测试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194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边界值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等价类边界值测试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50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200649"/>
            <a:ext cx="7349988" cy="744813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黑盒测试技术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等价类划分</a:t>
            </a:r>
            <a:endParaRPr lang="zh-CN" altLang="en-US" sz="4800" dirty="0"/>
          </a:p>
          <a:p>
            <a:pPr lvl="2"/>
            <a:r>
              <a:rPr lang="zh-CN" altLang="en-US" sz="4800" b="1" dirty="0">
                <a:solidFill>
                  <a:srgbClr val="FF0000"/>
                </a:solidFill>
              </a:rPr>
              <a:t>边界值分析</a:t>
            </a:r>
            <a:endParaRPr lang="zh-CN" altLang="en-US" sz="4800" b="1" dirty="0">
              <a:solidFill>
                <a:srgbClr val="FF0000"/>
              </a:solidFill>
            </a:endParaRPr>
          </a:p>
          <a:p>
            <a:pPr lvl="2"/>
            <a:r>
              <a:rPr lang="zh-CN" altLang="en-US" sz="4800" dirty="0"/>
              <a:t>输入组合法</a:t>
            </a:r>
            <a:endParaRPr lang="zh-CN" altLang="en-US" sz="4800" dirty="0"/>
          </a:p>
          <a:p>
            <a:pPr lvl="2"/>
            <a:r>
              <a:rPr lang="zh-CN" altLang="en-US" sz="4800" dirty="0"/>
              <a:t>因果图</a:t>
            </a:r>
            <a:endParaRPr lang="zh-CN" altLang="en-US" sz="4800" dirty="0"/>
          </a:p>
          <a:p>
            <a:pPr lvl="2"/>
            <a:r>
              <a:rPr lang="zh-CN" altLang="en-US" sz="4800" dirty="0"/>
              <a:t>基于状态测试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grpSp>
        <p:nvGrpSpPr>
          <p:cNvPr id="3" name="组合 2"/>
          <p:cNvGrpSpPr/>
          <p:nvPr/>
        </p:nvGrpSpPr>
        <p:grpSpPr>
          <a:xfrm>
            <a:off x="14432276" y="4700117"/>
            <a:ext cx="4103944" cy="2758205"/>
            <a:chOff x="14531926" y="4904865"/>
            <a:chExt cx="5445693" cy="3414713"/>
          </a:xfrm>
        </p:grpSpPr>
        <p:sp>
          <p:nvSpPr>
            <p:cNvPr id="6" name="立方体 5"/>
            <p:cNvSpPr/>
            <p:nvPr/>
          </p:nvSpPr>
          <p:spPr>
            <a:xfrm>
              <a:off x="15526267" y="4904865"/>
              <a:ext cx="3529012" cy="3414713"/>
            </a:xfrm>
            <a:prstGeom prst="cube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205722" y="5965892"/>
              <a:ext cx="1641476" cy="19492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软件</a:t>
              </a:r>
              <a:endParaRPr kumimoji="0" lang="en-US" altLang="zh-CN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系统</a:t>
              </a:r>
              <a:endParaRPr kumimoji="0" lang="zh-CN" altLang="en-US" sz="48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4531926" y="6132074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4910224" y="6319549"/>
              <a:ext cx="544042" cy="125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0" name="椭圆 9"/>
            <p:cNvSpPr/>
            <p:nvPr/>
          </p:nvSpPr>
          <p:spPr>
            <a:xfrm>
              <a:off x="14612886" y="7198879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1" name="直接连接符 10"/>
            <p:cNvCxnSpPr>
              <a:stCxn id="10" idx="6"/>
            </p:cNvCxnSpPr>
            <p:nvPr/>
          </p:nvCxnSpPr>
          <p:spPr>
            <a:xfrm>
              <a:off x="15041511" y="7398904"/>
              <a:ext cx="445546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2" name="椭圆 11"/>
            <p:cNvSpPr/>
            <p:nvPr/>
          </p:nvSpPr>
          <p:spPr>
            <a:xfrm>
              <a:off x="19548993" y="6244855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V="1">
              <a:off x="18963207" y="6444881"/>
              <a:ext cx="594370" cy="285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sp>
        <p:nvSpPr>
          <p:cNvPr id="14" name="右箭头 13"/>
          <p:cNvSpPr/>
          <p:nvPr/>
        </p:nvSpPr>
        <p:spPr>
          <a:xfrm>
            <a:off x="12763197" y="5525631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929496" y="5566258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18817438" y="5525631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0661217" y="5566258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</a:t>
            </a:r>
            <a:r>
              <a:rPr lang="zh-CN" altLang="en-US" sz="6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363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4" grpId="0" animBg="1"/>
      <p:bldP spid="15" grpId="0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210674"/>
            <a:ext cx="7349988" cy="847398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输入范围：</a:t>
            </a:r>
            <a:r>
              <a:rPr lang="en-US" altLang="zh-CN" sz="4800" b="1" dirty="0"/>
              <a:t>[min, max]</a:t>
            </a:r>
            <a:endParaRPr lang="en-US" altLang="zh-CN" sz="4800" b="1" dirty="0"/>
          </a:p>
          <a:p>
            <a:r>
              <a:rPr lang="zh-CN" altLang="en-US" sz="4800" b="1" dirty="0"/>
              <a:t>边界值：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最小值</a:t>
            </a:r>
            <a:endParaRPr lang="en-US" altLang="zh-CN" sz="4800" dirty="0"/>
          </a:p>
          <a:p>
            <a:pPr lvl="2"/>
            <a:r>
              <a:rPr lang="zh-CN" altLang="en-US" sz="4800" dirty="0"/>
              <a:t>最大值</a:t>
            </a:r>
            <a:endParaRPr lang="en-US" altLang="zh-CN" sz="4800" dirty="0"/>
          </a:p>
          <a:p>
            <a:pPr lvl="2"/>
            <a:r>
              <a:rPr lang="zh-CN" altLang="en-US" sz="4800" dirty="0"/>
              <a:t>中间值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比最小值大一点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比最大值小一点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0609018" y="7323159"/>
            <a:ext cx="12105860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椭圆 18"/>
          <p:cNvSpPr/>
          <p:nvPr/>
        </p:nvSpPr>
        <p:spPr>
          <a:xfrm>
            <a:off x="12017061" y="7154194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9971663" y="7167445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12169462" y="754182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4" name="文本框 23"/>
          <p:cNvSpPr txBox="1"/>
          <p:nvPr/>
        </p:nvSpPr>
        <p:spPr>
          <a:xfrm>
            <a:off x="11511270" y="830914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最小值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575218" y="830914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最大值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max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sym typeface="Helvetica Neue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2547148" y="7147569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12722739" y="6160273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0" name="文本框 29"/>
          <p:cNvSpPr txBox="1"/>
          <p:nvPr/>
        </p:nvSpPr>
        <p:spPr>
          <a:xfrm>
            <a:off x="11421003" y="5130692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比最小值大一点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in+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9478018" y="7180701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19653609" y="6193405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6" name="文本框 35"/>
          <p:cNvSpPr txBox="1"/>
          <p:nvPr/>
        </p:nvSpPr>
        <p:spPr>
          <a:xfrm>
            <a:off x="18351873" y="5163824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比最大值</a:t>
            </a:r>
            <a:r>
              <a:rPr lang="zh-CN" altLang="en-US" dirty="0"/>
              <a:t>小</a:t>
            </a: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max-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6039087" y="7140943"/>
            <a:ext cx="351183" cy="327991"/>
          </a:xfrm>
          <a:prstGeom prst="ellipse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5682401" y="830914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中间值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16217992" y="754182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41" name="直接箭头连接符 40"/>
          <p:cNvCxnSpPr/>
          <p:nvPr/>
        </p:nvCxnSpPr>
        <p:spPr>
          <a:xfrm flipV="1">
            <a:off x="20127380" y="754182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225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190354"/>
            <a:ext cx="10325350" cy="847398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输入范围：</a:t>
            </a:r>
            <a:r>
              <a:rPr lang="en-US" altLang="zh-CN" sz="4800" b="1" dirty="0"/>
              <a:t>[0, 100]</a:t>
            </a:r>
            <a:endParaRPr lang="en-US" altLang="zh-CN" sz="4800" b="1" dirty="0"/>
          </a:p>
          <a:p>
            <a:r>
              <a:rPr lang="zh-CN" altLang="en-US" sz="4800" b="1" dirty="0"/>
              <a:t>边界值：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最小值</a:t>
            </a:r>
            <a:r>
              <a:rPr lang="en-US" altLang="zh-CN" sz="4800" dirty="0"/>
              <a:t>: 0</a:t>
            </a:r>
            <a:endParaRPr lang="en-US" altLang="zh-CN" sz="4800" dirty="0"/>
          </a:p>
          <a:p>
            <a:pPr lvl="2"/>
            <a:r>
              <a:rPr lang="zh-CN" altLang="en-US" sz="4800" dirty="0"/>
              <a:t>最大值</a:t>
            </a:r>
            <a:r>
              <a:rPr lang="en-US" altLang="zh-CN" sz="4800" dirty="0"/>
              <a:t>: 100</a:t>
            </a:r>
            <a:endParaRPr lang="en-US" altLang="zh-CN" sz="4800" dirty="0"/>
          </a:p>
          <a:p>
            <a:pPr lvl="2"/>
            <a:r>
              <a:rPr lang="zh-CN" altLang="en-US" sz="4800" dirty="0"/>
              <a:t>中间值</a:t>
            </a:r>
            <a:r>
              <a:rPr lang="en-US" altLang="zh-CN" sz="4800" dirty="0"/>
              <a:t>: 50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比最小值大一点</a:t>
            </a:r>
            <a:r>
              <a:rPr lang="en-US" altLang="zh-CN" sz="4800" dirty="0"/>
              <a:t>: 1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比最大值小一点</a:t>
            </a:r>
            <a:r>
              <a:rPr lang="en-US" altLang="zh-CN" sz="4800" dirty="0"/>
              <a:t>: 99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0629338" y="7343479"/>
            <a:ext cx="12105860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椭圆 18"/>
          <p:cNvSpPr/>
          <p:nvPr/>
        </p:nvSpPr>
        <p:spPr>
          <a:xfrm>
            <a:off x="12037381" y="7174514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9991983" y="7187765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12189782" y="756214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4" name="文本框 23"/>
          <p:cNvSpPr txBox="1"/>
          <p:nvPr/>
        </p:nvSpPr>
        <p:spPr>
          <a:xfrm>
            <a:off x="11531590" y="832946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最小值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595538" y="832946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最大值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max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sym typeface="Helvetica Neue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2567468" y="7167889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12743059" y="6180593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0" name="文本框 29"/>
          <p:cNvSpPr txBox="1"/>
          <p:nvPr/>
        </p:nvSpPr>
        <p:spPr>
          <a:xfrm>
            <a:off x="11441323" y="5151012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比最小值大一点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in+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9498338" y="7201021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19673929" y="6213725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6" name="文本框 35"/>
          <p:cNvSpPr txBox="1"/>
          <p:nvPr/>
        </p:nvSpPr>
        <p:spPr>
          <a:xfrm>
            <a:off x="18372193" y="5184144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比最大值</a:t>
            </a:r>
            <a:r>
              <a:rPr lang="zh-CN" altLang="en-US" dirty="0"/>
              <a:t>小</a:t>
            </a: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max-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6059407" y="7161263"/>
            <a:ext cx="351183" cy="327991"/>
          </a:xfrm>
          <a:prstGeom prst="ellipse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5702721" y="832946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中间值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16238312" y="756214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41" name="直接箭头连接符 40"/>
          <p:cNvCxnSpPr/>
          <p:nvPr/>
        </p:nvCxnSpPr>
        <p:spPr>
          <a:xfrm flipV="1">
            <a:off x="20147700" y="756214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" name="文本框 2"/>
          <p:cNvSpPr txBox="1"/>
          <p:nvPr/>
        </p:nvSpPr>
        <p:spPr>
          <a:xfrm>
            <a:off x="11961923" y="6511299"/>
            <a:ext cx="333425" cy="6565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824838" y="6604065"/>
            <a:ext cx="795089" cy="6565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154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088754"/>
            <a:ext cx="10325350" cy="847398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输入范围：</a:t>
            </a:r>
            <a:r>
              <a:rPr lang="en-US" altLang="zh-CN" sz="4800" b="1" dirty="0"/>
              <a:t>[0, ∝]</a:t>
            </a:r>
            <a:endParaRPr lang="en-US" altLang="zh-CN" sz="4800" b="1" dirty="0"/>
          </a:p>
          <a:p>
            <a:r>
              <a:rPr lang="zh-CN" altLang="en-US" sz="4800" b="1" dirty="0"/>
              <a:t>边界值：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最小值</a:t>
            </a:r>
            <a:r>
              <a:rPr lang="en-US" altLang="zh-CN" sz="4800" dirty="0"/>
              <a:t>: 0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比最小值大一点</a:t>
            </a:r>
            <a:r>
              <a:rPr lang="en-US" altLang="zh-CN" sz="4800" dirty="0"/>
              <a:t>: 1</a:t>
            </a:r>
            <a:endParaRPr lang="zh-CN" altLang="en-US" sz="4800" dirty="0"/>
          </a:p>
          <a:p>
            <a:pPr lvl="2"/>
            <a:r>
              <a:rPr lang="zh-CN" altLang="en-US" sz="4800" dirty="0"/>
              <a:t>最大值</a:t>
            </a:r>
            <a:r>
              <a:rPr lang="en-US" altLang="zh-CN" sz="4800" dirty="0"/>
              <a:t>: ?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比最大值小一点</a:t>
            </a:r>
            <a:r>
              <a:rPr lang="en-US" altLang="zh-CN" sz="4800" dirty="0"/>
              <a:t>: ?</a:t>
            </a:r>
            <a:endParaRPr lang="en-US" altLang="zh-CN" sz="4800" dirty="0"/>
          </a:p>
          <a:p>
            <a:pPr lvl="2"/>
            <a:r>
              <a:rPr lang="zh-CN" altLang="en-US" sz="4800" dirty="0"/>
              <a:t>中间值</a:t>
            </a:r>
            <a:r>
              <a:rPr lang="en-US" altLang="zh-CN" sz="4800" dirty="0"/>
              <a:t>: ?</a:t>
            </a:r>
            <a:endParaRPr lang="en-US" altLang="zh-CN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7096">
        <p159:morph option="byObject"/>
      </p:transition>
    </mc:Choice>
    <mc:Fallback>
      <p:transition spd="slow" advTm="970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9600" y="3088800"/>
            <a:ext cx="10325350" cy="847398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输入范围：</a:t>
            </a:r>
            <a:r>
              <a:rPr lang="en-US" altLang="zh-CN" sz="4800" b="1" dirty="0"/>
              <a:t>[0, ∝]</a:t>
            </a:r>
            <a:endParaRPr lang="en-US" altLang="zh-CN" sz="4800" b="1" dirty="0"/>
          </a:p>
          <a:p>
            <a:r>
              <a:rPr lang="zh-CN" altLang="en-US" sz="4800" b="1" dirty="0"/>
              <a:t>边界值：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最小值</a:t>
            </a:r>
            <a:r>
              <a:rPr lang="en-US" altLang="zh-CN" sz="4800" dirty="0"/>
              <a:t>: 0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比最小值大一点</a:t>
            </a:r>
            <a:r>
              <a:rPr lang="en-US" altLang="zh-CN" sz="4800" dirty="0"/>
              <a:t>: 1</a:t>
            </a:r>
            <a:endParaRPr lang="zh-CN" altLang="en-US" sz="4800" dirty="0"/>
          </a:p>
          <a:p>
            <a:pPr lvl="2"/>
            <a:r>
              <a:rPr lang="zh-CN" altLang="en-US" sz="4800" dirty="0"/>
              <a:t>最大值</a:t>
            </a:r>
            <a:r>
              <a:rPr lang="en-US" altLang="zh-CN" sz="4800" dirty="0"/>
              <a:t>: </a:t>
            </a:r>
            <a:r>
              <a:rPr lang="en-US" altLang="zh-CN" sz="4800" dirty="0">
                <a:solidFill>
                  <a:srgbClr val="FF0000"/>
                </a:solidFill>
              </a:rPr>
              <a:t>Max(int)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lvl="2"/>
            <a:r>
              <a:rPr lang="zh-CN" altLang="en-US" sz="4800" dirty="0"/>
              <a:t>比最大值小一点</a:t>
            </a:r>
            <a:r>
              <a:rPr lang="en-US" altLang="zh-CN" sz="4800" dirty="0"/>
              <a:t>: </a:t>
            </a:r>
            <a:r>
              <a:rPr lang="en-US" altLang="zh-CN" sz="4800" dirty="0">
                <a:solidFill>
                  <a:srgbClr val="FF0000"/>
                </a:solidFill>
              </a:rPr>
              <a:t>Max(int)-1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lvl="2"/>
            <a:r>
              <a:rPr lang="zh-CN" altLang="en-US" sz="4800" dirty="0"/>
              <a:t>中间值</a:t>
            </a:r>
            <a:r>
              <a:rPr lang="en-US" altLang="zh-CN" sz="4800" dirty="0"/>
              <a:t>: </a:t>
            </a:r>
            <a:r>
              <a:rPr lang="en-US" altLang="zh-CN" sz="4800" dirty="0">
                <a:solidFill>
                  <a:srgbClr val="FF0000"/>
                </a:solidFill>
              </a:rPr>
              <a:t>99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sp>
        <p:nvSpPr>
          <p:cNvPr id="3" name="矩形 2"/>
          <p:cNvSpPr/>
          <p:nvPr/>
        </p:nvSpPr>
        <p:spPr>
          <a:xfrm>
            <a:off x="15410425" y="5263274"/>
            <a:ext cx="272703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</a:t>
            </a:r>
            <a:r>
              <a:rPr lang="en-US" altLang="zh-CN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nt var</a:t>
            </a:r>
            <a:endParaRPr lang="zh-CN" altLang="en-US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2069">
        <p159:morph option="byWord"/>
      </p:transition>
    </mc:Choice>
    <mc:Fallback>
      <p:transition spd="slow" advTm="8206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边界值测试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等价类边界值测试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94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2737970" y="2121761"/>
            <a:ext cx="14726964" cy="45259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定义</a:t>
            </a:r>
            <a:endParaRPr lang="zh-CN" altLang="en-US" dirty="0"/>
          </a:p>
          <a:p>
            <a:pPr lvl="2"/>
            <a:r>
              <a:rPr lang="zh-CN" altLang="en-US" dirty="0"/>
              <a:t>针对各种边界情况设计测试用例。 </a:t>
            </a:r>
            <a:endParaRPr lang="zh-CN" altLang="en-US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064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1543171"/>
            <a:ext cx="20927371" cy="1062965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400" dirty="0"/>
              <a:t>输入：三个整数</a:t>
            </a:r>
            <a:r>
              <a:rPr lang="en-US" altLang="zh-CN" sz="4400" dirty="0"/>
              <a:t>a</a:t>
            </a:r>
            <a:r>
              <a:rPr lang="zh-CN" altLang="en-US" sz="4400" dirty="0"/>
              <a:t>、</a:t>
            </a:r>
            <a:r>
              <a:rPr lang="en-US" altLang="zh-CN" sz="4400" dirty="0"/>
              <a:t>b</a:t>
            </a:r>
            <a:r>
              <a:rPr lang="zh-CN" altLang="en-US" sz="4400" dirty="0"/>
              <a:t>和</a:t>
            </a:r>
            <a:r>
              <a:rPr lang="en-US" altLang="zh-CN" sz="4400" dirty="0"/>
              <a:t>c</a:t>
            </a:r>
            <a:r>
              <a:rPr lang="zh-CN" altLang="en-US" sz="4400" dirty="0"/>
              <a:t>，表示三角形的边。整数</a:t>
            </a:r>
            <a:r>
              <a:rPr lang="en-US" altLang="zh-CN" sz="4400" dirty="0"/>
              <a:t>a</a:t>
            </a:r>
            <a:r>
              <a:rPr lang="zh-CN" altLang="en-US" sz="4400" dirty="0"/>
              <a:t>、</a:t>
            </a:r>
            <a:r>
              <a:rPr lang="en-US" altLang="zh-CN" sz="4400" dirty="0"/>
              <a:t>b</a:t>
            </a:r>
            <a:r>
              <a:rPr lang="zh-CN" altLang="en-US" sz="4400" dirty="0"/>
              <a:t>、</a:t>
            </a:r>
            <a:r>
              <a:rPr lang="en-US" altLang="zh-CN" sz="4400" dirty="0"/>
              <a:t>c</a:t>
            </a:r>
            <a:r>
              <a:rPr lang="zh-CN" altLang="en-US" sz="4400" dirty="0"/>
              <a:t>必须满足以下条件：</a:t>
            </a:r>
            <a:endParaRPr lang="zh-CN" altLang="en-US" sz="4400" dirty="0"/>
          </a:p>
          <a:p>
            <a:pPr lvl="2">
              <a:lnSpc>
                <a:spcPct val="200000"/>
              </a:lnSpc>
            </a:pPr>
            <a:r>
              <a:rPr lang="en-US" altLang="zh-CN" sz="4400" dirty="0"/>
              <a:t>1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 a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200</a:t>
            </a:r>
            <a:endParaRPr lang="en-US" altLang="zh-CN" sz="4400" dirty="0"/>
          </a:p>
          <a:p>
            <a:pPr lvl="2">
              <a:lnSpc>
                <a:spcPct val="200000"/>
              </a:lnSpc>
            </a:pPr>
            <a:r>
              <a:rPr lang="en-US" altLang="zh-CN" sz="4400" dirty="0"/>
              <a:t>1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 b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200</a:t>
            </a:r>
            <a:endParaRPr lang="en-US" altLang="zh-CN" sz="4400" dirty="0"/>
          </a:p>
          <a:p>
            <a:pPr lvl="2">
              <a:lnSpc>
                <a:spcPct val="200000"/>
              </a:lnSpc>
            </a:pPr>
            <a:r>
              <a:rPr lang="en-US" altLang="zh-CN" sz="4400" dirty="0"/>
              <a:t>1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 c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200</a:t>
            </a:r>
            <a:endParaRPr lang="en-US" altLang="zh-CN" sz="4400" dirty="0"/>
          </a:p>
          <a:p>
            <a:pPr marL="635000" lvl="2">
              <a:lnSpc>
                <a:spcPct val="20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输出：由这三条边确定的三角形类型：等边三角形、等腰三角形、不等边三角形。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dirty="0"/>
          </a:p>
        </p:txBody>
      </p:sp>
      <p:sp>
        <p:nvSpPr>
          <p:cNvPr id="3" name="等腰三角形 2"/>
          <p:cNvSpPr/>
          <p:nvPr/>
        </p:nvSpPr>
        <p:spPr>
          <a:xfrm>
            <a:off x="11429769" y="5143498"/>
            <a:ext cx="4263887" cy="2355574"/>
          </a:xfrm>
          <a:prstGeom prst="triangl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1177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graphicFrame>
        <p:nvGraphicFramePr>
          <p:cNvPr id="6" name="Group 534"/>
          <p:cNvGraphicFramePr/>
          <p:nvPr/>
        </p:nvGraphicFramePr>
        <p:xfrm>
          <a:off x="2737970" y="3674361"/>
          <a:ext cx="8806069" cy="4603496"/>
        </p:xfrm>
        <a:graphic>
          <a:graphicData uri="http://schemas.openxmlformats.org/drawingml/2006/table">
            <a:tbl>
              <a:tblPr/>
              <a:tblGrid>
                <a:gridCol w="1321590"/>
                <a:gridCol w="1617164"/>
                <a:gridCol w="1695304"/>
                <a:gridCol w="1695304"/>
                <a:gridCol w="2476707"/>
              </a:tblGrid>
              <a:tr h="560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534"/>
          <p:cNvGraphicFramePr/>
          <p:nvPr/>
        </p:nvGraphicFramePr>
        <p:xfrm>
          <a:off x="12839963" y="3386642"/>
          <a:ext cx="8806069" cy="5178933"/>
        </p:xfrm>
        <a:graphic>
          <a:graphicData uri="http://schemas.openxmlformats.org/drawingml/2006/table">
            <a:tbl>
              <a:tblPr/>
              <a:tblGrid>
                <a:gridCol w="1321590"/>
                <a:gridCol w="1617164"/>
                <a:gridCol w="1695304"/>
                <a:gridCol w="1695304"/>
                <a:gridCol w="2476707"/>
              </a:tblGrid>
              <a:tr h="560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934667" y="10076899"/>
            <a:ext cx="13748957" cy="121058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7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边界值：</a:t>
            </a:r>
            <a:r>
              <a:rPr kumimoji="0" lang="en-US" altLang="zh-CN" sz="7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1</a:t>
            </a: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</a:t>
            </a: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7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endParaRPr kumimoji="0" lang="zh-CN" altLang="en-US" sz="7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995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graphicFrame>
        <p:nvGraphicFramePr>
          <p:cNvPr id="6" name="Group 534"/>
          <p:cNvGraphicFramePr/>
          <p:nvPr/>
        </p:nvGraphicFramePr>
        <p:xfrm>
          <a:off x="2737970" y="4556251"/>
          <a:ext cx="8806069" cy="4603496"/>
        </p:xfrm>
        <a:graphic>
          <a:graphicData uri="http://schemas.openxmlformats.org/drawingml/2006/table">
            <a:tbl>
              <a:tblPr/>
              <a:tblGrid>
                <a:gridCol w="1321590"/>
                <a:gridCol w="1617164"/>
                <a:gridCol w="1695304"/>
                <a:gridCol w="1695304"/>
                <a:gridCol w="2476707"/>
              </a:tblGrid>
              <a:tr h="560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534"/>
          <p:cNvGraphicFramePr/>
          <p:nvPr/>
        </p:nvGraphicFramePr>
        <p:xfrm>
          <a:off x="12839961" y="4268533"/>
          <a:ext cx="8806069" cy="5178933"/>
        </p:xfrm>
        <a:graphic>
          <a:graphicData uri="http://schemas.openxmlformats.org/drawingml/2006/table">
            <a:tbl>
              <a:tblPr/>
              <a:tblGrid>
                <a:gridCol w="1321590"/>
                <a:gridCol w="1617164"/>
                <a:gridCol w="1695304"/>
                <a:gridCol w="1695304"/>
                <a:gridCol w="2476707"/>
              </a:tblGrid>
              <a:tr h="560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218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边界值测试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3228" y="2664977"/>
            <a:ext cx="8186205" cy="996485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en-US" altLang="zh-CN" sz="4000" b="1" dirty="0">
                <a:solidFill>
                  <a:srgbClr val="FF0000"/>
                </a:solidFill>
              </a:rPr>
              <a:t>7</a:t>
            </a:r>
            <a:r>
              <a:rPr lang="zh-CN" altLang="en-US" sz="4000" b="1" dirty="0">
                <a:solidFill>
                  <a:srgbClr val="FF0000"/>
                </a:solidFill>
              </a:rPr>
              <a:t>点式边界值</a:t>
            </a:r>
            <a:endParaRPr lang="en-US" altLang="zh-CN" sz="4000" b="1" dirty="0">
              <a:solidFill>
                <a:srgbClr val="FF0000"/>
              </a:solidFill>
            </a:endParaRPr>
          </a:p>
          <a:p>
            <a:r>
              <a:rPr lang="zh-CN" altLang="en-US" sz="4000" b="1" dirty="0"/>
              <a:t>输入范围：</a:t>
            </a:r>
            <a:r>
              <a:rPr lang="en-US" altLang="zh-CN" sz="4000" b="1" dirty="0"/>
              <a:t>[min, max]</a:t>
            </a:r>
            <a:endParaRPr lang="en-US" altLang="zh-CN" sz="4000" b="1" dirty="0"/>
          </a:p>
          <a:p>
            <a:r>
              <a:rPr lang="zh-CN" altLang="en-US" sz="4000" b="1" dirty="0"/>
              <a:t>边界值：</a:t>
            </a:r>
            <a:endParaRPr lang="en-US" altLang="zh-CN" sz="4000" b="1" dirty="0"/>
          </a:p>
          <a:p>
            <a:pPr lvl="2"/>
            <a:r>
              <a:rPr lang="zh-CN" altLang="en-US" sz="4000" dirty="0"/>
              <a:t>最小值</a:t>
            </a:r>
            <a:endParaRPr lang="en-US" altLang="zh-CN" sz="4000" dirty="0"/>
          </a:p>
          <a:p>
            <a:pPr lvl="2"/>
            <a:r>
              <a:rPr lang="zh-CN" altLang="en-US" sz="4000" dirty="0"/>
              <a:t>最大值</a:t>
            </a:r>
            <a:endParaRPr lang="en-US" altLang="zh-CN" sz="4000" dirty="0"/>
          </a:p>
          <a:p>
            <a:pPr lvl="2"/>
            <a:r>
              <a:rPr lang="zh-CN" altLang="en-US" sz="4000" dirty="0"/>
              <a:t>中间值</a:t>
            </a:r>
            <a:endParaRPr lang="en-US" altLang="zh-CN" sz="4000" dirty="0"/>
          </a:p>
          <a:p>
            <a:pPr lvl="2"/>
            <a:r>
              <a:rPr lang="zh-CN" altLang="en-US" sz="4000" dirty="0"/>
              <a:t>比最小值大一点</a:t>
            </a:r>
            <a:endParaRPr lang="en-US" altLang="zh-CN" sz="4000" dirty="0"/>
          </a:p>
          <a:p>
            <a:pPr lvl="2"/>
            <a:r>
              <a:rPr lang="zh-CN" altLang="en-US" sz="4000" dirty="0"/>
              <a:t>比最大值小一点</a:t>
            </a:r>
            <a:endParaRPr lang="en-US" altLang="zh-CN" sz="4000" dirty="0"/>
          </a:p>
          <a:p>
            <a:pPr lvl="2"/>
            <a:r>
              <a:rPr lang="zh-CN" altLang="en-US" sz="4000" dirty="0"/>
              <a:t>比最小值小一点</a:t>
            </a:r>
            <a:endParaRPr lang="en-US" altLang="zh-CN" sz="4000" dirty="0"/>
          </a:p>
          <a:p>
            <a:pPr lvl="2"/>
            <a:r>
              <a:rPr lang="zh-CN" altLang="en-US" sz="4000" dirty="0"/>
              <a:t>比最大值大一点</a:t>
            </a:r>
            <a:endParaRPr lang="zh-CN" altLang="en-US" sz="4000" dirty="0"/>
          </a:p>
          <a:p>
            <a:pPr marL="1270000" lvl="2" indent="0">
              <a:buNone/>
            </a:pPr>
            <a:endParaRPr lang="zh-CN" altLang="en-US" sz="40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0069700" y="7166584"/>
            <a:ext cx="12105860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椭圆 18"/>
          <p:cNvSpPr/>
          <p:nvPr/>
        </p:nvSpPr>
        <p:spPr>
          <a:xfrm>
            <a:off x="11477743" y="6997619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9432345" y="7010870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11630144" y="7385247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4" name="文本框 23"/>
          <p:cNvSpPr txBox="1"/>
          <p:nvPr/>
        </p:nvSpPr>
        <p:spPr>
          <a:xfrm>
            <a:off x="10971952" y="8152571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最小值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035900" y="8152571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最大值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max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sym typeface="Helvetica Neue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2007830" y="6990994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12183421" y="6003698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0" name="文本框 29"/>
          <p:cNvSpPr txBox="1"/>
          <p:nvPr/>
        </p:nvSpPr>
        <p:spPr>
          <a:xfrm>
            <a:off x="10881685" y="4974117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比最小值大一点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in+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8938700" y="7024126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19114291" y="6036830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6" name="文本框 35"/>
          <p:cNvSpPr txBox="1"/>
          <p:nvPr/>
        </p:nvSpPr>
        <p:spPr>
          <a:xfrm>
            <a:off x="17812555" y="5007249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比最大值</a:t>
            </a:r>
            <a:r>
              <a:rPr lang="zh-CN" altLang="en-US" dirty="0"/>
              <a:t>小</a:t>
            </a: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max-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5499769" y="6984368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5143083" y="8152571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中间值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15678674" y="7385247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41" name="直接箭头连接符 40"/>
          <p:cNvCxnSpPr/>
          <p:nvPr/>
        </p:nvCxnSpPr>
        <p:spPr>
          <a:xfrm flipV="1">
            <a:off x="19588062" y="7385247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1" name="椭圆 20"/>
          <p:cNvSpPr/>
          <p:nvPr/>
        </p:nvSpPr>
        <p:spPr>
          <a:xfrm>
            <a:off x="10947656" y="6994309"/>
            <a:ext cx="351183" cy="327991"/>
          </a:xfrm>
          <a:prstGeom prst="ellipse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11123247" y="6007013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6" name="文本框 25"/>
          <p:cNvSpPr txBox="1"/>
          <p:nvPr/>
        </p:nvSpPr>
        <p:spPr>
          <a:xfrm>
            <a:off x="9709448" y="5787031"/>
            <a:ext cx="1333698" cy="121058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比最小值</a:t>
            </a:r>
            <a:endParaRPr kumimoji="0" lang="en-US" altLang="zh-CN" sz="2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小一点</a:t>
            </a:r>
            <a:endParaRPr kumimoji="0" lang="en-US" altLang="zh-CN" sz="2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min-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19945860" y="7017502"/>
            <a:ext cx="351183" cy="327991"/>
          </a:xfrm>
          <a:prstGeom prst="ellipse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0121451" y="6030206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3" name="文本框 32"/>
          <p:cNvSpPr txBox="1"/>
          <p:nvPr/>
        </p:nvSpPr>
        <p:spPr>
          <a:xfrm>
            <a:off x="20167825" y="5802277"/>
            <a:ext cx="1333699" cy="121058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比最大值</a:t>
            </a:r>
            <a:endParaRPr kumimoji="0" lang="en-US" altLang="zh-CN" sz="2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大</a:t>
            </a:r>
            <a:r>
              <a:rPr kumimoji="0" lang="zh-CN" alt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一点</a:t>
            </a:r>
            <a:endParaRPr kumimoji="0" lang="en-US" altLang="zh-CN" sz="2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max+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922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1" grpId="0" animBg="1"/>
      <p:bldP spid="26" grpId="0"/>
      <p:bldP spid="31" grpId="0" animBg="1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1639762"/>
            <a:ext cx="20927371" cy="1062965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400" dirty="0"/>
              <a:t>输入：三个整数</a:t>
            </a:r>
            <a:r>
              <a:rPr lang="en-US" altLang="zh-CN" sz="4400" dirty="0"/>
              <a:t>a</a:t>
            </a:r>
            <a:r>
              <a:rPr lang="zh-CN" altLang="en-US" sz="4400" dirty="0"/>
              <a:t>、</a:t>
            </a:r>
            <a:r>
              <a:rPr lang="en-US" altLang="zh-CN" sz="4400" dirty="0"/>
              <a:t>b</a:t>
            </a:r>
            <a:r>
              <a:rPr lang="zh-CN" altLang="en-US" sz="4400" dirty="0"/>
              <a:t>和</a:t>
            </a:r>
            <a:r>
              <a:rPr lang="en-US" altLang="zh-CN" sz="4400" dirty="0"/>
              <a:t>c</a:t>
            </a:r>
            <a:r>
              <a:rPr lang="zh-CN" altLang="en-US" sz="4400" dirty="0"/>
              <a:t>，表示三角形的边。整数</a:t>
            </a:r>
            <a:r>
              <a:rPr lang="en-US" altLang="zh-CN" sz="4400" dirty="0"/>
              <a:t>a</a:t>
            </a:r>
            <a:r>
              <a:rPr lang="zh-CN" altLang="en-US" sz="4400" dirty="0"/>
              <a:t>、</a:t>
            </a:r>
            <a:r>
              <a:rPr lang="en-US" altLang="zh-CN" sz="4400" dirty="0"/>
              <a:t>b</a:t>
            </a:r>
            <a:r>
              <a:rPr lang="zh-CN" altLang="en-US" sz="4400" dirty="0"/>
              <a:t>、</a:t>
            </a:r>
            <a:r>
              <a:rPr lang="en-US" altLang="zh-CN" sz="4400" dirty="0"/>
              <a:t>c</a:t>
            </a:r>
            <a:r>
              <a:rPr lang="zh-CN" altLang="en-US" sz="4400" dirty="0"/>
              <a:t>必须满足以下条件：</a:t>
            </a:r>
            <a:endParaRPr lang="zh-CN" altLang="en-US" sz="4400" dirty="0"/>
          </a:p>
          <a:p>
            <a:pPr lvl="2">
              <a:lnSpc>
                <a:spcPct val="200000"/>
              </a:lnSpc>
            </a:pPr>
            <a:r>
              <a:rPr lang="en-US" altLang="zh-CN" sz="4400" dirty="0"/>
              <a:t>1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 a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200</a:t>
            </a:r>
            <a:endParaRPr lang="en-US" altLang="zh-CN" sz="4400" dirty="0"/>
          </a:p>
          <a:p>
            <a:pPr lvl="2">
              <a:lnSpc>
                <a:spcPct val="200000"/>
              </a:lnSpc>
            </a:pPr>
            <a:r>
              <a:rPr lang="en-US" altLang="zh-CN" sz="4400" dirty="0"/>
              <a:t>1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 b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200</a:t>
            </a:r>
            <a:endParaRPr lang="en-US" altLang="zh-CN" sz="4400" dirty="0"/>
          </a:p>
          <a:p>
            <a:pPr lvl="2">
              <a:lnSpc>
                <a:spcPct val="200000"/>
              </a:lnSpc>
            </a:pPr>
            <a:r>
              <a:rPr lang="en-US" altLang="zh-CN" sz="4400" dirty="0"/>
              <a:t>1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 c</a:t>
            </a:r>
            <a:r>
              <a:rPr lang="en-US" altLang="zh-CN" sz="4400" dirty="0">
                <a:sym typeface="Symbol" panose="05050102010706020507" pitchFamily="18" charset="2"/>
              </a:rPr>
              <a:t></a:t>
            </a:r>
            <a:r>
              <a:rPr lang="en-US" altLang="zh-CN" sz="4400" dirty="0"/>
              <a:t>200</a:t>
            </a:r>
            <a:endParaRPr lang="en-US" altLang="zh-CN" sz="4400" dirty="0"/>
          </a:p>
          <a:p>
            <a:pPr marL="635000" lvl="2">
              <a:lnSpc>
                <a:spcPct val="20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输出：由这三条边确定的三角形类型：等边三角形、等腰三角形、不等边三角形。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400" dirty="0"/>
          </a:p>
        </p:txBody>
      </p:sp>
      <p:sp>
        <p:nvSpPr>
          <p:cNvPr id="3" name="等腰三角形 2"/>
          <p:cNvSpPr/>
          <p:nvPr/>
        </p:nvSpPr>
        <p:spPr>
          <a:xfrm>
            <a:off x="11302178" y="5218548"/>
            <a:ext cx="4263887" cy="2355574"/>
          </a:xfrm>
          <a:prstGeom prst="triangl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712948" y="5934670"/>
            <a:ext cx="43043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5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点式边界值</a:t>
            </a:r>
            <a:endParaRPr lang="en-US" altLang="zh-CN" sz="5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00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graphicFrame>
        <p:nvGraphicFramePr>
          <p:cNvPr id="6" name="Group 534"/>
          <p:cNvGraphicFramePr/>
          <p:nvPr/>
        </p:nvGraphicFramePr>
        <p:xfrm>
          <a:off x="2737970" y="4467787"/>
          <a:ext cx="8806069" cy="6329807"/>
        </p:xfrm>
        <a:graphic>
          <a:graphicData uri="http://schemas.openxmlformats.org/drawingml/2006/table">
            <a:tbl>
              <a:tblPr/>
              <a:tblGrid>
                <a:gridCol w="1321590"/>
                <a:gridCol w="1617164"/>
                <a:gridCol w="1695304"/>
                <a:gridCol w="1695304"/>
                <a:gridCol w="2476707"/>
              </a:tblGrid>
              <a:tr h="560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非法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非法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非法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534"/>
          <p:cNvGraphicFramePr/>
          <p:nvPr/>
        </p:nvGraphicFramePr>
        <p:xfrm>
          <a:off x="12839963" y="4180068"/>
          <a:ext cx="8806069" cy="6905244"/>
        </p:xfrm>
        <a:graphic>
          <a:graphicData uri="http://schemas.openxmlformats.org/drawingml/2006/table">
            <a:tbl>
              <a:tblPr/>
              <a:tblGrid>
                <a:gridCol w="1321590"/>
                <a:gridCol w="1617164"/>
                <a:gridCol w="1695304"/>
                <a:gridCol w="1695304"/>
                <a:gridCol w="2476707"/>
              </a:tblGrid>
              <a:tr h="560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预期输出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非法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非法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等边三角形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等腰三角形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非三角形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非法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9134138" y="2552734"/>
            <a:ext cx="57663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5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点式边界值测试</a:t>
            </a:r>
            <a:endParaRPr lang="en-US" altLang="zh-CN" sz="5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8816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086750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边界值测试</a:t>
            </a:r>
            <a:r>
              <a:rPr lang="en-US" altLang="zh-CN" dirty="0"/>
              <a:t>-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81200" y="4450856"/>
            <a:ext cx="168554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边界值测试：针对各种边界情况设计测试用例 </a:t>
            </a:r>
            <a:endParaRPr lang="zh-CN" altLang="en-US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2948" y="6350168"/>
            <a:ext cx="103733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可以采用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点式边界值测试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25534" y="8249480"/>
            <a:ext cx="17322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也可以采用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点式边界值测试，测试无效输入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6504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等价类边界值测试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257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36615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2536539"/>
            <a:ext cx="18590941" cy="634492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5400" b="1" dirty="0"/>
              <a:t>等价类划分方法</a:t>
            </a:r>
            <a:endParaRPr lang="en-US" altLang="zh-CN" sz="5400" dirty="0"/>
          </a:p>
          <a:p>
            <a:pPr lvl="2" algn="just"/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把所有可能的输入数据划分成若干部分（等价类），然后从每一部分中选取少数有代表性的数据作为测试用例。</a:t>
            </a:r>
            <a:endParaRPr lang="en-US" altLang="zh-CN" sz="5400" dirty="0"/>
          </a:p>
          <a:p>
            <a:pPr lvl="2" algn="just"/>
            <a:endParaRPr lang="zh-CN" altLang="en-US" sz="6000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33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121761"/>
            <a:ext cx="18239741" cy="85712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根据给定体重，确定体型。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100kg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以上：肥胖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70-100kg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：正常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70kg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以下：苗条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sz="5400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36615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9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411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1639762"/>
            <a:ext cx="6206191" cy="9499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有效等价类</a:t>
            </a:r>
            <a:endParaRPr lang="en-US" altLang="zh-CN" dirty="0"/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(100,∝]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[70,100]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[1,70)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2">
              <a:lnSpc>
                <a:spcPct val="20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无效等价类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[-∝,0]</a:t>
            </a:r>
            <a:endParaRPr lang="en-US" altLang="zh-CN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36615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9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208993" y="2121761"/>
            <a:ext cx="10610924" cy="939358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根据给定体重，确定体型。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100kg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以上：肥胖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70-100kg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：正常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70kg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以下：苗条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sz="36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69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36615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9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121761"/>
            <a:ext cx="13731340" cy="949187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dirty="0"/>
              <a:t>测试用例选择</a:t>
            </a:r>
            <a:endParaRPr lang="en-US" altLang="zh-CN" dirty="0"/>
          </a:p>
          <a:p>
            <a:pPr lvl="2" algn="just"/>
            <a:r>
              <a:rPr lang="zh-CN" altLang="en-US" sz="4800" dirty="0"/>
              <a:t>设计一个测试用例，尽可能多地覆盖尚未覆盖的有效等价类。重复这个步骤直到覆盖所有有效等价类为止；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设计一个测试用例，尽可能少地覆盖尚未被覆盖的无效等价类（大于等于一）。重复这个步骤，直到所有无效等价类都被覆盖为止。</a:t>
            </a:r>
            <a:endParaRPr lang="zh-CN" altLang="en-US" sz="48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7674365" y="3961516"/>
            <a:ext cx="4317757" cy="6245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有效等价类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(100,∝]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[70,100]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[1,70)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2">
              <a:lnSpc>
                <a:spcPct val="20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无效等价类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[-∝,0]</a:t>
            </a:r>
            <a:endParaRPr lang="en-US" altLang="zh-CN" sz="40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15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7966474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737970" y="3405961"/>
            <a:ext cx="8465841" cy="6202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endParaRPr lang="en-US" altLang="zh-CN" sz="4000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697329" y="1769964"/>
            <a:ext cx="8465841" cy="82650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 120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B: 85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 65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D: -20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0411099" y="2812858"/>
            <a:ext cx="4902922" cy="6245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有效等价类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 (100,∝]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B: [70,100]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 [1,70)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2">
              <a:lnSpc>
                <a:spcPct val="20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无效等价类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D: [-∝,0]</a:t>
            </a:r>
            <a:endParaRPr lang="en-US" altLang="zh-CN" sz="4000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207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679365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129394"/>
            <a:ext cx="7349988" cy="847398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输入范围：</a:t>
            </a:r>
            <a:r>
              <a:rPr lang="en-US" altLang="zh-CN" sz="4800" b="1" dirty="0"/>
              <a:t>[min, max]</a:t>
            </a:r>
            <a:endParaRPr lang="en-US" altLang="zh-CN" sz="4800" b="1" dirty="0"/>
          </a:p>
          <a:p>
            <a:r>
              <a:rPr lang="zh-CN" altLang="en-US" sz="4800" b="1" dirty="0"/>
              <a:t>边界值：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最小值</a:t>
            </a:r>
            <a:endParaRPr lang="en-US" altLang="zh-CN" sz="4800" dirty="0"/>
          </a:p>
          <a:p>
            <a:pPr lvl="2"/>
            <a:r>
              <a:rPr lang="zh-CN" altLang="en-US" sz="4800" dirty="0"/>
              <a:t>最大值</a:t>
            </a:r>
            <a:endParaRPr lang="en-US" altLang="zh-CN" sz="4800" dirty="0"/>
          </a:p>
          <a:p>
            <a:pPr lvl="2"/>
            <a:r>
              <a:rPr lang="zh-CN" altLang="en-US" sz="4800" dirty="0"/>
              <a:t>中间值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比最小值大一点</a:t>
            </a:r>
            <a:endParaRPr lang="en-US" altLang="zh-CN" sz="4800" dirty="0"/>
          </a:p>
          <a:p>
            <a:pPr lvl="2"/>
            <a:r>
              <a:rPr lang="zh-CN" altLang="en-US" sz="4800" dirty="0"/>
              <a:t>比最大值小一点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0807370" y="7058999"/>
            <a:ext cx="11415090" cy="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椭圆 18"/>
          <p:cNvSpPr/>
          <p:nvPr/>
        </p:nvSpPr>
        <p:spPr>
          <a:xfrm>
            <a:off x="12215413" y="6890034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0170015" y="6903285"/>
            <a:ext cx="351183" cy="32799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12367814" y="727766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4" name="文本框 23"/>
          <p:cNvSpPr txBox="1"/>
          <p:nvPr/>
        </p:nvSpPr>
        <p:spPr>
          <a:xfrm>
            <a:off x="11709622" y="804498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最小值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773570" y="804498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A2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最大值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00A2FF"/>
                </a:solidFill>
              </a:rPr>
              <a:t>max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A2FF"/>
              </a:solidFill>
              <a:effectLst/>
              <a:uFillTx/>
              <a:sym typeface="Helvetica Neue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2745500" y="6883409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12921091" y="5896113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0" name="文本框 29"/>
          <p:cNvSpPr txBox="1"/>
          <p:nvPr/>
        </p:nvSpPr>
        <p:spPr>
          <a:xfrm>
            <a:off x="11619355" y="4866532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比最小值大一点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in+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9676370" y="6916541"/>
            <a:ext cx="351183" cy="327991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19851961" y="5929245"/>
            <a:ext cx="0" cy="88417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6" name="文本框 35"/>
          <p:cNvSpPr txBox="1"/>
          <p:nvPr/>
        </p:nvSpPr>
        <p:spPr>
          <a:xfrm>
            <a:off x="18550225" y="4899664"/>
            <a:ext cx="2795637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比最大值</a:t>
            </a:r>
            <a:r>
              <a:rPr lang="zh-CN" altLang="en-US" dirty="0"/>
              <a:t>小</a:t>
            </a: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一点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max-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6237439" y="6876783"/>
            <a:ext cx="351183" cy="327991"/>
          </a:xfrm>
          <a:prstGeom prst="ellipse">
            <a:avLst/>
          </a:prstGeom>
          <a:solidFill>
            <a:srgbClr val="FF00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5880753" y="8044986"/>
            <a:ext cx="1256754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中间值</a:t>
            </a:r>
            <a:endParaRPr kumimoji="0" lang="en-US" altLang="zh-CN" sz="3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kumimoji="0" lang="en-US" altLang="zh-CN" sz="3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16416344" y="727766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41" name="直接箭头连接符 40"/>
          <p:cNvCxnSpPr/>
          <p:nvPr/>
        </p:nvCxnSpPr>
        <p:spPr>
          <a:xfrm flipV="1">
            <a:off x="20325732" y="7277662"/>
            <a:ext cx="0" cy="78518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95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7966474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737970" y="3405961"/>
            <a:ext cx="8465841" cy="6202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endParaRPr lang="en-US" altLang="zh-CN" sz="400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7366513" y="3735456"/>
            <a:ext cx="4902922" cy="6245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有效等价类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 (100,∝]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B: [70,100]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 [1,70)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2">
              <a:lnSpc>
                <a:spcPct val="20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无效等价类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D: [-∝,0]</a:t>
            </a:r>
            <a:endParaRPr lang="en-US" altLang="zh-CN" sz="40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114565" y="5307069"/>
          <a:ext cx="13803243" cy="327793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96165"/>
                <a:gridCol w="2236304"/>
                <a:gridCol w="2623931"/>
                <a:gridCol w="3011556"/>
                <a:gridCol w="2364224"/>
                <a:gridCol w="1671063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等价类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最小值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比最小值稍大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正常值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比最大值稍小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最大值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A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102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255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Max int-1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Max int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B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70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71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85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99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C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35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68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69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D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Min int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Min int +1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-100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-1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20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7966474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7145383" y="2453754"/>
            <a:ext cx="4902922" cy="6245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有效等价类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 (100,∝]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B: [70,100]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 [1,70)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2">
              <a:lnSpc>
                <a:spcPct val="200000"/>
              </a:lnSpc>
              <a:buSzTx/>
              <a:buFont typeface="Wingdings" panose="05000000000000000000" pitchFamily="2" charset="2"/>
              <a:buChar char="n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无效等价类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D: [-∝,0]</a:t>
            </a:r>
            <a:endParaRPr lang="en-US" altLang="zh-CN" sz="40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084748" y="3229189"/>
          <a:ext cx="13803243" cy="327793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96165"/>
                <a:gridCol w="2236304"/>
                <a:gridCol w="2623931"/>
                <a:gridCol w="3011556"/>
                <a:gridCol w="2364224"/>
                <a:gridCol w="1671063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等价类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最小值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比最小值稍大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正常值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比最大值稍小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最大值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A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102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255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Max int-1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Max int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B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70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71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85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99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C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35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68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69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D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Min int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Min int +1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-100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-1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084748" y="6024880"/>
            <a:ext cx="10518070" cy="591378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</a:t>
            </a:r>
            <a:endParaRPr lang="en-US" altLang="zh-CN" sz="3600" dirty="0"/>
          </a:p>
          <a:p>
            <a:pPr lvl="2"/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D: Min int, Min int+1, -100, -1, 0,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 1, 2, 35, 68, 79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B: 70, 71, 85, 99, 100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 101, 102, 200, Max int -1, max int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6111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646699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5768499"/>
            <a:ext cx="10882355" cy="686863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根据年龄、性别、婚姻状况等计算绩点。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zh-CN" altLang="en-US" sz="4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根据绩点进行退税</a:t>
            </a:r>
            <a:endParaRPr lang="en-US" altLang="zh-CN" sz="4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sz="5400" dirty="0"/>
          </a:p>
        </p:txBody>
      </p:sp>
      <p:graphicFrame>
        <p:nvGraphicFramePr>
          <p:cNvPr id="7" name="Group 4"/>
          <p:cNvGraphicFramePr/>
          <p:nvPr/>
        </p:nvGraphicFramePr>
        <p:xfrm>
          <a:off x="13858110" y="2328530"/>
          <a:ext cx="8181290" cy="9058939"/>
        </p:xfrm>
        <a:graphic>
          <a:graphicData uri="http://schemas.openxmlformats.org/drawingml/2006/table">
            <a:tbl>
              <a:tblPr/>
              <a:tblGrid>
                <a:gridCol w="2109700"/>
                <a:gridCol w="3378621"/>
                <a:gridCol w="2692969"/>
              </a:tblGrid>
              <a:tr h="1385484">
                <a:tc rowSpan="3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439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813925" y="3933150"/>
            <a:ext cx="676339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多个输入变量的情况</a:t>
            </a:r>
            <a:endParaRPr lang="en-US" altLang="zh-CN" sz="5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03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96"/>
          <p:cNvGraphicFramePr>
            <a:graphicFrameLocks noGrp="1"/>
          </p:cNvGraphicFramePr>
          <p:nvPr/>
        </p:nvGraphicFramePr>
        <p:xfrm>
          <a:off x="1723908" y="3003799"/>
          <a:ext cx="10196144" cy="5721786"/>
        </p:xfrm>
        <a:graphic>
          <a:graphicData uri="http://schemas.openxmlformats.org/drawingml/2006/table">
            <a:tbl>
              <a:tblPr/>
              <a:tblGrid>
                <a:gridCol w="1647567"/>
                <a:gridCol w="2513144"/>
                <a:gridCol w="6035433"/>
              </a:tblGrid>
              <a:tr h="507113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数字范围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A: 20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B: 40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C: 60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岁以上，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D: 20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岁以下，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E: 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F: 150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64"/>
          <p:cNvGraphicFramePr/>
          <p:nvPr/>
        </p:nvGraphicFramePr>
        <p:xfrm>
          <a:off x="12484277" y="3412441"/>
          <a:ext cx="10037135" cy="4904502"/>
        </p:xfrm>
        <a:graphic>
          <a:graphicData uri="http://schemas.openxmlformats.org/drawingml/2006/table">
            <a:tbl>
              <a:tblPr/>
              <a:tblGrid>
                <a:gridCol w="1555997"/>
                <a:gridCol w="3005370"/>
                <a:gridCol w="5475768"/>
              </a:tblGrid>
              <a:tr h="44767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G: 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H: 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I: 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非「男」或「女」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Helvetica Neue Light"/>
                        </a:rPr>
                        <a:t>J: </a:t>
                      </a:r>
                      <a:r>
                        <a:rPr kumimoji="0" lang="zh-CN" altLang="en-US" sz="3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Helvetica Neue Light"/>
                        </a:rPr>
                        <a:t>已婚</a:t>
                      </a:r>
                      <a:endParaRPr kumimoji="0" lang="zh-CN" altLang="en-US" sz="3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K: 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L: 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非「已婚」或「未婚」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等价类测试案例</a:t>
            </a:r>
            <a:endParaRPr lang="zh-CN" altLang="en-US" dirty="0"/>
          </a:p>
        </p:txBody>
      </p:sp>
      <p:sp>
        <p:nvSpPr>
          <p:cNvPr id="12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018430" y="9215946"/>
          <a:ext cx="13803243" cy="327933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96165"/>
                <a:gridCol w="2236304"/>
                <a:gridCol w="2623931"/>
                <a:gridCol w="3011556"/>
                <a:gridCol w="2364224"/>
                <a:gridCol w="1671063"/>
              </a:tblGrid>
              <a:tr h="41570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等价类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最小值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最小值稍大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正常值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最大值稍小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最大值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A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30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255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38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39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B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40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41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50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58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59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C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150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D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18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96"/>
          <p:cNvGraphicFramePr>
            <a:graphicFrameLocks noGrp="1"/>
          </p:cNvGraphicFramePr>
          <p:nvPr/>
        </p:nvGraphicFramePr>
        <p:xfrm>
          <a:off x="16651068" y="1078867"/>
          <a:ext cx="6102609" cy="3549791"/>
        </p:xfrm>
        <a:graphic>
          <a:graphicData uri="http://schemas.openxmlformats.org/drawingml/2006/table">
            <a:tbl>
              <a:tblPr/>
              <a:tblGrid>
                <a:gridCol w="986104"/>
                <a:gridCol w="1788513"/>
                <a:gridCol w="3327992"/>
              </a:tblGrid>
              <a:tr h="507113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数字范围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64"/>
          <p:cNvGraphicFramePr/>
          <p:nvPr/>
        </p:nvGraphicFramePr>
        <p:xfrm>
          <a:off x="16651068" y="4919081"/>
          <a:ext cx="6145137" cy="2968638"/>
        </p:xfrm>
        <a:graphic>
          <a:graphicData uri="http://schemas.openxmlformats.org/drawingml/2006/table">
            <a:tbl>
              <a:tblPr/>
              <a:tblGrid>
                <a:gridCol w="988346"/>
                <a:gridCol w="1796902"/>
                <a:gridCol w="3359889"/>
              </a:tblGrid>
              <a:tr h="44767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非「男」或「女」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Helvetica Neue Light"/>
                        </a:rPr>
                        <a:t>已婚</a:t>
                      </a:r>
                      <a:endParaRPr kumimoji="0" lang="zh-CN" altLang="en-US" sz="20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非「已婚」或「未婚」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2092077" y="7116033"/>
            <a:ext cx="10261091" cy="530963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</a:t>
            </a:r>
            <a:endParaRPr lang="en-US" altLang="zh-CN" sz="3600" dirty="0"/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=20,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=40,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=60,</a:t>
            </a:r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3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=2,  </a:t>
            </a:r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36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36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085623" y="1441732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961577" y="4764589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142330" y="6225921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099798" y="1934376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00A2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00A2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0975752" y="5257233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00A2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00A2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156505" y="6728725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00A2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00A2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2155965" y="2453485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7030A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7030A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138243" y="2969754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chemeClr val="accent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chemeClr val="accent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等价类测试案例</a:t>
            </a:r>
            <a:endParaRPr lang="zh-CN" altLang="en-US" dirty="0"/>
          </a:p>
        </p:txBody>
      </p:sp>
      <p:sp>
        <p:nvSpPr>
          <p:cNvPr id="21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2338343" y="2989627"/>
          <a:ext cx="13803243" cy="327933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96165"/>
                <a:gridCol w="2236304"/>
                <a:gridCol w="2623931"/>
                <a:gridCol w="3011556"/>
                <a:gridCol w="2364224"/>
                <a:gridCol w="1671063"/>
              </a:tblGrid>
              <a:tr h="41570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等价类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最小值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最小值稍大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正常值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最大值稍小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800" dirty="0"/>
                        <a:t>最大值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A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30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255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38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39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B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40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41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50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58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59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C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150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D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2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10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dirty="0"/>
                        <a:t>18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altLang="en-US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11011040" y="7436611"/>
            <a:ext cx="10261091" cy="504952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</a:t>
            </a:r>
            <a:endParaRPr lang="en-US" altLang="zh-CN" sz="3600" dirty="0"/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=21,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=30,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=38,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=39,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36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36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3600" dirty="0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2090632" y="11167210"/>
            <a:ext cx="10261091" cy="218049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</a:t>
            </a:r>
            <a:endParaRPr lang="en-US" altLang="zh-CN" sz="3600" dirty="0"/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=-1,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ransition spd="med" advTm="29914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646699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graphicFrame>
        <p:nvGraphicFramePr>
          <p:cNvPr id="7" name="Group 4"/>
          <p:cNvGraphicFramePr/>
          <p:nvPr/>
        </p:nvGraphicFramePr>
        <p:xfrm>
          <a:off x="14879578" y="2328530"/>
          <a:ext cx="8181290" cy="9058939"/>
        </p:xfrm>
        <a:graphic>
          <a:graphicData uri="http://schemas.openxmlformats.org/drawingml/2006/table">
            <a:tbl>
              <a:tblPr/>
              <a:tblGrid>
                <a:gridCol w="2109700"/>
                <a:gridCol w="3378621"/>
                <a:gridCol w="2692969"/>
              </a:tblGrid>
              <a:tr h="1385484">
                <a:tc rowSpan="3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439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670628" y="3007232"/>
            <a:ext cx="822533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多个连续输入变量的情况</a:t>
            </a:r>
            <a:endParaRPr lang="en-US" altLang="zh-CN" sz="5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07231" y="4816034"/>
          <a:ext cx="8181290" cy="8099756"/>
        </p:xfrm>
        <a:graphic>
          <a:graphicData uri="http://schemas.openxmlformats.org/drawingml/2006/table">
            <a:tbl>
              <a:tblPr/>
              <a:tblGrid>
                <a:gridCol w="2109700"/>
                <a:gridCol w="3378621"/>
                <a:gridCol w="2692969"/>
              </a:tblGrid>
              <a:tr h="1385484">
                <a:tc rowSpan="4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养育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小孩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439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2-5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4394">
                <a:tc vMerge="1"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5+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med" advTm="1403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646699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等价类边界值测试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graphicFrame>
        <p:nvGraphicFramePr>
          <p:cNvPr id="7" name="Group 4"/>
          <p:cNvGraphicFramePr/>
          <p:nvPr/>
        </p:nvGraphicFramePr>
        <p:xfrm>
          <a:off x="14879578" y="2328530"/>
          <a:ext cx="8181290" cy="9058939"/>
        </p:xfrm>
        <a:graphic>
          <a:graphicData uri="http://schemas.openxmlformats.org/drawingml/2006/table">
            <a:tbl>
              <a:tblPr/>
              <a:tblGrid>
                <a:gridCol w="2109700"/>
                <a:gridCol w="3378621"/>
                <a:gridCol w="2692969"/>
              </a:tblGrid>
              <a:tr h="1385484">
                <a:tc rowSpan="3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439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670628" y="3007232"/>
            <a:ext cx="822533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多个连续输入变量的情况</a:t>
            </a:r>
            <a:endParaRPr lang="en-US" altLang="zh-CN" sz="54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68489" y="4661358"/>
          <a:ext cx="8181290" cy="4393281"/>
        </p:xfrm>
        <a:graphic>
          <a:graphicData uri="http://schemas.openxmlformats.org/drawingml/2006/table">
            <a:tbl>
              <a:tblPr/>
              <a:tblGrid>
                <a:gridCol w="2109700"/>
                <a:gridCol w="3378621"/>
                <a:gridCol w="2692969"/>
              </a:tblGrid>
              <a:tr h="862440">
                <a:tc rowSpan="4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养育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小孩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2440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986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2-5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8539">
                <a:tc vMerge="1"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5+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93822" y="9942303"/>
            <a:ext cx="78021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等价类优先，边界值辅助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spd="med" advTm="1403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539630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等价类边界值测试</a:t>
            </a:r>
            <a:r>
              <a:rPr lang="en-US" altLang="zh-CN" dirty="0"/>
              <a:t>-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23908" y="3972271"/>
            <a:ext cx="209092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等价类边界值测试方法是结合等价类和边界值的测试方法 </a:t>
            </a:r>
            <a:endParaRPr lang="zh-CN" altLang="en-US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87520" y="6061141"/>
            <a:ext cx="135229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每个等价类的边界值都应该予以覆盖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899668" y="8150011"/>
            <a:ext cx="16733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测试充分性优于等价类测试和边界值测试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2918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边界值测试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等价类边界值测试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小结</a:t>
            </a:r>
            <a:endParaRPr sz="4400" b="1" dirty="0">
              <a:solidFill>
                <a:srgbClr val="FF0000"/>
              </a:solidFill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205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539630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等价类边界值测试</a:t>
            </a:r>
            <a:r>
              <a:rPr lang="en-US" altLang="zh-CN" dirty="0"/>
              <a:t>-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37360" y="4038208"/>
            <a:ext cx="209092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边界值测试：针对各种边界情况设计测试用例 </a:t>
            </a:r>
            <a:endParaRPr lang="zh-CN" altLang="en-US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07029" y="9030400"/>
            <a:ext cx="195681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等价类边界值测试方法是结合等价类和边界值的测试方法 </a:t>
            </a:r>
            <a:endParaRPr lang="zh-CN" altLang="en-US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25240" y="6462486"/>
            <a:ext cx="16733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可以采用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点或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点式边界值测试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63300" y="131953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 advTm="480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TIMING" val="|67.4|3.7"/>
</p:tagLst>
</file>

<file path=ppt/tags/tag2.xml><?xml version="1.0" encoding="utf-8"?>
<p:tagLst xmlns:p="http://schemas.openxmlformats.org/presentationml/2006/main">
  <p:tag name="TIMING" val="|56.5|7.6|14.2|9.9|16.8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0.2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3.9"/>
</p:tagLst>
</file>

<file path=ppt/tags/tag7.xml><?xml version="1.0" encoding="utf-8"?>
<p:tagLst xmlns:p="http://schemas.openxmlformats.org/presentationml/2006/main">
  <p:tag name="TIMING" val="|0.2"/>
</p:tagLst>
</file>

<file path=ppt/tags/tag8.xml><?xml version="1.0" encoding="utf-8"?>
<p:tagLst xmlns:p="http://schemas.openxmlformats.org/presentationml/2006/main">
  <p:tag name="TIMING" val="|0.2"/>
</p:tagLst>
</file>

<file path=ppt/tags/tag9.xml><?xml version="1.0" encoding="utf-8"?>
<p:tagLst xmlns:p="http://schemas.openxmlformats.org/presentationml/2006/main">
  <p:tag name="TIMING" val="|0.2"/>
</p:tagLst>
</file>

<file path=ppt/tags/tag10.xml><?xml version="1.0" encoding="utf-8"?>
<p:tagLst xmlns:p="http://schemas.openxmlformats.org/presentationml/2006/main">
  <p:tag name="TIMING" val="|48.5|101.7"/>
</p:tagLst>
</file>

<file path=ppt/tags/tag11.xml><?xml version="1.0" encoding="utf-8"?>
<p:tagLst xmlns:p="http://schemas.openxmlformats.org/presentationml/2006/main">
  <p:tag name="TIMING" val="|22.8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TIMING" val="|0.2"/>
</p:tagLst>
</file>

<file path=ppt/tags/tag14.xml><?xml version="1.0" encoding="utf-8"?>
<p:tagLst xmlns:p="http://schemas.openxmlformats.org/presentationml/2006/main">
  <p:tag name="TIMING" val="|0.2"/>
</p:tagLst>
</file>

<file path=ppt/tags/tag15.xml><?xml version="1.0" encoding="utf-8"?>
<p:tagLst xmlns:p="http://schemas.openxmlformats.org/presentationml/2006/main">
  <p:tag name="TIMING" val="|0.2"/>
</p:tagLst>
</file>

<file path=ppt/tags/tag16.xml><?xml version="1.0" encoding="utf-8"?>
<p:tagLst xmlns:p="http://schemas.openxmlformats.org/presentationml/2006/main">
  <p:tag name="TIMING" val="|0.2"/>
</p:tagLst>
</file>

<file path=ppt/tags/tag17.xml><?xml version="1.0" encoding="utf-8"?>
<p:tagLst xmlns:p="http://schemas.openxmlformats.org/presentationml/2006/main">
  <p:tag name="TIMING" val="|30.8|17|9.8|27.5"/>
</p:tagLst>
</file>

<file path=ppt/tags/tag18.xml><?xml version="1.0" encoding="utf-8"?>
<p:tagLst xmlns:p="http://schemas.openxmlformats.org/presentationml/2006/main">
  <p:tag name="TIMING" val="|0.2"/>
</p:tagLst>
</file>

<file path=ppt/tags/tag19.xml><?xml version="1.0" encoding="utf-8"?>
<p:tagLst xmlns:p="http://schemas.openxmlformats.org/presentationml/2006/main">
  <p:tag name="TIMING" val="|0.2"/>
</p:tagLst>
</file>

<file path=ppt/tags/tag20.xml><?xml version="1.0" encoding="utf-8"?>
<p:tagLst xmlns:p="http://schemas.openxmlformats.org/presentationml/2006/main">
  <p:tag name="TIMING" val="|17.5|17|8.4|3.2"/>
</p:tagLst>
</file>

<file path=ppt/tags/tag21.xml><?xml version="1.0" encoding="utf-8"?>
<p:tagLst xmlns:p="http://schemas.openxmlformats.org/presentationml/2006/main">
  <p:tag name="TIMING" val="|0.2"/>
</p:tagLst>
</file>

<file path=ppt/tags/tag22.xml><?xml version="1.0" encoding="utf-8"?>
<p:tagLst xmlns:p="http://schemas.openxmlformats.org/presentationml/2006/main">
  <p:tag name="TIMING" val="|0.2"/>
</p:tagLst>
</file>

<file path=ppt/tags/tag23.xml><?xml version="1.0" encoding="utf-8"?>
<p:tagLst xmlns:p="http://schemas.openxmlformats.org/presentationml/2006/main">
  <p:tag name="TIMING" val="|70.5|7.5|82.1|33.5|54.8|15.3|4.8|4"/>
</p:tagLst>
</file>

<file path=ppt/tags/tag24.xml><?xml version="1.0" encoding="utf-8"?>
<p:tagLst xmlns:p="http://schemas.openxmlformats.org/presentationml/2006/main">
  <p:tag name="TIMING" val="|0.2"/>
</p:tagLst>
</file>

<file path=ppt/tags/tag25.xml><?xml version="1.0" encoding="utf-8"?>
<p:tagLst xmlns:p="http://schemas.openxmlformats.org/presentationml/2006/main">
  <p:tag name="TIMING" val="|0.2"/>
</p:tagLst>
</file>

<file path=ppt/tags/tag26.xml><?xml version="1.0" encoding="utf-8"?>
<p:tagLst xmlns:p="http://schemas.openxmlformats.org/presentationml/2006/main">
  <p:tag name="COMMONDATA" val="eyJoZGlkIjoiN2RjMzk0Mzc2NzY3NGE0YmI3MDJiMTlmNzE2MWFmNDcifQ=="/>
  <p:tag name="commondata" val="eyJoZGlkIjoiNWY4NzZjZjg1ZDI5N2JhZWU3ZjVjZDU2NTU1Y2E1MTU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4032</Words>
  <Application>WPS 演示</Application>
  <PresentationFormat>Custom</PresentationFormat>
  <Paragraphs>1657</Paragraphs>
  <Slides>34</Slides>
  <Notes>35</Notes>
  <HiddenSlides>0</HiddenSlides>
  <MMClips>33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2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AMGDT</vt:lpstr>
      <vt:lpstr>Arial Black</vt:lpstr>
      <vt:lpstr>Times New Roman</vt:lpstr>
      <vt:lpstr>Arial Unicode MS</vt:lpstr>
      <vt:lpstr>Symbol</vt:lpstr>
      <vt:lpstr>隶书</vt:lpstr>
      <vt:lpstr>White</vt:lpstr>
      <vt:lpstr>PowerPoint 演示文稿</vt:lpstr>
      <vt:lpstr>PowerPoint 演示文稿</vt:lpstr>
      <vt:lpstr>PowerPoint 演示文稿</vt:lpstr>
      <vt:lpstr>边界值</vt:lpstr>
      <vt:lpstr>边界值</vt:lpstr>
      <vt:lpstr>边界值</vt:lpstr>
      <vt:lpstr>边界值</vt:lpstr>
      <vt:lpstr>边界值</vt:lpstr>
      <vt:lpstr>PowerPoint 演示文稿</vt:lpstr>
      <vt:lpstr>边界值测试</vt:lpstr>
      <vt:lpstr>边界值测试</vt:lpstr>
      <vt:lpstr>边界值测试</vt:lpstr>
      <vt:lpstr>边界值测试</vt:lpstr>
      <vt:lpstr>边界值测试</vt:lpstr>
      <vt:lpstr>边界值测试</vt:lpstr>
      <vt:lpstr>边界值测试</vt:lpstr>
      <vt:lpstr>边界值测试-小结</vt:lpstr>
      <vt:lpstr>PowerPoint 演示文稿</vt:lpstr>
      <vt:lpstr>等价类边界值测试</vt:lpstr>
      <vt:lpstr>等价类边界值测试</vt:lpstr>
      <vt:lpstr>等价类边界值测试</vt:lpstr>
      <vt:lpstr>等价类边界值测试</vt:lpstr>
      <vt:lpstr>等价类边界值测试</vt:lpstr>
      <vt:lpstr>等价类边界值测试</vt:lpstr>
      <vt:lpstr>等价类边界值测试</vt:lpstr>
      <vt:lpstr>等价类边界值测试</vt:lpstr>
      <vt:lpstr>等价类边界值测试</vt:lpstr>
      <vt:lpstr>等价类测试案例</vt:lpstr>
      <vt:lpstr>等价类测试案例</vt:lpstr>
      <vt:lpstr>等价类边界值测试</vt:lpstr>
      <vt:lpstr>等价类边界值测试</vt:lpstr>
      <vt:lpstr>等价类边界值测试-小结</vt:lpstr>
      <vt:lpstr>PowerPoint 演示文稿</vt:lpstr>
      <vt:lpstr>等价类边界值测试-小结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341</cp:revision>
  <cp:lastPrinted>2020-08-18T05:14:00Z</cp:lastPrinted>
  <dcterms:created xsi:type="dcterms:W3CDTF">2019-05-10T09:49:00Z</dcterms:created>
  <dcterms:modified xsi:type="dcterms:W3CDTF">2023-10-14T04:28:12Z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0AA89CB7E41E46B5A78AEE040D26E3FE_12</vt:lpwstr>
  </property>
</Properties>
</file>