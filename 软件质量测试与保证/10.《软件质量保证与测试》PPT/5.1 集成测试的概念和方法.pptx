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drawings/vmlDrawing1.vml" ContentType="application/vnd.openxmlformats-officedocument.vmlDrawing"/>
  <Override PartName="/ppt/drawings/vmlDrawing2.vml" ContentType="application/vnd.openxmlformats-officedocument.vmlDrawing"/>
  <Override PartName="/ppt/drawings/vmlDrawing3.vml" ContentType="application/vnd.openxmlformats-officedocument.vmlDrawing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32"/>
  </p:handoutMasterIdLst>
  <p:sldIdLst>
    <p:sldId id="256" r:id="rId3"/>
    <p:sldId id="294" r:id="rId5"/>
    <p:sldId id="702" r:id="rId6"/>
    <p:sldId id="325" r:id="rId7"/>
    <p:sldId id="706" r:id="rId8"/>
    <p:sldId id="712" r:id="rId9"/>
    <p:sldId id="707" r:id="rId10"/>
    <p:sldId id="708" r:id="rId11"/>
    <p:sldId id="709" r:id="rId12"/>
    <p:sldId id="710" r:id="rId13"/>
    <p:sldId id="711" r:id="rId14"/>
    <p:sldId id="703" r:id="rId15"/>
    <p:sldId id="713" r:id="rId16"/>
    <p:sldId id="714" r:id="rId17"/>
    <p:sldId id="715" r:id="rId18"/>
    <p:sldId id="716" r:id="rId19"/>
    <p:sldId id="717" r:id="rId20"/>
    <p:sldId id="718" r:id="rId21"/>
    <p:sldId id="719" r:id="rId22"/>
    <p:sldId id="720" r:id="rId23"/>
    <p:sldId id="721" r:id="rId24"/>
    <p:sldId id="722" r:id="rId25"/>
    <p:sldId id="723" r:id="rId26"/>
    <p:sldId id="724" r:id="rId27"/>
    <p:sldId id="725" r:id="rId28"/>
    <p:sldId id="704" r:id="rId29"/>
    <p:sldId id="624" r:id="rId30"/>
    <p:sldId id="698" r:id="rId31"/>
  </p:sldIdLst>
  <p:sldSz cx="24384000" cy="13716000"/>
  <p:notesSz cx="7099300" cy="10234295"/>
  <p:custDataLst>
    <p:tags r:id="rId37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u jiamin" initials="lj" lastIdx="39" clrIdx="0"/>
  <p:cmAuthor id="2" name="li weiyong" initials="lw" lastIdx="2" clrIdx="1"/>
  <p:cmAuthor id="3" name="Jiang, Yanjie" initials="JY" lastIdx="3" clrIdx="2"/>
  <p:cmAuthor id="4" name="Microsoft Office User" initials="MOU" lastIdx="1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00"/>
    <a:srgbClr val="00A2FF"/>
    <a:srgbClr val="FF3300"/>
    <a:srgbClr val="FBED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48" autoAdjust="0"/>
    <p:restoredTop sz="96274" autoAdjust="0"/>
  </p:normalViewPr>
  <p:slideViewPr>
    <p:cSldViewPr snapToGrid="0">
      <p:cViewPr varScale="1">
        <p:scale>
          <a:sx n="46" d="100"/>
          <a:sy n="46" d="100"/>
        </p:scale>
        <p:origin x="712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5" d="100"/>
          <a:sy n="55" d="100"/>
        </p:scale>
        <p:origin x="2880" y="8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handoutMaster" Target="handoutMasters/handout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ableStyles" Target="tableStyles.xml"/><Relationship Id="rId36" Type="http://schemas.openxmlformats.org/officeDocument/2006/relationships/commentAuthors" Target="commentAuthors.xml"/><Relationship Id="rId37" Type="http://schemas.openxmlformats.org/officeDocument/2006/relationships/tags" Target="tags/tag22.xml"/></Relationships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'1.0' encoding='UTF-8' standalone='yes'?>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'1.0' encoding='UTF-8' standalone='yes'?>
<Relationships xmlns="http://schemas.openxmlformats.org/package/2006/relationships"><Relationship Id="rId1" Type="http://schemas.openxmlformats.org/officeDocument/2006/relationships/image" Target="../media/image6.wmf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73167F-A315-463C-854D-5832BFB9F14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EDDE74-10D5-4A7E-A68A-C1E3935360A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119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  <a:prstGeom prst="rect">
            <a:avLst/>
          </a:prstGeom>
        </p:spPr>
        <p:txBody>
          <a:bodyPr lIns="94759" tIns="47380" rIns="94759" bIns="47380"/>
          <a:lstStyle/>
          <a:p/>
        </p:txBody>
      </p:sp>
      <p:sp>
        <p:nvSpPr>
          <p:cNvPr id="120" name="Shape 120"/>
          <p:cNvSpPr>
            <a:spLocks noGrp="1"/>
          </p:cNvSpPr>
          <p:nvPr>
            <p:ph type="body" sz="quarter" idx="1"/>
          </p:nvPr>
        </p:nvSpPr>
        <p:spPr>
          <a:xfrm>
            <a:off x="946574" y="4861443"/>
            <a:ext cx="5206154" cy="4605576"/>
          </a:xfrm>
          <a:prstGeom prst="rect">
            <a:avLst/>
          </a:prstGeom>
        </p:spPr>
        <p:txBody>
          <a:bodyPr lIns="94759" tIns="47380" rIns="94759" bIns="47380"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8000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4600" b="1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700" b="1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700" b="1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45720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2400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700" b="1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 algn="just"/>
            <a:endParaRPr lang="zh-CN" altLang="en-US" sz="4800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700" b="1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与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"/>
          <p:cNvSpPr/>
          <p:nvPr userDrawn="1"/>
        </p:nvSpPr>
        <p:spPr>
          <a:xfrm>
            <a:off x="-9547" y="-22321"/>
            <a:ext cx="24403094" cy="7745139"/>
          </a:xfrm>
          <a:prstGeom prst="rect">
            <a:avLst/>
          </a:prstGeom>
          <a:solidFill>
            <a:srgbClr val="A8271A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pic>
        <p:nvPicPr>
          <p:cNvPr id="13" name="图像" descr="图像"/>
          <p:cNvPicPr>
            <a:picLocks noChangeAspect="1"/>
          </p:cNvPicPr>
          <p:nvPr/>
        </p:nvPicPr>
        <p:blipFill>
          <a:blip r:embed="rId2">
            <a:alphaModFix amt="12036"/>
          </a:blip>
          <a:stretch>
            <a:fillRect/>
          </a:stretch>
        </p:blipFill>
        <p:spPr>
          <a:xfrm>
            <a:off x="16934791" y="-3756403"/>
            <a:ext cx="8496110" cy="974958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图像" descr="图像"/>
          <p:cNvPicPr>
            <a:picLocks noChangeAspect="1"/>
          </p:cNvPicPr>
          <p:nvPr/>
        </p:nvPicPr>
        <p:blipFill>
          <a:blip r:embed="rId2">
            <a:alphaModFix amt="7357"/>
          </a:blip>
          <a:stretch>
            <a:fillRect/>
          </a:stretch>
        </p:blipFill>
        <p:spPr>
          <a:xfrm>
            <a:off x="17824932" y="-3507766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2" name="图像" descr="图像"/>
          <p:cNvPicPr>
            <a:picLocks noChangeAspect="1"/>
          </p:cNvPicPr>
          <p:nvPr/>
        </p:nvPicPr>
        <p:blipFill>
          <a:blip r:embed="rId2">
            <a:alphaModFix amt="6764"/>
          </a:blip>
          <a:stretch>
            <a:fillRect/>
          </a:stretch>
        </p:blipFill>
        <p:spPr>
          <a:xfrm>
            <a:off x="-4425468" y="7719034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6" name="Freeform 5"/>
          <p:cNvSpPr/>
          <p:nvPr userDrawn="1"/>
        </p:nvSpPr>
        <p:spPr>
          <a:xfrm rot="5400000">
            <a:off x="890955" y="922603"/>
            <a:ext cx="1622454" cy="14629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>
            <a:miter lim="400000"/>
          </a:ln>
        </p:spPr>
        <p:txBody>
          <a:bodyPr lIns="45719" rIns="45719" anchor="ctr"/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737970" y="1078867"/>
            <a:ext cx="5545418" cy="1042894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6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marL="0" marR="0" lvl="0" indent="0" algn="ctr" defTabSz="8255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标题：替换文字</a:t>
            </a:r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1044575" y="3030621"/>
            <a:ext cx="22368743" cy="8720336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图像" descr="图像"/>
          <p:cNvPicPr>
            <a:picLocks noChangeAspect="1"/>
          </p:cNvPicPr>
          <p:nvPr/>
        </p:nvPicPr>
        <p:blipFill>
          <a:blip r:embed="rId2">
            <a:alphaModFix amt="7357"/>
          </a:blip>
          <a:stretch>
            <a:fillRect/>
          </a:stretch>
        </p:blipFill>
        <p:spPr>
          <a:xfrm>
            <a:off x="17824932" y="-3507766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2" name="图像" descr="图像"/>
          <p:cNvPicPr>
            <a:picLocks noChangeAspect="1"/>
          </p:cNvPicPr>
          <p:nvPr/>
        </p:nvPicPr>
        <p:blipFill>
          <a:blip r:embed="rId2">
            <a:alphaModFix amt="6764"/>
          </a:blip>
          <a:stretch>
            <a:fillRect/>
          </a:stretch>
        </p:blipFill>
        <p:spPr>
          <a:xfrm>
            <a:off x="-4425468" y="7719034"/>
            <a:ext cx="8577041" cy="984245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10" name="谢谢您的观赏"/>
          <p:cNvSpPr txBox="1"/>
          <p:nvPr userDrawn="1"/>
        </p:nvSpPr>
        <p:spPr>
          <a:xfrm>
            <a:off x="10676628" y="5305916"/>
            <a:ext cx="2564805" cy="205755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215265">
              <a:defRPr sz="10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ctr">
              <a:lnSpc>
                <a:spcPct val="150000"/>
              </a:lnSpc>
            </a:pPr>
            <a:r>
              <a:rPr sz="9600" dirty="0" err="1"/>
              <a:t>谢谢</a:t>
            </a:r>
            <a:endParaRPr lang="en-US" altLang="zh-CN" sz="9600" dirty="0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dirty="0" err="1"/>
              <a:t>正文级别</a:t>
            </a:r>
            <a:r>
              <a:rPr dirty="0"/>
              <a:t> 1</a:t>
            </a:r>
            <a:endParaRPr dirty="0"/>
          </a:p>
          <a:p>
            <a:pPr lvl="1"/>
            <a:r>
              <a:rPr dirty="0" err="1"/>
              <a:t>正文级别</a:t>
            </a:r>
            <a:r>
              <a:rPr dirty="0"/>
              <a:t> 2</a:t>
            </a:r>
            <a:endParaRPr dirty="0"/>
          </a:p>
          <a:p>
            <a:pPr lvl="2"/>
            <a:r>
              <a:rPr dirty="0" err="1"/>
              <a:t>正文级别</a:t>
            </a:r>
            <a:r>
              <a:rPr dirty="0"/>
              <a:t> 3</a:t>
            </a:r>
            <a:endParaRPr dirty="0"/>
          </a:p>
          <a:p>
            <a:pPr lvl="3"/>
            <a:r>
              <a:rPr dirty="0" err="1"/>
              <a:t>正文级别</a:t>
            </a:r>
            <a:r>
              <a:rPr dirty="0"/>
              <a:t> 4</a:t>
            </a:r>
            <a:endParaRPr dirty="0"/>
          </a:p>
          <a:p>
            <a:pPr lvl="4"/>
            <a:r>
              <a:rPr dirty="0" err="1"/>
              <a:t>正文级别</a:t>
            </a:r>
            <a:r>
              <a:rPr dirty="0"/>
              <a:t> 5</a:t>
            </a:r>
            <a:endParaRPr dirty="0"/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 spd="med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400" b="1" i="0" u="none" strike="noStrike" cap="none" spc="0" baseline="0">
          <a:ln>
            <a:noFill/>
          </a:ln>
          <a:solidFill>
            <a:srgbClr val="000000"/>
          </a:solidFill>
          <a:uFillTx/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Helvetica Neue"/>
        </a:defRPr>
      </a:lvl1pPr>
      <a:lvl2pPr marL="127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4000" b="1" i="0" u="none" strike="noStrike" cap="none" spc="0" baseline="0">
          <a:ln>
            <a:noFill/>
          </a:ln>
          <a:solidFill>
            <a:srgbClr val="000000"/>
          </a:solidFill>
          <a:uFillTx/>
          <a:latin typeface="黑体" panose="02010609060101010101" pitchFamily="49" charset="-122"/>
          <a:ea typeface="黑体" panose="02010609060101010101" pitchFamily="49" charset="-122"/>
          <a:cs typeface="黑体" panose="02010609060101010101" pitchFamily="49" charset="-122"/>
          <a:sym typeface="Helvetica Neue"/>
        </a:defRPr>
      </a:lvl2pPr>
      <a:lvl3pPr marL="190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4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1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8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4.wmf"/><Relationship Id="rId5" Type="http://schemas.openxmlformats.org/officeDocument/2006/relationships/image" Target="../media/image3.png"/><Relationship Id="rId6" Type="http://schemas.openxmlformats.org/officeDocument/2006/relationships/tags" Target="../tags/tag1.xml"/><Relationship Id="rId7" Type="http://schemas.openxmlformats.org/officeDocument/2006/relationships/slideLayout" Target="../slideLayouts/slideLayout2.xml"/><Relationship Id="rId8" Type="http://schemas.openxmlformats.org/officeDocument/2006/relationships/vmlDrawing" Target="../drawings/vmlDrawing1.vml"/><Relationship Id="rId9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tags" Target="../tags/tag2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tags" Target="../tags/tag3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tags" Target="../tags/tag4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tags" Target="../tags/tag5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tags" Target="../tags/tag6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tags" Target="../tags/tag7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oleObject" Target="../embeddings/oleObject2.bin"/><Relationship Id="rId2" Type="http://schemas.openxmlformats.org/officeDocument/2006/relationships/image" Target="../media/image4.wmf"/><Relationship Id="rId5" Type="http://schemas.openxmlformats.org/officeDocument/2006/relationships/image" Target="../media/image3.png"/><Relationship Id="rId6" Type="http://schemas.openxmlformats.org/officeDocument/2006/relationships/tags" Target="../tags/tag8.xml"/><Relationship Id="rId7" Type="http://schemas.openxmlformats.org/officeDocument/2006/relationships/slideLayout" Target="../slideLayouts/slideLayout2.xml"/><Relationship Id="rId8" Type="http://schemas.openxmlformats.org/officeDocument/2006/relationships/vmlDrawing" Target="../drawings/vmlDrawing2.vml"/><Relationship Id="rId9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oleObject" Target="../embeddings/oleObject3.bin"/><Relationship Id="rId2" Type="http://schemas.openxmlformats.org/officeDocument/2006/relationships/image" Target="../media/image6.wmf"/><Relationship Id="rId5" Type="http://schemas.openxmlformats.org/officeDocument/2006/relationships/image" Target="../media/image3.png"/><Relationship Id="rId6" Type="http://schemas.openxmlformats.org/officeDocument/2006/relationships/tags" Target="../tags/tag9.xml"/><Relationship Id="rId7" Type="http://schemas.openxmlformats.org/officeDocument/2006/relationships/slideLayout" Target="../slideLayouts/slideLayout2.xml"/><Relationship Id="rId8" Type="http://schemas.openxmlformats.org/officeDocument/2006/relationships/vmlDrawing" Target="../drawings/vmlDrawing3.vml"/><Relationship Id="rId9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tags" Target="../tags/tag10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tags" Target="../tags/tag11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tags" Target="../tags/tag12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tags" Target="../tags/tag13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tags" Target="../tags/tag14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tags" Target="../tags/tag15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tags" Target="../tags/tag16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tags" Target="../tags/tag17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tags" Target="../tags/tag18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tags" Target="../tags/tag19.xml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tags" Target="../tags/tag20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tags" Target="../tags/tag21.xml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主标题：替换文字、加粗"/>
          <p:cNvSpPr txBox="1"/>
          <p:nvPr/>
        </p:nvSpPr>
        <p:spPr>
          <a:xfrm>
            <a:off x="1217066" y="5534660"/>
            <a:ext cx="12217400" cy="173228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215265">
              <a:defRPr sz="10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r>
              <a:rPr lang="zh-CN" altLang="en-US" dirty="0"/>
              <a:t>软件质量保证与测试</a:t>
            </a:r>
            <a:endParaRPr dirty="0"/>
          </a:p>
        </p:txBody>
      </p:sp>
      <p:sp>
        <p:nvSpPr>
          <p:cNvPr id="123" name="专业技能培养云/职业技能实践云/创新成果转化云"/>
          <p:cNvSpPr txBox="1"/>
          <p:nvPr/>
        </p:nvSpPr>
        <p:spPr>
          <a:xfrm>
            <a:off x="1217066" y="8199240"/>
            <a:ext cx="9397926" cy="1025922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anchor="ctr">
            <a:spAutoFit/>
          </a:bodyPr>
          <a:lstStyle/>
          <a:p>
            <a:pPr algn="l" defTabSz="215265">
              <a:defRPr sz="6000" b="0">
                <a:latin typeface="MicrosoftYaHeiLight"/>
                <a:ea typeface="MicrosoftYaHeiLight"/>
                <a:cs typeface="MicrosoftYaHeiLight"/>
                <a:sym typeface="MicrosoftYaHeiLight"/>
              </a:defRPr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5.1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集成测试的概念和方法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</p:cSld>
  <p:clrMapOvr>
    <a:masterClrMapping/>
  </p:clrMapOvr>
  <p:transition spd="med" advTm="1115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矩形"/>
          <p:cNvSpPr/>
          <p:nvPr/>
        </p:nvSpPr>
        <p:spPr>
          <a:xfrm>
            <a:off x="0" y="-1"/>
            <a:ext cx="7841556" cy="13716001"/>
          </a:xfrm>
          <a:prstGeom prst="rect">
            <a:avLst/>
          </a:prstGeom>
          <a:solidFill>
            <a:srgbClr val="A8271A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grpSp>
        <p:nvGrpSpPr>
          <p:cNvPr id="3" name="组合 2"/>
          <p:cNvGrpSpPr/>
          <p:nvPr/>
        </p:nvGrpSpPr>
        <p:grpSpPr>
          <a:xfrm>
            <a:off x="1020575" y="5555311"/>
            <a:ext cx="5189258" cy="2605375"/>
            <a:chOff x="1130303" y="5796540"/>
            <a:chExt cx="5189258" cy="2605375"/>
          </a:xfrm>
        </p:grpSpPr>
        <p:sp>
          <p:nvSpPr>
            <p:cNvPr id="132" name="文本框 3"/>
            <p:cNvSpPr txBox="1"/>
            <p:nvPr/>
          </p:nvSpPr>
          <p:spPr>
            <a:xfrm>
              <a:off x="1821401" y="7230559"/>
              <a:ext cx="3807062" cy="906381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240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r>
                <a:rPr dirty="0"/>
                <a:t>CONTENTS</a:t>
              </a:r>
              <a:endParaRPr dirty="0"/>
            </a:p>
          </p:txBody>
        </p:sp>
        <p:sp>
          <p:nvSpPr>
            <p:cNvPr id="133" name="文本框 3"/>
            <p:cNvSpPr txBox="1"/>
            <p:nvPr/>
          </p:nvSpPr>
          <p:spPr>
            <a:xfrm>
              <a:off x="1130303" y="5796540"/>
              <a:ext cx="5189258" cy="2605375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7000" spc="1166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>
                <a:defRPr b="0"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  <a:r>
                <a:rPr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目录</a:t>
              </a:r>
              <a:endParaRPr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127" name="矩形 5"/>
          <p:cNvSpPr txBox="1"/>
          <p:nvPr/>
        </p:nvSpPr>
        <p:spPr>
          <a:xfrm>
            <a:off x="11215455" y="4379996"/>
            <a:ext cx="4581135" cy="85455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4400" dirty="0">
                <a:solidFill>
                  <a:srgbClr val="000000"/>
                </a:solidFill>
              </a:rPr>
              <a:t>集成测试的概念</a:t>
            </a:r>
            <a:endParaRPr lang="zh-CN" altLang="en-US" sz="4400" dirty="0">
              <a:solidFill>
                <a:srgbClr val="000000"/>
              </a:solidFill>
            </a:endParaRPr>
          </a:p>
        </p:txBody>
      </p:sp>
      <p:sp>
        <p:nvSpPr>
          <p:cNvPr id="128" name="Freeform 5"/>
          <p:cNvSpPr/>
          <p:nvPr/>
        </p:nvSpPr>
        <p:spPr>
          <a:xfrm rot="5400000">
            <a:off x="9211673" y="4189323"/>
            <a:ext cx="1343465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129" name="矩形 11"/>
          <p:cNvSpPr txBox="1"/>
          <p:nvPr/>
        </p:nvSpPr>
        <p:spPr>
          <a:xfrm>
            <a:off x="9088558" y="4325275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01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9088558" y="6186268"/>
            <a:ext cx="7717602" cy="1343465"/>
            <a:chOff x="9218067" y="3086516"/>
            <a:chExt cx="7717602" cy="1343465"/>
          </a:xfrm>
        </p:grpSpPr>
        <p:sp>
          <p:nvSpPr>
            <p:cNvPr id="134" name="矩形 5"/>
            <p:cNvSpPr txBox="1"/>
            <p:nvPr/>
          </p:nvSpPr>
          <p:spPr>
            <a:xfrm>
              <a:off x="11344964" y="3359705"/>
              <a:ext cx="5590705" cy="7151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dirty="0">
                  <a:solidFill>
                    <a:srgbClr val="000000"/>
                  </a:solidFill>
                </a:rPr>
                <a:t>集成测试方法</a:t>
              </a:r>
              <a:endParaRPr sz="4400" dirty="0">
                <a:solidFill>
                  <a:srgbClr val="000000"/>
                </a:solidFill>
              </a:endParaRPr>
            </a:p>
          </p:txBody>
        </p:sp>
        <p:sp>
          <p:nvSpPr>
            <p:cNvPr id="135" name="Freeform 5"/>
            <p:cNvSpPr/>
            <p:nvPr/>
          </p:nvSpPr>
          <p:spPr>
            <a:xfrm rot="5400000">
              <a:off x="9341182" y="3140297"/>
              <a:ext cx="1343465" cy="12359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136" name="矩形 11"/>
            <p:cNvSpPr txBox="1"/>
            <p:nvPr/>
          </p:nvSpPr>
          <p:spPr>
            <a:xfrm>
              <a:off x="9218067" y="3235304"/>
              <a:ext cx="1589696" cy="9639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t>02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9088558" y="8157481"/>
            <a:ext cx="7717601" cy="1343465"/>
            <a:chOff x="9218067" y="4940563"/>
            <a:chExt cx="7717601" cy="1343465"/>
          </a:xfrm>
        </p:grpSpPr>
        <p:sp>
          <p:nvSpPr>
            <p:cNvPr id="139" name="Freeform 5"/>
            <p:cNvSpPr/>
            <p:nvPr/>
          </p:nvSpPr>
          <p:spPr>
            <a:xfrm rot="5400000">
              <a:off x="9341182" y="4994344"/>
              <a:ext cx="1343465" cy="12359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140" name="矩形 11"/>
            <p:cNvSpPr txBox="1"/>
            <p:nvPr/>
          </p:nvSpPr>
          <p:spPr>
            <a:xfrm>
              <a:off x="9218067" y="5130296"/>
              <a:ext cx="1589696" cy="9639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rPr dirty="0"/>
                <a:t>03</a:t>
              </a:r>
              <a:endParaRPr dirty="0"/>
            </a:p>
          </p:txBody>
        </p:sp>
        <p:sp>
          <p:nvSpPr>
            <p:cNvPr id="18" name="矩形 5"/>
            <p:cNvSpPr txBox="1"/>
            <p:nvPr/>
          </p:nvSpPr>
          <p:spPr>
            <a:xfrm>
              <a:off x="11344963" y="5213752"/>
              <a:ext cx="5590705" cy="7151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dirty="0">
                  <a:solidFill>
                    <a:srgbClr val="000000"/>
                  </a:solidFill>
                </a:rPr>
                <a:t>小结</a:t>
              </a:r>
              <a:endParaRPr lang="zh-CN" altLang="en-US" sz="4400" dirty="0">
                <a:solidFill>
                  <a:srgbClr val="000000"/>
                </a:solidFill>
              </a:endParaRPr>
            </a:p>
          </p:txBody>
        </p:sp>
      </p:grp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</p:cSld>
  <p:clrMapOvr>
    <a:masterClrMapping/>
  </p:clrMapOvr>
  <p:transition spd="med" advTm="16709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矩形"/>
          <p:cNvSpPr/>
          <p:nvPr/>
        </p:nvSpPr>
        <p:spPr>
          <a:xfrm>
            <a:off x="0" y="-1"/>
            <a:ext cx="7841556" cy="13716001"/>
          </a:xfrm>
          <a:prstGeom prst="rect">
            <a:avLst/>
          </a:prstGeom>
          <a:solidFill>
            <a:srgbClr val="A8271A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grpSp>
        <p:nvGrpSpPr>
          <p:cNvPr id="3" name="组合 2"/>
          <p:cNvGrpSpPr/>
          <p:nvPr/>
        </p:nvGrpSpPr>
        <p:grpSpPr>
          <a:xfrm>
            <a:off x="1020575" y="5555311"/>
            <a:ext cx="5189258" cy="2605375"/>
            <a:chOff x="1130303" y="5796540"/>
            <a:chExt cx="5189258" cy="2605375"/>
          </a:xfrm>
        </p:grpSpPr>
        <p:sp>
          <p:nvSpPr>
            <p:cNvPr id="132" name="文本框 3"/>
            <p:cNvSpPr txBox="1"/>
            <p:nvPr/>
          </p:nvSpPr>
          <p:spPr>
            <a:xfrm>
              <a:off x="1821401" y="7230559"/>
              <a:ext cx="3807062" cy="906381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240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r>
                <a:rPr dirty="0"/>
                <a:t>CONTENTS</a:t>
              </a:r>
              <a:endParaRPr dirty="0"/>
            </a:p>
          </p:txBody>
        </p:sp>
        <p:sp>
          <p:nvSpPr>
            <p:cNvPr id="133" name="文本框 3"/>
            <p:cNvSpPr txBox="1"/>
            <p:nvPr/>
          </p:nvSpPr>
          <p:spPr>
            <a:xfrm>
              <a:off x="1130303" y="5796540"/>
              <a:ext cx="5189258" cy="2605375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7000" spc="1166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>
                <a:defRPr b="0"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  <a:r>
                <a:rPr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目录</a:t>
              </a:r>
              <a:endParaRPr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127" name="矩形 5"/>
          <p:cNvSpPr txBox="1"/>
          <p:nvPr/>
        </p:nvSpPr>
        <p:spPr>
          <a:xfrm>
            <a:off x="11215455" y="4379996"/>
            <a:ext cx="4581135" cy="85455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4400" b="1" dirty="0">
                <a:solidFill>
                  <a:srgbClr val="FF0000"/>
                </a:solidFill>
              </a:rPr>
              <a:t>集成测试的概念</a:t>
            </a:r>
            <a:endParaRPr lang="zh-CN" altLang="en-US" sz="4400" b="1" dirty="0">
              <a:solidFill>
                <a:srgbClr val="FF0000"/>
              </a:solidFill>
            </a:endParaRPr>
          </a:p>
        </p:txBody>
      </p:sp>
      <p:sp>
        <p:nvSpPr>
          <p:cNvPr id="128" name="Freeform 5"/>
          <p:cNvSpPr/>
          <p:nvPr/>
        </p:nvSpPr>
        <p:spPr>
          <a:xfrm rot="5400000">
            <a:off x="9211673" y="4189323"/>
            <a:ext cx="1343465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129" name="矩形 11"/>
          <p:cNvSpPr txBox="1"/>
          <p:nvPr/>
        </p:nvSpPr>
        <p:spPr>
          <a:xfrm>
            <a:off x="9088558" y="4325275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01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9088558" y="6186268"/>
            <a:ext cx="7717602" cy="1343465"/>
            <a:chOff x="9218067" y="3086516"/>
            <a:chExt cx="7717602" cy="1343465"/>
          </a:xfrm>
        </p:grpSpPr>
        <p:sp>
          <p:nvSpPr>
            <p:cNvPr id="134" name="矩形 5"/>
            <p:cNvSpPr txBox="1"/>
            <p:nvPr/>
          </p:nvSpPr>
          <p:spPr>
            <a:xfrm>
              <a:off x="11344964" y="3359705"/>
              <a:ext cx="5590705" cy="7151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dirty="0">
                  <a:solidFill>
                    <a:srgbClr val="000000"/>
                  </a:solidFill>
                </a:rPr>
                <a:t>集成测试方法</a:t>
              </a:r>
              <a:endParaRPr sz="4400" dirty="0">
                <a:solidFill>
                  <a:srgbClr val="000000"/>
                </a:solidFill>
              </a:endParaRPr>
            </a:p>
          </p:txBody>
        </p:sp>
        <p:sp>
          <p:nvSpPr>
            <p:cNvPr id="135" name="Freeform 5"/>
            <p:cNvSpPr/>
            <p:nvPr/>
          </p:nvSpPr>
          <p:spPr>
            <a:xfrm rot="5400000">
              <a:off x="9341182" y="3140297"/>
              <a:ext cx="1343465" cy="12359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136" name="矩形 11"/>
            <p:cNvSpPr txBox="1"/>
            <p:nvPr/>
          </p:nvSpPr>
          <p:spPr>
            <a:xfrm>
              <a:off x="9218067" y="3235304"/>
              <a:ext cx="1589696" cy="9639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t>02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9088558" y="8157481"/>
            <a:ext cx="7717601" cy="1343465"/>
            <a:chOff x="9218067" y="4940563"/>
            <a:chExt cx="7717601" cy="1343465"/>
          </a:xfrm>
        </p:grpSpPr>
        <p:sp>
          <p:nvSpPr>
            <p:cNvPr id="139" name="Freeform 5"/>
            <p:cNvSpPr/>
            <p:nvPr/>
          </p:nvSpPr>
          <p:spPr>
            <a:xfrm rot="5400000">
              <a:off x="9341182" y="4994344"/>
              <a:ext cx="1343465" cy="12359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140" name="矩形 11"/>
            <p:cNvSpPr txBox="1"/>
            <p:nvPr/>
          </p:nvSpPr>
          <p:spPr>
            <a:xfrm>
              <a:off x="9218067" y="5130296"/>
              <a:ext cx="1589696" cy="9639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rPr dirty="0"/>
                <a:t>03</a:t>
              </a:r>
              <a:endParaRPr dirty="0"/>
            </a:p>
          </p:txBody>
        </p:sp>
        <p:sp>
          <p:nvSpPr>
            <p:cNvPr id="18" name="矩形 5"/>
            <p:cNvSpPr txBox="1"/>
            <p:nvPr/>
          </p:nvSpPr>
          <p:spPr>
            <a:xfrm>
              <a:off x="11344963" y="5213752"/>
              <a:ext cx="5590705" cy="7151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dirty="0">
                  <a:solidFill>
                    <a:srgbClr val="000000"/>
                  </a:solidFill>
                </a:rPr>
                <a:t>小结</a:t>
              </a:r>
              <a:endParaRPr lang="zh-CN" altLang="en-US" sz="4400" dirty="0">
                <a:solidFill>
                  <a:srgbClr val="000000"/>
                </a:solidFill>
              </a:endParaRPr>
            </a:p>
          </p:txBody>
        </p:sp>
      </p:grp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</p:cSld>
  <p:clrMapOvr>
    <a:masterClrMapping/>
  </p:clrMapOvr>
  <p:transition spd="med" advTm="7072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集成测试的概念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1</a:t>
            </a:r>
            <a:endParaRPr dirty="0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3640180" y="3419061"/>
          <a:ext cx="17103640" cy="853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1" name="Picture" r:id="rId1" imgW="34223325" imgH="17106900" progId="Word.Picture.8">
                  <p:embed/>
                </p:oleObj>
              </mc:Choice>
              <mc:Fallback>
                <p:oleObj name="Picture" r:id="rId1" imgW="34223325" imgH="17106900" progId="Word.Picture.8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0180" y="3419061"/>
                        <a:ext cx="17103640" cy="853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p:transition spd="med" advTm="14934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集成测试的概念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1</a:t>
            </a:r>
            <a:endParaRPr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2737970" y="2801047"/>
            <a:ext cx="20453334" cy="1023909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t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pPr algn="just"/>
            <a:r>
              <a:rPr lang="zh-CN" altLang="en-US" sz="4800" b="1" dirty="0"/>
              <a:t>集成测试</a:t>
            </a:r>
            <a:endParaRPr lang="en-US" altLang="zh-CN" sz="4800" b="1" dirty="0"/>
          </a:p>
          <a:p>
            <a:pPr lvl="2" algn="just"/>
            <a:r>
              <a:rPr lang="zh-CN" altLang="en-US" sz="4800" dirty="0"/>
              <a:t>集成测试又称组装测试或联合测试。</a:t>
            </a:r>
            <a:endParaRPr lang="zh-CN" altLang="en-US" sz="4800" dirty="0"/>
          </a:p>
          <a:p>
            <a:pPr lvl="2" algn="just"/>
            <a:r>
              <a:rPr lang="zh-CN" altLang="en-US" sz="4800" dirty="0"/>
              <a:t>集成测试是测试能否将所有模块按照设计要求组装成系统或子系统。</a:t>
            </a:r>
            <a:endParaRPr lang="zh-CN" altLang="en-US" sz="4800" dirty="0"/>
          </a:p>
        </p:txBody>
      </p:sp>
      <p:pic>
        <p:nvPicPr>
          <p:cNvPr id="11" name="Picture 2" descr="See the source imag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422300">
            <a:off x="7405827" y="6578653"/>
            <a:ext cx="9572345" cy="5513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 spd="med" advTm="8260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集成测试的概念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1</a:t>
            </a:r>
            <a:endParaRPr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2737970" y="2801047"/>
            <a:ext cx="19313647" cy="1023909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t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pPr algn="just"/>
            <a:r>
              <a:rPr lang="zh-CN" altLang="en-US" sz="4800" b="1" dirty="0"/>
              <a:t>集成测试的目的</a:t>
            </a:r>
            <a:endParaRPr lang="en-US" altLang="zh-CN" sz="4800" b="1" dirty="0"/>
          </a:p>
          <a:p>
            <a:pPr lvl="2" algn="just"/>
            <a:r>
              <a:rPr lang="zh-CN" altLang="en-US" sz="4800" dirty="0"/>
              <a:t>各个子功能组能否组合起来，能否达到预期要求的系统功能；</a:t>
            </a:r>
            <a:endParaRPr lang="zh-CN" altLang="en-US" sz="4800" dirty="0"/>
          </a:p>
          <a:p>
            <a:pPr lvl="2" algn="just"/>
            <a:r>
              <a:rPr lang="zh-CN" altLang="en-US" sz="4800" dirty="0"/>
              <a:t>一个模块的功能是否会对另一个模块的功能产生不利的影响；</a:t>
            </a:r>
            <a:endParaRPr lang="zh-CN" altLang="en-US" sz="4800" dirty="0"/>
          </a:p>
          <a:p>
            <a:pPr lvl="2" algn="just"/>
            <a:r>
              <a:rPr lang="zh-CN" altLang="en-US" sz="4800" dirty="0"/>
              <a:t>全局数据结构是否有问题；</a:t>
            </a:r>
            <a:endParaRPr lang="zh-CN" altLang="en-US" sz="4800" dirty="0"/>
          </a:p>
          <a:p>
            <a:pPr lvl="2" algn="just"/>
            <a:r>
              <a:rPr lang="zh-CN" altLang="en-US" sz="4800" dirty="0"/>
              <a:t>单个模块的误差累积是否会放大，从而达到不能接受的程度。</a:t>
            </a:r>
            <a:endParaRPr lang="zh-CN" altLang="en-US" sz="4800" dirty="0"/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202869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集成测试的概念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1</a:t>
            </a:r>
            <a:endParaRPr dirty="0"/>
          </a:p>
        </p:txBody>
      </p:sp>
      <p:grpSp>
        <p:nvGrpSpPr>
          <p:cNvPr id="8" name="Group 6"/>
          <p:cNvGrpSpPr/>
          <p:nvPr/>
        </p:nvGrpSpPr>
        <p:grpSpPr bwMode="auto">
          <a:xfrm>
            <a:off x="5073788" y="3646661"/>
            <a:ext cx="14448458" cy="8039444"/>
            <a:chOff x="1620" y="9084"/>
            <a:chExt cx="9000" cy="5304"/>
          </a:xfrm>
          <a:effectLst>
            <a:glow rad="63500">
              <a:schemeClr val="accent4">
                <a:satMod val="175000"/>
                <a:alpha val="40000"/>
              </a:schemeClr>
            </a:glow>
          </a:effectLst>
        </p:grpSpPr>
        <p:sp>
          <p:nvSpPr>
            <p:cNvPr id="11" name="Rectangle 7"/>
            <p:cNvSpPr>
              <a:spLocks noChangeArrowheads="1"/>
            </p:cNvSpPr>
            <p:nvPr/>
          </p:nvSpPr>
          <p:spPr bwMode="auto">
            <a:xfrm>
              <a:off x="2160" y="9084"/>
              <a:ext cx="8460" cy="53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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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pSp>
          <p:nvGrpSpPr>
            <p:cNvPr id="13" name="Group 9"/>
            <p:cNvGrpSpPr/>
            <p:nvPr/>
          </p:nvGrpSpPr>
          <p:grpSpPr bwMode="auto">
            <a:xfrm>
              <a:off x="1620" y="9240"/>
              <a:ext cx="8640" cy="4524"/>
              <a:chOff x="1620" y="8928"/>
              <a:chExt cx="8640" cy="4524"/>
            </a:xfrm>
          </p:grpSpPr>
          <p:sp>
            <p:nvSpPr>
              <p:cNvPr id="15" name="Rectangle 10"/>
              <p:cNvSpPr>
                <a:spLocks noChangeArrowheads="1"/>
              </p:cNvSpPr>
              <p:nvPr/>
            </p:nvSpPr>
            <p:spPr bwMode="auto">
              <a:xfrm>
                <a:off x="2340" y="8928"/>
                <a:ext cx="7920" cy="202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28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28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28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800">
                    <a:latin typeface="黑体" panose="02010609060101010101" pitchFamily="49" charset="-122"/>
                    <a:ea typeface="黑体" panose="02010609060101010101" pitchFamily="49" charset="-122"/>
                  </a:rPr>
                  <a:t>子系统</a:t>
                </a:r>
                <a:r>
                  <a:rPr lang="en-US" altLang="zh-CN" sz="2800"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  <a:endParaRPr lang="en-US" altLang="zh-CN" sz="28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6" name="Rectangle 11"/>
              <p:cNvSpPr>
                <a:spLocks noChangeArrowheads="1"/>
              </p:cNvSpPr>
              <p:nvPr/>
            </p:nvSpPr>
            <p:spPr bwMode="auto">
              <a:xfrm>
                <a:off x="2340" y="9084"/>
                <a:ext cx="3960" cy="124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模块</a:t>
                </a:r>
                <a:r>
                  <a:rPr lang="en-US" altLang="zh-CN" sz="28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  <a:endParaRPr lang="en-US" altLang="zh-CN" sz="28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7" name="Rectangle 12"/>
              <p:cNvSpPr>
                <a:spLocks noChangeArrowheads="1"/>
              </p:cNvSpPr>
              <p:nvPr/>
            </p:nvSpPr>
            <p:spPr bwMode="auto">
              <a:xfrm>
                <a:off x="2700" y="9708"/>
                <a:ext cx="1440" cy="46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hangingPunct="1">
                  <a:spcBef>
                    <a:spcPct val="0"/>
                  </a:spcBef>
                  <a:buNone/>
                </a:pPr>
                <a:r>
                  <a: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程序单元</a:t>
                </a:r>
                <a:r>
                  <a:rPr lang="en-US" altLang="zh-CN" sz="28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  <a:endParaRPr lang="en-US" altLang="zh-CN" sz="28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8" name="Rectangle 13"/>
              <p:cNvSpPr>
                <a:spLocks noChangeArrowheads="1"/>
              </p:cNvSpPr>
              <p:nvPr/>
            </p:nvSpPr>
            <p:spPr bwMode="auto">
              <a:xfrm>
                <a:off x="4680" y="9708"/>
                <a:ext cx="1440" cy="46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程序单元</a:t>
                </a:r>
                <a:r>
                  <a:rPr lang="en-US" altLang="zh-CN" sz="28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2</a:t>
                </a:r>
                <a:endParaRPr lang="en-US" altLang="zh-CN" sz="28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9" name="AutoShape 14"/>
              <p:cNvSpPr>
                <a:spLocks noChangeArrowheads="1"/>
              </p:cNvSpPr>
              <p:nvPr/>
            </p:nvSpPr>
            <p:spPr bwMode="auto">
              <a:xfrm>
                <a:off x="4140" y="9864"/>
                <a:ext cx="540" cy="156"/>
              </a:xfrm>
              <a:prstGeom prst="rightArrow">
                <a:avLst>
                  <a:gd name="adj1" fmla="val 50000"/>
                  <a:gd name="adj2" fmla="val 86538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20" name="AutoShape 15"/>
              <p:cNvSpPr>
                <a:spLocks noChangeArrowheads="1"/>
              </p:cNvSpPr>
              <p:nvPr/>
            </p:nvSpPr>
            <p:spPr bwMode="auto">
              <a:xfrm>
                <a:off x="2160" y="9864"/>
                <a:ext cx="540" cy="156"/>
              </a:xfrm>
              <a:prstGeom prst="rightArrow">
                <a:avLst>
                  <a:gd name="adj1" fmla="val 50000"/>
                  <a:gd name="adj2" fmla="val 86538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21" name="Rectangle 16"/>
              <p:cNvSpPr>
                <a:spLocks noChangeArrowheads="1"/>
              </p:cNvSpPr>
              <p:nvPr/>
            </p:nvSpPr>
            <p:spPr bwMode="auto">
              <a:xfrm>
                <a:off x="6300" y="9084"/>
                <a:ext cx="3960" cy="124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模块</a:t>
                </a:r>
                <a:r>
                  <a:rPr lang="en-US" altLang="zh-CN" sz="28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2</a:t>
                </a:r>
                <a:endParaRPr lang="en-US" altLang="zh-CN" sz="28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2" name="Rectangle 17"/>
              <p:cNvSpPr>
                <a:spLocks noChangeArrowheads="1"/>
              </p:cNvSpPr>
              <p:nvPr/>
            </p:nvSpPr>
            <p:spPr bwMode="auto">
              <a:xfrm>
                <a:off x="6660" y="9708"/>
                <a:ext cx="1440" cy="46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800">
                    <a:latin typeface="黑体" panose="02010609060101010101" pitchFamily="49" charset="-122"/>
                    <a:ea typeface="黑体" panose="02010609060101010101" pitchFamily="49" charset="-122"/>
                  </a:rPr>
                  <a:t>程序单元</a:t>
                </a:r>
                <a:r>
                  <a:rPr lang="en-US" altLang="zh-CN" sz="2800">
                    <a:latin typeface="黑体" panose="02010609060101010101" pitchFamily="49" charset="-122"/>
                    <a:ea typeface="黑体" panose="02010609060101010101" pitchFamily="49" charset="-122"/>
                  </a:rPr>
                  <a:t>3</a:t>
                </a:r>
                <a:endParaRPr lang="en-US" altLang="zh-CN" sz="28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3" name="Rectangle 18"/>
              <p:cNvSpPr>
                <a:spLocks noChangeArrowheads="1"/>
              </p:cNvSpPr>
              <p:nvPr/>
            </p:nvSpPr>
            <p:spPr bwMode="auto">
              <a:xfrm>
                <a:off x="8640" y="9708"/>
                <a:ext cx="1440" cy="46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800">
                    <a:latin typeface="黑体" panose="02010609060101010101" pitchFamily="49" charset="-122"/>
                    <a:ea typeface="黑体" panose="02010609060101010101" pitchFamily="49" charset="-122"/>
                  </a:rPr>
                  <a:t>程序单元</a:t>
                </a:r>
                <a:r>
                  <a:rPr lang="en-US" altLang="zh-CN" sz="2800">
                    <a:latin typeface="黑体" panose="02010609060101010101" pitchFamily="49" charset="-122"/>
                    <a:ea typeface="黑体" panose="02010609060101010101" pitchFamily="49" charset="-122"/>
                  </a:rPr>
                  <a:t>4</a:t>
                </a:r>
                <a:endParaRPr lang="en-US" altLang="zh-CN" sz="28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4" name="AutoShape 19"/>
              <p:cNvSpPr>
                <a:spLocks noChangeArrowheads="1"/>
              </p:cNvSpPr>
              <p:nvPr/>
            </p:nvSpPr>
            <p:spPr bwMode="auto">
              <a:xfrm>
                <a:off x="8100" y="9864"/>
                <a:ext cx="540" cy="156"/>
              </a:xfrm>
              <a:prstGeom prst="rightArrow">
                <a:avLst>
                  <a:gd name="adj1" fmla="val 50000"/>
                  <a:gd name="adj2" fmla="val 86538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25" name="AutoShape 20"/>
              <p:cNvSpPr>
                <a:spLocks noChangeArrowheads="1"/>
              </p:cNvSpPr>
              <p:nvPr/>
            </p:nvSpPr>
            <p:spPr bwMode="auto">
              <a:xfrm>
                <a:off x="6120" y="9864"/>
                <a:ext cx="540" cy="156"/>
              </a:xfrm>
              <a:prstGeom prst="rightArrow">
                <a:avLst>
                  <a:gd name="adj1" fmla="val 50000"/>
                  <a:gd name="adj2" fmla="val 86538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26" name="Rectangle 21"/>
              <p:cNvSpPr>
                <a:spLocks noChangeArrowheads="1"/>
              </p:cNvSpPr>
              <p:nvPr/>
            </p:nvSpPr>
            <p:spPr bwMode="auto">
              <a:xfrm>
                <a:off x="1620" y="9240"/>
                <a:ext cx="540" cy="124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anchor="ctr" anchorCtr="1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输入</a:t>
                </a:r>
                <a:endParaRPr lang="en-US" altLang="zh-CN" sz="28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7" name="Rectangle 22"/>
              <p:cNvSpPr>
                <a:spLocks noChangeArrowheads="1"/>
              </p:cNvSpPr>
              <p:nvPr/>
            </p:nvSpPr>
            <p:spPr bwMode="auto">
              <a:xfrm>
                <a:off x="2340" y="11424"/>
                <a:ext cx="7920" cy="202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28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28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28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800">
                    <a:latin typeface="黑体" panose="02010609060101010101" pitchFamily="49" charset="-122"/>
                    <a:ea typeface="黑体" panose="02010609060101010101" pitchFamily="49" charset="-122"/>
                  </a:rPr>
                  <a:t>子系统</a:t>
                </a:r>
                <a:r>
                  <a:rPr lang="en-US" altLang="zh-CN" sz="2800">
                    <a:latin typeface="黑体" panose="02010609060101010101" pitchFamily="49" charset="-122"/>
                    <a:ea typeface="黑体" panose="02010609060101010101" pitchFamily="49" charset="-122"/>
                  </a:rPr>
                  <a:t>2</a:t>
                </a:r>
                <a:endParaRPr lang="en-US" altLang="zh-CN" sz="28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8" name="Rectangle 23"/>
              <p:cNvSpPr>
                <a:spLocks noChangeArrowheads="1"/>
              </p:cNvSpPr>
              <p:nvPr/>
            </p:nvSpPr>
            <p:spPr bwMode="auto">
              <a:xfrm>
                <a:off x="2340" y="11580"/>
                <a:ext cx="3960" cy="124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模块</a:t>
                </a:r>
                <a:r>
                  <a:rPr lang="en-US" altLang="zh-CN" sz="28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4</a:t>
                </a:r>
                <a:endParaRPr lang="en-US" altLang="zh-CN" sz="28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9" name="Rectangle 24"/>
              <p:cNvSpPr>
                <a:spLocks noChangeArrowheads="1"/>
              </p:cNvSpPr>
              <p:nvPr/>
            </p:nvSpPr>
            <p:spPr bwMode="auto">
              <a:xfrm>
                <a:off x="2700" y="12204"/>
                <a:ext cx="1440" cy="46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800">
                    <a:latin typeface="黑体" panose="02010609060101010101" pitchFamily="49" charset="-122"/>
                    <a:ea typeface="黑体" panose="02010609060101010101" pitchFamily="49" charset="-122"/>
                  </a:rPr>
                  <a:t>程序单元</a:t>
                </a:r>
                <a:r>
                  <a:rPr lang="en-US" altLang="zh-CN" sz="2800">
                    <a:latin typeface="黑体" panose="02010609060101010101" pitchFamily="49" charset="-122"/>
                    <a:ea typeface="黑体" panose="02010609060101010101" pitchFamily="49" charset="-122"/>
                  </a:rPr>
                  <a:t>8</a:t>
                </a:r>
                <a:endParaRPr lang="en-US" altLang="zh-CN" sz="28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30" name="Rectangle 25"/>
              <p:cNvSpPr>
                <a:spLocks noChangeArrowheads="1"/>
              </p:cNvSpPr>
              <p:nvPr/>
            </p:nvSpPr>
            <p:spPr bwMode="auto">
              <a:xfrm>
                <a:off x="4680" y="12204"/>
                <a:ext cx="1440" cy="46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800">
                    <a:latin typeface="黑体" panose="02010609060101010101" pitchFamily="49" charset="-122"/>
                    <a:ea typeface="黑体" panose="02010609060101010101" pitchFamily="49" charset="-122"/>
                  </a:rPr>
                  <a:t>程序单元</a:t>
                </a:r>
                <a:r>
                  <a:rPr lang="en-US" altLang="zh-CN" sz="2800">
                    <a:latin typeface="黑体" panose="02010609060101010101" pitchFamily="49" charset="-122"/>
                    <a:ea typeface="黑体" panose="02010609060101010101" pitchFamily="49" charset="-122"/>
                  </a:rPr>
                  <a:t>7</a:t>
                </a:r>
                <a:endParaRPr lang="en-US" altLang="zh-CN" sz="28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31" name="Rectangle 26"/>
              <p:cNvSpPr>
                <a:spLocks noChangeArrowheads="1"/>
              </p:cNvSpPr>
              <p:nvPr/>
            </p:nvSpPr>
            <p:spPr bwMode="auto">
              <a:xfrm>
                <a:off x="6300" y="11580"/>
                <a:ext cx="3960" cy="124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模块</a:t>
                </a:r>
                <a:r>
                  <a:rPr lang="en-US" altLang="zh-CN" sz="28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3</a:t>
                </a:r>
                <a:endParaRPr lang="en-US" altLang="zh-CN" sz="28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32" name="Rectangle 27"/>
              <p:cNvSpPr>
                <a:spLocks noChangeArrowheads="1"/>
              </p:cNvSpPr>
              <p:nvPr/>
            </p:nvSpPr>
            <p:spPr bwMode="auto">
              <a:xfrm>
                <a:off x="6660" y="12204"/>
                <a:ext cx="1440" cy="46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800">
                    <a:latin typeface="黑体" panose="02010609060101010101" pitchFamily="49" charset="-122"/>
                    <a:ea typeface="黑体" panose="02010609060101010101" pitchFamily="49" charset="-122"/>
                  </a:rPr>
                  <a:t>程序单元</a:t>
                </a:r>
                <a:r>
                  <a:rPr lang="en-US" altLang="zh-CN" sz="2800">
                    <a:latin typeface="黑体" panose="02010609060101010101" pitchFamily="49" charset="-122"/>
                    <a:ea typeface="黑体" panose="02010609060101010101" pitchFamily="49" charset="-122"/>
                  </a:rPr>
                  <a:t>6</a:t>
                </a:r>
                <a:endParaRPr lang="en-US" altLang="zh-CN" sz="28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33" name="Rectangle 28"/>
              <p:cNvSpPr>
                <a:spLocks noChangeArrowheads="1"/>
              </p:cNvSpPr>
              <p:nvPr/>
            </p:nvSpPr>
            <p:spPr bwMode="auto">
              <a:xfrm>
                <a:off x="8640" y="12204"/>
                <a:ext cx="1440" cy="46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800">
                    <a:latin typeface="黑体" panose="02010609060101010101" pitchFamily="49" charset="-122"/>
                    <a:ea typeface="黑体" panose="02010609060101010101" pitchFamily="49" charset="-122"/>
                  </a:rPr>
                  <a:t>程序单元</a:t>
                </a:r>
                <a:r>
                  <a:rPr lang="en-US" altLang="zh-CN" sz="2800">
                    <a:latin typeface="黑体" panose="02010609060101010101" pitchFamily="49" charset="-122"/>
                    <a:ea typeface="黑体" panose="02010609060101010101" pitchFamily="49" charset="-122"/>
                  </a:rPr>
                  <a:t>5</a:t>
                </a:r>
                <a:endParaRPr lang="en-US" altLang="zh-CN" sz="28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34" name="AutoShape 29"/>
              <p:cNvSpPr>
                <a:spLocks noChangeArrowheads="1"/>
              </p:cNvSpPr>
              <p:nvPr/>
            </p:nvSpPr>
            <p:spPr bwMode="auto">
              <a:xfrm>
                <a:off x="8100" y="12360"/>
                <a:ext cx="540" cy="156"/>
              </a:xfrm>
              <a:prstGeom prst="leftArrow">
                <a:avLst>
                  <a:gd name="adj1" fmla="val 50000"/>
                  <a:gd name="adj2" fmla="val 86538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35" name="AutoShape 30"/>
              <p:cNvSpPr>
                <a:spLocks noChangeArrowheads="1"/>
              </p:cNvSpPr>
              <p:nvPr/>
            </p:nvSpPr>
            <p:spPr bwMode="auto">
              <a:xfrm>
                <a:off x="6120" y="12360"/>
                <a:ext cx="540" cy="156"/>
              </a:xfrm>
              <a:prstGeom prst="leftArrow">
                <a:avLst>
                  <a:gd name="adj1" fmla="val 50000"/>
                  <a:gd name="adj2" fmla="val 86538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36" name="AutoShape 31"/>
              <p:cNvSpPr>
                <a:spLocks noChangeArrowheads="1"/>
              </p:cNvSpPr>
              <p:nvPr/>
            </p:nvSpPr>
            <p:spPr bwMode="auto">
              <a:xfrm>
                <a:off x="4140" y="12360"/>
                <a:ext cx="540" cy="156"/>
              </a:xfrm>
              <a:prstGeom prst="leftArrow">
                <a:avLst>
                  <a:gd name="adj1" fmla="val 50000"/>
                  <a:gd name="adj2" fmla="val 86538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37" name="AutoShape 32"/>
              <p:cNvSpPr>
                <a:spLocks noChangeArrowheads="1"/>
              </p:cNvSpPr>
              <p:nvPr/>
            </p:nvSpPr>
            <p:spPr bwMode="auto">
              <a:xfrm>
                <a:off x="9180" y="10176"/>
                <a:ext cx="180" cy="2028"/>
              </a:xfrm>
              <a:prstGeom prst="downArrow">
                <a:avLst>
                  <a:gd name="adj1" fmla="val 50000"/>
                  <a:gd name="adj2" fmla="val 281667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vert="eaVert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38" name="Rectangle 33"/>
              <p:cNvSpPr>
                <a:spLocks noChangeArrowheads="1"/>
              </p:cNvSpPr>
              <p:nvPr/>
            </p:nvSpPr>
            <p:spPr bwMode="auto">
              <a:xfrm>
                <a:off x="1620" y="11736"/>
                <a:ext cx="540" cy="124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anchor="ctr" anchorCtr="1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输出</a:t>
                </a:r>
                <a:endParaRPr lang="en-US" altLang="zh-CN" sz="28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39" name="AutoShape 34"/>
              <p:cNvSpPr>
                <a:spLocks noChangeArrowheads="1"/>
              </p:cNvSpPr>
              <p:nvPr/>
            </p:nvSpPr>
            <p:spPr bwMode="auto">
              <a:xfrm>
                <a:off x="2160" y="12360"/>
                <a:ext cx="540" cy="156"/>
              </a:xfrm>
              <a:prstGeom prst="leftArrow">
                <a:avLst>
                  <a:gd name="adj1" fmla="val 50000"/>
                  <a:gd name="adj2" fmla="val 86538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</p:grpSp>
      </p:grp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84169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集成测试的概念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1</a:t>
            </a:r>
            <a:endParaRPr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2737970" y="2801047"/>
            <a:ext cx="19313647" cy="1023909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t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pPr algn="just"/>
            <a:r>
              <a:rPr lang="zh-CN" altLang="en-US" sz="4800" b="1" dirty="0"/>
              <a:t>集成测试与单元测试的区别</a:t>
            </a:r>
            <a:endParaRPr lang="en-US" altLang="zh-CN" sz="4800" b="1" dirty="0"/>
          </a:p>
          <a:p>
            <a:pPr lvl="2" algn="just"/>
            <a:r>
              <a:rPr lang="zh-CN" altLang="en-US" sz="4800" dirty="0"/>
              <a:t>测试对象：</a:t>
            </a:r>
            <a:endParaRPr lang="en-US" altLang="zh-CN" sz="4800" dirty="0"/>
          </a:p>
          <a:p>
            <a:pPr lvl="3" algn="just">
              <a:spcBef>
                <a:spcPts val="600"/>
              </a:spcBef>
            </a:pPr>
            <a:r>
              <a:rPr lang="zh-CN" altLang="en-US" sz="4800" dirty="0"/>
              <a:t>集成测试组装的对象比单元测试的对象级别要高。</a:t>
            </a:r>
            <a:endParaRPr lang="en-US" altLang="zh-CN" sz="4800" dirty="0"/>
          </a:p>
          <a:p>
            <a:pPr lvl="3" algn="just">
              <a:spcBef>
                <a:spcPts val="600"/>
              </a:spcBef>
            </a:pPr>
            <a:r>
              <a:rPr lang="zh-CN" altLang="en-US" sz="4800" dirty="0"/>
              <a:t>一系列相关单元 </a:t>
            </a:r>
            <a:r>
              <a:rPr lang="en-US" altLang="zh-CN" sz="4800" dirty="0"/>
              <a:t>VS </a:t>
            </a:r>
            <a:r>
              <a:rPr lang="zh-CN" altLang="en-US" sz="4800" dirty="0"/>
              <a:t>一个单元。 </a:t>
            </a:r>
            <a:endParaRPr lang="zh-CN" altLang="en-US" sz="4800" dirty="0"/>
          </a:p>
          <a:p>
            <a:pPr lvl="2" algn="just"/>
            <a:r>
              <a:rPr lang="zh-CN" altLang="en-US" sz="4800" dirty="0"/>
              <a:t>关注点：</a:t>
            </a:r>
            <a:endParaRPr lang="zh-CN" altLang="en-US" sz="4800" dirty="0"/>
          </a:p>
          <a:p>
            <a:pPr lvl="3" algn="just">
              <a:spcBef>
                <a:spcPts val="600"/>
              </a:spcBef>
            </a:pPr>
            <a:r>
              <a:rPr lang="zh-CN" altLang="en-US" sz="4800" dirty="0"/>
              <a:t>集成测试关注模块间的接口以及单元合并后的总体功能。</a:t>
            </a:r>
            <a:endParaRPr lang="en-US" altLang="zh-CN" sz="4800" dirty="0"/>
          </a:p>
          <a:p>
            <a:pPr lvl="3" algn="just">
              <a:spcBef>
                <a:spcPts val="600"/>
              </a:spcBef>
            </a:pPr>
            <a:r>
              <a:rPr lang="zh-CN" altLang="en-US" sz="4800" dirty="0"/>
              <a:t>单元测试关注测试单元本身的功能实现。</a:t>
            </a:r>
            <a:endParaRPr lang="en-US" altLang="zh-CN" sz="4800" dirty="0"/>
          </a:p>
          <a:p>
            <a:pPr lvl="2" algn="just"/>
            <a:r>
              <a:rPr lang="zh-CN" altLang="en-US" sz="4800" dirty="0"/>
              <a:t>测试依据：</a:t>
            </a:r>
            <a:endParaRPr lang="zh-CN" altLang="en-US" sz="4800" dirty="0"/>
          </a:p>
          <a:p>
            <a:pPr lvl="3" algn="just">
              <a:spcBef>
                <a:spcPts val="600"/>
              </a:spcBef>
            </a:pPr>
            <a:r>
              <a:rPr lang="zh-CN" altLang="en-US" sz="4800" dirty="0"/>
              <a:t>集成测试：概要设计。</a:t>
            </a:r>
            <a:endParaRPr lang="en-US" altLang="zh-CN" sz="4800" dirty="0"/>
          </a:p>
          <a:p>
            <a:pPr lvl="3" algn="just">
              <a:spcBef>
                <a:spcPts val="600"/>
              </a:spcBef>
            </a:pPr>
            <a:r>
              <a:rPr lang="zh-CN" altLang="en-US" sz="4800" dirty="0"/>
              <a:t>单元测试：详细设计。</a:t>
            </a:r>
            <a:endParaRPr lang="zh-CN" altLang="en-US" sz="4800" dirty="0"/>
          </a:p>
          <a:p>
            <a:pPr lvl="3" algn="just">
              <a:spcBef>
                <a:spcPts val="600"/>
              </a:spcBef>
            </a:pPr>
            <a:endParaRPr lang="en-US" altLang="zh-CN" sz="4800" dirty="0"/>
          </a:p>
          <a:p>
            <a:pPr lvl="3" algn="just">
              <a:spcBef>
                <a:spcPts val="600"/>
              </a:spcBef>
            </a:pPr>
            <a:endParaRPr lang="zh-CN" altLang="en-US" sz="4800" dirty="0"/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8931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集成测试的概念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1</a:t>
            </a:r>
            <a:endParaRPr dirty="0"/>
          </a:p>
        </p:txBody>
      </p:sp>
      <p:grpSp>
        <p:nvGrpSpPr>
          <p:cNvPr id="8" name="Group 6"/>
          <p:cNvGrpSpPr/>
          <p:nvPr/>
        </p:nvGrpSpPr>
        <p:grpSpPr bwMode="auto">
          <a:xfrm>
            <a:off x="5073788" y="3646661"/>
            <a:ext cx="14448458" cy="8039444"/>
            <a:chOff x="1620" y="9084"/>
            <a:chExt cx="9000" cy="5304"/>
          </a:xfrm>
          <a:effectLst>
            <a:glow rad="63500">
              <a:schemeClr val="accent4">
                <a:satMod val="175000"/>
                <a:alpha val="40000"/>
              </a:schemeClr>
            </a:glow>
          </a:effectLst>
        </p:grpSpPr>
        <p:sp>
          <p:nvSpPr>
            <p:cNvPr id="11" name="Rectangle 7"/>
            <p:cNvSpPr>
              <a:spLocks noChangeArrowheads="1"/>
            </p:cNvSpPr>
            <p:nvPr/>
          </p:nvSpPr>
          <p:spPr bwMode="auto">
            <a:xfrm>
              <a:off x="2160" y="9084"/>
              <a:ext cx="8460" cy="530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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90000"/>
                <a:buFont typeface="Wingdings" panose="05000000000000000000" pitchFamily="2" charset="2"/>
                <a:buChar char="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pSp>
          <p:nvGrpSpPr>
            <p:cNvPr id="13" name="Group 9"/>
            <p:cNvGrpSpPr/>
            <p:nvPr/>
          </p:nvGrpSpPr>
          <p:grpSpPr bwMode="auto">
            <a:xfrm>
              <a:off x="1620" y="9240"/>
              <a:ext cx="8640" cy="4524"/>
              <a:chOff x="1620" y="8928"/>
              <a:chExt cx="8640" cy="4524"/>
            </a:xfrm>
          </p:grpSpPr>
          <p:sp>
            <p:nvSpPr>
              <p:cNvPr id="15" name="Rectangle 10"/>
              <p:cNvSpPr>
                <a:spLocks noChangeArrowheads="1"/>
              </p:cNvSpPr>
              <p:nvPr/>
            </p:nvSpPr>
            <p:spPr bwMode="auto">
              <a:xfrm>
                <a:off x="2340" y="8928"/>
                <a:ext cx="7920" cy="202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28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28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28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800">
                    <a:latin typeface="黑体" panose="02010609060101010101" pitchFamily="49" charset="-122"/>
                    <a:ea typeface="黑体" panose="02010609060101010101" pitchFamily="49" charset="-122"/>
                  </a:rPr>
                  <a:t>子系统</a:t>
                </a:r>
                <a:r>
                  <a:rPr lang="en-US" altLang="zh-CN" sz="2800"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  <a:endParaRPr lang="en-US" altLang="zh-CN" sz="28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6" name="Rectangle 11"/>
              <p:cNvSpPr>
                <a:spLocks noChangeArrowheads="1"/>
              </p:cNvSpPr>
              <p:nvPr/>
            </p:nvSpPr>
            <p:spPr bwMode="auto">
              <a:xfrm>
                <a:off x="2340" y="9084"/>
                <a:ext cx="3960" cy="124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模块</a:t>
                </a:r>
                <a:r>
                  <a:rPr lang="en-US" altLang="zh-CN" sz="28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  <a:endParaRPr lang="en-US" altLang="zh-CN" sz="28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7" name="Rectangle 12"/>
              <p:cNvSpPr>
                <a:spLocks noChangeArrowheads="1"/>
              </p:cNvSpPr>
              <p:nvPr/>
            </p:nvSpPr>
            <p:spPr bwMode="auto">
              <a:xfrm>
                <a:off x="2700" y="9708"/>
                <a:ext cx="1440" cy="46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hangingPunct="1">
                  <a:spcBef>
                    <a:spcPct val="0"/>
                  </a:spcBef>
                  <a:buNone/>
                </a:pPr>
                <a:r>
                  <a: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程序单元</a:t>
                </a:r>
                <a:r>
                  <a:rPr lang="en-US" altLang="zh-CN" sz="28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  <a:endParaRPr lang="en-US" altLang="zh-CN" sz="28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8" name="Rectangle 13"/>
              <p:cNvSpPr>
                <a:spLocks noChangeArrowheads="1"/>
              </p:cNvSpPr>
              <p:nvPr/>
            </p:nvSpPr>
            <p:spPr bwMode="auto">
              <a:xfrm>
                <a:off x="4680" y="9708"/>
                <a:ext cx="1440" cy="46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程序单元</a:t>
                </a:r>
                <a:r>
                  <a:rPr lang="en-US" altLang="zh-CN" sz="28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2</a:t>
                </a:r>
                <a:endParaRPr lang="en-US" altLang="zh-CN" sz="28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9" name="AutoShape 14"/>
              <p:cNvSpPr>
                <a:spLocks noChangeArrowheads="1"/>
              </p:cNvSpPr>
              <p:nvPr/>
            </p:nvSpPr>
            <p:spPr bwMode="auto">
              <a:xfrm>
                <a:off x="4140" y="9864"/>
                <a:ext cx="540" cy="156"/>
              </a:xfrm>
              <a:prstGeom prst="rightArrow">
                <a:avLst>
                  <a:gd name="adj1" fmla="val 50000"/>
                  <a:gd name="adj2" fmla="val 86538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20" name="AutoShape 15"/>
              <p:cNvSpPr>
                <a:spLocks noChangeArrowheads="1"/>
              </p:cNvSpPr>
              <p:nvPr/>
            </p:nvSpPr>
            <p:spPr bwMode="auto">
              <a:xfrm>
                <a:off x="2160" y="9864"/>
                <a:ext cx="540" cy="156"/>
              </a:xfrm>
              <a:prstGeom prst="rightArrow">
                <a:avLst>
                  <a:gd name="adj1" fmla="val 50000"/>
                  <a:gd name="adj2" fmla="val 86538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21" name="Rectangle 16"/>
              <p:cNvSpPr>
                <a:spLocks noChangeArrowheads="1"/>
              </p:cNvSpPr>
              <p:nvPr/>
            </p:nvSpPr>
            <p:spPr bwMode="auto">
              <a:xfrm>
                <a:off x="6300" y="9084"/>
                <a:ext cx="3960" cy="124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模块</a:t>
                </a:r>
                <a:r>
                  <a:rPr lang="en-US" altLang="zh-CN" sz="28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2</a:t>
                </a:r>
                <a:endParaRPr lang="en-US" altLang="zh-CN" sz="28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2" name="Rectangle 17"/>
              <p:cNvSpPr>
                <a:spLocks noChangeArrowheads="1"/>
              </p:cNvSpPr>
              <p:nvPr/>
            </p:nvSpPr>
            <p:spPr bwMode="auto">
              <a:xfrm>
                <a:off x="6660" y="9708"/>
                <a:ext cx="1440" cy="46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800">
                    <a:latin typeface="黑体" panose="02010609060101010101" pitchFamily="49" charset="-122"/>
                    <a:ea typeface="黑体" panose="02010609060101010101" pitchFamily="49" charset="-122"/>
                  </a:rPr>
                  <a:t>程序单元</a:t>
                </a:r>
                <a:r>
                  <a:rPr lang="en-US" altLang="zh-CN" sz="2800">
                    <a:latin typeface="黑体" panose="02010609060101010101" pitchFamily="49" charset="-122"/>
                    <a:ea typeface="黑体" panose="02010609060101010101" pitchFamily="49" charset="-122"/>
                  </a:rPr>
                  <a:t>3</a:t>
                </a:r>
                <a:endParaRPr lang="en-US" altLang="zh-CN" sz="28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3" name="Rectangle 18"/>
              <p:cNvSpPr>
                <a:spLocks noChangeArrowheads="1"/>
              </p:cNvSpPr>
              <p:nvPr/>
            </p:nvSpPr>
            <p:spPr bwMode="auto">
              <a:xfrm>
                <a:off x="8640" y="9708"/>
                <a:ext cx="1440" cy="46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800">
                    <a:latin typeface="黑体" panose="02010609060101010101" pitchFamily="49" charset="-122"/>
                    <a:ea typeface="黑体" panose="02010609060101010101" pitchFamily="49" charset="-122"/>
                  </a:rPr>
                  <a:t>程序单元</a:t>
                </a:r>
                <a:r>
                  <a:rPr lang="en-US" altLang="zh-CN" sz="2800">
                    <a:latin typeface="黑体" panose="02010609060101010101" pitchFamily="49" charset="-122"/>
                    <a:ea typeface="黑体" panose="02010609060101010101" pitchFamily="49" charset="-122"/>
                  </a:rPr>
                  <a:t>4</a:t>
                </a:r>
                <a:endParaRPr lang="en-US" altLang="zh-CN" sz="28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4" name="AutoShape 19"/>
              <p:cNvSpPr>
                <a:spLocks noChangeArrowheads="1"/>
              </p:cNvSpPr>
              <p:nvPr/>
            </p:nvSpPr>
            <p:spPr bwMode="auto">
              <a:xfrm>
                <a:off x="8100" y="9864"/>
                <a:ext cx="540" cy="156"/>
              </a:xfrm>
              <a:prstGeom prst="rightArrow">
                <a:avLst>
                  <a:gd name="adj1" fmla="val 50000"/>
                  <a:gd name="adj2" fmla="val 86538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25" name="AutoShape 20"/>
              <p:cNvSpPr>
                <a:spLocks noChangeArrowheads="1"/>
              </p:cNvSpPr>
              <p:nvPr/>
            </p:nvSpPr>
            <p:spPr bwMode="auto">
              <a:xfrm>
                <a:off x="6120" y="9864"/>
                <a:ext cx="540" cy="156"/>
              </a:xfrm>
              <a:prstGeom prst="rightArrow">
                <a:avLst>
                  <a:gd name="adj1" fmla="val 50000"/>
                  <a:gd name="adj2" fmla="val 86538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26" name="Rectangle 21"/>
              <p:cNvSpPr>
                <a:spLocks noChangeArrowheads="1"/>
              </p:cNvSpPr>
              <p:nvPr/>
            </p:nvSpPr>
            <p:spPr bwMode="auto">
              <a:xfrm>
                <a:off x="1620" y="9240"/>
                <a:ext cx="540" cy="124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anchor="ctr" anchorCtr="1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输入</a:t>
                </a:r>
                <a:endParaRPr lang="en-US" altLang="zh-CN" sz="28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7" name="Rectangle 22"/>
              <p:cNvSpPr>
                <a:spLocks noChangeArrowheads="1"/>
              </p:cNvSpPr>
              <p:nvPr/>
            </p:nvSpPr>
            <p:spPr bwMode="auto">
              <a:xfrm>
                <a:off x="2340" y="11424"/>
                <a:ext cx="7920" cy="202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28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28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28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800">
                    <a:latin typeface="黑体" panose="02010609060101010101" pitchFamily="49" charset="-122"/>
                    <a:ea typeface="黑体" panose="02010609060101010101" pitchFamily="49" charset="-122"/>
                  </a:rPr>
                  <a:t>子系统</a:t>
                </a:r>
                <a:r>
                  <a:rPr lang="en-US" altLang="zh-CN" sz="2800">
                    <a:latin typeface="黑体" panose="02010609060101010101" pitchFamily="49" charset="-122"/>
                    <a:ea typeface="黑体" panose="02010609060101010101" pitchFamily="49" charset="-122"/>
                  </a:rPr>
                  <a:t>2</a:t>
                </a:r>
                <a:endParaRPr lang="en-US" altLang="zh-CN" sz="28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8" name="Rectangle 23"/>
              <p:cNvSpPr>
                <a:spLocks noChangeArrowheads="1"/>
              </p:cNvSpPr>
              <p:nvPr/>
            </p:nvSpPr>
            <p:spPr bwMode="auto">
              <a:xfrm>
                <a:off x="2340" y="11580"/>
                <a:ext cx="3960" cy="124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模块</a:t>
                </a:r>
                <a:r>
                  <a:rPr lang="en-US" altLang="zh-CN" sz="28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4</a:t>
                </a:r>
                <a:endParaRPr lang="en-US" altLang="zh-CN" sz="28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9" name="Rectangle 24"/>
              <p:cNvSpPr>
                <a:spLocks noChangeArrowheads="1"/>
              </p:cNvSpPr>
              <p:nvPr/>
            </p:nvSpPr>
            <p:spPr bwMode="auto">
              <a:xfrm>
                <a:off x="2700" y="12204"/>
                <a:ext cx="1440" cy="46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800">
                    <a:latin typeface="黑体" panose="02010609060101010101" pitchFamily="49" charset="-122"/>
                    <a:ea typeface="黑体" panose="02010609060101010101" pitchFamily="49" charset="-122"/>
                  </a:rPr>
                  <a:t>程序单元</a:t>
                </a:r>
                <a:r>
                  <a:rPr lang="en-US" altLang="zh-CN" sz="2800">
                    <a:latin typeface="黑体" panose="02010609060101010101" pitchFamily="49" charset="-122"/>
                    <a:ea typeface="黑体" panose="02010609060101010101" pitchFamily="49" charset="-122"/>
                  </a:rPr>
                  <a:t>8</a:t>
                </a:r>
                <a:endParaRPr lang="en-US" altLang="zh-CN" sz="28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30" name="Rectangle 25"/>
              <p:cNvSpPr>
                <a:spLocks noChangeArrowheads="1"/>
              </p:cNvSpPr>
              <p:nvPr/>
            </p:nvSpPr>
            <p:spPr bwMode="auto">
              <a:xfrm>
                <a:off x="4680" y="12204"/>
                <a:ext cx="1440" cy="46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800">
                    <a:latin typeface="黑体" panose="02010609060101010101" pitchFamily="49" charset="-122"/>
                    <a:ea typeface="黑体" panose="02010609060101010101" pitchFamily="49" charset="-122"/>
                  </a:rPr>
                  <a:t>程序单元</a:t>
                </a:r>
                <a:r>
                  <a:rPr lang="en-US" altLang="zh-CN" sz="2800">
                    <a:latin typeface="黑体" panose="02010609060101010101" pitchFamily="49" charset="-122"/>
                    <a:ea typeface="黑体" panose="02010609060101010101" pitchFamily="49" charset="-122"/>
                  </a:rPr>
                  <a:t>7</a:t>
                </a:r>
                <a:endParaRPr lang="en-US" altLang="zh-CN" sz="28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31" name="Rectangle 26"/>
              <p:cNvSpPr>
                <a:spLocks noChangeArrowheads="1"/>
              </p:cNvSpPr>
              <p:nvPr/>
            </p:nvSpPr>
            <p:spPr bwMode="auto">
              <a:xfrm>
                <a:off x="6300" y="11580"/>
                <a:ext cx="3960" cy="124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模块</a:t>
                </a:r>
                <a:r>
                  <a:rPr lang="en-US" altLang="zh-CN" sz="28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3</a:t>
                </a:r>
                <a:endParaRPr lang="en-US" altLang="zh-CN" sz="28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32" name="Rectangle 27"/>
              <p:cNvSpPr>
                <a:spLocks noChangeArrowheads="1"/>
              </p:cNvSpPr>
              <p:nvPr/>
            </p:nvSpPr>
            <p:spPr bwMode="auto">
              <a:xfrm>
                <a:off x="6660" y="12204"/>
                <a:ext cx="1440" cy="46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800">
                    <a:latin typeface="黑体" panose="02010609060101010101" pitchFamily="49" charset="-122"/>
                    <a:ea typeface="黑体" panose="02010609060101010101" pitchFamily="49" charset="-122"/>
                  </a:rPr>
                  <a:t>程序单元</a:t>
                </a:r>
                <a:r>
                  <a:rPr lang="en-US" altLang="zh-CN" sz="2800">
                    <a:latin typeface="黑体" panose="02010609060101010101" pitchFamily="49" charset="-122"/>
                    <a:ea typeface="黑体" panose="02010609060101010101" pitchFamily="49" charset="-122"/>
                  </a:rPr>
                  <a:t>6</a:t>
                </a:r>
                <a:endParaRPr lang="en-US" altLang="zh-CN" sz="28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33" name="Rectangle 28"/>
              <p:cNvSpPr>
                <a:spLocks noChangeArrowheads="1"/>
              </p:cNvSpPr>
              <p:nvPr/>
            </p:nvSpPr>
            <p:spPr bwMode="auto">
              <a:xfrm>
                <a:off x="8640" y="12204"/>
                <a:ext cx="1440" cy="46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800">
                    <a:latin typeface="黑体" panose="02010609060101010101" pitchFamily="49" charset="-122"/>
                    <a:ea typeface="黑体" panose="02010609060101010101" pitchFamily="49" charset="-122"/>
                  </a:rPr>
                  <a:t>程序单元</a:t>
                </a:r>
                <a:r>
                  <a:rPr lang="en-US" altLang="zh-CN" sz="2800">
                    <a:latin typeface="黑体" panose="02010609060101010101" pitchFamily="49" charset="-122"/>
                    <a:ea typeface="黑体" panose="02010609060101010101" pitchFamily="49" charset="-122"/>
                  </a:rPr>
                  <a:t>5</a:t>
                </a:r>
                <a:endParaRPr lang="en-US" altLang="zh-CN" sz="280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34" name="AutoShape 29"/>
              <p:cNvSpPr>
                <a:spLocks noChangeArrowheads="1"/>
              </p:cNvSpPr>
              <p:nvPr/>
            </p:nvSpPr>
            <p:spPr bwMode="auto">
              <a:xfrm>
                <a:off x="8100" y="12360"/>
                <a:ext cx="540" cy="156"/>
              </a:xfrm>
              <a:prstGeom prst="leftArrow">
                <a:avLst>
                  <a:gd name="adj1" fmla="val 50000"/>
                  <a:gd name="adj2" fmla="val 86538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35" name="AutoShape 30"/>
              <p:cNvSpPr>
                <a:spLocks noChangeArrowheads="1"/>
              </p:cNvSpPr>
              <p:nvPr/>
            </p:nvSpPr>
            <p:spPr bwMode="auto">
              <a:xfrm>
                <a:off x="6120" y="12360"/>
                <a:ext cx="540" cy="156"/>
              </a:xfrm>
              <a:prstGeom prst="leftArrow">
                <a:avLst>
                  <a:gd name="adj1" fmla="val 50000"/>
                  <a:gd name="adj2" fmla="val 86538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36" name="AutoShape 31"/>
              <p:cNvSpPr>
                <a:spLocks noChangeArrowheads="1"/>
              </p:cNvSpPr>
              <p:nvPr/>
            </p:nvSpPr>
            <p:spPr bwMode="auto">
              <a:xfrm>
                <a:off x="4140" y="12360"/>
                <a:ext cx="540" cy="156"/>
              </a:xfrm>
              <a:prstGeom prst="leftArrow">
                <a:avLst>
                  <a:gd name="adj1" fmla="val 50000"/>
                  <a:gd name="adj2" fmla="val 86538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37" name="AutoShape 32"/>
              <p:cNvSpPr>
                <a:spLocks noChangeArrowheads="1"/>
              </p:cNvSpPr>
              <p:nvPr/>
            </p:nvSpPr>
            <p:spPr bwMode="auto">
              <a:xfrm>
                <a:off x="9180" y="10176"/>
                <a:ext cx="180" cy="2028"/>
              </a:xfrm>
              <a:prstGeom prst="downArrow">
                <a:avLst>
                  <a:gd name="adj1" fmla="val 50000"/>
                  <a:gd name="adj2" fmla="val 281667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vert="eaVert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38" name="Rectangle 33"/>
              <p:cNvSpPr>
                <a:spLocks noChangeArrowheads="1"/>
              </p:cNvSpPr>
              <p:nvPr/>
            </p:nvSpPr>
            <p:spPr bwMode="auto">
              <a:xfrm>
                <a:off x="1620" y="11736"/>
                <a:ext cx="540" cy="124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anchor="ctr" anchorCtr="1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8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输出</a:t>
                </a:r>
                <a:endParaRPr lang="en-US" altLang="zh-CN" sz="28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39" name="AutoShape 34"/>
              <p:cNvSpPr>
                <a:spLocks noChangeArrowheads="1"/>
              </p:cNvSpPr>
              <p:nvPr/>
            </p:nvSpPr>
            <p:spPr bwMode="auto">
              <a:xfrm>
                <a:off x="2160" y="12360"/>
                <a:ext cx="540" cy="156"/>
              </a:xfrm>
              <a:prstGeom prst="leftArrow">
                <a:avLst>
                  <a:gd name="adj1" fmla="val 50000"/>
                  <a:gd name="adj2" fmla="val 86538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70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5000"/>
                  <a:buFont typeface="Wingdings" panose="05000000000000000000" pitchFamily="2" charset="2"/>
                  <a:buChar char="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90000"/>
                  <a:buFont typeface="Wingdings" panose="05000000000000000000" pitchFamily="2" charset="2"/>
                  <a:buChar char="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85000"/>
                  <a:buFont typeface="Wingdings" panose="05000000000000000000" pitchFamily="2" charset="2"/>
                  <a:buChar char="v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</p:grpSp>
      </p:grpSp>
      <p:sp>
        <p:nvSpPr>
          <p:cNvPr id="3" name="Arrow: Down 2"/>
          <p:cNvSpPr/>
          <p:nvPr/>
        </p:nvSpPr>
        <p:spPr>
          <a:xfrm>
            <a:off x="7797292" y="2792469"/>
            <a:ext cx="542260" cy="2067005"/>
          </a:xfrm>
          <a:prstGeom prst="downArrow">
            <a:avLst/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40" name="Arrow: Down 39"/>
          <p:cNvSpPr/>
          <p:nvPr/>
        </p:nvSpPr>
        <p:spPr>
          <a:xfrm>
            <a:off x="10909214" y="2831124"/>
            <a:ext cx="542260" cy="2067005"/>
          </a:xfrm>
          <a:prstGeom prst="downArrow">
            <a:avLst/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41" name="Arrow: Down 40"/>
          <p:cNvSpPr/>
          <p:nvPr/>
        </p:nvSpPr>
        <p:spPr>
          <a:xfrm>
            <a:off x="13978376" y="2806643"/>
            <a:ext cx="542260" cy="2067005"/>
          </a:xfrm>
          <a:prstGeom prst="downArrow">
            <a:avLst/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42" name="Arrow: Down 41"/>
          <p:cNvSpPr/>
          <p:nvPr/>
        </p:nvSpPr>
        <p:spPr>
          <a:xfrm>
            <a:off x="17061825" y="2785377"/>
            <a:ext cx="542260" cy="2067005"/>
          </a:xfrm>
          <a:prstGeom prst="downArrow">
            <a:avLst/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43" name="Arrow: Down 42"/>
          <p:cNvSpPr/>
          <p:nvPr/>
        </p:nvSpPr>
        <p:spPr>
          <a:xfrm rot="10800000">
            <a:off x="7891727" y="9936734"/>
            <a:ext cx="542260" cy="2067005"/>
          </a:xfrm>
          <a:prstGeom prst="downArrow">
            <a:avLst/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44" name="Arrow: Down 43"/>
          <p:cNvSpPr/>
          <p:nvPr/>
        </p:nvSpPr>
        <p:spPr>
          <a:xfrm rot="10800000">
            <a:off x="11003649" y="9975389"/>
            <a:ext cx="542260" cy="2067005"/>
          </a:xfrm>
          <a:prstGeom prst="downArrow">
            <a:avLst/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45" name="Arrow: Down 44"/>
          <p:cNvSpPr/>
          <p:nvPr/>
        </p:nvSpPr>
        <p:spPr>
          <a:xfrm rot="10800000">
            <a:off x="14072811" y="9950908"/>
            <a:ext cx="542260" cy="2067005"/>
          </a:xfrm>
          <a:prstGeom prst="downArrow">
            <a:avLst/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46" name="Arrow: Down 45"/>
          <p:cNvSpPr/>
          <p:nvPr/>
        </p:nvSpPr>
        <p:spPr>
          <a:xfrm rot="10800000">
            <a:off x="17156260" y="9929642"/>
            <a:ext cx="542260" cy="2067005"/>
          </a:xfrm>
          <a:prstGeom prst="downArrow">
            <a:avLst/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4" name="Rectangle: Rounded Corners 3"/>
          <p:cNvSpPr/>
          <p:nvPr/>
        </p:nvSpPr>
        <p:spPr>
          <a:xfrm>
            <a:off x="6592186" y="4774019"/>
            <a:ext cx="12352122" cy="5256906"/>
          </a:xfrm>
          <a:prstGeom prst="roundRect">
            <a:avLst/>
          </a:prstGeom>
          <a:noFill/>
          <a:ln w="762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5" name="Arrow: U-Turn 4"/>
          <p:cNvSpPr/>
          <p:nvPr/>
        </p:nvSpPr>
        <p:spPr>
          <a:xfrm rot="5400000">
            <a:off x="10442543" y="2247117"/>
            <a:ext cx="4050262" cy="10217447"/>
          </a:xfrm>
          <a:prstGeom prst="uturnArrow">
            <a:avLst>
              <a:gd name="adj1" fmla="val 25000"/>
              <a:gd name="adj2" fmla="val 25000"/>
              <a:gd name="adj3" fmla="val 25000"/>
              <a:gd name="adj4" fmla="val 43750"/>
              <a:gd name="adj5" fmla="val 75000"/>
            </a:avLst>
          </a:prstGeom>
          <a:solidFill>
            <a:srgbClr val="FF0000">
              <a:alpha val="45098"/>
            </a:srgbClr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48657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4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3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" grpId="0" animBg="1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集成测试的概念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1</a:t>
            </a:r>
            <a:endParaRPr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2737970" y="2801047"/>
            <a:ext cx="19313647" cy="1023909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t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pPr algn="just"/>
            <a:r>
              <a:rPr lang="zh-CN" altLang="en-US" sz="4800" b="1" dirty="0"/>
              <a:t>集成测试与系统测试的区别</a:t>
            </a:r>
            <a:endParaRPr lang="en-US" altLang="zh-CN" sz="4800" b="1" dirty="0"/>
          </a:p>
          <a:p>
            <a:pPr lvl="2" algn="just"/>
            <a:r>
              <a:rPr lang="zh-CN" altLang="en-US" sz="4800" dirty="0"/>
              <a:t>测试对象：</a:t>
            </a:r>
            <a:endParaRPr lang="en-US" altLang="zh-CN" sz="4800" dirty="0"/>
          </a:p>
          <a:p>
            <a:pPr lvl="3" algn="just">
              <a:spcBef>
                <a:spcPts val="600"/>
              </a:spcBef>
            </a:pPr>
            <a:r>
              <a:rPr lang="zh-CN" altLang="en-US" sz="4800" dirty="0"/>
              <a:t>系统测试：整个系统。</a:t>
            </a:r>
            <a:endParaRPr lang="zh-CN" altLang="en-US" sz="4800" dirty="0"/>
          </a:p>
          <a:p>
            <a:pPr lvl="3" algn="just">
              <a:spcBef>
                <a:spcPts val="600"/>
              </a:spcBef>
            </a:pPr>
            <a:r>
              <a:rPr lang="zh-CN" altLang="en-US" sz="4800" dirty="0"/>
              <a:t>集成测试：一系列相互交互的模块。</a:t>
            </a:r>
            <a:endParaRPr lang="zh-CN" altLang="en-US" sz="4800" dirty="0"/>
          </a:p>
          <a:p>
            <a:pPr lvl="2" algn="just"/>
            <a:r>
              <a:rPr lang="zh-CN" altLang="en-US" sz="4800" dirty="0"/>
              <a:t>测试目的：</a:t>
            </a:r>
            <a:endParaRPr lang="zh-CN" altLang="en-US" sz="4800" dirty="0"/>
          </a:p>
          <a:p>
            <a:pPr lvl="3" algn="just">
              <a:spcBef>
                <a:spcPts val="600"/>
              </a:spcBef>
            </a:pPr>
            <a:r>
              <a:rPr lang="zh-CN" altLang="en-US" sz="4800" dirty="0"/>
              <a:t>系统测试：以用户的角度测试整个系统的功能及非功能性。</a:t>
            </a:r>
            <a:endParaRPr lang="zh-CN" altLang="en-US" sz="4800" dirty="0"/>
          </a:p>
          <a:p>
            <a:pPr lvl="3" algn="just">
              <a:spcBef>
                <a:spcPts val="600"/>
              </a:spcBef>
            </a:pPr>
            <a:r>
              <a:rPr lang="zh-CN" altLang="en-US" sz="4800" dirty="0"/>
              <a:t>集成测试：找出模块接口上的问题。</a:t>
            </a:r>
            <a:endParaRPr lang="en-US" altLang="zh-CN" sz="4800" dirty="0"/>
          </a:p>
          <a:p>
            <a:pPr lvl="2" algn="just"/>
            <a:r>
              <a:rPr lang="zh-CN" altLang="en-US" sz="4800" dirty="0"/>
              <a:t>测试依据：</a:t>
            </a:r>
            <a:endParaRPr lang="zh-CN" altLang="en-US" sz="4800" dirty="0"/>
          </a:p>
          <a:p>
            <a:pPr lvl="3" algn="just">
              <a:spcBef>
                <a:spcPts val="600"/>
              </a:spcBef>
            </a:pPr>
            <a:r>
              <a:rPr lang="zh-CN" altLang="en-US" sz="4800" dirty="0"/>
              <a:t>系统测试：需求规格说明书。</a:t>
            </a:r>
            <a:endParaRPr lang="zh-CN" altLang="en-US" sz="4800" dirty="0"/>
          </a:p>
          <a:p>
            <a:pPr lvl="3" algn="just">
              <a:spcBef>
                <a:spcPts val="600"/>
              </a:spcBef>
            </a:pPr>
            <a:r>
              <a:rPr lang="zh-CN" altLang="en-US" sz="4800" dirty="0"/>
              <a:t>集成测试：概要设计。</a:t>
            </a:r>
            <a:endParaRPr lang="en-US" altLang="zh-CN" sz="4800" dirty="0"/>
          </a:p>
          <a:p>
            <a:pPr lvl="3" algn="just">
              <a:spcBef>
                <a:spcPts val="600"/>
              </a:spcBef>
            </a:pPr>
            <a:endParaRPr lang="zh-CN" altLang="en-US" sz="4800" dirty="0"/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11123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集成测试的概念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1</a:t>
            </a:r>
            <a:endParaRPr dirty="0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3640180" y="3419061"/>
          <a:ext cx="17103640" cy="853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4" name="Picture" r:id="rId1" imgW="34223325" imgH="17106900" progId="Word.Picture.8">
                  <p:embed/>
                </p:oleObj>
              </mc:Choice>
              <mc:Fallback>
                <p:oleObj name="Picture" r:id="rId1" imgW="34223325" imgH="17106900" progId="Word.Picture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0180" y="3419061"/>
                        <a:ext cx="17103640" cy="853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p:transition spd="med" advTm="56937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矩形"/>
          <p:cNvSpPr/>
          <p:nvPr/>
        </p:nvSpPr>
        <p:spPr>
          <a:xfrm>
            <a:off x="0" y="-1"/>
            <a:ext cx="7841556" cy="13716001"/>
          </a:xfrm>
          <a:prstGeom prst="rect">
            <a:avLst/>
          </a:prstGeom>
          <a:solidFill>
            <a:srgbClr val="A8271A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grpSp>
        <p:nvGrpSpPr>
          <p:cNvPr id="3" name="组合 2"/>
          <p:cNvGrpSpPr/>
          <p:nvPr/>
        </p:nvGrpSpPr>
        <p:grpSpPr>
          <a:xfrm>
            <a:off x="1020575" y="5555311"/>
            <a:ext cx="5189258" cy="2605375"/>
            <a:chOff x="1130303" y="5796540"/>
            <a:chExt cx="5189258" cy="2605375"/>
          </a:xfrm>
        </p:grpSpPr>
        <p:sp>
          <p:nvSpPr>
            <p:cNvPr id="132" name="文本框 3"/>
            <p:cNvSpPr txBox="1"/>
            <p:nvPr/>
          </p:nvSpPr>
          <p:spPr>
            <a:xfrm>
              <a:off x="1821401" y="7230559"/>
              <a:ext cx="3807062" cy="906381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240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r>
                <a:rPr dirty="0"/>
                <a:t>CONTENTS</a:t>
              </a:r>
              <a:endParaRPr dirty="0"/>
            </a:p>
          </p:txBody>
        </p:sp>
        <p:sp>
          <p:nvSpPr>
            <p:cNvPr id="133" name="文本框 3"/>
            <p:cNvSpPr txBox="1"/>
            <p:nvPr/>
          </p:nvSpPr>
          <p:spPr>
            <a:xfrm>
              <a:off x="1130303" y="5796540"/>
              <a:ext cx="5189258" cy="2605375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7000" spc="1166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>
                <a:defRPr b="0"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  <a:r>
                <a:rPr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目录</a:t>
              </a:r>
              <a:endParaRPr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127" name="矩形 5"/>
          <p:cNvSpPr txBox="1"/>
          <p:nvPr/>
        </p:nvSpPr>
        <p:spPr>
          <a:xfrm>
            <a:off x="11215455" y="4379996"/>
            <a:ext cx="4581135" cy="85455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4400" dirty="0">
                <a:solidFill>
                  <a:srgbClr val="000000"/>
                </a:solidFill>
              </a:rPr>
              <a:t>集成测试的概念</a:t>
            </a:r>
            <a:endParaRPr lang="zh-CN" altLang="en-US" sz="4400" dirty="0">
              <a:solidFill>
                <a:srgbClr val="000000"/>
              </a:solidFill>
            </a:endParaRPr>
          </a:p>
        </p:txBody>
      </p:sp>
      <p:sp>
        <p:nvSpPr>
          <p:cNvPr id="128" name="Freeform 5"/>
          <p:cNvSpPr/>
          <p:nvPr/>
        </p:nvSpPr>
        <p:spPr>
          <a:xfrm rot="5400000">
            <a:off x="9211673" y="4189323"/>
            <a:ext cx="1343465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129" name="矩形 11"/>
          <p:cNvSpPr txBox="1"/>
          <p:nvPr/>
        </p:nvSpPr>
        <p:spPr>
          <a:xfrm>
            <a:off x="9088558" y="4325275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01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9088558" y="6186268"/>
            <a:ext cx="7717602" cy="1343465"/>
            <a:chOff x="9218067" y="3086516"/>
            <a:chExt cx="7717602" cy="1343465"/>
          </a:xfrm>
        </p:grpSpPr>
        <p:sp>
          <p:nvSpPr>
            <p:cNvPr id="134" name="矩形 5"/>
            <p:cNvSpPr txBox="1"/>
            <p:nvPr/>
          </p:nvSpPr>
          <p:spPr>
            <a:xfrm>
              <a:off x="11344964" y="3359705"/>
              <a:ext cx="5590705" cy="7151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b="1" dirty="0">
                  <a:solidFill>
                    <a:srgbClr val="FF0000"/>
                  </a:solidFill>
                </a:rPr>
                <a:t>集成测试方法</a:t>
              </a:r>
              <a:endParaRPr sz="4400" b="1" dirty="0">
                <a:solidFill>
                  <a:srgbClr val="FF0000"/>
                </a:solidFill>
              </a:endParaRPr>
            </a:p>
          </p:txBody>
        </p:sp>
        <p:sp>
          <p:nvSpPr>
            <p:cNvPr id="135" name="Freeform 5"/>
            <p:cNvSpPr/>
            <p:nvPr/>
          </p:nvSpPr>
          <p:spPr>
            <a:xfrm rot="5400000">
              <a:off x="9341182" y="3140297"/>
              <a:ext cx="1343465" cy="12359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136" name="矩形 11"/>
            <p:cNvSpPr txBox="1"/>
            <p:nvPr/>
          </p:nvSpPr>
          <p:spPr>
            <a:xfrm>
              <a:off x="9218067" y="3235304"/>
              <a:ext cx="1589696" cy="9639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t>02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9088558" y="8157481"/>
            <a:ext cx="7717601" cy="1343465"/>
            <a:chOff x="9218067" y="4940563"/>
            <a:chExt cx="7717601" cy="1343465"/>
          </a:xfrm>
        </p:grpSpPr>
        <p:sp>
          <p:nvSpPr>
            <p:cNvPr id="139" name="Freeform 5"/>
            <p:cNvSpPr/>
            <p:nvPr/>
          </p:nvSpPr>
          <p:spPr>
            <a:xfrm rot="5400000">
              <a:off x="9341182" y="4994344"/>
              <a:ext cx="1343465" cy="12359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140" name="矩形 11"/>
            <p:cNvSpPr txBox="1"/>
            <p:nvPr/>
          </p:nvSpPr>
          <p:spPr>
            <a:xfrm>
              <a:off x="9218067" y="5130296"/>
              <a:ext cx="1589696" cy="9639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rPr dirty="0"/>
                <a:t>03</a:t>
              </a:r>
              <a:endParaRPr dirty="0"/>
            </a:p>
          </p:txBody>
        </p:sp>
        <p:sp>
          <p:nvSpPr>
            <p:cNvPr id="18" name="矩形 5"/>
            <p:cNvSpPr txBox="1"/>
            <p:nvPr/>
          </p:nvSpPr>
          <p:spPr>
            <a:xfrm>
              <a:off x="11344963" y="5213752"/>
              <a:ext cx="5590705" cy="7151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dirty="0">
                  <a:solidFill>
                    <a:srgbClr val="000000"/>
                  </a:solidFill>
                </a:rPr>
                <a:t>小结</a:t>
              </a:r>
              <a:endParaRPr lang="zh-CN" altLang="en-US" sz="4400" dirty="0">
                <a:solidFill>
                  <a:srgbClr val="000000"/>
                </a:solidFill>
              </a:endParaRPr>
            </a:p>
          </p:txBody>
        </p:sp>
      </p:grp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</p:cSld>
  <p:clrMapOvr>
    <a:masterClrMapping/>
  </p:clrMapOvr>
  <p:transition spd="med" advTm="11655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集成测试方法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2</a:t>
            </a:r>
            <a:endParaRPr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2737970" y="2801047"/>
            <a:ext cx="9670225" cy="1023909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t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pPr algn="just"/>
            <a:r>
              <a:rPr lang="zh-CN" altLang="en-US" sz="4800" b="1" dirty="0"/>
              <a:t>静态测试</a:t>
            </a:r>
            <a:endParaRPr lang="en-US" altLang="zh-CN" sz="4800" b="1" dirty="0"/>
          </a:p>
          <a:p>
            <a:pPr lvl="2" algn="just"/>
            <a:r>
              <a:rPr lang="zh-CN" altLang="en-US" sz="4800" dirty="0"/>
              <a:t>测试对象：总体</a:t>
            </a:r>
            <a:r>
              <a:rPr lang="en-US" altLang="zh-CN" sz="4800" dirty="0"/>
              <a:t>/</a:t>
            </a:r>
            <a:r>
              <a:rPr lang="zh-CN" altLang="en-US" sz="4800" dirty="0"/>
              <a:t>概要设计</a:t>
            </a:r>
            <a:endParaRPr lang="en-US" altLang="zh-CN" sz="4800" dirty="0"/>
          </a:p>
          <a:p>
            <a:pPr lvl="2" algn="just"/>
            <a:r>
              <a:rPr lang="zh-CN" altLang="en-US" sz="4800" dirty="0"/>
              <a:t>测试依据：系统需求</a:t>
            </a:r>
            <a:endParaRPr lang="zh-CN" altLang="en-US" sz="4800" dirty="0"/>
          </a:p>
          <a:p>
            <a:pPr algn="just"/>
            <a:r>
              <a:rPr lang="zh-CN" altLang="en-US" sz="4800" b="1" dirty="0"/>
              <a:t>动态测试</a:t>
            </a:r>
            <a:endParaRPr lang="en-US" altLang="zh-CN" sz="4800" b="1" dirty="0"/>
          </a:p>
          <a:p>
            <a:pPr lvl="2" algn="just"/>
            <a:r>
              <a:rPr lang="zh-CN" altLang="en-US" sz="4800" dirty="0"/>
              <a:t>测试对象：一系列功能相关的单元</a:t>
            </a:r>
            <a:endParaRPr lang="en-US" altLang="zh-CN" sz="4800" dirty="0"/>
          </a:p>
          <a:p>
            <a:pPr lvl="2" algn="just"/>
            <a:r>
              <a:rPr lang="zh-CN" altLang="en-US" sz="4800" dirty="0"/>
              <a:t>测试依据：概要设计</a:t>
            </a:r>
            <a:endParaRPr lang="zh-CN" altLang="en-US" sz="4800" dirty="0"/>
          </a:p>
          <a:p>
            <a:pPr lvl="3" algn="just">
              <a:spcBef>
                <a:spcPts val="600"/>
              </a:spcBef>
            </a:pPr>
            <a:endParaRPr lang="zh-CN" altLang="en-US" sz="4800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13109943" y="4232443"/>
          <a:ext cx="10526686" cy="52511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0" name="Picture" r:id="rId1" imgW="34223325" imgH="17106900" progId="Word.Picture.8">
                  <p:embed/>
                </p:oleObj>
              </mc:Choice>
              <mc:Fallback>
                <p:oleObj name="Picture" r:id="rId1" imgW="34223325" imgH="17106900" progId="Word.Picture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09943" y="4232443"/>
                        <a:ext cx="10526686" cy="52511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p:transition spd="med" advTm="58192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集成测试方法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2</a:t>
            </a:r>
            <a:endParaRPr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2737969" y="2801047"/>
            <a:ext cx="20264906" cy="1023909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t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pPr algn="just"/>
            <a:r>
              <a:rPr lang="zh-CN" altLang="en-US" sz="4800" b="1" dirty="0"/>
              <a:t>静态测试</a:t>
            </a:r>
            <a:endParaRPr lang="en-US" altLang="zh-CN" sz="4800" b="1" dirty="0"/>
          </a:p>
          <a:p>
            <a:pPr lvl="2" algn="just"/>
            <a:r>
              <a:rPr lang="zh-CN" altLang="en-US" sz="4800" dirty="0"/>
              <a:t>测试对象：总体</a:t>
            </a:r>
            <a:r>
              <a:rPr lang="en-US" altLang="zh-CN" sz="4800" dirty="0"/>
              <a:t>/</a:t>
            </a:r>
            <a:r>
              <a:rPr lang="zh-CN" altLang="en-US" sz="4800" dirty="0"/>
              <a:t>概要设计</a:t>
            </a:r>
            <a:endParaRPr lang="en-US" altLang="zh-CN" sz="4800" dirty="0"/>
          </a:p>
          <a:p>
            <a:pPr lvl="2" algn="just"/>
            <a:r>
              <a:rPr lang="zh-CN" altLang="en-US" sz="4800" dirty="0"/>
              <a:t>测试依据：系统需求</a:t>
            </a:r>
            <a:endParaRPr lang="en-US" altLang="zh-CN" sz="4800" dirty="0"/>
          </a:p>
          <a:p>
            <a:pPr lvl="2" algn="just"/>
            <a:r>
              <a:rPr lang="zh-CN" altLang="en-US" sz="4800" dirty="0"/>
              <a:t>测试目的：概要设计是否合理、是否与需求相吻合</a:t>
            </a:r>
            <a:endParaRPr lang="en-US" altLang="zh-CN" sz="4800" dirty="0"/>
          </a:p>
          <a:p>
            <a:pPr lvl="3" algn="just">
              <a:spcBef>
                <a:spcPts val="600"/>
              </a:spcBef>
            </a:pPr>
            <a:r>
              <a:rPr lang="zh-CN" altLang="en-US" sz="4800" dirty="0"/>
              <a:t>包括：体系结构、程序界面、数据结构、开发语言和工具的选择</a:t>
            </a:r>
            <a:endParaRPr lang="zh-CN" altLang="en-US" sz="4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algn="just"/>
            <a:r>
              <a:rPr lang="zh-CN" altLang="en-US" sz="4800" dirty="0"/>
              <a:t>测试方法：采用同行评审的形式（审查或小组评审） </a:t>
            </a:r>
            <a:endParaRPr lang="zh-CN" altLang="en-US" sz="4800" dirty="0"/>
          </a:p>
          <a:p>
            <a:pPr lvl="2" algn="just"/>
            <a:endParaRPr lang="en-US" altLang="zh-CN" sz="4800" dirty="0"/>
          </a:p>
          <a:p>
            <a:pPr lvl="2" algn="just"/>
            <a:endParaRPr lang="en-US" altLang="zh-CN" sz="4800" dirty="0"/>
          </a:p>
          <a:p>
            <a:pPr lvl="2" algn="just"/>
            <a:endParaRPr lang="zh-CN" altLang="en-US" sz="4800" dirty="0"/>
          </a:p>
          <a:p>
            <a:pPr lvl="3" algn="just">
              <a:spcBef>
                <a:spcPts val="600"/>
              </a:spcBef>
            </a:pPr>
            <a:endParaRPr lang="zh-CN" altLang="en-US" sz="4800" dirty="0"/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6919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集成测试方法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2</a:t>
            </a:r>
            <a:endParaRPr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2737970" y="2801047"/>
            <a:ext cx="19282058" cy="1023909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t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pPr algn="just"/>
            <a:r>
              <a:rPr lang="zh-CN" altLang="en-US" sz="4800" b="1" dirty="0"/>
              <a:t>动态测试的集成策略</a:t>
            </a:r>
            <a:endParaRPr lang="en-US" altLang="zh-CN" sz="4800" b="1" dirty="0"/>
          </a:p>
          <a:p>
            <a:pPr lvl="2" algn="just"/>
            <a:r>
              <a:rPr lang="zh-CN" altLang="en-US" sz="4800" dirty="0"/>
              <a:t>增量式</a:t>
            </a:r>
            <a:endParaRPr lang="en-US" altLang="zh-CN" sz="4800" dirty="0"/>
          </a:p>
          <a:p>
            <a:pPr lvl="2" algn="just"/>
            <a:r>
              <a:rPr lang="zh-CN" altLang="en-US" sz="4800" dirty="0"/>
              <a:t>非增量式</a:t>
            </a:r>
            <a:endParaRPr lang="zh-CN" altLang="en-US" sz="4800" dirty="0"/>
          </a:p>
          <a:p>
            <a:pPr lvl="2" algn="just"/>
            <a:endParaRPr lang="en-US" altLang="zh-CN" sz="4800" dirty="0"/>
          </a:p>
          <a:p>
            <a:pPr lvl="2" algn="just"/>
            <a:endParaRPr lang="zh-CN" altLang="en-US" sz="4800" dirty="0"/>
          </a:p>
          <a:p>
            <a:pPr lvl="3" algn="just">
              <a:spcBef>
                <a:spcPts val="600"/>
              </a:spcBef>
            </a:pPr>
            <a:endParaRPr lang="zh-CN" altLang="en-US" sz="4800" dirty="0"/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29767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集成测试方法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2</a:t>
            </a:r>
            <a:endParaRPr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2737970" y="2801047"/>
            <a:ext cx="19282058" cy="1023909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t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pPr algn="just"/>
            <a:r>
              <a:rPr lang="zh-CN" altLang="en-US" sz="4800" b="1" dirty="0"/>
              <a:t>非增量式</a:t>
            </a:r>
            <a:endParaRPr lang="en-US" altLang="zh-CN" sz="4800" b="1" dirty="0"/>
          </a:p>
          <a:p>
            <a:pPr lvl="2" algn="just"/>
            <a:r>
              <a:rPr lang="zh-CN" altLang="en-US" sz="4800" dirty="0"/>
              <a:t>一次性把所有模块按设计要求放在一起，看看他们是否满足概要设计。</a:t>
            </a:r>
            <a:endParaRPr lang="zh-CN" altLang="en-US" sz="4800" dirty="0"/>
          </a:p>
          <a:p>
            <a:pPr marL="635000" lvl="1" algn="just">
              <a:lnSpc>
                <a:spcPct val="200000"/>
              </a:lnSpc>
              <a:spcBef>
                <a:spcPts val="0"/>
              </a:spcBef>
              <a:buSzTx/>
              <a:buFont typeface="Wingdings" panose="05000000000000000000" pitchFamily="2" charset="2"/>
              <a:buChar char="n"/>
            </a:pPr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优点</a:t>
            </a:r>
            <a:endParaRPr lang="en-US" altLang="zh-CN" sz="4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algn="just"/>
            <a:r>
              <a:rPr lang="zh-CN" altLang="en-US" sz="4800" dirty="0"/>
              <a:t>简单</a:t>
            </a:r>
            <a:endParaRPr lang="en-US" altLang="zh-CN" sz="4800" dirty="0"/>
          </a:p>
          <a:p>
            <a:pPr marL="635000" lvl="1" algn="just">
              <a:lnSpc>
                <a:spcPct val="200000"/>
              </a:lnSpc>
              <a:spcBef>
                <a:spcPts val="0"/>
              </a:spcBef>
              <a:buSzTx/>
              <a:buFont typeface="Wingdings" panose="05000000000000000000" pitchFamily="2" charset="2"/>
              <a:buChar char="n"/>
            </a:pPr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缺点</a:t>
            </a:r>
            <a:endParaRPr lang="en-US" altLang="zh-CN" sz="4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algn="just"/>
            <a:r>
              <a:rPr lang="zh-CN" altLang="en-US" sz="4800" dirty="0"/>
              <a:t>发现错误后难以定位。</a:t>
            </a:r>
            <a:endParaRPr lang="en-US" altLang="zh-CN" sz="4800" dirty="0"/>
          </a:p>
          <a:p>
            <a:pPr lvl="2" algn="just"/>
            <a:endParaRPr lang="en-US" altLang="zh-CN" sz="4800" dirty="0"/>
          </a:p>
          <a:p>
            <a:pPr lvl="2" algn="just"/>
            <a:endParaRPr lang="zh-CN" altLang="en-US" sz="4800" dirty="0"/>
          </a:p>
          <a:p>
            <a:pPr lvl="3" algn="just">
              <a:spcBef>
                <a:spcPts val="600"/>
              </a:spcBef>
            </a:pPr>
            <a:endParaRPr lang="zh-CN" altLang="en-US" sz="4800" dirty="0"/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117887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集成测试方法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2</a:t>
            </a:r>
            <a:endParaRPr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2737970" y="2801047"/>
            <a:ext cx="19282058" cy="1023909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t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pPr algn="just"/>
            <a:r>
              <a:rPr lang="zh-CN" altLang="en-US" sz="4800" b="1" dirty="0"/>
              <a:t>增量式</a:t>
            </a:r>
            <a:endParaRPr lang="en-US" altLang="zh-CN" sz="4800" b="1" dirty="0"/>
          </a:p>
          <a:p>
            <a:pPr lvl="2" algn="just"/>
            <a:r>
              <a:rPr lang="zh-CN" altLang="en-US" sz="4800" dirty="0"/>
              <a:t>逐步组装成较大的系统，在组装的过程中边连接边测试。</a:t>
            </a:r>
            <a:endParaRPr lang="zh-CN" altLang="en-US" sz="4800" dirty="0"/>
          </a:p>
          <a:p>
            <a:pPr marL="635000" lvl="1" algn="just">
              <a:lnSpc>
                <a:spcPct val="200000"/>
              </a:lnSpc>
              <a:spcBef>
                <a:spcPts val="0"/>
              </a:spcBef>
              <a:buSzTx/>
              <a:buFont typeface="Wingdings" panose="05000000000000000000" pitchFamily="2" charset="2"/>
              <a:buChar char="n"/>
            </a:pPr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优点</a:t>
            </a:r>
            <a:endParaRPr lang="en-US" altLang="zh-CN" sz="4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algn="just"/>
            <a:r>
              <a:rPr lang="zh-CN" altLang="en-US" sz="4800" dirty="0"/>
              <a:t>发现问题易于定位。</a:t>
            </a:r>
            <a:endParaRPr lang="en-US" altLang="zh-CN" sz="4800" dirty="0"/>
          </a:p>
          <a:p>
            <a:pPr marL="635000" lvl="1" algn="just">
              <a:lnSpc>
                <a:spcPct val="200000"/>
              </a:lnSpc>
              <a:spcBef>
                <a:spcPts val="0"/>
              </a:spcBef>
              <a:buSzTx/>
              <a:buFont typeface="Wingdings" panose="05000000000000000000" pitchFamily="2" charset="2"/>
              <a:buChar char="n"/>
            </a:pPr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缺点</a:t>
            </a:r>
            <a:endParaRPr lang="en-US" altLang="zh-CN" sz="4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algn="just"/>
            <a:r>
              <a:rPr lang="zh-CN" altLang="en-US" sz="4800" dirty="0"/>
              <a:t>测试周期比较长。</a:t>
            </a:r>
            <a:endParaRPr lang="en-US" altLang="zh-CN" sz="4800" dirty="0"/>
          </a:p>
          <a:p>
            <a:pPr lvl="2" algn="just"/>
            <a:r>
              <a:rPr lang="zh-CN" altLang="en-US" sz="4800" dirty="0"/>
              <a:t>测试成本比较高。</a:t>
            </a:r>
            <a:endParaRPr lang="en-US" altLang="zh-CN" sz="4800" dirty="0"/>
          </a:p>
          <a:p>
            <a:pPr lvl="2" algn="just"/>
            <a:endParaRPr lang="en-US" altLang="zh-CN" sz="4800" dirty="0"/>
          </a:p>
          <a:p>
            <a:pPr lvl="2" algn="just"/>
            <a:endParaRPr lang="zh-CN" altLang="en-US" sz="4800" dirty="0"/>
          </a:p>
          <a:p>
            <a:pPr lvl="3" algn="just">
              <a:spcBef>
                <a:spcPts val="600"/>
              </a:spcBef>
            </a:pPr>
            <a:endParaRPr lang="zh-CN" altLang="en-US" sz="4800" dirty="0"/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97239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集成测试方法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2</a:t>
            </a:r>
            <a:endParaRPr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2737970" y="2801047"/>
            <a:ext cx="19282058" cy="1023909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t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pPr algn="just"/>
            <a:r>
              <a:rPr lang="zh-CN" altLang="en-US" sz="4800" b="1" dirty="0"/>
              <a:t>增量式集成策略</a:t>
            </a:r>
            <a:endParaRPr lang="en-US" altLang="zh-CN" sz="4800" b="1" dirty="0"/>
          </a:p>
          <a:p>
            <a:pPr lvl="2" algn="just"/>
            <a:r>
              <a:rPr lang="zh-CN" altLang="en-US" sz="4800" dirty="0"/>
              <a:t>自顶向下</a:t>
            </a:r>
            <a:endParaRPr lang="zh-CN" altLang="en-US" sz="4800" dirty="0"/>
          </a:p>
          <a:p>
            <a:pPr lvl="2" algn="just"/>
            <a:r>
              <a:rPr lang="zh-CN" altLang="en-US" sz="4800" dirty="0"/>
              <a:t>自底向上</a:t>
            </a:r>
            <a:endParaRPr lang="en-US" altLang="zh-CN" sz="4800" dirty="0"/>
          </a:p>
          <a:p>
            <a:pPr lvl="2" algn="just"/>
            <a:endParaRPr lang="zh-CN" altLang="en-US" sz="4800" dirty="0"/>
          </a:p>
          <a:p>
            <a:pPr lvl="3" algn="just">
              <a:spcBef>
                <a:spcPts val="600"/>
              </a:spcBef>
            </a:pPr>
            <a:endParaRPr lang="zh-CN" altLang="en-US" sz="4800" dirty="0"/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  <p:grpSp>
        <p:nvGrpSpPr>
          <p:cNvPr id="8" name="Group 81"/>
          <p:cNvGrpSpPr/>
          <p:nvPr/>
        </p:nvGrpSpPr>
        <p:grpSpPr bwMode="auto">
          <a:xfrm>
            <a:off x="12526693" y="3798384"/>
            <a:ext cx="7804273" cy="5034466"/>
            <a:chOff x="2100" y="4716"/>
            <a:chExt cx="2160" cy="2340"/>
          </a:xfrm>
        </p:grpSpPr>
        <p:grpSp>
          <p:nvGrpSpPr>
            <p:cNvPr id="11" name="Group 82"/>
            <p:cNvGrpSpPr/>
            <p:nvPr/>
          </p:nvGrpSpPr>
          <p:grpSpPr bwMode="auto">
            <a:xfrm>
              <a:off x="2100" y="4716"/>
              <a:ext cx="2160" cy="2340"/>
              <a:chOff x="4440" y="1908"/>
              <a:chExt cx="2160" cy="2340"/>
            </a:xfrm>
          </p:grpSpPr>
          <p:grpSp>
            <p:nvGrpSpPr>
              <p:cNvPr id="14" name="Group 83"/>
              <p:cNvGrpSpPr/>
              <p:nvPr/>
            </p:nvGrpSpPr>
            <p:grpSpPr bwMode="auto">
              <a:xfrm>
                <a:off x="4440" y="1908"/>
                <a:ext cx="2160" cy="1404"/>
                <a:chOff x="3000" y="1908"/>
                <a:chExt cx="2160" cy="1404"/>
              </a:xfrm>
            </p:grpSpPr>
            <p:sp>
              <p:nvSpPr>
                <p:cNvPr id="17" name="Rectangle 84"/>
                <p:cNvSpPr>
                  <a:spLocks noChangeArrowheads="1"/>
                </p:cNvSpPr>
                <p:nvPr/>
              </p:nvSpPr>
              <p:spPr bwMode="auto">
                <a:xfrm>
                  <a:off x="3795" y="1908"/>
                  <a:ext cx="540" cy="468"/>
                </a:xfrm>
                <a:prstGeom prst="rect">
                  <a:avLst/>
                </a:prstGeom>
                <a:solidFill>
                  <a:srgbClr val="FFFFFF"/>
                </a:solidFill>
                <a:ln w="28575">
                  <a:solidFill>
                    <a:srgbClr val="000000"/>
                  </a:solidFill>
                  <a:miter lim="800000"/>
                </a:ln>
              </p:spPr>
              <p:txBody>
                <a:bodyPr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dirty="0">
                      <a:solidFill>
                        <a:srgbClr val="FF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rPr>
                    <a:t>A</a:t>
                  </a:r>
                  <a:endParaRPr lang="en-US" altLang="zh-CN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8" name="Rectangle 85"/>
                <p:cNvSpPr>
                  <a:spLocks noChangeArrowheads="1"/>
                </p:cNvSpPr>
                <p:nvPr/>
              </p:nvSpPr>
              <p:spPr bwMode="auto">
                <a:xfrm>
                  <a:off x="3000" y="2844"/>
                  <a:ext cx="540" cy="468"/>
                </a:xfrm>
                <a:prstGeom prst="rect">
                  <a:avLst/>
                </a:prstGeom>
                <a:solidFill>
                  <a:srgbClr val="FFFFFF"/>
                </a:solidFill>
                <a:ln w="28575">
                  <a:solidFill>
                    <a:srgbClr val="000000"/>
                  </a:solidFill>
                  <a:miter lim="800000"/>
                </a:ln>
              </p:spPr>
              <p:txBody>
                <a:bodyPr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>
                      <a:solidFill>
                        <a:srgbClr val="FF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rPr>
                    <a:t>B</a:t>
                  </a:r>
                  <a:endParaRPr lang="en-US" altLang="zh-CN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9" name="Rectangle 86"/>
                <p:cNvSpPr>
                  <a:spLocks noChangeArrowheads="1"/>
                </p:cNvSpPr>
                <p:nvPr/>
              </p:nvSpPr>
              <p:spPr bwMode="auto">
                <a:xfrm>
                  <a:off x="3840" y="2844"/>
                  <a:ext cx="540" cy="468"/>
                </a:xfrm>
                <a:prstGeom prst="rect">
                  <a:avLst/>
                </a:prstGeom>
                <a:solidFill>
                  <a:srgbClr val="FFFFFF"/>
                </a:solidFill>
                <a:ln w="28575">
                  <a:solidFill>
                    <a:srgbClr val="000000"/>
                  </a:solidFill>
                  <a:miter lim="800000"/>
                </a:ln>
              </p:spPr>
              <p:txBody>
                <a:bodyPr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dirty="0">
                      <a:solidFill>
                        <a:srgbClr val="FF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rPr>
                    <a:t>C</a:t>
                  </a:r>
                  <a:endParaRPr lang="en-US" altLang="zh-CN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0" name="Rectangle 87"/>
                <p:cNvSpPr>
                  <a:spLocks noChangeArrowheads="1"/>
                </p:cNvSpPr>
                <p:nvPr/>
              </p:nvSpPr>
              <p:spPr bwMode="auto">
                <a:xfrm>
                  <a:off x="4620" y="2844"/>
                  <a:ext cx="540" cy="468"/>
                </a:xfrm>
                <a:prstGeom prst="rect">
                  <a:avLst/>
                </a:prstGeom>
                <a:solidFill>
                  <a:srgbClr val="FFFFFF"/>
                </a:solidFill>
                <a:ln w="28575">
                  <a:solidFill>
                    <a:srgbClr val="000000"/>
                  </a:solidFill>
                  <a:miter lim="800000"/>
                </a:ln>
              </p:spPr>
              <p:txBody>
                <a:bodyPr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>
                      <a:solidFill>
                        <a:srgbClr val="FF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rPr>
                    <a:t>D</a:t>
                  </a:r>
                  <a:endParaRPr lang="en-US" altLang="zh-CN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1" name="Line 88"/>
                <p:cNvSpPr>
                  <a:spLocks noChangeShapeType="1"/>
                </p:cNvSpPr>
                <p:nvPr/>
              </p:nvSpPr>
              <p:spPr bwMode="auto">
                <a:xfrm flipV="1">
                  <a:off x="3296" y="2376"/>
                  <a:ext cx="784" cy="468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6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2" name="Line 89"/>
                <p:cNvSpPr>
                  <a:spLocks noChangeShapeType="1"/>
                </p:cNvSpPr>
                <p:nvPr/>
              </p:nvSpPr>
              <p:spPr bwMode="auto">
                <a:xfrm flipV="1">
                  <a:off x="4080" y="2376"/>
                  <a:ext cx="0" cy="468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600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Line 90"/>
                <p:cNvSpPr>
                  <a:spLocks noChangeShapeType="1"/>
                </p:cNvSpPr>
                <p:nvPr/>
              </p:nvSpPr>
              <p:spPr bwMode="auto">
                <a:xfrm flipH="1" flipV="1">
                  <a:off x="4080" y="2376"/>
                  <a:ext cx="838" cy="468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600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5" name="Rectangle 91"/>
              <p:cNvSpPr>
                <a:spLocks noChangeArrowheads="1"/>
              </p:cNvSpPr>
              <p:nvPr/>
            </p:nvSpPr>
            <p:spPr bwMode="auto">
              <a:xfrm>
                <a:off x="4440" y="3780"/>
                <a:ext cx="540" cy="468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miter lim="800000"/>
              </a:ln>
            </p:spPr>
            <p:txBody>
              <a:bodyPr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E</a:t>
                </a:r>
                <a:endParaRPr lang="en-US" altLang="zh-CN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" name="Line 92"/>
              <p:cNvSpPr>
                <a:spLocks noChangeShapeType="1"/>
              </p:cNvSpPr>
              <p:nvPr/>
            </p:nvSpPr>
            <p:spPr bwMode="auto">
              <a:xfrm>
                <a:off x="4736" y="3312"/>
                <a:ext cx="0" cy="468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600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2" name="Line 93"/>
            <p:cNvSpPr>
              <a:spLocks noChangeShapeType="1"/>
            </p:cNvSpPr>
            <p:nvPr/>
          </p:nvSpPr>
          <p:spPr bwMode="auto">
            <a:xfrm>
              <a:off x="4018" y="6120"/>
              <a:ext cx="0" cy="46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6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3" name="Rectangle 94"/>
            <p:cNvSpPr>
              <a:spLocks noChangeArrowheads="1"/>
            </p:cNvSpPr>
            <p:nvPr/>
          </p:nvSpPr>
          <p:spPr bwMode="auto">
            <a:xfrm>
              <a:off x="3720" y="6588"/>
              <a:ext cx="540" cy="468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</a:ln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F</a:t>
              </a:r>
              <a:endPara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</p:spTree>
    <p:custDataLst>
      <p:tags r:id="rId4"/>
    </p:custDataLst>
  </p:cSld>
  <p:clrMapOvr>
    <a:masterClrMapping/>
  </p:clrMapOvr>
  <p:transition spd="med" advTm="14527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集成测试方法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2</a:t>
            </a:r>
            <a:endParaRPr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2737970" y="2801047"/>
            <a:ext cx="11135193" cy="1023909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t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pPr algn="just"/>
            <a:r>
              <a:rPr lang="zh-CN" altLang="en-US" sz="4800" b="1" dirty="0"/>
              <a:t>自顶向下</a:t>
            </a:r>
            <a:endParaRPr lang="en-US" altLang="zh-CN" sz="4800" b="1" dirty="0"/>
          </a:p>
          <a:p>
            <a:pPr lvl="2" algn="just"/>
            <a:r>
              <a:rPr lang="zh-CN" altLang="en-US" sz="4800" dirty="0"/>
              <a:t>从主控模块开始，沿着软件的控制层次向下移动，从而逐渐把各个模块结合起来。</a:t>
            </a:r>
            <a:endParaRPr lang="en-US" altLang="zh-CN" sz="4800" dirty="0"/>
          </a:p>
          <a:p>
            <a:pPr lvl="2" algn="just"/>
            <a:r>
              <a:rPr lang="zh-CN" altLang="en-US" sz="4800" dirty="0"/>
              <a:t>可以使用深度优先的策略或宽度优先的策略。</a:t>
            </a:r>
            <a:endParaRPr lang="zh-CN" altLang="en-US" sz="4800" dirty="0"/>
          </a:p>
          <a:p>
            <a:pPr lvl="2" algn="just"/>
            <a:endParaRPr lang="zh-CN" altLang="en-US" sz="4800" dirty="0"/>
          </a:p>
          <a:p>
            <a:pPr lvl="3" algn="just">
              <a:spcBef>
                <a:spcPts val="600"/>
              </a:spcBef>
            </a:pPr>
            <a:endParaRPr lang="zh-CN" altLang="en-US" sz="4800" dirty="0"/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  <p:grpSp>
        <p:nvGrpSpPr>
          <p:cNvPr id="8" name="Group 81"/>
          <p:cNvGrpSpPr/>
          <p:nvPr/>
        </p:nvGrpSpPr>
        <p:grpSpPr bwMode="auto">
          <a:xfrm>
            <a:off x="16267422" y="3863040"/>
            <a:ext cx="6712652" cy="5034466"/>
            <a:chOff x="2100" y="4716"/>
            <a:chExt cx="2160" cy="2340"/>
          </a:xfrm>
        </p:grpSpPr>
        <p:grpSp>
          <p:nvGrpSpPr>
            <p:cNvPr id="11" name="Group 82"/>
            <p:cNvGrpSpPr/>
            <p:nvPr/>
          </p:nvGrpSpPr>
          <p:grpSpPr bwMode="auto">
            <a:xfrm>
              <a:off x="2100" y="4716"/>
              <a:ext cx="2160" cy="2340"/>
              <a:chOff x="4440" y="1908"/>
              <a:chExt cx="2160" cy="2340"/>
            </a:xfrm>
          </p:grpSpPr>
          <p:grpSp>
            <p:nvGrpSpPr>
              <p:cNvPr id="14" name="Group 83"/>
              <p:cNvGrpSpPr/>
              <p:nvPr/>
            </p:nvGrpSpPr>
            <p:grpSpPr bwMode="auto">
              <a:xfrm>
                <a:off x="4440" y="1908"/>
                <a:ext cx="2160" cy="1404"/>
                <a:chOff x="3000" y="1908"/>
                <a:chExt cx="2160" cy="1404"/>
              </a:xfrm>
            </p:grpSpPr>
            <p:sp>
              <p:nvSpPr>
                <p:cNvPr id="17" name="Rectangle 84"/>
                <p:cNvSpPr>
                  <a:spLocks noChangeArrowheads="1"/>
                </p:cNvSpPr>
                <p:nvPr/>
              </p:nvSpPr>
              <p:spPr bwMode="auto">
                <a:xfrm>
                  <a:off x="3795" y="1908"/>
                  <a:ext cx="540" cy="468"/>
                </a:xfrm>
                <a:prstGeom prst="rect">
                  <a:avLst/>
                </a:prstGeom>
                <a:solidFill>
                  <a:srgbClr val="FFFFFF"/>
                </a:solidFill>
                <a:ln w="28575">
                  <a:solidFill>
                    <a:srgbClr val="000000"/>
                  </a:solidFill>
                  <a:miter lim="800000"/>
                </a:ln>
              </p:spPr>
              <p:txBody>
                <a:bodyPr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dirty="0">
                      <a:solidFill>
                        <a:srgbClr val="FF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rPr>
                    <a:t>A</a:t>
                  </a:r>
                  <a:endParaRPr lang="en-US" altLang="zh-CN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8" name="Rectangle 85"/>
                <p:cNvSpPr>
                  <a:spLocks noChangeArrowheads="1"/>
                </p:cNvSpPr>
                <p:nvPr/>
              </p:nvSpPr>
              <p:spPr bwMode="auto">
                <a:xfrm>
                  <a:off x="3000" y="2844"/>
                  <a:ext cx="540" cy="468"/>
                </a:xfrm>
                <a:prstGeom prst="rect">
                  <a:avLst/>
                </a:prstGeom>
                <a:solidFill>
                  <a:srgbClr val="FFFFFF"/>
                </a:solidFill>
                <a:ln w="28575">
                  <a:solidFill>
                    <a:srgbClr val="000000"/>
                  </a:solidFill>
                  <a:miter lim="800000"/>
                </a:ln>
              </p:spPr>
              <p:txBody>
                <a:bodyPr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>
                      <a:solidFill>
                        <a:srgbClr val="FF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rPr>
                    <a:t>B</a:t>
                  </a:r>
                  <a:endParaRPr lang="en-US" altLang="zh-CN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9" name="Rectangle 86"/>
                <p:cNvSpPr>
                  <a:spLocks noChangeArrowheads="1"/>
                </p:cNvSpPr>
                <p:nvPr/>
              </p:nvSpPr>
              <p:spPr bwMode="auto">
                <a:xfrm>
                  <a:off x="3840" y="2844"/>
                  <a:ext cx="540" cy="468"/>
                </a:xfrm>
                <a:prstGeom prst="rect">
                  <a:avLst/>
                </a:prstGeom>
                <a:solidFill>
                  <a:srgbClr val="FFFFFF"/>
                </a:solidFill>
                <a:ln w="28575">
                  <a:solidFill>
                    <a:srgbClr val="000000"/>
                  </a:solidFill>
                  <a:miter lim="800000"/>
                </a:ln>
              </p:spPr>
              <p:txBody>
                <a:bodyPr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dirty="0">
                      <a:solidFill>
                        <a:srgbClr val="FF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rPr>
                    <a:t>C</a:t>
                  </a:r>
                  <a:endParaRPr lang="en-US" altLang="zh-CN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0" name="Rectangle 87"/>
                <p:cNvSpPr>
                  <a:spLocks noChangeArrowheads="1"/>
                </p:cNvSpPr>
                <p:nvPr/>
              </p:nvSpPr>
              <p:spPr bwMode="auto">
                <a:xfrm>
                  <a:off x="4620" y="2844"/>
                  <a:ext cx="540" cy="468"/>
                </a:xfrm>
                <a:prstGeom prst="rect">
                  <a:avLst/>
                </a:prstGeom>
                <a:solidFill>
                  <a:srgbClr val="FFFFFF"/>
                </a:solidFill>
                <a:ln w="28575">
                  <a:solidFill>
                    <a:srgbClr val="000000"/>
                  </a:solidFill>
                  <a:miter lim="800000"/>
                </a:ln>
              </p:spPr>
              <p:txBody>
                <a:bodyPr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>
                      <a:solidFill>
                        <a:srgbClr val="FF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rPr>
                    <a:t>D</a:t>
                  </a:r>
                  <a:endParaRPr lang="en-US" altLang="zh-CN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1" name="Line 88"/>
                <p:cNvSpPr>
                  <a:spLocks noChangeShapeType="1"/>
                </p:cNvSpPr>
                <p:nvPr/>
              </p:nvSpPr>
              <p:spPr bwMode="auto">
                <a:xfrm flipV="1">
                  <a:off x="3296" y="2376"/>
                  <a:ext cx="784" cy="468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6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2" name="Line 89"/>
                <p:cNvSpPr>
                  <a:spLocks noChangeShapeType="1"/>
                </p:cNvSpPr>
                <p:nvPr/>
              </p:nvSpPr>
              <p:spPr bwMode="auto">
                <a:xfrm flipV="1">
                  <a:off x="4080" y="2376"/>
                  <a:ext cx="0" cy="468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600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Line 90"/>
                <p:cNvSpPr>
                  <a:spLocks noChangeShapeType="1"/>
                </p:cNvSpPr>
                <p:nvPr/>
              </p:nvSpPr>
              <p:spPr bwMode="auto">
                <a:xfrm flipH="1" flipV="1">
                  <a:off x="4080" y="2376"/>
                  <a:ext cx="838" cy="468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600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5" name="Rectangle 91"/>
              <p:cNvSpPr>
                <a:spLocks noChangeArrowheads="1"/>
              </p:cNvSpPr>
              <p:nvPr/>
            </p:nvSpPr>
            <p:spPr bwMode="auto">
              <a:xfrm>
                <a:off x="4440" y="3780"/>
                <a:ext cx="540" cy="468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miter lim="800000"/>
              </a:ln>
            </p:spPr>
            <p:txBody>
              <a:bodyPr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E</a:t>
                </a:r>
                <a:endParaRPr lang="en-US" altLang="zh-CN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" name="Line 92"/>
              <p:cNvSpPr>
                <a:spLocks noChangeShapeType="1"/>
              </p:cNvSpPr>
              <p:nvPr/>
            </p:nvSpPr>
            <p:spPr bwMode="auto">
              <a:xfrm>
                <a:off x="4736" y="3312"/>
                <a:ext cx="0" cy="468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600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2" name="Line 93"/>
            <p:cNvSpPr>
              <a:spLocks noChangeShapeType="1"/>
            </p:cNvSpPr>
            <p:nvPr/>
          </p:nvSpPr>
          <p:spPr bwMode="auto">
            <a:xfrm>
              <a:off x="4018" y="6120"/>
              <a:ext cx="0" cy="46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6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3" name="Rectangle 94"/>
            <p:cNvSpPr>
              <a:spLocks noChangeArrowheads="1"/>
            </p:cNvSpPr>
            <p:nvPr/>
          </p:nvSpPr>
          <p:spPr bwMode="auto">
            <a:xfrm>
              <a:off x="3720" y="6588"/>
              <a:ext cx="540" cy="468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</a:ln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F</a:t>
              </a:r>
              <a:endPara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</p:spTree>
    <p:custDataLst>
      <p:tags r:id="rId4"/>
    </p:custDataLst>
  </p:cSld>
  <p:clrMapOvr>
    <a:masterClrMapping/>
  </p:clrMapOvr>
  <p:transition spd="med" advTm="8731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集成测试方法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2</a:t>
            </a:r>
            <a:endParaRPr dirty="0"/>
          </a:p>
        </p:txBody>
      </p:sp>
      <p:grpSp>
        <p:nvGrpSpPr>
          <p:cNvPr id="6" name="Group 22"/>
          <p:cNvGrpSpPr/>
          <p:nvPr/>
        </p:nvGrpSpPr>
        <p:grpSpPr bwMode="auto">
          <a:xfrm>
            <a:off x="3555205" y="3214689"/>
            <a:ext cx="17273589" cy="10080624"/>
            <a:chOff x="1980" y="1908"/>
            <a:chExt cx="7020" cy="5928"/>
          </a:xfrm>
        </p:grpSpPr>
        <p:grpSp>
          <p:nvGrpSpPr>
            <p:cNvPr id="8" name="Group 23"/>
            <p:cNvGrpSpPr/>
            <p:nvPr/>
          </p:nvGrpSpPr>
          <p:grpSpPr bwMode="auto">
            <a:xfrm>
              <a:off x="1980" y="1908"/>
              <a:ext cx="2160" cy="1404"/>
              <a:chOff x="2880" y="1908"/>
              <a:chExt cx="2160" cy="1404"/>
            </a:xfrm>
          </p:grpSpPr>
          <p:sp>
            <p:nvSpPr>
              <p:cNvPr id="81" name="Rectangle 24"/>
              <p:cNvSpPr>
                <a:spLocks noChangeArrowheads="1"/>
              </p:cNvSpPr>
              <p:nvPr/>
            </p:nvSpPr>
            <p:spPr bwMode="auto">
              <a:xfrm>
                <a:off x="3675" y="1908"/>
                <a:ext cx="540" cy="46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2" name="Rectangle 25"/>
              <p:cNvSpPr>
                <a:spLocks noChangeArrowheads="1"/>
              </p:cNvSpPr>
              <p:nvPr/>
            </p:nvSpPr>
            <p:spPr bwMode="auto">
              <a:xfrm>
                <a:off x="2880" y="2844"/>
                <a:ext cx="540" cy="46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S1</a:t>
                </a:r>
                <a:endPara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3" name="Rectangle 26"/>
              <p:cNvSpPr>
                <a:spLocks noChangeArrowheads="1"/>
              </p:cNvSpPr>
              <p:nvPr/>
            </p:nvSpPr>
            <p:spPr bwMode="auto">
              <a:xfrm>
                <a:off x="3720" y="2844"/>
                <a:ext cx="540" cy="46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S2</a:t>
                </a:r>
                <a:endPara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4" name="Rectangle 27"/>
              <p:cNvSpPr>
                <a:spLocks noChangeArrowheads="1"/>
              </p:cNvSpPr>
              <p:nvPr/>
            </p:nvSpPr>
            <p:spPr bwMode="auto">
              <a:xfrm>
                <a:off x="4500" y="2844"/>
                <a:ext cx="540" cy="46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S3</a:t>
                </a:r>
                <a:endPara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5" name="Line 28"/>
              <p:cNvSpPr>
                <a:spLocks noChangeShapeType="1"/>
              </p:cNvSpPr>
              <p:nvPr/>
            </p:nvSpPr>
            <p:spPr bwMode="auto">
              <a:xfrm flipV="1">
                <a:off x="3240" y="2376"/>
                <a:ext cx="720" cy="46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6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6" name="Line 29"/>
              <p:cNvSpPr>
                <a:spLocks noChangeShapeType="1"/>
              </p:cNvSpPr>
              <p:nvPr/>
            </p:nvSpPr>
            <p:spPr bwMode="auto">
              <a:xfrm flipV="1">
                <a:off x="3960" y="2376"/>
                <a:ext cx="0" cy="46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6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7" name="Line 30"/>
              <p:cNvSpPr>
                <a:spLocks noChangeShapeType="1"/>
              </p:cNvSpPr>
              <p:nvPr/>
            </p:nvSpPr>
            <p:spPr bwMode="auto">
              <a:xfrm flipH="1" flipV="1">
                <a:off x="3960" y="2376"/>
                <a:ext cx="900" cy="46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6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1" name="Group 31"/>
            <p:cNvGrpSpPr/>
            <p:nvPr/>
          </p:nvGrpSpPr>
          <p:grpSpPr bwMode="auto">
            <a:xfrm>
              <a:off x="4320" y="1908"/>
              <a:ext cx="2160" cy="2340"/>
              <a:chOff x="4320" y="1908"/>
              <a:chExt cx="2160" cy="2340"/>
            </a:xfrm>
          </p:grpSpPr>
          <p:grpSp>
            <p:nvGrpSpPr>
              <p:cNvPr id="71" name="Group 32"/>
              <p:cNvGrpSpPr/>
              <p:nvPr/>
            </p:nvGrpSpPr>
            <p:grpSpPr bwMode="auto">
              <a:xfrm>
                <a:off x="4320" y="1908"/>
                <a:ext cx="2160" cy="1404"/>
                <a:chOff x="2880" y="1908"/>
                <a:chExt cx="2160" cy="1404"/>
              </a:xfrm>
            </p:grpSpPr>
            <p:sp>
              <p:nvSpPr>
                <p:cNvPr id="74" name="Rectangle 33"/>
                <p:cNvSpPr>
                  <a:spLocks noChangeArrowheads="1"/>
                </p:cNvSpPr>
                <p:nvPr/>
              </p:nvSpPr>
              <p:spPr bwMode="auto">
                <a:xfrm>
                  <a:off x="3675" y="1908"/>
                  <a:ext cx="540" cy="468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  <a:endPara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5" name="Rectangle 34"/>
                <p:cNvSpPr>
                  <a:spLocks noChangeArrowheads="1"/>
                </p:cNvSpPr>
                <p:nvPr/>
              </p:nvSpPr>
              <p:spPr bwMode="auto">
                <a:xfrm>
                  <a:off x="2880" y="2844"/>
                  <a:ext cx="540" cy="468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B</a:t>
                  </a:r>
                  <a:endPara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6" name="Rectangle 35"/>
                <p:cNvSpPr>
                  <a:spLocks noChangeArrowheads="1"/>
                </p:cNvSpPr>
                <p:nvPr/>
              </p:nvSpPr>
              <p:spPr bwMode="auto">
                <a:xfrm>
                  <a:off x="3720" y="2844"/>
                  <a:ext cx="540" cy="468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S2</a:t>
                  </a:r>
                  <a:endPara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7" name="Rectangle 36"/>
                <p:cNvSpPr>
                  <a:spLocks noChangeArrowheads="1"/>
                </p:cNvSpPr>
                <p:nvPr/>
              </p:nvSpPr>
              <p:spPr bwMode="auto">
                <a:xfrm>
                  <a:off x="4500" y="2844"/>
                  <a:ext cx="540" cy="468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S3</a:t>
                  </a:r>
                  <a:endPara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8" name="Line 37"/>
                <p:cNvSpPr>
                  <a:spLocks noChangeShapeType="1"/>
                </p:cNvSpPr>
                <p:nvPr/>
              </p:nvSpPr>
              <p:spPr bwMode="auto">
                <a:xfrm flipV="1">
                  <a:off x="3240" y="2376"/>
                  <a:ext cx="720" cy="4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60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9" name="Line 38"/>
                <p:cNvSpPr>
                  <a:spLocks noChangeShapeType="1"/>
                </p:cNvSpPr>
                <p:nvPr/>
              </p:nvSpPr>
              <p:spPr bwMode="auto">
                <a:xfrm flipV="1">
                  <a:off x="3960" y="2376"/>
                  <a:ext cx="0" cy="4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60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0" name="Line 39"/>
                <p:cNvSpPr>
                  <a:spLocks noChangeShapeType="1"/>
                </p:cNvSpPr>
                <p:nvPr/>
              </p:nvSpPr>
              <p:spPr bwMode="auto">
                <a:xfrm flipH="1" flipV="1">
                  <a:off x="3960" y="2376"/>
                  <a:ext cx="900" cy="4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60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72" name="Rectangle 40"/>
              <p:cNvSpPr>
                <a:spLocks noChangeArrowheads="1"/>
              </p:cNvSpPr>
              <p:nvPr/>
            </p:nvSpPr>
            <p:spPr bwMode="auto">
              <a:xfrm>
                <a:off x="4320" y="3780"/>
                <a:ext cx="540" cy="46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S4</a:t>
                </a:r>
                <a:endPara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3" name="Line 41"/>
              <p:cNvSpPr>
                <a:spLocks noChangeShapeType="1"/>
              </p:cNvSpPr>
              <p:nvPr/>
            </p:nvSpPr>
            <p:spPr bwMode="auto">
              <a:xfrm>
                <a:off x="4500" y="3312"/>
                <a:ext cx="0" cy="46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6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2" name="Group 42"/>
            <p:cNvGrpSpPr/>
            <p:nvPr/>
          </p:nvGrpSpPr>
          <p:grpSpPr bwMode="auto">
            <a:xfrm>
              <a:off x="6840" y="1908"/>
              <a:ext cx="2160" cy="2340"/>
              <a:chOff x="4320" y="1908"/>
              <a:chExt cx="2160" cy="2340"/>
            </a:xfrm>
          </p:grpSpPr>
          <p:grpSp>
            <p:nvGrpSpPr>
              <p:cNvPr id="61" name="Group 43"/>
              <p:cNvGrpSpPr/>
              <p:nvPr/>
            </p:nvGrpSpPr>
            <p:grpSpPr bwMode="auto">
              <a:xfrm>
                <a:off x="4320" y="1908"/>
                <a:ext cx="2160" cy="1404"/>
                <a:chOff x="2880" y="1908"/>
                <a:chExt cx="2160" cy="1404"/>
              </a:xfrm>
            </p:grpSpPr>
            <p:sp>
              <p:nvSpPr>
                <p:cNvPr id="64" name="Rectangle 44"/>
                <p:cNvSpPr>
                  <a:spLocks noChangeArrowheads="1"/>
                </p:cNvSpPr>
                <p:nvPr/>
              </p:nvSpPr>
              <p:spPr bwMode="auto">
                <a:xfrm>
                  <a:off x="3675" y="1908"/>
                  <a:ext cx="540" cy="468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  <a:endPara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5" name="Rectangle 45"/>
                <p:cNvSpPr>
                  <a:spLocks noChangeArrowheads="1"/>
                </p:cNvSpPr>
                <p:nvPr/>
              </p:nvSpPr>
              <p:spPr bwMode="auto">
                <a:xfrm>
                  <a:off x="2880" y="2844"/>
                  <a:ext cx="540" cy="468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B</a:t>
                  </a:r>
                  <a:endPara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" name="Rectangle 46"/>
                <p:cNvSpPr>
                  <a:spLocks noChangeArrowheads="1"/>
                </p:cNvSpPr>
                <p:nvPr/>
              </p:nvSpPr>
              <p:spPr bwMode="auto">
                <a:xfrm>
                  <a:off x="3720" y="2844"/>
                  <a:ext cx="540" cy="468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S2</a:t>
                  </a:r>
                  <a:endPara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7" name="Rectangle 47"/>
                <p:cNvSpPr>
                  <a:spLocks noChangeArrowheads="1"/>
                </p:cNvSpPr>
                <p:nvPr/>
              </p:nvSpPr>
              <p:spPr bwMode="auto">
                <a:xfrm>
                  <a:off x="4500" y="2844"/>
                  <a:ext cx="540" cy="468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S3</a:t>
                  </a:r>
                  <a:endPara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8" name="Line 48"/>
                <p:cNvSpPr>
                  <a:spLocks noChangeShapeType="1"/>
                </p:cNvSpPr>
                <p:nvPr/>
              </p:nvSpPr>
              <p:spPr bwMode="auto">
                <a:xfrm flipV="1">
                  <a:off x="3240" y="2376"/>
                  <a:ext cx="720" cy="4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60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9" name="Line 49"/>
                <p:cNvSpPr>
                  <a:spLocks noChangeShapeType="1"/>
                </p:cNvSpPr>
                <p:nvPr/>
              </p:nvSpPr>
              <p:spPr bwMode="auto">
                <a:xfrm flipV="1">
                  <a:off x="3960" y="2376"/>
                  <a:ext cx="0" cy="4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60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0" name="Line 50"/>
                <p:cNvSpPr>
                  <a:spLocks noChangeShapeType="1"/>
                </p:cNvSpPr>
                <p:nvPr/>
              </p:nvSpPr>
              <p:spPr bwMode="auto">
                <a:xfrm flipH="1" flipV="1">
                  <a:off x="3960" y="2376"/>
                  <a:ext cx="900" cy="4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60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62" name="Rectangle 51"/>
              <p:cNvSpPr>
                <a:spLocks noChangeArrowheads="1"/>
              </p:cNvSpPr>
              <p:nvPr/>
            </p:nvSpPr>
            <p:spPr bwMode="auto">
              <a:xfrm>
                <a:off x="4320" y="3780"/>
                <a:ext cx="540" cy="46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endPara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3" name="Line 52"/>
              <p:cNvSpPr>
                <a:spLocks noChangeShapeType="1"/>
              </p:cNvSpPr>
              <p:nvPr/>
            </p:nvSpPr>
            <p:spPr bwMode="auto">
              <a:xfrm>
                <a:off x="4500" y="3312"/>
                <a:ext cx="0" cy="46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6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3" name="Group 53"/>
            <p:cNvGrpSpPr/>
            <p:nvPr/>
          </p:nvGrpSpPr>
          <p:grpSpPr bwMode="auto">
            <a:xfrm>
              <a:off x="1980" y="4716"/>
              <a:ext cx="2160" cy="2340"/>
              <a:chOff x="1980" y="4716"/>
              <a:chExt cx="2160" cy="2340"/>
            </a:xfrm>
          </p:grpSpPr>
          <p:grpSp>
            <p:nvGrpSpPr>
              <p:cNvPr id="48" name="Group 54"/>
              <p:cNvGrpSpPr/>
              <p:nvPr/>
            </p:nvGrpSpPr>
            <p:grpSpPr bwMode="auto">
              <a:xfrm>
                <a:off x="1980" y="4716"/>
                <a:ext cx="2160" cy="2340"/>
                <a:chOff x="4320" y="1908"/>
                <a:chExt cx="2160" cy="2340"/>
              </a:xfrm>
            </p:grpSpPr>
            <p:grpSp>
              <p:nvGrpSpPr>
                <p:cNvPr id="51" name="Group 55"/>
                <p:cNvGrpSpPr/>
                <p:nvPr/>
              </p:nvGrpSpPr>
              <p:grpSpPr bwMode="auto">
                <a:xfrm>
                  <a:off x="4320" y="1908"/>
                  <a:ext cx="2160" cy="1404"/>
                  <a:chOff x="2880" y="1908"/>
                  <a:chExt cx="2160" cy="1404"/>
                </a:xfrm>
              </p:grpSpPr>
              <p:sp>
                <p:nvSpPr>
                  <p:cNvPr id="54" name="Rectangle 56"/>
                  <p:cNvSpPr>
                    <a:spLocks noChangeArrowheads="1"/>
                  </p:cNvSpPr>
                  <p:nvPr/>
                </p:nvSpPr>
                <p:spPr bwMode="auto">
                  <a:xfrm>
                    <a:off x="3675" y="1908"/>
                    <a:ext cx="540" cy="468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A</a:t>
                    </a:r>
                    <a:endParaRPr lang="en-US" altLang="zh-CN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5" name="Rectangle 57"/>
                  <p:cNvSpPr>
                    <a:spLocks noChangeArrowheads="1"/>
                  </p:cNvSpPr>
                  <p:nvPr/>
                </p:nvSpPr>
                <p:spPr bwMode="auto">
                  <a:xfrm>
                    <a:off x="2880" y="2844"/>
                    <a:ext cx="540" cy="468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B</a:t>
                    </a:r>
                    <a:endParaRPr lang="en-US" altLang="zh-CN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6" name="Rectangle 58"/>
                  <p:cNvSpPr>
                    <a:spLocks noChangeArrowheads="1"/>
                  </p:cNvSpPr>
                  <p:nvPr/>
                </p:nvSpPr>
                <p:spPr bwMode="auto">
                  <a:xfrm>
                    <a:off x="3720" y="2844"/>
                    <a:ext cx="540" cy="468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C</a:t>
                    </a:r>
                    <a:endParaRPr lang="en-US" altLang="zh-CN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7" name="Rectangle 59"/>
                  <p:cNvSpPr>
                    <a:spLocks noChangeArrowheads="1"/>
                  </p:cNvSpPr>
                  <p:nvPr/>
                </p:nvSpPr>
                <p:spPr bwMode="auto">
                  <a:xfrm>
                    <a:off x="4500" y="2844"/>
                    <a:ext cx="540" cy="468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S3</a:t>
                    </a:r>
                    <a:endParaRPr lang="en-US" altLang="zh-CN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8" name="Line 6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240" y="2376"/>
                    <a:ext cx="720" cy="468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sz="60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9" name="Line 6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960" y="2376"/>
                    <a:ext cx="0" cy="468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sz="60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" name="Line 62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3960" y="2376"/>
                    <a:ext cx="900" cy="468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sz="60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2" name="Rectangle 63"/>
                <p:cNvSpPr>
                  <a:spLocks noChangeArrowheads="1"/>
                </p:cNvSpPr>
                <p:nvPr/>
              </p:nvSpPr>
              <p:spPr bwMode="auto">
                <a:xfrm>
                  <a:off x="4320" y="3780"/>
                  <a:ext cx="540" cy="468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</a:t>
                  </a:r>
                  <a:endPara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3" name="Line 64"/>
                <p:cNvSpPr>
                  <a:spLocks noChangeShapeType="1"/>
                </p:cNvSpPr>
                <p:nvPr/>
              </p:nvSpPr>
              <p:spPr bwMode="auto">
                <a:xfrm>
                  <a:off x="4500" y="3312"/>
                  <a:ext cx="0" cy="4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60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9" name="Line 65"/>
              <p:cNvSpPr>
                <a:spLocks noChangeShapeType="1"/>
              </p:cNvSpPr>
              <p:nvPr/>
            </p:nvSpPr>
            <p:spPr bwMode="auto">
              <a:xfrm>
                <a:off x="3960" y="6120"/>
                <a:ext cx="0" cy="46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6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0" name="Rectangle 66"/>
              <p:cNvSpPr>
                <a:spLocks noChangeArrowheads="1"/>
              </p:cNvSpPr>
              <p:nvPr/>
            </p:nvSpPr>
            <p:spPr bwMode="auto">
              <a:xfrm>
                <a:off x="3600" y="6588"/>
                <a:ext cx="540" cy="46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S5</a:t>
                </a:r>
                <a:endPara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4" name="Group 67"/>
            <p:cNvGrpSpPr/>
            <p:nvPr/>
          </p:nvGrpSpPr>
          <p:grpSpPr bwMode="auto">
            <a:xfrm>
              <a:off x="4320" y="4716"/>
              <a:ext cx="2160" cy="2340"/>
              <a:chOff x="1980" y="4716"/>
              <a:chExt cx="2160" cy="2340"/>
            </a:xfrm>
          </p:grpSpPr>
          <p:grpSp>
            <p:nvGrpSpPr>
              <p:cNvPr id="35" name="Group 68"/>
              <p:cNvGrpSpPr/>
              <p:nvPr/>
            </p:nvGrpSpPr>
            <p:grpSpPr bwMode="auto">
              <a:xfrm>
                <a:off x="1980" y="4716"/>
                <a:ext cx="2160" cy="2340"/>
                <a:chOff x="4320" y="1908"/>
                <a:chExt cx="2160" cy="2340"/>
              </a:xfrm>
            </p:grpSpPr>
            <p:grpSp>
              <p:nvGrpSpPr>
                <p:cNvPr id="38" name="Group 69"/>
                <p:cNvGrpSpPr/>
                <p:nvPr/>
              </p:nvGrpSpPr>
              <p:grpSpPr bwMode="auto">
                <a:xfrm>
                  <a:off x="4320" y="1908"/>
                  <a:ext cx="2160" cy="1404"/>
                  <a:chOff x="2880" y="1908"/>
                  <a:chExt cx="2160" cy="1404"/>
                </a:xfrm>
              </p:grpSpPr>
              <p:sp>
                <p:nvSpPr>
                  <p:cNvPr id="41" name="Rectangle 70"/>
                  <p:cNvSpPr>
                    <a:spLocks noChangeArrowheads="1"/>
                  </p:cNvSpPr>
                  <p:nvPr/>
                </p:nvSpPr>
                <p:spPr bwMode="auto">
                  <a:xfrm>
                    <a:off x="3675" y="1908"/>
                    <a:ext cx="540" cy="468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A</a:t>
                    </a:r>
                    <a:endParaRPr lang="en-US" altLang="zh-CN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2" name="Rectangle 71"/>
                  <p:cNvSpPr>
                    <a:spLocks noChangeArrowheads="1"/>
                  </p:cNvSpPr>
                  <p:nvPr/>
                </p:nvSpPr>
                <p:spPr bwMode="auto">
                  <a:xfrm>
                    <a:off x="2880" y="2844"/>
                    <a:ext cx="540" cy="468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B</a:t>
                    </a:r>
                    <a:endParaRPr lang="en-US" altLang="zh-CN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3" name="Rectangle 72"/>
                  <p:cNvSpPr>
                    <a:spLocks noChangeArrowheads="1"/>
                  </p:cNvSpPr>
                  <p:nvPr/>
                </p:nvSpPr>
                <p:spPr bwMode="auto">
                  <a:xfrm>
                    <a:off x="3720" y="2844"/>
                    <a:ext cx="540" cy="468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C</a:t>
                    </a:r>
                    <a:endParaRPr lang="en-US" altLang="zh-CN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4" name="Rectangle 73"/>
                  <p:cNvSpPr>
                    <a:spLocks noChangeArrowheads="1"/>
                  </p:cNvSpPr>
                  <p:nvPr/>
                </p:nvSpPr>
                <p:spPr bwMode="auto">
                  <a:xfrm>
                    <a:off x="4500" y="2844"/>
                    <a:ext cx="540" cy="468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zh-CN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D</a:t>
                    </a:r>
                    <a:endParaRPr lang="en-US" altLang="zh-CN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5" name="Line 74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240" y="2376"/>
                    <a:ext cx="720" cy="468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sz="60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6" name="Line 75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960" y="2376"/>
                    <a:ext cx="0" cy="468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sz="60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7" name="Line 76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3960" y="2376"/>
                    <a:ext cx="900" cy="468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sz="60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39" name="Rectangle 77"/>
                <p:cNvSpPr>
                  <a:spLocks noChangeArrowheads="1"/>
                </p:cNvSpPr>
                <p:nvPr/>
              </p:nvSpPr>
              <p:spPr bwMode="auto">
                <a:xfrm>
                  <a:off x="4320" y="3780"/>
                  <a:ext cx="540" cy="468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</a:t>
                  </a:r>
                  <a:endPara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0" name="Line 78"/>
                <p:cNvSpPr>
                  <a:spLocks noChangeShapeType="1"/>
                </p:cNvSpPr>
                <p:nvPr/>
              </p:nvSpPr>
              <p:spPr bwMode="auto">
                <a:xfrm>
                  <a:off x="4500" y="3312"/>
                  <a:ext cx="0" cy="4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60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6" name="Line 79"/>
              <p:cNvSpPr>
                <a:spLocks noChangeShapeType="1"/>
              </p:cNvSpPr>
              <p:nvPr/>
            </p:nvSpPr>
            <p:spPr bwMode="auto">
              <a:xfrm>
                <a:off x="3960" y="6120"/>
                <a:ext cx="0" cy="46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6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7" name="Rectangle 80"/>
              <p:cNvSpPr>
                <a:spLocks noChangeArrowheads="1"/>
              </p:cNvSpPr>
              <p:nvPr/>
            </p:nvSpPr>
            <p:spPr bwMode="auto">
              <a:xfrm>
                <a:off x="3600" y="6588"/>
                <a:ext cx="540" cy="46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S5</a:t>
                </a:r>
                <a:endPara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5" name="Group 81"/>
            <p:cNvGrpSpPr/>
            <p:nvPr/>
          </p:nvGrpSpPr>
          <p:grpSpPr bwMode="auto">
            <a:xfrm>
              <a:off x="6780" y="4716"/>
              <a:ext cx="2160" cy="2340"/>
              <a:chOff x="2100" y="4716"/>
              <a:chExt cx="2160" cy="2340"/>
            </a:xfrm>
          </p:grpSpPr>
          <p:grpSp>
            <p:nvGrpSpPr>
              <p:cNvPr id="22" name="Group 82"/>
              <p:cNvGrpSpPr/>
              <p:nvPr/>
            </p:nvGrpSpPr>
            <p:grpSpPr bwMode="auto">
              <a:xfrm>
                <a:off x="2100" y="4716"/>
                <a:ext cx="2160" cy="2340"/>
                <a:chOff x="4440" y="1908"/>
                <a:chExt cx="2160" cy="2340"/>
              </a:xfrm>
            </p:grpSpPr>
            <p:grpSp>
              <p:nvGrpSpPr>
                <p:cNvPr id="25" name="Group 83"/>
                <p:cNvGrpSpPr/>
                <p:nvPr/>
              </p:nvGrpSpPr>
              <p:grpSpPr bwMode="auto">
                <a:xfrm>
                  <a:off x="4440" y="1908"/>
                  <a:ext cx="2160" cy="1404"/>
                  <a:chOff x="3000" y="1908"/>
                  <a:chExt cx="2160" cy="1404"/>
                </a:xfrm>
              </p:grpSpPr>
              <p:sp>
                <p:nvSpPr>
                  <p:cNvPr id="28" name="Rectangle 84"/>
                  <p:cNvSpPr>
                    <a:spLocks noChangeArrowheads="1"/>
                  </p:cNvSpPr>
                  <p:nvPr/>
                </p:nvSpPr>
                <p:spPr bwMode="auto">
                  <a:xfrm>
                    <a:off x="3795" y="1908"/>
                    <a:ext cx="540" cy="468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zh-CN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A</a:t>
                    </a:r>
                    <a:endParaRPr lang="en-US" altLang="zh-CN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9" name="Rectangle 85"/>
                  <p:cNvSpPr>
                    <a:spLocks noChangeArrowheads="1"/>
                  </p:cNvSpPr>
                  <p:nvPr/>
                </p:nvSpPr>
                <p:spPr bwMode="auto">
                  <a:xfrm>
                    <a:off x="3000" y="2844"/>
                    <a:ext cx="540" cy="468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zh-CN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B</a:t>
                    </a:r>
                    <a:endParaRPr lang="en-US" altLang="zh-CN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0" name="Rectangle 86"/>
                  <p:cNvSpPr>
                    <a:spLocks noChangeArrowheads="1"/>
                  </p:cNvSpPr>
                  <p:nvPr/>
                </p:nvSpPr>
                <p:spPr bwMode="auto">
                  <a:xfrm>
                    <a:off x="3840" y="2844"/>
                    <a:ext cx="540" cy="468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zh-CN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C</a:t>
                    </a:r>
                    <a:endParaRPr lang="en-US" altLang="zh-CN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1" name="Rectangle 87"/>
                  <p:cNvSpPr>
                    <a:spLocks noChangeArrowheads="1"/>
                  </p:cNvSpPr>
                  <p:nvPr/>
                </p:nvSpPr>
                <p:spPr bwMode="auto">
                  <a:xfrm>
                    <a:off x="4620" y="2844"/>
                    <a:ext cx="540" cy="468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zh-CN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D</a:t>
                    </a:r>
                    <a:endParaRPr lang="en-US" altLang="zh-CN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2" name="Line 8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360" y="2376"/>
                    <a:ext cx="720" cy="468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sz="60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3" name="Line 89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080" y="2376"/>
                    <a:ext cx="0" cy="468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sz="60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4" name="Line 90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4080" y="2376"/>
                    <a:ext cx="900" cy="468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sz="60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26" name="Rectangle 91"/>
                <p:cNvSpPr>
                  <a:spLocks noChangeArrowheads="1"/>
                </p:cNvSpPr>
                <p:nvPr/>
              </p:nvSpPr>
              <p:spPr bwMode="auto">
                <a:xfrm>
                  <a:off x="4440" y="3780"/>
                  <a:ext cx="540" cy="468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</a:t>
                  </a:r>
                  <a:endParaRPr lang="en-US" altLang="zh-CN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Line 92"/>
                <p:cNvSpPr>
                  <a:spLocks noChangeShapeType="1"/>
                </p:cNvSpPr>
                <p:nvPr/>
              </p:nvSpPr>
              <p:spPr bwMode="auto">
                <a:xfrm>
                  <a:off x="4620" y="3312"/>
                  <a:ext cx="0" cy="468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60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3" name="Line 93"/>
              <p:cNvSpPr>
                <a:spLocks noChangeShapeType="1"/>
              </p:cNvSpPr>
              <p:nvPr/>
            </p:nvSpPr>
            <p:spPr bwMode="auto">
              <a:xfrm>
                <a:off x="4080" y="6120"/>
                <a:ext cx="0" cy="468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6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" name="Rectangle 94"/>
              <p:cNvSpPr>
                <a:spLocks noChangeArrowheads="1"/>
              </p:cNvSpPr>
              <p:nvPr/>
            </p:nvSpPr>
            <p:spPr bwMode="auto">
              <a:xfrm>
                <a:off x="3720" y="6588"/>
                <a:ext cx="540" cy="46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endParaRPr lang="en-US" altLang="zh-CN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6" name="Rectangle 95"/>
            <p:cNvSpPr>
              <a:spLocks noChangeArrowheads="1"/>
            </p:cNvSpPr>
            <p:nvPr/>
          </p:nvSpPr>
          <p:spPr bwMode="auto">
            <a:xfrm>
              <a:off x="2340" y="3780"/>
              <a:ext cx="900" cy="46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测试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Rectangle 96"/>
            <p:cNvSpPr>
              <a:spLocks noChangeArrowheads="1"/>
            </p:cNvSpPr>
            <p:nvPr/>
          </p:nvSpPr>
          <p:spPr bwMode="auto">
            <a:xfrm>
              <a:off x="5220" y="3780"/>
              <a:ext cx="900" cy="46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rPr>
                <a:t>加入</a:t>
              </a: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altLang="zh-C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Rectangle 97"/>
            <p:cNvSpPr>
              <a:spLocks noChangeArrowheads="1"/>
            </p:cNvSpPr>
            <p:nvPr/>
          </p:nvSpPr>
          <p:spPr bwMode="auto">
            <a:xfrm>
              <a:off x="7740" y="3780"/>
              <a:ext cx="900" cy="46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rPr>
                <a:t>加入</a:t>
              </a: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en-US" altLang="zh-C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Rectangle 98"/>
            <p:cNvSpPr>
              <a:spLocks noChangeArrowheads="1"/>
            </p:cNvSpPr>
            <p:nvPr/>
          </p:nvSpPr>
          <p:spPr bwMode="auto">
            <a:xfrm>
              <a:off x="2700" y="7368"/>
              <a:ext cx="900" cy="46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rPr>
                <a:t>加入</a:t>
              </a: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en-US" altLang="zh-C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Rectangle 99"/>
            <p:cNvSpPr>
              <a:spLocks noChangeArrowheads="1"/>
            </p:cNvSpPr>
            <p:nvPr/>
          </p:nvSpPr>
          <p:spPr bwMode="auto">
            <a:xfrm>
              <a:off x="5040" y="7368"/>
              <a:ext cx="900" cy="46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rPr>
                <a:t>加入</a:t>
              </a: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en-US" altLang="zh-C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Rectangle 100"/>
            <p:cNvSpPr>
              <a:spLocks noChangeArrowheads="1"/>
            </p:cNvSpPr>
            <p:nvPr/>
          </p:nvSpPr>
          <p:spPr bwMode="auto">
            <a:xfrm>
              <a:off x="7380" y="7368"/>
              <a:ext cx="900" cy="46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Times New Roman" panose="02020603050405020304" pitchFamily="18" charset="0"/>
                  <a:cs typeface="Times New Roman" panose="02020603050405020304" pitchFamily="18" charset="0"/>
                </a:rPr>
                <a:t>加入</a:t>
              </a:r>
              <a:r>
                <a:rPr lang="en-US" altLang="zh-CN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en-US" altLang="zh-CN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Rectangle 1"/>
          <p:cNvSpPr/>
          <p:nvPr/>
        </p:nvSpPr>
        <p:spPr>
          <a:xfrm>
            <a:off x="13887925" y="1097602"/>
            <a:ext cx="295465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cap="none" spc="0" dirty="0">
                <a:ln w="0"/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深度优先</a:t>
            </a:r>
            <a:endParaRPr lang="en-US" altLang="zh-CN" sz="5400" cap="none" spc="0" dirty="0">
              <a:ln w="0"/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音频 2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90664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集成测试方法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2</a:t>
            </a:r>
            <a:endParaRPr dirty="0"/>
          </a:p>
        </p:txBody>
      </p:sp>
      <p:sp>
        <p:nvSpPr>
          <p:cNvPr id="2" name="Rectangle 1"/>
          <p:cNvSpPr/>
          <p:nvPr/>
        </p:nvSpPr>
        <p:spPr>
          <a:xfrm>
            <a:off x="13887925" y="1097602"/>
            <a:ext cx="295465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dirty="0">
                <a:ln w="0"/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宽度</a:t>
            </a:r>
            <a:r>
              <a:rPr lang="zh-CN" altLang="en-US" sz="5400" cap="none" spc="0" dirty="0">
                <a:ln w="0"/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优先</a:t>
            </a:r>
            <a:endParaRPr lang="en-US" altLang="zh-CN" sz="5400" cap="none" spc="0" dirty="0">
              <a:ln w="0"/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8" name="Group 4"/>
          <p:cNvGrpSpPr/>
          <p:nvPr/>
        </p:nvGrpSpPr>
        <p:grpSpPr bwMode="auto">
          <a:xfrm>
            <a:off x="3712368" y="2871788"/>
            <a:ext cx="17273591" cy="10458450"/>
            <a:chOff x="1980" y="1908"/>
            <a:chExt cx="7020" cy="5928"/>
          </a:xfrm>
        </p:grpSpPr>
        <p:grpSp>
          <p:nvGrpSpPr>
            <p:cNvPr id="89" name="Group 5"/>
            <p:cNvGrpSpPr/>
            <p:nvPr/>
          </p:nvGrpSpPr>
          <p:grpSpPr bwMode="auto">
            <a:xfrm>
              <a:off x="1980" y="1908"/>
              <a:ext cx="2160" cy="1404"/>
              <a:chOff x="2880" y="1908"/>
              <a:chExt cx="2160" cy="1404"/>
            </a:xfrm>
          </p:grpSpPr>
          <p:sp>
            <p:nvSpPr>
              <p:cNvPr id="160" name="Rectangle 6"/>
              <p:cNvSpPr>
                <a:spLocks noChangeArrowheads="1"/>
              </p:cNvSpPr>
              <p:nvPr/>
            </p:nvSpPr>
            <p:spPr bwMode="auto">
              <a:xfrm>
                <a:off x="3675" y="1908"/>
                <a:ext cx="540" cy="46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1" name="Rectangle 7"/>
              <p:cNvSpPr>
                <a:spLocks noChangeArrowheads="1"/>
              </p:cNvSpPr>
              <p:nvPr/>
            </p:nvSpPr>
            <p:spPr bwMode="auto">
              <a:xfrm>
                <a:off x="2880" y="2844"/>
                <a:ext cx="540" cy="46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S1</a:t>
                </a:r>
                <a:endPara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2" name="Rectangle 8"/>
              <p:cNvSpPr>
                <a:spLocks noChangeArrowheads="1"/>
              </p:cNvSpPr>
              <p:nvPr/>
            </p:nvSpPr>
            <p:spPr bwMode="auto">
              <a:xfrm>
                <a:off x="3720" y="2844"/>
                <a:ext cx="540" cy="46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S2</a:t>
                </a:r>
                <a:endPara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3" name="Rectangle 9"/>
              <p:cNvSpPr>
                <a:spLocks noChangeArrowheads="1"/>
              </p:cNvSpPr>
              <p:nvPr/>
            </p:nvSpPr>
            <p:spPr bwMode="auto">
              <a:xfrm>
                <a:off x="4500" y="2844"/>
                <a:ext cx="540" cy="46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S3</a:t>
                </a:r>
                <a:endPara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4" name="Line 10"/>
              <p:cNvSpPr>
                <a:spLocks noChangeShapeType="1"/>
              </p:cNvSpPr>
              <p:nvPr/>
            </p:nvSpPr>
            <p:spPr bwMode="auto">
              <a:xfrm flipV="1">
                <a:off x="3240" y="2376"/>
                <a:ext cx="720" cy="46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6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5" name="Line 11"/>
              <p:cNvSpPr>
                <a:spLocks noChangeShapeType="1"/>
              </p:cNvSpPr>
              <p:nvPr/>
            </p:nvSpPr>
            <p:spPr bwMode="auto">
              <a:xfrm flipV="1">
                <a:off x="3960" y="2376"/>
                <a:ext cx="0" cy="46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6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6" name="Line 12"/>
              <p:cNvSpPr>
                <a:spLocks noChangeShapeType="1"/>
              </p:cNvSpPr>
              <p:nvPr/>
            </p:nvSpPr>
            <p:spPr bwMode="auto">
              <a:xfrm flipH="1" flipV="1">
                <a:off x="3960" y="2376"/>
                <a:ext cx="900" cy="46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6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90" name="Group 13"/>
            <p:cNvGrpSpPr/>
            <p:nvPr/>
          </p:nvGrpSpPr>
          <p:grpSpPr bwMode="auto">
            <a:xfrm>
              <a:off x="4320" y="1908"/>
              <a:ext cx="2160" cy="2340"/>
              <a:chOff x="4320" y="1908"/>
              <a:chExt cx="2160" cy="2340"/>
            </a:xfrm>
          </p:grpSpPr>
          <p:grpSp>
            <p:nvGrpSpPr>
              <p:cNvPr id="150" name="Group 14"/>
              <p:cNvGrpSpPr/>
              <p:nvPr/>
            </p:nvGrpSpPr>
            <p:grpSpPr bwMode="auto">
              <a:xfrm>
                <a:off x="4320" y="1908"/>
                <a:ext cx="2160" cy="1404"/>
                <a:chOff x="2880" y="1908"/>
                <a:chExt cx="2160" cy="1404"/>
              </a:xfrm>
            </p:grpSpPr>
            <p:sp>
              <p:nvSpPr>
                <p:cNvPr id="153" name="Rectangle 15"/>
                <p:cNvSpPr>
                  <a:spLocks noChangeArrowheads="1"/>
                </p:cNvSpPr>
                <p:nvPr/>
              </p:nvSpPr>
              <p:spPr bwMode="auto">
                <a:xfrm>
                  <a:off x="3675" y="1908"/>
                  <a:ext cx="540" cy="468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28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  <a:endParaRPr lang="en-US" altLang="zh-CN" sz="28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4" name="Rectangle 16"/>
                <p:cNvSpPr>
                  <a:spLocks noChangeArrowheads="1"/>
                </p:cNvSpPr>
                <p:nvPr/>
              </p:nvSpPr>
              <p:spPr bwMode="auto">
                <a:xfrm>
                  <a:off x="2880" y="2844"/>
                  <a:ext cx="540" cy="468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28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B</a:t>
                  </a:r>
                  <a:endParaRPr lang="en-US" altLang="zh-CN" sz="28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5" name="Rectangle 17"/>
                <p:cNvSpPr>
                  <a:spLocks noChangeArrowheads="1"/>
                </p:cNvSpPr>
                <p:nvPr/>
              </p:nvSpPr>
              <p:spPr bwMode="auto">
                <a:xfrm>
                  <a:off x="3720" y="2844"/>
                  <a:ext cx="540" cy="468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28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S2</a:t>
                  </a:r>
                  <a:endParaRPr lang="en-US" altLang="zh-CN" sz="28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6" name="Rectangle 18"/>
                <p:cNvSpPr>
                  <a:spLocks noChangeArrowheads="1"/>
                </p:cNvSpPr>
                <p:nvPr/>
              </p:nvSpPr>
              <p:spPr bwMode="auto">
                <a:xfrm>
                  <a:off x="4500" y="2844"/>
                  <a:ext cx="540" cy="468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28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S3</a:t>
                  </a:r>
                  <a:endParaRPr lang="en-US" altLang="zh-CN" sz="28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7" name="Line 19"/>
                <p:cNvSpPr>
                  <a:spLocks noChangeShapeType="1"/>
                </p:cNvSpPr>
                <p:nvPr/>
              </p:nvSpPr>
              <p:spPr bwMode="auto">
                <a:xfrm flipV="1">
                  <a:off x="3240" y="2376"/>
                  <a:ext cx="720" cy="4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60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8" name="Line 20"/>
                <p:cNvSpPr>
                  <a:spLocks noChangeShapeType="1"/>
                </p:cNvSpPr>
                <p:nvPr/>
              </p:nvSpPr>
              <p:spPr bwMode="auto">
                <a:xfrm flipV="1">
                  <a:off x="3960" y="2376"/>
                  <a:ext cx="0" cy="4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60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9" name="Line 21"/>
                <p:cNvSpPr>
                  <a:spLocks noChangeShapeType="1"/>
                </p:cNvSpPr>
                <p:nvPr/>
              </p:nvSpPr>
              <p:spPr bwMode="auto">
                <a:xfrm flipH="1" flipV="1">
                  <a:off x="3960" y="2376"/>
                  <a:ext cx="900" cy="4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60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51" name="Rectangle 22"/>
              <p:cNvSpPr>
                <a:spLocks noChangeArrowheads="1"/>
              </p:cNvSpPr>
              <p:nvPr/>
            </p:nvSpPr>
            <p:spPr bwMode="auto">
              <a:xfrm>
                <a:off x="4320" y="3780"/>
                <a:ext cx="540" cy="46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S4</a:t>
                </a:r>
                <a:endPara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2" name="Line 23"/>
              <p:cNvSpPr>
                <a:spLocks noChangeShapeType="1"/>
              </p:cNvSpPr>
              <p:nvPr/>
            </p:nvSpPr>
            <p:spPr bwMode="auto">
              <a:xfrm>
                <a:off x="4500" y="3312"/>
                <a:ext cx="0" cy="46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6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91" name="Group 24"/>
            <p:cNvGrpSpPr/>
            <p:nvPr/>
          </p:nvGrpSpPr>
          <p:grpSpPr bwMode="auto">
            <a:xfrm>
              <a:off x="6840" y="1908"/>
              <a:ext cx="2160" cy="2340"/>
              <a:chOff x="4320" y="1908"/>
              <a:chExt cx="2160" cy="2340"/>
            </a:xfrm>
          </p:grpSpPr>
          <p:grpSp>
            <p:nvGrpSpPr>
              <p:cNvPr id="140" name="Group 25"/>
              <p:cNvGrpSpPr/>
              <p:nvPr/>
            </p:nvGrpSpPr>
            <p:grpSpPr bwMode="auto">
              <a:xfrm>
                <a:off x="4320" y="1908"/>
                <a:ext cx="2160" cy="1404"/>
                <a:chOff x="2880" y="1908"/>
                <a:chExt cx="2160" cy="1404"/>
              </a:xfrm>
            </p:grpSpPr>
            <p:sp>
              <p:nvSpPr>
                <p:cNvPr id="143" name="Rectangle 26"/>
                <p:cNvSpPr>
                  <a:spLocks noChangeArrowheads="1"/>
                </p:cNvSpPr>
                <p:nvPr/>
              </p:nvSpPr>
              <p:spPr bwMode="auto">
                <a:xfrm>
                  <a:off x="3675" y="1908"/>
                  <a:ext cx="540" cy="468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28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</a:t>
                  </a:r>
                  <a:endParaRPr lang="en-US" altLang="zh-CN" sz="28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4" name="Rectangle 27"/>
                <p:cNvSpPr>
                  <a:spLocks noChangeArrowheads="1"/>
                </p:cNvSpPr>
                <p:nvPr/>
              </p:nvSpPr>
              <p:spPr bwMode="auto">
                <a:xfrm>
                  <a:off x="2880" y="2844"/>
                  <a:ext cx="540" cy="468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28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B</a:t>
                  </a:r>
                  <a:endParaRPr lang="en-US" altLang="zh-CN" sz="28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5" name="Rectangle 28"/>
                <p:cNvSpPr>
                  <a:spLocks noChangeArrowheads="1"/>
                </p:cNvSpPr>
                <p:nvPr/>
              </p:nvSpPr>
              <p:spPr bwMode="auto">
                <a:xfrm>
                  <a:off x="3720" y="2844"/>
                  <a:ext cx="540" cy="468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28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</a:t>
                  </a:r>
                  <a:endParaRPr lang="en-US" altLang="zh-CN" sz="28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6" name="Rectangle 29"/>
                <p:cNvSpPr>
                  <a:spLocks noChangeArrowheads="1"/>
                </p:cNvSpPr>
                <p:nvPr/>
              </p:nvSpPr>
              <p:spPr bwMode="auto">
                <a:xfrm>
                  <a:off x="4500" y="2844"/>
                  <a:ext cx="540" cy="468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28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S3</a:t>
                  </a:r>
                  <a:endParaRPr lang="en-US" altLang="zh-CN" sz="28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7" name="Line 30"/>
                <p:cNvSpPr>
                  <a:spLocks noChangeShapeType="1"/>
                </p:cNvSpPr>
                <p:nvPr/>
              </p:nvSpPr>
              <p:spPr bwMode="auto">
                <a:xfrm flipV="1">
                  <a:off x="3240" y="2376"/>
                  <a:ext cx="720" cy="4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60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8" name="Line 31"/>
                <p:cNvSpPr>
                  <a:spLocks noChangeShapeType="1"/>
                </p:cNvSpPr>
                <p:nvPr/>
              </p:nvSpPr>
              <p:spPr bwMode="auto">
                <a:xfrm flipV="1">
                  <a:off x="3960" y="2376"/>
                  <a:ext cx="0" cy="4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60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9" name="Line 32"/>
                <p:cNvSpPr>
                  <a:spLocks noChangeShapeType="1"/>
                </p:cNvSpPr>
                <p:nvPr/>
              </p:nvSpPr>
              <p:spPr bwMode="auto">
                <a:xfrm flipH="1" flipV="1">
                  <a:off x="3960" y="2376"/>
                  <a:ext cx="900" cy="4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60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41" name="Rectangle 33"/>
              <p:cNvSpPr>
                <a:spLocks noChangeArrowheads="1"/>
              </p:cNvSpPr>
              <p:nvPr/>
            </p:nvSpPr>
            <p:spPr bwMode="auto">
              <a:xfrm>
                <a:off x="4320" y="3780"/>
                <a:ext cx="540" cy="46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S4</a:t>
                </a:r>
                <a:endPara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2" name="Line 34"/>
              <p:cNvSpPr>
                <a:spLocks noChangeShapeType="1"/>
              </p:cNvSpPr>
              <p:nvPr/>
            </p:nvSpPr>
            <p:spPr bwMode="auto">
              <a:xfrm>
                <a:off x="4500" y="3312"/>
                <a:ext cx="0" cy="46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6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92" name="Group 35"/>
            <p:cNvGrpSpPr/>
            <p:nvPr/>
          </p:nvGrpSpPr>
          <p:grpSpPr bwMode="auto">
            <a:xfrm>
              <a:off x="1980" y="4716"/>
              <a:ext cx="2160" cy="2340"/>
              <a:chOff x="1980" y="4716"/>
              <a:chExt cx="2160" cy="2340"/>
            </a:xfrm>
          </p:grpSpPr>
          <p:grpSp>
            <p:nvGrpSpPr>
              <p:cNvPr id="127" name="Group 36"/>
              <p:cNvGrpSpPr/>
              <p:nvPr/>
            </p:nvGrpSpPr>
            <p:grpSpPr bwMode="auto">
              <a:xfrm>
                <a:off x="1980" y="4716"/>
                <a:ext cx="2160" cy="2340"/>
                <a:chOff x="4320" y="1908"/>
                <a:chExt cx="2160" cy="2340"/>
              </a:xfrm>
            </p:grpSpPr>
            <p:grpSp>
              <p:nvGrpSpPr>
                <p:cNvPr id="130" name="Group 37"/>
                <p:cNvGrpSpPr/>
                <p:nvPr/>
              </p:nvGrpSpPr>
              <p:grpSpPr bwMode="auto">
                <a:xfrm>
                  <a:off x="4320" y="1908"/>
                  <a:ext cx="2160" cy="1404"/>
                  <a:chOff x="2880" y="1908"/>
                  <a:chExt cx="2160" cy="1404"/>
                </a:xfrm>
              </p:grpSpPr>
              <p:sp>
                <p:nvSpPr>
                  <p:cNvPr id="133" name="Rectangle 38"/>
                  <p:cNvSpPr>
                    <a:spLocks noChangeArrowheads="1"/>
                  </p:cNvSpPr>
                  <p:nvPr/>
                </p:nvSpPr>
                <p:spPr bwMode="auto">
                  <a:xfrm>
                    <a:off x="3675" y="1908"/>
                    <a:ext cx="540" cy="468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zh-CN" sz="28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A</a:t>
                    </a:r>
                    <a:endParaRPr lang="en-US" altLang="zh-CN" sz="28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34" name="Rectangle 39"/>
                  <p:cNvSpPr>
                    <a:spLocks noChangeArrowheads="1"/>
                  </p:cNvSpPr>
                  <p:nvPr/>
                </p:nvSpPr>
                <p:spPr bwMode="auto">
                  <a:xfrm>
                    <a:off x="2880" y="2844"/>
                    <a:ext cx="540" cy="468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zh-CN" sz="28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B</a:t>
                    </a:r>
                    <a:endParaRPr lang="en-US" altLang="zh-CN" sz="28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35" name="Rectangle 40"/>
                  <p:cNvSpPr>
                    <a:spLocks noChangeArrowheads="1"/>
                  </p:cNvSpPr>
                  <p:nvPr/>
                </p:nvSpPr>
                <p:spPr bwMode="auto">
                  <a:xfrm>
                    <a:off x="3720" y="2844"/>
                    <a:ext cx="540" cy="468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zh-CN" sz="28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C</a:t>
                    </a:r>
                    <a:endParaRPr lang="en-US" altLang="zh-CN" sz="28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36" name="Rectangle 41"/>
                  <p:cNvSpPr>
                    <a:spLocks noChangeArrowheads="1"/>
                  </p:cNvSpPr>
                  <p:nvPr/>
                </p:nvSpPr>
                <p:spPr bwMode="auto">
                  <a:xfrm>
                    <a:off x="4500" y="2844"/>
                    <a:ext cx="540" cy="468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zh-CN" sz="28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D</a:t>
                    </a:r>
                    <a:endParaRPr lang="en-US" altLang="zh-CN" sz="28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37" name="Line 42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240" y="2376"/>
                    <a:ext cx="720" cy="468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sz="60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38" name="Line 43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960" y="2376"/>
                    <a:ext cx="0" cy="468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sz="60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39" name="Line 44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3960" y="2376"/>
                    <a:ext cx="900" cy="468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sz="60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31" name="Rectangle 45"/>
                <p:cNvSpPr>
                  <a:spLocks noChangeArrowheads="1"/>
                </p:cNvSpPr>
                <p:nvPr/>
              </p:nvSpPr>
              <p:spPr bwMode="auto">
                <a:xfrm>
                  <a:off x="4320" y="3780"/>
                  <a:ext cx="540" cy="468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28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S4</a:t>
                  </a:r>
                  <a:endParaRPr lang="en-US" altLang="zh-CN" sz="28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2" name="Line 46"/>
                <p:cNvSpPr>
                  <a:spLocks noChangeShapeType="1"/>
                </p:cNvSpPr>
                <p:nvPr/>
              </p:nvSpPr>
              <p:spPr bwMode="auto">
                <a:xfrm>
                  <a:off x="4500" y="3312"/>
                  <a:ext cx="0" cy="4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60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28" name="Line 47"/>
              <p:cNvSpPr>
                <a:spLocks noChangeShapeType="1"/>
              </p:cNvSpPr>
              <p:nvPr/>
            </p:nvSpPr>
            <p:spPr bwMode="auto">
              <a:xfrm>
                <a:off x="3960" y="6120"/>
                <a:ext cx="0" cy="46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6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9" name="Rectangle 48"/>
              <p:cNvSpPr>
                <a:spLocks noChangeArrowheads="1"/>
              </p:cNvSpPr>
              <p:nvPr/>
            </p:nvSpPr>
            <p:spPr bwMode="auto">
              <a:xfrm>
                <a:off x="3600" y="6588"/>
                <a:ext cx="540" cy="46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S5</a:t>
                </a:r>
                <a:endPara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93" name="Group 49"/>
            <p:cNvGrpSpPr/>
            <p:nvPr/>
          </p:nvGrpSpPr>
          <p:grpSpPr bwMode="auto">
            <a:xfrm>
              <a:off x="4320" y="4716"/>
              <a:ext cx="2160" cy="2340"/>
              <a:chOff x="1980" y="4716"/>
              <a:chExt cx="2160" cy="2340"/>
            </a:xfrm>
          </p:grpSpPr>
          <p:grpSp>
            <p:nvGrpSpPr>
              <p:cNvPr id="114" name="Group 50"/>
              <p:cNvGrpSpPr/>
              <p:nvPr/>
            </p:nvGrpSpPr>
            <p:grpSpPr bwMode="auto">
              <a:xfrm>
                <a:off x="1980" y="4716"/>
                <a:ext cx="2160" cy="2340"/>
                <a:chOff x="4320" y="1908"/>
                <a:chExt cx="2160" cy="2340"/>
              </a:xfrm>
            </p:grpSpPr>
            <p:grpSp>
              <p:nvGrpSpPr>
                <p:cNvPr id="117" name="Group 51"/>
                <p:cNvGrpSpPr/>
                <p:nvPr/>
              </p:nvGrpSpPr>
              <p:grpSpPr bwMode="auto">
                <a:xfrm>
                  <a:off x="4320" y="1908"/>
                  <a:ext cx="2160" cy="1404"/>
                  <a:chOff x="2880" y="1908"/>
                  <a:chExt cx="2160" cy="1404"/>
                </a:xfrm>
              </p:grpSpPr>
              <p:sp>
                <p:nvSpPr>
                  <p:cNvPr id="120" name="Rectangle 52"/>
                  <p:cNvSpPr>
                    <a:spLocks noChangeArrowheads="1"/>
                  </p:cNvSpPr>
                  <p:nvPr/>
                </p:nvSpPr>
                <p:spPr bwMode="auto">
                  <a:xfrm>
                    <a:off x="3675" y="1908"/>
                    <a:ext cx="540" cy="468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zh-CN" sz="28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A</a:t>
                    </a:r>
                    <a:endParaRPr lang="en-US" altLang="zh-CN" sz="28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21" name="Rectangle 53"/>
                  <p:cNvSpPr>
                    <a:spLocks noChangeArrowheads="1"/>
                  </p:cNvSpPr>
                  <p:nvPr/>
                </p:nvSpPr>
                <p:spPr bwMode="auto">
                  <a:xfrm>
                    <a:off x="2880" y="2844"/>
                    <a:ext cx="540" cy="468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zh-CN" sz="28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B</a:t>
                    </a:r>
                    <a:endParaRPr lang="en-US" altLang="zh-CN" sz="28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22" name="Rectangle 54"/>
                  <p:cNvSpPr>
                    <a:spLocks noChangeArrowheads="1"/>
                  </p:cNvSpPr>
                  <p:nvPr/>
                </p:nvSpPr>
                <p:spPr bwMode="auto">
                  <a:xfrm>
                    <a:off x="3720" y="2844"/>
                    <a:ext cx="540" cy="468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zh-CN" sz="28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C</a:t>
                    </a:r>
                    <a:endParaRPr lang="en-US" altLang="zh-CN" sz="28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23" name="Rectangle 55"/>
                  <p:cNvSpPr>
                    <a:spLocks noChangeArrowheads="1"/>
                  </p:cNvSpPr>
                  <p:nvPr/>
                </p:nvSpPr>
                <p:spPr bwMode="auto">
                  <a:xfrm>
                    <a:off x="4500" y="2844"/>
                    <a:ext cx="540" cy="468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zh-CN" sz="28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D</a:t>
                    </a:r>
                    <a:endParaRPr lang="en-US" altLang="zh-CN" sz="28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24" name="Line 56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240" y="2376"/>
                    <a:ext cx="720" cy="468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sz="60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25" name="Line 5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960" y="2376"/>
                    <a:ext cx="0" cy="468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sz="60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26" name="Line 58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3960" y="2376"/>
                    <a:ext cx="900" cy="468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sz="60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18" name="Rectangle 59"/>
                <p:cNvSpPr>
                  <a:spLocks noChangeArrowheads="1"/>
                </p:cNvSpPr>
                <p:nvPr/>
              </p:nvSpPr>
              <p:spPr bwMode="auto">
                <a:xfrm>
                  <a:off x="4320" y="3780"/>
                  <a:ext cx="540" cy="468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28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</a:t>
                  </a:r>
                  <a:endParaRPr lang="en-US" altLang="zh-CN" sz="28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9" name="Line 60"/>
                <p:cNvSpPr>
                  <a:spLocks noChangeShapeType="1"/>
                </p:cNvSpPr>
                <p:nvPr/>
              </p:nvSpPr>
              <p:spPr bwMode="auto">
                <a:xfrm>
                  <a:off x="4500" y="3312"/>
                  <a:ext cx="0" cy="4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60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15" name="Line 61"/>
              <p:cNvSpPr>
                <a:spLocks noChangeShapeType="1"/>
              </p:cNvSpPr>
              <p:nvPr/>
            </p:nvSpPr>
            <p:spPr bwMode="auto">
              <a:xfrm>
                <a:off x="3960" y="6120"/>
                <a:ext cx="0" cy="46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6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6" name="Rectangle 62"/>
              <p:cNvSpPr>
                <a:spLocks noChangeArrowheads="1"/>
              </p:cNvSpPr>
              <p:nvPr/>
            </p:nvSpPr>
            <p:spPr bwMode="auto">
              <a:xfrm>
                <a:off x="3600" y="6588"/>
                <a:ext cx="540" cy="46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S5</a:t>
                </a:r>
                <a:endPara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94" name="Group 63"/>
            <p:cNvGrpSpPr/>
            <p:nvPr/>
          </p:nvGrpSpPr>
          <p:grpSpPr bwMode="auto">
            <a:xfrm>
              <a:off x="6840" y="4716"/>
              <a:ext cx="2160" cy="2340"/>
              <a:chOff x="2160" y="4716"/>
              <a:chExt cx="2160" cy="2340"/>
            </a:xfrm>
          </p:grpSpPr>
          <p:grpSp>
            <p:nvGrpSpPr>
              <p:cNvPr id="101" name="Group 64"/>
              <p:cNvGrpSpPr/>
              <p:nvPr/>
            </p:nvGrpSpPr>
            <p:grpSpPr bwMode="auto">
              <a:xfrm>
                <a:off x="2160" y="4716"/>
                <a:ext cx="2160" cy="2340"/>
                <a:chOff x="4500" y="1908"/>
                <a:chExt cx="2160" cy="2340"/>
              </a:xfrm>
            </p:grpSpPr>
            <p:grpSp>
              <p:nvGrpSpPr>
                <p:cNvPr id="104" name="Group 65"/>
                <p:cNvGrpSpPr/>
                <p:nvPr/>
              </p:nvGrpSpPr>
              <p:grpSpPr bwMode="auto">
                <a:xfrm>
                  <a:off x="4500" y="1908"/>
                  <a:ext cx="2160" cy="1404"/>
                  <a:chOff x="3060" y="1908"/>
                  <a:chExt cx="2160" cy="1404"/>
                </a:xfrm>
              </p:grpSpPr>
              <p:sp>
                <p:nvSpPr>
                  <p:cNvPr id="107" name="Rectangle 66"/>
                  <p:cNvSpPr>
                    <a:spLocks noChangeArrowheads="1"/>
                  </p:cNvSpPr>
                  <p:nvPr/>
                </p:nvSpPr>
                <p:spPr bwMode="auto">
                  <a:xfrm>
                    <a:off x="3855" y="1908"/>
                    <a:ext cx="540" cy="468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zh-CN" sz="28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A</a:t>
                    </a:r>
                    <a:endParaRPr lang="en-US" altLang="zh-CN" sz="28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08" name="Rectangle 67"/>
                  <p:cNvSpPr>
                    <a:spLocks noChangeArrowheads="1"/>
                  </p:cNvSpPr>
                  <p:nvPr/>
                </p:nvSpPr>
                <p:spPr bwMode="auto">
                  <a:xfrm>
                    <a:off x="3060" y="2844"/>
                    <a:ext cx="540" cy="468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zh-CN" sz="28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B</a:t>
                    </a:r>
                    <a:endParaRPr lang="en-US" altLang="zh-CN" sz="28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09" name="Rectangle 68"/>
                  <p:cNvSpPr>
                    <a:spLocks noChangeArrowheads="1"/>
                  </p:cNvSpPr>
                  <p:nvPr/>
                </p:nvSpPr>
                <p:spPr bwMode="auto">
                  <a:xfrm>
                    <a:off x="3900" y="2844"/>
                    <a:ext cx="540" cy="468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zh-CN" sz="28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C</a:t>
                    </a:r>
                    <a:endParaRPr lang="en-US" altLang="zh-CN" sz="28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10" name="Rectangle 69"/>
                  <p:cNvSpPr>
                    <a:spLocks noChangeArrowheads="1"/>
                  </p:cNvSpPr>
                  <p:nvPr/>
                </p:nvSpPr>
                <p:spPr bwMode="auto">
                  <a:xfrm>
                    <a:off x="4680" y="2844"/>
                    <a:ext cx="540" cy="468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solidFill>
                      <a:srgbClr val="000000"/>
                    </a:solidFill>
                    <a:miter lim="800000"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lang="en-US" altLang="zh-CN" sz="28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D</a:t>
                    </a:r>
                    <a:endParaRPr lang="en-US" altLang="zh-CN" sz="28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11" name="Line 70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420" y="2376"/>
                    <a:ext cx="720" cy="468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sz="60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12" name="Line 71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140" y="2376"/>
                    <a:ext cx="0" cy="468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sz="60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13" name="Line 72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4140" y="2376"/>
                    <a:ext cx="900" cy="468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 sz="60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105" name="Rectangle 73"/>
                <p:cNvSpPr>
                  <a:spLocks noChangeArrowheads="1"/>
                </p:cNvSpPr>
                <p:nvPr/>
              </p:nvSpPr>
              <p:spPr bwMode="auto">
                <a:xfrm>
                  <a:off x="4500" y="3780"/>
                  <a:ext cx="540" cy="468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</a:ln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28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</a:t>
                  </a:r>
                  <a:endParaRPr lang="en-US" altLang="zh-CN" sz="28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6" name="Line 74"/>
                <p:cNvSpPr>
                  <a:spLocks noChangeShapeType="1"/>
                </p:cNvSpPr>
                <p:nvPr/>
              </p:nvSpPr>
              <p:spPr bwMode="auto">
                <a:xfrm>
                  <a:off x="4680" y="3312"/>
                  <a:ext cx="0" cy="4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60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02" name="Line 75"/>
              <p:cNvSpPr>
                <a:spLocks noChangeShapeType="1"/>
              </p:cNvSpPr>
              <p:nvPr/>
            </p:nvSpPr>
            <p:spPr bwMode="auto">
              <a:xfrm>
                <a:off x="4140" y="6120"/>
                <a:ext cx="0" cy="46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6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3" name="Rectangle 76"/>
              <p:cNvSpPr>
                <a:spLocks noChangeArrowheads="1"/>
              </p:cNvSpPr>
              <p:nvPr/>
            </p:nvSpPr>
            <p:spPr bwMode="auto">
              <a:xfrm>
                <a:off x="3780" y="6588"/>
                <a:ext cx="540" cy="46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endPara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95" name="Rectangle 77"/>
            <p:cNvSpPr>
              <a:spLocks noChangeArrowheads="1"/>
            </p:cNvSpPr>
            <p:nvPr/>
          </p:nvSpPr>
          <p:spPr bwMode="auto">
            <a:xfrm>
              <a:off x="2340" y="3780"/>
              <a:ext cx="900" cy="46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测试</a:t>
              </a: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6" name="Rectangle 78"/>
            <p:cNvSpPr>
              <a:spLocks noChangeArrowheads="1"/>
            </p:cNvSpPr>
            <p:nvPr/>
          </p:nvSpPr>
          <p:spPr bwMode="auto">
            <a:xfrm>
              <a:off x="5220" y="3780"/>
              <a:ext cx="900" cy="46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加入</a:t>
              </a: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7" name="Rectangle 79"/>
            <p:cNvSpPr>
              <a:spLocks noChangeArrowheads="1"/>
            </p:cNvSpPr>
            <p:nvPr/>
          </p:nvSpPr>
          <p:spPr bwMode="auto">
            <a:xfrm>
              <a:off x="7740" y="3780"/>
              <a:ext cx="900" cy="46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加入</a:t>
              </a: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8" name="Rectangle 80"/>
            <p:cNvSpPr>
              <a:spLocks noChangeArrowheads="1"/>
            </p:cNvSpPr>
            <p:nvPr/>
          </p:nvSpPr>
          <p:spPr bwMode="auto">
            <a:xfrm>
              <a:off x="2700" y="7368"/>
              <a:ext cx="900" cy="46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加入</a:t>
              </a: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9" name="Rectangle 81"/>
            <p:cNvSpPr>
              <a:spLocks noChangeArrowheads="1"/>
            </p:cNvSpPr>
            <p:nvPr/>
          </p:nvSpPr>
          <p:spPr bwMode="auto">
            <a:xfrm>
              <a:off x="5040" y="7368"/>
              <a:ext cx="900" cy="46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加入</a:t>
              </a: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0" name="Rectangle 82"/>
            <p:cNvSpPr>
              <a:spLocks noChangeArrowheads="1"/>
            </p:cNvSpPr>
            <p:nvPr/>
          </p:nvSpPr>
          <p:spPr bwMode="auto">
            <a:xfrm>
              <a:off x="7380" y="7368"/>
              <a:ext cx="900" cy="46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加入</a:t>
              </a:r>
              <a:r>
                <a:rPr lang="en-US" altLang="zh-CN" sz="280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en-US" altLang="zh-CN" sz="2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3" name="音频 2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37912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集成测试方法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2</a:t>
            </a:r>
            <a:endParaRPr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2737970" y="2801047"/>
            <a:ext cx="11135193" cy="1023909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t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pPr algn="just"/>
            <a:r>
              <a:rPr lang="zh-CN" altLang="en-US" sz="4800" b="1" dirty="0"/>
              <a:t>自底向上</a:t>
            </a:r>
            <a:endParaRPr lang="en-US" altLang="zh-CN" sz="4800" b="1" dirty="0"/>
          </a:p>
          <a:p>
            <a:pPr lvl="2" algn="just"/>
            <a:r>
              <a:rPr lang="zh-CN" altLang="en-US" sz="4800" dirty="0"/>
              <a:t>程序模块结构的最底层的模块开始组装。</a:t>
            </a:r>
            <a:endParaRPr lang="zh-CN" altLang="en-US" sz="4800" dirty="0"/>
          </a:p>
          <a:p>
            <a:pPr lvl="2" algn="just"/>
            <a:endParaRPr lang="zh-CN" altLang="en-US" sz="4800" dirty="0"/>
          </a:p>
          <a:p>
            <a:pPr lvl="3" algn="just">
              <a:spcBef>
                <a:spcPts val="600"/>
              </a:spcBef>
            </a:pPr>
            <a:endParaRPr lang="zh-CN" altLang="en-US" sz="4800" dirty="0"/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  <p:grpSp>
        <p:nvGrpSpPr>
          <p:cNvPr id="8" name="Group 81"/>
          <p:cNvGrpSpPr/>
          <p:nvPr/>
        </p:nvGrpSpPr>
        <p:grpSpPr bwMode="auto">
          <a:xfrm>
            <a:off x="16267422" y="3863040"/>
            <a:ext cx="6712652" cy="5034466"/>
            <a:chOff x="2100" y="4716"/>
            <a:chExt cx="2160" cy="2340"/>
          </a:xfrm>
        </p:grpSpPr>
        <p:grpSp>
          <p:nvGrpSpPr>
            <p:cNvPr id="11" name="Group 82"/>
            <p:cNvGrpSpPr/>
            <p:nvPr/>
          </p:nvGrpSpPr>
          <p:grpSpPr bwMode="auto">
            <a:xfrm>
              <a:off x="2100" y="4716"/>
              <a:ext cx="2160" cy="2340"/>
              <a:chOff x="4440" y="1908"/>
              <a:chExt cx="2160" cy="2340"/>
            </a:xfrm>
          </p:grpSpPr>
          <p:grpSp>
            <p:nvGrpSpPr>
              <p:cNvPr id="14" name="Group 83"/>
              <p:cNvGrpSpPr/>
              <p:nvPr/>
            </p:nvGrpSpPr>
            <p:grpSpPr bwMode="auto">
              <a:xfrm>
                <a:off x="4440" y="1908"/>
                <a:ext cx="2160" cy="1404"/>
                <a:chOff x="3000" y="1908"/>
                <a:chExt cx="2160" cy="1404"/>
              </a:xfrm>
            </p:grpSpPr>
            <p:sp>
              <p:nvSpPr>
                <p:cNvPr id="17" name="Rectangle 84"/>
                <p:cNvSpPr>
                  <a:spLocks noChangeArrowheads="1"/>
                </p:cNvSpPr>
                <p:nvPr/>
              </p:nvSpPr>
              <p:spPr bwMode="auto">
                <a:xfrm>
                  <a:off x="3795" y="1908"/>
                  <a:ext cx="540" cy="468"/>
                </a:xfrm>
                <a:prstGeom prst="rect">
                  <a:avLst/>
                </a:prstGeom>
                <a:solidFill>
                  <a:srgbClr val="FFFFFF"/>
                </a:solidFill>
                <a:ln w="28575">
                  <a:solidFill>
                    <a:srgbClr val="000000"/>
                  </a:solidFill>
                  <a:miter lim="800000"/>
                </a:ln>
              </p:spPr>
              <p:txBody>
                <a:bodyPr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dirty="0">
                      <a:solidFill>
                        <a:srgbClr val="FF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rPr>
                    <a:t>A</a:t>
                  </a:r>
                  <a:endParaRPr lang="en-US" altLang="zh-CN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8" name="Rectangle 85"/>
                <p:cNvSpPr>
                  <a:spLocks noChangeArrowheads="1"/>
                </p:cNvSpPr>
                <p:nvPr/>
              </p:nvSpPr>
              <p:spPr bwMode="auto">
                <a:xfrm>
                  <a:off x="3000" y="2844"/>
                  <a:ext cx="540" cy="468"/>
                </a:xfrm>
                <a:prstGeom prst="rect">
                  <a:avLst/>
                </a:prstGeom>
                <a:solidFill>
                  <a:srgbClr val="FFFFFF"/>
                </a:solidFill>
                <a:ln w="28575">
                  <a:solidFill>
                    <a:srgbClr val="000000"/>
                  </a:solidFill>
                  <a:miter lim="800000"/>
                </a:ln>
              </p:spPr>
              <p:txBody>
                <a:bodyPr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>
                      <a:solidFill>
                        <a:srgbClr val="FF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rPr>
                    <a:t>B</a:t>
                  </a:r>
                  <a:endParaRPr lang="en-US" altLang="zh-CN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9" name="Rectangle 86"/>
                <p:cNvSpPr>
                  <a:spLocks noChangeArrowheads="1"/>
                </p:cNvSpPr>
                <p:nvPr/>
              </p:nvSpPr>
              <p:spPr bwMode="auto">
                <a:xfrm>
                  <a:off x="3840" y="2844"/>
                  <a:ext cx="540" cy="468"/>
                </a:xfrm>
                <a:prstGeom prst="rect">
                  <a:avLst/>
                </a:prstGeom>
                <a:solidFill>
                  <a:srgbClr val="FFFFFF"/>
                </a:solidFill>
                <a:ln w="28575">
                  <a:solidFill>
                    <a:srgbClr val="000000"/>
                  </a:solidFill>
                  <a:miter lim="800000"/>
                </a:ln>
              </p:spPr>
              <p:txBody>
                <a:bodyPr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dirty="0">
                      <a:solidFill>
                        <a:srgbClr val="FF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rPr>
                    <a:t>C</a:t>
                  </a:r>
                  <a:endParaRPr lang="en-US" altLang="zh-CN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0" name="Rectangle 87"/>
                <p:cNvSpPr>
                  <a:spLocks noChangeArrowheads="1"/>
                </p:cNvSpPr>
                <p:nvPr/>
              </p:nvSpPr>
              <p:spPr bwMode="auto">
                <a:xfrm>
                  <a:off x="4620" y="2844"/>
                  <a:ext cx="540" cy="468"/>
                </a:xfrm>
                <a:prstGeom prst="rect">
                  <a:avLst/>
                </a:prstGeom>
                <a:solidFill>
                  <a:srgbClr val="FFFFFF"/>
                </a:solidFill>
                <a:ln w="28575">
                  <a:solidFill>
                    <a:srgbClr val="000000"/>
                  </a:solidFill>
                  <a:miter lim="800000"/>
                </a:ln>
              </p:spPr>
              <p:txBody>
                <a:bodyPr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>
                      <a:solidFill>
                        <a:srgbClr val="FF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rPr>
                    <a:t>D</a:t>
                  </a:r>
                  <a:endParaRPr lang="en-US" altLang="zh-CN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1" name="Line 88"/>
                <p:cNvSpPr>
                  <a:spLocks noChangeShapeType="1"/>
                </p:cNvSpPr>
                <p:nvPr/>
              </p:nvSpPr>
              <p:spPr bwMode="auto">
                <a:xfrm flipV="1">
                  <a:off x="3296" y="2376"/>
                  <a:ext cx="784" cy="468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6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2" name="Line 89"/>
                <p:cNvSpPr>
                  <a:spLocks noChangeShapeType="1"/>
                </p:cNvSpPr>
                <p:nvPr/>
              </p:nvSpPr>
              <p:spPr bwMode="auto">
                <a:xfrm flipV="1">
                  <a:off x="4080" y="2376"/>
                  <a:ext cx="0" cy="468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600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Line 90"/>
                <p:cNvSpPr>
                  <a:spLocks noChangeShapeType="1"/>
                </p:cNvSpPr>
                <p:nvPr/>
              </p:nvSpPr>
              <p:spPr bwMode="auto">
                <a:xfrm flipH="1" flipV="1">
                  <a:off x="4080" y="2376"/>
                  <a:ext cx="838" cy="468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600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5" name="Rectangle 91"/>
              <p:cNvSpPr>
                <a:spLocks noChangeArrowheads="1"/>
              </p:cNvSpPr>
              <p:nvPr/>
            </p:nvSpPr>
            <p:spPr bwMode="auto">
              <a:xfrm>
                <a:off x="4440" y="3780"/>
                <a:ext cx="540" cy="468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miter lim="800000"/>
              </a:ln>
            </p:spPr>
            <p:txBody>
              <a:bodyPr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E</a:t>
                </a:r>
                <a:endParaRPr lang="en-US" altLang="zh-CN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" name="Line 92"/>
              <p:cNvSpPr>
                <a:spLocks noChangeShapeType="1"/>
              </p:cNvSpPr>
              <p:nvPr/>
            </p:nvSpPr>
            <p:spPr bwMode="auto">
              <a:xfrm>
                <a:off x="4736" y="3312"/>
                <a:ext cx="0" cy="468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600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2" name="Line 93"/>
            <p:cNvSpPr>
              <a:spLocks noChangeShapeType="1"/>
            </p:cNvSpPr>
            <p:nvPr/>
          </p:nvSpPr>
          <p:spPr bwMode="auto">
            <a:xfrm>
              <a:off x="4018" y="6120"/>
              <a:ext cx="0" cy="46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6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3" name="Rectangle 94"/>
            <p:cNvSpPr>
              <a:spLocks noChangeArrowheads="1"/>
            </p:cNvSpPr>
            <p:nvPr/>
          </p:nvSpPr>
          <p:spPr bwMode="auto">
            <a:xfrm>
              <a:off x="3720" y="6588"/>
              <a:ext cx="540" cy="468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</a:ln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F</a:t>
              </a:r>
              <a:endPara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</p:spTree>
    <p:custDataLst>
      <p:tags r:id="rId4"/>
    </p:custDataLst>
  </p:cSld>
  <p:clrMapOvr>
    <a:masterClrMapping/>
  </p:clrMapOvr>
  <p:transition spd="med" advTm="3366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集成测试方法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2</a:t>
            </a:r>
            <a:endParaRPr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2737970" y="2801047"/>
            <a:ext cx="15221418" cy="1023909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t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pPr algn="just"/>
            <a:r>
              <a:rPr lang="zh-CN" altLang="en-US" sz="4800" b="1" dirty="0"/>
              <a:t>自底向上</a:t>
            </a:r>
            <a:endParaRPr lang="en-US" altLang="zh-CN" sz="4800" b="1" dirty="0"/>
          </a:p>
          <a:p>
            <a:pPr lvl="2" algn="just"/>
            <a:r>
              <a:rPr lang="zh-CN" altLang="en-US" sz="4800" dirty="0"/>
              <a:t>程序模块结构的最底层的模块开始组装。</a:t>
            </a:r>
            <a:endParaRPr lang="zh-CN" altLang="en-US" sz="4800" dirty="0"/>
          </a:p>
          <a:p>
            <a:pPr lvl="2" algn="just"/>
            <a:endParaRPr lang="zh-CN" altLang="en-US" sz="4800" dirty="0"/>
          </a:p>
          <a:p>
            <a:pPr lvl="3" algn="just">
              <a:spcBef>
                <a:spcPts val="600"/>
              </a:spcBef>
            </a:pPr>
            <a:endParaRPr lang="zh-CN" altLang="en-US" sz="4800" dirty="0"/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9575" y="7115175"/>
            <a:ext cx="15697200" cy="473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  <p:grpSp>
        <p:nvGrpSpPr>
          <p:cNvPr id="11" name="Group 81"/>
          <p:cNvGrpSpPr/>
          <p:nvPr/>
        </p:nvGrpSpPr>
        <p:grpSpPr bwMode="auto">
          <a:xfrm>
            <a:off x="18910465" y="435672"/>
            <a:ext cx="5013160" cy="4730750"/>
            <a:chOff x="2100" y="4716"/>
            <a:chExt cx="2160" cy="2340"/>
          </a:xfrm>
        </p:grpSpPr>
        <p:grpSp>
          <p:nvGrpSpPr>
            <p:cNvPr id="12" name="Group 82"/>
            <p:cNvGrpSpPr/>
            <p:nvPr/>
          </p:nvGrpSpPr>
          <p:grpSpPr bwMode="auto">
            <a:xfrm>
              <a:off x="2100" y="4716"/>
              <a:ext cx="2160" cy="2340"/>
              <a:chOff x="4440" y="1908"/>
              <a:chExt cx="2160" cy="2340"/>
            </a:xfrm>
          </p:grpSpPr>
          <p:grpSp>
            <p:nvGrpSpPr>
              <p:cNvPr id="15" name="Group 83"/>
              <p:cNvGrpSpPr/>
              <p:nvPr/>
            </p:nvGrpSpPr>
            <p:grpSpPr bwMode="auto">
              <a:xfrm>
                <a:off x="4440" y="1908"/>
                <a:ext cx="2160" cy="1404"/>
                <a:chOff x="3000" y="1908"/>
                <a:chExt cx="2160" cy="1404"/>
              </a:xfrm>
            </p:grpSpPr>
            <p:sp>
              <p:nvSpPr>
                <p:cNvPr id="18" name="Rectangle 84"/>
                <p:cNvSpPr>
                  <a:spLocks noChangeArrowheads="1"/>
                </p:cNvSpPr>
                <p:nvPr/>
              </p:nvSpPr>
              <p:spPr bwMode="auto">
                <a:xfrm>
                  <a:off x="3795" y="1908"/>
                  <a:ext cx="540" cy="468"/>
                </a:xfrm>
                <a:prstGeom prst="rect">
                  <a:avLst/>
                </a:prstGeom>
                <a:solidFill>
                  <a:srgbClr val="FFFFFF"/>
                </a:solidFill>
                <a:ln w="28575">
                  <a:solidFill>
                    <a:srgbClr val="000000"/>
                  </a:solidFill>
                  <a:miter lim="800000"/>
                </a:ln>
              </p:spPr>
              <p:txBody>
                <a:bodyPr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dirty="0">
                      <a:solidFill>
                        <a:srgbClr val="FF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rPr>
                    <a:t>A</a:t>
                  </a:r>
                  <a:endParaRPr lang="en-US" altLang="zh-CN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9" name="Rectangle 85"/>
                <p:cNvSpPr>
                  <a:spLocks noChangeArrowheads="1"/>
                </p:cNvSpPr>
                <p:nvPr/>
              </p:nvSpPr>
              <p:spPr bwMode="auto">
                <a:xfrm>
                  <a:off x="3000" y="2844"/>
                  <a:ext cx="540" cy="468"/>
                </a:xfrm>
                <a:prstGeom prst="rect">
                  <a:avLst/>
                </a:prstGeom>
                <a:solidFill>
                  <a:srgbClr val="FFFFFF"/>
                </a:solidFill>
                <a:ln w="28575">
                  <a:solidFill>
                    <a:srgbClr val="000000"/>
                  </a:solidFill>
                  <a:miter lim="800000"/>
                </a:ln>
              </p:spPr>
              <p:txBody>
                <a:bodyPr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>
                      <a:solidFill>
                        <a:srgbClr val="FF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rPr>
                    <a:t>B</a:t>
                  </a:r>
                  <a:endParaRPr lang="en-US" altLang="zh-CN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0" name="Rectangle 86"/>
                <p:cNvSpPr>
                  <a:spLocks noChangeArrowheads="1"/>
                </p:cNvSpPr>
                <p:nvPr/>
              </p:nvSpPr>
              <p:spPr bwMode="auto">
                <a:xfrm>
                  <a:off x="3840" y="2844"/>
                  <a:ext cx="540" cy="468"/>
                </a:xfrm>
                <a:prstGeom prst="rect">
                  <a:avLst/>
                </a:prstGeom>
                <a:solidFill>
                  <a:srgbClr val="FFFFFF"/>
                </a:solidFill>
                <a:ln w="28575">
                  <a:solidFill>
                    <a:srgbClr val="000000"/>
                  </a:solidFill>
                  <a:miter lim="800000"/>
                </a:ln>
              </p:spPr>
              <p:txBody>
                <a:bodyPr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dirty="0">
                      <a:solidFill>
                        <a:srgbClr val="FF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rPr>
                    <a:t>C</a:t>
                  </a:r>
                  <a:endParaRPr lang="en-US" altLang="zh-CN" dirty="0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1" name="Rectangle 87"/>
                <p:cNvSpPr>
                  <a:spLocks noChangeArrowheads="1"/>
                </p:cNvSpPr>
                <p:nvPr/>
              </p:nvSpPr>
              <p:spPr bwMode="auto">
                <a:xfrm>
                  <a:off x="4620" y="2844"/>
                  <a:ext cx="540" cy="468"/>
                </a:xfrm>
                <a:prstGeom prst="rect">
                  <a:avLst/>
                </a:prstGeom>
                <a:solidFill>
                  <a:srgbClr val="FFFFFF"/>
                </a:solidFill>
                <a:ln w="28575">
                  <a:solidFill>
                    <a:srgbClr val="000000"/>
                  </a:solidFill>
                  <a:miter lim="800000"/>
                </a:ln>
              </p:spPr>
              <p:txBody>
                <a:bodyPr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>
                      <a:solidFill>
                        <a:srgbClr val="FF000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Times New Roman" panose="02020603050405020304" pitchFamily="18" charset="0"/>
                    </a:rPr>
                    <a:t>D</a:t>
                  </a:r>
                  <a:endParaRPr lang="en-US" altLang="zh-CN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2" name="Line 88"/>
                <p:cNvSpPr>
                  <a:spLocks noChangeShapeType="1"/>
                </p:cNvSpPr>
                <p:nvPr/>
              </p:nvSpPr>
              <p:spPr bwMode="auto">
                <a:xfrm flipV="1">
                  <a:off x="3296" y="2376"/>
                  <a:ext cx="784" cy="468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60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3" name="Line 89"/>
                <p:cNvSpPr>
                  <a:spLocks noChangeShapeType="1"/>
                </p:cNvSpPr>
                <p:nvPr/>
              </p:nvSpPr>
              <p:spPr bwMode="auto">
                <a:xfrm flipV="1">
                  <a:off x="4080" y="2376"/>
                  <a:ext cx="0" cy="468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600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4" name="Line 90"/>
                <p:cNvSpPr>
                  <a:spLocks noChangeShapeType="1"/>
                </p:cNvSpPr>
                <p:nvPr/>
              </p:nvSpPr>
              <p:spPr bwMode="auto">
                <a:xfrm flipH="1" flipV="1">
                  <a:off x="4080" y="2376"/>
                  <a:ext cx="838" cy="468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 sz="600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6" name="Rectangle 91"/>
              <p:cNvSpPr>
                <a:spLocks noChangeArrowheads="1"/>
              </p:cNvSpPr>
              <p:nvPr/>
            </p:nvSpPr>
            <p:spPr bwMode="auto">
              <a:xfrm>
                <a:off x="4440" y="3780"/>
                <a:ext cx="540" cy="468"/>
              </a:xfrm>
              <a:prstGeom prst="rect">
                <a:avLst/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miter lim="800000"/>
              </a:ln>
            </p:spPr>
            <p:txBody>
              <a:bodyPr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>
                    <a:solidFill>
                      <a:srgbClr val="FF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E</a:t>
                </a:r>
                <a:endParaRPr lang="en-US" altLang="zh-CN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" name="Line 92"/>
              <p:cNvSpPr>
                <a:spLocks noChangeShapeType="1"/>
              </p:cNvSpPr>
              <p:nvPr/>
            </p:nvSpPr>
            <p:spPr bwMode="auto">
              <a:xfrm>
                <a:off x="4736" y="3312"/>
                <a:ext cx="0" cy="468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600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3" name="Line 93"/>
            <p:cNvSpPr>
              <a:spLocks noChangeShapeType="1"/>
            </p:cNvSpPr>
            <p:nvPr/>
          </p:nvSpPr>
          <p:spPr bwMode="auto">
            <a:xfrm>
              <a:off x="4018" y="6120"/>
              <a:ext cx="0" cy="46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6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4" name="Rectangle 94"/>
            <p:cNvSpPr>
              <a:spLocks noChangeArrowheads="1"/>
            </p:cNvSpPr>
            <p:nvPr/>
          </p:nvSpPr>
          <p:spPr bwMode="auto">
            <a:xfrm>
              <a:off x="3720" y="6588"/>
              <a:ext cx="540" cy="468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</a:ln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F</a:t>
              </a:r>
              <a:endPara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</p:spTree>
    <p:custDataLst>
      <p:tags r:id="rId5"/>
    </p:custDataLst>
  </p:cSld>
  <p:clrMapOvr>
    <a:masterClrMapping/>
  </p:clrMapOvr>
  <p:transition spd="med" advTm="102359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集成测试方法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2</a:t>
            </a:r>
            <a:endParaRPr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2737970" y="2801047"/>
            <a:ext cx="19282058" cy="1023909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t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pPr algn="just"/>
            <a:r>
              <a:rPr lang="zh-CN" altLang="en-US" sz="4800" b="1" dirty="0"/>
              <a:t>增量式集成策略比较</a:t>
            </a:r>
            <a:endParaRPr lang="en-US" altLang="zh-CN" sz="4800" b="1" dirty="0"/>
          </a:p>
          <a:p>
            <a:pPr lvl="2" algn="just"/>
            <a:r>
              <a:rPr lang="zh-CN" altLang="en-US" sz="4800" dirty="0"/>
              <a:t>自顶向下</a:t>
            </a:r>
            <a:endParaRPr lang="en-US" altLang="zh-CN" sz="4800" dirty="0"/>
          </a:p>
          <a:p>
            <a:pPr lvl="3" algn="just">
              <a:spcBef>
                <a:spcPts val="700"/>
              </a:spcBef>
            </a:pPr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优点：能够在测试阶段的早期实现并验证系统的主要功能，而且能在早期发现上层模块的接口错误。</a:t>
            </a:r>
            <a:endParaRPr lang="en-US" altLang="zh-CN" sz="4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algn="just"/>
            <a:r>
              <a:rPr lang="zh-CN" altLang="en-US" sz="4800" dirty="0"/>
              <a:t>自底向上</a:t>
            </a:r>
            <a:endParaRPr lang="en-US" altLang="zh-CN" sz="4800" dirty="0"/>
          </a:p>
          <a:p>
            <a:pPr lvl="3" algn="just">
              <a:spcBef>
                <a:spcPts val="700"/>
              </a:spcBef>
            </a:pPr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优点：较早发现低层关键模块中的错误，而且用这种方法在早期可以充分展开人力（多模块并行测试和组装）。</a:t>
            </a:r>
            <a:endParaRPr lang="zh-CN" altLang="en-US" sz="4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algn="just"/>
            <a:endParaRPr lang="zh-CN" altLang="en-US" sz="4800" dirty="0"/>
          </a:p>
          <a:p>
            <a:pPr lvl="3" algn="just">
              <a:spcBef>
                <a:spcPts val="600"/>
              </a:spcBef>
            </a:pPr>
            <a:endParaRPr lang="zh-CN" altLang="en-US" sz="4800" dirty="0"/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189377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2737970" y="1078867"/>
            <a:ext cx="5502516" cy="1042894"/>
          </a:xfr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lang="zh-CN" altLang="en-US" dirty="0"/>
              <a:t>集成测试方法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917126" y="1183596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2</a:t>
            </a:r>
            <a:endParaRPr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2737970" y="2801047"/>
            <a:ext cx="19282058" cy="1023909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t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pPr algn="just"/>
            <a:r>
              <a:rPr lang="zh-CN" altLang="en-US" sz="4800" b="1" dirty="0"/>
              <a:t>混合式集成策略</a:t>
            </a:r>
            <a:endParaRPr lang="en-US" altLang="zh-CN" sz="4800" b="1" dirty="0"/>
          </a:p>
          <a:p>
            <a:pPr lvl="2" algn="just"/>
            <a:r>
              <a:rPr lang="zh-CN" altLang="en-US" sz="4800" dirty="0"/>
              <a:t>对软件结构中较上层，使用自顶向下的策略。</a:t>
            </a:r>
            <a:endParaRPr lang="en-US" altLang="zh-CN" sz="4800" dirty="0"/>
          </a:p>
          <a:p>
            <a:pPr lvl="2" algn="just"/>
            <a:r>
              <a:rPr lang="zh-CN" altLang="en-US" sz="4800" dirty="0"/>
              <a:t>对软件结构中较下层，使用自底向上的策略。</a:t>
            </a:r>
            <a:endParaRPr lang="zh-CN" altLang="en-US" sz="4800" dirty="0"/>
          </a:p>
          <a:p>
            <a:pPr marL="1270000" lvl="2" indent="0" algn="just">
              <a:buNone/>
            </a:pPr>
            <a:endParaRPr lang="zh-CN" altLang="en-US" sz="4800" dirty="0"/>
          </a:p>
          <a:p>
            <a:pPr lvl="3" algn="just">
              <a:spcBef>
                <a:spcPts val="600"/>
              </a:spcBef>
            </a:pPr>
            <a:endParaRPr lang="zh-CN" altLang="en-US" sz="4800" dirty="0"/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93995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矩形"/>
          <p:cNvSpPr/>
          <p:nvPr/>
        </p:nvSpPr>
        <p:spPr>
          <a:xfrm>
            <a:off x="0" y="-1"/>
            <a:ext cx="7841556" cy="13716001"/>
          </a:xfrm>
          <a:prstGeom prst="rect">
            <a:avLst/>
          </a:prstGeom>
          <a:solidFill>
            <a:srgbClr val="A8271A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grpSp>
        <p:nvGrpSpPr>
          <p:cNvPr id="3" name="组合 2"/>
          <p:cNvGrpSpPr/>
          <p:nvPr/>
        </p:nvGrpSpPr>
        <p:grpSpPr>
          <a:xfrm>
            <a:off x="1020575" y="5555311"/>
            <a:ext cx="5189258" cy="2605375"/>
            <a:chOff x="1130303" y="5796540"/>
            <a:chExt cx="5189258" cy="2605375"/>
          </a:xfrm>
        </p:grpSpPr>
        <p:sp>
          <p:nvSpPr>
            <p:cNvPr id="132" name="文本框 3"/>
            <p:cNvSpPr txBox="1"/>
            <p:nvPr/>
          </p:nvSpPr>
          <p:spPr>
            <a:xfrm>
              <a:off x="1821401" y="7230559"/>
              <a:ext cx="3807062" cy="906381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240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r>
                <a:rPr dirty="0"/>
                <a:t>CONTENTS</a:t>
              </a:r>
              <a:endParaRPr dirty="0"/>
            </a:p>
          </p:txBody>
        </p:sp>
        <p:sp>
          <p:nvSpPr>
            <p:cNvPr id="133" name="文本框 3"/>
            <p:cNvSpPr txBox="1"/>
            <p:nvPr/>
          </p:nvSpPr>
          <p:spPr>
            <a:xfrm>
              <a:off x="1130303" y="5796540"/>
              <a:ext cx="5189258" cy="2605375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/>
            <a:lstStyle>
              <a:lvl1pPr defTabSz="914400">
                <a:defRPr sz="7000" spc="1166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>
                <a:defRPr b="0"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  <a:r>
                <a:rPr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rPr>
                <a:t>目录</a:t>
              </a:r>
              <a:endParaRPr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sp>
        <p:nvSpPr>
          <p:cNvPr id="127" name="矩形 5"/>
          <p:cNvSpPr txBox="1"/>
          <p:nvPr/>
        </p:nvSpPr>
        <p:spPr>
          <a:xfrm>
            <a:off x="11215455" y="4379996"/>
            <a:ext cx="4581135" cy="85455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4400" dirty="0">
                <a:solidFill>
                  <a:srgbClr val="000000"/>
                </a:solidFill>
              </a:rPr>
              <a:t>集成测试的概念</a:t>
            </a:r>
            <a:endParaRPr lang="zh-CN" altLang="en-US" sz="4400" dirty="0">
              <a:solidFill>
                <a:srgbClr val="000000"/>
              </a:solidFill>
            </a:endParaRPr>
          </a:p>
        </p:txBody>
      </p:sp>
      <p:sp>
        <p:nvSpPr>
          <p:cNvPr id="128" name="Freeform 5"/>
          <p:cNvSpPr/>
          <p:nvPr/>
        </p:nvSpPr>
        <p:spPr>
          <a:xfrm rot="5400000">
            <a:off x="9211673" y="4189323"/>
            <a:ext cx="1343465" cy="1235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defTabSz="9144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129" name="矩形 11"/>
          <p:cNvSpPr txBox="1"/>
          <p:nvPr/>
        </p:nvSpPr>
        <p:spPr>
          <a:xfrm>
            <a:off x="9088558" y="4325275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t>01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9088558" y="6186268"/>
            <a:ext cx="7717602" cy="1343465"/>
            <a:chOff x="9218067" y="3086516"/>
            <a:chExt cx="7717602" cy="1343465"/>
          </a:xfrm>
        </p:grpSpPr>
        <p:sp>
          <p:nvSpPr>
            <p:cNvPr id="134" name="矩形 5"/>
            <p:cNvSpPr txBox="1"/>
            <p:nvPr/>
          </p:nvSpPr>
          <p:spPr>
            <a:xfrm>
              <a:off x="11344964" y="3359705"/>
              <a:ext cx="5590705" cy="7151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dirty="0">
                  <a:solidFill>
                    <a:srgbClr val="000000"/>
                  </a:solidFill>
                </a:rPr>
                <a:t>集成测试方法</a:t>
              </a:r>
              <a:endParaRPr sz="4400" dirty="0">
                <a:solidFill>
                  <a:srgbClr val="000000"/>
                </a:solidFill>
              </a:endParaRPr>
            </a:p>
          </p:txBody>
        </p:sp>
        <p:sp>
          <p:nvSpPr>
            <p:cNvPr id="135" name="Freeform 5"/>
            <p:cNvSpPr/>
            <p:nvPr/>
          </p:nvSpPr>
          <p:spPr>
            <a:xfrm rot="5400000">
              <a:off x="9341182" y="3140297"/>
              <a:ext cx="1343465" cy="12359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136" name="矩形 11"/>
            <p:cNvSpPr txBox="1"/>
            <p:nvPr/>
          </p:nvSpPr>
          <p:spPr>
            <a:xfrm>
              <a:off x="9218067" y="3235304"/>
              <a:ext cx="1589696" cy="9639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t>02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9088558" y="8157481"/>
            <a:ext cx="7717601" cy="1343465"/>
            <a:chOff x="9218067" y="4940563"/>
            <a:chExt cx="7717601" cy="1343465"/>
          </a:xfrm>
        </p:grpSpPr>
        <p:sp>
          <p:nvSpPr>
            <p:cNvPr id="139" name="Freeform 5"/>
            <p:cNvSpPr/>
            <p:nvPr/>
          </p:nvSpPr>
          <p:spPr>
            <a:xfrm rot="5400000">
              <a:off x="9341182" y="4994344"/>
              <a:ext cx="1343465" cy="12359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</a:p>
          </p:txBody>
        </p:sp>
        <p:sp>
          <p:nvSpPr>
            <p:cNvPr id="140" name="矩形 11"/>
            <p:cNvSpPr txBox="1"/>
            <p:nvPr/>
          </p:nvSpPr>
          <p:spPr>
            <a:xfrm>
              <a:off x="9218067" y="5130296"/>
              <a:ext cx="1589696" cy="9639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r>
                <a:rPr dirty="0"/>
                <a:t>03</a:t>
              </a:r>
              <a:endParaRPr dirty="0"/>
            </a:p>
          </p:txBody>
        </p:sp>
        <p:sp>
          <p:nvSpPr>
            <p:cNvPr id="18" name="矩形 5"/>
            <p:cNvSpPr txBox="1"/>
            <p:nvPr/>
          </p:nvSpPr>
          <p:spPr>
            <a:xfrm>
              <a:off x="11344963" y="5213752"/>
              <a:ext cx="5590705" cy="7151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l"/>
              <a:r>
                <a:rPr lang="zh-CN" altLang="en-US" sz="4400" b="1" dirty="0">
                  <a:solidFill>
                    <a:srgbClr val="FF0000"/>
                  </a:solidFill>
                </a:rPr>
                <a:t>小结</a:t>
              </a:r>
              <a:endParaRPr lang="zh-CN" altLang="en-US" sz="4400" b="1" dirty="0">
                <a:solidFill>
                  <a:srgbClr val="FF0000"/>
                </a:solidFill>
              </a:endParaRPr>
            </a:p>
          </p:txBody>
        </p:sp>
      </p:grp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</p:cSld>
  <p:clrMapOvr>
    <a:masterClrMapping/>
  </p:clrMapOvr>
  <p:transition spd="med" advTm="17137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小结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" y="3913320"/>
            <a:ext cx="2438399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5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集成测试是测试能否将所有模块按照设计要求组装成系统或子系统。</a:t>
            </a:r>
            <a:endParaRPr lang="zh-CN" altLang="en-US" sz="5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9513" y="6529034"/>
            <a:ext cx="2438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5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集成测试包括静态测试和动态测试</a:t>
            </a:r>
            <a:endParaRPr lang="zh-CN" altLang="en-US" sz="5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9236126"/>
            <a:ext cx="2438463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5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集成测试有增量式和非增量式两种方式</a:t>
            </a:r>
            <a:endParaRPr lang="en-US" altLang="zh-CN" sz="5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11"/>
          <p:cNvSpPr txBox="1"/>
          <p:nvPr/>
        </p:nvSpPr>
        <p:spPr>
          <a:xfrm>
            <a:off x="929060" y="1157763"/>
            <a:ext cx="1589696" cy="9639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r>
              <a:rPr dirty="0"/>
              <a:t>0</a:t>
            </a:r>
            <a:r>
              <a:rPr lang="en-US" altLang="zh-CN" dirty="0"/>
              <a:t>3</a:t>
            </a:r>
            <a:endParaRPr dirty="0"/>
          </a:p>
        </p:txBody>
      </p:sp>
      <p:pic>
        <p:nvPicPr>
          <p:cNvPr id="8" name="音频 7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</p:cSld>
  <p:clrMapOvr>
    <a:masterClrMapping/>
  </p:clrMapOvr>
  <p:transition spd="med" advTm="8948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  <p:bldLst>
      <p:bldP spid="4" grpId="0"/>
      <p:bldP spid="5" grpId="0"/>
      <p:bldP spid="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3923625" y="13255625"/>
            <a:ext cx="244475" cy="244475"/>
          </a:xfrm>
          <a:prstGeom prst="rect">
            <a:avLst/>
          </a:prstGeom>
        </p:spPr>
      </p:pic>
    </p:spTree>
  </p:cSld>
  <p:clrMapOvr>
    <a:masterClrMapping/>
  </p:clrMapOvr>
  <p:transition spd="med" advTm="8655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tags/tag1.xml><?xml version="1.0" encoding="utf-8"?>
<p:tagLst xmlns:p="http://schemas.openxmlformats.org/presentationml/2006/main">
  <p:tag name="TIMING" val="|0.2"/>
</p:tagLst>
</file>

<file path=ppt/tags/tag2.xml><?xml version="1.0" encoding="utf-8"?>
<p:tagLst xmlns:p="http://schemas.openxmlformats.org/presentationml/2006/main">
  <p:tag name="TIMING" val="|0.2"/>
</p:tagLst>
</file>

<file path=ppt/tags/tag3.xml><?xml version="1.0" encoding="utf-8"?>
<p:tagLst xmlns:p="http://schemas.openxmlformats.org/presentationml/2006/main">
  <p:tag name="TIMING" val="|0.2"/>
</p:tagLst>
</file>

<file path=ppt/tags/tag4.xml><?xml version="1.0" encoding="utf-8"?>
<p:tagLst xmlns:p="http://schemas.openxmlformats.org/presentationml/2006/main">
  <p:tag name="TIMING" val="|0.2"/>
</p:tagLst>
</file>

<file path=ppt/tags/tag5.xml><?xml version="1.0" encoding="utf-8"?>
<p:tagLst xmlns:p="http://schemas.openxmlformats.org/presentationml/2006/main">
  <p:tag name="TIMING" val="|0.2"/>
</p:tagLst>
</file>

<file path=ppt/tags/tag6.xml><?xml version="1.0" encoding="utf-8"?>
<p:tagLst xmlns:p="http://schemas.openxmlformats.org/presentationml/2006/main">
  <p:tag name="TIMING" val="|9|18.8|8.6"/>
</p:tagLst>
</file>

<file path=ppt/tags/tag7.xml><?xml version="1.0" encoding="utf-8"?>
<p:tagLst xmlns:p="http://schemas.openxmlformats.org/presentationml/2006/main">
  <p:tag name="TIMING" val="|0.2"/>
</p:tagLst>
</file>

<file path=ppt/tags/tag8.xml><?xml version="1.0" encoding="utf-8"?>
<p:tagLst xmlns:p="http://schemas.openxmlformats.org/presentationml/2006/main">
  <p:tag name="TIMING" val="|0.2"/>
</p:tagLst>
</file>

<file path=ppt/tags/tag9.xml><?xml version="1.0" encoding="utf-8"?>
<p:tagLst xmlns:p="http://schemas.openxmlformats.org/presentationml/2006/main">
  <p:tag name="TIMING" val="|0.2"/>
</p:tagLst>
</file>

<file path=ppt/tags/tag10.xml><?xml version="1.0" encoding="utf-8"?>
<p:tagLst xmlns:p="http://schemas.openxmlformats.org/presentationml/2006/main">
  <p:tag name="TIMING" val="|0.2"/>
</p:tagLst>
</file>

<file path=ppt/tags/tag11.xml><?xml version="1.0" encoding="utf-8"?>
<p:tagLst xmlns:p="http://schemas.openxmlformats.org/presentationml/2006/main">
  <p:tag name="TIMING" val="|0.2"/>
</p:tagLst>
</file>

<file path=ppt/tags/tag12.xml><?xml version="1.0" encoding="utf-8"?>
<p:tagLst xmlns:p="http://schemas.openxmlformats.org/presentationml/2006/main">
  <p:tag name="TIMING" val="|0.2"/>
</p:tagLst>
</file>

<file path=ppt/tags/tag13.xml><?xml version="1.0" encoding="utf-8"?>
<p:tagLst xmlns:p="http://schemas.openxmlformats.org/presentationml/2006/main">
  <p:tag name="TIMING" val="|0.2"/>
</p:tagLst>
</file>

<file path=ppt/tags/tag14.xml><?xml version="1.0" encoding="utf-8"?>
<p:tagLst xmlns:p="http://schemas.openxmlformats.org/presentationml/2006/main">
  <p:tag name="TIMING" val="|0.2"/>
</p:tagLst>
</file>

<file path=ppt/tags/tag15.xml><?xml version="1.0" encoding="utf-8"?>
<p:tagLst xmlns:p="http://schemas.openxmlformats.org/presentationml/2006/main">
  <p:tag name="TIMING" val="|0.2"/>
</p:tagLst>
</file>

<file path=ppt/tags/tag16.xml><?xml version="1.0" encoding="utf-8"?>
<p:tagLst xmlns:p="http://schemas.openxmlformats.org/presentationml/2006/main">
  <p:tag name="TIMING" val="|0.2"/>
</p:tagLst>
</file>

<file path=ppt/tags/tag17.xml><?xml version="1.0" encoding="utf-8"?>
<p:tagLst xmlns:p="http://schemas.openxmlformats.org/presentationml/2006/main">
  <p:tag name="TIMING" val="|0.2"/>
</p:tagLst>
</file>

<file path=ppt/tags/tag18.xml><?xml version="1.0" encoding="utf-8"?>
<p:tagLst xmlns:p="http://schemas.openxmlformats.org/presentationml/2006/main">
  <p:tag name="TIMING" val="|0.2"/>
</p:tagLst>
</file>

<file path=ppt/tags/tag19.xml><?xml version="1.0" encoding="utf-8"?>
<p:tagLst xmlns:p="http://schemas.openxmlformats.org/presentationml/2006/main">
  <p:tag name="TIMING" val="|0.2"/>
</p:tagLst>
</file>

<file path=ppt/tags/tag20.xml><?xml version="1.0" encoding="utf-8"?>
<p:tagLst xmlns:p="http://schemas.openxmlformats.org/presentationml/2006/main">
  <p:tag name="TIMING" val="|0.2"/>
</p:tagLst>
</file>

<file path=ppt/tags/tag21.xml><?xml version="1.0" encoding="utf-8"?>
<p:tagLst xmlns:p="http://schemas.openxmlformats.org/presentationml/2006/main">
  <p:tag name="TIMING" val="|0.2"/>
</p:tagLst>
</file>

<file path=ppt/tags/tag22.xml><?xml version="1.0" encoding="utf-8"?>
<p:tagLst xmlns:p="http://schemas.openxmlformats.org/presentationml/2006/main">
  <p:tag name="COMMONDATA" val="eyJoZGlkIjoiN2RjMzk0Mzc2NzY3NGE0YmI3MDJiMTlmNzE2MWFmNDcifQ=="/>
</p:tagLst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1625</Words>
  <Application>WPS 演示</Application>
  <PresentationFormat>Custom</PresentationFormat>
  <Paragraphs>578</Paragraphs>
  <Slides>28</Slides>
  <Notes>28</Notes>
  <HiddenSlides>0</HiddenSlides>
  <MMClips>28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28</vt:i4>
      </vt:variant>
    </vt:vector>
  </HeadingPairs>
  <TitlesOfParts>
    <vt:vector size="47" baseType="lpstr">
      <vt:lpstr>Arial</vt:lpstr>
      <vt:lpstr>宋体</vt:lpstr>
      <vt:lpstr>Wingdings</vt:lpstr>
      <vt:lpstr>Helvetica Neue</vt:lpstr>
      <vt:lpstr>Helvetica Neue Medium</vt:lpstr>
      <vt:lpstr>Helvetica Neue Light</vt:lpstr>
      <vt:lpstr>微软雅黑</vt:lpstr>
      <vt:lpstr>黑体</vt:lpstr>
      <vt:lpstr>Calibri</vt:lpstr>
      <vt:lpstr>微软雅黑 Light</vt:lpstr>
      <vt:lpstr>MicrosoftYaHeiLight</vt:lpstr>
      <vt:lpstr>LaTeX</vt:lpstr>
      <vt:lpstr>Arial Black</vt:lpstr>
      <vt:lpstr>Arial Unicode MS</vt:lpstr>
      <vt:lpstr>Times New Roman</vt:lpstr>
      <vt:lpstr>White</vt:lpstr>
      <vt:lpstr>Word.Picture.8</vt:lpstr>
      <vt:lpstr>Word.Picture.8</vt:lpstr>
      <vt:lpstr>Word.Picture.8</vt:lpstr>
      <vt:lpstr>PowerPoint 演示文稿</vt:lpstr>
      <vt:lpstr>PowerPoint 演示文稿</vt:lpstr>
      <vt:lpstr>PowerPoint 演示文稿</vt:lpstr>
      <vt:lpstr>集成测试的概念</vt:lpstr>
      <vt:lpstr>集成测试的概念</vt:lpstr>
      <vt:lpstr>集成测试的概念</vt:lpstr>
      <vt:lpstr>集成测试的概念</vt:lpstr>
      <vt:lpstr>集成测试的概念</vt:lpstr>
      <vt:lpstr>集成测试的概念</vt:lpstr>
      <vt:lpstr>集成测试的概念</vt:lpstr>
      <vt:lpstr>集成测试的概念</vt:lpstr>
      <vt:lpstr>PowerPoint 演示文稿</vt:lpstr>
      <vt:lpstr>集成测试方法</vt:lpstr>
      <vt:lpstr>集成测试方法</vt:lpstr>
      <vt:lpstr>集成测试方法</vt:lpstr>
      <vt:lpstr>集成测试方法</vt:lpstr>
      <vt:lpstr>集成测试方法</vt:lpstr>
      <vt:lpstr>集成测试方法</vt:lpstr>
      <vt:lpstr>集成测试方法</vt:lpstr>
      <vt:lpstr>集成测试方法</vt:lpstr>
      <vt:lpstr>集成测试方法</vt:lpstr>
      <vt:lpstr>集成测试方法</vt:lpstr>
      <vt:lpstr>集成测试方法</vt:lpstr>
      <vt:lpstr>集成测试方法</vt:lpstr>
      <vt:lpstr>集成测试方法</vt:lpstr>
      <vt:lpstr>PowerPoint 演示文稿</vt:lpstr>
      <vt:lpstr>小结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WangYz</dc:creator>
  <cp:lastModifiedBy>李壮 19863718468</cp:lastModifiedBy>
  <cp:revision>883</cp:revision>
  <cp:lastPrinted>2020-08-01T02:11:00Z</cp:lastPrinted>
  <dcterms:created xsi:type="dcterms:W3CDTF">2019-05-10T09:49:00Z</dcterms:created>
  <dcterms:modified xsi:type="dcterms:W3CDTF">2023-08-09T06:57:47Z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2052-12.1.0.15120</vt:lpwstr>
  </property>
  <property fmtid="{D5CDD505-2E9C-101B-9397-08002B2CF9AE}" pid="3" name="ICV">
    <vt:lpwstr>D0D2ECE027B0433CB9A08CA62FC1A53F_12</vt:lpwstr>
  </property>
</Properties>
</file>